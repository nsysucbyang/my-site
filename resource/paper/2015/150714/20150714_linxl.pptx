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3"/>
  </p:notes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80" r:id="rId10"/>
    <p:sldId id="277" r:id="rId11"/>
    <p:sldId id="278" r:id="rId12"/>
    <p:sldId id="281" r:id="rId13"/>
    <p:sldId id="282" r:id="rId14"/>
    <p:sldId id="279" r:id="rId15"/>
    <p:sldId id="283" r:id="rId16"/>
    <p:sldId id="284" r:id="rId17"/>
    <p:sldId id="285" r:id="rId18"/>
    <p:sldId id="286" r:id="rId19"/>
    <p:sldId id="287" r:id="rId20"/>
    <p:sldId id="288" r:id="rId21"/>
    <p:sldId id="269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o" initials="L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384" y="13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A2E06-6215-4505-B48C-D0E8B4D2F670}" type="datetimeFigureOut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A3823-C206-4FEC-B76E-99DBB29495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146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aseline="30000" dirty="0" smtClean="0"/>
              <a:t>ɛ :</a:t>
            </a:r>
            <a:r>
              <a:rPr lang="en-US" altLang="zh-TW" dirty="0" smtClean="0"/>
              <a:t>Epsilon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A3823-C206-4FEC-B76E-99DBB29495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869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Omega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A3823-C206-4FEC-B76E-99DBB29495A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95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45D8-404A-4C33-862B-37953E30F095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96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62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0461E-B108-4DD8-9255-9639DFB3820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13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1FF7-1BA0-4CCF-A028-75D6A0A5C5FA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52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8D58A-657E-4A73-8160-C252BAFB7B82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89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0816-8392-4197-9F9D-20C8034BB6B7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81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0094-C155-4B0E-AA38-E7A16B3BF231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28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CCA9-2A1D-420D-9C35-27E94AF165AA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45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A818-D3FD-494D-8F8C-B0424A745352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28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98F0-F2D5-4392-ABD5-5E0292B6BE8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87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98B9-F546-46B8-8B04-3DC070AFF5D4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56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43ADB-60C9-438F-8E09-6C2E2C1CE966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96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Finding Longest Increasing and Common Subsequences in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Streaming Data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7016824" cy="1512168"/>
          </a:xfrm>
        </p:spPr>
        <p:txBody>
          <a:bodyPr>
            <a:normAutofit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altLang="zh-TW" dirty="0">
                <a:latin typeface="Times New Roman" pitchFamily="18" charset="0"/>
                <a:cs typeface="Times New Roman" pitchFamily="18" charset="0"/>
              </a:rPr>
              <a:t>David </a:t>
            </a:r>
            <a:r>
              <a:rPr lang="it-IT" altLang="zh-TW" dirty="0" smtClean="0">
                <a:latin typeface="Times New Roman" pitchFamily="18" charset="0"/>
                <a:cs typeface="Times New Roman" pitchFamily="18" charset="0"/>
              </a:rPr>
              <a:t>Liben-Nowell, Erik Vee, An </a:t>
            </a:r>
            <a:r>
              <a:rPr lang="it-IT" altLang="zh-TW" dirty="0">
                <a:latin typeface="Times New Roman" pitchFamily="18" charset="0"/>
                <a:cs typeface="Times New Roman" pitchFamily="18" charset="0"/>
              </a:rPr>
              <a:t>Zhu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itchFamily="18" charset="0"/>
                <a:ea typeface="+mj-ea"/>
                <a:cs typeface="Times New Roman" pitchFamily="18" charset="0"/>
              </a:rPr>
              <a:t>Journal of Combinatorial </a:t>
            </a:r>
            <a:r>
              <a:rPr lang="en-US" altLang="zh-TW" sz="2000" dirty="0" smtClean="0">
                <a:latin typeface="Times New Roman" pitchFamily="18" charset="0"/>
                <a:ea typeface="+mj-ea"/>
                <a:cs typeface="Times New Roman" pitchFamily="18" charset="0"/>
              </a:rPr>
              <a:t>Optimization </a:t>
            </a:r>
          </a:p>
          <a:p>
            <a:pPr algn="ctr"/>
            <a:r>
              <a:rPr lang="en-US" altLang="zh-TW" sz="2000" dirty="0" smtClean="0">
                <a:latin typeface="Times New Roman" pitchFamily="18" charset="0"/>
                <a:ea typeface="+mj-ea"/>
                <a:cs typeface="Times New Roman" pitchFamily="18" charset="0"/>
              </a:rPr>
              <a:t>Volume 11</a:t>
            </a:r>
            <a:r>
              <a:rPr lang="en-US" altLang="zh-TW" sz="2000" dirty="0">
                <a:latin typeface="Times New Roman" pitchFamily="18" charset="0"/>
                <a:ea typeface="+mj-ea"/>
                <a:cs typeface="Times New Roman" pitchFamily="18" charset="0"/>
              </a:rPr>
              <a:t>, Issue </a:t>
            </a:r>
            <a:r>
              <a:rPr lang="en-US" altLang="zh-TW" sz="2000" dirty="0" smtClean="0">
                <a:latin typeface="Times New Roman" pitchFamily="18" charset="0"/>
                <a:ea typeface="+mj-ea"/>
                <a:cs typeface="Times New Roman" pitchFamily="18" charset="0"/>
              </a:rPr>
              <a:t>2, </a:t>
            </a:r>
            <a:r>
              <a:rPr lang="en-US" altLang="zh-TW" sz="2000" dirty="0" err="1">
                <a:latin typeface="Times New Roman" pitchFamily="18" charset="0"/>
                <a:ea typeface="+mj-ea"/>
                <a:cs typeface="Times New Roman" pitchFamily="18" charset="0"/>
              </a:rPr>
              <a:t>pp</a:t>
            </a:r>
            <a:r>
              <a:rPr lang="en-US" altLang="zh-TW" sz="2000" dirty="0"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zh-TW" sz="2000" dirty="0" smtClean="0">
                <a:latin typeface="Times New Roman" pitchFamily="18" charset="0"/>
                <a:ea typeface="+mj-ea"/>
                <a:cs typeface="Times New Roman" pitchFamily="18" charset="0"/>
              </a:rPr>
              <a:t>155-175(2006)</a:t>
            </a:r>
            <a:r>
              <a:rPr lang="en-US" altLang="zh-TW" sz="2000" dirty="0">
                <a:latin typeface="Times New Roman" pitchFamily="18" charset="0"/>
                <a:ea typeface="+mj-ea"/>
                <a:cs typeface="Times New Roman" pitchFamily="18" charset="0"/>
              </a:rPr>
              <a:t> </a:t>
            </a:r>
            <a:endParaRPr lang="zh-TW" altLang="en-US" sz="2000" dirty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2EC3-8CC7-48BF-80F3-40956BA13762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0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04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500" dirty="0" smtClean="0"/>
              <a:t>	In </a:t>
            </a:r>
            <a:r>
              <a:rPr lang="en-US" altLang="zh-TW" sz="2500" dirty="0"/>
              <a:t>this paper, we present algorithms and lower bounds for the Longest Increasing </a:t>
            </a:r>
            <a:r>
              <a:rPr lang="en-US" altLang="zh-TW" sz="2500" dirty="0" smtClean="0"/>
              <a:t>Subsequence(LIS</a:t>
            </a:r>
            <a:r>
              <a:rPr lang="en-US" altLang="zh-TW" sz="2500" dirty="0"/>
              <a:t>) and Longest Common Subsequence (</a:t>
            </a:r>
            <a:r>
              <a:rPr lang="en-US" altLang="zh-TW" sz="2500" dirty="0" smtClean="0"/>
              <a:t>LCS) problems </a:t>
            </a:r>
            <a:r>
              <a:rPr lang="en-US" altLang="zh-TW" sz="2500" dirty="0"/>
              <a:t>in the data streaming model.</a:t>
            </a:r>
          </a:p>
          <a:p>
            <a:pPr marL="0" indent="0">
              <a:buNone/>
            </a:pPr>
            <a:r>
              <a:rPr lang="en-US" altLang="zh-TW" sz="2500" dirty="0" smtClean="0"/>
              <a:t>	For </a:t>
            </a:r>
            <a:r>
              <a:rPr lang="en-US" altLang="zh-TW" sz="2500" dirty="0"/>
              <a:t>the problem of deciding whether the LIS of a given stream of integers drawn </a:t>
            </a:r>
            <a:r>
              <a:rPr lang="en-US" altLang="zh-TW" sz="2500" dirty="0" smtClean="0"/>
              <a:t>from {1,…,m} </a:t>
            </a:r>
            <a:r>
              <a:rPr lang="en-US" altLang="zh-TW" sz="2500" dirty="0"/>
              <a:t>has length at least k, we discuss a one-pass streaming algorithm </a:t>
            </a:r>
            <a:r>
              <a:rPr lang="en-US" altLang="zh-TW" sz="2500" dirty="0" smtClean="0"/>
              <a:t>using O(k log m)space</a:t>
            </a:r>
            <a:r>
              <a:rPr lang="en-US" altLang="zh-TW" sz="2500" dirty="0"/>
              <a:t>, with update time either O(log k) or </a:t>
            </a:r>
            <a:r>
              <a:rPr lang="en-US" altLang="zh-TW" sz="2500" dirty="0" smtClean="0"/>
              <a:t>O(log </a:t>
            </a:r>
            <a:r>
              <a:rPr lang="en-US" altLang="zh-TW" sz="2500" dirty="0" err="1" smtClean="0"/>
              <a:t>log</a:t>
            </a:r>
            <a:r>
              <a:rPr lang="en-US" altLang="zh-TW" sz="2500" dirty="0" smtClean="0"/>
              <a:t> m</a:t>
            </a:r>
            <a:r>
              <a:rPr lang="en-US" altLang="zh-TW" sz="2500" dirty="0"/>
              <a:t>). </a:t>
            </a:r>
            <a:endParaRPr lang="en-US" altLang="zh-TW" sz="2500" dirty="0" smtClean="0"/>
          </a:p>
          <a:p>
            <a:pPr marL="0" indent="0">
              <a:buNone/>
            </a:pPr>
            <a:r>
              <a:rPr lang="en-US" altLang="zh-TW" sz="2500" dirty="0" smtClean="0"/>
              <a:t>For </a:t>
            </a:r>
            <a:r>
              <a:rPr lang="en-US" altLang="zh-TW" sz="2500" dirty="0"/>
              <a:t>the problem of returning the </a:t>
            </a:r>
            <a:r>
              <a:rPr lang="en-US" altLang="zh-TW" sz="2500" dirty="0" smtClean="0"/>
              <a:t>actual longest </a:t>
            </a:r>
            <a:r>
              <a:rPr lang="en-US" altLang="zh-TW" sz="2500" dirty="0"/>
              <a:t>increasing subsequence itself, we give a [</a:t>
            </a:r>
            <a:r>
              <a:rPr lang="en-US" altLang="zh-TW" sz="2500" dirty="0" smtClean="0"/>
              <a:t>log(1 </a:t>
            </a:r>
            <a:r>
              <a:rPr lang="en-US" altLang="zh-TW" sz="2500" dirty="0"/>
              <a:t>+ </a:t>
            </a:r>
            <a:r>
              <a:rPr lang="en-US" altLang="zh-TW" sz="2500" dirty="0" smtClean="0"/>
              <a:t>1/ɛ) ]-pass </a:t>
            </a:r>
            <a:r>
              <a:rPr lang="en-US" altLang="zh-TW" sz="2500" dirty="0"/>
              <a:t>streaming algorithm </a:t>
            </a:r>
            <a:r>
              <a:rPr lang="en-US" altLang="zh-TW" sz="2500" dirty="0" smtClean="0"/>
              <a:t>with update </a:t>
            </a:r>
            <a:r>
              <a:rPr lang="en-US" altLang="zh-TW" sz="2500" dirty="0"/>
              <a:t>time O(log k) or </a:t>
            </a:r>
            <a:r>
              <a:rPr lang="en-US" altLang="zh-TW" sz="2500" dirty="0" smtClean="0"/>
              <a:t>O(log </a:t>
            </a:r>
            <a:r>
              <a:rPr lang="en-US" altLang="zh-TW" sz="2500" dirty="0" err="1" smtClean="0"/>
              <a:t>log</a:t>
            </a:r>
            <a:r>
              <a:rPr lang="en-US" altLang="zh-TW" sz="2500" dirty="0" smtClean="0"/>
              <a:t> m</a:t>
            </a:r>
            <a:r>
              <a:rPr lang="en-US" altLang="zh-TW" sz="2500" dirty="0"/>
              <a:t>) that uses space </a:t>
            </a:r>
            <a:r>
              <a:rPr lang="en-US" altLang="zh-TW" sz="2500" dirty="0" smtClean="0"/>
              <a:t>O(k</a:t>
            </a:r>
            <a:r>
              <a:rPr lang="en-US" altLang="zh-TW" sz="2500" baseline="30000" dirty="0" smtClean="0"/>
              <a:t>1+ ɛ </a:t>
            </a:r>
            <a:r>
              <a:rPr lang="en-US" altLang="zh-TW" sz="2500" dirty="0" smtClean="0"/>
              <a:t>log m</a:t>
            </a:r>
            <a:r>
              <a:rPr lang="en-US" altLang="zh-TW" sz="2500" dirty="0"/>
              <a:t>), for any ɛ</a:t>
            </a:r>
            <a:r>
              <a:rPr lang="en-US" altLang="zh-TW" sz="2500" dirty="0" smtClean="0"/>
              <a:t> </a:t>
            </a:r>
            <a:r>
              <a:rPr lang="en-US" altLang="zh-TW" sz="2500" dirty="0"/>
              <a:t>&gt; 0. </a:t>
            </a:r>
            <a:endParaRPr lang="en-US" altLang="zh-TW" sz="2500" dirty="0" smtClean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903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	We </a:t>
            </a:r>
            <a:r>
              <a:rPr lang="en-US" altLang="zh-TW" dirty="0"/>
              <a:t>also prove a lower bound of </a:t>
            </a:r>
            <a:r>
              <a:rPr lang="el-GR" altLang="zh-TW" dirty="0"/>
              <a:t>Ω</a:t>
            </a:r>
            <a:r>
              <a:rPr lang="en-US" altLang="zh-TW" dirty="0" smtClean="0"/>
              <a:t>(k</a:t>
            </a:r>
            <a:r>
              <a:rPr lang="en-US" altLang="zh-TW" dirty="0"/>
              <a:t>) on the space required for any streaming algorithm for LIS, even when the input stream is a permutation of {1,…,m</a:t>
            </a:r>
            <a:r>
              <a:rPr lang="en-US" altLang="zh-TW" dirty="0" smtClean="0"/>
              <a:t>}.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	We </a:t>
            </a:r>
            <a:r>
              <a:rPr lang="en-US" altLang="zh-TW" dirty="0"/>
              <a:t>discuss a simple LIS-based algorithm for LCS, and we also give several lower </a:t>
            </a:r>
            <a:r>
              <a:rPr lang="en-US" altLang="zh-TW" dirty="0" smtClean="0"/>
              <a:t>bounds on </a:t>
            </a:r>
            <a:r>
              <a:rPr lang="en-US" altLang="zh-TW" dirty="0"/>
              <a:t>this problem, of which the strongest is the following: when the elements of two </a:t>
            </a:r>
            <a:r>
              <a:rPr lang="en-US" altLang="zh-TW" dirty="0" smtClean="0"/>
              <a:t>n-element streams </a:t>
            </a:r>
            <a:r>
              <a:rPr lang="en-US" altLang="zh-TW" dirty="0"/>
              <a:t>are presented in an adversarial order, we need space </a:t>
            </a:r>
            <a:r>
              <a:rPr lang="el-GR" altLang="zh-TW" dirty="0" smtClean="0"/>
              <a:t>Ω</a:t>
            </a:r>
            <a:r>
              <a:rPr lang="en-US" altLang="zh-TW" dirty="0" smtClean="0"/>
              <a:t>(n/</a:t>
            </a:r>
            <a:r>
              <a:rPr lang="el-GR" altLang="zh-TW" dirty="0" smtClean="0"/>
              <a:t>ρ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 </a:t>
            </a:r>
            <a:r>
              <a:rPr lang="en-US" altLang="zh-TW" dirty="0"/>
              <a:t>to approximate the length</a:t>
            </a:r>
          </a:p>
          <a:p>
            <a:pPr marL="0" indent="0">
              <a:buNone/>
            </a:pPr>
            <a:r>
              <a:rPr lang="en-US" altLang="zh-TW" dirty="0"/>
              <a:t>of their LCS to within a factor of </a:t>
            </a:r>
            <a:r>
              <a:rPr lang="el-GR" altLang="zh-TW" dirty="0"/>
              <a:t>ρ</a:t>
            </a:r>
            <a:r>
              <a:rPr lang="en-US" altLang="zh-TW" dirty="0" smtClean="0"/>
              <a:t>, </a:t>
            </a:r>
            <a:r>
              <a:rPr lang="en-US" altLang="zh-TW" dirty="0"/>
              <a:t>even when the two streams are permutations of each other.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1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data streaming </a:t>
            </a:r>
            <a:r>
              <a:rPr lang="en-US" altLang="zh-TW" dirty="0" smtClean="0"/>
              <a:t>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small number of passes over the input </a:t>
            </a:r>
            <a:r>
              <a:rPr lang="en-US" altLang="zh-TW" dirty="0" smtClean="0"/>
              <a:t>data.</a:t>
            </a:r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P</a:t>
            </a:r>
            <a:r>
              <a:rPr lang="en-US" altLang="zh-TW" dirty="0" smtClean="0"/>
              <a:t>rocessing </a:t>
            </a:r>
            <a:r>
              <a:rPr lang="en-US" altLang="zh-TW" dirty="0"/>
              <a:t>each input element </a:t>
            </a:r>
            <a:r>
              <a:rPr lang="en-US" altLang="zh-TW" dirty="0" smtClean="0"/>
              <a:t>as it passes.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Computing and storing </a:t>
            </a:r>
            <a:r>
              <a:rPr lang="en-US" altLang="zh-TW" dirty="0"/>
              <a:t>a small amount of useful information about the previously read </a:t>
            </a:r>
            <a:r>
              <a:rPr lang="en-US" altLang="zh-TW" dirty="0" smtClean="0"/>
              <a:t>input.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88224" y="6327697"/>
            <a:ext cx="2133600" cy="365125"/>
          </a:xfrm>
        </p:spPr>
        <p:txBody>
          <a:bodyPr/>
          <a:lstStyle/>
          <a:p>
            <a:fld id="{BAE235D6-932B-4288-B5B5-909349305365}" type="slidenum">
              <a:rPr lang="zh-TW" altLang="en-US" smtClean="0"/>
              <a:t>3</a:t>
            </a:fld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46081"/>
              </p:ext>
            </p:extLst>
          </p:nvPr>
        </p:nvGraphicFramePr>
        <p:xfrm>
          <a:off x="5580113" y="5157192"/>
          <a:ext cx="252027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093"/>
                <a:gridCol w="840093"/>
                <a:gridCol w="840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99043"/>
              </p:ext>
            </p:extLst>
          </p:nvPr>
        </p:nvGraphicFramePr>
        <p:xfrm>
          <a:off x="5580112" y="5661248"/>
          <a:ext cx="252027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093"/>
                <a:gridCol w="840093"/>
                <a:gridCol w="840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5578287" y="6264696"/>
            <a:ext cx="2592288" cy="404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altLang="zh-TW" sz="2000" b="1" dirty="0" smtClean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altLang="zh-TW" sz="2000" b="1" dirty="0" smtClean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altLang="zh-TW" sz="2000" b="1" dirty="0">
                <a:solidFill>
                  <a:schemeClr val="tx1"/>
                </a:solidFill>
              </a:rPr>
              <a:t>.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94404"/>
              </p:ext>
            </p:extLst>
          </p:nvPr>
        </p:nvGraphicFramePr>
        <p:xfrm>
          <a:off x="5580113" y="6442536"/>
          <a:ext cx="252027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093"/>
                <a:gridCol w="840093"/>
                <a:gridCol w="840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9" name="群組 18"/>
          <p:cNvGrpSpPr/>
          <p:nvPr/>
        </p:nvGrpSpPr>
        <p:grpSpPr>
          <a:xfrm>
            <a:off x="1763688" y="5188550"/>
            <a:ext cx="7416824" cy="1614026"/>
            <a:chOff x="1763688" y="5188550"/>
            <a:chExt cx="7416824" cy="1614026"/>
          </a:xfrm>
        </p:grpSpPr>
        <p:sp>
          <p:nvSpPr>
            <p:cNvPr id="9" name="矩形 8"/>
            <p:cNvSpPr/>
            <p:nvPr/>
          </p:nvSpPr>
          <p:spPr>
            <a:xfrm>
              <a:off x="1763688" y="5431532"/>
              <a:ext cx="1584176" cy="109381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Algorithm</a:t>
              </a:r>
              <a:endParaRPr lang="zh-TW" altLang="en-US" dirty="0"/>
            </a:p>
          </p:txBody>
        </p:sp>
        <p:sp>
          <p:nvSpPr>
            <p:cNvPr id="10" name="向右箭號 9"/>
            <p:cNvSpPr/>
            <p:nvPr/>
          </p:nvSpPr>
          <p:spPr>
            <a:xfrm rot="10800000" flipV="1">
              <a:off x="3347864" y="5866448"/>
              <a:ext cx="1294319" cy="298855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707903" y="5569124"/>
              <a:ext cx="659155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input</a:t>
              </a:r>
              <a:endParaRPr lang="zh-TW" altLang="en-US" dirty="0"/>
            </a:p>
          </p:txBody>
        </p:sp>
        <p:sp>
          <p:nvSpPr>
            <p:cNvPr id="12" name="右大括弧 11"/>
            <p:cNvSpPr/>
            <p:nvPr/>
          </p:nvSpPr>
          <p:spPr>
            <a:xfrm>
              <a:off x="8170575" y="5229200"/>
              <a:ext cx="289857" cy="144016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4754245" y="5188550"/>
              <a:ext cx="825867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Pass_1</a:t>
              </a:r>
              <a:endParaRPr lang="zh-TW" altLang="en-US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754245" y="5651956"/>
              <a:ext cx="825867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Pass_2</a:t>
              </a:r>
              <a:endParaRPr lang="zh-TW" alt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8405941" y="5723964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n-pass</a:t>
              </a:r>
              <a:endParaRPr lang="zh-TW" altLang="en-US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4754246" y="6433244"/>
              <a:ext cx="877163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err="1" smtClean="0"/>
                <a:t>Pass_N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649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Algorithms for </a:t>
            </a:r>
            <a:r>
              <a:rPr lang="en-US" altLang="zh-TW" dirty="0" smtClean="0"/>
              <a:t>LIS</a:t>
            </a:r>
            <a:br>
              <a:rPr lang="en-US" altLang="zh-TW" dirty="0" smtClean="0"/>
            </a:br>
            <a:r>
              <a:rPr lang="en-US" altLang="zh-TW" sz="3300" dirty="0" smtClean="0"/>
              <a:t>Computing </a:t>
            </a:r>
            <a:r>
              <a:rPr lang="en-US" altLang="zh-TW" sz="3300" dirty="0"/>
              <a:t>the </a:t>
            </a:r>
            <a:r>
              <a:rPr lang="en-US" altLang="zh-TW" sz="3300" dirty="0" smtClean="0"/>
              <a:t>Length</a:t>
            </a:r>
            <a:endParaRPr lang="zh-TW" altLang="en-US" sz="33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97" y="1383382"/>
            <a:ext cx="4475726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5626"/>
              </p:ext>
            </p:extLst>
          </p:nvPr>
        </p:nvGraphicFramePr>
        <p:xfrm>
          <a:off x="4824539" y="1628800"/>
          <a:ext cx="43559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139952" y="1628800"/>
            <a:ext cx="659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graphicFrame>
        <p:nvGraphicFramePr>
          <p:cNvPr id="1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2096356"/>
              </p:ext>
            </p:extLst>
          </p:nvPr>
        </p:nvGraphicFramePr>
        <p:xfrm>
          <a:off x="4799107" y="2276872"/>
          <a:ext cx="4355973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∞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4139952" y="2276872"/>
            <a:ext cx="62068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A[</a:t>
            </a:r>
            <a:r>
              <a:rPr lang="en-US" altLang="zh-TW" dirty="0"/>
              <a:t>ℓ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4863782" y="2636912"/>
                <a:ext cx="410070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Run 1: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 smtClean="0"/>
                  <a:t>X</a:t>
                </a:r>
                <a:r>
                  <a:rPr lang="en-US" altLang="zh-TW" baseline="-25000" dirty="0" smtClean="0"/>
                  <a:t>0</a:t>
                </a:r>
                <a:r>
                  <a:rPr lang="zh-TW" altLang="en-US" baseline="-25000" dirty="0" smtClean="0"/>
                  <a:t> </a:t>
                </a:r>
                <a:r>
                  <a:rPr lang="en-US" altLang="zh-TW" dirty="0" smtClean="0"/>
                  <a:t>=2</a:t>
                </a:r>
                <a:r>
                  <a:rPr lang="en-US" altLang="zh-TW" baseline="-25000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ℓ=0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(-1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X</a:t>
                </a:r>
                <a:r>
                  <a:rPr lang="en-US" altLang="zh-TW" baseline="-25000" dirty="0" smtClean="0"/>
                  <a:t>0</a:t>
                </a:r>
                <a:r>
                  <a:rPr lang="en-US" altLang="zh-TW" dirty="0" smtClean="0"/>
                  <a:t>(2)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TW" dirty="0" smtClean="0"/>
                  <a:t> ∞)</a:t>
                </a:r>
                <a:r>
                  <a:rPr lang="zh-TW" altLang="en-US" dirty="0" smtClean="0"/>
                  <a:t> 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=&gt;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A[ℓ+1]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=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=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 smtClean="0"/>
                  <a:t>ℓ+1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(2)&gt;k’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(0)</a:t>
                </a:r>
              </a:p>
              <a:p>
                <a:r>
                  <a:rPr lang="en-US" altLang="zh-TW" dirty="0" smtClean="0"/>
                  <a:t>=&gt;k’=k’+1=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(LIS)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,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A[</a:t>
                </a:r>
                <a:r>
                  <a:rPr lang="en-US" altLang="zh-TW" dirty="0"/>
                  <a:t>k’</a:t>
                </a:r>
                <a:r>
                  <a:rPr lang="en-US" altLang="zh-TW" dirty="0" smtClean="0"/>
                  <a:t>+</a:t>
                </a:r>
                <a:r>
                  <a:rPr lang="en-US" altLang="zh-TW" dirty="0"/>
                  <a:t>1</a:t>
                </a:r>
                <a:r>
                  <a:rPr lang="en-US" altLang="zh-TW" dirty="0" smtClean="0"/>
                  <a:t>]=</a:t>
                </a:r>
                <a:r>
                  <a:rPr lang="en-US" altLang="zh-TW" dirty="0"/>
                  <a:t> ∞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782" y="2636912"/>
                <a:ext cx="4100706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337" t="-17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接點 15"/>
          <p:cNvCxnSpPr/>
          <p:nvPr/>
        </p:nvCxnSpPr>
        <p:spPr>
          <a:xfrm flipH="1">
            <a:off x="5364088" y="2267580"/>
            <a:ext cx="288032" cy="36933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5032236" y="1998132"/>
            <a:ext cx="475868" cy="27874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3984666"/>
              </p:ext>
            </p:extLst>
          </p:nvPr>
        </p:nvGraphicFramePr>
        <p:xfrm>
          <a:off x="4824539" y="4149080"/>
          <a:ext cx="43559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39952" y="4149080"/>
            <a:ext cx="659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graphicFrame>
        <p:nvGraphicFramePr>
          <p:cNvPr id="2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3576559"/>
              </p:ext>
            </p:extLst>
          </p:nvPr>
        </p:nvGraphicFramePr>
        <p:xfrm>
          <a:off x="4799107" y="4797152"/>
          <a:ext cx="4355973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2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9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∞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4139952" y="4797152"/>
            <a:ext cx="62068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A[</a:t>
            </a:r>
            <a:r>
              <a:rPr lang="en-US" altLang="zh-TW" dirty="0"/>
              <a:t>ℓ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4745198" y="5157192"/>
                <a:ext cx="450732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Run 6: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 smtClean="0"/>
                  <a:t>X</a:t>
                </a:r>
                <a:r>
                  <a:rPr lang="en-US" altLang="zh-TW" baseline="-25000" dirty="0" smtClean="0"/>
                  <a:t>5</a:t>
                </a:r>
                <a:r>
                  <a:rPr lang="zh-TW" altLang="en-US" baseline="-25000" dirty="0" smtClean="0"/>
                  <a:t> </a:t>
                </a:r>
                <a:r>
                  <a:rPr lang="en-US" altLang="zh-TW" dirty="0" smtClean="0"/>
                  <a:t>=2</a:t>
                </a:r>
                <a:r>
                  <a:rPr lang="en-US" altLang="zh-TW" baseline="-25000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ℓ=2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(2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X</a:t>
                </a:r>
                <a:r>
                  <a:rPr lang="en-US" altLang="zh-TW" baseline="-25000" dirty="0"/>
                  <a:t>5</a:t>
                </a:r>
                <a:r>
                  <a:rPr lang="en-US" altLang="zh-TW" dirty="0" smtClean="0"/>
                  <a:t>(2)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TW" dirty="0" smtClean="0"/>
                  <a:t> 4)</a:t>
                </a:r>
                <a:r>
                  <a:rPr lang="zh-TW" altLang="en-US" dirty="0" smtClean="0"/>
                  <a:t> 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=&gt;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A[ℓ+1]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=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5</a:t>
                </a:r>
                <a:r>
                  <a:rPr lang="zh-TW" altLang="en-US" baseline="-25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=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 smtClean="0"/>
                  <a:t>ℓ+1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(3)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TW" dirty="0" smtClean="0"/>
                  <a:t>k’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(5)</a:t>
                </a:r>
              </a:p>
              <a:p>
                <a:r>
                  <a:rPr lang="en-US" altLang="zh-TW" dirty="0" smtClean="0"/>
                  <a:t>=&gt;</a:t>
                </a:r>
                <a:r>
                  <a:rPr lang="zh-TW" altLang="en-US" dirty="0" smtClean="0"/>
                  <a:t>不更新 </a:t>
                </a:r>
                <a:r>
                  <a:rPr lang="en-US" altLang="zh-TW" dirty="0" smtClean="0"/>
                  <a:t>k</a:t>
                </a:r>
                <a:r>
                  <a:rPr lang="en-US" altLang="zh-TW" dirty="0"/>
                  <a:t>’</a:t>
                </a:r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198" y="5157192"/>
                <a:ext cx="4507322" cy="1754326"/>
              </a:xfrm>
              <a:prstGeom prst="rect">
                <a:avLst/>
              </a:prstGeom>
              <a:blipFill rotWithShape="1">
                <a:blip r:embed="rId4"/>
                <a:stretch>
                  <a:fillRect l="-1081" t="-17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/>
          <p:cNvCxnSpPr>
            <a:stCxn id="1024" idx="1"/>
          </p:cNvCxnSpPr>
          <p:nvPr/>
        </p:nvCxnSpPr>
        <p:spPr>
          <a:xfrm flipH="1" flipV="1">
            <a:off x="6012162" y="2492896"/>
            <a:ext cx="432046" cy="256674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矩形 1023"/>
          <p:cNvSpPr/>
          <p:nvPr/>
        </p:nvSpPr>
        <p:spPr>
          <a:xfrm>
            <a:off x="6444208" y="2564904"/>
            <a:ext cx="34977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dirty="0"/>
              <a:t>∞</a:t>
            </a:r>
            <a:endParaRPr lang="zh-TW" altLang="en-US" dirty="0"/>
          </a:p>
        </p:txBody>
      </p:sp>
      <p:cxnSp>
        <p:nvCxnSpPr>
          <p:cNvPr id="26" name="直線單箭頭接點 25"/>
          <p:cNvCxnSpPr/>
          <p:nvPr/>
        </p:nvCxnSpPr>
        <p:spPr>
          <a:xfrm flipH="1">
            <a:off x="6523224" y="4518412"/>
            <a:ext cx="929096" cy="27874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40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Algorithms for </a:t>
            </a:r>
            <a:r>
              <a:rPr lang="en-US" altLang="zh-TW" dirty="0" smtClean="0"/>
              <a:t>LIS</a:t>
            </a:r>
            <a:br>
              <a:rPr lang="en-US" altLang="zh-TW" dirty="0" smtClean="0"/>
            </a:br>
            <a:r>
              <a:rPr lang="en-US" altLang="zh-TW" sz="3300" dirty="0" smtClean="0"/>
              <a:t>Computing </a:t>
            </a:r>
            <a:r>
              <a:rPr lang="en-US" altLang="zh-TW" sz="3300" dirty="0"/>
              <a:t>the </a:t>
            </a:r>
            <a:r>
              <a:rPr lang="en-US" altLang="zh-TW" sz="3300" dirty="0" smtClean="0"/>
              <a:t>Length</a:t>
            </a:r>
            <a:endParaRPr lang="zh-TW" altLang="en-US" sz="33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556792"/>
            <a:ext cx="504056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611531"/>
              </p:ext>
            </p:extLst>
          </p:nvPr>
        </p:nvGraphicFramePr>
        <p:xfrm>
          <a:off x="720083" y="2865710"/>
          <a:ext cx="43559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35496" y="2865710"/>
            <a:ext cx="659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graphicFrame>
        <p:nvGraphicFramePr>
          <p:cNvPr id="1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229934"/>
              </p:ext>
            </p:extLst>
          </p:nvPr>
        </p:nvGraphicFramePr>
        <p:xfrm>
          <a:off x="694651" y="3513782"/>
          <a:ext cx="4355973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2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∞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35496" y="3513782"/>
            <a:ext cx="62068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A[</a:t>
            </a:r>
            <a:r>
              <a:rPr lang="en-US" altLang="zh-TW" dirty="0"/>
              <a:t>ℓ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14415" y="3873822"/>
            <a:ext cx="4100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Run 9:</a:t>
            </a:r>
          </a:p>
          <a:p>
            <a:r>
              <a:rPr lang="en-US" altLang="zh-TW" dirty="0" smtClean="0"/>
              <a:t>=&gt;k’=</a:t>
            </a:r>
            <a:r>
              <a:rPr lang="en-US" altLang="zh-TW" dirty="0" smtClean="0">
                <a:solidFill>
                  <a:srgbClr val="FF0000"/>
                </a:solidFill>
              </a:rPr>
              <a:t>5(LIS)</a:t>
            </a:r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148064" y="1772816"/>
                <a:ext cx="4077359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/>
                  <a:t>For the space bound, observe that we keep k values in the range {</a:t>
                </a:r>
                <a:r>
                  <a:rPr lang="en-US" altLang="zh-TW" dirty="0" smtClean="0"/>
                  <a:t>1,…,m}, </a:t>
                </a:r>
                <a:r>
                  <a:rPr lang="en-US" altLang="zh-TW" dirty="0"/>
                  <a:t>i.e</a:t>
                </a:r>
                <a:r>
                  <a:rPr lang="en-US" altLang="zh-TW" dirty="0" smtClean="0"/>
                  <a:t>., </a:t>
                </a:r>
                <a:r>
                  <a:rPr lang="en-US" altLang="zh-TW" dirty="0"/>
                  <a:t>O(</a:t>
                </a:r>
                <a:r>
                  <a:rPr lang="en-US" altLang="zh-TW" dirty="0" err="1"/>
                  <a:t>logm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bits each</a:t>
                </a:r>
                <a:r>
                  <a:rPr lang="en-US" altLang="zh-TW" dirty="0"/>
                  <a:t>. 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Space complexity : O(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klogm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</a:t>
                </a:r>
              </a:p>
              <a:p>
                <a:endParaRPr lang="en-US" altLang="zh-TW" dirty="0" smtClean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 smtClean="0"/>
                  <a:t>For update operation’s time analysis, the </a:t>
                </a:r>
                <a:r>
                  <a:rPr lang="en-US" altLang="zh-TW" dirty="0"/>
                  <a:t>only non-constant </a:t>
                </a:r>
                <a:r>
                  <a:rPr lang="en-US" altLang="zh-TW" dirty="0" smtClean="0"/>
                  <a:t>step:</a:t>
                </a:r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Finding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the ℓ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such that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A[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ℓ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baseline="-25000" dirty="0" smtClean="0">
                    <a:solidFill>
                      <a:srgbClr val="FF0000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A[ℓ+1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]. </a:t>
                </a:r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endParaRPr lang="en-US" altLang="zh-TW" dirty="0">
                  <a:solidFill>
                    <a:srgbClr val="FF0000"/>
                  </a:solidFill>
                </a:endParaRPr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1.O(log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k) time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by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binary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search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.</a:t>
                </a:r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TW" dirty="0" smtClean="0"/>
                  <a:t>2.O(log </a:t>
                </a:r>
                <a:r>
                  <a:rPr lang="en-US" altLang="zh-TW" dirty="0" err="1" smtClean="0"/>
                  <a:t>log</a:t>
                </a:r>
                <a:r>
                  <a:rPr lang="en-US" altLang="zh-TW" dirty="0" smtClean="0"/>
                  <a:t> m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time </a:t>
                </a:r>
              </a:p>
              <a:p>
                <a:r>
                  <a:rPr lang="en-US" altLang="zh-TW" dirty="0" smtClean="0"/>
                  <a:t>by using </a:t>
                </a:r>
                <a:r>
                  <a:rPr lang="en-US" altLang="zh-TW" dirty="0"/>
                  <a:t>a van </a:t>
                </a:r>
                <a:r>
                  <a:rPr lang="en-US" altLang="zh-TW" dirty="0" err="1" smtClean="0"/>
                  <a:t>Emde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Boas </a:t>
                </a:r>
                <a:r>
                  <a:rPr lang="en-US" altLang="zh-TW" dirty="0"/>
                  <a:t>queue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             or </a:t>
                </a:r>
                <a:r>
                  <a:rPr lang="en-US" altLang="zh-TW" dirty="0"/>
                  <a:t>y-fast </a:t>
                </a:r>
                <a:r>
                  <a:rPr lang="en-US" altLang="zh-TW" dirty="0" smtClean="0"/>
                  <a:t>trees.</a:t>
                </a:r>
              </a:p>
              <a:p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1772816"/>
                <a:ext cx="4077359" cy="4524315"/>
              </a:xfrm>
              <a:prstGeom prst="rect">
                <a:avLst/>
              </a:prstGeom>
              <a:blipFill rotWithShape="1">
                <a:blip r:embed="rId3"/>
                <a:stretch>
                  <a:fillRect l="-1196" t="-674" r="-14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85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436096" y="5316794"/>
            <a:ext cx="2591781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ysClr val="windowText" lastClr="000000"/>
                </a:solidFill>
              </a:rPr>
              <a:t>Constant time</a:t>
            </a:r>
            <a:endParaRPr lang="zh-TW" altLang="en-US" sz="1500" dirty="0">
              <a:solidFill>
                <a:sysClr val="windowText" lastClr="00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Algorithms for </a:t>
            </a:r>
            <a:r>
              <a:rPr lang="en-US" altLang="zh-TW" dirty="0" smtClean="0"/>
              <a:t>LIS</a:t>
            </a:r>
            <a:br>
              <a:rPr lang="en-US" altLang="zh-TW" dirty="0" smtClean="0"/>
            </a:br>
            <a:r>
              <a:rPr lang="en-US" altLang="zh-TW" sz="3200" dirty="0" smtClean="0"/>
              <a:t>Finding </a:t>
            </a:r>
            <a:r>
              <a:rPr lang="en-US" altLang="zh-TW" sz="3200" dirty="0"/>
              <a:t>an </a:t>
            </a:r>
            <a:r>
              <a:rPr lang="en-US" altLang="zh-TW" sz="3200" dirty="0" smtClean="0"/>
              <a:t>LIS</a:t>
            </a:r>
            <a:endParaRPr lang="zh-TW" altLang="en-US" sz="3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O</a:t>
                </a:r>
                <a:r>
                  <a:rPr lang="en-US" altLang="zh-TW" dirty="0" smtClean="0"/>
                  <a:t>ne-pass algorithm: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1.For </a:t>
                </a:r>
                <a:r>
                  <a:rPr lang="en-US" altLang="zh-TW" sz="2000" dirty="0"/>
                  <a:t>each ℓ</a:t>
                </a:r>
                <a:r>
                  <a:rPr lang="en-US" altLang="zh-TW" sz="2000" dirty="0" smtClean="0"/>
                  <a:t>, </a:t>
                </a:r>
                <a:r>
                  <a:rPr lang="en-US" altLang="zh-TW" sz="2000" dirty="0"/>
                  <a:t>to store the subsequence </a:t>
                </a:r>
                <a:r>
                  <a:rPr lang="en-US" altLang="zh-TW" sz="2000" dirty="0" smtClean="0"/>
                  <a:t>ϭ</a:t>
                </a:r>
                <a:r>
                  <a:rPr lang="en-US" altLang="zh-TW" sz="2000" baseline="30000" dirty="0"/>
                  <a:t>ℓ</a:t>
                </a:r>
                <a:r>
                  <a:rPr lang="en-US" altLang="zh-TW" sz="2000" dirty="0" smtClean="0"/>
                  <a:t> </a:t>
                </a:r>
                <a:r>
                  <a:rPr lang="en-US" altLang="zh-TW" sz="2000" dirty="0"/>
                  <a:t>of </a:t>
                </a:r>
                <a:r>
                  <a:rPr lang="en-US" altLang="zh-TW" sz="2000" dirty="0" smtClean="0"/>
                  <a:t>length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ℓ </a:t>
                </a:r>
                <a:r>
                  <a:rPr lang="en-US" altLang="zh-TW" sz="2000" dirty="0" smtClean="0"/>
                  <a:t>that </a:t>
                </a:r>
                <a:r>
                  <a:rPr lang="en-US" altLang="zh-TW" sz="2000" dirty="0"/>
                  <a:t>ends with </a:t>
                </a:r>
                <a:r>
                  <a:rPr lang="en-US" altLang="zh-TW" sz="2000" dirty="0" smtClean="0"/>
                  <a:t>A[</a:t>
                </a:r>
                <a:r>
                  <a:rPr lang="en-US" altLang="zh-TW" sz="2000" dirty="0"/>
                  <a:t>ℓ</a:t>
                </a:r>
                <a:r>
                  <a:rPr lang="en-US" altLang="zh-TW" sz="2000" dirty="0" smtClean="0"/>
                  <a:t>].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2.When </a:t>
                </a:r>
                <a:r>
                  <a:rPr lang="en-US" altLang="zh-TW" sz="2000" dirty="0"/>
                  <a:t>we update </a:t>
                </a:r>
                <a:r>
                  <a:rPr lang="en-US" altLang="zh-TW" sz="2000" dirty="0" smtClean="0"/>
                  <a:t>A[</a:t>
                </a:r>
                <a:r>
                  <a:rPr lang="en-US" altLang="zh-TW" sz="2000" dirty="0"/>
                  <a:t>ℓ</a:t>
                </a:r>
                <a:r>
                  <a:rPr lang="en-US" altLang="zh-TW" sz="2000" dirty="0" smtClean="0"/>
                  <a:t> </a:t>
                </a:r>
                <a:r>
                  <a:rPr lang="en-US" altLang="zh-TW" sz="2000" dirty="0"/>
                  <a:t>+ 1] := x</a:t>
                </a:r>
                <a:r>
                  <a:rPr lang="en-US" altLang="zh-TW" sz="2000" baseline="-25000" dirty="0"/>
                  <a:t>i</a:t>
                </a:r>
                <a:r>
                  <a:rPr lang="en-US" altLang="zh-TW" sz="2000" dirty="0"/>
                  <a:t>, we reset ϭ</a:t>
                </a:r>
                <a:r>
                  <a:rPr lang="en-US" altLang="zh-TW" sz="2000" baseline="30000" dirty="0" smtClean="0"/>
                  <a:t>ℓ +</a:t>
                </a:r>
                <a:r>
                  <a:rPr lang="en-US" altLang="zh-TW" sz="2000" baseline="30000" dirty="0"/>
                  <a:t>1 </a:t>
                </a:r>
                <a:r>
                  <a:rPr lang="en-US" altLang="zh-TW" sz="2000" dirty="0"/>
                  <a:t>= </a:t>
                </a:r>
                <a:r>
                  <a:rPr lang="en-US" altLang="zh-TW" sz="2000" dirty="0" smtClean="0"/>
                  <a:t>ϭ</a:t>
                </a:r>
                <a:r>
                  <a:rPr lang="en-US" altLang="zh-TW" sz="2000" baseline="30000" dirty="0" smtClean="0"/>
                  <a:t>ℓ</a:t>
                </a:r>
                <a:r>
                  <a:rPr lang="en-US" altLang="zh-TW" sz="2000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000" dirty="0" smtClean="0"/>
                  <a:t>x</a:t>
                </a:r>
                <a:r>
                  <a:rPr lang="en-US" altLang="zh-TW" sz="2000" baseline="-25000" dirty="0" smtClean="0"/>
                  <a:t>i</a:t>
                </a:r>
                <a:r>
                  <a:rPr lang="en-US" altLang="zh-TW" sz="20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3.Example: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320893"/>
              </p:ext>
            </p:extLst>
          </p:nvPr>
        </p:nvGraphicFramePr>
        <p:xfrm>
          <a:off x="1203611" y="3274184"/>
          <a:ext cx="43559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67544" y="3274184"/>
            <a:ext cx="659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93519"/>
              </p:ext>
            </p:extLst>
          </p:nvPr>
        </p:nvGraphicFramePr>
        <p:xfrm>
          <a:off x="1224139" y="3706232"/>
          <a:ext cx="4355973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2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9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∞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67544" y="3706232"/>
            <a:ext cx="62068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A[</a:t>
            </a:r>
            <a:r>
              <a:rPr lang="en-US" altLang="zh-TW" dirty="0"/>
              <a:t>ℓ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5740484" y="2968439"/>
                <a:ext cx="450732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Run 6: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 smtClean="0"/>
                  <a:t>X</a:t>
                </a:r>
                <a:r>
                  <a:rPr lang="en-US" altLang="zh-TW" baseline="-25000" dirty="0" smtClean="0"/>
                  <a:t>5</a:t>
                </a:r>
                <a:r>
                  <a:rPr lang="zh-TW" altLang="en-US" baseline="-25000" dirty="0" smtClean="0"/>
                  <a:t> </a:t>
                </a:r>
                <a:r>
                  <a:rPr lang="en-US" altLang="zh-TW" dirty="0" smtClean="0"/>
                  <a:t>=2</a:t>
                </a:r>
                <a:r>
                  <a:rPr lang="en-US" altLang="zh-TW" baseline="-25000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ℓ=2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(2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X</a:t>
                </a:r>
                <a:r>
                  <a:rPr lang="en-US" altLang="zh-TW" baseline="-25000" dirty="0"/>
                  <a:t>5</a:t>
                </a:r>
                <a:r>
                  <a:rPr lang="en-US" altLang="zh-TW" dirty="0" smtClean="0"/>
                  <a:t>(2)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TW" dirty="0" smtClean="0"/>
                  <a:t> 4)</a:t>
                </a:r>
                <a:r>
                  <a:rPr lang="zh-TW" altLang="en-US" dirty="0" smtClean="0"/>
                  <a:t> 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=&gt;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A[ℓ+1]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=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5</a:t>
                </a:r>
                <a:r>
                  <a:rPr lang="zh-TW" altLang="en-US" baseline="-25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=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2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84" y="2968439"/>
                <a:ext cx="4507322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218" t="-2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8257"/>
              </p:ext>
            </p:extLst>
          </p:nvPr>
        </p:nvGraphicFramePr>
        <p:xfrm>
          <a:off x="1763688" y="418352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1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07716"/>
              </p:ext>
            </p:extLst>
          </p:nvPr>
        </p:nvGraphicFramePr>
        <p:xfrm>
          <a:off x="2267744" y="4221088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2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55005"/>
              </p:ext>
            </p:extLst>
          </p:nvPr>
        </p:nvGraphicFramePr>
        <p:xfrm>
          <a:off x="2771800" y="4221088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3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strike="sngStrike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200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080628"/>
              </p:ext>
            </p:extLst>
          </p:nvPr>
        </p:nvGraphicFramePr>
        <p:xfrm>
          <a:off x="3275856" y="4221088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4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776952"/>
              </p:ext>
            </p:extLst>
          </p:nvPr>
        </p:nvGraphicFramePr>
        <p:xfrm>
          <a:off x="3779912" y="4221088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5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7" name="直線單箭頭接點 16"/>
          <p:cNvCxnSpPr/>
          <p:nvPr/>
        </p:nvCxnSpPr>
        <p:spPr>
          <a:xfrm flipH="1">
            <a:off x="2915816" y="3566862"/>
            <a:ext cx="929096" cy="27874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911660"/>
              </p:ext>
            </p:extLst>
          </p:nvPr>
        </p:nvGraphicFramePr>
        <p:xfrm>
          <a:off x="7380312" y="3937814"/>
          <a:ext cx="360040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2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329012"/>
              </p:ext>
            </p:extLst>
          </p:nvPr>
        </p:nvGraphicFramePr>
        <p:xfrm>
          <a:off x="7380312" y="5305966"/>
          <a:ext cx="360040" cy="57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5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X</a:t>
                      </a:r>
                      <a:r>
                        <a:rPr lang="en-US" altLang="zh-TW" sz="1200" baseline="-250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</a:tr>
              <a:tr h="285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23457"/>
              </p:ext>
            </p:extLst>
          </p:nvPr>
        </p:nvGraphicFramePr>
        <p:xfrm>
          <a:off x="5766340" y="3861048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3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7380312" y="4945926"/>
            <a:ext cx="432048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ysClr val="windowText" lastClr="000000"/>
                </a:solidFill>
              </a:rPr>
              <a:t>+</a:t>
            </a:r>
            <a:endParaRPr lang="zh-TW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向右箭號 23"/>
          <p:cNvSpPr/>
          <p:nvPr/>
        </p:nvSpPr>
        <p:spPr>
          <a:xfrm rot="10800000">
            <a:off x="6516216" y="4873918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1691680" y="6525344"/>
            <a:ext cx="2591781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Original </a:t>
            </a:r>
            <a:r>
              <a:rPr lang="en-US" altLang="zh-TW" sz="1400" dirty="0" smtClean="0">
                <a:solidFill>
                  <a:schemeClr val="tx1"/>
                </a:solidFill>
              </a:rPr>
              <a:t>ϭ</a:t>
            </a:r>
            <a:r>
              <a:rPr lang="en-US" altLang="zh-TW" sz="1400" baseline="30000" dirty="0" smtClean="0">
                <a:solidFill>
                  <a:schemeClr val="tx1"/>
                </a:solidFill>
              </a:rPr>
              <a:t>3</a:t>
            </a:r>
            <a:endParaRPr lang="zh-TW" altLang="en-US" sz="1400" baseline="30000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44008" y="6011308"/>
            <a:ext cx="2591781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rgbClr val="FF0000"/>
                </a:solidFill>
              </a:rPr>
              <a:t>New ϭ</a:t>
            </a:r>
            <a:r>
              <a:rPr lang="en-US" altLang="zh-TW" sz="1600" baseline="30000" dirty="0" smtClean="0">
                <a:solidFill>
                  <a:srgbClr val="FF0000"/>
                </a:solidFill>
              </a:rPr>
              <a:t>3</a:t>
            </a:r>
            <a:endParaRPr lang="zh-TW" altLang="en-US" sz="1600" baseline="30000" dirty="0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034748" y="6444044"/>
            <a:ext cx="3281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space requirement is </a:t>
            </a:r>
            <a:r>
              <a:rPr lang="en-US" altLang="zh-TW" dirty="0" smtClean="0">
                <a:solidFill>
                  <a:srgbClr val="FF0000"/>
                </a:solidFill>
              </a:rPr>
              <a:t>O(k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logm</a:t>
            </a:r>
            <a:r>
              <a:rPr lang="en-US" altLang="zh-TW" dirty="0">
                <a:solidFill>
                  <a:srgbClr val="FF0000"/>
                </a:solidFill>
              </a:rPr>
              <a:t>).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38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Algorithms for </a:t>
            </a:r>
            <a:r>
              <a:rPr lang="en-US" altLang="zh-TW" dirty="0" smtClean="0"/>
              <a:t>LIS</a:t>
            </a:r>
            <a:br>
              <a:rPr lang="en-US" altLang="zh-TW" dirty="0" smtClean="0"/>
            </a:br>
            <a:r>
              <a:rPr lang="en-US" altLang="zh-TW" sz="3200" dirty="0" smtClean="0"/>
              <a:t>Finding </a:t>
            </a:r>
            <a:r>
              <a:rPr lang="en-US" altLang="zh-TW" sz="3200" dirty="0"/>
              <a:t>an </a:t>
            </a:r>
            <a:r>
              <a:rPr lang="en-US" altLang="zh-TW" sz="3200" dirty="0" smtClean="0"/>
              <a:t>LIS</a:t>
            </a:r>
            <a:endParaRPr lang="zh-TW" altLang="en-US" sz="33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Two-pass algorithm: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343" y="6143625"/>
            <a:ext cx="46672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2551786"/>
              </p:ext>
            </p:extLst>
          </p:nvPr>
        </p:nvGraphicFramePr>
        <p:xfrm>
          <a:off x="777885" y="2157755"/>
          <a:ext cx="43559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1818" y="2157755"/>
            <a:ext cx="659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1818" y="2589803"/>
            <a:ext cx="62068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A[</a:t>
            </a:r>
            <a:r>
              <a:rPr lang="en-US" altLang="zh-TW" dirty="0"/>
              <a:t>ℓ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03132"/>
              </p:ext>
            </p:extLst>
          </p:nvPr>
        </p:nvGraphicFramePr>
        <p:xfrm>
          <a:off x="1337962" y="3067095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1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407863"/>
              </p:ext>
            </p:extLst>
          </p:nvPr>
        </p:nvGraphicFramePr>
        <p:xfrm>
          <a:off x="1842018" y="3104659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2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243653"/>
              </p:ext>
            </p:extLst>
          </p:nvPr>
        </p:nvGraphicFramePr>
        <p:xfrm>
          <a:off x="2346074" y="3104659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3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strike="noStrike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20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36702"/>
              </p:ext>
            </p:extLst>
          </p:nvPr>
        </p:nvGraphicFramePr>
        <p:xfrm>
          <a:off x="2850130" y="3104659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4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040226"/>
              </p:ext>
            </p:extLst>
          </p:nvPr>
        </p:nvGraphicFramePr>
        <p:xfrm>
          <a:off x="3354186" y="3104659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5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342" y="5589240"/>
            <a:ext cx="4049252" cy="645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923928" y="3213884"/>
                <a:ext cx="20162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q = k</a:t>
                </a:r>
                <a:r>
                  <a:rPr lang="en-US" altLang="zh-TW" baseline="30000" dirty="0" smtClean="0">
                    <a:solidFill>
                      <a:srgbClr val="FF0000"/>
                    </a:solidFill>
                  </a:rPr>
                  <a:t>2/3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=5</a:t>
                </a:r>
                <a:r>
                  <a:rPr lang="en-US" altLang="zh-TW" baseline="30000" dirty="0" smtClean="0">
                    <a:solidFill>
                      <a:srgbClr val="FF0000"/>
                    </a:solidFill>
                  </a:rPr>
                  <a:t>2/3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≅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3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3213884"/>
                <a:ext cx="201622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27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2256832"/>
              </p:ext>
            </p:extLst>
          </p:nvPr>
        </p:nvGraphicFramePr>
        <p:xfrm>
          <a:off x="792091" y="2626112"/>
          <a:ext cx="4355973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2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∞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947383"/>
              </p:ext>
            </p:extLst>
          </p:nvPr>
        </p:nvGraphicFramePr>
        <p:xfrm>
          <a:off x="5724128" y="3140968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1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747471"/>
              </p:ext>
            </p:extLst>
          </p:nvPr>
        </p:nvGraphicFramePr>
        <p:xfrm>
          <a:off x="6228184" y="310652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2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205336"/>
              </p:ext>
            </p:extLst>
          </p:nvPr>
        </p:nvGraphicFramePr>
        <p:xfrm>
          <a:off x="6732240" y="310652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3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strike="noStrike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20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57815"/>
              </p:ext>
            </p:extLst>
          </p:nvPr>
        </p:nvGraphicFramePr>
        <p:xfrm>
          <a:off x="7236296" y="310652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4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495382"/>
              </p:ext>
            </p:extLst>
          </p:nvPr>
        </p:nvGraphicFramePr>
        <p:xfrm>
          <a:off x="7740352" y="310652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5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向右箭號 24"/>
          <p:cNvSpPr/>
          <p:nvPr/>
        </p:nvSpPr>
        <p:spPr>
          <a:xfrm>
            <a:off x="4452940" y="4077072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96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Algorithms for </a:t>
            </a:r>
            <a:r>
              <a:rPr lang="en-US" altLang="zh-TW" dirty="0" smtClean="0"/>
              <a:t>LIS</a:t>
            </a:r>
            <a:br>
              <a:rPr lang="en-US" altLang="zh-TW" dirty="0" smtClean="0"/>
            </a:br>
            <a:r>
              <a:rPr lang="en-US" altLang="zh-TW" sz="3200" dirty="0" smtClean="0"/>
              <a:t>Finding </a:t>
            </a:r>
            <a:r>
              <a:rPr lang="en-US" altLang="zh-TW" sz="3200" dirty="0"/>
              <a:t>an </a:t>
            </a:r>
            <a:r>
              <a:rPr lang="en-US" altLang="zh-TW" sz="3200" dirty="0" smtClean="0"/>
              <a:t>LIS</a:t>
            </a:r>
            <a:endParaRPr lang="zh-TW" altLang="en-US" sz="33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Two-pass algorithm: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59" y="4149080"/>
            <a:ext cx="46672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539552" y="5733256"/>
            <a:ext cx="77768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he </a:t>
            </a:r>
            <a:r>
              <a:rPr lang="en-US" altLang="zh-TW" dirty="0"/>
              <a:t>total space required by our algorithm </a:t>
            </a:r>
            <a:r>
              <a:rPr lang="en-US" altLang="zh-TW" dirty="0" smtClean="0"/>
              <a:t>is </a:t>
            </a:r>
            <a:r>
              <a:rPr lang="en-US" altLang="zh-TW" dirty="0" smtClean="0">
                <a:solidFill>
                  <a:srgbClr val="FF0000"/>
                </a:solidFill>
              </a:rPr>
              <a:t>O(max(k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logm/q,q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logm</a:t>
            </a:r>
            <a:r>
              <a:rPr lang="en-US" altLang="zh-TW" dirty="0">
                <a:solidFill>
                  <a:srgbClr val="FF0000"/>
                </a:solidFill>
              </a:rPr>
              <a:t>) + </a:t>
            </a:r>
            <a:r>
              <a:rPr lang="en-US" altLang="zh-TW" dirty="0" err="1" smtClean="0">
                <a:solidFill>
                  <a:srgbClr val="FF0000"/>
                </a:solidFill>
              </a:rPr>
              <a:t>klogm</a:t>
            </a:r>
            <a:r>
              <a:rPr lang="en-US" altLang="zh-TW" dirty="0">
                <a:solidFill>
                  <a:srgbClr val="FF0000"/>
                </a:solidFill>
              </a:rPr>
              <a:t>).</a:t>
            </a:r>
          </a:p>
          <a:p>
            <a:r>
              <a:rPr lang="en-US" altLang="zh-TW" dirty="0"/>
              <a:t>This is minimized at </a:t>
            </a:r>
            <a:r>
              <a:rPr lang="en-US" altLang="zh-TW" dirty="0">
                <a:solidFill>
                  <a:srgbClr val="FF0000"/>
                </a:solidFill>
              </a:rPr>
              <a:t>q = </a:t>
            </a:r>
            <a:r>
              <a:rPr lang="en-US" altLang="zh-TW" dirty="0" smtClean="0">
                <a:solidFill>
                  <a:srgbClr val="FF0000"/>
                </a:solidFill>
              </a:rPr>
              <a:t>k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2/3</a:t>
            </a:r>
            <a:r>
              <a:rPr lang="en-US" altLang="zh-TW" dirty="0"/>
              <a:t>, giving us a space bound of </a:t>
            </a:r>
            <a:r>
              <a:rPr lang="en-US" altLang="zh-TW" dirty="0" smtClean="0">
                <a:solidFill>
                  <a:srgbClr val="FF0000"/>
                </a:solidFill>
              </a:rPr>
              <a:t>O(k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1+1/3</a:t>
            </a:r>
            <a:r>
              <a:rPr lang="en-US" altLang="zh-TW" dirty="0" smtClean="0">
                <a:solidFill>
                  <a:srgbClr val="FF0000"/>
                </a:solidFill>
              </a:rPr>
              <a:t>logm)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040587"/>
              </p:ext>
            </p:extLst>
          </p:nvPr>
        </p:nvGraphicFramePr>
        <p:xfrm>
          <a:off x="777885" y="2157755"/>
          <a:ext cx="43559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1818" y="2157755"/>
            <a:ext cx="659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1818" y="2589803"/>
            <a:ext cx="62068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A[</a:t>
            </a:r>
            <a:r>
              <a:rPr lang="en-US" altLang="zh-TW" dirty="0"/>
              <a:t>ℓ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260" y="2276872"/>
            <a:ext cx="4049252" cy="645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1818" y="3140968"/>
                <a:ext cx="20162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q = k</a:t>
                </a:r>
                <a:r>
                  <a:rPr lang="en-US" altLang="zh-TW" baseline="30000" dirty="0" smtClean="0">
                    <a:solidFill>
                      <a:srgbClr val="FF0000"/>
                    </a:solidFill>
                  </a:rPr>
                  <a:t>2/3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=5</a:t>
                </a:r>
                <a:r>
                  <a:rPr lang="en-US" altLang="zh-TW" baseline="30000" dirty="0" smtClean="0">
                    <a:solidFill>
                      <a:srgbClr val="FF0000"/>
                    </a:solidFill>
                  </a:rPr>
                  <a:t>2/3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≅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3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8" y="3140968"/>
                <a:ext cx="201622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19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835614"/>
              </p:ext>
            </p:extLst>
          </p:nvPr>
        </p:nvGraphicFramePr>
        <p:xfrm>
          <a:off x="792091" y="2626112"/>
          <a:ext cx="4355973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2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∞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835924"/>
              </p:ext>
            </p:extLst>
          </p:nvPr>
        </p:nvGraphicFramePr>
        <p:xfrm>
          <a:off x="5868144" y="3319428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1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82600"/>
              </p:ext>
            </p:extLst>
          </p:nvPr>
        </p:nvGraphicFramePr>
        <p:xfrm>
          <a:off x="6372200" y="328498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2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479474"/>
              </p:ext>
            </p:extLst>
          </p:nvPr>
        </p:nvGraphicFramePr>
        <p:xfrm>
          <a:off x="6876256" y="328498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3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strike="noStrike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20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056643"/>
              </p:ext>
            </p:extLst>
          </p:nvPr>
        </p:nvGraphicFramePr>
        <p:xfrm>
          <a:off x="7380312" y="328498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4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845838"/>
              </p:ext>
            </p:extLst>
          </p:nvPr>
        </p:nvGraphicFramePr>
        <p:xfrm>
          <a:off x="7884368" y="3284984"/>
          <a:ext cx="360040" cy="230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ϭ</a:t>
                      </a:r>
                      <a:r>
                        <a:rPr lang="en-US" altLang="zh-TW" sz="1200" baseline="30000" dirty="0" smtClean="0"/>
                        <a:t>5</a:t>
                      </a:r>
                      <a:endParaRPr lang="zh-TW" altLang="en-US" sz="1200" baseline="300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向右箭號 24"/>
          <p:cNvSpPr/>
          <p:nvPr/>
        </p:nvSpPr>
        <p:spPr>
          <a:xfrm rot="10800000">
            <a:off x="5241048" y="4046200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351375" y="3479392"/>
            <a:ext cx="46680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dirty="0" smtClean="0"/>
              <a:t>ϭ</a:t>
            </a:r>
            <a:r>
              <a:rPr lang="en-US" altLang="zh-TW" baseline="30000" dirty="0" smtClean="0"/>
              <a:t>5  </a:t>
            </a:r>
            <a:r>
              <a:rPr lang="en-US" altLang="zh-TW" dirty="0" smtClean="0"/>
              <a:t>= </a:t>
            </a:r>
            <a:r>
              <a:rPr lang="en-US" altLang="zh-TW" dirty="0" smtClean="0">
                <a:solidFill>
                  <a:srgbClr val="FF0000"/>
                </a:solidFill>
              </a:rPr>
              <a:t>2 </a:t>
            </a:r>
            <a:r>
              <a:rPr lang="en-US" altLang="zh-TW" dirty="0" smtClean="0"/>
              <a:t>,</a:t>
            </a:r>
            <a:r>
              <a:rPr lang="en-US" altLang="zh-TW" dirty="0" smtClean="0">
                <a:solidFill>
                  <a:srgbClr val="FF0000"/>
                </a:solidFill>
              </a:rPr>
              <a:t> 2 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2 </a:t>
            </a:r>
            <a:r>
              <a:rPr lang="en-US" altLang="zh-TW" dirty="0" smtClean="0"/>
              <a:t>, 3 , 6</a:t>
            </a:r>
            <a:endParaRPr lang="zh-TW" altLang="en-US" baseline="30000" dirty="0"/>
          </a:p>
        </p:txBody>
      </p:sp>
      <p:cxnSp>
        <p:nvCxnSpPr>
          <p:cNvPr id="27" name="直線單箭頭接點 26"/>
          <p:cNvCxnSpPr/>
          <p:nvPr/>
        </p:nvCxnSpPr>
        <p:spPr>
          <a:xfrm>
            <a:off x="1049930" y="2527087"/>
            <a:ext cx="1289822" cy="1045929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1475656" y="2527087"/>
            <a:ext cx="1080120" cy="1045929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H="1">
            <a:off x="2915816" y="2527087"/>
            <a:ext cx="504056" cy="1045929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4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Algorithms for </a:t>
            </a:r>
            <a:r>
              <a:rPr lang="en-US" altLang="zh-TW" dirty="0" smtClean="0"/>
              <a:t>LIS</a:t>
            </a:r>
            <a:br>
              <a:rPr lang="en-US" altLang="zh-TW" dirty="0" smtClean="0"/>
            </a:br>
            <a:r>
              <a:rPr lang="en-US" altLang="zh-TW" sz="3200" dirty="0" smtClean="0"/>
              <a:t>Finding </a:t>
            </a:r>
            <a:r>
              <a:rPr lang="en-US" altLang="zh-TW" sz="3200" dirty="0"/>
              <a:t>an </a:t>
            </a:r>
            <a:r>
              <a:rPr lang="en-US" altLang="zh-TW" sz="3200" dirty="0" smtClean="0"/>
              <a:t>LIS</a:t>
            </a:r>
            <a:endParaRPr lang="zh-TW" altLang="en-US" sz="33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sz="4600" dirty="0" smtClean="0"/>
              <a:t> multi-pass algorithm: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1. In </a:t>
            </a:r>
            <a:r>
              <a:rPr lang="en-US" altLang="zh-TW" dirty="0"/>
              <a:t>the </a:t>
            </a:r>
            <a:r>
              <a:rPr lang="en-US" altLang="zh-TW" dirty="0" smtClean="0"/>
              <a:t>first </a:t>
            </a:r>
            <a:r>
              <a:rPr lang="en-US" altLang="zh-TW" dirty="0"/>
              <a:t>pass the algorithm </a:t>
            </a:r>
            <a:r>
              <a:rPr lang="en-US" altLang="zh-TW" dirty="0" smtClean="0"/>
              <a:t>remembers only </a:t>
            </a:r>
            <a:r>
              <a:rPr lang="en-US" altLang="zh-TW" dirty="0"/>
              <a:t>every </a:t>
            </a:r>
            <a:r>
              <a:rPr lang="en-US" altLang="zh-TW" dirty="0" err="1"/>
              <a:t>qth</a:t>
            </a:r>
            <a:r>
              <a:rPr lang="en-US" altLang="zh-TW" dirty="0"/>
              <a:t> element in the subsequence, and discards all stored subsequences except </a:t>
            </a:r>
            <a:r>
              <a:rPr lang="en-US" altLang="zh-TW" dirty="0" err="1" smtClean="0"/>
              <a:t>ϭ</a:t>
            </a:r>
            <a:r>
              <a:rPr lang="en-US" altLang="zh-TW" baseline="30000" dirty="0" err="1" smtClean="0"/>
              <a:t>k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en-US" altLang="zh-TW" dirty="0" smtClean="0"/>
              <a:t> </a:t>
            </a:r>
          </a:p>
          <a:p>
            <a:pPr marL="0" indent="0">
              <a:buNone/>
            </a:pPr>
            <a:r>
              <a:rPr lang="en-US" altLang="zh-TW" dirty="0" smtClean="0"/>
              <a:t>2.The </a:t>
            </a:r>
            <a:r>
              <a:rPr lang="en-US" altLang="zh-TW" dirty="0"/>
              <a:t>algorithm uses </a:t>
            </a:r>
            <a:r>
              <a:rPr lang="en-US" altLang="zh-TW" dirty="0" smtClean="0"/>
              <a:t>p-1 </a:t>
            </a:r>
            <a:r>
              <a:rPr lang="en-US" altLang="zh-TW" dirty="0"/>
              <a:t>passes to </a:t>
            </a:r>
            <a:r>
              <a:rPr lang="en-US" altLang="zh-TW" dirty="0" smtClean="0"/>
              <a:t>find </a:t>
            </a:r>
            <a:r>
              <a:rPr lang="en-US" altLang="zh-TW" dirty="0"/>
              <a:t>the roughly </a:t>
            </a:r>
            <a:r>
              <a:rPr lang="en-US" altLang="zh-TW" dirty="0" smtClean="0"/>
              <a:t>k/q subsequences</a:t>
            </a:r>
          </a:p>
          <a:p>
            <a:pPr marL="0" indent="0">
              <a:buNone/>
            </a:pPr>
            <a:r>
              <a:rPr lang="en-US" altLang="zh-TW" dirty="0" smtClean="0"/>
              <a:t>  </a:t>
            </a:r>
            <a:r>
              <a:rPr lang="el-GR" altLang="zh-TW" dirty="0" smtClean="0"/>
              <a:t>τ</a:t>
            </a:r>
            <a:r>
              <a:rPr lang="en-US" altLang="zh-TW" baseline="30000" dirty="0" smtClean="0"/>
              <a:t>1</a:t>
            </a:r>
            <a:r>
              <a:rPr lang="en-US" altLang="zh-TW" dirty="0" smtClean="0"/>
              <a:t>,</a:t>
            </a:r>
            <a:r>
              <a:rPr lang="el-GR" altLang="zh-TW" dirty="0"/>
              <a:t> </a:t>
            </a:r>
            <a:r>
              <a:rPr lang="el-GR" altLang="zh-TW" dirty="0" smtClean="0"/>
              <a:t>τ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,…,</a:t>
            </a:r>
            <a:r>
              <a:rPr lang="el-GR" altLang="zh-TW" dirty="0"/>
              <a:t> </a:t>
            </a:r>
            <a:r>
              <a:rPr lang="el-GR" altLang="zh-TW" dirty="0" smtClean="0"/>
              <a:t>τ</a:t>
            </a:r>
            <a:r>
              <a:rPr lang="en-US" altLang="zh-TW" baseline="-25000" dirty="0" smtClean="0"/>
              <a:t>└</a:t>
            </a:r>
            <a:r>
              <a:rPr lang="en-US" altLang="zh-TW" baseline="30000" dirty="0" smtClean="0"/>
              <a:t>(k-2)/q</a:t>
            </a:r>
            <a:r>
              <a:rPr lang="en-US" altLang="zh-TW" baseline="-25000" dirty="0" smtClean="0"/>
              <a:t>┘</a:t>
            </a:r>
            <a:r>
              <a:rPr lang="en-US" altLang="zh-TW" dirty="0" smtClean="0"/>
              <a:t> where  each   </a:t>
            </a:r>
            <a:r>
              <a:rPr lang="en-US" altLang="zh-TW" dirty="0"/>
              <a:t>has length q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Let </a:t>
            </a:r>
            <a:r>
              <a:rPr lang="en-US" altLang="zh-TW" dirty="0" smtClean="0"/>
              <a:t>S(</a:t>
            </a:r>
            <a:r>
              <a:rPr lang="en-US" altLang="zh-TW" dirty="0" err="1" smtClean="0"/>
              <a:t>k,p</a:t>
            </a:r>
            <a:r>
              <a:rPr lang="en-US" altLang="zh-TW" dirty="0"/>
              <a:t>) denote the space required by a p-pass algorithm to </a:t>
            </a:r>
            <a:r>
              <a:rPr lang="en-US" altLang="zh-TW" dirty="0" smtClean="0"/>
              <a:t>find </a:t>
            </a:r>
            <a:r>
              <a:rPr lang="en-US" altLang="zh-TW" dirty="0"/>
              <a:t>a subsequence of </a:t>
            </a:r>
            <a:r>
              <a:rPr lang="en-US" altLang="zh-TW" dirty="0" smtClean="0"/>
              <a:t>length k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We </a:t>
            </a:r>
            <a:r>
              <a:rPr lang="en-US" altLang="zh-TW" dirty="0"/>
              <a:t>then have the following recurrence: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S(k, </a:t>
            </a:r>
            <a:r>
              <a:rPr lang="en-US" altLang="zh-TW" dirty="0">
                <a:solidFill>
                  <a:srgbClr val="FF0000"/>
                </a:solidFill>
              </a:rPr>
              <a:t>p) = </a:t>
            </a:r>
            <a:r>
              <a:rPr lang="en-US" altLang="zh-TW" dirty="0" smtClean="0">
                <a:solidFill>
                  <a:srgbClr val="FF0000"/>
                </a:solidFill>
              </a:rPr>
              <a:t>max(O(k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logm/q), S(q,p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FF0000"/>
                </a:solidFill>
              </a:rPr>
              <a:t>)) + O(k </a:t>
            </a:r>
            <a:r>
              <a:rPr lang="en-US" altLang="zh-TW" dirty="0" err="1">
                <a:solidFill>
                  <a:srgbClr val="FF0000"/>
                </a:solidFill>
              </a:rPr>
              <a:t>logm</a:t>
            </a:r>
            <a:r>
              <a:rPr lang="en-US" altLang="zh-TW" dirty="0" smtClean="0">
                <a:solidFill>
                  <a:srgbClr val="FF0000"/>
                </a:solidFill>
              </a:rPr>
              <a:t>).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by Solving </a:t>
            </a:r>
            <a:r>
              <a:rPr lang="en-US" altLang="zh-TW" dirty="0"/>
              <a:t>the recurrence, S</a:t>
            </a:r>
            <a:r>
              <a:rPr lang="en-US" altLang="zh-TW" dirty="0" smtClean="0"/>
              <a:t>pace </a:t>
            </a:r>
            <a:r>
              <a:rPr lang="en-US" altLang="zh-TW" dirty="0"/>
              <a:t>requirements are optimized at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>
                <a:solidFill>
                  <a:srgbClr val="FF0000"/>
                </a:solidFill>
              </a:rPr>
              <a:t>q </a:t>
            </a:r>
            <a:r>
              <a:rPr lang="en-US" altLang="zh-TW" dirty="0">
                <a:solidFill>
                  <a:srgbClr val="FF0000"/>
                </a:solidFill>
              </a:rPr>
              <a:t>= </a:t>
            </a:r>
            <a:r>
              <a:rPr lang="en-US" altLang="zh-TW" dirty="0" smtClean="0">
                <a:solidFill>
                  <a:srgbClr val="FF0000"/>
                </a:solidFill>
              </a:rPr>
              <a:t>k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1-1</a:t>
            </a:r>
            <a:r>
              <a:rPr lang="en-US" altLang="zh-TW" baseline="30000" dirty="0">
                <a:solidFill>
                  <a:srgbClr val="FF0000"/>
                </a:solidFill>
              </a:rPr>
              <a:t>/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(2p-1</a:t>
            </a:r>
            <a:r>
              <a:rPr lang="en-US" altLang="zh-TW" baseline="30000" dirty="0">
                <a:solidFill>
                  <a:srgbClr val="FF0000"/>
                </a:solidFill>
              </a:rPr>
              <a:t>), </a:t>
            </a:r>
            <a:r>
              <a:rPr lang="en-US" altLang="zh-TW" dirty="0" smtClean="0">
                <a:solidFill>
                  <a:srgbClr val="FF0000"/>
                </a:solidFill>
              </a:rPr>
              <a:t>and </a:t>
            </a:r>
            <a:r>
              <a:rPr lang="pl-PL" altLang="zh-TW" dirty="0" smtClean="0">
                <a:solidFill>
                  <a:srgbClr val="FF0000"/>
                </a:solidFill>
              </a:rPr>
              <a:t>where S(k</a:t>
            </a:r>
            <a:r>
              <a:rPr lang="en-US" altLang="zh-TW" dirty="0" smtClean="0">
                <a:solidFill>
                  <a:srgbClr val="FF0000"/>
                </a:solidFill>
              </a:rPr>
              <a:t>,</a:t>
            </a:r>
            <a:r>
              <a:rPr lang="pl-PL" altLang="zh-TW" dirty="0" smtClean="0">
                <a:solidFill>
                  <a:srgbClr val="FF0000"/>
                </a:solidFill>
              </a:rPr>
              <a:t>p</a:t>
            </a:r>
            <a:r>
              <a:rPr lang="pl-PL" altLang="zh-TW" dirty="0">
                <a:solidFill>
                  <a:srgbClr val="FF0000"/>
                </a:solidFill>
              </a:rPr>
              <a:t>) = </a:t>
            </a:r>
            <a:r>
              <a:rPr lang="pl-PL" altLang="zh-TW" dirty="0" smtClean="0">
                <a:solidFill>
                  <a:srgbClr val="FF0000"/>
                </a:solidFill>
              </a:rPr>
              <a:t>O(k</a:t>
            </a:r>
            <a:r>
              <a:rPr lang="pl-PL" altLang="zh-TW" baseline="30000" dirty="0" smtClean="0">
                <a:solidFill>
                  <a:srgbClr val="FF0000"/>
                </a:solidFill>
              </a:rPr>
              <a:t>1+1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/</a:t>
            </a:r>
            <a:r>
              <a:rPr lang="pl-PL" altLang="zh-TW" baseline="30000" dirty="0" smtClean="0">
                <a:solidFill>
                  <a:srgbClr val="FF0000"/>
                </a:solidFill>
              </a:rPr>
              <a:t>(2p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 -</a:t>
            </a:r>
            <a:r>
              <a:rPr lang="pl-PL" altLang="zh-TW" baseline="30000" dirty="0" smtClean="0">
                <a:solidFill>
                  <a:srgbClr val="FF0000"/>
                </a:solidFill>
              </a:rPr>
              <a:t>1)</a:t>
            </a:r>
            <a:r>
              <a:rPr lang="pl-PL" altLang="zh-TW" dirty="0" smtClean="0">
                <a:solidFill>
                  <a:srgbClr val="FF0000"/>
                </a:solidFill>
              </a:rPr>
              <a:t>logm</a:t>
            </a:r>
            <a:r>
              <a:rPr lang="pl-PL" altLang="zh-TW" dirty="0">
                <a:solidFill>
                  <a:srgbClr val="FF0000"/>
                </a:solidFill>
              </a:rPr>
              <a:t>).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578721"/>
            <a:ext cx="46672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群組 12"/>
          <p:cNvGrpSpPr/>
          <p:nvPr/>
        </p:nvGrpSpPr>
        <p:grpSpPr>
          <a:xfrm>
            <a:off x="2699792" y="4077072"/>
            <a:ext cx="432048" cy="180020"/>
            <a:chOff x="2699792" y="4077072"/>
            <a:chExt cx="432048" cy="180020"/>
          </a:xfrm>
        </p:grpSpPr>
        <p:cxnSp>
          <p:nvCxnSpPr>
            <p:cNvPr id="8" name="直線接點 7"/>
            <p:cNvCxnSpPr/>
            <p:nvPr/>
          </p:nvCxnSpPr>
          <p:spPr>
            <a:xfrm flipH="1">
              <a:off x="2699792" y="4077072"/>
              <a:ext cx="216024" cy="18002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 flipH="1" flipV="1">
              <a:off x="2915816" y="4077072"/>
              <a:ext cx="216024" cy="1524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3298168" y="4049452"/>
            <a:ext cx="432048" cy="180020"/>
            <a:chOff x="2699792" y="4077072"/>
            <a:chExt cx="432048" cy="180020"/>
          </a:xfrm>
        </p:grpSpPr>
        <p:cxnSp>
          <p:nvCxnSpPr>
            <p:cNvPr id="15" name="直線接點 14"/>
            <p:cNvCxnSpPr/>
            <p:nvPr/>
          </p:nvCxnSpPr>
          <p:spPr>
            <a:xfrm flipH="1">
              <a:off x="2699792" y="4077072"/>
              <a:ext cx="216024" cy="18002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flipH="1" flipV="1">
              <a:off x="2915816" y="4077072"/>
              <a:ext cx="216024" cy="1524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/>
          <p:cNvSpPr/>
          <p:nvPr/>
        </p:nvSpPr>
        <p:spPr>
          <a:xfrm>
            <a:off x="3336900" y="4077072"/>
            <a:ext cx="354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 smtClean="0"/>
              <a:t>τ</a:t>
            </a:r>
            <a:r>
              <a:rPr lang="en-US" altLang="zh-TW" baseline="30000" dirty="0"/>
              <a:t>2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2777256" y="4077072"/>
            <a:ext cx="354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/>
              <a:t>τ</a:t>
            </a:r>
            <a:r>
              <a:rPr lang="en-US" altLang="zh-TW" baseline="30000" dirty="0"/>
              <a:t>1</a:t>
            </a:r>
            <a:endParaRPr lang="zh-TW" altLang="en-US" dirty="0"/>
          </a:p>
        </p:txBody>
      </p:sp>
      <p:grpSp>
        <p:nvGrpSpPr>
          <p:cNvPr id="19" name="群組 18"/>
          <p:cNvGrpSpPr/>
          <p:nvPr/>
        </p:nvGrpSpPr>
        <p:grpSpPr>
          <a:xfrm>
            <a:off x="5724128" y="4077072"/>
            <a:ext cx="432048" cy="180020"/>
            <a:chOff x="2699792" y="4077072"/>
            <a:chExt cx="432048" cy="180020"/>
          </a:xfrm>
        </p:grpSpPr>
        <p:cxnSp>
          <p:nvCxnSpPr>
            <p:cNvPr id="20" name="直線接點 19"/>
            <p:cNvCxnSpPr/>
            <p:nvPr/>
          </p:nvCxnSpPr>
          <p:spPr>
            <a:xfrm flipH="1">
              <a:off x="2699792" y="4077072"/>
              <a:ext cx="216024" cy="18002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H="1" flipV="1">
              <a:off x="2915816" y="4077072"/>
              <a:ext cx="216024" cy="1524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矩形 21"/>
          <p:cNvSpPr/>
          <p:nvPr/>
        </p:nvSpPr>
        <p:spPr>
          <a:xfrm>
            <a:off x="5557484" y="4149080"/>
            <a:ext cx="981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/>
              <a:t>τ</a:t>
            </a:r>
            <a:r>
              <a:rPr lang="en-US" altLang="zh-TW" baseline="-25000" dirty="0"/>
              <a:t>└</a:t>
            </a:r>
            <a:r>
              <a:rPr lang="en-US" altLang="zh-TW" baseline="30000" dirty="0"/>
              <a:t>(k-2)/q</a:t>
            </a:r>
            <a:r>
              <a:rPr lang="en-US" altLang="zh-TW" baseline="-25000" dirty="0"/>
              <a:t>┘</a:t>
            </a: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396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Lower Bounds for LIS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2652028"/>
            <a:ext cx="8507288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Set-</a:t>
            </a:r>
            <a:r>
              <a:rPr lang="en-US" altLang="zh-TW" dirty="0" err="1" smtClean="0"/>
              <a:t>Disjointness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r>
              <a:rPr lang="en-US" altLang="zh-TW" sz="2000" dirty="0" smtClean="0"/>
              <a:t>Party </a:t>
            </a:r>
            <a:r>
              <a:rPr lang="en-US" altLang="zh-TW" sz="2000" dirty="0"/>
              <a:t>A holds an n-bit string </a:t>
            </a:r>
            <a:r>
              <a:rPr lang="en-US" altLang="zh-TW" sz="2000" dirty="0" err="1"/>
              <a:t>s</a:t>
            </a:r>
            <a:r>
              <a:rPr lang="en-US" altLang="zh-TW" sz="2000" baseline="-25000" dirty="0" err="1"/>
              <a:t>A</a:t>
            </a:r>
            <a:r>
              <a:rPr lang="en-US" altLang="zh-TW" sz="2000" dirty="0"/>
              <a:t>, and Party </a:t>
            </a:r>
            <a:r>
              <a:rPr lang="en-US" altLang="zh-TW" sz="2000" dirty="0" smtClean="0"/>
              <a:t>B holds </a:t>
            </a:r>
            <a:r>
              <a:rPr lang="en-US" altLang="zh-TW" sz="2000" dirty="0"/>
              <a:t>another n-bit string </a:t>
            </a:r>
            <a:r>
              <a:rPr lang="en-US" altLang="zh-TW" sz="2000" dirty="0" err="1"/>
              <a:t>s</a:t>
            </a:r>
            <a:r>
              <a:rPr lang="en-US" altLang="zh-TW" sz="2000" baseline="-25000" dirty="0" err="1"/>
              <a:t>B</a:t>
            </a:r>
            <a:r>
              <a:rPr lang="en-US" altLang="zh-TW" sz="2000" dirty="0" err="1"/>
              <a:t>.</a:t>
            </a:r>
            <a:r>
              <a:rPr lang="en-US" altLang="zh-TW" sz="2000" dirty="0"/>
              <a:t> </a:t>
            </a: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/>
              <a:t>They </a:t>
            </a:r>
            <a:r>
              <a:rPr lang="en-US" altLang="zh-TW" sz="2000" dirty="0"/>
              <a:t>must decide whether there is at least one </a:t>
            </a:r>
            <a:r>
              <a:rPr lang="en-US" altLang="zh-TW" sz="2000" dirty="0" smtClean="0"/>
              <a:t>'1</a:t>
            </a:r>
            <a:r>
              <a:rPr lang="en-US" altLang="zh-TW" sz="2000" dirty="0"/>
              <a:t>' in the </a:t>
            </a:r>
            <a:r>
              <a:rPr lang="en-US" altLang="zh-TW" sz="2000" dirty="0" smtClean="0"/>
              <a:t>bitwise-</a:t>
            </a:r>
            <a:r>
              <a:rPr lang="en-US" altLang="zh-TW" sz="2000" dirty="0" err="1" smtClean="0"/>
              <a:t>ands</a:t>
            </a:r>
            <a:r>
              <a:rPr lang="en-US" altLang="zh-TW" sz="2000" baseline="-25000" dirty="0" err="1" smtClean="0"/>
              <a:t>A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&amp; </a:t>
            </a:r>
            <a:r>
              <a:rPr lang="en-US" altLang="zh-TW" sz="2000" dirty="0" err="1"/>
              <a:t>s</a:t>
            </a:r>
            <a:r>
              <a:rPr lang="en-US" altLang="zh-TW" sz="2000" baseline="-25000" dirty="0" err="1"/>
              <a:t>B</a:t>
            </a:r>
            <a:r>
              <a:rPr lang="en-US" altLang="zh-TW" sz="2000" dirty="0"/>
              <a:t> of </a:t>
            </a:r>
            <a:r>
              <a:rPr lang="en-US" altLang="zh-TW" sz="2000" dirty="0" err="1"/>
              <a:t>s</a:t>
            </a:r>
            <a:r>
              <a:rPr lang="en-US" altLang="zh-TW" sz="2000" baseline="-25000" dirty="0" err="1"/>
              <a:t>A</a:t>
            </a:r>
            <a:r>
              <a:rPr lang="en-US" altLang="zh-TW" sz="2000" dirty="0"/>
              <a:t> and </a:t>
            </a:r>
            <a:r>
              <a:rPr lang="en-US" altLang="zh-TW" sz="2000" dirty="0" err="1"/>
              <a:t>s</a:t>
            </a:r>
            <a:r>
              <a:rPr lang="en-US" altLang="zh-TW" sz="2000" baseline="-25000" dirty="0" err="1"/>
              <a:t>B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while minimizing </a:t>
            </a:r>
            <a:r>
              <a:rPr lang="en-US" altLang="zh-TW" sz="2000" dirty="0"/>
              <a:t>the number of bits communicated between the parties.</a:t>
            </a:r>
          </a:p>
          <a:p>
            <a:pPr marL="0" indent="0">
              <a:buNone/>
            </a:pPr>
            <a:r>
              <a:rPr lang="en-US" altLang="zh-TW" dirty="0" smtClean="0"/>
              <a:t>Example:</a:t>
            </a:r>
          </a:p>
          <a:p>
            <a:pPr marL="0" indent="0">
              <a:buNone/>
            </a:pPr>
            <a:r>
              <a:rPr lang="en-US" altLang="zh-TW" sz="2000" dirty="0" err="1"/>
              <a:t>s</a:t>
            </a:r>
            <a:r>
              <a:rPr lang="en-US" altLang="zh-TW" sz="2000" baseline="-25000" dirty="0" err="1" smtClean="0"/>
              <a:t>A</a:t>
            </a:r>
            <a:r>
              <a:rPr lang="en-US" altLang="zh-TW" sz="2000" dirty="0" smtClean="0"/>
              <a:t>:[0,1,0,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  <a:r>
              <a:rPr lang="en-US" altLang="zh-TW" sz="2000" dirty="0" smtClean="0"/>
              <a:t>,1,0,0,0,0]</a:t>
            </a:r>
          </a:p>
          <a:p>
            <a:pPr marL="0" indent="0">
              <a:buNone/>
            </a:pPr>
            <a:r>
              <a:rPr lang="en-US" altLang="zh-TW" sz="2000" dirty="0" err="1"/>
              <a:t>s</a:t>
            </a:r>
            <a:r>
              <a:rPr lang="en-US" altLang="zh-TW" sz="2000" baseline="-25000" dirty="0" err="1" smtClean="0"/>
              <a:t>B</a:t>
            </a:r>
            <a:r>
              <a:rPr lang="en-US" altLang="zh-TW" sz="2000" dirty="0" smtClean="0"/>
              <a:t>:[1,0,0,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  <a:r>
              <a:rPr lang="en-US" altLang="zh-TW" sz="2000" dirty="0" smtClean="0"/>
              <a:t>,0,0,1,0,0]</a:t>
            </a:r>
            <a:endParaRPr lang="en-US" altLang="zh-TW" sz="2000" baseline="-25000" dirty="0" smtClean="0"/>
          </a:p>
          <a:p>
            <a:pPr marL="0" indent="0">
              <a:buNone/>
            </a:pP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10</a:t>
            </a:fld>
            <a:endParaRPr lang="zh-TW" altLang="en-US"/>
          </a:p>
        </p:txBody>
      </p:sp>
      <p:grpSp>
        <p:nvGrpSpPr>
          <p:cNvPr id="10" name="群組 9"/>
          <p:cNvGrpSpPr/>
          <p:nvPr/>
        </p:nvGrpSpPr>
        <p:grpSpPr>
          <a:xfrm>
            <a:off x="1115616" y="1268760"/>
            <a:ext cx="7272808" cy="1728192"/>
            <a:chOff x="1547664" y="2852936"/>
            <a:chExt cx="7272808" cy="1728192"/>
          </a:xfrm>
        </p:grpSpPr>
        <p:sp>
          <p:nvSpPr>
            <p:cNvPr id="6" name="矩形 5"/>
            <p:cNvSpPr/>
            <p:nvPr/>
          </p:nvSpPr>
          <p:spPr>
            <a:xfrm>
              <a:off x="1547664" y="3212976"/>
              <a:ext cx="1944216" cy="100811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Set-</a:t>
              </a:r>
              <a:r>
                <a:rPr lang="en-US" altLang="zh-TW" dirty="0" err="1">
                  <a:solidFill>
                    <a:schemeClr val="tx1"/>
                  </a:solidFill>
                </a:rPr>
                <a:t>Disjointness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向右箭號 6"/>
            <p:cNvSpPr/>
            <p:nvPr/>
          </p:nvSpPr>
          <p:spPr>
            <a:xfrm>
              <a:off x="3491880" y="3573016"/>
              <a:ext cx="1656184" cy="36004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563888" y="3275692"/>
              <a:ext cx="13067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smtClean="0"/>
                <a:t>Reducing to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5220072" y="2852936"/>
                  <a:ext cx="3600400" cy="1728192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 smtClean="0"/>
                    <a:t>Determining </a:t>
                  </a:r>
                </a:p>
                <a:p>
                  <a:pPr algn="ctr"/>
                  <a:r>
                    <a:rPr lang="en-US" altLang="zh-TW" dirty="0" smtClean="0"/>
                    <a:t>if </a:t>
                  </a:r>
                  <a:r>
                    <a:rPr lang="en-US" altLang="zh-TW" dirty="0"/>
                    <a:t>an increasing subsequence of length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𝑁</m:t>
                          </m:r>
                        </m:e>
                      </m:rad>
                    </m:oMath>
                  </a14:m>
                  <a:r>
                    <a:rPr lang="en-US" altLang="zh-TW" dirty="0"/>
                    <a:t> exists in a stream of </a:t>
                  </a:r>
                  <a:r>
                    <a:rPr lang="en-US" altLang="zh-TW" dirty="0">
                      <a:solidFill>
                        <a:srgbClr val="FF0000"/>
                      </a:solidFill>
                    </a:rPr>
                    <a:t>N</a:t>
                  </a:r>
                  <a:r>
                    <a:rPr lang="en-US" altLang="zh-TW" dirty="0"/>
                    <a:t> elements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072" y="2852936"/>
                  <a:ext cx="3600400" cy="172819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4568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Lower Bounds for LIS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7220" y="1052736"/>
                <a:ext cx="9126780" cy="6740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/>
                  <a:t>n := </a:t>
                </a:r>
                <a:r>
                  <a:rPr lang="en-US" altLang="zh-TW" dirty="0"/>
                  <a:t>|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A</a:t>
                </a:r>
                <a:r>
                  <a:rPr lang="en-US" altLang="zh-TW" dirty="0"/>
                  <a:t>|</a:t>
                </a:r>
                <a:r>
                  <a:rPr lang="en-US" altLang="zh-TW" dirty="0" smtClean="0"/>
                  <a:t> =</a:t>
                </a:r>
                <a:r>
                  <a:rPr lang="en-US" altLang="zh-TW" dirty="0"/>
                  <a:t>|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|</a:t>
                </a:r>
              </a:p>
              <a:p>
                <a:r>
                  <a:rPr lang="en-US" altLang="zh-TW" dirty="0"/>
                  <a:t>each index i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𝜖</m:t>
                    </m:r>
                  </m:oMath>
                </a14:m>
                <a:r>
                  <a:rPr lang="en-US" altLang="zh-TW" dirty="0" smtClean="0"/>
                  <a:t>{1,…, n}</a:t>
                </a:r>
              </a:p>
              <a:p>
                <a:r>
                  <a:rPr lang="en-US" altLang="zh-TW" dirty="0"/>
                  <a:t>we </a:t>
                </a:r>
                <a:r>
                  <a:rPr lang="en-US" altLang="zh-TW" dirty="0" smtClean="0"/>
                  <a:t>associate the </a:t>
                </a:r>
                <a:r>
                  <a:rPr lang="en-US" altLang="zh-TW" dirty="0"/>
                  <a:t>sequence (n+1</a:t>
                </a:r>
                <a:r>
                  <a:rPr lang="en-US" altLang="zh-TW" dirty="0" smtClean="0"/>
                  <a:t>)*(i</a:t>
                </a:r>
                <a14:m>
                  <m:oMath xmlns:m="http://schemas.openxmlformats.org/officeDocument/2006/math">
                    <m:r>
                      <a:rPr lang="pt-BR" altLang="zh-TW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dirty="0" smtClean="0"/>
                  <a:t>1</a:t>
                </a:r>
                <a:r>
                  <a:rPr lang="en-US" altLang="zh-TW" dirty="0"/>
                  <a:t>)+</a:t>
                </a:r>
                <a:r>
                  <a:rPr lang="en-US" altLang="zh-TW" dirty="0" smtClean="0"/>
                  <a:t>1, … ,(</a:t>
                </a:r>
                <a:r>
                  <a:rPr lang="en-US" altLang="zh-TW" dirty="0"/>
                  <a:t>n+1</a:t>
                </a:r>
                <a:r>
                  <a:rPr lang="en-US" altLang="zh-TW" dirty="0" smtClean="0"/>
                  <a:t>)*i</a:t>
                </a:r>
                <a:r>
                  <a:rPr lang="en-US" altLang="zh-TW" dirty="0"/>
                  <a:t>, divided into two </a:t>
                </a:r>
                <a:r>
                  <a:rPr lang="en-US" altLang="zh-TW" dirty="0" smtClean="0"/>
                  <a:t>parts:</a:t>
                </a:r>
              </a:p>
              <a:p>
                <a:r>
                  <a:rPr lang="pt-BR" altLang="zh-TW" dirty="0"/>
                  <a:t>A-part(i) = (n+1</a:t>
                </a:r>
                <a:r>
                  <a:rPr lang="pt-BR" altLang="zh-TW" dirty="0" smtClean="0"/>
                  <a:t>)(i</a:t>
                </a:r>
                <a14:m>
                  <m:oMath xmlns:m="http://schemas.openxmlformats.org/officeDocument/2006/math">
                    <m:r>
                      <a:rPr lang="pt-BR" altLang="zh-TW" i="1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</a:t>
                </a:r>
                <a:r>
                  <a:rPr lang="pt-BR" altLang="zh-TW" dirty="0"/>
                  <a:t>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1</a:t>
                </a:r>
                <a:r>
                  <a:rPr lang="pt-BR" altLang="zh-TW" dirty="0" smtClean="0"/>
                  <a:t>    , </a:t>
                </a:r>
                <a:r>
                  <a:rPr lang="pt-BR" altLang="zh-TW" dirty="0"/>
                  <a:t>(n+1</a:t>
                </a:r>
                <a:r>
                  <a:rPr lang="pt-BR" altLang="zh-TW" dirty="0" smtClean="0"/>
                  <a:t>)(i</a:t>
                </a:r>
                <a14:m>
                  <m:oMath xmlns:m="http://schemas.openxmlformats.org/officeDocument/2006/math">
                    <m:r>
                      <a:rPr lang="pt-BR" altLang="zh-TW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</a:t>
                </a:r>
                <a:r>
                  <a:rPr lang="pt-BR" altLang="zh-TW" dirty="0"/>
                  <a:t>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2</a:t>
                </a:r>
                <a:r>
                  <a:rPr lang="pt-BR" altLang="zh-TW" dirty="0" smtClean="0"/>
                  <a:t>   , ... , (</a:t>
                </a:r>
                <a:r>
                  <a:rPr lang="pt-BR" altLang="zh-TW" dirty="0"/>
                  <a:t>n+1</a:t>
                </a:r>
                <a:r>
                  <a:rPr lang="pt-BR" altLang="zh-TW" dirty="0" smtClean="0"/>
                  <a:t>)(i</a:t>
                </a:r>
                <a14:m>
                  <m:oMath xmlns:m="http://schemas.openxmlformats.org/officeDocument/2006/math">
                    <m:r>
                      <a:rPr lang="pt-BR" altLang="zh-TW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i.</a:t>
                </a:r>
              </a:p>
              <a:p>
                <a:r>
                  <a:rPr lang="pt-BR" altLang="zh-TW" dirty="0"/>
                  <a:t>B-part(i) = (n+1)(</a:t>
                </a:r>
                <a:r>
                  <a:rPr lang="pt-BR" altLang="zh-TW" dirty="0" smtClean="0"/>
                  <a:t>i</a:t>
                </a:r>
                <a14:m>
                  <m:oMath xmlns:m="http://schemas.openxmlformats.org/officeDocument/2006/math">
                    <m:r>
                      <a:rPr lang="pt-BR" altLang="zh-TW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</a:t>
                </a:r>
                <a:r>
                  <a:rPr lang="pt-BR" altLang="zh-TW" dirty="0"/>
                  <a:t>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i+1</a:t>
                </a:r>
                <a:r>
                  <a:rPr lang="pt-BR" altLang="zh-TW" dirty="0" smtClean="0"/>
                  <a:t> , </a:t>
                </a:r>
                <a:r>
                  <a:rPr lang="pt-BR" altLang="zh-TW" dirty="0"/>
                  <a:t>(n+1)(</a:t>
                </a:r>
                <a:r>
                  <a:rPr lang="pt-BR" altLang="zh-TW" dirty="0" smtClean="0"/>
                  <a:t>i</a:t>
                </a:r>
                <a14:m>
                  <m:oMath xmlns:m="http://schemas.openxmlformats.org/officeDocument/2006/math">
                    <m:r>
                      <a:rPr lang="pt-BR" altLang="zh-TW" i="1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</a:t>
                </a:r>
                <a:r>
                  <a:rPr lang="pt-BR" altLang="zh-TW" dirty="0"/>
                  <a:t>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i+2</a:t>
                </a:r>
                <a:r>
                  <a:rPr lang="pt-BR" altLang="zh-TW" dirty="0" smtClean="0"/>
                  <a:t>, ... </a:t>
                </a:r>
                <a:r>
                  <a:rPr lang="pt-BR" altLang="zh-TW" dirty="0"/>
                  <a:t>,</a:t>
                </a:r>
                <a:r>
                  <a:rPr lang="pt-BR" altLang="zh-TW" dirty="0" smtClean="0"/>
                  <a:t> </a:t>
                </a:r>
                <a:r>
                  <a:rPr lang="pt-BR" altLang="zh-TW" dirty="0"/>
                  <a:t>(n+1</a:t>
                </a:r>
                <a:r>
                  <a:rPr lang="pt-BR" altLang="zh-TW" dirty="0" smtClean="0"/>
                  <a:t>)(i</a:t>
                </a:r>
                <a14:m>
                  <m:oMath xmlns:m="http://schemas.openxmlformats.org/officeDocument/2006/math">
                    <m:r>
                      <a:rPr lang="pt-BR" altLang="zh-TW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n+1</a:t>
                </a:r>
                <a:r>
                  <a:rPr lang="pt-BR" altLang="zh-TW" dirty="0" smtClean="0"/>
                  <a:t>.</a:t>
                </a:r>
              </a:p>
              <a:p>
                <a:endParaRPr lang="pt-BR" altLang="zh-TW" dirty="0"/>
              </a:p>
              <a:p>
                <a:r>
                  <a:rPr lang="en-US" altLang="zh-TW" dirty="0" err="1" smtClean="0"/>
                  <a:t>lis</a:t>
                </a:r>
                <a:r>
                  <a:rPr lang="en-US" altLang="zh-TW" dirty="0" smtClean="0"/>
                  <a:t>-stream-A(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A</a:t>
                </a:r>
                <a:r>
                  <a:rPr lang="en-US" altLang="zh-TW" dirty="0" smtClean="0"/>
                  <a:t>): </a:t>
                </a:r>
                <a:r>
                  <a:rPr lang="en-US" altLang="zh-TW" dirty="0"/>
                  <a:t>the sequence consisting of A-part(i) for every i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a:rPr lang="zh-TW" altLang="en-US" i="1">
                        <a:latin typeface="Cambria Math"/>
                      </a:rPr>
                      <m:t>𝜖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  <m:r>
                      <a:rPr lang="en-US" altLang="zh-TW" b="0" i="0" smtClean="0">
                        <a:latin typeface="Cambria Math"/>
                      </a:rPr>
                      <m:t>{</m:t>
                    </m:r>
                  </m:oMath>
                </a14:m>
                <a:r>
                  <a:rPr lang="en-US" altLang="zh-TW" dirty="0" smtClean="0"/>
                  <a:t>i </a:t>
                </a:r>
                <a:r>
                  <a:rPr lang="en-US" altLang="zh-TW" dirty="0"/>
                  <a:t>: </a:t>
                </a:r>
                <a:r>
                  <a:rPr lang="en-US" altLang="zh-TW" dirty="0" err="1"/>
                  <a:t>s</a:t>
                </a:r>
                <a:r>
                  <a:rPr lang="en-US" altLang="zh-TW" baseline="-25000" dirty="0" err="1"/>
                  <a:t>A</a:t>
                </a:r>
                <a:r>
                  <a:rPr lang="en-US" altLang="zh-TW" dirty="0"/>
                  <a:t>(i) = </a:t>
                </a:r>
                <a:r>
                  <a:rPr lang="en-US" altLang="zh-TW" dirty="0" smtClean="0"/>
                  <a:t>1 },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 decreasing order of the index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i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pad-A(</a:t>
                </a:r>
                <a:r>
                  <a:rPr lang="en-US" altLang="zh-TW" dirty="0" err="1"/>
                  <a:t>s</a:t>
                </a:r>
                <a:r>
                  <a:rPr lang="en-US" altLang="zh-TW" baseline="-25000" dirty="0" err="1"/>
                  <a:t>A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: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 the </a:t>
                </a:r>
                <a:r>
                  <a:rPr lang="en-US" altLang="zh-TW" dirty="0"/>
                  <a:t>sequence consisting of integers in U</a:t>
                </a:r>
                <a:r>
                  <a:rPr lang="en-US" altLang="zh-TW" baseline="-25000" dirty="0"/>
                  <a:t>A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=</a:t>
                </a:r>
                <a:r>
                  <a:rPr lang="en-US" altLang="zh-TW" dirty="0"/>
                  <a:t> {</a:t>
                </a:r>
                <a:r>
                  <a:rPr lang="en-US" altLang="zh-TW" dirty="0" smtClean="0"/>
                  <a:t>x </a:t>
                </a:r>
                <a:r>
                  <a:rPr lang="en-US" altLang="zh-TW" dirty="0"/>
                  <a:t>: x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𝜖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A-part(i</a:t>
                </a:r>
                <a:r>
                  <a:rPr lang="en-US" altLang="zh-TW" dirty="0"/>
                  <a:t>) for some i such that </a:t>
                </a:r>
                <a:r>
                  <a:rPr lang="en-US" altLang="zh-TW" dirty="0" err="1"/>
                  <a:t>s</a:t>
                </a:r>
                <a:r>
                  <a:rPr lang="en-US" altLang="zh-TW" baseline="-25000" dirty="0" err="1"/>
                  <a:t>A</a:t>
                </a:r>
                <a:r>
                  <a:rPr lang="en-US" altLang="zh-TW" dirty="0"/>
                  <a:t>(i) = </a:t>
                </a:r>
                <a:r>
                  <a:rPr lang="en-US" altLang="zh-TW" dirty="0" smtClean="0"/>
                  <a:t>0} listed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 decreasing order</a:t>
                </a:r>
                <a:r>
                  <a:rPr lang="en-US" altLang="zh-TW" dirty="0"/>
                  <a:t>,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followed by 0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err="1"/>
                  <a:t>lis</a:t>
                </a:r>
                <a:r>
                  <a:rPr lang="en-US" altLang="zh-TW" dirty="0"/>
                  <a:t>-stream-perm-A(</a:t>
                </a:r>
                <a:r>
                  <a:rPr lang="en-US" altLang="zh-TW" dirty="0" err="1"/>
                  <a:t>s</a:t>
                </a:r>
                <a:r>
                  <a:rPr lang="en-US" altLang="zh-TW" baseline="-25000" dirty="0" err="1"/>
                  <a:t>A</a:t>
                </a:r>
                <a:r>
                  <a:rPr lang="en-US" altLang="zh-TW" dirty="0" smtClean="0"/>
                  <a:t>)=pad-A(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A</a:t>
                </a:r>
                <a:r>
                  <a:rPr lang="en-US" altLang="zh-TW" dirty="0" smtClean="0"/>
                  <a:t>)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, </a:t>
                </a:r>
                <a:r>
                  <a:rPr lang="en-US" altLang="zh-TW" dirty="0" err="1" smtClean="0"/>
                  <a:t>lis</a:t>
                </a:r>
                <a:r>
                  <a:rPr lang="en-US" altLang="zh-TW" dirty="0" smtClean="0"/>
                  <a:t>-stream-A(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A</a:t>
                </a:r>
                <a:r>
                  <a:rPr lang="en-US" altLang="zh-TW" dirty="0" smtClean="0"/>
                  <a:t>)</a:t>
                </a:r>
                <a:endParaRPr lang="en-US" altLang="zh-TW" dirty="0"/>
              </a:p>
              <a:p>
                <a:r>
                  <a:rPr lang="en-US" altLang="zh-TW" dirty="0"/>
                  <a:t>Example:</a:t>
                </a:r>
              </a:p>
              <a:p>
                <a:pPr algn="ctr"/>
                <a:r>
                  <a:rPr lang="en-US" altLang="zh-TW" dirty="0" err="1"/>
                  <a:t>s</a:t>
                </a:r>
                <a:r>
                  <a:rPr lang="en-US" altLang="zh-TW" baseline="-25000" dirty="0" err="1"/>
                  <a:t>A</a:t>
                </a:r>
                <a:r>
                  <a:rPr lang="en-US" altLang="zh-TW" dirty="0" smtClean="0"/>
                  <a:t>:[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]</a:t>
                </a:r>
                <a:r>
                  <a:rPr lang="zh-TW" altLang="en-US" dirty="0" smtClean="0"/>
                  <a:t>   </a:t>
                </a:r>
                <a:r>
                  <a:rPr lang="en-US" altLang="zh-TW" dirty="0" smtClean="0"/>
                  <a:t>(n=9)</a:t>
                </a:r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{89,…81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78…,71</a:t>
                </a:r>
                <a:r>
                  <a:rPr lang="zh-TW" altLang="en-US" dirty="0" smtClean="0"/>
                  <a:t>  </a:t>
                </a:r>
                <a:r>
                  <a:rPr lang="en-US" altLang="zh-TW" dirty="0" smtClean="0"/>
                  <a:t>,67,…,61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56,…,51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23,…,21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41,…45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31,…,34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11,12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}</a:t>
                </a:r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pPr algn="ctr"/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A</a:t>
                </a:r>
                <a:r>
                  <a:rPr lang="en-US" altLang="zh-TW" dirty="0" smtClean="0"/>
                  <a:t>:[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]  </a:t>
                </a:r>
                <a:r>
                  <a:rPr lang="en-US" altLang="zh-TW" dirty="0"/>
                  <a:t>(n=9)</a:t>
                </a:r>
              </a:p>
              <a:p>
                <a:pPr algn="ctr"/>
                <a:r>
                  <a:rPr lang="en-US" altLang="zh-TW" dirty="0" smtClean="0"/>
                  <a:t>   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0" y="1052736"/>
                <a:ext cx="9126780" cy="6740307"/>
              </a:xfrm>
              <a:prstGeom prst="rect">
                <a:avLst/>
              </a:prstGeom>
              <a:blipFill rotWithShape="1">
                <a:blip r:embed="rId2"/>
                <a:stretch>
                  <a:fillRect l="-601" t="-4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3" name="矩形 2052"/>
          <p:cNvSpPr/>
          <p:nvPr/>
        </p:nvSpPr>
        <p:spPr>
          <a:xfrm>
            <a:off x="179512" y="5445224"/>
            <a:ext cx="79208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55" name="直線單箭頭接點 2054"/>
          <p:cNvCxnSpPr>
            <a:endCxn id="2053" idx="2"/>
          </p:cNvCxnSpPr>
          <p:nvPr/>
        </p:nvCxnSpPr>
        <p:spPr>
          <a:xfrm flipH="1" flipV="1">
            <a:off x="575556" y="5805264"/>
            <a:ext cx="4878542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1115616" y="5445224"/>
            <a:ext cx="79208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/>
        </p:nvSpPr>
        <p:spPr>
          <a:xfrm>
            <a:off x="2051720" y="5445224"/>
            <a:ext cx="79208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>
            <a:off x="2987824" y="5445224"/>
            <a:ext cx="86409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3995936" y="5445224"/>
            <a:ext cx="79208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/>
        </p:nvSpPr>
        <p:spPr>
          <a:xfrm>
            <a:off x="4932040" y="5445224"/>
            <a:ext cx="17982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1" name="直線單箭頭接點 60"/>
          <p:cNvCxnSpPr>
            <a:endCxn id="56" idx="2"/>
          </p:cNvCxnSpPr>
          <p:nvPr/>
        </p:nvCxnSpPr>
        <p:spPr>
          <a:xfrm flipH="1" flipV="1">
            <a:off x="1511660" y="5805264"/>
            <a:ext cx="3708412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 flipV="1">
            <a:off x="2339752" y="5805264"/>
            <a:ext cx="2592288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3347864" y="5805264"/>
            <a:ext cx="1296144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V="1">
            <a:off x="3851920" y="5805264"/>
            <a:ext cx="54006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60" idx="2"/>
          </p:cNvCxnSpPr>
          <p:nvPr/>
        </p:nvCxnSpPr>
        <p:spPr>
          <a:xfrm flipV="1">
            <a:off x="3221850" y="5805264"/>
            <a:ext cx="1800102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5508104" y="5437760"/>
            <a:ext cx="792088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/>
        </p:nvSpPr>
        <p:spPr>
          <a:xfrm>
            <a:off x="6444208" y="5445224"/>
            <a:ext cx="792088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/>
        </p:nvSpPr>
        <p:spPr>
          <a:xfrm>
            <a:off x="7380312" y="5445224"/>
            <a:ext cx="576064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4" name="直線單箭頭接點 43"/>
          <p:cNvCxnSpPr>
            <a:endCxn id="93" idx="0"/>
          </p:cNvCxnSpPr>
          <p:nvPr/>
        </p:nvCxnSpPr>
        <p:spPr>
          <a:xfrm>
            <a:off x="3545886" y="4941168"/>
            <a:ext cx="4122458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endCxn id="92" idx="0"/>
          </p:cNvCxnSpPr>
          <p:nvPr/>
        </p:nvCxnSpPr>
        <p:spPr>
          <a:xfrm>
            <a:off x="4067944" y="4941168"/>
            <a:ext cx="2772308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>
            <a:endCxn id="91" idx="0"/>
          </p:cNvCxnSpPr>
          <p:nvPr/>
        </p:nvCxnSpPr>
        <p:spPr>
          <a:xfrm>
            <a:off x="4391980" y="4941168"/>
            <a:ext cx="1512168" cy="4965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6453688" y="458112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increasing</a:t>
            </a:r>
            <a:endParaRPr lang="zh-TW" altLang="en-US" dirty="0"/>
          </a:p>
        </p:txBody>
      </p:sp>
      <p:sp>
        <p:nvSpPr>
          <p:cNvPr id="111" name="矩形 110"/>
          <p:cNvSpPr/>
          <p:nvPr/>
        </p:nvSpPr>
        <p:spPr>
          <a:xfrm>
            <a:off x="6443032" y="6237312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tx2"/>
                </a:solidFill>
              </a:rPr>
              <a:t>decreasing</a:t>
            </a:r>
            <a:endParaRPr lang="zh-TW" altLang="en-US" dirty="0">
              <a:solidFill>
                <a:schemeClr val="tx2"/>
              </a:solidFill>
            </a:endParaRPr>
          </a:p>
        </p:txBody>
      </p:sp>
      <p:cxnSp>
        <p:nvCxnSpPr>
          <p:cNvPr id="71" name="直線單箭頭接點 70"/>
          <p:cNvCxnSpPr>
            <a:endCxn id="72" idx="1"/>
          </p:cNvCxnSpPr>
          <p:nvPr/>
        </p:nvCxnSpPr>
        <p:spPr>
          <a:xfrm flipV="1">
            <a:off x="7668344" y="4509120"/>
            <a:ext cx="216024" cy="928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7884368" y="3789040"/>
            <a:ext cx="1259632" cy="1440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200" dirty="0" smtClean="0"/>
              <a:t>For i=2:</a:t>
            </a:r>
          </a:p>
          <a:p>
            <a:r>
              <a:rPr lang="en-US" altLang="zh-TW" sz="1200" dirty="0" smtClean="0"/>
              <a:t>Length=2</a:t>
            </a:r>
          </a:p>
          <a:p>
            <a:r>
              <a:rPr lang="en-US" altLang="zh-TW" sz="1200" dirty="0" smtClean="0"/>
              <a:t>(n+1)(i-1)+1</a:t>
            </a:r>
          </a:p>
          <a:p>
            <a:r>
              <a:rPr lang="en-US" altLang="zh-TW" sz="1200" dirty="0" smtClean="0"/>
              <a:t>=(9+1)(2-1)+1</a:t>
            </a:r>
          </a:p>
          <a:p>
            <a:r>
              <a:rPr lang="en-US" altLang="zh-TW" sz="1200" dirty="0" smtClean="0"/>
              <a:t>=11</a:t>
            </a:r>
          </a:p>
          <a:p>
            <a:r>
              <a:rPr lang="en-US" altLang="zh-TW" sz="1200" dirty="0"/>
              <a:t>(n+1)(i-1</a:t>
            </a:r>
            <a:r>
              <a:rPr lang="en-US" altLang="zh-TW" sz="1200" dirty="0" smtClean="0"/>
              <a:t>)+2</a:t>
            </a:r>
            <a:endParaRPr lang="en-US" altLang="zh-TW" sz="1200" dirty="0"/>
          </a:p>
          <a:p>
            <a:r>
              <a:rPr lang="en-US" altLang="zh-TW" sz="1200" dirty="0"/>
              <a:t>=(9+1)(2-1</a:t>
            </a:r>
            <a:r>
              <a:rPr lang="en-US" altLang="zh-TW" sz="1200" dirty="0" smtClean="0"/>
              <a:t>)+2</a:t>
            </a:r>
            <a:endParaRPr lang="en-US" altLang="zh-TW" sz="1200" dirty="0"/>
          </a:p>
          <a:p>
            <a:r>
              <a:rPr lang="en-US" altLang="zh-TW" sz="1200" dirty="0"/>
              <a:t>=</a:t>
            </a:r>
            <a:r>
              <a:rPr lang="en-US" altLang="zh-TW" sz="1200" dirty="0" smtClean="0"/>
              <a:t>12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76836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7220" y="1052736"/>
                <a:ext cx="9126780" cy="6740307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dirty="0" smtClean="0"/>
                  <a:t>n := </a:t>
                </a:r>
                <a:r>
                  <a:rPr lang="en-US" altLang="zh-TW" dirty="0"/>
                  <a:t>|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A</a:t>
                </a:r>
                <a:r>
                  <a:rPr lang="en-US" altLang="zh-TW" dirty="0"/>
                  <a:t>|</a:t>
                </a:r>
                <a:r>
                  <a:rPr lang="en-US" altLang="zh-TW" dirty="0" smtClean="0"/>
                  <a:t> =</a:t>
                </a:r>
                <a:r>
                  <a:rPr lang="en-US" altLang="zh-TW" dirty="0"/>
                  <a:t>|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|</a:t>
                </a:r>
              </a:p>
              <a:p>
                <a:r>
                  <a:rPr lang="en-US" altLang="zh-TW" dirty="0"/>
                  <a:t>each index i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𝜖</m:t>
                    </m:r>
                  </m:oMath>
                </a14:m>
                <a:r>
                  <a:rPr lang="en-US" altLang="zh-TW" dirty="0" smtClean="0"/>
                  <a:t>{1,…, n}</a:t>
                </a:r>
              </a:p>
              <a:p>
                <a:r>
                  <a:rPr lang="pt-BR" altLang="zh-TW" dirty="0" smtClean="0"/>
                  <a:t>B-part(i</a:t>
                </a:r>
                <a:r>
                  <a:rPr lang="pt-BR" altLang="zh-TW" dirty="0"/>
                  <a:t>) = (n+1)(</a:t>
                </a:r>
                <a:r>
                  <a:rPr lang="pt-BR" altLang="zh-TW" dirty="0" smtClean="0"/>
                  <a:t>i</a:t>
                </a:r>
                <a14:m>
                  <m:oMath xmlns:m="http://schemas.openxmlformats.org/officeDocument/2006/math">
                    <m:r>
                      <a:rPr lang="pt-BR" altLang="zh-TW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</a:t>
                </a:r>
                <a:r>
                  <a:rPr lang="pt-BR" altLang="zh-TW" dirty="0"/>
                  <a:t>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i+1</a:t>
                </a:r>
                <a:r>
                  <a:rPr lang="pt-BR" altLang="zh-TW" dirty="0" smtClean="0"/>
                  <a:t> , </a:t>
                </a:r>
                <a:r>
                  <a:rPr lang="pt-BR" altLang="zh-TW" dirty="0"/>
                  <a:t>(n+1)(</a:t>
                </a:r>
                <a:r>
                  <a:rPr lang="pt-BR" altLang="zh-TW" dirty="0" smtClean="0"/>
                  <a:t>i</a:t>
                </a:r>
                <a14:m>
                  <m:oMath xmlns:m="http://schemas.openxmlformats.org/officeDocument/2006/math">
                    <m:r>
                      <a:rPr lang="pt-BR" altLang="zh-TW" i="1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</a:t>
                </a:r>
                <a:r>
                  <a:rPr lang="pt-BR" altLang="zh-TW" dirty="0"/>
                  <a:t>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i+2</a:t>
                </a:r>
                <a:r>
                  <a:rPr lang="pt-BR" altLang="zh-TW" dirty="0" smtClean="0"/>
                  <a:t>, ... </a:t>
                </a:r>
                <a:r>
                  <a:rPr lang="pt-BR" altLang="zh-TW" dirty="0"/>
                  <a:t>,</a:t>
                </a:r>
                <a:r>
                  <a:rPr lang="pt-BR" altLang="zh-TW" dirty="0" smtClean="0"/>
                  <a:t> </a:t>
                </a:r>
                <a:r>
                  <a:rPr lang="pt-BR" altLang="zh-TW" dirty="0"/>
                  <a:t>(n+1</a:t>
                </a:r>
                <a:r>
                  <a:rPr lang="pt-BR" altLang="zh-TW" dirty="0" smtClean="0"/>
                  <a:t>)(i</a:t>
                </a:r>
                <a14:m>
                  <m:oMath xmlns:m="http://schemas.openxmlformats.org/officeDocument/2006/math">
                    <m:r>
                      <a:rPr lang="pt-BR" altLang="zh-TW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altLang="zh-TW" dirty="0" smtClean="0"/>
                  <a:t>1)+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n+1</a:t>
                </a:r>
                <a:r>
                  <a:rPr lang="pt-BR" altLang="zh-TW" dirty="0" smtClean="0"/>
                  <a:t>.</a:t>
                </a:r>
              </a:p>
              <a:p>
                <a:endParaRPr lang="pt-BR" altLang="zh-TW" dirty="0"/>
              </a:p>
              <a:p>
                <a:r>
                  <a:rPr lang="en-US" altLang="zh-TW" dirty="0" err="1" smtClean="0"/>
                  <a:t>lis</a:t>
                </a:r>
                <a:r>
                  <a:rPr lang="en-US" altLang="zh-TW" dirty="0" smtClean="0"/>
                  <a:t>-stream-B(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): </a:t>
                </a:r>
                <a:r>
                  <a:rPr lang="en-US" altLang="zh-TW" dirty="0"/>
                  <a:t>the sequence consisting of </a:t>
                </a:r>
                <a:r>
                  <a:rPr lang="en-US" altLang="zh-TW" dirty="0" smtClean="0"/>
                  <a:t>B-part(i</a:t>
                </a:r>
                <a:r>
                  <a:rPr lang="en-US" altLang="zh-TW" dirty="0"/>
                  <a:t>) for every i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a:rPr lang="zh-TW" altLang="en-US" i="1">
                        <a:latin typeface="Cambria Math"/>
                      </a:rPr>
                      <m:t>𝜖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  <m:r>
                      <a:rPr lang="en-US" altLang="zh-TW" b="0" i="0" smtClean="0">
                        <a:latin typeface="Cambria Math"/>
                      </a:rPr>
                      <m:t>{</m:t>
                    </m:r>
                  </m:oMath>
                </a14:m>
                <a:r>
                  <a:rPr lang="en-US" altLang="zh-TW" dirty="0" smtClean="0"/>
                  <a:t>i </a:t>
                </a:r>
                <a:r>
                  <a:rPr lang="en-US" altLang="zh-TW" dirty="0"/>
                  <a:t>: 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/>
                  <a:t>B</a:t>
                </a:r>
                <a:r>
                  <a:rPr lang="en-US" altLang="zh-TW" dirty="0" smtClean="0"/>
                  <a:t>(i</a:t>
                </a:r>
                <a:r>
                  <a:rPr lang="en-US" altLang="zh-TW" dirty="0"/>
                  <a:t>) = </a:t>
                </a:r>
                <a:r>
                  <a:rPr lang="en-US" altLang="zh-TW" dirty="0" smtClean="0"/>
                  <a:t>1 },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 decreasing order of the index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i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pad-B(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) :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 the </a:t>
                </a:r>
                <a:r>
                  <a:rPr lang="en-US" altLang="zh-TW" dirty="0"/>
                  <a:t>sequence consisting of integers in </a:t>
                </a:r>
                <a:r>
                  <a:rPr lang="en-US" altLang="zh-TW" dirty="0" smtClean="0"/>
                  <a:t>U</a:t>
                </a:r>
                <a:r>
                  <a:rPr lang="en-US" altLang="zh-TW" baseline="-25000" dirty="0"/>
                  <a:t>B</a:t>
                </a:r>
                <a:r>
                  <a:rPr lang="en-US" altLang="zh-TW" dirty="0" smtClean="0"/>
                  <a:t> =</a:t>
                </a:r>
                <a:r>
                  <a:rPr lang="en-US" altLang="zh-TW" dirty="0"/>
                  <a:t> {</a:t>
                </a:r>
                <a:r>
                  <a:rPr lang="en-US" altLang="zh-TW" dirty="0" smtClean="0"/>
                  <a:t>x </a:t>
                </a:r>
                <a:r>
                  <a:rPr lang="en-US" altLang="zh-TW" dirty="0"/>
                  <a:t>: x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𝜖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B</m:t>
                    </m:r>
                  </m:oMath>
                </a14:m>
                <a:r>
                  <a:rPr lang="en-US" altLang="zh-TW" dirty="0" smtClean="0"/>
                  <a:t>-part(i</a:t>
                </a:r>
                <a:r>
                  <a:rPr lang="en-US" altLang="zh-TW" dirty="0"/>
                  <a:t>) for some i such that 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/>
                  <a:t>B</a:t>
                </a:r>
                <a:r>
                  <a:rPr lang="en-US" altLang="zh-TW" dirty="0" smtClean="0"/>
                  <a:t>(i</a:t>
                </a:r>
                <a:r>
                  <a:rPr lang="en-US" altLang="zh-TW" dirty="0"/>
                  <a:t>) = </a:t>
                </a:r>
                <a:r>
                  <a:rPr lang="en-US" altLang="zh-TW" dirty="0" smtClean="0"/>
                  <a:t>0} listed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 decreasing order</a:t>
                </a:r>
                <a:r>
                  <a:rPr lang="en-US" altLang="zh-TW" dirty="0"/>
                  <a:t>,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followed by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(n+1)n + 1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err="1" smtClean="0"/>
                  <a:t>lis</a:t>
                </a:r>
                <a:r>
                  <a:rPr lang="en-US" altLang="zh-TW" dirty="0" smtClean="0"/>
                  <a:t>-stream-perm-B(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)=  </a:t>
                </a:r>
                <a:r>
                  <a:rPr lang="en-US" altLang="zh-TW" dirty="0" err="1" smtClean="0"/>
                  <a:t>lis</a:t>
                </a:r>
                <a:r>
                  <a:rPr lang="en-US" altLang="zh-TW" dirty="0" smtClean="0"/>
                  <a:t>-stream-B(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), pad-B(</a:t>
                </a: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)</a:t>
                </a:r>
                <a:endParaRPr lang="en-US" altLang="zh-TW" dirty="0"/>
              </a:p>
              <a:p>
                <a:r>
                  <a:rPr lang="en-US" altLang="zh-TW" dirty="0"/>
                  <a:t>Example</a:t>
                </a:r>
                <a:r>
                  <a:rPr lang="en-US" altLang="zh-TW" dirty="0" smtClean="0"/>
                  <a:t>: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algn="ctr"/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B</a:t>
                </a:r>
                <a:r>
                  <a:rPr lang="en-US" altLang="zh-TW" dirty="0" smtClean="0"/>
                  <a:t>:[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]</a:t>
                </a:r>
                <a:r>
                  <a:rPr lang="zh-TW" altLang="en-US" dirty="0" smtClean="0"/>
                  <a:t>   </a:t>
                </a:r>
                <a:r>
                  <a:rPr lang="en-US" altLang="zh-TW" dirty="0" smtClean="0"/>
                  <a:t>(n=9)</a:t>
                </a:r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{68,…70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35…,40</a:t>
                </a:r>
                <a:r>
                  <a:rPr lang="zh-TW" altLang="en-US" dirty="0" smtClean="0"/>
                  <a:t>  </a:t>
                </a:r>
                <a:r>
                  <a:rPr lang="en-US" altLang="zh-TW" dirty="0" smtClean="0"/>
                  <a:t>, 2,…,10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91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, 90 , 80,79 , 60,…57 , 50,…,46 , 30,…,24 , 20,…,13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}</a:t>
                </a:r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pPr algn="ctr"/>
                <a:r>
                  <a:rPr lang="en-US" altLang="zh-TW" dirty="0" err="1" smtClean="0"/>
                  <a:t>s</a:t>
                </a:r>
                <a:r>
                  <a:rPr lang="en-US" altLang="zh-TW" baseline="-25000" dirty="0" err="1"/>
                  <a:t>B</a:t>
                </a:r>
                <a:r>
                  <a:rPr lang="en-US" altLang="zh-TW" dirty="0" smtClean="0"/>
                  <a:t>:[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1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]  </a:t>
                </a:r>
                <a:r>
                  <a:rPr lang="en-US" altLang="zh-TW" dirty="0"/>
                  <a:t>(n=9)</a:t>
                </a:r>
              </a:p>
              <a:p>
                <a:pPr algn="ctr"/>
                <a:r>
                  <a:rPr lang="en-US" altLang="zh-TW" dirty="0" smtClean="0"/>
                  <a:t>   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0" y="1052736"/>
                <a:ext cx="9126780" cy="6740307"/>
              </a:xfrm>
              <a:prstGeom prst="rect">
                <a:avLst/>
              </a:prstGeom>
              <a:blipFill rotWithShape="1">
                <a:blip r:embed="rId2"/>
                <a:stretch>
                  <a:fillRect l="-466" t="-271" r="-186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Lower Bounds for LIS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2053" name="矩形 2052"/>
          <p:cNvSpPr/>
          <p:nvPr/>
        </p:nvSpPr>
        <p:spPr>
          <a:xfrm>
            <a:off x="179512" y="5445224"/>
            <a:ext cx="792088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/>
        </p:nvSpPr>
        <p:spPr>
          <a:xfrm>
            <a:off x="1115616" y="5445224"/>
            <a:ext cx="792088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/>
        </p:nvSpPr>
        <p:spPr>
          <a:xfrm>
            <a:off x="2051720" y="5445224"/>
            <a:ext cx="792088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1" name="直線單箭頭接點 80"/>
          <p:cNvCxnSpPr/>
          <p:nvPr/>
        </p:nvCxnSpPr>
        <p:spPr>
          <a:xfrm flipH="1" flipV="1">
            <a:off x="3419872" y="5805264"/>
            <a:ext cx="2088232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93" idx="2"/>
          </p:cNvCxnSpPr>
          <p:nvPr/>
        </p:nvCxnSpPr>
        <p:spPr>
          <a:xfrm flipH="1" flipV="1">
            <a:off x="3995936" y="5796780"/>
            <a:ext cx="1224136" cy="5845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92" idx="2"/>
          </p:cNvCxnSpPr>
          <p:nvPr/>
        </p:nvCxnSpPr>
        <p:spPr>
          <a:xfrm flipV="1">
            <a:off x="4716016" y="5791412"/>
            <a:ext cx="108012" cy="5899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3347626" y="5437760"/>
            <a:ext cx="288032" cy="36004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/>
        </p:nvSpPr>
        <p:spPr>
          <a:xfrm>
            <a:off x="4427984" y="5431372"/>
            <a:ext cx="792088" cy="36004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/>
        </p:nvSpPr>
        <p:spPr>
          <a:xfrm>
            <a:off x="3707904" y="5436740"/>
            <a:ext cx="576064" cy="36004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4" name="直線單箭頭接點 43"/>
          <p:cNvCxnSpPr>
            <a:endCxn id="57" idx="0"/>
          </p:cNvCxnSpPr>
          <p:nvPr/>
        </p:nvCxnSpPr>
        <p:spPr>
          <a:xfrm flipH="1">
            <a:off x="2447764" y="4950460"/>
            <a:ext cx="774086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endCxn id="56" idx="0"/>
          </p:cNvCxnSpPr>
          <p:nvPr/>
        </p:nvCxnSpPr>
        <p:spPr>
          <a:xfrm flipH="1">
            <a:off x="1511660" y="4941168"/>
            <a:ext cx="2556284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>
            <a:endCxn id="2053" idx="0"/>
          </p:cNvCxnSpPr>
          <p:nvPr/>
        </p:nvCxnSpPr>
        <p:spPr>
          <a:xfrm flipH="1">
            <a:off x="575556" y="4941168"/>
            <a:ext cx="4356484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6453688" y="458112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increasing</a:t>
            </a:r>
            <a:endParaRPr lang="zh-TW" altLang="en-US" dirty="0"/>
          </a:p>
        </p:txBody>
      </p:sp>
      <p:sp>
        <p:nvSpPr>
          <p:cNvPr id="111" name="矩形 110"/>
          <p:cNvSpPr/>
          <p:nvPr/>
        </p:nvSpPr>
        <p:spPr>
          <a:xfrm>
            <a:off x="6443032" y="6237312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tx2"/>
                </a:solidFill>
              </a:rPr>
              <a:t>decreasing</a:t>
            </a: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365988" y="5419204"/>
            <a:ext cx="792088" cy="36004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6300192" y="5437760"/>
            <a:ext cx="864096" cy="36004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7308304" y="5445224"/>
            <a:ext cx="792088" cy="36004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/>
          <p:cNvCxnSpPr>
            <a:endCxn id="33" idx="2"/>
          </p:cNvCxnSpPr>
          <p:nvPr/>
        </p:nvCxnSpPr>
        <p:spPr>
          <a:xfrm flipV="1">
            <a:off x="4355976" y="5779244"/>
            <a:ext cx="1406056" cy="6020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34" idx="2"/>
          </p:cNvCxnSpPr>
          <p:nvPr/>
        </p:nvCxnSpPr>
        <p:spPr>
          <a:xfrm flipV="1">
            <a:off x="3851920" y="5797800"/>
            <a:ext cx="2880320" cy="5835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endCxn id="35" idx="2"/>
          </p:cNvCxnSpPr>
          <p:nvPr/>
        </p:nvCxnSpPr>
        <p:spPr>
          <a:xfrm flipV="1">
            <a:off x="3563888" y="5805264"/>
            <a:ext cx="414046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35" idx="0"/>
            <a:endCxn id="62" idx="1"/>
          </p:cNvCxnSpPr>
          <p:nvPr/>
        </p:nvCxnSpPr>
        <p:spPr>
          <a:xfrm flipV="1">
            <a:off x="7704348" y="4352698"/>
            <a:ext cx="180020" cy="10925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7884368" y="3512200"/>
            <a:ext cx="1259632" cy="16809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200" dirty="0" smtClean="0"/>
              <a:t>For i=2:</a:t>
            </a:r>
          </a:p>
          <a:p>
            <a:r>
              <a:rPr lang="en-US" altLang="zh-TW" sz="1200" dirty="0" smtClean="0"/>
              <a:t>Length=n+1-2=</a:t>
            </a:r>
          </a:p>
          <a:p>
            <a:r>
              <a:rPr lang="en-US" altLang="zh-TW" sz="1200" dirty="0" smtClean="0"/>
              <a:t>1.(n+1)(i-1)+i+1</a:t>
            </a:r>
          </a:p>
          <a:p>
            <a:r>
              <a:rPr lang="en-US" altLang="zh-TW" sz="1200" dirty="0" smtClean="0"/>
              <a:t>=(9+1)(2-1)+2+1</a:t>
            </a:r>
          </a:p>
          <a:p>
            <a:r>
              <a:rPr lang="en-US" altLang="zh-TW" sz="1200" dirty="0" smtClean="0"/>
              <a:t>=13</a:t>
            </a:r>
          </a:p>
          <a:p>
            <a:r>
              <a:rPr lang="en-US" altLang="zh-TW" sz="1200" dirty="0" smtClean="0"/>
              <a:t>2.(n+1</a:t>
            </a:r>
            <a:r>
              <a:rPr lang="en-US" altLang="zh-TW" sz="1200" dirty="0"/>
              <a:t>)(i-1</a:t>
            </a:r>
            <a:r>
              <a:rPr lang="en-US" altLang="zh-TW" sz="1200" dirty="0" smtClean="0"/>
              <a:t>)+i+1</a:t>
            </a:r>
            <a:endParaRPr lang="en-US" altLang="zh-TW" sz="1200" dirty="0"/>
          </a:p>
          <a:p>
            <a:r>
              <a:rPr lang="en-US" altLang="zh-TW" sz="1200" dirty="0"/>
              <a:t>=(9+1</a:t>
            </a:r>
            <a:r>
              <a:rPr lang="en-US" altLang="zh-TW" sz="1200" dirty="0" smtClean="0"/>
              <a:t>)(3-1)+3+1</a:t>
            </a:r>
            <a:endParaRPr lang="en-US" altLang="zh-TW" sz="1200" dirty="0"/>
          </a:p>
          <a:p>
            <a:r>
              <a:rPr lang="en-US" altLang="zh-TW" sz="1200" dirty="0"/>
              <a:t>=</a:t>
            </a:r>
            <a:r>
              <a:rPr lang="en-US" altLang="zh-TW" sz="1200" dirty="0" smtClean="0"/>
              <a:t>14</a:t>
            </a:r>
          </a:p>
          <a:p>
            <a:r>
              <a:rPr lang="en-US" altLang="zh-TW" sz="1200" dirty="0" smtClean="0"/>
              <a:t>3. …..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71009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Lower Bounds for </a:t>
            </a:r>
            <a:r>
              <a:rPr lang="en-US" altLang="zh-TW" dirty="0" smtClean="0"/>
              <a:t>LIS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56792"/>
                <a:ext cx="8229600" cy="504056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TW" sz="2000" dirty="0" err="1" smtClean="0"/>
                  <a:t>lis</a:t>
                </a:r>
                <a:r>
                  <a:rPr lang="en-US" altLang="zh-TW" sz="2000" dirty="0" smtClean="0"/>
                  <a:t>-stream-perm(</a:t>
                </a: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dirty="0" err="1" smtClean="0"/>
                  <a:t>,s</a:t>
                </a:r>
                <a:r>
                  <a:rPr lang="en-US" altLang="zh-TW" sz="2000" baseline="-25000" dirty="0" err="1" smtClean="0"/>
                  <a:t>B</a:t>
                </a:r>
                <a:r>
                  <a:rPr lang="en-US" altLang="zh-TW" sz="2000" dirty="0" smtClean="0"/>
                  <a:t>)=</a:t>
                </a: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{</a:t>
                </a:r>
                <a:r>
                  <a:rPr lang="en-US" altLang="zh-TW" sz="2000" dirty="0" err="1" smtClean="0"/>
                  <a:t>lis</a:t>
                </a:r>
                <a:r>
                  <a:rPr lang="en-US" altLang="zh-TW" sz="2000" dirty="0" smtClean="0"/>
                  <a:t>-stream-perm-A(</a:t>
                </a: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dirty="0" smtClean="0"/>
                  <a:t>),</a:t>
                </a:r>
                <a:r>
                  <a:rPr lang="en-US" altLang="zh-TW" sz="2000" dirty="0"/>
                  <a:t> </a:t>
                </a:r>
                <a:r>
                  <a:rPr lang="en-US" altLang="zh-TW" sz="2000" dirty="0" err="1"/>
                  <a:t>lis</a:t>
                </a:r>
                <a:r>
                  <a:rPr lang="en-US" altLang="zh-TW" sz="2000" dirty="0"/>
                  <a:t>-stream-perm-B(</a:t>
                </a:r>
                <a:r>
                  <a:rPr lang="en-US" altLang="zh-TW" sz="2000" dirty="0" err="1"/>
                  <a:t>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 smtClean="0"/>
                  <a:t>)}</a:t>
                </a:r>
              </a:p>
              <a:p>
                <a:pPr marL="0" indent="0">
                  <a:buNone/>
                </a:pPr>
                <a:r>
                  <a:rPr lang="en-US" altLang="zh-TW" sz="2000" dirty="0" err="1" smtClean="0"/>
                  <a:t>lis</a:t>
                </a:r>
                <a:r>
                  <a:rPr lang="en-US" altLang="zh-TW" sz="2000" dirty="0" smtClean="0"/>
                  <a:t>-stream-perm(</a:t>
                </a: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dirty="0" err="1" smtClean="0"/>
                  <a:t>,s</a:t>
                </a:r>
                <a:r>
                  <a:rPr lang="en-US" altLang="zh-TW" sz="2000" baseline="-25000" dirty="0" err="1" smtClean="0"/>
                  <a:t>B</a:t>
                </a:r>
                <a:r>
                  <a:rPr lang="en-US" altLang="zh-TW" sz="2000" dirty="0" smtClean="0"/>
                  <a:t>):</a:t>
                </a:r>
              </a:p>
              <a:p>
                <a:pPr marL="0" indent="0" algn="ctr">
                  <a:buNone/>
                </a:pP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baseline="-25000" dirty="0" smtClean="0"/>
                  <a:t> </a:t>
                </a:r>
                <a:r>
                  <a:rPr lang="en-US" altLang="zh-TW" sz="2000" dirty="0" smtClean="0"/>
                  <a:t>: [ 0 , 1 , 0 ,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1 </a:t>
                </a:r>
                <a:r>
                  <a:rPr lang="en-US" altLang="zh-TW" sz="2000" dirty="0" smtClean="0"/>
                  <a:t>, 1 , 0 , 0 , 0 , 0 ]</a:t>
                </a:r>
                <a:endParaRPr lang="en-US" altLang="zh-TW" sz="2000" dirty="0"/>
              </a:p>
              <a:p>
                <a:pPr marL="0" indent="0">
                  <a:buNone/>
                </a:pPr>
                <a:endParaRPr lang="en-US" altLang="zh-TW" sz="2000" dirty="0"/>
              </a:p>
              <a:p>
                <a:pPr marL="0" indent="0">
                  <a:buNone/>
                </a:pPr>
                <a:r>
                  <a:rPr lang="en-US" altLang="zh-TW" sz="1800" dirty="0"/>
                  <a:t>{89,…81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78…,71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,67,…,61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56,…,51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23,…,21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1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>
                    <a:solidFill>
                      <a:schemeClr val="tx2"/>
                    </a:solidFill>
                  </a:rPr>
                  <a:t>0</a:t>
                </a:r>
                <a:r>
                  <a:rPr lang="zh-TW" alt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41</a:t>
                </a:r>
                <a:r>
                  <a:rPr lang="en-US" altLang="zh-TW" sz="1800" dirty="0" smtClean="0"/>
                  <a:t>,…45</a:t>
                </a:r>
                <a:r>
                  <a:rPr lang="zh-TW" altLang="en-US" sz="1800" dirty="0" smtClean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31,…,34</a:t>
                </a:r>
                <a:r>
                  <a:rPr lang="zh-TW" alt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11,12</a:t>
                </a:r>
                <a:r>
                  <a:rPr lang="zh-TW" altLang="en-US" sz="1800" dirty="0"/>
                  <a:t> </a:t>
                </a:r>
                <a:endParaRPr lang="en-US" altLang="zh-TW" sz="1800" dirty="0" smtClean="0"/>
              </a:p>
              <a:p>
                <a:pPr marL="0" indent="0">
                  <a:buNone/>
                </a:pPr>
                <a:r>
                  <a:rPr lang="en-US" altLang="zh-TW" sz="1800" dirty="0" smtClean="0"/>
                  <a:t>68</a:t>
                </a:r>
                <a:r>
                  <a:rPr lang="en-US" altLang="zh-TW" sz="1800" dirty="0"/>
                  <a:t>,…70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35…,40</a:t>
                </a:r>
                <a:r>
                  <a:rPr lang="zh-TW" alt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 smtClean="0"/>
                  <a:t>, </a:t>
                </a:r>
                <a:r>
                  <a:rPr lang="en-US" altLang="zh-TW" sz="1800" dirty="0"/>
                  <a:t>2,…,10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,</a:t>
                </a:r>
                <a:r>
                  <a:rPr lang="zh-TW" altLang="en-US" sz="1800" dirty="0"/>
                  <a:t> </a:t>
                </a:r>
                <a:r>
                  <a:rPr lang="en-US" altLang="zh-TW" sz="1800" dirty="0">
                    <a:solidFill>
                      <a:schemeClr val="tx2"/>
                    </a:solidFill>
                  </a:rPr>
                  <a:t>91</a:t>
                </a:r>
                <a:r>
                  <a:rPr lang="zh-TW" alt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/>
                  <a:t>, 90 , 80,79 , 60,…57 , 50,…,46 , 30,…,24 </a:t>
                </a:r>
                <a:r>
                  <a:rPr lang="en-US" altLang="zh-TW" sz="1800" dirty="0" smtClean="0"/>
                  <a:t>,20</a:t>
                </a:r>
                <a:r>
                  <a:rPr lang="en-US" altLang="zh-TW" sz="1800" dirty="0"/>
                  <a:t>,…,13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}</a:t>
                </a:r>
              </a:p>
              <a:p>
                <a:pPr marL="0" indent="0">
                  <a:buNone/>
                </a:pPr>
                <a:endParaRPr lang="en-US" altLang="zh-TW" sz="1800" dirty="0" smtClean="0"/>
              </a:p>
              <a:p>
                <a:pPr marL="0" indent="0" algn="ctr">
                  <a:buNone/>
                </a:pPr>
                <a:r>
                  <a:rPr lang="en-US" altLang="zh-TW" sz="2000" dirty="0" err="1"/>
                  <a:t>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1800" baseline="-25000" dirty="0" smtClean="0"/>
                  <a:t> </a:t>
                </a:r>
                <a:r>
                  <a:rPr lang="en-US" altLang="zh-TW" sz="2000" dirty="0"/>
                  <a:t>: [ 1 , 0 , 0 ,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dirty="0"/>
                  <a:t> , 0 , 0 , 1 , 0 , 0 </a:t>
                </a:r>
                <a:r>
                  <a:rPr lang="en-US" altLang="zh-TW" sz="2000" dirty="0" smtClean="0"/>
                  <a:t>]</a:t>
                </a:r>
              </a:p>
              <a:p>
                <a:pPr marL="0" indent="0" algn="ctr">
                  <a:buNone/>
                </a:pPr>
                <a:r>
                  <a:rPr lang="en-US" altLang="zh-TW" sz="2000" dirty="0" smtClean="0"/>
                  <a:t>LIS={0,31,…,34,35,…,40,91} (length=n+3=9+3=11)</a:t>
                </a:r>
              </a:p>
              <a:p>
                <a:pPr marL="0" indent="0" algn="ctr">
                  <a:buNone/>
                </a:pPr>
                <a:endParaRPr lang="en-US" altLang="zh-TW" sz="2000" dirty="0" smtClean="0"/>
              </a:p>
              <a:p>
                <a:pPr marL="0" indent="0" algn="ctr">
                  <a:buNone/>
                </a:pPr>
                <a:endParaRPr lang="en-US" altLang="zh-TW" sz="2000" dirty="0"/>
              </a:p>
              <a:p>
                <a:pPr marL="0" indent="0">
                  <a:buNone/>
                </a:pPr>
                <a:r>
                  <a:rPr lang="en-US" altLang="zh-TW" sz="2000" dirty="0"/>
                  <a:t>whenever i &lt; </a:t>
                </a:r>
                <a:r>
                  <a:rPr lang="en-US" altLang="zh-TW" sz="2000" dirty="0" smtClean="0"/>
                  <a:t>j: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(1</a:t>
                </a:r>
                <a:r>
                  <a:rPr lang="en-US" altLang="zh-TW" sz="2000" dirty="0"/>
                  <a:t>) A-part(i) follows A-part(j) in </a:t>
                </a:r>
                <a:r>
                  <a:rPr lang="en-US" altLang="zh-TW" sz="2000" dirty="0" err="1"/>
                  <a:t>lis</a:t>
                </a:r>
                <a:r>
                  <a:rPr lang="en-US" altLang="zh-TW" sz="2000" dirty="0"/>
                  <a:t>-stream-A(</a:t>
                </a:r>
                <a:r>
                  <a:rPr lang="en-US" altLang="zh-TW" sz="2000" dirty="0" err="1"/>
                  <a:t>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), and</a:t>
                </a:r>
              </a:p>
              <a:p>
                <a:pPr marL="0" indent="0">
                  <a:buNone/>
                </a:pPr>
                <a:r>
                  <a:rPr lang="en-US" altLang="zh-TW" sz="2000" dirty="0"/>
                  <a:t>(2) </a:t>
                </a:r>
                <a:r>
                  <a:rPr lang="en-US" altLang="zh-TW" sz="2000" dirty="0" smtClean="0"/>
                  <a:t>The </a:t>
                </a:r>
                <a:r>
                  <a:rPr lang="en-US" altLang="zh-TW" sz="2000" dirty="0"/>
                  <a:t>integers in A-part(i) are all smaller than those in A-part(j</a:t>
                </a:r>
                <a:r>
                  <a:rPr lang="en-US" altLang="zh-TW" sz="2000" dirty="0" smtClean="0"/>
                  <a:t>).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(3)</a:t>
                </a: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For any i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altLang="zh-TW" sz="2000" dirty="0" smtClean="0"/>
                  <a:t>j ,the </a:t>
                </a:r>
                <a:r>
                  <a:rPr lang="en-US" altLang="zh-TW" sz="2000" dirty="0"/>
                  <a:t>longest </a:t>
                </a:r>
                <a:r>
                  <a:rPr lang="en-US" altLang="zh-TW" sz="2000" dirty="0" smtClean="0"/>
                  <a:t>increasing subsequence </a:t>
                </a:r>
                <a:r>
                  <a:rPr lang="en-US" altLang="zh-TW" sz="2000" dirty="0"/>
                  <a:t>in </a:t>
                </a:r>
                <a:r>
                  <a:rPr lang="en-US" altLang="zh-TW" sz="2000" dirty="0" err="1" smtClean="0"/>
                  <a:t>lis</a:t>
                </a:r>
                <a:r>
                  <a:rPr lang="en-US" altLang="zh-TW" sz="2000" dirty="0" smtClean="0"/>
                  <a:t>-stream(</a:t>
                </a: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dirty="0" err="1" smtClean="0"/>
                  <a:t>,s</a:t>
                </a:r>
                <a:r>
                  <a:rPr lang="en-US" altLang="zh-TW" sz="2000" baseline="-25000" dirty="0" err="1" smtClean="0"/>
                  <a:t>B</a:t>
                </a:r>
                <a:r>
                  <a:rPr lang="en-US" altLang="zh-TW" sz="2000" dirty="0"/>
                  <a:t>) is of length at most |</a:t>
                </a:r>
                <a:r>
                  <a:rPr lang="en-US" altLang="zh-TW" sz="2000" dirty="0" smtClean="0"/>
                  <a:t>A-part(i)|+</a:t>
                </a:r>
                <a:r>
                  <a:rPr lang="en-US" altLang="zh-TW" sz="2000" dirty="0"/>
                  <a:t>|</a:t>
                </a:r>
                <a:r>
                  <a:rPr lang="en-US" altLang="zh-TW" sz="2000" dirty="0" smtClean="0"/>
                  <a:t>B-part(j)| </a:t>
                </a:r>
                <a:r>
                  <a:rPr lang="en-US" altLang="zh-TW" sz="2000" dirty="0"/>
                  <a:t>= </a:t>
                </a:r>
                <a:r>
                  <a:rPr lang="en-US" altLang="zh-TW" sz="2000" dirty="0" err="1" smtClean="0"/>
                  <a:t>i+n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 smtClean="0"/>
                  <a:t>j </a:t>
                </a:r>
                <a:r>
                  <a:rPr lang="en-US" altLang="zh-TW" sz="2000" dirty="0"/>
                  <a:t>+</a:t>
                </a:r>
                <a:r>
                  <a:rPr lang="en-US" altLang="zh-TW" sz="2000" dirty="0" smtClean="0"/>
                  <a:t>1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2000" dirty="0" smtClean="0"/>
                  <a:t> n</a:t>
                </a:r>
              </a:p>
              <a:p>
                <a:pPr marL="0" indent="0" algn="ctr">
                  <a:buNone/>
                </a:pPr>
                <a:endParaRPr lang="en-US" altLang="zh-TW" sz="2000" dirty="0"/>
              </a:p>
              <a:p>
                <a:pPr marL="0" indent="0" algn="ctr">
                  <a:buNone/>
                </a:pPr>
                <a:endParaRPr lang="en-US" altLang="zh-TW" sz="2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56792"/>
                <a:ext cx="8229600" cy="5040560"/>
              </a:xfrm>
              <a:blipFill rotWithShape="1">
                <a:blip r:embed="rId2"/>
                <a:stretch>
                  <a:fillRect l="-667" t="-1209" r="-741" b="-7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339539"/>
            <a:ext cx="8568952" cy="67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6" name="群組 25"/>
          <p:cNvGrpSpPr/>
          <p:nvPr/>
        </p:nvGrpSpPr>
        <p:grpSpPr>
          <a:xfrm>
            <a:off x="467544" y="2492896"/>
            <a:ext cx="7560840" cy="1296144"/>
            <a:chOff x="836300" y="2564904"/>
            <a:chExt cx="7560840" cy="1296144"/>
          </a:xfrm>
        </p:grpSpPr>
        <p:sp>
          <p:nvSpPr>
            <p:cNvPr id="7" name="矩形 6"/>
            <p:cNvSpPr/>
            <p:nvPr/>
          </p:nvSpPr>
          <p:spPr>
            <a:xfrm>
              <a:off x="6876256" y="2851408"/>
              <a:ext cx="864096" cy="36004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959368" y="2837676"/>
              <a:ext cx="792088" cy="36004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829460" y="2837676"/>
              <a:ext cx="567680" cy="36004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/>
            <p:cNvCxnSpPr>
              <a:endCxn id="7" idx="0"/>
            </p:cNvCxnSpPr>
            <p:nvPr/>
          </p:nvCxnSpPr>
          <p:spPr>
            <a:xfrm>
              <a:off x="4796740" y="2564904"/>
              <a:ext cx="2511564" cy="2865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836300" y="3159616"/>
              <a:ext cx="792088" cy="36004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718398" y="3170096"/>
              <a:ext cx="792088" cy="36004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564492" y="3170096"/>
              <a:ext cx="792088" cy="36004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" name="直線單箭頭接點 12"/>
            <p:cNvCxnSpPr>
              <a:endCxn id="11" idx="2"/>
            </p:cNvCxnSpPr>
            <p:nvPr/>
          </p:nvCxnSpPr>
          <p:spPr>
            <a:xfrm flipH="1" flipV="1">
              <a:off x="2114442" y="3530136"/>
              <a:ext cx="2682298" cy="3309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074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Lower Bounds for </a:t>
            </a:r>
            <a:r>
              <a:rPr lang="en-US" altLang="zh-TW" dirty="0" smtClean="0"/>
              <a:t>LIS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" y="1268760"/>
            <a:ext cx="9144001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62618"/>
            <a:ext cx="9180512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3275856" y="1196752"/>
            <a:ext cx="432048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932040" y="1556792"/>
            <a:ext cx="1080120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139952" y="1916832"/>
                <a:ext cx="4824536" cy="396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𝛿</m:t>
                    </m:r>
                    <m:r>
                      <a:rPr lang="zh-TW" altLang="en-US" dirty="0">
                        <a:latin typeface="Cambria Math"/>
                      </a:rPr>
                      <m:t>=</m:t>
                    </m:r>
                    <m:box>
                      <m:boxPr>
                        <m:ctrlPr>
                          <a:rPr lang="zh-TW" altLang="en-US" i="1" dirty="0" smtClean="0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dirty="0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,require at least 0 bits  of communication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1916832"/>
                <a:ext cx="4824536" cy="396199"/>
              </a:xfrm>
              <a:prstGeom prst="rect">
                <a:avLst/>
              </a:prstGeom>
              <a:blipFill rotWithShape="1">
                <a:blip r:embed="rId4"/>
                <a:stretch>
                  <a:fillRect l="-1010" t="-7692" b="-16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1187624" y="1556792"/>
            <a:ext cx="302433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7812360" y="2830285"/>
            <a:ext cx="1728192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-863684" y="3137240"/>
            <a:ext cx="1728192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" y="3717032"/>
            <a:ext cx="75342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群組 14"/>
          <p:cNvGrpSpPr/>
          <p:nvPr/>
        </p:nvGrpSpPr>
        <p:grpSpPr>
          <a:xfrm>
            <a:off x="899592" y="4509120"/>
            <a:ext cx="7272808" cy="1728192"/>
            <a:chOff x="1547664" y="2852936"/>
            <a:chExt cx="7272808" cy="1728192"/>
          </a:xfrm>
        </p:grpSpPr>
        <p:sp>
          <p:nvSpPr>
            <p:cNvPr id="16" name="矩形 15"/>
            <p:cNvSpPr/>
            <p:nvPr/>
          </p:nvSpPr>
          <p:spPr>
            <a:xfrm>
              <a:off x="1547664" y="3212976"/>
              <a:ext cx="1944216" cy="100811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Set-</a:t>
              </a:r>
              <a:r>
                <a:rPr lang="en-US" altLang="zh-TW" dirty="0" err="1">
                  <a:solidFill>
                    <a:schemeClr val="tx1"/>
                  </a:solidFill>
                </a:rPr>
                <a:t>Disjointness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3491880" y="3573016"/>
              <a:ext cx="1656184" cy="36004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563888" y="3275692"/>
              <a:ext cx="13067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smtClean="0"/>
                <a:t>Reducing to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5220072" y="2852936"/>
                  <a:ext cx="3600400" cy="1728192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 smtClean="0"/>
                    <a:t>Determining </a:t>
                  </a:r>
                </a:p>
                <a:p>
                  <a:pPr algn="ctr"/>
                  <a:r>
                    <a:rPr lang="en-US" altLang="zh-TW" dirty="0" smtClean="0"/>
                    <a:t>if </a:t>
                  </a:r>
                  <a:r>
                    <a:rPr lang="en-US" altLang="zh-TW" dirty="0"/>
                    <a:t>an increasing subsequence of length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𝑁</m:t>
                          </m:r>
                        </m:e>
                      </m:rad>
                    </m:oMath>
                  </a14:m>
                  <a:r>
                    <a:rPr lang="en-US" altLang="zh-TW" dirty="0"/>
                    <a:t> exists in a stream of </a:t>
                  </a:r>
                  <a:r>
                    <a:rPr lang="en-US" altLang="zh-TW" dirty="0">
                      <a:solidFill>
                        <a:srgbClr val="FF0000"/>
                      </a:solidFill>
                    </a:rPr>
                    <a:t>N</a:t>
                  </a:r>
                  <a:r>
                    <a:rPr lang="en-US" altLang="zh-TW" dirty="0"/>
                    <a:t> elements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072" y="2852936"/>
                  <a:ext cx="3600400" cy="172819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1993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Algorithms for </a:t>
            </a:r>
            <a:r>
              <a:rPr lang="en-US" altLang="zh-TW" dirty="0" smtClean="0"/>
              <a:t>LCS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651304" cy="2620888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 err="1" smtClean="0"/>
                  <a:t>Considing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the </a:t>
                </a:r>
                <a:r>
                  <a:rPr lang="en-US" altLang="zh-TW" i="1" dirty="0"/>
                  <a:t>adversarial streaming model</a:t>
                </a:r>
                <a:r>
                  <a:rPr lang="en-US" altLang="zh-TW" dirty="0"/>
                  <a:t>, in which elements from the two </a:t>
                </a:r>
                <a:r>
                  <a:rPr lang="en-US" altLang="zh-TW" dirty="0" smtClean="0"/>
                  <a:t>streams can </a:t>
                </a:r>
                <a:r>
                  <a:rPr lang="en-US" altLang="zh-TW" dirty="0"/>
                  <a:t>be presented in any order of </a:t>
                </a:r>
                <a:r>
                  <a:rPr lang="en-US" altLang="zh-TW" dirty="0" smtClean="0"/>
                  <a:t>interleaving in this section.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Suppose </a:t>
                </a:r>
                <a:r>
                  <a:rPr lang="en-US" altLang="zh-TW" dirty="0"/>
                  <a:t>that we are </a:t>
                </a:r>
                <a:r>
                  <a:rPr lang="en-US" altLang="zh-TW" dirty="0" smtClean="0"/>
                  <a:t>first </a:t>
                </a:r>
                <a:r>
                  <a:rPr lang="en-US" altLang="zh-TW" dirty="0"/>
                  <a:t>given one reference sequence R and then given a large number of </a:t>
                </a:r>
                <a:r>
                  <a:rPr lang="en-US" altLang="zh-TW" dirty="0" smtClean="0"/>
                  <a:t>test sequences S</a:t>
                </a:r>
                <a:r>
                  <a:rPr lang="en-US" altLang="zh-TW" dirty="0" smtClean="0"/>
                  <a:t>1,</a:t>
                </a:r>
                <a:r>
                  <a:rPr lang="en-US" altLang="zh-TW" dirty="0" smtClean="0"/>
                  <a:t>S2</a:t>
                </a:r>
                <a:r>
                  <a:rPr lang="en-US" altLang="zh-TW" dirty="0" smtClean="0"/>
                  <a:t>, …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</a:t>
                </a:r>
                <a:r>
                  <a:rPr lang="en-US" altLang="zh-TW" dirty="0" err="1"/>
                  <a:t>S</a:t>
                </a:r>
                <a:r>
                  <a:rPr lang="en-US" altLang="zh-TW" baseline="-25000" dirty="0" err="1"/>
                  <a:t>q</a:t>
                </a:r>
                <a:r>
                  <a:rPr lang="en-US" altLang="zh-TW" dirty="0"/>
                  <a:t>; we want to compute the LCS of R and Si for all </a:t>
                </a:r>
                <a:r>
                  <a:rPr lang="en-US" altLang="zh-TW" dirty="0" smtClean="0"/>
                  <a:t>1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i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q</a:t>
                </a:r>
                <a:r>
                  <a:rPr lang="en-US" altLang="zh-TW" dirty="0"/>
                  <a:t>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Our streaming algorithm </a:t>
                </a:r>
                <a:r>
                  <a:rPr lang="en-US" altLang="zh-TW" dirty="0"/>
                  <a:t>stores the permutation R as a lookup table, and then, for each S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, runs the LIS </a:t>
                </a:r>
                <a:r>
                  <a:rPr lang="en-US" altLang="zh-TW" dirty="0" smtClean="0"/>
                  <a:t>algorithm ,where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we interpret two elements x and y to be in ordered x &lt; y if x appears before y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rgbClr val="FF0000"/>
                    </a:solidFill>
                  </a:rPr>
                  <a:t>in R.</a:t>
                </a:r>
                <a:r>
                  <a:rPr lang="en-US" altLang="zh-TW" dirty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If </a:t>
                </a:r>
                <a:r>
                  <a:rPr lang="en-US" altLang="zh-TW" dirty="0"/>
                  <a:t>these are n-element sequences, then this algorithm requires space O(n </a:t>
                </a:r>
                <a:r>
                  <a:rPr lang="en-US" altLang="zh-TW" dirty="0" err="1"/>
                  <a:t>logm</a:t>
                </a:r>
                <a:r>
                  <a:rPr lang="en-US" altLang="zh-TW" dirty="0"/>
                  <a:t>) total </a:t>
                </a:r>
                <a:r>
                  <a:rPr lang="en-US" altLang="zh-TW" dirty="0" smtClean="0"/>
                  <a:t>space| O(n </a:t>
                </a:r>
                <a:r>
                  <a:rPr lang="en-US" altLang="zh-TW" dirty="0" err="1"/>
                  <a:t>logm</a:t>
                </a:r>
                <a:r>
                  <a:rPr lang="en-US" altLang="zh-TW" dirty="0"/>
                  <a:t>) to store R, and O(k </a:t>
                </a:r>
                <a:r>
                  <a:rPr lang="en-US" altLang="zh-TW" dirty="0" err="1"/>
                  <a:t>logm</a:t>
                </a:r>
                <a:r>
                  <a:rPr lang="en-US" altLang="zh-TW" dirty="0"/>
                  <a:t>) = O(n </a:t>
                </a:r>
                <a:r>
                  <a:rPr lang="en-US" altLang="zh-TW" dirty="0" err="1"/>
                  <a:t>logm</a:t>
                </a:r>
                <a:r>
                  <a:rPr lang="en-US" altLang="zh-TW" dirty="0"/>
                  <a:t>) for the LIS computation. </a:t>
                </a: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651304" cy="2620888"/>
              </a:xfrm>
              <a:blipFill rotWithShape="1">
                <a:blip r:embed="rId2"/>
                <a:stretch>
                  <a:fillRect l="-211" t="-20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861048"/>
            <a:ext cx="4032448" cy="23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3168102"/>
              </p:ext>
            </p:extLst>
          </p:nvPr>
        </p:nvGraphicFramePr>
        <p:xfrm>
          <a:off x="4752531" y="4354304"/>
          <a:ext cx="43559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067944" y="4354304"/>
            <a:ext cx="659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q</a:t>
            </a:r>
            <a:r>
              <a:rPr lang="en-US" altLang="zh-TW" dirty="0" smtClean="0"/>
              <a:t>[n]</a:t>
            </a:r>
            <a:endParaRPr lang="zh-TW" altLang="en-US" baseline="-25000" dirty="0"/>
          </a:p>
        </p:txBody>
      </p:sp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5706284"/>
              </p:ext>
            </p:extLst>
          </p:nvPr>
        </p:nvGraphicFramePr>
        <p:xfrm>
          <a:off x="4788024" y="5218400"/>
          <a:ext cx="4355973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2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∞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067944" y="5218400"/>
            <a:ext cx="62068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A[</a:t>
            </a:r>
            <a:r>
              <a:rPr lang="en-US" altLang="zh-TW" dirty="0"/>
              <a:t>ℓ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355976" y="5613047"/>
                <a:ext cx="45365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Run </a:t>
                </a:r>
                <a:r>
                  <a:rPr lang="en-US" altLang="zh-TW" dirty="0" smtClean="0"/>
                  <a:t>4:</a:t>
                </a:r>
                <a:endParaRPr lang="en-US" altLang="zh-TW" dirty="0" smtClean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altLang="zh-TW" dirty="0" err="1" smtClean="0"/>
                  <a:t>S</a:t>
                </a:r>
                <a:r>
                  <a:rPr lang="en-US" altLang="zh-TW" baseline="-25000" dirty="0" err="1" smtClean="0"/>
                  <a:t>q</a:t>
                </a:r>
                <a:r>
                  <a:rPr lang="en-US" altLang="zh-TW" dirty="0" smtClean="0"/>
                  <a:t>[4]=4</a:t>
                </a:r>
                <a:r>
                  <a:rPr lang="en-US" altLang="zh-TW" baseline="-25000" dirty="0" smtClean="0"/>
                  <a:t>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ℓ=2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([1](”2”)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/>
                  <a:t>[2](“4”)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/>
                  <a:t>[3](“3”))</a:t>
                </a:r>
                <a:r>
                  <a:rPr lang="zh-TW" altLang="en-US" dirty="0" smtClean="0"/>
                  <a:t> 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=&gt;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A[ℓ+1]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=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baseline="-25000" dirty="0">
                    <a:solidFill>
                      <a:srgbClr val="FF0000"/>
                    </a:solidFill>
                  </a:rPr>
                  <a:t>4</a:t>
                </a:r>
                <a:r>
                  <a:rPr lang="zh-TW" altLang="en-US" baseline="-25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=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4</a:t>
                </a: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5613047"/>
                <a:ext cx="4536504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210" t="-2538" r="-28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1825535"/>
              </p:ext>
            </p:extLst>
          </p:nvPr>
        </p:nvGraphicFramePr>
        <p:xfrm>
          <a:off x="4752531" y="3653016"/>
          <a:ext cx="4355973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[0]1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[1]2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[2]4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[3]</a:t>
                      </a:r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[4]5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[5]7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[6]9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[7]6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[8]8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4067944" y="3933056"/>
            <a:ext cx="5565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R[i]</a:t>
            </a:r>
            <a:endParaRPr lang="zh-TW" altLang="en-US" dirty="0"/>
          </a:p>
        </p:txBody>
      </p:sp>
      <p:cxnSp>
        <p:nvCxnSpPr>
          <p:cNvPr id="14" name="直線接點 13"/>
          <p:cNvCxnSpPr/>
          <p:nvPr/>
        </p:nvCxnSpPr>
        <p:spPr>
          <a:xfrm flipH="1">
            <a:off x="6336196" y="5243715"/>
            <a:ext cx="288032" cy="36933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6444208" y="4723636"/>
            <a:ext cx="0" cy="48390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6004" y="5249742"/>
                <a:ext cx="2375756" cy="160825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TW" sz="1200" dirty="0" smtClean="0"/>
                  <a:t>For i=2:</a:t>
                </a:r>
              </a:p>
              <a:p>
                <a:r>
                  <a:rPr lang="en-US" altLang="zh-TW" sz="1200" dirty="0" smtClean="0"/>
                  <a:t>Length</a:t>
                </a:r>
                <a:r>
                  <a:rPr lang="en-US" altLang="zh-TW" sz="12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>
                    <a:solidFill>
                      <a:schemeClr val="tx1"/>
                    </a:solidFill>
                  </a:rPr>
                  <a:t>=4</a:t>
                </a:r>
                <a:endParaRPr lang="en-US" altLang="zh-TW" sz="1200" dirty="0" smtClean="0"/>
              </a:p>
              <a:p>
                <a:r>
                  <a:rPr lang="en-US" altLang="zh-TW" sz="1200" b="1" dirty="0" smtClean="0"/>
                  <a:t>1</a:t>
                </a:r>
                <a:r>
                  <a:rPr lang="en-US" altLang="zh-TW" sz="1200" dirty="0" smtClean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+1</a:t>
                </a:r>
              </a:p>
              <a:p>
                <a:r>
                  <a:rPr lang="en-US" altLang="zh-TW" sz="1200" dirty="0" smtClean="0"/>
                  <a:t>=(2-1)(4)+1</a:t>
                </a:r>
              </a:p>
              <a:p>
                <a:r>
                  <a:rPr lang="en-US" altLang="zh-TW" sz="1200" dirty="0" smtClean="0"/>
                  <a:t>=5</a:t>
                </a:r>
              </a:p>
              <a:p>
                <a:r>
                  <a:rPr lang="en-US" altLang="zh-TW" sz="1200" b="1" dirty="0" smtClean="0"/>
                  <a:t>2</a:t>
                </a:r>
                <a:r>
                  <a:rPr lang="en-US" altLang="zh-TW" sz="1200" dirty="0" smtClean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+2</a:t>
                </a:r>
                <a:endParaRPr lang="en-US" altLang="zh-TW" sz="1200" dirty="0"/>
              </a:p>
              <a:p>
                <a:r>
                  <a:rPr lang="en-US" altLang="zh-TW" sz="1200" dirty="0" smtClean="0"/>
                  <a:t>=(</a:t>
                </a:r>
                <a:r>
                  <a:rPr lang="en-US" altLang="zh-TW" sz="1200" dirty="0"/>
                  <a:t>2</a:t>
                </a:r>
                <a:r>
                  <a:rPr lang="en-US" altLang="zh-TW" sz="1200" dirty="0" smtClean="0"/>
                  <a:t>-1)(4)+2</a:t>
                </a:r>
                <a:endParaRPr lang="en-US" altLang="zh-TW" sz="1200" dirty="0"/>
              </a:p>
              <a:p>
                <a:r>
                  <a:rPr lang="en-US" altLang="zh-TW" sz="1200" dirty="0" smtClean="0"/>
                  <a:t>=6</a:t>
                </a:r>
              </a:p>
              <a:p>
                <a:r>
                  <a:rPr lang="en-US" altLang="zh-TW" sz="1200" b="1" dirty="0" smtClean="0"/>
                  <a:t>3</a:t>
                </a:r>
                <a:r>
                  <a:rPr lang="en-US" altLang="zh-TW" sz="1200" dirty="0" smtClean="0"/>
                  <a:t>: </a:t>
                </a:r>
                <a:r>
                  <a:rPr lang="en-US" altLang="zh-TW" sz="1200" dirty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/>
                  <a:t>+2=</a:t>
                </a:r>
                <a:r>
                  <a:rPr lang="en-US" altLang="zh-TW" sz="1200" dirty="0" smtClean="0"/>
                  <a:t>7  </a:t>
                </a:r>
                <a:r>
                  <a:rPr lang="en-US" altLang="zh-TW" sz="1200" b="1" dirty="0" smtClean="0"/>
                  <a:t>4</a:t>
                </a:r>
                <a:r>
                  <a:rPr lang="en-US" altLang="zh-TW" sz="1200" dirty="0" smtClean="0"/>
                  <a:t>:(</a:t>
                </a:r>
                <a:r>
                  <a:rPr lang="en-US" altLang="zh-TW" sz="1200" dirty="0"/>
                  <a:t>i-1)</a:t>
                </a:r>
                <a14:m>
                  <m:oMath xmlns:m="http://schemas.openxmlformats.org/officeDocument/2006/math">
                    <m:r>
                      <a:rPr lang="zh-TW" altLang="en-US" sz="1200">
                        <a:latin typeface="Cambria Math"/>
                      </a:rPr>
                      <m:t>𝜌</m:t>
                    </m:r>
                    <m:r>
                      <a:rPr lang="en-US" altLang="zh-TW" sz="1200"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/>
                  <a:t>+2=8</a:t>
                </a: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4" y="5249742"/>
                <a:ext cx="2375756" cy="160825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Lower Bound on Approximating LCS for Permutations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 smtClean="0">
                    <a:solidFill>
                      <a:srgbClr val="FF0000"/>
                    </a:solidFill>
                  </a:rPr>
                  <a:t>is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the desired approximation ratio.</a:t>
                </a:r>
                <a:r>
                  <a:rPr lang="en-US" altLang="zh-TW" sz="2000" dirty="0"/>
                  <a:t> </a:t>
                </a:r>
                <a:endParaRPr lang="en-US" altLang="zh-TW" sz="2000" dirty="0" smtClean="0"/>
              </a:p>
              <a:p>
                <a:r>
                  <a:rPr lang="en-US" altLang="zh-TW" sz="2000" dirty="0" smtClean="0"/>
                  <a:t>For </a:t>
                </a:r>
                <a:r>
                  <a:rPr lang="en-US" altLang="zh-TW" sz="2000" dirty="0"/>
                  <a:t>each i, we will </a:t>
                </a:r>
                <a:r>
                  <a:rPr lang="en-US" altLang="zh-TW" sz="2000" dirty="0" smtClean="0"/>
                  <a:t>construct sequences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 smtClean="0"/>
                  <a:t>-</a:t>
                </a:r>
                <a:r>
                  <a:rPr lang="en-US" altLang="zh-TW" sz="2000" dirty="0" err="1" smtClean="0"/>
                  <a:t>approx</a:t>
                </a:r>
                <a:r>
                  <a:rPr lang="en-US" altLang="zh-TW" sz="2000" dirty="0" smtClean="0"/>
                  <a:t>-A(</a:t>
                </a:r>
                <a:r>
                  <a:rPr lang="en-US" altLang="zh-TW" sz="2000" dirty="0" err="1" smtClean="0"/>
                  <a:t>i,s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dirty="0"/>
                  <a:t>) and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/>
                  <a:t>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-B(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/>
                  <a:t>) </a:t>
                </a:r>
                <a:r>
                  <a:rPr lang="en-US" altLang="zh-TW" sz="2000" dirty="0" smtClean="0"/>
                  <a:t>,so </a:t>
                </a:r>
                <a:r>
                  <a:rPr lang="en-US" altLang="zh-TW" sz="2000" dirty="0"/>
                  <a:t>that the two sequences have a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common subsequence of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length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if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(i) =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(i) =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1.</a:t>
                </a:r>
              </a:p>
              <a:p>
                <a:pPr marL="0" indent="0">
                  <a:buNone/>
                </a:pPr>
                <a:endParaRPr lang="en-US" altLang="zh-TW" sz="2000" dirty="0" smtClean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(1)For </a:t>
                </a:r>
                <a:r>
                  <a:rPr lang="en-US" altLang="zh-TW" sz="2000" dirty="0" err="1"/>
                  <a:t>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(i) = 1, </a:t>
                </a:r>
                <a:r>
                  <a:rPr lang="en-US" altLang="zh-TW" sz="2000" dirty="0" smtClean="0"/>
                  <a:t>define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/>
                  <a:t>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-A(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 to be the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increasing </a:t>
                </a:r>
                <a:r>
                  <a:rPr lang="en-US" altLang="zh-TW" sz="2000" dirty="0"/>
                  <a:t>sequence </a:t>
                </a:r>
                <a:r>
                  <a:rPr lang="en-US" altLang="zh-TW" sz="2000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altLang="zh-TW" sz="2000" dirty="0" smtClean="0">
                    <a:solidFill>
                      <a:schemeClr val="tx1"/>
                    </a:solidFill>
                  </a:rPr>
                  <a:t>(i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+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,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+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,…,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rgbClr val="FF0000"/>
                    </a:solidFill>
                  </a:rPr>
                  <a:t>2</a:t>
                </a:r>
                <a:endParaRPr lang="en-US" altLang="zh-TW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dirty="0" smtClean="0"/>
                  <a:t>(2)For </a:t>
                </a: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dirty="0" smtClean="0"/>
                  <a:t>(i</a:t>
                </a:r>
                <a:r>
                  <a:rPr lang="en-US" altLang="zh-TW" sz="2000" dirty="0"/>
                  <a:t>) = 0, then de</a:t>
                </a:r>
                <a:r>
                  <a:rPr lang="en-US" altLang="zh-TW" sz="2000" dirty="0" smtClean="0"/>
                  <a:t>fi</a:t>
                </a:r>
                <a:r>
                  <a:rPr lang="en-US" altLang="zh-TW" sz="2000" dirty="0"/>
                  <a:t>ne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/>
                      </a:rPr>
                      <m:t> </m:t>
                    </m:r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/>
                  <a:t>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-A(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 to be the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decreasing </a:t>
                </a:r>
                <a:r>
                  <a:rPr lang="en-US" altLang="zh-TW" sz="2000" dirty="0" smtClean="0"/>
                  <a:t>sequence :</a:t>
                </a:r>
              </a:p>
              <a:p>
                <a:pPr marL="0" indent="0">
                  <a:buNone/>
                </a:pPr>
                <a:r>
                  <a:rPr lang="en-US" altLang="zh-TW" sz="2000" dirty="0" smtClean="0">
                    <a:solidFill>
                      <a:schemeClr val="tx1"/>
                    </a:solidFill>
                  </a:rPr>
                  <a:t>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,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-1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,…,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+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1</a:t>
                </a:r>
              </a:p>
              <a:p>
                <a:pPr marL="0" indent="0">
                  <a:buNone/>
                </a:pPr>
                <a:endParaRPr lang="en-US" altLang="zh-TW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b="1" dirty="0" smtClean="0">
                    <a:solidFill>
                      <a:schemeClr val="tx1"/>
                    </a:solidFill>
                  </a:rPr>
                  <a:t>Example:</a:t>
                </a:r>
                <a14:m>
                  <m:oMath xmlns:m="http://schemas.openxmlformats.org/officeDocument/2006/math">
                    <m:r>
                      <a:rPr lang="en-US" altLang="zh-TW" sz="20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=2,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=9</m:t>
                    </m:r>
                  </m:oMath>
                </a14:m>
                <a:endParaRPr lang="en-US" altLang="zh-TW" sz="20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altLang="zh-TW" sz="2000" dirty="0" err="1"/>
                  <a:t>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:[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0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0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0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0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0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0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]</a:t>
                </a:r>
                <a:r>
                  <a:rPr lang="zh-TW" altLang="en-US" sz="2000" dirty="0"/>
                  <a:t>   </a:t>
                </a:r>
                <a:r>
                  <a:rPr lang="en-US" altLang="zh-TW" sz="2000" dirty="0"/>
                  <a:t>(n=9</a:t>
                </a:r>
                <a:r>
                  <a:rPr lang="en-US" altLang="zh-TW" sz="2000" dirty="0" smtClean="0"/>
                  <a:t>)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increasing</a:t>
                </a:r>
                <a:endParaRPr lang="en-US" altLang="zh-TW" sz="2000" dirty="0"/>
              </a:p>
              <a:p>
                <a:endParaRPr lang="en-US" altLang="zh-TW" sz="2000" dirty="0"/>
              </a:p>
              <a:p>
                <a:endParaRPr lang="en-US" altLang="zh-TW" sz="2000" dirty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{4,…,1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 smtClean="0"/>
                  <a:t>5,…,8</a:t>
                </a:r>
                <a:r>
                  <a:rPr lang="zh-TW" altLang="en-US" sz="2000" dirty="0" smtClean="0"/>
                  <a:t>  </a:t>
                </a:r>
                <a:r>
                  <a:rPr lang="en-US" altLang="zh-TW" sz="2000" dirty="0" smtClean="0"/>
                  <a:t>,12,…,9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 smtClean="0"/>
                  <a:t>13,…,16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 smtClean="0"/>
                  <a:t>17,…,20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 smtClean="0"/>
                  <a:t>24,…,21,28,…,25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 smtClean="0"/>
                  <a:t>32,…,29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,36,…,33</a:t>
                </a:r>
                <a:r>
                  <a:rPr lang="zh-TW" altLang="en-US" sz="2000" dirty="0" smtClean="0"/>
                  <a:t> </a:t>
                </a:r>
                <a:r>
                  <a:rPr lang="en-US" altLang="zh-TW" sz="2000" dirty="0"/>
                  <a:t>}</a:t>
                </a:r>
              </a:p>
              <a:p>
                <a:endParaRPr lang="en-US" altLang="zh-TW" sz="2000" dirty="0"/>
              </a:p>
              <a:p>
                <a:endParaRPr lang="en-US" altLang="zh-TW" sz="2000" dirty="0"/>
              </a:p>
              <a:p>
                <a:pPr marL="0" indent="0" algn="ctr">
                  <a:buNone/>
                </a:pPr>
                <a:r>
                  <a:rPr lang="en-US" altLang="zh-TW" sz="2000" dirty="0" err="1"/>
                  <a:t>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:[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1</a:t>
                </a:r>
                <a:r>
                  <a:rPr lang="zh-TW" altLang="en-US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1</a:t>
                </a:r>
                <a:r>
                  <a:rPr lang="zh-TW" altLang="en-US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1</a:t>
                </a:r>
                <a:r>
                  <a:rPr lang="zh-TW" altLang="en-US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]  (n=9</a:t>
                </a:r>
                <a:r>
                  <a:rPr lang="en-US" altLang="zh-TW" sz="2000" dirty="0" smtClean="0"/>
                  <a:t>)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decreasing</a:t>
                </a:r>
                <a:endParaRPr lang="en-US" altLang="zh-TW" sz="2000" dirty="0"/>
              </a:p>
              <a:p>
                <a:pPr marL="0" indent="0">
                  <a:buNone/>
                </a:pPr>
                <a:endParaRPr lang="en-US" altLang="zh-TW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TW" sz="2000" dirty="0" smtClean="0"/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444" t="-1348" r="-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16</a:t>
            </a:fld>
            <a:endParaRPr lang="zh-TW" altLang="en-US"/>
          </a:p>
        </p:txBody>
      </p:sp>
      <p:cxnSp>
        <p:nvCxnSpPr>
          <p:cNvPr id="8" name="直線單箭頭接點 7"/>
          <p:cNvCxnSpPr>
            <a:endCxn id="9" idx="1"/>
          </p:cNvCxnSpPr>
          <p:nvPr/>
        </p:nvCxnSpPr>
        <p:spPr>
          <a:xfrm flipV="1">
            <a:off x="7692104" y="3877424"/>
            <a:ext cx="180020" cy="10132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7872124" y="2957696"/>
                <a:ext cx="1259632" cy="183945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TW" sz="1200" dirty="0" smtClean="0"/>
                  <a:t>For i=9:</a:t>
                </a:r>
              </a:p>
              <a:p>
                <a:r>
                  <a:rPr lang="en-US" altLang="zh-TW" sz="1200" dirty="0" smtClean="0"/>
                  <a:t>Length</a:t>
                </a:r>
                <a:r>
                  <a:rPr lang="en-US" altLang="zh-TW" sz="12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>
                    <a:solidFill>
                      <a:schemeClr val="tx1"/>
                    </a:solidFill>
                  </a:rPr>
                  <a:t>=4</a:t>
                </a:r>
                <a:endParaRPr lang="en-US" altLang="zh-TW" sz="1200" dirty="0" smtClean="0"/>
              </a:p>
              <a:p>
                <a:r>
                  <a:rPr lang="en-US" altLang="zh-TW" sz="1200" b="1" dirty="0" smtClean="0"/>
                  <a:t>1</a:t>
                </a:r>
                <a:r>
                  <a:rPr lang="en-US" altLang="zh-TW" sz="1200" dirty="0" smtClean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altLang="zh-TW" sz="1200" dirty="0" smtClean="0"/>
              </a:p>
              <a:p>
                <a:r>
                  <a:rPr lang="en-US" altLang="zh-TW" sz="1200" dirty="0" smtClean="0"/>
                  <a:t>=(9-1)(4)+4</a:t>
                </a:r>
              </a:p>
              <a:p>
                <a:r>
                  <a:rPr lang="en-US" altLang="zh-TW" sz="1200" dirty="0" smtClean="0"/>
                  <a:t>=36</a:t>
                </a:r>
              </a:p>
              <a:p>
                <a:r>
                  <a:rPr lang="en-US" altLang="zh-TW" sz="1200" b="1" dirty="0" smtClean="0"/>
                  <a:t>2</a:t>
                </a:r>
                <a:r>
                  <a:rPr lang="en-US" altLang="zh-TW" sz="1200" dirty="0" smtClean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+1</a:t>
                </a:r>
                <a:endParaRPr lang="en-US" altLang="zh-TW" sz="1200" dirty="0"/>
              </a:p>
              <a:p>
                <a:r>
                  <a:rPr lang="en-US" altLang="zh-TW" sz="1200" dirty="0"/>
                  <a:t>=(</a:t>
                </a:r>
                <a:r>
                  <a:rPr lang="en-US" altLang="zh-TW" sz="1200" dirty="0" smtClean="0"/>
                  <a:t>9-1)(4)+1</a:t>
                </a:r>
                <a:endParaRPr lang="en-US" altLang="zh-TW" sz="1200" dirty="0"/>
              </a:p>
              <a:p>
                <a:r>
                  <a:rPr lang="en-US" altLang="zh-TW" sz="1200" dirty="0" smtClean="0"/>
                  <a:t>=35</a:t>
                </a:r>
              </a:p>
              <a:p>
                <a:r>
                  <a:rPr lang="en-US" altLang="zh-TW" sz="1200" b="1" dirty="0" smtClean="0"/>
                  <a:t>3</a:t>
                </a:r>
                <a:r>
                  <a:rPr lang="en-US" altLang="zh-TW" sz="1200" dirty="0" smtClean="0"/>
                  <a:t>:34 </a:t>
                </a:r>
              </a:p>
              <a:p>
                <a:r>
                  <a:rPr lang="en-US" altLang="zh-TW" sz="1200" b="1" dirty="0" smtClean="0"/>
                  <a:t>4</a:t>
                </a:r>
                <a:r>
                  <a:rPr lang="en-US" altLang="zh-TW" sz="1200" dirty="0" smtClean="0"/>
                  <a:t>:33</a:t>
                </a:r>
                <a:endParaRPr lang="en-US" altLang="zh-TW" dirty="0" smtClean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124" y="2957696"/>
                <a:ext cx="1259632" cy="183945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1295636" y="4889702"/>
            <a:ext cx="684076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2843808" y="4897166"/>
            <a:ext cx="792088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779912" y="4904348"/>
            <a:ext cx="792088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5" name="直線單箭頭接點 14"/>
          <p:cNvCxnSpPr>
            <a:endCxn id="12" idx="0"/>
          </p:cNvCxnSpPr>
          <p:nvPr/>
        </p:nvCxnSpPr>
        <p:spPr>
          <a:xfrm flipH="1">
            <a:off x="1637674" y="4303504"/>
            <a:ext cx="1422158" cy="5861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13" idx="0"/>
          </p:cNvCxnSpPr>
          <p:nvPr/>
        </p:nvCxnSpPr>
        <p:spPr>
          <a:xfrm flipH="1">
            <a:off x="3239852" y="4303504"/>
            <a:ext cx="396044" cy="5936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endCxn id="14" idx="0"/>
          </p:cNvCxnSpPr>
          <p:nvPr/>
        </p:nvCxnSpPr>
        <p:spPr>
          <a:xfrm>
            <a:off x="3923928" y="4303504"/>
            <a:ext cx="252028" cy="6008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2" idx="2"/>
          </p:cNvCxnSpPr>
          <p:nvPr/>
        </p:nvCxnSpPr>
        <p:spPr>
          <a:xfrm flipH="1">
            <a:off x="1115616" y="5249742"/>
            <a:ext cx="522058" cy="146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89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Lower Bound on Approximating LCS for Permutations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711349"/>
                <a:ext cx="8928992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 smtClean="0"/>
                  <a:t>(1)For </a:t>
                </a: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 smtClean="0"/>
                  <a:t>(i</a:t>
                </a:r>
                <a:r>
                  <a:rPr lang="en-US" altLang="zh-TW" sz="2000" dirty="0"/>
                  <a:t>) = 1, </a:t>
                </a:r>
                <a:r>
                  <a:rPr lang="en-US" altLang="zh-TW" sz="2000" dirty="0" smtClean="0"/>
                  <a:t>define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/>
                  <a:t>-</a:t>
                </a:r>
                <a:r>
                  <a:rPr lang="en-US" altLang="zh-TW" sz="2000" dirty="0" err="1" smtClean="0"/>
                  <a:t>approx</a:t>
                </a:r>
                <a:r>
                  <a:rPr lang="en-US" altLang="zh-TW" sz="2000" dirty="0" smtClean="0"/>
                  <a:t>-B(</a:t>
                </a:r>
                <a:r>
                  <a:rPr lang="en-US" altLang="zh-TW" sz="2000" dirty="0" err="1" smtClean="0"/>
                  <a:t>i,s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 smtClean="0"/>
                  <a:t>) </a:t>
                </a:r>
                <a:r>
                  <a:rPr lang="en-US" altLang="zh-TW" sz="2000" dirty="0"/>
                  <a:t>to be the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increasing </a:t>
                </a:r>
                <a:r>
                  <a:rPr lang="en-US" altLang="zh-TW" sz="2000" dirty="0"/>
                  <a:t>sequence </a:t>
                </a:r>
                <a:r>
                  <a:rPr lang="en-US" altLang="zh-TW" sz="2000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altLang="zh-TW" sz="2000" dirty="0"/>
                  <a:t>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/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/>
                  <a:t>2</a:t>
                </a:r>
                <a:r>
                  <a:rPr lang="en-US" altLang="zh-TW" sz="2000" dirty="0"/>
                  <a:t>+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dirty="0"/>
                  <a:t>,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/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/>
                  <a:t>2</a:t>
                </a:r>
                <a:r>
                  <a:rPr lang="en-US" altLang="zh-TW" sz="2000" dirty="0"/>
                  <a:t>+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/>
                  <a:t>,…,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TW" sz="2000" dirty="0"/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/>
                  <a:t>2</a:t>
                </a:r>
                <a:r>
                  <a:rPr lang="en-US" altLang="zh-TW" sz="2000" dirty="0"/>
                  <a:t>+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rgbClr val="FF0000"/>
                    </a:solidFill>
                  </a:rPr>
                  <a:t>2</a:t>
                </a:r>
                <a:endParaRPr lang="en-US" altLang="zh-TW" sz="2000" dirty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(2)For </a:t>
                </a:r>
                <a:r>
                  <a:rPr lang="en-US" altLang="zh-TW" sz="2000" dirty="0" err="1" smtClean="0"/>
                  <a:t>s</a:t>
                </a:r>
                <a:r>
                  <a:rPr lang="en-US" altLang="zh-TW" sz="2000" baseline="-25000" dirty="0" err="1" smtClean="0"/>
                  <a:t>A</a:t>
                </a:r>
                <a:r>
                  <a:rPr lang="en-US" altLang="zh-TW" sz="2000" dirty="0" smtClean="0"/>
                  <a:t>(i</a:t>
                </a:r>
                <a:r>
                  <a:rPr lang="en-US" altLang="zh-TW" sz="2000" dirty="0"/>
                  <a:t>) = 0, then de</a:t>
                </a:r>
                <a:r>
                  <a:rPr lang="en-US" altLang="zh-TW" sz="2000" dirty="0" smtClean="0"/>
                  <a:t>fi</a:t>
                </a:r>
                <a:r>
                  <a:rPr lang="en-US" altLang="zh-TW" sz="2000" dirty="0"/>
                  <a:t>ne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/>
                      </a:rPr>
                      <m:t> </m:t>
                    </m:r>
                    <m:r>
                      <a:rPr lang="zh-TW" altLang="en-US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/>
                  <a:t>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-A(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 to be the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median</a:t>
                </a:r>
                <a:r>
                  <a:rPr lang="en-US" altLang="zh-TW" sz="2000" dirty="0"/>
                  <a:t>  sequence </a:t>
                </a:r>
                <a:r>
                  <a:rPr lang="en-US" altLang="zh-TW" sz="2000" dirty="0" smtClean="0"/>
                  <a:t>: </a:t>
                </a:r>
              </a:p>
              <a:p>
                <a:pPr marL="0" indent="0">
                  <a:buNone/>
                </a:pPr>
                <a:r>
                  <a:rPr lang="nn-NO" altLang="zh-TW" sz="2000" dirty="0" smtClean="0">
                    <a:solidFill>
                      <a:schemeClr val="tx1"/>
                    </a:solidFill>
                  </a:rPr>
                  <a:t>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 smtClean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nn-NO" altLang="zh-TW" sz="2000" dirty="0">
                    <a:solidFill>
                      <a:srgbClr val="FF0000"/>
                    </a:solidFill>
                  </a:rPr>
                  <a:t> </a:t>
                </a:r>
                <a:r>
                  <a:rPr lang="nn-NO" altLang="zh-TW" sz="2000" dirty="0" smtClean="0">
                    <a:solidFill>
                      <a:schemeClr val="tx1"/>
                    </a:solidFill>
                  </a:rPr>
                  <a:t>, 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nn-NO" altLang="zh-TW" sz="2000" dirty="0" smtClean="0">
                    <a:solidFill>
                      <a:schemeClr val="tx1"/>
                    </a:solidFill>
                  </a:rPr>
                  <a:t>,...,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</a:t>
                </a:r>
                <a:r>
                  <a:rPr lang="nn-NO" altLang="zh-TW" sz="2000" dirty="0" smtClean="0">
                    <a:solidFill>
                      <a:schemeClr val="tx1"/>
                    </a:solidFill>
                  </a:rPr>
                  <a:t>+ </a:t>
                </a:r>
                <a:r>
                  <a:rPr lang="nn-NO" altLang="zh-TW" sz="2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nn-NO" altLang="zh-TW" sz="2000" dirty="0" smtClean="0">
                    <a:solidFill>
                      <a:schemeClr val="tx1"/>
                    </a:solidFill>
                  </a:rPr>
                  <a:t>,</a:t>
                </a:r>
                <a:endParaRPr lang="nn-NO" altLang="zh-TW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nn-NO" altLang="zh-TW" sz="2000" dirty="0" smtClean="0">
                    <a:solidFill>
                      <a:schemeClr val="tx1"/>
                    </a:solidFill>
                  </a:rPr>
                  <a:t>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nn-NO" altLang="zh-TW" sz="2000" dirty="0">
                    <a:solidFill>
                      <a:srgbClr val="FF0000"/>
                    </a:solidFill>
                  </a:rPr>
                  <a:t> 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,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,...,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</a:t>
                </a:r>
                <a:r>
                  <a:rPr lang="nn-NO" altLang="zh-TW" sz="2000" dirty="0" smtClean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nn-NO" altLang="zh-TW" sz="2000" dirty="0" smtClean="0">
                    <a:solidFill>
                      <a:srgbClr val="FF0000"/>
                    </a:solidFill>
                  </a:rPr>
                  <a:t>+ </a:t>
                </a:r>
                <a:r>
                  <a:rPr lang="nn-NO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altLang="zh-TW" sz="2000" dirty="0" smtClean="0">
                    <a:solidFill>
                      <a:schemeClr val="tx1"/>
                    </a:solidFill>
                  </a:rPr>
                  <a:t>…</a:t>
                </a:r>
                <a:endParaRPr lang="en-US" altLang="zh-TW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nn-NO" altLang="zh-TW" sz="2000" dirty="0">
                    <a:solidFill>
                      <a:schemeClr val="tx1"/>
                    </a:solidFill>
                  </a:rPr>
                  <a:t>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b="0" i="1" baseline="3000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nn-NO" altLang="zh-TW" sz="2000" dirty="0">
                    <a:solidFill>
                      <a:srgbClr val="FF0000"/>
                    </a:solidFill>
                  </a:rPr>
                  <a:t> 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,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b="0" i="1" baseline="3000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rgbClr val="FF0000"/>
                    </a:solidFill>
                  </a:rPr>
                  <a:t>1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,..., (i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>
                    <a:solidFill>
                      <a:schemeClr val="tx1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nn-NO" altLang="zh-TW" sz="2000" dirty="0">
                    <a:solidFill>
                      <a:schemeClr val="tx1"/>
                    </a:solidFill>
                  </a:rPr>
                  <a:t> </a:t>
                </a:r>
                <a:r>
                  <a:rPr lang="nn-NO" altLang="zh-TW" sz="2000" dirty="0" smtClean="0">
                    <a:solidFill>
                      <a:srgbClr val="FF0000"/>
                    </a:solidFill>
                  </a:rPr>
                  <a:t>+(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nn-NO" altLang="zh-TW" sz="2000" dirty="0" smtClean="0">
                    <a:solidFill>
                      <a:srgbClr val="FF0000"/>
                    </a:solidFill>
                  </a:rPr>
                  <a:t>1)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nn-NO" altLang="zh-TW" sz="2000" dirty="0" smtClean="0">
                    <a:solidFill>
                      <a:srgbClr val="FF0000"/>
                    </a:solidFill>
                  </a:rPr>
                  <a:t>+1</a:t>
                </a:r>
                <a:r>
                  <a:rPr lang="nn-NO" altLang="zh-TW" sz="2000" dirty="0" smtClean="0"/>
                  <a:t>,</a:t>
                </a:r>
                <a:endParaRPr lang="en-US" altLang="zh-TW" sz="2000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b="1" dirty="0" smtClean="0">
                    <a:solidFill>
                      <a:schemeClr val="tx1"/>
                    </a:solidFill>
                  </a:rPr>
                  <a:t>Example:</a:t>
                </a:r>
                <a14:m>
                  <m:oMath xmlns:m="http://schemas.openxmlformats.org/officeDocument/2006/math">
                    <m:r>
                      <a:rPr lang="en-US" altLang="zh-TW" sz="20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=2,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=9</m:t>
                    </m:r>
                  </m:oMath>
                </a14:m>
                <a:endParaRPr lang="en-US" altLang="zh-TW" sz="20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altLang="zh-TW" sz="2000" dirty="0" err="1"/>
                  <a:t>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/>
                  <a:t>:[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1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1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/>
                  <a:t>1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0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 smtClean="0"/>
                  <a:t>]  (</a:t>
                </a:r>
                <a:r>
                  <a:rPr lang="en-US" altLang="zh-TW" sz="2000" dirty="0"/>
                  <a:t>n=9</a:t>
                </a:r>
                <a:r>
                  <a:rPr lang="en-US" altLang="zh-TW" sz="2000" dirty="0" smtClean="0"/>
                  <a:t>)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median</a:t>
                </a:r>
                <a:endParaRPr lang="en-US" altLang="zh-TW" sz="2000" dirty="0"/>
              </a:p>
              <a:p>
                <a:endParaRPr lang="en-US" altLang="zh-TW" sz="2000" dirty="0"/>
              </a:p>
              <a:p>
                <a:pPr marL="0" indent="0">
                  <a:buNone/>
                </a:pPr>
                <a:r>
                  <a:rPr lang="en-US" altLang="zh-TW" sz="1500" dirty="0" smtClean="0"/>
                  <a:t>{ 34,33,36,35</a:t>
                </a:r>
                <a:r>
                  <a:rPr lang="zh-TW" altLang="en-US" sz="1500" dirty="0" smtClean="0"/>
                  <a:t> </a:t>
                </a:r>
                <a:r>
                  <a:rPr lang="en-US" altLang="zh-TW" sz="1500" dirty="0"/>
                  <a:t>,</a:t>
                </a:r>
                <a:r>
                  <a:rPr lang="zh-TW" altLang="en-US" sz="1500" dirty="0"/>
                  <a:t> </a:t>
                </a:r>
                <a:r>
                  <a:rPr lang="en-US" altLang="zh-TW" sz="1500" dirty="0" smtClean="0"/>
                  <a:t>30,29,32,31 , 25,…,28</a:t>
                </a:r>
                <a:r>
                  <a:rPr lang="zh-TW" altLang="en-US" sz="1500" dirty="0" smtClean="0"/>
                  <a:t> </a:t>
                </a:r>
                <a:r>
                  <a:rPr lang="en-US" altLang="zh-TW" sz="1500" dirty="0"/>
                  <a:t>,</a:t>
                </a:r>
                <a:r>
                  <a:rPr lang="zh-TW" altLang="en-US" sz="1500" dirty="0"/>
                  <a:t> </a:t>
                </a:r>
                <a:r>
                  <a:rPr lang="en-US" altLang="zh-TW" sz="1500" dirty="0" smtClean="0"/>
                  <a:t>22,21,24,23</a:t>
                </a:r>
                <a:r>
                  <a:rPr lang="zh-TW" altLang="en-US" sz="1500" dirty="0" smtClean="0"/>
                  <a:t> </a:t>
                </a:r>
                <a:r>
                  <a:rPr lang="en-US" altLang="zh-TW" sz="1500" dirty="0"/>
                  <a:t>,</a:t>
                </a:r>
                <a:r>
                  <a:rPr lang="zh-TW" altLang="en-US" sz="1500" dirty="0"/>
                  <a:t> </a:t>
                </a:r>
                <a:r>
                  <a:rPr lang="en-US" altLang="zh-TW" sz="1500" dirty="0" smtClean="0"/>
                  <a:t>18,17,20,19</a:t>
                </a:r>
                <a:r>
                  <a:rPr lang="zh-TW" altLang="en-US" sz="1500" dirty="0" smtClean="0"/>
                  <a:t> </a:t>
                </a:r>
                <a:r>
                  <a:rPr lang="en-US" altLang="zh-TW" sz="1500" dirty="0"/>
                  <a:t>,</a:t>
                </a:r>
                <a:r>
                  <a:rPr lang="zh-TW" altLang="en-US" sz="1500" dirty="0"/>
                  <a:t> </a:t>
                </a:r>
                <a:r>
                  <a:rPr lang="en-US" altLang="zh-TW" sz="1500" dirty="0" smtClean="0"/>
                  <a:t>13,…,16, 10,9,12,11,</a:t>
                </a:r>
                <a:r>
                  <a:rPr lang="zh-TW" altLang="en-US" sz="1500" dirty="0" smtClean="0"/>
                  <a:t> </a:t>
                </a:r>
                <a:r>
                  <a:rPr lang="en-US" altLang="zh-TW" sz="1500" dirty="0" smtClean="0"/>
                  <a:t>6,5,8,7, 1,…,4</a:t>
                </a:r>
                <a:r>
                  <a:rPr lang="zh-TW" altLang="en-US" sz="1500" dirty="0" smtClean="0"/>
                  <a:t> </a:t>
                </a:r>
                <a:r>
                  <a:rPr lang="en-US" altLang="zh-TW" sz="1500" dirty="0"/>
                  <a:t>}</a:t>
                </a:r>
              </a:p>
              <a:p>
                <a:endParaRPr lang="en-US" altLang="zh-TW" sz="2000" dirty="0"/>
              </a:p>
              <a:p>
                <a:endParaRPr lang="en-US" altLang="zh-TW" sz="2000" dirty="0"/>
              </a:p>
              <a:p>
                <a:pPr marL="0" indent="0">
                  <a:buNone/>
                </a:pPr>
                <a:endParaRPr lang="en-US" altLang="zh-TW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TW" sz="2000" dirty="0" smtClean="0"/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711349"/>
                <a:ext cx="8928992" cy="4525963"/>
              </a:xfrm>
              <a:blipFill rotWithShape="1">
                <a:blip r:embed="rId2"/>
                <a:stretch>
                  <a:fillRect l="-683" t="-6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17</a:t>
            </a:fld>
            <a:endParaRPr lang="zh-TW" altLang="en-US" dirty="0"/>
          </a:p>
        </p:txBody>
      </p:sp>
      <p:cxnSp>
        <p:nvCxnSpPr>
          <p:cNvPr id="8" name="直線單箭頭接點 7"/>
          <p:cNvCxnSpPr>
            <a:endCxn id="18" idx="0"/>
          </p:cNvCxnSpPr>
          <p:nvPr/>
        </p:nvCxnSpPr>
        <p:spPr>
          <a:xfrm flipH="1">
            <a:off x="863588" y="5002540"/>
            <a:ext cx="4500500" cy="3813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896460" y="5733256"/>
                <a:ext cx="5699876" cy="112474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TW" sz="1200" dirty="0" smtClean="0"/>
                  <a:t>For i=:9</a:t>
                </a:r>
              </a:p>
              <a:p>
                <a:r>
                  <a:rPr lang="en-US" altLang="zh-TW" sz="1200" dirty="0" smtClean="0"/>
                  <a:t>Length</a:t>
                </a:r>
                <a:r>
                  <a:rPr lang="en-US" altLang="zh-TW" sz="12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>
                    <a:solidFill>
                      <a:schemeClr val="tx1"/>
                    </a:solidFill>
                  </a:rPr>
                  <a:t>=4</a:t>
                </a:r>
                <a:endParaRPr lang="en-US" altLang="zh-TW" sz="1200" dirty="0" smtClean="0"/>
              </a:p>
              <a:p>
                <a:r>
                  <a:rPr lang="en-US" altLang="zh-TW" sz="1200" b="1" dirty="0" smtClean="0"/>
                  <a:t>1</a:t>
                </a:r>
                <a:r>
                  <a:rPr lang="en-US" altLang="zh-TW" sz="1200" dirty="0" smtClean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1200" dirty="0" smtClean="0"/>
                  <a:t>   =(9-1)(4)+2=34 		  </a:t>
                </a:r>
                <a:r>
                  <a:rPr lang="en-US" altLang="zh-TW" sz="1200" b="1" dirty="0" smtClean="0"/>
                  <a:t>2</a:t>
                </a:r>
                <a:r>
                  <a:rPr lang="en-US" altLang="zh-TW" sz="1200" dirty="0" smtClean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+1      =(9-1)(4)+1=33</a:t>
                </a:r>
              </a:p>
              <a:p>
                <a:r>
                  <a:rPr lang="en-US" altLang="zh-TW" sz="1200" b="1" dirty="0" smtClean="0"/>
                  <a:t>3</a:t>
                </a:r>
                <a:r>
                  <a:rPr lang="en-US" altLang="zh-TW" sz="1200" dirty="0" smtClean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+2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1200" dirty="0" smtClean="0"/>
                  <a:t>=(9-1)(4)+4=36 		  </a:t>
                </a:r>
                <a:r>
                  <a:rPr lang="en-US" altLang="zh-TW" sz="1200" b="1" dirty="0" smtClean="0"/>
                  <a:t>4</a:t>
                </a:r>
                <a:r>
                  <a:rPr lang="en-US" altLang="zh-TW" sz="1200" dirty="0" smtClean="0"/>
                  <a:t> </a:t>
                </a:r>
                <a:r>
                  <a:rPr lang="en-US" altLang="zh-TW" sz="1200" dirty="0"/>
                  <a:t>:(i-1)</a:t>
                </a:r>
                <a14:m>
                  <m:oMath xmlns:m="http://schemas.openxmlformats.org/officeDocument/2006/math">
                    <m:r>
                      <a:rPr lang="zh-TW" altLang="en-US" sz="1200" i="1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1200" i="1" baseline="3000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1200" dirty="0" smtClean="0"/>
                  <a:t>+</a:t>
                </a:r>
                <a14:m>
                  <m:oMath xmlns:m="http://schemas.openxmlformats.org/officeDocument/2006/math">
                    <m:r>
                      <a:rPr lang="zh-TW" altLang="en-US" sz="1200" i="1" smtClean="0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1200" dirty="0" smtClean="0"/>
                  <a:t>+1=(</a:t>
                </a:r>
                <a:r>
                  <a:rPr lang="en-US" altLang="zh-TW" sz="1200" dirty="0"/>
                  <a:t>9-1)(4</a:t>
                </a:r>
                <a:r>
                  <a:rPr lang="en-US" altLang="zh-TW" sz="1200" dirty="0" smtClean="0"/>
                  <a:t>)+</a:t>
                </a:r>
                <a:r>
                  <a:rPr lang="en-US" altLang="zh-TW" sz="1200" dirty="0"/>
                  <a:t>3</a:t>
                </a:r>
                <a:r>
                  <a:rPr lang="en-US" altLang="zh-TW" sz="1200" dirty="0" smtClean="0"/>
                  <a:t>=35 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460" y="5733256"/>
                <a:ext cx="5699876" cy="112474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395536" y="5383852"/>
            <a:ext cx="936104" cy="27739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1403648" y="5383852"/>
            <a:ext cx="936104" cy="27739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3275856" y="5373216"/>
            <a:ext cx="936104" cy="27739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4355976" y="5396276"/>
            <a:ext cx="906544" cy="264971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6156176" y="5396276"/>
            <a:ext cx="792088" cy="27739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單箭頭接點 26"/>
          <p:cNvCxnSpPr/>
          <p:nvPr/>
        </p:nvCxnSpPr>
        <p:spPr>
          <a:xfrm flipH="1">
            <a:off x="1871700" y="4941168"/>
            <a:ext cx="3132348" cy="414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020272" y="5383851"/>
            <a:ext cx="576064" cy="27739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2" name="直線單箭頭接點 61"/>
          <p:cNvCxnSpPr>
            <a:stCxn id="9" idx="1"/>
            <a:endCxn id="18" idx="2"/>
          </p:cNvCxnSpPr>
          <p:nvPr/>
        </p:nvCxnSpPr>
        <p:spPr>
          <a:xfrm flipH="1" flipV="1">
            <a:off x="863588" y="5661248"/>
            <a:ext cx="1032872" cy="6343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38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Lower Bound on Approximating LCS for Permutations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 smtClean="0"/>
                  <a:t>1. 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(i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) = 1;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(i) = 0</a:t>
                </a:r>
                <a:r>
                  <a:rPr lang="en-US" altLang="zh-TW" sz="2000" dirty="0"/>
                  <a:t>. Then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-A(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 and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-B(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/>
                  <a:t>) have a longest </a:t>
                </a:r>
                <a:r>
                  <a:rPr lang="en-US" altLang="zh-TW" sz="2000" dirty="0" smtClean="0"/>
                  <a:t>common  subsequence </a:t>
                </a:r>
                <a:r>
                  <a:rPr lang="en-US" altLang="zh-TW" sz="2000" dirty="0"/>
                  <a:t>of length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/>
                      </a:rPr>
                      <m:t> </m:t>
                    </m:r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 smtClean="0"/>
                  <a:t>.</a:t>
                </a:r>
                <a:endParaRPr lang="en-US" altLang="zh-TW" sz="2000" dirty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2. 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(i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) = 0;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(i) = 1</a:t>
                </a:r>
                <a:r>
                  <a:rPr lang="en-US" altLang="zh-TW" sz="2000" dirty="0"/>
                  <a:t>. Then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-A(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 and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-B(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/>
                  <a:t>) have a longest </a:t>
                </a:r>
                <a:r>
                  <a:rPr lang="en-US" altLang="zh-TW" sz="2000" dirty="0" smtClean="0"/>
                  <a:t>common  subsequence </a:t>
                </a:r>
                <a:r>
                  <a:rPr lang="en-US" altLang="zh-TW" sz="2000" dirty="0"/>
                  <a:t>of length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dirty="0"/>
                  <a:t>.</a:t>
                </a:r>
                <a:endParaRPr lang="en-US" altLang="zh-TW" sz="2000" dirty="0" smtClean="0"/>
              </a:p>
              <a:p>
                <a:pPr marL="0" indent="0">
                  <a:buNone/>
                </a:pPr>
                <a:r>
                  <a:rPr lang="en-US" altLang="zh-TW" sz="2000" dirty="0" smtClean="0"/>
                  <a:t>3</a:t>
                </a:r>
                <a:r>
                  <a:rPr lang="en-US" altLang="zh-TW" sz="2000" dirty="0"/>
                  <a:t>. 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(i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) = 0;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(i) = 0</a:t>
                </a:r>
                <a:r>
                  <a:rPr lang="en-US" altLang="zh-TW" sz="2000" dirty="0"/>
                  <a:t>. Then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-A(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 and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-B(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/>
                  <a:t>) have a longest </a:t>
                </a:r>
                <a:r>
                  <a:rPr lang="en-US" altLang="zh-TW" sz="2000" dirty="0" smtClean="0"/>
                  <a:t>common  subsequence </a:t>
                </a:r>
                <a:r>
                  <a:rPr lang="en-US" altLang="zh-TW" sz="2000" dirty="0"/>
                  <a:t>of length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</m:oMath>
                </a14:m>
                <a:r>
                  <a:rPr lang="en-US" altLang="zh-TW" sz="20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4.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(i) =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1; </a:t>
                </a:r>
                <a:r>
                  <a:rPr lang="en-US" altLang="zh-TW" sz="2000" dirty="0" err="1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000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(i) =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dirty="0" smtClean="0"/>
                  <a:t>. </a:t>
                </a:r>
                <a:r>
                  <a:rPr lang="en-US" altLang="zh-TW" sz="2000" dirty="0"/>
                  <a:t>Then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-A(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A</a:t>
                </a:r>
                <a:r>
                  <a:rPr lang="en-US" altLang="zh-TW" sz="2000" dirty="0"/>
                  <a:t>) and -</a:t>
                </a:r>
                <a:r>
                  <a:rPr lang="en-US" altLang="zh-TW" sz="2000" dirty="0" err="1"/>
                  <a:t>approx</a:t>
                </a:r>
                <a:r>
                  <a:rPr lang="en-US" altLang="zh-TW" sz="2000" dirty="0"/>
                  <a:t>-B(</a:t>
                </a:r>
                <a:r>
                  <a:rPr lang="en-US" altLang="zh-TW" sz="2000" dirty="0" err="1"/>
                  <a:t>i,s</a:t>
                </a:r>
                <a:r>
                  <a:rPr lang="en-US" altLang="zh-TW" sz="2000" baseline="-25000" dirty="0" err="1"/>
                  <a:t>B</a:t>
                </a:r>
                <a:r>
                  <a:rPr lang="en-US" altLang="zh-TW" sz="2000" dirty="0"/>
                  <a:t>) have a longest common  subsequence of length</a:t>
                </a:r>
                <a14:m>
                  <m:oMath xmlns:m="http://schemas.openxmlformats.org/officeDocument/2006/math">
                    <m:r>
                      <a:rPr lang="en-US" altLang="zh-TW" sz="200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/>
                      </a:rPr>
                      <m:t>𝜌</m:t>
                    </m:r>
                    <m:r>
                      <a:rPr lang="en-US" altLang="zh-TW" sz="2000" b="0" i="1" baseline="3000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marL="0" indent="0">
                  <a:buNone/>
                </a:pPr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r="-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6512" y="5436513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 err="1" smtClean="0">
                <a:solidFill>
                  <a:srgbClr val="FF0000"/>
                </a:solidFill>
              </a:rPr>
              <a:t>s</a:t>
            </a:r>
            <a:r>
              <a:rPr lang="en-US" altLang="zh-TW" sz="1600" baseline="-25000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1600" dirty="0" smtClean="0">
                <a:solidFill>
                  <a:srgbClr val="FF0000"/>
                </a:solidFill>
              </a:rPr>
              <a:t>(i):</a:t>
            </a:r>
            <a:r>
              <a:rPr lang="en-US" altLang="zh-TW" sz="1600" dirty="0" err="1" smtClean="0"/>
              <a:t>s</a:t>
            </a:r>
            <a:r>
              <a:rPr lang="en-US" altLang="zh-TW" sz="1600" baseline="-25000" dirty="0" err="1" smtClean="0"/>
              <a:t>B</a:t>
            </a:r>
            <a:r>
              <a:rPr lang="en-US" altLang="zh-TW" sz="1600" dirty="0"/>
              <a:t>:[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</a:t>
            </a:r>
            <a:r>
              <a:rPr lang="zh-TW" altLang="en-US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] </a:t>
            </a:r>
            <a:endParaRPr lang="en-US" altLang="zh-TW" sz="1500" dirty="0" smtClean="0"/>
          </a:p>
          <a:p>
            <a:r>
              <a:rPr lang="en-US" altLang="zh-TW" sz="1600" dirty="0" smtClean="0"/>
              <a:t>{34,33,36,35,30,29,32,31 </a:t>
            </a:r>
            <a:r>
              <a:rPr lang="en-US" altLang="zh-TW" sz="1600" dirty="0"/>
              <a:t>, </a:t>
            </a:r>
            <a:r>
              <a:rPr lang="en-US" altLang="zh-TW" sz="1600" dirty="0" smtClean="0"/>
              <a:t>25,26,</a:t>
            </a:r>
            <a:r>
              <a:rPr lang="en-US" altLang="zh-TW" sz="1600" dirty="0" smtClean="0">
                <a:solidFill>
                  <a:srgbClr val="FF0000"/>
                </a:solidFill>
              </a:rPr>
              <a:t>27</a:t>
            </a:r>
            <a:r>
              <a:rPr lang="en-US" altLang="zh-TW" sz="1600" dirty="0" smtClean="0"/>
              <a:t>,28</a:t>
            </a:r>
            <a:r>
              <a:rPr lang="zh-TW" altLang="en-US" sz="1600" dirty="0" smtClean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22,21,24,23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18</a:t>
            </a:r>
            <a:r>
              <a:rPr lang="en-US" altLang="zh-TW" sz="1600" dirty="0"/>
              <a:t>,17,20,</a:t>
            </a:r>
            <a:r>
              <a:rPr lang="en-US" altLang="zh-TW" sz="1600" dirty="0">
                <a:solidFill>
                  <a:srgbClr val="FF0000"/>
                </a:solidFill>
              </a:rPr>
              <a:t>19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 smtClean="0">
                <a:solidFill>
                  <a:srgbClr val="FF0000"/>
                </a:solidFill>
              </a:rPr>
              <a:t>13,14,15,16</a:t>
            </a:r>
            <a:r>
              <a:rPr lang="en-US" altLang="zh-TW" sz="1600" dirty="0"/>
              <a:t>, 10,9,</a:t>
            </a:r>
            <a:r>
              <a:rPr lang="en-US" altLang="zh-TW" sz="1600" dirty="0">
                <a:solidFill>
                  <a:srgbClr val="FF0000"/>
                </a:solidFill>
              </a:rPr>
              <a:t>12,11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6,5,8,7, </a:t>
            </a:r>
            <a:r>
              <a:rPr lang="en-US" altLang="zh-TW" sz="1600" dirty="0" smtClean="0"/>
              <a:t>1,2,3,4</a:t>
            </a:r>
            <a:r>
              <a:rPr lang="zh-TW" altLang="en-US" sz="1600" dirty="0" smtClean="0"/>
              <a:t> </a:t>
            </a:r>
            <a:r>
              <a:rPr lang="en-US" altLang="zh-TW" sz="1600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4581129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 err="1" smtClean="0">
                <a:solidFill>
                  <a:srgbClr val="FF0000"/>
                </a:solidFill>
              </a:rPr>
              <a:t>s</a:t>
            </a:r>
            <a:r>
              <a:rPr lang="en-US" altLang="zh-TW" sz="1600" baseline="-25000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1600" dirty="0" smtClean="0">
                <a:solidFill>
                  <a:srgbClr val="FF0000"/>
                </a:solidFill>
              </a:rPr>
              <a:t>(i):</a:t>
            </a:r>
            <a:r>
              <a:rPr lang="en-US" altLang="zh-TW" sz="1600" dirty="0" err="1" smtClean="0"/>
              <a:t>s</a:t>
            </a:r>
            <a:r>
              <a:rPr lang="en-US" altLang="zh-TW" sz="1600" baseline="-25000" dirty="0" err="1" smtClean="0"/>
              <a:t>A</a:t>
            </a:r>
            <a:r>
              <a:rPr lang="en-US" altLang="zh-TW" sz="1600" dirty="0"/>
              <a:t>:[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</a:t>
            </a:r>
            <a:r>
              <a:rPr lang="zh-TW" altLang="en-US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</a:t>
            </a:r>
            <a:r>
              <a:rPr lang="zh-TW" altLang="en-US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</a:t>
            </a:r>
            <a:r>
              <a:rPr lang="zh-TW" altLang="en-US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]</a:t>
            </a:r>
            <a:r>
              <a:rPr lang="zh-TW" altLang="en-US" sz="1600" dirty="0"/>
              <a:t> </a:t>
            </a:r>
            <a:endParaRPr lang="en-US" altLang="zh-TW" sz="1500" dirty="0" smtClean="0"/>
          </a:p>
          <a:p>
            <a:r>
              <a:rPr lang="en-US" altLang="zh-TW" sz="1600" dirty="0" smtClean="0"/>
              <a:t>{4,3,2,1 ,</a:t>
            </a:r>
            <a:r>
              <a:rPr lang="zh-TW" altLang="en-US" sz="1600" dirty="0" smtClean="0"/>
              <a:t> </a:t>
            </a:r>
            <a:r>
              <a:rPr lang="en-US" altLang="zh-TW" sz="1600" dirty="0" smtClean="0"/>
              <a:t>5,6,7,8</a:t>
            </a:r>
            <a:r>
              <a:rPr lang="zh-TW" altLang="en-US" sz="1600" dirty="0" smtClean="0"/>
              <a:t>  </a:t>
            </a:r>
            <a:r>
              <a:rPr lang="en-US" altLang="zh-TW" sz="1600" dirty="0"/>
              <a:t>,</a:t>
            </a:r>
            <a:r>
              <a:rPr lang="en-US" altLang="zh-TW" sz="1600" dirty="0" smtClean="0">
                <a:solidFill>
                  <a:srgbClr val="FF0000"/>
                </a:solidFill>
              </a:rPr>
              <a:t>12,11</a:t>
            </a:r>
            <a:r>
              <a:rPr lang="en-US" altLang="zh-TW" sz="1600" dirty="0" smtClean="0"/>
              <a:t>,10,9</a:t>
            </a:r>
            <a:r>
              <a:rPr lang="zh-TW" altLang="en-US" sz="1600" dirty="0" smtClean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 smtClean="0">
                <a:solidFill>
                  <a:srgbClr val="FF0000"/>
                </a:solidFill>
              </a:rPr>
              <a:t>13,14,15,16</a:t>
            </a:r>
            <a:r>
              <a:rPr lang="zh-TW" altLang="en-US" sz="1600" dirty="0" smtClean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 smtClean="0"/>
              <a:t>17,</a:t>
            </a:r>
            <a:r>
              <a:rPr lang="en-US" altLang="zh-TW" sz="1600" dirty="0" smtClean="0">
                <a:solidFill>
                  <a:srgbClr val="FF0000"/>
                </a:solidFill>
              </a:rPr>
              <a:t>18,19</a:t>
            </a:r>
            <a:r>
              <a:rPr lang="en-US" altLang="zh-TW" sz="1600" dirty="0" smtClean="0"/>
              <a:t>,20</a:t>
            </a:r>
            <a:r>
              <a:rPr lang="zh-TW" altLang="en-US" sz="1600" dirty="0" smtClean="0"/>
              <a:t> </a:t>
            </a:r>
            <a:r>
              <a:rPr lang="en-US" altLang="zh-TW" sz="1600" dirty="0"/>
              <a:t>,</a:t>
            </a:r>
            <a:r>
              <a:rPr lang="zh-TW" altLang="en-US" sz="1600" dirty="0"/>
              <a:t> </a:t>
            </a:r>
            <a:r>
              <a:rPr lang="en-US" altLang="zh-TW" sz="1600" dirty="0" smtClean="0"/>
              <a:t>24,23,22,21,28,</a:t>
            </a:r>
            <a:r>
              <a:rPr lang="en-US" altLang="zh-TW" sz="1600" dirty="0" smtClean="0">
                <a:solidFill>
                  <a:srgbClr val="FF0000"/>
                </a:solidFill>
              </a:rPr>
              <a:t>27</a:t>
            </a:r>
            <a:r>
              <a:rPr lang="en-US" altLang="zh-TW" sz="1600" dirty="0" smtClean="0"/>
              <a:t>,26,25</a:t>
            </a:r>
            <a:r>
              <a:rPr lang="zh-TW" altLang="en-US" sz="1600" dirty="0" smtClean="0"/>
              <a:t> </a:t>
            </a:r>
            <a:r>
              <a:rPr lang="en-US" altLang="zh-TW" sz="1600" dirty="0" smtClean="0"/>
              <a:t>,32,31,30,29</a:t>
            </a:r>
            <a:r>
              <a:rPr lang="zh-TW" altLang="en-US" sz="1600" dirty="0" smtClean="0"/>
              <a:t> </a:t>
            </a:r>
            <a:r>
              <a:rPr lang="en-US" altLang="zh-TW" sz="1600" dirty="0"/>
              <a:t>,</a:t>
            </a:r>
            <a:r>
              <a:rPr lang="en-US" altLang="zh-TW" sz="1600" dirty="0" smtClean="0"/>
              <a:t>36,35,34,33</a:t>
            </a:r>
            <a:r>
              <a:rPr lang="zh-TW" altLang="en-US" sz="1600" dirty="0" smtClean="0"/>
              <a:t> </a:t>
            </a:r>
            <a:r>
              <a:rPr lang="en-US" altLang="zh-TW" sz="1600" dirty="0"/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2627784" y="4853660"/>
            <a:ext cx="1008112" cy="30806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708496" y="5712367"/>
            <a:ext cx="971600" cy="30806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707904" y="4855169"/>
            <a:ext cx="1008112" cy="30806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572000" y="5712367"/>
            <a:ext cx="1008112" cy="30806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333680" y="5712367"/>
            <a:ext cx="1008112" cy="308066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868144" y="4857838"/>
            <a:ext cx="1008112" cy="308066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1547664" y="4869160"/>
            <a:ext cx="1008112" cy="308066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6732240" y="5712367"/>
            <a:ext cx="936104" cy="308066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4" idx="2"/>
            <a:endCxn id="15" idx="0"/>
          </p:cNvCxnSpPr>
          <p:nvPr/>
        </p:nvCxnSpPr>
        <p:spPr>
          <a:xfrm>
            <a:off x="2051720" y="5177226"/>
            <a:ext cx="5148572" cy="53514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0"/>
            <a:endCxn id="13" idx="2"/>
          </p:cNvCxnSpPr>
          <p:nvPr/>
        </p:nvCxnSpPr>
        <p:spPr>
          <a:xfrm flipV="1">
            <a:off x="2837736" y="5165904"/>
            <a:ext cx="3534464" cy="54646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8" idx="2"/>
            <a:endCxn id="9" idx="0"/>
          </p:cNvCxnSpPr>
          <p:nvPr/>
        </p:nvCxnSpPr>
        <p:spPr>
          <a:xfrm>
            <a:off x="3131840" y="5161726"/>
            <a:ext cx="3062456" cy="550641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0" idx="2"/>
            <a:endCxn id="11" idx="0"/>
          </p:cNvCxnSpPr>
          <p:nvPr/>
        </p:nvCxnSpPr>
        <p:spPr>
          <a:xfrm>
            <a:off x="4211960" y="5163235"/>
            <a:ext cx="864096" cy="5491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2488922" y="5949280"/>
            <a:ext cx="1494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Case2</a:t>
            </a:r>
          </a:p>
          <a:p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A</a:t>
            </a:r>
            <a:r>
              <a:rPr lang="en-US" altLang="zh-TW" dirty="0" smtClean="0"/>
              <a:t>: decreasing</a:t>
            </a:r>
            <a:endParaRPr lang="en-US" altLang="zh-TW" dirty="0"/>
          </a:p>
          <a:p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B</a:t>
            </a:r>
            <a:r>
              <a:rPr lang="en-US" altLang="zh-TW" dirty="0" smtClean="0"/>
              <a:t>: increasing</a:t>
            </a:r>
            <a:endParaRPr lang="zh-TW" altLang="en-US" baseline="-250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499992" y="5949280"/>
            <a:ext cx="14558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Case1</a:t>
            </a:r>
          </a:p>
          <a:p>
            <a:r>
              <a:rPr lang="en-US" altLang="zh-TW" dirty="0" err="1"/>
              <a:t>s</a:t>
            </a:r>
            <a:r>
              <a:rPr lang="en-US" altLang="zh-TW" baseline="-25000" dirty="0" err="1"/>
              <a:t>A</a:t>
            </a:r>
            <a:r>
              <a:rPr lang="en-US" altLang="zh-TW" dirty="0"/>
              <a:t>: </a:t>
            </a:r>
            <a:r>
              <a:rPr lang="en-US" altLang="zh-TW" dirty="0" smtClean="0"/>
              <a:t>increasing</a:t>
            </a:r>
            <a:endParaRPr lang="en-US" altLang="zh-TW" dirty="0"/>
          </a:p>
          <a:p>
            <a:r>
              <a:rPr lang="en-US" altLang="zh-TW" dirty="0" err="1"/>
              <a:t>s</a:t>
            </a:r>
            <a:r>
              <a:rPr lang="en-US" altLang="zh-TW" baseline="-25000" dirty="0" err="1"/>
              <a:t>B</a:t>
            </a:r>
            <a:r>
              <a:rPr lang="en-US" altLang="zh-TW" dirty="0"/>
              <a:t>: median</a:t>
            </a:r>
            <a:endParaRPr lang="zh-TW" altLang="en-US" baseline="-25000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5839301" y="5949280"/>
            <a:ext cx="748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Case4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6894104" y="5949280"/>
            <a:ext cx="14943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Case3</a:t>
            </a:r>
          </a:p>
          <a:p>
            <a:r>
              <a:rPr lang="en-US" altLang="zh-TW" dirty="0" err="1"/>
              <a:t>s</a:t>
            </a:r>
            <a:r>
              <a:rPr lang="en-US" altLang="zh-TW" baseline="-25000" dirty="0" err="1"/>
              <a:t>A</a:t>
            </a:r>
            <a:r>
              <a:rPr lang="en-US" altLang="zh-TW" dirty="0"/>
              <a:t>: </a:t>
            </a:r>
            <a:r>
              <a:rPr lang="en-US" altLang="zh-TW" dirty="0" smtClean="0"/>
              <a:t>decreasing</a:t>
            </a:r>
            <a:endParaRPr lang="en-US" altLang="zh-TW" dirty="0"/>
          </a:p>
          <a:p>
            <a:r>
              <a:rPr lang="en-US" altLang="zh-TW" dirty="0" err="1"/>
              <a:t>s</a:t>
            </a:r>
            <a:r>
              <a:rPr lang="en-US" altLang="zh-TW" baseline="-25000" dirty="0" err="1"/>
              <a:t>B</a:t>
            </a:r>
            <a:r>
              <a:rPr lang="en-US" altLang="zh-TW" dirty="0"/>
              <a:t>: median</a:t>
            </a:r>
            <a:endParaRPr lang="zh-TW" altLang="en-US" baseline="-25000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66" y="805458"/>
            <a:ext cx="8280251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96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Lower Bound on Approximating LCS for Permutations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" y="2564904"/>
            <a:ext cx="898807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" y="1448625"/>
            <a:ext cx="9144001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3275856" y="1376617"/>
            <a:ext cx="432048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932040" y="1736657"/>
            <a:ext cx="1080120" cy="3600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139952" y="2096697"/>
                <a:ext cx="4824536" cy="396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𝛿</m:t>
                    </m:r>
                    <m:r>
                      <a:rPr lang="zh-TW" altLang="en-US" dirty="0">
                        <a:latin typeface="Cambria Math"/>
                      </a:rPr>
                      <m:t>=</m:t>
                    </m:r>
                    <m:box>
                      <m:boxPr>
                        <m:ctrlPr>
                          <a:rPr lang="zh-TW" altLang="en-US" i="1" dirty="0" smtClean="0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dirty="0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,require at least 0 bits  of communication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2096697"/>
                <a:ext cx="4824536" cy="396199"/>
              </a:xfrm>
              <a:prstGeom prst="rect">
                <a:avLst/>
              </a:prstGeom>
              <a:blipFill rotWithShape="1">
                <a:blip r:embed="rId4"/>
                <a:stretch>
                  <a:fillRect l="-1010" t="-7692" b="-16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1187624" y="1736657"/>
            <a:ext cx="302433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40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TW" sz="5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zh-TW" sz="5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zh-TW" sz="5000" dirty="0" smtClean="0">
                <a:latin typeface="Times New Roman" pitchFamily="18" charset="0"/>
                <a:cs typeface="Times New Roman" pitchFamily="18" charset="0"/>
              </a:rPr>
              <a:t>Thanks for listening.</a:t>
            </a:r>
          </a:p>
          <a:p>
            <a:pPr marL="0" indent="0" algn="ctr">
              <a:buNone/>
            </a:pP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2015/7/14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89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2708</Words>
  <Application>Microsoft Office PowerPoint</Application>
  <PresentationFormat>如螢幕大小 (4:3)</PresentationFormat>
  <Paragraphs>540</Paragraphs>
  <Slides>21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Office 佈景主題</vt:lpstr>
      <vt:lpstr> Finding Longest Increasing and Common Subsequences in Streaming Data</vt:lpstr>
      <vt:lpstr>Abstract(1/2)</vt:lpstr>
      <vt:lpstr>Abstract(1/2)</vt:lpstr>
      <vt:lpstr>The data streaming model</vt:lpstr>
      <vt:lpstr>Algorithms for LIS Computing the Length</vt:lpstr>
      <vt:lpstr>Algorithms for LIS Computing the Length</vt:lpstr>
      <vt:lpstr>Algorithms for LIS Finding an LIS</vt:lpstr>
      <vt:lpstr>Algorithms for LIS Finding an LIS</vt:lpstr>
      <vt:lpstr>Algorithms for LIS Finding an LIS</vt:lpstr>
      <vt:lpstr>Algorithms for LIS Finding an LIS</vt:lpstr>
      <vt:lpstr>Lower Bounds for LIS</vt:lpstr>
      <vt:lpstr>Lower Bounds for LIS</vt:lpstr>
      <vt:lpstr>Lower Bounds for LIS</vt:lpstr>
      <vt:lpstr>Lower Bounds for LIS</vt:lpstr>
      <vt:lpstr>Lower Bounds for LIS</vt:lpstr>
      <vt:lpstr>Algorithms for LCS</vt:lpstr>
      <vt:lpstr>Lower Bound on Approximating LCS for Permutations</vt:lpstr>
      <vt:lpstr>Lower Bound on Approximating LCS for Permutations</vt:lpstr>
      <vt:lpstr>Lower Bound on Approximating LCS for Permutations</vt:lpstr>
      <vt:lpstr>Lower Bound on Approximating LCS for Permutations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Variants of constrained longest common subsequence</dc:title>
  <dc:creator>Leo</dc:creator>
  <cp:lastModifiedBy>Leo</cp:lastModifiedBy>
  <cp:revision>89</cp:revision>
  <dcterms:created xsi:type="dcterms:W3CDTF">2015-05-03T19:12:17Z</dcterms:created>
  <dcterms:modified xsi:type="dcterms:W3CDTF">2015-07-14T08:45:05Z</dcterms:modified>
</cp:coreProperties>
</file>