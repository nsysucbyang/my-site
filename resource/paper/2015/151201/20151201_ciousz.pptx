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9" r:id="rId6"/>
    <p:sldId id="262" r:id="rId7"/>
    <p:sldId id="263" r:id="rId8"/>
    <p:sldId id="265" r:id="rId9"/>
    <p:sldId id="266" r:id="rId10"/>
    <p:sldId id="267" r:id="rId11"/>
    <p:sldId id="268" r:id="rId12"/>
    <p:sldId id="269" r:id="rId13"/>
    <p:sldId id="270" r:id="rId14"/>
    <p:sldId id="271"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78"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61552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66013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2177512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351342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11506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51347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585988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2379693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316195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4896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001806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778402-7401-4A7A-9F26-FAB09B09BED1}" type="datetimeFigureOut">
              <a:rPr lang="zh-TW" altLang="en-US" smtClean="0"/>
              <a:t>2015/12/1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35959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jpg"/><Relationship Id="rId7"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4.jp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7.jpg"/><Relationship Id="rId7" Type="http://schemas.openxmlformats.org/officeDocument/2006/relationships/image" Target="../media/image26.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a:spLocks/>
          </p:cNvSpPr>
          <p:nvPr/>
        </p:nvSpPr>
        <p:spPr>
          <a:xfrm>
            <a:off x="0" y="1073877"/>
            <a:ext cx="11987968" cy="1470025"/>
          </a:xfrm>
          <a:prstGeom prst="rect">
            <a:avLst/>
          </a:prstGeom>
        </p:spPr>
        <p:txBody>
          <a:bodyPr anchor="ctr">
            <a:normAutofit fontScale="97500"/>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TW" sz="4400" b="1" dirty="0" smtClean="0"/>
              <a:t>Tree edit distance with gaps</a:t>
            </a:r>
            <a:endParaRPr lang="zh-TW" altLang="en-US" sz="4400" dirty="0">
              <a:latin typeface="Arial Unicode MS" pitchFamily="34" charset="-120"/>
              <a:ea typeface="Arial Unicode MS" pitchFamily="34" charset="-120"/>
              <a:cs typeface="Arial Unicode MS" pitchFamily="34" charset="-120"/>
            </a:endParaRPr>
          </a:p>
        </p:txBody>
      </p:sp>
      <p:sp>
        <p:nvSpPr>
          <p:cNvPr id="6" name="副標題 2"/>
          <p:cNvSpPr txBox="1">
            <a:spLocks/>
          </p:cNvSpPr>
          <p:nvPr/>
        </p:nvSpPr>
        <p:spPr>
          <a:xfrm>
            <a:off x="1057761" y="2563967"/>
            <a:ext cx="9872445" cy="889686"/>
          </a:xfrm>
          <a:prstGeom prst="rect">
            <a:avLst/>
          </a:prstGeom>
        </p:spPr>
        <p:txBody>
          <a:bodyPr>
            <a:no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ES" altLang="zh-TW" sz="3200" dirty="0">
                <a:solidFill>
                  <a:schemeClr val="bg1">
                    <a:lumMod val="50000"/>
                  </a:schemeClr>
                </a:solidFill>
              </a:rPr>
              <a:t>Hélène Touzet</a:t>
            </a:r>
            <a:endParaRPr lang="en-US" altLang="zh-TW" sz="3200" dirty="0">
              <a:solidFill>
                <a:schemeClr val="bg1">
                  <a:lumMod val="50000"/>
                </a:schemeClr>
              </a:solidFill>
            </a:endParaRPr>
          </a:p>
        </p:txBody>
      </p:sp>
      <p:sp>
        <p:nvSpPr>
          <p:cNvPr id="8" name="文字方塊 6"/>
          <p:cNvSpPr txBox="1">
            <a:spLocks noChangeArrowheads="1"/>
          </p:cNvSpPr>
          <p:nvPr/>
        </p:nvSpPr>
        <p:spPr bwMode="auto">
          <a:xfrm>
            <a:off x="3489144" y="4967255"/>
            <a:ext cx="500967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buFontTx/>
              <a:buNone/>
            </a:pPr>
            <a:r>
              <a:rPr lang="en-US" altLang="zh-TW" sz="3200" dirty="0"/>
              <a:t>Presenter:  </a:t>
            </a:r>
            <a:r>
              <a:rPr lang="en-US" altLang="zh-TW" sz="3200" dirty="0" err="1" smtClean="0"/>
              <a:t>Syuan-Zong</a:t>
            </a:r>
            <a:r>
              <a:rPr lang="en-US" altLang="zh-TW" sz="3200" dirty="0" smtClean="0"/>
              <a:t> </a:t>
            </a:r>
            <a:r>
              <a:rPr lang="en-US" altLang="zh-TW" sz="3200" dirty="0" err="1" smtClean="0"/>
              <a:t>Ciou</a:t>
            </a:r>
            <a:endParaRPr lang="en-US" altLang="zh-TW" sz="3200" dirty="0"/>
          </a:p>
          <a:p>
            <a:pPr eaLnBrk="1" hangingPunct="1">
              <a:spcBef>
                <a:spcPct val="0"/>
              </a:spcBef>
              <a:buFontTx/>
              <a:buNone/>
            </a:pPr>
            <a:r>
              <a:rPr lang="en-US" altLang="zh-TW" sz="3200" dirty="0" smtClean="0"/>
              <a:t>Date:2015/12/1</a:t>
            </a:r>
            <a:endParaRPr lang="zh-TW" altLang="en-US" sz="3200" dirty="0"/>
          </a:p>
        </p:txBody>
      </p:sp>
      <p:sp>
        <p:nvSpPr>
          <p:cNvPr id="10" name="文字方塊 9"/>
          <p:cNvSpPr txBox="1"/>
          <p:nvPr/>
        </p:nvSpPr>
        <p:spPr>
          <a:xfrm>
            <a:off x="333527" y="3486274"/>
            <a:ext cx="11320912" cy="1077218"/>
          </a:xfrm>
          <a:prstGeom prst="rect">
            <a:avLst/>
          </a:prstGeom>
          <a:noFill/>
        </p:spPr>
        <p:txBody>
          <a:bodyPr wrap="square" rtlCol="0">
            <a:spAutoFit/>
          </a:bodyPr>
          <a:lstStyle/>
          <a:p>
            <a:pPr algn="ctr"/>
            <a:r>
              <a:rPr lang="en-US" altLang="zh-TW" sz="3200" dirty="0"/>
              <a:t>Information Processing </a:t>
            </a:r>
            <a:r>
              <a:rPr lang="en-US" altLang="zh-TW" sz="3200" dirty="0" smtClean="0"/>
              <a:t>Letters</a:t>
            </a:r>
          </a:p>
          <a:p>
            <a:pPr algn="ctr"/>
            <a:r>
              <a:rPr lang="en-US" altLang="zh-TW" sz="3200" dirty="0"/>
              <a:t>Volume 85, Issue 3, 14 February 2003, Pages 123–129</a:t>
            </a:r>
            <a:endParaRPr lang="zh-TW" altLang="en-US" sz="3200" dirty="0"/>
          </a:p>
        </p:txBody>
      </p:sp>
    </p:spTree>
    <p:extLst>
      <p:ext uri="{BB962C8B-B14F-4D97-AF65-F5344CB8AC3E}">
        <p14:creationId xmlns:p14="http://schemas.microsoft.com/office/powerpoint/2010/main" val="412899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438445"/>
                <a:ext cx="10515600" cy="4351338"/>
              </a:xfrm>
            </p:spPr>
            <p:txBody>
              <a:bodyPr/>
              <a:lstStyle/>
              <a:p>
                <a:pPr marL="0" indent="0">
                  <a:buNone/>
                </a:pPr>
                <a:r>
                  <a:rPr lang="en-US" altLang="zh-TW" dirty="0" smtClean="0"/>
                  <a:t>The purpose of this paper is to study the definition of edit distances with convex gap weights for trees. In the special case of strings, this problem has yield to the definition of classical solutions: </a:t>
                </a:r>
                <a:r>
                  <a:rPr lang="en-US" altLang="zh-TW" dirty="0" err="1"/>
                  <a:t>G</a:t>
                </a:r>
                <a:r>
                  <a:rPr lang="en-US" altLang="zh-TW" dirty="0" err="1" smtClean="0"/>
                  <a:t>alil</a:t>
                </a:r>
                <a:r>
                  <a:rPr lang="en-US" altLang="zh-TW" dirty="0" smtClean="0"/>
                  <a:t> and Giancarlo produced in [2] an algorithm in </a:t>
                </a:r>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2</m:t>
                        </m:r>
                      </m:sup>
                    </m:sSup>
                    <m:r>
                      <m:rPr>
                        <m:sty m:val="p"/>
                      </m:rPr>
                      <a:rPr lang="en-US" altLang="zh-TW" b="0" i="0" smtClean="0">
                        <a:latin typeface="Cambria Math" panose="02040503050406030204" pitchFamily="18" charset="0"/>
                      </a:rPr>
                      <m:t>log</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m:t>
                    </m:r>
                  </m:oMath>
                </a14:m>
                <a:r>
                  <a:rPr lang="en-US" altLang="zh-TW" dirty="0" smtClean="0"/>
                  <a:t>, for example. For trees, </a:t>
                </a:r>
                <a:r>
                  <a:rPr lang="en-US" altLang="zh-TW" dirty="0" err="1" smtClean="0"/>
                  <a:t>standart</a:t>
                </a:r>
                <a:r>
                  <a:rPr lang="en-US" altLang="zh-TW" dirty="0" smtClean="0"/>
                  <a:t> edit distance algorithms – [7] or more recently [4] with a </a:t>
                </a:r>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3</m:t>
                        </m:r>
                      </m:sup>
                    </m:sSup>
                    <m:r>
                      <m:rPr>
                        <m:sty m:val="p"/>
                      </m:rPr>
                      <a:rPr lang="en-US" altLang="zh-TW" b="0" i="0" smtClean="0">
                        <a:latin typeface="Cambria Math" panose="02040503050406030204" pitchFamily="18" charset="0"/>
                      </a:rPr>
                      <m:t>log</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m:rPr>
                        <m:nor/>
                      </m:rPr>
                      <a:rPr lang="en-US" altLang="zh-TW" dirty="0" smtClean="0"/>
                      <m:t>,</m:t>
                    </m:r>
                  </m:oMath>
                </a14:m>
                <a:r>
                  <a:rPr lang="zh-TW" altLang="en-US" dirty="0" smtClean="0"/>
                  <a:t> </a:t>
                </a:r>
                <a:r>
                  <a:rPr lang="en-US" altLang="zh-TW" dirty="0" smtClean="0"/>
                  <a:t>solution – are concerned with </a:t>
                </a:r>
                <a:r>
                  <a:rPr lang="en-US" altLang="zh-TW" i="1" dirty="0" smtClean="0">
                    <a:latin typeface="Aparajita" panose="020B0604020202020204" pitchFamily="34" charset="0"/>
                    <a:ea typeface="Cambria Math" panose="02040503050406030204" pitchFamily="18" charset="0"/>
                    <a:cs typeface="Aparajita" panose="020B0604020202020204" pitchFamily="34" charset="0"/>
                  </a:rPr>
                  <a:t>linear</a:t>
                </a:r>
                <a:r>
                  <a:rPr lang="en-US" altLang="zh-TW" dirty="0" smtClean="0"/>
                  <a:t> gap weights induced by pointwise edit operations: inserting or removing one single node (or one single edge) at each step. These algorithms may be adapted to deal with affine gap weights, with open gap penalties and extension gap penalties. However, as far as we know, there is no tentative to extend </a:t>
                </a:r>
                <a:r>
                  <a:rPr lang="en-US" altLang="zh-TW" dirty="0" err="1" smtClean="0"/>
                  <a:t>thoses</a:t>
                </a:r>
                <a:r>
                  <a:rPr lang="en-US" altLang="zh-TW" dirty="0" smtClean="0"/>
                  <a:t> results to tree edit distances with arbitrary gap weights.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438445"/>
                <a:ext cx="10515600" cy="4351338"/>
              </a:xfrm>
              <a:blipFill rotWithShape="0">
                <a:blip r:embed="rId2"/>
                <a:stretch>
                  <a:fillRect l="-1217" t="-2381" r="-1739" b="-3221"/>
                </a:stretch>
              </a:blipFill>
            </p:spPr>
            <p:txBody>
              <a:bodyPr/>
              <a:lstStyle/>
              <a:p>
                <a:r>
                  <a:rPr lang="zh-TW" altLang="en-US">
                    <a:noFill/>
                  </a:rPr>
                  <a:t> </a:t>
                </a:r>
              </a:p>
            </p:txBody>
          </p:sp>
        </mc:Fallback>
      </mc:AlternateContent>
      <p:sp>
        <p:nvSpPr>
          <p:cNvPr id="4" name="文字方塊 3"/>
          <p:cNvSpPr txBox="1"/>
          <p:nvPr/>
        </p:nvSpPr>
        <p:spPr>
          <a:xfrm>
            <a:off x="838200" y="5946207"/>
            <a:ext cx="11314829" cy="738664"/>
          </a:xfrm>
          <a:prstGeom prst="rect">
            <a:avLst/>
          </a:prstGeom>
          <a:noFill/>
        </p:spPr>
        <p:txBody>
          <a:bodyPr wrap="none" rtlCol="0">
            <a:spAutoFit/>
          </a:bodyPr>
          <a:lstStyle/>
          <a:p>
            <a:pPr fontAlgn="base"/>
            <a:r>
              <a:rPr lang="en-US" altLang="zh-TW" sz="1400" dirty="0" smtClean="0"/>
              <a:t>[2] Z. </a:t>
            </a:r>
            <a:r>
              <a:rPr lang="en-US" altLang="zh-TW" sz="1400" dirty="0" err="1" smtClean="0"/>
              <a:t>Galil</a:t>
            </a:r>
            <a:r>
              <a:rPr lang="en-US" altLang="zh-TW" sz="1400" dirty="0" smtClean="0"/>
              <a:t>, R. Giancarlo, Speeding up dynamic programming with applications to molecular biology, </a:t>
            </a:r>
            <a:r>
              <a:rPr lang="en-US" altLang="zh-TW" sz="1400" dirty="0" err="1" smtClean="0"/>
              <a:t>Theoret</a:t>
            </a:r>
            <a:r>
              <a:rPr lang="en-US" altLang="zh-TW" sz="1400" dirty="0" smtClean="0"/>
              <a:t>. </a:t>
            </a:r>
            <a:r>
              <a:rPr lang="en-US" altLang="zh-TW" sz="1400" dirty="0" err="1" smtClean="0"/>
              <a:t>Comput</a:t>
            </a:r>
            <a:r>
              <a:rPr lang="en-US" altLang="zh-TW" sz="1400" dirty="0" smtClean="0"/>
              <a:t>. Sci. 64 (1989) 107–118.</a:t>
            </a:r>
          </a:p>
          <a:p>
            <a:pPr fontAlgn="base"/>
            <a:r>
              <a:rPr lang="en-US" altLang="zh-TW" sz="1400" dirty="0" smtClean="0"/>
              <a:t>[4] P. Klein, Computing the edit-distance between unrooted ordered trees, in: Proceedings of 6th European Symposium on Algorithms, 1998, pp. 91–102.</a:t>
            </a:r>
          </a:p>
          <a:p>
            <a:pPr fontAlgn="base"/>
            <a:r>
              <a:rPr lang="en-US" altLang="zh-TW" sz="1400" dirty="0" smtClean="0"/>
              <a:t>[7] K. Zhang, D. </a:t>
            </a:r>
            <a:r>
              <a:rPr lang="en-US" altLang="zh-TW" sz="1400" dirty="0" err="1" smtClean="0"/>
              <a:t>Shasha</a:t>
            </a:r>
            <a:r>
              <a:rPr lang="en-US" altLang="zh-TW" sz="1400" dirty="0" smtClean="0"/>
              <a:t>, Simple fast algorithms for the editing distance between trees and related problems, SIAM J. </a:t>
            </a:r>
            <a:r>
              <a:rPr lang="en-US" altLang="zh-TW" sz="1400" dirty="0" err="1" smtClean="0"/>
              <a:t>Comput</a:t>
            </a:r>
            <a:r>
              <a:rPr lang="en-US" altLang="zh-TW" sz="1400" dirty="0" smtClean="0"/>
              <a:t>. 18 (6) (1989) 1245–1262.</a:t>
            </a:r>
            <a:endParaRPr lang="zh-TW" altLang="en-US" sz="1400" dirty="0"/>
          </a:p>
        </p:txBody>
      </p:sp>
    </p:spTree>
    <p:extLst>
      <p:ext uri="{BB962C8B-B14F-4D97-AF65-F5344CB8AC3E}">
        <p14:creationId xmlns:p14="http://schemas.microsoft.com/office/powerpoint/2010/main" val="98914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Trees,Forests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We work with ordered trees of arbitrary arity. Give a set of labels </a:t>
                </a:r>
                <a14:m>
                  <m:oMath xmlns:m="http://schemas.openxmlformats.org/officeDocument/2006/math">
                    <m:r>
                      <a:rPr lang="en-US" altLang="zh-TW" i="1" smtClean="0">
                        <a:latin typeface="Cambria Math" panose="02040503050406030204" pitchFamily="18" charset="0"/>
                        <a:ea typeface="Cambria Math" panose="02040503050406030204" pitchFamily="18" charset="0"/>
                      </a:rPr>
                      <m:t>ℒ</m:t>
                    </m:r>
                  </m:oMath>
                </a14:m>
                <a:r>
                  <a:rPr lang="en-US" altLang="zh-TW" dirty="0" smtClean="0"/>
                  <a:t>, we write </a:t>
                </a:r>
                <a14:m>
                  <m:oMath xmlns:m="http://schemas.openxmlformats.org/officeDocument/2006/math">
                    <m:r>
                      <a:rPr lang="en-US" altLang="zh-TW" b="0" i="1" smtClean="0">
                        <a:latin typeface="Cambria Math" panose="02040503050406030204" pitchFamily="18" charset="0"/>
                      </a:rPr>
                      <m:t>𝑙</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𝑛</m:t>
                        </m:r>
                      </m:sub>
                    </m:sSub>
                    <m:r>
                      <a:rPr lang="en-US" altLang="zh-TW" b="0" i="1" smtClean="0">
                        <a:latin typeface="Cambria Math" panose="02040503050406030204" pitchFamily="18" charset="0"/>
                      </a:rPr>
                      <m:t>)</m:t>
                    </m:r>
                  </m:oMath>
                </a14:m>
                <a:r>
                  <a:rPr lang="en-US" altLang="zh-TW" dirty="0" smtClean="0"/>
                  <a:t> for the tree composed by a root labelled by </a:t>
                </a:r>
                <a14:m>
                  <m:oMath xmlns:m="http://schemas.openxmlformats.org/officeDocument/2006/math">
                    <m:r>
                      <a:rPr lang="en-US" altLang="zh-TW" b="0" i="1" smtClean="0">
                        <a:latin typeface="Cambria Math" panose="02040503050406030204" pitchFamily="18" charset="0"/>
                      </a:rPr>
                      <m:t>𝑙</m:t>
                    </m:r>
                  </m:oMath>
                </a14:m>
                <a:r>
                  <a:rPr lang="en-US" altLang="zh-TW" dirty="0" smtClean="0"/>
                  <a:t> and </a:t>
                </a:r>
                <a14:m>
                  <m:oMath xmlns:m="http://schemas.openxmlformats.org/officeDocument/2006/math">
                    <m:r>
                      <a:rPr lang="en-US" altLang="zh-TW" b="0" i="1" smtClean="0">
                        <a:latin typeface="Cambria Math" panose="02040503050406030204" pitchFamily="18" charset="0"/>
                      </a:rPr>
                      <m:t>𝑛</m:t>
                    </m:r>
                  </m:oMath>
                </a14:m>
                <a:r>
                  <a:rPr lang="en-US" altLang="zh-TW" dirty="0" smtClean="0"/>
                  <a:t> subtrees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𝑛</m:t>
                        </m:r>
                      </m:sub>
                    </m:sSub>
                  </m:oMath>
                </a14:m>
                <a:r>
                  <a:rPr lang="en-US" altLang="zh-TW" dirty="0" smtClean="0"/>
                  <a:t>. A forest is a finite sequence of trees.</a:t>
                </a: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r="-1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124464" y="4712043"/>
                <a:ext cx="25235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𝑙</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                </m:t>
                      </m:r>
                      <m:r>
                        <a:rPr lang="en-US" altLang="zh-TW" b="0" i="1" smtClean="0">
                          <a:latin typeface="Cambria Math" panose="02040503050406030204" pitchFamily="18" charset="0"/>
                        </a:rPr>
                        <m:t>𝑙</m:t>
                      </m:r>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124464" y="4712043"/>
                <a:ext cx="2523511" cy="276999"/>
              </a:xfrm>
              <a:prstGeom prst="rect">
                <a:avLst/>
              </a:prstGeom>
              <a:blipFill rotWithShape="0">
                <a:blip r:embed="rId3"/>
                <a:stretch>
                  <a:fillRect l="-725" t="-2222" r="-1691" b="-35556"/>
                </a:stretch>
              </a:blipFill>
            </p:spPr>
            <p:txBody>
              <a:bodyPr/>
              <a:lstStyle/>
              <a:p>
                <a:r>
                  <a:rPr lang="zh-TW" altLang="en-US">
                    <a:noFill/>
                  </a:rPr>
                  <a:t> </a:t>
                </a:r>
              </a:p>
            </p:txBody>
          </p:sp>
        </mc:Fallback>
      </mc:AlternateContent>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167" y="3278659"/>
            <a:ext cx="2860772" cy="1298447"/>
          </a:xfrm>
          <a:prstGeom prst="rect">
            <a:avLst/>
          </a:prstGeom>
        </p:spPr>
      </p:pic>
      <mc:AlternateContent xmlns:mc="http://schemas.openxmlformats.org/markup-compatibility/2006" xmlns:a14="http://schemas.microsoft.com/office/drawing/2010/main">
        <mc:Choice Requires="a14">
          <p:sp>
            <p:nvSpPr>
              <p:cNvPr id="8" name="文字方塊 7"/>
              <p:cNvSpPr txBox="1"/>
              <p:nvPr/>
            </p:nvSpPr>
            <p:spPr>
              <a:xfrm>
                <a:off x="1470454" y="3385622"/>
                <a:ext cx="1822037"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𝑙</m:t>
                      </m:r>
                      <m:r>
                        <a:rPr lang="en-US" altLang="zh-TW" b="0" i="1" smtClean="0">
                          <a:latin typeface="Cambria Math" panose="02040503050406030204" pitchFamily="18" charset="0"/>
                        </a:rPr>
                        <m:t>                             </m:t>
                      </m:r>
                      <m:r>
                        <a:rPr lang="en-US" altLang="zh-TW" b="0" i="1" smtClean="0">
                          <a:latin typeface="Cambria Math" panose="02040503050406030204" pitchFamily="18" charset="0"/>
                        </a:rPr>
                        <m:t>𝑙</m:t>
                      </m:r>
                    </m:oMath>
                  </m:oMathPara>
                </a14:m>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470454" y="3385622"/>
                <a:ext cx="1822037" cy="276999"/>
              </a:xfrm>
              <a:prstGeom prst="rect">
                <a:avLst/>
              </a:prstGeom>
              <a:blipFill rotWithShape="0">
                <a:blip r:embed="rId5"/>
                <a:stretch>
                  <a:fillRect b="-65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1009135" y="4229076"/>
                <a:ext cx="2719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009135" y="4229076"/>
                <a:ext cx="2719141" cy="276999"/>
              </a:xfrm>
              <a:prstGeom prst="rect">
                <a:avLst/>
              </a:prstGeom>
              <a:blipFill rotWithShape="0">
                <a:blip r:embed="rId6"/>
                <a:stretch>
                  <a:fillRect l="-1794" r="-448" b="-1555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61549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Gapped edit distance</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Substitution</a:t>
            </a:r>
          </a:p>
          <a:p>
            <a:pPr marL="0" indent="0">
              <a:buNone/>
            </a:pPr>
            <a:endParaRPr lang="en-US" altLang="zh-TW" dirty="0"/>
          </a:p>
          <a:p>
            <a:pPr marL="0" indent="0">
              <a:buNone/>
            </a:pPr>
            <a:endParaRPr lang="en-US" altLang="zh-TW" dirty="0" smtClean="0"/>
          </a:p>
          <a:p>
            <a:pPr marL="0" indent="0">
              <a:buNone/>
            </a:pPr>
            <a:r>
              <a:rPr lang="en-US" altLang="zh-TW" dirty="0" smtClean="0"/>
              <a:t>Deletion</a:t>
            </a:r>
          </a:p>
          <a:p>
            <a:pPr marL="0" indent="0">
              <a:buNone/>
            </a:pPr>
            <a:endParaRPr lang="en-US" altLang="zh-TW" dirty="0"/>
          </a:p>
          <a:p>
            <a:pPr marL="0" indent="0">
              <a:buNone/>
            </a:pPr>
            <a:endParaRPr lang="en-US" altLang="zh-TW" dirty="0" smtClean="0"/>
          </a:p>
          <a:p>
            <a:pPr marL="0" indent="0">
              <a:buNone/>
            </a:pPr>
            <a:r>
              <a:rPr lang="en-US" altLang="zh-TW" dirty="0" smtClean="0"/>
              <a:t>Insertion</a:t>
            </a:r>
          </a:p>
          <a:p>
            <a:pPr marL="0" indent="0">
              <a:buNone/>
            </a:pPr>
            <a:endParaRPr lang="en-US" altLang="zh-TW" dirty="0"/>
          </a:p>
          <a:p>
            <a:pPr marL="0" indent="0">
              <a:buNone/>
            </a:pPr>
            <a:endParaRPr lang="zh-TW" altLang="en-US" dirty="0"/>
          </a:p>
        </p:txBody>
      </p:sp>
      <p:pic>
        <p:nvPicPr>
          <p:cNvPr id="4" name="圖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7620" y="1458096"/>
            <a:ext cx="2635505" cy="1196203"/>
          </a:xfrm>
          <a:prstGeom prst="rect">
            <a:avLst/>
          </a:prstGeom>
        </p:spPr>
      </p:pic>
      <p:pic>
        <p:nvPicPr>
          <p:cNvPr id="5" name="圖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7620" y="3007084"/>
            <a:ext cx="2780099" cy="1261831"/>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1221" y="4504719"/>
            <a:ext cx="2911904" cy="1321655"/>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3694670" y="1531591"/>
                <a:ext cx="16487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𝑙</m:t>
                      </m:r>
                      <m:r>
                        <a:rPr lang="en-US" altLang="zh-TW" b="0" i="1" smtClean="0">
                          <a:latin typeface="Cambria Math" panose="02040503050406030204" pitchFamily="18" charset="0"/>
                        </a:rPr>
                        <m:t>                           </m:t>
                      </m:r>
                      <m:r>
                        <a:rPr lang="en-US" altLang="zh-TW" b="0" i="1" smtClean="0">
                          <a:solidFill>
                            <a:srgbClr val="FF0000"/>
                          </a:solidFill>
                          <a:latin typeface="Cambria Math" panose="02040503050406030204" pitchFamily="18" charset="0"/>
                        </a:rPr>
                        <m:t>𝑙</m:t>
                      </m:r>
                      <m:r>
                        <a:rPr lang="en-US" altLang="zh-TW" b="0" i="1" smtClean="0">
                          <a:solidFill>
                            <a:srgbClr val="FF0000"/>
                          </a:solidFill>
                          <a:latin typeface="Cambria Math" panose="02040503050406030204" pitchFamily="18" charset="0"/>
                        </a:rPr>
                        <m:t>′</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694670" y="1531591"/>
                <a:ext cx="1648785" cy="276999"/>
              </a:xfrm>
              <a:prstGeom prst="rect">
                <a:avLst/>
              </a:prstGeom>
              <a:blipFill rotWithShape="0">
                <a:blip r:embed="rId5"/>
                <a:stretch>
                  <a:fillRect l="-2952" t="-4348" r="-3321"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3250328" y="2301899"/>
                <a:ext cx="24888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𝑡</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3250328" y="2301899"/>
                <a:ext cx="2488886" cy="276999"/>
              </a:xfrm>
              <a:prstGeom prst="rect">
                <a:avLst/>
              </a:prstGeom>
              <a:blipFill rotWithShape="0">
                <a:blip r:embed="rId6"/>
                <a:stretch>
                  <a:fillRect l="-980"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3236816" y="3904119"/>
                <a:ext cx="17566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r>
                        <a:rPr lang="en-US" altLang="zh-TW" b="0" i="1" smtClean="0">
                          <a:solidFill>
                            <a:srgbClr val="FF0000"/>
                          </a:solidFill>
                          <a:latin typeface="Cambria Math" panose="02040503050406030204" pitchFamily="18" charset="0"/>
                        </a:rPr>
                        <m:t> </m:t>
                      </m:r>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𝑡</m:t>
                          </m:r>
                        </m:e>
                        <m:sub>
                          <m:r>
                            <a:rPr lang="en-US" altLang="zh-TW" b="0" i="1" smtClean="0">
                              <a:solidFill>
                                <a:srgbClr val="FF0000"/>
                              </a:solidFill>
                              <a:latin typeface="Cambria Math" panose="02040503050406030204" pitchFamily="18" charset="0"/>
                            </a:rPr>
                            <m:t>2</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3236816" y="3904119"/>
                <a:ext cx="1756699" cy="276999"/>
              </a:xfrm>
              <a:prstGeom prst="rect">
                <a:avLst/>
              </a:prstGeom>
              <a:blipFill rotWithShape="0">
                <a:blip r:embed="rId7"/>
                <a:stretch>
                  <a:fillRect l="-2431" r="-694"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3024550" y="5443577"/>
                <a:ext cx="26800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 </m:t>
                          </m:r>
                          <m:r>
                            <a:rPr lang="en-US" altLang="zh-TW" b="0" i="1" smtClean="0">
                              <a:solidFill>
                                <a:srgbClr val="FF0000"/>
                              </a:solidFill>
                              <a:latin typeface="Cambria Math" panose="02040503050406030204" pitchFamily="18" charset="0"/>
                            </a:rPr>
                            <m:t>𝑡</m:t>
                          </m:r>
                        </m:e>
                        <m:sub>
                          <m:r>
                            <a:rPr lang="en-US" altLang="zh-TW" b="0" i="1" smtClean="0">
                              <a:solidFill>
                                <a:srgbClr val="FF0000"/>
                              </a:solidFill>
                              <a:latin typeface="Cambria Math" panose="02040503050406030204" pitchFamily="18" charset="0"/>
                            </a:rPr>
                            <m:t>2</m:t>
                          </m:r>
                        </m:sub>
                      </m:sSub>
                    </m:oMath>
                  </m:oMathPara>
                </a14:m>
                <a:endParaRPr lang="zh-TW" altLang="en-US"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024550" y="5443577"/>
                <a:ext cx="2680028" cy="276999"/>
              </a:xfrm>
              <a:prstGeom prst="rect">
                <a:avLst/>
              </a:prstGeom>
              <a:blipFill rotWithShape="0">
                <a:blip r:embed="rId8"/>
                <a:stretch>
                  <a:fillRect l="-1364" r="-227"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3700324" y="3089180"/>
                <a:ext cx="17237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oMath>
                  </m:oMathPara>
                </a14:m>
                <a:endParaRPr lang="zh-TW" altLang="en-US"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3700324" y="3089180"/>
                <a:ext cx="1723742" cy="276999"/>
              </a:xfrm>
              <a:prstGeom prst="rect">
                <a:avLst/>
              </a:prstGeom>
              <a:blipFill rotWithShape="0">
                <a:blip r:embed="rId9"/>
                <a:stretch>
                  <a:fillRect l="-2473" r="-2827"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3449979" y="4605224"/>
                <a:ext cx="18263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oMath>
                  </m:oMathPara>
                </a14:m>
                <a:endParaRPr lang="zh-TW" altLang="en-US"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3449979" y="4605224"/>
                <a:ext cx="1826334" cy="276999"/>
              </a:xfrm>
              <a:prstGeom prst="rect">
                <a:avLst/>
              </a:prstGeom>
              <a:blipFill rotWithShape="0">
                <a:blip r:embed="rId10"/>
                <a:stretch>
                  <a:fillRect l="-2667" r="-2333" b="-65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860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DIST problem</a:t>
            </a:r>
            <a:endParaRPr lang="zh-TW" altLang="en-US" dirty="0"/>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a:xfrm>
                <a:off x="838200" y="1581669"/>
                <a:ext cx="10515600" cy="5255741"/>
              </a:xfrm>
            </p:spPr>
            <p:txBody>
              <a:bodyPr>
                <a:normAutofit lnSpcReduction="10000"/>
              </a:bodyPr>
              <a:lstStyle/>
              <a:p>
                <a:pPr marL="0" indent="0">
                  <a:buNone/>
                </a:pPr>
                <a:r>
                  <a:rPr lang="en-US" altLang="zh-TW" dirty="0" smtClean="0"/>
                  <a:t>We compare trees </a:t>
                </a:r>
                <a:r>
                  <a:rPr lang="en-US" altLang="zh-TW" dirty="0"/>
                  <a:t>b</a:t>
                </a:r>
                <a:r>
                  <a:rPr lang="en-US" altLang="zh-TW" dirty="0" smtClean="0"/>
                  <a:t>uilt up on the infinite set of labels </a:t>
                </a:r>
                <a14:m>
                  <m:oMath xmlns:m="http://schemas.openxmlformats.org/officeDocument/2006/math">
                    <m:r>
                      <a:rPr lang="en-US" altLang="zh-TW" i="1" smtClean="0">
                        <a:latin typeface="Cambria Math" panose="02040503050406030204" pitchFamily="18" charset="0"/>
                        <a:ea typeface="Cambria Math" panose="02040503050406030204" pitchFamily="18" charset="0"/>
                      </a:rPr>
                      <m:t>ℒ</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ℕ</m:t>
                    </m:r>
                  </m:oMath>
                </a14:m>
                <a:r>
                  <a:rPr lang="en-US" altLang="zh-TW" dirty="0" smtClean="0"/>
                  <a:t>.</a:t>
                </a:r>
              </a:p>
              <a:p>
                <a:pPr marL="0" indent="0">
                  <a:buNone/>
                </a:pPr>
                <a:r>
                  <a:rPr lang="en-US" altLang="zh-TW" dirty="0" smtClean="0"/>
                  <a:t>Edit cost</a:t>
                </a:r>
              </a:p>
              <a:p>
                <a:pPr marL="0" indent="0">
                  <a:buNone/>
                </a:pPr>
                <a:r>
                  <a:rPr lang="en-US" altLang="zh-TW" dirty="0" smtClean="0"/>
                  <a:t>	</a:t>
                </a:r>
                <a14:m>
                  <m:oMath xmlns:m="http://schemas.openxmlformats.org/officeDocument/2006/math">
                    <m:r>
                      <m:rPr>
                        <m:sty m:val="p"/>
                      </m:rPr>
                      <a:rPr lang="en-US" altLang="zh-TW" b="0" i="0" smtClean="0">
                        <a:solidFill>
                          <a:srgbClr val="FF0000"/>
                        </a:solidFill>
                        <a:latin typeface="Cambria Math" panose="02040503050406030204" pitchFamily="18" charset="0"/>
                      </a:rPr>
                      <m:t>S</m:t>
                    </m:r>
                    <m:r>
                      <a:rPr lang="en-US" altLang="zh-TW" b="0" i="1" smtClean="0">
                        <a:solidFill>
                          <a:srgbClr val="FF0000"/>
                        </a:solidFill>
                        <a:latin typeface="Cambria Math" panose="02040503050406030204" pitchFamily="18" charset="0"/>
                      </a:rPr>
                      <m:t>𝑢𝑏</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r>
                          <a:rPr lang="en-US" altLang="zh-TW" b="0" i="1" smtClean="0">
                            <a:solidFill>
                              <a:srgbClr val="FF0000"/>
                            </a:solidFill>
                            <a:latin typeface="Cambria Math" panose="02040503050406030204" pitchFamily="18" charset="0"/>
                          </a:rPr>
                          <m:t>,∙</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𝑆𝑢𝑏</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𝑖</m:t>
                        </m:r>
                      </m:e>
                    </m:d>
                    <m:r>
                      <a:rPr lang="en-US" altLang="zh-TW" b="0" i="1" smtClean="0">
                        <a:solidFill>
                          <a:srgbClr val="FF0000"/>
                        </a:solidFill>
                        <a:latin typeface="Cambria Math" panose="02040503050406030204" pitchFamily="18" charset="0"/>
                        <a:ea typeface="Cambria Math" panose="02040503050406030204" pitchFamily="18" charset="0"/>
                      </a:rPr>
                      <m:t>=1        ∀</m:t>
                    </m:r>
                    <m:r>
                      <a:rPr lang="en-US" altLang="zh-TW" b="0" i="1" smtClean="0">
                        <a:solidFill>
                          <a:srgbClr val="FF0000"/>
                        </a:solidFill>
                        <a:latin typeface="Cambria Math" panose="02040503050406030204" pitchFamily="18" charset="0"/>
                        <a:ea typeface="Cambria Math" panose="02040503050406030204" pitchFamily="18" charset="0"/>
                      </a:rPr>
                      <m:t>𝑖</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ℕ</m:t>
                    </m:r>
                  </m:oMath>
                </a14:m>
                <a:endParaRPr lang="en-US" altLang="zh-TW" b="0" dirty="0" smtClean="0">
                  <a:solidFill>
                    <a:srgbClr val="FF0000"/>
                  </a:solidFill>
                  <a:ea typeface="Cambria Math" panose="02040503050406030204" pitchFamily="18" charset="0"/>
                </a:endParaRPr>
              </a:p>
              <a:p>
                <a:pPr marL="0" indent="0">
                  <a:buNone/>
                </a:pPr>
                <a:r>
                  <a:rPr lang="en-US" altLang="zh-TW" dirty="0" smtClean="0">
                    <a:solidFill>
                      <a:srgbClr val="FF0000"/>
                    </a:solidFill>
                  </a:rPr>
                  <a:t>	                    </a:t>
                </a:r>
                <a14:m>
                  <m:oMath xmlns:m="http://schemas.openxmlformats.org/officeDocument/2006/math">
                    <m:r>
                      <a:rPr lang="en-US" altLang="zh-TW" b="0" i="1" smtClean="0">
                        <a:solidFill>
                          <a:srgbClr val="FF0000"/>
                        </a:solidFill>
                        <a:latin typeface="Cambria Math" panose="02040503050406030204" pitchFamily="18" charset="0"/>
                      </a:rPr>
                      <m:t>𝑆𝑢𝑏</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𝑗</m:t>
                        </m:r>
                      </m:e>
                    </m:d>
                    <m:r>
                      <a:rPr lang="en-US" altLang="zh-TW" b="0" i="1" smtClean="0">
                        <a:solidFill>
                          <a:srgbClr val="FF0000"/>
                        </a:solidFill>
                        <a:latin typeface="Cambria Math" panose="02040503050406030204" pitchFamily="18" charset="0"/>
                      </a:rPr>
                      <m:t>=1.5     </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𝑖</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ℕ</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𝑗</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ℕ</m:t>
                    </m:r>
                  </m:oMath>
                </a14:m>
                <a:endParaRPr lang="en-US" altLang="zh-TW" b="0" dirty="0" smtClean="0">
                  <a:solidFill>
                    <a:srgbClr val="FF0000"/>
                  </a:solidFill>
                  <a:ea typeface="Cambria Math" panose="02040503050406030204" pitchFamily="18" charset="0"/>
                </a:endParaRPr>
              </a:p>
              <a:p>
                <a:pPr marL="0" indent="0">
                  <a:buNone/>
                </a:pPr>
                <a:r>
                  <a:rPr lang="en-US" altLang="zh-TW" dirty="0" smtClean="0">
                    <a:ea typeface="Cambria Math" panose="02040503050406030204" pitchFamily="18" charset="0"/>
                  </a:rPr>
                  <a:t>We say that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𝑇</m:t>
                    </m:r>
                  </m:oMath>
                </a14:m>
                <a:r>
                  <a:rPr lang="en-US" altLang="zh-TW" b="0" dirty="0" smtClean="0">
                    <a:ea typeface="Cambria Math" panose="02040503050406030204" pitchFamily="18" charset="0"/>
                  </a:rPr>
                  <a:t> fulfils the property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m:t>
                    </m:r>
                  </m:oMath>
                </a14:m>
                <a:r>
                  <a:rPr lang="en-US" altLang="zh-TW" b="0" dirty="0" smtClean="0">
                    <a:ea typeface="Cambria Math" panose="02040503050406030204" pitchFamily="18" charset="0"/>
                  </a:rPr>
                  <a:t>, if for every label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𝑖</m:t>
                    </m:r>
                  </m:oMath>
                </a14:m>
                <a:r>
                  <a:rPr lang="en-US" altLang="zh-TW" b="0" dirty="0" smtClean="0">
                    <a:ea typeface="Cambria Math" panose="02040503050406030204" pitchFamily="18" charset="0"/>
                  </a:rPr>
                  <a:t> appearing in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𝑇</m:t>
                    </m:r>
                  </m:oMath>
                </a14:m>
                <a:r>
                  <a:rPr lang="en-US" altLang="zh-TW" b="0" dirty="0" smtClean="0">
                    <a:ea typeface="Cambria Math" panose="02040503050406030204" pitchFamily="18" charset="0"/>
                  </a:rPr>
                  <a:t>,if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ℕ</m:t>
                    </m:r>
                  </m:oMath>
                </a14:m>
                <a:r>
                  <a:rPr lang="en-US" altLang="zh-TW" b="0" dirty="0" smtClean="0">
                    <a:ea typeface="Cambria Math" panose="02040503050406030204" pitchFamily="18" charset="0"/>
                  </a:rPr>
                  <a:t>, then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𝑇</m:t>
                    </m:r>
                  </m:oMath>
                </a14:m>
                <a:r>
                  <a:rPr lang="en-US" altLang="zh-TW" b="0" dirty="0" smtClean="0">
                    <a:ea typeface="Cambria Math" panose="02040503050406030204" pitchFamily="18" charset="0"/>
                  </a:rPr>
                  <a:t> contains exactly one node labelled by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𝑖</m:t>
                    </m:r>
                  </m:oMath>
                </a14:m>
                <a:r>
                  <a:rPr lang="en-US" altLang="zh-TW" b="0" dirty="0" smtClean="0">
                    <a:ea typeface="Cambria Math" panose="02040503050406030204" pitchFamily="18" charset="0"/>
                  </a:rPr>
                  <a:t>.</a:t>
                </a:r>
              </a:p>
              <a:p>
                <a:pPr marL="0" indent="0">
                  <a:buNone/>
                </a:pPr>
                <a:r>
                  <a:rPr lang="en-US" altLang="zh-TW" dirty="0" smtClean="0"/>
                  <a:t>	</a:t>
                </a:r>
                <a14:m>
                  <m:oMath xmlns:m="http://schemas.openxmlformats.org/officeDocument/2006/math">
                    <m:r>
                      <a:rPr lang="en-US" altLang="zh-TW" b="0" i="1" smtClean="0">
                        <a:solidFill>
                          <a:srgbClr val="FF0000"/>
                        </a:solidFill>
                        <a:latin typeface="Cambria Math" panose="02040503050406030204" pitchFamily="18" charset="0"/>
                      </a:rPr>
                      <m:t>𝐺𝑎𝑝</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𝑡</m:t>
                        </m:r>
                      </m:e>
                    </m:d>
                    <m:r>
                      <a:rPr lang="en-US" altLang="zh-TW" b="0" i="1" smtClean="0">
                        <a:solidFill>
                          <a:srgbClr val="FF0000"/>
                        </a:solidFill>
                        <a:latin typeface="Cambria Math" panose="02040503050406030204" pitchFamily="18" charset="0"/>
                      </a:rPr>
                      <m:t>=</m:t>
                    </m:r>
                    <m:d>
                      <m:dPr>
                        <m:begChr m:val="|"/>
                        <m:endChr m:val="|"/>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𝑡</m:t>
                        </m:r>
                      </m:e>
                    </m:d>
                    <m:r>
                      <a:rPr lang="en-US" altLang="zh-TW" b="0" i="1" smtClean="0">
                        <a:solidFill>
                          <a:srgbClr val="FF0000"/>
                        </a:solidFill>
                        <a:latin typeface="Cambria Math" panose="02040503050406030204" pitchFamily="18" charset="0"/>
                      </a:rPr>
                      <m:t>+1</m:t>
                    </m:r>
                  </m:oMath>
                </a14:m>
                <a:r>
                  <a:rPr lang="en-US" altLang="zh-TW" dirty="0" smtClean="0">
                    <a:solidFill>
                      <a:srgbClr val="FF0000"/>
                    </a:solidFill>
                  </a:rPr>
                  <a:t>, if </a:t>
                </a:r>
                <a14:m>
                  <m:oMath xmlns:m="http://schemas.openxmlformats.org/officeDocument/2006/math">
                    <m:r>
                      <a:rPr lang="en-US" altLang="zh-TW" b="0" i="1" smtClean="0">
                        <a:solidFill>
                          <a:srgbClr val="FF0000"/>
                        </a:solidFill>
                        <a:latin typeface="Cambria Math" panose="02040503050406030204" pitchFamily="18" charset="0"/>
                      </a:rPr>
                      <m:t>𝑡</m:t>
                    </m:r>
                  </m:oMath>
                </a14:m>
                <a:r>
                  <a:rPr lang="en-US" altLang="zh-TW" dirty="0" smtClean="0">
                    <a:solidFill>
                      <a:srgbClr val="FF0000"/>
                    </a:solidFill>
                  </a:rPr>
                  <a:t> satisfies the property</a:t>
                </a:r>
                <a14:m>
                  <m:oMath xmlns:m="http://schemas.openxmlformats.org/officeDocument/2006/math">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rPr>
                      <m:t>)</m:t>
                    </m:r>
                  </m:oMath>
                </a14:m>
                <a:r>
                  <a:rPr lang="en-US" altLang="zh-TW" dirty="0" smtClean="0">
                    <a:solidFill>
                      <a:srgbClr val="FF0000"/>
                    </a:solidFill>
                  </a:rPr>
                  <a:t>,</a:t>
                </a:r>
              </a:p>
              <a:p>
                <a:pPr marL="0" indent="0">
                  <a:buNone/>
                </a:pPr>
                <a:r>
                  <a:rPr lang="en-US" altLang="zh-TW" dirty="0" smtClean="0">
                    <a:solidFill>
                      <a:srgbClr val="FF0000"/>
                    </a:solidFill>
                  </a:rPr>
                  <a:t>	</a:t>
                </a:r>
                <a14:m>
                  <m:oMath xmlns:m="http://schemas.openxmlformats.org/officeDocument/2006/math">
                    <m:r>
                      <a:rPr lang="en-US" altLang="zh-TW" b="0" i="0" smtClean="0">
                        <a:solidFill>
                          <a:srgbClr val="FF0000"/>
                        </a:solidFill>
                        <a:latin typeface="Cambria Math" panose="02040503050406030204" pitchFamily="18" charset="0"/>
                      </a:rPr>
                      <m:t>               </m:t>
                    </m:r>
                    <m:r>
                      <a:rPr lang="en-US" altLang="zh-TW" b="0" i="1" smtClean="0">
                        <a:solidFill>
                          <a:srgbClr val="FF0000"/>
                        </a:solidFill>
                        <a:latin typeface="Cambria Math" panose="02040503050406030204" pitchFamily="18" charset="0"/>
                      </a:rPr>
                      <m:t>=</m:t>
                    </m:r>
                    <m:d>
                      <m:dPr>
                        <m:begChr m:val="|"/>
                        <m:endChr m:val="|"/>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𝑡</m:t>
                        </m:r>
                      </m:e>
                    </m:d>
                    <m:r>
                      <a:rPr lang="en-US" altLang="zh-TW" b="0" i="1" smtClean="0">
                        <a:solidFill>
                          <a:srgbClr val="FF0000"/>
                        </a:solidFill>
                        <a:latin typeface="Cambria Math" panose="02040503050406030204" pitchFamily="18" charset="0"/>
                      </a:rPr>
                      <m:t>+1.5</m:t>
                    </m:r>
                  </m:oMath>
                </a14:m>
                <a:r>
                  <a:rPr lang="en-US" altLang="zh-TW" dirty="0" smtClean="0">
                    <a:solidFill>
                      <a:srgbClr val="FF0000"/>
                    </a:solidFill>
                  </a:rPr>
                  <a:t>, otherwise.</a:t>
                </a:r>
              </a:p>
              <a:p>
                <a:r>
                  <a:rPr lang="en-US" altLang="zh-TW" dirty="0" smtClean="0"/>
                  <a:t>INSTANCE: Two tree A and B, a natural number k.</a:t>
                </a:r>
              </a:p>
              <a:p>
                <a:r>
                  <a:rPr lang="en-US" altLang="zh-TW" dirty="0" smtClean="0"/>
                  <a:t>QUESTION: </a:t>
                </a:r>
                <a14:m>
                  <m:oMath xmlns:m="http://schemas.openxmlformats.org/officeDocument/2006/math">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oMath>
                </a14:m>
                <a:r>
                  <a:rPr lang="en-US" altLang="zh-TW" dirty="0" smtClean="0"/>
                  <a:t>, where the underlying cost functions used in </a:t>
                </a:r>
                <a14:m>
                  <m:oMath xmlns:m="http://schemas.openxmlformats.org/officeDocument/2006/math">
                    <m:r>
                      <a:rPr lang="en-US" altLang="zh-TW" b="0" i="1" smtClean="0">
                        <a:latin typeface="Cambria Math" panose="02040503050406030204" pitchFamily="18" charset="0"/>
                      </a:rPr>
                      <m:t>𝑑</m:t>
                    </m:r>
                  </m:oMath>
                </a14:m>
                <a:r>
                  <a:rPr lang="en-US" altLang="zh-TW" dirty="0" smtClean="0"/>
                  <a:t> are </a:t>
                </a:r>
                <a14:m>
                  <m:oMath xmlns:m="http://schemas.openxmlformats.org/officeDocument/2006/math">
                    <m:r>
                      <a:rPr lang="en-US" altLang="zh-TW" b="0" i="1" smtClean="0">
                        <a:latin typeface="Cambria Math" panose="02040503050406030204" pitchFamily="18" charset="0"/>
                      </a:rPr>
                      <m:t>𝑆𝑢𝑏</m:t>
                    </m:r>
                  </m:oMath>
                </a14:m>
                <a:r>
                  <a:rPr lang="en-US" altLang="zh-TW" dirty="0" smtClean="0"/>
                  <a:t> and </a:t>
                </a:r>
                <a14:m>
                  <m:oMath xmlns:m="http://schemas.openxmlformats.org/officeDocument/2006/math">
                    <m:r>
                      <a:rPr lang="en-US" altLang="zh-TW" b="0" i="1" smtClean="0">
                        <a:latin typeface="Cambria Math" panose="02040503050406030204" pitchFamily="18" charset="0"/>
                      </a:rPr>
                      <m:t>𝐺𝑎𝑝</m:t>
                    </m:r>
                  </m:oMath>
                </a14:m>
                <a:r>
                  <a:rPr lang="en-US" altLang="zh-TW" dirty="0" smtClean="0"/>
                  <a:t> ?</a:t>
                </a:r>
                <a:endParaRPr lang="zh-TW" altLang="en-US"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xfrm>
                <a:off x="838200" y="1581669"/>
                <a:ext cx="10515600" cy="5255741"/>
              </a:xfrm>
              <a:blipFill rotWithShape="0">
                <a:blip r:embed="rId2"/>
                <a:stretch>
                  <a:fillRect l="-1217" t="-2549" r="-75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053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Exact cover by 3-sets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𝑋</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1,2,3,4,5,6</m:t>
                          </m:r>
                        </m:e>
                      </m:d>
                    </m:oMath>
                  </m:oMathPara>
                </a14:m>
                <a:endParaRPr lang="en-US" altLang="zh-TW" b="0" dirty="0" smtClean="0"/>
              </a:p>
              <a:p>
                <a:pPr marL="0" indent="0">
                  <a:buNone/>
                </a:pPr>
                <a:r>
                  <a:rPr lang="en-US" altLang="zh-TW" dirty="0" smtClean="0"/>
                  <a:t>If </a:t>
                </a:r>
                <a14:m>
                  <m:oMath xmlns:m="http://schemas.openxmlformats.org/officeDocument/2006/math">
                    <m:r>
                      <m:rPr>
                        <m:sty m:val="p"/>
                      </m:rPr>
                      <a:rPr lang="en-US" altLang="zh-TW" i="1" dirty="0">
                        <a:latin typeface="Cambria Math" panose="02040503050406030204" pitchFamily="18" charset="0"/>
                      </a:rPr>
                      <m:t>C</m:t>
                    </m:r>
                    <m:r>
                      <a:rPr lang="en-US" altLang="zh-TW" b="0" i="1" dirty="0" smtClean="0">
                        <a:latin typeface="Cambria Math" panose="02040503050406030204" pitchFamily="18" charset="0"/>
                      </a:rPr>
                      <m:t>=</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1,2,3</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2,3,4</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1,2,5</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2,5,6</m:t>
                        </m:r>
                      </m:e>
                    </m:d>
                    <m:r>
                      <a:rPr lang="en-US" altLang="zh-TW" b="0" i="1" smtClean="0">
                        <a:latin typeface="Cambria Math" panose="02040503050406030204" pitchFamily="18" charset="0"/>
                      </a:rPr>
                      <m:t>,{1,5,6}}</m:t>
                    </m:r>
                  </m:oMath>
                </a14:m>
                <a:endParaRPr lang="en-US" altLang="zh-TW" b="0" dirty="0" smtClean="0"/>
              </a:p>
              <a:p>
                <a:pPr marL="0" indent="0">
                  <a:buNone/>
                </a:pPr>
                <a:r>
                  <a:rPr lang="en-US" altLang="zh-TW" dirty="0" smtClean="0"/>
                  <a:t>Then can choose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𝐶</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2,3,4</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1,5,6</m:t>
                            </m:r>
                          </m:e>
                        </m:d>
                      </m:e>
                    </m:d>
                  </m:oMath>
                </a14:m>
                <a:r>
                  <a:rPr lang="en-US" altLang="zh-TW" b="0" dirty="0" smtClean="0"/>
                  <a:t>.</a:t>
                </a:r>
              </a:p>
              <a:p>
                <a:pPr marL="0" indent="0">
                  <a:buNone/>
                </a:pPr>
                <a:endParaRPr lang="en-US" altLang="zh-TW" b="0" dirty="0" smtClean="0"/>
              </a:p>
              <a:p>
                <a:pPr marL="0" indent="0">
                  <a:buNone/>
                </a:pPr>
                <a:r>
                  <a:rPr lang="en-US" altLang="zh-TW" dirty="0" smtClean="0"/>
                  <a:t>If </a:t>
                </a:r>
                <a14:m>
                  <m:oMath xmlns:m="http://schemas.openxmlformats.org/officeDocument/2006/math">
                    <m:r>
                      <m:rPr>
                        <m:sty m:val="p"/>
                      </m:rPr>
                      <a:rPr lang="en-US" altLang="zh-TW" i="1" dirty="0" smtClean="0">
                        <a:latin typeface="Cambria Math" panose="02040503050406030204" pitchFamily="18" charset="0"/>
                      </a:rPr>
                      <m:t>C</m:t>
                    </m:r>
                    <m:r>
                      <a:rPr lang="en-US" altLang="zh-TW" b="0" i="1" dirty="0" smtClean="0">
                        <a:latin typeface="Cambria Math" panose="02040503050406030204" pitchFamily="18" charset="0"/>
                      </a:rPr>
                      <m:t>=</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1,2,3</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2,4,5</m:t>
                        </m:r>
                      </m:e>
                    </m:d>
                    <m:r>
                      <a:rPr lang="en-US" altLang="zh-TW" b="0" i="1" smtClean="0">
                        <a:latin typeface="Cambria Math" panose="02040503050406030204" pitchFamily="18" charset="0"/>
                      </a:rPr>
                      <m:t>, </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2,5,6</m:t>
                        </m:r>
                      </m:e>
                    </m:d>
                    <m:r>
                      <a:rPr lang="en-US" altLang="zh-TW" b="0" i="1" smtClean="0">
                        <a:latin typeface="Cambria Math" panose="02040503050406030204" pitchFamily="18" charset="0"/>
                      </a:rPr>
                      <m:t>}</m:t>
                    </m:r>
                  </m:oMath>
                </a14:m>
                <a:endParaRPr lang="en-US" altLang="zh-TW" b="0" dirty="0" smtClean="0"/>
              </a:p>
              <a:p>
                <a:pPr marL="0" indent="0">
                  <a:buNone/>
                </a:pPr>
                <a:r>
                  <a:rPr lang="en-US" altLang="zh-TW" b="0" dirty="0" smtClean="0"/>
                  <a:t>There is no exact cover </a:t>
                </a: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rPr>
                      <m:t>′</m:t>
                    </m:r>
                  </m:oMath>
                </a14:m>
                <a:r>
                  <a:rPr lang="en-US" altLang="zh-TW" b="0" dirty="0" smtClean="0"/>
                  <a:t> in </a:t>
                </a:r>
                <a14:m>
                  <m:oMath xmlns:m="http://schemas.openxmlformats.org/officeDocument/2006/math">
                    <m:r>
                      <a:rPr lang="en-US" altLang="zh-TW" b="0" i="1" smtClean="0">
                        <a:latin typeface="Cambria Math" panose="02040503050406030204" pitchFamily="18" charset="0"/>
                      </a:rPr>
                      <m:t>𝐶</m:t>
                    </m:r>
                  </m:oMath>
                </a14:m>
                <a:r>
                  <a:rPr lang="en-US" altLang="zh-TW" b="0" dirty="0" smtClean="0"/>
                  <a:t>.</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62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DIST is NP-hard</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Tree A is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𝑡</m:t>
                        </m:r>
                      </m:e>
                      <m:sub>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𝑡</m:t>
                        </m:r>
                      </m:e>
                      <m:sub>
                        <m:r>
                          <a:rPr lang="en-US" altLang="zh-TW" b="0" i="1" smtClean="0">
                            <a:latin typeface="Cambria Math" panose="02040503050406030204" pitchFamily="18" charset="0"/>
                            <a:ea typeface="Cambria Math" panose="02040503050406030204" pitchFamily="18" charset="0"/>
                          </a:rPr>
                          <m:t>𝑘</m:t>
                        </m:r>
                      </m:sub>
                    </m:sSub>
                    <m:r>
                      <a:rPr lang="en-US" altLang="zh-TW" b="0" i="1" smtClean="0">
                        <a:latin typeface="Cambria Math" panose="02040503050406030204" pitchFamily="18" charset="0"/>
                        <a:ea typeface="Cambria Math" panose="02040503050406030204" pitchFamily="18" charset="0"/>
                      </a:rPr>
                      <m:t>))</m:t>
                    </m:r>
                  </m:oMath>
                </a14:m>
                <a:r>
                  <a:rPr lang="en-US" altLang="zh-TW" dirty="0" smtClean="0"/>
                  <a:t>. Size is </a:t>
                </a:r>
                <a14:m>
                  <m:oMath xmlns:m="http://schemas.openxmlformats.org/officeDocument/2006/math">
                    <m:r>
                      <a:rPr lang="en-US" altLang="zh-TW" b="0" i="1" smtClean="0">
                        <a:latin typeface="Cambria Math" panose="02040503050406030204" pitchFamily="18" charset="0"/>
                      </a:rPr>
                      <m:t>4</m:t>
                    </m:r>
                    <m:r>
                      <a:rPr lang="en-US" altLang="zh-TW" b="0" i="1" smtClean="0">
                        <a:latin typeface="Cambria Math" panose="02040503050406030204" pitchFamily="18" charset="0"/>
                      </a:rPr>
                      <m:t>𝑘</m:t>
                    </m:r>
                    <m:r>
                      <a:rPr lang="en-US" altLang="zh-TW" b="0" i="1" smtClean="0">
                        <a:latin typeface="Cambria Math" panose="02040503050406030204" pitchFamily="18" charset="0"/>
                      </a:rPr>
                      <m:t>+2</m:t>
                    </m:r>
                  </m:oMath>
                </a14:m>
                <a:r>
                  <a:rPr lang="en-US" altLang="zh-TW" dirty="0" smtClean="0"/>
                  <a:t>.</a:t>
                </a:r>
              </a:p>
              <a:p>
                <a:pPr marL="0" indent="0">
                  <a:buNone/>
                </a:pPr>
                <a:r>
                  <a:rPr lang="en-US" altLang="zh-TW" dirty="0" smtClean="0"/>
                  <a:t>Tree B is defined as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(0,0,0)</m:t>
                        </m:r>
                      </m:e>
                      <m: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𝑞</m:t>
                        </m:r>
                        <m:r>
                          <a:rPr lang="en-US" altLang="zh-TW" b="0" i="1" smtClean="0">
                            <a:latin typeface="Cambria Math" panose="02040503050406030204" pitchFamily="18" charset="0"/>
                            <a:ea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oMath>
                </a14:m>
                <a:r>
                  <a:rPr lang="en-US" altLang="zh-TW" dirty="0" smtClean="0"/>
                  <a:t>.  Size is </a:t>
                </a:r>
                <a14:m>
                  <m:oMath xmlns:m="http://schemas.openxmlformats.org/officeDocument/2006/math">
                    <m:r>
                      <a:rPr lang="en-US" altLang="zh-TW" b="0" i="1" smtClean="0">
                        <a:latin typeface="Cambria Math" panose="02040503050406030204" pitchFamily="18" charset="0"/>
                      </a:rPr>
                      <m:t>4</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𝑞</m:t>
                        </m:r>
                      </m:e>
                    </m:d>
                    <m:r>
                      <a:rPr lang="en-US" altLang="zh-TW" b="0" i="1" smtClean="0">
                        <a:latin typeface="Cambria Math" panose="02040503050406030204" pitchFamily="18" charset="0"/>
                      </a:rPr>
                      <m:t>+1</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827" y="2974684"/>
            <a:ext cx="4250724" cy="3434302"/>
          </a:xfrm>
          <a:prstGeom prst="rect">
            <a:avLst/>
          </a:prstGeom>
        </p:spPr>
      </p:pic>
    </p:spTree>
    <p:extLst>
      <p:ext uri="{BB962C8B-B14F-4D97-AF65-F5344CB8AC3E}">
        <p14:creationId xmlns:p14="http://schemas.microsoft.com/office/powerpoint/2010/main" val="3662489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Distance for complete subtrees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b="0" dirty="0" smtClean="0"/>
                  <a:t>Let </a:t>
                </a:r>
                <a14:m>
                  <m:oMath xmlns:m="http://schemas.openxmlformats.org/officeDocument/2006/math">
                    <m:r>
                      <a:rPr lang="en-US" altLang="zh-TW" b="0" i="1" smtClean="0">
                        <a:latin typeface="Cambria Math" panose="02040503050406030204" pitchFamily="18" charset="0"/>
                      </a:rPr>
                      <m:t>𝑙</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𝑙</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ℒ</m:t>
                    </m:r>
                  </m:oMath>
                </a14:m>
                <a:r>
                  <a:rPr lang="en-US" altLang="zh-TW" dirty="0" smtClean="0"/>
                  <a:t>, and let</a:t>
                </a:r>
                <a14:m>
                  <m:oMath xmlns:m="http://schemas.openxmlformats.org/officeDocument/2006/math">
                    <m:r>
                      <a:rPr lang="en-US" altLang="zh-TW" b="0" i="1" smtClean="0">
                        <a:latin typeface="Cambria Math" panose="02040503050406030204" pitchFamily="18" charset="0"/>
                      </a:rPr>
                      <m:t> </m:t>
                    </m:r>
                    <m:r>
                      <a:rPr lang="en-US" altLang="zh-TW" b="0" i="1" smtClean="0">
                        <a:latin typeface="Cambria Math" panose="02040503050406030204" pitchFamily="18" charset="0"/>
                      </a:rPr>
                      <m:t>𝑓</m:t>
                    </m:r>
                    <m:r>
                      <a:rPr lang="en-US" altLang="zh-TW" b="0" i="1" smtClean="0">
                        <a:latin typeface="Cambria Math" panose="02040503050406030204" pitchFamily="18" charset="0"/>
                      </a:rPr>
                      <m:t>,</m:t>
                    </m:r>
                    <m:r>
                      <a:rPr lang="en-US" altLang="zh-TW" b="0" i="1" smtClean="0">
                        <a:latin typeface="Cambria Math" panose="02040503050406030204" pitchFamily="18" charset="0"/>
                      </a:rPr>
                      <m:t>𝑓</m:t>
                    </m:r>
                    <m:r>
                      <a:rPr lang="en-US" altLang="zh-TW" b="0" i="1" smtClean="0">
                        <a:latin typeface="Cambria Math" panose="02040503050406030204" pitchFamily="18" charset="0"/>
                      </a:rPr>
                      <m:t>′</m:t>
                    </m:r>
                  </m:oMath>
                </a14:m>
                <a:r>
                  <a:rPr lang="zh-TW" altLang="en-US" dirty="0" smtClean="0"/>
                  <a:t> </a:t>
                </a:r>
                <a:r>
                  <a:rPr lang="en-US" altLang="zh-TW" dirty="0" smtClean="0"/>
                  <a:t>be two forests.</a:t>
                </a:r>
              </a:p>
              <a:p>
                <a:pPr marL="0" indent="0">
                  <a:buNone/>
                </a:pPr>
                <a:r>
                  <a:rPr lang="en-US" altLang="zh-TW" dirty="0"/>
                  <a:t>	</a:t>
                </a:r>
                <a14:m>
                  <m:oMath xmlns:m="http://schemas.openxmlformats.org/officeDocument/2006/math">
                    <m:r>
                      <a:rPr lang="en-US" altLang="zh-TW" b="0" i="1" smtClean="0">
                        <a:solidFill>
                          <a:srgbClr val="FF0000"/>
                        </a:solidFill>
                        <a:latin typeface="Cambria Math" panose="02040503050406030204" pitchFamily="18" charset="0"/>
                      </a:rPr>
                      <m:t>𝑑</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𝑙</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𝑓</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ℰ</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𝐺𝑎𝑝</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𝑙</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𝑓</m:t>
                            </m:r>
                          </m:e>
                        </m:d>
                      </m:e>
                    </m:d>
                  </m:oMath>
                </a14:m>
                <a:endParaRPr lang="en-US" altLang="zh-TW" b="0" i="1" dirty="0" smtClean="0">
                  <a:solidFill>
                    <a:srgbClr val="FF0000"/>
                  </a:solidFill>
                  <a:latin typeface="Cambria Math" panose="02040503050406030204" pitchFamily="18" charset="0"/>
                </a:endParaRPr>
              </a:p>
              <a:p>
                <a:pPr marL="0" indent="0">
                  <a:buNone/>
                </a:pPr>
                <a:endParaRPr lang="en-US" altLang="zh-TW" b="0" i="1" dirty="0" smtClean="0">
                  <a:solidFill>
                    <a:srgbClr val="FF0000"/>
                  </a:solidFill>
                  <a:latin typeface="Cambria Math" panose="02040503050406030204" pitchFamily="18" charset="0"/>
                </a:endParaRPr>
              </a:p>
              <a:p>
                <a:pPr marL="0" indent="0">
                  <a:buNone/>
                </a:pPr>
                <a:r>
                  <a:rPr lang="en-US" altLang="zh-TW" b="0" dirty="0" smtClean="0">
                    <a:solidFill>
                      <a:srgbClr val="FF0000"/>
                    </a:solidFill>
                  </a:rPr>
                  <a:t>	</a:t>
                </a:r>
                <a14:m>
                  <m:oMath xmlns:m="http://schemas.openxmlformats.org/officeDocument/2006/math">
                    <m:r>
                      <a:rPr lang="en-US" altLang="zh-TW" b="0" i="1" smtClean="0">
                        <a:solidFill>
                          <a:srgbClr val="FF0000"/>
                        </a:solidFill>
                        <a:latin typeface="Cambria Math" panose="02040503050406030204" pitchFamily="18" charset="0"/>
                      </a:rPr>
                      <m:t>𝑑</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𝑙</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𝑓</m:t>
                            </m:r>
                          </m:e>
                        </m:d>
                        <m:r>
                          <a:rPr lang="en-US" altLang="zh-TW" b="0" i="1" smtClean="0">
                            <a:solidFill>
                              <a:srgbClr val="FF0000"/>
                            </a:solidFill>
                            <a:latin typeface="Cambria Math" panose="02040503050406030204" pitchFamily="18" charset="0"/>
                          </a:rPr>
                          <m:t>,</m:t>
                        </m:r>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panose="02040503050406030204" pitchFamily="18" charset="0"/>
                              </a:rPr>
                              <m:t>𝑙</m:t>
                            </m:r>
                          </m:e>
                          <m:sup>
                            <m:r>
                              <a:rPr lang="en-US" altLang="zh-TW" b="0" i="1" smtClean="0">
                                <a:solidFill>
                                  <a:srgbClr val="FF0000"/>
                                </a:solidFill>
                                <a:latin typeface="Cambria Math" panose="02040503050406030204" pitchFamily="18" charset="0"/>
                              </a:rPr>
                              <m:t>′</m:t>
                            </m:r>
                          </m:sup>
                        </m:sSup>
                        <m:d>
                          <m:dPr>
                            <m:ctrlPr>
                              <a:rPr lang="en-US" altLang="zh-TW" b="0" i="1" smtClean="0">
                                <a:solidFill>
                                  <a:srgbClr val="FF0000"/>
                                </a:solidFill>
                                <a:latin typeface="Cambria Math" panose="02040503050406030204" pitchFamily="18" charset="0"/>
                              </a:rPr>
                            </m:ctrlPr>
                          </m:dPr>
                          <m:e>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panose="02040503050406030204" pitchFamily="18" charset="0"/>
                                  </a:rPr>
                                  <m:t>𝑓</m:t>
                                </m:r>
                              </m:e>
                              <m:sup>
                                <m:r>
                                  <a:rPr lang="en-US" altLang="zh-TW" b="0" i="1" smtClean="0">
                                    <a:solidFill>
                                      <a:srgbClr val="FF0000"/>
                                    </a:solidFill>
                                    <a:latin typeface="Cambria Math" panose="02040503050406030204" pitchFamily="18" charset="0"/>
                                  </a:rPr>
                                  <m:t>′</m:t>
                                </m:r>
                              </m:sup>
                            </m:sSup>
                          </m:e>
                        </m:d>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𝑚𝑖𝑛</m:t>
                    </m:r>
                    <m:d>
                      <m:dPr>
                        <m:begChr m:val="{"/>
                        <m:endChr m:val=""/>
                        <m:ctrlPr>
                          <a:rPr lang="en-US" altLang="zh-TW" b="0" i="1" smtClean="0">
                            <a:solidFill>
                              <a:srgbClr val="FF0000"/>
                            </a:solidFill>
                            <a:latin typeface="Cambria Math" panose="02040503050406030204" pitchFamily="18" charset="0"/>
                          </a:rPr>
                        </m:ctrlPr>
                      </m:dPr>
                      <m:e>
                        <m:m>
                          <m:mPr>
                            <m:mcs>
                              <m:mc>
                                <m:mcPr>
                                  <m:count m:val="1"/>
                                  <m:mcJc m:val="center"/>
                                </m:mcPr>
                              </m:mc>
                            </m:mcs>
                            <m:ctrlPr>
                              <a:rPr lang="en-US" altLang="zh-TW" b="0" i="1" smtClean="0">
                                <a:solidFill>
                                  <a:srgbClr val="FF0000"/>
                                </a:solidFill>
                                <a:latin typeface="Cambria Math" panose="02040503050406030204" pitchFamily="18" charset="0"/>
                              </a:rPr>
                            </m:ctrlPr>
                          </m:mPr>
                          <m:mr>
                            <m:e>
                              <m:r>
                                <m:rPr>
                                  <m:brk m:alnAt="7"/>
                                </m:rPr>
                                <a:rPr lang="en-US" altLang="zh-TW" b="0" i="1" smtClean="0">
                                  <a:solidFill>
                                    <a:srgbClr val="FF0000"/>
                                  </a:solidFill>
                                  <a:latin typeface="Cambria Math" panose="02040503050406030204" pitchFamily="18" charset="0"/>
                                </a:rPr>
                                <m:t>𝑑</m:t>
                              </m:r>
                              <m:d>
                                <m:dPr>
                                  <m:ctrlPr>
                                    <a:rPr lang="en-US" altLang="zh-TW" b="0" i="1" smtClean="0">
                                      <a:solidFill>
                                        <a:srgbClr val="FF0000"/>
                                      </a:solidFill>
                                      <a:latin typeface="Cambria Math" panose="02040503050406030204" pitchFamily="18" charset="0"/>
                                    </a:rPr>
                                  </m:ctrlPr>
                                </m:dPr>
                                <m:e>
                                  <m:r>
                                    <m:rPr>
                                      <m:brk m:alnAt="7"/>
                                    </m:rPr>
                                    <a:rPr lang="en-US" altLang="zh-TW" b="0" i="1" smtClean="0">
                                      <a:solidFill>
                                        <a:srgbClr val="FF0000"/>
                                      </a:solidFill>
                                      <a:latin typeface="Cambria Math" panose="02040503050406030204" pitchFamily="18" charset="0"/>
                                    </a:rPr>
                                    <m:t>𝑙</m:t>
                                  </m:r>
                                  <m:r>
                                    <a:rPr lang="en-US" altLang="zh-TW" b="0" i="1" smtClean="0">
                                      <a:solidFill>
                                        <a:srgbClr val="FF0000"/>
                                      </a:solidFill>
                                      <a:latin typeface="Cambria Math" panose="02040503050406030204" pitchFamily="18" charset="0"/>
                                    </a:rPr>
                                    <m:t>,</m:t>
                                  </m:r>
                                  <m:sSup>
                                    <m:sSupPr>
                                      <m:ctrlPr>
                                        <a:rPr lang="en-US" altLang="zh-TW" b="0" i="1" smtClean="0">
                                          <a:solidFill>
                                            <a:srgbClr val="FF0000"/>
                                          </a:solidFill>
                                          <a:latin typeface="Cambria Math" panose="02040503050406030204" pitchFamily="18" charset="0"/>
                                        </a:rPr>
                                      </m:ctrlPr>
                                    </m:sSupPr>
                                    <m:e>
                                      <m:r>
                                        <m:rPr>
                                          <m:brk m:alnAt="7"/>
                                        </m:rPr>
                                        <a:rPr lang="en-US" altLang="zh-TW" b="0" i="1" smtClean="0">
                                          <a:solidFill>
                                            <a:srgbClr val="FF0000"/>
                                          </a:solidFill>
                                          <a:latin typeface="Cambria Math" panose="02040503050406030204" pitchFamily="18" charset="0"/>
                                        </a:rPr>
                                        <m:t>𝑙</m:t>
                                      </m:r>
                                    </m:e>
                                    <m:sup>
                                      <m:r>
                                        <a:rPr lang="en-US" altLang="zh-TW" b="0" i="1" smtClean="0">
                                          <a:solidFill>
                                            <a:srgbClr val="FF0000"/>
                                          </a:solidFill>
                                          <a:latin typeface="Cambria Math" panose="02040503050406030204" pitchFamily="18" charset="0"/>
                                        </a:rPr>
                                        <m:t>′</m:t>
                                      </m:r>
                                    </m:sup>
                                  </m:sSup>
                                </m:e>
                              </m:d>
                              <m:r>
                                <m:rPr>
                                  <m:brk m:alnAt="7"/>
                                </m:rP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𝐷𝑖𝑠𝑡𝑎𝑛𝑐𝑒</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𝑓</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𝑓</m:t>
                              </m:r>
                              <m:r>
                                <a:rPr lang="en-US" altLang="zh-TW" b="0" i="1" smtClean="0">
                                  <a:solidFill>
                                    <a:srgbClr val="FF0000"/>
                                  </a:solidFill>
                                  <a:latin typeface="Cambria Math" panose="02040503050406030204" pitchFamily="18" charset="0"/>
                                </a:rPr>
                                <m:t>′)</m:t>
                              </m:r>
                            </m:e>
                          </m:mr>
                          <m:mr>
                            <m:e>
                              <m:r>
                                <a:rPr lang="en-US" altLang="zh-TW" b="0" i="1" smtClean="0">
                                  <a:solidFill>
                                    <a:srgbClr val="FF0000"/>
                                  </a:solidFill>
                                  <a:latin typeface="Cambria Math" panose="02040503050406030204" pitchFamily="18" charset="0"/>
                                </a:rPr>
                                <m:t>𝐺𝑎𝑝</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𝑙</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𝑓</m:t>
                                      </m:r>
                                    </m:e>
                                  </m:d>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𝐺𝑎𝑝</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𝑙</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𝑓</m:t>
                              </m:r>
                              <m:r>
                                <a:rPr lang="en-US" altLang="zh-TW" b="0" i="1" smtClean="0">
                                  <a:solidFill>
                                    <a:srgbClr val="FF0000"/>
                                  </a:solidFill>
                                  <a:latin typeface="Cambria Math" panose="02040503050406030204" pitchFamily="18" charset="0"/>
                                </a:rPr>
                                <m:t>′))</m:t>
                              </m:r>
                            </m:e>
                          </m:mr>
                        </m:m>
                      </m:e>
                    </m:d>
                  </m:oMath>
                </a14:m>
                <a:endParaRPr lang="zh-TW" altLang="en-US" dirty="0">
                  <a:solidFill>
                    <a:srgbClr val="FF0000"/>
                  </a:solidFill>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4825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p:pic>
        <p:nvPicPr>
          <p:cNvPr id="33" name="內容版面配置區 3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6438" y="2087641"/>
            <a:ext cx="4576772" cy="2649116"/>
          </a:xfrm>
        </p:spPr>
      </p:pic>
      <p:pic>
        <p:nvPicPr>
          <p:cNvPr id="34" name="圖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4238" y="2062926"/>
            <a:ext cx="6005384" cy="4504039"/>
          </a:xfrm>
          <a:prstGeom prst="rect">
            <a:avLst/>
          </a:prstGeom>
        </p:spPr>
      </p:pic>
      <mc:AlternateContent xmlns:mc="http://schemas.openxmlformats.org/markup-compatibility/2006" xmlns:a14="http://schemas.microsoft.com/office/drawing/2010/main">
        <mc:Choice Requires="a14">
          <p:sp>
            <p:nvSpPr>
              <p:cNvPr id="36" name="文字方塊 35"/>
              <p:cNvSpPr txBox="1"/>
              <p:nvPr/>
            </p:nvSpPr>
            <p:spPr>
              <a:xfrm>
                <a:off x="3381633" y="2158314"/>
                <a:ext cx="57994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r>
                        <a:rPr lang="en-US" altLang="zh-TW" sz="2400" b="0" i="1" smtClean="0">
                          <a:latin typeface="Cambria Math" panose="02040503050406030204" pitchFamily="18" charset="0"/>
                        </a:rPr>
                        <m:t>                                                                            </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36" name="文字方塊 35"/>
              <p:cNvSpPr txBox="1">
                <a:spLocks noRot="1" noChangeAspect="1" noMove="1" noResize="1" noEditPoints="1" noAdjustHandles="1" noChangeArrowheads="1" noChangeShapeType="1" noTextEdit="1"/>
              </p:cNvSpPr>
              <p:nvPr/>
            </p:nvSpPr>
            <p:spPr>
              <a:xfrm>
                <a:off x="3381633" y="2158314"/>
                <a:ext cx="5799408" cy="369332"/>
              </a:xfrm>
              <a:prstGeom prst="rect">
                <a:avLst/>
              </a:prstGeom>
              <a:blipFill rotWithShape="0">
                <a:blip r:embed="rId4"/>
                <a:stretch>
                  <a:fillRect l="-315"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1841158" y="3115422"/>
                <a:ext cx="3830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1841158" y="3115422"/>
                <a:ext cx="383054" cy="369332"/>
              </a:xfrm>
              <a:prstGeom prst="rect">
                <a:avLst/>
              </a:prstGeom>
              <a:blipFill rotWithShape="0">
                <a:blip r:embed="rId5"/>
                <a:stretch>
                  <a:fillRect l="-9524" r="-6349"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p:cNvSpPr txBox="1"/>
              <p:nvPr/>
            </p:nvSpPr>
            <p:spPr>
              <a:xfrm>
                <a:off x="4852605" y="3169867"/>
                <a:ext cx="57060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4852605" y="3169867"/>
                <a:ext cx="570605" cy="369332"/>
              </a:xfrm>
              <a:prstGeom prst="rect">
                <a:avLst/>
              </a:prstGeom>
              <a:blipFill rotWithShape="0">
                <a:blip r:embed="rId6"/>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984423" y="4211054"/>
                <a:ext cx="37593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984423" y="4211054"/>
                <a:ext cx="375937" cy="369332"/>
              </a:xfrm>
              <a:prstGeom prst="rect">
                <a:avLst/>
              </a:prstGeom>
              <a:blipFill rotWithShape="0">
                <a:blip r:embed="rId7"/>
                <a:stretch>
                  <a:fillRect l="-9677" r="-6452"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2681417" y="4187945"/>
                <a:ext cx="3830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2681417" y="4187945"/>
                <a:ext cx="383054" cy="369332"/>
              </a:xfrm>
              <a:prstGeom prst="rect">
                <a:avLst/>
              </a:prstGeom>
              <a:blipFill rotWithShape="0">
                <a:blip r:embed="rId8"/>
                <a:stretch>
                  <a:fillRect l="-11111" r="-6349"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7154563" y="3164587"/>
                <a:ext cx="3684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7154563" y="3164587"/>
                <a:ext cx="368498" cy="369332"/>
              </a:xfrm>
              <a:prstGeom prst="rect">
                <a:avLst/>
              </a:prstGeom>
              <a:blipFill rotWithShape="0">
                <a:blip r:embed="rId9"/>
                <a:stretch>
                  <a:fillRect l="-20000" r="-666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10383796" y="3227204"/>
                <a:ext cx="3684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10383796" y="3227204"/>
                <a:ext cx="368498" cy="369332"/>
              </a:xfrm>
              <a:prstGeom prst="rect">
                <a:avLst/>
              </a:prstGeom>
              <a:blipFill rotWithShape="0">
                <a:blip r:embed="rId10"/>
                <a:stretch>
                  <a:fillRect l="-19672" r="-4918"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6536727" y="4596862"/>
                <a:ext cx="3613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6536727" y="4596862"/>
                <a:ext cx="361381" cy="369332"/>
              </a:xfrm>
              <a:prstGeom prst="rect">
                <a:avLst/>
              </a:prstGeom>
              <a:blipFill rotWithShape="0">
                <a:blip r:embed="rId11"/>
                <a:stretch>
                  <a:fillRect l="-20000" r="-5000" b="-1311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56262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7012" y="1825625"/>
            <a:ext cx="7460685" cy="5595515"/>
          </a:xfrm>
          <a:prstGeom prst="rect">
            <a:avLst/>
          </a:prstGeom>
        </p:spPr>
      </p:pic>
      <mc:AlternateContent xmlns:mc="http://schemas.openxmlformats.org/markup-compatibility/2006" xmlns:a14="http://schemas.microsoft.com/office/drawing/2010/main">
        <mc:Choice Requires="a14">
          <p:sp>
            <p:nvSpPr>
              <p:cNvPr id="5" name="文字方塊 4"/>
              <p:cNvSpPr txBox="1"/>
              <p:nvPr/>
            </p:nvSpPr>
            <p:spPr>
              <a:xfrm>
                <a:off x="5177481" y="1690688"/>
                <a:ext cx="1088055" cy="3023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5</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4</m:t>
                              </m:r>
                            </m:sub>
                          </m:sSub>
                        </m:sub>
                      </m:sSub>
                      <m:r>
                        <a:rPr lang="en-US" altLang="zh-TW" b="0" i="1" smtClean="0">
                          <a:latin typeface="Cambria Math" panose="02040503050406030204" pitchFamily="18" charset="0"/>
                        </a:rPr>
                        <m:t>)</m:t>
                      </m:r>
                    </m:oMath>
                  </m:oMathPara>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5177481" y="1690688"/>
                <a:ext cx="1088055" cy="302327"/>
              </a:xfrm>
              <a:prstGeom prst="rect">
                <a:avLst/>
              </a:prstGeom>
              <a:blipFill rotWithShape="0">
                <a:blip r:embed="rId3"/>
                <a:stretch>
                  <a:fillRect l="-5028" r="-7263" b="-2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2570205" y="3111715"/>
                <a:ext cx="1088055" cy="3023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3</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2</m:t>
                              </m:r>
                            </m:sub>
                          </m:sSub>
                        </m:sub>
                      </m:sSub>
                      <m:r>
                        <a:rPr lang="en-US" altLang="zh-TW" b="0" i="1" smtClean="0">
                          <a:latin typeface="Cambria Math" panose="02040503050406030204" pitchFamily="18" charset="0"/>
                        </a:rPr>
                        <m:t>)</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570205" y="3111715"/>
                <a:ext cx="1088055" cy="302327"/>
              </a:xfrm>
              <a:prstGeom prst="rect">
                <a:avLst/>
              </a:prstGeom>
              <a:blipFill rotWithShape="0">
                <a:blip r:embed="rId4"/>
                <a:stretch>
                  <a:fillRect l="-5056" r="-7865" b="-2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026177" y="6036147"/>
                <a:ext cx="1088055"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026177" y="6036147"/>
                <a:ext cx="1088055" cy="300788"/>
              </a:xfrm>
              <a:prstGeom prst="rect">
                <a:avLst/>
              </a:prstGeom>
              <a:blipFill rotWithShape="0">
                <a:blip r:embed="rId5"/>
                <a:stretch>
                  <a:fillRect l="-5028" r="-7263" b="-2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3315067" y="6082505"/>
                <a:ext cx="1088055"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2</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3315067" y="6082505"/>
                <a:ext cx="1088055" cy="300788"/>
              </a:xfrm>
              <a:prstGeom prst="rect">
                <a:avLst/>
              </a:prstGeom>
              <a:blipFill rotWithShape="0">
                <a:blip r:embed="rId6"/>
                <a:stretch>
                  <a:fillRect l="-5056" r="-7865" b="-265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4439530" y="6120626"/>
                <a:ext cx="923073"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ℰ</m:t>
                      </m:r>
                      <m:r>
                        <a:rPr lang="en-US" altLang="zh-TW" b="0" i="1" smtClean="0">
                          <a:latin typeface="Cambria Math" panose="02040503050406030204" pitchFamily="18" charset="0"/>
                        </a:rPr>
                        <m:t>)</m:t>
                      </m:r>
                    </m:oMath>
                  </m:oMathPara>
                </a14:m>
                <a:endParaRPr lang="zh-TW" altLang="en-US"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4439530" y="6120626"/>
                <a:ext cx="923073" cy="300788"/>
              </a:xfrm>
              <a:prstGeom prst="rect">
                <a:avLst/>
              </a:prstGeom>
              <a:blipFill rotWithShape="0">
                <a:blip r:embed="rId7"/>
                <a:stretch>
                  <a:fillRect l="-5921" r="-8553" b="-265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5845238" y="6123172"/>
                <a:ext cx="923073"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2</m:t>
                              </m:r>
                            </m:sub>
                          </m:sSub>
                        </m:sub>
                      </m:sSub>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ℰ</m:t>
                      </m:r>
                      <m:r>
                        <a:rPr lang="en-US" altLang="zh-TW" b="0" i="1" smtClean="0">
                          <a:latin typeface="Cambria Math" panose="02040503050406030204" pitchFamily="18" charset="0"/>
                        </a:rPr>
                        <m:t>)</m:t>
                      </m:r>
                    </m:oMath>
                  </m:oMathPara>
                </a14:m>
                <a:endParaRPr lang="zh-TW" altLang="en-US"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5845238" y="6123172"/>
                <a:ext cx="923073" cy="300788"/>
              </a:xfrm>
              <a:prstGeom prst="rect">
                <a:avLst/>
              </a:prstGeom>
              <a:blipFill rotWithShape="0">
                <a:blip r:embed="rId8"/>
                <a:stretch>
                  <a:fillRect l="-5960" r="-9272" b="-2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7322775" y="6120626"/>
                <a:ext cx="918135"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𝑑</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ℰ</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oMath>
                  </m:oMathPara>
                </a14:m>
                <a:endParaRPr lang="zh-TW" altLang="en-US"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7322775" y="6120626"/>
                <a:ext cx="918135" cy="300788"/>
              </a:xfrm>
              <a:prstGeom prst="rect">
                <a:avLst/>
              </a:prstGeom>
              <a:blipFill rotWithShape="0">
                <a:blip r:embed="rId9"/>
                <a:stretch>
                  <a:fillRect l="-5960" r="-9272" b="-2653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25375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altLang="zh-TW" b="0" i="1" smtClean="0">
                          <a:solidFill>
                            <a:srgbClr val="FF0000"/>
                          </a:solidFill>
                          <a:latin typeface="Cambria Math" panose="02040503050406030204" pitchFamily="18" charset="0"/>
                        </a:rPr>
                        <m:t>𝐻𝑡</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𝐴</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𝐵</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𝑚𝑎𝑥</m:t>
                      </m:r>
                      <m:d>
                        <m:dPr>
                          <m:begChr m:val="{"/>
                          <m:endChr m:val="}"/>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𝐻𝑡</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𝐴</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𝐻𝑡</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𝐵</m:t>
                          </m:r>
                          <m:r>
                            <a:rPr lang="en-US" altLang="zh-TW" b="0" i="1" smtClean="0">
                              <a:solidFill>
                                <a:srgbClr val="FF0000"/>
                              </a:solidFill>
                              <a:latin typeface="Cambria Math" panose="02040503050406030204" pitchFamily="18" charset="0"/>
                            </a:rPr>
                            <m:t>)</m:t>
                          </m:r>
                        </m:e>
                      </m:d>
                    </m:oMath>
                  </m:oMathPara>
                </a14:m>
                <a:endParaRPr lang="en-US" altLang="zh-TW" b="0" i="1" dirty="0" smtClean="0">
                  <a:latin typeface="Cambria Math" panose="02040503050406030204" pitchFamily="18" charset="0"/>
                </a:endParaRPr>
              </a:p>
              <a:p>
                <a:pPr marL="0" indent="0">
                  <a:buNone/>
                </a:pPr>
                <a:r>
                  <a:rPr lang="en-US" altLang="zh-TW" dirty="0" smtClean="0"/>
                  <a:t>Each pair of nodes </a:t>
                </a:r>
                <a14:m>
                  <m:oMath xmlns:m="http://schemas.openxmlformats.org/officeDocument/2006/math">
                    <m:r>
                      <a:rPr lang="en-US" altLang="zh-TW" b="0" i="1" smtClean="0">
                        <a:latin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𝐴</m:t>
                    </m:r>
                  </m:oMath>
                </a14:m>
                <a:r>
                  <a:rPr lang="en-US" altLang="zh-TW" dirty="0" smtClean="0"/>
                  <a:t> and </a:t>
                </a:r>
                <a14:m>
                  <m:oMath xmlns:m="http://schemas.openxmlformats.org/officeDocument/2006/math">
                    <m:r>
                      <a:rPr lang="en-US" altLang="zh-TW" b="0" i="1" smtClean="0">
                        <a:latin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𝐵</m:t>
                    </m:r>
                  </m:oMath>
                </a14:m>
                <a:r>
                  <a:rPr lang="en-US" altLang="zh-TW" dirty="0" smtClean="0"/>
                  <a:t> with the same depth gives raise to a node of arity</a:t>
                </a:r>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solidFill>
                            <a:srgbClr val="FF0000"/>
                          </a:solidFill>
                          <a:latin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e>
                      </m:d>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ea typeface="Cambria Math" panose="02040503050406030204" pitchFamily="18" charset="0"/>
                            </a:rPr>
                          </m:ctrlPr>
                        </m:dPr>
                        <m:e>
                          <m:r>
                            <a:rPr lang="en-US" altLang="zh-TW" b="0" i="1" smtClean="0">
                              <a:solidFill>
                                <a:srgbClr val="FF0000"/>
                              </a:solidFill>
                              <a:latin typeface="Cambria Math" panose="02040503050406030204" pitchFamily="18" charset="0"/>
                              <a:ea typeface="Cambria Math" panose="02040503050406030204" pitchFamily="18" charset="0"/>
                            </a:rPr>
                            <m:t>𝑗</m:t>
                          </m:r>
                        </m:e>
                      </m:d>
                      <m:r>
                        <a:rPr lang="en-US" altLang="zh-TW" b="0" i="1" smtClean="0">
                          <a:solidFill>
                            <a:srgbClr val="FF0000"/>
                          </a:solidFill>
                          <a:latin typeface="Cambria Math" panose="02040503050406030204" pitchFamily="18" charset="0"/>
                          <a:ea typeface="Cambria Math" panose="02040503050406030204" pitchFamily="18" charset="0"/>
                        </a:rPr>
                        <m:t>  </m:t>
                      </m:r>
                      <m:r>
                        <a:rPr lang="en-US" altLang="zh-TW" b="0" i="1" smtClean="0">
                          <a:solidFill>
                            <a:srgbClr val="FF0000"/>
                          </a:solidFill>
                          <a:latin typeface="Cambria Math" panose="02040503050406030204" pitchFamily="18" charset="0"/>
                          <a:ea typeface="Cambria Math" panose="02040503050406030204" pitchFamily="18" charset="0"/>
                        </a:rPr>
                        <m:t>𝑖𝑓</m:t>
                      </m:r>
                      <m:r>
                        <a:rPr lang="en-US" altLang="zh-TW" b="0" i="1" smtClean="0">
                          <a:solidFill>
                            <a:srgbClr val="FF0000"/>
                          </a:solidFill>
                          <a:latin typeface="Cambria Math" panose="02040503050406030204" pitchFamily="18" charset="0"/>
                          <a:ea typeface="Cambria Math" panose="02040503050406030204" pitchFamily="18" charset="0"/>
                        </a:rPr>
                        <m:t> </m:t>
                      </m:r>
                      <m:r>
                        <a:rPr lang="en-US" altLang="zh-TW" b="0" i="1" smtClean="0">
                          <a:solidFill>
                            <a:srgbClr val="FF0000"/>
                          </a:solidFill>
                          <a:latin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e>
                      </m:d>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ea typeface="Cambria Math" panose="02040503050406030204" pitchFamily="18" charset="0"/>
                            </a:rPr>
                          </m:ctrlPr>
                        </m:dPr>
                        <m:e>
                          <m:r>
                            <a:rPr lang="en-US" altLang="zh-TW" b="0" i="1" smtClean="0">
                              <a:solidFill>
                                <a:srgbClr val="FF0000"/>
                              </a:solidFill>
                              <a:latin typeface="Cambria Math" panose="02040503050406030204" pitchFamily="18" charset="0"/>
                              <a:ea typeface="Cambria Math" panose="02040503050406030204" pitchFamily="18" charset="0"/>
                            </a:rPr>
                            <m:t>𝑗</m:t>
                          </m:r>
                        </m:e>
                      </m:d>
                      <m:r>
                        <a:rPr lang="en-US" altLang="zh-TW" i="1">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0</m:t>
                      </m:r>
                    </m:oMath>
                  </m:oMathPara>
                </a14:m>
                <a:endParaRPr lang="en-US" altLang="zh-TW" dirty="0" smtClean="0">
                  <a:solidFill>
                    <a:srgbClr val="FF0000"/>
                  </a:solidFill>
                </a:endParaRPr>
              </a:p>
              <a:p>
                <a:pPr marL="0" indent="0">
                  <a:buNone/>
                </a:pPr>
                <a14:m>
                  <m:oMathPara xmlns:m="http://schemas.openxmlformats.org/officeDocument/2006/math">
                    <m:oMathParaPr>
                      <m:jc m:val="left"/>
                    </m:oMathParaPr>
                    <m:oMath xmlns:m="http://schemas.openxmlformats.org/officeDocument/2006/math">
                      <m:r>
                        <a:rPr lang="en-US" altLang="zh-TW" b="0" i="1" smtClean="0">
                          <a:solidFill>
                            <a:srgbClr val="FF0000"/>
                          </a:solidFill>
                          <a:latin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e>
                      </m:d>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ea typeface="Cambria Math" panose="02040503050406030204" pitchFamily="18" charset="0"/>
                            </a:rPr>
                          </m:ctrlPr>
                        </m:dPr>
                        <m:e>
                          <m:r>
                            <a:rPr lang="en-US" altLang="zh-TW" b="0" i="1" smtClean="0">
                              <a:solidFill>
                                <a:srgbClr val="FF0000"/>
                              </a:solidFill>
                              <a:latin typeface="Cambria Math" panose="02040503050406030204" pitchFamily="18" charset="0"/>
                              <a:ea typeface="Cambria Math" panose="02040503050406030204" pitchFamily="18" charset="0"/>
                            </a:rPr>
                            <m:t>𝑗</m:t>
                          </m:r>
                        </m:e>
                      </m:d>
                      <m:r>
                        <a:rPr lang="en-US" altLang="zh-TW" b="0" i="1" smtClean="0">
                          <a:solidFill>
                            <a:srgbClr val="FF0000"/>
                          </a:solidFill>
                          <a:latin typeface="Cambria Math" panose="02040503050406030204" pitchFamily="18" charset="0"/>
                          <a:ea typeface="Cambria Math" panose="02040503050406030204" pitchFamily="18" charset="0"/>
                        </a:rPr>
                        <m:t>  </m:t>
                      </m:r>
                      <m:r>
                        <a:rPr lang="en-US" altLang="zh-TW" b="0" i="1" smtClean="0">
                          <a:solidFill>
                            <a:srgbClr val="FF0000"/>
                          </a:solidFill>
                          <a:latin typeface="Cambria Math" panose="02040503050406030204" pitchFamily="18" charset="0"/>
                          <a:ea typeface="Cambria Math" panose="02040503050406030204" pitchFamily="18" charset="0"/>
                        </a:rPr>
                        <m:t>𝑖𝑓</m:t>
                      </m:r>
                      <m:r>
                        <a:rPr lang="en-US" altLang="zh-TW" b="0" i="1" smtClean="0">
                          <a:solidFill>
                            <a:srgbClr val="FF0000"/>
                          </a:solidFill>
                          <a:latin typeface="Cambria Math" panose="02040503050406030204" pitchFamily="18" charset="0"/>
                          <a:ea typeface="Cambria Math" panose="02040503050406030204" pitchFamily="18" charset="0"/>
                        </a:rPr>
                        <m:t> </m:t>
                      </m:r>
                      <m:r>
                        <a:rPr lang="en-US" altLang="zh-TW" b="0" i="1" smtClean="0">
                          <a:solidFill>
                            <a:srgbClr val="FF0000"/>
                          </a:solidFill>
                          <a:latin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𝑖</m:t>
                          </m:r>
                        </m:e>
                      </m:d>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𝐴𝑟𝑖𝑡𝑦</m:t>
                      </m:r>
                      <m:d>
                        <m:dPr>
                          <m:ctrlPr>
                            <a:rPr lang="en-US" altLang="zh-TW" b="0" i="1" smtClean="0">
                              <a:solidFill>
                                <a:srgbClr val="FF0000"/>
                              </a:solidFill>
                              <a:latin typeface="Cambria Math" panose="02040503050406030204" pitchFamily="18" charset="0"/>
                              <a:ea typeface="Cambria Math" panose="02040503050406030204" pitchFamily="18" charset="0"/>
                            </a:rPr>
                          </m:ctrlPr>
                        </m:dPr>
                        <m:e>
                          <m:r>
                            <a:rPr lang="en-US" altLang="zh-TW" b="0" i="1" smtClean="0">
                              <a:solidFill>
                                <a:srgbClr val="FF0000"/>
                              </a:solidFill>
                              <a:latin typeface="Cambria Math" panose="02040503050406030204" pitchFamily="18" charset="0"/>
                              <a:ea typeface="Cambria Math" panose="02040503050406030204" pitchFamily="18" charset="0"/>
                            </a:rPr>
                            <m:t>𝑗</m:t>
                          </m:r>
                        </m:e>
                      </m:d>
                      <m:r>
                        <a:rPr lang="en-US" altLang="zh-TW" b="0" i="1" smtClean="0">
                          <a:solidFill>
                            <a:srgbClr val="FF0000"/>
                          </a:solidFill>
                          <a:latin typeface="Cambria Math" panose="02040503050406030204" pitchFamily="18" charset="0"/>
                          <a:ea typeface="Cambria Math" panose="02040503050406030204" pitchFamily="18" charset="0"/>
                        </a:rPr>
                        <m:t>=0</m:t>
                      </m:r>
                    </m:oMath>
                  </m:oMathPara>
                </a14:m>
                <a:endParaRPr lang="en-US" altLang="zh-TW" dirty="0" smtClean="0">
                  <a:solidFill>
                    <a:srgbClr val="FF0000"/>
                  </a:solidFill>
                </a:endParaRPr>
              </a:p>
              <a:p>
                <a:pPr marL="0" indent="0">
                  <a:buNone/>
                </a:pPr>
                <a:r>
                  <a:rPr lang="en-US" altLang="zh-TW" dirty="0" smtClean="0"/>
                  <a:t>Computation of the produce tree, the time is</a:t>
                </a:r>
              </a:p>
              <a:p>
                <a:pPr marL="0" indent="0">
                  <a:buNone/>
                </a:pPr>
                <a14:m>
                  <m:oMathPara xmlns:m="http://schemas.openxmlformats.org/officeDocument/2006/math">
                    <m:oMathParaPr>
                      <m:jc m:val="left"/>
                    </m:oMathParaPr>
                    <m:oMath xmlns:m="http://schemas.openxmlformats.org/officeDocument/2006/math">
                      <m:nary>
                        <m:naryPr>
                          <m:chr m:val="∑"/>
                          <m:supHide m:val="on"/>
                          <m:ctrlPr>
                            <a:rPr lang="zh-TW" altLang="en-US" i="1" smtClean="0">
                              <a:latin typeface="Cambria Math" panose="02040503050406030204" pitchFamily="18" charset="0"/>
                            </a:rPr>
                          </m:ctrlPr>
                        </m:naryPr>
                        <m:sub>
                          <m:r>
                            <m:rPr>
                              <m:brk m:alnAt="7"/>
                            </m:rPr>
                            <a:rPr lang="en-US" altLang="zh-TW" b="0" i="1" smtClean="0">
                              <a:latin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𝐵</m:t>
                          </m:r>
                        </m:sub>
                        <m:sup/>
                        <m:e>
                          <m:r>
                            <a:rPr lang="en-US" altLang="zh-TW" b="0" i="1" smtClean="0">
                              <a:latin typeface="Cambria Math" panose="02040503050406030204" pitchFamily="18" charset="0"/>
                            </a:rPr>
                            <m:t>𝐴𝑟𝑖𝑡𝑦</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e>
                      </m:nary>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𝐵</m:t>
                          </m:r>
                        </m:e>
                      </m:d>
                      <m:r>
                        <a:rPr lang="en-US" altLang="zh-TW" b="0" i="1" smtClean="0">
                          <a:latin typeface="Cambria Math" panose="02040503050406030204" pitchFamily="18" charset="0"/>
                        </a:rPr>
                        <m:t>−1</m:t>
                      </m:r>
                    </m:oMath>
                  </m:oMathPara>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r="-15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3942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p:pic>
        <p:nvPicPr>
          <p:cNvPr id="12" name="內容版面配置區 1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7664" y="1326292"/>
            <a:ext cx="8216672" cy="5350004"/>
          </a:xfrm>
        </p:spPr>
      </p:pic>
    </p:spTree>
    <p:extLst>
      <p:ext uri="{BB962C8B-B14F-4D97-AF65-F5344CB8AC3E}">
        <p14:creationId xmlns:p14="http://schemas.microsoft.com/office/powerpoint/2010/main" val="387717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b="0" dirty="0" smtClean="0"/>
                  <a:t>The size of stack S is bounded by </a:t>
                </a:r>
                <a14:m>
                  <m:oMath xmlns:m="http://schemas.openxmlformats.org/officeDocument/2006/math">
                    <m:r>
                      <a:rPr lang="en-US" altLang="zh-TW" b="0" i="1" smtClean="0">
                        <a:solidFill>
                          <a:srgbClr val="FF0000"/>
                        </a:solidFill>
                        <a:latin typeface="Cambria Math" panose="02040503050406030204" pitchFamily="18" charset="0"/>
                      </a:rPr>
                      <m:t>𝑚𝑖𝑛</m:t>
                    </m:r>
                    <m:d>
                      <m:dPr>
                        <m:begChr m:val="{"/>
                        <m:endChr m:val="}"/>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𝑙𝑒𝑎𝑓</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𝐴</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𝐵</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𝐴𝑟𝑖𝑡𝑦</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𝐴</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𝐵</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𝐻𝑡</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𝐴</m:t>
                        </m:r>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𝐵</m:t>
                        </m:r>
                        <m:r>
                          <a:rPr lang="en-US" altLang="zh-TW" b="0" i="1" smtClean="0">
                            <a:solidFill>
                              <a:srgbClr val="FF0000"/>
                            </a:solidFill>
                            <a:latin typeface="Cambria Math" panose="02040503050406030204" pitchFamily="18" charset="0"/>
                            <a:ea typeface="Cambria Math" panose="02040503050406030204" pitchFamily="18" charset="0"/>
                          </a:rPr>
                          <m:t>)</m:t>
                        </m:r>
                      </m:e>
                    </m:d>
                  </m:oMath>
                </a14:m>
                <a:endParaRPr lang="en-US" altLang="zh-TW" dirty="0" smtClean="0"/>
              </a:p>
              <a:p>
                <a:pPr marL="0" indent="0">
                  <a:buNone/>
                </a:pPr>
                <a:r>
                  <a:rPr lang="en-US" altLang="zh-TW" dirty="0" smtClean="0"/>
                  <a:t>For all nodes x and y of S such that x is before y in the </a:t>
                </a:r>
                <a:r>
                  <a:rPr lang="en-US" altLang="zh-TW" dirty="0" err="1" smtClean="0"/>
                  <a:t>postorder</a:t>
                </a:r>
                <a:r>
                  <a:rPr lang="en-US" altLang="zh-TW" dirty="0" smtClean="0"/>
                  <a:t> traversal</a:t>
                </a:r>
              </a:p>
              <a:p>
                <a:pPr marL="0" indent="0">
                  <a:buNone/>
                </a:pPr>
                <a:r>
                  <a:rPr lang="en-US" altLang="zh-TW" dirty="0" smtClean="0"/>
                  <a:t>1.</a:t>
                </a:r>
                <a14:m>
                  <m:oMath xmlns:m="http://schemas.openxmlformats.org/officeDocument/2006/math">
                    <m:r>
                      <a:rPr lang="en-US" altLang="zh-TW" b="0" i="1" smtClean="0">
                        <a:latin typeface="Cambria Math" panose="02040503050406030204" pitchFamily="18" charset="0"/>
                      </a:rPr>
                      <m:t>𝑑𝑒𝑝𝑡h</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𝑑𝑒𝑝𝑡h</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𝑦</m:t>
                        </m:r>
                      </m:e>
                    </m:d>
                  </m:oMath>
                </a14:m>
                <a:endParaRPr lang="en-US" altLang="zh-TW" b="0" dirty="0" smtClean="0">
                  <a:ea typeface="Cambria Math" panose="02040503050406030204" pitchFamily="18" charset="0"/>
                </a:endParaRPr>
              </a:p>
              <a:p>
                <a:pPr marL="0" indent="0">
                  <a:buNone/>
                </a:pPr>
                <a:r>
                  <a:rPr lang="en-US" altLang="zh-TW" dirty="0" smtClean="0"/>
                  <a:t>2.The lower common ancestor of x and y is the parent of x.</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84808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Product tree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Let T be a tree that is not reduced to a leaf, and let </a:t>
                </a:r>
                <a14:m>
                  <m:oMath xmlns:m="http://schemas.openxmlformats.org/officeDocument/2006/math">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𝑚𝑎𝑥</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2,</m:t>
                        </m:r>
                        <m:r>
                          <a:rPr lang="en-US" altLang="zh-TW" b="0" i="1" smtClean="0">
                            <a:latin typeface="Cambria Math" panose="02040503050406030204" pitchFamily="18" charset="0"/>
                          </a:rPr>
                          <m:t>𝐴𝑟𝑖𝑡𝑦</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e>
                    </m:d>
                  </m:oMath>
                </a14:m>
                <a:r>
                  <a:rPr lang="en-US" altLang="zh-TW" dirty="0" smtClean="0"/>
                  <a:t>. The size of the stack S for the weighted </a:t>
                </a:r>
                <a:r>
                  <a:rPr lang="en-US" altLang="zh-TW" dirty="0" err="1" smtClean="0"/>
                  <a:t>postorder</a:t>
                </a:r>
                <a:r>
                  <a:rPr lang="en-US" altLang="zh-TW" dirty="0" smtClean="0"/>
                  <a:t> is bounded by </a:t>
                </a:r>
                <a14:m>
                  <m:oMath xmlns:m="http://schemas.openxmlformats.org/officeDocument/2006/math">
                    <m:r>
                      <a:rPr lang="en-US" altLang="zh-TW" b="0" i="1" smtClean="0">
                        <a:latin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𝑙𝑜𝑔</m:t>
                        </m:r>
                      </m:e>
                      <m:sub>
                        <m:r>
                          <a:rPr lang="en-US" altLang="zh-TW" b="0" i="1" smtClean="0">
                            <a:latin typeface="Cambria Math" panose="02040503050406030204" pitchFamily="18" charset="0"/>
                            <a:ea typeface="Cambria Math" panose="02040503050406030204" pitchFamily="18" charset="0"/>
                          </a:rPr>
                          <m:t>𝑘</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oMath>
                </a14:m>
                <a:r>
                  <a:rPr lang="en-US" altLang="zh-TW" dirty="0" smtClean="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r="-12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6479527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TotalTime>
  <Words>321</Words>
  <Application>Microsoft Office PowerPoint</Application>
  <PresentationFormat>寬螢幕</PresentationFormat>
  <Paragraphs>87</Paragraphs>
  <Slides>14</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Arial Unicode MS</vt:lpstr>
      <vt:lpstr>新細明體</vt:lpstr>
      <vt:lpstr>Aparajita</vt:lpstr>
      <vt:lpstr>Arial</vt:lpstr>
      <vt:lpstr>Calibri</vt:lpstr>
      <vt:lpstr>Calibri Light</vt:lpstr>
      <vt:lpstr>Cambria Math</vt:lpstr>
      <vt:lpstr>Office 佈景主題</vt:lpstr>
      <vt:lpstr>PowerPoint 簡報</vt:lpstr>
      <vt:lpstr>Abstract</vt:lpstr>
      <vt:lpstr>Trees,Forests</vt:lpstr>
      <vt:lpstr>Gapped edit distance</vt:lpstr>
      <vt:lpstr>The DIST problem</vt:lpstr>
      <vt:lpstr>Exact cover by 3-sets problem</vt:lpstr>
      <vt:lpstr>DIST is NP-hard</vt:lpstr>
      <vt:lpstr>Distance for complete subtrees</vt:lpstr>
      <vt:lpstr>Product tree</vt:lpstr>
      <vt:lpstr>Product tree</vt:lpstr>
      <vt:lpstr>Product tree</vt:lpstr>
      <vt:lpstr>Product tree</vt:lpstr>
      <vt:lpstr>Product tree</vt:lpstr>
      <vt:lpstr>Product tree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sizuka</dc:creator>
  <cp:lastModifiedBy>pplab-class</cp:lastModifiedBy>
  <cp:revision>42</cp:revision>
  <dcterms:created xsi:type="dcterms:W3CDTF">2015-11-30T03:50:15Z</dcterms:created>
  <dcterms:modified xsi:type="dcterms:W3CDTF">2015-12-01T11:40:45Z</dcterms:modified>
</cp:coreProperties>
</file>