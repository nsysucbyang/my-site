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handoutMasterIdLst>
    <p:handoutMasterId r:id="rId32"/>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3" r:id="rId16"/>
    <p:sldId id="275" r:id="rId17"/>
    <p:sldId id="276" r:id="rId18"/>
    <p:sldId id="277" r:id="rId19"/>
    <p:sldId id="278" r:id="rId20"/>
    <p:sldId id="281" r:id="rId21"/>
    <p:sldId id="286" r:id="rId22"/>
    <p:sldId id="272" r:id="rId23"/>
    <p:sldId id="282" r:id="rId24"/>
    <p:sldId id="285" r:id="rId25"/>
    <p:sldId id="279" r:id="rId26"/>
    <p:sldId id="280" r:id="rId27"/>
    <p:sldId id="283" r:id="rId28"/>
    <p:sldId id="287" r:id="rId29"/>
    <p:sldId id="284" r:id="rId30"/>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4660"/>
  </p:normalViewPr>
  <p:slideViewPr>
    <p:cSldViewPr snapToGrid="0">
      <p:cViewPr varScale="1">
        <p:scale>
          <a:sx n="110" d="100"/>
          <a:sy n="110" d="100"/>
        </p:scale>
        <p:origin x="1842" y="12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t>2015/12/1</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t>‹#›</a:t>
            </a:fld>
            <a:endParaRPr lang="zh-TW" altLang="en-US"/>
          </a:p>
        </p:txBody>
      </p:sp>
    </p:spTree>
    <p:extLst>
      <p:ext uri="{BB962C8B-B14F-4D97-AF65-F5344CB8AC3E}">
        <p14:creationId xmlns:p14="http://schemas.microsoft.com/office/powerpoint/2010/main"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t>2015/12/1</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t>‹#›</a:t>
            </a:fld>
            <a:endParaRPr lang="zh-TW" altLang="en-US"/>
          </a:p>
        </p:txBody>
      </p:sp>
    </p:spTree>
    <p:extLst>
      <p:ext uri="{BB962C8B-B14F-4D97-AF65-F5344CB8AC3E}">
        <p14:creationId xmlns:p14="http://schemas.microsoft.com/office/powerpoint/2010/main"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a:t>
            </a:fld>
            <a:endParaRPr lang="zh-TW" altLang="en-US"/>
          </a:p>
        </p:txBody>
      </p:sp>
    </p:spTree>
    <p:extLst>
      <p:ext uri="{BB962C8B-B14F-4D97-AF65-F5344CB8AC3E}">
        <p14:creationId xmlns:p14="http://schemas.microsoft.com/office/powerpoint/2010/main" val="40702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a:t>
            </a:fld>
            <a:endParaRPr lang="zh-TW" altLang="en-US"/>
          </a:p>
        </p:txBody>
      </p:sp>
    </p:spTree>
    <p:extLst>
      <p:ext uri="{BB962C8B-B14F-4D97-AF65-F5344CB8AC3E}">
        <p14:creationId xmlns:p14="http://schemas.microsoft.com/office/powerpoint/2010/main" val="976998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a:t>
            </a:fld>
            <a:endParaRPr lang="zh-TW" altLang="en-US"/>
          </a:p>
        </p:txBody>
      </p:sp>
    </p:spTree>
    <p:extLst>
      <p:ext uri="{BB962C8B-B14F-4D97-AF65-F5344CB8AC3E}">
        <p14:creationId xmlns:p14="http://schemas.microsoft.com/office/powerpoint/2010/main" val="3261441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a:t>
            </a:fld>
            <a:endParaRPr lang="zh-TW" altLang="en-US"/>
          </a:p>
        </p:txBody>
      </p:sp>
    </p:spTree>
    <p:extLst>
      <p:ext uri="{BB962C8B-B14F-4D97-AF65-F5344CB8AC3E}">
        <p14:creationId xmlns:p14="http://schemas.microsoft.com/office/powerpoint/2010/main" val="4191466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5</a:t>
            </a:fld>
            <a:endParaRPr lang="zh-TW" altLang="en-US"/>
          </a:p>
        </p:txBody>
      </p:sp>
    </p:spTree>
    <p:extLst>
      <p:ext uri="{BB962C8B-B14F-4D97-AF65-F5344CB8AC3E}">
        <p14:creationId xmlns:p14="http://schemas.microsoft.com/office/powerpoint/2010/main" val="1908474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6</a:t>
            </a:fld>
            <a:endParaRPr lang="zh-TW" altLang="en-US"/>
          </a:p>
        </p:txBody>
      </p:sp>
    </p:spTree>
    <p:extLst>
      <p:ext uri="{BB962C8B-B14F-4D97-AF65-F5344CB8AC3E}">
        <p14:creationId xmlns:p14="http://schemas.microsoft.com/office/powerpoint/2010/main" val="3168103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7</a:t>
            </a:fld>
            <a:endParaRPr lang="zh-TW" altLang="en-US"/>
          </a:p>
        </p:txBody>
      </p:sp>
    </p:spTree>
    <p:extLst>
      <p:ext uri="{BB962C8B-B14F-4D97-AF65-F5344CB8AC3E}">
        <p14:creationId xmlns:p14="http://schemas.microsoft.com/office/powerpoint/2010/main" val="3273124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8</a:t>
            </a:fld>
            <a:endParaRPr lang="zh-TW" altLang="en-US"/>
          </a:p>
        </p:txBody>
      </p:sp>
    </p:spTree>
    <p:extLst>
      <p:ext uri="{BB962C8B-B14F-4D97-AF65-F5344CB8AC3E}">
        <p14:creationId xmlns:p14="http://schemas.microsoft.com/office/powerpoint/2010/main" val="1525542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9</a:t>
            </a:fld>
            <a:endParaRPr lang="zh-TW" altLang="en-US"/>
          </a:p>
        </p:txBody>
      </p:sp>
    </p:spTree>
    <p:extLst>
      <p:ext uri="{BB962C8B-B14F-4D97-AF65-F5344CB8AC3E}">
        <p14:creationId xmlns:p14="http://schemas.microsoft.com/office/powerpoint/2010/main" val="1695917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10</a:t>
            </a:fld>
            <a:endParaRPr lang="zh-TW" altLang="en-US"/>
          </a:p>
        </p:txBody>
      </p:sp>
    </p:spTree>
    <p:extLst>
      <p:ext uri="{BB962C8B-B14F-4D97-AF65-F5344CB8AC3E}">
        <p14:creationId xmlns:p14="http://schemas.microsoft.com/office/powerpoint/2010/main" val="35822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11</a:t>
            </a:fld>
            <a:endParaRPr lang="zh-TW" altLang="en-US"/>
          </a:p>
        </p:txBody>
      </p:sp>
    </p:spTree>
    <p:extLst>
      <p:ext uri="{BB962C8B-B14F-4D97-AF65-F5344CB8AC3E}">
        <p14:creationId xmlns:p14="http://schemas.microsoft.com/office/powerpoint/2010/main" val="3649139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12</a:t>
            </a:fld>
            <a:endParaRPr lang="zh-TW" altLang="en-US"/>
          </a:p>
        </p:txBody>
      </p:sp>
    </p:spTree>
    <p:extLst>
      <p:ext uri="{BB962C8B-B14F-4D97-AF65-F5344CB8AC3E}">
        <p14:creationId xmlns:p14="http://schemas.microsoft.com/office/powerpoint/2010/main" val="1557336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13</a:t>
            </a:fld>
            <a:endParaRPr lang="zh-TW" altLang="en-US"/>
          </a:p>
        </p:txBody>
      </p:sp>
    </p:spTree>
    <p:extLst>
      <p:ext uri="{BB962C8B-B14F-4D97-AF65-F5344CB8AC3E}">
        <p14:creationId xmlns:p14="http://schemas.microsoft.com/office/powerpoint/2010/main" val="3777816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14</a:t>
            </a:fld>
            <a:endParaRPr lang="zh-TW" altLang="en-US"/>
          </a:p>
        </p:txBody>
      </p:sp>
    </p:spTree>
    <p:extLst>
      <p:ext uri="{BB962C8B-B14F-4D97-AF65-F5344CB8AC3E}">
        <p14:creationId xmlns:p14="http://schemas.microsoft.com/office/powerpoint/2010/main" val="2122026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15</a:t>
            </a:fld>
            <a:endParaRPr lang="zh-TW" altLang="en-US"/>
          </a:p>
        </p:txBody>
      </p:sp>
    </p:spTree>
    <p:extLst>
      <p:ext uri="{BB962C8B-B14F-4D97-AF65-F5344CB8AC3E}">
        <p14:creationId xmlns:p14="http://schemas.microsoft.com/office/powerpoint/2010/main" val="111925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16</a:t>
            </a:fld>
            <a:endParaRPr lang="zh-TW" altLang="en-US"/>
          </a:p>
        </p:txBody>
      </p:sp>
    </p:spTree>
    <p:extLst>
      <p:ext uri="{BB962C8B-B14F-4D97-AF65-F5344CB8AC3E}">
        <p14:creationId xmlns:p14="http://schemas.microsoft.com/office/powerpoint/2010/main" val="2741439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17</a:t>
            </a:fld>
            <a:endParaRPr lang="zh-TW" altLang="en-US"/>
          </a:p>
        </p:txBody>
      </p:sp>
    </p:spTree>
    <p:extLst>
      <p:ext uri="{BB962C8B-B14F-4D97-AF65-F5344CB8AC3E}">
        <p14:creationId xmlns:p14="http://schemas.microsoft.com/office/powerpoint/2010/main" val="3093689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18</a:t>
            </a:fld>
            <a:endParaRPr lang="zh-TW" altLang="en-US"/>
          </a:p>
        </p:txBody>
      </p:sp>
    </p:spTree>
    <p:extLst>
      <p:ext uri="{BB962C8B-B14F-4D97-AF65-F5344CB8AC3E}">
        <p14:creationId xmlns:p14="http://schemas.microsoft.com/office/powerpoint/2010/main" val="2160726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19</a:t>
            </a:fld>
            <a:endParaRPr lang="zh-TW" altLang="en-US"/>
          </a:p>
        </p:txBody>
      </p:sp>
    </p:spTree>
    <p:extLst>
      <p:ext uri="{BB962C8B-B14F-4D97-AF65-F5344CB8AC3E}">
        <p14:creationId xmlns:p14="http://schemas.microsoft.com/office/powerpoint/2010/main" val="891144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20</a:t>
            </a:fld>
            <a:endParaRPr lang="zh-TW" altLang="en-US"/>
          </a:p>
        </p:txBody>
      </p:sp>
    </p:spTree>
    <p:extLst>
      <p:ext uri="{BB962C8B-B14F-4D97-AF65-F5344CB8AC3E}">
        <p14:creationId xmlns:p14="http://schemas.microsoft.com/office/powerpoint/2010/main" val="17767829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21</a:t>
            </a:fld>
            <a:endParaRPr lang="zh-TW" altLang="en-US"/>
          </a:p>
        </p:txBody>
      </p:sp>
    </p:spTree>
    <p:extLst>
      <p:ext uri="{BB962C8B-B14F-4D97-AF65-F5344CB8AC3E}">
        <p14:creationId xmlns:p14="http://schemas.microsoft.com/office/powerpoint/2010/main" val="26622501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22</a:t>
            </a:fld>
            <a:endParaRPr lang="zh-TW" altLang="en-US"/>
          </a:p>
        </p:txBody>
      </p:sp>
    </p:spTree>
    <p:extLst>
      <p:ext uri="{BB962C8B-B14F-4D97-AF65-F5344CB8AC3E}">
        <p14:creationId xmlns:p14="http://schemas.microsoft.com/office/powerpoint/2010/main" val="1900199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23</a:t>
            </a:fld>
            <a:endParaRPr lang="zh-TW" altLang="en-US"/>
          </a:p>
        </p:txBody>
      </p:sp>
    </p:spTree>
    <p:extLst>
      <p:ext uri="{BB962C8B-B14F-4D97-AF65-F5344CB8AC3E}">
        <p14:creationId xmlns:p14="http://schemas.microsoft.com/office/powerpoint/2010/main" val="2730859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24</a:t>
            </a:fld>
            <a:endParaRPr lang="zh-TW" altLang="en-US"/>
          </a:p>
        </p:txBody>
      </p:sp>
    </p:spTree>
    <p:extLst>
      <p:ext uri="{BB962C8B-B14F-4D97-AF65-F5344CB8AC3E}">
        <p14:creationId xmlns:p14="http://schemas.microsoft.com/office/powerpoint/2010/main" val="37201497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25</a:t>
            </a:fld>
            <a:endParaRPr lang="zh-TW" altLang="en-US"/>
          </a:p>
        </p:txBody>
      </p:sp>
    </p:spTree>
    <p:extLst>
      <p:ext uri="{BB962C8B-B14F-4D97-AF65-F5344CB8AC3E}">
        <p14:creationId xmlns:p14="http://schemas.microsoft.com/office/powerpoint/2010/main" val="2896977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用中文解釋公式即可</a:t>
            </a:r>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26</a:t>
            </a:fld>
            <a:endParaRPr lang="zh-TW" altLang="en-US"/>
          </a:p>
        </p:txBody>
      </p:sp>
    </p:spTree>
    <p:extLst>
      <p:ext uri="{BB962C8B-B14F-4D97-AF65-F5344CB8AC3E}">
        <p14:creationId xmlns:p14="http://schemas.microsoft.com/office/powerpoint/2010/main" val="843296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用中文解釋公式即可</a:t>
            </a:r>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27</a:t>
            </a:fld>
            <a:endParaRPr lang="zh-TW" altLang="en-US"/>
          </a:p>
        </p:txBody>
      </p:sp>
    </p:spTree>
    <p:extLst>
      <p:ext uri="{BB962C8B-B14F-4D97-AF65-F5344CB8AC3E}">
        <p14:creationId xmlns:p14="http://schemas.microsoft.com/office/powerpoint/2010/main" val="2382739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用中文解釋公式即可</a:t>
            </a:r>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28</a:t>
            </a:fld>
            <a:endParaRPr lang="zh-TW" altLang="en-US"/>
          </a:p>
        </p:txBody>
      </p:sp>
    </p:spTree>
    <p:extLst>
      <p:ext uri="{BB962C8B-B14F-4D97-AF65-F5344CB8AC3E}">
        <p14:creationId xmlns:p14="http://schemas.microsoft.com/office/powerpoint/2010/main" val="3870353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用中文解釋公式即可</a:t>
            </a:r>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29</a:t>
            </a:fld>
            <a:endParaRPr lang="zh-TW" altLang="en-US"/>
          </a:p>
        </p:txBody>
      </p:sp>
    </p:spTree>
    <p:extLst>
      <p:ext uri="{BB962C8B-B14F-4D97-AF65-F5344CB8AC3E}">
        <p14:creationId xmlns:p14="http://schemas.microsoft.com/office/powerpoint/2010/main" val="419634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t>2015/12/1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t>2015/12/1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t>2015/12/1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t>2015/12/1</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1"/>
            <a:ext cx="9144000" cy="2936966"/>
          </a:xfrm>
        </p:spPr>
        <p:txBody>
          <a:bodyPr>
            <a:noAutofit/>
          </a:bodyPr>
          <a:lstStyle/>
          <a:p>
            <a:r>
              <a:rPr lang="en-US" altLang="zh-TW" sz="4400" dirty="0">
                <a:latin typeface="Times New Roman" panose="02020603050405020304" pitchFamily="18" charset="0"/>
                <a:cs typeface="Times New Roman" panose="02020603050405020304" pitchFamily="18" charset="0"/>
              </a:rPr>
              <a:t>Trading System based on the use of technical </a:t>
            </a:r>
            <a:r>
              <a:rPr lang="en-US" altLang="zh-TW" sz="4400" dirty="0" smtClean="0">
                <a:latin typeface="Times New Roman" panose="02020603050405020304" pitchFamily="18" charset="0"/>
                <a:cs typeface="Times New Roman" panose="02020603050405020304" pitchFamily="18" charset="0"/>
              </a:rPr>
              <a:t>analysis: A computational </a:t>
            </a:r>
            <a:r>
              <a:rPr lang="en-US" altLang="zh-TW" sz="4400" dirty="0">
                <a:latin typeface="Times New Roman" panose="02020603050405020304" pitchFamily="18" charset="0"/>
                <a:cs typeface="Times New Roman" panose="02020603050405020304" pitchFamily="18" charset="0"/>
              </a:rPr>
              <a:t>experiment</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3204518"/>
            <a:ext cx="9144000" cy="3482031"/>
          </a:xfrm>
        </p:spPr>
        <p:txBody>
          <a:bodyPr>
            <a:normAutofit/>
          </a:bodyPr>
          <a:lstStyle/>
          <a:p>
            <a:r>
              <a:rPr lang="en-US" altLang="zh-TW" sz="2000" dirty="0">
                <a:latin typeface="Times New Roman" panose="02020603050405020304" pitchFamily="18" charset="0"/>
                <a:cs typeface="Times New Roman" panose="02020603050405020304" pitchFamily="18" charset="0"/>
              </a:rPr>
              <a:t>Thiago </a:t>
            </a:r>
            <a:r>
              <a:rPr lang="en-US" altLang="zh-TW" sz="2000" dirty="0" err="1">
                <a:latin typeface="Times New Roman" panose="02020603050405020304" pitchFamily="18" charset="0"/>
                <a:cs typeface="Times New Roman" panose="02020603050405020304" pitchFamily="18" charset="0"/>
              </a:rPr>
              <a:t>Raymon</a:t>
            </a:r>
            <a:r>
              <a:rPr lang="en-US" altLang="zh-TW" sz="2000" dirty="0">
                <a:latin typeface="Times New Roman" panose="02020603050405020304" pitchFamily="18" charset="0"/>
                <a:cs typeface="Times New Roman" panose="02020603050405020304" pitchFamily="18" charset="0"/>
              </a:rPr>
              <a:t> Cruz Cacique da Costa , Rodolfo </a:t>
            </a:r>
            <a:r>
              <a:rPr lang="en-US" altLang="zh-TW" sz="2000" dirty="0" err="1">
                <a:latin typeface="Times New Roman" panose="02020603050405020304" pitchFamily="18" charset="0"/>
                <a:cs typeface="Times New Roman" panose="02020603050405020304" pitchFamily="18" charset="0"/>
              </a:rPr>
              <a:t>Toríbio</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Nazário</a:t>
            </a:r>
            <a:r>
              <a:rPr lang="en-US" altLang="zh-TW" sz="2000" dirty="0">
                <a:latin typeface="Times New Roman" panose="02020603050405020304" pitchFamily="18" charset="0"/>
                <a:cs typeface="Times New Roman" panose="02020603050405020304" pitchFamily="18" charset="0"/>
              </a:rPr>
              <a:t> , Gabriel </a:t>
            </a:r>
            <a:r>
              <a:rPr lang="en-US" altLang="zh-TW" sz="2000" dirty="0" err="1">
                <a:latin typeface="Times New Roman" panose="02020603050405020304" pitchFamily="18" charset="0"/>
                <a:cs typeface="Times New Roman" panose="02020603050405020304" pitchFamily="18" charset="0"/>
              </a:rPr>
              <a:t>Soares</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Zica</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Bergo</a:t>
            </a:r>
            <a:r>
              <a:rPr lang="en-US" altLang="zh-TW" sz="2000" dirty="0">
                <a:latin typeface="Times New Roman" panose="02020603050405020304" pitchFamily="18" charset="0"/>
                <a:cs typeface="Times New Roman" panose="02020603050405020304" pitchFamily="18" charset="0"/>
              </a:rPr>
              <a:t> , </a:t>
            </a:r>
            <a:r>
              <a:rPr lang="en-US" altLang="zh-TW" sz="2000" dirty="0" err="1">
                <a:latin typeface="Times New Roman" panose="02020603050405020304" pitchFamily="18" charset="0"/>
                <a:cs typeface="Times New Roman" panose="02020603050405020304" pitchFamily="18" charset="0"/>
              </a:rPr>
              <a:t>Vinicius</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Amorim</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Sobreiro</a:t>
            </a:r>
            <a:r>
              <a:rPr lang="en-US" altLang="zh-TW" sz="2000" dirty="0">
                <a:latin typeface="Times New Roman" panose="02020603050405020304" pitchFamily="18" charset="0"/>
                <a:cs typeface="Times New Roman" panose="02020603050405020304" pitchFamily="18" charset="0"/>
              </a:rPr>
              <a:t>, Herbert </a:t>
            </a:r>
            <a:r>
              <a:rPr lang="en-US" altLang="zh-TW" sz="2000" dirty="0" smtClean="0">
                <a:latin typeface="Times New Roman" panose="02020603050405020304" pitchFamily="18" charset="0"/>
                <a:cs typeface="Times New Roman" panose="02020603050405020304" pitchFamily="18" charset="0"/>
              </a:rPr>
              <a:t>Kimura</a:t>
            </a: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University of Brasília</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a:latin typeface="Times New Roman" panose="02020603050405020304" pitchFamily="18" charset="0"/>
                <a:cs typeface="Times New Roman" panose="02020603050405020304" pitchFamily="18" charset="0"/>
              </a:rPr>
              <a:t>Journal of Behavioral and Experimental Finance</a:t>
            </a:r>
            <a:r>
              <a:rPr lang="en-US" altLang="zh-TW" sz="2000" dirty="0" smtClean="0">
                <a:latin typeface="Times New Roman" panose="02020603050405020304" pitchFamily="18" charset="0"/>
                <a:cs typeface="Times New Roman" panose="02020603050405020304" pitchFamily="18" charset="0"/>
              </a:rPr>
              <a:t>, 2015</a:t>
            </a:r>
            <a:endParaRPr lang="en-US" altLang="zh-TW" sz="2000" dirty="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pp. 42 - 55</a:t>
            </a:r>
          </a:p>
          <a:p>
            <a:pPr>
              <a:lnSpc>
                <a:spcPct val="150000"/>
              </a:lnSpc>
            </a:pPr>
            <a:r>
              <a:rPr lang="en-US" altLang="zh-TW" sz="2000" dirty="0" smtClean="0">
                <a:latin typeface="Times New Roman" panose="02020603050405020304" pitchFamily="18" charset="0"/>
                <a:cs typeface="Times New Roman" panose="02020603050405020304" pitchFamily="18" charset="0"/>
              </a:rPr>
              <a:t>Presenter : Tsai Yao-</a:t>
            </a:r>
            <a:r>
              <a:rPr lang="en-US" altLang="zh-TW" sz="2000" dirty="0">
                <a:latin typeface="Times New Roman" panose="02020603050405020304" pitchFamily="18" charset="0"/>
                <a:cs typeface="Times New Roman" panose="02020603050405020304" pitchFamily="18" charset="0"/>
              </a:rPr>
              <a:t>C</a:t>
            </a:r>
            <a:r>
              <a:rPr lang="en-US" altLang="zh-TW" sz="2000" dirty="0" smtClean="0">
                <a:latin typeface="Times New Roman" panose="02020603050405020304" pitchFamily="18" charset="0"/>
                <a:cs typeface="Times New Roman" panose="02020603050405020304" pitchFamily="18" charset="0"/>
              </a:rPr>
              <a:t>hou</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a:t>
            </a:fld>
            <a:endParaRPr lang="zh-TW" altLang="en-US"/>
          </a:p>
        </p:txBody>
      </p:sp>
    </p:spTree>
    <p:extLst>
      <p:ext uri="{BB962C8B-B14F-4D97-AF65-F5344CB8AC3E}">
        <p14:creationId xmlns:p14="http://schemas.microsoft.com/office/powerpoint/2010/main"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Previous studies highlight the influence of methods of technical analysis in the search for exceptional gains in the context of the financial market. Based on this scenario, the main objective of this paper is to analyze the performance of the Simple Moving Average, Exponential Moving Average, MACD and Triple Screen techniques in an actual trading system that included 198 stocks traded in the Brazilian. This paper studies the power of predictability of such methods using various combinations of periods, brokerage fees and a policy of Stop-Loss and compares these with the buy-and-hold strategy. The results indicate that while the studied techniques lead to a high probability of obtaining a return that exceeds the investment value, they have little power of predictability in the Brazilian market. In relation to the passive buy strategy, only the smallest part of the obtained returns outweighs the results of the buy-and-hold strategy.</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a:t>
            </a:fld>
            <a:endParaRPr lang="zh-TW" altLang="en-US" dirty="0"/>
          </a:p>
        </p:txBody>
      </p:sp>
    </p:spTree>
    <p:extLst>
      <p:ext uri="{BB962C8B-B14F-4D97-AF65-F5344CB8AC3E}">
        <p14:creationId xmlns:p14="http://schemas.microsoft.com/office/powerpoint/2010/main" val="2744253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Moving average (MA)</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股價的趨勢</a:t>
                </a:r>
                <a:r>
                  <a:rPr lang="en-US" altLang="zh-TW" sz="2000" dirty="0" smtClean="0">
                    <a:latin typeface="Times New Roman" panose="02020603050405020304" pitchFamily="18" charset="0"/>
                    <a:cs typeface="Times New Roman" panose="02020603050405020304" pitchFamily="18" charset="0"/>
                  </a:rPr>
                  <a:t>(Trend)</a:t>
                </a:r>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𝑆𝑀𝐴</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𝑁</m:t>
                            </m:r>
                          </m:sub>
                        </m:sSub>
                      </m:num>
                      <m:den>
                        <m:r>
                          <a:rPr lang="en-US" altLang="zh-TW" sz="2000" b="0" i="1" smtClean="0">
                            <a:latin typeface="Cambria Math" panose="02040503050406030204" pitchFamily="18" charset="0"/>
                            <a:cs typeface="Times New Roman" panose="02020603050405020304" pitchFamily="18" charset="0"/>
                          </a:rPr>
                          <m:t>𝑁</m:t>
                        </m:r>
                      </m:den>
                    </m:f>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3</a:t>
            </a:fld>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4292719629"/>
              </p:ext>
            </p:extLst>
          </p:nvPr>
        </p:nvGraphicFramePr>
        <p:xfrm>
          <a:off x="95250" y="3167562"/>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Tree>
    <p:extLst>
      <p:ext uri="{BB962C8B-B14F-4D97-AF65-F5344CB8AC3E}">
        <p14:creationId xmlns:p14="http://schemas.microsoft.com/office/powerpoint/2010/main" val="1845973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ea typeface="標楷體" panose="03000509000000000000" pitchFamily="65" charset="-120"/>
                <a:cs typeface="Times New Roman" panose="02020603050405020304" pitchFamily="18" charset="0"/>
              </a:rPr>
              <a:t>Moving average (MA)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Description:</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股價的趨勢</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(Trend)</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Formula: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𝑆𝑀𝐴</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𝑁</m:t>
                            </m:r>
                          </m:sub>
                        </m:sSub>
                      </m:num>
                      <m:den>
                        <m:r>
                          <a:rPr lang="en-US" altLang="zh-TW" sz="2000" b="0" i="1" smtClean="0">
                            <a:latin typeface="Cambria Math" panose="02040503050406030204" pitchFamily="18" charset="0"/>
                            <a:cs typeface="Times New Roman" panose="02020603050405020304" pitchFamily="18" charset="0"/>
                          </a:rPr>
                          <m:t>𝑁</m:t>
                        </m:r>
                      </m:den>
                    </m:f>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4</a:t>
            </a:fld>
            <a:endParaRPr lang="zh-TW" altLang="en-US" dirty="0">
              <a:latin typeface="Times New Roman" panose="02020603050405020304" pitchFamily="18" charset="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1146567238"/>
              </p:ext>
            </p:extLst>
          </p:nvPr>
        </p:nvGraphicFramePr>
        <p:xfrm>
          <a:off x="95250" y="3167562"/>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 </a:t>
                      </a:r>
                      <a:r>
                        <a:rPr lang="en-US" altLang="zh-TW" sz="1400" baseline="0" dirty="0" smtClean="0">
                          <a:latin typeface="Times New Roman" panose="02020603050405020304" pitchFamily="18" charset="0"/>
                          <a:cs typeface="Times New Roman" panose="02020603050405020304" pitchFamily="18" charset="0"/>
                        </a:rPr>
                        <a:t>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6" name="矩形 5"/>
          <p:cNvSpPr/>
          <p:nvPr/>
        </p:nvSpPr>
        <p:spPr>
          <a:xfrm>
            <a:off x="1097280" y="3074126"/>
            <a:ext cx="4972593" cy="9231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7" name="向下箭號 6"/>
          <p:cNvSpPr/>
          <p:nvPr/>
        </p:nvSpPr>
        <p:spPr>
          <a:xfrm>
            <a:off x="3526971" y="4110446"/>
            <a:ext cx="304800" cy="4005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文字方塊 7"/>
              <p:cNvSpPr txBox="1"/>
              <p:nvPr/>
            </p:nvSpPr>
            <p:spPr>
              <a:xfrm>
                <a:off x="1175657" y="4615543"/>
                <a:ext cx="4824549" cy="618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TW" b="0" i="1" smtClean="0">
                              <a:latin typeface="Cambria Math" panose="02040503050406030204" pitchFamily="18" charset="0"/>
                            </a:rPr>
                          </m:ctrlPr>
                        </m:fPr>
                        <m:num>
                          <m:r>
                            <a:rPr lang="en-US" altLang="zh-TW" i="1">
                              <a:latin typeface="Cambria Math" panose="02040503050406030204" pitchFamily="18" charset="0"/>
                            </a:rPr>
                            <m:t>46.25+45.6+44.55+51.55+41</m:t>
                          </m:r>
                        </m:num>
                        <m:den>
                          <m:r>
                            <a:rPr lang="en-US" altLang="zh-TW" b="0" i="1" smtClean="0">
                              <a:latin typeface="Cambria Math" panose="02040503050406030204" pitchFamily="18" charset="0"/>
                            </a:rPr>
                            <m:t>5</m:t>
                          </m:r>
                        </m:den>
                      </m:f>
                      <m:r>
                        <a:rPr lang="en-US" altLang="zh-TW" b="0" i="0" smtClean="0">
                          <a:latin typeface="Cambria Math" panose="02040503050406030204" pitchFamily="18" charset="0"/>
                        </a:rPr>
                        <m:t>=45.79</m:t>
                      </m:r>
                    </m:oMath>
                  </m:oMathPara>
                </a14:m>
                <a:endParaRPr lang="zh-TW" altLang="en-US" dirty="0">
                  <a:latin typeface="Times New Roman" panose="02020603050405020304" pitchFamily="18" charset="0"/>
                  <a:ea typeface="標楷體" panose="03000509000000000000" pitchFamily="65" charset="-12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1175657" y="4615543"/>
                <a:ext cx="4824549" cy="618374"/>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4166859615"/>
              </p:ext>
            </p:extLst>
          </p:nvPr>
        </p:nvGraphicFramePr>
        <p:xfrm>
          <a:off x="181380" y="5956935"/>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en-US" altLang="zh-TW" sz="1600" dirty="0" smtClean="0">
                          <a:latin typeface="Times New Roman" panose="02020603050405020304" pitchFamily="18" charset="0"/>
                          <a:cs typeface="Times New Roman" panose="02020603050405020304" pitchFamily="18" charset="0"/>
                        </a:rPr>
                        <a:t>45.79</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10" name="向下箭號 9"/>
          <p:cNvSpPr/>
          <p:nvPr/>
        </p:nvSpPr>
        <p:spPr>
          <a:xfrm rot="3977575">
            <a:off x="4738397" y="5039665"/>
            <a:ext cx="304800" cy="593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12" name="文字方塊 11"/>
          <p:cNvSpPr txBox="1"/>
          <p:nvPr/>
        </p:nvSpPr>
        <p:spPr>
          <a:xfrm>
            <a:off x="1027611" y="2704794"/>
            <a:ext cx="1123406" cy="369332"/>
          </a:xfrm>
          <a:prstGeom prst="rect">
            <a:avLst/>
          </a:prstGeom>
          <a:noFill/>
        </p:spPr>
        <p:txBody>
          <a:bodyPr wrap="square" rtlCol="0">
            <a:spAutoFit/>
          </a:bodyPr>
          <a:lstStyle/>
          <a:p>
            <a:r>
              <a:rPr lang="en-US" altLang="zh-TW" b="1" dirty="0" smtClean="0">
                <a:latin typeface="Times New Roman" panose="02020603050405020304" pitchFamily="18" charset="0"/>
                <a:ea typeface="標楷體" panose="03000509000000000000" pitchFamily="65" charset="-120"/>
              </a:rPr>
              <a:t>Period 1</a:t>
            </a:r>
            <a:endParaRPr lang="zh-TW" altLang="en-US" b="1"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30295433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ea typeface="標楷體" panose="03000509000000000000" pitchFamily="65" charset="-120"/>
                <a:cs typeface="Times New Roman" panose="02020603050405020304" pitchFamily="18" charset="0"/>
              </a:rPr>
              <a:t>Moving average (MA)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Description:</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股價的趨勢</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(Trend)</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Formula: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𝑆𝑀𝐴</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𝑁</m:t>
                            </m:r>
                          </m:sub>
                        </m:sSub>
                      </m:num>
                      <m:den>
                        <m:r>
                          <a:rPr lang="en-US" altLang="zh-TW" sz="2000" b="0" i="1" smtClean="0">
                            <a:latin typeface="Cambria Math" panose="02040503050406030204" pitchFamily="18" charset="0"/>
                            <a:cs typeface="Times New Roman" panose="02020603050405020304" pitchFamily="18" charset="0"/>
                          </a:rPr>
                          <m:t>𝑁</m:t>
                        </m:r>
                      </m:den>
                    </m:f>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5</a:t>
            </a:fld>
            <a:endParaRPr lang="zh-TW" altLang="en-US" dirty="0">
              <a:latin typeface="Times New Roman" panose="02020603050405020304" pitchFamily="18" charset="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3845550770"/>
              </p:ext>
            </p:extLst>
          </p:nvPr>
        </p:nvGraphicFramePr>
        <p:xfrm>
          <a:off x="95250" y="3167562"/>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6" name="矩形 5"/>
          <p:cNvSpPr/>
          <p:nvPr/>
        </p:nvSpPr>
        <p:spPr>
          <a:xfrm>
            <a:off x="2072640" y="3074126"/>
            <a:ext cx="4972593" cy="9231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7" name="向下箭號 6"/>
          <p:cNvSpPr/>
          <p:nvPr/>
        </p:nvSpPr>
        <p:spPr>
          <a:xfrm>
            <a:off x="4563293" y="4110446"/>
            <a:ext cx="304800" cy="4005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文字方塊 7"/>
              <p:cNvSpPr txBox="1"/>
              <p:nvPr/>
            </p:nvSpPr>
            <p:spPr>
              <a:xfrm>
                <a:off x="2142311" y="4615543"/>
                <a:ext cx="4824549" cy="618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45.6</m:t>
                          </m:r>
                          <m:r>
                            <a:rPr lang="en-US" altLang="zh-TW" i="1">
                              <a:latin typeface="Cambria Math" panose="02040503050406030204" pitchFamily="18" charset="0"/>
                            </a:rPr>
                            <m:t>+</m:t>
                          </m:r>
                          <m:r>
                            <a:rPr lang="en-US" altLang="zh-TW" b="0" i="1" smtClean="0">
                              <a:latin typeface="Cambria Math" panose="02040503050406030204" pitchFamily="18" charset="0"/>
                            </a:rPr>
                            <m:t>44.55</m:t>
                          </m:r>
                          <m:r>
                            <a:rPr lang="en-US" altLang="zh-TW" i="1">
                              <a:latin typeface="Cambria Math" panose="02040503050406030204" pitchFamily="18" charset="0"/>
                            </a:rPr>
                            <m:t>+</m:t>
                          </m:r>
                          <m:r>
                            <a:rPr lang="en-US" altLang="zh-TW" b="0" i="1" smtClean="0">
                              <a:latin typeface="Cambria Math" panose="02040503050406030204" pitchFamily="18" charset="0"/>
                            </a:rPr>
                            <m:t>51.55</m:t>
                          </m:r>
                          <m:r>
                            <a:rPr lang="en-US" altLang="zh-TW" i="1">
                              <a:latin typeface="Cambria Math" panose="02040503050406030204" pitchFamily="18" charset="0"/>
                            </a:rPr>
                            <m:t>+</m:t>
                          </m:r>
                          <m:r>
                            <a:rPr lang="en-US" altLang="zh-TW" b="0" i="1" smtClean="0">
                              <a:latin typeface="Cambria Math" panose="02040503050406030204" pitchFamily="18" charset="0"/>
                            </a:rPr>
                            <m:t>41</m:t>
                          </m:r>
                          <m:r>
                            <a:rPr lang="en-US" altLang="zh-TW" i="1">
                              <a:latin typeface="Cambria Math" panose="02040503050406030204" pitchFamily="18" charset="0"/>
                            </a:rPr>
                            <m:t>+41</m:t>
                          </m:r>
                        </m:num>
                        <m:den>
                          <m:r>
                            <a:rPr lang="en-US" altLang="zh-TW" b="0" i="1" smtClean="0">
                              <a:latin typeface="Cambria Math" panose="02040503050406030204" pitchFamily="18" charset="0"/>
                            </a:rPr>
                            <m:t>5</m:t>
                          </m:r>
                        </m:den>
                      </m:f>
                      <m:r>
                        <a:rPr lang="en-US" altLang="zh-TW" b="0" i="0" smtClean="0">
                          <a:latin typeface="Cambria Math" panose="02040503050406030204" pitchFamily="18" charset="0"/>
                        </a:rPr>
                        <m:t>=44.74</m:t>
                      </m:r>
                    </m:oMath>
                  </m:oMathPara>
                </a14:m>
                <a:endParaRPr lang="zh-TW" altLang="en-US" dirty="0">
                  <a:latin typeface="Times New Roman" panose="02020603050405020304" pitchFamily="18" charset="0"/>
                  <a:ea typeface="標楷體" panose="03000509000000000000" pitchFamily="65" charset="-12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2142311" y="4615543"/>
                <a:ext cx="4824549" cy="618374"/>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1139398448"/>
              </p:ext>
            </p:extLst>
          </p:nvPr>
        </p:nvGraphicFramePr>
        <p:xfrm>
          <a:off x="181380" y="5956935"/>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en-US" altLang="zh-TW" sz="1600" dirty="0" smtClean="0">
                          <a:latin typeface="Times New Roman" panose="02020603050405020304" pitchFamily="18" charset="0"/>
                          <a:cs typeface="Times New Roman" panose="02020603050405020304" pitchFamily="18" charset="0"/>
                        </a:rPr>
                        <a:t>45.79</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44.74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600" dirty="0">
                        <a:latin typeface="Times New Roman" panose="02020603050405020304" pitchFamily="18" charset="0"/>
                        <a:cs typeface="Times New Roman" panose="02020603050405020304" pitchFamily="18" charset="0"/>
                      </a:endParaRPr>
                    </a:p>
                  </a:txBody>
                  <a:tcPr anchor="ctr"/>
                </a:tc>
              </a:tr>
            </a:tbl>
          </a:graphicData>
        </a:graphic>
      </p:graphicFrame>
      <p:sp>
        <p:nvSpPr>
          <p:cNvPr id="10" name="向下箭號 9"/>
          <p:cNvSpPr/>
          <p:nvPr/>
        </p:nvSpPr>
        <p:spPr>
          <a:xfrm rot="3977575">
            <a:off x="5574422" y="5039665"/>
            <a:ext cx="304800" cy="593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11" name="文字方塊 10"/>
          <p:cNvSpPr txBox="1"/>
          <p:nvPr/>
        </p:nvSpPr>
        <p:spPr>
          <a:xfrm>
            <a:off x="2002976" y="2704794"/>
            <a:ext cx="1140818" cy="369332"/>
          </a:xfrm>
          <a:prstGeom prst="rect">
            <a:avLst/>
          </a:prstGeom>
          <a:noFill/>
        </p:spPr>
        <p:txBody>
          <a:bodyPr wrap="square" rtlCol="0">
            <a:spAutoFit/>
          </a:bodyPr>
          <a:lstStyle/>
          <a:p>
            <a:r>
              <a:rPr lang="en-US" altLang="zh-TW" b="1" dirty="0" smtClean="0">
                <a:latin typeface="Times New Roman" panose="02020603050405020304" pitchFamily="18" charset="0"/>
                <a:ea typeface="標楷體" panose="03000509000000000000" pitchFamily="65" charset="-120"/>
              </a:rPr>
              <a:t>Period 2</a:t>
            </a:r>
            <a:endParaRPr lang="zh-TW" altLang="en-US" b="1"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14793350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ea typeface="標楷體" panose="03000509000000000000" pitchFamily="65" charset="-120"/>
                <a:cs typeface="Times New Roman" panose="02020603050405020304" pitchFamily="18" charset="0"/>
              </a:rPr>
              <a:t>Moving average (MA)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Description:</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股價的趨勢</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(Trend)</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Formula: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𝑆𝑀𝐴</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𝑁</m:t>
                            </m:r>
                          </m:sub>
                        </m:sSub>
                      </m:num>
                      <m:den>
                        <m:r>
                          <a:rPr lang="en-US" altLang="zh-TW" sz="2000" b="0" i="1" smtClean="0">
                            <a:latin typeface="Cambria Math" panose="02040503050406030204" pitchFamily="18" charset="0"/>
                            <a:cs typeface="Times New Roman" panose="02020603050405020304" pitchFamily="18" charset="0"/>
                          </a:rPr>
                          <m:t>𝑁</m:t>
                        </m:r>
                      </m:den>
                    </m:f>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6</a:t>
            </a:fld>
            <a:endParaRPr lang="zh-TW" altLang="en-US" dirty="0">
              <a:latin typeface="Times New Roman" panose="02020603050405020304" pitchFamily="18" charset="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2938285508"/>
              </p:ext>
            </p:extLst>
          </p:nvPr>
        </p:nvGraphicFramePr>
        <p:xfrm>
          <a:off x="95250" y="3167562"/>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6" name="矩形 5"/>
          <p:cNvSpPr/>
          <p:nvPr/>
        </p:nvSpPr>
        <p:spPr>
          <a:xfrm>
            <a:off x="3047999" y="3074126"/>
            <a:ext cx="4972593" cy="9231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7" name="向下箭號 6"/>
          <p:cNvSpPr/>
          <p:nvPr/>
        </p:nvSpPr>
        <p:spPr>
          <a:xfrm>
            <a:off x="5669285" y="4110446"/>
            <a:ext cx="304800" cy="4005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文字方塊 7"/>
              <p:cNvSpPr txBox="1"/>
              <p:nvPr/>
            </p:nvSpPr>
            <p:spPr>
              <a:xfrm>
                <a:off x="3126386" y="4615543"/>
                <a:ext cx="4824549" cy="618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44.55</m:t>
                          </m:r>
                          <m:r>
                            <a:rPr lang="en-US" altLang="zh-TW" i="1">
                              <a:latin typeface="Cambria Math" panose="02040503050406030204" pitchFamily="18" charset="0"/>
                            </a:rPr>
                            <m:t>+</m:t>
                          </m:r>
                          <m:r>
                            <a:rPr lang="en-US" altLang="zh-TW" b="0" i="1" smtClean="0">
                              <a:latin typeface="Cambria Math" panose="02040503050406030204" pitchFamily="18" charset="0"/>
                            </a:rPr>
                            <m:t>51.55</m:t>
                          </m:r>
                          <m:r>
                            <a:rPr lang="en-US" altLang="zh-TW" i="1">
                              <a:latin typeface="Cambria Math" panose="02040503050406030204" pitchFamily="18" charset="0"/>
                            </a:rPr>
                            <m:t>+</m:t>
                          </m:r>
                          <m:r>
                            <a:rPr lang="en-US" altLang="zh-TW" b="0" i="1" smtClean="0">
                              <a:latin typeface="Cambria Math" panose="02040503050406030204" pitchFamily="18" charset="0"/>
                            </a:rPr>
                            <m:t>41</m:t>
                          </m:r>
                          <m:r>
                            <a:rPr lang="en-US" altLang="zh-TW" i="1">
                              <a:latin typeface="Cambria Math" panose="02040503050406030204" pitchFamily="18" charset="0"/>
                            </a:rPr>
                            <m:t>+</m:t>
                          </m:r>
                          <m:r>
                            <a:rPr lang="en-US" altLang="zh-TW" b="0" i="1" smtClean="0">
                              <a:latin typeface="Cambria Math" panose="02040503050406030204" pitchFamily="18" charset="0"/>
                            </a:rPr>
                            <m:t>41</m:t>
                          </m:r>
                          <m:r>
                            <a:rPr lang="en-US" altLang="zh-TW" i="1">
                              <a:latin typeface="Cambria Math" panose="02040503050406030204" pitchFamily="18" charset="0"/>
                            </a:rPr>
                            <m:t>+4</m:t>
                          </m:r>
                          <m:r>
                            <a:rPr lang="en-US" altLang="zh-TW" b="0" i="1" smtClean="0">
                              <a:latin typeface="Cambria Math" panose="02040503050406030204" pitchFamily="18" charset="0"/>
                            </a:rPr>
                            <m:t>1.65</m:t>
                          </m:r>
                        </m:num>
                        <m:den>
                          <m:r>
                            <a:rPr lang="en-US" altLang="zh-TW" b="0" i="1" smtClean="0">
                              <a:latin typeface="Cambria Math" panose="02040503050406030204" pitchFamily="18" charset="0"/>
                            </a:rPr>
                            <m:t>5</m:t>
                          </m:r>
                        </m:den>
                      </m:f>
                      <m:r>
                        <a:rPr lang="en-US" altLang="zh-TW" b="0" i="0" smtClean="0">
                          <a:latin typeface="Cambria Math" panose="02040503050406030204" pitchFamily="18" charset="0"/>
                        </a:rPr>
                        <m:t>=43.95</m:t>
                      </m:r>
                    </m:oMath>
                  </m:oMathPara>
                </a14:m>
                <a:endParaRPr lang="zh-TW" altLang="en-US" dirty="0">
                  <a:latin typeface="Times New Roman" panose="02020603050405020304" pitchFamily="18" charset="0"/>
                  <a:ea typeface="標楷體" panose="03000509000000000000" pitchFamily="65" charset="-12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3126386" y="4615543"/>
                <a:ext cx="4824549" cy="618374"/>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3599666575"/>
              </p:ext>
            </p:extLst>
          </p:nvPr>
        </p:nvGraphicFramePr>
        <p:xfrm>
          <a:off x="181380" y="5956935"/>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en-US" altLang="zh-TW" sz="1600" dirty="0" smtClean="0">
                          <a:latin typeface="Times New Roman" panose="02020603050405020304" pitchFamily="18" charset="0"/>
                          <a:cs typeface="Times New Roman" panose="02020603050405020304" pitchFamily="18" charset="0"/>
                        </a:rPr>
                        <a:t>45.79</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44.74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43.95</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600" dirty="0">
                        <a:latin typeface="Times New Roman" panose="02020603050405020304" pitchFamily="18" charset="0"/>
                        <a:cs typeface="Times New Roman" panose="02020603050405020304" pitchFamily="18" charset="0"/>
                      </a:endParaRPr>
                    </a:p>
                  </a:txBody>
                  <a:tcPr anchor="ctr"/>
                </a:tc>
              </a:tr>
            </a:tbl>
          </a:graphicData>
        </a:graphic>
      </p:graphicFrame>
      <p:sp>
        <p:nvSpPr>
          <p:cNvPr id="10" name="向下箭號 9"/>
          <p:cNvSpPr/>
          <p:nvPr/>
        </p:nvSpPr>
        <p:spPr>
          <a:xfrm rot="3977575">
            <a:off x="6514949" y="5039665"/>
            <a:ext cx="304800" cy="593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11" name="文字方塊 10"/>
          <p:cNvSpPr txBox="1"/>
          <p:nvPr/>
        </p:nvSpPr>
        <p:spPr>
          <a:xfrm>
            <a:off x="3039290" y="2704794"/>
            <a:ext cx="1097281" cy="369332"/>
          </a:xfrm>
          <a:prstGeom prst="rect">
            <a:avLst/>
          </a:prstGeom>
          <a:noFill/>
        </p:spPr>
        <p:txBody>
          <a:bodyPr wrap="square" rtlCol="0">
            <a:spAutoFit/>
          </a:bodyPr>
          <a:lstStyle/>
          <a:p>
            <a:r>
              <a:rPr lang="en-US" altLang="zh-TW" b="1" dirty="0" smtClean="0">
                <a:latin typeface="Times New Roman" panose="02020603050405020304" pitchFamily="18" charset="0"/>
                <a:ea typeface="標楷體" panose="03000509000000000000" pitchFamily="65" charset="-120"/>
              </a:rPr>
              <a:t>Period 3</a:t>
            </a:r>
            <a:endParaRPr lang="zh-TW" altLang="en-US" b="1"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7724534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ea typeface="標楷體" panose="03000509000000000000" pitchFamily="65" charset="-120"/>
                <a:cs typeface="Times New Roman" panose="02020603050405020304" pitchFamily="18" charset="0"/>
              </a:rPr>
              <a:t>Moving average (MA)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Description:</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股價的趨勢</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(Trend)</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Formula: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𝑆𝑀𝐴</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𝑁</m:t>
                            </m:r>
                          </m:sub>
                        </m:sSub>
                      </m:num>
                      <m:den>
                        <m:r>
                          <a:rPr lang="en-US" altLang="zh-TW" sz="2000" b="0" i="1" smtClean="0">
                            <a:latin typeface="Cambria Math" panose="02040503050406030204" pitchFamily="18" charset="0"/>
                            <a:cs typeface="Times New Roman" panose="02020603050405020304" pitchFamily="18" charset="0"/>
                          </a:rPr>
                          <m:t>𝑁</m:t>
                        </m:r>
                      </m:den>
                    </m:f>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7</a:t>
            </a:fld>
            <a:endParaRPr lang="zh-TW" altLang="en-US" dirty="0">
              <a:latin typeface="Times New Roman" panose="02020603050405020304" pitchFamily="18" charset="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981756998"/>
              </p:ext>
            </p:extLst>
          </p:nvPr>
        </p:nvGraphicFramePr>
        <p:xfrm>
          <a:off x="95250" y="3167562"/>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6" name="矩形 5"/>
          <p:cNvSpPr/>
          <p:nvPr/>
        </p:nvSpPr>
        <p:spPr>
          <a:xfrm>
            <a:off x="4014662" y="3074126"/>
            <a:ext cx="4972593" cy="9231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7" name="向下箭號 6"/>
          <p:cNvSpPr/>
          <p:nvPr/>
        </p:nvSpPr>
        <p:spPr>
          <a:xfrm>
            <a:off x="6653357" y="4110446"/>
            <a:ext cx="304800" cy="4005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文字方塊 7"/>
              <p:cNvSpPr txBox="1"/>
              <p:nvPr/>
            </p:nvSpPr>
            <p:spPr>
              <a:xfrm>
                <a:off x="4119165" y="4615543"/>
                <a:ext cx="4824549" cy="618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51.55</m:t>
                          </m:r>
                          <m:r>
                            <a:rPr lang="en-US" altLang="zh-TW" i="1">
                              <a:latin typeface="Cambria Math" panose="02040503050406030204" pitchFamily="18" charset="0"/>
                            </a:rPr>
                            <m:t>+</m:t>
                          </m:r>
                          <m:r>
                            <a:rPr lang="en-US" altLang="zh-TW" b="0" i="1" smtClean="0">
                              <a:latin typeface="Cambria Math" panose="02040503050406030204" pitchFamily="18" charset="0"/>
                            </a:rPr>
                            <m:t>41</m:t>
                          </m:r>
                          <m:r>
                            <a:rPr lang="en-US" altLang="zh-TW" i="1">
                              <a:latin typeface="Cambria Math" panose="02040503050406030204" pitchFamily="18" charset="0"/>
                            </a:rPr>
                            <m:t>+</m:t>
                          </m:r>
                          <m:r>
                            <a:rPr lang="en-US" altLang="zh-TW" b="0" i="1" smtClean="0">
                              <a:latin typeface="Cambria Math" panose="02040503050406030204" pitchFamily="18" charset="0"/>
                            </a:rPr>
                            <m:t>41</m:t>
                          </m:r>
                          <m:r>
                            <a:rPr lang="en-US" altLang="zh-TW" i="1">
                              <a:latin typeface="Cambria Math" panose="02040503050406030204" pitchFamily="18" charset="0"/>
                            </a:rPr>
                            <m:t>+4</m:t>
                          </m:r>
                          <m:r>
                            <a:rPr lang="en-US" altLang="zh-TW" b="0" i="1" smtClean="0">
                              <a:latin typeface="Cambria Math" panose="02040503050406030204" pitchFamily="18" charset="0"/>
                            </a:rPr>
                            <m:t>1.65+43.8</m:t>
                          </m:r>
                        </m:num>
                        <m:den>
                          <m:r>
                            <a:rPr lang="en-US" altLang="zh-TW" b="0" i="1" smtClean="0">
                              <a:latin typeface="Cambria Math" panose="02040503050406030204" pitchFamily="18" charset="0"/>
                            </a:rPr>
                            <m:t>5</m:t>
                          </m:r>
                        </m:den>
                      </m:f>
                      <m:r>
                        <a:rPr lang="en-US" altLang="zh-TW" b="0" i="0" smtClean="0">
                          <a:latin typeface="Cambria Math" panose="02040503050406030204" pitchFamily="18" charset="0"/>
                        </a:rPr>
                        <m:t>=43.8</m:t>
                      </m:r>
                    </m:oMath>
                  </m:oMathPara>
                </a14:m>
                <a:endParaRPr lang="zh-TW" altLang="en-US" dirty="0">
                  <a:latin typeface="Times New Roman" panose="02020603050405020304" pitchFamily="18" charset="0"/>
                  <a:ea typeface="標楷體" panose="03000509000000000000" pitchFamily="65" charset="-12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4119165" y="4615543"/>
                <a:ext cx="4824549" cy="618374"/>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2635829606"/>
              </p:ext>
            </p:extLst>
          </p:nvPr>
        </p:nvGraphicFramePr>
        <p:xfrm>
          <a:off x="181380" y="5956935"/>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en-US" altLang="zh-TW" sz="1600" dirty="0" smtClean="0">
                          <a:latin typeface="Times New Roman" panose="02020603050405020304" pitchFamily="18" charset="0"/>
                          <a:cs typeface="Times New Roman" panose="02020603050405020304" pitchFamily="18" charset="0"/>
                        </a:rPr>
                        <a:t>45.79</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44.74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43.95</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smtClean="0">
                          <a:latin typeface="Times New Roman" panose="02020603050405020304" pitchFamily="18" charset="0"/>
                          <a:cs typeface="Times New Roman" panose="02020603050405020304" pitchFamily="18" charset="0"/>
                        </a:rPr>
                        <a:t>43.8</a:t>
                      </a:r>
                      <a:endParaRPr lang="zh-TW" altLang="en-US" sz="1600" dirty="0">
                        <a:latin typeface="Times New Roman" panose="02020603050405020304" pitchFamily="18" charset="0"/>
                        <a:cs typeface="Times New Roman" panose="02020603050405020304" pitchFamily="18" charset="0"/>
                      </a:endParaRPr>
                    </a:p>
                  </a:txBody>
                  <a:tcPr anchor="ctr"/>
                </a:tc>
              </a:tr>
            </a:tbl>
          </a:graphicData>
        </a:graphic>
      </p:graphicFrame>
      <p:sp>
        <p:nvSpPr>
          <p:cNvPr id="10" name="向下箭號 9"/>
          <p:cNvSpPr/>
          <p:nvPr/>
        </p:nvSpPr>
        <p:spPr>
          <a:xfrm rot="3977575">
            <a:off x="7629648" y="5039665"/>
            <a:ext cx="304800" cy="593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endParaRPr>
          </a:p>
        </p:txBody>
      </p:sp>
      <p:sp>
        <p:nvSpPr>
          <p:cNvPr id="11" name="文字方塊 10"/>
          <p:cNvSpPr txBox="1"/>
          <p:nvPr/>
        </p:nvSpPr>
        <p:spPr>
          <a:xfrm>
            <a:off x="4023375" y="2704794"/>
            <a:ext cx="1097265" cy="369332"/>
          </a:xfrm>
          <a:prstGeom prst="rect">
            <a:avLst/>
          </a:prstGeom>
          <a:noFill/>
        </p:spPr>
        <p:txBody>
          <a:bodyPr wrap="square" rtlCol="0">
            <a:spAutoFit/>
          </a:bodyPr>
          <a:lstStyle/>
          <a:p>
            <a:r>
              <a:rPr lang="en-US" altLang="zh-TW" b="1" dirty="0" smtClean="0">
                <a:latin typeface="Times New Roman" panose="02020603050405020304" pitchFamily="18" charset="0"/>
                <a:ea typeface="標楷體" panose="03000509000000000000" pitchFamily="65" charset="-120"/>
              </a:rPr>
              <a:t>Period 4</a:t>
            </a:r>
            <a:endParaRPr lang="zh-TW" altLang="en-US" b="1"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15405671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ea typeface="標楷體" panose="03000509000000000000" pitchFamily="65" charset="-120"/>
                <a:cs typeface="Times New Roman" panose="02020603050405020304" pitchFamily="18" charset="0"/>
              </a:rPr>
              <a:t>Moving average (MA)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2" name="內容版面配置區 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5250" y="1763848"/>
            <a:ext cx="8924925" cy="4308204"/>
          </a:xfr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8</a:t>
            </a:fld>
            <a:endParaRPr lang="zh-TW" altLang="en-US"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39287539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Exponential Moving average (EMA)</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股價的趨勢</a:t>
                </a:r>
                <a:r>
                  <a:rPr lang="en-US" altLang="zh-TW" sz="2000" dirty="0" smtClean="0">
                    <a:latin typeface="Times New Roman" panose="02020603050405020304" pitchFamily="18" charset="0"/>
                    <a:cs typeface="Times New Roman" panose="02020603050405020304" pitchFamily="18" charset="0"/>
                  </a:rPr>
                  <a:t>(Trend)</a:t>
                </a:r>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𝛼</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𝑝𝑟𝑖𝑐𝑒</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zh-TW" altLang="en-US" sz="2000" i="1">
                          <a:latin typeface="Cambria Math" panose="02040503050406030204" pitchFamily="18" charset="0"/>
                          <a:cs typeface="Times New Roman" panose="02020603050405020304" pitchFamily="18" charset="0"/>
                        </a:rPr>
                        <m:t>𝛼</m:t>
                      </m:r>
                      <m:r>
                        <a:rPr lang="en-US" altLang="zh-TW" sz="2000" b="0" i="1" smtClean="0">
                          <a:latin typeface="Cambria Math" panose="02040503050406030204" pitchFamily="18" charset="0"/>
                          <a:cs typeface="Times New Roman" panose="02020603050405020304" pitchFamily="18" charset="0"/>
                        </a:rPr>
                        <m:t>=</m:t>
                      </m:r>
                      <m:f>
                        <m:fPr>
                          <m:ctrlPr>
                            <a:rPr lang="en-US" altLang="zh-TW" sz="2000" i="1" dirty="0" smtClean="0">
                              <a:latin typeface="Cambria Math" panose="02040503050406030204" pitchFamily="18" charset="0"/>
                              <a:cs typeface="Times New Roman" panose="02020603050405020304" pitchFamily="18" charset="0"/>
                            </a:rPr>
                          </m:ctrlPr>
                        </m:fPr>
                        <m:num>
                          <m:r>
                            <a:rPr lang="en-US" altLang="zh-TW" sz="2000" b="0" i="1" dirty="0" smtClean="0">
                              <a:latin typeface="Cambria Math" panose="02040503050406030204" pitchFamily="18" charset="0"/>
                              <a:cs typeface="Times New Roman" panose="02020603050405020304" pitchFamily="18" charset="0"/>
                            </a:rPr>
                            <m:t>2</m:t>
                          </m:r>
                        </m:num>
                        <m:den>
                          <m:r>
                            <a:rPr lang="en-US" altLang="zh-TW" sz="2000" b="0" i="1" dirty="0" smtClean="0">
                              <a:latin typeface="Cambria Math" panose="02040503050406030204" pitchFamily="18" charset="0"/>
                              <a:cs typeface="Times New Roman" panose="02020603050405020304" pitchFamily="18" charset="0"/>
                            </a:rPr>
                            <m:t>𝑁</m:t>
                          </m:r>
                          <m:r>
                            <a:rPr lang="en-US" altLang="zh-TW" sz="2000" b="0" i="1" dirty="0" smtClean="0">
                              <a:latin typeface="Cambria Math" panose="02040503050406030204" pitchFamily="18" charset="0"/>
                              <a:cs typeface="Times New Roman" panose="02020603050405020304" pitchFamily="18" charset="0"/>
                            </a:rPr>
                            <m:t>+1</m:t>
                          </m:r>
                        </m:den>
                      </m:f>
                    </m:oMath>
                  </m:oMathPara>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9</a:t>
            </a:fld>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3143029138"/>
              </p:ext>
            </p:extLst>
          </p:nvPr>
        </p:nvGraphicFramePr>
        <p:xfrm>
          <a:off x="95252" y="3701389"/>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576052006"/>
              </p:ext>
            </p:extLst>
          </p:nvPr>
        </p:nvGraphicFramePr>
        <p:xfrm>
          <a:off x="128586" y="6350636"/>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endParaRPr lang="zh-TW" altLang="en-US" sz="1600" dirty="0">
                        <a:latin typeface="Times New Roman" panose="02020603050405020304" pitchFamily="18" charset="0"/>
                        <a:cs typeface="Times New Roman" panose="02020603050405020304" pitchFamily="18" charset="0"/>
                      </a:endParaRPr>
                    </a:p>
                  </a:txBody>
                  <a:tcPr/>
                </a:tc>
                <a:tc>
                  <a:txBody>
                    <a:bodyPr/>
                    <a:lstStyle/>
                    <a:p>
                      <a:endParaRPr lang="zh-TW" altLang="en-US" sz="1600">
                        <a:latin typeface="Times New Roman" panose="02020603050405020304" pitchFamily="18" charset="0"/>
                        <a:cs typeface="Times New Roman" panose="02020603050405020304" pitchFamily="18" charset="0"/>
                      </a:endParaRPr>
                    </a:p>
                  </a:txBody>
                  <a:tcPr/>
                </a:tc>
                <a:tc>
                  <a:txBody>
                    <a:bodyPr/>
                    <a:lstStyle/>
                    <a:p>
                      <a:endParaRPr lang="zh-TW" altLang="en-US" sz="1600" dirty="0">
                        <a:latin typeface="Times New Roman" panose="02020603050405020304" pitchFamily="18" charset="0"/>
                        <a:cs typeface="Times New Roman" panose="02020603050405020304" pitchFamily="18" charset="0"/>
                      </a:endParaRPr>
                    </a:p>
                  </a:txBody>
                  <a:tcPr/>
                </a:tc>
              </a:tr>
            </a:tbl>
          </a:graphicData>
        </a:graphic>
      </p:graphicFrame>
      <p:sp>
        <p:nvSpPr>
          <p:cNvPr id="10" name="矩形 9"/>
          <p:cNvSpPr/>
          <p:nvPr/>
        </p:nvSpPr>
        <p:spPr>
          <a:xfrm>
            <a:off x="5022376" y="3548418"/>
            <a:ext cx="1050878" cy="10372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5022376" y="3043451"/>
            <a:ext cx="1202210" cy="382137"/>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Period 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52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Exponential Moving average (EMA)</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股價的趨勢</a:t>
                </a:r>
                <a:r>
                  <a:rPr lang="en-US" altLang="zh-TW" sz="2000" dirty="0" smtClean="0">
                    <a:latin typeface="Times New Roman" panose="02020603050405020304" pitchFamily="18" charset="0"/>
                    <a:cs typeface="Times New Roman" panose="02020603050405020304" pitchFamily="18" charset="0"/>
                  </a:rPr>
                  <a:t>(Trend)</a:t>
                </a:r>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𝛼</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𝑝𝑟𝑖𝑐𝑒</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zh-TW" altLang="en-US" sz="2000" i="1">
                          <a:latin typeface="Cambria Math" panose="02040503050406030204" pitchFamily="18" charset="0"/>
                          <a:cs typeface="Times New Roman" panose="02020603050405020304" pitchFamily="18" charset="0"/>
                        </a:rPr>
                        <m:t>𝛼</m:t>
                      </m:r>
                      <m:r>
                        <a:rPr lang="en-US" altLang="zh-TW" sz="2000" b="0" i="1" smtClean="0">
                          <a:latin typeface="Cambria Math" panose="02040503050406030204" pitchFamily="18" charset="0"/>
                          <a:cs typeface="Times New Roman" panose="02020603050405020304" pitchFamily="18" charset="0"/>
                        </a:rPr>
                        <m:t>=</m:t>
                      </m:r>
                      <m:f>
                        <m:fPr>
                          <m:ctrlPr>
                            <a:rPr lang="en-US" altLang="zh-TW" sz="2000" i="1" dirty="0" smtClean="0">
                              <a:latin typeface="Cambria Math" panose="02040503050406030204" pitchFamily="18" charset="0"/>
                              <a:cs typeface="Times New Roman" panose="02020603050405020304" pitchFamily="18" charset="0"/>
                            </a:rPr>
                          </m:ctrlPr>
                        </m:fPr>
                        <m:num>
                          <m:r>
                            <a:rPr lang="en-US" altLang="zh-TW" sz="2000" b="0" i="1" dirty="0" smtClean="0">
                              <a:latin typeface="Cambria Math" panose="02040503050406030204" pitchFamily="18" charset="0"/>
                              <a:cs typeface="Times New Roman" panose="02020603050405020304" pitchFamily="18" charset="0"/>
                            </a:rPr>
                            <m:t>2</m:t>
                          </m:r>
                        </m:num>
                        <m:den>
                          <m:r>
                            <a:rPr lang="en-US" altLang="zh-TW" sz="2000" b="0" i="1" dirty="0" smtClean="0">
                              <a:latin typeface="Cambria Math" panose="02040503050406030204" pitchFamily="18" charset="0"/>
                              <a:cs typeface="Times New Roman" panose="02020603050405020304" pitchFamily="18" charset="0"/>
                            </a:rPr>
                            <m:t>𝑁</m:t>
                          </m:r>
                          <m:r>
                            <a:rPr lang="en-US" altLang="zh-TW" sz="2000" b="0" i="1" dirty="0" smtClean="0">
                              <a:latin typeface="Cambria Math" panose="02040503050406030204" pitchFamily="18" charset="0"/>
                              <a:cs typeface="Times New Roman" panose="02020603050405020304" pitchFamily="18" charset="0"/>
                            </a:rPr>
                            <m:t>+1</m:t>
                          </m:r>
                        </m:den>
                      </m:f>
                    </m:oMath>
                  </m:oMathPara>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10</a:t>
            </a:fld>
            <a:endParaRPr lang="zh-TW" altLang="en-US" dirty="0"/>
          </a:p>
        </p:txBody>
      </p:sp>
      <p:graphicFrame>
        <p:nvGraphicFramePr>
          <p:cNvPr id="5" name="表格 4"/>
          <p:cNvGraphicFramePr>
            <a:graphicFrameLocks noGrp="1"/>
          </p:cNvGraphicFramePr>
          <p:nvPr/>
        </p:nvGraphicFramePr>
        <p:xfrm>
          <a:off x="95252" y="3701389"/>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176263258"/>
              </p:ext>
            </p:extLst>
          </p:nvPr>
        </p:nvGraphicFramePr>
        <p:xfrm>
          <a:off x="128586" y="6350636"/>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endParaRPr lang="zh-TW" altLang="en-US" sz="1600">
                        <a:latin typeface="Times New Roman" panose="02020603050405020304" pitchFamily="18" charset="0"/>
                        <a:cs typeface="Times New Roman" panose="02020603050405020304" pitchFamily="18" charset="0"/>
                      </a:endParaRPr>
                    </a:p>
                  </a:txBody>
                  <a:tcPr/>
                </a:tc>
                <a:tc>
                  <a:txBody>
                    <a:bodyPr/>
                    <a:lstStyle/>
                    <a:p>
                      <a:endParaRPr lang="zh-TW" altLang="en-US" sz="1600" dirty="0">
                        <a:latin typeface="Times New Roman" panose="02020603050405020304" pitchFamily="18" charset="0"/>
                        <a:cs typeface="Times New Roman" panose="02020603050405020304" pitchFamily="18" charset="0"/>
                      </a:endParaRPr>
                    </a:p>
                  </a:txBody>
                  <a:tcPr/>
                </a:tc>
              </a:tr>
            </a:tbl>
          </a:graphicData>
        </a:graphic>
      </p:graphicFrame>
      <p:sp>
        <p:nvSpPr>
          <p:cNvPr id="10" name="矩形 9"/>
          <p:cNvSpPr/>
          <p:nvPr/>
        </p:nvSpPr>
        <p:spPr>
          <a:xfrm>
            <a:off x="2019869" y="3575712"/>
            <a:ext cx="5063319" cy="9826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1974376" y="3117143"/>
            <a:ext cx="1202210" cy="382137"/>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Period 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2750023" y="4760460"/>
                <a:ext cx="36030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41+0.33∗</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41−41</m:t>
                          </m:r>
                        </m:e>
                      </m:d>
                      <m:r>
                        <a:rPr lang="en-US" altLang="zh-TW" b="0" i="1" smtClean="0">
                          <a:latin typeface="Cambria Math" panose="02040503050406030204" pitchFamily="18" charset="0"/>
                        </a:rPr>
                        <m:t>=41</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750023" y="4760460"/>
                <a:ext cx="3603009" cy="369332"/>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982771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Exponential Moving average (EMA)</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股價的趨勢</a:t>
                </a:r>
                <a:r>
                  <a:rPr lang="en-US" altLang="zh-TW" sz="2000" dirty="0" smtClean="0">
                    <a:latin typeface="Times New Roman" panose="02020603050405020304" pitchFamily="18" charset="0"/>
                    <a:cs typeface="Times New Roman" panose="02020603050405020304" pitchFamily="18" charset="0"/>
                  </a:rPr>
                  <a:t>(Trend)</a:t>
                </a:r>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𝛼</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𝑝𝑟𝑖𝑐𝑒</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zh-TW" altLang="en-US" sz="2000" i="1">
                          <a:latin typeface="Cambria Math" panose="02040503050406030204" pitchFamily="18" charset="0"/>
                          <a:cs typeface="Times New Roman" panose="02020603050405020304" pitchFamily="18" charset="0"/>
                        </a:rPr>
                        <m:t>𝛼</m:t>
                      </m:r>
                      <m:r>
                        <a:rPr lang="en-US" altLang="zh-TW" sz="2000" b="0" i="1" smtClean="0">
                          <a:latin typeface="Cambria Math" panose="02040503050406030204" pitchFamily="18" charset="0"/>
                          <a:cs typeface="Times New Roman" panose="02020603050405020304" pitchFamily="18" charset="0"/>
                        </a:rPr>
                        <m:t>=</m:t>
                      </m:r>
                      <m:f>
                        <m:fPr>
                          <m:ctrlPr>
                            <a:rPr lang="en-US" altLang="zh-TW" sz="2000" i="1" dirty="0" smtClean="0">
                              <a:latin typeface="Cambria Math" panose="02040503050406030204" pitchFamily="18" charset="0"/>
                              <a:cs typeface="Times New Roman" panose="02020603050405020304" pitchFamily="18" charset="0"/>
                            </a:rPr>
                          </m:ctrlPr>
                        </m:fPr>
                        <m:num>
                          <m:r>
                            <a:rPr lang="en-US" altLang="zh-TW" sz="2000" b="0" i="1" dirty="0" smtClean="0">
                              <a:latin typeface="Cambria Math" panose="02040503050406030204" pitchFamily="18" charset="0"/>
                              <a:cs typeface="Times New Roman" panose="02020603050405020304" pitchFamily="18" charset="0"/>
                            </a:rPr>
                            <m:t>2</m:t>
                          </m:r>
                        </m:num>
                        <m:den>
                          <m:r>
                            <a:rPr lang="en-US" altLang="zh-TW" sz="2000" b="0" i="1" dirty="0" smtClean="0">
                              <a:latin typeface="Cambria Math" panose="02040503050406030204" pitchFamily="18" charset="0"/>
                              <a:cs typeface="Times New Roman" panose="02020603050405020304" pitchFamily="18" charset="0"/>
                            </a:rPr>
                            <m:t>𝑁</m:t>
                          </m:r>
                          <m:r>
                            <a:rPr lang="en-US" altLang="zh-TW" sz="2000" b="0" i="1" dirty="0" smtClean="0">
                              <a:latin typeface="Cambria Math" panose="02040503050406030204" pitchFamily="18" charset="0"/>
                              <a:cs typeface="Times New Roman" panose="02020603050405020304" pitchFamily="18" charset="0"/>
                            </a:rPr>
                            <m:t>+1</m:t>
                          </m:r>
                        </m:den>
                      </m:f>
                    </m:oMath>
                  </m:oMathPara>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11</a:t>
            </a:fld>
            <a:endParaRPr lang="zh-TW" altLang="en-US" dirty="0"/>
          </a:p>
        </p:txBody>
      </p:sp>
      <p:graphicFrame>
        <p:nvGraphicFramePr>
          <p:cNvPr id="5" name="表格 4"/>
          <p:cNvGraphicFramePr>
            <a:graphicFrameLocks noGrp="1"/>
          </p:cNvGraphicFramePr>
          <p:nvPr/>
        </p:nvGraphicFramePr>
        <p:xfrm>
          <a:off x="95252" y="3701389"/>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6073235"/>
              </p:ext>
            </p:extLst>
          </p:nvPr>
        </p:nvGraphicFramePr>
        <p:xfrm>
          <a:off x="128586" y="6350636"/>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41.21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endParaRPr lang="zh-TW" altLang="en-US" sz="1600" dirty="0">
                        <a:latin typeface="Times New Roman" panose="02020603050405020304" pitchFamily="18" charset="0"/>
                        <a:cs typeface="Times New Roman" panose="02020603050405020304" pitchFamily="18" charset="0"/>
                      </a:endParaRPr>
                    </a:p>
                  </a:txBody>
                  <a:tcPr/>
                </a:tc>
              </a:tr>
            </a:tbl>
          </a:graphicData>
        </a:graphic>
      </p:graphicFrame>
      <p:sp>
        <p:nvSpPr>
          <p:cNvPr id="10" name="矩形 9"/>
          <p:cNvSpPr/>
          <p:nvPr/>
        </p:nvSpPr>
        <p:spPr>
          <a:xfrm>
            <a:off x="3002510" y="3575712"/>
            <a:ext cx="5063319" cy="9826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3002510" y="3117088"/>
            <a:ext cx="1202210" cy="382137"/>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Period 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3897291" y="4760515"/>
                <a:ext cx="3589359" cy="369332"/>
              </a:xfrm>
              <a:prstGeom prst="rect">
                <a:avLst/>
              </a:prstGeom>
              <a:noFill/>
            </p:spPr>
            <p:txBody>
              <a:bodyPr wrap="square" rtlCol="0">
                <a:spAutoFit/>
              </a:bodyPr>
              <a:lstStyle/>
              <a:p>
                <a14:m>
                  <m:oMath xmlns:m="http://schemas.openxmlformats.org/officeDocument/2006/math">
                    <m:r>
                      <a:rPr lang="en-US" altLang="zh-TW" b="0" i="1" smtClean="0">
                        <a:latin typeface="Cambria Math" panose="02040503050406030204" pitchFamily="18" charset="0"/>
                      </a:rPr>
                      <m:t>41+0.33∗</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41.65−41</m:t>
                        </m:r>
                      </m:e>
                    </m:d>
                    <m:r>
                      <a:rPr lang="en-US" altLang="zh-TW" b="0" i="1" smtClean="0">
                        <a:latin typeface="Cambria Math" panose="02040503050406030204" pitchFamily="18" charset="0"/>
                      </a:rPr>
                      <m:t>=41</m:t>
                    </m:r>
                  </m:oMath>
                </a14:m>
                <a:r>
                  <a:rPr lang="en-US" altLang="zh-TW" dirty="0" smtClean="0"/>
                  <a:t>.21</a:t>
                </a:r>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897291" y="4760515"/>
                <a:ext cx="3589359" cy="369332"/>
              </a:xfrm>
              <a:prstGeom prst="rect">
                <a:avLst/>
              </a:prstGeom>
              <a:blipFill rotWithShape="0">
                <a:blip r:embed="rId4"/>
                <a:stretch>
                  <a:fillRect t="-9836"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077318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Exponential Moving average (EMA)</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股價的趨勢</a:t>
                </a:r>
                <a:r>
                  <a:rPr lang="en-US" altLang="zh-TW" sz="2000" dirty="0" smtClean="0">
                    <a:latin typeface="Times New Roman" panose="02020603050405020304" pitchFamily="18" charset="0"/>
                    <a:cs typeface="Times New Roman" panose="02020603050405020304" pitchFamily="18" charset="0"/>
                  </a:rPr>
                  <a:t>(Trend)</a:t>
                </a:r>
                <a:r>
                  <a:rPr lang="zh-TW" altLang="en-US" sz="2000" dirty="0" smtClean="0">
                    <a:latin typeface="Times New Roman" panose="02020603050405020304" pitchFamily="18" charset="0"/>
                    <a:cs typeface="Times New Roman" panose="02020603050405020304" pitchFamily="18" charset="0"/>
                  </a:rPr>
                  <a:t>，但越靠近今天的權重越高</a:t>
                </a:r>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000" dirty="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𝛼</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𝑝𝑟𝑖𝑐𝑒</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𝑡𝑜𝑑𝑎𝑦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𝐸𝑀𝐴</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𝑦𝑒𝑠𝑡𝑒𝑟𝑑𝑎𝑦</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zh-TW" altLang="en-US" sz="2000" i="1">
                          <a:latin typeface="Cambria Math" panose="02040503050406030204" pitchFamily="18" charset="0"/>
                          <a:cs typeface="Times New Roman" panose="02020603050405020304" pitchFamily="18" charset="0"/>
                        </a:rPr>
                        <m:t>𝛼</m:t>
                      </m:r>
                      <m:r>
                        <a:rPr lang="en-US" altLang="zh-TW" sz="2000" b="0" i="1" smtClean="0">
                          <a:latin typeface="Cambria Math" panose="02040503050406030204" pitchFamily="18" charset="0"/>
                          <a:cs typeface="Times New Roman" panose="02020603050405020304" pitchFamily="18" charset="0"/>
                        </a:rPr>
                        <m:t>=</m:t>
                      </m:r>
                      <m:f>
                        <m:fPr>
                          <m:ctrlPr>
                            <a:rPr lang="en-US" altLang="zh-TW" sz="2000" i="1" dirty="0" smtClean="0">
                              <a:latin typeface="Cambria Math" panose="02040503050406030204" pitchFamily="18" charset="0"/>
                              <a:cs typeface="Times New Roman" panose="02020603050405020304" pitchFamily="18" charset="0"/>
                            </a:rPr>
                          </m:ctrlPr>
                        </m:fPr>
                        <m:num>
                          <m:r>
                            <a:rPr lang="en-US" altLang="zh-TW" sz="2000" b="0" i="1" dirty="0" smtClean="0">
                              <a:latin typeface="Cambria Math" panose="02040503050406030204" pitchFamily="18" charset="0"/>
                              <a:cs typeface="Times New Roman" panose="02020603050405020304" pitchFamily="18" charset="0"/>
                            </a:rPr>
                            <m:t>2</m:t>
                          </m:r>
                        </m:num>
                        <m:den>
                          <m:r>
                            <a:rPr lang="en-US" altLang="zh-TW" sz="2000" b="0" i="1" dirty="0" smtClean="0">
                              <a:latin typeface="Cambria Math" panose="02040503050406030204" pitchFamily="18" charset="0"/>
                              <a:cs typeface="Times New Roman" panose="02020603050405020304" pitchFamily="18" charset="0"/>
                            </a:rPr>
                            <m:t>𝑁</m:t>
                          </m:r>
                          <m:r>
                            <a:rPr lang="en-US" altLang="zh-TW" sz="2000" b="0" i="1" dirty="0" smtClean="0">
                              <a:latin typeface="Cambria Math" panose="02040503050406030204" pitchFamily="18" charset="0"/>
                              <a:cs typeface="Times New Roman" panose="02020603050405020304" pitchFamily="18" charset="0"/>
                            </a:rPr>
                            <m:t>+1</m:t>
                          </m:r>
                        </m:den>
                      </m:f>
                    </m:oMath>
                  </m:oMathPara>
                </a14:m>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12</a:t>
            </a:fld>
            <a:endParaRPr lang="zh-TW" altLang="en-US" dirty="0"/>
          </a:p>
        </p:txBody>
      </p:sp>
      <p:graphicFrame>
        <p:nvGraphicFramePr>
          <p:cNvPr id="5" name="表格 4"/>
          <p:cNvGraphicFramePr>
            <a:graphicFrameLocks noGrp="1"/>
          </p:cNvGraphicFramePr>
          <p:nvPr/>
        </p:nvGraphicFramePr>
        <p:xfrm>
          <a:off x="95252" y="3701389"/>
          <a:ext cx="8924922" cy="750389"/>
        </p:xfrm>
        <a:graphic>
          <a:graphicData uri="http://schemas.openxmlformats.org/drawingml/2006/table">
            <a:tbl>
              <a:tblPr firstRow="1" bandRow="1">
                <a:tableStyleId>{5940675A-B579-460E-94D1-54222C63F5DA}</a:tableStyleId>
              </a:tblPr>
              <a:tblGrid>
                <a:gridCol w="991658"/>
                <a:gridCol w="991658"/>
                <a:gridCol w="991658"/>
                <a:gridCol w="991658"/>
                <a:gridCol w="991658"/>
                <a:gridCol w="991658"/>
                <a:gridCol w="991658"/>
                <a:gridCol w="991658"/>
                <a:gridCol w="991658"/>
              </a:tblGrid>
              <a:tr h="379549">
                <a:tc>
                  <a:txBody>
                    <a:bodyPr/>
                    <a:lstStyle/>
                    <a:p>
                      <a:r>
                        <a:rPr lang="en-US" altLang="zh-TW" sz="1400" dirty="0" smtClean="0">
                          <a:latin typeface="Times New Roman" panose="02020603050405020304" pitchFamily="18" charset="0"/>
                          <a:cs typeface="Times New Roman" panose="02020603050405020304" pitchFamily="18" charset="0"/>
                        </a:rPr>
                        <a:t>Date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b="1" dirty="0" smtClean="0">
                          <a:latin typeface="Times New Roman" panose="02020603050405020304" pitchFamily="18" charset="0"/>
                          <a:cs typeface="Times New Roman" panose="02020603050405020304" pitchFamily="18" charset="0"/>
                        </a:rPr>
                        <a:t>5/1</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5/2</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5/3</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5/4</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5/5</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5/6</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5/7</a:t>
                      </a:r>
                      <a:endParaRPr lang="zh-TW"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b="1" dirty="0" smtClean="0">
                          <a:latin typeface="Times New Roman" panose="02020603050405020304" pitchFamily="18" charset="0"/>
                          <a:cs typeface="Times New Roman" panose="02020603050405020304" pitchFamily="18" charset="0"/>
                        </a:rPr>
                        <a:t>5/8</a:t>
                      </a:r>
                      <a:endParaRPr lang="zh-TW" altLang="en-US" sz="1400" b="1" dirty="0">
                        <a:latin typeface="Times New Roman" panose="02020603050405020304" pitchFamily="18" charset="0"/>
                        <a:cs typeface="Times New Roman" panose="02020603050405020304" pitchFamily="18" charset="0"/>
                      </a:endParaRPr>
                    </a:p>
                  </a:txBody>
                  <a:tcPr anchor="ctr"/>
                </a:tc>
              </a:tr>
              <a:tr h="370840">
                <a:tc>
                  <a:txBody>
                    <a:bodyPr/>
                    <a:lstStyle/>
                    <a:p>
                      <a:r>
                        <a:rPr lang="en-US" altLang="zh-TW" sz="1400" dirty="0" smtClean="0">
                          <a:latin typeface="Times New Roman" panose="02020603050405020304" pitchFamily="18" charset="0"/>
                          <a:cs typeface="Times New Roman" panose="02020603050405020304" pitchFamily="18" charset="0"/>
                        </a:rPr>
                        <a:t>Close</a:t>
                      </a:r>
                      <a:r>
                        <a:rPr lang="en-US" altLang="zh-TW" sz="1400" baseline="0" dirty="0" smtClean="0">
                          <a:latin typeface="Times New Roman" panose="02020603050405020304" pitchFamily="18" charset="0"/>
                          <a:cs typeface="Times New Roman" panose="02020603050405020304" pitchFamily="18" charset="0"/>
                        </a:rPr>
                        <a:t> price</a:t>
                      </a:r>
                      <a:endParaRPr lang="zh-TW" altLang="en-US" sz="1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1400" dirty="0" smtClean="0">
                          <a:latin typeface="Times New Roman" panose="02020603050405020304" pitchFamily="18" charset="0"/>
                          <a:cs typeface="Times New Roman" panose="02020603050405020304" pitchFamily="18" charset="0"/>
                        </a:rPr>
                        <a:t>46.25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45.6</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44.55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51.55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41.65</a:t>
                      </a: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smtClean="0">
                          <a:latin typeface="Times New Roman" panose="02020603050405020304" pitchFamily="18" charset="0"/>
                          <a:cs typeface="Times New Roman" panose="02020603050405020304" pitchFamily="18" charset="0"/>
                        </a:rPr>
                        <a:t>43.8</a:t>
                      </a:r>
                      <a:endParaRPr lang="zh-TW" altLang="en-US" sz="1400" dirty="0">
                        <a:latin typeface="Times New Roman" panose="02020603050405020304" pitchFamily="18" charset="0"/>
                        <a:cs typeface="Times New Roman" panose="02020603050405020304" pitchFamily="18" charset="0"/>
                      </a:endParaRPr>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874850869"/>
              </p:ext>
            </p:extLst>
          </p:nvPr>
        </p:nvGraphicFramePr>
        <p:xfrm>
          <a:off x="128586" y="6350636"/>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41.21</a:t>
                      </a:r>
                      <a:endParaRPr lang="zh-TW" altLang="en-US" sz="1600" dirty="0">
                        <a:latin typeface="Times New Roman" panose="02020603050405020304" pitchFamily="18" charset="0"/>
                        <a:cs typeface="Times New Roman" panose="02020603050405020304" pitchFamily="18" charset="0"/>
                      </a:endParaRPr>
                    </a:p>
                  </a:txBody>
                  <a:tcPr/>
                </a:tc>
                <a:tc>
                  <a:txBody>
                    <a:bodyPr/>
                    <a:lstStyle/>
                    <a:p>
                      <a:r>
                        <a:rPr lang="en-US" altLang="zh-TW" sz="1600" dirty="0" smtClean="0">
                          <a:latin typeface="Times New Roman" panose="02020603050405020304" pitchFamily="18" charset="0"/>
                          <a:cs typeface="Times New Roman" panose="02020603050405020304" pitchFamily="18" charset="0"/>
                        </a:rPr>
                        <a:t>42.06</a:t>
                      </a:r>
                      <a:endParaRPr lang="zh-TW" altLang="en-US" sz="1600" dirty="0">
                        <a:latin typeface="Times New Roman" panose="02020603050405020304" pitchFamily="18" charset="0"/>
                        <a:cs typeface="Times New Roman" panose="02020603050405020304" pitchFamily="18" charset="0"/>
                      </a:endParaRPr>
                    </a:p>
                  </a:txBody>
                  <a:tcPr/>
                </a:tc>
              </a:tr>
            </a:tbl>
          </a:graphicData>
        </a:graphic>
      </p:graphicFrame>
      <p:sp>
        <p:nvSpPr>
          <p:cNvPr id="10" name="矩形 9"/>
          <p:cNvSpPr/>
          <p:nvPr/>
        </p:nvSpPr>
        <p:spPr>
          <a:xfrm>
            <a:off x="4012444" y="3575712"/>
            <a:ext cx="5063319" cy="9826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4026100" y="3117088"/>
            <a:ext cx="1202210" cy="382137"/>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Period 4</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4490113" y="4760515"/>
                <a:ext cx="43809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41.21+0.33∗</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43.8−41.21</m:t>
                          </m:r>
                        </m:e>
                      </m:d>
                      <m:r>
                        <a:rPr lang="en-US" altLang="zh-TW" b="0" i="1" smtClean="0">
                          <a:latin typeface="Cambria Math" panose="02040503050406030204" pitchFamily="18" charset="0"/>
                        </a:rPr>
                        <m:t>=42.06</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490113" y="4760515"/>
                <a:ext cx="4380932" cy="369332"/>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708349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a:latin typeface="Times New Roman" panose="02020603050405020304" pitchFamily="18" charset="0"/>
                <a:cs typeface="Times New Roman" panose="02020603050405020304" pitchFamily="18" charset="0"/>
              </a:rPr>
              <a:t>Exponential Moving average (EMA)</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13</a:t>
            </a:fld>
            <a:endParaRPr lang="zh-TW" altLang="en-US" dirty="0">
              <a:latin typeface="Times New Roman" panose="02020603050405020304" pitchFamily="18" charset="0"/>
              <a:ea typeface="標楷體" panose="03000509000000000000" pitchFamily="65" charset="-120"/>
            </a:endParaRPr>
          </a:p>
        </p:txBody>
      </p:sp>
      <p:pic>
        <p:nvPicPr>
          <p:cNvPr id="7" name="內容版面配置區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72796" y="2228582"/>
            <a:ext cx="8205562" cy="3667249"/>
          </a:xfrm>
        </p:spPr>
      </p:pic>
    </p:spTree>
    <p:extLst>
      <p:ext uri="{BB962C8B-B14F-4D97-AF65-F5344CB8AC3E}">
        <p14:creationId xmlns:p14="http://schemas.microsoft.com/office/powerpoint/2010/main" val="10189397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Moving Average Convergence Divergence</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Description:</a:t>
                </a:r>
                <a:r>
                  <a:rPr lang="zh-TW" altLang="en-US" sz="2000" dirty="0" smtClean="0">
                    <a:latin typeface="Times New Roman" panose="02020603050405020304" pitchFamily="18" charset="0"/>
                    <a:cs typeface="Times New Roman" panose="02020603050405020304" pitchFamily="18" charset="0"/>
                  </a:rPr>
                  <a:t> 用</a:t>
                </a:r>
                <a:r>
                  <a:rPr lang="en-US" altLang="zh-TW" sz="2000" dirty="0" smtClean="0">
                    <a:latin typeface="Times New Roman" panose="02020603050405020304" pitchFamily="18" charset="0"/>
                    <a:cs typeface="Times New Roman" panose="02020603050405020304" pitchFamily="18" charset="0"/>
                  </a:rPr>
                  <a:t>long-term</a:t>
                </a:r>
                <a:r>
                  <a:rPr lang="zh-TW" altLang="en-US" sz="2000" dirty="0" smtClean="0">
                    <a:latin typeface="Times New Roman" panose="02020603050405020304" pitchFamily="18" charset="0"/>
                    <a:cs typeface="Times New Roman" panose="02020603050405020304" pitchFamily="18" charset="0"/>
                  </a:rPr>
                  <a:t>和</a:t>
                </a:r>
                <a:r>
                  <a:rPr lang="en-US" altLang="zh-TW" sz="2000" dirty="0" smtClean="0">
                    <a:latin typeface="Times New Roman" panose="02020603050405020304" pitchFamily="18" charset="0"/>
                    <a:cs typeface="Times New Roman" panose="02020603050405020304" pitchFamily="18" charset="0"/>
                  </a:rPr>
                  <a:t>short-term</a:t>
                </a:r>
                <a:r>
                  <a:rPr lang="zh-TW" altLang="en-US" sz="2000" dirty="0" smtClean="0">
                    <a:latin typeface="Times New Roman" panose="02020603050405020304" pitchFamily="18" charset="0"/>
                    <a:cs typeface="Times New Roman" panose="02020603050405020304" pitchFamily="18" charset="0"/>
                  </a:rPr>
                  <a:t>兩條</a:t>
                </a:r>
                <a:r>
                  <a:rPr lang="en-US" altLang="zh-TW" sz="2000" dirty="0" smtClean="0">
                    <a:latin typeface="Times New Roman" panose="02020603050405020304" pitchFamily="18" charset="0"/>
                    <a:cs typeface="Times New Roman" panose="02020603050405020304" pitchFamily="18" charset="0"/>
                  </a:rPr>
                  <a:t>EMA</a:t>
                </a:r>
                <a:r>
                  <a:rPr lang="zh-TW" altLang="en-US" sz="2000" dirty="0" smtClean="0">
                    <a:latin typeface="Times New Roman" panose="02020603050405020304" pitchFamily="18" charset="0"/>
                    <a:cs typeface="Times New Roman" panose="02020603050405020304" pitchFamily="18" charset="0"/>
                  </a:rPr>
                  <a:t>線來觀察股價趨勢</a:t>
                </a:r>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Formula:</a:t>
                </a:r>
              </a:p>
              <a:p>
                <a:pPr marL="457200" indent="-457200">
                  <a:lnSpc>
                    <a:spcPct val="150000"/>
                  </a:lnSpc>
                  <a:buAutoNum type="arabicPeriod"/>
                </a:pP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𝑀𝐴𝐶𝐷</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𝐸𝑀𝐴</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12</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𝐸𝑀𝐴</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26</m:t>
                        </m:r>
                      </m:e>
                    </m:d>
                  </m:oMath>
                </a14:m>
                <a:endParaRPr lang="en-US" altLang="zh-TW" sz="2000" b="0" dirty="0" smtClean="0">
                  <a:latin typeface="Times New Roman" panose="02020603050405020304" pitchFamily="18" charset="0"/>
                  <a:cs typeface="Times New Roman" panose="02020603050405020304" pitchFamily="18" charset="0"/>
                </a:endParaRPr>
              </a:p>
              <a:p>
                <a:pPr marL="457200" indent="-457200">
                  <a:lnSpc>
                    <a:spcPct val="150000"/>
                  </a:lnSpc>
                  <a:buAutoNum type="arabicPeriod"/>
                </a:pP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𝑆𝑖𝑔𝑛𝑎𝑙</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𝐸𝑀𝐴</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9, </m:t>
                        </m:r>
                        <m:r>
                          <a:rPr lang="en-US" altLang="zh-TW" sz="2000" b="0" i="1" smtClean="0">
                            <a:latin typeface="Cambria Math" panose="02040503050406030204" pitchFamily="18" charset="0"/>
                            <a:cs typeface="Times New Roman" panose="02020603050405020304" pitchFamily="18" charset="0"/>
                          </a:rPr>
                          <m:t>𝑀𝐴𝐶𝐷</m:t>
                        </m:r>
                      </m:e>
                    </m:d>
                  </m:oMath>
                </a14:m>
                <a:endParaRPr lang="en-US" altLang="zh-TW" sz="2000" b="0" dirty="0" smtClean="0">
                  <a:latin typeface="Times New Roman" panose="02020603050405020304" pitchFamily="18" charset="0"/>
                  <a:cs typeface="Times New Roman" panose="02020603050405020304" pitchFamily="18" charset="0"/>
                </a:endParaRPr>
              </a:p>
              <a:p>
                <a:pPr marL="457200" indent="-457200">
                  <a:lnSpc>
                    <a:spcPct val="150000"/>
                  </a:lnSpc>
                  <a:buAutoNum type="arabicPeriod"/>
                </a:pPr>
                <a14:m>
                  <m:oMath xmlns:m="http://schemas.openxmlformats.org/officeDocument/2006/math">
                    <m:r>
                      <a:rPr lang="en-US" altLang="zh-TW" sz="1700" b="0" i="1" smtClean="0">
                        <a:latin typeface="Cambria Math" panose="02040503050406030204" pitchFamily="18" charset="0"/>
                        <a:cs typeface="Times New Roman" panose="02020603050405020304" pitchFamily="18" charset="0"/>
                      </a:rPr>
                      <m:t>𝐻𝑖𝑠𝑡𝑜𝑔𝑟𝑎𝑚</m:t>
                    </m:r>
                    <m:r>
                      <a:rPr lang="en-US" altLang="zh-TW" sz="1700" b="0" i="1" smtClean="0">
                        <a:latin typeface="Cambria Math" panose="02040503050406030204" pitchFamily="18" charset="0"/>
                        <a:cs typeface="Times New Roman" panose="02020603050405020304" pitchFamily="18" charset="0"/>
                      </a:rPr>
                      <m:t>=</m:t>
                    </m:r>
                    <m:r>
                      <a:rPr lang="en-US" altLang="zh-TW" sz="1700" b="0" i="1" smtClean="0">
                        <a:latin typeface="Cambria Math" panose="02040503050406030204" pitchFamily="18" charset="0"/>
                        <a:cs typeface="Times New Roman" panose="02020603050405020304" pitchFamily="18" charset="0"/>
                      </a:rPr>
                      <m:t>𝑀𝐴𝐶𝐷</m:t>
                    </m:r>
                    <m:r>
                      <a:rPr lang="en-US" altLang="zh-TW" sz="1700" b="0" i="1" smtClean="0">
                        <a:latin typeface="Cambria Math" panose="02040503050406030204" pitchFamily="18" charset="0"/>
                        <a:cs typeface="Times New Roman" panose="02020603050405020304" pitchFamily="18" charset="0"/>
                      </a:rPr>
                      <m:t>−</m:t>
                    </m:r>
                    <m:r>
                      <a:rPr lang="en-US" altLang="zh-TW" sz="1700" b="0" i="1" smtClean="0">
                        <a:latin typeface="Cambria Math" panose="02040503050406030204" pitchFamily="18" charset="0"/>
                        <a:cs typeface="Times New Roman" panose="02020603050405020304" pitchFamily="18" charset="0"/>
                      </a:rPr>
                      <m:t>𝑆𝑖𝑔𝑛𝑎𝑙</m:t>
                    </m:r>
                  </m:oMath>
                </a14:m>
                <a:endParaRPr lang="en-US" altLang="zh-TW" sz="1700" dirty="0" smtClean="0">
                  <a:latin typeface="Times New Roman" panose="02020603050405020304" pitchFamily="18" charset="0"/>
                  <a:cs typeface="Times New Roman" panose="02020603050405020304" pitchFamily="18" charset="0"/>
                </a:endParaRPr>
              </a:p>
              <a:p>
                <a:pPr marL="457200" indent="-457200">
                  <a:lnSpc>
                    <a:spcPct val="150000"/>
                  </a:lnSpc>
                  <a:buAutoNum type="arabicPeriod"/>
                </a:pPr>
                <a:endParaRPr lang="en-US" altLang="zh-TW" sz="170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000"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14</a:t>
            </a:fld>
            <a:endParaRPr lang="zh-TW" altLang="en-US" dirty="0"/>
          </a:p>
        </p:txBody>
      </p:sp>
    </p:spTree>
    <p:extLst>
      <p:ext uri="{BB962C8B-B14F-4D97-AF65-F5344CB8AC3E}">
        <p14:creationId xmlns:p14="http://schemas.microsoft.com/office/powerpoint/2010/main" val="26036085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a:latin typeface="Times New Roman" panose="02020603050405020304" pitchFamily="18" charset="0"/>
                <a:cs typeface="Times New Roman" panose="02020603050405020304" pitchFamily="18" charset="0"/>
              </a:rPr>
              <a:t>Moving Average Convergence Divergence</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15</a:t>
            </a:fld>
            <a:endParaRPr lang="zh-TW" altLang="en-US" dirty="0">
              <a:latin typeface="Times New Roman" panose="02020603050405020304" pitchFamily="18" charset="0"/>
              <a:ea typeface="標楷體" panose="03000509000000000000" pitchFamily="65" charset="-120"/>
            </a:endParaRPr>
          </a:p>
        </p:txBody>
      </p:sp>
      <p:pic>
        <p:nvPicPr>
          <p:cNvPr id="5" name="圖片 4"/>
          <p:cNvPicPr>
            <a:picLocks noChangeAspect="1"/>
          </p:cNvPicPr>
          <p:nvPr/>
        </p:nvPicPr>
        <p:blipFill>
          <a:blip r:embed="rId3"/>
          <a:stretch>
            <a:fillRect/>
          </a:stretch>
        </p:blipFill>
        <p:spPr>
          <a:xfrm>
            <a:off x="337710" y="1454268"/>
            <a:ext cx="8451447" cy="5076788"/>
          </a:xfrm>
          <a:prstGeom prst="rect">
            <a:avLst/>
          </a:prstGeom>
        </p:spPr>
      </p:pic>
    </p:spTree>
    <p:extLst>
      <p:ext uri="{BB962C8B-B14F-4D97-AF65-F5344CB8AC3E}">
        <p14:creationId xmlns:p14="http://schemas.microsoft.com/office/powerpoint/2010/main" val="17731625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Triple Screen</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00000"/>
              </a:lnSpc>
              <a:buNone/>
            </a:pPr>
            <a:r>
              <a:rPr lang="zh-TW" altLang="en-US" sz="1800" b="1" dirty="0" smtClean="0">
                <a:latin typeface="Times New Roman" panose="02020603050405020304" pitchFamily="18" charset="0"/>
                <a:ea typeface="標楷體" panose="03000509000000000000" pitchFamily="65" charset="-120"/>
                <a:cs typeface="Times New Roman" panose="02020603050405020304" pitchFamily="18" charset="0"/>
              </a:rPr>
              <a:t>中文名稱</a:t>
            </a:r>
            <a:r>
              <a:rPr lang="en-US" altLang="zh-TW" sz="1800" b="1"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800" b="1" dirty="0" smtClean="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三層濾網</a:t>
            </a:r>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00000"/>
              </a:lnSpc>
              <a:buNone/>
            </a:pPr>
            <a:r>
              <a:rPr lang="en-US" altLang="zh-TW" sz="1800" b="1" dirty="0" smtClean="0">
                <a:latin typeface="Times New Roman" panose="02020603050405020304" pitchFamily="18" charset="0"/>
                <a:ea typeface="標楷體" panose="03000509000000000000" pitchFamily="65" charset="-120"/>
                <a:cs typeface="Times New Roman" panose="02020603050405020304" pitchFamily="18" charset="0"/>
              </a:rPr>
              <a:t>Author:</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Alexander Elder (</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投資專家、作者</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00000"/>
              </a:lnSpc>
              <a:buNone/>
            </a:pPr>
            <a:r>
              <a:rPr lang="en-US" altLang="zh-TW" sz="1800" b="1" dirty="0" smtClean="0">
                <a:latin typeface="Times New Roman" panose="02020603050405020304" pitchFamily="18" charset="0"/>
                <a:ea typeface="標楷體" panose="03000509000000000000" pitchFamily="65" charset="-120"/>
                <a:cs typeface="Times New Roman" panose="02020603050405020304" pitchFamily="18" charset="0"/>
              </a:rPr>
              <a:t>Time:</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1985</a:t>
            </a:r>
          </a:p>
          <a:p>
            <a:pPr marL="0" indent="0">
              <a:lnSpc>
                <a:spcPct val="100000"/>
              </a:lnSpc>
              <a:buNone/>
            </a:pPr>
            <a:r>
              <a:rPr lang="en-US" altLang="zh-TW" sz="1800" b="1" dirty="0" smtClean="0">
                <a:latin typeface="Times New Roman" panose="02020603050405020304" pitchFamily="18" charset="0"/>
                <a:ea typeface="標楷體" panose="03000509000000000000" pitchFamily="65" charset="-120"/>
                <a:cs typeface="Times New Roman" panose="02020603050405020304" pitchFamily="18" charset="0"/>
              </a:rPr>
              <a:t>Features:</a:t>
            </a:r>
          </a:p>
          <a:p>
            <a:pPr marL="342900" indent="-342900">
              <a:lnSpc>
                <a:spcPct val="100000"/>
              </a:lnSpc>
              <a:buAutoNum type="arabicPeriod"/>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Three Layers</a:t>
            </a:r>
          </a:p>
          <a:p>
            <a:pPr marL="342900" indent="-342900">
              <a:lnSpc>
                <a:spcPct val="100000"/>
              </a:lnSpc>
              <a:buAutoNum type="arabicPeriod"/>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Tracking trends</a:t>
            </a:r>
          </a:p>
          <a:p>
            <a:pPr marL="342900" indent="-342900">
              <a:lnSpc>
                <a:spcPct val="100000"/>
              </a:lnSpc>
              <a:buAutoNum type="arabicPeriod"/>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Avoiding false signals</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16</a:t>
            </a:fld>
            <a:endParaRPr lang="zh-TW" altLang="en-US" dirty="0"/>
          </a:p>
        </p:txBody>
      </p:sp>
    </p:spTree>
    <p:extLst>
      <p:ext uri="{BB962C8B-B14F-4D97-AF65-F5344CB8AC3E}">
        <p14:creationId xmlns:p14="http://schemas.microsoft.com/office/powerpoint/2010/main" val="18364653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First Screen (</a:t>
            </a:r>
            <a:r>
              <a:rPr lang="zh-TW" altLang="en-US" sz="4000" dirty="0" smtClean="0">
                <a:latin typeface="Times New Roman" panose="02020603050405020304" pitchFamily="18" charset="0"/>
                <a:cs typeface="Times New Roman" panose="02020603050405020304" pitchFamily="18" charset="0"/>
              </a:rPr>
              <a:t>第一層</a:t>
            </a:r>
            <a:r>
              <a:rPr lang="en-US" altLang="zh-TW" sz="4000" dirty="0" smtClean="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觀察目標</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MACD</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histogram(</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柱狀圖</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重點</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00000"/>
              </a:lnSpc>
              <a:buAutoNum type="arabicPeriod"/>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趨勢上升，可能上漲</a:t>
            </a:r>
            <a:endParaRPr lang="en-US" altLang="zh-TW" sz="14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00000"/>
              </a:lnSpc>
              <a:buAutoNum type="arabicPeriod"/>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趨勢下降，可能下</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跌</a:t>
            </a:r>
            <a:endPar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00000"/>
              </a:lnSpc>
              <a:buNone/>
            </a:pPr>
            <a:endParaRPr lang="en-US" altLang="zh-TW" sz="1800"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17</a:t>
            </a:fld>
            <a:endParaRPr lang="zh-TW" altLang="en-US" dirty="0"/>
          </a:p>
        </p:txBody>
      </p:sp>
      <p:sp>
        <p:nvSpPr>
          <p:cNvPr id="9" name="向下箭號 8"/>
          <p:cNvSpPr/>
          <p:nvPr/>
        </p:nvSpPr>
        <p:spPr>
          <a:xfrm>
            <a:off x="3979817" y="5643155"/>
            <a:ext cx="200298" cy="2699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向下箭號 9"/>
          <p:cNvSpPr/>
          <p:nvPr/>
        </p:nvSpPr>
        <p:spPr>
          <a:xfrm>
            <a:off x="5064035" y="5551715"/>
            <a:ext cx="200298" cy="2699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p:cNvPicPr>
            <a:picLocks noChangeAspect="1"/>
          </p:cNvPicPr>
          <p:nvPr/>
        </p:nvPicPr>
        <p:blipFill>
          <a:blip r:embed="rId3"/>
          <a:stretch>
            <a:fillRect/>
          </a:stretch>
        </p:blipFill>
        <p:spPr>
          <a:xfrm>
            <a:off x="1288215" y="2370038"/>
            <a:ext cx="6538991" cy="4412398"/>
          </a:xfrm>
          <a:prstGeom prst="rect">
            <a:avLst/>
          </a:prstGeom>
        </p:spPr>
      </p:pic>
      <p:sp>
        <p:nvSpPr>
          <p:cNvPr id="14" name="矩形 13"/>
          <p:cNvSpPr/>
          <p:nvPr/>
        </p:nvSpPr>
        <p:spPr>
          <a:xfrm>
            <a:off x="6270171" y="5778137"/>
            <a:ext cx="348343" cy="5782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871448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Second Screen (</a:t>
            </a:r>
            <a:r>
              <a:rPr lang="zh-TW" altLang="en-US" sz="4000" dirty="0" smtClean="0">
                <a:latin typeface="Times New Roman" panose="02020603050405020304" pitchFamily="18" charset="0"/>
                <a:cs typeface="Times New Roman" panose="02020603050405020304" pitchFamily="18" charset="0"/>
              </a:rPr>
              <a:t>第</a:t>
            </a:r>
            <a:r>
              <a:rPr lang="zh-TW" altLang="en-US" sz="4000" dirty="0">
                <a:latin typeface="Times New Roman" panose="02020603050405020304" pitchFamily="18" charset="0"/>
                <a:cs typeface="Times New Roman" panose="02020603050405020304" pitchFamily="18" charset="0"/>
              </a:rPr>
              <a:t>二</a:t>
            </a:r>
            <a:r>
              <a:rPr lang="zh-TW" altLang="en-US" sz="4000" dirty="0" smtClean="0">
                <a:latin typeface="Times New Roman" panose="02020603050405020304" pitchFamily="18" charset="0"/>
                <a:cs typeface="Times New Roman" panose="02020603050405020304" pitchFamily="18" charset="0"/>
              </a:rPr>
              <a:t>層</a:t>
            </a:r>
            <a:r>
              <a:rPr lang="en-US" altLang="zh-TW" sz="4000" dirty="0" smtClean="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觀察目標</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MACD</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histogram(</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柱狀圖</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重點</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rPr>
              <a:t>周線上升，日線下跌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Buy</a:t>
            </a:r>
          </a:p>
          <a:p>
            <a:pPr marL="0" indent="0">
              <a:lnSpc>
                <a:spcPct val="100000"/>
              </a:lnSpc>
              <a:buNone/>
            </a:pP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周線下跌，日線上升</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t>
            </a:r>
            <a:r>
              <a:rPr lang="zh-TW" altLang="en-US"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Sell</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18</a:t>
            </a:fld>
            <a:endParaRPr lang="zh-TW" altLang="en-US" dirty="0"/>
          </a:p>
        </p:txBody>
      </p:sp>
      <p:pic>
        <p:nvPicPr>
          <p:cNvPr id="6" name="圖片 5"/>
          <p:cNvPicPr>
            <a:picLocks noChangeAspect="1"/>
          </p:cNvPicPr>
          <p:nvPr/>
        </p:nvPicPr>
        <p:blipFill>
          <a:blip r:embed="rId3"/>
          <a:stretch>
            <a:fillRect/>
          </a:stretch>
        </p:blipFill>
        <p:spPr>
          <a:xfrm>
            <a:off x="1215227" y="2343924"/>
            <a:ext cx="6684967" cy="4514076"/>
          </a:xfrm>
          <a:prstGeom prst="rect">
            <a:avLst/>
          </a:prstGeom>
        </p:spPr>
      </p:pic>
      <p:sp>
        <p:nvSpPr>
          <p:cNvPr id="7" name="矩形 6"/>
          <p:cNvSpPr/>
          <p:nvPr/>
        </p:nvSpPr>
        <p:spPr>
          <a:xfrm>
            <a:off x="3901440" y="5721531"/>
            <a:ext cx="365760" cy="5138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720320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Third Screen (</a:t>
            </a:r>
            <a:r>
              <a:rPr lang="zh-TW" altLang="en-US" sz="4000" dirty="0" smtClean="0">
                <a:latin typeface="Times New Roman" panose="02020603050405020304" pitchFamily="18" charset="0"/>
                <a:cs typeface="Times New Roman" panose="02020603050405020304" pitchFamily="18" charset="0"/>
              </a:rPr>
              <a:t>第三</a:t>
            </a:r>
            <a:r>
              <a:rPr lang="zh-TW" altLang="en-US" sz="4000" dirty="0">
                <a:latin typeface="Times New Roman" panose="02020603050405020304" pitchFamily="18" charset="0"/>
                <a:cs typeface="Times New Roman" panose="02020603050405020304" pitchFamily="18" charset="0"/>
              </a:rPr>
              <a:t>層</a:t>
            </a:r>
            <a:r>
              <a:rPr lang="en-US" altLang="zh-TW" sz="4000" dirty="0" smtClean="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00000"/>
              </a:lnSpc>
              <a:buNone/>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Use</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Trailing buy-stop</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and Trailing sell-stop</a:t>
            </a:r>
          </a:p>
          <a:p>
            <a:pPr marL="0" indent="0">
              <a:lnSpc>
                <a:spcPct val="100000"/>
              </a:lnSpc>
              <a:buNone/>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Method:</a:t>
            </a:r>
          </a:p>
          <a:p>
            <a:pPr marL="342900" indent="-342900">
              <a:lnSpc>
                <a:spcPct val="100000"/>
              </a:lnSpc>
              <a:buAutoNum type="arabicPeriod"/>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Buy signal:</a:t>
            </a:r>
          </a:p>
          <a:p>
            <a:pPr marL="0" indent="0">
              <a:lnSpc>
                <a:spcPct val="100000"/>
              </a:lnSpc>
              <a:buNone/>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如果今天使用了第一層和第二層結果顯示出</a:t>
            </a:r>
            <a:r>
              <a:rPr lang="en-US" altLang="zh-TW"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buy</a:t>
            </a:r>
            <a:r>
              <a:rPr lang="zh-TW" altLang="en-US"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r>
              <a:rPr lang="en-US" altLang="zh-TW"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signal</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，那就把觸發價位設定為前一天</a:t>
            </a:r>
            <a:r>
              <a:rPr lang="zh-TW" altLang="en-US"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最高價再往上一點</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，如果在盤中價格</a:t>
            </a:r>
            <a:r>
              <a:rPr lang="zh-TW" altLang="en-US"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突破</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至設定的價位時，就進行</a:t>
            </a:r>
            <a:r>
              <a:rPr lang="zh-TW" altLang="en-US"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買進</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動作</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t>
            </a:r>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endParaRPr>
          </a:p>
          <a:p>
            <a:pPr marL="342900" indent="-342900">
              <a:lnSpc>
                <a:spcPct val="100000"/>
              </a:lnSpc>
              <a:buFont typeface="+mj-lt"/>
              <a:buAutoNum type="arabicPeriod" startAt="2"/>
            </a:pP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Sell Signal:</a:t>
            </a:r>
          </a:p>
          <a:p>
            <a:pPr marL="0" indent="0">
              <a:lnSpc>
                <a:spcPct val="100000"/>
              </a:lnSpc>
              <a:buNone/>
            </a:pP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如果今天使用了第一層和第二層結果顯示出</a:t>
            </a:r>
            <a:r>
              <a:rPr lang="en-US" altLang="zh-TW" sz="18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sell signal</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，那就把觸發價位設定為前一天</a:t>
            </a:r>
            <a:r>
              <a:rPr lang="zh-TW" altLang="en-US" sz="18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最低價再往下一點</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，如果在盤中價格</a:t>
            </a:r>
            <a:r>
              <a:rPr lang="zh-TW" altLang="en-US" sz="18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跌</a:t>
            </a:r>
            <a:r>
              <a:rPr lang="zh-TW" altLang="en-US" sz="18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出</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至設定的價位時，就進行</a:t>
            </a:r>
            <a:r>
              <a:rPr lang="zh-TW" altLang="en-US" sz="18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賣出</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動作。</a:t>
            </a:r>
            <a:endPar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endParaRPr>
          </a:p>
          <a:p>
            <a:pPr marL="0" indent="0">
              <a:lnSpc>
                <a:spcPct val="100000"/>
              </a:lnSpc>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endParaRPr>
          </a:p>
          <a:p>
            <a:pPr marL="342900" indent="-342900">
              <a:lnSpc>
                <a:spcPct val="100000"/>
              </a:lnSpc>
              <a:buAutoNum type="arabicPeriod"/>
            </a:pPr>
            <a:endParaRPr lang="en-US" altLang="zh-TW" sz="1400" dirty="0" smtClean="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19</a:t>
            </a:fld>
            <a:endParaRPr lang="zh-TW" altLang="en-US" dirty="0"/>
          </a:p>
        </p:txBody>
      </p:sp>
      <p:pic>
        <p:nvPicPr>
          <p:cNvPr id="8" name="圖片 7"/>
          <p:cNvPicPr>
            <a:picLocks noChangeAspect="1"/>
          </p:cNvPicPr>
          <p:nvPr/>
        </p:nvPicPr>
        <p:blipFill>
          <a:blip r:embed="rId3"/>
          <a:stretch>
            <a:fillRect/>
          </a:stretch>
        </p:blipFill>
        <p:spPr>
          <a:xfrm>
            <a:off x="986344" y="4206240"/>
            <a:ext cx="7142734" cy="2073863"/>
          </a:xfrm>
          <a:prstGeom prst="rect">
            <a:avLst/>
          </a:prstGeom>
        </p:spPr>
      </p:pic>
    </p:spTree>
    <p:extLst>
      <p:ext uri="{BB962C8B-B14F-4D97-AF65-F5344CB8AC3E}">
        <p14:creationId xmlns:p14="http://schemas.microsoft.com/office/powerpoint/2010/main" val="1310300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Strength Index (SI)</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20</a:t>
            </a:fld>
            <a:endParaRPr lang="zh-TW" altLang="en-US" dirty="0">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0" indent="0">
                  <a:lnSpc>
                    <a:spcPct val="100000"/>
                  </a:lnSpc>
                  <a:buNone/>
                </a:pPr>
                <a:r>
                  <a:rPr lang="en-US" altLang="zh-TW" sz="1800" b="1" dirty="0" smtClean="0">
                    <a:latin typeface="Times New Roman" panose="02020603050405020304" pitchFamily="18" charset="0"/>
                    <a:cs typeface="Times New Roman" panose="02020603050405020304" pitchFamily="18" charset="0"/>
                  </a:rPr>
                  <a:t>Formula:</a:t>
                </a: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𝑆𝐼</m:t>
                      </m:r>
                      <m:r>
                        <a:rPr lang="en-US" altLang="zh-TW" sz="1800" b="0" i="1" smtClean="0">
                          <a:latin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𝑉</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−1</m:t>
                              </m:r>
                            </m:sub>
                          </m:sSub>
                        </m:e>
                      </m:d>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𝑤h𝑒𝑟𝑒</m:t>
                      </m:r>
                    </m:oMath>
                  </m:oMathPara>
                </a14:m>
                <a:endParaRPr lang="en-US" altLang="zh-TW" sz="18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00000"/>
                  </a:lnSpc>
                  <a:buNone/>
                </a:pPr>
                <a:endParaRPr lang="en-US" altLang="zh-TW" sz="18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𝑉</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𝑣𝑜𝑙𝑢𝑚𝑒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𝑎𝑡</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𝑡𝑖𝑚𝑒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cs typeface="Times New Roman" panose="02020603050405020304" pitchFamily="18" charset="0"/>
                        </a:rPr>
                        <m:t>.</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00000"/>
                  </a:lnSpc>
                  <a:buNone/>
                </a:pP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𝑐𝑙𝑜𝑠𝑖𝑛𝑔</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𝑝𝑟𝑖𝑐𝑒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𝑎𝑡</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𝑡𝑖𝑚𝑒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cs typeface="Times New Roman" panose="02020603050405020304" pitchFamily="18" charset="0"/>
                      </a:rPr>
                      <m:t>.</m:t>
                    </m:r>
                  </m:oMath>
                </a14:m>
                <a:r>
                  <a:rPr lang="en-US" altLang="zh-TW" sz="1800" dirty="0" smtClean="0">
                    <a:latin typeface="Times New Roman" panose="02020603050405020304" pitchFamily="18" charset="0"/>
                    <a:cs typeface="Times New Roman" panose="02020603050405020304" pitchFamily="18" charset="0"/>
                  </a:rPr>
                  <a:t> </a:t>
                </a:r>
              </a:p>
              <a:p>
                <a:pPr marL="0" indent="0">
                  <a:lnSpc>
                    <a:spcPct val="100000"/>
                  </a:lnSpc>
                  <a:buNone/>
                </a:pPr>
                <a:endParaRPr lang="en-US" altLang="zh-TW" sz="1800" dirty="0" smtClean="0">
                  <a:latin typeface="Times New Roman" panose="02020603050405020304" pitchFamily="18" charset="0"/>
                  <a:cs typeface="Times New Roman" panose="02020603050405020304" pitchFamily="18" charset="0"/>
                </a:endParaRPr>
              </a:p>
              <a:p>
                <a:pPr marL="0" indent="0">
                  <a:lnSpc>
                    <a:spcPct val="100000"/>
                  </a:lnSpc>
                  <a:buNone/>
                </a:pPr>
                <a:r>
                  <a:rPr lang="en-US" altLang="zh-TW" sz="1800" b="1" dirty="0" smtClean="0">
                    <a:latin typeface="Times New Roman" panose="02020603050405020304" pitchFamily="18" charset="0"/>
                    <a:cs typeface="Times New Roman" panose="02020603050405020304" pitchFamily="18" charset="0"/>
                  </a:rPr>
                  <a:t>Explain:</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Use in short run.</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Buy signal in uptrends.</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Sell signal in downtrends.</a:t>
                </a:r>
              </a:p>
            </p:txBody>
          </p:sp>
        </mc:Choice>
        <mc:Fallback xmlns="">
          <p:sp>
            <p:nvSpPr>
              <p:cNvPr id="8"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615" t="-6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417467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Trailing Stop (</a:t>
            </a:r>
            <a:r>
              <a:rPr lang="zh-TW" altLang="en-US" sz="4000" dirty="0" smtClean="0">
                <a:latin typeface="Times New Roman" panose="02020603050405020304" pitchFamily="18" charset="0"/>
                <a:cs typeface="Times New Roman" panose="02020603050405020304" pitchFamily="18" charset="0"/>
              </a:rPr>
              <a:t>移動止損</a:t>
            </a:r>
            <a:r>
              <a:rPr lang="en-US" altLang="zh-TW" sz="4000" dirty="0" smtClean="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21</a:t>
            </a:fld>
            <a:endParaRPr lang="zh-TW" altLang="en-US" dirty="0">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a:lnSpc>
                    <a:spcPct val="100000"/>
                  </a:lnSpc>
                </a:pPr>
                <a:r>
                  <a:rPr lang="en-US" altLang="zh-TW" sz="1800" b="1" dirty="0" smtClean="0">
                    <a:latin typeface="Times New Roman" panose="02020603050405020304" pitchFamily="18" charset="0"/>
                    <a:cs typeface="Times New Roman" panose="02020603050405020304" pitchFamily="18" charset="0"/>
                  </a:rPr>
                  <a:t>Explain</a:t>
                </a:r>
              </a:p>
              <a:p>
                <a:pPr marL="0" indent="0">
                  <a:lnSpc>
                    <a:spcPct val="100000"/>
                  </a:lnSpc>
                  <a:buNone/>
                </a:pPr>
                <a:r>
                  <a:rPr lang="zh-TW" altLang="en-US" sz="1800" dirty="0" smtClean="0">
                    <a:latin typeface="Times New Roman" panose="02020603050405020304" pitchFamily="18" charset="0"/>
                    <a:cs typeface="Times New Roman" panose="02020603050405020304" pitchFamily="18" charset="0"/>
                  </a:rPr>
                  <a:t>止損，讓</a:t>
                </a:r>
                <a:r>
                  <a:rPr lang="en-US" altLang="zh-TW" sz="1800" dirty="0">
                    <a:latin typeface="Times New Roman" panose="02020603050405020304" pitchFamily="18" charset="0"/>
                    <a:cs typeface="Times New Roman" panose="02020603050405020304" pitchFamily="18" charset="0"/>
                  </a:rPr>
                  <a:t>L</a:t>
                </a:r>
                <a:r>
                  <a:rPr lang="en-US" altLang="zh-TW" sz="1800" dirty="0" smtClean="0">
                    <a:latin typeface="Times New Roman" panose="02020603050405020304" pitchFamily="18" charset="0"/>
                    <a:cs typeface="Times New Roman" panose="02020603050405020304" pitchFamily="18" charset="0"/>
                  </a:rPr>
                  <a:t>oss</a:t>
                </a:r>
                <a:r>
                  <a:rPr lang="zh-TW" altLang="en-US" sz="1800" dirty="0" smtClean="0">
                    <a:latin typeface="Times New Roman" panose="02020603050405020304" pitchFamily="18" charset="0"/>
                    <a:cs typeface="Times New Roman" panose="02020603050405020304" pitchFamily="18" charset="0"/>
                  </a:rPr>
                  <a:t>降低。</a:t>
                </a:r>
                <a:endParaRPr lang="en-US" altLang="zh-TW" sz="1800" dirty="0" smtClean="0">
                  <a:latin typeface="Times New Roman" panose="02020603050405020304" pitchFamily="18" charset="0"/>
                  <a:cs typeface="Times New Roman" panose="02020603050405020304" pitchFamily="18" charset="0"/>
                </a:endParaRPr>
              </a:p>
              <a:p>
                <a:pPr>
                  <a:lnSpc>
                    <a:spcPct val="100000"/>
                  </a:lnSpc>
                </a:pPr>
                <a:r>
                  <a:rPr lang="en-US" altLang="zh-TW" sz="1800" b="1" dirty="0" smtClean="0">
                    <a:latin typeface="Times New Roman" panose="02020603050405020304" pitchFamily="18" charset="0"/>
                    <a:cs typeface="Times New Roman" panose="02020603050405020304" pitchFamily="18" charset="0"/>
                  </a:rPr>
                  <a:t>Method</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At </a:t>
                </a:r>
                <a:r>
                  <a:rPr lang="en-US" altLang="zh-TW" sz="1800" u="sng" dirty="0" smtClean="0">
                    <a:latin typeface="Times New Roman" panose="02020603050405020304" pitchFamily="18" charset="0"/>
                    <a:cs typeface="Times New Roman" panose="02020603050405020304" pitchFamily="18" charset="0"/>
                  </a:rPr>
                  <a:t>day 1</a:t>
                </a:r>
                <a:r>
                  <a:rPr lang="en-US" altLang="zh-TW" sz="1800" dirty="0" smtClean="0">
                    <a:latin typeface="Times New Roman" panose="02020603050405020304" pitchFamily="18" charset="0"/>
                    <a:cs typeface="Times New Roman" panose="02020603050405020304" pitchFamily="18" charset="0"/>
                  </a:rPr>
                  <a:t>, buy stock at $20.</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Set </a:t>
                </a:r>
                <a:r>
                  <a:rPr lang="en-US" altLang="zh-TW" sz="1800" dirty="0" smtClean="0">
                    <a:solidFill>
                      <a:srgbClr val="FF0000"/>
                    </a:solidFill>
                    <a:latin typeface="Times New Roman" panose="02020603050405020304" pitchFamily="18" charset="0"/>
                    <a:cs typeface="Times New Roman" panose="02020603050405020304" pitchFamily="18" charset="0"/>
                  </a:rPr>
                  <a:t>15%</a:t>
                </a:r>
                <a:r>
                  <a:rPr lang="en-US" altLang="zh-TW" sz="1800" dirty="0" smtClean="0">
                    <a:latin typeface="Times New Roman" panose="02020603050405020304" pitchFamily="18" charset="0"/>
                    <a:cs typeface="Times New Roman" panose="02020603050405020304" pitchFamily="18" charset="0"/>
                  </a:rPr>
                  <a:t> trailing stop order. (User defined)</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At </a:t>
                </a:r>
                <a:r>
                  <a:rPr lang="en-US" altLang="zh-TW" sz="1800" u="sng" dirty="0" smtClean="0">
                    <a:latin typeface="Times New Roman" panose="02020603050405020304" pitchFamily="18" charset="0"/>
                    <a:cs typeface="Times New Roman" panose="02020603050405020304" pitchFamily="18" charset="0"/>
                  </a:rPr>
                  <a:t>day2</a:t>
                </a:r>
                <a:r>
                  <a:rPr lang="en-US" altLang="zh-TW" sz="1800" dirty="0" smtClean="0">
                    <a:latin typeface="Times New Roman" panose="02020603050405020304" pitchFamily="18" charset="0"/>
                    <a:cs typeface="Times New Roman" panose="02020603050405020304" pitchFamily="18" charset="0"/>
                  </a:rPr>
                  <a:t>, price go up to $25.</a:t>
                </a:r>
              </a:p>
              <a:p>
                <a:pPr marL="342900" indent="-342900">
                  <a:lnSpc>
                    <a:spcPct val="100000"/>
                  </a:lnSpc>
                  <a:buAutoNum type="arabicPeriod"/>
                </a:pPr>
                <a:r>
                  <a:rPr lang="en-US" altLang="zh-TW" sz="1800" dirty="0" smtClean="0">
                    <a:latin typeface="Times New Roman" panose="02020603050405020304" pitchFamily="18" charset="0"/>
                    <a:cs typeface="Times New Roman" panose="02020603050405020304" pitchFamily="18" charset="0"/>
                  </a:rPr>
                  <a:t>If </a:t>
                </a:r>
                <a:r>
                  <a:rPr lang="en-US" altLang="zh-TW" sz="1800" u="sng" dirty="0" smtClean="0">
                    <a:latin typeface="Times New Roman" panose="02020603050405020304" pitchFamily="18" charset="0"/>
                    <a:cs typeface="Times New Roman" panose="02020603050405020304" pitchFamily="18" charset="0"/>
                  </a:rPr>
                  <a:t>day3</a:t>
                </a:r>
                <a:r>
                  <a:rPr lang="en-US" altLang="zh-TW" sz="1800" dirty="0" smtClean="0">
                    <a:latin typeface="Times New Roman" panose="02020603050405020304" pitchFamily="18" charset="0"/>
                    <a:cs typeface="Times New Roman" panose="02020603050405020304" pitchFamily="18" charset="0"/>
                  </a:rPr>
                  <a:t> the price decline to 21.25(15%), then we sell the stock. </a:t>
                </a:r>
                <a:r>
                  <a:rPr lang="en-US" altLang="zh-TW" sz="1800" u="sng" dirty="0" smtClean="0">
                    <a:latin typeface="Times New Roman" panose="02020603050405020304" pitchFamily="18" charset="0"/>
                    <a:cs typeface="Times New Roman" panose="02020603050405020304" pitchFamily="18" charset="0"/>
                  </a:rPr>
                  <a:t>21.25 </a:t>
                </a:r>
                <a:r>
                  <a:rPr lang="en-US" altLang="zh-TW" sz="1800" u="sng"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sz="1800" u="sng" dirty="0">
                    <a:latin typeface="Times New Roman" panose="02020603050405020304" pitchFamily="18" charset="0"/>
                    <a:cs typeface="Times New Roman" panose="02020603050405020304" pitchFamily="18" charset="0"/>
                    <a:sym typeface="Wingdings" panose="05000000000000000000" pitchFamily="2" charset="2"/>
                  </a:rPr>
                  <a:t>S</a:t>
                </a:r>
                <a:r>
                  <a:rPr lang="en-US" altLang="zh-TW" sz="1800" u="sng" dirty="0" smtClean="0">
                    <a:latin typeface="Times New Roman" panose="02020603050405020304" pitchFamily="18" charset="0"/>
                    <a:cs typeface="Times New Roman" panose="02020603050405020304" pitchFamily="18" charset="0"/>
                    <a:sym typeface="Wingdings" panose="05000000000000000000" pitchFamily="2" charset="2"/>
                  </a:rPr>
                  <a:t>top point</a:t>
                </a:r>
                <a:endParaRPr lang="en-US" altLang="zh-TW" sz="1800" u="sng"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100000"/>
                  </a:lnSpc>
                </a:pPr>
                <a:r>
                  <a:rPr lang="en-US" altLang="zh-TW" sz="1800" b="1" dirty="0" smtClean="0">
                    <a:latin typeface="Times New Roman" panose="02020603050405020304" pitchFamily="18" charset="0"/>
                    <a:cs typeface="Times New Roman" panose="02020603050405020304" pitchFamily="18" charset="0"/>
                    <a:sym typeface="Wingdings" panose="05000000000000000000" pitchFamily="2" charset="2"/>
                  </a:rPr>
                  <a:t>Formula</a:t>
                </a: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sym typeface="Wingdings" panose="05000000000000000000" pitchFamily="2" charset="2"/>
                        </a:rPr>
                        <m:t>𝑆𝑡𝑜𝑝</m:t>
                      </m:r>
                      <m:r>
                        <a:rPr lang="en-US" altLang="zh-TW" sz="1800" b="0" i="1" smtClean="0">
                          <a:latin typeface="Cambria Math" panose="02040503050406030204" pitchFamily="18" charset="0"/>
                          <a:cs typeface="Times New Roman" panose="02020603050405020304" pitchFamily="18" charset="0"/>
                          <a:sym typeface="Wingdings" panose="05000000000000000000" pitchFamily="2" charset="2"/>
                        </a:rPr>
                        <m:t>=</m:t>
                      </m:r>
                      <m:r>
                        <a:rPr lang="en-US" altLang="zh-TW" sz="1800" b="0" i="1" smtClean="0">
                          <a:latin typeface="Cambria Math" panose="02040503050406030204" pitchFamily="18" charset="0"/>
                          <a:cs typeface="Times New Roman" panose="02020603050405020304" pitchFamily="18" charset="0"/>
                          <a:sym typeface="Wingdings" panose="05000000000000000000" pitchFamily="2" charset="2"/>
                        </a:rPr>
                        <m:t>𝑋</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r>
                        <m:rPr>
                          <m:sty m:val="p"/>
                        </m:rPr>
                        <a:rPr lang="en-US" altLang="zh-TW" sz="1800" b="0" i="0"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max</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sSub>
                        <m:sSub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ctrlPr>
                        </m:sSub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𝑃</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0</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sSub>
                        <m:sSubPr>
                          <m:ctrlPr>
                            <a:rPr lang="en-US" altLang="zh-TW" sz="1800" i="1">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ctrlPr>
                        </m:sSubPr>
                        <m:e>
                          <m:r>
                            <a:rPr lang="en-US" altLang="zh-TW" sz="1800" i="1">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𝑃</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1</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 …,</m:t>
                      </m:r>
                      <m:sSub>
                        <m:sSubPr>
                          <m:ctrlPr>
                            <a:rPr lang="en-US" altLang="zh-TW" sz="1800" i="1">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ctrlPr>
                        </m:sSubPr>
                        <m:e>
                          <m:r>
                            <a:rPr lang="en-US" altLang="zh-TW" sz="1800" i="1">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𝑃</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𝑛</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oMath>
                  </m:oMathPara>
                </a14:m>
                <a:endParaRPr lang="en-US" altLang="zh-TW" sz="1800" dirty="0" smtClean="0">
                  <a:latin typeface="Times New Roman" panose="02020603050405020304" pitchFamily="18" charset="0"/>
                  <a:cs typeface="Times New Roman" panose="02020603050405020304" pitchFamily="18" charset="0"/>
                  <a:sym typeface="Wingdings" panose="05000000000000000000" pitchFamily="2" charset="2"/>
                </a:endParaRPr>
              </a:p>
              <a:p>
                <a:pPr marL="0" indent="0">
                  <a:lnSpc>
                    <a:spcPct val="100000"/>
                  </a:lnSpc>
                  <a:buNone/>
                </a:pPr>
                <a:r>
                  <a:rPr lang="en-US" altLang="zh-TW" sz="1800" dirty="0" smtClean="0">
                    <a:latin typeface="Times New Roman" panose="02020603050405020304" pitchFamily="18" charset="0"/>
                    <a:cs typeface="Times New Roman" panose="02020603050405020304" pitchFamily="18" charset="0"/>
                    <a:sym typeface="Wingdings" panose="05000000000000000000" pitchFamily="2" charset="2"/>
                  </a:rPr>
                  <a:t>P closing price at day k.</a:t>
                </a:r>
              </a:p>
              <a:p>
                <a:pPr marL="0" indent="0">
                  <a:lnSpc>
                    <a:spcPct val="100000"/>
                  </a:lnSpc>
                  <a:buNone/>
                </a:pPr>
                <a:r>
                  <a:rPr lang="en-US" altLang="zh-TW" sz="1800" dirty="0" smtClean="0">
                    <a:latin typeface="Times New Roman" panose="02020603050405020304" pitchFamily="18" charset="0"/>
                    <a:cs typeface="Times New Roman" panose="02020603050405020304" pitchFamily="18" charset="0"/>
                    <a:sym typeface="Wingdings" panose="05000000000000000000" pitchFamily="2" charset="2"/>
                  </a:rPr>
                  <a:t>X fixed rate.</a:t>
                </a:r>
              </a:p>
              <a:p>
                <a:pPr marL="0" indent="0">
                  <a:lnSpc>
                    <a:spcPct val="100000"/>
                  </a:lnSpc>
                  <a:buNone/>
                </a:pPr>
                <a:endParaRPr lang="en-US" altLang="zh-TW" sz="1800" dirty="0">
                  <a:latin typeface="Times New Roman" panose="02020603050405020304" pitchFamily="18" charset="0"/>
                  <a:cs typeface="Times New Roman" panose="02020603050405020304" pitchFamily="18" charset="0"/>
                  <a:sym typeface="Wingdings" panose="05000000000000000000" pitchFamily="2" charset="2"/>
                </a:endParaRPr>
              </a:p>
              <a:p>
                <a:pPr marL="0" indent="0">
                  <a:lnSpc>
                    <a:spcPct val="100000"/>
                  </a:lnSpc>
                  <a:buNone/>
                </a:pPr>
                <a:r>
                  <a:rPr lang="en-US" altLang="zh-TW" sz="18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The Stop point will change while new maximum price appear. (Dynamic)</a:t>
                </a:r>
                <a:endParaRPr lang="en-US" altLang="zh-TW" sz="18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p:txBody>
          </p:sp>
        </mc:Choice>
        <mc:Fallback xmlns="">
          <p:sp>
            <p:nvSpPr>
              <p:cNvPr id="8"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615" t="-6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73368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Environment &amp; Sample</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342900" indent="-342900">
              <a:lnSpc>
                <a:spcPct val="100000"/>
              </a:lnSpc>
              <a:buAutoNum type="arabicPeriod"/>
            </a:pPr>
            <a:r>
              <a:rPr lang="en-US" altLang="zh-TW" sz="1700" dirty="0" smtClean="0">
                <a:latin typeface="Times New Roman" panose="02020603050405020304" pitchFamily="18" charset="0"/>
                <a:cs typeface="Times New Roman" panose="02020603050405020304" pitchFamily="18" charset="0"/>
              </a:rPr>
              <a:t>VB with Microsoft Office Excel.</a:t>
            </a:r>
          </a:p>
          <a:p>
            <a:pPr marL="342900" indent="-342900">
              <a:lnSpc>
                <a:spcPct val="100000"/>
              </a:lnSpc>
              <a:buAutoNum type="arabicPeriod"/>
            </a:pPr>
            <a:r>
              <a:rPr lang="en-US" altLang="zh-TW" sz="1700" dirty="0" smtClean="0">
                <a:latin typeface="Times New Roman" panose="02020603050405020304" pitchFamily="18" charset="0"/>
                <a:cs typeface="Times New Roman" panose="02020603050405020304" pitchFamily="18" charset="0"/>
              </a:rPr>
              <a:t>Initial capital = R$10,000.00 </a:t>
            </a: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R$</a:t>
            </a:r>
            <a:r>
              <a:rPr lang="zh-TW" altLang="en-US" sz="1700" dirty="0" smtClean="0">
                <a:latin typeface="Times New Roman" panose="02020603050405020304" pitchFamily="18" charset="0"/>
                <a:cs typeface="Times New Roman" panose="02020603050405020304" pitchFamily="18" charset="0"/>
              </a:rPr>
              <a:t>是巴西貨幣巴西雷亞爾</a:t>
            </a:r>
            <a:r>
              <a:rPr lang="en-US" altLang="zh-TW" sz="1700" dirty="0">
                <a:latin typeface="Times New Roman" panose="02020603050405020304" pitchFamily="18" charset="0"/>
                <a:cs typeface="Times New Roman" panose="02020603050405020304" pitchFamily="18" charset="0"/>
              </a:rPr>
              <a:t>(Brazilian real, real), </a:t>
            </a:r>
            <a:r>
              <a:rPr lang="en-US" altLang="zh-TW" sz="1700" dirty="0" smtClean="0">
                <a:latin typeface="Times New Roman" panose="02020603050405020304" pitchFamily="18" charset="0"/>
                <a:cs typeface="Times New Roman" panose="02020603050405020304" pitchFamily="18" charset="0"/>
              </a:rPr>
              <a:t>1R$</a:t>
            </a:r>
            <a:r>
              <a:rPr lang="zh-TW" altLang="en-US" sz="1700" dirty="0" smtClean="0">
                <a:latin typeface="Times New Roman" panose="02020603050405020304" pitchFamily="18" charset="0"/>
                <a:cs typeface="Times New Roman" panose="02020603050405020304" pitchFamily="18" charset="0"/>
              </a:rPr>
              <a:t>約等於</a:t>
            </a:r>
            <a:r>
              <a:rPr lang="en-US" altLang="zh-TW" sz="1700" dirty="0" smtClean="0">
                <a:latin typeface="Times New Roman" panose="02020603050405020304" pitchFamily="18" charset="0"/>
                <a:cs typeface="Times New Roman" panose="02020603050405020304" pitchFamily="18" charset="0"/>
              </a:rPr>
              <a:t>8.45TWD</a:t>
            </a:r>
            <a:endParaRPr lang="en-US" altLang="zh-TW" sz="1700" dirty="0" smtClean="0">
              <a:latin typeface="Times New Roman" panose="02020603050405020304" pitchFamily="18" charset="0"/>
              <a:cs typeface="Times New Roman" panose="02020603050405020304" pitchFamily="18" charset="0"/>
            </a:endParaRPr>
          </a:p>
          <a:p>
            <a:pPr marL="342900" indent="-342900">
              <a:lnSpc>
                <a:spcPct val="100000"/>
              </a:lnSpc>
              <a:buFont typeface="+mj-lt"/>
              <a:buAutoNum type="arabicPeriod" startAt="3"/>
            </a:pPr>
            <a:r>
              <a:rPr lang="en-US" altLang="zh-TW" sz="1700" dirty="0" smtClean="0">
                <a:latin typeface="Times New Roman" panose="02020603050405020304" pitchFamily="18" charset="0"/>
                <a:cs typeface="Times New Roman" panose="02020603050405020304" pitchFamily="18" charset="0"/>
              </a:rPr>
              <a:t>198 stocks from Brazilian stock</a:t>
            </a:r>
          </a:p>
          <a:p>
            <a:pPr marL="342900" indent="-342900">
              <a:lnSpc>
                <a:spcPct val="100000"/>
              </a:lnSpc>
              <a:buAutoNum type="arabicPeriod" startAt="3"/>
            </a:pPr>
            <a:r>
              <a:rPr lang="en-US" altLang="zh-TW" sz="1700" dirty="0" smtClean="0">
                <a:latin typeface="Times New Roman" panose="02020603050405020304" pitchFamily="18" charset="0"/>
                <a:cs typeface="Times New Roman" panose="02020603050405020304" pitchFamily="18" charset="0"/>
              </a:rPr>
              <a:t>Period: 2000/1/3 – 2014/2/25</a:t>
            </a:r>
          </a:p>
          <a:p>
            <a:pPr marL="342900" indent="-342900">
              <a:lnSpc>
                <a:spcPct val="100000"/>
              </a:lnSpc>
              <a:buAutoNum type="arabicPeriod" startAt="3"/>
            </a:pPr>
            <a:r>
              <a:rPr lang="en-US" altLang="zh-TW" sz="1700" dirty="0" smtClean="0">
                <a:latin typeface="Times New Roman" panose="02020603050405020304" pitchFamily="18" charset="0"/>
                <a:cs typeface="Times New Roman" panose="02020603050405020304" pitchFamily="18" charset="0"/>
              </a:rPr>
              <a:t>Brokerage fee</a:t>
            </a:r>
          </a:p>
          <a:p>
            <a:pPr marL="0" indent="0">
              <a:lnSpc>
                <a:spcPct val="150000"/>
              </a:lnSpc>
              <a:buNone/>
            </a:pPr>
            <a:endParaRPr lang="en-US" altLang="zh-TW" sz="140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000"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22</a:t>
            </a:fld>
            <a:endParaRPr lang="zh-TW" altLang="en-US" dirty="0"/>
          </a:p>
        </p:txBody>
      </p:sp>
      <p:pic>
        <p:nvPicPr>
          <p:cNvPr id="5" name="圖片 4"/>
          <p:cNvPicPr>
            <a:picLocks noChangeAspect="1"/>
          </p:cNvPicPr>
          <p:nvPr/>
        </p:nvPicPr>
        <p:blipFill>
          <a:blip r:embed="rId3"/>
          <a:stretch>
            <a:fillRect/>
          </a:stretch>
        </p:blipFill>
        <p:spPr>
          <a:xfrm>
            <a:off x="455016" y="3917951"/>
            <a:ext cx="8205390" cy="2743058"/>
          </a:xfrm>
          <a:prstGeom prst="rect">
            <a:avLst/>
          </a:prstGeom>
        </p:spPr>
      </p:pic>
    </p:spTree>
    <p:extLst>
      <p:ext uri="{BB962C8B-B14F-4D97-AF65-F5344CB8AC3E}">
        <p14:creationId xmlns:p14="http://schemas.microsoft.com/office/powerpoint/2010/main" val="2431504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Signals Creation</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23</a:t>
            </a:fld>
            <a:endParaRPr lang="zh-TW" altLang="en-US" dirty="0">
              <a:latin typeface="Times New Roman" panose="02020603050405020304" pitchFamily="18" charset="0"/>
              <a:ea typeface="標楷體" panose="03000509000000000000" pitchFamily="65" charset="-120"/>
            </a:endParaRPr>
          </a:p>
        </p:txBody>
      </p:sp>
      <mc:AlternateContent xmlns:mc="http://schemas.openxmlformats.org/markup-compatibility/2006" xmlns:a14="http://schemas.microsoft.com/office/drawing/2010/main">
        <mc:Choice Requires="a14">
          <p:sp>
            <p:nvSpPr>
              <p:cNvPr id="8"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457200" indent="-457200">
                  <a:lnSpc>
                    <a:spcPct val="100000"/>
                  </a:lnSpc>
                  <a:buAutoNum type="arabicPeriod"/>
                </a:pPr>
                <a:r>
                  <a:rPr lang="en-US" altLang="zh-TW" sz="2000" dirty="0" smtClean="0">
                    <a:latin typeface="Times New Roman" panose="02020603050405020304" pitchFamily="18" charset="0"/>
                    <a:cs typeface="Times New Roman" panose="02020603050405020304" pitchFamily="18" charset="0"/>
                  </a:rPr>
                  <a:t>Moving Average(MA)</a:t>
                </a:r>
              </a:p>
              <a:p>
                <a:pPr marL="0" indent="0">
                  <a:lnSpc>
                    <a:spcPct val="100000"/>
                  </a:lnSpc>
                  <a:buNone/>
                </a:pPr>
                <a:r>
                  <a:rPr lang="en-US" altLang="zh-TW" sz="2000" dirty="0" smtClean="0">
                    <a:latin typeface="Times New Roman" panose="02020603050405020304" pitchFamily="18" charset="0"/>
                    <a:cs typeface="Times New Roman" panose="02020603050405020304" pitchFamily="18" charset="0"/>
                  </a:rPr>
                  <a:t>Setting:</a:t>
                </a:r>
                <a:endParaRPr lang="en-US" altLang="zh-TW" sz="1700" dirty="0">
                  <a:latin typeface="Times New Roman" panose="02020603050405020304" pitchFamily="18" charset="0"/>
                  <a:cs typeface="Times New Roman" panose="02020603050405020304" pitchFamily="18" charset="0"/>
                </a:endParaRP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Short: </a:t>
                </a:r>
                <a14:m>
                  <m:oMath xmlns:m="http://schemas.openxmlformats.org/officeDocument/2006/math">
                    <m:r>
                      <a:rPr lang="en-US" altLang="zh-TW" sz="1700" b="0" i="1" smtClean="0">
                        <a:latin typeface="Cambria Math" panose="02040503050406030204" pitchFamily="18" charset="0"/>
                        <a:cs typeface="Times New Roman" panose="02020603050405020304" pitchFamily="18" charset="0"/>
                      </a:rPr>
                      <m:t>5</m:t>
                    </m:r>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𝑠h𝑜𝑟𝑡</m:t>
                        </m:r>
                      </m:sub>
                    </m:sSub>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≤55</m:t>
                    </m:r>
                  </m:oMath>
                </a14:m>
                <a:endParaRPr lang="en-US" altLang="zh-TW" sz="17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Long: </a:t>
                </a:r>
                <a14:m>
                  <m:oMath xmlns:m="http://schemas.openxmlformats.org/officeDocument/2006/math">
                    <m:r>
                      <a:rPr lang="en-US" altLang="zh-TW" sz="1700" b="0" i="1" smtClean="0">
                        <a:latin typeface="Cambria Math" panose="02040503050406030204" pitchFamily="18" charset="0"/>
                        <a:cs typeface="Times New Roman" panose="02020603050405020304" pitchFamily="18" charset="0"/>
                      </a:rPr>
                      <m:t>60</m:t>
                    </m:r>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𝑙𝑜𝑛𝑔</m:t>
                        </m:r>
                      </m:sub>
                    </m:sSub>
                    <m:r>
                      <a:rPr lang="en-US" altLang="zh-TW" sz="1700" b="0" i="1" smtClean="0">
                        <a:latin typeface="Cambria Math" panose="02040503050406030204" pitchFamily="18" charset="0"/>
                        <a:ea typeface="Cambria Math" panose="02040503050406030204" pitchFamily="18" charset="0"/>
                        <a:cs typeface="Times New Roman" panose="02020603050405020304" pitchFamily="18" charset="0"/>
                      </a:rPr>
                      <m:t>≤220</m:t>
                    </m:r>
                  </m:oMath>
                </a14:m>
                <a:endParaRPr lang="en-US" altLang="zh-TW" sz="1700" dirty="0" smtClean="0">
                  <a:latin typeface="Times New Roman" panose="02020603050405020304" pitchFamily="18" charset="0"/>
                  <a:cs typeface="Times New Roman" panose="02020603050405020304" pitchFamily="18" charset="0"/>
                </a:endParaRPr>
              </a:p>
              <a:p>
                <a:pPr marL="0" indent="0">
                  <a:lnSpc>
                    <a:spcPct val="100000"/>
                  </a:lnSpc>
                  <a:buNone/>
                </a:pPr>
                <a:r>
                  <a:rPr lang="en-US" altLang="zh-TW" sz="1700" dirty="0">
                    <a:latin typeface="Times New Roman" panose="02020603050405020304" pitchFamily="18" charset="0"/>
                    <a:cs typeface="Times New Roman" panose="02020603050405020304" pitchFamily="18" charset="0"/>
                  </a:rPr>
                  <a:t>k</a:t>
                </a:r>
                <a:r>
                  <a:rPr lang="en-US" altLang="zh-TW" sz="1700" dirty="0" smtClean="0">
                    <a:latin typeface="Times New Roman" panose="02020603050405020304" pitchFamily="18" charset="0"/>
                    <a:cs typeface="Times New Roman" panose="02020603050405020304" pitchFamily="18" charset="0"/>
                  </a:rPr>
                  <a:t> = 9</a:t>
                </a: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Rules:</a:t>
                </a:r>
              </a:p>
              <a:p>
                <a:pPr marL="0" indent="0">
                  <a:lnSpc>
                    <a:spcPct val="100000"/>
                  </a:lnSpc>
                  <a:buNone/>
                </a:pPr>
                <a:r>
                  <a:rPr lang="zh-TW" altLang="en-US" sz="1700" dirty="0" smtClean="0">
                    <a:latin typeface="Times New Roman" panose="02020603050405020304" pitchFamily="18" charset="0"/>
                    <a:cs typeface="Times New Roman" panose="02020603050405020304" pitchFamily="18" charset="0"/>
                  </a:rPr>
                  <a:t>黃金交叉</a:t>
                </a:r>
                <a:endParaRPr lang="en-US" altLang="zh-TW" sz="1700" dirty="0">
                  <a:latin typeface="Times New Roman" panose="02020603050405020304" pitchFamily="18" charset="0"/>
                  <a:cs typeface="Times New Roman" panose="02020603050405020304" pitchFamily="18" charset="0"/>
                </a:endParaRPr>
              </a:p>
              <a:p>
                <a:pPr marL="342900" indent="-342900">
                  <a:lnSpc>
                    <a:spcPct val="100000"/>
                  </a:lnSpc>
                  <a:buAutoNum type="arabicPeriod" startAt="2"/>
                </a:pPr>
                <a:r>
                  <a:rPr lang="en-US" altLang="zh-TW" sz="1700" dirty="0" smtClean="0">
                    <a:latin typeface="Times New Roman" panose="02020603050405020304" pitchFamily="18" charset="0"/>
                    <a:cs typeface="Times New Roman" panose="02020603050405020304" pitchFamily="18" charset="0"/>
                  </a:rPr>
                  <a:t>Triple Screen</a:t>
                </a: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EMA: 65</a:t>
                </a: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Strength Index: 2</a:t>
                </a:r>
              </a:p>
              <a:p>
                <a:pPr marL="0" indent="0">
                  <a:lnSpc>
                    <a:spcPct val="100000"/>
                  </a:lnSpc>
                  <a:buNone/>
                </a:pPr>
                <a:r>
                  <a:rPr lang="en-US" altLang="zh-TW" sz="1700" dirty="0" smtClean="0">
                    <a:latin typeface="Times New Roman" panose="02020603050405020304" pitchFamily="18" charset="0"/>
                    <a:cs typeface="Times New Roman" panose="02020603050405020304" pitchFamily="18" charset="0"/>
                  </a:rPr>
                  <a:t>EMA Strength Index: 2 (What?)</a:t>
                </a:r>
              </a:p>
              <a:p>
                <a:pPr marL="0" indent="0">
                  <a:lnSpc>
                    <a:spcPct val="100000"/>
                  </a:lnSpc>
                  <a:buNone/>
                </a:pPr>
                <a:endParaRPr lang="en-US" altLang="zh-TW" sz="1700" dirty="0" smtClean="0">
                  <a:latin typeface="Times New Roman" panose="02020603050405020304" pitchFamily="18" charset="0"/>
                  <a:cs typeface="Times New Roman" panose="02020603050405020304" pitchFamily="18" charset="0"/>
                </a:endParaRPr>
              </a:p>
            </p:txBody>
          </p:sp>
        </mc:Choice>
        <mc:Fallback xmlns="">
          <p:sp>
            <p:nvSpPr>
              <p:cNvPr id="8"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751" t="-6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266142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smtClean="0">
                <a:latin typeface="Times New Roman" panose="02020603050405020304" pitchFamily="18" charset="0"/>
                <a:cs typeface="Times New Roman" panose="02020603050405020304" pitchFamily="18" charset="0"/>
              </a:rPr>
              <a:t>System flow</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latin typeface="Times New Roman" panose="02020603050405020304" pitchFamily="18" charset="0"/>
                <a:ea typeface="標楷體" panose="03000509000000000000" pitchFamily="65" charset="-120"/>
              </a:rPr>
              <a:t>24</a:t>
            </a:fld>
            <a:endParaRPr lang="zh-TW" altLang="en-US" dirty="0">
              <a:latin typeface="Times New Roman" panose="02020603050405020304" pitchFamily="18" charset="0"/>
              <a:ea typeface="標楷體" panose="03000509000000000000" pitchFamily="65" charset="-120"/>
            </a:endParaRPr>
          </a:p>
        </p:txBody>
      </p:sp>
      <p:pic>
        <p:nvPicPr>
          <p:cNvPr id="3" name="圖片 2"/>
          <p:cNvPicPr>
            <a:picLocks noChangeAspect="1"/>
          </p:cNvPicPr>
          <p:nvPr/>
        </p:nvPicPr>
        <p:blipFill>
          <a:blip r:embed="rId3"/>
          <a:stretch>
            <a:fillRect/>
          </a:stretch>
        </p:blipFill>
        <p:spPr>
          <a:xfrm>
            <a:off x="233693" y="1114425"/>
            <a:ext cx="8648035" cy="5553926"/>
          </a:xfrm>
          <a:prstGeom prst="rect">
            <a:avLst/>
          </a:prstGeom>
        </p:spPr>
      </p:pic>
    </p:spTree>
    <p:extLst>
      <p:ext uri="{BB962C8B-B14F-4D97-AF65-F5344CB8AC3E}">
        <p14:creationId xmlns:p14="http://schemas.microsoft.com/office/powerpoint/2010/main" val="25885450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Relative Average Deviation (RAD)</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457200" indent="-457200">
                  <a:lnSpc>
                    <a:spcPct val="150000"/>
                  </a:lnSpc>
                  <a:buAutoNum type="arabicPeriod"/>
                </a:pPr>
                <a:r>
                  <a:rPr lang="en-US" altLang="zh-TW" sz="1800" dirty="0" smtClean="0">
                    <a:latin typeface="Times New Roman" panose="02020603050405020304" pitchFamily="18" charset="0"/>
                    <a:cs typeface="Times New Roman" panose="02020603050405020304" pitchFamily="18" charset="0"/>
                  </a:rPr>
                  <a:t>Definition:</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𝑅𝐴𝐷</m:t>
                      </m:r>
                      <m:r>
                        <a:rPr lang="en-US" altLang="zh-TW" sz="1800" b="0" i="1" smtClean="0">
                          <a:latin typeface="Cambria Math" panose="02040503050406030204" pitchFamily="18" charset="0"/>
                          <a:cs typeface="Times New Roman" panose="02020603050405020304" pitchFamily="18" charset="0"/>
                        </a:rPr>
                        <m:t>=</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m:t>
                          </m:r>
                          <m:r>
                            <a:rPr lang="en-US" altLang="zh-TW" sz="1800" b="0" i="1" smtClean="0">
                              <a:latin typeface="Cambria Math" panose="02040503050406030204" pitchFamily="18" charset="0"/>
                              <a:cs typeface="Times New Roman" panose="02020603050405020304" pitchFamily="18" charset="0"/>
                            </a:rPr>
                            <m:t>𝑓</m:t>
                          </m:r>
                          <m:d>
                            <m:dPr>
                              <m:ctrlPr>
                                <a:rPr lang="en-US" altLang="zh-TW" sz="1800" b="0" i="1" smtClean="0">
                                  <a:latin typeface="Cambria Math" panose="02040503050406030204" pitchFamily="18" charset="0"/>
                                  <a:cs typeface="Times New Roman" panose="02020603050405020304" pitchFamily="18" charset="0"/>
                                </a:rPr>
                              </m:ctrlPr>
                            </m:dPr>
                            <m:e>
                              <m:r>
                                <a:rPr lang="en-US" altLang="zh-TW" sz="1800" b="0" i="1" smtClean="0">
                                  <a:latin typeface="Cambria Math" panose="02040503050406030204" pitchFamily="18" charset="0"/>
                                  <a:cs typeface="Times New Roman" panose="02020603050405020304" pitchFamily="18" charset="0"/>
                                </a:rPr>
                                <m:t>h</m:t>
                              </m:r>
                            </m:e>
                          </m:d>
                          <m:r>
                            <a:rPr lang="en-US" altLang="zh-TW" sz="1800" b="0" i="1" smtClean="0">
                              <a:latin typeface="Cambria Math" panose="02040503050406030204" pitchFamily="18" charset="0"/>
                              <a:cs typeface="Times New Roman" panose="02020603050405020304" pitchFamily="18" charset="0"/>
                            </a:rPr>
                            <m:t>−</m:t>
                          </m:r>
                          <m:sSup>
                            <m:sSupPr>
                              <m:ctrlPr>
                                <a:rPr lang="en-US" altLang="zh-TW" sz="1800" b="0" i="1" smtClean="0">
                                  <a:latin typeface="Cambria Math" panose="02040503050406030204" pitchFamily="18" charset="0"/>
                                  <a:cs typeface="Times New Roman" panose="02020603050405020304" pitchFamily="18" charset="0"/>
                                </a:rPr>
                              </m:ctrlPr>
                            </m:sSupPr>
                            <m:e>
                              <m:r>
                                <a:rPr lang="en-US" altLang="zh-TW" sz="1800" b="0" i="1" smtClean="0">
                                  <a:latin typeface="Cambria Math" panose="02040503050406030204" pitchFamily="18" charset="0"/>
                                  <a:cs typeface="Times New Roman" panose="02020603050405020304" pitchFamily="18" charset="0"/>
                                </a:rPr>
                                <m:t>𝑓</m:t>
                              </m:r>
                            </m:e>
                            <m:sup>
                              <m:r>
                                <a:rPr lang="en-US" altLang="zh-TW" sz="1800" b="0" i="1" smtClean="0">
                                  <a:latin typeface="Cambria Math" panose="02040503050406030204" pitchFamily="18" charset="0"/>
                                  <a:cs typeface="Times New Roman" panose="02020603050405020304" pitchFamily="18" charset="0"/>
                                </a:rPr>
                                <m:t>∗</m:t>
                              </m:r>
                            </m:sup>
                          </m:sSup>
                          <m:r>
                            <a:rPr lang="en-US" altLang="zh-TW" sz="1800" b="0" i="1" smtClean="0">
                              <a:latin typeface="Cambria Math" panose="02040503050406030204" pitchFamily="18" charset="0"/>
                              <a:cs typeface="Times New Roman" panose="02020603050405020304" pitchFamily="18" charset="0"/>
                            </a:rPr>
                            <m:t>)</m:t>
                          </m:r>
                        </m:num>
                        <m:den>
                          <m:sSup>
                            <m:sSupPr>
                              <m:ctrlPr>
                                <a:rPr lang="en-US" altLang="zh-TW" sz="1800" b="0" i="1" smtClean="0">
                                  <a:latin typeface="Cambria Math" panose="02040503050406030204" pitchFamily="18" charset="0"/>
                                  <a:cs typeface="Times New Roman" panose="02020603050405020304" pitchFamily="18" charset="0"/>
                                </a:rPr>
                              </m:ctrlPr>
                            </m:sSupPr>
                            <m:e>
                              <m:r>
                                <a:rPr lang="en-US" altLang="zh-TW" sz="1800" b="0" i="1" smtClean="0">
                                  <a:latin typeface="Cambria Math" panose="02040503050406030204" pitchFamily="18" charset="0"/>
                                  <a:cs typeface="Times New Roman" panose="02020603050405020304" pitchFamily="18" charset="0"/>
                                </a:rPr>
                                <m:t>𝑓</m:t>
                              </m:r>
                            </m:e>
                            <m:sup>
                              <m:r>
                                <a:rPr lang="en-US" altLang="zh-TW" sz="1800" b="0" i="1" smtClean="0">
                                  <a:latin typeface="Cambria Math" panose="02040503050406030204" pitchFamily="18" charset="0"/>
                                  <a:cs typeface="Times New Roman" panose="02020603050405020304" pitchFamily="18" charset="0"/>
                                </a:rPr>
                                <m:t>∗</m:t>
                              </m:r>
                            </m:sup>
                          </m:sSup>
                        </m:den>
                      </m:f>
                      <m:r>
                        <a:rPr lang="en-US" altLang="zh-TW" sz="1800" b="0" i="0" smtClean="0">
                          <a:latin typeface="Cambria Math" panose="02040503050406030204" pitchFamily="18" charset="0"/>
                          <a:cs typeface="Times New Roman" panose="02020603050405020304" pitchFamily="18" charset="0"/>
                        </a:rPr>
                        <m:t>,  </m:t>
                      </m:r>
                      <m:r>
                        <m:rPr>
                          <m:sty m:val="p"/>
                        </m:rPr>
                        <a:rPr lang="en-US" altLang="zh-TW" sz="1800" b="0" i="0" smtClean="0">
                          <a:latin typeface="Cambria Math" panose="02040503050406030204" pitchFamily="18" charset="0"/>
                          <a:cs typeface="Times New Roman" panose="02020603050405020304" pitchFamily="18" charset="0"/>
                        </a:rPr>
                        <m:t>where</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14:m>
                  <m:oMath xmlns:m="http://schemas.openxmlformats.org/officeDocument/2006/math">
                    <m:r>
                      <a:rPr lang="en-US" altLang="zh-TW" sz="1800" i="1">
                        <a:latin typeface="Cambria Math" panose="02040503050406030204" pitchFamily="18" charset="0"/>
                        <a:cs typeface="Times New Roman" panose="02020603050405020304" pitchFamily="18" charset="0"/>
                      </a:rPr>
                      <m:t>𝑓</m:t>
                    </m:r>
                    <m:d>
                      <m:dPr>
                        <m:ctrlPr>
                          <a:rPr lang="en-US" altLang="zh-TW" sz="1800" i="1">
                            <a:latin typeface="Cambria Math" panose="02040503050406030204" pitchFamily="18" charset="0"/>
                            <a:cs typeface="Times New Roman" panose="02020603050405020304" pitchFamily="18" charset="0"/>
                          </a:rPr>
                        </m:ctrlPr>
                      </m:dPr>
                      <m:e>
                        <m:r>
                          <a:rPr lang="en-US" altLang="zh-TW" sz="1800" i="1">
                            <a:latin typeface="Cambria Math" panose="02040503050406030204" pitchFamily="18" charset="0"/>
                            <a:cs typeface="Times New Roman" panose="02020603050405020304" pitchFamily="18" charset="0"/>
                          </a:rPr>
                          <m:t>h</m:t>
                        </m:r>
                      </m:e>
                    </m:d>
                  </m:oMath>
                </a14:m>
                <a:r>
                  <a:rPr lang="en-US" altLang="zh-TW" sz="1800" dirty="0" smtClean="0">
                    <a:latin typeface="Times New Roman" panose="02020603050405020304" pitchFamily="18" charset="0"/>
                    <a:cs typeface="Times New Roman" panose="02020603050405020304" pitchFamily="18" charset="0"/>
                  </a:rPr>
                  <a:t> standard deviation</a:t>
                </a:r>
              </a:p>
              <a:p>
                <a:pPr marL="0" indent="0">
                  <a:lnSpc>
                    <a:spcPct val="150000"/>
                  </a:lnSpc>
                  <a:buNone/>
                </a:pPr>
                <a14:m>
                  <m:oMath xmlns:m="http://schemas.openxmlformats.org/officeDocument/2006/math">
                    <m:sSup>
                      <m:sSupPr>
                        <m:ctrlPr>
                          <a:rPr lang="en-US" altLang="zh-TW" sz="1800" i="1" smtClean="0">
                            <a:latin typeface="Cambria Math" panose="02040503050406030204" pitchFamily="18" charset="0"/>
                            <a:cs typeface="Times New Roman" panose="02020603050405020304" pitchFamily="18" charset="0"/>
                          </a:rPr>
                        </m:ctrlPr>
                      </m:sSupPr>
                      <m:e>
                        <m:r>
                          <a:rPr lang="en-US" altLang="zh-TW" sz="1800" b="0" i="1" smtClean="0">
                            <a:latin typeface="Cambria Math" panose="02040503050406030204" pitchFamily="18" charset="0"/>
                            <a:cs typeface="Times New Roman" panose="02020603050405020304" pitchFamily="18" charset="0"/>
                          </a:rPr>
                          <m:t>𝑓</m:t>
                        </m:r>
                      </m:e>
                      <m:sup>
                        <m:r>
                          <a:rPr lang="en-US" altLang="zh-TW" sz="1800" b="0" i="1" smtClean="0">
                            <a:latin typeface="Cambria Math" panose="02040503050406030204" pitchFamily="18" charset="0"/>
                            <a:cs typeface="Times New Roman" panose="02020603050405020304" pitchFamily="18" charset="0"/>
                          </a:rPr>
                          <m:t>∗</m:t>
                        </m:r>
                      </m:sup>
                    </m:sSup>
                  </m:oMath>
                </a14:m>
                <a:r>
                  <a:rPr lang="en-US" altLang="zh-TW" sz="1800" dirty="0" smtClean="0">
                    <a:latin typeface="Times New Roman" panose="02020603050405020304" pitchFamily="18" charset="0"/>
                    <a:cs typeface="Times New Roman" panose="02020603050405020304" pitchFamily="18" charset="0"/>
                  </a:rPr>
                  <a:t> best value</a:t>
                </a:r>
              </a:p>
              <a:p>
                <a:pPr marL="0" indent="0">
                  <a:lnSpc>
                    <a:spcPct val="150000"/>
                  </a:lnSpc>
                  <a:buNone/>
                </a:pPr>
                <a:r>
                  <a:rPr lang="en-US" altLang="zh-TW" sz="1800" dirty="0" smtClean="0">
                    <a:latin typeface="Times New Roman" panose="02020603050405020304" pitchFamily="18" charset="0"/>
                    <a:cs typeface="Times New Roman" panose="02020603050405020304" pitchFamily="18" charset="0"/>
                  </a:rPr>
                  <a:t>Standard deviation definition: </a:t>
                </a:r>
                <a14:m>
                  <m:oMath xmlns:m="http://schemas.openxmlformats.org/officeDocument/2006/math">
                    <m:rad>
                      <m:radPr>
                        <m:degHide m:val="on"/>
                        <m:ctrlPr>
                          <a:rPr lang="en-US" altLang="zh-TW" sz="1800" i="1" smtClean="0">
                            <a:latin typeface="Cambria Math" panose="02040503050406030204" pitchFamily="18" charset="0"/>
                            <a:cs typeface="Times New Roman" panose="02020603050405020304" pitchFamily="18" charset="0"/>
                          </a:rPr>
                        </m:ctrlPr>
                      </m:radPr>
                      <m:deg/>
                      <m:e>
                        <m:d>
                          <m:dPr>
                            <m:ctrlPr>
                              <a:rPr lang="en-US" altLang="zh-TW" sz="1800" b="0" i="1" smtClean="0">
                                <a:latin typeface="Cambria Math" panose="02040503050406030204" pitchFamily="18" charset="0"/>
                                <a:cs typeface="Times New Roman" panose="02020603050405020304" pitchFamily="18" charset="0"/>
                              </a:rPr>
                            </m:ctrlPr>
                          </m:dPr>
                          <m:e>
                            <m:nary>
                              <m:naryPr>
                                <m:chr m:val="∑"/>
                                <m:subHide m:val="on"/>
                                <m:supHide m:val="on"/>
                                <m:ctrlPr>
                                  <a:rPr lang="en-US" altLang="zh-TW" sz="1800" i="1" smtClean="0">
                                    <a:latin typeface="Cambria Math" panose="02040503050406030204" pitchFamily="18" charset="0"/>
                                    <a:cs typeface="Times New Roman" panose="02020603050405020304" pitchFamily="18" charset="0"/>
                                  </a:rPr>
                                </m:ctrlPr>
                              </m:naryPr>
                              <m:sub/>
                              <m:sup/>
                              <m:e>
                                <m:r>
                                  <a:rPr lang="en-US" altLang="zh-TW" sz="1800" b="0" i="1" smtClean="0">
                                    <a:latin typeface="Cambria Math" panose="02040503050406030204" pitchFamily="18" charset="0"/>
                                    <a:cs typeface="Times New Roman" panose="02020603050405020304" pitchFamily="18" charset="0"/>
                                  </a:rPr>
                                  <m:t>𝑃</m:t>
                                </m:r>
                                <m:d>
                                  <m:dPr>
                                    <m:ctrlPr>
                                      <a:rPr lang="en-US" altLang="zh-TW" sz="1800" b="0" i="1" smtClean="0">
                                        <a:latin typeface="Cambria Math" panose="02040503050406030204" pitchFamily="18" charset="0"/>
                                        <a:cs typeface="Times New Roman" panose="02020603050405020304" pitchFamily="18" charset="0"/>
                                      </a:rPr>
                                    </m:ctrlPr>
                                  </m:dPr>
                                  <m:e>
                                    <m:r>
                                      <a:rPr lang="en-US" altLang="zh-TW" sz="1800" b="0" i="1" smtClean="0">
                                        <a:latin typeface="Cambria Math" panose="02040503050406030204" pitchFamily="18" charset="0"/>
                                        <a:cs typeface="Times New Roman" panose="02020603050405020304" pitchFamily="18" charset="0"/>
                                      </a:rPr>
                                      <m:t>𝑅</m:t>
                                    </m:r>
                                  </m:e>
                                </m:d>
                                <m:r>
                                  <a:rPr lang="en-US" altLang="zh-TW" sz="18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18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2</m:t>
                                    </m:r>
                                  </m:sup>
                                </m:sSup>
                              </m:e>
                            </m:nary>
                          </m:e>
                        </m:d>
                        <m:r>
                          <a:rPr lang="en-US" altLang="zh-TW" sz="1800" b="0" i="1" smtClean="0">
                            <a:latin typeface="Cambria Math" panose="02040503050406030204" pitchFamily="18" charset="0"/>
                            <a:cs typeface="Times New Roman" panose="02020603050405020304" pitchFamily="18" charset="0"/>
                          </a:rPr>
                          <m:t>−</m:t>
                        </m:r>
                        <m:sSup>
                          <m:sSupPr>
                            <m:ctrlPr>
                              <a:rPr lang="en-US" altLang="zh-TW" sz="1800" b="0" i="1" smtClean="0">
                                <a:latin typeface="Cambria Math" panose="02040503050406030204" pitchFamily="18" charset="0"/>
                                <a:cs typeface="Times New Roman" panose="02020603050405020304" pitchFamily="18" charset="0"/>
                              </a:rPr>
                            </m:ctrlPr>
                          </m:sSupPr>
                          <m:e>
                            <m:r>
                              <a:rPr lang="en-US" altLang="zh-TW" sz="1800" i="1">
                                <a:latin typeface="Cambria Math" panose="02040503050406030204" pitchFamily="18" charset="0"/>
                                <a:cs typeface="Times New Roman" panose="02020603050405020304" pitchFamily="18" charset="0"/>
                              </a:rPr>
                              <m:t>(</m:t>
                            </m:r>
                            <m:acc>
                              <m:accPr>
                                <m:chr m:val="̅"/>
                                <m:ctrlPr>
                                  <a:rPr lang="en-US" altLang="zh-TW" sz="1800" i="1">
                                    <a:latin typeface="Cambria Math" panose="02040503050406030204" pitchFamily="18" charset="0"/>
                                    <a:cs typeface="Times New Roman" panose="02020603050405020304" pitchFamily="18" charset="0"/>
                                  </a:rPr>
                                </m:ctrlPr>
                              </m:accPr>
                              <m:e>
                                <m:r>
                                  <a:rPr lang="en-US" altLang="zh-TW" sz="1800" i="1">
                                    <a:latin typeface="Cambria Math" panose="02040503050406030204" pitchFamily="18" charset="0"/>
                                    <a:cs typeface="Times New Roman" panose="02020603050405020304" pitchFamily="18" charset="0"/>
                                  </a:rPr>
                                  <m:t>𝑅</m:t>
                                </m:r>
                              </m:e>
                            </m:acc>
                            <m:r>
                              <a:rPr lang="en-US" altLang="zh-TW" sz="1800" i="1">
                                <a:latin typeface="Cambria Math" panose="02040503050406030204" pitchFamily="18" charset="0"/>
                                <a:cs typeface="Times New Roman" panose="02020603050405020304" pitchFamily="18" charset="0"/>
                              </a:rPr>
                              <m:t>)</m:t>
                            </m:r>
                          </m:e>
                          <m:sup>
                            <m:r>
                              <a:rPr lang="en-US" altLang="zh-TW" sz="1800" b="0" i="1" smtClean="0">
                                <a:latin typeface="Cambria Math" panose="02040503050406030204" pitchFamily="18" charset="0"/>
                                <a:cs typeface="Times New Roman" panose="02020603050405020304" pitchFamily="18" charset="0"/>
                              </a:rPr>
                              <m:t>2</m:t>
                            </m:r>
                          </m:sup>
                        </m:sSup>
                      </m:e>
                    </m:rad>
                  </m:oMath>
                </a14:m>
                <a:endParaRPr lang="en-US" altLang="zh-TW" sz="1800" dirty="0" smtClean="0">
                  <a:latin typeface="Times New Roman" panose="02020603050405020304" pitchFamily="18" charset="0"/>
                  <a:cs typeface="Times New Roman" panose="02020603050405020304" pitchFamily="18" charset="0"/>
                </a:endParaRPr>
              </a:p>
              <a:p>
                <a:pPr marL="342900" indent="-342900">
                  <a:lnSpc>
                    <a:spcPct val="150000"/>
                  </a:lnSpc>
                  <a:buAutoNum type="arabicPeriod" startAt="2"/>
                </a:pPr>
                <a:r>
                  <a:rPr lang="en-US" altLang="zh-TW" sz="1800" dirty="0" smtClean="0">
                    <a:latin typeface="Times New Roman" panose="02020603050405020304" pitchFamily="18" charset="0"/>
                    <a:cs typeface="Times New Roman" panose="02020603050405020304" pitchFamily="18" charset="0"/>
                  </a:rPr>
                  <a:t>Explain:</a:t>
                </a:r>
              </a:p>
              <a:p>
                <a:pPr marL="0" indent="0">
                  <a:lnSpc>
                    <a:spcPct val="150000"/>
                  </a:lnSpc>
                  <a:buNone/>
                </a:pPr>
                <a:r>
                  <a:rPr lang="en-US" altLang="zh-TW" sz="1800" dirty="0" smtClean="0">
                    <a:latin typeface="Times New Roman" panose="02020603050405020304" pitchFamily="18" charset="0"/>
                    <a:cs typeface="Times New Roman" panose="02020603050405020304" pitchFamily="18" charset="0"/>
                  </a:rPr>
                  <a:t>The lowest is the most profitable.</a:t>
                </a:r>
              </a:p>
              <a:p>
                <a:pPr marL="0" indent="0">
                  <a:lnSpc>
                    <a:spcPct val="150000"/>
                  </a:lnSpc>
                  <a:buNone/>
                </a:pPr>
                <a:endParaRPr lang="en-US" altLang="zh-TW" sz="2000"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61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25</a:t>
            </a:fld>
            <a:endParaRPr lang="zh-TW" altLang="en-US" dirty="0"/>
          </a:p>
        </p:txBody>
      </p:sp>
    </p:spTree>
    <p:extLst>
      <p:ext uri="{BB962C8B-B14F-4D97-AF65-F5344CB8AC3E}">
        <p14:creationId xmlns:p14="http://schemas.microsoft.com/office/powerpoint/2010/main" val="9778529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POCID</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5"/>
                <a:ext cx="8924925" cy="5607052"/>
              </a:xfrm>
            </p:spPr>
            <p:txBody>
              <a:bodyPr vert="horz" lIns="91440" tIns="45720" rIns="91440" bIns="45720" rtlCol="0" anchor="t">
                <a:noAutofit/>
              </a:bodyPr>
              <a:lstStyle/>
              <a:p>
                <a:pPr marL="457200" indent="-457200">
                  <a:lnSpc>
                    <a:spcPct val="150000"/>
                  </a:lnSpc>
                  <a:buAutoNum type="arabicPeriod"/>
                </a:pPr>
                <a:r>
                  <a:rPr lang="en-US" altLang="zh-TW" sz="1800" dirty="0" smtClean="0">
                    <a:latin typeface="Times New Roman" panose="02020603050405020304" pitchFamily="18" charset="0"/>
                    <a:cs typeface="Times New Roman" panose="02020603050405020304" pitchFamily="18" charset="0"/>
                  </a:rPr>
                  <a:t>Name: </a:t>
                </a:r>
                <a:r>
                  <a:rPr lang="en-US" altLang="zh-TW" sz="1800" b="1" dirty="0" smtClean="0">
                    <a:latin typeface="Times New Roman" panose="02020603050405020304" pitchFamily="18" charset="0"/>
                    <a:cs typeface="Times New Roman" panose="02020603050405020304" pitchFamily="18" charset="0"/>
                  </a:rPr>
                  <a:t>Percentage of correct prediction directional</a:t>
                </a:r>
              </a:p>
              <a:p>
                <a:pPr marL="457200" indent="-457200">
                  <a:lnSpc>
                    <a:spcPct val="150000"/>
                  </a:lnSpc>
                  <a:buAutoNum type="arabicPeriod"/>
                </a:pPr>
                <a:r>
                  <a:rPr lang="en-US" altLang="zh-TW" sz="1800" dirty="0" smtClean="0">
                    <a:latin typeface="Times New Roman" panose="02020603050405020304" pitchFamily="18" charset="0"/>
                    <a:cs typeface="Times New Roman" panose="02020603050405020304" pitchFamily="18" charset="0"/>
                  </a:rPr>
                  <a:t>Definition:</a:t>
                </a:r>
              </a:p>
              <a:p>
                <a:pPr marL="0" indent="0">
                  <a:lnSpc>
                    <a:spcPct val="150000"/>
                  </a:lnSpc>
                  <a:buNone/>
                </a:pPr>
                <a14:m>
                  <m:oMathPara xmlns:m="http://schemas.openxmlformats.org/officeDocument/2006/math">
                    <m:oMathParaPr>
                      <m:jc m:val="centerGroup"/>
                    </m:oMathParaPr>
                    <m:oMath xmlns:m="http://schemas.openxmlformats.org/officeDocument/2006/math">
                      <m:r>
                        <m:rPr>
                          <m:sty m:val="p"/>
                        </m:rPr>
                        <a:rPr lang="en-US" altLang="zh-TW" sz="1800" b="0" i="1" dirty="0">
                          <a:latin typeface="Cambria Math" panose="02040503050406030204" pitchFamily="18" charset="0"/>
                          <a:cs typeface="Times New Roman" panose="02020603050405020304" pitchFamily="18" charset="0"/>
                        </a:rPr>
                        <m:t>P</m:t>
                      </m:r>
                      <m:r>
                        <m:rPr>
                          <m:sty m:val="p"/>
                        </m:rPr>
                        <a:rPr lang="en-US" altLang="zh-TW" sz="1800" i="1" dirty="0" smtClean="0">
                          <a:latin typeface="Cambria Math" panose="02040503050406030204" pitchFamily="18" charset="0"/>
                          <a:cs typeface="Times New Roman" panose="02020603050405020304" pitchFamily="18" charset="0"/>
                        </a:rPr>
                        <m:t>O</m:t>
                      </m:r>
                      <m:r>
                        <m:rPr>
                          <m:sty m:val="p"/>
                        </m:rPr>
                        <a:rPr lang="en-US" altLang="zh-TW" sz="1800" i="1" dirty="0">
                          <a:latin typeface="Cambria Math" panose="02040503050406030204" pitchFamily="18" charset="0"/>
                          <a:cs typeface="Times New Roman" panose="02020603050405020304" pitchFamily="18" charset="0"/>
                        </a:rPr>
                        <m:t>C</m:t>
                      </m:r>
                      <m:r>
                        <m:rPr>
                          <m:sty m:val="p"/>
                        </m:rPr>
                        <a:rPr lang="en-US" altLang="zh-TW" sz="1800" i="1" dirty="0" smtClean="0">
                          <a:latin typeface="Cambria Math" panose="02040503050406030204" pitchFamily="18" charset="0"/>
                          <a:cs typeface="Times New Roman" panose="02020603050405020304" pitchFamily="18" charset="0"/>
                        </a:rPr>
                        <m:t>I</m:t>
                      </m:r>
                      <m:r>
                        <m:rPr>
                          <m:sty m:val="p"/>
                        </m:rPr>
                        <a:rPr lang="en-US" altLang="zh-TW" sz="1800" i="1" dirty="0">
                          <a:latin typeface="Cambria Math" panose="02040503050406030204" pitchFamily="18" charset="0"/>
                          <a:cs typeface="Times New Roman" panose="02020603050405020304" pitchFamily="18" charset="0"/>
                        </a:rPr>
                        <m:t>D</m:t>
                      </m:r>
                      <m:r>
                        <a:rPr lang="en-US" altLang="zh-TW" sz="1800" b="0" i="1" smtClean="0">
                          <a:latin typeface="Cambria Math" panose="02040503050406030204" pitchFamily="18" charset="0"/>
                          <a:cs typeface="Times New Roman" panose="02020603050405020304" pitchFamily="18" charset="0"/>
                        </a:rPr>
                        <m:t>=</m:t>
                      </m:r>
                      <m:f>
                        <m:fPr>
                          <m:ctrlPr>
                            <a:rPr lang="en-US" altLang="zh-TW" sz="1800" b="0" i="1" smtClean="0">
                              <a:latin typeface="Cambria Math" panose="02040503050406030204" pitchFamily="18" charset="0"/>
                              <a:cs typeface="Times New Roman" panose="02020603050405020304" pitchFamily="18" charset="0"/>
                            </a:rPr>
                          </m:ctrlPr>
                        </m:fPr>
                        <m:num>
                          <m:nary>
                            <m:naryPr>
                              <m:chr m:val="∑"/>
                              <m:ctrlPr>
                                <a:rPr lang="en-US" altLang="zh-TW" sz="1800" b="0" i="1" smtClean="0">
                                  <a:latin typeface="Cambria Math" panose="02040503050406030204" pitchFamily="18" charset="0"/>
                                  <a:cs typeface="Times New Roman" panose="02020603050405020304" pitchFamily="18" charset="0"/>
                                </a:rPr>
                              </m:ctrlPr>
                            </m:naryPr>
                            <m:sub>
                              <m:r>
                                <m:rPr>
                                  <m:brk m:alnAt="23"/>
                                </m:rPr>
                                <a:rPr lang="zh-TW" altLang="en-US" sz="1800" b="0" i="1" smtClean="0">
                                  <a:latin typeface="Cambria Math" panose="02040503050406030204" pitchFamily="18" charset="0"/>
                                  <a:cs typeface="Times New Roman" panose="02020603050405020304" pitchFamily="18" charset="0"/>
                                </a:rPr>
                                <m:t>𝜇</m:t>
                              </m:r>
                              <m:r>
                                <a:rPr lang="en-US" altLang="zh-TW" sz="1800" i="1">
                                  <a:latin typeface="Cambria Math" panose="02040503050406030204" pitchFamily="18" charset="0"/>
                                  <a:cs typeface="Times New Roman" panose="02020603050405020304" pitchFamily="18" charset="0"/>
                                </a:rPr>
                                <m:t>=</m:t>
                              </m:r>
                              <m:r>
                                <a:rPr lang="en-US" altLang="zh-TW" sz="1800" b="0" i="1" smtClean="0">
                                  <a:latin typeface="Cambria Math" panose="02040503050406030204" pitchFamily="18" charset="0"/>
                                  <a:cs typeface="Times New Roman" panose="02020603050405020304" pitchFamily="18" charset="0"/>
                                </a:rPr>
                                <m:t>1</m:t>
                              </m:r>
                            </m:sub>
                            <m:sup>
                              <m:r>
                                <m:rPr>
                                  <m:sty m:val="p"/>
                                </m:rPr>
                                <a:rPr lang="en-US" altLang="zh-TW" sz="1800" i="1">
                                  <a:latin typeface="Cambria Math" panose="02040503050406030204" pitchFamily="18" charset="0"/>
                                  <a:cs typeface="Times New Roman" panose="02020603050405020304" pitchFamily="18" charset="0"/>
                                </a:rPr>
                                <m:t>N</m:t>
                              </m:r>
                            </m:sup>
                            <m:e>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𝐷</m:t>
                                  </m:r>
                                </m:e>
                                <m:sub>
                                  <m:r>
                                    <a:rPr lang="zh-TW" altLang="en-US" sz="1800" b="0" i="1" smtClean="0">
                                      <a:latin typeface="Cambria Math" panose="02040503050406030204" pitchFamily="18" charset="0"/>
                                      <a:cs typeface="Times New Roman" panose="02020603050405020304" pitchFamily="18" charset="0"/>
                                    </a:rPr>
                                    <m:t>𝜇</m:t>
                                  </m:r>
                                </m:sub>
                              </m:sSub>
                            </m:e>
                          </m:nary>
                        </m:num>
                        <m:den>
                          <m:r>
                            <a:rPr lang="en-US" altLang="zh-TW" sz="1800" b="0" i="1" smtClean="0">
                              <a:latin typeface="Cambria Math" panose="02040503050406030204" pitchFamily="18" charset="0"/>
                              <a:cs typeface="Times New Roman" panose="02020603050405020304" pitchFamily="18" charset="0"/>
                            </a:rPr>
                            <m:t>𝑁</m:t>
                          </m:r>
                        </m:den>
                      </m:f>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1800" b="0" i="0" smtClean="0">
                          <a:latin typeface="Cambria Math" panose="02040503050406030204" pitchFamily="18" charset="0"/>
                          <a:ea typeface="Cambria Math" panose="02040503050406030204" pitchFamily="18" charset="0"/>
                          <a:cs typeface="Times New Roman" panose="02020603050405020304" pitchFamily="18" charset="0"/>
                        </a:rPr>
                        <m:t>100,</m:t>
                      </m:r>
                      <m:r>
                        <a:rPr lang="en-US" altLang="zh-TW" sz="1800" b="0" i="0" smtClean="0">
                          <a:latin typeface="Cambria Math" panose="02040503050406030204" pitchFamily="18" charset="0"/>
                          <a:cs typeface="Times New Roman" panose="02020603050405020304" pitchFamily="18" charset="0"/>
                        </a:rPr>
                        <m:t>  </m:t>
                      </m:r>
                      <m:r>
                        <m:rPr>
                          <m:sty m:val="p"/>
                        </m:rPr>
                        <a:rPr lang="en-US" altLang="zh-TW" sz="1800" b="0" i="0" smtClean="0">
                          <a:latin typeface="Cambria Math" panose="02040503050406030204" pitchFamily="18" charset="0"/>
                          <a:cs typeface="Times New Roman" panose="02020603050405020304" pitchFamily="18" charset="0"/>
                        </a:rPr>
                        <m:t>where</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center"/>
                    </m:oMathParaPr>
                    <m:oMath xmlns:m="http://schemas.openxmlformats.org/officeDocument/2006/math">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𝐷</m:t>
                          </m:r>
                        </m:e>
                        <m:sub>
                          <m:r>
                            <a:rPr lang="zh-TW" altLang="en-US" sz="1800" b="0" i="1" smtClean="0">
                              <a:latin typeface="Cambria Math" panose="02040503050406030204" pitchFamily="18" charset="0"/>
                              <a:cs typeface="Times New Roman" panose="02020603050405020304" pitchFamily="18" charset="0"/>
                            </a:rPr>
                            <m:t>𝜇</m:t>
                          </m:r>
                        </m:sub>
                      </m:sSub>
                      <m:r>
                        <a:rPr lang="en-US" altLang="zh-TW" sz="1800" b="0" i="1" smtClean="0">
                          <a:latin typeface="Cambria Math" panose="02040503050406030204" pitchFamily="18" charset="0"/>
                          <a:cs typeface="Times New Roman" panose="02020603050405020304" pitchFamily="18" charset="0"/>
                        </a:rPr>
                        <m:t>=</m:t>
                      </m:r>
                      <m:d>
                        <m:dPr>
                          <m:begChr m:val="{"/>
                          <m:endChr m:val=""/>
                          <m:ctrlPr>
                            <a:rPr lang="en-US" altLang="zh-TW" sz="1800" b="0" i="1" smtClean="0">
                              <a:latin typeface="Cambria Math" panose="02040503050406030204" pitchFamily="18" charset="0"/>
                              <a:cs typeface="Times New Roman" panose="02020603050405020304" pitchFamily="18" charset="0"/>
                            </a:rPr>
                          </m:ctrlPr>
                        </m:dPr>
                        <m:e>
                          <m:eqArr>
                            <m:eqArrPr>
                              <m:ctrlPr>
                                <a:rPr lang="en-US" altLang="zh-TW" sz="1800" b="0" i="1" smtClean="0">
                                  <a:latin typeface="Cambria Math" panose="02040503050406030204" pitchFamily="18" charset="0"/>
                                  <a:cs typeface="Times New Roman" panose="02020603050405020304" pitchFamily="18" charset="0"/>
                                </a:rPr>
                              </m:ctrlPr>
                            </m:eqArrPr>
                            <m:e>
                              <m:r>
                                <a:rPr lang="en-US" altLang="zh-TW" sz="1800" b="0" i="1" smtClean="0">
                                  <a:latin typeface="Cambria Math" panose="02040503050406030204" pitchFamily="18" charset="0"/>
                                  <a:cs typeface="Times New Roman" panose="02020603050405020304" pitchFamily="18" charset="0"/>
                                </a:rPr>
                                <m:t>1,    </m:t>
                              </m:r>
                              <m:r>
                                <a:rPr lang="en-US" altLang="zh-TW" sz="1800" b="0" i="1" smtClean="0">
                                  <a:latin typeface="Cambria Math" panose="02040503050406030204" pitchFamily="18" charset="0"/>
                                  <a:cs typeface="Times New Roman" panose="02020603050405020304" pitchFamily="18" charset="0"/>
                                </a:rPr>
                                <m:t>𝑖𝑓</m:t>
                              </m:r>
                              <m:r>
                                <a:rPr lang="en-US" altLang="zh-TW" sz="1800" b="0" i="1" smtClean="0">
                                  <a:latin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𝑃</m:t>
                                  </m:r>
                                </m:e>
                                <m:sub>
                                  <m:d>
                                    <m:dPr>
                                      <m:ctrlPr>
                                        <a:rPr lang="en-US" altLang="zh-TW" sz="1800" b="0" i="1" smtClean="0">
                                          <a:latin typeface="Cambria Math" panose="02040503050406030204" pitchFamily="18" charset="0"/>
                                          <a:cs typeface="Times New Roman" panose="02020603050405020304" pitchFamily="18" charset="0"/>
                                        </a:rPr>
                                      </m:ctrlPr>
                                    </m:dPr>
                                    <m:e>
                                      <m:r>
                                        <a:rPr lang="en-US" altLang="zh-TW" sz="1800" b="0" i="1" smtClean="0">
                                          <a:latin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cs typeface="Times New Roman" panose="02020603050405020304" pitchFamily="18" charset="0"/>
                                        </a:rPr>
                                        <m:t>+1</m:t>
                                      </m:r>
                                    </m:e>
                                  </m:d>
                                </m:sub>
                              </m:sSub>
                              <m:r>
                                <a:rPr lang="en-US" altLang="zh-TW" sz="1800" b="0" i="1" smtClean="0">
                                  <a:latin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cs typeface="Times New Roman" panose="02020603050405020304" pitchFamily="18" charset="0"/>
                                </a:rPr>
                                <m:t>)</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𝑂</m:t>
                                  </m:r>
                                </m:e>
                                <m:sub>
                                  <m:d>
                                    <m:d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+1</m:t>
                                      </m:r>
                                    </m:e>
                                  </m:d>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𝑂</m:t>
                                  </m:r>
                                </m:e>
                                <m: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)&gt;0</m:t>
                              </m:r>
                            </m:e>
                            <m:e>
                              <m:r>
                                <a:rPr lang="en-US" altLang="zh-TW" sz="1800" b="0" i="1" smtClean="0">
                                  <a:latin typeface="Cambria Math" panose="02040503050406030204" pitchFamily="18" charset="0"/>
                                  <a:cs typeface="Times New Roman" panose="02020603050405020304" pitchFamily="18" charset="0"/>
                                </a:rPr>
                                <m:t>0,   </m:t>
                              </m:r>
                              <m:r>
                                <a:rPr lang="en-US" altLang="zh-TW" sz="1800" b="0" i="1" smtClean="0">
                                  <a:latin typeface="Cambria Math" panose="02040503050406030204" pitchFamily="18" charset="0"/>
                                  <a:cs typeface="Times New Roman" panose="02020603050405020304" pitchFamily="18" charset="0"/>
                                </a:rPr>
                                <m:t>𝑜𝑡h𝑒𝑟𝑤𝑖𝑠𝑒</m:t>
                              </m:r>
                            </m:e>
                          </m:eqArr>
                        </m:e>
                      </m:d>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𝑐𝑙𝑜𝑠𝑖𝑛𝑔</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𝑝𝑟𝑖𝑐𝑒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𝑖𝑛</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𝑡h𝑒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𝑝𝑒𝑟𝑖𝑜𝑑</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𝑘</m:t>
                      </m:r>
                      <m:r>
                        <a:rPr lang="en-US" altLang="zh-TW" sz="1800" b="0" i="1" smtClean="0">
                          <a:latin typeface="Cambria Math" panose="02040503050406030204" pitchFamily="18" charset="0"/>
                          <a:cs typeface="Times New Roman" panose="02020603050405020304" pitchFamily="18" charset="0"/>
                        </a:rPr>
                        <m:t>.</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cs typeface="Times New Roman" panose="02020603050405020304" pitchFamily="18" charset="0"/>
                            </a:rPr>
                          </m:ctrlPr>
                        </m:sSubPr>
                        <m:e>
                          <m:r>
                            <a:rPr lang="en-US" altLang="zh-TW" sz="1800" b="0" i="1" smtClean="0">
                              <a:latin typeface="Cambria Math" panose="02040503050406030204" pitchFamily="18" charset="0"/>
                              <a:cs typeface="Times New Roman" panose="02020603050405020304" pitchFamily="18" charset="0"/>
                            </a:rPr>
                            <m:t>𝑂</m:t>
                          </m:r>
                        </m:e>
                        <m:sub>
                          <m:r>
                            <a:rPr lang="en-US" altLang="zh-TW" sz="1800" b="0" i="1" smtClean="0">
                              <a:latin typeface="Cambria Math" panose="02040503050406030204" pitchFamily="18" charset="0"/>
                              <a:cs typeface="Times New Roman" panose="02020603050405020304" pitchFamily="18" charset="0"/>
                            </a:rPr>
                            <m:t>𝑘</m:t>
                          </m:r>
                        </m:sub>
                      </m:sSub>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𝑣𝑎𝑙𝑢𝑒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𝑓𝑜𝑢𝑛𝑑</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𝑏𝑦</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𝑡h𝑒</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𝑚𝑒𝑡h𝑜𝑑</m:t>
                      </m:r>
                      <m:r>
                        <a:rPr lang="en-US" altLang="zh-TW" sz="1800" b="0" i="1" smtClean="0">
                          <a:latin typeface="Cambria Math" panose="02040503050406030204" pitchFamily="18" charset="0"/>
                          <a:cs typeface="Times New Roman" panose="02020603050405020304" pitchFamily="18" charset="0"/>
                        </a:rPr>
                        <m:t>.</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𝑁</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𝑡𝑜𝑡𝑎𝑙</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𝑡𝑟𝑎𝑑𝑖𝑛𝑔</m:t>
                      </m:r>
                      <m:r>
                        <a:rPr lang="en-US" altLang="zh-TW" sz="1800" b="0" i="1" smtClean="0">
                          <a:latin typeface="Cambria Math" panose="02040503050406030204" pitchFamily="18" charset="0"/>
                          <a:cs typeface="Times New Roman" panose="02020603050405020304" pitchFamily="18" charset="0"/>
                        </a:rPr>
                        <m:t> </m:t>
                      </m:r>
                      <m:r>
                        <a:rPr lang="en-US" altLang="zh-TW" sz="1800" b="0" i="1" smtClean="0">
                          <a:latin typeface="Cambria Math" panose="02040503050406030204" pitchFamily="18" charset="0"/>
                          <a:cs typeface="Times New Roman" panose="02020603050405020304" pitchFamily="18" charset="0"/>
                        </a:rPr>
                        <m:t>𝑜𝑟𝑑𝑒𝑟𝑠</m:t>
                      </m:r>
                    </m:oMath>
                  </m:oMathPara>
                </a14:m>
                <a:endParaRPr lang="en-US" altLang="zh-TW" sz="1800" b="0"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5"/>
                <a:ext cx="8924925" cy="5607052"/>
              </a:xfrm>
              <a:blipFill rotWithShape="0">
                <a:blip r:embed="rId3"/>
                <a:stretch>
                  <a:fillRect l="-47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26</a:t>
            </a:fld>
            <a:endParaRPr lang="zh-TW" altLang="en-US" dirty="0"/>
          </a:p>
        </p:txBody>
      </p:sp>
    </p:spTree>
    <p:extLst>
      <p:ext uri="{BB962C8B-B14F-4D97-AF65-F5344CB8AC3E}">
        <p14:creationId xmlns:p14="http://schemas.microsoft.com/office/powerpoint/2010/main" val="22748448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Result(1/3)</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0" y="1324883"/>
            <a:ext cx="9093101" cy="2140539"/>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27</a:t>
            </a:fld>
            <a:endParaRPr lang="zh-TW" altLang="en-US" dirty="0"/>
          </a:p>
        </p:txBody>
      </p:sp>
      <p:pic>
        <p:nvPicPr>
          <p:cNvPr id="6" name="圖片 5"/>
          <p:cNvPicPr>
            <a:picLocks noChangeAspect="1"/>
          </p:cNvPicPr>
          <p:nvPr/>
        </p:nvPicPr>
        <p:blipFill>
          <a:blip r:embed="rId4"/>
          <a:stretch>
            <a:fillRect/>
          </a:stretch>
        </p:blipFill>
        <p:spPr>
          <a:xfrm>
            <a:off x="22321" y="3870234"/>
            <a:ext cx="9070780" cy="2351271"/>
          </a:xfrm>
          <a:prstGeom prst="rect">
            <a:avLst/>
          </a:prstGeom>
        </p:spPr>
      </p:pic>
    </p:spTree>
    <p:extLst>
      <p:ext uri="{BB962C8B-B14F-4D97-AF65-F5344CB8AC3E}">
        <p14:creationId xmlns:p14="http://schemas.microsoft.com/office/powerpoint/2010/main" val="28592029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Result(2/3)</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28</a:t>
            </a:fld>
            <a:endParaRPr lang="zh-TW" altLang="en-US" dirty="0"/>
          </a:p>
        </p:txBody>
      </p:sp>
      <p:pic>
        <p:nvPicPr>
          <p:cNvPr id="7" name="內容版面配置區 6"/>
          <p:cNvPicPr>
            <a:picLocks noGrp="1" noChangeAspect="1"/>
          </p:cNvPicPr>
          <p:nvPr>
            <p:ph idx="1"/>
          </p:nvPr>
        </p:nvPicPr>
        <p:blipFill>
          <a:blip r:embed="rId3"/>
          <a:stretch>
            <a:fillRect/>
          </a:stretch>
        </p:blipFill>
        <p:spPr>
          <a:xfrm>
            <a:off x="1" y="2827566"/>
            <a:ext cx="9144000" cy="1587682"/>
          </a:xfrm>
          <a:prstGeom prst="rect">
            <a:avLst/>
          </a:prstGeom>
        </p:spPr>
      </p:pic>
    </p:spTree>
    <p:extLst>
      <p:ext uri="{BB962C8B-B14F-4D97-AF65-F5344CB8AC3E}">
        <p14:creationId xmlns:p14="http://schemas.microsoft.com/office/powerpoint/2010/main" val="38943744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smtClean="0">
                <a:latin typeface="Times New Roman" panose="02020603050405020304" pitchFamily="18" charset="0"/>
                <a:cs typeface="Times New Roman" panose="02020603050405020304" pitchFamily="18" charset="0"/>
              </a:rPr>
              <a:t>Result(2/3)</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29</a:t>
            </a:fld>
            <a:endParaRPr lang="zh-TW" altLang="en-US" dirty="0"/>
          </a:p>
        </p:txBody>
      </p:sp>
      <p:pic>
        <p:nvPicPr>
          <p:cNvPr id="7" name="圖片 6"/>
          <p:cNvPicPr>
            <a:picLocks noChangeAspect="1"/>
          </p:cNvPicPr>
          <p:nvPr/>
        </p:nvPicPr>
        <p:blipFill>
          <a:blip r:embed="rId3"/>
          <a:stretch>
            <a:fillRect/>
          </a:stretch>
        </p:blipFill>
        <p:spPr>
          <a:xfrm>
            <a:off x="0" y="1531070"/>
            <a:ext cx="9048751" cy="3860579"/>
          </a:xfrm>
          <a:prstGeom prst="rect">
            <a:avLst/>
          </a:prstGeom>
        </p:spPr>
      </p:pic>
    </p:spTree>
    <p:extLst>
      <p:ext uri="{BB962C8B-B14F-4D97-AF65-F5344CB8AC3E}">
        <p14:creationId xmlns:p14="http://schemas.microsoft.com/office/powerpoint/2010/main" val="12393445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12801</TotalTime>
  <Words>1092</Words>
  <Application>Microsoft Office PowerPoint</Application>
  <PresentationFormat>如螢幕大小 (4:3)</PresentationFormat>
  <Paragraphs>407</Paragraphs>
  <Slides>29</Slides>
  <Notes>29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29</vt:i4>
      </vt:variant>
    </vt:vector>
  </HeadingPairs>
  <TitlesOfParts>
    <vt:vector size="38" baseType="lpstr">
      <vt:lpstr>新細明體</vt:lpstr>
      <vt:lpstr>標楷體</vt:lpstr>
      <vt:lpstr>Arial</vt:lpstr>
      <vt:lpstr>Calibri</vt:lpstr>
      <vt:lpstr>Calibri Light</vt:lpstr>
      <vt:lpstr>Cambria Math</vt:lpstr>
      <vt:lpstr>Times New Roman</vt:lpstr>
      <vt:lpstr>Wingdings</vt:lpstr>
      <vt:lpstr>Office 佈景主題</vt:lpstr>
      <vt:lpstr>Trading System based on the use of technical analysis: A computational experiment</vt:lpstr>
      <vt:lpstr>Abstract</vt:lpstr>
      <vt:lpstr>Moving average (MA)</vt:lpstr>
      <vt:lpstr>Moving average (MA)</vt:lpstr>
      <vt:lpstr>Moving average (MA)</vt:lpstr>
      <vt:lpstr>Moving average (MA)</vt:lpstr>
      <vt:lpstr>Moving average (MA)</vt:lpstr>
      <vt:lpstr>Moving average (MA)</vt:lpstr>
      <vt:lpstr>Exponential Moving average (EMA)</vt:lpstr>
      <vt:lpstr>Exponential Moving average (EMA)</vt:lpstr>
      <vt:lpstr>Exponential Moving average (EMA)</vt:lpstr>
      <vt:lpstr>Exponential Moving average (EMA)</vt:lpstr>
      <vt:lpstr>Exponential Moving average (EMA)</vt:lpstr>
      <vt:lpstr>Moving Average Convergence Divergence</vt:lpstr>
      <vt:lpstr>Moving Average Convergence Divergence</vt:lpstr>
      <vt:lpstr>Triple Screen</vt:lpstr>
      <vt:lpstr>First Screen (第一層)</vt:lpstr>
      <vt:lpstr>Second Screen (第二層)</vt:lpstr>
      <vt:lpstr>Third Screen (第三層)</vt:lpstr>
      <vt:lpstr>Strength Index (SI)</vt:lpstr>
      <vt:lpstr>Trailing Stop (移動止損)</vt:lpstr>
      <vt:lpstr>Environment &amp; Sample</vt:lpstr>
      <vt:lpstr>Signals Creation</vt:lpstr>
      <vt:lpstr>System flow</vt:lpstr>
      <vt:lpstr>Relative Average Deviation (RAD)</vt:lpstr>
      <vt:lpstr>POCID</vt:lpstr>
      <vt:lpstr>Result(1/3)</vt:lpstr>
      <vt:lpstr>Result(2/3)</vt:lpstr>
      <vt:lpstr>Result(2/3)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Jarvis Tsai</cp:lastModifiedBy>
  <cp:revision>410</cp:revision>
  <cp:lastPrinted>2015-05-05T05:44:38Z</cp:lastPrinted>
  <dcterms:created xsi:type="dcterms:W3CDTF">2015-05-03T09:05:15Z</dcterms:created>
  <dcterms:modified xsi:type="dcterms:W3CDTF">2015-12-01T10:18:51Z</dcterms:modified>
</cp:coreProperties>
</file>