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handoutMasterIdLst>
    <p:handoutMasterId r:id="rId17"/>
  </p:handoutMasterIdLst>
  <p:sldIdLst>
    <p:sldId id="256" r:id="rId2"/>
    <p:sldId id="258" r:id="rId3"/>
    <p:sldId id="260" r:id="rId4"/>
    <p:sldId id="270" r:id="rId5"/>
    <p:sldId id="262" r:id="rId6"/>
    <p:sldId id="259" r:id="rId7"/>
    <p:sldId id="261" r:id="rId8"/>
    <p:sldId id="263" r:id="rId9"/>
    <p:sldId id="264" r:id="rId10"/>
    <p:sldId id="265" r:id="rId11"/>
    <p:sldId id="266" r:id="rId12"/>
    <p:sldId id="267" r:id="rId13"/>
    <p:sldId id="268" r:id="rId14"/>
    <p:sldId id="269" r:id="rId15"/>
  </p:sldIdLst>
  <p:sldSz cx="9144000" cy="6858000" type="screen4x3"/>
  <p:notesSz cx="9947275" cy="6858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0016" autoAdjust="0"/>
    <p:restoredTop sz="94660"/>
  </p:normalViewPr>
  <p:slideViewPr>
    <p:cSldViewPr snapToGrid="0">
      <p:cViewPr varScale="1">
        <p:scale>
          <a:sx n="73" d="100"/>
          <a:sy n="73" d="100"/>
        </p:scale>
        <p:origin x="-294"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4310486" cy="344091"/>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5634487" y="1"/>
            <a:ext cx="4310486" cy="344091"/>
          </a:xfrm>
          <a:prstGeom prst="rect">
            <a:avLst/>
          </a:prstGeom>
        </p:spPr>
        <p:txBody>
          <a:bodyPr vert="horz" lIns="91440" tIns="45720" rIns="91440" bIns="45720" rtlCol="0"/>
          <a:lstStyle>
            <a:lvl1pPr algn="r">
              <a:defRPr sz="1200"/>
            </a:lvl1pPr>
          </a:lstStyle>
          <a:p>
            <a:fld id="{656B342C-D3E6-4343-B7E6-7344C4D3E48E}" type="datetimeFigureOut">
              <a:rPr lang="zh-TW" altLang="en-US" smtClean="0"/>
              <a:pPr/>
              <a:t>2015/5/18</a:t>
            </a:fld>
            <a:endParaRPr lang="zh-TW" altLang="en-US"/>
          </a:p>
        </p:txBody>
      </p:sp>
      <p:sp>
        <p:nvSpPr>
          <p:cNvPr id="4" name="頁尾版面配置區 3"/>
          <p:cNvSpPr>
            <a:spLocks noGrp="1"/>
          </p:cNvSpPr>
          <p:nvPr>
            <p:ph type="ftr" sz="quarter" idx="2"/>
          </p:nvPr>
        </p:nvSpPr>
        <p:spPr>
          <a:xfrm>
            <a:off x="0" y="6513910"/>
            <a:ext cx="4310486" cy="34409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5634487" y="6513910"/>
            <a:ext cx="4310486" cy="344090"/>
          </a:xfrm>
          <a:prstGeom prst="rect">
            <a:avLst/>
          </a:prstGeom>
        </p:spPr>
        <p:txBody>
          <a:bodyPr vert="horz" lIns="91440" tIns="45720" rIns="91440" bIns="45720" rtlCol="0" anchor="b"/>
          <a:lstStyle>
            <a:lvl1pPr algn="r">
              <a:defRPr sz="1200"/>
            </a:lvl1pPr>
          </a:lstStyle>
          <a:p>
            <a:fld id="{641071B8-4507-4225-B265-9ABFCA3C6D5D}" type="slidenum">
              <a:rPr lang="zh-TW" altLang="en-US" smtClean="0"/>
              <a:pPr/>
              <a:t>‹#›</a:t>
            </a:fld>
            <a:endParaRPr lang="zh-TW" altLang="en-US"/>
          </a:p>
        </p:txBody>
      </p:sp>
    </p:spTree>
    <p:extLst>
      <p:ext uri="{BB962C8B-B14F-4D97-AF65-F5344CB8AC3E}">
        <p14:creationId xmlns="" xmlns:p14="http://schemas.microsoft.com/office/powerpoint/2010/main" val="33711840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4310486" cy="3444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5635063" y="0"/>
            <a:ext cx="4310486" cy="344488"/>
          </a:xfrm>
          <a:prstGeom prst="rect">
            <a:avLst/>
          </a:prstGeom>
        </p:spPr>
        <p:txBody>
          <a:bodyPr vert="horz" lIns="91440" tIns="45720" rIns="91440" bIns="45720" rtlCol="0"/>
          <a:lstStyle>
            <a:lvl1pPr algn="r">
              <a:defRPr sz="1200"/>
            </a:lvl1pPr>
          </a:lstStyle>
          <a:p>
            <a:fld id="{1051319D-5FEB-4BB2-8449-8B5AD3FD1565}" type="datetimeFigureOut">
              <a:rPr lang="zh-TW" altLang="en-US" smtClean="0"/>
              <a:pPr/>
              <a:t>2015/5/18</a:t>
            </a:fld>
            <a:endParaRPr lang="zh-TW" altLang="en-US"/>
          </a:p>
        </p:txBody>
      </p:sp>
      <p:sp>
        <p:nvSpPr>
          <p:cNvPr id="4" name="投影片圖像版面配置區 3"/>
          <p:cNvSpPr>
            <a:spLocks noGrp="1" noRot="1" noChangeAspect="1"/>
          </p:cNvSpPr>
          <p:nvPr>
            <p:ph type="sldImg" idx="2"/>
          </p:nvPr>
        </p:nvSpPr>
        <p:spPr>
          <a:xfrm>
            <a:off x="3430588" y="857250"/>
            <a:ext cx="3086100" cy="2314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994728" y="3300414"/>
            <a:ext cx="7957820" cy="2700337"/>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6513514"/>
            <a:ext cx="4310486" cy="3444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635063" y="6513514"/>
            <a:ext cx="4310486" cy="344487"/>
          </a:xfrm>
          <a:prstGeom prst="rect">
            <a:avLst/>
          </a:prstGeom>
        </p:spPr>
        <p:txBody>
          <a:bodyPr vert="horz" lIns="91440" tIns="45720" rIns="91440" bIns="45720" rtlCol="0" anchor="b"/>
          <a:lstStyle>
            <a:lvl1pPr algn="r">
              <a:defRPr sz="1200"/>
            </a:lvl1pPr>
          </a:lstStyle>
          <a:p>
            <a:fld id="{9A8D4387-758A-48A1-B6FC-B6449276ED87}" type="slidenum">
              <a:rPr lang="zh-TW" altLang="en-US" smtClean="0"/>
              <a:pPr/>
              <a:t>‹#›</a:t>
            </a:fld>
            <a:endParaRPr lang="zh-TW" altLang="en-US"/>
          </a:p>
        </p:txBody>
      </p:sp>
    </p:spTree>
    <p:extLst>
      <p:ext uri="{BB962C8B-B14F-4D97-AF65-F5344CB8AC3E}">
        <p14:creationId xmlns="" xmlns:p14="http://schemas.microsoft.com/office/powerpoint/2010/main" val="11241250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pPr/>
              <a:t>1</a:t>
            </a:fld>
            <a:endParaRPr lang="zh-TW" altLang="en-US"/>
          </a:p>
        </p:txBody>
      </p:sp>
    </p:spTree>
    <p:extLst>
      <p:ext uri="{BB962C8B-B14F-4D97-AF65-F5344CB8AC3E}">
        <p14:creationId xmlns="" xmlns:p14="http://schemas.microsoft.com/office/powerpoint/2010/main" val="407028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143000" y="1122363"/>
            <a:ext cx="6858000" cy="2387600"/>
          </a:xfrm>
        </p:spPr>
        <p:txBody>
          <a:bodyPr anchor="b"/>
          <a:lstStyle>
            <a:lvl1pPr algn="ctr">
              <a:defRPr sz="45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F813411-B8F4-4907-AA92-4552EEC98037}" type="datetime1">
              <a:rPr lang="zh-TW" altLang="en-US" smtClean="0"/>
              <a:pPr/>
              <a:t>2015/5/18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 xmlns:p14="http://schemas.microsoft.com/office/powerpoint/2010/main" val="227706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C467948-3BC4-474B-B2C5-B24B6278D5CC}" type="datetime1">
              <a:rPr lang="zh-TW" altLang="en-US" smtClean="0"/>
              <a:pPr/>
              <a:t>2015/5/18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 xmlns:p14="http://schemas.microsoft.com/office/powerpoint/2010/main" val="628356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623888" y="1709739"/>
            <a:ext cx="7886700" cy="2852737"/>
          </a:xfrm>
        </p:spPr>
        <p:txBody>
          <a:bodyPr anchor="b"/>
          <a:lstStyle>
            <a:lvl1pPr>
              <a:defRPr sz="45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4B5E4401-0966-4BE9-949A-1941D46B255A}" type="datetime1">
              <a:rPr lang="zh-TW" altLang="en-US" smtClean="0"/>
              <a:pPr/>
              <a:t>2015/5/18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 xmlns:p14="http://schemas.microsoft.com/office/powerpoint/2010/main" val="2216371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2E5F7A8-39F7-47D3-84AF-7F86628B5FAB}" type="datetime1">
              <a:rPr lang="zh-TW" altLang="en-US" smtClean="0"/>
              <a:pPr/>
              <a:t>2015/5/18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 xmlns:p14="http://schemas.microsoft.com/office/powerpoint/2010/main" val="3334492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29841" y="365126"/>
            <a:ext cx="78867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2EF84A1C-B702-477E-9BF4-97BB9A31376D}" type="datetime1">
              <a:rPr lang="zh-TW" altLang="en-US" smtClean="0"/>
              <a:pPr/>
              <a:t>2015/5/18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 xmlns:p14="http://schemas.microsoft.com/office/powerpoint/2010/main" val="129008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B9DAD37B-8EDA-44B1-B8D7-9E8653376522}" type="datetime1">
              <a:rPr lang="zh-TW" altLang="en-US" smtClean="0"/>
              <a:pPr/>
              <a:t>2015/5/18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 xmlns:p14="http://schemas.microsoft.com/office/powerpoint/2010/main" val="1071572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F73D677-579F-4601-A0E0-98D0EF8FF300}" type="datetime1">
              <a:rPr lang="zh-TW" altLang="en-US" smtClean="0"/>
              <a:pPr/>
              <a:t>2015/5/18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 xmlns:p14="http://schemas.microsoft.com/office/powerpoint/2010/main" val="403127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3204F25-68B9-4B98-A00F-22886F6765A0}" type="datetime1">
              <a:rPr lang="zh-TW" altLang="en-US" smtClean="0"/>
              <a:pPr/>
              <a:t>2015/5/18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 xmlns:p14="http://schemas.microsoft.com/office/powerpoint/2010/main" val="3472315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35A57DF-E3E8-4590-BCB8-918F6FA7A470}" type="datetime1">
              <a:rPr lang="zh-TW" altLang="en-US" smtClean="0"/>
              <a:pPr/>
              <a:t>2015/5/18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 xmlns:p14="http://schemas.microsoft.com/office/powerpoint/2010/main" val="1578714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183A9F8-67B4-415C-958B-B847634E21C6}" type="datetime1">
              <a:rPr lang="zh-TW" altLang="en-US" smtClean="0"/>
              <a:pPr/>
              <a:t>2015/5/18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 xmlns:p14="http://schemas.microsoft.com/office/powerpoint/2010/main" val="1937675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BD22B4F-FCBB-477E-B7D1-1CF98B64D8ED}" type="datetime1">
              <a:rPr lang="zh-TW" altLang="en-US" smtClean="0"/>
              <a:pPr/>
              <a:t>2015/5/18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pPr/>
              <a:t>‹#›</a:t>
            </a:fld>
            <a:endParaRPr lang="zh-TW" altLang="en-US"/>
          </a:p>
        </p:txBody>
      </p:sp>
    </p:spTree>
    <p:extLst>
      <p:ext uri="{BB962C8B-B14F-4D97-AF65-F5344CB8AC3E}">
        <p14:creationId xmlns="" xmlns:p14="http://schemas.microsoft.com/office/powerpoint/2010/main" val="1900387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451B09C-9434-434F-8521-A32D48F8D9B0}" type="datetime1">
              <a:rPr lang="zh-TW" altLang="en-US" smtClean="0"/>
              <a:pPr/>
              <a:t>2015/5/18</a:t>
            </a:fld>
            <a:endParaRPr lang="zh-TW" altLang="en-US"/>
          </a:p>
        </p:txBody>
      </p:sp>
      <p:sp>
        <p:nvSpPr>
          <p:cNvPr id="5" name="頁尾版面配置區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6D0F78-E2D1-4ADE-B2ED-40AB43ACB23D}" type="slidenum">
              <a:rPr lang="zh-TW" altLang="en-US" smtClean="0"/>
              <a:pPr/>
              <a:t>‹#›</a:t>
            </a:fld>
            <a:endParaRPr lang="zh-TW" altLang="en-US"/>
          </a:p>
        </p:txBody>
      </p:sp>
    </p:spTree>
    <p:extLst>
      <p:ext uri="{BB962C8B-B14F-4D97-AF65-F5344CB8AC3E}">
        <p14:creationId xmlns="" xmlns:p14="http://schemas.microsoft.com/office/powerpoint/2010/main" val="38575259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76201"/>
            <a:ext cx="9144000" cy="2305050"/>
          </a:xfrm>
        </p:spPr>
        <p:txBody>
          <a:bodyPr>
            <a:normAutofit fontScale="90000"/>
          </a:bodyPr>
          <a:lstStyle/>
          <a:p>
            <a:r>
              <a:rPr lang="en-US" altLang="zh-TW" sz="5400" dirty="0">
                <a:latin typeface="Times New Roman" panose="02020603050405020304" pitchFamily="18" charset="0"/>
                <a:cs typeface="Times New Roman" panose="02020603050405020304" pitchFamily="18" charset="0"/>
              </a:rPr>
              <a:t>A fast pruned-extreme learning machine for classification problem</a:t>
            </a:r>
            <a:endParaRPr lang="zh-TW" altLang="en-US" sz="54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0" y="2705100"/>
            <a:ext cx="9144000" cy="3981450"/>
          </a:xfrm>
        </p:spPr>
        <p:txBody>
          <a:bodyPr>
            <a:norm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Hai-Jun </a:t>
            </a:r>
            <a:r>
              <a:rPr lang="en-US" altLang="zh-TW" sz="2000" dirty="0" err="1">
                <a:latin typeface="Times New Roman" panose="02020603050405020304" pitchFamily="18" charset="0"/>
                <a:cs typeface="Times New Roman" panose="02020603050405020304" pitchFamily="18" charset="0"/>
              </a:rPr>
              <a:t>Rong</a:t>
            </a:r>
            <a:r>
              <a:rPr lang="en-US" altLang="zh-TW" sz="2000" dirty="0">
                <a:latin typeface="Times New Roman" panose="02020603050405020304" pitchFamily="18" charset="0"/>
                <a:cs typeface="Times New Roman" panose="02020603050405020304" pitchFamily="18" charset="0"/>
              </a:rPr>
              <a:t>, Yew-Soon Ong, Ah-</a:t>
            </a:r>
            <a:r>
              <a:rPr lang="en-US" altLang="zh-TW" sz="2000" dirty="0" err="1">
                <a:latin typeface="Times New Roman" panose="02020603050405020304" pitchFamily="18" charset="0"/>
                <a:cs typeface="Times New Roman" panose="02020603050405020304" pitchFamily="18" charset="0"/>
              </a:rPr>
              <a:t>Hwee</a:t>
            </a:r>
            <a:r>
              <a:rPr lang="en-US" altLang="zh-TW" sz="2000" dirty="0">
                <a:latin typeface="Times New Roman" panose="02020603050405020304" pitchFamily="18" charset="0"/>
                <a:cs typeface="Times New Roman" panose="02020603050405020304" pitchFamily="18" charset="0"/>
              </a:rPr>
              <a:t> Tan, </a:t>
            </a:r>
            <a:r>
              <a:rPr lang="en-US" altLang="zh-TW" sz="2000" dirty="0" err="1">
                <a:latin typeface="Times New Roman" panose="02020603050405020304" pitchFamily="18" charset="0"/>
                <a:cs typeface="Times New Roman" panose="02020603050405020304" pitchFamily="18" charset="0"/>
              </a:rPr>
              <a:t>Zexuan</a:t>
            </a:r>
            <a:r>
              <a:rPr lang="en-US" altLang="zh-TW" sz="2000" dirty="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Zhu</a:t>
            </a:r>
          </a:p>
          <a:p>
            <a:pPr>
              <a:lnSpc>
                <a:spcPct val="150000"/>
              </a:lnSpc>
            </a:pPr>
            <a:r>
              <a:rPr lang="en-US" altLang="zh-TW" sz="2000" dirty="0">
                <a:latin typeface="Times New Roman" panose="02020603050405020304" pitchFamily="18" charset="0"/>
                <a:cs typeface="Times New Roman" panose="02020603050405020304" pitchFamily="18" charset="0"/>
              </a:rPr>
              <a:t>Division of Information Systems, School of Computer Engineering, </a:t>
            </a:r>
            <a:r>
              <a:rPr lang="en-US" altLang="zh-TW" sz="2000" dirty="0" err="1">
                <a:latin typeface="Times New Roman" panose="02020603050405020304" pitchFamily="18" charset="0"/>
                <a:cs typeface="Times New Roman" panose="02020603050405020304" pitchFamily="18" charset="0"/>
              </a:rPr>
              <a:t>Nanyang</a:t>
            </a:r>
            <a:r>
              <a:rPr lang="en-US" altLang="zh-TW" sz="2000" dirty="0">
                <a:latin typeface="Times New Roman" panose="02020603050405020304" pitchFamily="18" charset="0"/>
                <a:cs typeface="Times New Roman" panose="02020603050405020304" pitchFamily="18" charset="0"/>
              </a:rPr>
              <a:t> Technological </a:t>
            </a:r>
            <a:r>
              <a:rPr lang="en-US" altLang="zh-TW" sz="2000" dirty="0" smtClean="0">
                <a:latin typeface="Times New Roman" panose="02020603050405020304" pitchFamily="18" charset="0"/>
                <a:cs typeface="Times New Roman" panose="02020603050405020304" pitchFamily="18" charset="0"/>
              </a:rPr>
              <a:t>University</a:t>
            </a:r>
          </a:p>
          <a:p>
            <a:pPr>
              <a:lnSpc>
                <a:spcPct val="150000"/>
              </a:lnSpc>
            </a:pPr>
            <a:r>
              <a:rPr lang="en-US" altLang="zh-TW" sz="2000" dirty="0" err="1">
                <a:latin typeface="Times New Roman" panose="02020603050405020304" pitchFamily="18" charset="0"/>
                <a:cs typeface="Times New Roman" panose="02020603050405020304" pitchFamily="18" charset="0"/>
              </a:rPr>
              <a:t>Neurocomputing</a:t>
            </a:r>
            <a:r>
              <a:rPr lang="en-US" altLang="zh-TW" sz="2000" dirty="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 2008, Volume 72, pp.359-366</a:t>
            </a:r>
            <a:endParaRPr lang="en-US" altLang="zh-TW" sz="2000" dirty="0">
              <a:latin typeface="Times New Roman" panose="02020603050405020304" pitchFamily="18" charset="0"/>
              <a:cs typeface="Times New Roman" panose="02020603050405020304" pitchFamily="18" charset="0"/>
            </a:endParaRPr>
          </a:p>
          <a:p>
            <a:pPr>
              <a:lnSpc>
                <a:spcPct val="150000"/>
              </a:lnSpc>
            </a:pPr>
            <a:r>
              <a:rPr lang="en-US" altLang="zh-TW" sz="2000" dirty="0" smtClean="0">
                <a:latin typeface="Times New Roman" panose="02020603050405020304" pitchFamily="18" charset="0"/>
                <a:cs typeface="Times New Roman" panose="02020603050405020304" pitchFamily="18" charset="0"/>
              </a:rPr>
              <a:t>Presenter : Yao-Chou Tsai</a:t>
            </a:r>
          </a:p>
          <a:p>
            <a:pPr>
              <a:lnSpc>
                <a:spcPct val="150000"/>
              </a:lnSpc>
            </a:pPr>
            <a:r>
              <a:rPr lang="en-US" altLang="zh-TW" sz="2000" dirty="0" smtClean="0">
                <a:latin typeface="Times New Roman" panose="02020603050405020304" pitchFamily="18" charset="0"/>
                <a:cs typeface="Times New Roman" panose="02020603050405020304" pitchFamily="18" charset="0"/>
              </a:rPr>
              <a:t>Date : </a:t>
            </a:r>
            <a:r>
              <a:rPr lang="en-US" altLang="zh-TW" sz="2000" dirty="0" smtClean="0">
                <a:latin typeface="Times New Roman" panose="02020603050405020304" pitchFamily="18" charset="0"/>
                <a:cs typeface="Times New Roman" panose="02020603050405020304" pitchFamily="18" charset="0"/>
              </a:rPr>
              <a:t>2015/5/18</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1</a:t>
            </a:fld>
            <a:endParaRPr lang="zh-TW" altLang="en-US"/>
          </a:p>
        </p:txBody>
      </p:sp>
    </p:spTree>
    <p:extLst>
      <p:ext uri="{BB962C8B-B14F-4D97-AF65-F5344CB8AC3E}">
        <p14:creationId xmlns="" xmlns:p14="http://schemas.microsoft.com/office/powerpoint/2010/main" val="27241994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Abstract(1/2)</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normAutofit lnSpcReduction="10000"/>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Extreme learning machine (ELM) represents one of the recent successful approaches in machine learning, particularly for performing pattern classification. One key strength of ELM is the significantly low computational time required for training new classifiers since the weights of the hidden and output nodes are randomly chosen and analytically determined, respectively. In this paper, we address the architectural design of the ELM classifier network, since too few/many hidden nodes employed would lead to </a:t>
            </a:r>
            <a:r>
              <a:rPr lang="en-US" altLang="zh-TW" sz="2400" dirty="0" err="1">
                <a:latin typeface="Times New Roman" panose="02020603050405020304" pitchFamily="18" charset="0"/>
                <a:cs typeface="Times New Roman" panose="02020603050405020304" pitchFamily="18" charset="0"/>
              </a:rPr>
              <a:t>underfitting</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overfitting</a:t>
            </a:r>
            <a:r>
              <a:rPr lang="en-US" altLang="zh-TW" sz="2400" dirty="0">
                <a:latin typeface="Times New Roman" panose="02020603050405020304" pitchFamily="18" charset="0"/>
                <a:cs typeface="Times New Roman" panose="02020603050405020304" pitchFamily="18" charset="0"/>
              </a:rPr>
              <a:t> issues in pattern classification. In particular, we describe the proposed pruned-ELM (P-ELM) algorithm as a systematic and automated approach for designing ELM classifier network.</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2</a:t>
            </a:fld>
            <a:endParaRPr lang="zh-TW" altLang="en-US"/>
          </a:p>
        </p:txBody>
      </p:sp>
    </p:spTree>
    <p:extLst>
      <p:ext uri="{BB962C8B-B14F-4D97-AF65-F5344CB8AC3E}">
        <p14:creationId xmlns="" xmlns:p14="http://schemas.microsoft.com/office/powerpoint/2010/main" val="27442539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Abstract(2/2)</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norm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P-ELM uses statistical methods to measure the relevance of hidden nodes. Beginning from an initial large number of hidden nodes, irrelevant nodes are then pruned by considering their relevance to the class labels. As a result, the architectural design of ELM network classifier can be automated. Empirical study of P-ELM on several commonly used classification benchmark problems and with diverse forms of hidden node functions show that the proposed approach leads to compact network classifiers that generate fast response and robust prediction accuracy on unseen data, comparing with traditional ELM and other popular machine learning approaches.</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3</a:t>
            </a:fld>
            <a:endParaRPr lang="zh-TW" altLang="en-US"/>
          </a:p>
        </p:txBody>
      </p:sp>
    </p:spTree>
    <p:extLst>
      <p:ext uri="{BB962C8B-B14F-4D97-AF65-F5344CB8AC3E}">
        <p14:creationId xmlns="" xmlns:p14="http://schemas.microsoft.com/office/powerpoint/2010/main" val="19308212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0456"/>
            <a:ext cx="9144000" cy="792050"/>
          </a:xfrm>
        </p:spPr>
        <p:txBody>
          <a:bodyPr>
            <a:normAutofit/>
          </a:bodyPr>
          <a:lstStyle/>
          <a:p>
            <a:r>
              <a:rPr lang="en-US" altLang="zh-TW" sz="4800" dirty="0" smtClean="0">
                <a:latin typeface="Times New Roman" panose="02020603050405020304" pitchFamily="18" charset="0"/>
                <a:cs typeface="Times New Roman" panose="02020603050405020304" pitchFamily="18" charset="0"/>
              </a:rPr>
              <a:t>Extreme Learning Machine</a:t>
            </a:r>
            <a:endParaRPr lang="zh-TW" altLang="en-US" sz="4800" dirty="0">
              <a:latin typeface="Times New Roman" panose="02020603050405020304" pitchFamily="18" charset="0"/>
              <a:cs typeface="Times New Roman" panose="02020603050405020304" pitchFamily="18" charset="0"/>
            </a:endParaRPr>
          </a:p>
        </p:txBody>
      </p:sp>
      <p:pic>
        <p:nvPicPr>
          <p:cNvPr id="8" name="Picture 4"/>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119334" y="1837854"/>
            <a:ext cx="8905331" cy="2836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9" name="文字方塊 8"/>
          <p:cNvSpPr txBox="1"/>
          <p:nvPr/>
        </p:nvSpPr>
        <p:spPr>
          <a:xfrm>
            <a:off x="108642" y="1312749"/>
            <a:ext cx="8863342"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smtClean="0">
                <a:latin typeface="Times New Roman" panose="02020603050405020304" pitchFamily="18" charset="0"/>
                <a:cs typeface="Times New Roman" panose="02020603050405020304" pitchFamily="18" charset="0"/>
              </a:rPr>
              <a:t>The learning algorithm for SLFNs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6913352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Main ideas of Pruned-ELM</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lstStyle/>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Identifying the degree of relevance between the hidden nodes and the class labels.</a:t>
            </a: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Remove the irrelevant or low relevant hidden nodes.</a:t>
            </a:r>
          </a:p>
          <a:p>
            <a:pPr>
              <a:lnSpc>
                <a:spcPct val="150000"/>
              </a:lnSpc>
            </a:pP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前置計算步驟與原始</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ELM</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相同。</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使用統計方法來判斷關聯性。</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An extreme large network also brings about longer prediction responses and unnecessary requirement for large memory as well.</a:t>
            </a: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5</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 xmlns:p14="http://schemas.microsoft.com/office/powerpoint/2010/main" val="19519849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Chi-squared (1/2)</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a:xfrm>
                <a:off x="95249" y="1114424"/>
                <a:ext cx="8924925" cy="5743575"/>
              </a:xfrm>
            </p:spPr>
            <p:txBody>
              <a:bodyPr/>
              <a:lstStyle/>
              <a:p>
                <a:r>
                  <a:rPr lang="en-US" altLang="zh-TW" dirty="0">
                    <a:latin typeface="Times New Roman" panose="02020603050405020304" pitchFamily="18" charset="0"/>
                    <a:cs typeface="Times New Roman" panose="02020603050405020304" pitchFamily="18" charset="0"/>
                  </a:rPr>
                  <a:t>Hypothesis </a:t>
                </a:r>
                <a:r>
                  <a:rPr lang="en-US" altLang="zh-TW" dirty="0" smtClean="0">
                    <a:latin typeface="Times New Roman" panose="02020603050405020304" pitchFamily="18" charset="0"/>
                    <a:cs typeface="Times New Roman" panose="02020603050405020304" pitchFamily="18" charset="0"/>
                  </a:rPr>
                  <a:t>Testing</a:t>
                </a:r>
              </a:p>
              <a:p>
                <a:r>
                  <a:rPr lang="zh-TW" altLang="en-US" dirty="0">
                    <a:latin typeface="標楷體" panose="03000509000000000000" pitchFamily="65" charset="-120"/>
                    <a:ea typeface="標楷體" panose="03000509000000000000" pitchFamily="65" charset="-120"/>
                    <a:cs typeface="Times New Roman" panose="02020603050405020304" pitchFamily="18" charset="0"/>
                  </a:rPr>
                  <a:t>兩個分類變數的關聯性</a:t>
                </a:r>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分析</a:t>
                </a:r>
                <a:endParaRPr lang="en-US" altLang="zh-TW" dirty="0" smtClean="0">
                  <a:latin typeface="標楷體" panose="03000509000000000000" pitchFamily="65" charset="-120"/>
                  <a:ea typeface="標楷體" panose="03000509000000000000" pitchFamily="65" charset="-120"/>
                  <a:cs typeface="Times New Roman" panose="02020603050405020304" pitchFamily="18" charset="0"/>
                </a:endParaRPr>
              </a:p>
              <a:p>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Formula</a:t>
                </a:r>
              </a:p>
              <a:p>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endParaRPr lang="en-US" altLang="zh-TW" dirty="0" smtClean="0">
                  <a:latin typeface="標楷體" panose="03000509000000000000" pitchFamily="65" charset="-120"/>
                  <a:ea typeface="標楷體" panose="03000509000000000000" pitchFamily="65" charset="-120"/>
                  <a:cs typeface="Times New Roman" panose="02020603050405020304" pitchFamily="18" charset="0"/>
                </a:endParaRPr>
              </a:p>
              <a:p>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14:m>
                  <m:oMath xmlns:m="http://schemas.openxmlformats.org/officeDocument/2006/math">
                    <m:r>
                      <m:rPr>
                        <m:sty m:val="p"/>
                      </m:rPr>
                      <a:rPr lang="en-US" altLang="zh-TW" i="1" dirty="0" smtClean="0">
                        <a:latin typeface="Cambria Math" panose="02040503050406030204" pitchFamily="18" charset="0"/>
                        <a:ea typeface="標楷體" panose="03000509000000000000" pitchFamily="65" charset="-120"/>
                        <a:cs typeface="Times New Roman" panose="02020603050405020304" pitchFamily="18" charset="0"/>
                      </a:rPr>
                      <m:t>A</m:t>
                    </m:r>
                    <m:r>
                      <a:rPr lang="zh-TW" altLang="en-US" i="1" dirty="0">
                        <a:latin typeface="Cambria Math" panose="02040503050406030204" pitchFamily="18" charset="0"/>
                        <a:ea typeface="標楷體" panose="03000509000000000000" pitchFamily="65" charset="-120"/>
                        <a:cs typeface="Times New Roman" panose="02020603050405020304" pitchFamily="18" charset="0"/>
                      </a:rPr>
                      <m:t> </m:t>
                    </m:r>
                  </m:oMath>
                </a14:m>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是觀察變數，</a:t>
                </a:r>
                <a14:m>
                  <m:oMath xmlns:m="http://schemas.openxmlformats.org/officeDocument/2006/math">
                    <m:r>
                      <m:rPr>
                        <m:sty m:val="p"/>
                      </m:rPr>
                      <a:rPr lang="en-US" altLang="zh-TW" i="1" dirty="0">
                        <a:latin typeface="Cambria Math" panose="02040503050406030204" pitchFamily="18" charset="0"/>
                        <a:ea typeface="標楷體" panose="03000509000000000000" pitchFamily="65" charset="-120"/>
                        <a:cs typeface="Times New Roman" panose="02020603050405020304" pitchFamily="18" charset="0"/>
                      </a:rPr>
                      <m:t>E</m:t>
                    </m:r>
                  </m:oMath>
                </a14:m>
                <a:r>
                  <a:rPr lang="zh-TW" altLang="en-US" dirty="0" smtClean="0">
                    <a:latin typeface="標楷體" panose="03000509000000000000" pitchFamily="65" charset="-120"/>
                    <a:ea typeface="標楷體" panose="03000509000000000000" pitchFamily="65" charset="-120"/>
                    <a:cs typeface="Times New Roman" panose="02020603050405020304" pitchFamily="18" charset="0"/>
                  </a:rPr>
                  <a:t> 是期望變數</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endParaRPr lang="en-US" altLang="zh-TW" dirty="0" smtClean="0">
                  <a:latin typeface="標楷體" panose="03000509000000000000" pitchFamily="65" charset="-120"/>
                  <a:ea typeface="標楷體" panose="03000509000000000000" pitchFamily="65" charset="-12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2"/>
                <a:stretch>
                  <a:fillRect l="-683" t="-1168"/>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6</a:t>
            </a:fld>
            <a:endParaRPr lang="zh-TW" altLang="en-US"/>
          </a:p>
        </p:txBody>
      </p:sp>
      <p:pic>
        <p:nvPicPr>
          <p:cNvPr id="5" name="圖片 4"/>
          <p:cNvPicPr>
            <a:picLocks noChangeAspect="1"/>
          </p:cNvPicPr>
          <p:nvPr/>
        </p:nvPicPr>
        <p:blipFill>
          <a:blip r:embed="rId3"/>
          <a:stretch>
            <a:fillRect/>
          </a:stretch>
        </p:blipFill>
        <p:spPr>
          <a:xfrm>
            <a:off x="514348" y="2406650"/>
            <a:ext cx="8086725" cy="885825"/>
          </a:xfrm>
          <a:prstGeom prst="rect">
            <a:avLst/>
          </a:prstGeom>
        </p:spPr>
      </p:pic>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 xmlns:p14="http://schemas.microsoft.com/office/powerpoint/2010/main" val="38792292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Chi-squared (2/2)</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a:xfrm>
                <a:off x="95249" y="1114424"/>
                <a:ext cx="8924925" cy="5743575"/>
              </a:xfrm>
            </p:spPr>
            <p:txBody>
              <a:bodyPr/>
              <a:lstStyle/>
              <a:p>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Association between the class labels and individual hidden node.</a:t>
                </a:r>
              </a:p>
              <a:p>
                <a:pPr lvl="1"/>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Class label </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代表類別名稱</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Main formula</a:t>
                </a: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𝑑</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the number of discrete bins for individual hidden node </a:t>
                </a:r>
                <a14:m>
                  <m:oMath xmlns:m="http://schemas.openxmlformats.org/officeDocument/2006/math">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h</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oMath>
                </a14:m>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𝑟</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the number of class labels.</a:t>
                </a:r>
              </a:p>
              <a:p>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𝑙𝑗</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represents the cardinality of bin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𝑙</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and class label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𝑗</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14:m>
                  <m:oMath xmlns:m="http://schemas.openxmlformats.org/officeDocument/2006/math">
                    <m:sSub>
                      <m:sSub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𝐸</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𝑙𝑗</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represents the expected cardinality of </a:t>
                </a:r>
                <a14:m>
                  <m:oMath xmlns:m="http://schemas.openxmlformats.org/officeDocument/2006/math">
                    <m:sSub>
                      <m:sSub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𝑙𝑗</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0" indent="0">
                  <a:buNone/>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dirty="0" smtClean="0">
                  <a:latin typeface="標楷體" panose="03000509000000000000" pitchFamily="65" charset="-120"/>
                  <a:ea typeface="標楷體" panose="03000509000000000000" pitchFamily="65" charset="-12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2"/>
                <a:stretch>
                  <a:fillRect l="-683" t="-1168"/>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7</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7" name="圖片 6"/>
          <p:cNvPicPr>
            <a:picLocks noChangeAspect="1"/>
          </p:cNvPicPr>
          <p:nvPr/>
        </p:nvPicPr>
        <p:blipFill>
          <a:blip r:embed="rId3"/>
          <a:stretch>
            <a:fillRect/>
          </a:stretch>
        </p:blipFill>
        <p:spPr>
          <a:xfrm>
            <a:off x="2833686" y="2306638"/>
            <a:ext cx="3448050" cy="952500"/>
          </a:xfrm>
          <a:prstGeom prst="rect">
            <a:avLst/>
          </a:prstGeom>
        </p:spPr>
      </p:pic>
      <p:pic>
        <p:nvPicPr>
          <p:cNvPr id="9" name="圖片 8"/>
          <p:cNvPicPr>
            <a:picLocks noChangeAspect="1"/>
          </p:cNvPicPr>
          <p:nvPr/>
        </p:nvPicPr>
        <p:blipFill>
          <a:blip r:embed="rId4"/>
          <a:stretch>
            <a:fillRect/>
          </a:stretch>
        </p:blipFill>
        <p:spPr>
          <a:xfrm>
            <a:off x="214378" y="5424889"/>
            <a:ext cx="3790950" cy="1009650"/>
          </a:xfrm>
          <a:prstGeom prst="rect">
            <a:avLst/>
          </a:prstGeom>
        </p:spPr>
      </p:pic>
      <p:pic>
        <p:nvPicPr>
          <p:cNvPr id="10" name="圖片 9"/>
          <p:cNvPicPr>
            <a:picLocks noChangeAspect="1"/>
          </p:cNvPicPr>
          <p:nvPr/>
        </p:nvPicPr>
        <p:blipFill>
          <a:blip r:embed="rId5"/>
          <a:stretch>
            <a:fillRect/>
          </a:stretch>
        </p:blipFill>
        <p:spPr>
          <a:xfrm>
            <a:off x="4555363" y="5462989"/>
            <a:ext cx="3914775" cy="933450"/>
          </a:xfrm>
          <a:prstGeom prst="rect">
            <a:avLst/>
          </a:prstGeom>
        </p:spPr>
      </p:pic>
    </p:spTree>
    <p:extLst>
      <p:ext uri="{BB962C8B-B14F-4D97-AF65-F5344CB8AC3E}">
        <p14:creationId xmlns="" xmlns:p14="http://schemas.microsoft.com/office/powerpoint/2010/main" val="6521432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Information gain (1/2)</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lstStyle/>
          <a:p>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Comes from Information theory</a:t>
            </a:r>
          </a:p>
          <a:p>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8</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7" name="圖片 6"/>
          <p:cNvPicPr>
            <a:picLocks noChangeAspect="1"/>
          </p:cNvPicPr>
          <p:nvPr/>
        </p:nvPicPr>
        <p:blipFill>
          <a:blip r:embed="rId2"/>
          <a:stretch>
            <a:fillRect/>
          </a:stretch>
        </p:blipFill>
        <p:spPr>
          <a:xfrm>
            <a:off x="332972" y="1801938"/>
            <a:ext cx="3390900" cy="1009650"/>
          </a:xfrm>
          <a:prstGeom prst="rect">
            <a:avLst/>
          </a:prstGeom>
        </p:spPr>
      </p:pic>
      <p:pic>
        <p:nvPicPr>
          <p:cNvPr id="8" name="圖片 7"/>
          <p:cNvPicPr>
            <a:picLocks noChangeAspect="1"/>
          </p:cNvPicPr>
          <p:nvPr/>
        </p:nvPicPr>
        <p:blipFill>
          <a:blip r:embed="rId3"/>
          <a:stretch>
            <a:fillRect/>
          </a:stretch>
        </p:blipFill>
        <p:spPr>
          <a:xfrm>
            <a:off x="332972" y="2975019"/>
            <a:ext cx="3914775" cy="1133475"/>
          </a:xfrm>
          <a:prstGeom prst="rect">
            <a:avLst/>
          </a:prstGeom>
        </p:spPr>
      </p:pic>
      <p:pic>
        <p:nvPicPr>
          <p:cNvPr id="9" name="圖片 8"/>
          <p:cNvPicPr>
            <a:picLocks noChangeAspect="1"/>
          </p:cNvPicPr>
          <p:nvPr/>
        </p:nvPicPr>
        <p:blipFill>
          <a:blip r:embed="rId4"/>
          <a:stretch>
            <a:fillRect/>
          </a:stretch>
        </p:blipFill>
        <p:spPr>
          <a:xfrm>
            <a:off x="332972" y="4588737"/>
            <a:ext cx="3924300" cy="523875"/>
          </a:xfrm>
          <a:prstGeom prst="rect">
            <a:avLst/>
          </a:prstGeom>
        </p:spPr>
      </p:pic>
      <p:sp>
        <p:nvSpPr>
          <p:cNvPr id="10" name="文字方塊 9"/>
          <p:cNvSpPr txBox="1"/>
          <p:nvPr/>
        </p:nvSpPr>
        <p:spPr>
          <a:xfrm>
            <a:off x="5119352" y="2080950"/>
            <a:ext cx="1654936" cy="400110"/>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Entropy of D</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9580927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Information gain (2/2)</a:t>
            </a:r>
            <a:endParaRPr lang="zh-TW" altLang="en-US" sz="4000"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stretch>
            <a:fillRect/>
          </a:stretch>
        </p:blipFill>
        <p:spPr>
          <a:xfrm>
            <a:off x="95249" y="1365361"/>
            <a:ext cx="3695700" cy="914400"/>
          </a:xfrm>
          <a:prstGeom prst="rect">
            <a:avLst/>
          </a:prstGeom>
        </p:spPr>
      </p:pic>
      <p:sp>
        <p:nvSpPr>
          <p:cNvPr id="4" name="投影片編號版面配置區 3"/>
          <p:cNvSpPr>
            <a:spLocks noGrp="1"/>
          </p:cNvSpPr>
          <p:nvPr>
            <p:ph type="sldNum" sz="quarter" idx="12"/>
          </p:nvPr>
        </p:nvSpPr>
        <p:spPr/>
        <p:txBody>
          <a:bodyPr/>
          <a:lstStyle/>
          <a:p>
            <a:fld id="{7D6D0F78-E2D1-4ADE-B2ED-40AB43ACB23D}" type="slidenum">
              <a:rPr lang="zh-TW" altLang="en-US" smtClean="0"/>
              <a:pPr/>
              <a:t>9</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11" name="圖片 10"/>
          <p:cNvPicPr>
            <a:picLocks noChangeAspect="1"/>
          </p:cNvPicPr>
          <p:nvPr/>
        </p:nvPicPr>
        <p:blipFill>
          <a:blip r:embed="rId3"/>
          <a:stretch>
            <a:fillRect/>
          </a:stretch>
        </p:blipFill>
        <p:spPr>
          <a:xfrm>
            <a:off x="3790949" y="1365361"/>
            <a:ext cx="4438650" cy="923925"/>
          </a:xfrm>
          <a:prstGeom prst="rect">
            <a:avLst/>
          </a:prstGeom>
        </p:spPr>
      </p:pic>
      <mc:AlternateContent xmlns:mc="http://schemas.openxmlformats.org/markup-compatibility/2006">
        <mc:Choice xmlns="" xmlns:a14="http://schemas.microsoft.com/office/drawing/2010/main" Requires="a14">
          <p:sp>
            <p:nvSpPr>
              <p:cNvPr id="12" name="文字方塊 11"/>
              <p:cNvSpPr txBox="1"/>
              <p:nvPr/>
            </p:nvSpPr>
            <p:spPr>
              <a:xfrm>
                <a:off x="193183" y="2498501"/>
                <a:ext cx="8826991" cy="2817503"/>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r>
                      <a:rPr lang="en-US" altLang="zh-TW" sz="2100" b="0" i="1" smtClean="0">
                        <a:latin typeface="Cambria Math" panose="02040503050406030204" pitchFamily="18" charset="0"/>
                      </a:rPr>
                      <m:t>𝑟</m:t>
                    </m:r>
                  </m:oMath>
                </a14:m>
                <a:r>
                  <a:rPr lang="en-US" altLang="zh-TW" sz="2100" dirty="0" smtClean="0">
                    <a:latin typeface="Times New Roman" panose="02020603050405020304" pitchFamily="18" charset="0"/>
                    <a:cs typeface="Times New Roman" panose="02020603050405020304" pitchFamily="18" charset="0"/>
                  </a:rPr>
                  <a:t> is number of class labels.</a:t>
                </a:r>
              </a:p>
              <a:p>
                <a:pPr marL="342900" indent="-342900">
                  <a:buFont typeface="Arial" panose="020B0604020202020204" pitchFamily="34" charset="0"/>
                  <a:buChar char="•"/>
                </a:pPr>
                <a14:m>
                  <m:oMath xmlns:m="http://schemas.openxmlformats.org/officeDocument/2006/math">
                    <m:r>
                      <a:rPr lang="en-US" altLang="zh-TW" sz="2100" b="0" i="1" smtClean="0">
                        <a:latin typeface="Cambria Math" panose="02040503050406030204" pitchFamily="18" charset="0"/>
                      </a:rPr>
                      <m:t>𝑑</m:t>
                    </m:r>
                  </m:oMath>
                </a14:m>
                <a:r>
                  <a:rPr lang="en-US" altLang="zh-TW" sz="2100" dirty="0" smtClean="0">
                    <a:latin typeface="Times New Roman" panose="02020603050405020304" pitchFamily="18" charset="0"/>
                    <a:cs typeface="Times New Roman" panose="02020603050405020304" pitchFamily="18" charset="0"/>
                  </a:rPr>
                  <a:t> is number of discrete bins for hidden </a:t>
                </a:r>
                <a14:m>
                  <m:oMath xmlns:m="http://schemas.openxmlformats.org/officeDocument/2006/math">
                    <m:sSub>
                      <m:sSubPr>
                        <m:ctrlPr>
                          <a:rPr lang="en-US" altLang="zh-TW" sz="2100" i="1" smtClean="0">
                            <a:latin typeface="Cambria Math" panose="02040503050406030204" pitchFamily="18" charset="0"/>
                          </a:rPr>
                        </m:ctrlPr>
                      </m:sSubPr>
                      <m:e>
                        <m:r>
                          <a:rPr lang="en-US" altLang="zh-TW" sz="2100" b="0" i="1" smtClean="0">
                            <a:latin typeface="Cambria Math" panose="02040503050406030204" pitchFamily="18" charset="0"/>
                          </a:rPr>
                          <m:t>h</m:t>
                        </m:r>
                      </m:e>
                      <m:sub>
                        <m:r>
                          <a:rPr lang="en-US" altLang="zh-TW" sz="2100" b="0" i="1" smtClean="0">
                            <a:latin typeface="Cambria Math" panose="02040503050406030204" pitchFamily="18" charset="0"/>
                          </a:rPr>
                          <m:t>𝑖</m:t>
                        </m:r>
                      </m:sub>
                    </m:sSub>
                  </m:oMath>
                </a14:m>
                <a:r>
                  <a:rPr lang="en-US" altLang="zh-TW" sz="21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14:m>
                  <m:oMath xmlns:m="http://schemas.openxmlformats.org/officeDocument/2006/math">
                    <m:r>
                      <a:rPr lang="en-US" altLang="zh-TW" sz="2100" b="0" i="1" smtClean="0">
                        <a:latin typeface="Cambria Math" panose="02040503050406030204" pitchFamily="18" charset="0"/>
                      </a:rPr>
                      <m:t>𝑃</m:t>
                    </m:r>
                    <m:d>
                      <m:dPr>
                        <m:ctrlPr>
                          <a:rPr lang="en-US" altLang="zh-TW" sz="2100" b="0" i="1" smtClean="0">
                            <a:latin typeface="Cambria Math" panose="02040503050406030204" pitchFamily="18" charset="0"/>
                          </a:rPr>
                        </m:ctrlPr>
                      </m:dPr>
                      <m:e>
                        <m:sSub>
                          <m:sSubPr>
                            <m:ctrlPr>
                              <a:rPr lang="en-US" altLang="zh-TW" sz="2100" b="0" i="1" smtClean="0">
                                <a:latin typeface="Cambria Math" panose="02040503050406030204" pitchFamily="18" charset="0"/>
                              </a:rPr>
                            </m:ctrlPr>
                          </m:sSubPr>
                          <m:e>
                            <m:r>
                              <a:rPr lang="en-US" altLang="zh-TW" sz="2100" b="0" i="1" smtClean="0">
                                <a:latin typeface="Cambria Math" panose="02040503050406030204" pitchFamily="18" charset="0"/>
                              </a:rPr>
                              <m:t>𝑡</m:t>
                            </m:r>
                          </m:e>
                          <m:sub>
                            <m:r>
                              <a:rPr lang="en-US" altLang="zh-TW" sz="2100" b="0" i="1" smtClean="0">
                                <a:latin typeface="Cambria Math" panose="02040503050406030204" pitchFamily="18" charset="0"/>
                              </a:rPr>
                              <m:t>𝑗</m:t>
                            </m:r>
                          </m:sub>
                        </m:sSub>
                      </m:e>
                    </m:d>
                  </m:oMath>
                </a14:m>
                <a:r>
                  <a:rPr lang="en-US" altLang="zh-TW" sz="2100" dirty="0" smtClean="0">
                    <a:latin typeface="Times New Roman" panose="02020603050405020304" pitchFamily="18" charset="0"/>
                    <a:cs typeface="Times New Roman" panose="02020603050405020304" pitchFamily="18" charset="0"/>
                  </a:rPr>
                  <a:t> is the prior probability for class </a:t>
                </a:r>
                <a14:m>
                  <m:oMath xmlns:m="http://schemas.openxmlformats.org/officeDocument/2006/math">
                    <m:r>
                      <a:rPr lang="en-US" altLang="zh-TW" sz="2100" b="0" i="1" smtClean="0">
                        <a:latin typeface="Cambria Math" panose="02040503050406030204" pitchFamily="18" charset="0"/>
                      </a:rPr>
                      <m:t>𝑗</m:t>
                    </m:r>
                  </m:oMath>
                </a14:m>
                <a:r>
                  <a:rPr lang="en-US" altLang="zh-TW" sz="21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14:m>
                  <m:oMath xmlns:m="http://schemas.openxmlformats.org/officeDocument/2006/math">
                    <m:r>
                      <a:rPr lang="en-US" altLang="zh-TW" sz="2100" b="0" i="1" smtClean="0">
                        <a:latin typeface="Cambria Math" panose="02040503050406030204" pitchFamily="18" charset="0"/>
                      </a:rPr>
                      <m:t>𝑃</m:t>
                    </m:r>
                    <m:d>
                      <m:dPr>
                        <m:ctrlPr>
                          <a:rPr lang="en-US" altLang="zh-TW" sz="2100" b="0" i="1" smtClean="0">
                            <a:latin typeface="Cambria Math" panose="02040503050406030204" pitchFamily="18" charset="0"/>
                          </a:rPr>
                        </m:ctrlPr>
                      </m:dPr>
                      <m:e>
                        <m:sSub>
                          <m:sSubPr>
                            <m:ctrlPr>
                              <a:rPr lang="en-US" altLang="zh-TW" sz="2100" b="0" i="1" smtClean="0">
                                <a:latin typeface="Cambria Math" panose="02040503050406030204" pitchFamily="18" charset="0"/>
                              </a:rPr>
                            </m:ctrlPr>
                          </m:sSubPr>
                          <m:e>
                            <m:r>
                              <a:rPr lang="en-US" altLang="zh-TW" sz="2100" b="0" i="1" smtClean="0">
                                <a:latin typeface="Cambria Math" panose="02040503050406030204" pitchFamily="18" charset="0"/>
                              </a:rPr>
                              <m:t>h</m:t>
                            </m:r>
                          </m:e>
                          <m:sub>
                            <m:r>
                              <a:rPr lang="en-US" altLang="zh-TW" sz="2100" b="0" i="1" smtClean="0">
                                <a:latin typeface="Cambria Math" panose="02040503050406030204" pitchFamily="18" charset="0"/>
                              </a:rPr>
                              <m:t>𝑖</m:t>
                            </m:r>
                            <m:r>
                              <a:rPr lang="en-US" altLang="zh-TW" sz="2100" b="0" i="1" smtClean="0">
                                <a:latin typeface="Cambria Math" panose="02040503050406030204" pitchFamily="18" charset="0"/>
                              </a:rPr>
                              <m:t>,</m:t>
                            </m:r>
                            <m:r>
                              <a:rPr lang="en-US" altLang="zh-TW" sz="2100" b="0" i="1" smtClean="0">
                                <a:latin typeface="Cambria Math" panose="02040503050406030204" pitchFamily="18" charset="0"/>
                              </a:rPr>
                              <m:t>𝑙</m:t>
                            </m:r>
                          </m:sub>
                        </m:sSub>
                      </m:e>
                    </m:d>
                  </m:oMath>
                </a14:m>
                <a:r>
                  <a:rPr lang="en-US" altLang="zh-TW" sz="2100" dirty="0" smtClean="0">
                    <a:latin typeface="Times New Roman" panose="02020603050405020304" pitchFamily="18" charset="0"/>
                    <a:cs typeface="Times New Roman" panose="02020603050405020304" pitchFamily="18" charset="0"/>
                  </a:rPr>
                  <a:t> is the prior probability for discrete bin </a:t>
                </a:r>
                <a14:m>
                  <m:oMath xmlns:m="http://schemas.openxmlformats.org/officeDocument/2006/math">
                    <m:r>
                      <a:rPr lang="en-US" altLang="zh-TW" sz="2100" b="0" i="1" smtClean="0">
                        <a:latin typeface="Cambria Math" panose="02040503050406030204" pitchFamily="18" charset="0"/>
                      </a:rPr>
                      <m:t>𝑙</m:t>
                    </m:r>
                  </m:oMath>
                </a14:m>
                <a:r>
                  <a:rPr lang="en-US" altLang="zh-TW" sz="2100" dirty="0" smtClean="0">
                    <a:latin typeface="Times New Roman" panose="02020603050405020304" pitchFamily="18" charset="0"/>
                    <a:cs typeface="Times New Roman" panose="02020603050405020304" pitchFamily="18" charset="0"/>
                  </a:rPr>
                  <a:t> in hidden node </a:t>
                </a:r>
                <a14:m>
                  <m:oMath xmlns:m="http://schemas.openxmlformats.org/officeDocument/2006/math">
                    <m:sSub>
                      <m:sSubPr>
                        <m:ctrlPr>
                          <a:rPr lang="en-US" altLang="zh-TW" sz="2100" i="1" smtClean="0">
                            <a:latin typeface="Cambria Math" panose="02040503050406030204" pitchFamily="18" charset="0"/>
                          </a:rPr>
                        </m:ctrlPr>
                      </m:sSubPr>
                      <m:e>
                        <m:r>
                          <a:rPr lang="en-US" altLang="zh-TW" sz="2100" b="0" i="1" smtClean="0">
                            <a:latin typeface="Cambria Math" panose="02040503050406030204" pitchFamily="18" charset="0"/>
                          </a:rPr>
                          <m:t>h</m:t>
                        </m:r>
                      </m:e>
                      <m:sub>
                        <m:r>
                          <a:rPr lang="en-US" altLang="zh-TW" sz="2100" b="0" i="1" smtClean="0">
                            <a:latin typeface="Cambria Math" panose="02040503050406030204" pitchFamily="18" charset="0"/>
                          </a:rPr>
                          <m:t>𝑖</m:t>
                        </m:r>
                      </m:sub>
                    </m:sSub>
                  </m:oMath>
                </a14:m>
                <a:r>
                  <a:rPr lang="en-US" altLang="zh-TW" sz="21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14:m>
                  <m:oMath xmlns:m="http://schemas.openxmlformats.org/officeDocument/2006/math">
                    <m:r>
                      <a:rPr lang="en-US" altLang="zh-TW" sz="2100" b="0" i="1" smtClean="0">
                        <a:latin typeface="Cambria Math" panose="02040503050406030204" pitchFamily="18" charset="0"/>
                      </a:rPr>
                      <m:t>𝑃</m:t>
                    </m:r>
                    <m:d>
                      <m:dPr>
                        <m:ctrlPr>
                          <a:rPr lang="en-US" altLang="zh-TW" sz="2100" b="0" i="1" smtClean="0">
                            <a:latin typeface="Cambria Math" panose="02040503050406030204" pitchFamily="18" charset="0"/>
                          </a:rPr>
                        </m:ctrlPr>
                      </m:dPr>
                      <m:e>
                        <m:sSub>
                          <m:sSubPr>
                            <m:ctrlPr>
                              <a:rPr lang="en-US" altLang="zh-TW" sz="2100" b="0" i="1" smtClean="0">
                                <a:latin typeface="Cambria Math" panose="02040503050406030204" pitchFamily="18" charset="0"/>
                              </a:rPr>
                            </m:ctrlPr>
                          </m:sSubPr>
                          <m:e>
                            <m:r>
                              <a:rPr lang="en-US" altLang="zh-TW" sz="2100" b="0" i="1" smtClean="0">
                                <a:latin typeface="Cambria Math" panose="02040503050406030204" pitchFamily="18" charset="0"/>
                              </a:rPr>
                              <m:t>𝑡</m:t>
                            </m:r>
                          </m:e>
                          <m:sub>
                            <m:r>
                              <a:rPr lang="en-US" altLang="zh-TW" sz="2100" b="0" i="1" smtClean="0">
                                <a:latin typeface="Cambria Math" panose="02040503050406030204" pitchFamily="18" charset="0"/>
                              </a:rPr>
                              <m:t>𝑗</m:t>
                            </m:r>
                          </m:sub>
                        </m:sSub>
                        <m:r>
                          <a:rPr lang="en-US" altLang="zh-TW" sz="2100" b="0" i="1" smtClean="0">
                            <a:latin typeface="Cambria Math" panose="02040503050406030204" pitchFamily="18" charset="0"/>
                          </a:rPr>
                          <m:t>|</m:t>
                        </m:r>
                        <m:sSub>
                          <m:sSubPr>
                            <m:ctrlPr>
                              <a:rPr lang="en-US" altLang="zh-TW" sz="2100" b="0" i="1" smtClean="0">
                                <a:latin typeface="Cambria Math" panose="02040503050406030204" pitchFamily="18" charset="0"/>
                              </a:rPr>
                            </m:ctrlPr>
                          </m:sSubPr>
                          <m:e>
                            <m:r>
                              <a:rPr lang="en-US" altLang="zh-TW" sz="2100" b="0" i="1" smtClean="0">
                                <a:latin typeface="Cambria Math" panose="02040503050406030204" pitchFamily="18" charset="0"/>
                              </a:rPr>
                              <m:t>h</m:t>
                            </m:r>
                          </m:e>
                          <m:sub>
                            <m:r>
                              <a:rPr lang="en-US" altLang="zh-TW" sz="2100" b="0" i="1" smtClean="0">
                                <a:latin typeface="Cambria Math" panose="02040503050406030204" pitchFamily="18" charset="0"/>
                              </a:rPr>
                              <m:t>𝑖</m:t>
                            </m:r>
                            <m:r>
                              <a:rPr lang="en-US" altLang="zh-TW" sz="2100" b="0" i="1" smtClean="0">
                                <a:latin typeface="Cambria Math" panose="02040503050406030204" pitchFamily="18" charset="0"/>
                              </a:rPr>
                              <m:t>,</m:t>
                            </m:r>
                            <m:r>
                              <a:rPr lang="en-US" altLang="zh-TW" sz="2100" b="0" i="1" smtClean="0">
                                <a:latin typeface="Cambria Math" panose="02040503050406030204" pitchFamily="18" charset="0"/>
                              </a:rPr>
                              <m:t>𝑙</m:t>
                            </m:r>
                          </m:sub>
                        </m:sSub>
                      </m:e>
                    </m:d>
                  </m:oMath>
                </a14:m>
                <a:r>
                  <a:rPr lang="en-US" altLang="zh-TW" sz="2100" dirty="0" smtClean="0">
                    <a:latin typeface="Times New Roman" panose="02020603050405020304" pitchFamily="18" charset="0"/>
                    <a:cs typeface="Times New Roman" panose="02020603050405020304" pitchFamily="18" charset="0"/>
                  </a:rPr>
                  <a:t> is the probability for </a:t>
                </a:r>
                <a14:m>
                  <m:oMath xmlns:m="http://schemas.openxmlformats.org/officeDocument/2006/math">
                    <m:sSub>
                      <m:sSubPr>
                        <m:ctrlPr>
                          <a:rPr lang="en-US" altLang="zh-TW" sz="2100" i="1" smtClean="0">
                            <a:latin typeface="Cambria Math" panose="02040503050406030204" pitchFamily="18" charset="0"/>
                          </a:rPr>
                        </m:ctrlPr>
                      </m:sSubPr>
                      <m:e>
                        <m:r>
                          <a:rPr lang="en-US" altLang="zh-TW" sz="2100" b="0" i="1" smtClean="0">
                            <a:latin typeface="Cambria Math" panose="02040503050406030204" pitchFamily="18" charset="0"/>
                          </a:rPr>
                          <m:t>𝑡</m:t>
                        </m:r>
                      </m:e>
                      <m:sub>
                        <m:r>
                          <a:rPr lang="en-US" altLang="zh-TW" sz="2100" b="0" i="1" smtClean="0">
                            <a:latin typeface="Cambria Math" panose="02040503050406030204" pitchFamily="18" charset="0"/>
                          </a:rPr>
                          <m:t>𝑗</m:t>
                        </m:r>
                      </m:sub>
                    </m:sSub>
                  </m:oMath>
                </a14:m>
                <a:r>
                  <a:rPr lang="en-US" altLang="zh-TW" sz="2100" dirty="0" smtClean="0">
                    <a:latin typeface="Times New Roman" panose="02020603050405020304" pitchFamily="18" charset="0"/>
                    <a:cs typeface="Times New Roman" panose="02020603050405020304" pitchFamily="18" charset="0"/>
                  </a:rPr>
                  <a:t> conditioned on </a:t>
                </a:r>
                <a14:m>
                  <m:oMath xmlns:m="http://schemas.openxmlformats.org/officeDocument/2006/math">
                    <m:sSub>
                      <m:sSubPr>
                        <m:ctrlPr>
                          <a:rPr lang="en-US" altLang="zh-TW" sz="2100" i="1" smtClean="0">
                            <a:latin typeface="Cambria Math" panose="02040503050406030204" pitchFamily="18" charset="0"/>
                          </a:rPr>
                        </m:ctrlPr>
                      </m:sSubPr>
                      <m:e>
                        <m:r>
                          <a:rPr lang="en-US" altLang="zh-TW" sz="2100" b="0" i="1" smtClean="0">
                            <a:latin typeface="Cambria Math" panose="02040503050406030204" pitchFamily="18" charset="0"/>
                          </a:rPr>
                          <m:t>h</m:t>
                        </m:r>
                      </m:e>
                      <m:sub>
                        <m:r>
                          <a:rPr lang="en-US" altLang="zh-TW" sz="2100" b="0" i="1" smtClean="0">
                            <a:latin typeface="Cambria Math" panose="02040503050406030204" pitchFamily="18" charset="0"/>
                          </a:rPr>
                          <m:t>𝑖</m:t>
                        </m:r>
                        <m:r>
                          <a:rPr lang="en-US" altLang="zh-TW" sz="2100" b="0" i="1" smtClean="0">
                            <a:latin typeface="Cambria Math" panose="02040503050406030204" pitchFamily="18" charset="0"/>
                          </a:rPr>
                          <m:t>,</m:t>
                        </m:r>
                        <m:r>
                          <a:rPr lang="en-US" altLang="zh-TW" sz="2100" b="0" i="1" smtClean="0">
                            <a:latin typeface="Cambria Math" panose="02040503050406030204" pitchFamily="18" charset="0"/>
                          </a:rPr>
                          <m:t>𝑙</m:t>
                        </m:r>
                      </m:sub>
                    </m:sSub>
                  </m:oMath>
                </a14:m>
                <a:r>
                  <a:rPr lang="en-US" altLang="zh-TW" sz="2100" dirty="0" smtClean="0">
                    <a:latin typeface="Times New Roman" panose="02020603050405020304" pitchFamily="18" charset="0"/>
                    <a:cs typeface="Times New Roman" panose="02020603050405020304" pitchFamily="18" charset="0"/>
                  </a:rPr>
                  <a:t>.</a:t>
                </a:r>
              </a:p>
              <a:p>
                <a:endParaRPr lang="en-US" altLang="zh-TW" sz="2100" dirty="0" smtClean="0">
                  <a:latin typeface="Times New Roman" panose="02020603050405020304" pitchFamily="18" charset="0"/>
                  <a:cs typeface="Times New Roman" panose="02020603050405020304" pitchFamily="18" charset="0"/>
                </a:endParaRPr>
              </a:p>
              <a:p>
                <a:r>
                  <a:rPr lang="en-US" altLang="zh-TW" sz="2100" dirty="0" smtClean="0">
                    <a:latin typeface="Times New Roman" panose="02020603050405020304" pitchFamily="18" charset="0"/>
                    <a:cs typeface="Times New Roman" panose="02020603050405020304" pitchFamily="18" charset="0"/>
                  </a:rPr>
                  <a:t>A </a:t>
                </a:r>
                <a:r>
                  <a:rPr lang="en-US" altLang="zh-TW" sz="2100" dirty="0">
                    <a:latin typeface="Times New Roman" panose="02020603050405020304" pitchFamily="18" charset="0"/>
                    <a:cs typeface="Times New Roman" panose="02020603050405020304" pitchFamily="18" charset="0"/>
                  </a:rPr>
                  <a:t>hidden node of higher IG is preferred since it </a:t>
                </a:r>
                <a:r>
                  <a:rPr lang="en-US" altLang="zh-TW" sz="2100" dirty="0" smtClean="0">
                    <a:latin typeface="Times New Roman" panose="02020603050405020304" pitchFamily="18" charset="0"/>
                    <a:cs typeface="Times New Roman" panose="02020603050405020304" pitchFamily="18" charset="0"/>
                  </a:rPr>
                  <a:t>indicates a </a:t>
                </a:r>
                <a:r>
                  <a:rPr lang="en-US" altLang="zh-TW" sz="2100" dirty="0">
                    <a:latin typeface="Times New Roman" panose="02020603050405020304" pitchFamily="18" charset="0"/>
                    <a:cs typeface="Times New Roman" panose="02020603050405020304" pitchFamily="18" charset="0"/>
                  </a:rPr>
                  <a:t>greater importance in contributing to the class label</a:t>
                </a:r>
                <a:endParaRPr lang="en-US" altLang="zh-TW" sz="2100" dirty="0" smtClean="0">
                  <a:latin typeface="Times New Roman" panose="02020603050405020304" pitchFamily="18" charset="0"/>
                  <a:cs typeface="Times New Roman" panose="02020603050405020304" pitchFamily="18" charset="0"/>
                </a:endParaRPr>
              </a:p>
            </p:txBody>
          </p:sp>
        </mc:Choice>
        <mc:Fallback>
          <p:sp>
            <p:nvSpPr>
              <p:cNvPr id="12" name="文字方塊 11"/>
              <p:cNvSpPr txBox="1">
                <a:spLocks noRot="1" noChangeAspect="1" noMove="1" noResize="1" noEditPoints="1" noAdjustHandles="1" noChangeArrowheads="1" noChangeShapeType="1" noTextEdit="1"/>
              </p:cNvSpPr>
              <p:nvPr/>
            </p:nvSpPr>
            <p:spPr>
              <a:xfrm>
                <a:off x="193183" y="2498501"/>
                <a:ext cx="8826991" cy="2817503"/>
              </a:xfrm>
              <a:prstGeom prst="rect">
                <a:avLst/>
              </a:prstGeom>
              <a:blipFill rotWithShape="0">
                <a:blip r:embed="rId4"/>
                <a:stretch>
                  <a:fillRect l="-829" t="-1299" r="-1312" b="-3247"/>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20667728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err="1">
                <a:latin typeface="Times New Roman" panose="02020603050405020304" pitchFamily="18" charset="0"/>
                <a:cs typeface="Times New Roman" panose="02020603050405020304" pitchFamily="18" charset="0"/>
              </a:rPr>
              <a:t>Akaike's</a:t>
            </a:r>
            <a:r>
              <a:rPr lang="en-US" altLang="zh-TW" sz="4000" dirty="0">
                <a:latin typeface="Times New Roman" panose="02020603050405020304" pitchFamily="18" charset="0"/>
                <a:cs typeface="Times New Roman" panose="02020603050405020304" pitchFamily="18" charset="0"/>
              </a:rPr>
              <a:t> Information Criterion</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a:xfrm>
                <a:off x="95249" y="1114424"/>
                <a:ext cx="8924925" cy="5743575"/>
              </a:xfrm>
            </p:spPr>
            <p:txBody>
              <a:bodyPr/>
              <a:lstStyle/>
              <a:p>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Use on model selection.</a:t>
                </a:r>
              </a:p>
              <a:p>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In information theory, it deals with trade-off between the goodness of fit of the model and the complexity of the model.</a:t>
                </a:r>
              </a:p>
              <a:p>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Definition</a:t>
                </a: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𝑁</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𝑣𝑎𝑙</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is the number of validation data.</a:t>
                </a:r>
              </a:p>
              <a:p>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zh-TW" altLang="en-US" i="1" smtClean="0">
                            <a:latin typeface="Cambria Math" panose="02040503050406030204" pitchFamily="18" charset="0"/>
                            <a:ea typeface="標楷體" panose="03000509000000000000" pitchFamily="65" charset="-120"/>
                            <a:cs typeface="Times New Roman" panose="02020603050405020304" pitchFamily="18" charset="0"/>
                          </a:rPr>
                          <m:t>𝛿</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the classification error for the </a:t>
                </a:r>
                <a:r>
                  <a:rPr lang="en-US" altLang="zh-TW" i="1" dirty="0" err="1" smtClean="0">
                    <a:latin typeface="Times New Roman" panose="02020603050405020304" pitchFamily="18" charset="0"/>
                    <a:ea typeface="標楷體" panose="03000509000000000000" pitchFamily="65" charset="-120"/>
                    <a:cs typeface="Times New Roman" panose="02020603050405020304" pitchFamily="18" charset="0"/>
                  </a:rPr>
                  <a:t>ith</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relevance threshold.</a:t>
                </a:r>
              </a:p>
              <a:p>
                <a14:m>
                  <m:oMath xmlns:m="http://schemas.openxmlformats.org/officeDocument/2006/math">
                    <m:sSub>
                      <m:sSub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sSubPr>
                      <m:e>
                        <m:r>
                          <a:rPr lang="zh-TW" altLang="en-US" i="1">
                            <a:latin typeface="Cambria Math" panose="02040503050406030204" pitchFamily="18" charset="0"/>
                            <a:ea typeface="標楷體" panose="03000509000000000000" pitchFamily="65" charset="-120"/>
                            <a:cs typeface="Times New Roman" panose="02020603050405020304" pitchFamily="18" charset="0"/>
                          </a:rPr>
                          <m:t>𝛿</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𝑖</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𝑜</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𝑁</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𝑣𝑎𝑙</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𝑜</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correct validation classification rate.</a:t>
                </a:r>
              </a:p>
              <a:p>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is the hidden node size for the </a:t>
                </a:r>
                <a:r>
                  <a:rPr lang="en-US" altLang="zh-TW" i="1" dirty="0" err="1" smtClean="0">
                    <a:latin typeface="Times New Roman" panose="02020603050405020304" pitchFamily="18" charset="0"/>
                    <a:ea typeface="標楷體" panose="03000509000000000000" pitchFamily="65" charset="-120"/>
                    <a:cs typeface="Times New Roman" panose="02020603050405020304" pitchFamily="18" charset="0"/>
                  </a:rPr>
                  <a:t>ith</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relevance threshold.</a:t>
                </a: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The threshold is user define. </a:t>
                </a:r>
                <a14:m>
                  <m:oMath xmlns:m="http://schemas.openxmlformats.org/officeDocument/2006/math">
                    <m:r>
                      <a:rPr lang="zh-TW" altLang="en-US" i="1" smtClean="0">
                        <a:latin typeface="Cambria Math" panose="02040503050406030204" pitchFamily="18" charset="0"/>
                        <a:ea typeface="標楷體" panose="03000509000000000000" pitchFamily="65" charset="-120"/>
                        <a:cs typeface="Times New Roman" panose="02020603050405020304" pitchFamily="18" charset="0"/>
                      </a:rPr>
                      <m:t>𝛾</m:t>
                    </m:r>
                    <m:r>
                      <a:rPr lang="zh-TW" altLang="en-US" i="1" smtClean="0">
                        <a:latin typeface="Cambria Math" panose="02040503050406030204" pitchFamily="18" charset="0"/>
                        <a:ea typeface="標楷體" panose="03000509000000000000" pitchFamily="65" charset="-120"/>
                        <a:cs typeface="Times New Roman" panose="02020603050405020304" pitchFamily="18" charset="0"/>
                      </a:rPr>
                      <m:t>∈</m:t>
                    </m:r>
                    <m:d>
                      <m:dPr>
                        <m:begChr m:val="["/>
                        <m:endChr m:val="]"/>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0, 1.0</m:t>
                        </m:r>
                      </m:e>
                    </m:d>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The choice of the relevance threshold directly impacts the structure and generalization ability of the resultant P-ELM network.</a:t>
                </a:r>
              </a:p>
              <a:p>
                <a:pPr marL="0" indent="0">
                  <a:buNone/>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buNone/>
                </a:pP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2"/>
                <a:stretch>
                  <a:fillRect l="-683" t="-1168"/>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10</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5" name="圖片 4"/>
          <p:cNvPicPr>
            <a:picLocks noChangeAspect="1"/>
          </p:cNvPicPr>
          <p:nvPr/>
        </p:nvPicPr>
        <p:blipFill>
          <a:blip r:embed="rId3"/>
          <a:stretch>
            <a:fillRect/>
          </a:stretch>
        </p:blipFill>
        <p:spPr>
          <a:xfrm>
            <a:off x="57148" y="2628064"/>
            <a:ext cx="9001125" cy="638175"/>
          </a:xfrm>
          <a:prstGeom prst="rect">
            <a:avLst/>
          </a:prstGeom>
        </p:spPr>
      </p:pic>
    </p:spTree>
    <p:extLst>
      <p:ext uri="{BB962C8B-B14F-4D97-AF65-F5344CB8AC3E}">
        <p14:creationId xmlns="" xmlns:p14="http://schemas.microsoft.com/office/powerpoint/2010/main" val="28988488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P-ELM algorithm</a:t>
            </a:r>
            <a:endParaRPr lang="zh-TW" alt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a:xfrm>
                <a:off x="95249" y="1114424"/>
                <a:ext cx="8924925" cy="5743575"/>
              </a:xfrm>
            </p:spPr>
            <p:txBody>
              <a:bodyPr/>
              <a:lstStyle/>
              <a:p>
                <a:pPr marL="457200" indent="-457200">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Separate the training set into two non-overlapping subsets for learning and validation.</a:t>
                </a:r>
              </a:p>
              <a:p>
                <a:pPr marL="457200" indent="-457200">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Randomly assign hidden node parameters </a:t>
                </a:r>
                <a14:m>
                  <m:oMath xmlns:m="http://schemas.openxmlformats.org/officeDocument/2006/math">
                    <m:d>
                      <m:d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dPr>
                      <m:e>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𝑐</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𝑎</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e>
                    </m:d>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 …, </m:t>
                    </m:r>
                    <m:acc>
                      <m:accPr>
                        <m:chr m:val="̃"/>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acc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𝑁</m:t>
                        </m:r>
                      </m:e>
                    </m:acc>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457200" indent="-457200">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Calculate the hidden layer output matrix </a:t>
                </a:r>
                <a:r>
                  <a:rPr lang="en-US" altLang="zh-TW" b="1" dirty="0" smtClean="0">
                    <a:latin typeface="Times New Roman" panose="02020603050405020304" pitchFamily="18" charset="0"/>
                    <a:ea typeface="標楷體" panose="03000509000000000000" pitchFamily="65" charset="-120"/>
                    <a:cs typeface="Times New Roman" panose="02020603050405020304" pitchFamily="18" charset="0"/>
                  </a:rPr>
                  <a:t>H</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using the learning subset.</a:t>
                </a:r>
              </a:p>
              <a:p>
                <a:pPr marL="457200" indent="-457200">
                  <a:buFont typeface="Arial" panose="020B0604020202020204" pitchFamily="34" charset="0"/>
                  <a:buAutoNum type="arabicPeriod"/>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Calculate the statistical relevance for the hidden nodes using the </a:t>
                </a:r>
                <a14:m>
                  <m:oMath xmlns:m="http://schemas.openxmlformats.org/officeDocument/2006/math">
                    <m:sSup>
                      <m:sSupPr>
                        <m:ctrlPr>
                          <a:rPr lang="en-US" altLang="zh-TW" i="1">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i="1">
                            <a:latin typeface="Cambria Math" panose="02040503050406030204" pitchFamily="18" charset="0"/>
                            <a:ea typeface="標楷體" panose="03000509000000000000" pitchFamily="65" charset="-120"/>
                            <a:cs typeface="Times New Roman" panose="02020603050405020304" pitchFamily="18" charset="0"/>
                          </a:rPr>
                          <m:t>𝑋</m:t>
                        </m:r>
                      </m:e>
                      <m:sup>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p>
                    </m:sSup>
                  </m:oMath>
                </a14:m>
                <a:r>
                  <a:rPr lang="en-US" altLang="zh-TW" dirty="0">
                    <a:latin typeface="Times New Roman" panose="02020603050405020304" pitchFamily="18" charset="0"/>
                    <a:ea typeface="標楷體" panose="03000509000000000000" pitchFamily="65" charset="-120"/>
                    <a:cs typeface="Times New Roman" panose="02020603050405020304" pitchFamily="18" charset="0"/>
                  </a:rPr>
                  <a:t> or IG and sort them in descending order.</a:t>
                </a:r>
              </a:p>
              <a:p>
                <a:pPr marL="457200" indent="-457200">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For each relevance threshold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zh-TW" altLang="en-US" i="1" smtClean="0">
                            <a:latin typeface="Cambria Math" panose="02040503050406030204" pitchFamily="18" charset="0"/>
                            <a:ea typeface="標楷體" panose="03000509000000000000" pitchFamily="65" charset="-120"/>
                            <a:cs typeface="Times New Roman" panose="02020603050405020304" pitchFamily="18" charset="0"/>
                          </a:rPr>
                          <m:t>𝛾</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=1,2,…,</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𝑞</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800100" lvl="1" indent="-457200">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Identify the subset of crucial hidden nodes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that satisfy the relevance threshold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zh-TW" altLang="en-US" i="1" smtClean="0">
                            <a:latin typeface="Cambria Math" panose="02040503050406030204" pitchFamily="18" charset="0"/>
                            <a:ea typeface="標楷體" panose="03000509000000000000" pitchFamily="65" charset="-120"/>
                            <a:cs typeface="Times New Roman" panose="02020603050405020304" pitchFamily="18" charset="0"/>
                          </a:rPr>
                          <m:t>𝛾</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and determine the validation accuracy </a:t>
                </a:r>
                <a14:m>
                  <m:oMath xmlns:m="http://schemas.openxmlformats.org/officeDocument/2006/math">
                    <m:sSub>
                      <m:sSub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𝑜</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using the validation subset.</a:t>
                </a:r>
              </a:p>
              <a:p>
                <a:pPr marL="800100" lvl="1" indent="-457200">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Calculate the </a:t>
                </a:r>
                <a14:m>
                  <m:oMath xmlns:m="http://schemas.openxmlformats.org/officeDocument/2006/math">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𝐴𝐼𝐶</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e>
                    </m:d>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𝑓</m:t>
                    </m:r>
                    <m:d>
                      <m:d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dPr>
                      <m:e>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𝑜</m:t>
                            </m:r>
                          </m:e>
                          <m: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𝑖</m:t>
                            </m:r>
                          </m:sub>
                        </m:sSub>
                      </m:e>
                    </m:d>
                    <m:r>
                      <a:rPr lang="en-US" altLang="zh-TW" b="0" i="0" smtClean="0">
                        <a:latin typeface="Cambria Math" panose="02040503050406030204" pitchFamily="18" charset="0"/>
                        <a:ea typeface="標楷體" panose="03000509000000000000" pitchFamily="65" charset="-120"/>
                        <a:cs typeface="Times New Roman" panose="02020603050405020304" pitchFamily="18" charset="0"/>
                      </a:rPr>
                      <m:t>.</m:t>
                    </m:r>
                  </m:oMath>
                </a14:m>
                <a:endParaRPr lang="en-US" altLang="zh-TW" b="0" dirty="0" smtClean="0">
                  <a:latin typeface="Times New Roman" panose="02020603050405020304" pitchFamily="18" charset="0"/>
                  <a:ea typeface="標楷體" panose="03000509000000000000" pitchFamily="65" charset="-120"/>
                  <a:cs typeface="Times New Roman" panose="02020603050405020304" pitchFamily="18" charset="0"/>
                </a:endParaRPr>
              </a:p>
              <a:p>
                <a:pPr marL="457200" indent="-457200">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Select </a:t>
                </a:r>
                <a14:m>
                  <m:oMath xmlns:m="http://schemas.openxmlformats.org/officeDocument/2006/math">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according to </a:t>
                </a:r>
                <a:r>
                  <a:rPr lang="en-US" altLang="zh-TW" i="1" dirty="0" smtClean="0">
                    <a:latin typeface="Times New Roman" panose="02020603050405020304" pitchFamily="18" charset="0"/>
                    <a:ea typeface="標楷體" panose="03000509000000000000" pitchFamily="65" charset="-120"/>
                    <a:cs typeface="Times New Roman" panose="02020603050405020304" pitchFamily="18" charset="0"/>
                  </a:rPr>
                  <a:t>min(AIC)</a:t>
                </a: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a:t>
                </a:r>
              </a:p>
              <a:p>
                <a:pPr marL="457200" indent="-457200">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Retrain network </a:t>
                </a:r>
                <a14:m>
                  <m:oMath xmlns:m="http://schemas.openxmlformats.org/officeDocument/2006/math">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with the whole training set.</a:t>
                </a:r>
              </a:p>
              <a:p>
                <a:pPr marL="800100" lvl="1" indent="-457200">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Calculate the hidden layer output matrix </a:t>
                </a:r>
                <a14:m>
                  <m:oMath xmlns:m="http://schemas.openxmlformats.org/officeDocument/2006/math">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𝐻</m:t>
                        </m:r>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using the training set.</a:t>
                </a:r>
              </a:p>
              <a:p>
                <a:pPr marL="800100" lvl="1" indent="-457200">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Calculate the output weight </a:t>
                </a:r>
                <a14:m>
                  <m:oMath xmlns:m="http://schemas.openxmlformats.org/officeDocument/2006/math">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zh-TW" altLang="en-US" i="1" smtClean="0">
                            <a:latin typeface="Cambria Math" panose="02040503050406030204" pitchFamily="18" charset="0"/>
                            <a:ea typeface="標楷體" panose="03000509000000000000" pitchFamily="65" charset="-120"/>
                            <a:cs typeface="Times New Roman" panose="02020603050405020304" pitchFamily="18" charset="0"/>
                          </a:rPr>
                          <m:t>𝛽</m:t>
                        </m:r>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Sup>
                      <m:sSup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zh-TW" altLang="en-US" b="0" i="1" smtClean="0">
                            <a:latin typeface="Cambria Math" panose="02040503050406030204" pitchFamily="18" charset="0"/>
                            <a:ea typeface="標楷體" panose="03000509000000000000" pitchFamily="65" charset="-120"/>
                            <a:cs typeface="Times New Roman" panose="02020603050405020304" pitchFamily="18" charset="0"/>
                          </a:rPr>
                          <m:t>𝛽</m:t>
                        </m:r>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 (</m:t>
                    </m:r>
                    <m:sSup>
                      <m:sSup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pPr>
                      <m:e>
                        <m:sSup>
                          <m:sSup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𝐻</m:t>
                            </m:r>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e>
                      <m: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T.</a:t>
                </a:r>
              </a:p>
              <a:p>
                <a:pPr marL="457200" indent="-457200">
                  <a:buAutoNum type="arabicPeriod"/>
                </a:pPr>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Evaluate the performance of </a:t>
                </a:r>
                <a14:m>
                  <m:oMath xmlns:m="http://schemas.openxmlformats.org/officeDocument/2006/math">
                    <m:sSup>
                      <m:sSupPr>
                        <m:ctrlPr>
                          <a:rPr lang="en-US" altLang="zh-TW" i="1" smtClean="0">
                            <a:latin typeface="Cambria Math" panose="02040503050406030204" pitchFamily="18" charset="0"/>
                            <a:ea typeface="標楷體" panose="03000509000000000000" pitchFamily="65" charset="-120"/>
                            <a:cs typeface="Times New Roman" panose="02020603050405020304" pitchFamily="18" charset="0"/>
                          </a:rPr>
                        </m:ctrlPr>
                      </m:sSupPr>
                      <m:e>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𝑆</m:t>
                        </m:r>
                      </m:e>
                      <m:sup>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sup>
                    </m:sSup>
                  </m:oMath>
                </a14:m>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 on unseen testing data set.</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95249" y="1114424"/>
                <a:ext cx="8924925" cy="5743575"/>
              </a:xfrm>
              <a:blipFill rotWithShape="0">
                <a:blip r:embed="rId2"/>
                <a:stretch>
                  <a:fillRect l="-683" t="-1168"/>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pPr/>
              <a:t>11</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 xmlns:p14="http://schemas.microsoft.com/office/powerpoint/2010/main" val="33756881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Experimental result(1/2)</a:t>
            </a:r>
            <a:endParaRPr lang="zh-TW" altLang="en-US" sz="4000"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stretch>
            <a:fillRect/>
          </a:stretch>
        </p:blipFill>
        <p:spPr>
          <a:xfrm>
            <a:off x="95249" y="1364332"/>
            <a:ext cx="4342499" cy="3502748"/>
          </a:xfrm>
          <a:prstGeom prst="rect">
            <a:avLst/>
          </a:prstGeom>
        </p:spPr>
      </p:pic>
      <p:sp>
        <p:nvSpPr>
          <p:cNvPr id="4" name="投影片編號版面配置區 3"/>
          <p:cNvSpPr>
            <a:spLocks noGrp="1"/>
          </p:cNvSpPr>
          <p:nvPr>
            <p:ph type="sldNum" sz="quarter" idx="12"/>
          </p:nvPr>
        </p:nvSpPr>
        <p:spPr/>
        <p:txBody>
          <a:bodyPr/>
          <a:lstStyle/>
          <a:p>
            <a:fld id="{7D6D0F78-E2D1-4ADE-B2ED-40AB43ACB23D}" type="slidenum">
              <a:rPr lang="zh-TW" altLang="en-US" smtClean="0"/>
              <a:pPr/>
              <a:t>12</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7" name="圖片 6"/>
          <p:cNvPicPr>
            <a:picLocks noChangeAspect="1"/>
          </p:cNvPicPr>
          <p:nvPr/>
        </p:nvPicPr>
        <p:blipFill>
          <a:blip r:embed="rId3"/>
          <a:stretch>
            <a:fillRect/>
          </a:stretch>
        </p:blipFill>
        <p:spPr>
          <a:xfrm>
            <a:off x="4557711" y="1359956"/>
            <a:ext cx="4310684" cy="3507124"/>
          </a:xfrm>
          <a:prstGeom prst="rect">
            <a:avLst/>
          </a:prstGeom>
        </p:spPr>
      </p:pic>
    </p:spTree>
    <p:extLst>
      <p:ext uri="{BB962C8B-B14F-4D97-AF65-F5344CB8AC3E}">
        <p14:creationId xmlns="" xmlns:p14="http://schemas.microsoft.com/office/powerpoint/2010/main" val="25221370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a:latin typeface="Times New Roman" panose="02020603050405020304" pitchFamily="18" charset="0"/>
                <a:cs typeface="Times New Roman" panose="02020603050405020304" pitchFamily="18" charset="0"/>
              </a:rPr>
              <a:t>Experimental </a:t>
            </a:r>
            <a:r>
              <a:rPr lang="en-US" altLang="zh-TW" sz="4000" dirty="0" smtClean="0">
                <a:latin typeface="Times New Roman" panose="02020603050405020304" pitchFamily="18" charset="0"/>
                <a:cs typeface="Times New Roman" panose="02020603050405020304" pitchFamily="18" charset="0"/>
              </a:rPr>
              <a:t>result(2/2)</a:t>
            </a:r>
            <a:endParaRPr lang="zh-TW" altLang="en-US" sz="4000"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stretch>
            <a:fillRect/>
          </a:stretch>
        </p:blipFill>
        <p:spPr>
          <a:xfrm>
            <a:off x="95249" y="1266016"/>
            <a:ext cx="8924925" cy="2100846"/>
          </a:xfrm>
          <a:prstGeom prst="rect">
            <a:avLst/>
          </a:prstGeom>
        </p:spPr>
      </p:pic>
      <p:sp>
        <p:nvSpPr>
          <p:cNvPr id="4" name="投影片編號版面配置區 3"/>
          <p:cNvSpPr>
            <a:spLocks noGrp="1"/>
          </p:cNvSpPr>
          <p:nvPr>
            <p:ph type="sldNum" sz="quarter" idx="12"/>
          </p:nvPr>
        </p:nvSpPr>
        <p:spPr/>
        <p:txBody>
          <a:bodyPr/>
          <a:lstStyle/>
          <a:p>
            <a:fld id="{7D6D0F78-E2D1-4ADE-B2ED-40AB43ACB23D}" type="slidenum">
              <a:rPr lang="zh-TW" altLang="en-US" smtClean="0"/>
              <a:pPr/>
              <a:t>13</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pic>
        <p:nvPicPr>
          <p:cNvPr id="7" name="圖片 6"/>
          <p:cNvPicPr>
            <a:picLocks noChangeAspect="1"/>
          </p:cNvPicPr>
          <p:nvPr/>
        </p:nvPicPr>
        <p:blipFill>
          <a:blip r:embed="rId3"/>
          <a:stretch>
            <a:fillRect/>
          </a:stretch>
        </p:blipFill>
        <p:spPr>
          <a:xfrm>
            <a:off x="95249" y="3351725"/>
            <a:ext cx="8397783" cy="1419344"/>
          </a:xfrm>
          <a:prstGeom prst="rect">
            <a:avLst/>
          </a:prstGeom>
        </p:spPr>
      </p:pic>
      <p:sp>
        <p:nvSpPr>
          <p:cNvPr id="8" name="文字方塊 7"/>
          <p:cNvSpPr txBox="1"/>
          <p:nvPr/>
        </p:nvSpPr>
        <p:spPr>
          <a:xfrm>
            <a:off x="95249" y="4943061"/>
            <a:ext cx="6106768" cy="369332"/>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Data source : Image segmentation. Training 1100, Testing 1210.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2642945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1015999"/>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P.S.</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1114424"/>
            <a:ext cx="8924925" cy="5743575"/>
          </a:xfrm>
        </p:spPr>
        <p:txBody>
          <a:bodyPr/>
          <a:lstStyle/>
          <a:p>
            <a:pPr marL="0" indent="0">
              <a:buNone/>
            </a:pPr>
            <a:r>
              <a:rPr lang="en-US" altLang="zh-TW" b="1" dirty="0">
                <a:latin typeface="Times New Roman" panose="02020603050405020304" pitchFamily="18" charset="0"/>
                <a:cs typeface="Times New Roman" panose="02020603050405020304" pitchFamily="18" charset="0"/>
              </a:rPr>
              <a:t>OP-ELM: Theory, </a:t>
            </a:r>
            <a:r>
              <a:rPr lang="en-US" altLang="zh-TW" b="1" dirty="0" smtClean="0">
                <a:latin typeface="Times New Roman" panose="02020603050405020304" pitchFamily="18" charset="0"/>
                <a:cs typeface="Times New Roman" panose="02020603050405020304" pitchFamily="18" charset="0"/>
              </a:rPr>
              <a:t>Experiments </a:t>
            </a:r>
            <a:r>
              <a:rPr lang="en-US" altLang="zh-TW" b="1" dirty="0">
                <a:latin typeface="Times New Roman" panose="02020603050405020304" pitchFamily="18" charset="0"/>
                <a:cs typeface="Times New Roman" panose="02020603050405020304" pitchFamily="18" charset="0"/>
              </a:rPr>
              <a:t>and a </a:t>
            </a:r>
            <a:r>
              <a:rPr lang="en-US" altLang="zh-TW" b="1" dirty="0" smtClean="0">
                <a:latin typeface="Times New Roman" panose="02020603050405020304" pitchFamily="18" charset="0"/>
                <a:cs typeface="Times New Roman" panose="02020603050405020304" pitchFamily="18" charset="0"/>
              </a:rPr>
              <a:t>Toolbox</a:t>
            </a:r>
          </a:p>
          <a:p>
            <a:pPr marL="0" indent="0">
              <a:buNone/>
            </a:pPr>
            <a:r>
              <a:rPr lang="en-US" altLang="zh-TW" dirty="0"/>
              <a:t>Aalto </a:t>
            </a:r>
            <a:r>
              <a:rPr lang="en-US" altLang="zh-TW" dirty="0" smtClean="0"/>
              <a:t>University, </a:t>
            </a:r>
            <a:r>
              <a:rPr lang="en-US" altLang="zh-TW" dirty="0"/>
              <a:t>Finland</a:t>
            </a:r>
            <a:endParaRPr lang="en-US" altLang="zh-TW" dirty="0" smtClean="0"/>
          </a:p>
          <a:p>
            <a:pPr marL="0" indent="0">
              <a:buNone/>
            </a:pPr>
            <a:r>
              <a:rPr lang="en-US" altLang="zh-TW" dirty="0"/>
              <a:t>Applications of Machine Learning </a:t>
            </a:r>
            <a:r>
              <a:rPr lang="en-US" altLang="zh-TW" dirty="0" smtClean="0"/>
              <a:t>Group</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http://research.ics.aalto.fi/eiml/software.shtml</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pPr/>
              <a:t>14</a:t>
            </a:fld>
            <a:endParaRPr lang="zh-TW" altLang="en-US"/>
          </a:p>
        </p:txBody>
      </p:sp>
      <p:sp>
        <p:nvSpPr>
          <p:cNvPr id="6" name="文字方塊 5"/>
          <p:cNvSpPr txBox="1"/>
          <p:nvPr/>
        </p:nvSpPr>
        <p:spPr>
          <a:xfrm>
            <a:off x="4050405" y="2975019"/>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 xmlns:p14="http://schemas.microsoft.com/office/powerpoint/2010/main" val="31487127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2494</TotalTime>
  <Words>419</Words>
  <Application>Microsoft Office PowerPoint</Application>
  <PresentationFormat>如螢幕大小 (4:3)</PresentationFormat>
  <Paragraphs>53</Paragraphs>
  <Slides>14</Slides>
  <Notes>1</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佈景主題</vt:lpstr>
      <vt:lpstr>A fast pruned-extreme learning machine for classification problem</vt:lpstr>
      <vt:lpstr>Abstract(1/2)</vt:lpstr>
      <vt:lpstr>Abstract(2/2)</vt:lpstr>
      <vt:lpstr>Extreme Learning Machine</vt:lpstr>
      <vt:lpstr>Main ideas of Pruned-ELM</vt:lpstr>
      <vt:lpstr>Chi-squared (1/2)</vt:lpstr>
      <vt:lpstr>Chi-squared (2/2)</vt:lpstr>
      <vt:lpstr>Information gain (1/2)</vt:lpstr>
      <vt:lpstr>Information gain (2/2)</vt:lpstr>
      <vt:lpstr>Akaike's Information Criterion</vt:lpstr>
      <vt:lpstr>P-ELM algorithm</vt:lpstr>
      <vt:lpstr>Experimental result(1/2)</vt:lpstr>
      <vt:lpstr>Experimental result(2/2)</vt:lpstr>
      <vt:lpstr>P.S.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Large Graph Pattern Mining for Big Data in the Cloud</dc:title>
  <dc:creator>MONSTER J</dc:creator>
  <cp:lastModifiedBy>admin</cp:lastModifiedBy>
  <cp:revision>85</cp:revision>
  <cp:lastPrinted>2015-05-05T05:44:38Z</cp:lastPrinted>
  <dcterms:created xsi:type="dcterms:W3CDTF">2015-05-03T09:05:15Z</dcterms:created>
  <dcterms:modified xsi:type="dcterms:W3CDTF">2015-05-18T12:37:36Z</dcterms:modified>
</cp:coreProperties>
</file>