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1" r:id="rId5"/>
    <p:sldId id="262" r:id="rId6"/>
    <p:sldId id="302" r:id="rId7"/>
    <p:sldId id="303" r:id="rId8"/>
    <p:sldId id="301" r:id="rId9"/>
    <p:sldId id="305" r:id="rId10"/>
    <p:sldId id="304" r:id="rId11"/>
    <p:sldId id="310" r:id="rId12"/>
    <p:sldId id="306" r:id="rId13"/>
    <p:sldId id="308" r:id="rId14"/>
    <p:sldId id="312" r:id="rId15"/>
    <p:sldId id="313" r:id="rId16"/>
    <p:sldId id="307" r:id="rId17"/>
    <p:sldId id="309" r:id="rId18"/>
    <p:sldId id="314"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00" d="100"/>
          <a:sy n="100" d="100"/>
        </p:scale>
        <p:origin x="74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378068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675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45230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3909548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315979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567211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30934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157393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1791219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49233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6F4A052-B481-4CE4-9D1A-905C8942165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2009581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F4A052-B481-4CE4-9D1A-905C89421653}" type="datetimeFigureOut">
              <a:rPr lang="zh-TW" altLang="en-US" smtClean="0"/>
              <a:t>2015/5/5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0AC9A7-260B-483A-9E0C-021A1E550901}" type="slidenum">
              <a:rPr lang="zh-TW" altLang="en-US" smtClean="0"/>
              <a:t>‹#›</a:t>
            </a:fld>
            <a:endParaRPr lang="zh-TW" altLang="en-US"/>
          </a:p>
        </p:txBody>
      </p:sp>
    </p:spTree>
    <p:extLst>
      <p:ext uri="{BB962C8B-B14F-4D97-AF65-F5344CB8AC3E}">
        <p14:creationId xmlns:p14="http://schemas.microsoft.com/office/powerpoint/2010/main" val="37720823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標題 2"/>
          <p:cNvSpPr>
            <a:spLocks noGrp="1"/>
          </p:cNvSpPr>
          <p:nvPr>
            <p:ph type="subTitle" idx="1"/>
          </p:nvPr>
        </p:nvSpPr>
        <p:spPr>
          <a:xfrm>
            <a:off x="-99060" y="2244364"/>
            <a:ext cx="9144000" cy="1655762"/>
          </a:xfrm>
        </p:spPr>
        <p:txBody>
          <a:bodyPr>
            <a:noAutofit/>
          </a:bodyPr>
          <a:lstStyle/>
          <a:p>
            <a:pPr fontAlgn="base"/>
            <a:endParaRPr lang="en-US" altLang="zh-TW" sz="3000" dirty="0" smtClean="0"/>
          </a:p>
          <a:p>
            <a:pPr fontAlgn="base"/>
            <a:r>
              <a:rPr lang="en-US" altLang="zh-TW" sz="3000" dirty="0" err="1" smtClean="0"/>
              <a:t>Rui</a:t>
            </a:r>
            <a:r>
              <a:rPr lang="en-US" altLang="zh-TW" sz="3000" dirty="0" smtClean="0"/>
              <a:t> Ham, Lei </a:t>
            </a:r>
            <a:r>
              <a:rPr lang="en-US" altLang="zh-TW" sz="3000" dirty="0" err="1" smtClean="0"/>
              <a:t>Nie</a:t>
            </a:r>
            <a:r>
              <a:rPr lang="en-US" altLang="zh-TW" sz="3000" dirty="0" smtClean="0"/>
              <a:t>, </a:t>
            </a:r>
            <a:r>
              <a:rPr lang="en-US" altLang="zh-TW" sz="3000" dirty="0" err="1" smtClean="0"/>
              <a:t>Moustafa</a:t>
            </a:r>
            <a:r>
              <a:rPr lang="en-US" altLang="zh-TW" sz="3000" dirty="0" smtClean="0"/>
              <a:t> M </a:t>
            </a:r>
            <a:r>
              <a:rPr lang="en-US" altLang="zh-TW" sz="3000" dirty="0" err="1" smtClean="0"/>
              <a:t>Ghanem</a:t>
            </a:r>
            <a:r>
              <a:rPr lang="en-US" altLang="zh-TW" sz="3000" dirty="0" smtClean="0"/>
              <a:t>, </a:t>
            </a:r>
            <a:r>
              <a:rPr lang="en-US" altLang="zh-TW" sz="3000" dirty="0" err="1" smtClean="0"/>
              <a:t>Yike</a:t>
            </a:r>
            <a:r>
              <a:rPr lang="en-US" altLang="zh-TW" sz="3000" dirty="0" smtClean="0"/>
              <a:t> </a:t>
            </a:r>
            <a:r>
              <a:rPr lang="en-US" altLang="zh-TW" sz="3000" dirty="0" err="1" smtClean="0"/>
              <a:t>Guo</a:t>
            </a:r>
            <a:r>
              <a:rPr lang="en-US" altLang="zh-TW" sz="3000" dirty="0" smtClean="0"/>
              <a:t>.</a:t>
            </a:r>
          </a:p>
          <a:p>
            <a:pPr fontAlgn="base"/>
            <a:endParaRPr lang="en-US" altLang="zh-TW" sz="800" dirty="0" smtClean="0"/>
          </a:p>
          <a:p>
            <a:pPr fontAlgn="base"/>
            <a:r>
              <a:rPr lang="en-US" altLang="zh-TW" dirty="0"/>
              <a:t>2013 IEEE International Conference on Big </a:t>
            </a:r>
            <a:r>
              <a:rPr lang="en-US" altLang="zh-TW" dirty="0" smtClean="0"/>
              <a:t>Data, Santa </a:t>
            </a:r>
            <a:r>
              <a:rPr lang="en-US" altLang="zh-TW" dirty="0" smtClean="0"/>
              <a:t>Clara, CA</a:t>
            </a:r>
            <a:r>
              <a:rPr lang="en-US" altLang="zh-TW" dirty="0"/>
              <a:t>, </a:t>
            </a:r>
            <a:r>
              <a:rPr lang="en-US" altLang="zh-TW" dirty="0" smtClean="0"/>
              <a:t>USA</a:t>
            </a:r>
          </a:p>
          <a:p>
            <a:pPr fontAlgn="base"/>
            <a:r>
              <a:rPr lang="en-US" altLang="zh-TW" dirty="0" smtClean="0"/>
              <a:t>5-9 Oct, pp. 45-50</a:t>
            </a:r>
          </a:p>
        </p:txBody>
      </p:sp>
      <p:sp>
        <p:nvSpPr>
          <p:cNvPr id="7" name="文字方塊 6"/>
          <p:cNvSpPr txBox="1"/>
          <p:nvPr/>
        </p:nvSpPr>
        <p:spPr>
          <a:xfrm>
            <a:off x="786821" y="4604326"/>
            <a:ext cx="6508185" cy="1092607"/>
          </a:xfrm>
          <a:prstGeom prst="rect">
            <a:avLst/>
          </a:prstGeom>
          <a:noFill/>
        </p:spPr>
        <p:txBody>
          <a:bodyPr wrap="square" rtlCol="0">
            <a:spAutoFit/>
          </a:bodyPr>
          <a:lstStyle/>
          <a:p>
            <a:r>
              <a:rPr lang="en-US" altLang="zh-TW" sz="3200" dirty="0">
                <a:solidFill>
                  <a:prstClr val="black"/>
                </a:solidFill>
              </a:rPr>
              <a:t>Presenter: Tzu-Chiang </a:t>
            </a:r>
            <a:r>
              <a:rPr lang="en-US" altLang="zh-TW" sz="3200" dirty="0" smtClean="0">
                <a:solidFill>
                  <a:prstClr val="black"/>
                </a:solidFill>
              </a:rPr>
              <a:t>Hsu </a:t>
            </a:r>
            <a:r>
              <a:rPr lang="zh-TW" altLang="en-US" sz="3200" dirty="0" smtClean="0">
                <a:solidFill>
                  <a:prstClr val="black"/>
                </a:solidFill>
              </a:rPr>
              <a:t> </a:t>
            </a:r>
            <a:r>
              <a:rPr lang="en-US" altLang="zh-TW" sz="3200" dirty="0">
                <a:solidFill>
                  <a:prstClr val="black"/>
                </a:solidFill>
              </a:rPr>
              <a:t>(</a:t>
            </a:r>
            <a:r>
              <a:rPr lang="zh-TW" altLang="en-US" sz="4000" dirty="0">
                <a:solidFill>
                  <a:prstClr val="black"/>
                </a:solidFill>
                <a:latin typeface="微軟正黑體" panose="020B0604030504040204" pitchFamily="34" charset="-120"/>
                <a:ea typeface="微軟正黑體" panose="020B0604030504040204" pitchFamily="34" charset="-120"/>
              </a:rPr>
              <a:t>徐子強</a:t>
            </a:r>
            <a:r>
              <a:rPr lang="en-US" altLang="zh-TW" sz="3200" dirty="0">
                <a:solidFill>
                  <a:prstClr val="black"/>
                </a:solidFill>
              </a:rPr>
              <a:t>)</a:t>
            </a:r>
          </a:p>
          <a:p>
            <a:r>
              <a:rPr lang="en-US" altLang="zh-TW" sz="2500" dirty="0" smtClean="0">
                <a:solidFill>
                  <a:prstClr val="black"/>
                </a:solidFill>
              </a:rPr>
              <a:t>2015/05/05</a:t>
            </a:r>
            <a:endParaRPr lang="zh-TW" altLang="en-US" sz="2500" dirty="0">
              <a:solidFill>
                <a:prstClr val="black"/>
              </a:solidFill>
            </a:endParaRPr>
          </a:p>
        </p:txBody>
      </p:sp>
      <p:sp>
        <p:nvSpPr>
          <p:cNvPr id="8" name="標題 7"/>
          <p:cNvSpPr>
            <a:spLocks noGrp="1"/>
          </p:cNvSpPr>
          <p:nvPr>
            <p:ph type="ctrTitle"/>
          </p:nvPr>
        </p:nvSpPr>
        <p:spPr>
          <a:xfrm>
            <a:off x="685800" y="271245"/>
            <a:ext cx="7772400" cy="2387600"/>
          </a:xfrm>
        </p:spPr>
        <p:txBody>
          <a:bodyPr>
            <a:noAutofit/>
          </a:bodyPr>
          <a:lstStyle/>
          <a:p>
            <a:r>
              <a:rPr lang="en-US" altLang="zh-TW" sz="4000" dirty="0" smtClean="0">
                <a:latin typeface="+mn-lt"/>
                <a:cs typeface="Times New Roman" panose="02020603050405020304" pitchFamily="18" charset="0"/>
              </a:rPr>
              <a:t>Elastic Algorithms for </a:t>
            </a:r>
            <a:br>
              <a:rPr lang="en-US" altLang="zh-TW" sz="4000" dirty="0" smtClean="0">
                <a:latin typeface="+mn-lt"/>
                <a:cs typeface="Times New Roman" panose="02020603050405020304" pitchFamily="18" charset="0"/>
              </a:rPr>
            </a:br>
            <a:r>
              <a:rPr lang="en-US" altLang="zh-TW" sz="4000" dirty="0" smtClean="0">
                <a:latin typeface="+mn-lt"/>
                <a:cs typeface="Times New Roman" panose="02020603050405020304" pitchFamily="18" charset="0"/>
              </a:rPr>
              <a:t>Guaranteeing Quality Monotonicity</a:t>
            </a:r>
            <a:br>
              <a:rPr lang="en-US" altLang="zh-TW" sz="4000" dirty="0" smtClean="0">
                <a:latin typeface="+mn-lt"/>
                <a:cs typeface="Times New Roman" panose="02020603050405020304" pitchFamily="18" charset="0"/>
              </a:rPr>
            </a:br>
            <a:r>
              <a:rPr lang="en-US" altLang="zh-TW" sz="4000" dirty="0" smtClean="0">
                <a:latin typeface="+mn-lt"/>
                <a:cs typeface="Times New Roman" panose="02020603050405020304" pitchFamily="18" charset="0"/>
              </a:rPr>
              <a:t>in Big Data Mining</a:t>
            </a:r>
            <a:endParaRPr lang="zh-TW" altLang="en-US" sz="4000" dirty="0">
              <a:latin typeface="+mn-lt"/>
              <a:cs typeface="Times New Roman" panose="02020603050405020304" pitchFamily="18" charset="0"/>
            </a:endParaRPr>
          </a:p>
        </p:txBody>
      </p:sp>
    </p:spTree>
    <p:extLst>
      <p:ext uri="{BB962C8B-B14F-4D97-AF65-F5344CB8AC3E}">
        <p14:creationId xmlns:p14="http://schemas.microsoft.com/office/powerpoint/2010/main" val="18232057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Abstract (1/6)</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Autofit/>
          </a:bodyPr>
          <a:lstStyle/>
          <a:p>
            <a:pPr marL="0" indent="0" fontAlgn="base">
              <a:buNone/>
            </a:pPr>
            <a:r>
              <a:rPr lang="en-US" altLang="zh-TW" sz="4000" dirty="0">
                <a:latin typeface="Times New Roman" panose="02020603050405020304" pitchFamily="18" charset="0"/>
                <a:cs typeface="Times New Roman" panose="02020603050405020304" pitchFamily="18" charset="0"/>
              </a:rPr>
              <a:t>When mining large data volumes in big </a:t>
            </a:r>
            <a:r>
              <a:rPr lang="en-US" altLang="zh-TW" sz="4000" dirty="0" smtClean="0">
                <a:latin typeface="Times New Roman" panose="02020603050405020304" pitchFamily="18" charset="0"/>
                <a:cs typeface="Times New Roman" panose="02020603050405020304" pitchFamily="18" charset="0"/>
              </a:rPr>
              <a:t>data applications, </a:t>
            </a:r>
            <a:r>
              <a:rPr lang="en-US" altLang="zh-TW" sz="4000" dirty="0">
                <a:latin typeface="Times New Roman" panose="02020603050405020304" pitchFamily="18" charset="0"/>
                <a:cs typeface="Times New Roman" panose="02020603050405020304" pitchFamily="18" charset="0"/>
              </a:rPr>
              <a:t>users </a:t>
            </a:r>
            <a:r>
              <a:rPr lang="en-US" altLang="zh-TW" sz="4000" dirty="0" smtClean="0">
                <a:latin typeface="Times New Roman" panose="02020603050405020304" pitchFamily="18" charset="0"/>
                <a:cs typeface="Times New Roman" panose="02020603050405020304" pitchFamily="18" charset="0"/>
              </a:rPr>
              <a:t>are typically </a:t>
            </a:r>
            <a:r>
              <a:rPr lang="en-US" altLang="zh-TW" sz="4000" dirty="0">
                <a:latin typeface="Times New Roman" panose="02020603050405020304" pitchFamily="18" charset="0"/>
                <a:cs typeface="Times New Roman" panose="02020603050405020304" pitchFamily="18" charset="0"/>
              </a:rPr>
              <a:t>willing to use algorithms </a:t>
            </a:r>
            <a:r>
              <a:rPr lang="en-US" altLang="zh-TW" sz="4000" dirty="0" smtClean="0">
                <a:latin typeface="Times New Roman" panose="02020603050405020304" pitchFamily="18" charset="0"/>
                <a:cs typeface="Times New Roman" panose="02020603050405020304" pitchFamily="18" charset="0"/>
              </a:rPr>
              <a:t>that produce </a:t>
            </a:r>
            <a:r>
              <a:rPr lang="en-US" altLang="zh-TW" sz="4000" dirty="0">
                <a:latin typeface="Times New Roman" panose="02020603050405020304" pitchFamily="18" charset="0"/>
                <a:cs typeface="Times New Roman" panose="02020603050405020304" pitchFamily="18" charset="0"/>
              </a:rPr>
              <a:t>acceptable approximate results satisfying the </a:t>
            </a:r>
            <a:r>
              <a:rPr lang="en-US" altLang="zh-TW" sz="4000" dirty="0" smtClean="0">
                <a:latin typeface="Times New Roman" panose="02020603050405020304" pitchFamily="18" charset="0"/>
                <a:cs typeface="Times New Roman" panose="02020603050405020304" pitchFamily="18" charset="0"/>
              </a:rPr>
              <a:t>given resource </a:t>
            </a:r>
            <a:r>
              <a:rPr lang="en-US" altLang="zh-TW" sz="4000" dirty="0">
                <a:latin typeface="Times New Roman" panose="02020603050405020304" pitchFamily="18" charset="0"/>
                <a:cs typeface="Times New Roman" panose="02020603050405020304" pitchFamily="18" charset="0"/>
              </a:rPr>
              <a:t>and time constraints. </a:t>
            </a:r>
          </a:p>
        </p:txBody>
      </p:sp>
    </p:spTree>
    <p:extLst>
      <p:ext uri="{BB962C8B-B14F-4D97-AF65-F5344CB8AC3E}">
        <p14:creationId xmlns:p14="http://schemas.microsoft.com/office/powerpoint/2010/main" val="37610892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Abstract (2/6)</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Autofit/>
          </a:bodyPr>
          <a:lstStyle/>
          <a:p>
            <a:pPr marL="0" indent="0" fontAlgn="base">
              <a:buNone/>
            </a:pPr>
            <a:r>
              <a:rPr lang="en-US" altLang="zh-TW" sz="4000" dirty="0">
                <a:latin typeface="Times New Roman" panose="02020603050405020304" pitchFamily="18" charset="0"/>
                <a:cs typeface="Times New Roman" panose="02020603050405020304" pitchFamily="18" charset="0"/>
              </a:rPr>
              <a:t>Two key challenges arise when designing such algorithms. The first relates to reasoning about tradeoffs between the quality of data mining output, e.g. prediction accuracy for classification tasks and available resource and time budgets. </a:t>
            </a:r>
          </a:p>
        </p:txBody>
      </p:sp>
    </p:spTree>
    <p:extLst>
      <p:ext uri="{BB962C8B-B14F-4D97-AF65-F5344CB8AC3E}">
        <p14:creationId xmlns:p14="http://schemas.microsoft.com/office/powerpoint/2010/main" val="20739528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Abstract (3/6)</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Autofit/>
          </a:bodyPr>
          <a:lstStyle/>
          <a:p>
            <a:pPr marL="0" indent="0" fontAlgn="base">
              <a:buNone/>
            </a:pPr>
            <a:r>
              <a:rPr lang="en-US" altLang="zh-TW" sz="3600" dirty="0">
                <a:latin typeface="Times New Roman" panose="02020603050405020304" pitchFamily="18" charset="0"/>
                <a:cs typeface="Times New Roman" panose="02020603050405020304" pitchFamily="18" charset="0"/>
              </a:rPr>
              <a:t>The second is organizing the computation of the algorithm to  guarantee producing better quality of results as more budget is used. Little work has addressed these two  challenges together in a generic way. In this paper, we propose a novel </a:t>
            </a:r>
            <a:r>
              <a:rPr lang="en-US" altLang="zh-TW" sz="3600" dirty="0" smtClean="0">
                <a:latin typeface="Times New Roman" panose="02020603050405020304" pitchFamily="18" charset="0"/>
                <a:cs typeface="Times New Roman" panose="02020603050405020304" pitchFamily="18" charset="0"/>
              </a:rPr>
              <a:t>framework </a:t>
            </a:r>
            <a:r>
              <a:rPr lang="en-US" altLang="zh-TW" sz="3600" dirty="0">
                <a:latin typeface="Times New Roman" panose="02020603050405020304" pitchFamily="18" charset="0"/>
                <a:cs typeface="Times New Roman" panose="02020603050405020304" pitchFamily="18" charset="0"/>
              </a:rPr>
              <a:t>for developing elastic </a:t>
            </a:r>
            <a:r>
              <a:rPr lang="en-US" altLang="zh-TW" sz="3600" dirty="0" smtClean="0">
                <a:latin typeface="Times New Roman" panose="02020603050405020304" pitchFamily="18" charset="0"/>
                <a:cs typeface="Times New Roman" panose="02020603050405020304" pitchFamily="18" charset="0"/>
              </a:rPr>
              <a:t>big data </a:t>
            </a:r>
            <a:r>
              <a:rPr lang="en-US" altLang="zh-TW" sz="3600" dirty="0">
                <a:latin typeface="Times New Roman" panose="02020603050405020304" pitchFamily="18" charset="0"/>
                <a:cs typeface="Times New Roman" panose="02020603050405020304" pitchFamily="18" charset="0"/>
              </a:rPr>
              <a:t>mining algorithms. </a:t>
            </a:r>
          </a:p>
        </p:txBody>
      </p:sp>
    </p:spTree>
    <p:extLst>
      <p:ext uri="{BB962C8B-B14F-4D97-AF65-F5344CB8AC3E}">
        <p14:creationId xmlns:p14="http://schemas.microsoft.com/office/powerpoint/2010/main" val="761398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Abstract (4/6)</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Autofit/>
          </a:bodyPr>
          <a:lstStyle/>
          <a:p>
            <a:pPr marL="0" indent="0" fontAlgn="base">
              <a:buNone/>
            </a:pPr>
            <a:r>
              <a:rPr lang="en-US" altLang="zh-TW" sz="3600" dirty="0" smtClean="0">
                <a:latin typeface="Times New Roman" panose="02020603050405020304" pitchFamily="18" charset="0"/>
                <a:cs typeface="Times New Roman" panose="02020603050405020304" pitchFamily="18" charset="0"/>
              </a:rPr>
              <a:t>Based </a:t>
            </a:r>
            <a:r>
              <a:rPr lang="en-US" altLang="zh-TW" sz="3600" dirty="0">
                <a:latin typeface="Times New Roman" panose="02020603050405020304" pitchFamily="18" charset="0"/>
                <a:cs typeface="Times New Roman" panose="02020603050405020304" pitchFamily="18" charset="0"/>
              </a:rPr>
              <a:t>on Shannon’s entropy, an information-theoretic approach is introduced to reason about how result quality is affected by the allocated budget. This is then used to guide the development of algorithms that adapt to the  available time budgets while guaranteeing producing better quality results as more budgets are used. </a:t>
            </a:r>
          </a:p>
        </p:txBody>
      </p:sp>
    </p:spTree>
    <p:extLst>
      <p:ext uri="{BB962C8B-B14F-4D97-AF65-F5344CB8AC3E}">
        <p14:creationId xmlns:p14="http://schemas.microsoft.com/office/powerpoint/2010/main" val="18567773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Abstract (5/6)</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Autofit/>
          </a:bodyPr>
          <a:lstStyle/>
          <a:p>
            <a:pPr marL="0" indent="0" fontAlgn="base">
              <a:buNone/>
            </a:pPr>
            <a:r>
              <a:rPr lang="en-US" altLang="zh-TW" sz="3200" dirty="0">
                <a:latin typeface="Times New Roman" panose="02020603050405020304" pitchFamily="18" charset="0"/>
                <a:cs typeface="Times New Roman" panose="02020603050405020304" pitchFamily="18" charset="0"/>
              </a:rPr>
              <a:t>We demonstrate the application of the framework by developing elastic k-Nearest </a:t>
            </a:r>
            <a:r>
              <a:rPr lang="en-US" altLang="zh-TW" sz="3200" dirty="0" err="1">
                <a:latin typeface="Times New Roman" panose="02020603050405020304" pitchFamily="18" charset="0"/>
                <a:cs typeface="Times New Roman" panose="02020603050405020304" pitchFamily="18" charset="0"/>
              </a:rPr>
              <a:t>Neighbour</a:t>
            </a:r>
            <a:r>
              <a:rPr lang="en-US" altLang="zh-TW" sz="3200" dirty="0">
                <a:latin typeface="Times New Roman" panose="02020603050405020304" pitchFamily="18" charset="0"/>
                <a:cs typeface="Times New Roman" panose="02020603050405020304" pitchFamily="18" charset="0"/>
              </a:rPr>
              <a:t> (</a:t>
            </a:r>
            <a:r>
              <a:rPr lang="en-US" altLang="zh-TW" sz="3200" dirty="0" err="1">
                <a:latin typeface="Times New Roman" panose="02020603050405020304" pitchFamily="18" charset="0"/>
                <a:cs typeface="Times New Roman" panose="02020603050405020304" pitchFamily="18" charset="0"/>
              </a:rPr>
              <a:t>kNN</a:t>
            </a:r>
            <a:r>
              <a:rPr lang="en-US" altLang="zh-TW" sz="3200" dirty="0">
                <a:latin typeface="Times New Roman" panose="02020603050405020304" pitchFamily="18" charset="0"/>
                <a:cs typeface="Times New Roman" panose="02020603050405020304" pitchFamily="18" charset="0"/>
              </a:rPr>
              <a:t>) classification and collaborative filtering (CF) recommendation algorithms as two examples. The core of both elastic algorithms is to use a naïve </a:t>
            </a:r>
            <a:r>
              <a:rPr lang="en-US" altLang="zh-TW" sz="3200" dirty="0" err="1">
                <a:latin typeface="Times New Roman" panose="02020603050405020304" pitchFamily="18" charset="0"/>
                <a:cs typeface="Times New Roman" panose="02020603050405020304" pitchFamily="18" charset="0"/>
              </a:rPr>
              <a:t>kNN</a:t>
            </a:r>
            <a:r>
              <a:rPr lang="en-US" altLang="zh-TW" sz="3200" dirty="0">
                <a:latin typeface="Times New Roman" panose="02020603050405020304" pitchFamily="18" charset="0"/>
                <a:cs typeface="Times New Roman" panose="02020603050405020304" pitchFamily="18" charset="0"/>
              </a:rPr>
              <a:t> classification or CF algorithm over R-tree data structures that successively approximate the  entire datasets</a:t>
            </a:r>
            <a:r>
              <a:rPr lang="en-US" altLang="zh-TW" sz="3200" dirty="0" smtClean="0">
                <a:latin typeface="Times New Roman" panose="02020603050405020304" pitchFamily="18" charset="0"/>
                <a:cs typeface="Times New Roman" panose="02020603050405020304" pitchFamily="18" charset="0"/>
              </a:rPr>
              <a:t>.</a:t>
            </a:r>
            <a:endParaRPr lang="en-US" altLang="zh-TW" sz="3200" dirty="0">
              <a:latin typeface="Times New Roman" panose="02020603050405020304" pitchFamily="18" charset="0"/>
              <a:cs typeface="Times New Roman" panose="02020603050405020304" pitchFamily="18" charset="0"/>
            </a:endParaRPr>
          </a:p>
          <a:p>
            <a:pPr marL="0" indent="0" fontAlgn="base">
              <a:buNone/>
            </a:pPr>
            <a:endParaRPr lang="en-US" altLang="zh-TW" sz="3300" dirty="0">
              <a:latin typeface="Times New Roman" panose="02020603050405020304" pitchFamily="18" charset="0"/>
              <a:cs typeface="Times New Roman" panose="02020603050405020304" pitchFamily="18" charset="0"/>
            </a:endParaRPr>
          </a:p>
          <a:p>
            <a:pPr marL="0" indent="0" fontAlgn="base">
              <a:buNone/>
            </a:pPr>
            <a:endParaRPr lang="en-US" altLang="zh-TW" sz="3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91096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Abstract (6/6)</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Autofit/>
          </a:bodyPr>
          <a:lstStyle/>
          <a:p>
            <a:pPr marL="0" indent="0" fontAlgn="base">
              <a:buNone/>
            </a:pPr>
            <a:r>
              <a:rPr lang="en-US" altLang="zh-TW" sz="4000" dirty="0">
                <a:latin typeface="Times New Roman" panose="02020603050405020304" pitchFamily="18" charset="0"/>
                <a:cs typeface="Times New Roman" panose="02020603050405020304" pitchFamily="18" charset="0"/>
              </a:rPr>
              <a:t>Experimental evaluation was performed using prediction accuracy as quality metric on real datasets. The results show that elastic mining algorithms </a:t>
            </a:r>
            <a:r>
              <a:rPr lang="en-US" altLang="zh-TW" sz="4000" dirty="0" smtClean="0">
                <a:latin typeface="Times New Roman" panose="02020603050405020304" pitchFamily="18" charset="0"/>
                <a:cs typeface="Times New Roman" panose="02020603050405020304" pitchFamily="18" charset="0"/>
              </a:rPr>
              <a:t>indeed produce </a:t>
            </a:r>
            <a:r>
              <a:rPr lang="en-US" altLang="zh-TW" sz="4000" dirty="0">
                <a:latin typeface="Times New Roman" panose="02020603050405020304" pitchFamily="18" charset="0"/>
                <a:cs typeface="Times New Roman" panose="02020603050405020304" pitchFamily="18" charset="0"/>
              </a:rPr>
              <a:t>results with consistent  increase in </a:t>
            </a:r>
            <a:r>
              <a:rPr lang="en-US" altLang="zh-TW" sz="4000" dirty="0" smtClean="0">
                <a:latin typeface="Times New Roman" panose="02020603050405020304" pitchFamily="18" charset="0"/>
                <a:cs typeface="Times New Roman" panose="02020603050405020304" pitchFamily="18" charset="0"/>
              </a:rPr>
              <a:t>observable qualities, i.e</a:t>
            </a:r>
            <a:r>
              <a:rPr lang="en-US" altLang="zh-TW" sz="4000" dirty="0">
                <a:latin typeface="Times New Roman" panose="02020603050405020304" pitchFamily="18" charset="0"/>
                <a:cs typeface="Times New Roman" panose="02020603050405020304" pitchFamily="18" charset="0"/>
              </a:rPr>
              <a:t>., prediction accuracy, in </a:t>
            </a:r>
            <a:r>
              <a:rPr lang="en-US" altLang="zh-TW" sz="4000" dirty="0" smtClean="0">
                <a:latin typeface="Times New Roman" panose="02020603050405020304" pitchFamily="18" charset="0"/>
                <a:cs typeface="Times New Roman" panose="02020603050405020304" pitchFamily="18" charset="0"/>
              </a:rPr>
              <a:t>practice.</a:t>
            </a:r>
            <a:endParaRPr lang="en-US" altLang="zh-TW"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3547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76400" y="2487275"/>
            <a:ext cx="7173054" cy="1446550"/>
          </a:xfrm>
          <a:prstGeom prst="rect">
            <a:avLst/>
          </a:prstGeom>
          <a:noFill/>
        </p:spPr>
        <p:txBody>
          <a:bodyPr wrap="none" lIns="91440" tIns="45720" rIns="91440" bIns="45720">
            <a:spAutoFit/>
          </a:bodyPr>
          <a:lstStyle/>
          <a:p>
            <a:r>
              <a:rPr lang="en-US" altLang="zh-TW" sz="44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Example 1:</a:t>
            </a:r>
          </a:p>
          <a:p>
            <a:r>
              <a:rPr lang="en-US" altLang="zh-TW" sz="4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altLang="zh-TW" sz="44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 Elastic </a:t>
            </a:r>
            <a:r>
              <a:rPr lang="en-US" altLang="zh-TW" sz="4400" b="0" cap="none" spc="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kNN</a:t>
            </a:r>
            <a:r>
              <a:rPr lang="en-US" altLang="zh-TW" sz="44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Algorithm</a:t>
            </a:r>
            <a:endParaRPr lang="zh-TW" altLang="en-US"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84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8946" y="749915"/>
            <a:ext cx="1915909" cy="923330"/>
          </a:xfrm>
          <a:prstGeom prst="rect">
            <a:avLst/>
          </a:prstGeom>
          <a:noFill/>
        </p:spPr>
        <p:txBody>
          <a:bodyPr wrap="none" lIns="91440" tIns="45720" rIns="91440" bIns="45720">
            <a:spAutoFit/>
          </a:bodyPr>
          <a:lstStyle/>
          <a:p>
            <a:pPr algn="ctr"/>
            <a:r>
              <a:rPr lang="en-US" altLang="zh-TW" sz="54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R-tree</a:t>
            </a:r>
            <a:endParaRPr lang="zh-TW" altLang="en-US" sz="5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3" y="1995635"/>
            <a:ext cx="8058086" cy="3990177"/>
          </a:xfrm>
          <a:prstGeom prst="rect">
            <a:avLst/>
          </a:prstGeom>
        </p:spPr>
      </p:pic>
    </p:spTree>
    <p:extLst>
      <p:ext uri="{BB962C8B-B14F-4D97-AF65-F5344CB8AC3E}">
        <p14:creationId xmlns:p14="http://schemas.microsoft.com/office/powerpoint/2010/main" val="23796172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2" y="1297579"/>
            <a:ext cx="8600525" cy="3966478"/>
          </a:xfrm>
          <a:prstGeom prst="rect">
            <a:avLst/>
          </a:prstGeom>
        </p:spPr>
      </p:pic>
    </p:spTree>
    <p:extLst>
      <p:ext uri="{BB962C8B-B14F-4D97-AF65-F5344CB8AC3E}">
        <p14:creationId xmlns:p14="http://schemas.microsoft.com/office/powerpoint/2010/main" val="5967077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2" y="1204641"/>
            <a:ext cx="8273751" cy="3280694"/>
          </a:xfrm>
          <a:prstGeom prst="rect">
            <a:avLst/>
          </a:prstGeom>
        </p:spPr>
      </p:pic>
      <p:cxnSp>
        <p:nvCxnSpPr>
          <p:cNvPr id="7" name="直線單箭頭接點 6"/>
          <p:cNvCxnSpPr/>
          <p:nvPr/>
        </p:nvCxnSpPr>
        <p:spPr>
          <a:xfrm flipV="1">
            <a:off x="2255520" y="3589020"/>
            <a:ext cx="396240" cy="13411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447887" y="4849475"/>
            <a:ext cx="1721946" cy="830997"/>
          </a:xfrm>
          <a:prstGeom prst="rect">
            <a:avLst/>
          </a:prstGeom>
          <a:noFill/>
        </p:spPr>
        <p:txBody>
          <a:bodyPr wrap="none" lIns="91440" tIns="45720" rIns="91440" bIns="45720">
            <a:spAutoFit/>
          </a:bodyPr>
          <a:lstStyle/>
          <a:p>
            <a:pPr algn="ctr"/>
            <a:r>
              <a:rPr lang="en-US" altLang="zh-TW" sz="48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R-tree</a:t>
            </a:r>
            <a:endParaRPr lang="zh-TW" altLang="en-US" sz="4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cxnSp>
        <p:nvCxnSpPr>
          <p:cNvPr id="11" name="直線單箭頭接點 10"/>
          <p:cNvCxnSpPr/>
          <p:nvPr/>
        </p:nvCxnSpPr>
        <p:spPr>
          <a:xfrm flipV="1">
            <a:off x="5311140" y="3589020"/>
            <a:ext cx="396240" cy="13411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115754" y="4849475"/>
            <a:ext cx="2954656" cy="830997"/>
          </a:xfrm>
          <a:prstGeom prst="rect">
            <a:avLst/>
          </a:prstGeom>
          <a:noFill/>
        </p:spPr>
        <p:txBody>
          <a:bodyPr wrap="none" lIns="91440" tIns="45720" rIns="91440" bIns="45720">
            <a:spAutoFit/>
          </a:bodyPr>
          <a:lstStyle/>
          <a:p>
            <a:pPr algn="ctr"/>
            <a:r>
              <a:rPr lang="en-US" altLang="zh-TW" sz="4800" b="0" cap="none" spc="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kNN</a:t>
            </a:r>
            <a:r>
              <a:rPr lang="en-US" altLang="zh-TW" sz="48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or CF</a:t>
            </a:r>
            <a:endParaRPr lang="zh-TW" altLang="en-US" sz="4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12117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73580" y="2220575"/>
            <a:ext cx="6827510" cy="2123658"/>
          </a:xfrm>
          <a:prstGeom prst="rect">
            <a:avLst/>
          </a:prstGeom>
          <a:noFill/>
        </p:spPr>
        <p:txBody>
          <a:bodyPr wrap="none" lIns="91440" tIns="45720" rIns="91440" bIns="45720">
            <a:spAutoFit/>
          </a:bodyPr>
          <a:lstStyle/>
          <a:p>
            <a:r>
              <a:rPr lang="en-US" altLang="zh-TW" sz="44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Example 2:</a:t>
            </a:r>
          </a:p>
          <a:p>
            <a:r>
              <a:rPr lang="en-US" altLang="zh-TW" sz="4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altLang="zh-TW" sz="44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 Elastic Collaborative </a:t>
            </a:r>
          </a:p>
          <a:p>
            <a:r>
              <a:rPr lang="en-US" altLang="zh-TW" sz="4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altLang="zh-TW" sz="44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Filtering Algorithm</a:t>
            </a:r>
            <a:endParaRPr lang="zh-TW" altLang="en-US"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53222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275" y="1143000"/>
            <a:ext cx="4743450" cy="4572000"/>
          </a:xfrm>
          <a:prstGeom prst="rect">
            <a:avLst/>
          </a:prstGeom>
        </p:spPr>
      </p:pic>
    </p:spTree>
    <p:extLst>
      <p:ext uri="{BB962C8B-B14F-4D97-AF65-F5344CB8AC3E}">
        <p14:creationId xmlns:p14="http://schemas.microsoft.com/office/powerpoint/2010/main" val="14566601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275" y="1143000"/>
            <a:ext cx="4743450" cy="4572000"/>
          </a:xfrm>
          <a:prstGeom prst="rect">
            <a:avLst/>
          </a:prstGeom>
        </p:spPr>
      </p:pic>
    </p:spTree>
    <p:extLst>
      <p:ext uri="{BB962C8B-B14F-4D97-AF65-F5344CB8AC3E}">
        <p14:creationId xmlns:p14="http://schemas.microsoft.com/office/powerpoint/2010/main" val="29423921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275" y="1143000"/>
            <a:ext cx="4743450" cy="4572000"/>
          </a:xfrm>
          <a:prstGeom prst="rect">
            <a:avLst/>
          </a:prstGeom>
        </p:spPr>
      </p:pic>
    </p:spTree>
    <p:extLst>
      <p:ext uri="{BB962C8B-B14F-4D97-AF65-F5344CB8AC3E}">
        <p14:creationId xmlns:p14="http://schemas.microsoft.com/office/powerpoint/2010/main" val="37714095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764506592"/>
              </p:ext>
            </p:extLst>
          </p:nvPr>
        </p:nvGraphicFramePr>
        <p:xfrm>
          <a:off x="1531620" y="1242057"/>
          <a:ext cx="5463540" cy="2344785"/>
        </p:xfrm>
        <a:graphic>
          <a:graphicData uri="http://schemas.openxmlformats.org/drawingml/2006/table">
            <a:tbl>
              <a:tblPr firstRow="1" bandRow="1">
                <a:tableStyleId>{5940675A-B579-460E-94D1-54222C63F5DA}</a:tableStyleId>
              </a:tblPr>
              <a:tblGrid>
                <a:gridCol w="910590"/>
                <a:gridCol w="910590"/>
                <a:gridCol w="910590"/>
                <a:gridCol w="910590"/>
                <a:gridCol w="910590"/>
                <a:gridCol w="910590"/>
              </a:tblGrid>
              <a:tr h="389709">
                <a:tc>
                  <a:txBody>
                    <a:bodyPr/>
                    <a:lstStyle/>
                    <a:p>
                      <a:endParaRPr lang="zh-TW" altLang="en-US" dirty="0"/>
                    </a:p>
                  </a:txBody>
                  <a:tcPr/>
                </a:tc>
                <a:tc>
                  <a:txBody>
                    <a:bodyPr/>
                    <a:lstStyle/>
                    <a:p>
                      <a:r>
                        <a:rPr lang="en-US" altLang="zh-TW" dirty="0" smtClean="0"/>
                        <a:t>item 1</a:t>
                      </a:r>
                      <a:endParaRPr lang="zh-TW" altLang="en-US" dirty="0"/>
                    </a:p>
                  </a:txBody>
                  <a:tcPr/>
                </a:tc>
                <a:tc>
                  <a:txBody>
                    <a:bodyPr/>
                    <a:lstStyle/>
                    <a:p>
                      <a:r>
                        <a:rPr lang="en-US" altLang="zh-TW" dirty="0" smtClean="0"/>
                        <a:t>item 2</a:t>
                      </a:r>
                      <a:endParaRPr lang="zh-TW" altLang="en-US" dirty="0"/>
                    </a:p>
                  </a:txBody>
                  <a:tcPr/>
                </a:tc>
                <a:tc>
                  <a:txBody>
                    <a:bodyPr/>
                    <a:lstStyle/>
                    <a:p>
                      <a:r>
                        <a:rPr lang="en-US" altLang="zh-TW" dirty="0" smtClean="0"/>
                        <a:t>item 3</a:t>
                      </a:r>
                      <a:endParaRPr lang="zh-TW" altLang="en-US" dirty="0"/>
                    </a:p>
                  </a:txBody>
                  <a:tcPr/>
                </a:tc>
                <a:tc>
                  <a:txBody>
                    <a:bodyPr/>
                    <a:lstStyle/>
                    <a:p>
                      <a:r>
                        <a:rPr lang="en-US" altLang="zh-TW" dirty="0" smtClean="0"/>
                        <a:t>item 4</a:t>
                      </a:r>
                      <a:endParaRPr lang="zh-TW" altLang="en-US" dirty="0"/>
                    </a:p>
                  </a:txBody>
                  <a:tcPr/>
                </a:tc>
                <a:tc>
                  <a:txBody>
                    <a:bodyPr/>
                    <a:lstStyle/>
                    <a:p>
                      <a:r>
                        <a:rPr lang="en-US" altLang="zh-TW" dirty="0" smtClean="0"/>
                        <a:t>item 5</a:t>
                      </a:r>
                      <a:endParaRPr lang="zh-TW" altLang="en-US" dirty="0"/>
                    </a:p>
                  </a:txBody>
                  <a:tcPr/>
                </a:tc>
              </a:tr>
              <a:tr h="389709">
                <a:tc>
                  <a:txBody>
                    <a:bodyPr/>
                    <a:lstStyle/>
                    <a:p>
                      <a:r>
                        <a:rPr lang="en-US" altLang="zh-TW" dirty="0" smtClean="0"/>
                        <a:t>user</a:t>
                      </a:r>
                      <a:r>
                        <a:rPr lang="en-US" altLang="zh-TW" baseline="0" dirty="0" smtClean="0"/>
                        <a:t> 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1</a:t>
                      </a:r>
                      <a:endParaRPr lang="zh-TW" altLang="en-US" dirty="0"/>
                    </a:p>
                  </a:txBody>
                  <a:tcPr/>
                </a:tc>
              </a:tr>
              <a:tr h="389709">
                <a:tc>
                  <a:txBody>
                    <a:bodyPr/>
                    <a:lstStyle/>
                    <a:p>
                      <a:r>
                        <a:rPr lang="en-US" altLang="zh-TW" dirty="0" smtClean="0"/>
                        <a:t>user 2</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a:t>
                      </a:r>
                      <a:endParaRPr lang="zh-TW" altLang="en-US" dirty="0"/>
                    </a:p>
                  </a:txBody>
                  <a:tcPr/>
                </a:tc>
              </a:tr>
              <a:tr h="389709">
                <a:tc>
                  <a:txBody>
                    <a:bodyPr/>
                    <a:lstStyle/>
                    <a:p>
                      <a:r>
                        <a:rPr lang="en-US" altLang="zh-TW" dirty="0" smtClean="0"/>
                        <a:t>user 3</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7</a:t>
                      </a:r>
                      <a:endParaRPr lang="zh-TW" altLang="en-US" dirty="0"/>
                    </a:p>
                  </a:txBody>
                  <a:tcPr/>
                </a:tc>
              </a:tr>
              <a:tr h="389709">
                <a:tc>
                  <a:txBody>
                    <a:bodyPr/>
                    <a:lstStyle/>
                    <a:p>
                      <a:r>
                        <a:rPr lang="en-US" altLang="zh-TW" dirty="0" smtClean="0"/>
                        <a:t>user 4</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    </a:t>
                      </a:r>
                      <a:r>
                        <a:rPr lang="en-US" altLang="zh-TW" sz="2000" dirty="0" smtClean="0">
                          <a:solidFill>
                            <a:schemeClr val="accent5"/>
                          </a:solidFill>
                          <a:latin typeface="+mn-lt"/>
                        </a:rPr>
                        <a:t>?</a:t>
                      </a:r>
                      <a:endParaRPr lang="zh-TW" altLang="en-US" dirty="0">
                        <a:solidFill>
                          <a:schemeClr val="accent5"/>
                        </a:solidFill>
                        <a:latin typeface="+mn-lt"/>
                      </a:endParaRPr>
                    </a:p>
                  </a:txBody>
                  <a:tcPr/>
                </a:tc>
                <a:tc>
                  <a:txBody>
                    <a:bodyPr/>
                    <a:lstStyle/>
                    <a:p>
                      <a:r>
                        <a:rPr lang="en-US" altLang="zh-TW" dirty="0" smtClean="0"/>
                        <a:t>1</a:t>
                      </a:r>
                      <a:endParaRPr lang="zh-TW" altLang="en-US" dirty="0"/>
                    </a:p>
                  </a:txBody>
                  <a:tcPr/>
                </a:tc>
              </a:tr>
              <a:tr h="389709">
                <a:tc>
                  <a:txBody>
                    <a:bodyPr/>
                    <a:lstStyle/>
                    <a:p>
                      <a:r>
                        <a:rPr lang="en-US" altLang="zh-TW" dirty="0" smtClean="0"/>
                        <a:t>user 5</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a:t>
                      </a:r>
                      <a:endParaRPr lang="zh-TW" altLang="en-US" dirty="0"/>
                    </a:p>
                  </a:txBody>
                  <a:tcPr/>
                </a:tc>
                <a:tc>
                  <a:txBody>
                    <a:bodyPr/>
                    <a:lstStyle/>
                    <a:p>
                      <a:r>
                        <a:rPr lang="en-US" altLang="zh-TW" dirty="0" smtClean="0"/>
                        <a:t>-</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a:t>
                      </a:r>
                      <a:endParaRPr lang="zh-TW" altLang="en-US" dirty="0"/>
                    </a:p>
                  </a:txBody>
                  <a:tcPr/>
                </a:tc>
              </a:tr>
            </a:tbl>
          </a:graphicData>
        </a:graphic>
      </p:graphicFrame>
      <p:pic>
        <p:nvPicPr>
          <p:cNvPr id="9" name="圖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8722" y="4291331"/>
            <a:ext cx="6053853" cy="855953"/>
          </a:xfrm>
          <a:prstGeom prst="rect">
            <a:avLst/>
          </a:prstGeom>
        </p:spPr>
      </p:pic>
      <p:cxnSp>
        <p:nvCxnSpPr>
          <p:cNvPr id="7" name="直線單箭頭接點 6"/>
          <p:cNvCxnSpPr/>
          <p:nvPr/>
        </p:nvCxnSpPr>
        <p:spPr>
          <a:xfrm flipV="1">
            <a:off x="2034540" y="3086100"/>
            <a:ext cx="3398520" cy="12801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9750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16" y="917986"/>
            <a:ext cx="8713159" cy="4952820"/>
          </a:xfrm>
          <a:prstGeom prst="rect">
            <a:avLst/>
          </a:prstGeom>
        </p:spPr>
      </p:pic>
    </p:spTree>
    <p:extLst>
      <p:ext uri="{BB962C8B-B14F-4D97-AF65-F5344CB8AC3E}">
        <p14:creationId xmlns:p14="http://schemas.microsoft.com/office/powerpoint/2010/main" val="37083518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2" y="1204641"/>
            <a:ext cx="8273751" cy="3280694"/>
          </a:xfrm>
          <a:prstGeom prst="rect">
            <a:avLst/>
          </a:prstGeom>
        </p:spPr>
      </p:pic>
      <p:cxnSp>
        <p:nvCxnSpPr>
          <p:cNvPr id="7" name="直線單箭頭接點 6"/>
          <p:cNvCxnSpPr/>
          <p:nvPr/>
        </p:nvCxnSpPr>
        <p:spPr>
          <a:xfrm flipV="1">
            <a:off x="2255520" y="3589020"/>
            <a:ext cx="396240" cy="13411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447887" y="4849475"/>
            <a:ext cx="1721946" cy="830997"/>
          </a:xfrm>
          <a:prstGeom prst="rect">
            <a:avLst/>
          </a:prstGeom>
          <a:noFill/>
        </p:spPr>
        <p:txBody>
          <a:bodyPr wrap="none" lIns="91440" tIns="45720" rIns="91440" bIns="45720">
            <a:spAutoFit/>
          </a:bodyPr>
          <a:lstStyle/>
          <a:p>
            <a:pPr algn="ctr"/>
            <a:r>
              <a:rPr lang="en-US" altLang="zh-TW" sz="48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R-tree</a:t>
            </a:r>
            <a:endParaRPr lang="zh-TW" altLang="en-US" sz="4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cxnSp>
        <p:nvCxnSpPr>
          <p:cNvPr id="11" name="直線單箭頭接點 10"/>
          <p:cNvCxnSpPr/>
          <p:nvPr/>
        </p:nvCxnSpPr>
        <p:spPr>
          <a:xfrm flipV="1">
            <a:off x="5311140" y="3589020"/>
            <a:ext cx="396240" cy="13411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115754" y="4849475"/>
            <a:ext cx="2954656" cy="830997"/>
          </a:xfrm>
          <a:prstGeom prst="rect">
            <a:avLst/>
          </a:prstGeom>
          <a:noFill/>
        </p:spPr>
        <p:txBody>
          <a:bodyPr wrap="none" lIns="91440" tIns="45720" rIns="91440" bIns="45720">
            <a:spAutoFit/>
          </a:bodyPr>
          <a:lstStyle/>
          <a:p>
            <a:pPr algn="ctr"/>
            <a:r>
              <a:rPr lang="en-US" altLang="zh-TW" sz="4800" b="0" cap="none" spc="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kNN</a:t>
            </a:r>
            <a:r>
              <a:rPr lang="en-US" altLang="zh-TW" sz="4800" b="0" cap="none" spc="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or CF</a:t>
            </a:r>
            <a:endParaRPr lang="zh-TW" altLang="en-US" sz="4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23256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850</TotalTime>
  <Words>395</Words>
  <Application>Microsoft Office PowerPoint</Application>
  <PresentationFormat>如螢幕大小 (4:3)</PresentationFormat>
  <Paragraphs>65</Paragraphs>
  <Slides>18</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18</vt:i4>
      </vt:variant>
    </vt:vector>
  </HeadingPairs>
  <TitlesOfParts>
    <vt:vector size="27" baseType="lpstr">
      <vt:lpstr>微軟正黑體</vt:lpstr>
      <vt:lpstr>新細明體</vt:lpstr>
      <vt:lpstr>Arial</vt:lpstr>
      <vt:lpstr>Calibri</vt:lpstr>
      <vt:lpstr>Calibri Light</vt:lpstr>
      <vt:lpstr>Ebrima</vt:lpstr>
      <vt:lpstr>Georgia</vt:lpstr>
      <vt:lpstr>Times New Roman</vt:lpstr>
      <vt:lpstr>Office 佈景主題</vt:lpstr>
      <vt:lpstr>Elastic Algorithms for  Guaranteeing Quality Monotonicity in Big Data Mining</vt:lpstr>
      <vt:lpstr>Abstract (1/6)</vt:lpstr>
      <vt:lpstr>Abstract (2/6)</vt:lpstr>
      <vt:lpstr>Abstract (3/6)</vt:lpstr>
      <vt:lpstr>Abstract (4/6)</vt:lpstr>
      <vt:lpstr>Abstract (5/6)</vt:lpstr>
      <vt:lpstr>Abstract (6/6)</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qiang zi</dc:creator>
  <cp:lastModifiedBy>qiang zi</cp:lastModifiedBy>
  <cp:revision>195</cp:revision>
  <dcterms:created xsi:type="dcterms:W3CDTF">2015-03-25T17:18:54Z</dcterms:created>
  <dcterms:modified xsi:type="dcterms:W3CDTF">2015-05-05T08:44:49Z</dcterms:modified>
</cp:coreProperties>
</file>