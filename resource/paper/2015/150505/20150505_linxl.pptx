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1" r:id="rId5"/>
    <p:sldId id="260" r:id="rId6"/>
    <p:sldId id="262" r:id="rId7"/>
    <p:sldId id="264" r:id="rId8"/>
    <p:sldId id="265" r:id="rId9"/>
    <p:sldId id="263" r:id="rId10"/>
    <p:sldId id="266" r:id="rId11"/>
    <p:sldId id="273" r:id="rId12"/>
    <p:sldId id="267" r:id="rId13"/>
    <p:sldId id="268" r:id="rId14"/>
    <p:sldId id="270" r:id="rId15"/>
    <p:sldId id="271" r:id="rId16"/>
    <p:sldId id="274" r:id="rId17"/>
    <p:sldId id="272" r:id="rId18"/>
    <p:sldId id="269" r:id="rId1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408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A2E06-6215-4505-B48C-D0E8B4D2F670}" type="datetimeFigureOut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A3823-C206-4FEC-B76E-99DBB29495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146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45D8-404A-4C33-862B-37953E30F095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2967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4622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0461E-B108-4DD8-9255-9639DFB38208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213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31FF7-1BA0-4CCF-A028-75D6A0A5C5FA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2529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8D58A-657E-4A73-8160-C252BAFB7B82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8896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30816-8392-4197-9F9D-20C8034BB6B7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1817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60094-C155-4B0E-AA38-E7A16B3BF231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285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CCA9-2A1D-420D-9C35-27E94AF165AA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945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AA818-D3FD-494D-8F8C-B0424A745352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1280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398F0-F2D5-4392-ABD5-5E0292B6BE88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2877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798B9-F546-46B8-8B04-3DC070AFF5D4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563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43ADB-60C9-438F-8E09-6C2E2C1CE966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235D6-932B-4288-B5B5-9093493053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2968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zh-TW" alt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Variants of constrained longest common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subsequence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7016824" cy="1512168"/>
          </a:xfrm>
        </p:spPr>
        <p:txBody>
          <a:bodyPr>
            <a:normAutofit lnSpcReduction="10000"/>
          </a:bodyPr>
          <a:lstStyle/>
          <a:p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altLang="zh-TW" dirty="0">
                <a:latin typeface="Times New Roman" pitchFamily="18" charset="0"/>
                <a:cs typeface="Times New Roman" pitchFamily="18" charset="0"/>
              </a:rPr>
              <a:t>Paola </a:t>
            </a:r>
            <a:r>
              <a:rPr lang="it-IT" altLang="zh-TW" dirty="0" smtClean="0">
                <a:latin typeface="Times New Roman" pitchFamily="18" charset="0"/>
                <a:cs typeface="Times New Roman" pitchFamily="18" charset="0"/>
              </a:rPr>
              <a:t>Bonizzoni, </a:t>
            </a:r>
            <a:r>
              <a:rPr lang="it-IT" altLang="zh-TW" dirty="0">
                <a:latin typeface="Times New Roman" pitchFamily="18" charset="0"/>
                <a:cs typeface="Times New Roman" pitchFamily="18" charset="0"/>
              </a:rPr>
              <a:t>Gianluca Della </a:t>
            </a:r>
            <a:r>
              <a:rPr lang="it-IT" altLang="zh-TW" dirty="0" smtClean="0">
                <a:latin typeface="Times New Roman" pitchFamily="18" charset="0"/>
                <a:cs typeface="Times New Roman" pitchFamily="18" charset="0"/>
              </a:rPr>
              <a:t>Vedova, </a:t>
            </a:r>
            <a:r>
              <a:rPr lang="it-IT" altLang="zh-TW" dirty="0">
                <a:latin typeface="Times New Roman" pitchFamily="18" charset="0"/>
                <a:cs typeface="Times New Roman" pitchFamily="18" charset="0"/>
              </a:rPr>
              <a:t>Riccardo </a:t>
            </a:r>
            <a:r>
              <a:rPr lang="it-IT" altLang="zh-TW" dirty="0" smtClean="0">
                <a:latin typeface="Times New Roman" pitchFamily="18" charset="0"/>
                <a:cs typeface="Times New Roman" pitchFamily="18" charset="0"/>
              </a:rPr>
              <a:t>Dondi, </a:t>
            </a:r>
            <a:r>
              <a:rPr lang="it-IT" altLang="zh-TW" dirty="0">
                <a:latin typeface="Times New Roman" pitchFamily="18" charset="0"/>
                <a:cs typeface="Times New Roman" pitchFamily="18" charset="0"/>
              </a:rPr>
              <a:t>Yuri </a:t>
            </a:r>
            <a:r>
              <a:rPr lang="it-IT" altLang="zh-TW" dirty="0" smtClean="0">
                <a:latin typeface="Times New Roman" pitchFamily="18" charset="0"/>
                <a:cs typeface="Times New Roman" pitchFamily="18" charset="0"/>
              </a:rPr>
              <a:t>Pirola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44208" y="6309320"/>
            <a:ext cx="2685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Presenter: </a:t>
            </a:r>
            <a:r>
              <a:rPr lang="en-US" altLang="zh-TW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Shian</a:t>
            </a:r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-Liang Lin</a:t>
            </a:r>
            <a:endParaRPr lang="zh-TW" alt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3568" y="4941168"/>
            <a:ext cx="79928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Information 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Processing Letters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 Volume </a:t>
            </a:r>
            <a:r>
              <a:rPr lang="en-US" altLang="zh-TW" sz="2000" dirty="0">
                <a:latin typeface="Times New Roman" pitchFamily="18" charset="0"/>
                <a:cs typeface="Times New Roman" pitchFamily="18" charset="0"/>
              </a:rPr>
              <a:t>110, pp.877–881(2010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92EC3-8CC7-48BF-80F3-40956BA13762}" type="datetime1">
              <a:rPr lang="zh-TW" altLang="en-US" smtClean="0"/>
              <a:t>2015/5/5</a:t>
            </a:fld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AAE1-64D2-4F4C-B3D0-6D50C2516661}" type="slidenum">
              <a:rPr lang="zh-TW" altLang="en-US" smtClean="0">
                <a:latin typeface="Times New Roman" pitchFamily="18" charset="0"/>
                <a:cs typeface="Times New Roman" pitchFamily="18" charset="0"/>
              </a:rPr>
              <a:t>1</a:t>
            </a:fld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04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Abstract(1/2)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We consider a variant of the classical Longest Common Subsequence problem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called Doubly-Constrained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Longest Common Subsequence (DC-LCS). </a:t>
            </a:r>
            <a:endParaRPr lang="en-US" altLang="zh-TW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Given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two strings </a:t>
            </a:r>
            <a:r>
              <a:rPr lang="en-US" altLang="zh-TW" sz="24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over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an alphabet </a:t>
            </a:r>
            <a:r>
              <a:rPr lang="en-US" altLang="zh-TW" sz="2400" i="1" dirty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, a set </a:t>
            </a:r>
            <a:r>
              <a:rPr lang="en-US" altLang="zh-TW" sz="2400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sz="2400" i="1" baseline="-250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sz="2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of strings, and a function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sz="2400" i="1" baseline="-25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TW" sz="2400" i="1" dirty="0"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altLang="zh-TW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, the DC-LCS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problem consists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of finding the longest subsequence </a:t>
            </a:r>
            <a:r>
              <a:rPr lang="en-US" altLang="zh-TW" sz="2400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altLang="zh-TW" sz="24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altLang="zh-TW" sz="24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such that </a:t>
            </a:r>
            <a:r>
              <a:rPr lang="en-US" altLang="zh-TW" sz="2400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is a </a:t>
            </a:r>
            <a:r>
              <a:rPr lang="en-US" altLang="zh-TW" sz="2400" dirty="0" err="1" smtClean="0">
                <a:latin typeface="Times New Roman" pitchFamily="18" charset="0"/>
                <a:cs typeface="Times New Roman" pitchFamily="18" charset="0"/>
              </a:rPr>
              <a:t>supersequence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all the strings in </a:t>
            </a:r>
            <a:r>
              <a:rPr lang="en-US" altLang="zh-TW" sz="2400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sz="2400" i="1" baseline="-250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sz="2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and such that the number of occurrences in </a:t>
            </a:r>
            <a:r>
              <a:rPr lang="en-US" altLang="zh-TW" sz="2400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of each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symbol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∈ </a:t>
            </a:r>
            <a:r>
              <a:rPr lang="en-US" altLang="zh-TW" sz="2400" i="1" dirty="0"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is upper bounded by </a:t>
            </a:r>
            <a:r>
              <a:rPr lang="en-US" altLang="zh-TW" sz="2400" i="1" dirty="0">
                <a:latin typeface="Times New Roman" pitchFamily="18" charset="0"/>
                <a:cs typeface="Times New Roman" pitchFamily="18" charset="0"/>
              </a:rPr>
              <a:t>Co(σ)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altLang="zh-TW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DC-LCS problem provides a clear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mathematical formulation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of a sequence comparison problem in Computational Biology and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generalizes two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other constrained variants of the LCS problem that have been introduced previously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in the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literature: the Constrained LCS and the Repetition-Free LCS. </a:t>
            </a:r>
            <a:endParaRPr lang="en-US" altLang="zh-TW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zh-TW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FCA9-3044-4CCA-8A41-A3C8AACA91BB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328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Abstract(2/2)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We present two results for the DC-LCS problem. 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First, we illustrate a fixed-parameter algorithm where the parameter is the length of the solution which is also applicable to the more specialized problems.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Second, we prove a parameterized hardness result for the Constrained LCS problem when the parameter is the number of the constraint strings (|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sz="2400" i="1" baseline="-250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|) and the size of the alphabet </a:t>
            </a:r>
            <a:r>
              <a:rPr lang="en-US" altLang="zh-TW" sz="2400" i="1" dirty="0" smtClean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This hardness result also implies the parameterized hardness of the DC-LCS problem (with the same parameters) and its NP-hardness when the size of the alphabet is constant.</a:t>
            </a:r>
            <a:endParaRPr lang="zh-TW" altLang="en-US" sz="24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EFB72-F5FC-43CA-A501-992D7F296B6F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827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Problem 1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Constrained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Longest Common Subsequence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zh-TW" i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Input: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two strings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, a string constraint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i="1" baseline="-250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Output: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 longest common subsequence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so that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each string in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i="1" baseline="-250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is a subsequence of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="1" baseline="-25000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c b a 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="1" baseline="-25000" dirty="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b c b a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b="1" baseline="-250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 a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CLCS: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 b a , </a:t>
            </a:r>
            <a:r>
              <a:rPr lang="en-US" altLang="zh-TW" strike="sngStrike" dirty="0" smtClean="0">
                <a:latin typeface="Times New Roman" pitchFamily="18" charset="0"/>
                <a:cs typeface="Times New Roman" pitchFamily="18" charset="0"/>
              </a:rPr>
              <a:t>a c b</a:t>
            </a:r>
            <a:endParaRPr lang="zh-TW" altLang="en-US" strike="sngStrike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4945C-BFDD-4557-A242-784BEE3B2332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6686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RF-LCS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Problem 2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Repetition-Free Longest Common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Subsequence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two strings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Output: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 longest common subsequence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so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that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contains at most one occurrence of each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symbol </a:t>
            </a:r>
            <a:r>
              <a:rPr lang="el-GR" altLang="zh-TW" i="1" dirty="0" smtClean="0"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l-GR" altLang="zh-TW" dirty="0">
                <a:latin typeface="Times New Roman" pitchFamily="18" charset="0"/>
                <a:cs typeface="Times New Roman" pitchFamily="18" charset="0"/>
              </a:rPr>
              <a:t>∈ </a:t>
            </a:r>
            <a:r>
              <a:rPr lang="el-GR" altLang="zh-TW" i="1" dirty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l-GR" altLang="zh-TW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="1" baseline="-25000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c b a 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="1" baseline="-25000" dirty="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b c b a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RF-LCS:  </a:t>
            </a:r>
            <a:r>
              <a:rPr lang="en-US" altLang="zh-TW" strike="sngStrike" dirty="0" smtClean="0">
                <a:latin typeface="Times New Roman" pitchFamily="18" charset="0"/>
                <a:cs typeface="Times New Roman" pitchFamily="18" charset="0"/>
              </a:rPr>
              <a:t>a c b a(4)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=&gt; a c b, </a:t>
            </a:r>
            <a:r>
              <a:rPr lang="en-US" altLang="zh-TW" strike="sngStrike" dirty="0" smtClean="0">
                <a:latin typeface="Times New Roman" pitchFamily="18" charset="0"/>
                <a:cs typeface="Times New Roman" pitchFamily="18" charset="0"/>
              </a:rPr>
              <a:t>a c 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c b a(3)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E4081-3558-4760-937B-3D6ADBB34535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255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DC-LCS(1/2)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Problem 3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Doubly-Constrained Longest Common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Subsequence)</a:t>
            </a:r>
            <a:endParaRPr lang="en-US" altLang="zh-TW" i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two strings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, a string constraint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i="1" baseline="-250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an occurrence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constraint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i="1" baseline="-25000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l-GR" altLang="zh-TW" i="1" dirty="0"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l-GR" altLang="zh-TW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N.</a:t>
            </a:r>
          </a:p>
          <a:p>
            <a:pPr marL="0" indent="0">
              <a:buNone/>
            </a:pPr>
            <a:r>
              <a:rPr lang="en-US" altLang="zh-TW" b="1" dirty="0">
                <a:latin typeface="Times New Roman" pitchFamily="18" charset="0"/>
                <a:cs typeface="Times New Roman" pitchFamily="18" charset="0"/>
              </a:rPr>
              <a:t>Output: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 longest common subsequence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so that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each string in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i="1" baseline="-250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is a subsequence of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contains at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most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i="1" baseline="-25000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(σ)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occurrences of each symbol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∈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.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C187-DEC1-46D7-927C-EA72CF07B8A1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3272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DC-LCS(2/2)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="1" baseline="-25000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c b a 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="1" baseline="-25000" dirty="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b c b a</a:t>
            </a:r>
          </a:p>
          <a:p>
            <a:pPr marL="0" indent="0">
              <a:buNone/>
            </a:pP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b="1" baseline="-250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 a</a:t>
            </a:r>
          </a:p>
          <a:p>
            <a:pPr marL="0" indent="0">
              <a:buNone/>
            </a:pPr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b="1" i="1" baseline="-25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(σ)</a:t>
            </a:r>
            <a:r>
              <a:rPr lang="zh-TW" alt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TW" altLang="en-US" b="1" dirty="0" smtClean="0">
                <a:latin typeface="Times New Roman" pitchFamily="18" charset="0"/>
                <a:cs typeface="Times New Roman" pitchFamily="18" charset="0"/>
              </a:rPr>
              <a:t>≤ </a:t>
            </a: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1 ,</a:t>
            </a:r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σ </a:t>
            </a: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∈ </a:t>
            </a:r>
            <a:r>
              <a:rPr lang="en-US" altLang="zh-TW" b="1" i="1" dirty="0" smtClean="0">
                <a:latin typeface="Times New Roman" pitchFamily="18" charset="0"/>
                <a:cs typeface="Times New Roman" pitchFamily="18" charset="0"/>
              </a:rPr>
              <a:t>Σ</a:t>
            </a:r>
            <a:endParaRPr lang="en-US" altLang="zh-TW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DC-LCS:  </a:t>
            </a:r>
            <a:r>
              <a:rPr lang="en-US" altLang="zh-TW" strike="sngStrike" dirty="0" smtClean="0">
                <a:latin typeface="Times New Roman" pitchFamily="18" charset="0"/>
                <a:cs typeface="Times New Roman" pitchFamily="18" charset="0"/>
              </a:rPr>
              <a:t>a c 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strike="sngStrike" dirty="0" smtClean="0">
                <a:latin typeface="Times New Roman" pitchFamily="18" charset="0"/>
                <a:cs typeface="Times New Roman" pitchFamily="18" charset="0"/>
              </a:rPr>
              <a:t>a c 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c b a(3)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A39D9-8848-4945-8758-B4DF8570E057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5746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fixed-parameter algorithm </a:t>
            </a:r>
            <a:br>
              <a:rPr lang="en-US" altLang="zh-TW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for DC-LCS(1/6)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</a:t>
            </a:r>
            <a:r>
              <a:rPr lang="en-US" altLang="zh-TW" dirty="0" smtClean="0"/>
              <a:t>e </a:t>
            </a:r>
            <a:r>
              <a:rPr lang="en-US" altLang="zh-TW" dirty="0"/>
              <a:t>present a fixed-parameter algorithm for </a:t>
            </a:r>
            <a:r>
              <a:rPr lang="en-US" altLang="zh-TW" dirty="0" smtClean="0"/>
              <a:t>the DC-LCS </a:t>
            </a:r>
            <a:r>
              <a:rPr lang="en-US" altLang="zh-TW" dirty="0"/>
              <a:t>problem when |</a:t>
            </a:r>
            <a:r>
              <a:rPr lang="en-US" altLang="zh-TW" i="1" dirty="0"/>
              <a:t>Cs</a:t>
            </a:r>
            <a:r>
              <a:rPr lang="en-US" altLang="zh-TW" dirty="0"/>
              <a:t>| </a:t>
            </a:r>
            <a:r>
              <a:rPr lang="zh-TW" altLang="en-US" b="1" dirty="0" smtClean="0">
                <a:latin typeface="Times New Roman" pitchFamily="18" charset="0"/>
                <a:cs typeface="Times New Roman" pitchFamily="18" charset="0"/>
              </a:rPr>
              <a:t>≤ </a:t>
            </a:r>
            <a:r>
              <a:rPr lang="en-US" altLang="zh-TW" dirty="0" smtClean="0"/>
              <a:t>1 </a:t>
            </a:r>
            <a:r>
              <a:rPr lang="en-US" altLang="zh-TW" dirty="0"/>
              <a:t>(hence the result also </a:t>
            </a:r>
            <a:r>
              <a:rPr lang="en-US" altLang="zh-TW" dirty="0" smtClean="0"/>
              <a:t>holds for </a:t>
            </a:r>
            <a:r>
              <a:rPr lang="en-US" altLang="zh-TW" dirty="0"/>
              <a:t>the RF-LCS problem</a:t>
            </a:r>
            <a:r>
              <a:rPr lang="en-US" altLang="zh-TW" dirty="0" smtClean="0"/>
              <a:t>).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60"/>
          <a:stretch/>
        </p:blipFill>
        <p:spPr bwMode="auto">
          <a:xfrm>
            <a:off x="1547664" y="3356992"/>
            <a:ext cx="5760640" cy="2917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7135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-315416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fixed-parameter algorithm(2/6)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9798036"/>
              </p:ext>
            </p:extLst>
          </p:nvPr>
        </p:nvGraphicFramePr>
        <p:xfrm>
          <a:off x="179512" y="542960"/>
          <a:ext cx="8784976" cy="6300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311"/>
                <a:gridCol w="3724218"/>
                <a:gridCol w="3835678"/>
                <a:gridCol w="644769"/>
              </a:tblGrid>
              <a:tr h="36089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h</a:t>
                      </a:r>
                      <a:endParaRPr lang="zh-TW" altLang="en-US" baseline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∅</a:t>
                      </a:r>
                      <a:endParaRPr lang="zh-TW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360894"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0" dirty="0" smtClean="0">
                          <a:solidFill>
                            <a:schemeClr val="bg1"/>
                          </a:solidFill>
                        </a:rPr>
                        <a:t>L</a:t>
                      </a:r>
                      <a:endParaRPr lang="zh-TW" altLang="en-US" baseline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2275196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{</a:t>
                      </a:r>
                      <a:r>
                        <a:rPr lang="zh-TW" alt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∅</a:t>
                      </a:r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}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zh-TW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∅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zh-TW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∅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6089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{a}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...</a:t>
                      </a:r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∅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∅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55164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{b}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∅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6089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{c}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F06F-6233-4922-A1D4-37B23E6E89F8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9</a:t>
            </a:fld>
            <a:endParaRPr lang="zh-TW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756430"/>
              </p:ext>
            </p:extLst>
          </p:nvPr>
        </p:nvGraphicFramePr>
        <p:xfrm>
          <a:off x="1043608" y="1268760"/>
          <a:ext cx="3096345" cy="2232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35"/>
                <a:gridCol w="442335"/>
                <a:gridCol w="442335"/>
                <a:gridCol w="442335"/>
                <a:gridCol w="442335"/>
                <a:gridCol w="442335"/>
                <a:gridCol w="442335"/>
              </a:tblGrid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endParaRPr lang="zh-TW" altLang="en-US" baseline="-25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111248"/>
              </p:ext>
            </p:extLst>
          </p:nvPr>
        </p:nvGraphicFramePr>
        <p:xfrm>
          <a:off x="4860032" y="4077072"/>
          <a:ext cx="3096345" cy="2244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35"/>
                <a:gridCol w="442335"/>
                <a:gridCol w="442335"/>
                <a:gridCol w="442335"/>
                <a:gridCol w="442335"/>
                <a:gridCol w="442335"/>
                <a:gridCol w="442335"/>
              </a:tblGrid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baseline="-25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840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577626"/>
              </p:ext>
            </p:extLst>
          </p:nvPr>
        </p:nvGraphicFramePr>
        <p:xfrm>
          <a:off x="971600" y="4077072"/>
          <a:ext cx="3096345" cy="2244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35"/>
                <a:gridCol w="442335"/>
                <a:gridCol w="442335"/>
                <a:gridCol w="442335"/>
                <a:gridCol w="442335"/>
                <a:gridCol w="442335"/>
                <a:gridCol w="442335"/>
              </a:tblGrid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baseline="-25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840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60"/>
          <a:stretch/>
        </p:blipFill>
        <p:spPr bwMode="auto">
          <a:xfrm>
            <a:off x="4914949" y="961920"/>
            <a:ext cx="4265563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3" name="直線單箭頭接點 12"/>
          <p:cNvCxnSpPr/>
          <p:nvPr/>
        </p:nvCxnSpPr>
        <p:spPr>
          <a:xfrm flipH="1" flipV="1">
            <a:off x="2123728" y="2780928"/>
            <a:ext cx="252028" cy="28803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 flipH="1">
            <a:off x="2123728" y="5877272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 flipV="1">
            <a:off x="2627784" y="5373216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 flipH="1">
            <a:off x="6012160" y="5877272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 flipV="1">
            <a:off x="6516216" y="5373216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弧形接點 33"/>
          <p:cNvCxnSpPr/>
          <p:nvPr/>
        </p:nvCxnSpPr>
        <p:spPr>
          <a:xfrm rot="10800000">
            <a:off x="2267744" y="2564904"/>
            <a:ext cx="4032448" cy="3096344"/>
          </a:xfrm>
          <a:prstGeom prst="curvedConnector3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 flipV="1">
            <a:off x="6304888" y="3429000"/>
            <a:ext cx="0" cy="22322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/>
          <p:nvPr/>
        </p:nvCxnSpPr>
        <p:spPr>
          <a:xfrm flipH="1">
            <a:off x="5580112" y="5157192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 flipV="1">
            <a:off x="6084168" y="4653136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弧形接點 43"/>
          <p:cNvCxnSpPr/>
          <p:nvPr/>
        </p:nvCxnSpPr>
        <p:spPr>
          <a:xfrm rot="10800000">
            <a:off x="1907704" y="1772817"/>
            <a:ext cx="3816424" cy="3024339"/>
          </a:xfrm>
          <a:prstGeom prst="curvedConnector3">
            <a:avLst>
              <a:gd name="adj1" fmla="val 33841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 flipH="1">
            <a:off x="4283967" y="2722771"/>
            <a:ext cx="288032" cy="6230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8946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10</a:t>
            </a:fld>
            <a:endParaRPr lang="zh-TW" altLang="en-US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9413345"/>
              </p:ext>
            </p:extLst>
          </p:nvPr>
        </p:nvGraphicFramePr>
        <p:xfrm>
          <a:off x="179512" y="542960"/>
          <a:ext cx="8784976" cy="5995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/>
                <a:gridCol w="3656457"/>
                <a:gridCol w="808039"/>
                <a:gridCol w="3672408"/>
              </a:tblGrid>
              <a:tr h="36089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h</a:t>
                      </a:r>
                      <a:endParaRPr lang="zh-TW" altLang="en-US" baseline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∅</a:t>
                      </a:r>
                      <a:endParaRPr lang="zh-TW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0" dirty="0" smtClean="0">
                          <a:solidFill>
                            <a:schemeClr val="bg1"/>
                          </a:solidFill>
                        </a:rPr>
                        <a:t>L</a:t>
                      </a:r>
                      <a:endParaRPr lang="zh-TW" altLang="en-US" baseline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2632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{</a:t>
                      </a:r>
                      <a:r>
                        <a:rPr lang="en-US" altLang="zh-TW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}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∅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6089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{c}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endParaRPr lang="zh-TW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zh-TW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∅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zh-TW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∅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55164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{</a:t>
                      </a:r>
                      <a:r>
                        <a:rPr lang="en-US" altLang="zh-TW" dirty="0" err="1" smtClean="0">
                          <a:solidFill>
                            <a:schemeClr val="bg1"/>
                          </a:solidFill>
                        </a:rPr>
                        <a:t>b,c</a:t>
                      </a:r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}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467544" y="-315416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fixed-parameter algorithm(3/6)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60"/>
          <a:stretch/>
        </p:blipFill>
        <p:spPr bwMode="auto">
          <a:xfrm>
            <a:off x="4860032" y="1216992"/>
            <a:ext cx="4140865" cy="2344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02481"/>
              </p:ext>
            </p:extLst>
          </p:nvPr>
        </p:nvGraphicFramePr>
        <p:xfrm>
          <a:off x="5580112" y="4137079"/>
          <a:ext cx="3096345" cy="2244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35"/>
                <a:gridCol w="442335"/>
                <a:gridCol w="442335"/>
                <a:gridCol w="442335"/>
                <a:gridCol w="442335"/>
                <a:gridCol w="442335"/>
                <a:gridCol w="442335"/>
              </a:tblGrid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baseline="-25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840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961289"/>
              </p:ext>
            </p:extLst>
          </p:nvPr>
        </p:nvGraphicFramePr>
        <p:xfrm>
          <a:off x="1115616" y="1700808"/>
          <a:ext cx="3096345" cy="2244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35"/>
                <a:gridCol w="442335"/>
                <a:gridCol w="442335"/>
                <a:gridCol w="442335"/>
                <a:gridCol w="442335"/>
                <a:gridCol w="442335"/>
                <a:gridCol w="442335"/>
              </a:tblGrid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baseline="-25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840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523990"/>
              </p:ext>
            </p:extLst>
          </p:nvPr>
        </p:nvGraphicFramePr>
        <p:xfrm>
          <a:off x="1168265" y="4077072"/>
          <a:ext cx="3096345" cy="2244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35"/>
                <a:gridCol w="442335"/>
                <a:gridCol w="442335"/>
                <a:gridCol w="442335"/>
                <a:gridCol w="442335"/>
                <a:gridCol w="442335"/>
                <a:gridCol w="442335"/>
              </a:tblGrid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baseline="-25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840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0" name="直線單箭頭接點 19"/>
          <p:cNvCxnSpPr/>
          <p:nvPr/>
        </p:nvCxnSpPr>
        <p:spPr>
          <a:xfrm flipH="1" flipV="1">
            <a:off x="3203848" y="3212976"/>
            <a:ext cx="180020" cy="23447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H="1">
            <a:off x="3239852" y="5917784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flipV="1">
            <a:off x="3743908" y="5413728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 flipH="1" flipV="1">
            <a:off x="7164288" y="3933056"/>
            <a:ext cx="756084" cy="16507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 flipH="1">
            <a:off x="7632340" y="5917784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/>
          <p:nvPr/>
        </p:nvCxnSpPr>
        <p:spPr>
          <a:xfrm flipV="1">
            <a:off x="8136396" y="5413728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314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11</a:t>
            </a:fld>
            <a:endParaRPr lang="zh-TW" altLang="en-US"/>
          </a:p>
        </p:txBody>
      </p:sp>
      <p:graphicFrame>
        <p:nvGraphicFramePr>
          <p:cNvPr id="6" name="內容版面配置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4938035"/>
              </p:ext>
            </p:extLst>
          </p:nvPr>
        </p:nvGraphicFramePr>
        <p:xfrm>
          <a:off x="179512" y="542960"/>
          <a:ext cx="8784976" cy="5995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72"/>
                <a:gridCol w="648072"/>
                <a:gridCol w="3816424"/>
                <a:gridCol w="3672408"/>
              </a:tblGrid>
              <a:tr h="36089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h</a:t>
                      </a:r>
                      <a:endParaRPr lang="zh-TW" altLang="en-US" baseline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800" b="0" i="0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∅</a:t>
                      </a:r>
                      <a:endParaRPr lang="zh-TW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144016"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0" dirty="0" smtClean="0">
                          <a:solidFill>
                            <a:schemeClr val="bg1"/>
                          </a:solidFill>
                        </a:rPr>
                        <a:t>L</a:t>
                      </a:r>
                      <a:endParaRPr lang="zh-TW" altLang="en-US" baseline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2632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{</a:t>
                      </a:r>
                      <a:r>
                        <a:rPr lang="en-US" altLang="zh-TW" dirty="0" err="1" smtClean="0">
                          <a:solidFill>
                            <a:schemeClr val="bg1"/>
                          </a:solidFill>
                        </a:rPr>
                        <a:t>a,</a:t>
                      </a:r>
                      <a:r>
                        <a:rPr lang="en-US" altLang="zh-TW" sz="1800" b="0" i="0" kern="1200" dirty="0" err="1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}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6089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{</a:t>
                      </a:r>
                      <a:r>
                        <a:rPr lang="en-US" altLang="zh-TW" dirty="0" err="1" smtClean="0">
                          <a:solidFill>
                            <a:schemeClr val="bg1"/>
                          </a:solidFill>
                        </a:rPr>
                        <a:t>b,c</a:t>
                      </a:r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}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</a:p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endParaRPr lang="en-US" altLang="zh-TW" dirty="0" smtClean="0"/>
                    </a:p>
                    <a:p>
                      <a:pPr algn="ctr"/>
                      <a:endParaRPr lang="zh-TW" altLang="en-US" dirty="0"/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n-US" altLang="zh-TW" sz="18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zh-TW" altLang="en-US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∅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55164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{</a:t>
                      </a:r>
                      <a:r>
                        <a:rPr lang="en-US" altLang="zh-TW" dirty="0" err="1" smtClean="0">
                          <a:solidFill>
                            <a:schemeClr val="bg1"/>
                          </a:solidFill>
                        </a:rPr>
                        <a:t>a,b,c</a:t>
                      </a:r>
                      <a:r>
                        <a:rPr lang="en-US" altLang="zh-TW" dirty="0" smtClean="0">
                          <a:solidFill>
                            <a:schemeClr val="bg1"/>
                          </a:solidFill>
                        </a:rPr>
                        <a:t>}</a:t>
                      </a:r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457200" y="-306288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fixed-parameter algorithm(4/6)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283408"/>
              </p:ext>
            </p:extLst>
          </p:nvPr>
        </p:nvGraphicFramePr>
        <p:xfrm>
          <a:off x="2051720" y="4149080"/>
          <a:ext cx="3096345" cy="2244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35"/>
                <a:gridCol w="442335"/>
                <a:gridCol w="442335"/>
                <a:gridCol w="442335"/>
                <a:gridCol w="442335"/>
                <a:gridCol w="442335"/>
                <a:gridCol w="442335"/>
              </a:tblGrid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baseline="-25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840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760493"/>
              </p:ext>
            </p:extLst>
          </p:nvPr>
        </p:nvGraphicFramePr>
        <p:xfrm>
          <a:off x="5508103" y="4149080"/>
          <a:ext cx="3096345" cy="2244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35"/>
                <a:gridCol w="442335"/>
                <a:gridCol w="442335"/>
                <a:gridCol w="442335"/>
                <a:gridCol w="442335"/>
                <a:gridCol w="442335"/>
                <a:gridCol w="442335"/>
              </a:tblGrid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baseline="-25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840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ysClr val="windowText" lastClr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056940"/>
              </p:ext>
            </p:extLst>
          </p:nvPr>
        </p:nvGraphicFramePr>
        <p:xfrm>
          <a:off x="1907704" y="1700808"/>
          <a:ext cx="3096345" cy="2244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35"/>
                <a:gridCol w="442335"/>
                <a:gridCol w="442335"/>
                <a:gridCol w="442335"/>
                <a:gridCol w="442335"/>
                <a:gridCol w="442335"/>
                <a:gridCol w="442335"/>
              </a:tblGrid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baseline="-25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840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1" name="直線單箭頭接點 10"/>
          <p:cNvCxnSpPr/>
          <p:nvPr/>
        </p:nvCxnSpPr>
        <p:spPr>
          <a:xfrm flipH="1" flipV="1">
            <a:off x="4572000" y="3573016"/>
            <a:ext cx="3600400" cy="24482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818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467544" y="-315416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fixed-parameter algorithm(5/5)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165437"/>
              </p:ext>
            </p:extLst>
          </p:nvPr>
        </p:nvGraphicFramePr>
        <p:xfrm>
          <a:off x="5292079" y="4149080"/>
          <a:ext cx="3096345" cy="2244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35"/>
                <a:gridCol w="442335"/>
                <a:gridCol w="442335"/>
                <a:gridCol w="442335"/>
                <a:gridCol w="442335"/>
                <a:gridCol w="442335"/>
                <a:gridCol w="442335"/>
              </a:tblGrid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baseline="-25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840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5292080" y="6453336"/>
            <a:ext cx="3096344" cy="2880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V[</a:t>
            </a:r>
            <a:r>
              <a:rPr lang="zh-TW" altLang="en-US" dirty="0" smtClean="0"/>
              <a:t> </a:t>
            </a:r>
            <a:r>
              <a:rPr lang="en-US" altLang="zh-TW" dirty="0" smtClean="0"/>
              <a:t>i</a:t>
            </a:r>
            <a:r>
              <a:rPr lang="zh-TW" altLang="en-US" dirty="0" smtClean="0"/>
              <a:t> </a:t>
            </a:r>
            <a:r>
              <a:rPr lang="en-US" altLang="zh-TW" dirty="0" smtClean="0"/>
              <a:t>,</a:t>
            </a:r>
            <a:r>
              <a:rPr lang="zh-TW" altLang="en-US" dirty="0" smtClean="0"/>
              <a:t> </a:t>
            </a:r>
            <a:r>
              <a:rPr lang="en-US" altLang="zh-TW" dirty="0" smtClean="0"/>
              <a:t>j , h[2]=‘a’ , L={</a:t>
            </a:r>
            <a:r>
              <a:rPr lang="en-US" altLang="zh-TW" dirty="0" err="1" smtClean="0"/>
              <a:t>a,b,c</a:t>
            </a:r>
            <a:r>
              <a:rPr lang="en-US" altLang="zh-TW" dirty="0" smtClean="0"/>
              <a:t>}]</a:t>
            </a:r>
            <a:r>
              <a:rPr lang="zh-TW" altLang="en-US" dirty="0" smtClean="0"/>
              <a:t> </a:t>
            </a:r>
            <a:endParaRPr lang="zh-TW" altLang="en-US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475899"/>
              </p:ext>
            </p:extLst>
          </p:nvPr>
        </p:nvGraphicFramePr>
        <p:xfrm>
          <a:off x="1177066" y="4173779"/>
          <a:ext cx="3096345" cy="2244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35"/>
                <a:gridCol w="442335"/>
                <a:gridCol w="442335"/>
                <a:gridCol w="442335"/>
                <a:gridCol w="442335"/>
                <a:gridCol w="442335"/>
                <a:gridCol w="442335"/>
              </a:tblGrid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baseline="-25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840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1187624" y="6453336"/>
            <a:ext cx="3096344" cy="2880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V[</a:t>
            </a:r>
            <a:r>
              <a:rPr lang="zh-TW" altLang="en-US" dirty="0" smtClean="0"/>
              <a:t> </a:t>
            </a:r>
            <a:r>
              <a:rPr lang="en-US" altLang="zh-TW" dirty="0" smtClean="0"/>
              <a:t>i</a:t>
            </a:r>
            <a:r>
              <a:rPr lang="zh-TW" altLang="en-US" dirty="0" smtClean="0"/>
              <a:t> </a:t>
            </a:r>
            <a:r>
              <a:rPr lang="en-US" altLang="zh-TW" dirty="0" smtClean="0"/>
              <a:t>,</a:t>
            </a:r>
            <a:r>
              <a:rPr lang="zh-TW" altLang="en-US" dirty="0" smtClean="0"/>
              <a:t> </a:t>
            </a:r>
            <a:r>
              <a:rPr lang="en-US" altLang="zh-TW" dirty="0" smtClean="0"/>
              <a:t>j , h[1]=‘b’ , L={</a:t>
            </a:r>
            <a:r>
              <a:rPr lang="en-US" altLang="zh-TW" dirty="0" err="1" smtClean="0"/>
              <a:t>b,c</a:t>
            </a:r>
            <a:r>
              <a:rPr lang="en-US" altLang="zh-TW" dirty="0" smtClean="0"/>
              <a:t>} ]</a:t>
            </a:r>
            <a:r>
              <a:rPr lang="zh-TW" altLang="en-US" dirty="0" smtClean="0"/>
              <a:t> </a:t>
            </a:r>
            <a:endParaRPr lang="zh-TW" altLang="en-US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183357"/>
              </p:ext>
            </p:extLst>
          </p:nvPr>
        </p:nvGraphicFramePr>
        <p:xfrm>
          <a:off x="1115615" y="836712"/>
          <a:ext cx="3096345" cy="2244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335"/>
                <a:gridCol w="442335"/>
                <a:gridCol w="442335"/>
                <a:gridCol w="442335"/>
                <a:gridCol w="442335"/>
                <a:gridCol w="442335"/>
                <a:gridCol w="442335"/>
              </a:tblGrid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baseline="-250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altLang="zh-TW" baseline="-25000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840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3720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u="sng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u="sng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zh-TW" alt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1115615" y="3140968"/>
            <a:ext cx="3096344" cy="2880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V[</a:t>
            </a:r>
            <a:r>
              <a:rPr lang="zh-TW" altLang="en-US" dirty="0" smtClean="0"/>
              <a:t> </a:t>
            </a:r>
            <a:r>
              <a:rPr lang="en-US" altLang="zh-TW" dirty="0" smtClean="0"/>
              <a:t>i</a:t>
            </a:r>
            <a:r>
              <a:rPr lang="zh-TW" altLang="en-US" dirty="0" smtClean="0"/>
              <a:t> </a:t>
            </a:r>
            <a:r>
              <a:rPr lang="en-US" altLang="zh-TW" dirty="0" smtClean="0"/>
              <a:t>,</a:t>
            </a:r>
            <a:r>
              <a:rPr lang="zh-TW" altLang="en-US" dirty="0" smtClean="0"/>
              <a:t> </a:t>
            </a:r>
            <a:r>
              <a:rPr lang="en-US" altLang="zh-TW" dirty="0" smtClean="0"/>
              <a:t>j , h[0]=∅ , L={c} ]</a:t>
            </a:r>
            <a:r>
              <a:rPr lang="zh-TW" altLang="en-US" dirty="0" smtClean="0"/>
              <a:t> </a:t>
            </a:r>
            <a:endParaRPr lang="zh-TW" altLang="en-US" dirty="0"/>
          </a:p>
        </p:txBody>
      </p:sp>
      <p:sp>
        <p:nvSpPr>
          <p:cNvPr id="13" name="向下箭號 12"/>
          <p:cNvSpPr/>
          <p:nvPr/>
        </p:nvSpPr>
        <p:spPr>
          <a:xfrm rot="5400000">
            <a:off x="4644008" y="4869160"/>
            <a:ext cx="360040" cy="504056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向下箭號 13"/>
          <p:cNvSpPr/>
          <p:nvPr/>
        </p:nvSpPr>
        <p:spPr>
          <a:xfrm rot="10800000">
            <a:off x="2627784" y="3501008"/>
            <a:ext cx="360040" cy="504056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5292080" y="1700808"/>
            <a:ext cx="3312368" cy="1440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DC-LCS:  c b a</a:t>
            </a:r>
            <a:endParaRPr lang="zh-TW" alt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480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60"/>
          <a:stretch/>
        </p:blipFill>
        <p:spPr bwMode="auto">
          <a:xfrm>
            <a:off x="1907704" y="3936149"/>
            <a:ext cx="5112568" cy="2589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-36512" y="1639341"/>
            <a:ext cx="8229600" cy="4525963"/>
          </a:xfrm>
        </p:spPr>
        <p:txBody>
          <a:bodyPr/>
          <a:lstStyle/>
          <a:p>
            <a:r>
              <a:rPr lang="en-US" altLang="zh-TW" dirty="0" smtClean="0"/>
              <a:t>Total </a:t>
            </a:r>
            <a:r>
              <a:rPr lang="en-US" altLang="zh-TW" dirty="0"/>
              <a:t>number of </a:t>
            </a:r>
            <a:r>
              <a:rPr lang="en-US" altLang="zh-TW" dirty="0" smtClean="0"/>
              <a:t>entries of 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the </a:t>
            </a:r>
            <a:r>
              <a:rPr lang="en-US" altLang="zh-TW" dirty="0"/>
              <a:t>matrix </a:t>
            </a:r>
            <a:r>
              <a:rPr lang="en-US" altLang="zh-TW" i="1" dirty="0"/>
              <a:t>V </a:t>
            </a:r>
            <a:r>
              <a:rPr lang="en-US" altLang="zh-TW" dirty="0"/>
              <a:t>[·</a:t>
            </a:r>
            <a:r>
              <a:rPr lang="en-US" altLang="zh-TW" i="1" dirty="0"/>
              <a:t>, </a:t>
            </a:r>
            <a:r>
              <a:rPr lang="en-US" altLang="zh-TW" dirty="0"/>
              <a:t>·</a:t>
            </a:r>
            <a:r>
              <a:rPr lang="en-US" altLang="zh-TW" i="1" dirty="0"/>
              <a:t>, </a:t>
            </a:r>
            <a:r>
              <a:rPr lang="en-US" altLang="zh-TW" dirty="0"/>
              <a:t>·</a:t>
            </a:r>
            <a:r>
              <a:rPr lang="en-US" altLang="zh-TW" i="1" dirty="0"/>
              <a:t>, </a:t>
            </a:r>
            <a:r>
              <a:rPr lang="en-US" altLang="zh-TW" dirty="0"/>
              <a:t>·] is |</a:t>
            </a:r>
            <a:r>
              <a:rPr lang="en-US" altLang="zh-TW" i="1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 smtClean="0"/>
              <a:t>||</a:t>
            </a:r>
            <a:r>
              <a:rPr lang="en-US" altLang="zh-TW" i="1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 smtClean="0"/>
              <a:t>||</a:t>
            </a:r>
            <a:r>
              <a:rPr lang="en-US" altLang="zh-TW" i="1" dirty="0" err="1"/>
              <a:t>s</a:t>
            </a:r>
            <a:r>
              <a:rPr lang="en-US" altLang="zh-TW" i="1" baseline="-25000" dirty="0" err="1"/>
              <a:t>c</a:t>
            </a:r>
            <a:r>
              <a:rPr lang="en-US" altLang="zh-TW" i="1" dirty="0"/>
              <a:t> </a:t>
            </a:r>
            <a:r>
              <a:rPr lang="en-US" altLang="zh-TW" dirty="0" smtClean="0"/>
              <a:t>|2</a:t>
            </a:r>
            <a:r>
              <a:rPr lang="en-US" altLang="zh-TW" i="1" baseline="30000" dirty="0" smtClean="0"/>
              <a:t>k</a:t>
            </a:r>
            <a:r>
              <a:rPr lang="en-US" altLang="zh-TW" i="1" baseline="-25000" dirty="0" smtClean="0"/>
              <a:t>.</a:t>
            </a:r>
          </a:p>
          <a:p>
            <a:r>
              <a:rPr lang="en-US" altLang="zh-TW" i="1" dirty="0" smtClean="0"/>
              <a:t>In case 3 and case 4 require at most O(k).</a:t>
            </a:r>
          </a:p>
          <a:p>
            <a:pPr marL="0" indent="0">
              <a:buNone/>
            </a:pPr>
            <a:r>
              <a:rPr lang="en-US" altLang="zh-TW" i="1" dirty="0" smtClean="0"/>
              <a:t>=&gt; Time complexity = </a:t>
            </a:r>
            <a:r>
              <a:rPr lang="en-US" altLang="zh-TW" dirty="0" smtClean="0"/>
              <a:t>|</a:t>
            </a:r>
            <a:r>
              <a:rPr lang="en-US" altLang="zh-TW" i="1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||</a:t>
            </a:r>
            <a:r>
              <a:rPr lang="en-US" altLang="zh-TW" i="1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||</a:t>
            </a:r>
            <a:r>
              <a:rPr lang="en-US" altLang="zh-TW" i="1" dirty="0" err="1"/>
              <a:t>s</a:t>
            </a:r>
            <a:r>
              <a:rPr lang="en-US" altLang="zh-TW" i="1" baseline="-25000" dirty="0" err="1"/>
              <a:t>c</a:t>
            </a:r>
            <a:r>
              <a:rPr lang="en-US" altLang="zh-TW" i="1" dirty="0"/>
              <a:t> </a:t>
            </a:r>
            <a:r>
              <a:rPr lang="en-US" altLang="zh-TW" dirty="0"/>
              <a:t>|</a:t>
            </a:r>
            <a:r>
              <a:rPr lang="en-US" altLang="zh-TW" dirty="0" smtClean="0"/>
              <a:t>2</a:t>
            </a:r>
            <a:r>
              <a:rPr lang="en-US" altLang="zh-TW" i="1" baseline="30000" dirty="0" smtClean="0"/>
              <a:t>k </a:t>
            </a:r>
            <a:r>
              <a:rPr lang="en-US" altLang="zh-TW" i="1" dirty="0" smtClean="0"/>
              <a:t>O(k) 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467544" y="-31541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fixed-parameter algorithm(6/6)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90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Perfect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family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of hash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functions(1/4)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Given a set </a:t>
            </a:r>
            <a:r>
              <a:rPr lang="en-US" altLang="zh-TW" i="1" dirty="0" smtClean="0"/>
              <a:t>S</a:t>
            </a:r>
            <a:r>
              <a:rPr lang="en-US" altLang="zh-TW" dirty="0" smtClean="0"/>
              <a:t>, </a:t>
            </a:r>
            <a:r>
              <a:rPr lang="en-US" altLang="zh-TW" dirty="0"/>
              <a:t>a family </a:t>
            </a:r>
            <a:r>
              <a:rPr lang="en-US" altLang="zh-TW" i="1" dirty="0" smtClean="0"/>
              <a:t>F </a:t>
            </a:r>
            <a:r>
              <a:rPr lang="en-US" altLang="zh-TW" dirty="0" smtClean="0"/>
              <a:t>of </a:t>
            </a:r>
            <a:r>
              <a:rPr lang="en-US" altLang="zh-TW" dirty="0"/>
              <a:t>hash functions from </a:t>
            </a:r>
            <a:r>
              <a:rPr lang="en-US" altLang="zh-TW" i="1" dirty="0"/>
              <a:t>S </a:t>
            </a:r>
            <a:r>
              <a:rPr lang="en-US" altLang="zh-TW" dirty="0"/>
              <a:t>to {1</a:t>
            </a:r>
            <a:r>
              <a:rPr lang="en-US" altLang="zh-TW" i="1" dirty="0"/>
              <a:t>, </a:t>
            </a:r>
            <a:r>
              <a:rPr lang="en-US" altLang="zh-TW" dirty="0"/>
              <a:t>2</a:t>
            </a:r>
            <a:r>
              <a:rPr lang="en-US" altLang="zh-TW" i="1" dirty="0"/>
              <a:t>, . . . ,k</a:t>
            </a:r>
            <a:r>
              <a:rPr lang="en-US" altLang="zh-TW" dirty="0"/>
              <a:t>} is called </a:t>
            </a:r>
            <a:r>
              <a:rPr lang="en-US" altLang="zh-TW" i="1" dirty="0" smtClean="0"/>
              <a:t>perfect </a:t>
            </a:r>
            <a:r>
              <a:rPr lang="en-US" altLang="zh-TW" dirty="0" smtClean="0"/>
              <a:t>if</a:t>
            </a:r>
            <a:r>
              <a:rPr lang="en-US" altLang="zh-TW" dirty="0"/>
              <a:t>, for any </a:t>
            </a:r>
            <a:r>
              <a:rPr lang="en-US" altLang="zh-TW" i="1" dirty="0" smtClean="0"/>
              <a:t>S’</a:t>
            </a:r>
            <a:r>
              <a:rPr lang="en-US" altLang="zh-TW" dirty="0" smtClean="0"/>
              <a:t> </a:t>
            </a:r>
            <a:r>
              <a:rPr lang="en-US" altLang="zh-TW" dirty="0"/>
              <a:t>⊆ </a:t>
            </a:r>
            <a:r>
              <a:rPr lang="en-US" altLang="zh-TW" i="1" dirty="0"/>
              <a:t>S </a:t>
            </a:r>
            <a:r>
              <a:rPr lang="en-US" altLang="zh-TW" dirty="0"/>
              <a:t>of size </a:t>
            </a:r>
            <a:r>
              <a:rPr lang="en-US" altLang="zh-TW" i="1" dirty="0"/>
              <a:t>k</a:t>
            </a:r>
            <a:r>
              <a:rPr lang="en-US" altLang="zh-TW" dirty="0"/>
              <a:t>, there exists an injective </a:t>
            </a:r>
            <a:r>
              <a:rPr lang="en-US" altLang="zh-TW" dirty="0" smtClean="0"/>
              <a:t>hash function </a:t>
            </a:r>
            <a:r>
              <a:rPr lang="en-US" altLang="zh-TW" i="1" dirty="0"/>
              <a:t>f </a:t>
            </a:r>
            <a:r>
              <a:rPr lang="en-US" altLang="zh-TW" dirty="0"/>
              <a:t>∈ </a:t>
            </a:r>
            <a:r>
              <a:rPr lang="en-US" altLang="zh-TW" i="1" dirty="0"/>
              <a:t>F </a:t>
            </a:r>
            <a:r>
              <a:rPr lang="en-US" altLang="zh-TW" dirty="0"/>
              <a:t>from </a:t>
            </a:r>
            <a:r>
              <a:rPr lang="en-US" altLang="zh-TW" i="1" dirty="0" smtClean="0"/>
              <a:t>S’</a:t>
            </a:r>
            <a:r>
              <a:rPr lang="en-US" altLang="zh-TW" dirty="0" smtClean="0"/>
              <a:t> </a:t>
            </a:r>
            <a:r>
              <a:rPr lang="en-US" altLang="zh-TW" dirty="0"/>
              <a:t>to the set of labels {1</a:t>
            </a:r>
            <a:r>
              <a:rPr lang="en-US" altLang="zh-TW" i="1" dirty="0"/>
              <a:t>, </a:t>
            </a:r>
            <a:r>
              <a:rPr lang="en-US" altLang="zh-TW" dirty="0"/>
              <a:t>2</a:t>
            </a:r>
            <a:r>
              <a:rPr lang="en-US" altLang="zh-TW" i="1" dirty="0"/>
              <a:t>, . . . ,k</a:t>
            </a:r>
            <a:r>
              <a:rPr lang="en-US" altLang="zh-TW" dirty="0"/>
              <a:t>} </a:t>
            </a:r>
            <a:endParaRPr lang="en-US" altLang="zh-TW" dirty="0" smtClean="0"/>
          </a:p>
          <a:p>
            <a:r>
              <a:rPr lang="en-US" altLang="zh-TW" dirty="0"/>
              <a:t>For example:</a:t>
            </a:r>
          </a:p>
          <a:p>
            <a:pPr marL="0" indent="0">
              <a:buNone/>
            </a:pPr>
            <a:r>
              <a:rPr lang="en-US" altLang="zh-TW" dirty="0"/>
              <a:t>s1 = </a:t>
            </a:r>
            <a:r>
              <a:rPr lang="en-US" altLang="zh-TW" dirty="0" err="1"/>
              <a:t>aaaa</a:t>
            </a:r>
            <a:r>
              <a:rPr lang="en-US" altLang="zh-TW" dirty="0"/>
              <a:t> </a:t>
            </a:r>
            <a:r>
              <a:rPr lang="en-US" altLang="zh-TW" dirty="0" err="1"/>
              <a:t>bbbbb</a:t>
            </a:r>
            <a:r>
              <a:rPr lang="en-US" altLang="zh-TW" dirty="0"/>
              <a:t> </a:t>
            </a:r>
            <a:r>
              <a:rPr lang="en-US" altLang="zh-TW" dirty="0" err="1"/>
              <a:t>cccc</a:t>
            </a:r>
            <a:r>
              <a:rPr lang="en-US" altLang="zh-TW" dirty="0"/>
              <a:t> </a:t>
            </a:r>
            <a:r>
              <a:rPr lang="en-US" altLang="zh-TW" dirty="0" err="1"/>
              <a:t>dddd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s2 = </a:t>
            </a:r>
            <a:r>
              <a:rPr lang="en-US" altLang="zh-TW" dirty="0" err="1"/>
              <a:t>ddddd</a:t>
            </a:r>
            <a:r>
              <a:rPr lang="en-US" altLang="zh-TW" dirty="0"/>
              <a:t> ccc </a:t>
            </a:r>
            <a:r>
              <a:rPr lang="en-US" altLang="zh-TW" dirty="0" err="1"/>
              <a:t>bbbb</a:t>
            </a:r>
            <a:r>
              <a:rPr lang="en-US" altLang="zh-TW" dirty="0"/>
              <a:t> </a:t>
            </a:r>
            <a:r>
              <a:rPr lang="en-US" altLang="zh-TW" dirty="0" err="1"/>
              <a:t>aaaa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=&gt;Co(a) = Co(b) = 4, Co(c) =Co(d) = 3 </a:t>
            </a:r>
          </a:p>
          <a:p>
            <a:endParaRPr lang="en-US" altLang="zh-TW" dirty="0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792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Perfect family of hash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functions(2/4)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T</a:t>
            </a:r>
            <a:r>
              <a:rPr lang="en-US" altLang="zh-TW" dirty="0" smtClean="0"/>
              <a:t>hen </a:t>
            </a:r>
            <a:r>
              <a:rPr lang="en-US" altLang="zh-TW" dirty="0"/>
              <a:t>the set </a:t>
            </a:r>
            <a:r>
              <a:rPr lang="en-US" altLang="zh-TW" i="1" dirty="0" smtClean="0"/>
              <a:t>S(Σ’)</a:t>
            </a:r>
            <a:r>
              <a:rPr lang="en-US" altLang="zh-TW" dirty="0" smtClean="0"/>
              <a:t> </a:t>
            </a:r>
            <a:r>
              <a:rPr lang="en-US" altLang="zh-TW" dirty="0"/>
              <a:t>is equal to {(a, 1), (a, 2), (a, 3),</a:t>
            </a:r>
          </a:p>
          <a:p>
            <a:pPr marL="0" indent="0">
              <a:buNone/>
            </a:pPr>
            <a:r>
              <a:rPr lang="en-US" altLang="zh-TW" dirty="0"/>
              <a:t>(a, 4), (b, 1), (b, 2), (b, 3), (b, 4), (c, 1), (c, 2), (c, 3), (d, 1),(d, 2), (d, 3</a:t>
            </a:r>
            <a:r>
              <a:rPr lang="en-US" altLang="zh-TW" dirty="0" smtClean="0"/>
              <a:t>)}.</a:t>
            </a:r>
          </a:p>
          <a:p>
            <a:pPr marL="0" indent="0">
              <a:buNone/>
            </a:pPr>
            <a:r>
              <a:rPr lang="en-US" altLang="zh-TW" dirty="0"/>
              <a:t>	 </a:t>
            </a:r>
            <a:r>
              <a:rPr lang="en-US" altLang="zh-TW" dirty="0" smtClean="0"/>
              <a:t>     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15</a:t>
            </a:fld>
            <a:endParaRPr lang="zh-TW" altLang="en-US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55986"/>
              </p:ext>
            </p:extLst>
          </p:nvPr>
        </p:nvGraphicFramePr>
        <p:xfrm>
          <a:off x="1331640" y="3645024"/>
          <a:ext cx="67173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73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(a,1)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(a,2)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.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.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.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(d,3)</a:t>
                      </a:r>
                      <a:endParaRPr lang="zh-TW" altLang="en-US" dirty="0" smtClean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45681"/>
              </p:ext>
            </p:extLst>
          </p:nvPr>
        </p:nvGraphicFramePr>
        <p:xfrm>
          <a:off x="6444208" y="3717032"/>
          <a:ext cx="67173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73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K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.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.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k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8" name="直線接點 17"/>
          <p:cNvCxnSpPr>
            <a:stCxn id="14" idx="3"/>
          </p:cNvCxnSpPr>
          <p:nvPr/>
        </p:nvCxnSpPr>
        <p:spPr>
          <a:xfrm flipV="1">
            <a:off x="2003376" y="4221089"/>
            <a:ext cx="4440832" cy="7218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/>
          <p:nvPr/>
        </p:nvCxnSpPr>
        <p:spPr>
          <a:xfrm flipV="1">
            <a:off x="1979712" y="4972076"/>
            <a:ext cx="4464496" cy="10492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/>
          <p:nvPr/>
        </p:nvCxnSpPr>
        <p:spPr>
          <a:xfrm>
            <a:off x="1979712" y="5316662"/>
            <a:ext cx="4464496" cy="3445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/>
          <p:nvPr/>
        </p:nvCxnSpPr>
        <p:spPr>
          <a:xfrm flipV="1">
            <a:off x="2003376" y="4221088"/>
            <a:ext cx="4440832" cy="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直線接點 36"/>
          <p:cNvCxnSpPr/>
          <p:nvPr/>
        </p:nvCxnSpPr>
        <p:spPr>
          <a:xfrm flipV="1">
            <a:off x="2003376" y="4582026"/>
            <a:ext cx="4440832" cy="1079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/>
          <p:nvPr/>
        </p:nvCxnSpPr>
        <p:spPr>
          <a:xfrm>
            <a:off x="2003376" y="4582026"/>
            <a:ext cx="4440832" cy="7346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3491880" y="3454114"/>
            <a:ext cx="1440160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f</a:t>
            </a:r>
            <a:r>
              <a:rPr lang="en-US" altLang="zh-TW" baseline="-25000" dirty="0" smtClean="0"/>
              <a:t>i</a:t>
            </a:r>
            <a:r>
              <a:rPr lang="en-US" altLang="zh-TW" dirty="0"/>
              <a:t> ∈ </a:t>
            </a:r>
            <a:r>
              <a:rPr lang="en-US" altLang="zh-TW" i="1" dirty="0"/>
              <a:t>F</a:t>
            </a:r>
            <a:endParaRPr lang="zh-TW" altLang="en-US" dirty="0"/>
          </a:p>
        </p:txBody>
      </p:sp>
      <p:cxnSp>
        <p:nvCxnSpPr>
          <p:cNvPr id="44" name="直線接點 43"/>
          <p:cNvCxnSpPr/>
          <p:nvPr/>
        </p:nvCxnSpPr>
        <p:spPr>
          <a:xfrm flipV="1">
            <a:off x="3131840" y="4005064"/>
            <a:ext cx="360040" cy="36842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222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Perfect family of hash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functions(3/3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</a:t>
            </a:r>
            <a:r>
              <a:rPr lang="en-US" altLang="zh-TW" dirty="0"/>
              <a:t>= </a:t>
            </a:r>
            <a:r>
              <a:rPr lang="en-US" altLang="zh-TW" dirty="0" smtClean="0"/>
              <a:t>a b c b a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</a:t>
            </a:r>
            <a:r>
              <a:rPr lang="en-US" altLang="zh-TW" dirty="0"/>
              <a:t>= </a:t>
            </a:r>
            <a:r>
              <a:rPr lang="en-US" altLang="zh-TW" dirty="0" smtClean="0"/>
              <a:t>a c b a</a:t>
            </a:r>
          </a:p>
          <a:p>
            <a:pPr marL="0" indent="0">
              <a:buNone/>
            </a:pPr>
            <a:r>
              <a:rPr lang="en-US" altLang="zh-TW" dirty="0" err="1" smtClean="0"/>
              <a:t>S</a:t>
            </a:r>
            <a:r>
              <a:rPr lang="en-US" altLang="zh-TW" baseline="-25000" dirty="0" err="1" smtClean="0"/>
              <a:t>c</a:t>
            </a:r>
            <a:r>
              <a:rPr lang="en-US" altLang="zh-TW" dirty="0" smtClean="0"/>
              <a:t>= b a</a:t>
            </a:r>
          </a:p>
          <a:p>
            <a:pPr marL="0" indent="0">
              <a:buNone/>
            </a:pPr>
            <a:r>
              <a:rPr lang="en-US" altLang="zh-TW" dirty="0"/>
              <a:t>=&gt;Co(a) = </a:t>
            </a:r>
            <a:r>
              <a:rPr lang="en-US" altLang="zh-TW" dirty="0" smtClean="0"/>
              <a:t>2, Co(b) </a:t>
            </a:r>
            <a:r>
              <a:rPr lang="en-US" altLang="zh-TW" dirty="0"/>
              <a:t>=</a:t>
            </a:r>
            <a:r>
              <a:rPr lang="en-US" altLang="zh-TW" dirty="0" smtClean="0"/>
              <a:t>Co(c) </a:t>
            </a:r>
            <a:r>
              <a:rPr lang="en-US" altLang="zh-TW" dirty="0"/>
              <a:t>= </a:t>
            </a:r>
            <a:r>
              <a:rPr lang="en-US" altLang="zh-TW" dirty="0" smtClean="0"/>
              <a:t>1 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if k=3:		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f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(a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)=1	or 	</a:t>
            </a:r>
            <a:r>
              <a:rPr lang="en-US" altLang="zh-TW" dirty="0" smtClean="0">
                <a:solidFill>
                  <a:srgbClr val="FF0000"/>
                </a:solidFill>
              </a:rPr>
              <a:t>f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i+1</a:t>
            </a:r>
            <a:r>
              <a:rPr lang="en-US" altLang="zh-TW" dirty="0" smtClean="0">
                <a:solidFill>
                  <a:srgbClr val="FF0000"/>
                </a:solidFill>
              </a:rPr>
              <a:t>(a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2</a:t>
            </a:r>
            <a:r>
              <a:rPr lang="en-US" altLang="zh-TW" dirty="0" smtClean="0">
                <a:solidFill>
                  <a:srgbClr val="FF0000"/>
                </a:solidFill>
              </a:rPr>
              <a:t>)=1     </a:t>
            </a:r>
            <a:r>
              <a:rPr lang="en-US" altLang="zh-TW" dirty="0" smtClean="0"/>
              <a:t>or     	f</a:t>
            </a:r>
            <a:r>
              <a:rPr lang="en-US" altLang="zh-TW" baseline="-25000" dirty="0" smtClean="0"/>
              <a:t>i+2</a:t>
            </a:r>
            <a:r>
              <a:rPr lang="en-US" altLang="zh-TW" dirty="0" smtClean="0"/>
              <a:t>(b)= 1  </a:t>
            </a:r>
          </a:p>
          <a:p>
            <a:pPr marL="0" indent="0">
              <a:buNone/>
            </a:pPr>
            <a:r>
              <a:rPr lang="en-US" altLang="zh-TW" dirty="0" smtClean="0"/>
              <a:t>f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(b</a:t>
            </a:r>
            <a:r>
              <a:rPr lang="en-US" altLang="zh-TW" dirty="0" smtClean="0"/>
              <a:t>)=</a:t>
            </a:r>
            <a:r>
              <a:rPr lang="en-US" altLang="zh-TW" dirty="0" smtClean="0"/>
              <a:t>2</a:t>
            </a:r>
            <a:r>
              <a:rPr lang="en-US" altLang="zh-TW" dirty="0" smtClean="0"/>
              <a:t>	</a:t>
            </a:r>
            <a:r>
              <a:rPr lang="en-US" altLang="zh-TW" dirty="0" smtClean="0"/>
              <a:t>	</a:t>
            </a:r>
            <a:r>
              <a:rPr lang="en-US" altLang="zh-TW" dirty="0" smtClean="0">
                <a:solidFill>
                  <a:srgbClr val="FF0000"/>
                </a:solidFill>
              </a:rPr>
              <a:t>f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i+1</a:t>
            </a:r>
            <a:r>
              <a:rPr lang="en-US" altLang="zh-TW" dirty="0" smtClean="0">
                <a:solidFill>
                  <a:srgbClr val="FF0000"/>
                </a:solidFill>
              </a:rPr>
              <a:t>(b</a:t>
            </a:r>
            <a:r>
              <a:rPr lang="en-US" altLang="zh-TW" dirty="0" smtClean="0">
                <a:solidFill>
                  <a:srgbClr val="FF0000"/>
                </a:solidFill>
              </a:rPr>
              <a:t>)=</a:t>
            </a:r>
            <a:r>
              <a:rPr lang="en-US" altLang="zh-TW" dirty="0" smtClean="0">
                <a:solidFill>
                  <a:srgbClr val="FF0000"/>
                </a:solidFill>
              </a:rPr>
              <a:t>2</a:t>
            </a:r>
            <a:r>
              <a:rPr lang="en-US" altLang="zh-TW" dirty="0"/>
              <a:t>	</a:t>
            </a:r>
            <a:r>
              <a:rPr lang="en-US" altLang="zh-TW" dirty="0" smtClean="0"/>
              <a:t>	 </a:t>
            </a:r>
            <a:r>
              <a:rPr lang="en-US" altLang="zh-TW" dirty="0" smtClean="0"/>
              <a:t>f</a:t>
            </a:r>
            <a:r>
              <a:rPr lang="en-US" altLang="zh-TW" baseline="-25000" dirty="0" smtClean="0"/>
              <a:t>i+2</a:t>
            </a:r>
            <a:r>
              <a:rPr lang="en-US" altLang="zh-TW" dirty="0" smtClean="0"/>
              <a:t>(a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)= </a:t>
            </a:r>
            <a:r>
              <a:rPr lang="en-US" altLang="zh-TW" dirty="0" smtClean="0"/>
              <a:t>2 …..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f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(c)=</a:t>
            </a:r>
            <a:r>
              <a:rPr lang="en-US" altLang="zh-TW" dirty="0" smtClean="0"/>
              <a:t>3	</a:t>
            </a:r>
            <a:r>
              <a:rPr lang="en-US" altLang="zh-TW" dirty="0"/>
              <a:t>	</a:t>
            </a:r>
            <a:r>
              <a:rPr lang="en-US" altLang="zh-TW" dirty="0" smtClean="0">
                <a:solidFill>
                  <a:srgbClr val="FF0000"/>
                </a:solidFill>
              </a:rPr>
              <a:t>f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i+1</a:t>
            </a:r>
            <a:r>
              <a:rPr lang="en-US" altLang="zh-TW" dirty="0" smtClean="0">
                <a:solidFill>
                  <a:srgbClr val="FF0000"/>
                </a:solidFill>
              </a:rPr>
              <a:t>(c)=3</a:t>
            </a:r>
            <a:r>
              <a:rPr lang="en-US" altLang="zh-TW" dirty="0" smtClean="0"/>
              <a:t>		</a:t>
            </a:r>
            <a:r>
              <a:rPr lang="en-US" altLang="zh-TW" dirty="0"/>
              <a:t> </a:t>
            </a:r>
            <a:r>
              <a:rPr lang="en-US" altLang="zh-TW" dirty="0" smtClean="0"/>
              <a:t>f</a:t>
            </a:r>
            <a:r>
              <a:rPr lang="en-US" altLang="zh-TW" baseline="-25000" dirty="0" smtClean="0"/>
              <a:t>i+2</a:t>
            </a:r>
            <a:r>
              <a:rPr lang="en-US" altLang="zh-TW" dirty="0" smtClean="0"/>
              <a:t>(a</a:t>
            </a:r>
            <a:r>
              <a:rPr lang="en-US" altLang="zh-TW" baseline="-25000" dirty="0"/>
              <a:t>2</a:t>
            </a:r>
            <a:r>
              <a:rPr lang="en-US" altLang="zh-TW" dirty="0" smtClean="0"/>
              <a:t>)= 3 </a:t>
            </a:r>
            <a:endParaRPr lang="en-US" altLang="zh-TW" dirty="0"/>
          </a:p>
          <a:p>
            <a:pPr marL="0" indent="0">
              <a:buNone/>
            </a:pPr>
            <a:endParaRPr lang="en-US" altLang="zh-TW" baseline="-25000" dirty="0"/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502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Perfect family of hash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functions(4/4)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By computing the recurrence </a:t>
            </a:r>
            <a:r>
              <a:rPr lang="en-US" altLang="zh-TW" dirty="0" smtClean="0"/>
              <a:t>for </a:t>
            </a:r>
            <a:r>
              <a:rPr lang="en-US" altLang="zh-TW" dirty="0"/>
              <a:t>all hash functions in </a:t>
            </a:r>
            <a:r>
              <a:rPr lang="en-US" altLang="zh-TW" i="1" dirty="0"/>
              <a:t>F </a:t>
            </a:r>
            <a:r>
              <a:rPr lang="en-US" altLang="zh-TW" dirty="0"/>
              <a:t>, we are certain to </a:t>
            </a:r>
            <a:r>
              <a:rPr lang="en-US" altLang="zh-TW" dirty="0" smtClean="0"/>
              <a:t>find a </a:t>
            </a:r>
            <a:r>
              <a:rPr lang="en-US" altLang="zh-TW" dirty="0"/>
              <a:t>solution of length </a:t>
            </a:r>
            <a:r>
              <a:rPr lang="en-US" altLang="zh-TW" i="1" dirty="0"/>
              <a:t>k</a:t>
            </a:r>
            <a:r>
              <a:rPr lang="en-US" altLang="zh-TW" dirty="0"/>
              <a:t>, if such a solution exists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There exists a perfect family of </a:t>
            </a:r>
            <a:r>
              <a:rPr lang="en-US" altLang="zh-TW" dirty="0" smtClean="0"/>
              <a:t>hash functions </a:t>
            </a:r>
            <a:r>
              <a:rPr lang="en-US" altLang="zh-TW" dirty="0"/>
              <a:t>of size </a:t>
            </a:r>
            <a:r>
              <a:rPr lang="en-US" altLang="zh-TW" i="1" dirty="0"/>
              <a:t>O(</a:t>
            </a:r>
            <a:r>
              <a:rPr lang="en-US" altLang="zh-TW" dirty="0"/>
              <a:t>log |</a:t>
            </a:r>
            <a:r>
              <a:rPr lang="en-US" altLang="zh-TW" i="1" dirty="0" smtClean="0"/>
              <a:t>Σ’</a:t>
            </a:r>
            <a:r>
              <a:rPr lang="en-US" altLang="zh-TW" dirty="0" smtClean="0"/>
              <a:t>|</a:t>
            </a:r>
            <a:r>
              <a:rPr lang="en-US" altLang="zh-TW" i="1" dirty="0" smtClean="0"/>
              <a:t>)</a:t>
            </a:r>
            <a:r>
              <a:rPr lang="en-US" altLang="zh-TW" dirty="0"/>
              <a:t>2</a:t>
            </a:r>
            <a:r>
              <a:rPr lang="en-US" altLang="zh-TW" i="1" baseline="30000" dirty="0"/>
              <a:t>O(k) </a:t>
            </a:r>
            <a:r>
              <a:rPr lang="en-US" altLang="zh-TW" dirty="0"/>
              <a:t>that can be computed in</a:t>
            </a:r>
          </a:p>
          <a:p>
            <a:pPr marL="0" indent="0">
              <a:buNone/>
            </a:pPr>
            <a:r>
              <a:rPr lang="pt-BR" altLang="zh-TW" i="1" dirty="0" smtClean="0"/>
              <a:t>    O</a:t>
            </a:r>
            <a:r>
              <a:rPr lang="pt-BR" altLang="zh-TW" i="1" dirty="0"/>
              <a:t>(</a:t>
            </a:r>
            <a:r>
              <a:rPr lang="pt-BR" altLang="zh-TW" dirty="0"/>
              <a:t>|</a:t>
            </a:r>
            <a:r>
              <a:rPr lang="pt-BR" altLang="zh-TW" i="1" dirty="0" smtClean="0"/>
              <a:t>Σ’</a:t>
            </a:r>
            <a:r>
              <a:rPr lang="pt-BR" altLang="zh-TW" dirty="0" smtClean="0"/>
              <a:t>| </a:t>
            </a:r>
            <a:r>
              <a:rPr lang="pt-BR" altLang="zh-TW" dirty="0"/>
              <a:t>log |</a:t>
            </a:r>
            <a:r>
              <a:rPr lang="pt-BR" altLang="zh-TW" i="1" dirty="0" smtClean="0"/>
              <a:t>Σ’</a:t>
            </a:r>
            <a:r>
              <a:rPr lang="pt-BR" altLang="zh-TW" dirty="0" smtClean="0"/>
              <a:t>|</a:t>
            </a:r>
            <a:r>
              <a:rPr lang="pt-BR" altLang="zh-TW" i="1" dirty="0" smtClean="0"/>
              <a:t>)</a:t>
            </a:r>
            <a:r>
              <a:rPr lang="pt-BR" altLang="zh-TW" dirty="0"/>
              <a:t>2</a:t>
            </a:r>
            <a:r>
              <a:rPr lang="pt-BR" altLang="zh-TW" i="1" baseline="30000" dirty="0"/>
              <a:t>O(k) </a:t>
            </a:r>
            <a:r>
              <a:rPr lang="pt-BR" altLang="zh-TW" dirty="0" smtClean="0"/>
              <a:t>time.</a:t>
            </a:r>
            <a:endParaRPr lang="en-US" altLang="zh-TW" dirty="0"/>
          </a:p>
          <a:p>
            <a:r>
              <a:rPr lang="en-US" altLang="zh-TW" dirty="0"/>
              <a:t>the algorithm has an overall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i="1" dirty="0" smtClean="0"/>
              <a:t>O</a:t>
            </a:r>
            <a:r>
              <a:rPr lang="en-US" altLang="zh-TW" i="1" dirty="0"/>
              <a:t>(</a:t>
            </a:r>
            <a:r>
              <a:rPr lang="en-US" altLang="zh-TW" dirty="0"/>
              <a:t>|</a:t>
            </a:r>
            <a:r>
              <a:rPr lang="en-US" altLang="zh-TW" i="1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| log |</a:t>
            </a:r>
            <a:r>
              <a:rPr lang="en-US" altLang="zh-TW" i="1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|</a:t>
            </a:r>
            <a:r>
              <a:rPr lang="en-US" altLang="zh-TW" i="1" dirty="0"/>
              <a:t>)</a:t>
            </a:r>
            <a:r>
              <a:rPr lang="en-US" altLang="zh-TW" dirty="0"/>
              <a:t>2</a:t>
            </a:r>
            <a:r>
              <a:rPr lang="en-US" altLang="zh-TW" i="1" baseline="30000" dirty="0"/>
              <a:t>O(k) </a:t>
            </a:r>
            <a:r>
              <a:rPr lang="en-US" altLang="zh-TW" dirty="0" smtClean="0"/>
              <a:t>+</a:t>
            </a:r>
            <a:r>
              <a:rPr lang="en-US" altLang="zh-TW" i="1" dirty="0" smtClean="0"/>
              <a:t>O</a:t>
            </a:r>
            <a:r>
              <a:rPr lang="en-US" altLang="zh-TW" i="1" dirty="0"/>
              <a:t>(</a:t>
            </a:r>
            <a:r>
              <a:rPr lang="en-US" altLang="zh-TW" dirty="0"/>
              <a:t>|</a:t>
            </a:r>
            <a:r>
              <a:rPr lang="en-US" altLang="zh-TW" i="1" dirty="0"/>
              <a:t>s</a:t>
            </a:r>
            <a:r>
              <a:rPr lang="en-US" altLang="zh-TW" baseline="-25000" dirty="0"/>
              <a:t>1</a:t>
            </a:r>
            <a:r>
              <a:rPr lang="en-US" altLang="zh-TW" dirty="0"/>
              <a:t>||</a:t>
            </a:r>
            <a:r>
              <a:rPr lang="en-US" altLang="zh-TW" i="1" dirty="0"/>
              <a:t>s</a:t>
            </a:r>
            <a:r>
              <a:rPr lang="en-US" altLang="zh-TW" baseline="-25000" dirty="0"/>
              <a:t>2</a:t>
            </a:r>
            <a:r>
              <a:rPr lang="en-US" altLang="zh-TW" dirty="0"/>
              <a:t>||</a:t>
            </a:r>
            <a:r>
              <a:rPr lang="en-US" altLang="zh-TW" i="1" dirty="0" err="1"/>
              <a:t>s</a:t>
            </a:r>
            <a:r>
              <a:rPr lang="en-US" altLang="zh-TW" i="1" baseline="-25000" dirty="0" err="1"/>
              <a:t>c</a:t>
            </a:r>
            <a:r>
              <a:rPr lang="en-US" altLang="zh-TW" i="1" dirty="0"/>
              <a:t> </a:t>
            </a:r>
            <a:r>
              <a:rPr lang="en-US" altLang="zh-TW" dirty="0"/>
              <a:t>|2</a:t>
            </a:r>
            <a:r>
              <a:rPr lang="en-US" altLang="zh-TW" i="1" baseline="30000" dirty="0"/>
              <a:t>O(k) </a:t>
            </a:r>
            <a:r>
              <a:rPr lang="en-US" altLang="zh-TW" dirty="0"/>
              <a:t>log |</a:t>
            </a:r>
            <a:r>
              <a:rPr lang="el-GR" altLang="zh-TW" i="1" dirty="0" smtClean="0"/>
              <a:t>Σ</a:t>
            </a:r>
            <a:r>
              <a:rPr lang="en-US" altLang="zh-TW" i="1" dirty="0" smtClean="0"/>
              <a:t>’</a:t>
            </a:r>
            <a:r>
              <a:rPr lang="el-GR" altLang="zh-TW" dirty="0" smtClean="0"/>
              <a:t>|</a:t>
            </a:r>
            <a:r>
              <a:rPr lang="el-GR" altLang="zh-TW" i="1" dirty="0" smtClean="0"/>
              <a:t>) </a:t>
            </a:r>
            <a:r>
              <a:rPr lang="en-US" altLang="zh-TW" dirty="0"/>
              <a:t>time complexity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7498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altLang="zh-TW" sz="5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altLang="zh-TW" sz="5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altLang="zh-TW" sz="5000" dirty="0" smtClean="0">
                <a:latin typeface="Times New Roman" pitchFamily="18" charset="0"/>
                <a:cs typeface="Times New Roman" pitchFamily="18" charset="0"/>
              </a:rPr>
              <a:t>Thanks for listening.</a:t>
            </a:r>
          </a:p>
          <a:p>
            <a:pPr marL="0" indent="0" algn="ctr">
              <a:buNone/>
            </a:pP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44230-494A-4530-ADFF-8BF2045BD568}" type="datetime1">
              <a:rPr lang="zh-TW" altLang="en-US" smtClean="0"/>
              <a:t>2015/5/5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235D6-932B-4288-B5B5-909349305365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389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</TotalTime>
  <Words>1640</Words>
  <Application>Microsoft Office PowerPoint</Application>
  <PresentationFormat>如螢幕大小 (4:3)</PresentationFormat>
  <Paragraphs>738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3" baseType="lpstr">
      <vt:lpstr>新細明體</vt:lpstr>
      <vt:lpstr>Arial</vt:lpstr>
      <vt:lpstr>Calibri</vt:lpstr>
      <vt:lpstr>Times New Roman</vt:lpstr>
      <vt:lpstr>Office 佈景主題</vt:lpstr>
      <vt:lpstr> Variants of constrained longest common subsequence</vt:lpstr>
      <vt:lpstr>Abstract(1/2)</vt:lpstr>
      <vt:lpstr>Abstract(2/2)</vt:lpstr>
      <vt:lpstr>CLCS</vt:lpstr>
      <vt:lpstr>RF-LCS</vt:lpstr>
      <vt:lpstr>DC-LCS(1/2)</vt:lpstr>
      <vt:lpstr>DC-LCS(2/2)</vt:lpstr>
      <vt:lpstr>A fixed-parameter algorithm  for DC-LCS(1/6)</vt:lpstr>
      <vt:lpstr>A fixed-parameter algorithm(2/6)</vt:lpstr>
      <vt:lpstr>A fixed-parameter algorithm(3/6)</vt:lpstr>
      <vt:lpstr>A fixed-parameter algorithm(4/6)</vt:lpstr>
      <vt:lpstr>A fixed-parameter algorithm(5/5)</vt:lpstr>
      <vt:lpstr>PowerPoint 簡報</vt:lpstr>
      <vt:lpstr>Perfect family of hash functions(1/4)</vt:lpstr>
      <vt:lpstr>Perfect family of hash functions(2/4)</vt:lpstr>
      <vt:lpstr>Perfect family of hash functions(3/3)</vt:lpstr>
      <vt:lpstr>Perfect family of hash functions(4/4)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Variants of constrained longest common subsequence</dc:title>
  <dc:creator>Leo</dc:creator>
  <cp:lastModifiedBy>LinXLL</cp:lastModifiedBy>
  <cp:revision>33</cp:revision>
  <dcterms:created xsi:type="dcterms:W3CDTF">2015-05-03T19:12:17Z</dcterms:created>
  <dcterms:modified xsi:type="dcterms:W3CDTF">2015-05-05T09:55:15Z</dcterms:modified>
</cp:coreProperties>
</file>