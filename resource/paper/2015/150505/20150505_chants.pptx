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84" r:id="rId4"/>
    <p:sldId id="258" r:id="rId5"/>
    <p:sldId id="259" r:id="rId6"/>
    <p:sldId id="260" r:id="rId7"/>
    <p:sldId id="292" r:id="rId8"/>
    <p:sldId id="261" r:id="rId9"/>
    <p:sldId id="285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6" r:id="rId24"/>
    <p:sldId id="275" r:id="rId25"/>
    <p:sldId id="276" r:id="rId26"/>
    <p:sldId id="277" r:id="rId27"/>
    <p:sldId id="278" r:id="rId28"/>
    <p:sldId id="279" r:id="rId29"/>
    <p:sldId id="287" r:id="rId30"/>
    <p:sldId id="280" r:id="rId31"/>
    <p:sldId id="281" r:id="rId32"/>
    <p:sldId id="288" r:id="rId33"/>
    <p:sldId id="289" r:id="rId34"/>
    <p:sldId id="290" r:id="rId35"/>
    <p:sldId id="282" r:id="rId36"/>
    <p:sldId id="291" r:id="rId37"/>
    <p:sldId id="283" r:id="rId3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2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19.wmf"/><Relationship Id="rId5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19.wmf"/><Relationship Id="rId5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604C2-C6E6-4010-BAFF-6046F825F3E9}" type="datetimeFigureOut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1C777-0621-4348-848D-C40529ABCC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1C777-0621-4348-848D-C40529ABCCEB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1C777-0621-4348-848D-C40529ABCCEB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1B8F-C75D-4998-BB0F-BC0FAF0821C3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5108-E863-4CB8-B968-29BCA0F9EA41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8657-2009-4010-9E11-C2A458DD6B46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D444-6265-4E0C-9F95-9BFC1764E94B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79FF-5995-4524-A4D0-2DF58E688ACD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B62D-8965-44FD-AA98-425549E85688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CC11-336C-4772-B0DC-8F39ECEB41E1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CFC3F-BA15-4277-9A1A-796847276D2C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603E5-1F9B-45B3-9FD1-5D7013C608A1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CDBE-FA17-4534-966C-D80616A6EFF9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A50B-E483-470C-9E57-1FBFD3828380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7246F-FCF4-4E37-9238-6531B719005F}" type="datetime1">
              <a:rPr lang="zh-TW" altLang="en-US" smtClean="0"/>
              <a:pPr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31.bin"/><Relationship Id="rId4" Type="http://schemas.openxmlformats.org/officeDocument/2006/relationships/oleObject" Target="../embeddings/oleObject3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34.bin"/><Relationship Id="rId4" Type="http://schemas.openxmlformats.org/officeDocument/2006/relationships/oleObject" Target="../embeddings/oleObject3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36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New Efficient Algorithms for LCS and Constrained LCS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Costas S. Iliopoulos and </a:t>
            </a:r>
          </a:p>
          <a:p>
            <a:r>
              <a:rPr lang="en-US" altLang="zh-TW" dirty="0" smtClean="0"/>
              <a:t>M. </a:t>
            </a:r>
            <a:r>
              <a:rPr lang="en-US" altLang="zh-TW" dirty="0" err="1" smtClean="0"/>
              <a:t>Sohel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Rahman</a:t>
            </a:r>
            <a:endParaRPr lang="en-US" altLang="zh-TW" dirty="0" smtClean="0"/>
          </a:p>
          <a:p>
            <a:r>
              <a:rPr lang="en-US" altLang="zh-TW" dirty="0" smtClean="0"/>
              <a:t>Information Processing Letters 106 (2008) 13–18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6357950" y="5500702"/>
            <a:ext cx="25863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latin typeface="Calibri" pitchFamily="34" charset="0"/>
              </a:rPr>
              <a:t>Presenter:</a:t>
            </a:r>
            <a:r>
              <a:rPr lang="en-US" dirty="0" err="1" smtClean="0"/>
              <a:t>De-Sheng</a:t>
            </a:r>
            <a:r>
              <a:rPr lang="en-US" dirty="0" smtClean="0"/>
              <a:t> </a:t>
            </a:r>
            <a:r>
              <a:rPr lang="en-US" dirty="0" smtClean="0"/>
              <a:t>C</a:t>
            </a:r>
            <a:r>
              <a:rPr lang="en-US" dirty="0" smtClean="0"/>
              <a:t>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</a:t>
            </a:r>
            <a:r>
              <a:rPr lang="en-US" altLang="zh-TW" dirty="0" smtClean="0">
                <a:latin typeface="Calibri" pitchFamily="34" charset="0"/>
              </a:rPr>
              <a:t>2015/05/05</a:t>
            </a:r>
            <a:endParaRPr lang="zh-TW" altLang="en-US" dirty="0" smtClean="0">
              <a:latin typeface="Calibri" pitchFamily="34" charset="0"/>
            </a:endParaRP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TW" dirty="0" smtClean="0"/>
              <a:t>	In this paper, we study the classic and well-studied longest common subsequence (LCS) problem and a recent variant of it, namely the constrained LCS (CLCS) problem. In the CLCS problem, the computed LCS must also be a </a:t>
            </a:r>
            <a:r>
              <a:rPr lang="en-US" altLang="zh-TW" dirty="0" err="1" smtClean="0"/>
              <a:t>supersequence</a:t>
            </a:r>
            <a:r>
              <a:rPr lang="en-US" altLang="zh-TW" dirty="0" smtClean="0"/>
              <a:t> of a third given string. In this paper, we first present an efficient algorithm for the traditional LCS problem that runs in O(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err="1" smtClean="0"/>
              <a:t>loglog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/>
              <a:t> +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n</a:t>
            </a:r>
            <a:r>
              <a:rPr lang="en-US" altLang="zh-TW" dirty="0" smtClean="0"/>
              <a:t>) time, where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smtClean="0"/>
              <a:t> is the total number of ordered pairs of positions at which the two strings match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/>
              <a:t> is the length of the two given strings. Then, using this algorithm, we devise an algorithm for the CLCS problem having time complexity O(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altLang="zh-TW" dirty="0" err="1" smtClean="0"/>
              <a:t>loglog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/>
              <a:t>+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/>
              <a:t>) in the worst case, where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/>
              <a:t> is the length of the third string.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CCA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CCAA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G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LCS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dirty="0" smtClean="0"/>
              <a:t>,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Y</a:t>
            </a:r>
            <a:r>
              <a:rPr lang="en-US" altLang="zh-TW" dirty="0" smtClean="0"/>
              <a:t>)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CCAA, whose length is 4.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203848" y="1969676"/>
            <a:ext cx="26260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|X| = |Y| = n = 6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LCS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916832"/>
            <a:ext cx="553399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179512" y="6093296"/>
            <a:ext cx="6159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M.S. </a:t>
            </a:r>
            <a:r>
              <a:rPr lang="en-US" altLang="zh-TW" dirty="0" err="1" smtClean="0"/>
              <a:t>Rahman</a:t>
            </a:r>
            <a:r>
              <a:rPr lang="en-US" altLang="zh-TW" dirty="0" smtClean="0"/>
              <a:t>, C.S. Iliopoulos, Algorithms for computing variants</a:t>
            </a:r>
          </a:p>
          <a:p>
            <a:r>
              <a:rPr lang="en-US" altLang="zh-TW" dirty="0" smtClean="0"/>
              <a:t>of the longest common subsequence problem.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27584" y="494116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3600" dirty="0" smtClean="0"/>
              <a:t>(</a:t>
            </a:r>
            <a:r>
              <a:rPr lang="en-US" altLang="zh-TW" sz="36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600" baseline="30000" dirty="0" smtClean="0"/>
              <a:t>2</a:t>
            </a:r>
            <a:r>
              <a:rPr lang="en-US" altLang="zh-TW" sz="3600" dirty="0" smtClean="0"/>
              <a:t>)</a:t>
            </a:r>
            <a:endParaRPr lang="zh-TW" altLang="en-US" sz="36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4149080"/>
            <a:ext cx="381444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線單箭頭接點 8"/>
          <p:cNvCxnSpPr/>
          <p:nvPr/>
        </p:nvCxnSpPr>
        <p:spPr>
          <a:xfrm>
            <a:off x="107504" y="5229200"/>
            <a:ext cx="720080" cy="14809"/>
          </a:xfrm>
          <a:prstGeom prst="straightConnector1">
            <a:avLst/>
          </a:prstGeom>
          <a:ln w="73025" cmpd="dbl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724128" y="1844824"/>
          <a:ext cx="338437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047"/>
                <a:gridCol w="423047"/>
                <a:gridCol w="423047"/>
                <a:gridCol w="423047"/>
                <a:gridCol w="423047"/>
                <a:gridCol w="423047"/>
                <a:gridCol w="423047"/>
                <a:gridCol w="423047"/>
              </a:tblGrid>
              <a:tr h="383762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3762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3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TCCACA</a:t>
            </a: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ACCAAG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924944"/>
            <a:ext cx="6210097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539552" y="3717032"/>
            <a:ext cx="23310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[A] = {4, 6}</a:t>
            </a:r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[C] = {2, 3, 5}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[G] = {}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[T] = {1}</a:t>
            </a:r>
            <a:endParaRPr lang="zh-TW" altLang="en-US" sz="2800" dirty="0" smtClean="0"/>
          </a:p>
        </p:txBody>
      </p:sp>
      <p:sp>
        <p:nvSpPr>
          <p:cNvPr id="9" name="文字方塊 8"/>
          <p:cNvSpPr txBox="1"/>
          <p:nvPr/>
        </p:nvSpPr>
        <p:spPr>
          <a:xfrm>
            <a:off x="3203848" y="3717032"/>
            <a:ext cx="23310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[A] = {1, 4, 5}</a:t>
            </a:r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[C] = {2, 3}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[G] = {6}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[T] = {}</a:t>
            </a:r>
            <a:endParaRPr lang="zh-TW" altLang="en-US" sz="2800" dirty="0" smtClean="0"/>
          </a:p>
        </p:txBody>
      </p:sp>
      <p:sp>
        <p:nvSpPr>
          <p:cNvPr id="8" name="文字方塊 7"/>
          <p:cNvSpPr txBox="1"/>
          <p:nvPr/>
        </p:nvSpPr>
        <p:spPr>
          <a:xfrm>
            <a:off x="6156176" y="5949280"/>
            <a:ext cx="1669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3200" dirty="0" smtClean="0"/>
              <a:t>(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 + R</a:t>
            </a:r>
            <a:r>
              <a:rPr lang="en-US" altLang="zh-TW" sz="3200" dirty="0" smtClean="0"/>
              <a:t>)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187093" y="1908121"/>
            <a:ext cx="2969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|X| = |Y| = n = 6</a:t>
            </a:r>
            <a:endParaRPr lang="zh-TW" altLang="en-US" sz="32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39552" y="5589240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|M| = R</a:t>
            </a:r>
            <a:endParaRPr lang="zh-TW" altLang="en-US" sz="32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572000" y="404664"/>
          <a:ext cx="374441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52"/>
                <a:gridCol w="468052"/>
                <a:gridCol w="468052"/>
                <a:gridCol w="468052"/>
                <a:gridCol w="468052"/>
                <a:gridCol w="468052"/>
                <a:gridCol w="468052"/>
                <a:gridCol w="468052"/>
              </a:tblGrid>
              <a:tr h="45478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518864" y="4149080"/>
          <a:ext cx="2797554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59"/>
                <a:gridCol w="466259"/>
                <a:gridCol w="466259"/>
                <a:gridCol w="466259"/>
                <a:gridCol w="466259"/>
                <a:gridCol w="466259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860034" y="4152136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518864" y="5439112"/>
          <a:ext cx="2797554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59"/>
                <a:gridCol w="466259"/>
                <a:gridCol w="466259"/>
                <a:gridCol w="466259"/>
                <a:gridCol w="466259"/>
                <a:gridCol w="466259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4860034" y="5442168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5518864" y="6090240"/>
          <a:ext cx="2797554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59"/>
                <a:gridCol w="466259"/>
                <a:gridCol w="466259"/>
                <a:gridCol w="466259"/>
                <a:gridCol w="466259"/>
                <a:gridCol w="466259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4860034" y="6093296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5518864" y="4794096"/>
          <a:ext cx="2797554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59"/>
                <a:gridCol w="466259"/>
                <a:gridCol w="466259"/>
                <a:gridCol w="466259"/>
                <a:gridCol w="466259"/>
                <a:gridCol w="466259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860034" y="4797152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95536" y="404664"/>
          <a:ext cx="374441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52"/>
                <a:gridCol w="468052"/>
                <a:gridCol w="468052"/>
                <a:gridCol w="468052"/>
                <a:gridCol w="468052"/>
                <a:gridCol w="468052"/>
                <a:gridCol w="468052"/>
                <a:gridCol w="468052"/>
              </a:tblGrid>
              <a:tr h="45478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342398" y="4149080"/>
          <a:ext cx="2797554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59"/>
                <a:gridCol w="466259"/>
                <a:gridCol w="466259"/>
                <a:gridCol w="466259"/>
                <a:gridCol w="466259"/>
                <a:gridCol w="466259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815280" y="4149080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endParaRPr lang="zh-TW" altLang="en-US" sz="2800" baseline="-25000" dirty="0"/>
          </a:p>
        </p:txBody>
      </p:sp>
      <p:cxnSp>
        <p:nvCxnSpPr>
          <p:cNvPr id="22" name="直線單箭頭接點 21"/>
          <p:cNvCxnSpPr/>
          <p:nvPr/>
        </p:nvCxnSpPr>
        <p:spPr>
          <a:xfrm>
            <a:off x="1547664" y="1484784"/>
            <a:ext cx="0" cy="2448272"/>
          </a:xfrm>
          <a:prstGeom prst="straightConnector1">
            <a:avLst/>
          </a:prstGeom>
          <a:ln w="53975" cmpd="dbl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2051720" y="1484784"/>
            <a:ext cx="0" cy="2448272"/>
          </a:xfrm>
          <a:prstGeom prst="straightConnector1">
            <a:avLst/>
          </a:prstGeom>
          <a:ln w="53975" cmpd="dbl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2483768" y="1484784"/>
            <a:ext cx="0" cy="2448272"/>
          </a:xfrm>
          <a:prstGeom prst="straightConnector1">
            <a:avLst/>
          </a:prstGeom>
          <a:ln w="53975" cmpd="dbl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2915816" y="1484784"/>
            <a:ext cx="0" cy="2448272"/>
          </a:xfrm>
          <a:prstGeom prst="straightConnector1">
            <a:avLst/>
          </a:prstGeom>
          <a:ln w="53975" cmpd="dbl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3419872" y="1484784"/>
            <a:ext cx="0" cy="2448272"/>
          </a:xfrm>
          <a:prstGeom prst="straightConnector1">
            <a:avLst/>
          </a:prstGeom>
          <a:ln w="53975" cmpd="dbl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3851920" y="1484784"/>
            <a:ext cx="0" cy="2448272"/>
          </a:xfrm>
          <a:prstGeom prst="straightConnector1">
            <a:avLst/>
          </a:prstGeom>
          <a:ln w="53975" cmpd="dbl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-171400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LCS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99592" y="563488"/>
          <a:ext cx="6264696" cy="408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</a:tblGrid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483768" y="4797152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79512" y="6165304"/>
            <a:ext cx="70066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RMAX</a:t>
            </a:r>
            <a:r>
              <a:rPr lang="en-US" altLang="zh-TW" sz="2000" dirty="0" smtClean="0"/>
              <a:t>(</a:t>
            </a:r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Range Maxima Query Problem</a:t>
            </a:r>
            <a:r>
              <a:rPr lang="en-US" altLang="zh-TW" sz="2000" dirty="0" smtClean="0"/>
              <a:t>) : </a:t>
            </a:r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2000" dirty="0" smtClean="0"/>
              <a:t>(</a:t>
            </a:r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000" dirty="0" smtClean="0"/>
              <a:t>) pre-processing time </a:t>
            </a:r>
          </a:p>
          <a:p>
            <a:r>
              <a:rPr lang="en-US" altLang="zh-TW" sz="2000" dirty="0" smtClean="0"/>
              <a:t>				        and </a:t>
            </a:r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2000" dirty="0" smtClean="0"/>
              <a:t>(1) time per query.</a:t>
            </a:r>
            <a:endParaRPr lang="zh-TW" altLang="en-US" sz="20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1763688" y="486916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483768" y="5445224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1763688" y="5517232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306288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LCS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99592" y="332656"/>
          <a:ext cx="6264696" cy="408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</a:tblGrid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483768" y="4725144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79512" y="6165304"/>
            <a:ext cx="70066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RMAX</a:t>
            </a:r>
            <a:r>
              <a:rPr lang="en-US" altLang="zh-TW" sz="2000" dirty="0" smtClean="0"/>
              <a:t>(</a:t>
            </a:r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Range Maxima Query Problem</a:t>
            </a:r>
            <a:r>
              <a:rPr lang="en-US" altLang="zh-TW" sz="2000" dirty="0" smtClean="0"/>
              <a:t>) : </a:t>
            </a:r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2000" dirty="0" smtClean="0"/>
              <a:t>(</a:t>
            </a:r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000" dirty="0" smtClean="0"/>
              <a:t>) pre-processing time </a:t>
            </a:r>
          </a:p>
          <a:p>
            <a:r>
              <a:rPr lang="en-US" altLang="zh-TW" sz="2000" dirty="0" smtClean="0"/>
              <a:t>				        and </a:t>
            </a:r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2000" dirty="0" smtClean="0"/>
              <a:t>(1) time per query.</a:t>
            </a:r>
            <a:endParaRPr lang="zh-TW" altLang="en-US" sz="20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1835696" y="470598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483768" y="5373216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1763688" y="5445224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9592" y="329600"/>
          <a:ext cx="6264696" cy="408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</a:tblGrid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483768" y="4722088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-315416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LCS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773571" y="470598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473885" y="5533340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1763688" y="5517232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LCS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9592" y="620688"/>
          <a:ext cx="6264696" cy="408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</a:tblGrid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483768" y="5589240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308304" y="566124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3600" dirty="0" smtClean="0"/>
              <a:t>(</a:t>
            </a:r>
            <a:r>
              <a:rPr lang="en-US" altLang="zh-TW" sz="36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600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sz="3600" dirty="0" smtClean="0"/>
              <a:t>)</a:t>
            </a:r>
            <a:endParaRPr lang="zh-TW" altLang="en-US" sz="36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845579" y="558924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73885" y="4869160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1835696" y="486916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LCS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4464496" cy="5355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字方塊 8"/>
          <p:cNvSpPr txBox="1"/>
          <p:nvPr/>
        </p:nvSpPr>
        <p:spPr>
          <a:xfrm>
            <a:off x="4499992" y="1628800"/>
            <a:ext cx="450892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Van 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Emde</a:t>
            </a:r>
            <a:r>
              <a:rPr lang="en-US" altLang="zh-TW" sz="2800" dirty="0" smtClean="0">
                <a:solidFill>
                  <a:srgbClr val="FF0000"/>
                </a:solidFill>
              </a:rPr>
              <a:t> Boas </a:t>
            </a:r>
            <a:r>
              <a:rPr lang="en-US" altLang="zh-TW" sz="2800" dirty="0" smtClean="0"/>
              <a:t>that allows us</a:t>
            </a:r>
          </a:p>
          <a:p>
            <a:r>
              <a:rPr lang="en-US" altLang="zh-TW" sz="2800" dirty="0" smtClean="0"/>
              <a:t> to maintain a sorted list of </a:t>
            </a:r>
          </a:p>
          <a:p>
            <a:r>
              <a:rPr lang="en-US" altLang="zh-TW" sz="2800" dirty="0" smtClean="0"/>
              <a:t>integers in the range [1..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800" dirty="0" smtClean="0"/>
              <a:t>]</a:t>
            </a:r>
          </a:p>
          <a:p>
            <a:r>
              <a:rPr lang="en-US" altLang="zh-TW" sz="2800" dirty="0" smtClean="0"/>
              <a:t>in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loglog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800" dirty="0" smtClean="0"/>
              <a:t>) time </a:t>
            </a:r>
          </a:p>
          <a:p>
            <a:r>
              <a:rPr lang="en-US" altLang="zh-TW" sz="2800" dirty="0" smtClean="0"/>
              <a:t>per insertion and deletion.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11560" y="1484784"/>
            <a:ext cx="2664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dirty="0" smtClean="0"/>
              <a:t> =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TCCACA</a:t>
            </a:r>
          </a:p>
          <a:p>
            <a:pPr>
              <a:buNone/>
            </a:pP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dirty="0" smtClean="0"/>
              <a:t> =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ACCAAG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16169" y="2420888"/>
            <a:ext cx="23310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[A] = {</a:t>
            </a:r>
            <a:r>
              <a:rPr lang="en-US" altLang="zh-TW" sz="2800" dirty="0" smtClean="0">
                <a:solidFill>
                  <a:srgbClr val="FF0000"/>
                </a:solidFill>
              </a:rPr>
              <a:t>4</a:t>
            </a:r>
            <a:r>
              <a:rPr lang="en-US" altLang="zh-TW" sz="2800" dirty="0" smtClean="0"/>
              <a:t>, 6}</a:t>
            </a:r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[C] = {2, 3, 5}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[G] = {}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[T] = {1}</a:t>
            </a:r>
            <a:endParaRPr lang="zh-TW" altLang="en-US" sz="2800" dirty="0" smtClean="0"/>
          </a:p>
        </p:txBody>
      </p:sp>
      <p:sp>
        <p:nvSpPr>
          <p:cNvPr id="7" name="文字方塊 6"/>
          <p:cNvSpPr txBox="1"/>
          <p:nvPr/>
        </p:nvSpPr>
        <p:spPr>
          <a:xfrm>
            <a:off x="2780465" y="2420888"/>
            <a:ext cx="23310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[A] = {</a:t>
            </a:r>
            <a:r>
              <a:rPr lang="en-US" altLang="zh-TW" sz="2800" dirty="0" smtClean="0">
                <a:solidFill>
                  <a:srgbClr val="0070C0"/>
                </a:solidFill>
              </a:rPr>
              <a:t>1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0070C0"/>
                </a:solidFill>
              </a:rPr>
              <a:t>4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rgbClr val="0070C0"/>
                </a:solidFill>
              </a:rPr>
              <a:t>5</a:t>
            </a:r>
            <a:r>
              <a:rPr lang="en-US" altLang="zh-TW" sz="2800" dirty="0" smtClean="0"/>
              <a:t>}</a:t>
            </a:r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[C] = {2, 3}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[G] = {6}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[T] = {}</a:t>
            </a:r>
            <a:endParaRPr lang="zh-TW" altLang="en-US" sz="2800" dirty="0" smtClean="0"/>
          </a:p>
        </p:txBody>
      </p:sp>
      <p:sp>
        <p:nvSpPr>
          <p:cNvPr id="8" name="文字方塊 7"/>
          <p:cNvSpPr txBox="1"/>
          <p:nvPr/>
        </p:nvSpPr>
        <p:spPr>
          <a:xfrm>
            <a:off x="5868144" y="2924944"/>
            <a:ext cx="1611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3200" dirty="0" smtClean="0"/>
              <a:t>*(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-1)+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endParaRPr lang="zh-TW" altLang="en-US" sz="32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83568" y="4725144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21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1" name="直線單箭頭接點 10"/>
          <p:cNvCxnSpPr/>
          <p:nvPr/>
        </p:nvCxnSpPr>
        <p:spPr>
          <a:xfrm>
            <a:off x="1259632" y="5157192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835696" y="4733853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24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4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3" name="直線單箭頭接點 12"/>
          <p:cNvCxnSpPr/>
          <p:nvPr/>
        </p:nvCxnSpPr>
        <p:spPr>
          <a:xfrm>
            <a:off x="2411760" y="5157192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987824" y="4725144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25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5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732240" y="6492875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16169" y="1196752"/>
            <a:ext cx="23310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[A] = {4, 6}</a:t>
            </a:r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[C] = {2, 3, 5}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[G] = {}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[T] = {1}</a:t>
            </a:r>
            <a:endParaRPr lang="zh-TW" altLang="en-US" sz="2800" dirty="0" smtClean="0"/>
          </a:p>
        </p:txBody>
      </p:sp>
      <p:sp>
        <p:nvSpPr>
          <p:cNvPr id="7" name="文字方塊 6"/>
          <p:cNvSpPr txBox="1"/>
          <p:nvPr/>
        </p:nvSpPr>
        <p:spPr>
          <a:xfrm>
            <a:off x="2780465" y="1196752"/>
            <a:ext cx="23310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[A] = {1, 4, 5}</a:t>
            </a:r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[C] = {2, 3}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[G] = {6}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[T] = {}</a:t>
            </a:r>
            <a:endParaRPr lang="zh-TW" altLang="en-US" sz="2800" dirty="0" smtClean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292080" y="2996952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21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1" name="直線單箭頭接點 10"/>
          <p:cNvCxnSpPr/>
          <p:nvPr/>
        </p:nvCxnSpPr>
        <p:spPr>
          <a:xfrm>
            <a:off x="5868144" y="3463836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444208" y="3005661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3" name="直線單箭頭接點 12"/>
          <p:cNvCxnSpPr/>
          <p:nvPr/>
        </p:nvCxnSpPr>
        <p:spPr>
          <a:xfrm>
            <a:off x="1547664" y="5229200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971600" y="4797152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5" name="直線單箭頭接點 14"/>
          <p:cNvCxnSpPr/>
          <p:nvPr/>
        </p:nvCxnSpPr>
        <p:spPr>
          <a:xfrm>
            <a:off x="3851920" y="5246618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4427984" y="4814570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(6,1)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7" name="直線單箭頭接點 16"/>
          <p:cNvCxnSpPr/>
          <p:nvPr/>
        </p:nvCxnSpPr>
        <p:spPr>
          <a:xfrm>
            <a:off x="5004048" y="5264036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580112" y="4831988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0" name="直線單箭頭接點 19"/>
          <p:cNvCxnSpPr/>
          <p:nvPr/>
        </p:nvCxnSpPr>
        <p:spPr>
          <a:xfrm>
            <a:off x="6156176" y="5301208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732240" y="4834324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(6,5)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683568" y="3068960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12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3" name="直線單箭頭接點 22"/>
          <p:cNvCxnSpPr/>
          <p:nvPr/>
        </p:nvCxnSpPr>
        <p:spPr>
          <a:xfrm>
            <a:off x="1259632" y="3501008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835696" y="3077669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(2,3)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5" name="直線單箭頭接點 24"/>
          <p:cNvCxnSpPr/>
          <p:nvPr/>
        </p:nvCxnSpPr>
        <p:spPr>
          <a:xfrm>
            <a:off x="2411760" y="3501008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2987824" y="3068960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7" name="直線單箭頭接點 26"/>
          <p:cNvCxnSpPr/>
          <p:nvPr/>
        </p:nvCxnSpPr>
        <p:spPr>
          <a:xfrm>
            <a:off x="3563888" y="3518426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4139952" y="3086378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>
          <a:xfrm>
            <a:off x="4716016" y="3535844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2123728" y="4797152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(5,2)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34" name="直線單箭頭接點 33"/>
          <p:cNvCxnSpPr/>
          <p:nvPr/>
        </p:nvCxnSpPr>
        <p:spPr>
          <a:xfrm>
            <a:off x="2699792" y="5266372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3275856" y="4799488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(5,3)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6" name="手繪多邊形 45"/>
          <p:cNvSpPr/>
          <p:nvPr/>
        </p:nvSpPr>
        <p:spPr>
          <a:xfrm>
            <a:off x="-603867" y="3501008"/>
            <a:ext cx="9321147" cy="1728192"/>
          </a:xfrm>
          <a:custGeom>
            <a:avLst/>
            <a:gdLst>
              <a:gd name="connsiteX0" fmla="*/ 7998822 w 9773919"/>
              <a:gd name="connsiteY0" fmla="*/ 0 h 1820091"/>
              <a:gd name="connsiteX1" fmla="*/ 8634548 w 9773919"/>
              <a:gd name="connsiteY1" fmla="*/ 714103 h 1820091"/>
              <a:gd name="connsiteX2" fmla="*/ 1162594 w 9773919"/>
              <a:gd name="connsiteY2" fmla="*/ 1219200 h 1820091"/>
              <a:gd name="connsiteX3" fmla="*/ 1658982 w 9773919"/>
              <a:gd name="connsiteY3" fmla="*/ 1820091 h 182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73919" h="1820091">
                <a:moveTo>
                  <a:pt x="7998822" y="0"/>
                </a:moveTo>
                <a:cubicBezTo>
                  <a:pt x="8886370" y="255451"/>
                  <a:pt x="9773919" y="510903"/>
                  <a:pt x="8634548" y="714103"/>
                </a:cubicBezTo>
                <a:cubicBezTo>
                  <a:pt x="7495177" y="917303"/>
                  <a:pt x="2325188" y="1034869"/>
                  <a:pt x="1162594" y="1219200"/>
                </a:cubicBezTo>
                <a:cubicBezTo>
                  <a:pt x="0" y="1403531"/>
                  <a:pt x="1564639" y="1750423"/>
                  <a:pt x="1658982" y="1820091"/>
                </a:cubicBezTo>
              </a:path>
            </a:pathLst>
          </a:custGeom>
          <a:ln w="381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/>
          <p:cNvSpPr txBox="1"/>
          <p:nvPr/>
        </p:nvSpPr>
        <p:spPr>
          <a:xfrm>
            <a:off x="971600" y="6093296"/>
            <a:ext cx="6203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In row-by-row manner.   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2800" dirty="0" smtClean="0"/>
              <a:t>(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2800" dirty="0" err="1" smtClean="0"/>
              <a:t>loglog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+ n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BoundHeap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zh-TW" dirty="0" smtClean="0"/>
              <a:t>That supports the following operations: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298435"/>
            <a:ext cx="6264696" cy="3722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1547664" y="6165304"/>
            <a:ext cx="1946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3200" dirty="0" smtClean="0"/>
              <a:t>(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loglog</a:t>
            </a:r>
            <a:r>
              <a:rPr lang="en-US" altLang="zh-TW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)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9592" y="1340768"/>
          <a:ext cx="6264696" cy="408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</a:tblGrid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483768" y="5589240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907704" y="558924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83766" y="6237312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907702" y="6237312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9592" y="1340768"/>
          <a:ext cx="6264696" cy="408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</a:tblGrid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483768" y="5589240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907704" y="558924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83766" y="6237312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907702" y="6237312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9592" y="1340768"/>
          <a:ext cx="6264696" cy="408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</a:tblGrid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483768" y="5589240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907704" y="558924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83766" y="6237312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907702" y="6237312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9592" y="1340768"/>
          <a:ext cx="6264696" cy="408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</a:tblGrid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483768" y="5589240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907704" y="558924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83766" y="6237312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907702" y="6237312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9592" y="1340768"/>
          <a:ext cx="6264696" cy="408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  <a:gridCol w="783087"/>
              </a:tblGrid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483768" y="5589240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907704" y="558924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83766" y="6237312"/>
          <a:ext cx="468052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87"/>
                <a:gridCol w="780087"/>
                <a:gridCol w="780087"/>
                <a:gridCol w="780087"/>
                <a:gridCol w="780087"/>
                <a:gridCol w="780087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907702" y="6237312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96752"/>
            <a:ext cx="4536504" cy="5365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文字方塊 9"/>
          <p:cNvSpPr txBox="1"/>
          <p:nvPr/>
        </p:nvSpPr>
        <p:spPr>
          <a:xfrm>
            <a:off x="4932040" y="1340768"/>
            <a:ext cx="446686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In total, the running time </a:t>
            </a:r>
          </a:p>
          <a:p>
            <a:r>
              <a:rPr lang="en-US" altLang="zh-TW" sz="3200" dirty="0" smtClean="0"/>
              <a:t>is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3200" dirty="0" smtClean="0"/>
              <a:t>(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3200" dirty="0" err="1" smtClean="0"/>
              <a:t>loglog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 +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), and</a:t>
            </a:r>
          </a:p>
          <a:p>
            <a:r>
              <a:rPr lang="en-US" altLang="zh-TW" sz="3200" dirty="0" smtClean="0"/>
              <a:t>the space requirement is </a:t>
            </a:r>
          </a:p>
          <a:p>
            <a:r>
              <a:rPr lang="el-GR" altLang="zh-TW" sz="3200" i="1" dirty="0" smtClean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TW" sz="3200" dirty="0" smtClean="0"/>
              <a:t>(max{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})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CLCS problem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TCC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ACA</a:t>
            </a: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G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AC</a:t>
            </a:r>
          </a:p>
          <a:p>
            <a:pPr>
              <a:buNone/>
            </a:pP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CLCS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X, Y, Z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altLang="zh-TW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7" y="2420888"/>
            <a:ext cx="4392488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CLCS Algorithm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1412776"/>
            <a:ext cx="6516216" cy="1199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2492896"/>
            <a:ext cx="4526217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" y="5833578"/>
            <a:ext cx="7308304" cy="102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字方塊 8"/>
          <p:cNvSpPr txBox="1"/>
          <p:nvPr/>
        </p:nvSpPr>
        <p:spPr>
          <a:xfrm>
            <a:off x="6660232" y="5085184"/>
            <a:ext cx="12811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3200" dirty="0" smtClean="0"/>
              <a:t>(</a:t>
            </a:r>
            <a:r>
              <a:rPr lang="en-US" altLang="zh-TW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altLang="zh-TW" sz="3200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sz="3200" dirty="0" smtClean="0"/>
              <a:t>)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CLCS Algorithm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-60176" y="2924944"/>
          <a:ext cx="3048000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1013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915816" y="2924944"/>
          <a:ext cx="3048000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1013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916488" y="2924944"/>
          <a:ext cx="3048000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1013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10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187624" y="6237312"/>
            <a:ext cx="949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800" dirty="0" smtClean="0"/>
              <a:t> = 0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211960" y="6165304"/>
            <a:ext cx="949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800" dirty="0" smtClean="0"/>
              <a:t> = 1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452320" y="6165304"/>
            <a:ext cx="949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800" dirty="0" smtClean="0"/>
              <a:t> = 2</a:t>
            </a:r>
            <a:endParaRPr lang="zh-TW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251520" y="1124744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3200" dirty="0" smtClean="0"/>
              <a:t> =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TCCACA</a:t>
            </a:r>
          </a:p>
          <a:p>
            <a:pPr>
              <a:buNone/>
            </a:pP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3200" dirty="0" smtClean="0"/>
              <a:t> =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ACCAAG</a:t>
            </a:r>
            <a:endParaRPr lang="zh-TW" alt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sz="3200" dirty="0" smtClean="0"/>
              <a:t> =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AC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24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40768"/>
            <a:ext cx="4355976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9504" y="1176639"/>
            <a:ext cx="3492896" cy="1172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2348880"/>
            <a:ext cx="4418087" cy="1744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文字方塊 12"/>
          <p:cNvSpPr txBox="1"/>
          <p:nvPr/>
        </p:nvSpPr>
        <p:spPr>
          <a:xfrm>
            <a:off x="251520" y="5445224"/>
            <a:ext cx="663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K-1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644008" y="5301208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K</a:t>
            </a:r>
            <a:endParaRPr lang="zh-TW" altLang="en-US" sz="2800" dirty="0"/>
          </a:p>
        </p:txBody>
      </p:sp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8064" y="4293096"/>
            <a:ext cx="3189177" cy="2156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99592" y="4221088"/>
            <a:ext cx="3240360" cy="2174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16169" y="1196752"/>
            <a:ext cx="23310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[A] = {4, 6}</a:t>
            </a:r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[C] = {2, 3, 5}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[G] = {}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X</a:t>
            </a:r>
            <a:r>
              <a:rPr lang="en-US" altLang="zh-TW" sz="2800" dirty="0" smtClean="0"/>
              <a:t>[T] = {1}</a:t>
            </a:r>
            <a:endParaRPr lang="zh-TW" altLang="en-US" sz="28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2780465" y="1196752"/>
            <a:ext cx="23310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[A] = {1, 4, 5}</a:t>
            </a:r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[C] = {2, 3}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[G] = {6}</a:t>
            </a:r>
            <a:endParaRPr lang="zh-TW" altLang="en-US" sz="2800" dirty="0" smtClean="0"/>
          </a:p>
          <a:p>
            <a:r>
              <a:rPr lang="en-US" altLang="zh-TW" sz="2800" dirty="0" smtClean="0"/>
              <a:t>L</a:t>
            </a:r>
            <a:r>
              <a:rPr lang="en-US" altLang="zh-TW" sz="2800" baseline="-25000" dirty="0" smtClean="0"/>
              <a:t>Y</a:t>
            </a:r>
            <a:r>
              <a:rPr lang="en-US" altLang="zh-TW" sz="2800" dirty="0" smtClean="0"/>
              <a:t>[T] = {}</a:t>
            </a:r>
            <a:endParaRPr lang="zh-TW" altLang="en-US" sz="2800" dirty="0" smtClean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292080" y="2996952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21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>
            <a:off x="5868144" y="3463836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444208" y="3005661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>
            <a:off x="1547664" y="5229200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71600" y="4797152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2" name="直線單箭頭接點 11"/>
          <p:cNvCxnSpPr/>
          <p:nvPr/>
        </p:nvCxnSpPr>
        <p:spPr>
          <a:xfrm>
            <a:off x="3851920" y="5246618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427984" y="4814570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(6,1)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4" name="直線單箭頭接點 13"/>
          <p:cNvCxnSpPr/>
          <p:nvPr/>
        </p:nvCxnSpPr>
        <p:spPr>
          <a:xfrm>
            <a:off x="5004048" y="5264036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580112" y="4831988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(6,4)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>
          <a:xfrm>
            <a:off x="6156176" y="5301208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6732240" y="4834324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(6,5)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683568" y="3068960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12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>
            <a:off x="1259632" y="3501008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1835696" y="3077669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(2,3)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1" name="直線單箭頭接點 20"/>
          <p:cNvCxnSpPr/>
          <p:nvPr/>
        </p:nvCxnSpPr>
        <p:spPr>
          <a:xfrm>
            <a:off x="2411760" y="3501008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2987824" y="3068960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(3,2)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3" name="直線單箭頭接點 22"/>
          <p:cNvCxnSpPr/>
          <p:nvPr/>
        </p:nvCxnSpPr>
        <p:spPr>
          <a:xfrm>
            <a:off x="3563888" y="3518426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4139952" y="3086378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(3,3)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5" name="直線單箭頭接點 24"/>
          <p:cNvCxnSpPr/>
          <p:nvPr/>
        </p:nvCxnSpPr>
        <p:spPr>
          <a:xfrm>
            <a:off x="4716016" y="3535844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2123728" y="4797152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(5,2)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27" name="直線單箭頭接點 26"/>
          <p:cNvCxnSpPr/>
          <p:nvPr/>
        </p:nvCxnSpPr>
        <p:spPr>
          <a:xfrm>
            <a:off x="2699792" y="5266372"/>
            <a:ext cx="576064" cy="0"/>
          </a:xfrm>
          <a:prstGeom prst="straightConnector1">
            <a:avLst/>
          </a:prstGeom>
          <a:ln w="50800" cmpd="sng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3275856" y="4799488"/>
          <a:ext cx="576064" cy="889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(5,3)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9" name="手繪多邊形 28"/>
          <p:cNvSpPr/>
          <p:nvPr/>
        </p:nvSpPr>
        <p:spPr>
          <a:xfrm>
            <a:off x="-603867" y="3501008"/>
            <a:ext cx="9321147" cy="1728192"/>
          </a:xfrm>
          <a:custGeom>
            <a:avLst/>
            <a:gdLst>
              <a:gd name="connsiteX0" fmla="*/ 7998822 w 9773919"/>
              <a:gd name="connsiteY0" fmla="*/ 0 h 1820091"/>
              <a:gd name="connsiteX1" fmla="*/ 8634548 w 9773919"/>
              <a:gd name="connsiteY1" fmla="*/ 714103 h 1820091"/>
              <a:gd name="connsiteX2" fmla="*/ 1162594 w 9773919"/>
              <a:gd name="connsiteY2" fmla="*/ 1219200 h 1820091"/>
              <a:gd name="connsiteX3" fmla="*/ 1658982 w 9773919"/>
              <a:gd name="connsiteY3" fmla="*/ 1820091 h 182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73919" h="1820091">
                <a:moveTo>
                  <a:pt x="7998822" y="0"/>
                </a:moveTo>
                <a:cubicBezTo>
                  <a:pt x="8886370" y="255451"/>
                  <a:pt x="9773919" y="510903"/>
                  <a:pt x="8634548" y="714103"/>
                </a:cubicBezTo>
                <a:cubicBezTo>
                  <a:pt x="7495177" y="917303"/>
                  <a:pt x="2325188" y="1034869"/>
                  <a:pt x="1162594" y="1219200"/>
                </a:cubicBezTo>
                <a:cubicBezTo>
                  <a:pt x="0" y="1403531"/>
                  <a:pt x="1564639" y="1750423"/>
                  <a:pt x="1658982" y="1820091"/>
                </a:cubicBezTo>
              </a:path>
            </a:pathLst>
          </a:custGeom>
          <a:ln w="381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971600" y="6093296"/>
            <a:ext cx="6203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In row-by-row manner.   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2800" dirty="0" smtClean="0"/>
              <a:t>(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2800" dirty="0" err="1" smtClean="0"/>
              <a:t>loglog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+ n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AC, 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物件 10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6146" name="Equation" r:id="rId3" imgW="241200" imgH="241200" progId="Equation.3">
              <p:embed/>
            </p:oleObj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539552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403648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03646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-36512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0</a:t>
            </a:r>
            <a:endParaRPr lang="zh-TW" altLang="en-US" sz="2400" dirty="0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769938" y="5530850"/>
          <a:ext cx="546100" cy="544513"/>
        </p:xfrm>
        <a:graphic>
          <a:graphicData uri="http://schemas.openxmlformats.org/presentationml/2006/ole">
            <p:oleObj spid="_x0000_s6148" name="Equation" r:id="rId4" imgW="228600" imgH="228600" progId="Equation.3">
              <p:embed/>
            </p:oleObj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755650" y="6151563"/>
          <a:ext cx="546100" cy="574675"/>
        </p:xfrm>
        <a:graphic>
          <a:graphicData uri="http://schemas.openxmlformats.org/presentationml/2006/ole">
            <p:oleObj spid="_x0000_s6149" name="Equation" r:id="rId5" imgW="22860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AC, 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物件 10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7170" name="Equation" r:id="rId3" imgW="241200" imgH="241200" progId="Equation.3">
              <p:embed/>
            </p:oleObj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539552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403648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03646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-36512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0</a:t>
            </a:r>
            <a:endParaRPr lang="zh-TW" altLang="en-US" sz="2400" dirty="0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769938" y="5530850"/>
          <a:ext cx="546100" cy="544513"/>
        </p:xfrm>
        <a:graphic>
          <a:graphicData uri="http://schemas.openxmlformats.org/presentationml/2006/ole">
            <p:oleObj spid="_x0000_s7171" name="Equation" r:id="rId4" imgW="228600" imgH="228600" progId="Equation.3">
              <p:embed/>
            </p:oleObj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755650" y="6151563"/>
          <a:ext cx="546100" cy="574675"/>
        </p:xfrm>
        <a:graphic>
          <a:graphicData uri="http://schemas.openxmlformats.org/presentationml/2006/ole">
            <p:oleObj spid="_x0000_s7172" name="Equation" r:id="rId5" imgW="22860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AC, 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物件 10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8194" name="Equation" r:id="rId3" imgW="241200" imgH="241200" progId="Equation.3">
              <p:embed/>
            </p:oleObj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788024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652120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5652118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211960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1</a:t>
            </a:r>
            <a:endParaRPr lang="zh-TW" altLang="en-US" sz="2400" dirty="0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5018410" y="5530850"/>
          <a:ext cx="546100" cy="544513"/>
        </p:xfrm>
        <a:graphic>
          <a:graphicData uri="http://schemas.openxmlformats.org/presentationml/2006/ole">
            <p:oleObj spid="_x0000_s8195" name="Equation" r:id="rId4" imgW="228600" imgH="228600" progId="Equation.3">
              <p:embed/>
            </p:oleObj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5019997" y="6151563"/>
          <a:ext cx="514350" cy="574675"/>
        </p:xfrm>
        <a:graphic>
          <a:graphicData uri="http://schemas.openxmlformats.org/presentationml/2006/ole">
            <p:oleObj spid="_x0000_s8196" name="Equation" r:id="rId5" imgW="215640" imgH="241200" progId="Equation.3">
              <p:embed/>
            </p:oleObj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39552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403648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403646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-36512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0</a:t>
            </a:r>
            <a:endParaRPr lang="zh-TW" altLang="en-US" sz="2400" dirty="0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769938" y="5530850"/>
          <a:ext cx="546100" cy="544513"/>
        </p:xfrm>
        <a:graphic>
          <a:graphicData uri="http://schemas.openxmlformats.org/presentationml/2006/ole">
            <p:oleObj spid="_x0000_s8197" name="Equation" r:id="rId6" imgW="228600" imgH="228600" progId="Equation.3">
              <p:embed/>
            </p:oleObj>
          </a:graphicData>
        </a:graphic>
      </p:graphicFrame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755650" y="6151563"/>
          <a:ext cx="546100" cy="574675"/>
        </p:xfrm>
        <a:graphic>
          <a:graphicData uri="http://schemas.openxmlformats.org/presentationml/2006/ole">
            <p:oleObj spid="_x0000_s8198" name="Equation" r:id="rId7" imgW="22860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29</a:t>
            </a:fld>
            <a:endParaRPr lang="zh-TW" altLang="en-US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48130" name="Equation" r:id="rId3" imgW="241200" imgH="241200" progId="Equation.3">
              <p:embed/>
            </p:oleObj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788024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652120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652118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211960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1</a:t>
            </a:r>
            <a:endParaRPr lang="zh-TW" altLang="en-US" sz="2400" dirty="0"/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5018410" y="5530850"/>
          <a:ext cx="546100" cy="544513"/>
        </p:xfrm>
        <a:graphic>
          <a:graphicData uri="http://schemas.openxmlformats.org/presentationml/2006/ole">
            <p:oleObj spid="_x0000_s48131" name="Equation" r:id="rId4" imgW="228600" imgH="228600" progId="Equation.3">
              <p:embed/>
            </p:oleObj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5019997" y="6151563"/>
          <a:ext cx="514350" cy="574675"/>
        </p:xfrm>
        <a:graphic>
          <a:graphicData uri="http://schemas.openxmlformats.org/presentationml/2006/ole">
            <p:oleObj spid="_x0000_s48132" name="Equation" r:id="rId5" imgW="215640" imgH="241200" progId="Equation.3">
              <p:embed/>
            </p:oleObj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39552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403648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403646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-36512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0</a:t>
            </a:r>
            <a:endParaRPr lang="zh-TW" altLang="en-US" sz="2400" dirty="0"/>
          </a:p>
        </p:txBody>
      </p:sp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769938" y="5530850"/>
          <a:ext cx="546100" cy="544513"/>
        </p:xfrm>
        <a:graphic>
          <a:graphicData uri="http://schemas.openxmlformats.org/presentationml/2006/ole">
            <p:oleObj spid="_x0000_s48133" name="Equation" r:id="rId6" imgW="228600" imgH="228600" progId="Equation.3">
              <p:embed/>
            </p:oleObj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755650" y="6151563"/>
          <a:ext cx="546100" cy="574675"/>
        </p:xfrm>
        <a:graphic>
          <a:graphicData uri="http://schemas.openxmlformats.org/presentationml/2006/ole">
            <p:oleObj spid="_x0000_s48134" name="Equation" r:id="rId7" imgW="228600" imgH="241200" progId="Equation.3">
              <p:embed/>
            </p:oleObj>
          </a:graphicData>
        </a:graphic>
      </p:graphicFrame>
      <p:sp>
        <p:nvSpPr>
          <p:cNvPr id="18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19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AC, 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AC, 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物件 10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9218" name="Equation" r:id="rId3" imgW="241200" imgH="241200" progId="Equation.3">
              <p:embed/>
            </p:oleObj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788024" y="1628800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652120" y="544522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5652118" y="6093296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211960" y="3717032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2</a:t>
            </a:r>
            <a:endParaRPr lang="zh-TW" altLang="en-US" sz="2400" dirty="0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5003800" y="5459413"/>
          <a:ext cx="576263" cy="544512"/>
        </p:xfrm>
        <a:graphic>
          <a:graphicData uri="http://schemas.openxmlformats.org/presentationml/2006/ole">
            <p:oleObj spid="_x0000_s9219" name="Equation" r:id="rId4" imgW="241200" imgH="228600" progId="Equation.3">
              <p:embed/>
            </p:oleObj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4989513" y="6080125"/>
          <a:ext cx="574675" cy="574675"/>
        </p:xfrm>
        <a:graphic>
          <a:graphicData uri="http://schemas.openxmlformats.org/presentationml/2006/ole">
            <p:oleObj spid="_x0000_s9220" name="Equation" r:id="rId5" imgW="241200" imgH="241200" progId="Equation.3">
              <p:embed/>
            </p:oleObj>
          </a:graphicData>
        </a:graphic>
      </p:graphicFrame>
      <p:graphicFrame>
        <p:nvGraphicFramePr>
          <p:cNvPr id="12" name="物件 11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9221" name="Equation" r:id="rId6" imgW="241200" imgH="241200" progId="Equation.3">
              <p:embed/>
            </p:oleObj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39552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403648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403646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-36512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1</a:t>
            </a:r>
            <a:endParaRPr lang="zh-TW" altLang="en-US" sz="2400" dirty="0"/>
          </a:p>
        </p:txBody>
      </p:sp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769938" y="5530850"/>
          <a:ext cx="546100" cy="544513"/>
        </p:xfrm>
        <a:graphic>
          <a:graphicData uri="http://schemas.openxmlformats.org/presentationml/2006/ole">
            <p:oleObj spid="_x0000_s9222" name="Equation" r:id="rId7" imgW="228600" imgH="228600" progId="Equation.3">
              <p:embed/>
            </p:oleObj>
          </a:graphicData>
        </a:graphic>
      </p:graphicFrame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771525" y="6151563"/>
          <a:ext cx="514350" cy="574675"/>
        </p:xfrm>
        <a:graphic>
          <a:graphicData uri="http://schemas.openxmlformats.org/presentationml/2006/ole">
            <p:oleObj spid="_x0000_s9223" name="Equation" r:id="rId8" imgW="21564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AC, 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物件 10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10242" name="Equation" r:id="rId3" imgW="241200" imgH="241200" progId="Equation.3">
              <p:embed/>
            </p:oleObj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788024" y="1628800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652120" y="544522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5652118" y="6093296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211960" y="3717032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2</a:t>
            </a:r>
            <a:endParaRPr lang="zh-TW" altLang="en-US" sz="2400" dirty="0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5003800" y="5459413"/>
          <a:ext cx="576263" cy="544512"/>
        </p:xfrm>
        <a:graphic>
          <a:graphicData uri="http://schemas.openxmlformats.org/presentationml/2006/ole">
            <p:oleObj spid="_x0000_s10243" name="Equation" r:id="rId4" imgW="241200" imgH="228600" progId="Equation.3">
              <p:embed/>
            </p:oleObj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4989513" y="6080125"/>
          <a:ext cx="574675" cy="574675"/>
        </p:xfrm>
        <a:graphic>
          <a:graphicData uri="http://schemas.openxmlformats.org/presentationml/2006/ole">
            <p:oleObj spid="_x0000_s10244" name="Equation" r:id="rId5" imgW="241200" imgH="241200" progId="Equation.3">
              <p:embed/>
            </p:oleObj>
          </a:graphicData>
        </a:graphic>
      </p:graphicFrame>
      <p:graphicFrame>
        <p:nvGraphicFramePr>
          <p:cNvPr id="12" name="物件 11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10245" name="Equation" r:id="rId6" imgW="241200" imgH="241200" progId="Equation.3">
              <p:embed/>
            </p:oleObj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39552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403648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403646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-36512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1</a:t>
            </a:r>
            <a:endParaRPr lang="zh-TW" altLang="en-US" sz="2400" dirty="0"/>
          </a:p>
        </p:txBody>
      </p:sp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769938" y="5530850"/>
          <a:ext cx="546100" cy="544513"/>
        </p:xfrm>
        <a:graphic>
          <a:graphicData uri="http://schemas.openxmlformats.org/presentationml/2006/ole">
            <p:oleObj spid="_x0000_s10246" name="Equation" r:id="rId7" imgW="228600" imgH="228600" progId="Equation.3">
              <p:embed/>
            </p:oleObj>
          </a:graphicData>
        </a:graphic>
      </p:graphicFrame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771525" y="6151563"/>
          <a:ext cx="514350" cy="574675"/>
        </p:xfrm>
        <a:graphic>
          <a:graphicData uri="http://schemas.openxmlformats.org/presentationml/2006/ole">
            <p:oleObj spid="_x0000_s10247" name="Equation" r:id="rId8" imgW="21564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6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AC, 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49154" name="Equation" r:id="rId3" imgW="241200" imgH="241200" progId="Equation.3">
              <p:embed/>
            </p:oleObj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39552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403648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403646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-36512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0</a:t>
            </a:r>
            <a:endParaRPr lang="zh-TW" altLang="en-US" sz="2400" dirty="0"/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769938" y="5516563"/>
          <a:ext cx="546100" cy="574675"/>
        </p:xfrm>
        <a:graphic>
          <a:graphicData uri="http://schemas.openxmlformats.org/presentationml/2006/ole">
            <p:oleObj spid="_x0000_s49155" name="Equation" r:id="rId4" imgW="228600" imgH="241200" progId="Equation.3">
              <p:embed/>
            </p:oleObj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755650" y="6165850"/>
          <a:ext cx="546100" cy="544513"/>
        </p:xfrm>
        <a:graphic>
          <a:graphicData uri="http://schemas.openxmlformats.org/presentationml/2006/ole">
            <p:oleObj spid="_x0000_s49156" name="Equation" r:id="rId5" imgW="22860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6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/>
              <a:t> 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AC, 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/>
        </p:nvGraphicFramePr>
        <p:xfrm>
          <a:off x="1907704" y="1124744"/>
          <a:ext cx="576064" cy="576064"/>
        </p:xfrm>
        <a:graphic>
          <a:graphicData uri="http://schemas.openxmlformats.org/presentationml/2006/ole">
            <p:oleObj spid="_x0000_s50178" name="Equation" r:id="rId3" imgW="241200" imgH="241200" progId="Equation.3">
              <p:embed/>
            </p:oleObj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39552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403648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403646" y="616530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-36512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0</a:t>
            </a:r>
            <a:endParaRPr lang="zh-TW" altLang="en-US" sz="2400" dirty="0"/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769938" y="5516563"/>
          <a:ext cx="546100" cy="574675"/>
        </p:xfrm>
        <a:graphic>
          <a:graphicData uri="http://schemas.openxmlformats.org/presentationml/2006/ole">
            <p:oleObj spid="_x0000_s50179" name="Equation" r:id="rId4" imgW="228600" imgH="241200" progId="Equation.3">
              <p:embed/>
            </p:oleObj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755650" y="6165850"/>
          <a:ext cx="546100" cy="544513"/>
        </p:xfrm>
        <a:graphic>
          <a:graphicData uri="http://schemas.openxmlformats.org/presentationml/2006/ole">
            <p:oleObj spid="_x0000_s50180" name="Equation" r:id="rId5" imgW="22860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5" name="投影片編號版面配置區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788024" y="1628800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652120" y="5445224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211960" y="3717032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2</a:t>
            </a:r>
            <a:endParaRPr lang="zh-TW" altLang="en-US" sz="2400" dirty="0"/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5003800" y="5445125"/>
          <a:ext cx="576263" cy="574675"/>
        </p:xfrm>
        <a:graphic>
          <a:graphicData uri="http://schemas.openxmlformats.org/presentationml/2006/ole">
            <p:oleObj spid="_x0000_s56322" name="Equation" r:id="rId3" imgW="241200" imgH="241200" progId="Equation.3">
              <p:embed/>
            </p:oleObj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39552" y="1700808"/>
          <a:ext cx="367240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  <a:gridCol w="459051"/>
              </a:tblGrid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403648" y="5517232"/>
          <a:ext cx="274375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92"/>
                <a:gridCol w="457292"/>
                <a:gridCol w="457292"/>
                <a:gridCol w="457292"/>
                <a:gridCol w="457292"/>
                <a:gridCol w="457292"/>
              </a:tblGrid>
              <a:tr h="4537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-36512" y="378904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K = 1</a:t>
            </a:r>
            <a:endParaRPr lang="zh-TW" altLang="en-US" sz="2400" dirty="0"/>
          </a:p>
        </p:txBody>
      </p:sp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784225" y="5516563"/>
          <a:ext cx="515938" cy="574675"/>
        </p:xfrm>
        <a:graphic>
          <a:graphicData uri="http://schemas.openxmlformats.org/presentationml/2006/ole">
            <p:oleObj spid="_x0000_s56324" name="Equation" r:id="rId4" imgW="21564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New Algorithm for Problem CLCS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35</a:t>
            </a:fld>
            <a:endParaRPr lang="zh-TW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052736"/>
            <a:ext cx="4924425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4932040" y="1340768"/>
            <a:ext cx="446686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In total, the running time </a:t>
            </a:r>
          </a:p>
          <a:p>
            <a:r>
              <a:rPr lang="en-US" altLang="zh-TW" sz="3200" dirty="0" smtClean="0"/>
              <a:t>is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3200" dirty="0" smtClean="0"/>
              <a:t>(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altLang="zh-TW" sz="3200" dirty="0" err="1" smtClean="0"/>
              <a:t>loglog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 +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), and</a:t>
            </a:r>
          </a:p>
          <a:p>
            <a:r>
              <a:rPr lang="en-US" altLang="zh-TW" sz="3200" dirty="0" smtClean="0"/>
              <a:t>the space requirement is </a:t>
            </a:r>
          </a:p>
          <a:p>
            <a:r>
              <a:rPr lang="el-GR" altLang="zh-TW" sz="3200" i="1" dirty="0" smtClean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TW" sz="3200" dirty="0" smtClean="0"/>
              <a:t>(max{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})</a:t>
            </a:r>
          </a:p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|Z| </a:t>
            </a:r>
            <a:r>
              <a:rPr lang="en-US" altLang="zh-TW" sz="3200" i="1" dirty="0" smtClean="0">
                <a:cs typeface="Times New Roman" pitchFamily="18" charset="0"/>
              </a:rPr>
              <a:t>=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 p</a:t>
            </a:r>
            <a:endParaRPr lang="zh-TW" altLang="en-US" sz="32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36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60040" y="1484785"/>
          <a:ext cx="8388424" cy="244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8126"/>
                <a:gridCol w="3275480"/>
                <a:gridCol w="3754818"/>
              </a:tblGrid>
              <a:tr h="635345">
                <a:tc>
                  <a:txBody>
                    <a:bodyPr/>
                    <a:lstStyle/>
                    <a:p>
                      <a:pPr algn="ctr"/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  <a:r>
                        <a:rPr lang="zh-TW" altLang="en-US" sz="3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∼</a:t>
                      </a:r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zh-TW" altLang="en-US" sz="32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  <a:r>
                        <a:rPr lang="en-US" altLang="zh-TW" sz="3200" baseline="0" dirty="0" smtClean="0"/>
                        <a:t> = </a:t>
                      </a:r>
                      <a:r>
                        <a:rPr lang="en-US" altLang="zh-TW" sz="3200" i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200" baseline="30000" dirty="0" smtClean="0"/>
                        <a:t>2</a:t>
                      </a:r>
                      <a:endParaRPr lang="zh-TW" altLang="en-US" sz="3200" baseline="30000" dirty="0"/>
                    </a:p>
                  </a:txBody>
                  <a:tcPr anchor="ctr"/>
                </a:tc>
              </a:tr>
              <a:tr h="635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i="0" dirty="0" smtClean="0">
                          <a:latin typeface="Times New Roman" pitchFamily="18" charset="0"/>
                          <a:cs typeface="Times New Roman" pitchFamily="18" charset="0"/>
                        </a:rPr>
                        <a:t>LCS</a:t>
                      </a:r>
                      <a:endParaRPr lang="zh-TW" altLang="en-US" sz="320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r>
                        <a:rPr lang="en-US" altLang="zh-TW" sz="3200" dirty="0" smtClean="0"/>
                        <a:t>(</a:t>
                      </a:r>
                      <a:r>
                        <a:rPr lang="en-US" altLang="zh-TW" sz="3200" i="1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200" dirty="0" err="1" smtClean="0"/>
                        <a:t>loglog</a:t>
                      </a:r>
                      <a:r>
                        <a:rPr lang="en-US" altLang="zh-TW" sz="32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200" dirty="0" smtClean="0"/>
                        <a:t>)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r>
                        <a:rPr lang="en-US" altLang="zh-TW" sz="3200" dirty="0" smtClean="0"/>
                        <a:t>(</a:t>
                      </a:r>
                      <a:r>
                        <a:rPr lang="en-US" altLang="zh-TW" sz="3200" i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200" i="0" baseline="30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sz="3200" dirty="0" smtClean="0"/>
                        <a:t>loglog</a:t>
                      </a:r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200" dirty="0" smtClean="0"/>
                        <a:t>) </a:t>
                      </a:r>
                      <a:endParaRPr lang="zh-TW" altLang="en-US" sz="3200" dirty="0"/>
                    </a:p>
                  </a:txBody>
                  <a:tcPr anchor="ctr"/>
                </a:tc>
              </a:tr>
              <a:tr h="11703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CLCS</a:t>
                      </a:r>
                      <a:endParaRPr lang="zh-TW" altLang="en-US" sz="3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r>
                        <a:rPr lang="en-US" altLang="zh-TW" sz="3200" dirty="0" smtClean="0"/>
                        <a:t>(</a:t>
                      </a:r>
                      <a:r>
                        <a:rPr lang="en-US" altLang="zh-TW" sz="32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en-US" altLang="zh-TW" sz="3200" i="1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200" dirty="0" err="1" smtClean="0"/>
                        <a:t>loglog</a:t>
                      </a:r>
                      <a:r>
                        <a:rPr lang="en-US" altLang="zh-TW" sz="32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200" i="0" dirty="0" smtClean="0">
                          <a:latin typeface="+mn-lt"/>
                          <a:cs typeface="+mn-cs"/>
                        </a:rPr>
                        <a:t>)</a:t>
                      </a:r>
                      <a:r>
                        <a:rPr lang="en-US" altLang="zh-TW" sz="3200" dirty="0" smtClean="0"/>
                        <a:t> 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r>
                        <a:rPr lang="en-US" altLang="zh-TW" sz="3200" dirty="0" smtClean="0"/>
                        <a:t>(</a:t>
                      </a:r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en-US" altLang="zh-TW" sz="3200" i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200" i="0" baseline="30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sz="3200" dirty="0" smtClean="0"/>
                        <a:t>loglog</a:t>
                      </a:r>
                      <a:r>
                        <a:rPr lang="en-US" altLang="zh-TW" sz="3200" i="1" dirty="0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altLang="zh-TW" sz="3200" dirty="0" smtClean="0"/>
                        <a:t>) </a:t>
                      </a:r>
                      <a:endParaRPr lang="zh-TW" altLang="en-US" sz="32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/>
        </p:nvSpPr>
        <p:spPr>
          <a:xfrm>
            <a:off x="457200" y="116601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algn="ctr">
              <a:buNone/>
            </a:pPr>
            <a:r>
              <a:rPr lang="en-US" altLang="zh-TW" dirty="0" smtClean="0"/>
              <a:t>Thanks for listening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1783</TotalTime>
  <Words>2143</Words>
  <Application>Microsoft Office PowerPoint</Application>
  <PresentationFormat>如螢幕大小 (4:3)</PresentationFormat>
  <Paragraphs>1510</Paragraphs>
  <Slides>37</Slides>
  <Notes>2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39" baseType="lpstr">
      <vt:lpstr>Office 佈景主題</vt:lpstr>
      <vt:lpstr>Equation</vt:lpstr>
      <vt:lpstr>New Efficient Algorithms for LCS and Constrained LCS Problem</vt:lpstr>
      <vt:lpstr>Abstract</vt:lpstr>
      <vt:lpstr>LCS</vt:lpstr>
      <vt:lpstr>LCS</vt:lpstr>
      <vt:lpstr>LCS</vt:lpstr>
      <vt:lpstr>投影片 6</vt:lpstr>
      <vt:lpstr>LCS</vt:lpstr>
      <vt:lpstr>LCS</vt:lpstr>
      <vt:lpstr>LCS</vt:lpstr>
      <vt:lpstr>LCS</vt:lpstr>
      <vt:lpstr>A New Algorithm for Problem LCS</vt:lpstr>
      <vt:lpstr>A New Algorithm for Problem LCS</vt:lpstr>
      <vt:lpstr>A New Algorithm for Problem LCS</vt:lpstr>
      <vt:lpstr>BoundHeap</vt:lpstr>
      <vt:lpstr>A New Algorithm for Problem LCS</vt:lpstr>
      <vt:lpstr>A New Algorithm for Problem LCS</vt:lpstr>
      <vt:lpstr>A New Algorithm for Problem LCS</vt:lpstr>
      <vt:lpstr>A New Algorithm for Problem LCS</vt:lpstr>
      <vt:lpstr>A New Algorithm for Problem LCS</vt:lpstr>
      <vt:lpstr>A New Algorithm for Problem LCS</vt:lpstr>
      <vt:lpstr>CLCS problem</vt:lpstr>
      <vt:lpstr>CLCS Algorithm</vt:lpstr>
      <vt:lpstr>CLCS Algorithm</vt:lpstr>
      <vt:lpstr>A New Algorithm for Problem CLCS</vt:lpstr>
      <vt:lpstr>A New Algorithm for Problem CLCS</vt:lpstr>
      <vt:lpstr>A New Algorithm for Problem CLCS</vt:lpstr>
      <vt:lpstr>A New Algorithm for Problem CLCS</vt:lpstr>
      <vt:lpstr>A New Algorithm for Problem CLCS</vt:lpstr>
      <vt:lpstr>A New Algorithm for Problem CLCS</vt:lpstr>
      <vt:lpstr>A New Algorithm for Problem CLCS</vt:lpstr>
      <vt:lpstr>A New Algorithm for Problem CLCS</vt:lpstr>
      <vt:lpstr>A New Algorithm for Problem CLCS</vt:lpstr>
      <vt:lpstr>A New Algorithm for Problem CLCS</vt:lpstr>
      <vt:lpstr>A New Algorithm for Problem CLCS</vt:lpstr>
      <vt:lpstr>A New Algorithm for Problem CLCS</vt:lpstr>
      <vt:lpstr>Conclusion</vt:lpstr>
      <vt:lpstr>投影片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Efficient Algorithms for LCS and Constrained LCS Problem</dc:title>
  <dc:creator>User</dc:creator>
  <cp:lastModifiedBy>user</cp:lastModifiedBy>
  <cp:revision>98</cp:revision>
  <dcterms:created xsi:type="dcterms:W3CDTF">2015-04-26T13:14:20Z</dcterms:created>
  <dcterms:modified xsi:type="dcterms:W3CDTF">2015-05-05T10:07:31Z</dcterms:modified>
</cp:coreProperties>
</file>