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8" r:id="rId11"/>
    <p:sldId id="264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88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947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59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449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8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05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52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892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07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78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03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48DC6-974B-4BDE-AB75-EE90761A0BB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E3236-2980-4D92-AF45-23B4B69B69D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614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0" y="1419230"/>
            <a:ext cx="12191999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Image Texture Recognition Based on Median Filtering and Hough Transform</a:t>
            </a:r>
            <a:endParaRPr lang="en-US" altLang="zh-TW" b="1" dirty="0"/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13211" y="3076579"/>
            <a:ext cx="11747863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400" dirty="0" err="1" smtClean="0"/>
              <a:t>Luoyan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HU</a:t>
            </a:r>
            <a:r>
              <a:rPr lang="en-US" altLang="zh-TW" sz="2400" dirty="0" smtClean="0"/>
              <a:t>, </a:t>
            </a:r>
            <a:r>
              <a:rPr lang="en-US" altLang="zh-TW" sz="2400" dirty="0" err="1" smtClean="0"/>
              <a:t>Kejing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LI </a:t>
            </a:r>
            <a:endParaRPr lang="zh-TW" altLang="en-US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268286"/>
              </p:ext>
            </p:extLst>
          </p:nvPr>
        </p:nvGraphicFramePr>
        <p:xfrm>
          <a:off x="452846" y="3866605"/>
          <a:ext cx="11660777" cy="1038051"/>
        </p:xfrm>
        <a:graphic>
          <a:graphicData uri="http://schemas.openxmlformats.org/drawingml/2006/table">
            <a:tbl>
              <a:tblPr/>
              <a:tblGrid>
                <a:gridCol w="11660777"/>
              </a:tblGrid>
              <a:tr h="3129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2009 International Conference on Industrial and Information Systems, </a:t>
                      </a:r>
                      <a:r>
                        <a:rPr lang="en-US" altLang="zh-TW" sz="2400" dirty="0" smtClean="0"/>
                        <a:t>pp. </a:t>
                      </a:r>
                      <a:r>
                        <a:rPr lang="en-US" altLang="zh-TW" sz="2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267-270, 2009.</a:t>
                      </a:r>
                      <a:endParaRPr lang="zh-TW" altLang="en-US" sz="2400" dirty="0"/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4656143" y="5229229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Tsai-Ming Sun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2015/9/23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5566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     This </a:t>
            </a:r>
            <a:r>
              <a:rPr lang="en-US" altLang="zh-TW" dirty="0"/>
              <a:t>paper introduces a new </a:t>
            </a:r>
            <a:r>
              <a:rPr lang="en-US" altLang="zh-TW" dirty="0" smtClean="0"/>
              <a:t>computer recognition </a:t>
            </a:r>
            <a:r>
              <a:rPr lang="en-US" altLang="zh-TW" dirty="0"/>
              <a:t>algorithm for image texture recognition. </a:t>
            </a:r>
            <a:r>
              <a:rPr lang="en-US" altLang="zh-TW" dirty="0" smtClean="0"/>
              <a:t>Using this </a:t>
            </a:r>
            <a:r>
              <a:rPr lang="en-US" altLang="zh-TW" dirty="0"/>
              <a:t>algorithm, the texture characteristic of image </a:t>
            </a:r>
            <a:r>
              <a:rPr lang="en-US" altLang="zh-TW" dirty="0" smtClean="0"/>
              <a:t>is extracted </a:t>
            </a:r>
            <a:r>
              <a:rPr lang="en-US" altLang="zh-TW" dirty="0"/>
              <a:t>exactly for analysis. 2-d bidirectional </a:t>
            </a:r>
            <a:r>
              <a:rPr lang="en-US" altLang="zh-TW" dirty="0" smtClean="0"/>
              <a:t>median filtering </a:t>
            </a:r>
            <a:r>
              <a:rPr lang="en-US" altLang="zh-TW" dirty="0"/>
              <a:t>is proposed to make image de-noising an ideal </a:t>
            </a:r>
            <a:r>
              <a:rPr lang="en-US" altLang="zh-TW" dirty="0" smtClean="0"/>
              <a:t>state. An </a:t>
            </a:r>
            <a:r>
              <a:rPr lang="en-US" altLang="zh-TW" dirty="0"/>
              <a:t>image correction algorithm with Hough transfer on </a:t>
            </a:r>
            <a:r>
              <a:rPr lang="en-US" altLang="zh-TW" dirty="0" smtClean="0"/>
              <a:t>local computation </a:t>
            </a:r>
            <a:r>
              <a:rPr lang="en-US" altLang="zh-TW" dirty="0"/>
              <a:t>is presented to obtain an image with </a:t>
            </a:r>
            <a:r>
              <a:rPr lang="en-US" altLang="zh-TW" dirty="0" smtClean="0"/>
              <a:t>better position </a:t>
            </a:r>
            <a:r>
              <a:rPr lang="en-US" altLang="zh-TW" dirty="0"/>
              <a:t>state. An approach based on local extreme value </a:t>
            </a:r>
            <a:r>
              <a:rPr lang="en-US" altLang="zh-TW" dirty="0" smtClean="0"/>
              <a:t>is proposed </a:t>
            </a:r>
            <a:r>
              <a:rPr lang="en-US" altLang="zh-TW" dirty="0"/>
              <a:t>to search for feature points of image texture </a:t>
            </a:r>
            <a:r>
              <a:rPr lang="en-US" altLang="zh-TW" dirty="0" smtClean="0"/>
              <a:t>to further </a:t>
            </a:r>
            <a:r>
              <a:rPr lang="en-US" altLang="zh-TW" dirty="0"/>
              <a:t>recognize each parameter of image texture. At </a:t>
            </a:r>
            <a:r>
              <a:rPr lang="en-US" altLang="zh-TW" dirty="0" smtClean="0"/>
              <a:t>last, this </a:t>
            </a:r>
            <a:r>
              <a:rPr lang="en-US" altLang="zh-TW" dirty="0"/>
              <a:t>paper takes example for fabric density recognition, </a:t>
            </a:r>
            <a:r>
              <a:rPr lang="en-US" altLang="zh-TW" dirty="0" smtClean="0"/>
              <a:t>and gives </a:t>
            </a:r>
            <a:r>
              <a:rPr lang="en-US" altLang="zh-TW" dirty="0"/>
              <a:t>the result and discusses detail process. The </a:t>
            </a:r>
            <a:r>
              <a:rPr lang="en-US" altLang="zh-TW" dirty="0" smtClean="0"/>
              <a:t>result shows </a:t>
            </a:r>
            <a:r>
              <a:rPr lang="en-US" altLang="zh-TW" dirty="0"/>
              <a:t>that this approach is correct and efficient, and </a:t>
            </a:r>
            <a:r>
              <a:rPr lang="en-US" altLang="zh-TW" dirty="0" smtClean="0"/>
              <a:t>has extensive </a:t>
            </a:r>
            <a:r>
              <a:rPr lang="en-US" altLang="zh-TW" dirty="0"/>
              <a:t>application.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074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Median filter</a:t>
            </a:r>
            <a:endParaRPr lang="zh-TW" altLang="en-US" dirty="0"/>
          </a:p>
        </p:txBody>
      </p:sp>
      <p:pic>
        <p:nvPicPr>
          <p:cNvPr id="1026" name="Picture 2" descr="http://www.mathworks.com/matlabcentral/mlc-downloads/downloads/submissions/46563/versions/2/screenshot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94" y="1792309"/>
            <a:ext cx="4430485" cy="2990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median fil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329" y="2189116"/>
            <a:ext cx="5338648" cy="287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272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2-D </a:t>
            </a:r>
            <a:r>
              <a:rPr lang="en-US" altLang="zh-TW" dirty="0" smtClean="0"/>
              <a:t>Bidirectional Median Filtering</a:t>
            </a: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4" y="1796006"/>
            <a:ext cx="1800225" cy="40957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10899"/>
            <a:ext cx="1666875" cy="3905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78886"/>
            <a:ext cx="4543425" cy="14097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89" y="4866049"/>
            <a:ext cx="4038600" cy="771525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2424" y="1656124"/>
            <a:ext cx="46101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88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2-D Bidirectional Median Filtering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906" y="1690688"/>
            <a:ext cx="9226187" cy="487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23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HOUGH TRANSFORM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280" y="1622629"/>
            <a:ext cx="2479485" cy="61547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64562"/>
            <a:ext cx="4359654" cy="246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42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Accumulator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715" y="1441926"/>
            <a:ext cx="2609850" cy="231457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955177" y="5991497"/>
            <a:ext cx="448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當影像空間上的直線是一 垂直線時，則斜率 </a:t>
            </a:r>
            <a:r>
              <a:rPr lang="en-US" altLang="zh-TW" dirty="0"/>
              <a:t>a=∞</a:t>
            </a:r>
            <a:r>
              <a:rPr lang="zh-TW" altLang="en-US" dirty="0"/>
              <a:t>，而無法納入有限的 </a:t>
            </a:r>
            <a:r>
              <a:rPr lang="en-US" altLang="zh-TW" dirty="0"/>
              <a:t>accumulator</a:t>
            </a:r>
            <a:r>
              <a:rPr lang="zh-TW" altLang="en-US" dirty="0"/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4955177" y="1089635"/>
            <a:ext cx="71323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/>
              <a:t>Hough transform</a:t>
            </a:r>
            <a:r>
              <a:rPr lang="zh-TW" altLang="en-US" dirty="0"/>
              <a:t>演算法： </a:t>
            </a:r>
            <a:endParaRPr lang="en-US" altLang="zh-TW" dirty="0" smtClean="0"/>
          </a:p>
          <a:p>
            <a:pPr marL="342900" indent="-342900">
              <a:buAutoNum type="arabicPeriod"/>
            </a:pPr>
            <a:r>
              <a:rPr lang="zh-TW" altLang="en-US" dirty="0" smtClean="0"/>
              <a:t>在</a:t>
            </a:r>
            <a:r>
              <a:rPr lang="zh-TW" altLang="en-US" dirty="0"/>
              <a:t>影像空間上決定所有可能的特徵點，通常是邊緣點或骨架點。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 smtClean="0"/>
              <a:t>2</a:t>
            </a:r>
            <a:r>
              <a:rPr lang="en-US" altLang="zh-TW" dirty="0"/>
              <a:t>. </a:t>
            </a:r>
            <a:r>
              <a:rPr lang="en-US" altLang="zh-TW" dirty="0" smtClean="0"/>
              <a:t>  </a:t>
            </a:r>
            <a:r>
              <a:rPr lang="zh-TW" altLang="en-US" dirty="0" smtClean="0"/>
              <a:t>尋找</a:t>
            </a:r>
            <a:r>
              <a:rPr lang="zh-TW" altLang="en-US" dirty="0"/>
              <a:t>影像空間的一個特徵點</a:t>
            </a:r>
            <a:r>
              <a:rPr lang="en-US" altLang="zh-TW" dirty="0"/>
              <a:t>(</a:t>
            </a:r>
            <a:r>
              <a:rPr lang="en-US" altLang="zh-TW" dirty="0" err="1"/>
              <a:t>x,y</a:t>
            </a:r>
            <a:r>
              <a:rPr lang="en-US" altLang="zh-TW" dirty="0"/>
              <a:t>)</a:t>
            </a:r>
            <a:r>
              <a:rPr lang="zh-TW" altLang="en-US" dirty="0"/>
              <a:t>，</a:t>
            </a:r>
            <a:r>
              <a:rPr lang="zh-TW" altLang="en-US" dirty="0" smtClean="0"/>
              <a:t>計算</a:t>
            </a:r>
            <a:endParaRPr lang="en-US" altLang="zh-TW" dirty="0"/>
          </a:p>
          <a:p>
            <a:r>
              <a:rPr lang="en-US" altLang="zh-TW" dirty="0" smtClean="0"/>
              <a:t>	2.1 </a:t>
            </a:r>
            <a:r>
              <a:rPr lang="zh-TW" altLang="en-US" dirty="0"/>
              <a:t>對於中每一個</a:t>
            </a:r>
            <a:r>
              <a:rPr lang="en-US" altLang="zh-TW" dirty="0"/>
              <a:t>a</a:t>
            </a:r>
            <a:r>
              <a:rPr lang="zh-TW" altLang="en-US" dirty="0"/>
              <a:t>，計算通過</a:t>
            </a:r>
            <a:r>
              <a:rPr lang="en-US" altLang="zh-TW" dirty="0"/>
              <a:t>(</a:t>
            </a:r>
            <a:r>
              <a:rPr lang="en-US" altLang="zh-TW" dirty="0" err="1"/>
              <a:t>x,y</a:t>
            </a:r>
            <a:r>
              <a:rPr lang="en-US" altLang="zh-TW" dirty="0"/>
              <a:t>)</a:t>
            </a:r>
            <a:r>
              <a:rPr lang="zh-TW" altLang="en-US" dirty="0"/>
              <a:t>的所有直線的</a:t>
            </a:r>
            <a:r>
              <a:rPr lang="en-US" altLang="zh-TW" dirty="0"/>
              <a:t>(</a:t>
            </a:r>
            <a:r>
              <a:rPr lang="en-US" altLang="zh-TW" dirty="0" err="1"/>
              <a:t>a’,b</a:t>
            </a:r>
            <a:r>
              <a:rPr lang="en-US" altLang="zh-TW" dirty="0"/>
              <a:t>’) </a:t>
            </a:r>
            <a:r>
              <a:rPr lang="en-US" altLang="zh-TW" dirty="0" smtClean="0"/>
              <a:t>	</a:t>
            </a:r>
          </a:p>
          <a:p>
            <a:r>
              <a:rPr lang="en-US" altLang="zh-TW" dirty="0"/>
              <a:t>	</a:t>
            </a:r>
            <a:r>
              <a:rPr lang="en-US" altLang="zh-TW" dirty="0" smtClean="0"/>
              <a:t>2.2 </a:t>
            </a:r>
            <a:r>
              <a:rPr lang="zh-TW" altLang="en-US" dirty="0"/>
              <a:t>在</a:t>
            </a:r>
            <a:r>
              <a:rPr lang="en-US" altLang="zh-TW" dirty="0"/>
              <a:t>accumulator</a:t>
            </a:r>
            <a:r>
              <a:rPr lang="zh-TW" altLang="en-US" dirty="0"/>
              <a:t>的</a:t>
            </a:r>
            <a:r>
              <a:rPr lang="en-US" altLang="zh-TW" dirty="0"/>
              <a:t>(</a:t>
            </a:r>
            <a:r>
              <a:rPr lang="en-US" altLang="zh-TW" dirty="0" err="1"/>
              <a:t>a’,b</a:t>
            </a:r>
            <a:r>
              <a:rPr lang="en-US" altLang="zh-TW" dirty="0"/>
              <a:t>’)</a:t>
            </a:r>
            <a:r>
              <a:rPr lang="zh-TW" altLang="en-US" dirty="0"/>
              <a:t>位置上累加一次 尋找下一個</a:t>
            </a:r>
            <a:r>
              <a:rPr lang="zh-TW" altLang="en-US" dirty="0" smtClean="0"/>
              <a:t>特</a:t>
            </a:r>
            <a:r>
              <a:rPr lang="en-US" altLang="zh-TW" dirty="0" smtClean="0"/>
              <a:t>	       </a:t>
            </a:r>
            <a:r>
              <a:rPr lang="zh-TW" altLang="en-US" dirty="0" smtClean="0"/>
              <a:t>徵</a:t>
            </a:r>
            <a:r>
              <a:rPr lang="zh-TW" altLang="en-US" dirty="0"/>
              <a:t>點，重複步驟</a:t>
            </a:r>
            <a:r>
              <a:rPr lang="en-US" altLang="zh-TW" dirty="0"/>
              <a:t>2.1</a:t>
            </a:r>
            <a:r>
              <a:rPr lang="zh-TW" altLang="en-US" dirty="0"/>
              <a:t>和</a:t>
            </a:r>
            <a:r>
              <a:rPr lang="en-US" altLang="zh-TW" dirty="0"/>
              <a:t>2.2</a:t>
            </a:r>
            <a:r>
              <a:rPr lang="zh-TW" altLang="en-US" dirty="0"/>
              <a:t>，直到所有特徵點都通過</a:t>
            </a:r>
            <a:r>
              <a:rPr lang="zh-TW" altLang="en-US" dirty="0" smtClean="0"/>
              <a:t>計</a:t>
            </a:r>
            <a:r>
              <a:rPr lang="zh-TW" altLang="en-US" dirty="0"/>
              <a:t>算。</a:t>
            </a:r>
            <a:endParaRPr lang="en-US" altLang="zh-TW" dirty="0" smtClean="0"/>
          </a:p>
          <a:p>
            <a:r>
              <a:rPr lang="en-US" altLang="zh-TW" dirty="0" smtClean="0"/>
              <a:t>3</a:t>
            </a:r>
            <a:r>
              <a:rPr lang="en-US" altLang="zh-TW" dirty="0"/>
              <a:t>. </a:t>
            </a:r>
            <a:r>
              <a:rPr lang="zh-TW" altLang="en-US" dirty="0"/>
              <a:t>找到</a:t>
            </a:r>
            <a:r>
              <a:rPr lang="en-US" altLang="zh-TW" dirty="0"/>
              <a:t>accumulator</a:t>
            </a:r>
            <a:r>
              <a:rPr lang="zh-TW" altLang="en-US" dirty="0"/>
              <a:t>的所有區域最大值</a:t>
            </a:r>
            <a:r>
              <a:rPr lang="en-US" altLang="zh-TW" dirty="0"/>
              <a:t>(maxima) </a:t>
            </a:r>
            <a:r>
              <a:rPr lang="zh-TW" altLang="en-US" dirty="0"/>
              <a:t>。 </a:t>
            </a:r>
            <a:endParaRPr lang="en-US" altLang="zh-TW" dirty="0" smtClean="0"/>
          </a:p>
          <a:p>
            <a:r>
              <a:rPr lang="en-US" altLang="zh-TW" dirty="0" smtClean="0"/>
              <a:t>4</a:t>
            </a:r>
            <a:r>
              <a:rPr lang="en-US" altLang="zh-TW" dirty="0"/>
              <a:t>. </a:t>
            </a:r>
            <a:r>
              <a:rPr lang="zh-TW" altLang="en-US" dirty="0"/>
              <a:t>將每一個</a:t>
            </a:r>
            <a:r>
              <a:rPr lang="en-US" altLang="zh-TW" dirty="0"/>
              <a:t>maxima</a:t>
            </a:r>
            <a:r>
              <a:rPr lang="zh-TW" altLang="en-US" dirty="0"/>
              <a:t>映射回影像空間的每一條代表直線。</a:t>
            </a:r>
          </a:p>
        </p:txBody>
      </p:sp>
    </p:spTree>
    <p:extLst>
      <p:ext uri="{BB962C8B-B14F-4D97-AF65-F5344CB8AC3E}">
        <p14:creationId xmlns:p14="http://schemas.microsoft.com/office/powerpoint/2010/main" val="2032684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Polar system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3525"/>
            <a:ext cx="2216605" cy="443321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5297"/>
            <a:ext cx="2457450" cy="18288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748" y="1533525"/>
            <a:ext cx="577215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15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HOUGH TRANSFORM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06" y="1918968"/>
            <a:ext cx="7827782" cy="406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88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../../../_images/building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19" y="0"/>
            <a:ext cx="6102219" cy="421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../../../_images/hough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85047" cy="421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0" descr="「hough transform algorithm」的圖片搜尋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2060" name="Picture 12" descr="http://www.mathworks.com/matlabcentral/mlc-downloads/downloads/submissions/26978/versions/3/screensho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229" y="4218124"/>
            <a:ext cx="3219360" cy="263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laid.delanover.com/wp-content/uploads/2015/06/trafficsign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589" y="4218124"/>
            <a:ext cx="5628412" cy="263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3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i="1" dirty="0"/>
              <a:t>Matrix Construction on Local Extreme Value and</a:t>
            </a:r>
            <a:br>
              <a:rPr lang="en-US" altLang="zh-TW" i="1" dirty="0"/>
            </a:br>
            <a:r>
              <a:rPr lang="en-US" altLang="zh-TW" i="1" dirty="0"/>
              <a:t>Recognition Result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549" y="4243366"/>
            <a:ext cx="1847850" cy="7524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499" y="1583763"/>
            <a:ext cx="1885950" cy="81915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05" y="2402913"/>
            <a:ext cx="7096125" cy="170497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549" y="4995841"/>
            <a:ext cx="7077075" cy="90487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348" y="5869485"/>
            <a:ext cx="7229475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85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152" y="1825625"/>
            <a:ext cx="7629525" cy="4210050"/>
          </a:xfrm>
          <a:prstGeom prst="rect">
            <a:avLst/>
          </a:prstGeom>
        </p:spPr>
      </p:pic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208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253</Words>
  <Application>Microsoft Office PowerPoint</Application>
  <PresentationFormat>寬螢幕</PresentationFormat>
  <Paragraphs>24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Office 佈景主題</vt:lpstr>
      <vt:lpstr>PowerPoint 簡報</vt:lpstr>
      <vt:lpstr>abstract</vt:lpstr>
      <vt:lpstr>Median filter</vt:lpstr>
      <vt:lpstr>2-D Bidirectional Median Filtering</vt:lpstr>
      <vt:lpstr>2-D Bidirectional Median Filtering</vt:lpstr>
      <vt:lpstr>HOUGH TRANSFORM</vt:lpstr>
      <vt:lpstr>Accumulator</vt:lpstr>
      <vt:lpstr>Polar system</vt:lpstr>
      <vt:lpstr>HOUGH TRANSFORM</vt:lpstr>
      <vt:lpstr>PowerPoint 簡報</vt:lpstr>
      <vt:lpstr>Matrix Construction on Local Extreme Value and Recognition Result</vt:lpstr>
      <vt:lpstr>Result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</dc:creator>
  <cp:lastModifiedBy>Sun</cp:lastModifiedBy>
  <cp:revision>52</cp:revision>
  <dcterms:created xsi:type="dcterms:W3CDTF">2015-05-12T06:52:37Z</dcterms:created>
  <dcterms:modified xsi:type="dcterms:W3CDTF">2015-09-23T12:47:51Z</dcterms:modified>
</cp:coreProperties>
</file>