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4" r:id="rId4"/>
    <p:sldId id="258" r:id="rId5"/>
    <p:sldId id="259" r:id="rId6"/>
    <p:sldId id="260" r:id="rId7"/>
    <p:sldId id="262" r:id="rId8"/>
    <p:sldId id="263" r:id="rId9"/>
    <p:sldId id="269" r:id="rId10"/>
    <p:sldId id="264" r:id="rId11"/>
    <p:sldId id="267" r:id="rId12"/>
    <p:sldId id="270" r:id="rId13"/>
    <p:sldId id="271" r:id="rId14"/>
    <p:sldId id="272" r:id="rId15"/>
    <p:sldId id="273"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中等深淺樣式 1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D1703A-D9BD-43A4-BDDB-46959D5456EA}" type="datetimeFigureOut">
              <a:rPr lang="zh-TW" altLang="en-US" smtClean="0"/>
              <a:t>2020/8/25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814AA5-C080-4B90-A312-54017E190CEC}" type="slidenum">
              <a:rPr lang="zh-TW" altLang="en-US" smtClean="0"/>
              <a:t>‹#›</a:t>
            </a:fld>
            <a:endParaRPr lang="zh-TW" altLang="en-US"/>
          </a:p>
        </p:txBody>
      </p:sp>
    </p:spTree>
    <p:extLst>
      <p:ext uri="{BB962C8B-B14F-4D97-AF65-F5344CB8AC3E}">
        <p14:creationId xmlns:p14="http://schemas.microsoft.com/office/powerpoint/2010/main" val="404948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2000" b="0" i="0" u="sng" dirty="0">
                <a:solidFill>
                  <a:srgbClr val="4D5156"/>
                </a:solidFill>
                <a:effectLst/>
                <a:latin typeface="arial" panose="020B0604020202020204" pitchFamily="34" charset="0"/>
              </a:rPr>
              <a:t>註</a:t>
            </a:r>
            <a:r>
              <a:rPr lang="en-US" altLang="zh-TW" sz="2000" b="0" i="0" u="sng" dirty="0">
                <a:solidFill>
                  <a:srgbClr val="4D5156"/>
                </a:solidFill>
                <a:effectLst/>
                <a:latin typeface="arial" panose="020B0604020202020204" pitchFamily="34" charset="0"/>
              </a:rPr>
              <a:t>1</a:t>
            </a:r>
            <a:r>
              <a:rPr lang="zh-TW" altLang="en-US" sz="2000" b="0" i="0" u="sng" dirty="0">
                <a:solidFill>
                  <a:srgbClr val="4D5156"/>
                </a:solidFill>
                <a:effectLst/>
                <a:latin typeface="arial" panose="020B0604020202020204" pitchFamily="34" charset="0"/>
              </a:rPr>
              <a:t> </a:t>
            </a:r>
            <a:r>
              <a:rPr lang="en-US" altLang="zh-TW" sz="2000" b="0" i="0" u="sng" dirty="0">
                <a:solidFill>
                  <a:srgbClr val="4D5156"/>
                </a:solidFill>
                <a:effectLst/>
                <a:latin typeface="arial" panose="020B0604020202020204" pitchFamily="34" charset="0"/>
              </a:rPr>
              <a:t>:</a:t>
            </a:r>
            <a:r>
              <a:rPr lang="zh-TW" altLang="en-US" sz="2000" b="0" i="0" u="sng" dirty="0">
                <a:solidFill>
                  <a:srgbClr val="4D5156"/>
                </a:solidFill>
                <a:effectLst/>
                <a:latin typeface="arial" panose="020B0604020202020204" pitchFamily="34" charset="0"/>
              </a:rPr>
              <a:t> 由於原始</a:t>
            </a:r>
            <a:r>
              <a:rPr lang="en-US" altLang="zh-TW" sz="2000" b="0" i="0" u="sng" dirty="0">
                <a:solidFill>
                  <a:srgbClr val="4D5156"/>
                </a:solidFill>
                <a:effectLst/>
                <a:latin typeface="arial" panose="020B0604020202020204" pitchFamily="34" charset="0"/>
              </a:rPr>
              <a:t>ppt</a:t>
            </a:r>
            <a:r>
              <a:rPr lang="zh-TW" altLang="en-US" sz="2000" b="0" i="0" u="sng" dirty="0">
                <a:solidFill>
                  <a:srgbClr val="4D5156"/>
                </a:solidFill>
                <a:effectLst/>
                <a:latin typeface="arial" panose="020B0604020202020204" pitchFamily="34" charset="0"/>
              </a:rPr>
              <a:t>當年學長貌似上船錯誤，導致原始檔案遺失，故我透過影片將其修復</a:t>
            </a:r>
            <a:r>
              <a:rPr lang="en-US" altLang="zh-TW" sz="2000" b="0" i="0" u="sng" dirty="0">
                <a:solidFill>
                  <a:srgbClr val="4D5156"/>
                </a:solidFill>
                <a:effectLst/>
                <a:latin typeface="arial" panose="020B0604020202020204" pitchFamily="34" charset="0"/>
              </a:rPr>
              <a:t>(</a:t>
            </a:r>
            <a:r>
              <a:rPr lang="zh-TW" altLang="en-US" sz="2000" b="0" i="0" u="sng" dirty="0">
                <a:solidFill>
                  <a:srgbClr val="4D5156"/>
                </a:solidFill>
                <a:effectLst/>
                <a:latin typeface="arial" panose="020B0604020202020204" pitchFamily="34" charset="0"/>
              </a:rPr>
              <a:t>重作</a:t>
            </a:r>
            <a:r>
              <a:rPr lang="en-US" altLang="zh-TW" sz="2000" b="0" i="0" u="sng" dirty="0">
                <a:solidFill>
                  <a:srgbClr val="4D5156"/>
                </a:solidFill>
                <a:effectLst/>
                <a:latin typeface="arial" panose="020B0604020202020204" pitchFamily="34" charset="0"/>
              </a:rPr>
              <a:t>)</a:t>
            </a:r>
            <a:r>
              <a:rPr lang="zh-TW" altLang="en-US" sz="2000" b="0" i="0" u="sng" dirty="0">
                <a:solidFill>
                  <a:srgbClr val="4D5156"/>
                </a:solidFill>
                <a:effectLst/>
                <a:latin typeface="arial" panose="020B0604020202020204" pitchFamily="34" charset="0"/>
              </a:rPr>
              <a:t>   </a:t>
            </a:r>
            <a:r>
              <a:rPr lang="en-US" altLang="zh-TW" sz="2000" b="0" i="0" u="sng">
                <a:solidFill>
                  <a:srgbClr val="4D5156"/>
                </a:solidFill>
                <a:effectLst/>
                <a:latin typeface="arial" panose="020B0604020202020204" pitchFamily="34" charset="0"/>
              </a:rPr>
              <a:t>2020/8/20</a:t>
            </a:r>
            <a:endParaRPr lang="en-US" altLang="zh-TW" sz="2000" b="0" i="0" u="sng" dirty="0">
              <a:solidFill>
                <a:srgbClr val="4D5156"/>
              </a:solidFill>
              <a:effectLst/>
              <a:latin typeface="arial" panose="020B0604020202020204" pitchFamily="34" charset="0"/>
            </a:endParaRP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a:t>
            </a:fld>
            <a:endParaRPr lang="zh-TW" altLang="en-US"/>
          </a:p>
        </p:txBody>
      </p:sp>
    </p:spTree>
    <p:extLst>
      <p:ext uri="{BB962C8B-B14F-4D97-AF65-F5344CB8AC3E}">
        <p14:creationId xmlns:p14="http://schemas.microsoft.com/office/powerpoint/2010/main" val="139247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err="1">
                <a:latin typeface="Times New Roman" panose="02020603050405020304" pitchFamily="18" charset="0"/>
                <a:cs typeface="Times New Roman" panose="02020603050405020304" pitchFamily="18" charset="0"/>
              </a:rPr>
              <a:t>Schöniger</a:t>
            </a:r>
            <a:r>
              <a:rPr lang="en-US" altLang="zh-TW" sz="1200" dirty="0">
                <a:latin typeface="Times New Roman" panose="02020603050405020304" pitchFamily="18" charset="0"/>
                <a:cs typeface="Times New Roman" panose="02020603050405020304" pitchFamily="18" charset="0"/>
              </a:rPr>
              <a:t>(</a:t>
            </a:r>
            <a:r>
              <a:rPr lang="en-US" altLang="zh-TW" sz="1200" dirty="0" err="1">
                <a:latin typeface="Times New Roman" panose="02020603050405020304" pitchFamily="18" charset="0"/>
                <a:cs typeface="Times New Roman" panose="02020603050405020304" pitchFamily="18" charset="0"/>
              </a:rPr>
              <a:t>shu</a:t>
            </a:r>
            <a:r>
              <a:rPr lang="en-US" altLang="zh-TW" sz="1200" dirty="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ni</a:t>
            </a:r>
            <a:r>
              <a:rPr lang="en-US" altLang="zh-TW" sz="1200" dirty="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ga</a:t>
            </a:r>
            <a:r>
              <a:rPr lang="en-US" altLang="zh-TW" sz="1200" dirty="0">
                <a:latin typeface="Times New Roman" panose="02020603050405020304" pitchFamily="18" charset="0"/>
                <a:cs typeface="Times New Roman" panose="02020603050405020304" pitchFamily="18" charset="0"/>
              </a:rPr>
              <a:t>) </a:t>
            </a:r>
            <a:r>
              <a:rPr lang="zh-TW" altLang="en-US" sz="1200" dirty="0">
                <a:latin typeface="Times New Roman" panose="02020603050405020304" pitchFamily="18" charset="0"/>
                <a:cs typeface="Times New Roman" panose="02020603050405020304" pitchFamily="18" charset="0"/>
              </a:rPr>
              <a:t>德文</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a:t>
            </a:fld>
            <a:endParaRPr lang="zh-TW" altLang="en-US"/>
          </a:p>
        </p:txBody>
      </p:sp>
    </p:spTree>
    <p:extLst>
      <p:ext uri="{BB962C8B-B14F-4D97-AF65-F5344CB8AC3E}">
        <p14:creationId xmlns:p14="http://schemas.microsoft.com/office/powerpoint/2010/main" val="237397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cs typeface="Times New Roman" panose="02020603050405020304" pitchFamily="18" charset="0"/>
              </a:rPr>
              <a:t>Scherer ( like share )</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a:t>
            </a:fld>
            <a:endParaRPr lang="zh-TW" altLang="en-US"/>
          </a:p>
        </p:txBody>
      </p:sp>
    </p:spTree>
    <p:extLst>
      <p:ext uri="{BB962C8B-B14F-4D97-AF65-F5344CB8AC3E}">
        <p14:creationId xmlns:p14="http://schemas.microsoft.com/office/powerpoint/2010/main" val="79760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C00141-63E2-4FC1-88D2-3458A24EF32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36F6CDBF-547A-44F9-8357-47C7ED5563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1B3E492-B903-4F6B-89D7-0474061443AB}"/>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F0A52938-B70C-4D49-900B-BADC6AE1FD8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87EAEF2-5C99-4226-A23F-8D96308703EC}"/>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95511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4D2A-CF6B-4BA9-BDA9-72C4AD6F95A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F1F8DA8-7249-4016-8F64-EC467F32867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364CC1A-1041-4278-BD32-78DFEA163C88}"/>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F17C3C26-5E0E-4940-8256-C0597AB060B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4B4125B-04B0-467A-8DC3-60F204B6C20A}"/>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2786515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F4DD14-46B7-4C0F-BDB7-EBCC2C1A10A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86C80150-D059-464C-8739-41EF73CC1B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637B05D-6602-402A-80E5-7A4FE6795A01}"/>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593459CB-A76B-478E-99B2-39B22D5695B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763AED2-430E-4A2F-A0E8-980060605B3D}"/>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3595540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548301-E0FB-48EC-80A1-7549FD1D93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0BB37F5-8551-46A7-A37E-F95AD22C1F2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823F8DF-4505-49B3-AAB6-3A0E2CBCAF1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4C22AA6-7A3D-4F3A-8142-8684B9B5F02B}"/>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6" name="頁尾版面配置區 5">
            <a:extLst>
              <a:ext uri="{FF2B5EF4-FFF2-40B4-BE49-F238E27FC236}">
                <a16:creationId xmlns:a16="http://schemas.microsoft.com/office/drawing/2014/main" id="{E8D9AF8E-404F-4333-BFFD-E96A1ECFC30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4E425BE-6BD7-4765-81C7-A221DA6EB167}"/>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3568326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F33BC0-D210-4576-8BBE-04AA92CE504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B96A572-F071-45F5-9626-F1A85CF9F0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35B7EC71-E31F-43B0-9D8A-BCE1682619ED}"/>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8A23D0E-40BC-4519-962F-E42042E254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4484282-B8B3-4611-A50F-16282A208DE8}"/>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C05B6E2-31F8-4BC6-9AB6-3E49CA3E636E}"/>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8" name="頁尾版面配置區 7">
            <a:extLst>
              <a:ext uri="{FF2B5EF4-FFF2-40B4-BE49-F238E27FC236}">
                <a16:creationId xmlns:a16="http://schemas.microsoft.com/office/drawing/2014/main" id="{3666323B-4CD6-4C91-95E8-D4BBD2A0031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907C2FC-EB24-40AB-AE71-3443D01FC804}"/>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2205558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8C488E-C321-4A9D-B214-7321D9E91C8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621EDFA-AEE1-4FEA-AEA3-B50E22B2B97C}"/>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4" name="頁尾版面配置區 3">
            <a:extLst>
              <a:ext uri="{FF2B5EF4-FFF2-40B4-BE49-F238E27FC236}">
                <a16:creationId xmlns:a16="http://schemas.microsoft.com/office/drawing/2014/main" id="{AD026BF7-D135-45C9-869E-BAF42B1D056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3AF93D9-BFDC-435F-9DC3-8B69E1279150}"/>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3990507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C16CB8F-CA28-4F2A-B409-CFF735547FF0}"/>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3" name="頁尾版面配置區 2">
            <a:extLst>
              <a:ext uri="{FF2B5EF4-FFF2-40B4-BE49-F238E27FC236}">
                <a16:creationId xmlns:a16="http://schemas.microsoft.com/office/drawing/2014/main" id="{0739572E-67EF-4D2D-A3A9-85864E0C4EF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2D33DA-B789-4FDA-B9A5-B3DBA3010CD8}"/>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3450985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91D823-B823-4EE6-A523-CD70983DD3E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767BFBD-FE9C-4D24-99BD-0314A3BB40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CD1BE64-909B-4734-97E3-B5F574327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91A4AED-988C-495A-95EB-6B79C41ABDFB}"/>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6" name="頁尾版面配置區 5">
            <a:extLst>
              <a:ext uri="{FF2B5EF4-FFF2-40B4-BE49-F238E27FC236}">
                <a16:creationId xmlns:a16="http://schemas.microsoft.com/office/drawing/2014/main" id="{DFD5EC15-5A65-4406-9291-4550426EE61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26368D5-2759-46BE-A673-0A4ECBC7646F}"/>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4032195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2B85A0-6736-4A58-A8C3-001484451EB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99E988D-60EA-4A0E-9DAA-1600DA88B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2AFD866-0F41-4926-844F-BF3B6DB85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0645DE8-53F7-45CA-8714-860FFC9CE988}"/>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6" name="頁尾版面配置區 5">
            <a:extLst>
              <a:ext uri="{FF2B5EF4-FFF2-40B4-BE49-F238E27FC236}">
                <a16:creationId xmlns:a16="http://schemas.microsoft.com/office/drawing/2014/main" id="{FE2A2D4B-C899-4C25-BA50-0471E7BCDC0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4F097BB-1FE6-4E3E-A5E3-350A6304F99C}"/>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2088539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0E7005-25A9-490B-92E3-2E1339F73BA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EC70DED-F3AF-4DE3-8930-3C39D5E1D68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899C588-E8EE-45D8-8FC7-3B45F5FE7DA1}"/>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2F422967-4911-45B7-8534-0732A828C14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B39E544-E6BE-4F43-95E6-5BF73D4814E8}"/>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2591920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2F583D9-EDDB-4685-9181-21CDBF521E3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B64C524-74C3-4314-B107-39CE8D608C53}"/>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9167006-731E-4517-92F0-5BE34D4E4A6C}"/>
              </a:ext>
            </a:extLst>
          </p:cNvPr>
          <p:cNvSpPr>
            <a:spLocks noGrp="1"/>
          </p:cNvSpPr>
          <p:nvPr>
            <p:ph type="dt" sz="half" idx="10"/>
          </p:nvPr>
        </p:nvSpPr>
        <p:spPr/>
        <p:txBody>
          <a:bodyPr/>
          <a:lstStyle/>
          <a:p>
            <a:fld id="{8C49944D-BFB7-45AE-8AD0-0678F8171F5C}"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9E63E97E-9DEB-49AC-8886-4CD221D44D2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F51F170-32C3-4760-A017-154B1AB9CE8A}"/>
              </a:ext>
            </a:extLst>
          </p:cNvPr>
          <p:cNvSpPr>
            <a:spLocks noGrp="1"/>
          </p:cNvSpPr>
          <p:nvPr>
            <p:ph type="sldNum" sz="quarter" idx="12"/>
          </p:nvPr>
        </p:nvSpPr>
        <p:spPr/>
        <p:txBody>
          <a:body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2496952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9A83BAF-C87D-47DB-B7A2-EF9ED112B0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B6D232B-34C8-45EC-BECC-BD2DCE8315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3340DF5-B568-44C0-ABB5-3E61C7D3BB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49944D-BFB7-45AE-8AD0-0678F8171F5C}" type="datetimeFigureOut">
              <a:rPr lang="zh-TW" altLang="en-US" smtClean="0"/>
              <a:t>2020/8/25</a:t>
            </a:fld>
            <a:endParaRPr lang="zh-TW" altLang="en-US"/>
          </a:p>
        </p:txBody>
      </p:sp>
      <p:sp>
        <p:nvSpPr>
          <p:cNvPr id="5" name="頁尾版面配置區 4">
            <a:extLst>
              <a:ext uri="{FF2B5EF4-FFF2-40B4-BE49-F238E27FC236}">
                <a16:creationId xmlns:a16="http://schemas.microsoft.com/office/drawing/2014/main" id="{C0A77BA9-8B14-4D79-95BC-D44BFBF73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48BA065-8731-4778-A94B-723DBA592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A9E99B-6DE0-4DFE-8E1F-D8A93FE48862}" type="slidenum">
              <a:rPr lang="zh-TW" altLang="en-US" smtClean="0"/>
              <a:t>‹#›</a:t>
            </a:fld>
            <a:endParaRPr lang="zh-TW" altLang="en-US"/>
          </a:p>
        </p:txBody>
      </p:sp>
    </p:spTree>
    <p:extLst>
      <p:ext uri="{BB962C8B-B14F-4D97-AF65-F5344CB8AC3E}">
        <p14:creationId xmlns:p14="http://schemas.microsoft.com/office/powerpoint/2010/main" val="1102323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604685"/>
            <a:ext cx="9829014" cy="871815"/>
          </a:xfrm>
        </p:spPr>
        <p:txBody>
          <a:bodyPr>
            <a:normAutofit fontScale="90000"/>
          </a:bodyPr>
          <a:lstStyle/>
          <a:p>
            <a:r>
              <a:rPr lang="en-US" altLang="zh-TW" sz="4400" dirty="0">
                <a:latin typeface="Times New Roman" panose="02020603050405020304" pitchFamily="18" charset="0"/>
                <a:cs typeface="Times New Roman" panose="02020603050405020304" pitchFamily="18" charset="0"/>
              </a:rPr>
              <a:t>Alignment with Non-overlapping Inversions in</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O(</a:t>
            </a:r>
            <a:r>
              <a:rPr lang="en-US" altLang="zh-TW" sz="4400" i="1" dirty="0">
                <a:latin typeface="Times New Roman" panose="02020603050405020304" pitchFamily="18" charset="0"/>
                <a:cs typeface="Times New Roman" panose="02020603050405020304" pitchFamily="18" charset="0"/>
              </a:rPr>
              <a:t>n</a:t>
            </a:r>
            <a:r>
              <a:rPr lang="en-US" altLang="zh-TW" sz="4400" baseline="30000" dirty="0">
                <a:latin typeface="Times New Roman" panose="02020603050405020304" pitchFamily="18" charset="0"/>
                <a:cs typeface="Times New Roman" panose="02020603050405020304" pitchFamily="18" charset="0"/>
              </a:rPr>
              <a:t>3</a:t>
            </a:r>
            <a:r>
              <a:rPr lang="en-US" altLang="zh-TW" sz="4400" dirty="0">
                <a:latin typeface="Times New Roman" panose="02020603050405020304" pitchFamily="18" charset="0"/>
                <a:cs typeface="Times New Roman" panose="02020603050405020304" pitchFamily="18" charset="0"/>
              </a:rPr>
              <a:t>)-Time</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609600" y="3656415"/>
            <a:ext cx="11163299" cy="1655762"/>
          </a:xfrm>
        </p:spPr>
        <p:txBody>
          <a:bodyPr>
            <a:noAutofit/>
          </a:bodyPr>
          <a:lstStyle/>
          <a:p>
            <a:r>
              <a:rPr lang="pt-BR" altLang="zh-TW" dirty="0">
                <a:latin typeface="Times New Roman" panose="02020603050405020304" pitchFamily="18" charset="0"/>
                <a:cs typeface="Times New Roman" panose="02020603050405020304" pitchFamily="18" charset="0"/>
              </a:rPr>
              <a:t>Augusto F. Vellozo, Carlos E.R. Alves, and Alair Pereira do Lago</a:t>
            </a:r>
          </a:p>
          <a:p>
            <a:endParaRPr lang="de-DE"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Algorithms in Bioinformatics: 6th International Workshop, WABI 2006, Zurich, Switzerland, September 11-13, 2006. Proceedings (pp.186-196)</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EAEC4D25-9ABF-4EA3-BD8D-ACD84E94CF46}"/>
              </a:ext>
            </a:extLst>
          </p:cNvPr>
          <p:cNvSpPr txBox="1"/>
          <p:nvPr/>
        </p:nvSpPr>
        <p:spPr>
          <a:xfrm>
            <a:off x="4245006" y="5783062"/>
            <a:ext cx="3966839" cy="92333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Tzu-Chiang Hsu(</a:t>
            </a:r>
            <a:r>
              <a:rPr lang="zh-TW" altLang="en-US" dirty="0">
                <a:latin typeface="標楷體" panose="03000509000000000000" pitchFamily="65" charset="-120"/>
                <a:ea typeface="標楷體" panose="03000509000000000000" pitchFamily="65" charset="-120"/>
                <a:cs typeface="Times New Roman" panose="02020603050405020304" pitchFamily="18" charset="0"/>
              </a:rPr>
              <a:t>徐子強</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2015/08/25</a:t>
            </a:r>
          </a:p>
          <a:p>
            <a:r>
              <a:rPr lang="zh-TW" altLang="en-US" dirty="0">
                <a:latin typeface="標楷體" panose="03000509000000000000" pitchFamily="65" charset="-120"/>
                <a:ea typeface="標楷體" panose="03000509000000000000" pitchFamily="65" charset="-120"/>
                <a:cs typeface="Times New Roman" panose="02020603050405020304" pitchFamily="18" charset="0"/>
              </a:rPr>
              <a:t>修復者</a:t>
            </a:r>
            <a:r>
              <a:rPr lang="zh-TW" altLang="en-US" baseline="-25000" dirty="0">
                <a:latin typeface="標楷體" panose="03000509000000000000" pitchFamily="65" charset="-120"/>
                <a:ea typeface="標楷體" panose="03000509000000000000" pitchFamily="65" charset="-120"/>
                <a:cs typeface="Times New Roman" panose="02020603050405020304" pitchFamily="18" charset="0"/>
              </a:rPr>
              <a:t>註</a:t>
            </a:r>
            <a:r>
              <a:rPr lang="en-US" altLang="zh-TW" baseline="-25000" dirty="0">
                <a:latin typeface="標楷體" panose="03000509000000000000" pitchFamily="65" charset="-120"/>
                <a:ea typeface="標楷體" panose="03000509000000000000" pitchFamily="65" charset="-120"/>
                <a:cs typeface="Times New Roman" panose="02020603050405020304" pitchFamily="18" charset="0"/>
              </a:rPr>
              <a:t>1</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Yu-Cheng Chang</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張育誠</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endParaRPr lang="zh-TW" altLang="en-US" dirty="0">
              <a:latin typeface="標楷體" panose="03000509000000000000" pitchFamily="65" charset="-12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 (1/2)</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p:txBody>
          <a:bodyPr>
            <a:noAutofit/>
          </a:bodyPr>
          <a:lstStyle/>
          <a:p>
            <a:pPr marL="0" indent="0">
              <a:lnSpc>
                <a:spcPts val="3100"/>
              </a:lnSpc>
              <a:spcBef>
                <a:spcPts val="1800"/>
              </a:spcBef>
              <a:buNone/>
            </a:pPr>
            <a:r>
              <a:rPr lang="en-US" altLang="zh-TW" sz="2400" dirty="0">
                <a:latin typeface="Times New Roman" panose="02020603050405020304" pitchFamily="18" charset="0"/>
                <a:cs typeface="Times New Roman" panose="02020603050405020304" pitchFamily="18" charset="0"/>
              </a:rPr>
              <a:t>Alignments of sequences are widely used for biological sequence comparisons. Only biological events like mutations, insertions and deletions are usually modeled and other biological events like inversions are not automatically detected by the usual alignment algorithms. </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Alignment with inversions does not have a known polynomial algorithm and a simplification to the problem that considers only non-overlapping inversions were proposed by </a:t>
            </a:r>
            <a:r>
              <a:rPr lang="en-US" altLang="zh-TW" sz="2400" dirty="0" err="1">
                <a:latin typeface="Times New Roman" panose="02020603050405020304" pitchFamily="18" charset="0"/>
                <a:cs typeface="Times New Roman" panose="02020603050405020304" pitchFamily="18" charset="0"/>
              </a:rPr>
              <a:t>Schöniger</a:t>
            </a:r>
            <a:r>
              <a:rPr lang="en-US" altLang="zh-TW" sz="2400" dirty="0">
                <a:latin typeface="Times New Roman" panose="02020603050405020304" pitchFamily="18" charset="0"/>
                <a:cs typeface="Times New Roman" panose="02020603050405020304" pitchFamily="18" charset="0"/>
              </a:rPr>
              <a:t> and Waterman [20] in 1992 as well as a corresponding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6</a:t>
            </a:r>
            <a:r>
              <a:rPr lang="en-US" altLang="zh-TW" sz="2400" dirty="0">
                <a:latin typeface="Times New Roman" panose="02020603050405020304" pitchFamily="18" charset="0"/>
                <a:cs typeface="Times New Roman" panose="02020603050405020304" pitchFamily="18" charset="0"/>
              </a:rPr>
              <a:t>) solution. An improvement to an algorithm with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log</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)-time complexity was announced in an extended abstract [1] and, in this present paper, we give an algorithm that solves this simplified problem in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)-time and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)-space in the more general framework of an edit graph.</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80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p:txBody>
          <a:bodyPr>
            <a:noAutofit/>
          </a:bodyPr>
          <a:lstStyle/>
          <a:p>
            <a:pPr marL="0" indent="0">
              <a:lnSpc>
                <a:spcPts val="3100"/>
              </a:lnSpc>
              <a:buNone/>
            </a:pPr>
            <a:r>
              <a:rPr lang="en-US" altLang="zh-TW" sz="2400" dirty="0">
                <a:latin typeface="Times New Roman" panose="02020603050405020304" pitchFamily="18" charset="0"/>
                <a:cs typeface="Times New Roman" panose="02020603050405020304" pitchFamily="18" charset="0"/>
              </a:rPr>
              <a:t>Inversions have recently [4,7,13,17] been discovered to be very important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in Comparative Genomics and Scherer et al. in 2005 [11] experimentally</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verified inversions that were found to be polymorphic in the human</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genome. Moreover, 10% of the 1,576 putative inversions reported overlap</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RefSeq</a:t>
            </a:r>
            <a:r>
              <a:rPr lang="en-US" altLang="zh-TW" sz="2400" dirty="0">
                <a:latin typeface="Times New Roman" panose="02020603050405020304" pitchFamily="18" charset="0"/>
                <a:cs typeface="Times New Roman" panose="02020603050405020304" pitchFamily="18" charset="0"/>
              </a:rPr>
              <a:t> genes in the human genome. We believe our new algorithms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may open the possibility to more detailed studies of inversions on DNA</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sequences using exact optimization algorithms and we hope this may be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particularly interesting if applied to regions around known rearrangements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boundaries. Scherer report 29 such cases and prioritize them as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candidates for biological and evolutionary studies.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828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D115BC2-1E5F-4789-A5F7-EA2B3F2EF83F}"/>
              </a:ext>
            </a:extLst>
          </p:cNvPr>
          <p:cNvSpPr>
            <a:spLocks noGrp="1"/>
          </p:cNvSpPr>
          <p:nvPr>
            <p:ph idx="1"/>
          </p:nvPr>
        </p:nvSpPr>
        <p:spPr>
          <a:xfrm>
            <a:off x="838200" y="692458"/>
            <a:ext cx="10515600" cy="5484505"/>
          </a:xfrm>
        </p:spPr>
        <p:txBody>
          <a:bodyPr>
            <a:normAutofit/>
          </a:bodyPr>
          <a:lstStyle/>
          <a:p>
            <a:pPr marL="0" indent="0">
              <a:buNone/>
            </a:pPr>
            <a:r>
              <a:rPr lang="en-US" altLang="zh-TW" sz="4000" dirty="0">
                <a:latin typeface="Times New Roman" panose="02020603050405020304" pitchFamily="18" charset="0"/>
                <a:cs typeface="Times New Roman" panose="02020603050405020304" pitchFamily="18" charset="0"/>
              </a:rPr>
              <a:t>insertion / deletion : </a:t>
            </a:r>
            <a:r>
              <a:rPr lang="en-US" altLang="zh-TW" sz="4000" dirty="0">
                <a:solidFill>
                  <a:srgbClr val="00B0F0"/>
                </a:solidFill>
                <a:latin typeface="Times New Roman" panose="02020603050405020304" pitchFamily="18" charset="0"/>
                <a:cs typeface="Times New Roman" panose="02020603050405020304" pitchFamily="18" charset="0"/>
              </a:rPr>
              <a:t>-1</a:t>
            </a:r>
          </a:p>
          <a:p>
            <a:pPr marL="0" indent="0">
              <a:buNone/>
            </a:pPr>
            <a:r>
              <a:rPr lang="en-US" altLang="zh-TW" sz="4000" dirty="0">
                <a:latin typeface="Times New Roman" panose="02020603050405020304" pitchFamily="18" charset="0"/>
                <a:cs typeface="Times New Roman" panose="02020603050405020304" pitchFamily="18" charset="0"/>
              </a:rPr>
              <a:t>substitution : </a:t>
            </a:r>
            <a:r>
              <a:rPr lang="en-US" altLang="zh-TW" sz="4000" dirty="0">
                <a:solidFill>
                  <a:srgbClr val="00B0F0"/>
                </a:solidFill>
                <a:latin typeface="Times New Roman" panose="02020603050405020304" pitchFamily="18" charset="0"/>
                <a:cs typeface="Times New Roman" panose="02020603050405020304" pitchFamily="18" charset="0"/>
              </a:rPr>
              <a:t>-1</a:t>
            </a:r>
          </a:p>
          <a:p>
            <a:pPr marL="0" indent="0">
              <a:buNone/>
            </a:pPr>
            <a:r>
              <a:rPr lang="en-US" altLang="zh-TW" sz="4000" dirty="0">
                <a:latin typeface="Times New Roman" panose="02020603050405020304" pitchFamily="18" charset="0"/>
                <a:cs typeface="Times New Roman" panose="02020603050405020304" pitchFamily="18" charset="0"/>
              </a:rPr>
              <a:t>match : </a:t>
            </a:r>
            <a:r>
              <a:rPr lang="en-US" altLang="zh-TW" sz="4000" dirty="0">
                <a:solidFill>
                  <a:srgbClr val="00B0F0"/>
                </a:solidFill>
                <a:latin typeface="Times New Roman" panose="02020603050405020304" pitchFamily="18" charset="0"/>
                <a:cs typeface="Times New Roman" panose="02020603050405020304" pitchFamily="18" charset="0"/>
              </a:rPr>
              <a:t>1</a:t>
            </a:r>
          </a:p>
          <a:p>
            <a:pPr marL="0" indent="0">
              <a:buNone/>
            </a:pPr>
            <a:r>
              <a:rPr lang="en-US" altLang="zh-TW" sz="4000" dirty="0">
                <a:latin typeface="Times New Roman" panose="02020603050405020304" pitchFamily="18" charset="0"/>
                <a:cs typeface="Times New Roman" panose="02020603050405020304" pitchFamily="18" charset="0"/>
              </a:rPr>
              <a:t>non-overlapping inversion : </a:t>
            </a:r>
            <a:r>
              <a:rPr lang="en-US" altLang="zh-TW" sz="4000" dirty="0">
                <a:solidFill>
                  <a:srgbClr val="00B0F0"/>
                </a:solidFill>
                <a:latin typeface="Times New Roman" panose="02020603050405020304" pitchFamily="18" charset="0"/>
                <a:cs typeface="Times New Roman" panose="02020603050405020304" pitchFamily="18" charset="0"/>
              </a:rPr>
              <a:t>c</a:t>
            </a:r>
          </a:p>
          <a:p>
            <a:pPr marL="0" indent="0">
              <a:buNone/>
            </a:pPr>
            <a:endParaRPr lang="en-US" altLang="zh-TW" sz="4800" dirty="0">
              <a:latin typeface="Times New Roman" panose="02020603050405020304" pitchFamily="18" charset="0"/>
              <a:cs typeface="Times New Roman" panose="02020603050405020304" pitchFamily="18" charset="0"/>
            </a:endParaRPr>
          </a:p>
          <a:p>
            <a:pPr marL="0" indent="0" algn="ctr">
              <a:buNone/>
            </a:pPr>
            <a:r>
              <a:rPr lang="en-US" altLang="zh-TW" sz="5200" dirty="0" err="1">
                <a:solidFill>
                  <a:srgbClr val="92D050"/>
                </a:solidFill>
                <a:latin typeface="Times New Roman" panose="02020603050405020304" pitchFamily="18" charset="0"/>
                <a:cs typeface="Times New Roman" panose="02020603050405020304" pitchFamily="18" charset="0"/>
              </a:rPr>
              <a:t>aatg</a:t>
            </a:r>
            <a:r>
              <a:rPr lang="en-US" altLang="zh-TW" sz="5200" dirty="0">
                <a:latin typeface="Times New Roman" panose="02020603050405020304" pitchFamily="18" charset="0"/>
                <a:cs typeface="Times New Roman" panose="02020603050405020304" pitchFamily="18" charset="0"/>
              </a:rPr>
              <a:t>  </a:t>
            </a:r>
            <a:r>
              <a:rPr lang="zh-TW" altLang="en-US" sz="5200" dirty="0">
                <a:latin typeface="Times New Roman" panose="02020603050405020304" pitchFamily="18" charset="0"/>
                <a:cs typeface="Times New Roman" panose="02020603050405020304" pitchFamily="18" charset="0"/>
              </a:rPr>
              <a:t>→</a:t>
            </a:r>
            <a:r>
              <a:rPr lang="en-US" altLang="zh-TW" sz="5200" dirty="0">
                <a:latin typeface="Times New Roman" panose="02020603050405020304" pitchFamily="18" charset="0"/>
                <a:cs typeface="Times New Roman" panose="02020603050405020304" pitchFamily="18" charset="0"/>
              </a:rPr>
              <a:t>  </a:t>
            </a:r>
            <a:r>
              <a:rPr lang="en-US" altLang="zh-TW" sz="5200" dirty="0" err="1">
                <a:solidFill>
                  <a:srgbClr val="92D050"/>
                </a:solidFill>
                <a:latin typeface="Times New Roman" panose="02020603050405020304" pitchFamily="18" charset="0"/>
                <a:cs typeface="Times New Roman" panose="02020603050405020304" pitchFamily="18" charset="0"/>
              </a:rPr>
              <a:t>ttcatgacg</a:t>
            </a:r>
            <a:endParaRPr lang="zh-TW" altLang="en-US" sz="5200" dirty="0">
              <a:solidFill>
                <a:srgbClr val="92D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142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625AAE-3198-4135-B565-07932EA8714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non-overlapping inversion: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8094BB4-8FB5-40B9-8D57-4D04AD274444}"/>
              </a:ext>
            </a:extLst>
          </p:cNvPr>
          <p:cNvSpPr>
            <a:spLocks noGrp="1"/>
          </p:cNvSpPr>
          <p:nvPr>
            <p:ph idx="1"/>
          </p:nvPr>
        </p:nvSpPr>
        <p:spPr/>
        <p:txBody>
          <a:bodyPr>
            <a:normAutofit/>
          </a:bodyPr>
          <a:lstStyle/>
          <a:p>
            <a:pPr marL="0" indent="0" algn="ctr">
              <a:buNone/>
            </a:pPr>
            <a:r>
              <a:rPr lang="en-US" altLang="zh-TW" sz="5200" dirty="0" err="1">
                <a:solidFill>
                  <a:srgbClr val="92D050"/>
                </a:solidFill>
                <a:latin typeface="Times New Roman" panose="02020603050405020304" pitchFamily="18" charset="0"/>
                <a:cs typeface="Times New Roman" panose="02020603050405020304" pitchFamily="18" charset="0"/>
              </a:rPr>
              <a:t>tt</a:t>
            </a:r>
            <a:r>
              <a:rPr lang="en-US" altLang="zh-TW" sz="5200" dirty="0" err="1">
                <a:solidFill>
                  <a:srgbClr val="00B0F0"/>
                </a:solidFill>
                <a:latin typeface="Times New Roman" panose="02020603050405020304" pitchFamily="18" charset="0"/>
                <a:cs typeface="Times New Roman" panose="02020603050405020304" pitchFamily="18" charset="0"/>
              </a:rPr>
              <a:t>catga</a:t>
            </a:r>
            <a:r>
              <a:rPr lang="en-US" altLang="zh-TW" sz="5200" dirty="0" err="1">
                <a:solidFill>
                  <a:srgbClr val="92D050"/>
                </a:solidFill>
                <a:latin typeface="Times New Roman" panose="02020603050405020304" pitchFamily="18" charset="0"/>
                <a:cs typeface="Times New Roman" panose="02020603050405020304" pitchFamily="18" charset="0"/>
              </a:rPr>
              <a:t>cg</a:t>
            </a:r>
            <a:endParaRPr lang="en-US" altLang="zh-TW" sz="5200" dirty="0">
              <a:solidFill>
                <a:srgbClr val="92D050"/>
              </a:solidFill>
              <a:latin typeface="Times New Roman" panose="02020603050405020304" pitchFamily="18" charset="0"/>
              <a:cs typeface="Times New Roman" panose="02020603050405020304" pitchFamily="18" charset="0"/>
            </a:endParaRPr>
          </a:p>
          <a:p>
            <a:pPr marL="0" indent="0" algn="ctr">
              <a:buNone/>
            </a:pPr>
            <a:endParaRPr lang="en-US" altLang="zh-TW" sz="5200" dirty="0">
              <a:solidFill>
                <a:srgbClr val="92D050"/>
              </a:solidFill>
              <a:latin typeface="Times New Roman" panose="02020603050405020304" pitchFamily="18" charset="0"/>
              <a:cs typeface="Times New Roman" panose="02020603050405020304" pitchFamily="18" charset="0"/>
            </a:endParaRPr>
          </a:p>
          <a:p>
            <a:pPr marL="0" indent="0" algn="ctr">
              <a:buNone/>
            </a:pPr>
            <a:r>
              <a:rPr lang="en-US" altLang="zh-TW" sz="5200" dirty="0" err="1">
                <a:solidFill>
                  <a:srgbClr val="92D050"/>
                </a:solidFill>
                <a:latin typeface="Times New Roman" panose="02020603050405020304" pitchFamily="18" charset="0"/>
                <a:cs typeface="Times New Roman" panose="02020603050405020304" pitchFamily="18" charset="0"/>
              </a:rPr>
              <a:t>tt</a:t>
            </a:r>
            <a:r>
              <a:rPr lang="en-US" altLang="zh-TW" sz="5200" dirty="0" err="1">
                <a:solidFill>
                  <a:srgbClr val="00B0F0"/>
                </a:solidFill>
                <a:latin typeface="Times New Roman" panose="02020603050405020304" pitchFamily="18" charset="0"/>
                <a:cs typeface="Times New Roman" panose="02020603050405020304" pitchFamily="18" charset="0"/>
              </a:rPr>
              <a:t>agtac</a:t>
            </a:r>
            <a:r>
              <a:rPr lang="en-US" altLang="zh-TW" sz="5200" dirty="0" err="1">
                <a:solidFill>
                  <a:srgbClr val="92D050"/>
                </a:solidFill>
                <a:latin typeface="Times New Roman" panose="02020603050405020304" pitchFamily="18" charset="0"/>
                <a:cs typeface="Times New Roman" panose="02020603050405020304" pitchFamily="18" charset="0"/>
              </a:rPr>
              <a:t>cg</a:t>
            </a:r>
            <a:endParaRPr lang="en-US" altLang="zh-TW" sz="5200" dirty="0">
              <a:solidFill>
                <a:srgbClr val="92D050"/>
              </a:solidFill>
              <a:latin typeface="Times New Roman" panose="02020603050405020304" pitchFamily="18" charset="0"/>
              <a:cs typeface="Times New Roman" panose="02020603050405020304" pitchFamily="18" charset="0"/>
            </a:endParaRPr>
          </a:p>
          <a:p>
            <a:pPr marL="0" indent="0" algn="ctr">
              <a:buNone/>
            </a:pPr>
            <a:endParaRPr lang="en-US" altLang="zh-TW" sz="5200" dirty="0">
              <a:solidFill>
                <a:srgbClr val="92D050"/>
              </a:solidFill>
              <a:latin typeface="Times New Roman" panose="02020603050405020304" pitchFamily="18" charset="0"/>
              <a:cs typeface="Times New Roman" panose="02020603050405020304" pitchFamily="18" charset="0"/>
            </a:endParaRPr>
          </a:p>
          <a:p>
            <a:pPr marL="0" indent="0" algn="ctr">
              <a:buNone/>
            </a:pPr>
            <a:r>
              <a:rPr lang="en-US" altLang="zh-TW" sz="5200" dirty="0" err="1">
                <a:solidFill>
                  <a:srgbClr val="92D050"/>
                </a:solidFill>
                <a:latin typeface="Times New Roman" panose="02020603050405020304" pitchFamily="18" charset="0"/>
                <a:cs typeface="Times New Roman" panose="02020603050405020304" pitchFamily="18" charset="0"/>
              </a:rPr>
              <a:t>tt</a:t>
            </a:r>
            <a:r>
              <a:rPr lang="en-US" altLang="zh-TW" sz="5200" dirty="0" err="1">
                <a:solidFill>
                  <a:srgbClr val="00B0F0"/>
                </a:solidFill>
                <a:latin typeface="Times New Roman" panose="02020603050405020304" pitchFamily="18" charset="0"/>
                <a:cs typeface="Times New Roman" panose="02020603050405020304" pitchFamily="18" charset="0"/>
              </a:rPr>
              <a:t>tcatg</a:t>
            </a:r>
            <a:r>
              <a:rPr lang="en-US" altLang="zh-TW" sz="5200" dirty="0" err="1">
                <a:solidFill>
                  <a:srgbClr val="92D050"/>
                </a:solidFill>
                <a:latin typeface="Times New Roman" panose="02020603050405020304" pitchFamily="18" charset="0"/>
                <a:cs typeface="Times New Roman" panose="02020603050405020304" pitchFamily="18" charset="0"/>
              </a:rPr>
              <a:t>cg</a:t>
            </a:r>
            <a:endParaRPr lang="en-US" altLang="zh-TW" sz="5200" dirty="0">
              <a:solidFill>
                <a:srgbClr val="92D050"/>
              </a:solidFill>
              <a:latin typeface="Times New Roman" panose="02020603050405020304" pitchFamily="18" charset="0"/>
              <a:cs typeface="Times New Roman" panose="02020603050405020304" pitchFamily="18" charset="0"/>
            </a:endParaRPr>
          </a:p>
        </p:txBody>
      </p:sp>
      <p:sp>
        <p:nvSpPr>
          <p:cNvPr id="4" name="箭號: 圓形 3">
            <a:extLst>
              <a:ext uri="{FF2B5EF4-FFF2-40B4-BE49-F238E27FC236}">
                <a16:creationId xmlns:a16="http://schemas.microsoft.com/office/drawing/2014/main" id="{7D347FFC-9A4D-4BDB-B99A-24FD7FA99009}"/>
              </a:ext>
            </a:extLst>
          </p:cNvPr>
          <p:cNvSpPr/>
          <p:nvPr/>
        </p:nvSpPr>
        <p:spPr>
          <a:xfrm rot="5400000">
            <a:off x="5715315" y="3146819"/>
            <a:ext cx="4020954" cy="1708951"/>
          </a:xfrm>
          <a:prstGeom prst="circularArrow">
            <a:avLst>
              <a:gd name="adj1" fmla="val 5488"/>
              <a:gd name="adj2" fmla="val 664712"/>
              <a:gd name="adj3" fmla="val 20927256"/>
              <a:gd name="adj4" fmla="val 10739123"/>
              <a:gd name="adj5" fmla="val 1381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745115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extLst>
              <p:ext uri="{D42A27DB-BD31-4B8C-83A1-F6EECF244321}">
                <p14:modId xmlns:p14="http://schemas.microsoft.com/office/powerpoint/2010/main" val="2224166505"/>
              </p:ext>
            </p:extLst>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1215463189"/>
              </p:ext>
            </p:extLst>
          </p:nvPr>
        </p:nvGraphicFramePr>
        <p:xfrm>
          <a:off x="7057615"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474210641"/>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-3</a:t>
                      </a:r>
                      <a:endParaRPr lang="zh-TW" altLang="en-US" sz="2400" dirty="0"/>
                    </a:p>
                  </a:txBody>
                  <a:tcPr anchor="ctr">
                    <a:solidFill>
                      <a:srgbClr val="00B0F0"/>
                    </a:solidFill>
                  </a:tcPr>
                </a:tc>
                <a:tc>
                  <a:txBody>
                    <a:bodyPr/>
                    <a:lstStyle/>
                    <a:p>
                      <a:pPr algn="ctr"/>
                      <a:r>
                        <a:rPr lang="en-US" altLang="zh-TW" sz="2400" dirty="0"/>
                        <a:t>-4</a:t>
                      </a:r>
                      <a:endParaRPr lang="zh-TW" altLang="en-US" sz="2400" dirty="0"/>
                    </a:p>
                  </a:txBody>
                  <a:tcPr anchor="ctr">
                    <a:solidFill>
                      <a:srgbClr val="00B0F0"/>
                    </a:solidFill>
                  </a:tcPr>
                </a:tc>
                <a:tc>
                  <a:txBody>
                    <a:bodyPr/>
                    <a:lstStyle/>
                    <a:p>
                      <a:pPr algn="ctr"/>
                      <a:r>
                        <a:rPr lang="en-US" altLang="zh-TW" sz="2400" dirty="0"/>
                        <a:t>-5</a:t>
                      </a:r>
                      <a:endParaRPr lang="zh-TW" altLang="en-US" sz="2400" dirty="0"/>
                    </a:p>
                  </a:txBody>
                  <a:tcPr anchor="ctr">
                    <a:solidFill>
                      <a:srgbClr val="00B0F0"/>
                    </a:solidFill>
                  </a:tcPr>
                </a:tc>
                <a:tc>
                  <a:txBody>
                    <a:bodyPr/>
                    <a:lstStyle/>
                    <a:p>
                      <a:pPr algn="ctr"/>
                      <a:r>
                        <a:rPr lang="en-US" altLang="zh-TW" sz="2400" dirty="0"/>
                        <a:t>-6</a:t>
                      </a:r>
                      <a:endParaRPr lang="zh-TW" altLang="en-US" sz="2400" dirty="0"/>
                    </a:p>
                  </a:txBody>
                  <a:tcPr anchor="ctr">
                    <a:solidFill>
                      <a:srgbClr val="00B0F0"/>
                    </a:solidFill>
                  </a:tcPr>
                </a:tc>
                <a:tc>
                  <a:txBody>
                    <a:bodyPr/>
                    <a:lstStyle/>
                    <a:p>
                      <a:pPr algn="ctr"/>
                      <a:r>
                        <a:rPr lang="en-US" altLang="zh-TW" sz="2400" dirty="0"/>
                        <a:t>-7</a:t>
                      </a:r>
                      <a:endParaRPr lang="zh-TW" altLang="en-US" sz="2400" dirty="0"/>
                    </a:p>
                  </a:txBody>
                  <a:tcPr anchor="ctr">
                    <a:solidFill>
                      <a:srgbClr val="00B0F0"/>
                    </a:solid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584775"/>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a t</a:t>
            </a:r>
            <a:endParaRPr lang="zh-TW" altLang="en-US" sz="3200" dirty="0">
              <a:latin typeface="Courier New" panose="02070309020205020404" pitchFamily="49" charset="0"/>
              <a:cs typeface="Courier New" panose="02070309020205020404" pitchFamily="49" charset="0"/>
            </a:endParaRPr>
          </a:p>
        </p:txBody>
      </p:sp>
      <p:graphicFrame>
        <p:nvGraphicFramePr>
          <p:cNvPr id="13" name="表格 12">
            <a:extLst>
              <a:ext uri="{FF2B5EF4-FFF2-40B4-BE49-F238E27FC236}">
                <a16:creationId xmlns:a16="http://schemas.microsoft.com/office/drawing/2014/main" id="{9F7ECE59-2BAE-43C3-8CD9-8A1CC612028E}"/>
              </a:ext>
            </a:extLst>
          </p:cNvPr>
          <p:cNvGraphicFramePr>
            <a:graphicFrameLocks noGrp="1"/>
          </p:cNvGraphicFramePr>
          <p:nvPr>
            <p:extLst>
              <p:ext uri="{D42A27DB-BD31-4B8C-83A1-F6EECF244321}">
                <p14:modId xmlns:p14="http://schemas.microsoft.com/office/powerpoint/2010/main" val="72398832"/>
              </p:ext>
            </p:extLst>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cxnSp>
        <p:nvCxnSpPr>
          <p:cNvPr id="15" name="直線單箭頭接點 14">
            <a:extLst>
              <a:ext uri="{FF2B5EF4-FFF2-40B4-BE49-F238E27FC236}">
                <a16:creationId xmlns:a16="http://schemas.microsoft.com/office/drawing/2014/main" id="{07B03866-FCAC-4BA7-9D72-A3CFABB677A9}"/>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761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extLst>
              <p:ext uri="{D42A27DB-BD31-4B8C-83A1-F6EECF244321}">
                <p14:modId xmlns:p14="http://schemas.microsoft.com/office/powerpoint/2010/main" val="1040877425"/>
              </p:ext>
            </p:extLst>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ctr" defTabSz="914400" rtl="0" eaLnBrk="1" latinLnBrk="0" hangingPunct="1"/>
                      <a:r>
                        <a:rPr lang="en-US" altLang="zh-TW" sz="2400" kern="1200" dirty="0">
                          <a:solidFill>
                            <a:schemeClr val="tx1"/>
                          </a:solidFill>
                          <a:latin typeface="+mn-lt"/>
                          <a:ea typeface="+mn-ea"/>
                          <a:cs typeface="+mn-cs"/>
                        </a:rPr>
                        <a:t>-2</a:t>
                      </a:r>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0</a:t>
                      </a:r>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0</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-1</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0</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-1</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-2</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-3</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-4</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marL="0" algn="ctr" defTabSz="914400" rtl="0" eaLnBrk="1" latinLnBrk="0" hangingPunct="1"/>
                      <a:r>
                        <a:rPr lang="en-US" altLang="zh-TW" sz="2400" kern="1200" dirty="0">
                          <a:solidFill>
                            <a:schemeClr val="tx1"/>
                          </a:solidFill>
                          <a:latin typeface="+mn-lt"/>
                          <a:ea typeface="+mn-ea"/>
                          <a:cs typeface="+mn-cs"/>
                        </a:rPr>
                        <a:t>-5</a:t>
                      </a:r>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solidFill>
                      <a:srgbClr val="00B0F0"/>
                    </a:solidFill>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1442626906"/>
              </p:ext>
            </p:extLst>
          </p:nvPr>
        </p:nvGraphicFramePr>
        <p:xfrm>
          <a:off x="7057615"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3740823768"/>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-3</a:t>
                      </a:r>
                      <a:endParaRPr lang="zh-TW" altLang="en-US" sz="2400" dirty="0"/>
                    </a:p>
                  </a:txBody>
                  <a:tcPr anchor="ctr">
                    <a:solidFill>
                      <a:srgbClr val="00B0F0"/>
                    </a:solidFill>
                  </a:tcPr>
                </a:tc>
                <a:tc>
                  <a:txBody>
                    <a:bodyPr/>
                    <a:lstStyle/>
                    <a:p>
                      <a:pPr algn="ctr"/>
                      <a:r>
                        <a:rPr lang="en-US" altLang="zh-TW" sz="2400" dirty="0"/>
                        <a:t>-4</a:t>
                      </a:r>
                      <a:endParaRPr lang="zh-TW" altLang="en-US" sz="2400" dirty="0"/>
                    </a:p>
                  </a:txBody>
                  <a:tcPr anchor="ctr">
                    <a:solidFill>
                      <a:srgbClr val="00B0F0"/>
                    </a:solidFill>
                  </a:tcPr>
                </a:tc>
                <a:tc>
                  <a:txBody>
                    <a:bodyPr/>
                    <a:lstStyle/>
                    <a:p>
                      <a:pPr algn="ctr"/>
                      <a:r>
                        <a:rPr lang="en-US" altLang="zh-TW" sz="2400" dirty="0"/>
                        <a:t>-5</a:t>
                      </a:r>
                      <a:endParaRPr lang="zh-TW" altLang="en-US" sz="2400" dirty="0"/>
                    </a:p>
                  </a:txBody>
                  <a:tcPr anchor="ctr">
                    <a:solidFill>
                      <a:srgbClr val="00B0F0"/>
                    </a:solidFill>
                  </a:tcP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1077218"/>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a:t>
            </a:r>
          </a:p>
          <a:p>
            <a:r>
              <a:rPr lang="en-US" altLang="zh-TW" sz="3200" dirty="0">
                <a:latin typeface="Courier New" panose="02070309020205020404" pitchFamily="49" charset="0"/>
                <a:cs typeface="Courier New" panose="02070309020205020404" pitchFamily="49" charset="0"/>
              </a:rPr>
              <a:t>a t</a:t>
            </a:r>
            <a:endParaRPr lang="zh-TW" altLang="en-US" sz="3200" dirty="0">
              <a:latin typeface="Courier New" panose="02070309020205020404" pitchFamily="49" charset="0"/>
              <a:cs typeface="Courier New" panose="02070309020205020404" pitchFamily="49" charset="0"/>
            </a:endParaRPr>
          </a:p>
        </p:txBody>
      </p:sp>
      <p:graphicFrame>
        <p:nvGraphicFramePr>
          <p:cNvPr id="3" name="表格 2">
            <a:extLst>
              <a:ext uri="{FF2B5EF4-FFF2-40B4-BE49-F238E27FC236}">
                <a16:creationId xmlns:a16="http://schemas.microsoft.com/office/drawing/2014/main" id="{F46521A0-062C-4CDB-BFDF-C22D200DCE02}"/>
              </a:ext>
            </a:extLst>
          </p:cNvPr>
          <p:cNvGraphicFramePr>
            <a:graphicFrameLocks noGrp="1"/>
          </p:cNvGraphicFramePr>
          <p:nvPr>
            <p:extLst>
              <p:ext uri="{D42A27DB-BD31-4B8C-83A1-F6EECF244321}">
                <p14:modId xmlns:p14="http://schemas.microsoft.com/office/powerpoint/2010/main" val="4211631838"/>
              </p:ext>
            </p:extLst>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cxnSp>
        <p:nvCxnSpPr>
          <p:cNvPr id="14" name="直線單箭頭接點 13">
            <a:extLst>
              <a:ext uri="{FF2B5EF4-FFF2-40B4-BE49-F238E27FC236}">
                <a16:creationId xmlns:a16="http://schemas.microsoft.com/office/drawing/2014/main" id="{2981D001-A915-4361-9D67-B2F0994A2E9D}"/>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396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extLst>
              <p:ext uri="{D42A27DB-BD31-4B8C-83A1-F6EECF244321}">
                <p14:modId xmlns:p14="http://schemas.microsoft.com/office/powerpoint/2010/main" val="1770052954"/>
              </p:ext>
            </p:extLst>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2651636198"/>
              </p:ext>
            </p:extLst>
          </p:nvPr>
        </p:nvGraphicFramePr>
        <p:xfrm>
          <a:off x="7057615"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4148525225"/>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tcPr>
                </a:tc>
                <a:tc>
                  <a:txBody>
                    <a:bodyPr/>
                    <a:lstStyle/>
                    <a:p>
                      <a:pPr algn="ctr"/>
                      <a:endParaRPr lang="zh-TW" altLang="en-US" sz="240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-3</a:t>
                      </a:r>
                      <a:endParaRPr lang="zh-TW" altLang="en-US" sz="2400" dirty="0"/>
                    </a:p>
                  </a:txBody>
                  <a:tcPr anchor="ctr">
                    <a:solidFill>
                      <a:srgbClr val="00B0F0"/>
                    </a:solidFill>
                  </a:tcPr>
                </a:tc>
                <a:tc>
                  <a:txBody>
                    <a:bodyPr/>
                    <a:lstStyle/>
                    <a:p>
                      <a:pPr algn="ctr"/>
                      <a:r>
                        <a:rPr lang="en-US" altLang="zh-TW" sz="2400" dirty="0"/>
                        <a:t>-4</a:t>
                      </a:r>
                      <a:endParaRPr lang="zh-TW" altLang="en-US" sz="2400" dirty="0"/>
                    </a:p>
                  </a:txBody>
                  <a:tcPr anchor="ctr">
                    <a:solidFill>
                      <a:srgbClr val="00B0F0"/>
                    </a:solidFill>
                  </a:tcPr>
                </a:tc>
                <a:tc>
                  <a:txBody>
                    <a:bodyPr/>
                    <a:lstStyle/>
                    <a:p>
                      <a:pPr algn="ctr"/>
                      <a:r>
                        <a:rPr lang="en-US" altLang="zh-TW" sz="2400" dirty="0"/>
                        <a:t>-5</a:t>
                      </a:r>
                      <a:endParaRPr lang="zh-TW" altLang="en-US" sz="2400" dirty="0"/>
                    </a:p>
                  </a:txBody>
                  <a:tcPr anchor="ctr">
                    <a:solidFill>
                      <a:srgbClr val="00B0F0"/>
                    </a:solid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1077218"/>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 t</a:t>
            </a:r>
          </a:p>
          <a:p>
            <a:r>
              <a:rPr lang="en-US" altLang="zh-TW" sz="3200" dirty="0">
                <a:latin typeface="Courier New" panose="02070309020205020404" pitchFamily="49" charset="0"/>
                <a:cs typeface="Courier New" panose="02070309020205020404" pitchFamily="49" charset="0"/>
              </a:rPr>
              <a:t>a t </a:t>
            </a:r>
            <a:r>
              <a:rPr lang="en-US" altLang="zh-TW" sz="3200" dirty="0" err="1">
                <a:latin typeface="Courier New" panose="02070309020205020404" pitchFamily="49" charset="0"/>
                <a:cs typeface="Courier New" panose="02070309020205020404" pitchFamily="49" charset="0"/>
              </a:rPr>
              <a:t>t</a:t>
            </a:r>
            <a:endParaRPr lang="zh-TW" altLang="en-US" sz="3200" dirty="0">
              <a:latin typeface="Courier New" panose="02070309020205020404" pitchFamily="49" charset="0"/>
              <a:cs typeface="Courier New" panose="02070309020205020404" pitchFamily="49" charset="0"/>
            </a:endParaRPr>
          </a:p>
        </p:txBody>
      </p:sp>
      <p:graphicFrame>
        <p:nvGraphicFramePr>
          <p:cNvPr id="2" name="表格 1">
            <a:extLst>
              <a:ext uri="{FF2B5EF4-FFF2-40B4-BE49-F238E27FC236}">
                <a16:creationId xmlns:a16="http://schemas.microsoft.com/office/drawing/2014/main" id="{59FF3BAE-1244-4A50-8FD4-B6096B3C27FA}"/>
              </a:ext>
            </a:extLst>
          </p:cNvPr>
          <p:cNvGraphicFramePr>
            <a:graphicFrameLocks noGrp="1"/>
          </p:cNvGraphicFramePr>
          <p:nvPr>
            <p:extLst>
              <p:ext uri="{D42A27DB-BD31-4B8C-83A1-F6EECF244321}">
                <p14:modId xmlns:p14="http://schemas.microsoft.com/office/powerpoint/2010/main" val="4211631838"/>
              </p:ext>
            </p:extLst>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cxnSp>
        <p:nvCxnSpPr>
          <p:cNvPr id="12" name="直線單箭頭接點 11">
            <a:extLst>
              <a:ext uri="{FF2B5EF4-FFF2-40B4-BE49-F238E27FC236}">
                <a16:creationId xmlns:a16="http://schemas.microsoft.com/office/drawing/2014/main" id="{3ACEF005-CED6-4673-BF44-8C1157044652}"/>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331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extLst>
              <p:ext uri="{D42A27DB-BD31-4B8C-83A1-F6EECF244321}">
                <p14:modId xmlns:p14="http://schemas.microsoft.com/office/powerpoint/2010/main" val="4275350014"/>
              </p:ext>
            </p:extLst>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-3</a:t>
                      </a:r>
                      <a:endParaRPr lang="zh-TW" altLang="en-US" sz="2400" dirty="0"/>
                    </a:p>
                  </a:txBody>
                  <a:tcPr anchor="ctr">
                    <a:solidFill>
                      <a:srgbClr val="00B0F0"/>
                    </a:solidFill>
                  </a:tcP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3888277397"/>
              </p:ext>
            </p:extLst>
          </p:nvPr>
        </p:nvGraphicFramePr>
        <p:xfrm>
          <a:off x="6721647"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2693569524"/>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1569660"/>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a:t>
            </a:r>
          </a:p>
          <a:p>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endParaRPr lang="en-US" altLang="zh-TW" sz="3200" dirty="0">
              <a:latin typeface="Courier New" panose="02070309020205020404" pitchFamily="49" charset="0"/>
              <a:cs typeface="Courier New" panose="02070309020205020404" pitchFamily="49" charset="0"/>
            </a:endParaRPr>
          </a:p>
          <a:p>
            <a:r>
              <a:rPr lang="en-US" altLang="zh-TW" sz="3200" dirty="0">
                <a:latin typeface="Courier New" panose="02070309020205020404" pitchFamily="49" charset="0"/>
                <a:cs typeface="Courier New" panose="02070309020205020404" pitchFamily="49" charset="0"/>
              </a:rPr>
              <a:t>t a</a:t>
            </a:r>
            <a:endParaRPr lang="zh-TW" altLang="en-US" sz="3200" dirty="0">
              <a:latin typeface="Courier New" panose="02070309020205020404" pitchFamily="49" charset="0"/>
              <a:cs typeface="Courier New" panose="02070309020205020404" pitchFamily="49" charset="0"/>
            </a:endParaRPr>
          </a:p>
        </p:txBody>
      </p:sp>
      <p:graphicFrame>
        <p:nvGraphicFramePr>
          <p:cNvPr id="2" name="表格 1">
            <a:extLst>
              <a:ext uri="{FF2B5EF4-FFF2-40B4-BE49-F238E27FC236}">
                <a16:creationId xmlns:a16="http://schemas.microsoft.com/office/drawing/2014/main" id="{B6F88501-33E8-4FEB-8755-13DBFEA661F4}"/>
              </a:ext>
            </a:extLst>
          </p:cNvPr>
          <p:cNvGraphicFramePr>
            <a:graphicFrameLocks noGrp="1"/>
          </p:cNvGraphicFramePr>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cxnSp>
        <p:nvCxnSpPr>
          <p:cNvPr id="8" name="直線單箭頭接點 7">
            <a:extLst>
              <a:ext uri="{FF2B5EF4-FFF2-40B4-BE49-F238E27FC236}">
                <a16:creationId xmlns:a16="http://schemas.microsoft.com/office/drawing/2014/main" id="{AADBC90C-3925-48DB-9347-0C86B8483926}"/>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801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extLst>
              <p:ext uri="{D42A27DB-BD31-4B8C-83A1-F6EECF244321}">
                <p14:modId xmlns:p14="http://schemas.microsoft.com/office/powerpoint/2010/main" val="1693613148"/>
              </p:ext>
            </p:extLst>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926269635"/>
              </p:ext>
            </p:extLst>
          </p:nvPr>
        </p:nvGraphicFramePr>
        <p:xfrm>
          <a:off x="6721647"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tc>
                  <a:txBody>
                    <a:bodyPr/>
                    <a:lstStyle/>
                    <a:p>
                      <a:pPr algn="ctr"/>
                      <a:endParaRPr lang="zh-TW" altLang="en-US" sz="2400" dirty="0"/>
                    </a:p>
                  </a:txBody>
                  <a:tcPr anchor="ctr">
                    <a:solidFill>
                      <a:srgbClr val="FFFF00"/>
                    </a:solidFill>
                  </a:tcP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197105962"/>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solidFill>
                            <a:schemeClr val="bg1"/>
                          </a:solidFill>
                        </a:rPr>
                        <a:t>-2</a:t>
                      </a:r>
                      <a:endParaRPr lang="zh-TW" altLang="en-US" sz="24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solidFill>
                            <a:schemeClr val="bg1"/>
                          </a:solidFill>
                        </a:rPr>
                        <a:t>0</a:t>
                      </a:r>
                      <a:endParaRPr lang="zh-TW" altLang="en-US" sz="2400" dirty="0">
                        <a:solidFill>
                          <a:schemeClr val="bg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-1</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-1</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0</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-1</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-2</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-3</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-4</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altLang="zh-TW" sz="2400" dirty="0">
                          <a:solidFill>
                            <a:schemeClr val="bg1"/>
                          </a:solidFill>
                        </a:rPr>
                        <a:t>-5</a:t>
                      </a:r>
                      <a:endParaRPr lang="zh-TW" altLang="en-US" sz="2400" dirty="0">
                        <a:solidFill>
                          <a:schemeClr val="bg1"/>
                        </a:solidFill>
                      </a:endParaRPr>
                    </a:p>
                  </a:txBody>
                  <a:tcPr anchor="ctr">
                    <a:lnT w="12700" cap="flat" cmpd="sng" algn="ctr">
                      <a:solidFill>
                        <a:schemeClr val="tx1"/>
                      </a:solidFill>
                      <a:prstDash val="solid"/>
                      <a:round/>
                      <a:headEnd type="none" w="med" len="med"/>
                      <a:tailEnd type="none" w="med" len="med"/>
                    </a:lnT>
                    <a:solidFill>
                      <a:srgbClr val="00B0F0"/>
                    </a:solidFill>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-3</a:t>
                      </a:r>
                      <a:endParaRPr lang="zh-TW" altLang="en-US" sz="2400" dirty="0"/>
                    </a:p>
                  </a:txBody>
                  <a:tcPr anchor="ctr">
                    <a:solidFill>
                      <a:srgbClr val="00B0F0"/>
                    </a:solidFill>
                  </a:tcP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1569660"/>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endParaRPr lang="en-US" altLang="zh-TW" sz="3200" dirty="0">
              <a:latin typeface="Courier New" panose="02070309020205020404" pitchFamily="49" charset="0"/>
              <a:cs typeface="Courier New" panose="02070309020205020404" pitchFamily="49" charset="0"/>
            </a:endParaRPr>
          </a:p>
          <a:p>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a</a:t>
            </a:r>
          </a:p>
          <a:p>
            <a:r>
              <a:rPr lang="en-US" altLang="zh-TW" sz="3200" dirty="0">
                <a:latin typeface="Courier New" panose="02070309020205020404" pitchFamily="49" charset="0"/>
                <a:cs typeface="Courier New" panose="02070309020205020404" pitchFamily="49" charset="0"/>
              </a:rPr>
              <a:t>t a t</a:t>
            </a:r>
            <a:endParaRPr lang="zh-TW" altLang="en-US" sz="3200" dirty="0">
              <a:latin typeface="Courier New" panose="02070309020205020404" pitchFamily="49" charset="0"/>
              <a:cs typeface="Courier New" panose="02070309020205020404" pitchFamily="49" charset="0"/>
            </a:endParaRPr>
          </a:p>
        </p:txBody>
      </p:sp>
      <p:graphicFrame>
        <p:nvGraphicFramePr>
          <p:cNvPr id="2" name="表格 1">
            <a:extLst>
              <a:ext uri="{FF2B5EF4-FFF2-40B4-BE49-F238E27FC236}">
                <a16:creationId xmlns:a16="http://schemas.microsoft.com/office/drawing/2014/main" id="{B6F88501-33E8-4FEB-8755-13DBFEA661F4}"/>
              </a:ext>
            </a:extLst>
          </p:cNvPr>
          <p:cNvGraphicFramePr>
            <a:graphicFrameLocks noGrp="1"/>
          </p:cNvGraphicFramePr>
          <p:nvPr>
            <p:extLst>
              <p:ext uri="{D42A27DB-BD31-4B8C-83A1-F6EECF244321}">
                <p14:modId xmlns:p14="http://schemas.microsoft.com/office/powerpoint/2010/main" val="4211631838"/>
              </p:ext>
            </p:extLst>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sp>
        <p:nvSpPr>
          <p:cNvPr id="3" name="文字方塊 2">
            <a:extLst>
              <a:ext uri="{FF2B5EF4-FFF2-40B4-BE49-F238E27FC236}">
                <a16:creationId xmlns:a16="http://schemas.microsoft.com/office/drawing/2014/main" id="{BB137DA5-6A1F-484C-B6A9-E17961716649}"/>
              </a:ext>
            </a:extLst>
          </p:cNvPr>
          <p:cNvSpPr txBox="1"/>
          <p:nvPr/>
        </p:nvSpPr>
        <p:spPr>
          <a:xfrm>
            <a:off x="5538914" y="2634676"/>
            <a:ext cx="3655890" cy="923330"/>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不用算，只是特別算出來看而已，</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用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getMaxOut</a:t>
            </a:r>
            <a:r>
              <a:rPr lang="zh-TW" altLang="en-US" dirty="0">
                <a:latin typeface="標楷體" panose="03000509000000000000" pitchFamily="65" charset="-120"/>
                <a:ea typeface="標楷體" panose="03000509000000000000" pitchFamily="65" charset="-120"/>
              </a:rPr>
              <a:t> 那個演算法可以直接取得最下面的結果</a:t>
            </a:r>
          </a:p>
        </p:txBody>
      </p:sp>
      <p:cxnSp>
        <p:nvCxnSpPr>
          <p:cNvPr id="8" name="直線單箭頭接點 7">
            <a:extLst>
              <a:ext uri="{FF2B5EF4-FFF2-40B4-BE49-F238E27FC236}">
                <a16:creationId xmlns:a16="http://schemas.microsoft.com/office/drawing/2014/main" id="{C720F7D8-3A0E-467D-949C-71B07DFE927C}"/>
              </a:ext>
            </a:extLst>
          </p:cNvPr>
          <p:cNvCxnSpPr>
            <a:cxnSpLocks/>
            <a:endCxn id="10" idx="3"/>
          </p:cNvCxnSpPr>
          <p:nvPr/>
        </p:nvCxnSpPr>
        <p:spPr>
          <a:xfrm flipH="1">
            <a:off x="5470355" y="3627035"/>
            <a:ext cx="1251292" cy="20391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D704A943-6D33-450E-B3D6-C56CFF6F3CE9}"/>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48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extLst>
              <p:ext uri="{D42A27DB-BD31-4B8C-83A1-F6EECF244321}">
                <p14:modId xmlns:p14="http://schemas.microsoft.com/office/powerpoint/2010/main" val="544991779"/>
              </p:ext>
            </p:extLst>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2429273964"/>
              </p:ext>
            </p:extLst>
          </p:nvPr>
        </p:nvGraphicFramePr>
        <p:xfrm>
          <a:off x="6721647"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solidFill>
                      <a:srgbClr val="FFFF00"/>
                    </a:solidFill>
                  </a:tcPr>
                </a:tc>
                <a:tc>
                  <a:txBody>
                    <a:bodyPr/>
                    <a:lstStyle/>
                    <a:p>
                      <a:pPr algn="ctr"/>
                      <a:r>
                        <a:rPr lang="en-US" altLang="zh-TW" sz="2400" dirty="0"/>
                        <a:t>1</a:t>
                      </a:r>
                      <a:endParaRPr lang="zh-TW" altLang="en-US" sz="2400" dirty="0"/>
                    </a:p>
                  </a:txBody>
                  <a:tcPr anchor="ctr">
                    <a:solidFill>
                      <a:srgbClr val="FFFF00"/>
                    </a:solidFill>
                  </a:tcPr>
                </a:tc>
                <a:tc>
                  <a:txBody>
                    <a:bodyPr/>
                    <a:lstStyle/>
                    <a:p>
                      <a:pPr algn="ctr"/>
                      <a:r>
                        <a:rPr lang="en-US" altLang="zh-TW" sz="2400" dirty="0"/>
                        <a:t>1</a:t>
                      </a:r>
                      <a:endParaRPr lang="zh-TW" altLang="en-US" sz="2400" dirty="0"/>
                    </a:p>
                  </a:txBody>
                  <a:tcPr anchor="ctr">
                    <a:solidFill>
                      <a:srgbClr val="FFFF00"/>
                    </a:solidFill>
                  </a:tcPr>
                </a:tc>
                <a:tc>
                  <a:txBody>
                    <a:bodyPr/>
                    <a:lstStyle/>
                    <a:p>
                      <a:pPr algn="ctr"/>
                      <a:r>
                        <a:rPr lang="en-US" altLang="zh-TW" sz="2400" dirty="0"/>
                        <a:t>2</a:t>
                      </a:r>
                      <a:endParaRPr lang="zh-TW" altLang="en-US" sz="2400" dirty="0"/>
                    </a:p>
                  </a:txBody>
                  <a:tcPr anchor="ctr">
                    <a:solidFill>
                      <a:srgbClr val="FFFF00"/>
                    </a:solidFill>
                  </a:tcPr>
                </a:tc>
                <a:tc>
                  <a:txBody>
                    <a:bodyPr/>
                    <a:lstStyle/>
                    <a:p>
                      <a:pPr algn="ctr"/>
                      <a:r>
                        <a:rPr lang="en-US" altLang="zh-TW" sz="2400" dirty="0"/>
                        <a:t>1</a:t>
                      </a:r>
                      <a:endParaRPr lang="zh-TW" altLang="en-US" sz="2400" dirty="0"/>
                    </a:p>
                  </a:txBody>
                  <a:tcPr anchor="ctr">
                    <a:solidFill>
                      <a:srgbClr val="FFFF00"/>
                    </a:solidFill>
                  </a:tcPr>
                </a:tc>
                <a:tc>
                  <a:txBody>
                    <a:bodyPr/>
                    <a:lstStyle/>
                    <a:p>
                      <a:pPr algn="ctr"/>
                      <a:r>
                        <a:rPr lang="en-US" altLang="zh-TW" sz="2400" dirty="0"/>
                        <a:t>0</a:t>
                      </a:r>
                      <a:endParaRPr lang="zh-TW" altLang="en-US" sz="2400" dirty="0"/>
                    </a:p>
                  </a:txBody>
                  <a:tcPr anchor="ctr">
                    <a:solidFill>
                      <a:srgbClr val="FFFF00"/>
                    </a:solidFill>
                  </a:tcPr>
                </a:tc>
                <a:tc>
                  <a:txBody>
                    <a:bodyPr/>
                    <a:lstStyle/>
                    <a:p>
                      <a:pPr algn="ctr"/>
                      <a:r>
                        <a:rPr lang="en-US" altLang="zh-TW" sz="2400" dirty="0"/>
                        <a:t>-1</a:t>
                      </a:r>
                      <a:endParaRPr lang="zh-TW" altLang="en-US" sz="2400" dirty="0"/>
                    </a:p>
                  </a:txBody>
                  <a:tcPr anchor="ctr">
                    <a:solidFill>
                      <a:srgbClr val="FFFF00"/>
                    </a:solidFill>
                  </a:tcPr>
                </a:tc>
                <a:tc>
                  <a:txBody>
                    <a:bodyPr/>
                    <a:lstStyle/>
                    <a:p>
                      <a:pPr algn="ctr"/>
                      <a:r>
                        <a:rPr lang="en-US" altLang="zh-TW" sz="2400" dirty="0"/>
                        <a:t>-2</a:t>
                      </a:r>
                      <a:endParaRPr lang="zh-TW" altLang="en-US" sz="2400" dirty="0"/>
                    </a:p>
                  </a:txBody>
                  <a:tcPr anchor="ctr">
                    <a:solidFill>
                      <a:srgbClr val="FFFF00"/>
                    </a:solidFill>
                  </a:tcPr>
                </a:tc>
                <a:tc>
                  <a:txBody>
                    <a:bodyPr/>
                    <a:lstStyle/>
                    <a:p>
                      <a:pPr algn="ctr"/>
                      <a:r>
                        <a:rPr lang="en-US" altLang="zh-TW" sz="2400" dirty="0"/>
                        <a:t>-3</a:t>
                      </a:r>
                      <a:endParaRPr lang="zh-TW" altLang="en-US" sz="2400" dirty="0"/>
                    </a:p>
                  </a:txBody>
                  <a:tcPr anchor="ctr">
                    <a:solidFill>
                      <a:srgbClr val="FFFF00"/>
                    </a:solidFill>
                  </a:tcP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1283654398"/>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solidFill>
                      <a:srgbClr val="00B0F0"/>
                    </a:solidFill>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tc>
                  <a:txBody>
                    <a:bodyPr/>
                    <a:lstStyle/>
                    <a:p>
                      <a:pPr algn="ctr"/>
                      <a:endParaRPr lang="zh-TW" altLang="en-US" sz="2400" dirty="0"/>
                    </a:p>
                  </a:txBody>
                  <a:tcPr anchor="ctr">
                    <a:solidFill>
                      <a:srgbClr val="00B0F0"/>
                    </a:solidFill>
                  </a:tcP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0</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-1</a:t>
                      </a:r>
                      <a:endParaRPr lang="zh-TW" altLang="en-US" sz="2400" dirty="0"/>
                    </a:p>
                  </a:txBody>
                  <a:tcPr anchor="ctr">
                    <a:solidFill>
                      <a:srgbClr val="00B0F0"/>
                    </a:solidFill>
                  </a:tcPr>
                </a:tc>
                <a:tc>
                  <a:txBody>
                    <a:bodyPr/>
                    <a:lstStyle/>
                    <a:p>
                      <a:pPr algn="ctr"/>
                      <a:r>
                        <a:rPr lang="en-US" altLang="zh-TW" sz="2400" dirty="0"/>
                        <a:t>-2</a:t>
                      </a:r>
                      <a:endParaRPr lang="zh-TW" altLang="en-US" sz="2400" dirty="0"/>
                    </a:p>
                  </a:txBody>
                  <a:tcPr anchor="ctr">
                    <a:solidFill>
                      <a:srgbClr val="00B0F0"/>
                    </a:solidFill>
                  </a:tcPr>
                </a:tc>
                <a:tc>
                  <a:txBody>
                    <a:bodyPr/>
                    <a:lstStyle/>
                    <a:p>
                      <a:pPr algn="ctr"/>
                      <a:r>
                        <a:rPr lang="en-US" altLang="zh-TW" sz="2400" dirty="0"/>
                        <a:t>-3</a:t>
                      </a:r>
                      <a:endParaRPr lang="zh-TW" altLang="en-US" sz="2400" dirty="0"/>
                    </a:p>
                  </a:txBody>
                  <a:tcPr anchor="ctr">
                    <a:solidFill>
                      <a:srgbClr val="00B0F0"/>
                    </a:solidFill>
                  </a:tcPr>
                </a:tc>
                <a:tc>
                  <a:txBody>
                    <a:bodyPr/>
                    <a:lstStyle/>
                    <a:p>
                      <a:pPr algn="ctr"/>
                      <a:r>
                        <a:rPr lang="en-US" altLang="zh-TW" sz="2400" dirty="0"/>
                        <a:t>-4</a:t>
                      </a:r>
                      <a:endParaRPr lang="zh-TW" altLang="en-US" sz="2400" dirty="0"/>
                    </a:p>
                  </a:txBody>
                  <a:tcPr anchor="ctr">
                    <a:solidFill>
                      <a:srgbClr val="00B0F0"/>
                    </a:solidFill>
                  </a:tcPr>
                </a:tc>
                <a:tc>
                  <a:txBody>
                    <a:bodyPr/>
                    <a:lstStyle/>
                    <a:p>
                      <a:pPr algn="ctr"/>
                      <a:r>
                        <a:rPr lang="en-US" altLang="zh-TW" sz="2400" dirty="0"/>
                        <a:t>-5</a:t>
                      </a:r>
                      <a:endParaRPr lang="zh-TW" altLang="en-US" sz="2400" dirty="0"/>
                    </a:p>
                  </a:txBody>
                  <a:tcPr anchor="ctr">
                    <a:solidFill>
                      <a:srgbClr val="00B0F0"/>
                    </a:solid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1569660"/>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r>
              <a:rPr lang="en-US" altLang="zh-TW" sz="3200" dirty="0">
                <a:latin typeface="Courier New" panose="02070309020205020404" pitchFamily="49" charset="0"/>
                <a:cs typeface="Courier New" panose="02070309020205020404" pitchFamily="49" charset="0"/>
              </a:rPr>
              <a:t> a</a:t>
            </a:r>
          </a:p>
          <a:p>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a t</a:t>
            </a:r>
          </a:p>
          <a:p>
            <a:r>
              <a:rPr lang="en-US" altLang="zh-TW" sz="3200" dirty="0">
                <a:latin typeface="Courier New" panose="02070309020205020404" pitchFamily="49" charset="0"/>
                <a:cs typeface="Courier New" panose="02070309020205020404" pitchFamily="49" charset="0"/>
              </a:rPr>
              <a:t>t a t </a:t>
            </a:r>
            <a:r>
              <a:rPr lang="en-US" altLang="zh-TW" sz="3200" dirty="0" err="1">
                <a:latin typeface="Courier New" panose="02070309020205020404" pitchFamily="49" charset="0"/>
                <a:cs typeface="Courier New" panose="02070309020205020404" pitchFamily="49" charset="0"/>
              </a:rPr>
              <a:t>t</a:t>
            </a:r>
            <a:endParaRPr lang="zh-TW" altLang="en-US" sz="3200" dirty="0">
              <a:latin typeface="Courier New" panose="02070309020205020404" pitchFamily="49" charset="0"/>
              <a:cs typeface="Courier New" panose="02070309020205020404" pitchFamily="49" charset="0"/>
            </a:endParaRPr>
          </a:p>
        </p:txBody>
      </p:sp>
      <p:graphicFrame>
        <p:nvGraphicFramePr>
          <p:cNvPr id="2" name="表格 1">
            <a:extLst>
              <a:ext uri="{FF2B5EF4-FFF2-40B4-BE49-F238E27FC236}">
                <a16:creationId xmlns:a16="http://schemas.microsoft.com/office/drawing/2014/main" id="{B6F88501-33E8-4FEB-8755-13DBFEA661F4}"/>
              </a:ext>
            </a:extLst>
          </p:cNvPr>
          <p:cNvGraphicFramePr>
            <a:graphicFrameLocks noGrp="1"/>
          </p:cNvGraphicFramePr>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cxnSp>
        <p:nvCxnSpPr>
          <p:cNvPr id="8" name="直線單箭頭接點 7">
            <a:extLst>
              <a:ext uri="{FF2B5EF4-FFF2-40B4-BE49-F238E27FC236}">
                <a16:creationId xmlns:a16="http://schemas.microsoft.com/office/drawing/2014/main" id="{0BBE3FEB-3CE7-4CE7-A493-6734ACB0D15E}"/>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7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DC736079-E440-4612-8807-CADDA543194B}"/>
              </a:ext>
            </a:extLst>
          </p:cNvPr>
          <p:cNvGraphicFramePr>
            <a:graphicFrameLocks noGrp="1"/>
          </p:cNvGraphicFramePr>
          <p:nvPr/>
        </p:nvGraphicFramePr>
        <p:xfrm>
          <a:off x="524040" y="1"/>
          <a:ext cx="4946315" cy="2286000"/>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10800">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410800">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tc>
                  <a:txBody>
                    <a:bodyPr/>
                    <a:lstStyle/>
                    <a:p>
                      <a:pPr marL="0" algn="ctr" defTabSz="914400" rtl="0" eaLnBrk="1" latinLnBrk="0" hangingPunct="1"/>
                      <a:endParaRPr lang="zh-TW" altLang="en-US" sz="24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410800">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3178250234"/>
                  </a:ext>
                </a:extLst>
              </a:tr>
              <a:tr h="410800">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nchor="ctr">
                    <a:lnL w="12700" cap="flat" cmpd="sng" algn="ctr">
                      <a:solidFill>
                        <a:schemeClr val="tx1"/>
                      </a:solidFill>
                      <a:prstDash val="solid"/>
                      <a:round/>
                      <a:headEnd type="none" w="med" len="med"/>
                      <a:tailEnd type="none" w="med" len="med"/>
                    </a:lnL>
                  </a:tcP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a:p>
                  </a:txBody>
                  <a:tcPr anchor="ctr"/>
                </a:tc>
                <a:tc>
                  <a:txBody>
                    <a:bodyPr/>
                    <a:lstStyle/>
                    <a:p>
                      <a:pPr algn="ctr"/>
                      <a:endParaRPr lang="zh-TW" altLang="en-US" sz="2400" dirty="0"/>
                    </a:p>
                  </a:txBody>
                  <a:tcPr anchor="ctr"/>
                </a:tc>
                <a:tc>
                  <a:txBody>
                    <a:bodyPr/>
                    <a:lstStyle/>
                    <a:p>
                      <a:pPr algn="ctr"/>
                      <a:endParaRPr lang="zh-TW" altLang="en-US" sz="2400" dirty="0"/>
                    </a:p>
                  </a:txBody>
                  <a:tcPr anchor="ctr"/>
                </a:tc>
                <a:extLst>
                  <a:ext uri="{0D108BD9-81ED-4DB2-BD59-A6C34878D82A}">
                    <a16:rowId xmlns:a16="http://schemas.microsoft.com/office/drawing/2014/main" val="2345858763"/>
                  </a:ext>
                </a:extLst>
              </a:tr>
            </a:tbl>
          </a:graphicData>
        </a:graphic>
      </p:graphicFrame>
      <p:graphicFrame>
        <p:nvGraphicFramePr>
          <p:cNvPr id="6" name="表格 4">
            <a:extLst>
              <a:ext uri="{FF2B5EF4-FFF2-40B4-BE49-F238E27FC236}">
                <a16:creationId xmlns:a16="http://schemas.microsoft.com/office/drawing/2014/main" id="{8193EEE0-8886-4486-861D-D6AB066F9E17}"/>
              </a:ext>
            </a:extLst>
          </p:cNvPr>
          <p:cNvGraphicFramePr>
            <a:graphicFrameLocks noGrp="1"/>
          </p:cNvGraphicFramePr>
          <p:nvPr>
            <p:extLst>
              <p:ext uri="{D42A27DB-BD31-4B8C-83A1-F6EECF244321}">
                <p14:modId xmlns:p14="http://schemas.microsoft.com/office/powerpoint/2010/main" val="466042422"/>
              </p:ext>
            </p:extLst>
          </p:nvPr>
        </p:nvGraphicFramePr>
        <p:xfrm>
          <a:off x="6721647" y="3558006"/>
          <a:ext cx="4946315" cy="3299994"/>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549999">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5</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549999">
                <a:tc>
                  <a:txBody>
                    <a:bodyPr/>
                    <a:lstStyle/>
                    <a:p>
                      <a:pPr algn="ctr"/>
                      <a:r>
                        <a:rPr lang="en-US" altLang="zh-TW" sz="2400" dirty="0"/>
                        <a:t>0</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-5</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-6</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-7</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-8</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-9</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5137866"/>
                  </a:ext>
                </a:extLst>
              </a:tr>
              <a:tr h="549999">
                <a:tc>
                  <a:txBody>
                    <a:bodyPr/>
                    <a:lstStyle/>
                    <a:p>
                      <a:pPr algn="ctr"/>
                      <a:r>
                        <a:rPr lang="en-US" altLang="zh-TW" sz="2400" dirty="0"/>
                        <a:t>1</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-6</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-7</a:t>
                      </a:r>
                      <a:endParaRPr lang="zh-TW" alt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136895"/>
                  </a:ext>
                </a:extLst>
              </a:tr>
              <a:tr h="549999">
                <a:tc>
                  <a:txBody>
                    <a:bodyPr/>
                    <a:lstStyle/>
                    <a:p>
                      <a:pPr algn="ctr"/>
                      <a:r>
                        <a:rPr lang="en-US" altLang="zh-TW" sz="2400" dirty="0"/>
                        <a:t>2</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0</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0</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-1</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-2</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-3</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-4</a:t>
                      </a: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TW" sz="2400" dirty="0"/>
                        <a:t>-5</a:t>
                      </a:r>
                      <a:endParaRPr lang="zh-TW" altLang="en-US" sz="2400"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549999">
                <a:tc>
                  <a:txBody>
                    <a:bodyPr/>
                    <a:lstStyle/>
                    <a:p>
                      <a:pPr algn="ctr"/>
                      <a:r>
                        <a:rPr lang="en-US" altLang="zh-TW" sz="2400" dirty="0"/>
                        <a:t>3</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-3</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t>-1</a:t>
                      </a: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r>
                        <a:rPr lang="en-US" altLang="zh-TW" sz="2400" dirty="0"/>
                        <a:t>1</a:t>
                      </a:r>
                      <a:endParaRPr lang="zh-TW" altLang="en-US" sz="2400" dirty="0"/>
                    </a:p>
                  </a:txBody>
                  <a:tcPr anchor="ctr">
                    <a:noFill/>
                  </a:tcPr>
                </a:tc>
                <a:tc>
                  <a:txBody>
                    <a:bodyPr/>
                    <a:lstStyle/>
                    <a:p>
                      <a:pPr algn="ctr"/>
                      <a:r>
                        <a:rPr lang="en-US" altLang="zh-TW" sz="2400" dirty="0"/>
                        <a:t>1</a:t>
                      </a:r>
                      <a:endParaRPr lang="zh-TW" altLang="en-US" sz="2400" dirty="0"/>
                    </a:p>
                  </a:txBody>
                  <a:tcPr anchor="ctr">
                    <a:noFill/>
                  </a:tcPr>
                </a:tc>
                <a:tc>
                  <a:txBody>
                    <a:bodyPr/>
                    <a:lstStyle/>
                    <a:p>
                      <a:pPr algn="ctr"/>
                      <a:r>
                        <a:rPr lang="en-US" altLang="zh-TW" sz="2400" dirty="0"/>
                        <a:t>2</a:t>
                      </a:r>
                      <a:endParaRPr lang="zh-TW" altLang="en-US" sz="2400" dirty="0"/>
                    </a:p>
                  </a:txBody>
                  <a:tcPr anchor="ctr">
                    <a:noFill/>
                  </a:tcPr>
                </a:tc>
                <a:tc>
                  <a:txBody>
                    <a:bodyPr/>
                    <a:lstStyle/>
                    <a:p>
                      <a:pPr algn="ctr"/>
                      <a:r>
                        <a:rPr lang="en-US" altLang="zh-TW" sz="2400" dirty="0"/>
                        <a:t>1</a:t>
                      </a:r>
                      <a:endParaRPr lang="zh-TW" altLang="en-US" sz="2400" dirty="0"/>
                    </a:p>
                  </a:txBody>
                  <a:tcPr anchor="ctr">
                    <a:noFill/>
                  </a:tcPr>
                </a:tc>
                <a:tc>
                  <a:txBody>
                    <a:bodyPr/>
                    <a:lstStyle/>
                    <a:p>
                      <a:pPr algn="ctr"/>
                      <a:r>
                        <a:rPr lang="en-US" altLang="zh-TW" sz="2400" dirty="0"/>
                        <a:t>0</a:t>
                      </a:r>
                      <a:endParaRPr lang="zh-TW" altLang="en-US" sz="2400" dirty="0"/>
                    </a:p>
                  </a:txBody>
                  <a:tcPr anchor="ctr">
                    <a:noFill/>
                  </a:tcPr>
                </a:tc>
                <a:tc>
                  <a:txBody>
                    <a:bodyPr/>
                    <a:lstStyle/>
                    <a:p>
                      <a:pPr algn="ctr"/>
                      <a:r>
                        <a:rPr lang="en-US" altLang="zh-TW" sz="2400" dirty="0"/>
                        <a:t>-1</a:t>
                      </a:r>
                      <a:endParaRPr lang="zh-TW" altLang="en-US" sz="2400" dirty="0"/>
                    </a:p>
                  </a:txBody>
                  <a:tcPr anchor="ctr">
                    <a:noFill/>
                  </a:tcPr>
                </a:tc>
                <a:tc>
                  <a:txBody>
                    <a:bodyPr/>
                    <a:lstStyle/>
                    <a:p>
                      <a:pPr algn="ctr"/>
                      <a:r>
                        <a:rPr lang="en-US" altLang="zh-TW" sz="2400" dirty="0"/>
                        <a:t>-2</a:t>
                      </a:r>
                      <a:endParaRPr lang="zh-TW" altLang="en-US" sz="2400" dirty="0"/>
                    </a:p>
                  </a:txBody>
                  <a:tcPr anchor="ctr">
                    <a:noFill/>
                  </a:tcPr>
                </a:tc>
                <a:tc>
                  <a:txBody>
                    <a:bodyPr/>
                    <a:lstStyle/>
                    <a:p>
                      <a:pPr algn="ctr"/>
                      <a:r>
                        <a:rPr lang="en-US" altLang="zh-TW" sz="2400" dirty="0"/>
                        <a:t>-3</a:t>
                      </a:r>
                      <a:endParaRPr lang="zh-TW" altLang="en-US" sz="2400" dirty="0"/>
                    </a:p>
                  </a:txBody>
                  <a:tcPr anchor="ctr">
                    <a:noFill/>
                  </a:tcPr>
                </a:tc>
                <a:extLst>
                  <a:ext uri="{0D108BD9-81ED-4DB2-BD59-A6C34878D82A}">
                    <a16:rowId xmlns:a16="http://schemas.microsoft.com/office/drawing/2014/main" val="3178250234"/>
                  </a:ext>
                </a:extLst>
              </a:tr>
              <a:tr h="549999">
                <a:tc>
                  <a:txBody>
                    <a:bodyPr/>
                    <a:lstStyle/>
                    <a:p>
                      <a:pPr algn="ctr"/>
                      <a:r>
                        <a:rPr lang="en-US" altLang="zh-TW" sz="2400" dirty="0"/>
                        <a:t>4</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t>-4</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-2</a:t>
                      </a:r>
                      <a:endParaRPr lang="zh-TW" altLang="en-US" sz="2400" dirty="0"/>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sz="2400" dirty="0"/>
                        <a:t>-2</a:t>
                      </a:r>
                      <a:endParaRPr lang="zh-TW" altLang="en-US" sz="2400" dirty="0"/>
                    </a:p>
                  </a:txBody>
                  <a:tcPr anchor="ctr"/>
                </a:tc>
                <a:tc>
                  <a:txBody>
                    <a:bodyPr/>
                    <a:lstStyle/>
                    <a:p>
                      <a:pPr algn="ctr"/>
                      <a:r>
                        <a:rPr lang="en-US" altLang="zh-TW" sz="2400" dirty="0"/>
                        <a:t>-2</a:t>
                      </a:r>
                      <a:endParaRPr lang="zh-TW" altLang="en-US" sz="2400" dirty="0"/>
                    </a:p>
                  </a:txBody>
                  <a:tcPr anchor="ctr"/>
                </a:tc>
                <a:tc>
                  <a:txBody>
                    <a:bodyPr/>
                    <a:lstStyle/>
                    <a:p>
                      <a:pPr algn="ctr"/>
                      <a:r>
                        <a:rPr lang="en-US" altLang="zh-TW" sz="2400" dirty="0"/>
                        <a:t>-2</a:t>
                      </a:r>
                      <a:endParaRPr lang="zh-TW" altLang="en-US" sz="2400" dirty="0"/>
                    </a:p>
                  </a:txBody>
                  <a:tcPr anchor="ctr"/>
                </a:tc>
                <a:tc>
                  <a:txBody>
                    <a:bodyPr/>
                    <a:lstStyle/>
                    <a:p>
                      <a:pPr algn="ctr"/>
                      <a:r>
                        <a:rPr lang="en-US" altLang="zh-TW" sz="2400" dirty="0"/>
                        <a:t>0</a:t>
                      </a:r>
                      <a:endParaRPr lang="zh-TW" altLang="en-US" sz="2400" dirty="0"/>
                    </a:p>
                  </a:txBody>
                  <a:tcPr anchor="ctr"/>
                </a:tc>
                <a:tc>
                  <a:txBody>
                    <a:bodyPr/>
                    <a:lstStyle/>
                    <a:p>
                      <a:pPr algn="ctr"/>
                      <a:r>
                        <a:rPr lang="en-US" altLang="zh-TW" sz="2400" dirty="0"/>
                        <a:t>2</a:t>
                      </a:r>
                      <a:endParaRPr lang="zh-TW" altLang="en-US" sz="2400" dirty="0"/>
                    </a:p>
                  </a:txBody>
                  <a:tcPr anchor="ctr"/>
                </a:tc>
                <a:tc>
                  <a:txBody>
                    <a:bodyPr/>
                    <a:lstStyle/>
                    <a:p>
                      <a:pPr algn="ctr"/>
                      <a:r>
                        <a:rPr lang="en-US" altLang="zh-TW" sz="2400" dirty="0"/>
                        <a:t>1</a:t>
                      </a:r>
                      <a:endParaRPr lang="zh-TW" altLang="en-US" sz="2400" dirty="0"/>
                    </a:p>
                  </a:txBody>
                  <a:tcPr anchor="ctr"/>
                </a:tc>
                <a:tc>
                  <a:txBody>
                    <a:bodyPr/>
                    <a:lstStyle/>
                    <a:p>
                      <a:pPr algn="ctr"/>
                      <a:r>
                        <a:rPr lang="en-US" altLang="zh-TW" sz="2400" dirty="0"/>
                        <a:t>0</a:t>
                      </a:r>
                      <a:endParaRPr lang="zh-TW" altLang="en-US" sz="2400" dirty="0"/>
                    </a:p>
                  </a:txBody>
                  <a:tcPr anchor="ctr"/>
                </a:tc>
                <a:tc>
                  <a:txBody>
                    <a:bodyPr/>
                    <a:lstStyle/>
                    <a:p>
                      <a:pPr algn="ctr"/>
                      <a:r>
                        <a:rPr lang="en-US" altLang="zh-TW" sz="2400" dirty="0"/>
                        <a:t>0</a:t>
                      </a:r>
                      <a:endParaRPr lang="zh-TW" altLang="en-US" sz="2400" dirty="0"/>
                    </a:p>
                  </a:txBody>
                  <a:tcPr anchor="ctr">
                    <a:solidFill>
                      <a:srgbClr val="FF0000"/>
                    </a:solidFill>
                  </a:tcPr>
                </a:tc>
                <a:extLst>
                  <a:ext uri="{0D108BD9-81ED-4DB2-BD59-A6C34878D82A}">
                    <a16:rowId xmlns:a16="http://schemas.microsoft.com/office/drawing/2014/main" val="2345858763"/>
                  </a:ext>
                </a:extLst>
              </a:tr>
            </a:tbl>
          </a:graphicData>
        </a:graphic>
      </p:graphicFrame>
      <p:graphicFrame>
        <p:nvGraphicFramePr>
          <p:cNvPr id="10" name="表格 4">
            <a:extLst>
              <a:ext uri="{FF2B5EF4-FFF2-40B4-BE49-F238E27FC236}">
                <a16:creationId xmlns:a16="http://schemas.microsoft.com/office/drawing/2014/main" id="{42C167EA-C2F2-43CE-83A5-2DEF41CCB410}"/>
              </a:ext>
            </a:extLst>
          </p:cNvPr>
          <p:cNvGraphicFramePr>
            <a:graphicFrameLocks noGrp="1"/>
          </p:cNvGraphicFramePr>
          <p:nvPr>
            <p:extLst>
              <p:ext uri="{D42A27DB-BD31-4B8C-83A1-F6EECF244321}">
                <p14:modId xmlns:p14="http://schemas.microsoft.com/office/powerpoint/2010/main" val="3386592206"/>
              </p:ext>
            </p:extLst>
          </p:nvPr>
        </p:nvGraphicFramePr>
        <p:xfrm>
          <a:off x="524040" y="4474346"/>
          <a:ext cx="4946315" cy="2383655"/>
        </p:xfrm>
        <a:graphic>
          <a:graphicData uri="http://schemas.openxmlformats.org/drawingml/2006/table">
            <a:tbl>
              <a:tblPr firstRow="1" bandRow="1">
                <a:tableStyleId>{5940675A-B579-460E-94D1-54222C63F5DA}</a:tableStyleId>
              </a:tblPr>
              <a:tblGrid>
                <a:gridCol w="449665">
                  <a:extLst>
                    <a:ext uri="{9D8B030D-6E8A-4147-A177-3AD203B41FA5}">
                      <a16:colId xmlns:a16="http://schemas.microsoft.com/office/drawing/2014/main" val="2270417349"/>
                    </a:ext>
                  </a:extLst>
                </a:gridCol>
                <a:gridCol w="449665">
                  <a:extLst>
                    <a:ext uri="{9D8B030D-6E8A-4147-A177-3AD203B41FA5}">
                      <a16:colId xmlns:a16="http://schemas.microsoft.com/office/drawing/2014/main" val="1053871310"/>
                    </a:ext>
                  </a:extLst>
                </a:gridCol>
                <a:gridCol w="449665">
                  <a:extLst>
                    <a:ext uri="{9D8B030D-6E8A-4147-A177-3AD203B41FA5}">
                      <a16:colId xmlns:a16="http://schemas.microsoft.com/office/drawing/2014/main" val="3912927499"/>
                    </a:ext>
                  </a:extLst>
                </a:gridCol>
                <a:gridCol w="449665">
                  <a:extLst>
                    <a:ext uri="{9D8B030D-6E8A-4147-A177-3AD203B41FA5}">
                      <a16:colId xmlns:a16="http://schemas.microsoft.com/office/drawing/2014/main" val="2512173918"/>
                    </a:ext>
                  </a:extLst>
                </a:gridCol>
                <a:gridCol w="449665">
                  <a:extLst>
                    <a:ext uri="{9D8B030D-6E8A-4147-A177-3AD203B41FA5}">
                      <a16:colId xmlns:a16="http://schemas.microsoft.com/office/drawing/2014/main" val="4214454416"/>
                    </a:ext>
                  </a:extLst>
                </a:gridCol>
                <a:gridCol w="449665">
                  <a:extLst>
                    <a:ext uri="{9D8B030D-6E8A-4147-A177-3AD203B41FA5}">
                      <a16:colId xmlns:a16="http://schemas.microsoft.com/office/drawing/2014/main" val="2453264623"/>
                    </a:ext>
                  </a:extLst>
                </a:gridCol>
                <a:gridCol w="449665">
                  <a:extLst>
                    <a:ext uri="{9D8B030D-6E8A-4147-A177-3AD203B41FA5}">
                      <a16:colId xmlns:a16="http://schemas.microsoft.com/office/drawing/2014/main" val="929841043"/>
                    </a:ext>
                  </a:extLst>
                </a:gridCol>
                <a:gridCol w="449665">
                  <a:extLst>
                    <a:ext uri="{9D8B030D-6E8A-4147-A177-3AD203B41FA5}">
                      <a16:colId xmlns:a16="http://schemas.microsoft.com/office/drawing/2014/main" val="3570204517"/>
                    </a:ext>
                  </a:extLst>
                </a:gridCol>
                <a:gridCol w="449665">
                  <a:extLst>
                    <a:ext uri="{9D8B030D-6E8A-4147-A177-3AD203B41FA5}">
                      <a16:colId xmlns:a16="http://schemas.microsoft.com/office/drawing/2014/main" val="3327391570"/>
                    </a:ext>
                  </a:extLst>
                </a:gridCol>
                <a:gridCol w="449665">
                  <a:extLst>
                    <a:ext uri="{9D8B030D-6E8A-4147-A177-3AD203B41FA5}">
                      <a16:colId xmlns:a16="http://schemas.microsoft.com/office/drawing/2014/main" val="3813780050"/>
                    </a:ext>
                  </a:extLst>
                </a:gridCol>
                <a:gridCol w="449665">
                  <a:extLst>
                    <a:ext uri="{9D8B030D-6E8A-4147-A177-3AD203B41FA5}">
                      <a16:colId xmlns:a16="http://schemas.microsoft.com/office/drawing/2014/main" val="3389698703"/>
                    </a:ext>
                  </a:extLst>
                </a:gridCol>
              </a:tblGrid>
              <a:tr h="476731">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g</a:t>
                      </a:r>
                      <a:endParaRPr lang="zh-TW" alt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84123"/>
                  </a:ext>
                </a:extLst>
              </a:tr>
              <a:tr h="476731">
                <a:tc>
                  <a:txBody>
                    <a:bodyPr/>
                    <a:lstStyle/>
                    <a:p>
                      <a:pPr algn="ctr"/>
                      <a:r>
                        <a:rPr lang="en-US" altLang="zh-TW" sz="2400" dirty="0"/>
                        <a:t>c</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7866"/>
                  </a:ext>
                </a:extLst>
              </a:tr>
              <a:tr h="476731">
                <a:tc>
                  <a:txBody>
                    <a:bodyPr/>
                    <a:lstStyle/>
                    <a:p>
                      <a:pPr algn="ctr"/>
                      <a:r>
                        <a:rPr lang="en-US" altLang="zh-TW" sz="2400" dirty="0"/>
                        <a:t>a</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tc>
                  <a:txBody>
                    <a:bodyPr/>
                    <a:lstStyle/>
                    <a:p>
                      <a:pPr algn="ctr"/>
                      <a:endParaRPr lang="zh-TW" altLang="en-US" sz="2400"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71336608"/>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3178250234"/>
                  </a:ext>
                </a:extLst>
              </a:tr>
              <a:tr h="476731">
                <a:tc>
                  <a:txBody>
                    <a:bodyPr/>
                    <a:lstStyle/>
                    <a:p>
                      <a:pPr algn="ctr"/>
                      <a:r>
                        <a:rPr lang="en-US" altLang="zh-TW" sz="2400" dirty="0"/>
                        <a:t>t</a:t>
                      </a:r>
                      <a:endParaRPr lang="zh-TW" altLang="en-US" sz="2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tc>
                  <a:txBody>
                    <a:bodyPr/>
                    <a:lstStyle/>
                    <a:p>
                      <a:pPr algn="ctr"/>
                      <a:endParaRPr lang="zh-TW" altLang="en-US" sz="2400" dirty="0"/>
                    </a:p>
                  </a:txBody>
                  <a:tcPr anchor="ctr">
                    <a:noFill/>
                  </a:tcPr>
                </a:tc>
                <a:extLst>
                  <a:ext uri="{0D108BD9-81ED-4DB2-BD59-A6C34878D82A}">
                    <a16:rowId xmlns:a16="http://schemas.microsoft.com/office/drawing/2014/main" val="2345858763"/>
                  </a:ext>
                </a:extLst>
              </a:tr>
            </a:tbl>
          </a:graphicData>
        </a:graphic>
      </p:graphicFrame>
      <p:sp>
        <p:nvSpPr>
          <p:cNvPr id="11" name="文字方塊 10">
            <a:extLst>
              <a:ext uri="{FF2B5EF4-FFF2-40B4-BE49-F238E27FC236}">
                <a16:creationId xmlns:a16="http://schemas.microsoft.com/office/drawing/2014/main" id="{48BBA3D1-D974-4A93-9F2B-502E7F118B33}"/>
              </a:ext>
            </a:extLst>
          </p:cNvPr>
          <p:cNvSpPr txBox="1"/>
          <p:nvPr/>
        </p:nvSpPr>
        <p:spPr>
          <a:xfrm>
            <a:off x="923278" y="2517521"/>
            <a:ext cx="5024761" cy="2062103"/>
          </a:xfrm>
          <a:prstGeom prst="rect">
            <a:avLst/>
          </a:prstGeom>
          <a:noFill/>
        </p:spPr>
        <p:txBody>
          <a:bodyPr wrap="square" rtlCol="0">
            <a:spAutoFit/>
          </a:bodyPr>
          <a:lstStyle/>
          <a:p>
            <a:r>
              <a:rPr lang="en-US" altLang="zh-TW" sz="3200" dirty="0">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r>
              <a:rPr lang="en-US" altLang="zh-TW" sz="3200" dirty="0">
                <a:latin typeface="Courier New" panose="02070309020205020404" pitchFamily="49" charset="0"/>
                <a:cs typeface="Courier New" panose="02070309020205020404" pitchFamily="49" charset="0"/>
              </a:rPr>
              <a:t> </a:t>
            </a:r>
            <a:r>
              <a:rPr lang="en-US" altLang="zh-TW" sz="3200" dirty="0" err="1">
                <a:latin typeface="Courier New" panose="02070309020205020404" pitchFamily="49" charset="0"/>
                <a:cs typeface="Courier New" panose="02070309020205020404" pitchFamily="49" charset="0"/>
              </a:rPr>
              <a:t>X</a:t>
            </a:r>
            <a:r>
              <a:rPr lang="en-US" altLang="zh-TW" sz="3200" dirty="0">
                <a:latin typeface="Courier New" panose="02070309020205020404" pitchFamily="49" charset="0"/>
                <a:cs typeface="Courier New" panose="02070309020205020404" pitchFamily="49" charset="0"/>
              </a:rPr>
              <a:t> c</a:t>
            </a:r>
          </a:p>
          <a:p>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r>
              <a:rPr lang="zh-TW" altLang="en-US" sz="3200" dirty="0">
                <a:latin typeface="Courier New" panose="02070309020205020404" pitchFamily="49" charset="0"/>
                <a:cs typeface="Courier New" panose="02070309020205020404" pitchFamily="49" charset="0"/>
              </a:rPr>
              <a:t> </a:t>
            </a:r>
            <a:r>
              <a:rPr lang="en-US" altLang="zh-TW" sz="3200" dirty="0">
                <a:latin typeface="Courier New" panose="02070309020205020404" pitchFamily="49" charset="0"/>
                <a:cs typeface="Courier New" panose="02070309020205020404" pitchFamily="49" charset="0"/>
              </a:rPr>
              <a:t>X c a</a:t>
            </a:r>
          </a:p>
          <a:p>
            <a:r>
              <a:rPr lang="en-US" altLang="zh-TW" sz="3200" dirty="0">
                <a:latin typeface="Courier New" panose="02070309020205020404" pitchFamily="49" charset="0"/>
                <a:cs typeface="Courier New" panose="02070309020205020404" pitchFamily="49" charset="0"/>
              </a:rPr>
              <a:t>X </a:t>
            </a:r>
            <a:r>
              <a:rPr lang="en-US" altLang="zh-TW" sz="3200" dirty="0" err="1">
                <a:latin typeface="Courier New" panose="02070309020205020404" pitchFamily="49" charset="0"/>
                <a:cs typeface="Courier New" panose="02070309020205020404" pitchFamily="49" charset="0"/>
              </a:rPr>
              <a:t>X</a:t>
            </a:r>
            <a:r>
              <a:rPr lang="en-US" altLang="zh-TW" sz="3200" dirty="0">
                <a:latin typeface="Courier New" panose="02070309020205020404" pitchFamily="49" charset="0"/>
                <a:cs typeface="Courier New" panose="02070309020205020404" pitchFamily="49" charset="0"/>
              </a:rPr>
              <a:t> c a t</a:t>
            </a:r>
          </a:p>
          <a:p>
            <a:r>
              <a:rPr lang="en-US" altLang="zh-TW" sz="3200" dirty="0">
                <a:latin typeface="Courier New" panose="02070309020205020404" pitchFamily="49" charset="0"/>
                <a:cs typeface="Courier New" panose="02070309020205020404" pitchFamily="49" charset="0"/>
              </a:rPr>
              <a:t>g c a t </a:t>
            </a:r>
            <a:r>
              <a:rPr lang="en-US" altLang="zh-TW" sz="3200" dirty="0" err="1">
                <a:latin typeface="Courier New" panose="02070309020205020404" pitchFamily="49" charset="0"/>
                <a:cs typeface="Courier New" panose="02070309020205020404" pitchFamily="49" charset="0"/>
              </a:rPr>
              <a:t>t</a:t>
            </a:r>
            <a:r>
              <a:rPr lang="en-US" altLang="zh-TW" sz="3200" dirty="0">
                <a:latin typeface="Courier New" panose="02070309020205020404" pitchFamily="49" charset="0"/>
                <a:cs typeface="Courier New" panose="02070309020205020404" pitchFamily="49" charset="0"/>
              </a:rPr>
              <a:t> </a:t>
            </a:r>
            <a:endParaRPr lang="zh-TW" altLang="en-US" sz="3200" dirty="0">
              <a:latin typeface="Courier New" panose="02070309020205020404" pitchFamily="49" charset="0"/>
              <a:cs typeface="Courier New" panose="02070309020205020404" pitchFamily="49" charset="0"/>
            </a:endParaRPr>
          </a:p>
        </p:txBody>
      </p:sp>
      <p:graphicFrame>
        <p:nvGraphicFramePr>
          <p:cNvPr id="2" name="表格 1">
            <a:extLst>
              <a:ext uri="{FF2B5EF4-FFF2-40B4-BE49-F238E27FC236}">
                <a16:creationId xmlns:a16="http://schemas.microsoft.com/office/drawing/2014/main" id="{B6F88501-33E8-4FEB-8755-13DBFEA661F4}"/>
              </a:ext>
            </a:extLst>
          </p:cNvPr>
          <p:cNvGraphicFramePr>
            <a:graphicFrameLocks noGrp="1"/>
          </p:cNvGraphicFramePr>
          <p:nvPr/>
        </p:nvGraphicFramePr>
        <p:xfrm>
          <a:off x="7057615" y="318002"/>
          <a:ext cx="2348884" cy="1649997"/>
        </p:xfrm>
        <a:graphic>
          <a:graphicData uri="http://schemas.openxmlformats.org/drawingml/2006/table">
            <a:tbl>
              <a:tblPr firstRow="1" bandRow="1">
                <a:tableStyleId>{5940675A-B579-460E-94D1-54222C63F5DA}</a:tableStyleId>
              </a:tblPr>
              <a:tblGrid>
                <a:gridCol w="635494">
                  <a:extLst>
                    <a:ext uri="{9D8B030D-6E8A-4147-A177-3AD203B41FA5}">
                      <a16:colId xmlns:a16="http://schemas.microsoft.com/office/drawing/2014/main" val="2515039059"/>
                    </a:ext>
                  </a:extLst>
                </a:gridCol>
                <a:gridCol w="1713390">
                  <a:extLst>
                    <a:ext uri="{9D8B030D-6E8A-4147-A177-3AD203B41FA5}">
                      <a16:colId xmlns:a16="http://schemas.microsoft.com/office/drawing/2014/main" val="4161365852"/>
                    </a:ext>
                  </a:extLst>
                </a:gridCol>
              </a:tblGrid>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sz="2400" dirty="0"/>
                        <a:t>input row</a:t>
                      </a: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1194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sz="2400" dirty="0"/>
                        <a:t>output row</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489934"/>
                  </a:ext>
                </a:extLst>
              </a:tr>
              <a:tr h="549999">
                <a:tc>
                  <a:txBody>
                    <a:bodyPr/>
                    <a:lstStyle/>
                    <a:p>
                      <a:pPr algn="ctr"/>
                      <a:endParaRPr lang="zh-TW"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err="1"/>
                        <a:t>getMaxOut</a:t>
                      </a:r>
                      <a:endParaRPr lang="zh-TW" altLang="en-US"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82398401"/>
                  </a:ext>
                </a:extLst>
              </a:tr>
            </a:tbl>
          </a:graphicData>
        </a:graphic>
      </p:graphicFrame>
      <p:cxnSp>
        <p:nvCxnSpPr>
          <p:cNvPr id="8" name="直線單箭頭接點 7">
            <a:extLst>
              <a:ext uri="{FF2B5EF4-FFF2-40B4-BE49-F238E27FC236}">
                <a16:creationId xmlns:a16="http://schemas.microsoft.com/office/drawing/2014/main" id="{0BBE3FEB-3CE7-4CE7-A493-6734ACB0D15E}"/>
              </a:ext>
            </a:extLst>
          </p:cNvPr>
          <p:cNvCxnSpPr>
            <a:cxnSpLocks/>
          </p:cNvCxnSpPr>
          <p:nvPr/>
        </p:nvCxnSpPr>
        <p:spPr>
          <a:xfrm>
            <a:off x="604251" y="2795337"/>
            <a:ext cx="0" cy="12673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585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4C6277C8-429A-4B95-9C04-01783835EF87}"/>
              </a:ext>
            </a:extLst>
          </p:cNvPr>
          <p:cNvPicPr>
            <a:picLocks noChangeAspect="1"/>
          </p:cNvPicPr>
          <p:nvPr/>
        </p:nvPicPr>
        <p:blipFill>
          <a:blip r:embed="rId2"/>
          <a:stretch>
            <a:fillRect/>
          </a:stretch>
        </p:blipFill>
        <p:spPr>
          <a:xfrm>
            <a:off x="-1" y="-1"/>
            <a:ext cx="10507579" cy="6833329"/>
          </a:xfrm>
          <a:prstGeom prst="rect">
            <a:avLst/>
          </a:prstGeom>
        </p:spPr>
      </p:pic>
      <p:sp>
        <p:nvSpPr>
          <p:cNvPr id="6" name="右大括弧 5">
            <a:extLst>
              <a:ext uri="{FF2B5EF4-FFF2-40B4-BE49-F238E27FC236}">
                <a16:creationId xmlns:a16="http://schemas.microsoft.com/office/drawing/2014/main" id="{C0955631-ABB7-4CD0-9C6D-7A88A3724847}"/>
              </a:ext>
            </a:extLst>
          </p:cNvPr>
          <p:cNvSpPr/>
          <p:nvPr/>
        </p:nvSpPr>
        <p:spPr>
          <a:xfrm>
            <a:off x="7475621" y="5021179"/>
            <a:ext cx="160421" cy="673768"/>
          </a:xfrm>
          <a:prstGeom prst="rightBrace">
            <a:avLst/>
          </a:prstGeom>
          <a:ln w="285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16B4347-DB25-4F1F-837D-2D51CA213DF4}"/>
              </a:ext>
            </a:extLst>
          </p:cNvPr>
          <p:cNvSpPr txBox="1"/>
          <p:nvPr/>
        </p:nvSpPr>
        <p:spPr>
          <a:xfrm>
            <a:off x="7844588" y="4942564"/>
            <a:ext cx="3449053" cy="830997"/>
          </a:xfrm>
          <a:prstGeom prst="rect">
            <a:avLst/>
          </a:prstGeom>
          <a:noFill/>
        </p:spPr>
        <p:txBody>
          <a:bodyPr wrap="square" rtlCol="0">
            <a:spAutoFit/>
          </a:bodyPr>
          <a:lstStyle/>
          <a:p>
            <a:r>
              <a:rPr lang="en-US" altLang="zh-TW" sz="4800" dirty="0">
                <a:solidFill>
                  <a:srgbClr val="00B0F0"/>
                </a:solidFill>
                <a:latin typeface="Times New Roman" panose="02020603050405020304" pitchFamily="18" charset="0"/>
                <a:cs typeface="Times New Roman" panose="02020603050405020304" pitchFamily="18" charset="0"/>
              </a:rPr>
              <a:t>O(#column)</a:t>
            </a:r>
            <a:endParaRPr lang="zh-TW" altLang="en-US" sz="48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617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34C33BDC-BC1E-45A7-9473-B0BAFC951A78}"/>
              </a:ext>
            </a:extLst>
          </p:cNvPr>
          <p:cNvSpPr txBox="1"/>
          <p:nvPr/>
        </p:nvSpPr>
        <p:spPr>
          <a:xfrm>
            <a:off x="471487" y="606459"/>
            <a:ext cx="11249025" cy="2308324"/>
          </a:xfrm>
          <a:prstGeom prst="rect">
            <a:avLst/>
          </a:prstGeom>
          <a:noFill/>
        </p:spPr>
        <p:txBody>
          <a:bodyPr wrap="square">
            <a:spAutoFit/>
          </a:bodyPr>
          <a:lstStyle/>
          <a:p>
            <a:pPr marL="457200" indent="-457200" algn="l">
              <a:buFont typeface="+mj-lt"/>
              <a:buAutoNum type="arabicPeriod"/>
            </a:pPr>
            <a:r>
              <a:rPr lang="en-US" altLang="zh-TW" sz="2400" dirty="0">
                <a:latin typeface="Times New Roman" panose="02020603050405020304" pitchFamily="18" charset="0"/>
                <a:cs typeface="Times New Roman" panose="02020603050405020304" pitchFamily="18" charset="0"/>
              </a:rPr>
              <a:t>JEANETTE P. SCHMIDT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All Highest Scoring Paths in Weighted Grid Graphs and Their Application to Finding All Approximate Repeats in Strings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SIAM Journal on Computing Vol. 27, No. 4, pp. 972-992, August 1998</a:t>
            </a:r>
          </a:p>
          <a:p>
            <a:pPr marL="457200" indent="-457200" algn="l">
              <a:buFont typeface="+mj-lt"/>
              <a:buAutoNum type="arabicPeriod"/>
            </a:pPr>
            <a:endParaRPr lang="en-US" altLang="zh-TW" sz="2400"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altLang="zh-TW" sz="2400" dirty="0">
                <a:latin typeface="Times New Roman" panose="02020603050405020304" pitchFamily="18" charset="0"/>
                <a:cs typeface="Times New Roman" panose="02020603050405020304" pitchFamily="18" charset="0"/>
              </a:rPr>
              <a:t>Gad M. Landau and Michal </a:t>
            </a:r>
            <a:r>
              <a:rPr lang="en-US" altLang="zh-TW" sz="2400" dirty="0" err="1">
                <a:latin typeface="Times New Roman" panose="02020603050405020304" pitchFamily="18" charset="0"/>
                <a:cs typeface="Times New Roman" panose="02020603050405020304" pitchFamily="18" charset="0"/>
              </a:rPr>
              <a:t>Ziv-Ukelson</a:t>
            </a:r>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On the Common Substring Alignment Problem</a:t>
            </a:r>
            <a:r>
              <a:rPr lang="zh-TW" altLang="en-US" sz="2400" dirty="0">
                <a:latin typeface="Times New Roman" panose="02020603050405020304" pitchFamily="18" charset="0"/>
                <a:cs typeface="Times New Roman" panose="02020603050405020304" pitchFamily="18" charset="0"/>
              </a:rPr>
              <a:t> － </a:t>
            </a:r>
            <a:r>
              <a:rPr lang="en-US" altLang="zh-TW" sz="2400" dirty="0">
                <a:latin typeface="Times New Roman" panose="02020603050405020304" pitchFamily="18" charset="0"/>
                <a:cs typeface="Times New Roman" panose="02020603050405020304" pitchFamily="18" charset="0"/>
              </a:rPr>
              <a:t>Journal of Algorithms 41, 338–359 (2001)</a:t>
            </a:r>
          </a:p>
        </p:txBody>
      </p:sp>
      <p:sp>
        <p:nvSpPr>
          <p:cNvPr id="8" name="文字方塊 7">
            <a:extLst>
              <a:ext uri="{FF2B5EF4-FFF2-40B4-BE49-F238E27FC236}">
                <a16:creationId xmlns:a16="http://schemas.microsoft.com/office/drawing/2014/main" id="{4AE12971-DDAE-4E90-95D9-B5496287510D}"/>
              </a:ext>
            </a:extLst>
          </p:cNvPr>
          <p:cNvSpPr txBox="1"/>
          <p:nvPr/>
        </p:nvSpPr>
        <p:spPr>
          <a:xfrm>
            <a:off x="3384883" y="3299936"/>
            <a:ext cx="978569" cy="738664"/>
          </a:xfrm>
          <a:prstGeom prst="rect">
            <a:avLst/>
          </a:prstGeom>
          <a:noFill/>
        </p:spPr>
        <p:txBody>
          <a:bodyPr wrap="square" rtlCol="0">
            <a:spAutoFit/>
          </a:bodyPr>
          <a:lstStyle/>
          <a:p>
            <a:r>
              <a:rPr lang="en-US" altLang="zh-TW" sz="4200" dirty="0"/>
              <a:t>[1]</a:t>
            </a:r>
            <a:endParaRPr lang="zh-TW" altLang="en-US" sz="4200" dirty="0"/>
          </a:p>
        </p:txBody>
      </p:sp>
      <p:cxnSp>
        <p:nvCxnSpPr>
          <p:cNvPr id="10" name="直線單箭頭接點 9">
            <a:extLst>
              <a:ext uri="{FF2B5EF4-FFF2-40B4-BE49-F238E27FC236}">
                <a16:creationId xmlns:a16="http://schemas.microsoft.com/office/drawing/2014/main" id="{2D87F045-F5D7-4D11-AF27-4C0C9EFB551C}"/>
              </a:ext>
            </a:extLst>
          </p:cNvPr>
          <p:cNvCxnSpPr>
            <a:cxnSpLocks/>
            <a:stCxn id="8" idx="3"/>
          </p:cNvCxnSpPr>
          <p:nvPr/>
        </p:nvCxnSpPr>
        <p:spPr>
          <a:xfrm>
            <a:off x="4363452" y="3669268"/>
            <a:ext cx="2839453" cy="7116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8A314BE2-7893-4438-8277-B9427A542510}"/>
              </a:ext>
            </a:extLst>
          </p:cNvPr>
          <p:cNvSpPr txBox="1"/>
          <p:nvPr/>
        </p:nvSpPr>
        <p:spPr>
          <a:xfrm>
            <a:off x="7523747" y="4252253"/>
            <a:ext cx="978569" cy="738664"/>
          </a:xfrm>
          <a:prstGeom prst="rect">
            <a:avLst/>
          </a:prstGeom>
          <a:noFill/>
        </p:spPr>
        <p:txBody>
          <a:bodyPr wrap="square" rtlCol="0">
            <a:spAutoFit/>
          </a:bodyPr>
          <a:lstStyle/>
          <a:p>
            <a:r>
              <a:rPr lang="en-US" altLang="zh-TW" sz="4200" dirty="0"/>
              <a:t>[2]</a:t>
            </a:r>
            <a:endParaRPr lang="zh-TW" altLang="en-US" sz="4200" dirty="0"/>
          </a:p>
        </p:txBody>
      </p:sp>
      <p:cxnSp>
        <p:nvCxnSpPr>
          <p:cNvPr id="14" name="直線單箭頭接點 13">
            <a:extLst>
              <a:ext uri="{FF2B5EF4-FFF2-40B4-BE49-F238E27FC236}">
                <a16:creationId xmlns:a16="http://schemas.microsoft.com/office/drawing/2014/main" id="{12ED073B-E6E0-4867-AC02-E3AC438EAB63}"/>
              </a:ext>
            </a:extLst>
          </p:cNvPr>
          <p:cNvCxnSpPr>
            <a:cxnSpLocks/>
          </p:cNvCxnSpPr>
          <p:nvPr/>
        </p:nvCxnSpPr>
        <p:spPr>
          <a:xfrm flipH="1">
            <a:off x="3874166" y="4186625"/>
            <a:ext cx="1" cy="10591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A951E0BD-C72D-44AF-AE40-1198F678BD46}"/>
              </a:ext>
            </a:extLst>
          </p:cNvPr>
          <p:cNvSpPr txBox="1"/>
          <p:nvPr/>
        </p:nvSpPr>
        <p:spPr>
          <a:xfrm>
            <a:off x="2675021" y="5577915"/>
            <a:ext cx="2398291" cy="738664"/>
          </a:xfrm>
          <a:prstGeom prst="rect">
            <a:avLst/>
          </a:prstGeom>
          <a:noFill/>
        </p:spPr>
        <p:txBody>
          <a:bodyPr wrap="square" rtlCol="0">
            <a:spAutoFit/>
          </a:bodyPr>
          <a:lstStyle/>
          <a:p>
            <a:r>
              <a:rPr lang="en-US" altLang="zh-TW" sz="4200" dirty="0"/>
              <a:t>this(2006)</a:t>
            </a:r>
            <a:endParaRPr lang="zh-TW" altLang="en-US" sz="4200" dirty="0"/>
          </a:p>
        </p:txBody>
      </p:sp>
      <p:cxnSp>
        <p:nvCxnSpPr>
          <p:cNvPr id="23" name="直線單箭頭接點 22">
            <a:extLst>
              <a:ext uri="{FF2B5EF4-FFF2-40B4-BE49-F238E27FC236}">
                <a16:creationId xmlns:a16="http://schemas.microsoft.com/office/drawing/2014/main" id="{E4C5ECE0-4AB9-4E82-ADE5-7046A906F287}"/>
              </a:ext>
            </a:extLst>
          </p:cNvPr>
          <p:cNvCxnSpPr>
            <a:cxnSpLocks/>
          </p:cNvCxnSpPr>
          <p:nvPr/>
        </p:nvCxnSpPr>
        <p:spPr>
          <a:xfrm flipH="1">
            <a:off x="5293894" y="5235561"/>
            <a:ext cx="1909011" cy="7116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72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5">
            <a:extLst>
              <a:ext uri="{FF2B5EF4-FFF2-40B4-BE49-F238E27FC236}">
                <a16:creationId xmlns:a16="http://schemas.microsoft.com/office/drawing/2014/main" id="{AE1E2D8D-8C17-475B-BB3F-480ED4AD0D54}"/>
              </a:ext>
            </a:extLst>
          </p:cNvPr>
          <p:cNvGraphicFramePr>
            <a:graphicFrameLocks noGrp="1"/>
          </p:cNvGraphicFramePr>
          <p:nvPr>
            <p:extLst>
              <p:ext uri="{D42A27DB-BD31-4B8C-83A1-F6EECF244321}">
                <p14:modId xmlns:p14="http://schemas.microsoft.com/office/powerpoint/2010/main" val="666130530"/>
              </p:ext>
            </p:extLst>
          </p:nvPr>
        </p:nvGraphicFramePr>
        <p:xfrm>
          <a:off x="508000" y="366740"/>
          <a:ext cx="4882152" cy="4079240"/>
        </p:xfrm>
        <a:graphic>
          <a:graphicData uri="http://schemas.openxmlformats.org/drawingml/2006/table">
            <a:tbl>
              <a:tblPr firstRow="1" bandRow="1">
                <a:tableStyleId>{5940675A-B579-460E-94D1-54222C63F5DA}</a:tableStyleId>
              </a:tblPr>
              <a:tblGrid>
                <a:gridCol w="443832">
                  <a:extLst>
                    <a:ext uri="{9D8B030D-6E8A-4147-A177-3AD203B41FA5}">
                      <a16:colId xmlns:a16="http://schemas.microsoft.com/office/drawing/2014/main" val="4181797248"/>
                    </a:ext>
                  </a:extLst>
                </a:gridCol>
                <a:gridCol w="443832">
                  <a:extLst>
                    <a:ext uri="{9D8B030D-6E8A-4147-A177-3AD203B41FA5}">
                      <a16:colId xmlns:a16="http://schemas.microsoft.com/office/drawing/2014/main" val="3657967942"/>
                    </a:ext>
                  </a:extLst>
                </a:gridCol>
                <a:gridCol w="443832">
                  <a:extLst>
                    <a:ext uri="{9D8B030D-6E8A-4147-A177-3AD203B41FA5}">
                      <a16:colId xmlns:a16="http://schemas.microsoft.com/office/drawing/2014/main" val="665084943"/>
                    </a:ext>
                  </a:extLst>
                </a:gridCol>
                <a:gridCol w="443832">
                  <a:extLst>
                    <a:ext uri="{9D8B030D-6E8A-4147-A177-3AD203B41FA5}">
                      <a16:colId xmlns:a16="http://schemas.microsoft.com/office/drawing/2014/main" val="2652184696"/>
                    </a:ext>
                  </a:extLst>
                </a:gridCol>
                <a:gridCol w="443832">
                  <a:extLst>
                    <a:ext uri="{9D8B030D-6E8A-4147-A177-3AD203B41FA5}">
                      <a16:colId xmlns:a16="http://schemas.microsoft.com/office/drawing/2014/main" val="3060493211"/>
                    </a:ext>
                  </a:extLst>
                </a:gridCol>
                <a:gridCol w="443832">
                  <a:extLst>
                    <a:ext uri="{9D8B030D-6E8A-4147-A177-3AD203B41FA5}">
                      <a16:colId xmlns:a16="http://schemas.microsoft.com/office/drawing/2014/main" val="954056597"/>
                    </a:ext>
                  </a:extLst>
                </a:gridCol>
                <a:gridCol w="443832">
                  <a:extLst>
                    <a:ext uri="{9D8B030D-6E8A-4147-A177-3AD203B41FA5}">
                      <a16:colId xmlns:a16="http://schemas.microsoft.com/office/drawing/2014/main" val="3807874526"/>
                    </a:ext>
                  </a:extLst>
                </a:gridCol>
                <a:gridCol w="443832">
                  <a:extLst>
                    <a:ext uri="{9D8B030D-6E8A-4147-A177-3AD203B41FA5}">
                      <a16:colId xmlns:a16="http://schemas.microsoft.com/office/drawing/2014/main" val="3802726454"/>
                    </a:ext>
                  </a:extLst>
                </a:gridCol>
                <a:gridCol w="443832">
                  <a:extLst>
                    <a:ext uri="{9D8B030D-6E8A-4147-A177-3AD203B41FA5}">
                      <a16:colId xmlns:a16="http://schemas.microsoft.com/office/drawing/2014/main" val="4139490124"/>
                    </a:ext>
                  </a:extLst>
                </a:gridCol>
                <a:gridCol w="443832">
                  <a:extLst>
                    <a:ext uri="{9D8B030D-6E8A-4147-A177-3AD203B41FA5}">
                      <a16:colId xmlns:a16="http://schemas.microsoft.com/office/drawing/2014/main" val="3914185967"/>
                    </a:ext>
                  </a:extLst>
                </a:gridCol>
                <a:gridCol w="443832">
                  <a:extLst>
                    <a:ext uri="{9D8B030D-6E8A-4147-A177-3AD203B41FA5}">
                      <a16:colId xmlns:a16="http://schemas.microsoft.com/office/drawing/2014/main" val="4086599788"/>
                    </a:ext>
                  </a:extLst>
                </a:gridCol>
              </a:tblGrid>
              <a:tr h="370840">
                <a:tc>
                  <a:txBody>
                    <a:bodyPr/>
                    <a:lstStyle/>
                    <a:p>
                      <a:pPr algn="ctr"/>
                      <a:endParaRPr lang="zh-TW" altLang="en-US" dirty="0"/>
                    </a:p>
                  </a:txBody>
                  <a:tcPr anchor="ctr"/>
                </a:tc>
                <a:tc>
                  <a:txBody>
                    <a:bodyPr/>
                    <a:lstStyle/>
                    <a:p>
                      <a:pPr algn="ctr"/>
                      <a:r>
                        <a:rPr lang="en-US" altLang="zh-TW" dirty="0"/>
                        <a:t>o0</a:t>
                      </a:r>
                      <a:endParaRPr lang="zh-TW" altLang="en-US" dirty="0"/>
                    </a:p>
                  </a:txBody>
                  <a:tcPr anchor="ctr">
                    <a:solidFill>
                      <a:schemeClr val="accent6">
                        <a:lumMod val="40000"/>
                        <a:lumOff val="60000"/>
                      </a:schemeClr>
                    </a:solidFill>
                  </a:tcPr>
                </a:tc>
                <a:tc>
                  <a:txBody>
                    <a:bodyPr/>
                    <a:lstStyle/>
                    <a:p>
                      <a:pPr algn="ctr"/>
                      <a:r>
                        <a:rPr lang="en-US" altLang="zh-TW" dirty="0"/>
                        <a:t>o1</a:t>
                      </a:r>
                      <a:endParaRPr lang="zh-TW" altLang="en-US" dirty="0"/>
                    </a:p>
                  </a:txBody>
                  <a:tcPr anchor="ctr">
                    <a:solidFill>
                      <a:schemeClr val="accent6">
                        <a:lumMod val="40000"/>
                        <a:lumOff val="60000"/>
                      </a:schemeClr>
                    </a:solidFill>
                  </a:tcPr>
                </a:tc>
                <a:tc>
                  <a:txBody>
                    <a:bodyPr/>
                    <a:lstStyle/>
                    <a:p>
                      <a:pPr algn="ctr"/>
                      <a:r>
                        <a:rPr lang="en-US" altLang="zh-TW" dirty="0"/>
                        <a:t>o2</a:t>
                      </a:r>
                      <a:endParaRPr lang="zh-TW" altLang="en-US" dirty="0"/>
                    </a:p>
                  </a:txBody>
                  <a:tcPr anchor="ctr">
                    <a:solidFill>
                      <a:schemeClr val="accent6">
                        <a:lumMod val="40000"/>
                        <a:lumOff val="60000"/>
                      </a:schemeClr>
                    </a:solidFill>
                  </a:tcPr>
                </a:tc>
                <a:tc>
                  <a:txBody>
                    <a:bodyPr/>
                    <a:lstStyle/>
                    <a:p>
                      <a:pPr algn="ctr"/>
                      <a:r>
                        <a:rPr lang="en-US" altLang="zh-TW" dirty="0"/>
                        <a:t>o3</a:t>
                      </a:r>
                      <a:endParaRPr lang="zh-TW" altLang="en-US" dirty="0"/>
                    </a:p>
                  </a:txBody>
                  <a:tcPr anchor="ctr">
                    <a:solidFill>
                      <a:schemeClr val="accent6">
                        <a:lumMod val="40000"/>
                        <a:lumOff val="60000"/>
                      </a:schemeClr>
                    </a:solidFill>
                  </a:tcPr>
                </a:tc>
                <a:tc>
                  <a:txBody>
                    <a:bodyPr/>
                    <a:lstStyle/>
                    <a:p>
                      <a:pPr algn="ctr"/>
                      <a:r>
                        <a:rPr lang="en-US" altLang="zh-TW" dirty="0"/>
                        <a:t>o4</a:t>
                      </a:r>
                      <a:endParaRPr lang="zh-TW" altLang="en-US" dirty="0"/>
                    </a:p>
                  </a:txBody>
                  <a:tcPr anchor="ctr">
                    <a:solidFill>
                      <a:schemeClr val="accent6">
                        <a:lumMod val="40000"/>
                        <a:lumOff val="60000"/>
                      </a:schemeClr>
                    </a:solidFill>
                  </a:tcPr>
                </a:tc>
                <a:tc>
                  <a:txBody>
                    <a:bodyPr/>
                    <a:lstStyle/>
                    <a:p>
                      <a:pPr algn="ctr"/>
                      <a:r>
                        <a:rPr lang="en-US" altLang="zh-TW" dirty="0"/>
                        <a:t>o5</a:t>
                      </a:r>
                      <a:endParaRPr lang="zh-TW" altLang="en-US" dirty="0"/>
                    </a:p>
                  </a:txBody>
                  <a:tcPr anchor="ctr">
                    <a:solidFill>
                      <a:schemeClr val="accent6">
                        <a:lumMod val="40000"/>
                        <a:lumOff val="60000"/>
                      </a:schemeClr>
                    </a:solidFill>
                  </a:tcPr>
                </a:tc>
                <a:tc>
                  <a:txBody>
                    <a:bodyPr/>
                    <a:lstStyle/>
                    <a:p>
                      <a:pPr algn="ctr"/>
                      <a:r>
                        <a:rPr lang="en-US" altLang="zh-TW" dirty="0"/>
                        <a:t>o6</a:t>
                      </a:r>
                      <a:endParaRPr lang="zh-TW" altLang="en-US" dirty="0"/>
                    </a:p>
                  </a:txBody>
                  <a:tcPr anchor="ctr">
                    <a:solidFill>
                      <a:schemeClr val="accent6">
                        <a:lumMod val="40000"/>
                        <a:lumOff val="60000"/>
                      </a:schemeClr>
                    </a:solidFill>
                  </a:tcPr>
                </a:tc>
                <a:tc>
                  <a:txBody>
                    <a:bodyPr/>
                    <a:lstStyle/>
                    <a:p>
                      <a:pPr algn="ctr"/>
                      <a:r>
                        <a:rPr lang="en-US" altLang="zh-TW" dirty="0"/>
                        <a:t>o7</a:t>
                      </a:r>
                      <a:endParaRPr lang="zh-TW" altLang="en-US" dirty="0"/>
                    </a:p>
                  </a:txBody>
                  <a:tcPr anchor="ctr">
                    <a:solidFill>
                      <a:schemeClr val="accent6">
                        <a:lumMod val="40000"/>
                        <a:lumOff val="60000"/>
                      </a:schemeClr>
                    </a:solidFill>
                  </a:tcPr>
                </a:tc>
                <a:tc>
                  <a:txBody>
                    <a:bodyPr/>
                    <a:lstStyle/>
                    <a:p>
                      <a:pPr algn="ctr"/>
                      <a:r>
                        <a:rPr lang="en-US" altLang="zh-TW" dirty="0"/>
                        <a:t>o8</a:t>
                      </a:r>
                      <a:endParaRPr lang="zh-TW" altLang="en-US" dirty="0"/>
                    </a:p>
                  </a:txBody>
                  <a:tcPr anchor="ctr">
                    <a:solidFill>
                      <a:schemeClr val="accent6">
                        <a:lumMod val="40000"/>
                        <a:lumOff val="60000"/>
                      </a:schemeClr>
                    </a:solidFill>
                  </a:tcPr>
                </a:tc>
                <a:tc>
                  <a:txBody>
                    <a:bodyPr/>
                    <a:lstStyle/>
                    <a:p>
                      <a:pPr algn="ctr"/>
                      <a:r>
                        <a:rPr lang="en-US" altLang="zh-TW" dirty="0"/>
                        <a:t>o9</a:t>
                      </a:r>
                      <a:endParaRPr lang="zh-TW" altLang="en-US" dirty="0"/>
                    </a:p>
                  </a:txBody>
                  <a:tcPr anchor="ctr">
                    <a:solidFill>
                      <a:schemeClr val="accent6">
                        <a:lumMod val="40000"/>
                        <a:lumOff val="60000"/>
                      </a:schemeClr>
                    </a:solidFill>
                  </a:tcPr>
                </a:tc>
                <a:extLst>
                  <a:ext uri="{0D108BD9-81ED-4DB2-BD59-A6C34878D82A}">
                    <a16:rowId xmlns:a16="http://schemas.microsoft.com/office/drawing/2014/main" val="3322777751"/>
                  </a:ext>
                </a:extLst>
              </a:tr>
              <a:tr h="370840">
                <a:tc>
                  <a:txBody>
                    <a:bodyPr/>
                    <a:lstStyle/>
                    <a:p>
                      <a:pPr algn="ctr"/>
                      <a:r>
                        <a:rPr lang="en-US" altLang="zh-TW" dirty="0"/>
                        <a:t>i0</a:t>
                      </a:r>
                      <a:endParaRPr lang="zh-TW" altLang="en-US" dirty="0"/>
                    </a:p>
                  </a:txBody>
                  <a:tcPr anchor="ctr">
                    <a:solidFill>
                      <a:srgbClr val="00B0F0"/>
                    </a:solidFill>
                  </a:tcP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873886187"/>
                  </a:ext>
                </a:extLst>
              </a:tr>
              <a:tr h="370840">
                <a:tc>
                  <a:txBody>
                    <a:bodyPr/>
                    <a:lstStyle/>
                    <a:p>
                      <a:pPr algn="ctr"/>
                      <a:r>
                        <a:rPr lang="en-US" altLang="zh-TW" dirty="0"/>
                        <a:t>i1</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2761169059"/>
                  </a:ext>
                </a:extLst>
              </a:tr>
              <a:tr h="370840">
                <a:tc>
                  <a:txBody>
                    <a:bodyPr/>
                    <a:lstStyle/>
                    <a:p>
                      <a:pPr algn="ctr"/>
                      <a:r>
                        <a:rPr lang="en-US" altLang="zh-TW" dirty="0"/>
                        <a:t>i2</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endParaRPr lang="zh-TW" altLang="en-US"/>
                    </a:p>
                  </a:txBody>
                  <a:tcPr anchor="ctr"/>
                </a:tc>
                <a:tc>
                  <a:txBody>
                    <a:bodyPr/>
                    <a:lstStyle/>
                    <a:p>
                      <a:pPr algn="ctr"/>
                      <a:r>
                        <a:rPr lang="en-US" altLang="zh-TW" dirty="0"/>
                        <a:t>-4</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663920198"/>
                  </a:ext>
                </a:extLst>
              </a:tr>
              <a:tr h="370840">
                <a:tc>
                  <a:txBody>
                    <a:bodyPr/>
                    <a:lstStyle/>
                    <a:p>
                      <a:pPr algn="ctr"/>
                      <a:r>
                        <a:rPr lang="en-US" altLang="zh-TW" dirty="0"/>
                        <a:t>i3</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403967080"/>
                  </a:ext>
                </a:extLst>
              </a:tr>
              <a:tr h="370840">
                <a:tc>
                  <a:txBody>
                    <a:bodyPr/>
                    <a:lstStyle/>
                    <a:p>
                      <a:pPr algn="ctr"/>
                      <a:r>
                        <a:rPr lang="en-US" altLang="zh-TW" dirty="0"/>
                        <a:t>i4</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028676230"/>
                  </a:ext>
                </a:extLst>
              </a:tr>
              <a:tr h="370840">
                <a:tc>
                  <a:txBody>
                    <a:bodyPr/>
                    <a:lstStyle/>
                    <a:p>
                      <a:pPr algn="ctr"/>
                      <a:r>
                        <a:rPr lang="en-US" altLang="zh-TW" dirty="0"/>
                        <a:t>i5</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891755245"/>
                  </a:ext>
                </a:extLst>
              </a:tr>
              <a:tr h="370840">
                <a:tc>
                  <a:txBody>
                    <a:bodyPr/>
                    <a:lstStyle/>
                    <a:p>
                      <a:pPr algn="ctr"/>
                      <a:r>
                        <a:rPr lang="en-US" altLang="zh-TW" dirty="0"/>
                        <a:t>i6</a:t>
                      </a:r>
                      <a:endParaRPr lang="zh-TW" altLang="en-US" dirty="0"/>
                    </a:p>
                  </a:txBody>
                  <a:tcPr anchor="ctr">
                    <a:solidFill>
                      <a:srgbClr val="00B0F0"/>
                    </a:solid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3596536497"/>
                  </a:ext>
                </a:extLst>
              </a:tr>
              <a:tr h="370840">
                <a:tc>
                  <a:txBody>
                    <a:bodyPr/>
                    <a:lstStyle/>
                    <a:p>
                      <a:pPr algn="ctr"/>
                      <a:r>
                        <a:rPr lang="en-US" altLang="zh-TW" dirty="0"/>
                        <a:t>i7</a:t>
                      </a:r>
                      <a:endParaRPr lang="zh-TW" altLang="en-US" dirty="0"/>
                    </a:p>
                  </a:txBody>
                  <a:tcPr anchor="ctr">
                    <a:solidFill>
                      <a:srgbClr val="00B0F0"/>
                    </a:solid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r>
                        <a:rPr lang="en-US" altLang="zh-TW" dirty="0"/>
                        <a:t>-4</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1593132445"/>
                  </a:ext>
                </a:extLst>
              </a:tr>
              <a:tr h="370840">
                <a:tc>
                  <a:txBody>
                    <a:bodyPr/>
                    <a:lstStyle/>
                    <a:p>
                      <a:pPr algn="ctr"/>
                      <a:r>
                        <a:rPr lang="en-US" altLang="zh-TW" dirty="0"/>
                        <a:t>i8</a:t>
                      </a:r>
                      <a:endParaRPr lang="zh-TW" altLang="en-US" dirty="0"/>
                    </a:p>
                  </a:txBody>
                  <a:tcPr anchor="ctr">
                    <a:solidFill>
                      <a:srgbClr val="00B0F0"/>
                    </a:solid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r>
                        <a:rPr lang="en-US" altLang="zh-TW" dirty="0"/>
                        <a:t>-4</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730891198"/>
                  </a:ext>
                </a:extLst>
              </a:tr>
              <a:tr h="370840">
                <a:tc>
                  <a:txBody>
                    <a:bodyPr/>
                    <a:lstStyle/>
                    <a:p>
                      <a:pPr algn="ctr"/>
                      <a:r>
                        <a:rPr lang="en-US" altLang="zh-TW" dirty="0"/>
                        <a:t>i9</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3717826053"/>
                  </a:ext>
                </a:extLst>
              </a:tr>
            </a:tbl>
          </a:graphicData>
        </a:graphic>
      </p:graphicFrame>
      <p:graphicFrame>
        <p:nvGraphicFramePr>
          <p:cNvPr id="9" name="表格 5">
            <a:extLst>
              <a:ext uri="{FF2B5EF4-FFF2-40B4-BE49-F238E27FC236}">
                <a16:creationId xmlns:a16="http://schemas.microsoft.com/office/drawing/2014/main" id="{EB9B50DB-5630-424D-AE5B-FF8D021B7F07}"/>
              </a:ext>
            </a:extLst>
          </p:cNvPr>
          <p:cNvGraphicFramePr>
            <a:graphicFrameLocks noGrp="1"/>
          </p:cNvGraphicFramePr>
          <p:nvPr>
            <p:extLst>
              <p:ext uri="{D42A27DB-BD31-4B8C-83A1-F6EECF244321}">
                <p14:modId xmlns:p14="http://schemas.microsoft.com/office/powerpoint/2010/main" val="709225326"/>
              </p:ext>
            </p:extLst>
          </p:nvPr>
        </p:nvGraphicFramePr>
        <p:xfrm>
          <a:off x="6464964" y="366740"/>
          <a:ext cx="4882152" cy="4079240"/>
        </p:xfrm>
        <a:graphic>
          <a:graphicData uri="http://schemas.openxmlformats.org/drawingml/2006/table">
            <a:tbl>
              <a:tblPr firstRow="1" bandRow="1">
                <a:tableStyleId>{5940675A-B579-460E-94D1-54222C63F5DA}</a:tableStyleId>
              </a:tblPr>
              <a:tblGrid>
                <a:gridCol w="443832">
                  <a:extLst>
                    <a:ext uri="{9D8B030D-6E8A-4147-A177-3AD203B41FA5}">
                      <a16:colId xmlns:a16="http://schemas.microsoft.com/office/drawing/2014/main" val="4181797248"/>
                    </a:ext>
                  </a:extLst>
                </a:gridCol>
                <a:gridCol w="443832">
                  <a:extLst>
                    <a:ext uri="{9D8B030D-6E8A-4147-A177-3AD203B41FA5}">
                      <a16:colId xmlns:a16="http://schemas.microsoft.com/office/drawing/2014/main" val="3657967942"/>
                    </a:ext>
                  </a:extLst>
                </a:gridCol>
                <a:gridCol w="443832">
                  <a:extLst>
                    <a:ext uri="{9D8B030D-6E8A-4147-A177-3AD203B41FA5}">
                      <a16:colId xmlns:a16="http://schemas.microsoft.com/office/drawing/2014/main" val="665084943"/>
                    </a:ext>
                  </a:extLst>
                </a:gridCol>
                <a:gridCol w="443832">
                  <a:extLst>
                    <a:ext uri="{9D8B030D-6E8A-4147-A177-3AD203B41FA5}">
                      <a16:colId xmlns:a16="http://schemas.microsoft.com/office/drawing/2014/main" val="2652184696"/>
                    </a:ext>
                  </a:extLst>
                </a:gridCol>
                <a:gridCol w="443832">
                  <a:extLst>
                    <a:ext uri="{9D8B030D-6E8A-4147-A177-3AD203B41FA5}">
                      <a16:colId xmlns:a16="http://schemas.microsoft.com/office/drawing/2014/main" val="3060493211"/>
                    </a:ext>
                  </a:extLst>
                </a:gridCol>
                <a:gridCol w="443832">
                  <a:extLst>
                    <a:ext uri="{9D8B030D-6E8A-4147-A177-3AD203B41FA5}">
                      <a16:colId xmlns:a16="http://schemas.microsoft.com/office/drawing/2014/main" val="954056597"/>
                    </a:ext>
                  </a:extLst>
                </a:gridCol>
                <a:gridCol w="443832">
                  <a:extLst>
                    <a:ext uri="{9D8B030D-6E8A-4147-A177-3AD203B41FA5}">
                      <a16:colId xmlns:a16="http://schemas.microsoft.com/office/drawing/2014/main" val="3807874526"/>
                    </a:ext>
                  </a:extLst>
                </a:gridCol>
                <a:gridCol w="443832">
                  <a:extLst>
                    <a:ext uri="{9D8B030D-6E8A-4147-A177-3AD203B41FA5}">
                      <a16:colId xmlns:a16="http://schemas.microsoft.com/office/drawing/2014/main" val="3802726454"/>
                    </a:ext>
                  </a:extLst>
                </a:gridCol>
                <a:gridCol w="443832">
                  <a:extLst>
                    <a:ext uri="{9D8B030D-6E8A-4147-A177-3AD203B41FA5}">
                      <a16:colId xmlns:a16="http://schemas.microsoft.com/office/drawing/2014/main" val="4139490124"/>
                    </a:ext>
                  </a:extLst>
                </a:gridCol>
                <a:gridCol w="443832">
                  <a:extLst>
                    <a:ext uri="{9D8B030D-6E8A-4147-A177-3AD203B41FA5}">
                      <a16:colId xmlns:a16="http://schemas.microsoft.com/office/drawing/2014/main" val="3914185967"/>
                    </a:ext>
                  </a:extLst>
                </a:gridCol>
                <a:gridCol w="443832">
                  <a:extLst>
                    <a:ext uri="{9D8B030D-6E8A-4147-A177-3AD203B41FA5}">
                      <a16:colId xmlns:a16="http://schemas.microsoft.com/office/drawing/2014/main" val="4086599788"/>
                    </a:ext>
                  </a:extLst>
                </a:gridCol>
              </a:tblGrid>
              <a:tr h="370840">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tc>
                  <a:txBody>
                    <a:bodyPr/>
                    <a:lstStyle/>
                    <a:p>
                      <a:pPr algn="ctr"/>
                      <a:endParaRPr lang="zh-TW" altLang="en-US" dirty="0"/>
                    </a:p>
                  </a:txBody>
                  <a:tcPr anchor="ctr">
                    <a:noFill/>
                  </a:tcPr>
                </a:tc>
                <a:extLst>
                  <a:ext uri="{0D108BD9-81ED-4DB2-BD59-A6C34878D82A}">
                    <a16:rowId xmlns:a16="http://schemas.microsoft.com/office/drawing/2014/main" val="3322777751"/>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873886187"/>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2761169059"/>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663920198"/>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0</a:t>
                      </a:r>
                      <a:endParaRPr lang="zh-TW" altLang="en-US" dirty="0"/>
                    </a:p>
                  </a:txBody>
                  <a:tcPr anchor="ctr"/>
                </a:tc>
                <a:extLst>
                  <a:ext uri="{0D108BD9-81ED-4DB2-BD59-A6C34878D82A}">
                    <a16:rowId xmlns:a16="http://schemas.microsoft.com/office/drawing/2014/main" val="1403967080"/>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1028676230"/>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3891755245"/>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3596536497"/>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0</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1593132445"/>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730891198"/>
                  </a:ext>
                </a:extLst>
              </a:tr>
              <a:tr h="370840">
                <a:tc>
                  <a:txBody>
                    <a:bodyPr/>
                    <a:lstStyle/>
                    <a:p>
                      <a:pPr algn="ctr"/>
                      <a:endParaRPr lang="zh-TW" altLang="en-US" dirty="0"/>
                    </a:p>
                  </a:txBody>
                  <a:tcPr anchor="ctr">
                    <a:noFill/>
                  </a:tcP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extLst>
                  <a:ext uri="{0D108BD9-81ED-4DB2-BD59-A6C34878D82A}">
                    <a16:rowId xmlns:a16="http://schemas.microsoft.com/office/drawing/2014/main" val="3717826053"/>
                  </a:ext>
                </a:extLst>
              </a:tr>
            </a:tbl>
          </a:graphicData>
        </a:graphic>
      </p:graphicFrame>
      <p:graphicFrame>
        <p:nvGraphicFramePr>
          <p:cNvPr id="10" name="表格 9">
            <a:extLst>
              <a:ext uri="{FF2B5EF4-FFF2-40B4-BE49-F238E27FC236}">
                <a16:creationId xmlns:a16="http://schemas.microsoft.com/office/drawing/2014/main" id="{520593B8-B81A-43B9-B650-E2B3994C4B35}"/>
              </a:ext>
            </a:extLst>
          </p:cNvPr>
          <p:cNvGraphicFramePr>
            <a:graphicFrameLocks noGrp="1"/>
          </p:cNvGraphicFramePr>
          <p:nvPr>
            <p:extLst>
              <p:ext uri="{D42A27DB-BD31-4B8C-83A1-F6EECF244321}">
                <p14:modId xmlns:p14="http://schemas.microsoft.com/office/powerpoint/2010/main" val="601719638"/>
              </p:ext>
            </p:extLst>
          </p:nvPr>
        </p:nvGraphicFramePr>
        <p:xfrm>
          <a:off x="6464964" y="5007900"/>
          <a:ext cx="4882152" cy="1483360"/>
        </p:xfrm>
        <a:graphic>
          <a:graphicData uri="http://schemas.openxmlformats.org/drawingml/2006/table">
            <a:tbl>
              <a:tblPr firstRow="1" bandRow="1">
                <a:tableStyleId>{5940675A-B579-460E-94D1-54222C63F5DA}</a:tableStyleId>
              </a:tblPr>
              <a:tblGrid>
                <a:gridCol w="443832">
                  <a:extLst>
                    <a:ext uri="{9D8B030D-6E8A-4147-A177-3AD203B41FA5}">
                      <a16:colId xmlns:a16="http://schemas.microsoft.com/office/drawing/2014/main" val="2694478961"/>
                    </a:ext>
                  </a:extLst>
                </a:gridCol>
                <a:gridCol w="443832">
                  <a:extLst>
                    <a:ext uri="{9D8B030D-6E8A-4147-A177-3AD203B41FA5}">
                      <a16:colId xmlns:a16="http://schemas.microsoft.com/office/drawing/2014/main" val="3838782765"/>
                    </a:ext>
                  </a:extLst>
                </a:gridCol>
                <a:gridCol w="443832">
                  <a:extLst>
                    <a:ext uri="{9D8B030D-6E8A-4147-A177-3AD203B41FA5}">
                      <a16:colId xmlns:a16="http://schemas.microsoft.com/office/drawing/2014/main" val="1750181972"/>
                    </a:ext>
                  </a:extLst>
                </a:gridCol>
                <a:gridCol w="443832">
                  <a:extLst>
                    <a:ext uri="{9D8B030D-6E8A-4147-A177-3AD203B41FA5}">
                      <a16:colId xmlns:a16="http://schemas.microsoft.com/office/drawing/2014/main" val="3911487557"/>
                    </a:ext>
                  </a:extLst>
                </a:gridCol>
                <a:gridCol w="443832">
                  <a:extLst>
                    <a:ext uri="{9D8B030D-6E8A-4147-A177-3AD203B41FA5}">
                      <a16:colId xmlns:a16="http://schemas.microsoft.com/office/drawing/2014/main" val="3927890455"/>
                    </a:ext>
                  </a:extLst>
                </a:gridCol>
                <a:gridCol w="443832">
                  <a:extLst>
                    <a:ext uri="{9D8B030D-6E8A-4147-A177-3AD203B41FA5}">
                      <a16:colId xmlns:a16="http://schemas.microsoft.com/office/drawing/2014/main" val="2988998833"/>
                    </a:ext>
                  </a:extLst>
                </a:gridCol>
                <a:gridCol w="443832">
                  <a:extLst>
                    <a:ext uri="{9D8B030D-6E8A-4147-A177-3AD203B41FA5}">
                      <a16:colId xmlns:a16="http://schemas.microsoft.com/office/drawing/2014/main" val="130302292"/>
                    </a:ext>
                  </a:extLst>
                </a:gridCol>
                <a:gridCol w="443832">
                  <a:extLst>
                    <a:ext uri="{9D8B030D-6E8A-4147-A177-3AD203B41FA5}">
                      <a16:colId xmlns:a16="http://schemas.microsoft.com/office/drawing/2014/main" val="3083553274"/>
                    </a:ext>
                  </a:extLst>
                </a:gridCol>
                <a:gridCol w="443832">
                  <a:extLst>
                    <a:ext uri="{9D8B030D-6E8A-4147-A177-3AD203B41FA5}">
                      <a16:colId xmlns:a16="http://schemas.microsoft.com/office/drawing/2014/main" val="2488818386"/>
                    </a:ext>
                  </a:extLst>
                </a:gridCol>
                <a:gridCol w="443832">
                  <a:extLst>
                    <a:ext uri="{9D8B030D-6E8A-4147-A177-3AD203B41FA5}">
                      <a16:colId xmlns:a16="http://schemas.microsoft.com/office/drawing/2014/main" val="749689893"/>
                    </a:ext>
                  </a:extLst>
                </a:gridCol>
                <a:gridCol w="443832">
                  <a:extLst>
                    <a:ext uri="{9D8B030D-6E8A-4147-A177-3AD203B41FA5}">
                      <a16:colId xmlns:a16="http://schemas.microsoft.com/office/drawing/2014/main" val="1675903414"/>
                    </a:ext>
                  </a:extLst>
                </a:gridCol>
              </a:tblGrid>
              <a:tr h="370840">
                <a:tc>
                  <a:txBody>
                    <a:bodyPr/>
                    <a:lstStyle/>
                    <a:p>
                      <a:pPr algn="ctr"/>
                      <a:endParaRPr lang="zh-TW" altLang="en-US" dirty="0"/>
                    </a:p>
                  </a:txBody>
                  <a:tcPr anchor="ctr"/>
                </a:tc>
                <a:tc>
                  <a:txBody>
                    <a:bodyPr/>
                    <a:lstStyle/>
                    <a:p>
                      <a:pPr algn="ctr"/>
                      <a:r>
                        <a:rPr lang="en-US" altLang="zh-TW" dirty="0"/>
                        <a:t>0</a:t>
                      </a:r>
                      <a:endParaRPr lang="zh-TW" altLang="en-US" dirty="0"/>
                    </a:p>
                  </a:txBody>
                  <a:tcPr anchor="ctr">
                    <a:solidFill>
                      <a:schemeClr val="accent6">
                        <a:lumMod val="40000"/>
                        <a:lumOff val="60000"/>
                      </a:schemeClr>
                    </a:solidFill>
                  </a:tcPr>
                </a:tc>
                <a:tc>
                  <a:txBody>
                    <a:bodyPr/>
                    <a:lstStyle/>
                    <a:p>
                      <a:pPr algn="ctr"/>
                      <a:r>
                        <a:rPr lang="en-US" altLang="zh-TW" dirty="0"/>
                        <a:t>1</a:t>
                      </a:r>
                      <a:endParaRPr lang="zh-TW" altLang="en-US" dirty="0"/>
                    </a:p>
                  </a:txBody>
                  <a:tcPr anchor="ctr">
                    <a:solidFill>
                      <a:schemeClr val="accent6">
                        <a:lumMod val="40000"/>
                        <a:lumOff val="60000"/>
                      </a:schemeClr>
                    </a:solidFill>
                  </a:tcPr>
                </a:tc>
                <a:tc>
                  <a:txBody>
                    <a:bodyPr/>
                    <a:lstStyle/>
                    <a:p>
                      <a:pPr algn="ctr"/>
                      <a:r>
                        <a:rPr lang="en-US" altLang="zh-TW" dirty="0"/>
                        <a:t>2</a:t>
                      </a:r>
                      <a:endParaRPr lang="zh-TW" altLang="en-US" dirty="0"/>
                    </a:p>
                  </a:txBody>
                  <a:tcPr anchor="ctr">
                    <a:solidFill>
                      <a:schemeClr val="accent6">
                        <a:lumMod val="40000"/>
                        <a:lumOff val="60000"/>
                      </a:schemeClr>
                    </a:solidFill>
                  </a:tcPr>
                </a:tc>
                <a:tc>
                  <a:txBody>
                    <a:bodyPr/>
                    <a:lstStyle/>
                    <a:p>
                      <a:pPr algn="ctr"/>
                      <a:r>
                        <a:rPr lang="en-US" altLang="zh-TW" dirty="0"/>
                        <a:t>3</a:t>
                      </a:r>
                      <a:endParaRPr lang="zh-TW" altLang="en-US" dirty="0"/>
                    </a:p>
                  </a:txBody>
                  <a:tcPr anchor="ctr">
                    <a:solidFill>
                      <a:schemeClr val="accent6">
                        <a:lumMod val="40000"/>
                        <a:lumOff val="60000"/>
                      </a:schemeClr>
                    </a:solidFill>
                  </a:tcPr>
                </a:tc>
                <a:tc>
                  <a:txBody>
                    <a:bodyPr/>
                    <a:lstStyle/>
                    <a:p>
                      <a:pPr algn="ctr"/>
                      <a:r>
                        <a:rPr lang="en-US" altLang="zh-TW" dirty="0"/>
                        <a:t>4</a:t>
                      </a:r>
                      <a:endParaRPr lang="zh-TW" altLang="en-US" dirty="0"/>
                    </a:p>
                  </a:txBody>
                  <a:tcPr anchor="ctr">
                    <a:solidFill>
                      <a:schemeClr val="accent6">
                        <a:lumMod val="40000"/>
                        <a:lumOff val="60000"/>
                      </a:schemeClr>
                    </a:solidFill>
                  </a:tcPr>
                </a:tc>
                <a:tc>
                  <a:txBody>
                    <a:bodyPr/>
                    <a:lstStyle/>
                    <a:p>
                      <a:pPr algn="ctr"/>
                      <a:r>
                        <a:rPr lang="en-US" altLang="zh-TW" dirty="0"/>
                        <a:t>5</a:t>
                      </a:r>
                      <a:endParaRPr lang="zh-TW" altLang="en-US" dirty="0"/>
                    </a:p>
                  </a:txBody>
                  <a:tcPr anchor="ctr">
                    <a:solidFill>
                      <a:schemeClr val="accent6">
                        <a:lumMod val="40000"/>
                        <a:lumOff val="60000"/>
                      </a:schemeClr>
                    </a:solidFill>
                  </a:tcPr>
                </a:tc>
                <a:tc>
                  <a:txBody>
                    <a:bodyPr/>
                    <a:lstStyle/>
                    <a:p>
                      <a:pPr algn="ctr"/>
                      <a:r>
                        <a:rPr lang="en-US" altLang="zh-TW" dirty="0"/>
                        <a:t>6</a:t>
                      </a:r>
                      <a:endParaRPr lang="zh-TW" altLang="en-US" dirty="0"/>
                    </a:p>
                  </a:txBody>
                  <a:tcPr anchor="ctr">
                    <a:solidFill>
                      <a:schemeClr val="accent6">
                        <a:lumMod val="40000"/>
                        <a:lumOff val="60000"/>
                      </a:schemeClr>
                    </a:solidFill>
                  </a:tcPr>
                </a:tc>
                <a:tc>
                  <a:txBody>
                    <a:bodyPr/>
                    <a:lstStyle/>
                    <a:p>
                      <a:pPr algn="ctr"/>
                      <a:r>
                        <a:rPr lang="en-US" altLang="zh-TW" dirty="0"/>
                        <a:t>7</a:t>
                      </a:r>
                      <a:endParaRPr lang="zh-TW" altLang="en-US" dirty="0"/>
                    </a:p>
                  </a:txBody>
                  <a:tcPr anchor="ctr">
                    <a:solidFill>
                      <a:schemeClr val="accent6">
                        <a:lumMod val="40000"/>
                        <a:lumOff val="60000"/>
                      </a:schemeClr>
                    </a:solidFill>
                  </a:tcPr>
                </a:tc>
                <a:tc>
                  <a:txBody>
                    <a:bodyPr/>
                    <a:lstStyle/>
                    <a:p>
                      <a:pPr algn="ctr"/>
                      <a:r>
                        <a:rPr lang="en-US" altLang="zh-TW" dirty="0"/>
                        <a:t>8</a:t>
                      </a:r>
                      <a:endParaRPr lang="zh-TW" altLang="en-US" dirty="0"/>
                    </a:p>
                  </a:txBody>
                  <a:tcPr anchor="ctr">
                    <a:solidFill>
                      <a:schemeClr val="accent6">
                        <a:lumMod val="40000"/>
                        <a:lumOff val="60000"/>
                      </a:schemeClr>
                    </a:solidFill>
                  </a:tcPr>
                </a:tc>
                <a:tc>
                  <a:txBody>
                    <a:bodyPr/>
                    <a:lstStyle/>
                    <a:p>
                      <a:pPr algn="ctr"/>
                      <a:r>
                        <a:rPr lang="en-US" altLang="zh-TW" dirty="0"/>
                        <a:t>9</a:t>
                      </a:r>
                      <a:endParaRPr lang="zh-TW" altLang="en-US" dirty="0"/>
                    </a:p>
                  </a:txBody>
                  <a:tcPr anchor="ctr">
                    <a:solidFill>
                      <a:schemeClr val="accent6">
                        <a:lumMod val="40000"/>
                        <a:lumOff val="60000"/>
                      </a:schemeClr>
                    </a:solidFill>
                  </a:tcPr>
                </a:tc>
                <a:extLst>
                  <a:ext uri="{0D108BD9-81ED-4DB2-BD59-A6C34878D82A}">
                    <a16:rowId xmlns:a16="http://schemas.microsoft.com/office/drawing/2014/main" val="1058538913"/>
                  </a:ext>
                </a:extLst>
              </a:tr>
              <a:tr h="370840">
                <a:tc>
                  <a:txBody>
                    <a:bodyPr/>
                    <a:lstStyle/>
                    <a:p>
                      <a:pPr algn="ctr"/>
                      <a:r>
                        <a:rPr lang="en-US" altLang="zh-TW" dirty="0"/>
                        <a:t>1</a:t>
                      </a:r>
                      <a:endParaRPr lang="zh-TW" altLang="en-US" dirty="0"/>
                    </a:p>
                  </a:txBody>
                  <a:tcPr anchor="ctr">
                    <a:solidFill>
                      <a:srgbClr val="00B0F0"/>
                    </a:solidFill>
                  </a:tcP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3632290341"/>
                  </a:ext>
                </a:extLst>
              </a:tr>
              <a:tr h="370840">
                <a:tc>
                  <a:txBody>
                    <a:bodyPr/>
                    <a:lstStyle/>
                    <a:p>
                      <a:pPr algn="ctr"/>
                      <a:r>
                        <a:rPr lang="en-US" altLang="zh-TW" dirty="0"/>
                        <a:t>2</a:t>
                      </a:r>
                      <a:endParaRPr lang="zh-TW" altLang="en-US" dirty="0"/>
                    </a:p>
                  </a:txBody>
                  <a:tcPr anchor="ctr">
                    <a:solidFill>
                      <a:srgbClr val="00B0F0"/>
                    </a:solidFill>
                  </a:tcP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3437448897"/>
                  </a:ext>
                </a:extLst>
              </a:tr>
              <a:tr h="370840">
                <a:tc>
                  <a:txBody>
                    <a:bodyPr/>
                    <a:lstStyle/>
                    <a:p>
                      <a:pPr algn="ctr"/>
                      <a:r>
                        <a:rPr lang="en-US" altLang="zh-TW" dirty="0"/>
                        <a:t>3</a:t>
                      </a:r>
                      <a:endParaRPr lang="zh-TW" altLang="en-US" dirty="0"/>
                    </a:p>
                  </a:txBody>
                  <a:tcPr anchor="ctr">
                    <a:solidFill>
                      <a:srgbClr val="00B0F0"/>
                    </a:solidFill>
                  </a:tcPr>
                </a:tc>
                <a:tc>
                  <a:txBody>
                    <a:bodyPr/>
                    <a:lstStyle/>
                    <a:p>
                      <a:pPr algn="ctr"/>
                      <a:endParaRPr lang="zh-TW" altLang="en-US"/>
                    </a:p>
                  </a:txBody>
                  <a:tcPr anchor="ctr"/>
                </a:tc>
                <a:tc>
                  <a:txBody>
                    <a:bodyPr/>
                    <a:lstStyle/>
                    <a:p>
                      <a:pPr algn="ctr"/>
                      <a:endParaRPr lang="zh-TW" altLang="en-US"/>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endParaRPr lang="zh-TW" altLang="en-US" dirty="0"/>
                    </a:p>
                  </a:txBody>
                  <a:tcPr anchor="ctr"/>
                </a:tc>
                <a:tc>
                  <a:txBody>
                    <a:bodyPr/>
                    <a:lstStyle/>
                    <a:p>
                      <a:pPr algn="ct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endParaRPr lang="zh-TW" altLang="en-US" dirty="0"/>
                    </a:p>
                  </a:txBody>
                  <a:tcPr anchor="ctr"/>
                </a:tc>
                <a:tc>
                  <a:txBody>
                    <a:bodyPr/>
                    <a:lstStyle/>
                    <a:p>
                      <a:pPr algn="ctr"/>
                      <a:r>
                        <a:rPr lang="en-US" altLang="zh-TW" dirty="0"/>
                        <a:t>5</a:t>
                      </a:r>
                      <a:endParaRPr lang="zh-TW" altLang="en-US" dirty="0"/>
                    </a:p>
                  </a:txBody>
                  <a:tcPr anchor="ctr"/>
                </a:tc>
                <a:extLst>
                  <a:ext uri="{0D108BD9-81ED-4DB2-BD59-A6C34878D82A}">
                    <a16:rowId xmlns:a16="http://schemas.microsoft.com/office/drawing/2014/main" val="220283294"/>
                  </a:ext>
                </a:extLst>
              </a:tr>
            </a:tbl>
          </a:graphicData>
        </a:graphic>
      </p:graphicFrame>
      <p:sp>
        <p:nvSpPr>
          <p:cNvPr id="11" name="文字方塊 10">
            <a:extLst>
              <a:ext uri="{FF2B5EF4-FFF2-40B4-BE49-F238E27FC236}">
                <a16:creationId xmlns:a16="http://schemas.microsoft.com/office/drawing/2014/main" id="{FF979467-7B0E-419D-AEE7-137595C081AA}"/>
              </a:ext>
            </a:extLst>
          </p:cNvPr>
          <p:cNvSpPr txBox="1"/>
          <p:nvPr/>
        </p:nvSpPr>
        <p:spPr>
          <a:xfrm>
            <a:off x="1299411" y="5007900"/>
            <a:ext cx="2967789" cy="1384995"/>
          </a:xfrm>
          <a:prstGeom prst="rect">
            <a:avLst/>
          </a:prstGeom>
          <a:noFill/>
        </p:spPr>
        <p:txBody>
          <a:bodyPr wrap="square" rtlCol="0">
            <a:spAutoFit/>
          </a:bodyPr>
          <a:lstStyle/>
          <a:p>
            <a:r>
              <a:rPr lang="en-US" altLang="zh-TW" sz="4200" dirty="0" err="1"/>
              <a:t>aatg</a:t>
            </a:r>
            <a:endParaRPr lang="en-US" altLang="zh-TW" sz="4200" dirty="0"/>
          </a:p>
          <a:p>
            <a:r>
              <a:rPr lang="en-US" altLang="zh-TW" sz="4200" dirty="0" err="1"/>
              <a:t>ttcatgacg</a:t>
            </a:r>
            <a:endParaRPr lang="zh-TW" altLang="en-US" sz="4200" dirty="0"/>
          </a:p>
        </p:txBody>
      </p:sp>
    </p:spTree>
    <p:extLst>
      <p:ext uri="{BB962C8B-B14F-4D97-AF65-F5344CB8AC3E}">
        <p14:creationId xmlns:p14="http://schemas.microsoft.com/office/powerpoint/2010/main" val="88726187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1645</Words>
  <Application>Microsoft Office PowerPoint</Application>
  <PresentationFormat>寬螢幕</PresentationFormat>
  <Paragraphs>832</Paragraphs>
  <Slides>15</Slides>
  <Notes>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15</vt:i4>
      </vt:variant>
    </vt:vector>
  </HeadingPairs>
  <TitlesOfParts>
    <vt:vector size="23" baseType="lpstr">
      <vt:lpstr>標楷體</vt:lpstr>
      <vt:lpstr>Arial</vt:lpstr>
      <vt:lpstr>Arial</vt:lpstr>
      <vt:lpstr>Calibri</vt:lpstr>
      <vt:lpstr>Calibri Light</vt:lpstr>
      <vt:lpstr>Courier New</vt:lpstr>
      <vt:lpstr>Times New Roman</vt:lpstr>
      <vt:lpstr>Office 佈景主題</vt:lpstr>
      <vt:lpstr>Alignment with Non-overlapping Inversions in O(n3)-Time</vt:lpstr>
      <vt:lpstr>Abstract (1/2)</vt:lpstr>
      <vt:lpstr>Abstract (2/2)</vt:lpstr>
      <vt:lpstr>PowerPoint 簡報</vt:lpstr>
      <vt:lpstr>non-overlapping inversion: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論文標題</dc:title>
  <dc:creator>育誠 張</dc:creator>
  <cp:lastModifiedBy>育誠 張</cp:lastModifiedBy>
  <cp:revision>18</cp:revision>
  <dcterms:created xsi:type="dcterms:W3CDTF">2020-08-19T13:11:27Z</dcterms:created>
  <dcterms:modified xsi:type="dcterms:W3CDTF">2020-08-25T11:19:51Z</dcterms:modified>
</cp:coreProperties>
</file>