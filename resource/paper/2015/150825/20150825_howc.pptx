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92" r:id="rId6"/>
    <p:sldId id="298" r:id="rId7"/>
    <p:sldId id="299" r:id="rId8"/>
    <p:sldId id="300" r:id="rId9"/>
    <p:sldId id="301" r:id="rId10"/>
    <p:sldId id="303" r:id="rId11"/>
    <p:sldId id="294" r:id="rId12"/>
    <p:sldId id="304" r:id="rId13"/>
    <p:sldId id="306" r:id="rId14"/>
    <p:sldId id="308" r:id="rId15"/>
    <p:sldId id="310" r:id="rId16"/>
    <p:sldId id="312" r:id="rId17"/>
    <p:sldId id="313" r:id="rId18"/>
    <p:sldId id="314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8B1D7-CC66-4E4E-88F7-3970A11CB4AF}" type="datetimeFigureOut">
              <a:rPr lang="zh-TW" altLang="en-US" smtClean="0"/>
              <a:pPr/>
              <a:t>2015/8/25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F04E7-EBFE-448C-A82F-3494B0EE71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1560" y="1700808"/>
            <a:ext cx="7772400" cy="1470025"/>
          </a:xfrm>
        </p:spPr>
        <p:txBody>
          <a:bodyPr/>
          <a:lstStyle/>
          <a:p>
            <a:r>
              <a:rPr lang="en-US" altLang="zh-TW" dirty="0"/>
              <a:t>A Faster Algorithm Computing String Edit </a:t>
            </a:r>
            <a:r>
              <a:rPr lang="en-US" altLang="zh-TW" dirty="0" smtClean="0"/>
              <a:t>Distances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7360" y="3501008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altLang="zh-TW" dirty="0"/>
              <a:t>WILLIAM J. </a:t>
            </a:r>
            <a:r>
              <a:rPr lang="en-US" altLang="zh-TW" dirty="0" smtClean="0"/>
              <a:t>MASEK, </a:t>
            </a:r>
            <a:r>
              <a:rPr lang="en-US" altLang="zh-TW" dirty="0"/>
              <a:t>MICHAEL S. </a:t>
            </a:r>
            <a:r>
              <a:rPr lang="en-US" altLang="zh-TW" dirty="0" smtClean="0"/>
              <a:t>PATESON,</a:t>
            </a:r>
            <a:r>
              <a:rPr lang="en-US" dirty="0" smtClean="0"/>
              <a:t> Journal of Computer and System Sciences</a:t>
            </a:r>
            <a:r>
              <a:rPr lang="en-US" b="1" dirty="0" smtClean="0"/>
              <a:t> </a:t>
            </a:r>
            <a:r>
              <a:rPr lang="en-US" dirty="0" smtClean="0"/>
              <a:t>Volume 20, Issue 1, February 1980, Pages 18–31</a:t>
            </a:r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932040" y="5606165"/>
            <a:ext cx="39795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Calibri" pitchFamily="34" charset="0"/>
              </a:rPr>
              <a:t>Presenter: </a:t>
            </a:r>
            <a:r>
              <a:rPr lang="en-US" altLang="zh-TW" sz="2800" dirty="0" err="1" smtClean="0">
                <a:latin typeface="Calibri" pitchFamily="34" charset="0"/>
              </a:rPr>
              <a:t>Wen</a:t>
            </a:r>
            <a:r>
              <a:rPr lang="en-US" altLang="zh-TW" sz="2800" dirty="0" smtClean="0">
                <a:latin typeface="Calibri" pitchFamily="34" charset="0"/>
              </a:rPr>
              <a:t>-Chuan Ho</a:t>
            </a:r>
          </a:p>
          <a:p>
            <a:r>
              <a:rPr lang="en-US" altLang="zh-TW" sz="2800" dirty="0" smtClean="0">
                <a:latin typeface="Calibri" pitchFamily="34" charset="0"/>
              </a:rPr>
              <a:t>Date: 2015/08/25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043510"/>
          </a:xfrm>
        </p:spPr>
        <p:txBody>
          <a:bodyPr>
            <a:norm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altLang="zh-TW" dirty="0" smtClean="0"/>
              <a:t>The edit distance between two character strings can be defined as the minimum cost of a sequence of editing operations which transforms one string into the other. The operations we admit are deleting, inserting and replacing one symbol at a time, with possibly different costs for each of these operations. The problem of finding the longest common subsequence of two strings is a special case of the problem of computing edit distances. 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Abstract(2/2)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686320"/>
          </a:xfrm>
        </p:spPr>
        <p:txBody>
          <a:bodyPr/>
          <a:lstStyle/>
          <a:p>
            <a:pPr marL="0">
              <a:spcBef>
                <a:spcPts val="0"/>
              </a:spcBef>
              <a:buNone/>
            </a:pPr>
            <a:r>
              <a:rPr lang="en-US" altLang="zh-TW" dirty="0" smtClean="0"/>
              <a:t>We describe an algorithm for computing the edit distance between two strings of length n and m, n &gt; m, which requires O(n * max( 1, m/log n)) steps whenever the costs of edit operations are integral multiples of a single positive real number and the alphabet for the string is finite. These conditions are necessary for the algorithm to achieve the time bound.</a:t>
            </a:r>
            <a:endParaRPr lang="zh-TW" altLang="en-US" dirty="0" smtClean="0"/>
          </a:p>
          <a:p>
            <a:pPr marL="0">
              <a:spcBef>
                <a:spcPts val="0"/>
              </a:spcBef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Edit Distances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ea typeface="標楷體" pitchFamily="65" charset="-120"/>
              </a:rPr>
              <a:t>A = </a:t>
            </a:r>
            <a:r>
              <a:rPr lang="en-US" altLang="zh-TW" dirty="0" err="1" smtClean="0">
                <a:ea typeface="標楷體" pitchFamily="65" charset="-120"/>
              </a:rPr>
              <a:t>ababbb</a:t>
            </a:r>
            <a:r>
              <a:rPr lang="zh-TW" altLang="en-US" dirty="0" smtClean="0">
                <a:ea typeface="標楷體" pitchFamily="65" charset="-120"/>
              </a:rPr>
              <a:t> </a:t>
            </a:r>
            <a:r>
              <a:rPr lang="en-US" altLang="zh-TW" dirty="0" smtClean="0">
                <a:ea typeface="標楷體" pitchFamily="65" charset="-120"/>
              </a:rPr>
              <a:t>|A|=6</a:t>
            </a:r>
          </a:p>
          <a:p>
            <a:r>
              <a:rPr lang="en-US" altLang="zh-TW" dirty="0" smtClean="0">
                <a:ea typeface="標楷體" pitchFamily="65" charset="-120"/>
              </a:rPr>
              <a:t>B = </a:t>
            </a:r>
            <a:r>
              <a:rPr lang="en-US" altLang="zh-TW" dirty="0" err="1" smtClean="0">
                <a:ea typeface="標楷體" pitchFamily="65" charset="-120"/>
              </a:rPr>
              <a:t>babaaa</a:t>
            </a:r>
            <a:r>
              <a:rPr lang="en-US" altLang="zh-TW" dirty="0" smtClean="0">
                <a:ea typeface="標楷體" pitchFamily="65" charset="-120"/>
              </a:rPr>
              <a:t> </a:t>
            </a:r>
            <a:r>
              <a:rPr lang="en-US" altLang="zh-TW" dirty="0" smtClean="0">
                <a:ea typeface="標楷體" pitchFamily="65" charset="-120"/>
              </a:rPr>
              <a:t>|B|=6</a:t>
            </a:r>
          </a:p>
          <a:p>
            <a:r>
              <a:rPr lang="en-US" altLang="zh-TW" dirty="0" smtClean="0">
                <a:ea typeface="標楷體" pitchFamily="65" charset="-120"/>
              </a:rPr>
              <a:t>Delete = 1</a:t>
            </a:r>
          </a:p>
          <a:p>
            <a:r>
              <a:rPr lang="en-US" altLang="zh-TW" dirty="0" smtClean="0">
                <a:ea typeface="標楷體" pitchFamily="65" charset="-120"/>
              </a:rPr>
              <a:t>Insert = 1</a:t>
            </a:r>
          </a:p>
          <a:p>
            <a:r>
              <a:rPr lang="en-US" altLang="zh-TW" dirty="0" smtClean="0">
                <a:ea typeface="標楷體" pitchFamily="65" charset="-120"/>
              </a:rPr>
              <a:t>Replace = 2</a:t>
            </a:r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4609718" y="1571612"/>
          <a:ext cx="4320000" cy="46329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rot="10800000">
            <a:off x="8215338" y="5927212"/>
            <a:ext cx="285752" cy="21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rot="10800000">
            <a:off x="7715272" y="5927212"/>
            <a:ext cx="285752" cy="21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rot="10800000">
            <a:off x="7143769" y="5929330"/>
            <a:ext cx="285752" cy="21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6200000" flipV="1">
            <a:off x="6643702" y="4357694"/>
            <a:ext cx="214314" cy="214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rot="5400000" flipH="1" flipV="1">
            <a:off x="6937331" y="5635701"/>
            <a:ext cx="270000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rot="5400000" flipH="1" flipV="1">
            <a:off x="6865893" y="5064197"/>
            <a:ext cx="270000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rot="16200000" flipV="1">
            <a:off x="6143636" y="3786190"/>
            <a:ext cx="214314" cy="214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rot="16200000" flipV="1">
            <a:off x="5572132" y="3214686"/>
            <a:ext cx="214314" cy="2143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rot="5400000" flipH="1" flipV="1">
            <a:off x="5294257" y="2706743"/>
            <a:ext cx="270000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Y(1/6)</a:t>
            </a:r>
            <a:endParaRPr lang="zh-TW" altLang="en-US" dirty="0"/>
          </a:p>
        </p:txBody>
      </p:sp>
      <p:pic>
        <p:nvPicPr>
          <p:cNvPr id="4" name="內容版面配置區 3" descr="擷取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2" y="1214422"/>
            <a:ext cx="7858180" cy="5429264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Y(2/6)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4714876" y="1643050"/>
          <a:ext cx="4320000" cy="46329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214282" y="1643050"/>
          <a:ext cx="4320000" cy="46329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Y(3/6)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Compute the value for all possible </a:t>
            </a:r>
            <a:r>
              <a:rPr lang="en-US" altLang="zh-TW" sz="2800" dirty="0" err="1" smtClean="0"/>
              <a:t>submatrices</a:t>
            </a:r>
            <a:r>
              <a:rPr lang="en-US" altLang="zh-TW" sz="2800" dirty="0" smtClean="0"/>
              <a:t>.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85852" y="2285992"/>
          <a:ext cx="2700000" cy="2895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429124" y="2285992"/>
          <a:ext cx="2700000" cy="2895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398685" y="5191796"/>
            <a:ext cx="70308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Store((2,1,2),(2,1,2),(0,1,2,3),(0,1,2,3),</a:t>
            </a:r>
            <a:r>
              <a:rPr lang="en-US" altLang="zh-TW" sz="2800" dirty="0" err="1" smtClean="0"/>
              <a:t>aba,bab</a:t>
            </a:r>
            <a:r>
              <a:rPr lang="en-US" altLang="zh-TW" sz="2800" dirty="0" smtClean="0"/>
              <a:t>)</a:t>
            </a:r>
          </a:p>
          <a:p>
            <a:r>
              <a:rPr lang="en-US" altLang="zh-TW" sz="2800" dirty="0" smtClean="0"/>
              <a:t>Store((5,4,3),(1,2,3),(3,2,1,2),(3,4,5,6),</a:t>
            </a:r>
            <a:r>
              <a:rPr lang="en-US" altLang="zh-TW" sz="2800" dirty="0" err="1" smtClean="0"/>
              <a:t>aba,aaa</a:t>
            </a:r>
            <a:r>
              <a:rPr lang="en-US" altLang="zh-TW" sz="2800" dirty="0" smtClean="0"/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Y(4/6)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57620" y="2033598"/>
          <a:ext cx="2700000" cy="2895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300892" y="2033598"/>
          <a:ext cx="2700000" cy="2895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6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5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4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571472" y="5187277"/>
            <a:ext cx="75009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Store((1,2,3),(5,4,3),(3,4,5,6),(3,2,1,2),</a:t>
            </a:r>
            <a:r>
              <a:rPr lang="en-US" altLang="zh-TW" sz="2800" dirty="0" err="1" smtClean="0"/>
              <a:t>bbb,bab</a:t>
            </a:r>
            <a:r>
              <a:rPr lang="en-US" altLang="zh-TW" sz="2800" dirty="0" smtClean="0"/>
              <a:t>)</a:t>
            </a:r>
          </a:p>
          <a:p>
            <a:r>
              <a:rPr lang="en-US" altLang="zh-TW" sz="2800" dirty="0" smtClean="0"/>
              <a:t>Store((4,5,6),(4,5,6),(2,1,2,3),(2,1,2,3),</a:t>
            </a:r>
            <a:r>
              <a:rPr lang="en-US" altLang="zh-TW" sz="2800" dirty="0" err="1" smtClean="0"/>
              <a:t>bbb,aaa</a:t>
            </a:r>
            <a:r>
              <a:rPr lang="en-US" altLang="zh-TW" sz="2800" dirty="0" smtClean="0"/>
              <a:t>)</a:t>
            </a:r>
          </a:p>
          <a:p>
            <a:endParaRPr lang="en-US" altLang="zh-TW" sz="2800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Y(5/6)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1406" y="1624018"/>
          <a:ext cx="2592000" cy="25908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8400"/>
                <a:gridCol w="518400"/>
                <a:gridCol w="518400"/>
                <a:gridCol w="518400"/>
                <a:gridCol w="5184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6" name="向右箭號 5"/>
          <p:cNvSpPr/>
          <p:nvPr/>
        </p:nvSpPr>
        <p:spPr>
          <a:xfrm>
            <a:off x="2786050" y="2767026"/>
            <a:ext cx="642942" cy="42862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內容版面配置區 3"/>
          <p:cNvGraphicFramePr>
            <a:graphicFrameLocks/>
          </p:cNvGraphicFramePr>
          <p:nvPr/>
        </p:nvGraphicFramePr>
        <p:xfrm>
          <a:off x="3552198" y="1624018"/>
          <a:ext cx="2520000" cy="25908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04000"/>
                <a:gridCol w="504000"/>
                <a:gridCol w="504000"/>
                <a:gridCol w="504000"/>
                <a:gridCol w="5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-1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內容版面配置區 3"/>
          <p:cNvGraphicFramePr>
            <a:graphicFrameLocks/>
          </p:cNvGraphicFramePr>
          <p:nvPr/>
        </p:nvGraphicFramePr>
        <p:xfrm>
          <a:off x="6337718" y="1624018"/>
          <a:ext cx="2592000" cy="25908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18400"/>
                <a:gridCol w="518400"/>
                <a:gridCol w="518400"/>
                <a:gridCol w="518400"/>
                <a:gridCol w="5184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a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-1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571472" y="4457343"/>
            <a:ext cx="750099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dirty="0" smtClean="0"/>
              <a:t>Store((-1,-1,1),(-1,-1,1),(1,1,1),(1,1,1),</a:t>
            </a:r>
            <a:r>
              <a:rPr lang="en-US" altLang="zh-TW" sz="3000" dirty="0" err="1" smtClean="0"/>
              <a:t>aba,bab</a:t>
            </a:r>
            <a:r>
              <a:rPr lang="en-US" altLang="zh-TW" sz="3000" dirty="0" smtClean="0"/>
              <a:t>)</a:t>
            </a:r>
          </a:p>
          <a:p>
            <a:r>
              <a:rPr lang="en-US" altLang="zh-TW" sz="3000" dirty="0" smtClean="0"/>
              <a:t>Store((-1,-1,-1),(-1,1,1),(-1,-1,1),(1,1,1),</a:t>
            </a:r>
            <a:r>
              <a:rPr lang="en-US" altLang="zh-TW" sz="3000" dirty="0" err="1" smtClean="0"/>
              <a:t>aba,aaa</a:t>
            </a:r>
            <a:r>
              <a:rPr lang="en-US" altLang="zh-TW" sz="3000" dirty="0" smtClean="0"/>
              <a:t>)</a:t>
            </a:r>
          </a:p>
          <a:p>
            <a:r>
              <a:rPr lang="en-US" altLang="zh-TW" sz="3000" dirty="0" smtClean="0"/>
              <a:t>Store((-1,1,1),(-1,-1,-1),(1,1,1),(-1,-1,1),</a:t>
            </a:r>
            <a:r>
              <a:rPr lang="en-US" altLang="zh-TW" sz="3000" dirty="0" err="1" smtClean="0"/>
              <a:t>bbb,bab</a:t>
            </a:r>
            <a:r>
              <a:rPr lang="en-US" altLang="zh-TW" sz="3000" dirty="0" smtClean="0"/>
              <a:t>)</a:t>
            </a:r>
          </a:p>
          <a:p>
            <a:r>
              <a:rPr lang="en-US" altLang="zh-TW" sz="3000" dirty="0" smtClean="0"/>
              <a:t>Store((1,1,1),(1,1,1),(-1,1,1),(-1,1,1),</a:t>
            </a:r>
            <a:r>
              <a:rPr lang="en-US" altLang="zh-TW" sz="3000" dirty="0" err="1" smtClean="0"/>
              <a:t>bbb,aaa</a:t>
            </a:r>
            <a:r>
              <a:rPr lang="en-US" altLang="zh-TW" sz="3000" dirty="0" smtClean="0"/>
              <a:t>)</a:t>
            </a:r>
          </a:p>
          <a:p>
            <a:endParaRPr lang="en-US" altLang="zh-TW" sz="30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Y(6/6)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357290" y="2105036"/>
          <a:ext cx="2700000" cy="28956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b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a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3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2</a:t>
                      </a:r>
                      <a:endParaRPr lang="zh-TW" altLang="en-US" sz="32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85786" y="3105168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85786" y="3605234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85786" y="4176738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14546" y="1571612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786050" y="1571612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286116" y="1571612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214546" y="5000636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-1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714612" y="5000636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-1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286116" y="5000636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143372" y="3000372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-1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143372" y="3571876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-1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214810" y="4143380"/>
            <a:ext cx="500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Z(1/6)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1500174"/>
            <a:ext cx="7929618" cy="4857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Z(2/6)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2844" y="1813576"/>
          <a:ext cx="3916800" cy="3901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0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6248" y="1770190"/>
          <a:ext cx="4752000" cy="2334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&lt;-1,-1,1&gt;</a:t>
                      </a:r>
                    </a:p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86248" y="4457720"/>
          <a:ext cx="4752000" cy="1828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415964" y="383447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549430" y="6263366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Z(3/6)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2844" y="1813576"/>
          <a:ext cx="3916800" cy="3901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0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6248" y="1770190"/>
          <a:ext cx="4752000" cy="2016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&lt;-1,-1,1&gt;</a:t>
                      </a:r>
                      <a:endParaRPr lang="zh-TW" altLang="en-US" sz="2400" b="0" dirty="0" smtClean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86248" y="4457720"/>
          <a:ext cx="4752000" cy="1828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&lt;-1,-1,1&gt;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415964" y="383447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549430" y="6263366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0" y="6143644"/>
            <a:ext cx="4438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Fetch((1,1,1),(1,1,1),</a:t>
            </a:r>
            <a:r>
              <a:rPr lang="en-US" altLang="zh-TW" sz="2800" dirty="0" err="1" smtClean="0"/>
              <a:t>aba,bab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Z(4/6)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2844" y="1813576"/>
          <a:ext cx="3916800" cy="3901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0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6248" y="1770190"/>
          <a:ext cx="4752000" cy="2016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&lt;-1,-1,1&gt;</a:t>
                      </a:r>
                      <a:endParaRPr lang="zh-TW" altLang="en-US" sz="2400" b="0" dirty="0" smtClean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86248" y="4457720"/>
          <a:ext cx="4752000" cy="1828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&lt;-1,-1,1&gt;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415964" y="383447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549430" y="6263366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0" y="6143644"/>
            <a:ext cx="4624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Fetch((-1,-1,1),(1,1,1),</a:t>
            </a:r>
            <a:r>
              <a:rPr lang="en-US" altLang="zh-TW" sz="2800" dirty="0" err="1" smtClean="0"/>
              <a:t>aba,aaa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Z(5/6)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2844" y="1813576"/>
          <a:ext cx="3916800" cy="3901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0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6248" y="1770190"/>
          <a:ext cx="4752000" cy="2016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&lt;-1,-1,1&gt;</a:t>
                      </a:r>
                      <a:endParaRPr lang="zh-TW" altLang="en-US" sz="24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86248" y="4457720"/>
          <a:ext cx="4752000" cy="1828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&lt;-1,-1,1&gt;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&lt;-1,1,1&gt;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&lt;-1,-1,-1&gt;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415964" y="383447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549430" y="6263366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0" y="6143644"/>
            <a:ext cx="4805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Fetch((1,1,1),(-1,-1,-1),</a:t>
            </a:r>
            <a:r>
              <a:rPr lang="en-US" altLang="zh-TW" sz="2800" dirty="0" err="1" smtClean="0"/>
              <a:t>bbb,bab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Z(6/6)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42844" y="1813576"/>
          <a:ext cx="3916800" cy="39014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  <a:gridCol w="489600"/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0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a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1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2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b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3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4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5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600" b="0" dirty="0" smtClean="0"/>
                        <a:t>6</a:t>
                      </a:r>
                      <a:endParaRPr lang="zh-TW" altLang="en-US" sz="2600" b="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286248" y="1770190"/>
          <a:ext cx="4752000" cy="2016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50400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dirty="0" smtClean="0"/>
                        <a:t>&lt;-1,-1,1&gt;</a:t>
                      </a:r>
                      <a:endParaRPr lang="zh-TW" altLang="en-US" sz="2400" b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/>
                        <a:t>&lt;-1,1,1&gt;</a:t>
                      </a:r>
                      <a:endParaRPr lang="zh-TW" altLang="en-US" sz="2400" dirty="0" smtClean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&lt;1,1,1&gt;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286248" y="4457720"/>
          <a:ext cx="4752000" cy="18288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40000"/>
                <a:gridCol w="1404000"/>
                <a:gridCol w="1404000"/>
                <a:gridCol w="1404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&lt;-1,-1,-1&gt;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&lt;1,1,1&gt;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&lt;-1,-1,1&gt;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&lt;-1,-1,-1&gt;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&lt;1,1,1&gt;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415964" y="3834474"/>
            <a:ext cx="370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6549430" y="6263366"/>
            <a:ext cx="426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Q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0" y="6143644"/>
            <a:ext cx="4659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Fetch((-1,1,1),(-1,1,1),</a:t>
            </a:r>
            <a:r>
              <a:rPr lang="en-US" altLang="zh-TW" sz="2800" dirty="0" err="1" smtClean="0"/>
              <a:t>bbb,aaa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 Algorithm Y </a:t>
            </a:r>
          </a:p>
          <a:p>
            <a:pPr lvl="1"/>
            <a:r>
              <a:rPr lang="en-US" altLang="zh-TW" dirty="0" smtClean="0"/>
              <a:t>Take O(m²log m) to calculate and store each </a:t>
            </a:r>
            <a:r>
              <a:rPr lang="en-US" altLang="zh-TW" dirty="0" err="1" smtClean="0"/>
              <a:t>submatrix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Take O(c</a:t>
            </a:r>
            <a:r>
              <a:rPr lang="en-US" altLang="zh-TW" baseline="30000" dirty="0" smtClean="0"/>
              <a:t>m</a:t>
            </a:r>
            <a:r>
              <a:rPr lang="en-US" altLang="zh-TW" dirty="0" smtClean="0"/>
              <a:t>m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logm) = O(k</a:t>
            </a:r>
            <a:r>
              <a:rPr lang="en-US" altLang="zh-TW" baseline="30000" dirty="0" smtClean="0"/>
              <a:t>m</a:t>
            </a:r>
            <a:r>
              <a:rPr lang="en-US" altLang="zh-TW" dirty="0" smtClean="0"/>
              <a:t>) to calculate all of the final step vector for some k depending on the number of steps and ∑.</a:t>
            </a:r>
          </a:p>
          <a:p>
            <a:pPr lvl="1"/>
            <a:r>
              <a:rPr lang="en-US" altLang="zh-TW" sz="2800" dirty="0" smtClean="0"/>
              <a:t>Take Fetch in time O(</a:t>
            </a:r>
            <a:r>
              <a:rPr lang="en-US" altLang="zh-TW" sz="2800" dirty="0" err="1" smtClean="0"/>
              <a:t>m+log|A</a:t>
            </a:r>
            <a:r>
              <a:rPr lang="en-US" altLang="zh-TW" sz="2800" dirty="0" smtClean="0"/>
              <a:t>|)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Entire algorithm runs in time O(|A||B|/m)</a:t>
            </a:r>
          </a:p>
          <a:p>
            <a:pPr lvl="1"/>
            <a:r>
              <a:rPr lang="en-US" altLang="zh-TW" dirty="0" smtClean="0"/>
              <a:t>In Algorithm Z, it requires O(|A||B|/m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</a:t>
            </a:r>
            <a:r>
              <a:rPr lang="en-US" altLang="zh-TW" dirty="0" err="1" smtClean="0"/>
              <a:t>fetchs</a:t>
            </a:r>
            <a:r>
              <a:rPr lang="en-US" altLang="zh-TW" dirty="0" smtClean="0"/>
              <a:t> and assignments of length m vectors.</a:t>
            </a:r>
          </a:p>
          <a:p>
            <a:pPr lvl="1"/>
            <a:r>
              <a:rPr lang="en-US" altLang="zh-TW" dirty="0" smtClean="0"/>
              <a:t>In Algorithm Y, it implements  Fetch in time O(</a:t>
            </a:r>
            <a:r>
              <a:rPr lang="en-US" altLang="zh-TW" dirty="0" err="1" smtClean="0"/>
              <a:t>m+log|A</a:t>
            </a:r>
            <a:r>
              <a:rPr lang="en-US" altLang="zh-TW" dirty="0" smtClean="0"/>
              <a:t>|) if we choose m = </a:t>
            </a:r>
            <a:r>
              <a:rPr lang="en-US" altLang="zh-TW" dirty="0" err="1" smtClean="0"/>
              <a:t>logk|A</a:t>
            </a:r>
            <a:r>
              <a:rPr lang="en-US" altLang="zh-TW" smtClean="0"/>
              <a:t>|. If </a:t>
            </a:r>
            <a:r>
              <a:rPr lang="en-US" altLang="zh-TW" dirty="0" smtClean="0"/>
              <a:t>m &gt; |</a:t>
            </a:r>
            <a:r>
              <a:rPr lang="en-US" altLang="zh-TW" dirty="0" err="1" smtClean="0"/>
              <a:t>B|,the</a:t>
            </a:r>
            <a:r>
              <a:rPr lang="en-US" altLang="zh-TW" dirty="0" smtClean="0"/>
              <a:t> algorithm runs in time O(|A|).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1315</Words>
  <Application>Microsoft Office PowerPoint</Application>
  <PresentationFormat>如螢幕大小 (4:3)</PresentationFormat>
  <Paragraphs>677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標楷體</vt:lpstr>
      <vt:lpstr>Arial</vt:lpstr>
      <vt:lpstr>Calibri</vt:lpstr>
      <vt:lpstr>Office 佈景主題</vt:lpstr>
      <vt:lpstr>A Faster Algorithm Computing String Edit Distances</vt:lpstr>
      <vt:lpstr>Abstract(1/2)</vt:lpstr>
      <vt:lpstr>Abstract(2/2)</vt:lpstr>
      <vt:lpstr>Edit Distances</vt:lpstr>
      <vt:lpstr>Algorithm Y(1/6)</vt:lpstr>
      <vt:lpstr>Algorithm Y(2/6)</vt:lpstr>
      <vt:lpstr>Algorithm Y(3/6)</vt:lpstr>
      <vt:lpstr>Algorithm Y(4/6)</vt:lpstr>
      <vt:lpstr>Algorithm Y(5/6)</vt:lpstr>
      <vt:lpstr>Algorithm Y(6/6)</vt:lpstr>
      <vt:lpstr>Algorithm Z(1/6)</vt:lpstr>
      <vt:lpstr>Algorithm Z(2/6)</vt:lpstr>
      <vt:lpstr>Algorithm Z(3/6)</vt:lpstr>
      <vt:lpstr>Algorithm Z(4/6)</vt:lpstr>
      <vt:lpstr>Algorithm Z(5/6)</vt:lpstr>
      <vt:lpstr>Algorithm Z(6/6)</vt:lpstr>
      <vt:lpstr>Time complexity(1/2)</vt:lpstr>
      <vt:lpstr>Time complexity(2/2)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AthenaHo</dc:creator>
  <cp:lastModifiedBy>M033040055</cp:lastModifiedBy>
  <cp:revision>88</cp:revision>
  <dcterms:created xsi:type="dcterms:W3CDTF">2015-08-23T14:24:48Z</dcterms:created>
  <dcterms:modified xsi:type="dcterms:W3CDTF">2015-08-25T10:11:34Z</dcterms:modified>
</cp:coreProperties>
</file>