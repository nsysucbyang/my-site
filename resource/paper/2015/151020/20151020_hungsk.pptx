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6" r:id="rId40"/>
    <p:sldId id="295" r:id="rId41"/>
    <p:sldId id="298" r:id="rId42"/>
    <p:sldId id="297" r:id="rId43"/>
    <p:sldId id="299" r:id="rId44"/>
    <p:sldId id="300" r:id="rId45"/>
    <p:sldId id="301" r:id="rId4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1" d="100"/>
          <a:sy n="91" d="100"/>
        </p:scale>
        <p:origin x="-564" y="-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2B6FE5-4FCC-429A-8FC4-C7CD3E5E3C69}" type="datetimeFigureOut">
              <a:rPr lang="zh-TW" altLang="en-US" smtClean="0"/>
              <a:t>2015/10/20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C07ACF-7642-4715-A207-01D6E05BD3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7686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C07ACF-7642-4715-A207-01D6E05BD39F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3708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2015/10/20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2015/10/20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2015/10/20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2015/10/20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2015/10/20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2015/10/20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2015/10/20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2015/10/20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2015/10/20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2015/10/20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2015/10/20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t>2015/10/20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35595" y="1556792"/>
            <a:ext cx="7148302" cy="1398017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Two-Dimensional Pattern Matching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15616" y="2852936"/>
            <a:ext cx="6400800" cy="1008112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R.S. BIRD</a:t>
            </a:r>
            <a:endParaRPr lang="zh-TW" altLang="en-US" dirty="0"/>
          </a:p>
        </p:txBody>
      </p:sp>
      <p:sp>
        <p:nvSpPr>
          <p:cNvPr id="4" name="副標題 2"/>
          <p:cNvSpPr txBox="1">
            <a:spLocks/>
          </p:cNvSpPr>
          <p:nvPr/>
        </p:nvSpPr>
        <p:spPr>
          <a:xfrm>
            <a:off x="1475656" y="5379953"/>
            <a:ext cx="6068181" cy="79208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TW" dirty="0" smtClean="0">
                <a:solidFill>
                  <a:schemeClr val="tx1"/>
                </a:solidFill>
              </a:rPr>
              <a:t>Presenter:  </a:t>
            </a:r>
            <a:r>
              <a:rPr lang="en-US" altLang="zh-TW" dirty="0" err="1" smtClean="0">
                <a:solidFill>
                  <a:schemeClr val="tx1"/>
                </a:solidFill>
              </a:rPr>
              <a:t>Shu</a:t>
            </a:r>
            <a:r>
              <a:rPr lang="en-US" altLang="zh-TW" dirty="0" smtClean="0">
                <a:solidFill>
                  <a:schemeClr val="tx1"/>
                </a:solidFill>
              </a:rPr>
              <a:t>-Kai hung</a:t>
            </a:r>
          </a:p>
          <a:p>
            <a:pPr>
              <a:spcBef>
                <a:spcPct val="0"/>
              </a:spcBef>
            </a:pPr>
            <a:r>
              <a:rPr lang="en-US" altLang="zh-TW" dirty="0" smtClean="0">
                <a:solidFill>
                  <a:schemeClr val="tx1"/>
                </a:solidFill>
              </a:rPr>
              <a:t>Date:</a:t>
            </a:r>
            <a:fld id="{F3590F60-3E7B-48AD-979A-345F224951B5}" type="datetime1">
              <a:rPr lang="zh-TW" altLang="en-US" smtClean="0">
                <a:solidFill>
                  <a:schemeClr val="tx1"/>
                </a:solidFill>
              </a:rPr>
              <a:pPr>
                <a:spcBef>
                  <a:spcPct val="0"/>
                </a:spcBef>
              </a:pPr>
              <a:t>2015/10/20</a:t>
            </a:fld>
            <a:endParaRPr lang="zh-TW" altLang="en-US" dirty="0" smtClean="0">
              <a:solidFill>
                <a:schemeClr val="tx1"/>
              </a:solidFill>
            </a:endParaRPr>
          </a:p>
          <a:p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075716"/>
              </p:ext>
            </p:extLst>
          </p:nvPr>
        </p:nvGraphicFramePr>
        <p:xfrm>
          <a:off x="2601571" y="3573016"/>
          <a:ext cx="3816350" cy="1220788"/>
        </p:xfrm>
        <a:graphic>
          <a:graphicData uri="http://schemas.openxmlformats.org/drawingml/2006/table">
            <a:tbl>
              <a:tblPr/>
              <a:tblGrid>
                <a:gridCol w="3816350"/>
              </a:tblGrid>
              <a:tr h="5675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Information Processing Letters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95250" marR="9525" marT="9523" marB="95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3245">
                <a:tc>
                  <a:txBody>
                    <a:bodyPr/>
                    <a:lstStyle/>
                    <a:p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Volume 6, Issues 5, October 1977, Pages 168-170</a:t>
                      </a:r>
                      <a:endParaRPr lang="en-US" sz="1400" kern="12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95250" marR="9525" marT="9523" marB="952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5894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US" altLang="zh-TW" dirty="0" smtClean="0"/>
              <a:t>The Problem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1124744"/>
                <a:ext cx="8686800" cy="54006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 smtClean="0"/>
                  <a:t>Pattern matching :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Given </a:t>
                </a:r>
                <a:r>
                  <a:rPr lang="en-US" altLang="zh-TW" dirty="0"/>
                  <a:t>a string of symbols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TW" dirty="0"/>
                  <a:t>, called the pattern, and a second string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TW" dirty="0"/>
                  <a:t>, called the text, to determine for each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whether or not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TW" dirty="0"/>
                  <a:t>.</a:t>
                </a: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example: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Text: </a:t>
                </a:r>
                <a:r>
                  <a:rPr lang="en-US" altLang="zh-TW" dirty="0" err="1" smtClean="0"/>
                  <a:t>aabb</a:t>
                </a:r>
                <a:r>
                  <a:rPr lang="en-US" altLang="zh-TW" dirty="0" err="1" smtClean="0">
                    <a:solidFill>
                      <a:srgbClr val="FF0000"/>
                    </a:solidFill>
                  </a:rPr>
                  <a:t>acaba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/>
                  <a:t>(m)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Pattern: </a:t>
                </a:r>
                <a:r>
                  <a:rPr lang="en-US" altLang="zh-TW" dirty="0" err="1" smtClean="0"/>
                  <a:t>acaba</a:t>
                </a:r>
                <a:r>
                  <a:rPr lang="en-US" altLang="zh-TW" dirty="0" smtClean="0"/>
                  <a:t> (n)</a:t>
                </a:r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1124744"/>
                <a:ext cx="8686800" cy="5400600"/>
              </a:xfrm>
              <a:blipFill rotWithShape="1">
                <a:blip r:embed="rId2"/>
                <a:stretch>
                  <a:fillRect l="-1754" t="-14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349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Pattern Matching with brute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Text :      </a:t>
            </a:r>
            <a:r>
              <a:rPr lang="en-US" altLang="zh-TW" dirty="0" err="1" smtClean="0"/>
              <a:t>abacaabaccbba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Pattern: </a:t>
            </a:r>
            <a:r>
              <a:rPr lang="en-US" altLang="zh-TW" dirty="0" err="1" smtClean="0"/>
              <a:t>abacc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>
                <a:solidFill>
                  <a:srgbClr val="FF0000"/>
                </a:solidFill>
              </a:rPr>
              <a:t>One by one </a:t>
            </a:r>
            <a:r>
              <a:rPr lang="en-US" altLang="zh-TW" dirty="0" smtClean="0"/>
              <a:t>, if it does not match , move </a:t>
            </a:r>
            <a:r>
              <a:rPr lang="en-US" altLang="zh-TW" dirty="0" smtClean="0">
                <a:solidFill>
                  <a:srgbClr val="FF0000"/>
                </a:solidFill>
              </a:rPr>
              <a:t>one </a:t>
            </a:r>
            <a:r>
              <a:rPr lang="en-US" altLang="zh-TW" dirty="0" smtClean="0"/>
              <a:t>position.</a:t>
            </a:r>
            <a:endParaRPr lang="zh-TW" altLang="en-US" dirty="0"/>
          </a:p>
        </p:txBody>
      </p:sp>
      <p:cxnSp>
        <p:nvCxnSpPr>
          <p:cNvPr id="5" name="直線單箭頭接點 4"/>
          <p:cNvCxnSpPr/>
          <p:nvPr/>
        </p:nvCxnSpPr>
        <p:spPr>
          <a:xfrm flipV="1">
            <a:off x="2058179" y="3191295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直線單箭頭接點 5"/>
          <p:cNvCxnSpPr/>
          <p:nvPr/>
        </p:nvCxnSpPr>
        <p:spPr>
          <a:xfrm flipV="1">
            <a:off x="2066571" y="2047146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2058179" y="1556792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5233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Pattern Matching with brute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Text :      </a:t>
            </a:r>
            <a:r>
              <a:rPr lang="en-US" altLang="zh-TW" dirty="0" err="1" smtClean="0"/>
              <a:t>abacaabaccbba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Pattern: </a:t>
            </a:r>
            <a:r>
              <a:rPr lang="en-US" altLang="zh-TW" dirty="0" err="1" smtClean="0"/>
              <a:t>abacc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>
                <a:solidFill>
                  <a:srgbClr val="FF0000"/>
                </a:solidFill>
              </a:rPr>
              <a:t>One by one </a:t>
            </a:r>
            <a:r>
              <a:rPr lang="en-US" altLang="zh-TW" dirty="0" smtClean="0"/>
              <a:t>, if it does not match , move </a:t>
            </a:r>
            <a:r>
              <a:rPr lang="en-US" altLang="zh-TW" dirty="0" smtClean="0">
                <a:solidFill>
                  <a:srgbClr val="FF0000"/>
                </a:solidFill>
              </a:rPr>
              <a:t>one </a:t>
            </a:r>
            <a:r>
              <a:rPr lang="en-US" altLang="zh-TW" dirty="0" smtClean="0"/>
              <a:t>position.</a:t>
            </a:r>
            <a:endParaRPr lang="zh-TW" altLang="en-US" dirty="0"/>
          </a:p>
        </p:txBody>
      </p:sp>
      <p:cxnSp>
        <p:nvCxnSpPr>
          <p:cNvPr id="5" name="直線單箭頭接點 4"/>
          <p:cNvCxnSpPr/>
          <p:nvPr/>
        </p:nvCxnSpPr>
        <p:spPr>
          <a:xfrm flipV="1">
            <a:off x="2267744" y="3191385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直線單箭頭接點 5"/>
          <p:cNvCxnSpPr/>
          <p:nvPr/>
        </p:nvCxnSpPr>
        <p:spPr>
          <a:xfrm flipV="1">
            <a:off x="2267744" y="2047146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直線單箭頭接點 6"/>
          <p:cNvCxnSpPr/>
          <p:nvPr/>
        </p:nvCxnSpPr>
        <p:spPr>
          <a:xfrm>
            <a:off x="2058179" y="1556792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3989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Pattern Matching with brute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Text :      </a:t>
            </a:r>
            <a:r>
              <a:rPr lang="en-US" altLang="zh-TW" dirty="0" err="1" smtClean="0"/>
              <a:t>abacaabaccbba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Pattern: </a:t>
            </a:r>
            <a:r>
              <a:rPr lang="en-US" altLang="zh-TW" dirty="0" err="1" smtClean="0"/>
              <a:t>abacc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>
                <a:solidFill>
                  <a:srgbClr val="FF0000"/>
                </a:solidFill>
              </a:rPr>
              <a:t>One by one </a:t>
            </a:r>
            <a:r>
              <a:rPr lang="en-US" altLang="zh-TW" dirty="0" smtClean="0"/>
              <a:t>, if it does not match , move </a:t>
            </a:r>
            <a:r>
              <a:rPr lang="en-US" altLang="zh-TW" dirty="0" smtClean="0">
                <a:solidFill>
                  <a:srgbClr val="FF0000"/>
                </a:solidFill>
              </a:rPr>
              <a:t>one </a:t>
            </a:r>
            <a:r>
              <a:rPr lang="en-US" altLang="zh-TW" dirty="0" smtClean="0"/>
              <a:t>position.</a:t>
            </a:r>
            <a:endParaRPr lang="zh-TW" altLang="en-US" dirty="0"/>
          </a:p>
        </p:txBody>
      </p:sp>
      <p:cxnSp>
        <p:nvCxnSpPr>
          <p:cNvPr id="5" name="直線單箭頭接點 4"/>
          <p:cNvCxnSpPr/>
          <p:nvPr/>
        </p:nvCxnSpPr>
        <p:spPr>
          <a:xfrm flipV="1">
            <a:off x="2483768" y="3191385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直線單箭頭接點 5"/>
          <p:cNvCxnSpPr/>
          <p:nvPr/>
        </p:nvCxnSpPr>
        <p:spPr>
          <a:xfrm flipV="1">
            <a:off x="2483768" y="2047146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>
            <a:off x="2051720" y="1601180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6600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Pattern Matching with brute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Text :      </a:t>
            </a:r>
            <a:r>
              <a:rPr lang="en-US" altLang="zh-TW" dirty="0" err="1" smtClean="0"/>
              <a:t>abacaabaccbba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Pattern: </a:t>
            </a:r>
            <a:r>
              <a:rPr lang="en-US" altLang="zh-TW" dirty="0" err="1" smtClean="0"/>
              <a:t>abacc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>
                <a:solidFill>
                  <a:srgbClr val="FF0000"/>
                </a:solidFill>
              </a:rPr>
              <a:t>One by one </a:t>
            </a:r>
            <a:r>
              <a:rPr lang="en-US" altLang="zh-TW" dirty="0" smtClean="0"/>
              <a:t>, if it does not match , move </a:t>
            </a:r>
            <a:r>
              <a:rPr lang="en-US" altLang="zh-TW" dirty="0" smtClean="0">
                <a:solidFill>
                  <a:srgbClr val="FF0000"/>
                </a:solidFill>
              </a:rPr>
              <a:t>one </a:t>
            </a:r>
            <a:r>
              <a:rPr lang="en-US" altLang="zh-TW" dirty="0" smtClean="0"/>
              <a:t>position.</a:t>
            </a:r>
            <a:endParaRPr lang="zh-TW" altLang="en-US" dirty="0"/>
          </a:p>
        </p:txBody>
      </p:sp>
      <p:cxnSp>
        <p:nvCxnSpPr>
          <p:cNvPr id="5" name="直線單箭頭接點 4"/>
          <p:cNvCxnSpPr/>
          <p:nvPr/>
        </p:nvCxnSpPr>
        <p:spPr>
          <a:xfrm flipV="1">
            <a:off x="2627784" y="3191385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直線單箭頭接點 5"/>
          <p:cNvCxnSpPr/>
          <p:nvPr/>
        </p:nvCxnSpPr>
        <p:spPr>
          <a:xfrm flipV="1">
            <a:off x="2640495" y="2047146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直線單箭頭接點 6"/>
          <p:cNvCxnSpPr/>
          <p:nvPr/>
        </p:nvCxnSpPr>
        <p:spPr>
          <a:xfrm>
            <a:off x="2058179" y="1556792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2312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Pattern Matching with brute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Text :      </a:t>
            </a:r>
            <a:r>
              <a:rPr lang="en-US" altLang="zh-TW" dirty="0" err="1" smtClean="0"/>
              <a:t>abacaabaccbba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Pattern: </a:t>
            </a:r>
            <a:r>
              <a:rPr lang="en-US" altLang="zh-TW" dirty="0" err="1" smtClean="0"/>
              <a:t>abacc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>
                <a:solidFill>
                  <a:srgbClr val="FF0000"/>
                </a:solidFill>
              </a:rPr>
              <a:t>One by one </a:t>
            </a:r>
            <a:r>
              <a:rPr lang="en-US" altLang="zh-TW" dirty="0" smtClean="0"/>
              <a:t>, if it does not match , move </a:t>
            </a:r>
            <a:r>
              <a:rPr lang="en-US" altLang="zh-TW" dirty="0" smtClean="0">
                <a:solidFill>
                  <a:srgbClr val="FF0000"/>
                </a:solidFill>
              </a:rPr>
              <a:t>one </a:t>
            </a:r>
            <a:r>
              <a:rPr lang="en-US" altLang="zh-TW" dirty="0" smtClean="0"/>
              <a:t>position.</a:t>
            </a:r>
            <a:endParaRPr lang="zh-TW" altLang="en-US" dirty="0"/>
          </a:p>
        </p:txBody>
      </p:sp>
      <p:cxnSp>
        <p:nvCxnSpPr>
          <p:cNvPr id="5" name="直線單箭頭接點 4"/>
          <p:cNvCxnSpPr/>
          <p:nvPr/>
        </p:nvCxnSpPr>
        <p:spPr>
          <a:xfrm flipV="1">
            <a:off x="2843808" y="3202451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直線單箭頭接點 5"/>
          <p:cNvCxnSpPr/>
          <p:nvPr/>
        </p:nvCxnSpPr>
        <p:spPr>
          <a:xfrm flipV="1">
            <a:off x="2843808" y="2047146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直線單箭頭接點 6"/>
          <p:cNvCxnSpPr/>
          <p:nvPr/>
        </p:nvCxnSpPr>
        <p:spPr>
          <a:xfrm>
            <a:off x="2058179" y="1556792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961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Pattern Matching with brute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Text :      </a:t>
            </a:r>
            <a:r>
              <a:rPr lang="en-US" altLang="zh-TW" dirty="0" err="1" smtClean="0"/>
              <a:t>abacaabaccbba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Pattern: </a:t>
            </a:r>
            <a:r>
              <a:rPr lang="en-US" altLang="zh-TW" dirty="0" err="1" smtClean="0"/>
              <a:t>abacc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>
                <a:solidFill>
                  <a:srgbClr val="FF0000"/>
                </a:solidFill>
              </a:rPr>
              <a:t>One by one </a:t>
            </a:r>
            <a:r>
              <a:rPr lang="en-US" altLang="zh-TW" dirty="0" smtClean="0"/>
              <a:t>, if it does not match , move </a:t>
            </a:r>
            <a:r>
              <a:rPr lang="en-US" altLang="zh-TW" dirty="0" smtClean="0">
                <a:solidFill>
                  <a:srgbClr val="FF0000"/>
                </a:solidFill>
              </a:rPr>
              <a:t>one </a:t>
            </a:r>
            <a:r>
              <a:rPr lang="en-US" altLang="zh-TW" dirty="0" smtClean="0"/>
              <a:t>position.</a:t>
            </a:r>
            <a:endParaRPr lang="zh-TW" altLang="en-US" dirty="0"/>
          </a:p>
        </p:txBody>
      </p:sp>
      <p:cxnSp>
        <p:nvCxnSpPr>
          <p:cNvPr id="5" name="直線單箭頭接點 4"/>
          <p:cNvCxnSpPr/>
          <p:nvPr/>
        </p:nvCxnSpPr>
        <p:spPr>
          <a:xfrm flipV="1">
            <a:off x="2051720" y="3202451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直線單箭頭接點 5"/>
          <p:cNvCxnSpPr/>
          <p:nvPr/>
        </p:nvCxnSpPr>
        <p:spPr>
          <a:xfrm flipV="1">
            <a:off x="2267744" y="2047146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直線單箭頭接點 6"/>
          <p:cNvCxnSpPr/>
          <p:nvPr/>
        </p:nvCxnSpPr>
        <p:spPr>
          <a:xfrm>
            <a:off x="2267744" y="1590504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1638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Pattern Matching with brute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Text :      </a:t>
            </a:r>
            <a:r>
              <a:rPr lang="en-US" altLang="zh-TW" dirty="0" err="1" smtClean="0"/>
              <a:t>abacaabaccbba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Pattern: </a:t>
            </a:r>
            <a:r>
              <a:rPr lang="en-US" altLang="zh-TW" dirty="0" err="1" smtClean="0"/>
              <a:t>abacc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>
                <a:solidFill>
                  <a:srgbClr val="FF0000"/>
                </a:solidFill>
              </a:rPr>
              <a:t>One by one </a:t>
            </a:r>
            <a:r>
              <a:rPr lang="en-US" altLang="zh-TW" dirty="0" smtClean="0"/>
              <a:t>, if it does not match , move </a:t>
            </a:r>
            <a:r>
              <a:rPr lang="en-US" altLang="zh-TW" dirty="0" smtClean="0">
                <a:solidFill>
                  <a:srgbClr val="FF0000"/>
                </a:solidFill>
              </a:rPr>
              <a:t>one </a:t>
            </a:r>
            <a:r>
              <a:rPr lang="en-US" altLang="zh-TW" dirty="0" smtClean="0"/>
              <a:t>position.</a:t>
            </a:r>
            <a:endParaRPr lang="zh-TW" altLang="en-US" dirty="0"/>
          </a:p>
        </p:txBody>
      </p:sp>
      <p:cxnSp>
        <p:nvCxnSpPr>
          <p:cNvPr id="5" name="直線單箭頭接點 4"/>
          <p:cNvCxnSpPr/>
          <p:nvPr/>
        </p:nvCxnSpPr>
        <p:spPr>
          <a:xfrm flipV="1">
            <a:off x="2051720" y="3202451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直線單箭頭接點 5"/>
          <p:cNvCxnSpPr/>
          <p:nvPr/>
        </p:nvCxnSpPr>
        <p:spPr>
          <a:xfrm flipV="1">
            <a:off x="2432767" y="2047146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直線單箭頭接點 6"/>
          <p:cNvCxnSpPr/>
          <p:nvPr/>
        </p:nvCxnSpPr>
        <p:spPr>
          <a:xfrm>
            <a:off x="2426309" y="1596144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0290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Pattern Matching with brute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Text :      </a:t>
            </a:r>
            <a:r>
              <a:rPr lang="en-US" altLang="zh-TW" dirty="0" err="1" smtClean="0"/>
              <a:t>abacaabaccbba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Pattern: </a:t>
            </a:r>
            <a:r>
              <a:rPr lang="en-US" altLang="zh-TW" dirty="0" err="1" smtClean="0"/>
              <a:t>abacc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>
                <a:solidFill>
                  <a:srgbClr val="FF0000"/>
                </a:solidFill>
              </a:rPr>
              <a:t>One by one </a:t>
            </a:r>
            <a:r>
              <a:rPr lang="en-US" altLang="zh-TW" dirty="0" smtClean="0"/>
              <a:t>, if it does not match , move </a:t>
            </a:r>
            <a:r>
              <a:rPr lang="en-US" altLang="zh-TW" dirty="0" smtClean="0">
                <a:solidFill>
                  <a:srgbClr val="FF0000"/>
                </a:solidFill>
              </a:rPr>
              <a:t>one </a:t>
            </a:r>
            <a:r>
              <a:rPr lang="en-US" altLang="zh-TW" dirty="0" smtClean="0"/>
              <a:t>position.</a:t>
            </a:r>
            <a:endParaRPr lang="zh-TW" altLang="en-US" dirty="0"/>
          </a:p>
        </p:txBody>
      </p:sp>
      <p:cxnSp>
        <p:nvCxnSpPr>
          <p:cNvPr id="5" name="直線單箭頭接點 4"/>
          <p:cNvCxnSpPr/>
          <p:nvPr/>
        </p:nvCxnSpPr>
        <p:spPr>
          <a:xfrm flipV="1">
            <a:off x="2267744" y="3202451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直線單箭頭接點 5"/>
          <p:cNvCxnSpPr/>
          <p:nvPr/>
        </p:nvCxnSpPr>
        <p:spPr>
          <a:xfrm flipV="1">
            <a:off x="2627784" y="2086100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直線單箭頭接點 6"/>
          <p:cNvCxnSpPr/>
          <p:nvPr/>
        </p:nvCxnSpPr>
        <p:spPr>
          <a:xfrm>
            <a:off x="2426309" y="1596144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4860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Pattern Matching with brute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Text :      </a:t>
            </a:r>
            <a:r>
              <a:rPr lang="en-US" altLang="zh-TW" dirty="0" err="1" smtClean="0"/>
              <a:t>abacaabaccbba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Pattern: </a:t>
            </a:r>
            <a:r>
              <a:rPr lang="en-US" altLang="zh-TW" dirty="0" err="1" smtClean="0"/>
              <a:t>abacc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>
                <a:solidFill>
                  <a:srgbClr val="FF0000"/>
                </a:solidFill>
              </a:rPr>
              <a:t>One by one </a:t>
            </a:r>
            <a:r>
              <a:rPr lang="en-US" altLang="zh-TW" dirty="0" smtClean="0"/>
              <a:t>, if it does not match , move </a:t>
            </a:r>
            <a:r>
              <a:rPr lang="en-US" altLang="zh-TW" dirty="0" smtClean="0">
                <a:solidFill>
                  <a:srgbClr val="FF0000"/>
                </a:solidFill>
              </a:rPr>
              <a:t>one </a:t>
            </a:r>
            <a:r>
              <a:rPr lang="en-US" altLang="zh-TW" dirty="0" smtClean="0"/>
              <a:t>position.</a:t>
            </a:r>
            <a:endParaRPr lang="zh-TW" altLang="en-US" dirty="0"/>
          </a:p>
        </p:txBody>
      </p:sp>
      <p:cxnSp>
        <p:nvCxnSpPr>
          <p:cNvPr id="5" name="直線單箭頭接點 4"/>
          <p:cNvCxnSpPr/>
          <p:nvPr/>
        </p:nvCxnSpPr>
        <p:spPr>
          <a:xfrm flipV="1">
            <a:off x="2051720" y="3202451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直線單箭頭接點 5"/>
          <p:cNvCxnSpPr/>
          <p:nvPr/>
        </p:nvCxnSpPr>
        <p:spPr>
          <a:xfrm flipV="1">
            <a:off x="3059832" y="2086100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直線單箭頭接點 6"/>
          <p:cNvCxnSpPr/>
          <p:nvPr/>
        </p:nvCxnSpPr>
        <p:spPr>
          <a:xfrm>
            <a:off x="3059832" y="1596144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853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Pattern Matching with brute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Text :      </a:t>
            </a:r>
            <a:r>
              <a:rPr lang="en-US" altLang="zh-TW" dirty="0" err="1" smtClean="0"/>
              <a:t>abacaabaccbba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Pattern: </a:t>
            </a:r>
            <a:r>
              <a:rPr lang="en-US" altLang="zh-TW" dirty="0" err="1" smtClean="0"/>
              <a:t>abacc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>
                <a:solidFill>
                  <a:srgbClr val="FF0000"/>
                </a:solidFill>
              </a:rPr>
              <a:t>One by one </a:t>
            </a:r>
            <a:r>
              <a:rPr lang="en-US" altLang="zh-TW" dirty="0" smtClean="0"/>
              <a:t>, if it does not match , move </a:t>
            </a:r>
            <a:r>
              <a:rPr lang="en-US" altLang="zh-TW" dirty="0" smtClean="0">
                <a:solidFill>
                  <a:srgbClr val="FF0000"/>
                </a:solidFill>
              </a:rPr>
              <a:t>one </a:t>
            </a:r>
            <a:r>
              <a:rPr lang="en-US" altLang="zh-TW" dirty="0" smtClean="0"/>
              <a:t>position.</a:t>
            </a:r>
            <a:endParaRPr lang="zh-TW" altLang="en-US" dirty="0"/>
          </a:p>
        </p:txBody>
      </p:sp>
      <p:cxnSp>
        <p:nvCxnSpPr>
          <p:cNvPr id="5" name="直線單箭頭接點 4"/>
          <p:cNvCxnSpPr/>
          <p:nvPr/>
        </p:nvCxnSpPr>
        <p:spPr>
          <a:xfrm flipV="1">
            <a:off x="2267744" y="3202451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直線單箭頭接點 5"/>
          <p:cNvCxnSpPr/>
          <p:nvPr/>
        </p:nvCxnSpPr>
        <p:spPr>
          <a:xfrm flipV="1">
            <a:off x="3275856" y="2086100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直線單箭頭接點 6"/>
          <p:cNvCxnSpPr/>
          <p:nvPr/>
        </p:nvCxnSpPr>
        <p:spPr>
          <a:xfrm>
            <a:off x="3059832" y="1596144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2222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Pattern Matching with brute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Text :      </a:t>
            </a:r>
            <a:r>
              <a:rPr lang="en-US" altLang="zh-TW" dirty="0" err="1" smtClean="0"/>
              <a:t>abacaabaccbba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Pattern: </a:t>
            </a:r>
            <a:r>
              <a:rPr lang="en-US" altLang="zh-TW" dirty="0" err="1" smtClean="0"/>
              <a:t>abacc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>
                <a:solidFill>
                  <a:srgbClr val="FF0000"/>
                </a:solidFill>
              </a:rPr>
              <a:t>One by one </a:t>
            </a:r>
            <a:r>
              <a:rPr lang="en-US" altLang="zh-TW" dirty="0" smtClean="0"/>
              <a:t>, if it does not match , move </a:t>
            </a:r>
            <a:r>
              <a:rPr lang="en-US" altLang="zh-TW" dirty="0" smtClean="0">
                <a:solidFill>
                  <a:srgbClr val="FF0000"/>
                </a:solidFill>
              </a:rPr>
              <a:t>one </a:t>
            </a:r>
            <a:r>
              <a:rPr lang="en-US" altLang="zh-TW" dirty="0" smtClean="0"/>
              <a:t>position.</a:t>
            </a:r>
            <a:endParaRPr lang="zh-TW" altLang="en-US" dirty="0"/>
          </a:p>
        </p:txBody>
      </p:sp>
      <p:cxnSp>
        <p:nvCxnSpPr>
          <p:cNvPr id="5" name="直線單箭頭接點 4"/>
          <p:cNvCxnSpPr/>
          <p:nvPr/>
        </p:nvCxnSpPr>
        <p:spPr>
          <a:xfrm flipV="1">
            <a:off x="2483768" y="3202451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直線單箭頭接點 5"/>
          <p:cNvCxnSpPr/>
          <p:nvPr/>
        </p:nvCxnSpPr>
        <p:spPr>
          <a:xfrm flipV="1">
            <a:off x="3419872" y="2086100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直線單箭頭接點 6"/>
          <p:cNvCxnSpPr/>
          <p:nvPr/>
        </p:nvCxnSpPr>
        <p:spPr>
          <a:xfrm>
            <a:off x="3059832" y="1596144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6943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Pattern Matching with brute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Text :      </a:t>
            </a:r>
            <a:r>
              <a:rPr lang="en-US" altLang="zh-TW" dirty="0" err="1" smtClean="0"/>
              <a:t>abacaabaccbba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Pattern: </a:t>
            </a:r>
            <a:r>
              <a:rPr lang="en-US" altLang="zh-TW" dirty="0" err="1" smtClean="0"/>
              <a:t>abacc</a:t>
            </a:r>
            <a:r>
              <a:rPr lang="en-US" altLang="zh-TW" dirty="0" smtClean="0"/>
              <a:t>            </a:t>
            </a:r>
          </a:p>
          <a:p>
            <a:pPr marL="0" indent="0">
              <a:buNone/>
            </a:pPr>
            <a:r>
              <a:rPr lang="en-US" altLang="zh-TW" dirty="0"/>
              <a:t>	</a:t>
            </a:r>
            <a:r>
              <a:rPr lang="en-US" altLang="zh-TW" dirty="0" smtClean="0"/>
              <a:t>			match pattern=&gt;output</a:t>
            </a:r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Time complexity : O(</a:t>
            </a:r>
            <a:r>
              <a:rPr lang="en-US" altLang="zh-TW" dirty="0" err="1" smtClean="0"/>
              <a:t>mn</a:t>
            </a:r>
            <a:r>
              <a:rPr lang="en-US" altLang="zh-TW" dirty="0" smtClean="0"/>
              <a:t>)</a:t>
            </a:r>
            <a:endParaRPr lang="en-US" altLang="zh-TW" dirty="0"/>
          </a:p>
        </p:txBody>
      </p:sp>
      <p:cxnSp>
        <p:nvCxnSpPr>
          <p:cNvPr id="5" name="直線單箭頭接點 4"/>
          <p:cNvCxnSpPr/>
          <p:nvPr/>
        </p:nvCxnSpPr>
        <p:spPr>
          <a:xfrm flipV="1">
            <a:off x="2843808" y="3202451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直線單箭頭接點 5"/>
          <p:cNvCxnSpPr/>
          <p:nvPr/>
        </p:nvCxnSpPr>
        <p:spPr>
          <a:xfrm flipV="1">
            <a:off x="3851920" y="2071152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直線單箭頭接點 6"/>
          <p:cNvCxnSpPr/>
          <p:nvPr/>
        </p:nvCxnSpPr>
        <p:spPr>
          <a:xfrm>
            <a:off x="3062469" y="1605475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4739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KMP 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1268760"/>
                <a:ext cx="8435280" cy="54006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Two step of KMP: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First step: build Failure table (using prefix - suffix)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Second step : match like brute ,  when match fails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,look at failure table to determine its movement,</a:t>
                </a:r>
              </a:p>
              <a:p>
                <a:pPr marL="0" indent="0">
                  <a:buNone/>
                </a:pPr>
                <a:endParaRPr lang="en-US" altLang="zh-TW" sz="2400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Then see one </a:t>
                </a:r>
                <a:r>
                  <a:rPr lang="en-US" altLang="zh-TW" dirty="0"/>
                  <a:t>more </a:t>
                </a:r>
                <a:r>
                  <a:rPr lang="en-US" altLang="zh-TW" dirty="0" smtClean="0"/>
                  <a:t>Character after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/>
                      </a:rPr>
                      <m:t>f</m:t>
                    </m:r>
                    <m:d>
                      <m:d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altLang="zh-TW" dirty="0" smtClean="0"/>
                  <a:t> =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the next character of text where you match now.</a:t>
                </a:r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1268760"/>
                <a:ext cx="8435280" cy="5400600"/>
              </a:xfrm>
              <a:blipFill rotWithShape="1">
                <a:blip r:embed="rId2"/>
                <a:stretch>
                  <a:fillRect l="-1806" t="-1467" r="-23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接點 4"/>
          <p:cNvCxnSpPr/>
          <p:nvPr/>
        </p:nvCxnSpPr>
        <p:spPr>
          <a:xfrm flipV="1">
            <a:off x="-108520" y="4851010"/>
            <a:ext cx="9144000" cy="720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6450326" y="1340768"/>
            <a:ext cx="244827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MP</a:t>
            </a:r>
            <a:endParaRPr lang="zh-TW" altLang="en-US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7" name="矩形 6"/>
          <p:cNvSpPr/>
          <p:nvPr/>
        </p:nvSpPr>
        <p:spPr>
          <a:xfrm>
            <a:off x="6204925" y="5934670"/>
            <a:ext cx="293907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KMP</a:t>
            </a:r>
            <a:endParaRPr lang="zh-TW" altLang="en-US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2268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US" altLang="zh-TW" dirty="0" smtClean="0"/>
              <a:t>Prefix-suffix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/>
          <a:lstStyle/>
          <a:p>
            <a:r>
              <a:rPr lang="en-US" altLang="zh-TW" dirty="0" smtClean="0"/>
              <a:t>Means</a:t>
            </a:r>
            <a:r>
              <a:rPr lang="zh-TW" altLang="en-US" dirty="0" smtClean="0"/>
              <a:t>「</a:t>
            </a:r>
            <a:r>
              <a:rPr lang="en-US" altLang="zh-TW" dirty="0"/>
              <a:t>Minister same prefixes and suffixes</a:t>
            </a:r>
            <a:r>
              <a:rPr lang="zh-TW" altLang="en-US" dirty="0" smtClean="0"/>
              <a:t>」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Longest : string itself . </a:t>
            </a:r>
          </a:p>
          <a:p>
            <a:pPr marL="0" indent="0">
              <a:buNone/>
            </a:pPr>
            <a:r>
              <a:rPr lang="en-US" altLang="zh-TW" dirty="0" smtClean="0"/>
              <a:t>Shortest</a:t>
            </a:r>
            <a:r>
              <a:rPr lang="zh-TW" altLang="en-US" dirty="0" smtClean="0"/>
              <a:t> 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/>
              <a:t>Empty </a:t>
            </a:r>
            <a:r>
              <a:rPr lang="en-US" altLang="zh-TW" dirty="0" smtClean="0"/>
              <a:t>string.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Example: </a:t>
            </a:r>
          </a:p>
          <a:p>
            <a:pPr marL="0" indent="0">
              <a:buNone/>
            </a:pPr>
            <a:r>
              <a:rPr lang="en-US" altLang="zh-TW" dirty="0" smtClean="0"/>
              <a:t>Pattern : </a:t>
            </a:r>
            <a:r>
              <a:rPr lang="en-US" altLang="zh-TW" dirty="0" err="1" smtClean="0"/>
              <a:t>aacbazaacb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Prefix – suffix : </a:t>
            </a:r>
            <a:r>
              <a:rPr lang="en-US" altLang="zh-TW" dirty="0" err="1" smtClean="0"/>
              <a:t>aacb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93936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3528" y="404664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B</a:t>
            </a:r>
            <a:r>
              <a:rPr lang="en-US" altLang="zh-TW" dirty="0" smtClean="0"/>
              <a:t>uild failure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196752"/>
            <a:ext cx="8229600" cy="50734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 smtClean="0"/>
              <a:t>               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Space complexity : O(n)</a:t>
            </a:r>
          </a:p>
          <a:p>
            <a:pPr marL="0" indent="0">
              <a:buNone/>
            </a:pPr>
            <a:r>
              <a:rPr lang="en-US" altLang="zh-TW" dirty="0" smtClean="0"/>
              <a:t>Time complexity : O(n)</a:t>
            </a:r>
          </a:p>
          <a:p>
            <a:pPr marL="0" indent="0">
              <a:buNone/>
            </a:pP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321563"/>
              </p:ext>
            </p:extLst>
          </p:nvPr>
        </p:nvGraphicFramePr>
        <p:xfrm>
          <a:off x="827584" y="1844824"/>
          <a:ext cx="6672060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4"/>
                <a:gridCol w="542328"/>
                <a:gridCol w="667206"/>
                <a:gridCol w="667206"/>
                <a:gridCol w="667206"/>
                <a:gridCol w="696414"/>
                <a:gridCol w="637998"/>
                <a:gridCol w="667206"/>
                <a:gridCol w="667206"/>
                <a:gridCol w="667206"/>
              </a:tblGrid>
              <a:tr h="370840">
                <a:tc>
                  <a:txBody>
                    <a:bodyPr/>
                    <a:lstStyle/>
                    <a:p>
                      <a:endParaRPr lang="en-US" altLang="zh-TW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string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338440">
                <a:tc>
                  <a:txBody>
                    <a:bodyPr/>
                    <a:lstStyle/>
                    <a:p>
                      <a:r>
                        <a:rPr lang="en-US" altLang="zh-TW" smtClean="0"/>
                        <a:t>F[i]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標題 1"/>
          <p:cNvSpPr txBox="1">
            <a:spLocks/>
          </p:cNvSpPr>
          <p:nvPr/>
        </p:nvSpPr>
        <p:spPr>
          <a:xfrm>
            <a:off x="2076251" y="1268760"/>
            <a:ext cx="749152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FF0000"/>
                </a:solidFill>
              </a:rPr>
              <a:t>i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" name="標題 1"/>
          <p:cNvSpPr txBox="1">
            <a:spLocks/>
          </p:cNvSpPr>
          <p:nvPr/>
        </p:nvSpPr>
        <p:spPr>
          <a:xfrm>
            <a:off x="1475656" y="1268760"/>
            <a:ext cx="749152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FF0000"/>
                </a:solidFill>
              </a:rPr>
              <a:t>j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0990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3528" y="404664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B</a:t>
            </a:r>
            <a:r>
              <a:rPr lang="en-US" altLang="zh-TW" dirty="0" smtClean="0"/>
              <a:t>uild failure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196752"/>
            <a:ext cx="8229600" cy="50734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 smtClean="0"/>
              <a:t>               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Space complexity : O(n)</a:t>
            </a:r>
          </a:p>
          <a:p>
            <a:pPr marL="0" indent="0">
              <a:buNone/>
            </a:pPr>
            <a:r>
              <a:rPr lang="en-US" altLang="zh-TW" dirty="0" smtClean="0"/>
              <a:t>Time complexity : O(n)</a:t>
            </a: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2795634" y="1268760"/>
            <a:ext cx="749152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FF0000"/>
                </a:solidFill>
              </a:rPr>
              <a:t>i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" name="標題 1"/>
          <p:cNvSpPr txBox="1">
            <a:spLocks/>
          </p:cNvSpPr>
          <p:nvPr/>
        </p:nvSpPr>
        <p:spPr>
          <a:xfrm>
            <a:off x="1475656" y="1268760"/>
            <a:ext cx="749152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FF0000"/>
                </a:solidFill>
              </a:rPr>
              <a:t>j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772816"/>
            <a:ext cx="6681787" cy="123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4882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3528" y="404664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B</a:t>
            </a:r>
            <a:r>
              <a:rPr lang="en-US" altLang="zh-TW" dirty="0" smtClean="0"/>
              <a:t>uild failure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196752"/>
            <a:ext cx="8229600" cy="50734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 smtClean="0"/>
              <a:t>               </a:t>
            </a:r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Space complexity : O(n)</a:t>
            </a:r>
          </a:p>
          <a:p>
            <a:pPr marL="0" indent="0">
              <a:buNone/>
            </a:pPr>
            <a:r>
              <a:rPr lang="en-US" altLang="zh-TW" dirty="0" smtClean="0"/>
              <a:t>Time complexity : O(n)</a:t>
            </a: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3491880" y="1286789"/>
            <a:ext cx="749152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FF0000"/>
                </a:solidFill>
              </a:rPr>
              <a:t>i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" name="標題 1"/>
          <p:cNvSpPr txBox="1">
            <a:spLocks/>
          </p:cNvSpPr>
          <p:nvPr/>
        </p:nvSpPr>
        <p:spPr>
          <a:xfrm>
            <a:off x="1475656" y="1268760"/>
            <a:ext cx="749152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FF0000"/>
                </a:solidFill>
              </a:rPr>
              <a:t>j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722" y="1730471"/>
            <a:ext cx="6681787" cy="123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74169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3528" y="404664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B</a:t>
            </a:r>
            <a:r>
              <a:rPr lang="en-US" altLang="zh-TW" dirty="0" smtClean="0"/>
              <a:t>uild failure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196752"/>
            <a:ext cx="8229600" cy="50734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 smtClean="0"/>
              <a:t>               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Space complexity : O(n)</a:t>
            </a:r>
          </a:p>
          <a:p>
            <a:pPr marL="0" indent="0">
              <a:buNone/>
            </a:pPr>
            <a:r>
              <a:rPr lang="en-US" altLang="zh-TW" dirty="0" smtClean="0"/>
              <a:t>Time complexity : O(n)</a:t>
            </a: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4139951" y="1273287"/>
            <a:ext cx="749152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FF0000"/>
                </a:solidFill>
              </a:rPr>
              <a:t>i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" name="標題 1"/>
          <p:cNvSpPr txBox="1">
            <a:spLocks/>
          </p:cNvSpPr>
          <p:nvPr/>
        </p:nvSpPr>
        <p:spPr>
          <a:xfrm>
            <a:off x="2123728" y="1273287"/>
            <a:ext cx="749152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FF0000"/>
                </a:solidFill>
              </a:rPr>
              <a:t>j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058" y="1811159"/>
            <a:ext cx="6681787" cy="123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45095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3528" y="404664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B</a:t>
            </a:r>
            <a:r>
              <a:rPr lang="en-US" altLang="zh-TW" dirty="0" smtClean="0"/>
              <a:t>uild failure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196752"/>
            <a:ext cx="8229600" cy="50734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 smtClean="0"/>
              <a:t>               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Space complexity : O(n)</a:t>
            </a:r>
          </a:p>
          <a:p>
            <a:pPr marL="0" indent="0">
              <a:buNone/>
            </a:pPr>
            <a:r>
              <a:rPr lang="en-US" altLang="zh-TW" dirty="0" smtClean="0"/>
              <a:t>Time complexity : O(n)</a:t>
            </a: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4139952" y="1268760"/>
            <a:ext cx="749152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FF0000"/>
                </a:solidFill>
              </a:rPr>
              <a:t>i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" name="標題 1"/>
          <p:cNvSpPr txBox="1">
            <a:spLocks/>
          </p:cNvSpPr>
          <p:nvPr/>
        </p:nvSpPr>
        <p:spPr>
          <a:xfrm>
            <a:off x="1547664" y="1268760"/>
            <a:ext cx="749152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FF0000"/>
                </a:solidFill>
              </a:rPr>
              <a:t>j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1" y="1821935"/>
            <a:ext cx="6681787" cy="123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6832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3528" y="404664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B</a:t>
            </a:r>
            <a:r>
              <a:rPr lang="en-US" altLang="zh-TW" dirty="0" smtClean="0"/>
              <a:t>uild failure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196752"/>
            <a:ext cx="8229600" cy="50734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 smtClean="0"/>
              <a:t>               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Space complexity : O(n)</a:t>
            </a:r>
          </a:p>
          <a:p>
            <a:pPr marL="0" indent="0">
              <a:buNone/>
            </a:pPr>
            <a:r>
              <a:rPr lang="en-US" altLang="zh-TW" dirty="0" smtClean="0"/>
              <a:t>Time complexity : O(n)</a:t>
            </a: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4788024" y="1286789"/>
            <a:ext cx="749152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FF0000"/>
                </a:solidFill>
              </a:rPr>
              <a:t>i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" name="標題 1"/>
          <p:cNvSpPr txBox="1">
            <a:spLocks/>
          </p:cNvSpPr>
          <p:nvPr/>
        </p:nvSpPr>
        <p:spPr>
          <a:xfrm>
            <a:off x="1547664" y="1268760"/>
            <a:ext cx="749152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FF0000"/>
                </a:solidFill>
              </a:rPr>
              <a:t>j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3" y="1832446"/>
            <a:ext cx="6681787" cy="123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56830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3528" y="404664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B</a:t>
            </a:r>
            <a:r>
              <a:rPr lang="en-US" altLang="zh-TW" dirty="0" smtClean="0"/>
              <a:t>uild failure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196752"/>
            <a:ext cx="8229600" cy="50734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 smtClean="0"/>
              <a:t>               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Space complexity : O(n)</a:t>
            </a:r>
          </a:p>
          <a:p>
            <a:pPr marL="0" indent="0">
              <a:buNone/>
            </a:pPr>
            <a:r>
              <a:rPr lang="en-US" altLang="zh-TW" dirty="0" smtClean="0"/>
              <a:t>Time complexity : O(n)</a:t>
            </a: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5476135" y="1304818"/>
            <a:ext cx="749152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FF0000"/>
                </a:solidFill>
              </a:rPr>
              <a:t>i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" name="標題 1"/>
          <p:cNvSpPr txBox="1">
            <a:spLocks/>
          </p:cNvSpPr>
          <p:nvPr/>
        </p:nvSpPr>
        <p:spPr>
          <a:xfrm>
            <a:off x="2123728" y="1268760"/>
            <a:ext cx="749152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FF0000"/>
                </a:solidFill>
              </a:rPr>
              <a:t>j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821669"/>
            <a:ext cx="6681787" cy="123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2253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3528" y="404664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B</a:t>
            </a:r>
            <a:r>
              <a:rPr lang="en-US" altLang="zh-TW" dirty="0" smtClean="0"/>
              <a:t>uild failure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196752"/>
            <a:ext cx="8229600" cy="50734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 smtClean="0"/>
              <a:t>               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Space complexity : O(n)</a:t>
            </a:r>
          </a:p>
          <a:p>
            <a:pPr marL="0" indent="0">
              <a:buNone/>
            </a:pPr>
            <a:r>
              <a:rPr lang="en-US" altLang="zh-TW" dirty="0" smtClean="0"/>
              <a:t>Time complexity : O(n)</a:t>
            </a: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6078153" y="1336349"/>
            <a:ext cx="749152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FF0000"/>
                </a:solidFill>
              </a:rPr>
              <a:t>i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" name="標題 1"/>
          <p:cNvSpPr txBox="1">
            <a:spLocks/>
          </p:cNvSpPr>
          <p:nvPr/>
        </p:nvSpPr>
        <p:spPr>
          <a:xfrm>
            <a:off x="2838858" y="1297299"/>
            <a:ext cx="749152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FF0000"/>
                </a:solidFill>
              </a:rPr>
              <a:t>j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3" y="1844824"/>
            <a:ext cx="6681787" cy="123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22208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3528" y="404664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B</a:t>
            </a:r>
            <a:r>
              <a:rPr lang="en-US" altLang="zh-TW" dirty="0" smtClean="0"/>
              <a:t>uild failure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196752"/>
            <a:ext cx="8229600" cy="50734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 smtClean="0"/>
              <a:t>               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Space complexity : O(n)</a:t>
            </a:r>
          </a:p>
          <a:p>
            <a:pPr marL="0" indent="0">
              <a:buNone/>
            </a:pPr>
            <a:r>
              <a:rPr lang="en-US" altLang="zh-TW" dirty="0" smtClean="0"/>
              <a:t>Time complexity : O(n)</a:t>
            </a: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6833320" y="1286789"/>
            <a:ext cx="749152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FF0000"/>
                </a:solidFill>
              </a:rPr>
              <a:t>i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" name="標題 1"/>
          <p:cNvSpPr txBox="1">
            <a:spLocks/>
          </p:cNvSpPr>
          <p:nvPr/>
        </p:nvSpPr>
        <p:spPr>
          <a:xfrm>
            <a:off x="3491880" y="1268760"/>
            <a:ext cx="749152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FF0000"/>
                </a:solidFill>
              </a:rPr>
              <a:t>j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146" y="1842690"/>
            <a:ext cx="6681787" cy="123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12639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US" altLang="zh-TW" dirty="0" smtClean="0"/>
              <a:t>KMP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Text : 	CABABBAKABBACABBA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Pattern : </a:t>
            </a:r>
            <a:endParaRPr lang="zh-TW" altLang="en-US" dirty="0"/>
          </a:p>
        </p:txBody>
      </p:sp>
      <p:cxnSp>
        <p:nvCxnSpPr>
          <p:cNvPr id="7" name="直線單箭頭接點 6"/>
          <p:cNvCxnSpPr/>
          <p:nvPr/>
        </p:nvCxnSpPr>
        <p:spPr>
          <a:xfrm>
            <a:off x="2267744" y="2852936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>
            <a:off x="2483768" y="692696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3284984"/>
            <a:ext cx="6681787" cy="123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8128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US" altLang="zh-TW" dirty="0" smtClean="0"/>
              <a:t>KMP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Text : 	CABABBAKABBACABBA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Pattern : </a:t>
            </a:r>
            <a:endParaRPr lang="zh-TW" altLang="en-US" dirty="0"/>
          </a:p>
        </p:txBody>
      </p:sp>
      <p:cxnSp>
        <p:nvCxnSpPr>
          <p:cNvPr id="7" name="直線單箭頭接點 6"/>
          <p:cNvCxnSpPr/>
          <p:nvPr/>
        </p:nvCxnSpPr>
        <p:spPr>
          <a:xfrm>
            <a:off x="2267744" y="2852936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>
            <a:off x="2699792" y="692696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392" y="3356962"/>
            <a:ext cx="6681787" cy="123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3867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US" altLang="zh-TW" dirty="0" smtClean="0"/>
              <a:t>KMP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Text : 	CABABBAKABBACABBA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Pattern : </a:t>
            </a:r>
            <a:endParaRPr lang="zh-TW" altLang="en-US" dirty="0"/>
          </a:p>
        </p:txBody>
      </p:sp>
      <p:cxnSp>
        <p:nvCxnSpPr>
          <p:cNvPr id="7" name="直線單箭頭接點 6"/>
          <p:cNvCxnSpPr/>
          <p:nvPr/>
        </p:nvCxnSpPr>
        <p:spPr>
          <a:xfrm>
            <a:off x="3504836" y="2873834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>
            <a:off x="3203848" y="764704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" name="直線接點 4"/>
          <p:cNvCxnSpPr/>
          <p:nvPr/>
        </p:nvCxnSpPr>
        <p:spPr>
          <a:xfrm>
            <a:off x="3347864" y="2996891"/>
            <a:ext cx="288032" cy="7194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>
            <a:off x="2267744" y="2924944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444" y="3285039"/>
            <a:ext cx="6681787" cy="123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1410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US" altLang="zh-TW" dirty="0" smtClean="0"/>
              <a:t>KMP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Text : 	CABABBAKABBACABBA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Pattern : </a:t>
            </a:r>
            <a:endParaRPr lang="zh-TW" altLang="en-US" dirty="0"/>
          </a:p>
        </p:txBody>
      </p:sp>
      <p:cxnSp>
        <p:nvCxnSpPr>
          <p:cNvPr id="9" name="直線單箭頭接點 8"/>
          <p:cNvCxnSpPr/>
          <p:nvPr/>
        </p:nvCxnSpPr>
        <p:spPr>
          <a:xfrm>
            <a:off x="3203848" y="764704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>
            <a:off x="2267744" y="2924944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313" y="3356992"/>
            <a:ext cx="6681787" cy="123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4116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US" altLang="zh-TW" dirty="0" smtClean="0"/>
              <a:t>KMP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Text : 	CABABBAKABBACABBA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Pattern : </a:t>
            </a:r>
            <a:endParaRPr lang="zh-TW" altLang="en-US" dirty="0"/>
          </a:p>
        </p:txBody>
      </p:sp>
      <p:cxnSp>
        <p:nvCxnSpPr>
          <p:cNvPr id="9" name="直線單箭頭接點 8"/>
          <p:cNvCxnSpPr/>
          <p:nvPr/>
        </p:nvCxnSpPr>
        <p:spPr>
          <a:xfrm>
            <a:off x="4067944" y="764704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>
            <a:off x="4932040" y="2924944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409042"/>
            <a:ext cx="6681787" cy="123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33888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US" altLang="zh-TW" dirty="0" smtClean="0"/>
              <a:t>KMP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Text : 	CABABBAKABBACABBA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Pattern : </a:t>
            </a:r>
            <a:endParaRPr lang="zh-TW" altLang="en-US" dirty="0"/>
          </a:p>
        </p:txBody>
      </p:sp>
      <p:cxnSp>
        <p:nvCxnSpPr>
          <p:cNvPr id="9" name="直線單箭頭接點 8"/>
          <p:cNvCxnSpPr/>
          <p:nvPr/>
        </p:nvCxnSpPr>
        <p:spPr>
          <a:xfrm>
            <a:off x="4067944" y="792613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>
            <a:off x="2339752" y="3032774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409042"/>
            <a:ext cx="6681787" cy="123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6317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US" altLang="zh-TW" dirty="0" smtClean="0"/>
              <a:t>KMP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Text : 	CABABBAKABBACABBA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Pattern : </a:t>
            </a:r>
            <a:endParaRPr lang="zh-TW" altLang="en-US" dirty="0"/>
          </a:p>
        </p:txBody>
      </p:sp>
      <p:cxnSp>
        <p:nvCxnSpPr>
          <p:cNvPr id="9" name="直線單箭頭接點 8"/>
          <p:cNvCxnSpPr/>
          <p:nvPr/>
        </p:nvCxnSpPr>
        <p:spPr>
          <a:xfrm>
            <a:off x="4283968" y="764704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409042"/>
            <a:ext cx="6681787" cy="123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1" name="直線單箭頭接點 10"/>
          <p:cNvCxnSpPr/>
          <p:nvPr/>
        </p:nvCxnSpPr>
        <p:spPr>
          <a:xfrm>
            <a:off x="2304166" y="3032774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6794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US" altLang="zh-TW" dirty="0" smtClean="0"/>
              <a:t>KMP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80728"/>
                <a:ext cx="8229600" cy="514543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Text : 	CABABBAKABBACABBA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Pattern : 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Time complexity :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80728"/>
                <a:ext cx="8229600" cy="5145435"/>
              </a:xfrm>
              <a:blipFill rotWithShape="1">
                <a:blip r:embed="rId2"/>
                <a:stretch>
                  <a:fillRect l="-1852" t="-154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線單箭頭接點 8"/>
          <p:cNvCxnSpPr/>
          <p:nvPr/>
        </p:nvCxnSpPr>
        <p:spPr>
          <a:xfrm>
            <a:off x="4283968" y="824145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1" y="3409042"/>
            <a:ext cx="6681787" cy="123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1" name="直線單箭頭接點 10"/>
          <p:cNvCxnSpPr/>
          <p:nvPr/>
        </p:nvCxnSpPr>
        <p:spPr>
          <a:xfrm>
            <a:off x="7596336" y="3049002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3362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r>
              <a:rPr lang="en-US" altLang="zh-TW" dirty="0" smtClean="0"/>
              <a:t>KMP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Text :		ABXABCABCABY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Pattern:</a:t>
            </a:r>
          </a:p>
          <a:p>
            <a:pPr marL="0" indent="0">
              <a:buNone/>
            </a:pP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306368"/>
              </p:ext>
            </p:extLst>
          </p:nvPr>
        </p:nvGraphicFramePr>
        <p:xfrm>
          <a:off x="899592" y="3645024"/>
          <a:ext cx="6095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/>
                <a:gridCol w="870857"/>
                <a:gridCol w="870857"/>
                <a:gridCol w="870857"/>
                <a:gridCol w="870857"/>
                <a:gridCol w="870857"/>
                <a:gridCol w="870857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String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Y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F[i]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8343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Two-Dimensional Pattern </a:t>
            </a:r>
            <a:r>
              <a:rPr lang="en-US" altLang="zh-TW" dirty="0" smtClean="0"/>
              <a:t>Matching</a:t>
            </a:r>
            <a:br>
              <a:rPr lang="en-US" altLang="zh-TW" dirty="0" smtClean="0"/>
            </a:b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323528" y="1052736"/>
                <a:ext cx="8229600" cy="5102027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altLang="zh-TW" dirty="0"/>
                  <a:t>Given a pattern which is two-dimensional array of symbols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,1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and the text is a second array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, 1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In this case the problem is to determine where, if anywhere, the pattern occurs as a subarray of the text</a:t>
                </a:r>
                <a:r>
                  <a:rPr lang="en-US" altLang="zh-TW" dirty="0" smtClean="0"/>
                  <a:t>.</a:t>
                </a:r>
              </a:p>
              <a:p>
                <a:endParaRPr lang="en-US" altLang="zh-TW" dirty="0"/>
              </a:p>
              <a:p>
                <a:r>
                  <a:rPr lang="en-US" altLang="zh-TW" dirty="0" smtClean="0"/>
                  <a:t>Row-matching</a:t>
                </a:r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r>
                  <a:rPr lang="en-US" altLang="zh-TW" dirty="0" smtClean="0"/>
                  <a:t>Column-matching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1052736"/>
                <a:ext cx="8229600" cy="5102027"/>
              </a:xfrm>
              <a:blipFill rotWithShape="1">
                <a:blip r:embed="rId2"/>
                <a:stretch>
                  <a:fillRect l="-1704" t="-2389" r="-18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1875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en-US" altLang="zh-TW" dirty="0"/>
              <a:t>Row-matching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1196752"/>
                <a:ext cx="8435280" cy="4929411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altLang="zh-TW" dirty="0" smtClean="0"/>
                  <a:t>Cosider each row of the pattern as a separate keyword and construct a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pattern matching       machine</a:t>
                </a:r>
                <a:r>
                  <a:rPr lang="en-US" altLang="zh-TW" dirty="0" smtClean="0"/>
                  <a:t>.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pattern </a:t>
                </a:r>
                <a:r>
                  <a:rPr lang="en-US" altLang="zh-TW" dirty="0" smtClean="0"/>
                  <a:t>matching machine : construct a </a:t>
                </a:r>
                <a:r>
                  <a:rPr lang="en-US" altLang="zh-TW" dirty="0" err="1" smtClean="0">
                    <a:solidFill>
                      <a:srgbClr val="FF0000"/>
                    </a:solidFill>
                  </a:rPr>
                  <a:t>goto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 function</a:t>
                </a:r>
                <a:r>
                  <a:rPr lang="en-US" altLang="zh-TW" dirty="0" smtClean="0"/>
                  <a:t> and a failure function</a:t>
                </a: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/>
                  <a:t>Time complexity for </a:t>
                </a:r>
                <a:r>
                  <a:rPr lang="en-US" altLang="zh-TW" dirty="0" smtClean="0"/>
                  <a:t>pattern matching machine</a:t>
                </a:r>
                <a:r>
                  <a:rPr lang="en-US" altLang="zh-TW" dirty="0"/>
                  <a:t>: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/>
                      </a:rPr>
                      <m:t> 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altLang="zh-TW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Time complexity for terminal state :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/>
                          </a:rPr>
                          <m:t>𝑚</m:t>
                        </m:r>
                      </m:e>
                      <m:sup>
                        <m:r>
                          <a:rPr lang="en-US" altLang="zh-TW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dirty="0"/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1196752"/>
                <a:ext cx="8435280" cy="4929411"/>
              </a:xfrm>
              <a:blipFill rotWithShape="1">
                <a:blip r:embed="rId2"/>
                <a:stretch>
                  <a:fillRect l="-1662" t="-2472" r="-1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404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9508" y="1171617"/>
            <a:ext cx="6486525" cy="364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1476194" y="1556792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2627784" y="1500561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4860032" y="1528333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3779912" y="1500561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4785950" y="2652599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7047379" y="1529589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3681507" y="3798788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5954080" y="2652599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7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5944821" y="1500561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7033964" y="2626323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18" name="內容版面配置區 17"/>
          <p:cNvSpPr txBox="1">
            <a:spLocks noGrp="1"/>
          </p:cNvSpPr>
          <p:nvPr>
            <p:ph idx="1"/>
          </p:nvPr>
        </p:nvSpPr>
        <p:spPr>
          <a:xfrm>
            <a:off x="0" y="4437112"/>
            <a:ext cx="9036496" cy="2357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zh-TW" dirty="0" smtClean="0"/>
              <a:t>p1 =</a:t>
            </a:r>
            <a:r>
              <a:rPr lang="en-US" altLang="zh-TW" dirty="0" err="1" smtClean="0"/>
              <a:t>aabba</a:t>
            </a:r>
            <a:r>
              <a:rPr lang="en-US" altLang="zh-TW" dirty="0" smtClean="0"/>
              <a:t>  p2 =</a:t>
            </a:r>
            <a:r>
              <a:rPr lang="en-US" altLang="zh-TW" dirty="0" err="1" smtClean="0"/>
              <a:t>aaabb</a:t>
            </a:r>
            <a:r>
              <a:rPr lang="en-US" altLang="zh-TW" dirty="0" smtClean="0"/>
              <a:t> p3 =</a:t>
            </a:r>
            <a:r>
              <a:rPr lang="en-US" altLang="zh-TW" dirty="0" err="1" smtClean="0"/>
              <a:t>ababa</a:t>
            </a:r>
            <a:r>
              <a:rPr lang="en-US" altLang="zh-TW" dirty="0" smtClean="0"/>
              <a:t> p4=</a:t>
            </a:r>
            <a:r>
              <a:rPr lang="en-US" altLang="zh-TW" dirty="0" err="1" smtClean="0"/>
              <a:t>aabba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/>
              <a:t>p</a:t>
            </a:r>
            <a:r>
              <a:rPr lang="en-US" altLang="zh-TW" dirty="0" smtClean="0"/>
              <a:t>5= </a:t>
            </a:r>
            <a:r>
              <a:rPr lang="en-US" altLang="zh-TW" dirty="0" err="1" smtClean="0"/>
              <a:t>aaabb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4731393" y="38610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10</a:t>
            </a:r>
            <a:endParaRPr lang="zh-TW" altLang="en-US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5879485" y="379721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11</a:t>
            </a:r>
            <a:endParaRPr lang="zh-TW" altLang="en-US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6961608" y="379721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12</a:t>
            </a:r>
            <a:endParaRPr lang="zh-TW" altLang="en-US" dirty="0"/>
          </a:p>
        </p:txBody>
      </p:sp>
      <p:cxnSp>
        <p:nvCxnSpPr>
          <p:cNvPr id="22" name="直線單箭頭接點 21"/>
          <p:cNvCxnSpPr/>
          <p:nvPr/>
        </p:nvCxnSpPr>
        <p:spPr>
          <a:xfrm>
            <a:off x="1907704" y="1630679"/>
            <a:ext cx="61852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>
            <a:off x="2983426" y="1685227"/>
            <a:ext cx="61852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>
            <a:off x="4139952" y="1685227"/>
            <a:ext cx="50405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>
            <a:off x="5220072" y="1685227"/>
            <a:ext cx="57606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5" name="直線單箭頭接點 1024"/>
          <p:cNvCxnSpPr/>
          <p:nvPr/>
        </p:nvCxnSpPr>
        <p:spPr>
          <a:xfrm>
            <a:off x="6318327" y="1685227"/>
            <a:ext cx="57366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8" name="直線單箭頭接點 1027"/>
          <p:cNvCxnSpPr/>
          <p:nvPr/>
        </p:nvCxnSpPr>
        <p:spPr>
          <a:xfrm>
            <a:off x="5220072" y="2708920"/>
            <a:ext cx="57606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4" name="直線單箭頭接點 1033"/>
          <p:cNvCxnSpPr/>
          <p:nvPr/>
        </p:nvCxnSpPr>
        <p:spPr>
          <a:xfrm>
            <a:off x="4139952" y="3981883"/>
            <a:ext cx="50405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6" name="直線單箭頭接點 1035"/>
          <p:cNvCxnSpPr/>
          <p:nvPr/>
        </p:nvCxnSpPr>
        <p:spPr>
          <a:xfrm>
            <a:off x="6298189" y="2708920"/>
            <a:ext cx="55792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/>
          <p:nvPr/>
        </p:nvCxnSpPr>
        <p:spPr>
          <a:xfrm>
            <a:off x="5217578" y="3981883"/>
            <a:ext cx="50405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/>
          <p:nvPr/>
        </p:nvCxnSpPr>
        <p:spPr>
          <a:xfrm>
            <a:off x="6387939" y="3975090"/>
            <a:ext cx="50405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2" name="直線接點 1051"/>
          <p:cNvCxnSpPr/>
          <p:nvPr/>
        </p:nvCxnSpPr>
        <p:spPr>
          <a:xfrm>
            <a:off x="2771800" y="1964171"/>
            <a:ext cx="0" cy="208154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4" name="直線單箭頭接點 1053"/>
          <p:cNvCxnSpPr/>
          <p:nvPr/>
        </p:nvCxnSpPr>
        <p:spPr>
          <a:xfrm>
            <a:off x="2771800" y="4045714"/>
            <a:ext cx="83014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直線接點 31"/>
          <p:cNvCxnSpPr/>
          <p:nvPr/>
        </p:nvCxnSpPr>
        <p:spPr>
          <a:xfrm>
            <a:off x="3923928" y="1964171"/>
            <a:ext cx="0" cy="8468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/>
          <p:nvPr/>
        </p:nvCxnSpPr>
        <p:spPr>
          <a:xfrm>
            <a:off x="3923928" y="2837265"/>
            <a:ext cx="72008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文字方塊 41"/>
          <p:cNvSpPr txBox="1"/>
          <p:nvPr/>
        </p:nvSpPr>
        <p:spPr>
          <a:xfrm>
            <a:off x="2008961" y="1220252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3145050" y="122550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4162258" y="238758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4162258" y="3491716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6492330" y="3491716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6457524" y="1242325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4206277" y="119449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963014" y="144601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5281570" y="119954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86" name="文字方塊 85"/>
          <p:cNvSpPr txBox="1"/>
          <p:nvPr/>
        </p:nvSpPr>
        <p:spPr>
          <a:xfrm>
            <a:off x="5281570" y="220291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87" name="文字方塊 86"/>
          <p:cNvSpPr txBox="1"/>
          <p:nvPr/>
        </p:nvSpPr>
        <p:spPr>
          <a:xfrm>
            <a:off x="6468565" y="2202914"/>
            <a:ext cx="273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88" name="文字方塊 87"/>
          <p:cNvSpPr txBox="1"/>
          <p:nvPr/>
        </p:nvSpPr>
        <p:spPr>
          <a:xfrm>
            <a:off x="5279076" y="350379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89" name="文字方塊 88"/>
          <p:cNvSpPr txBox="1"/>
          <p:nvPr/>
        </p:nvSpPr>
        <p:spPr>
          <a:xfrm>
            <a:off x="2915816" y="34294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graphicFrame>
        <p:nvGraphicFramePr>
          <p:cNvPr id="48" name="表格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209145"/>
              </p:ext>
            </p:extLst>
          </p:nvPr>
        </p:nvGraphicFramePr>
        <p:xfrm>
          <a:off x="865609" y="5733256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923"/>
                <a:gridCol w="468923"/>
                <a:gridCol w="468923"/>
                <a:gridCol w="468923"/>
                <a:gridCol w="468923"/>
                <a:gridCol w="468923"/>
                <a:gridCol w="468923"/>
                <a:gridCol w="468923"/>
                <a:gridCol w="468923"/>
                <a:gridCol w="468923"/>
                <a:gridCol w="468923"/>
                <a:gridCol w="468923"/>
                <a:gridCol w="468923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12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F[i]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" name="直線單箭頭接點 2"/>
          <p:cNvCxnSpPr/>
          <p:nvPr/>
        </p:nvCxnSpPr>
        <p:spPr>
          <a:xfrm flipH="1">
            <a:off x="7452320" y="1052736"/>
            <a:ext cx="303713" cy="35218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/>
          <p:nvPr/>
        </p:nvCxnSpPr>
        <p:spPr>
          <a:xfrm flipH="1">
            <a:off x="7442294" y="2220064"/>
            <a:ext cx="303713" cy="35218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/>
          <p:nvPr/>
        </p:nvCxnSpPr>
        <p:spPr>
          <a:xfrm flipH="1">
            <a:off x="7452320" y="3468000"/>
            <a:ext cx="303713" cy="35218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204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US" altLang="zh-TW" dirty="0" smtClean="0"/>
              <a:t>Column-matching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96752"/>
                <a:ext cx="8229600" cy="49294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Determine whether or not rows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TW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dirty="0" smtClean="0"/>
                  <a:t>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occur immediately above row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in order to say whether or not the complete pattern is a subarray of the text.</a:t>
                </a:r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Method : using </a:t>
                </a:r>
                <a:r>
                  <a:rPr lang="en-US" altLang="zh-TW" dirty="0"/>
                  <a:t>vertical </a:t>
                </a:r>
                <a:r>
                  <a:rPr lang="en-US" altLang="zh-TW" dirty="0" smtClean="0"/>
                  <a:t>KMP algorithm 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96752"/>
                <a:ext cx="8229600" cy="4929411"/>
              </a:xfrm>
              <a:blipFill rotWithShape="1">
                <a:blip r:embed="rId2"/>
                <a:stretch>
                  <a:fillRect l="-1852" t="-148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2401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0"/>
            <a:ext cx="8712968" cy="6453336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p1 =</a:t>
            </a:r>
            <a:r>
              <a:rPr lang="en-US" altLang="zh-TW" dirty="0" err="1"/>
              <a:t>aabba</a:t>
            </a:r>
            <a:r>
              <a:rPr lang="en-US" altLang="zh-TW" dirty="0"/>
              <a:t>  p2 =</a:t>
            </a:r>
            <a:r>
              <a:rPr lang="en-US" altLang="zh-TW" dirty="0" err="1"/>
              <a:t>aaabb</a:t>
            </a:r>
            <a:r>
              <a:rPr lang="en-US" altLang="zh-TW" dirty="0"/>
              <a:t> p3 =</a:t>
            </a:r>
            <a:r>
              <a:rPr lang="en-US" altLang="zh-TW" dirty="0" err="1"/>
              <a:t>ababa</a:t>
            </a:r>
            <a:r>
              <a:rPr lang="en-US" altLang="zh-TW" dirty="0"/>
              <a:t> p4=</a:t>
            </a:r>
            <a:r>
              <a:rPr lang="en-US" altLang="zh-TW" dirty="0" err="1"/>
              <a:t>aabba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p</a:t>
            </a:r>
            <a:r>
              <a:rPr lang="en-US" altLang="zh-TW" dirty="0" smtClean="0"/>
              <a:t>5 = </a:t>
            </a:r>
            <a:r>
              <a:rPr lang="en-US" altLang="zh-TW" dirty="0" err="1" smtClean="0"/>
              <a:t>aaabb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Give number to each row , and p1=p4 , p5=p2</a:t>
            </a:r>
          </a:p>
          <a:p>
            <a:pPr marL="0" indent="0">
              <a:buNone/>
            </a:pPr>
            <a:r>
              <a:rPr lang="en-US" altLang="zh-TW" dirty="0" smtClean="0"/>
              <a:t>So we give p1=1 p2=2 p3=3 p4=1 p5=2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And give the failure function t with example.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166672"/>
              </p:ext>
            </p:extLst>
          </p:nvPr>
        </p:nvGraphicFramePr>
        <p:xfrm>
          <a:off x="611560" y="3861048"/>
          <a:ext cx="6096000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1390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Index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p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1505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552" y="764704"/>
            <a:ext cx="8147248" cy="5361459"/>
          </a:xfrm>
        </p:spPr>
        <p:txBody>
          <a:bodyPr/>
          <a:lstStyle/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139" y="111592"/>
            <a:ext cx="6228184" cy="447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2318491" y="2348880"/>
                <a:ext cx="7956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>
                    <a:solidFill>
                      <a:srgbClr val="FF0000"/>
                    </a:solidFill>
                  </a:rPr>
                  <a:t>row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8491" y="2348880"/>
                <a:ext cx="795602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6107" t="-81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/>
          <p:cNvSpPr txBox="1"/>
          <p:nvPr/>
        </p:nvSpPr>
        <p:spPr>
          <a:xfrm>
            <a:off x="4139952" y="2348880"/>
            <a:ext cx="549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(</a:t>
            </a:r>
            <a:r>
              <a:rPr lang="en-US" altLang="zh-TW" dirty="0" err="1" smtClean="0">
                <a:solidFill>
                  <a:srgbClr val="FF0000"/>
                </a:solidFill>
              </a:rPr>
              <a:t>j,k</a:t>
            </a:r>
            <a:r>
              <a:rPr lang="en-US" altLang="zh-TW" dirty="0" smtClean="0">
                <a:solidFill>
                  <a:srgbClr val="FF0000"/>
                </a:solidFill>
              </a:rPr>
              <a:t>)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123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graphicFrame>
        <p:nvGraphicFramePr>
          <p:cNvPr id="9" name="內容版面配置區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1738889"/>
              </p:ext>
            </p:extLst>
          </p:nvPr>
        </p:nvGraphicFramePr>
        <p:xfrm>
          <a:off x="457201" y="1772816"/>
          <a:ext cx="4258815" cy="35425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1763"/>
                <a:gridCol w="851763"/>
                <a:gridCol w="851763"/>
                <a:gridCol w="851763"/>
                <a:gridCol w="851763"/>
              </a:tblGrid>
              <a:tr h="58178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74020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</a:tr>
              <a:tr h="74020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</a:tr>
              <a:tr h="74020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</a:tr>
              <a:tr h="74020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457792"/>
              </p:ext>
            </p:extLst>
          </p:nvPr>
        </p:nvGraphicFramePr>
        <p:xfrm>
          <a:off x="5724128" y="2780928"/>
          <a:ext cx="1991544" cy="13681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5772"/>
                <a:gridCol w="995772"/>
              </a:tblGrid>
              <a:tr h="68407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68407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0485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Time complexity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52736"/>
                <a:ext cx="8229600" cy="507342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Calculation of the rows </a:t>
                </a:r>
                <a14:m>
                  <m:oMath xmlns:m="http://schemas.openxmlformats.org/officeDocument/2006/math">
                    <m:r>
                      <a:rPr lang="en-US" altLang="zh-TW" dirty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b="0" i="0" dirty="0" smtClean="0">
                        <a:latin typeface="Cambria Math"/>
                      </a:rPr>
                      <m:t>and</m:t>
                    </m:r>
                    <m:r>
                      <a:rPr lang="en-US" altLang="zh-TW" b="0" i="0" dirty="0" smtClean="0">
                        <a:latin typeface="Cambria Math"/>
                      </a:rPr>
                      <m:t>  </m:t>
                    </m:r>
                    <m:r>
                      <m:rPr>
                        <m:sty m:val="p"/>
                      </m:rPr>
                      <a:rPr lang="en-US" altLang="zh-TW" b="0" i="0" dirty="0" smtClean="0">
                        <a:latin typeface="Cambria Math"/>
                      </a:rPr>
                      <m:t>failure</m:t>
                    </m:r>
                    <m:r>
                      <a:rPr lang="en-US" altLang="zh-TW" b="0" i="0" dirty="0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b="0" i="0" dirty="0" smtClean="0">
                        <a:latin typeface="Cambria Math"/>
                      </a:rPr>
                      <m:t>function</m:t>
                    </m:r>
                    <m:r>
                      <a:rPr lang="en-US" altLang="zh-TW" b="0" i="0" dirty="0" smtClean="0">
                        <a:latin typeface="Cambria Math"/>
                      </a:rPr>
                      <m:t> : 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altLang="zh-TW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Row matching :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𝑚</m:t>
                        </m:r>
                      </m:e>
                      <m:sup>
                        <m:r>
                          <a:rPr lang="en-US" altLang="zh-TW" i="1">
                            <a:latin typeface="Cambria Math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TW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/>
                          </a:rPr>
                          <m:t>+</m:t>
                        </m:r>
                        <m:r>
                          <a:rPr lang="en-US" altLang="zh-TW" i="1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altLang="zh-TW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Column matching :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/>
                          </a:rPr>
                          <m:t>𝑚</m:t>
                        </m:r>
                      </m:e>
                      <m:sup>
                        <m:r>
                          <a:rPr lang="en-US" altLang="zh-TW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/>
                      </a:rPr>
                      <m:t>+</m:t>
                    </m:r>
                    <m:r>
                      <a:rPr lang="en-US" altLang="zh-TW" b="0" i="1" smtClean="0">
                        <a:latin typeface="Cambria Math"/>
                      </a:rPr>
                      <m:t>𝑚𝑛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/>
                  <a:t> =&gt;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/>
                          </a:rPr>
                          <m:t>𝑚</m:t>
                        </m:r>
                      </m:e>
                      <m:sup>
                        <m:r>
                          <a:rPr lang="en-US" altLang="zh-TW" i="1">
                            <a:latin typeface="Cambria Math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TW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/>
                          </a:rPr>
                          <m:t>+</m:t>
                        </m:r>
                        <m:r>
                          <a:rPr lang="en-US" altLang="zh-TW" i="1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altLang="zh-TW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Total :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/>
                          </a:rPr>
                          <m:t>𝑚</m:t>
                        </m:r>
                      </m:e>
                      <m:sup>
                        <m:r>
                          <a:rPr lang="en-US" altLang="zh-TW" i="1">
                            <a:latin typeface="Cambria Math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TW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/>
                          </a:rPr>
                          <m:t>+</m:t>
                        </m:r>
                        <m:r>
                          <a:rPr lang="en-US" altLang="zh-TW" i="1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altLang="zh-TW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zh-TW" altLang="en-US" dirty="0"/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52736"/>
                <a:ext cx="8229600" cy="5073427"/>
              </a:xfrm>
              <a:blipFill rotWithShape="1">
                <a:blip r:embed="rId2"/>
                <a:stretch>
                  <a:fillRect l="-1852" t="-14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3231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852936"/>
            <a:ext cx="8229600" cy="3273227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			</a:t>
            </a:r>
            <a:r>
              <a:rPr lang="zh-TW" altLang="en-US" dirty="0" smtClean="0"/>
              <a:t>謝謝聆聽</a:t>
            </a:r>
            <a:r>
              <a:rPr lang="en-US" altLang="zh-TW" dirty="0" smtClean="0"/>
              <a:t>!!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913874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332656"/>
                <a:ext cx="8229600" cy="579350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TW" u="sng" dirty="0" smtClean="0"/>
                  <a:t>Terminal machine</a:t>
                </a:r>
              </a:p>
              <a:p>
                <a:pPr marL="0" indent="0">
                  <a:buNone/>
                </a:pPr>
                <a:r>
                  <a:rPr lang="pl-PL" altLang="zh-TW" dirty="0" smtClean="0"/>
                  <a:t>for </a:t>
                </a:r>
                <a:r>
                  <a:rPr lang="pl-PL" altLang="zh-TW" b="1" dirty="0"/>
                  <a:t>j = I to m do</a:t>
                </a:r>
              </a:p>
              <a:p>
                <a:pPr marL="0" indent="0">
                  <a:buNone/>
                </a:pPr>
                <a:r>
                  <a:rPr lang="en-US" altLang="zh-TW" b="1" dirty="0"/>
                  <a:t>begin </a:t>
                </a:r>
                <a:r>
                  <a:rPr lang="en-US" altLang="zh-TW" dirty="0"/>
                  <a:t>state 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   0</a:t>
                </a:r>
                <a:r>
                  <a:rPr lang="en-US" altLang="zh-TW" dirty="0"/>
                  <a:t>;</a:t>
                </a:r>
              </a:p>
              <a:p>
                <a:pPr marL="0" indent="0">
                  <a:buNone/>
                </a:pPr>
                <a:r>
                  <a:rPr lang="en-US" altLang="zh-TW" b="1" dirty="0" smtClean="0"/>
                  <a:t>	For</a:t>
                </a:r>
                <a:r>
                  <a:rPr lang="zh-TW" altLang="en-US" b="1" dirty="0" smtClean="0"/>
                  <a:t> </a:t>
                </a:r>
                <a:r>
                  <a:rPr lang="en-US" altLang="zh-TW" b="1" dirty="0" smtClean="0"/>
                  <a:t>k </a:t>
                </a:r>
                <a:r>
                  <a:rPr lang="en-US" altLang="zh-TW" b="1" dirty="0"/>
                  <a:t>=1 </a:t>
                </a:r>
                <a:r>
                  <a:rPr lang="en-US" altLang="zh-TW" b="1" dirty="0" smtClean="0"/>
                  <a:t>to</a:t>
                </a:r>
                <a:r>
                  <a:rPr lang="zh-TW" altLang="en-US" b="1" dirty="0" smtClean="0"/>
                  <a:t> </a:t>
                </a:r>
                <a:r>
                  <a:rPr lang="en-US" altLang="zh-TW" b="1" dirty="0" smtClean="0"/>
                  <a:t>m</a:t>
                </a:r>
                <a:r>
                  <a:rPr lang="zh-TW" altLang="en-US" b="1" dirty="0" smtClean="0"/>
                  <a:t> </a:t>
                </a:r>
                <a:r>
                  <a:rPr lang="en-US" altLang="zh-TW" b="1" dirty="0" smtClean="0"/>
                  <a:t>do</a:t>
                </a:r>
                <a:endParaRPr lang="en-US" altLang="zh-TW" b="1" dirty="0"/>
              </a:p>
              <a:p>
                <a:pPr marL="0" indent="0">
                  <a:buNone/>
                </a:pPr>
                <a:r>
                  <a:rPr lang="en-US" altLang="zh-TW" b="1" dirty="0" smtClean="0"/>
                  <a:t>	begin </a:t>
                </a:r>
                <a:r>
                  <a:rPr lang="en-US" altLang="zh-TW" dirty="0"/>
                  <a:t>read x; </a:t>
                </a:r>
                <a:r>
                  <a:rPr lang="en-US" altLang="zh-TW" b="1" dirty="0"/>
                  <a:t>comment x </a:t>
                </a:r>
                <a:r>
                  <a:rPr lang="en-US" altLang="zh-TW" b="1" dirty="0" smtClean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1" i="1" smtClean="0">
                            <a:latin typeface="Cambria Math"/>
                          </a:rPr>
                          <m:t>𝒇</m:t>
                        </m:r>
                      </m:e>
                      <m:sub>
                        <m:r>
                          <a:rPr lang="en-US" altLang="zh-TW" b="1" i="1" smtClean="0">
                            <a:latin typeface="Cambria Math"/>
                          </a:rPr>
                          <m:t>𝒋𝒌</m:t>
                        </m:r>
                      </m:sub>
                    </m:sSub>
                  </m:oMath>
                </a14:m>
                <a:r>
                  <a:rPr lang="en-US" altLang="zh-TW" b="1" dirty="0" smtClean="0"/>
                  <a:t>;</a:t>
                </a:r>
                <a:endParaRPr lang="en-US" altLang="zh-TW" b="1" dirty="0"/>
              </a:p>
              <a:p>
                <a:pPr marL="0" indent="0">
                  <a:buNone/>
                </a:pPr>
                <a:r>
                  <a:rPr lang="en-US" altLang="zh-TW" b="1" dirty="0" smtClean="0"/>
                  <a:t>	While</a:t>
                </a:r>
                <a:r>
                  <a:rPr lang="zh-TW" altLang="en-US" b="1" dirty="0" smtClean="0"/>
                  <a:t> </a:t>
                </a:r>
                <a:r>
                  <a:rPr lang="en-US" altLang="zh-TW" b="1" dirty="0" smtClean="0"/>
                  <a:t>g(state</a:t>
                </a:r>
                <a:r>
                  <a:rPr lang="en-US" altLang="zh-TW" b="1" dirty="0"/>
                  <a:t>, x) = fail do state </a:t>
                </a:r>
                <a:r>
                  <a:rPr lang="en-US" altLang="zh-TW" b="1" dirty="0" smtClean="0"/>
                  <a:t>     f(</a:t>
                </a:r>
                <a:r>
                  <a:rPr lang="en-US" altLang="zh-TW" dirty="0" smtClean="0"/>
                  <a:t>state</a:t>
                </a:r>
                <a:r>
                  <a:rPr lang="en-US" altLang="zh-TW" dirty="0"/>
                  <a:t>);</a:t>
                </a:r>
              </a:p>
              <a:p>
                <a:pPr marL="0" indent="0">
                  <a:buNone/>
                </a:pPr>
                <a:r>
                  <a:rPr lang="en-US" altLang="zh-TW" b="1" dirty="0" smtClean="0"/>
                  <a:t>	state </a:t>
                </a:r>
                <a:r>
                  <a:rPr lang="en-US" altLang="zh-TW" b="1" dirty="0"/>
                  <a:t> </a:t>
                </a:r>
                <a:r>
                  <a:rPr lang="en-US" altLang="zh-TW" b="1" dirty="0" smtClean="0"/>
                  <a:t>     g(state</a:t>
                </a:r>
                <a:r>
                  <a:rPr lang="en-US" altLang="zh-TW" b="1" dirty="0"/>
                  <a:t>, x);</a:t>
                </a:r>
              </a:p>
              <a:p>
                <a:pPr marL="0" indent="0">
                  <a:buNone/>
                </a:pPr>
                <a:r>
                  <a:rPr lang="en-US" altLang="zh-TW" b="1" dirty="0" smtClean="0"/>
                  <a:t>	if </a:t>
                </a:r>
                <a:r>
                  <a:rPr lang="en-US" altLang="zh-TW" b="1" dirty="0"/>
                  <a:t>terminal (state) then </a:t>
                </a:r>
                <a:r>
                  <a:rPr lang="en-US" altLang="zh-TW" dirty="0"/>
                  <a:t>print row </a:t>
                </a:r>
                <a:r>
                  <a:rPr lang="en-US" altLang="zh-TW" b="1" dirty="0"/>
                  <a:t>(state) fi</a:t>
                </a:r>
              </a:p>
              <a:p>
                <a:pPr marL="0" indent="0">
                  <a:buNone/>
                </a:pPr>
                <a:r>
                  <a:rPr lang="en-US" altLang="zh-TW" b="1" dirty="0"/>
                  <a:t>end</a:t>
                </a:r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32656"/>
                <a:ext cx="8229600" cy="5793507"/>
              </a:xfrm>
              <a:blipFill rotWithShape="1">
                <a:blip r:embed="rId2"/>
                <a:stretch>
                  <a:fillRect l="-1852" t="-136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單箭頭接點 4"/>
          <p:cNvCxnSpPr/>
          <p:nvPr/>
        </p:nvCxnSpPr>
        <p:spPr>
          <a:xfrm flipH="1">
            <a:off x="6588224" y="3573016"/>
            <a:ext cx="43204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 flipH="1">
            <a:off x="2303748" y="4221088"/>
            <a:ext cx="576064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 flipH="1">
            <a:off x="2411760" y="1772816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90923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TW" u="sng" dirty="0" smtClean="0"/>
              <a:t>Column-matching terminal</a:t>
            </a:r>
            <a:endParaRPr lang="zh-TW" altLang="en-US" u="sng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/>
          <a:lstStyle/>
          <a:p>
            <a:pPr marL="0" indent="0">
              <a:buNone/>
            </a:pPr>
            <a:r>
              <a:rPr lang="en-US" altLang="zh-TW" b="1" dirty="0"/>
              <a:t>if terminal (state)</a:t>
            </a:r>
          </a:p>
          <a:p>
            <a:pPr marL="0" indent="0">
              <a:buNone/>
            </a:pPr>
            <a:r>
              <a:rPr lang="en-US" altLang="zh-TW" b="1" dirty="0"/>
              <a:t>then </a:t>
            </a:r>
            <a:r>
              <a:rPr lang="en-US" altLang="zh-TW" dirty="0" err="1"/>
              <a:t>i</a:t>
            </a:r>
            <a:r>
              <a:rPr lang="en-US" altLang="zh-TW" dirty="0"/>
              <a:t> : </a:t>
            </a:r>
            <a:r>
              <a:rPr lang="en-US" altLang="zh-TW" dirty="0" smtClean="0"/>
              <a:t>=a[k];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b="1" dirty="0" smtClean="0"/>
              <a:t>	while </a:t>
            </a:r>
            <a:r>
              <a:rPr lang="en-US" altLang="zh-TW" b="1" i="1" dirty="0" err="1"/>
              <a:t>i</a:t>
            </a:r>
            <a:r>
              <a:rPr lang="en-US" altLang="zh-TW" b="1" i="1" dirty="0"/>
              <a:t> &gt; 0 </a:t>
            </a:r>
            <a:r>
              <a:rPr lang="en-US" altLang="zh-TW" b="1" dirty="0"/>
              <a:t>and </a:t>
            </a:r>
            <a:r>
              <a:rPr lang="en-US" altLang="zh-TW" b="1" dirty="0" smtClean="0"/>
              <a:t>p(</a:t>
            </a:r>
            <a:r>
              <a:rPr lang="en-US" altLang="zh-TW" b="1" dirty="0" err="1" smtClean="0"/>
              <a:t>i</a:t>
            </a:r>
            <a:r>
              <a:rPr lang="en-US" altLang="zh-TW" b="1" dirty="0" smtClean="0"/>
              <a:t>) != </a:t>
            </a:r>
            <a:r>
              <a:rPr lang="en-US" altLang="zh-TW" b="1" dirty="0"/>
              <a:t>row </a:t>
            </a:r>
            <a:r>
              <a:rPr lang="en-US" altLang="zh-TW" dirty="0"/>
              <a:t>(state) do </a:t>
            </a:r>
            <a:r>
              <a:rPr lang="en-US" altLang="zh-TW" b="1" i="1" dirty="0" err="1"/>
              <a:t>i</a:t>
            </a:r>
            <a:r>
              <a:rPr lang="en-US" altLang="zh-TW" b="1" i="1" dirty="0"/>
              <a:t> : = t(</a:t>
            </a:r>
            <a:r>
              <a:rPr lang="en-US" altLang="zh-TW" b="1" i="1" dirty="0" err="1"/>
              <a:t>i</a:t>
            </a:r>
            <a:r>
              <a:rPr lang="en-US" altLang="zh-TW" b="1" i="1" dirty="0"/>
              <a:t>)</a:t>
            </a:r>
          </a:p>
          <a:p>
            <a:pPr marL="0" indent="0">
              <a:buNone/>
            </a:pPr>
            <a:r>
              <a:rPr lang="en-US" altLang="zh-TW" b="1" i="1" dirty="0"/>
              <a:t>a</a:t>
            </a:r>
            <a:r>
              <a:rPr lang="en-US" altLang="zh-TW" b="1" i="1" dirty="0" smtClean="0"/>
              <a:t>[k] : </a:t>
            </a:r>
            <a:r>
              <a:rPr lang="en-US" altLang="zh-TW" b="1" i="1" dirty="0"/>
              <a:t>=</a:t>
            </a:r>
            <a:r>
              <a:rPr lang="en-US" altLang="zh-TW" b="1" i="1" dirty="0" err="1"/>
              <a:t>i</a:t>
            </a:r>
            <a:r>
              <a:rPr lang="en-US" altLang="zh-TW" b="1" i="1" dirty="0"/>
              <a:t>+ 1;</a:t>
            </a:r>
          </a:p>
          <a:p>
            <a:pPr marL="0" indent="0">
              <a:buNone/>
            </a:pPr>
            <a:r>
              <a:rPr lang="en-US" altLang="zh-TW" b="1" dirty="0"/>
              <a:t>if </a:t>
            </a:r>
            <a:r>
              <a:rPr lang="en-US" altLang="zh-TW" b="1" dirty="0" err="1" smtClean="0"/>
              <a:t>i</a:t>
            </a:r>
            <a:r>
              <a:rPr lang="en-US" altLang="zh-TW" b="1" dirty="0" smtClean="0"/>
              <a:t> = </a:t>
            </a:r>
            <a:r>
              <a:rPr lang="en-US" altLang="zh-TW" b="1" i="1" dirty="0"/>
              <a:t>n </a:t>
            </a:r>
            <a:r>
              <a:rPr lang="en-US" altLang="zh-TW" b="1" dirty="0"/>
              <a:t>then </a:t>
            </a:r>
            <a:r>
              <a:rPr lang="en-US" altLang="zh-TW" dirty="0"/>
              <a:t>print pattern found at (j, </a:t>
            </a:r>
            <a:r>
              <a:rPr lang="en-US" altLang="zh-TW" b="1" i="1" dirty="0"/>
              <a:t>k)</a:t>
            </a:r>
          </a:p>
          <a:p>
            <a:pPr marL="0" indent="0">
              <a:buNone/>
            </a:pPr>
            <a:r>
              <a:rPr lang="en-US" altLang="zh-TW" b="1" i="1" dirty="0"/>
              <a:t>e</a:t>
            </a:r>
            <a:r>
              <a:rPr lang="en-US" altLang="zh-TW" b="1" i="1" dirty="0" smtClean="0"/>
              <a:t>lse a[k</a:t>
            </a:r>
            <a:r>
              <a:rPr lang="en-US" altLang="zh-TW" b="1" i="1" dirty="0"/>
              <a:t>] : = 1</a:t>
            </a:r>
          </a:p>
          <a:p>
            <a:pPr marL="0" indent="0">
              <a:buNone/>
            </a:pPr>
            <a:r>
              <a:rPr lang="en-US" altLang="zh-TW" b="1" i="1" dirty="0" smtClean="0"/>
              <a:t>fi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37773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1069</TotalTime>
  <Words>1132</Words>
  <Application>Microsoft Office PowerPoint</Application>
  <PresentationFormat>如螢幕大小 (4:3)</PresentationFormat>
  <Paragraphs>437</Paragraphs>
  <Slides>45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45</vt:i4>
      </vt:variant>
    </vt:vector>
  </HeadingPairs>
  <TitlesOfParts>
    <vt:vector size="46" baseType="lpstr">
      <vt:lpstr>Office 佈景主題</vt:lpstr>
      <vt:lpstr>Two-Dimensional Pattern Matching</vt:lpstr>
      <vt:lpstr>The Problem</vt:lpstr>
      <vt:lpstr>Pattern Matching with brute</vt:lpstr>
      <vt:lpstr>Pattern Matching with brute</vt:lpstr>
      <vt:lpstr>Pattern Matching with brute</vt:lpstr>
      <vt:lpstr>Pattern Matching with brute</vt:lpstr>
      <vt:lpstr>Pattern Matching with brute</vt:lpstr>
      <vt:lpstr>Pattern Matching with brute</vt:lpstr>
      <vt:lpstr>Pattern Matching with brute</vt:lpstr>
      <vt:lpstr>Pattern Matching with brute</vt:lpstr>
      <vt:lpstr>Pattern Matching with brute</vt:lpstr>
      <vt:lpstr>Pattern Matching with brute</vt:lpstr>
      <vt:lpstr>Pattern Matching with brute</vt:lpstr>
      <vt:lpstr>Pattern Matching with brute</vt:lpstr>
      <vt:lpstr>KMP algorithm</vt:lpstr>
      <vt:lpstr>Prefix-suffix</vt:lpstr>
      <vt:lpstr>Build failure</vt:lpstr>
      <vt:lpstr>Build failure</vt:lpstr>
      <vt:lpstr>Build failure</vt:lpstr>
      <vt:lpstr>Build failure</vt:lpstr>
      <vt:lpstr>Build failure</vt:lpstr>
      <vt:lpstr>Build failure</vt:lpstr>
      <vt:lpstr>Build failure</vt:lpstr>
      <vt:lpstr>Build failure</vt:lpstr>
      <vt:lpstr>Build failure</vt:lpstr>
      <vt:lpstr>KMP</vt:lpstr>
      <vt:lpstr>KMP</vt:lpstr>
      <vt:lpstr>KMP</vt:lpstr>
      <vt:lpstr>KMP</vt:lpstr>
      <vt:lpstr>KMP</vt:lpstr>
      <vt:lpstr>KMP</vt:lpstr>
      <vt:lpstr>KMP</vt:lpstr>
      <vt:lpstr>KMP</vt:lpstr>
      <vt:lpstr>KMP</vt:lpstr>
      <vt:lpstr>Two-Dimensional Pattern Matching </vt:lpstr>
      <vt:lpstr>Row-matching</vt:lpstr>
      <vt:lpstr>PowerPoint 簡報</vt:lpstr>
      <vt:lpstr>Column-matching</vt:lpstr>
      <vt:lpstr>PowerPoint 簡報</vt:lpstr>
      <vt:lpstr>PowerPoint 簡報</vt:lpstr>
      <vt:lpstr>PowerPoint 簡報</vt:lpstr>
      <vt:lpstr>Time complexity</vt:lpstr>
      <vt:lpstr>PowerPoint 簡報</vt:lpstr>
      <vt:lpstr>PowerPoint 簡報</vt:lpstr>
      <vt:lpstr>Column-matching terminal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Two-Dimensional Pattern Matching</dc:title>
  <dc:creator>andy</dc:creator>
  <cp:lastModifiedBy>andy</cp:lastModifiedBy>
  <cp:revision>50</cp:revision>
  <dcterms:created xsi:type="dcterms:W3CDTF">2015-10-13T08:21:41Z</dcterms:created>
  <dcterms:modified xsi:type="dcterms:W3CDTF">2015-10-20T06:49:03Z</dcterms:modified>
</cp:coreProperties>
</file>