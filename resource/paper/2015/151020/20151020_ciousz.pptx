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0" r:id="rId14"/>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198"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094DB3F5-207F-41ED-9A66-496CFEDBCCC5}" type="datetimeFigureOut">
              <a:rPr lang="zh-TW" altLang="en-US" smtClean="0"/>
              <a:t>2015/10/20</a:t>
            </a:fld>
            <a:endParaRPr lang="zh-TW" altLang="en-US"/>
          </a:p>
        </p:txBody>
      </p:sp>
      <p:sp>
        <p:nvSpPr>
          <p:cNvPr id="4" name="投影片圖像版面配置區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E8DC0D4-4018-46DD-8BE2-81729B1AF219}" type="slidenum">
              <a:rPr lang="zh-TW" altLang="en-US" smtClean="0"/>
              <a:t>‹#›</a:t>
            </a:fld>
            <a:endParaRPr lang="zh-TW" altLang="en-US"/>
          </a:p>
        </p:txBody>
      </p:sp>
    </p:spTree>
    <p:extLst>
      <p:ext uri="{BB962C8B-B14F-4D97-AF65-F5344CB8AC3E}">
        <p14:creationId xmlns:p14="http://schemas.microsoft.com/office/powerpoint/2010/main" val="2528633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E8DC0D4-4018-46DD-8BE2-81729B1AF219}" type="slidenum">
              <a:rPr lang="zh-TW" altLang="en-US" smtClean="0"/>
              <a:t>7</a:t>
            </a:fld>
            <a:endParaRPr lang="zh-TW" altLang="en-US"/>
          </a:p>
        </p:txBody>
      </p:sp>
    </p:spTree>
    <p:extLst>
      <p:ext uri="{BB962C8B-B14F-4D97-AF65-F5344CB8AC3E}">
        <p14:creationId xmlns:p14="http://schemas.microsoft.com/office/powerpoint/2010/main" val="1714893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6" name="PlaceHolder 2"/>
          <p:cNvSpPr>
            <a:spLocks noGrp="1"/>
          </p:cNvSpPr>
          <p:nvPr>
            <p:ph type="subTitle"/>
          </p:nvPr>
        </p:nvSpPr>
        <p:spPr>
          <a:xfrm>
            <a:off x="504000" y="1769040"/>
            <a:ext cx="9071640" cy="4384440"/>
          </a:xfrm>
          <a:prstGeom prst="rect">
            <a:avLst/>
          </a:prstGeom>
        </p:spPr>
        <p:txBody>
          <a:bodyPr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8" name="PlaceHolder 2"/>
          <p:cNvSpPr>
            <a:spLocks noGrp="1"/>
          </p:cNvSpPr>
          <p:nvPr>
            <p:ph type="body"/>
          </p:nvPr>
        </p:nvSpPr>
        <p:spPr>
          <a:xfrm>
            <a:off x="504000" y="1769040"/>
            <a:ext cx="9071640" cy="4384440"/>
          </a:xfrm>
          <a:prstGeom prst="rect">
            <a:avLst/>
          </a:prstGeom>
        </p:spPr>
        <p:txBody>
          <a:bodyPr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10" name="PlaceHolder 2"/>
          <p:cNvSpPr>
            <a:spLocks noGrp="1"/>
          </p:cNvSpPr>
          <p:nvPr>
            <p:ph type="body"/>
          </p:nvPr>
        </p:nvSpPr>
        <p:spPr>
          <a:xfrm>
            <a:off x="504000" y="1769040"/>
            <a:ext cx="4426920" cy="4384440"/>
          </a:xfrm>
          <a:prstGeom prst="rect">
            <a:avLst/>
          </a:prstGeom>
        </p:spPr>
        <p:txBody>
          <a:bodyPr lIns="0" tIns="0" rIns="0" bIns="0"/>
          <a:lstStyle/>
          <a:p>
            <a:endParaRPr/>
          </a:p>
        </p:txBody>
      </p:sp>
      <p:sp>
        <p:nvSpPr>
          <p:cNvPr id="11" name="PlaceHolder 3"/>
          <p:cNvSpPr>
            <a:spLocks noGrp="1"/>
          </p:cNvSpPr>
          <p:nvPr>
            <p:ph type="body"/>
          </p:nvPr>
        </p:nvSpPr>
        <p:spPr>
          <a:xfrm>
            <a:off x="5152680" y="1769040"/>
            <a:ext cx="4426920" cy="4384440"/>
          </a:xfrm>
          <a:prstGeom prst="rect">
            <a:avLst/>
          </a:prstGeom>
        </p:spPr>
        <p:txBody>
          <a:bodyPr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301320"/>
            <a:ext cx="9071640" cy="5851800"/>
          </a:xfrm>
          <a:prstGeom prst="rect">
            <a:avLst/>
          </a:prstGeom>
        </p:spPr>
        <p:txBody>
          <a:bodyPr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15" name="PlaceHolder 2"/>
          <p:cNvSpPr>
            <a:spLocks noGrp="1"/>
          </p:cNvSpPr>
          <p:nvPr>
            <p:ph type="body"/>
          </p:nvPr>
        </p:nvSpPr>
        <p:spPr>
          <a:xfrm>
            <a:off x="504000" y="1769040"/>
            <a:ext cx="4426920" cy="2091240"/>
          </a:xfrm>
          <a:prstGeom prst="rect">
            <a:avLst/>
          </a:prstGeom>
        </p:spPr>
        <p:txBody>
          <a:bodyPr lIns="0" tIns="0" rIns="0" bIns="0"/>
          <a:lstStyle/>
          <a:p>
            <a:endParaRPr/>
          </a:p>
        </p:txBody>
      </p:sp>
      <p:sp>
        <p:nvSpPr>
          <p:cNvPr id="16" name="PlaceHolder 3"/>
          <p:cNvSpPr>
            <a:spLocks noGrp="1"/>
          </p:cNvSpPr>
          <p:nvPr>
            <p:ph type="body"/>
          </p:nvPr>
        </p:nvSpPr>
        <p:spPr>
          <a:xfrm>
            <a:off x="504000" y="4059360"/>
            <a:ext cx="4426920" cy="2091240"/>
          </a:xfrm>
          <a:prstGeom prst="rect">
            <a:avLst/>
          </a:prstGeom>
        </p:spPr>
        <p:txBody>
          <a:bodyPr lIns="0" tIns="0" rIns="0" bIns="0"/>
          <a:lstStyle/>
          <a:p>
            <a:endParaRPr/>
          </a:p>
        </p:txBody>
      </p:sp>
      <p:sp>
        <p:nvSpPr>
          <p:cNvPr id="17" name="PlaceHolder 4"/>
          <p:cNvSpPr>
            <a:spLocks noGrp="1"/>
          </p:cNvSpPr>
          <p:nvPr>
            <p:ph type="body"/>
          </p:nvPr>
        </p:nvSpPr>
        <p:spPr>
          <a:xfrm>
            <a:off x="5152680" y="1769040"/>
            <a:ext cx="4426920" cy="4384440"/>
          </a:xfrm>
          <a:prstGeom prst="rect">
            <a:avLst/>
          </a:prstGeom>
        </p:spPr>
        <p:txBody>
          <a:bodyPr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19" name="PlaceHolder 2"/>
          <p:cNvSpPr>
            <a:spLocks noGrp="1"/>
          </p:cNvSpPr>
          <p:nvPr>
            <p:ph type="body"/>
          </p:nvPr>
        </p:nvSpPr>
        <p:spPr>
          <a:xfrm>
            <a:off x="504000" y="1769040"/>
            <a:ext cx="4426920" cy="4384440"/>
          </a:xfrm>
          <a:prstGeom prst="rect">
            <a:avLst/>
          </a:prstGeom>
        </p:spPr>
        <p:txBody>
          <a:bodyPr lIns="0" tIns="0" rIns="0" bIns="0"/>
          <a:lstStyle/>
          <a:p>
            <a:endParaRPr/>
          </a:p>
        </p:txBody>
      </p:sp>
      <p:sp>
        <p:nvSpPr>
          <p:cNvPr id="20" name="PlaceHolder 3"/>
          <p:cNvSpPr>
            <a:spLocks noGrp="1"/>
          </p:cNvSpPr>
          <p:nvPr>
            <p:ph type="body"/>
          </p:nvPr>
        </p:nvSpPr>
        <p:spPr>
          <a:xfrm>
            <a:off x="5152680" y="1769040"/>
            <a:ext cx="4426920" cy="2091240"/>
          </a:xfrm>
          <a:prstGeom prst="rect">
            <a:avLst/>
          </a:prstGeom>
        </p:spPr>
        <p:txBody>
          <a:bodyPr lIns="0" tIns="0" rIns="0" bIns="0"/>
          <a:lstStyle/>
          <a:p>
            <a:endParaRPr/>
          </a:p>
        </p:txBody>
      </p:sp>
      <p:sp>
        <p:nvSpPr>
          <p:cNvPr id="21" name="PlaceHolder 4"/>
          <p:cNvSpPr>
            <a:spLocks noGrp="1"/>
          </p:cNvSpPr>
          <p:nvPr>
            <p:ph type="body"/>
          </p:nvPr>
        </p:nvSpPr>
        <p:spPr>
          <a:xfrm>
            <a:off x="5152680" y="4059360"/>
            <a:ext cx="4426920" cy="2091240"/>
          </a:xfrm>
          <a:prstGeom prst="rect">
            <a:avLst/>
          </a:prstGeom>
        </p:spPr>
        <p:txBody>
          <a:bodyPr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23" name="PlaceHolder 2"/>
          <p:cNvSpPr>
            <a:spLocks noGrp="1"/>
          </p:cNvSpPr>
          <p:nvPr>
            <p:ph type="body"/>
          </p:nvPr>
        </p:nvSpPr>
        <p:spPr>
          <a:xfrm>
            <a:off x="504000" y="1769040"/>
            <a:ext cx="4426920" cy="2091240"/>
          </a:xfrm>
          <a:prstGeom prst="rect">
            <a:avLst/>
          </a:prstGeom>
        </p:spPr>
        <p:txBody>
          <a:bodyPr lIns="0" tIns="0" rIns="0" bIns="0"/>
          <a:lstStyle/>
          <a:p>
            <a:endParaRPr/>
          </a:p>
        </p:txBody>
      </p:sp>
      <p:sp>
        <p:nvSpPr>
          <p:cNvPr id="24" name="PlaceHolder 3"/>
          <p:cNvSpPr>
            <a:spLocks noGrp="1"/>
          </p:cNvSpPr>
          <p:nvPr>
            <p:ph type="body"/>
          </p:nvPr>
        </p:nvSpPr>
        <p:spPr>
          <a:xfrm>
            <a:off x="5152680" y="1769040"/>
            <a:ext cx="4426920" cy="2091240"/>
          </a:xfrm>
          <a:prstGeom prst="rect">
            <a:avLst/>
          </a:prstGeom>
        </p:spPr>
        <p:txBody>
          <a:bodyPr lIns="0" tIns="0" rIns="0" bIns="0"/>
          <a:lstStyle/>
          <a:p>
            <a:endParaRPr/>
          </a:p>
        </p:txBody>
      </p:sp>
      <p:sp>
        <p:nvSpPr>
          <p:cNvPr id="25" name="PlaceHolder 4"/>
          <p:cNvSpPr>
            <a:spLocks noGrp="1"/>
          </p:cNvSpPr>
          <p:nvPr>
            <p:ph type="body"/>
          </p:nvPr>
        </p:nvSpPr>
        <p:spPr>
          <a:xfrm>
            <a:off x="504000" y="4059360"/>
            <a:ext cx="9071640" cy="2091240"/>
          </a:xfrm>
          <a:prstGeom prst="rect">
            <a:avLst/>
          </a:prstGeom>
        </p:spPr>
        <p:txBody>
          <a:bodyPr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27" name="PlaceHolder 2"/>
          <p:cNvSpPr>
            <a:spLocks noGrp="1"/>
          </p:cNvSpPr>
          <p:nvPr>
            <p:ph type="body"/>
          </p:nvPr>
        </p:nvSpPr>
        <p:spPr>
          <a:xfrm>
            <a:off x="504000" y="1769040"/>
            <a:ext cx="9071640" cy="2091240"/>
          </a:xfrm>
          <a:prstGeom prst="rect">
            <a:avLst/>
          </a:prstGeom>
        </p:spPr>
        <p:txBody>
          <a:bodyPr lIns="0" tIns="0" rIns="0" bIns="0"/>
          <a:lstStyle/>
          <a:p>
            <a:endParaRPr/>
          </a:p>
        </p:txBody>
      </p:sp>
      <p:sp>
        <p:nvSpPr>
          <p:cNvPr id="28" name="PlaceHolder 3"/>
          <p:cNvSpPr>
            <a:spLocks noGrp="1"/>
          </p:cNvSpPr>
          <p:nvPr>
            <p:ph type="body"/>
          </p:nvPr>
        </p:nvSpPr>
        <p:spPr>
          <a:xfrm>
            <a:off x="504000" y="4059360"/>
            <a:ext cx="9071640" cy="2091240"/>
          </a:xfrm>
          <a:prstGeom prst="rect">
            <a:avLst/>
          </a:prstGeom>
        </p:spPr>
        <p:txBody>
          <a:bodyPr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30" name="PlaceHolder 2"/>
          <p:cNvSpPr>
            <a:spLocks noGrp="1"/>
          </p:cNvSpPr>
          <p:nvPr>
            <p:ph type="body"/>
          </p:nvPr>
        </p:nvSpPr>
        <p:spPr>
          <a:xfrm>
            <a:off x="504000" y="1769040"/>
            <a:ext cx="4426920" cy="2091240"/>
          </a:xfrm>
          <a:prstGeom prst="rect">
            <a:avLst/>
          </a:prstGeom>
        </p:spPr>
        <p:txBody>
          <a:bodyPr lIns="0" tIns="0" rIns="0" bIns="0"/>
          <a:lstStyle/>
          <a:p>
            <a:endParaRPr/>
          </a:p>
        </p:txBody>
      </p:sp>
      <p:sp>
        <p:nvSpPr>
          <p:cNvPr id="31" name="PlaceHolder 3"/>
          <p:cNvSpPr>
            <a:spLocks noGrp="1"/>
          </p:cNvSpPr>
          <p:nvPr>
            <p:ph type="body"/>
          </p:nvPr>
        </p:nvSpPr>
        <p:spPr>
          <a:xfrm>
            <a:off x="5152680" y="1769040"/>
            <a:ext cx="4426920" cy="2091240"/>
          </a:xfrm>
          <a:prstGeom prst="rect">
            <a:avLst/>
          </a:prstGeom>
        </p:spPr>
        <p:txBody>
          <a:bodyPr lIns="0" tIns="0" rIns="0" bIns="0"/>
          <a:lstStyle/>
          <a:p>
            <a:endParaRPr/>
          </a:p>
        </p:txBody>
      </p:sp>
      <p:sp>
        <p:nvSpPr>
          <p:cNvPr id="32" name="PlaceHolder 4"/>
          <p:cNvSpPr>
            <a:spLocks noGrp="1"/>
          </p:cNvSpPr>
          <p:nvPr>
            <p:ph type="body"/>
          </p:nvPr>
        </p:nvSpPr>
        <p:spPr>
          <a:xfrm>
            <a:off x="5152680" y="4059360"/>
            <a:ext cx="4426920" cy="2091240"/>
          </a:xfrm>
          <a:prstGeom prst="rect">
            <a:avLst/>
          </a:prstGeom>
        </p:spPr>
        <p:txBody>
          <a:bodyPr lIns="0" tIns="0" rIns="0" bIns="0"/>
          <a:lstStyle/>
          <a:p>
            <a:endParaRPr/>
          </a:p>
        </p:txBody>
      </p:sp>
      <p:sp>
        <p:nvSpPr>
          <p:cNvPr id="33" name="PlaceHolder 5"/>
          <p:cNvSpPr>
            <a:spLocks noGrp="1"/>
          </p:cNvSpPr>
          <p:nvPr>
            <p:ph type="body"/>
          </p:nvPr>
        </p:nvSpPr>
        <p:spPr>
          <a:xfrm>
            <a:off x="504000" y="4059360"/>
            <a:ext cx="4426920" cy="2091240"/>
          </a:xfrm>
          <a:prstGeom prst="rect">
            <a:avLst/>
          </a:prstGeom>
        </p:spPr>
        <p:txBody>
          <a:bodyPr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301320"/>
            <a:ext cx="9071640" cy="1262160"/>
          </a:xfrm>
          <a:prstGeom prst="rect">
            <a:avLst/>
          </a:prstGeom>
        </p:spPr>
        <p:txBody>
          <a:bodyPr lIns="0" tIns="0" rIns="0" bIns="0" anchor="ctr"/>
          <a:lstStyle/>
          <a:p>
            <a:pPr algn="ctr"/>
            <a:endParaRPr/>
          </a:p>
        </p:txBody>
      </p:sp>
      <p:sp>
        <p:nvSpPr>
          <p:cNvPr id="35" name="PlaceHolder 2"/>
          <p:cNvSpPr>
            <a:spLocks noGrp="1"/>
          </p:cNvSpPr>
          <p:nvPr>
            <p:ph type="body"/>
          </p:nvPr>
        </p:nvSpPr>
        <p:spPr>
          <a:xfrm>
            <a:off x="504000" y="1769040"/>
            <a:ext cx="9071640" cy="4384440"/>
          </a:xfrm>
          <a:prstGeom prst="rect">
            <a:avLst/>
          </a:prstGeom>
        </p:spPr>
        <p:txBody>
          <a:bodyPr lIns="0" tIns="0" rIns="0" bIns="0"/>
          <a:lstStyle/>
          <a:p>
            <a:endParaRPr/>
          </a:p>
        </p:txBody>
      </p:sp>
      <p:sp>
        <p:nvSpPr>
          <p:cNvPr id="36" name="PlaceHolder 3"/>
          <p:cNvSpPr>
            <a:spLocks noGrp="1"/>
          </p:cNvSpPr>
          <p:nvPr>
            <p:ph type="body"/>
          </p:nvPr>
        </p:nvSpPr>
        <p:spPr>
          <a:xfrm>
            <a:off x="504000" y="1769040"/>
            <a:ext cx="9071640" cy="4384440"/>
          </a:xfrm>
          <a:prstGeom prst="rect">
            <a:avLst/>
          </a:prstGeom>
        </p:spPr>
        <p:txBody>
          <a:bodyPr lIns="0" tIns="0" rIns="0" bIns="0"/>
          <a:lstStyle/>
          <a:p>
            <a:endParaRPr/>
          </a:p>
        </p:txBody>
      </p:sp>
      <p:pic>
        <p:nvPicPr>
          <p:cNvPr id="37" name="圖片 36"/>
          <p:cNvPicPr/>
          <p:nvPr/>
        </p:nvPicPr>
        <p:blipFill>
          <a:blip r:embed="rId2"/>
          <a:stretch/>
        </p:blipFill>
        <p:spPr>
          <a:xfrm>
            <a:off x="2292120" y="1768680"/>
            <a:ext cx="5495040" cy="4384440"/>
          </a:xfrm>
          <a:prstGeom prst="rect">
            <a:avLst/>
          </a:prstGeom>
          <a:ln w="18000">
            <a:noFill/>
          </a:ln>
        </p:spPr>
      </p:pic>
      <p:pic>
        <p:nvPicPr>
          <p:cNvPr id="38" name="圖片 37"/>
          <p:cNvPicPr/>
          <p:nvPr/>
        </p:nvPicPr>
        <p:blipFill>
          <a:blip r:embed="rId2"/>
          <a:stretch/>
        </p:blipFill>
        <p:spPr>
          <a:xfrm>
            <a:off x="2292120" y="1768680"/>
            <a:ext cx="5495040" cy="4384440"/>
          </a:xfrm>
          <a:prstGeom prst="rect">
            <a:avLst/>
          </a:prstGeom>
          <a:ln w="18000">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1640" cy="1262160"/>
          </a:xfrm>
          <a:prstGeom prst="rect">
            <a:avLst/>
          </a:prstGeom>
        </p:spPr>
        <p:txBody>
          <a:bodyPr lIns="0" tIns="0" rIns="0" bIns="0" anchor="ctr"/>
          <a:lstStyle/>
          <a:p>
            <a:pPr algn="ctr"/>
            <a:r>
              <a:rPr lang="en-US" sz="4400" spc="-1">
                <a:latin typeface="Arial"/>
              </a:rPr>
              <a:t>請按一下滑鼠，編輯題名文字格式。</a:t>
            </a:r>
            <a:endParaRPr/>
          </a:p>
        </p:txBody>
      </p:sp>
      <p:sp>
        <p:nvSpPr>
          <p:cNvPr id="6" name="PlaceHolder 2"/>
          <p:cNvSpPr>
            <a:spLocks noGrp="1"/>
          </p:cNvSpPr>
          <p:nvPr>
            <p:ph type="body"/>
          </p:nvPr>
        </p:nvSpPr>
        <p:spPr>
          <a:xfrm>
            <a:off x="504000" y="1769040"/>
            <a:ext cx="9071640" cy="4384440"/>
          </a:xfrm>
          <a:prstGeom prst="rect">
            <a:avLst/>
          </a:prstGeom>
        </p:spPr>
        <p:txBody>
          <a:bodyPr lIns="0" tIns="0" rIns="0" bIns="0"/>
          <a:lstStyle/>
          <a:p>
            <a:pPr marL="432000" indent="-324000">
              <a:buClr>
                <a:srgbClr val="FFFFFF"/>
              </a:buClr>
              <a:buSzPct val="45000"/>
              <a:buFont typeface="StarSymbol"/>
              <a:buChar char=""/>
            </a:pPr>
            <a:r>
              <a:rPr lang="en-US" sz="3200" spc="-1">
                <a:latin typeface="Arial"/>
              </a:rPr>
              <a:t>請按滑鼠，編輯大綱文字格式。</a:t>
            </a:r>
            <a:endParaRPr/>
          </a:p>
          <a:p>
            <a:pPr marL="864000" lvl="1" indent="-324000">
              <a:buClr>
                <a:srgbClr val="FFFFFF"/>
              </a:buClr>
              <a:buSzPct val="75000"/>
              <a:buFont typeface="StarSymbol"/>
              <a:buChar char=""/>
            </a:pPr>
            <a:r>
              <a:rPr lang="en-US" sz="2800" spc="-1">
                <a:latin typeface="Arial"/>
              </a:rPr>
              <a:t>第二個大綱層次</a:t>
            </a:r>
            <a:endParaRPr/>
          </a:p>
          <a:p>
            <a:pPr marL="1296000" lvl="2" indent="-288000">
              <a:buClr>
                <a:srgbClr val="FFFFFF"/>
              </a:buClr>
              <a:buSzPct val="45000"/>
              <a:buFont typeface="StarSymbol"/>
              <a:buChar char=""/>
            </a:pPr>
            <a:r>
              <a:rPr lang="en-US" sz="2400" spc="-1">
                <a:latin typeface="Arial"/>
              </a:rPr>
              <a:t>第三個大綱層次</a:t>
            </a:r>
            <a:endParaRPr/>
          </a:p>
          <a:p>
            <a:pPr marL="1728000" lvl="3" indent="-216000">
              <a:buClr>
                <a:srgbClr val="FFFFFF"/>
              </a:buClr>
              <a:buSzPct val="75000"/>
              <a:buFont typeface="StarSymbol"/>
              <a:buChar char=""/>
            </a:pPr>
            <a:r>
              <a:rPr lang="en-US" sz="2000" spc="-1">
                <a:latin typeface="Arial"/>
              </a:rPr>
              <a:t>第四個大綱層次</a:t>
            </a:r>
            <a:endParaRPr/>
          </a:p>
          <a:p>
            <a:pPr marL="2160000" lvl="4" indent="-216000">
              <a:buClr>
                <a:srgbClr val="FFFFFF"/>
              </a:buClr>
              <a:buSzPct val="45000"/>
              <a:buFont typeface="StarSymbol"/>
              <a:buChar char=""/>
            </a:pPr>
            <a:r>
              <a:rPr lang="en-US" sz="2000" spc="-1">
                <a:latin typeface="Arial"/>
              </a:rPr>
              <a:t>第五個大綱層次</a:t>
            </a:r>
            <a:endParaRPr/>
          </a:p>
          <a:p>
            <a:pPr marL="2592000" lvl="5" indent="-216000">
              <a:buClr>
                <a:srgbClr val="FFFFFF"/>
              </a:buClr>
              <a:buSzPct val="45000"/>
              <a:buFont typeface="StarSymbol"/>
              <a:buChar char=""/>
            </a:pPr>
            <a:r>
              <a:rPr lang="en-US" sz="2000" spc="-1">
                <a:latin typeface="Arial"/>
              </a:rPr>
              <a:t>第六個大綱層次</a:t>
            </a:r>
            <a:endParaRPr/>
          </a:p>
          <a:p>
            <a:pPr marL="3024000" lvl="6" indent="-216000">
              <a:buClr>
                <a:srgbClr val="FFFFFF"/>
              </a:buClr>
              <a:buSzPct val="45000"/>
              <a:buFont typeface="StarSymbol"/>
              <a:buChar char=""/>
            </a:pPr>
            <a:r>
              <a:rPr lang="en-US" sz="2000" spc="-1">
                <a:latin typeface="Arial"/>
              </a:rPr>
              <a:t>第七個大綱層次</a:t>
            </a:r>
            <a:endParaRPr/>
          </a:p>
        </p:txBody>
      </p:sp>
      <p:sp>
        <p:nvSpPr>
          <p:cNvPr id="2" name="PlaceHolder 3"/>
          <p:cNvSpPr>
            <a:spLocks noGrp="1"/>
          </p:cNvSpPr>
          <p:nvPr>
            <p:ph type="dt"/>
          </p:nvPr>
        </p:nvSpPr>
        <p:spPr>
          <a:xfrm>
            <a:off x="504000" y="6887160"/>
            <a:ext cx="2348280" cy="521280"/>
          </a:xfrm>
          <a:prstGeom prst="rect">
            <a:avLst/>
          </a:prstGeom>
        </p:spPr>
        <p:txBody>
          <a:bodyPr lIns="0" tIns="0" rIns="0" bIns="0"/>
          <a:lstStyle/>
          <a:p>
            <a:r>
              <a:rPr lang="en-US" sz="1400" spc="-1">
                <a:latin typeface="Times New Roman"/>
              </a:rPr>
              <a:t>&lt;日期/時間&gt;</a:t>
            </a:r>
            <a:endParaRPr/>
          </a:p>
        </p:txBody>
      </p:sp>
      <p:sp>
        <p:nvSpPr>
          <p:cNvPr id="3" name="PlaceHolder 4"/>
          <p:cNvSpPr>
            <a:spLocks noGrp="1"/>
          </p:cNvSpPr>
          <p:nvPr>
            <p:ph type="ftr"/>
          </p:nvPr>
        </p:nvSpPr>
        <p:spPr>
          <a:xfrm>
            <a:off x="3447360" y="6887160"/>
            <a:ext cx="3195000" cy="521280"/>
          </a:xfrm>
          <a:prstGeom prst="rect">
            <a:avLst/>
          </a:prstGeom>
        </p:spPr>
        <p:txBody>
          <a:bodyPr lIns="0" tIns="0" rIns="0" bIns="0"/>
          <a:lstStyle/>
          <a:p>
            <a:pPr algn="ctr"/>
            <a:r>
              <a:rPr lang="en-US" sz="1400" spc="-1">
                <a:latin typeface="Times New Roman"/>
              </a:rPr>
              <a:t>&lt;頁尾&gt;</a:t>
            </a:r>
            <a:endParaRPr/>
          </a:p>
        </p:txBody>
      </p:sp>
      <p:sp>
        <p:nvSpPr>
          <p:cNvPr id="4" name="PlaceHolder 5"/>
          <p:cNvSpPr>
            <a:spLocks noGrp="1"/>
          </p:cNvSpPr>
          <p:nvPr>
            <p:ph type="sldNum"/>
          </p:nvPr>
        </p:nvSpPr>
        <p:spPr>
          <a:xfrm>
            <a:off x="7227360" y="6887160"/>
            <a:ext cx="2348280" cy="521280"/>
          </a:xfrm>
          <a:prstGeom prst="rect">
            <a:avLst/>
          </a:prstGeom>
        </p:spPr>
        <p:txBody>
          <a:bodyPr lIns="0" tIns="0" rIns="0" bIns="0"/>
          <a:lstStyle/>
          <a:p>
            <a:pPr algn="r"/>
            <a:fld id="{80052ED8-474A-4D81-8C32-0A0C90D2F1EA}" type="slidenum">
              <a:rPr lang="en-US" sz="1400" spc="-1">
                <a:latin typeface="Times New Roman"/>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4.jpg"/><Relationship Id="rId4" Type="http://schemas.openxmlformats.org/officeDocument/2006/relationships/image" Target="../media/image15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Shape 1"/>
          <p:cNvSpPr txBox="1"/>
          <p:nvPr/>
        </p:nvSpPr>
        <p:spPr>
          <a:xfrm>
            <a:off x="576000" y="1581480"/>
            <a:ext cx="9071640" cy="1262160"/>
          </a:xfrm>
          <a:prstGeom prst="rect">
            <a:avLst/>
          </a:prstGeom>
          <a:noFill/>
          <a:ln>
            <a:noFill/>
          </a:ln>
        </p:spPr>
        <p:txBody>
          <a:bodyPr lIns="0" tIns="0" rIns="0" bIns="0" anchor="ctr"/>
          <a:lstStyle/>
          <a:p>
            <a:pPr algn="ctr"/>
            <a:r>
              <a:rPr lang="en-US" sz="4400" spc="-1" dirty="0">
                <a:latin typeface="+mn-ea"/>
              </a:rPr>
              <a:t>The ubiquitous </a:t>
            </a:r>
            <a:r>
              <a:rPr lang="en-US" sz="4400" spc="-1" dirty="0" err="1">
                <a:latin typeface="+mn-ea"/>
              </a:rPr>
              <a:t>Kronecker</a:t>
            </a:r>
            <a:r>
              <a:rPr lang="en-US" sz="4400" spc="-1" dirty="0">
                <a:latin typeface="+mn-ea"/>
              </a:rPr>
              <a:t> product</a:t>
            </a:r>
            <a:endParaRPr dirty="0">
              <a:latin typeface="+mn-ea"/>
            </a:endParaRPr>
          </a:p>
        </p:txBody>
      </p:sp>
      <p:sp>
        <p:nvSpPr>
          <p:cNvPr id="40" name="TextShape 2"/>
          <p:cNvSpPr txBox="1"/>
          <p:nvPr/>
        </p:nvSpPr>
        <p:spPr>
          <a:xfrm>
            <a:off x="503920" y="4975520"/>
            <a:ext cx="9051840" cy="663480"/>
          </a:xfrm>
          <a:prstGeom prst="rect">
            <a:avLst/>
          </a:prstGeom>
          <a:noFill/>
          <a:ln>
            <a:noFill/>
          </a:ln>
        </p:spPr>
        <p:txBody>
          <a:bodyPr lIns="90000" tIns="45000" rIns="90000" bIns="45000"/>
          <a:lstStyle/>
          <a:p>
            <a:pPr algn="ctr"/>
            <a:r>
              <a:rPr lang="en-US" sz="2400" i="1" spc="-1" dirty="0">
                <a:latin typeface="+mn-ea"/>
              </a:rPr>
              <a:t>Department of Computer Science, Cornell University, Ithaca, New York 14853, USA</a:t>
            </a:r>
            <a:endParaRPr sz="2400" dirty="0">
              <a:latin typeface="+mn-ea"/>
            </a:endParaRPr>
          </a:p>
        </p:txBody>
      </p:sp>
      <p:sp>
        <p:nvSpPr>
          <p:cNvPr id="41" name="TextShape 3"/>
          <p:cNvSpPr txBox="1"/>
          <p:nvPr/>
        </p:nvSpPr>
        <p:spPr>
          <a:xfrm>
            <a:off x="3192039" y="6240320"/>
            <a:ext cx="3839560" cy="942800"/>
          </a:xfrm>
          <a:prstGeom prst="rect">
            <a:avLst/>
          </a:prstGeom>
          <a:noFill/>
          <a:ln>
            <a:noFill/>
          </a:ln>
        </p:spPr>
        <p:txBody>
          <a:bodyPr lIns="90000" tIns="45000" rIns="90000" bIns="45000"/>
          <a:lstStyle/>
          <a:p>
            <a:pPr>
              <a:lnSpc>
                <a:spcPct val="100000"/>
              </a:lnSpc>
            </a:pPr>
            <a:r>
              <a:rPr lang="en-US" sz="2400" strike="noStrike" spc="-1" dirty="0">
                <a:solidFill>
                  <a:srgbClr val="000000"/>
                </a:solidFill>
                <a:uFill>
                  <a:solidFill>
                    <a:srgbClr val="FFFFFF"/>
                  </a:solidFill>
                </a:uFill>
                <a:latin typeface="+mn-ea"/>
              </a:rPr>
              <a:t>Presenter:  </a:t>
            </a:r>
            <a:r>
              <a:rPr lang="en-US" sz="2400" strike="noStrike" spc="-1" dirty="0" err="1">
                <a:solidFill>
                  <a:srgbClr val="000000"/>
                </a:solidFill>
                <a:uFill>
                  <a:solidFill>
                    <a:srgbClr val="FFFFFF"/>
                  </a:solidFill>
                </a:uFill>
                <a:latin typeface="+mn-ea"/>
              </a:rPr>
              <a:t>Syuan-Zong</a:t>
            </a:r>
            <a:r>
              <a:rPr lang="en-US" sz="2400" strike="noStrike" spc="-1" dirty="0">
                <a:solidFill>
                  <a:srgbClr val="000000"/>
                </a:solidFill>
                <a:uFill>
                  <a:solidFill>
                    <a:srgbClr val="FFFFFF"/>
                  </a:solidFill>
                </a:uFill>
                <a:latin typeface="+mn-ea"/>
              </a:rPr>
              <a:t> </a:t>
            </a:r>
            <a:r>
              <a:rPr lang="en-US" sz="2400" strike="noStrike" spc="-1" dirty="0" err="1">
                <a:solidFill>
                  <a:srgbClr val="000000"/>
                </a:solidFill>
                <a:uFill>
                  <a:solidFill>
                    <a:srgbClr val="FFFFFF"/>
                  </a:solidFill>
                </a:uFill>
                <a:latin typeface="+mn-ea"/>
              </a:rPr>
              <a:t>Ciou</a:t>
            </a:r>
            <a:endParaRPr sz="2400" dirty="0">
              <a:latin typeface="+mn-ea"/>
            </a:endParaRPr>
          </a:p>
          <a:p>
            <a:pPr>
              <a:lnSpc>
                <a:spcPct val="100000"/>
              </a:lnSpc>
            </a:pPr>
            <a:r>
              <a:rPr lang="en-US" sz="2400" strike="noStrike" spc="-1" dirty="0" smtClean="0">
                <a:solidFill>
                  <a:srgbClr val="000000"/>
                </a:solidFill>
                <a:uFill>
                  <a:solidFill>
                    <a:srgbClr val="FFFFFF"/>
                  </a:solidFill>
                </a:uFill>
                <a:latin typeface="+mn-ea"/>
              </a:rPr>
              <a:t>Date:2015/10/20</a:t>
            </a:r>
            <a:endParaRPr sz="2400" dirty="0">
              <a:latin typeface="+mn-ea"/>
            </a:endParaRPr>
          </a:p>
        </p:txBody>
      </p:sp>
      <p:sp>
        <p:nvSpPr>
          <p:cNvPr id="42" name="TextShape 4"/>
          <p:cNvSpPr txBox="1"/>
          <p:nvPr/>
        </p:nvSpPr>
        <p:spPr>
          <a:xfrm>
            <a:off x="3438160" y="3290400"/>
            <a:ext cx="3347320" cy="474480"/>
          </a:xfrm>
          <a:prstGeom prst="rect">
            <a:avLst/>
          </a:prstGeom>
          <a:noFill/>
          <a:ln>
            <a:noFill/>
          </a:ln>
        </p:spPr>
        <p:txBody>
          <a:bodyPr lIns="90000" tIns="45000" rIns="90000" bIns="45000"/>
          <a:lstStyle/>
          <a:p>
            <a:r>
              <a:rPr lang="en-US" sz="2800" spc="-1" dirty="0">
                <a:solidFill>
                  <a:schemeClr val="bg1">
                    <a:lumMod val="50000"/>
                  </a:schemeClr>
                </a:solidFill>
                <a:latin typeface="+mn-ea"/>
              </a:rPr>
              <a:t>Charles F. Van Loan</a:t>
            </a:r>
            <a:endParaRPr sz="2800" dirty="0">
              <a:solidFill>
                <a:schemeClr val="bg1">
                  <a:lumMod val="50000"/>
                </a:schemeClr>
              </a:solidFill>
              <a:latin typeface="+mn-ea"/>
            </a:endParaRPr>
          </a:p>
        </p:txBody>
      </p:sp>
      <p:sp>
        <p:nvSpPr>
          <p:cNvPr id="3" name="文字方塊 2"/>
          <p:cNvSpPr txBox="1"/>
          <p:nvPr/>
        </p:nvSpPr>
        <p:spPr>
          <a:xfrm>
            <a:off x="355324" y="4158756"/>
            <a:ext cx="9512989" cy="430887"/>
          </a:xfrm>
          <a:prstGeom prst="rect">
            <a:avLst/>
          </a:prstGeom>
          <a:noFill/>
        </p:spPr>
        <p:txBody>
          <a:bodyPr wrap="none" rtlCol="0">
            <a:spAutoFit/>
          </a:bodyPr>
          <a:lstStyle/>
          <a:p>
            <a:r>
              <a:rPr lang="en-US" altLang="zh-TW" sz="2200" dirty="0" smtClean="0"/>
              <a:t>Journal of Computational and Applied Mathematics 123 pp. 85-100  (2000)</a:t>
            </a:r>
            <a:endParaRPr lang="zh-TW" altLang="en-US" sz="2200"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Shape 1"/>
          <p:cNvSpPr txBox="1"/>
          <p:nvPr/>
        </p:nvSpPr>
        <p:spPr>
          <a:xfrm>
            <a:off x="504000" y="301320"/>
            <a:ext cx="9071640" cy="1262160"/>
          </a:xfrm>
          <a:prstGeom prst="rect">
            <a:avLst/>
          </a:prstGeom>
          <a:noFill/>
          <a:ln>
            <a:noFill/>
          </a:ln>
        </p:spPr>
        <p:txBody>
          <a:bodyPr lIns="0" tIns="0" rIns="0" bIns="0" anchor="ctr"/>
          <a:lstStyle/>
          <a:p>
            <a:pPr algn="ctr"/>
            <a:r>
              <a:rPr lang="en-US" sz="4400" spc="-1" dirty="0" smtClean="0">
                <a:latin typeface="微軟正黑體"/>
              </a:rPr>
              <a:t>Abstract</a:t>
            </a:r>
            <a:endParaRPr dirty="0"/>
          </a:p>
        </p:txBody>
      </p:sp>
      <p:sp>
        <p:nvSpPr>
          <p:cNvPr id="44" name="TextShape 2"/>
          <p:cNvSpPr txBox="1"/>
          <p:nvPr/>
        </p:nvSpPr>
        <p:spPr>
          <a:xfrm>
            <a:off x="504000" y="1769040"/>
            <a:ext cx="9071640" cy="4384440"/>
          </a:xfrm>
          <a:prstGeom prst="rect">
            <a:avLst/>
          </a:prstGeom>
          <a:noFill/>
          <a:ln>
            <a:noFill/>
          </a:ln>
        </p:spPr>
        <p:txBody>
          <a:bodyPr lIns="0" tIns="0" rIns="0" bIns="0"/>
          <a:lstStyle/>
          <a:p>
            <a:pPr marL="432000" indent="-324000">
              <a:buClr>
                <a:srgbClr val="FFFFFF"/>
              </a:buClr>
              <a:buSzPct val="45000"/>
              <a:buFont typeface="StarSymbol"/>
              <a:buChar char=""/>
            </a:pPr>
            <a:r>
              <a:rPr lang="en-US" sz="2800" spc="-1" dirty="0"/>
              <a:t>The </a:t>
            </a:r>
            <a:r>
              <a:rPr lang="en-US" sz="2800" spc="-1" dirty="0" err="1"/>
              <a:t>Kronecker</a:t>
            </a:r>
            <a:r>
              <a:rPr lang="en-US" sz="2800" spc="-1" dirty="0"/>
              <a:t> product has a rich and very pleasing algebra that supports a wide range of fast, elegant, and practical algorithms. Several trends in scientific computing suggest that this important matrix operation will have an increasingly greater role to play in the future. First, the application areas where </a:t>
            </a:r>
            <a:r>
              <a:rPr lang="en-US" sz="2800" spc="-1" dirty="0" err="1"/>
              <a:t>Kronecker</a:t>
            </a:r>
            <a:r>
              <a:rPr lang="en-US" sz="2800" spc="-1" dirty="0"/>
              <a:t> products abound are all thriving. These include signal processing, image processing, semidefinite programming, and quantum computing. </a:t>
            </a:r>
            <a:endParaRPr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Shape 1"/>
          <p:cNvSpPr txBox="1"/>
          <p:nvPr/>
        </p:nvSpPr>
        <p:spPr>
          <a:xfrm>
            <a:off x="504000" y="301320"/>
            <a:ext cx="9071640" cy="1262160"/>
          </a:xfrm>
          <a:prstGeom prst="rect">
            <a:avLst/>
          </a:prstGeom>
          <a:noFill/>
          <a:ln>
            <a:noFill/>
          </a:ln>
        </p:spPr>
        <p:txBody>
          <a:bodyPr lIns="0" tIns="0" rIns="0" bIns="0" anchor="ctr"/>
          <a:lstStyle/>
          <a:p>
            <a:pPr algn="ctr"/>
            <a:r>
              <a:rPr lang="en-US" sz="4400" spc="-1">
                <a:latin typeface="微軟正黑體"/>
              </a:rPr>
              <a:t>Abstract</a:t>
            </a:r>
            <a:endParaRPr/>
          </a:p>
        </p:txBody>
      </p:sp>
      <p:sp>
        <p:nvSpPr>
          <p:cNvPr id="46" name="TextShape 2"/>
          <p:cNvSpPr txBox="1"/>
          <p:nvPr/>
        </p:nvSpPr>
        <p:spPr>
          <a:xfrm>
            <a:off x="504000" y="1769040"/>
            <a:ext cx="9071640" cy="4384440"/>
          </a:xfrm>
          <a:prstGeom prst="rect">
            <a:avLst/>
          </a:prstGeom>
          <a:noFill/>
          <a:ln>
            <a:noFill/>
          </a:ln>
        </p:spPr>
        <p:txBody>
          <a:bodyPr lIns="0" tIns="0" rIns="0" bIns="0"/>
          <a:lstStyle/>
          <a:p>
            <a:pPr marL="432000" indent="-324000">
              <a:buClr>
                <a:srgbClr val="FFFFFF"/>
              </a:buClr>
              <a:buSzPct val="45000"/>
              <a:buFont typeface="StarSymbol"/>
              <a:buChar char=""/>
            </a:pPr>
            <a:r>
              <a:rPr lang="en-US" sz="2800" spc="-1" dirty="0"/>
              <a:t>Second, sparse factorizations and </a:t>
            </a:r>
            <a:r>
              <a:rPr lang="en-US" sz="2800" spc="-1" dirty="0" err="1"/>
              <a:t>Kronecker</a:t>
            </a:r>
            <a:r>
              <a:rPr lang="en-US" sz="2800" spc="-1" dirty="0"/>
              <a:t> products are proving to be a very effective way to look at fast linear transforms. Researchers have taken the </a:t>
            </a:r>
            <a:r>
              <a:rPr lang="en-US" sz="2800" spc="-1" dirty="0" err="1"/>
              <a:t>Kronecker</a:t>
            </a:r>
            <a:r>
              <a:rPr lang="en-US" sz="2800" spc="-1" dirty="0"/>
              <a:t> methodology as developed for the fast Fourier transform and used it to build exciting alternatives. Third, as computers get more powerful, researchers are more willing to entertain problems of high dimension and this leads to </a:t>
            </a:r>
            <a:r>
              <a:rPr lang="en-US" sz="2800" spc="-1" dirty="0" err="1"/>
              <a:t>Kronecker</a:t>
            </a:r>
            <a:r>
              <a:rPr lang="en-US" sz="2800" spc="-1" dirty="0"/>
              <a:t> products whenever low-dimension techniques are “</a:t>
            </a:r>
            <a:r>
              <a:rPr lang="en-US" sz="2800" spc="-1" dirty="0" err="1"/>
              <a:t>tensored</a:t>
            </a:r>
            <a:r>
              <a:rPr lang="en-US" sz="2800" spc="-1" dirty="0"/>
              <a:t>” together.</a:t>
            </a:r>
            <a:endParaRPr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6692137" y="5496090"/>
            <a:ext cx="2042288" cy="1219402"/>
          </a:xfrm>
          <a:prstGeom prst="rect">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6" name="矩形 15"/>
          <p:cNvSpPr/>
          <p:nvPr/>
        </p:nvSpPr>
        <p:spPr>
          <a:xfrm>
            <a:off x="1390994" y="5531707"/>
            <a:ext cx="276225" cy="276225"/>
          </a:xfrm>
          <a:prstGeom prst="rect">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5" name="矩形 14"/>
          <p:cNvSpPr/>
          <p:nvPr/>
        </p:nvSpPr>
        <p:spPr>
          <a:xfrm>
            <a:off x="4667250" y="4209847"/>
            <a:ext cx="1600200" cy="1195590"/>
          </a:xfrm>
          <a:prstGeom prst="rect">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1" name="矩形 10"/>
          <p:cNvSpPr/>
          <p:nvPr/>
        </p:nvSpPr>
        <p:spPr>
          <a:xfrm>
            <a:off x="800100" y="5129212"/>
            <a:ext cx="276225" cy="276225"/>
          </a:xfrm>
          <a:prstGeom prst="rect">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47" name="TextShape 1"/>
          <p:cNvSpPr txBox="1"/>
          <p:nvPr/>
        </p:nvSpPr>
        <p:spPr>
          <a:xfrm>
            <a:off x="504000" y="301320"/>
            <a:ext cx="9071640" cy="1262160"/>
          </a:xfrm>
          <a:prstGeom prst="rect">
            <a:avLst/>
          </a:prstGeom>
          <a:noFill/>
          <a:ln>
            <a:noFill/>
          </a:ln>
        </p:spPr>
        <p:txBody>
          <a:bodyPr lIns="0" tIns="0" rIns="0" bIns="0" anchor="ctr"/>
          <a:lstStyle/>
          <a:p>
            <a:pPr algn="ctr"/>
            <a:r>
              <a:rPr lang="en-US" sz="4400" spc="-1" dirty="0">
                <a:latin typeface="微軟正黑體"/>
              </a:rPr>
              <a:t>Basic properties</a:t>
            </a:r>
            <a:endParaRPr dirty="0"/>
          </a:p>
        </p:txBody>
      </p:sp>
      <p:pic>
        <p:nvPicPr>
          <p:cNvPr id="48" name="圖片 47"/>
          <p:cNvPicPr/>
          <p:nvPr/>
        </p:nvPicPr>
        <p:blipFill>
          <a:blip r:embed="rId2"/>
          <a:stretch/>
        </p:blipFill>
        <p:spPr>
          <a:xfrm>
            <a:off x="504000" y="1851075"/>
            <a:ext cx="9071640" cy="2334960"/>
          </a:xfrm>
          <a:prstGeom prst="rect">
            <a:avLst/>
          </a:prstGeom>
          <a:ln w="18000">
            <a:noFill/>
          </a:ln>
        </p:spPr>
      </p:pic>
      <p:pic>
        <p:nvPicPr>
          <p:cNvPr id="49" name="圖片 48"/>
          <p:cNvPicPr/>
          <p:nvPr/>
        </p:nvPicPr>
        <p:blipFill>
          <a:blip r:embed="rId3"/>
          <a:stretch/>
        </p:blipFill>
        <p:spPr>
          <a:xfrm>
            <a:off x="432000" y="1329075"/>
            <a:ext cx="9503640" cy="522000"/>
          </a:xfrm>
          <a:prstGeom prst="rect">
            <a:avLst/>
          </a:prstGeom>
          <a:ln w="18000">
            <a:noFill/>
          </a:ln>
        </p:spPr>
      </p:pic>
      <mc:AlternateContent xmlns:mc="http://schemas.openxmlformats.org/markup-compatibility/2006" xmlns:a14="http://schemas.microsoft.com/office/drawing/2010/main">
        <mc:Choice Requires="a14">
          <p:sp>
            <p:nvSpPr>
              <p:cNvPr id="5" name="文字版面配置區 2"/>
              <p:cNvSpPr>
                <a:spLocks noGrp="1"/>
              </p:cNvSpPr>
              <p:nvPr>
                <p:ph type="body"/>
              </p:nvPr>
            </p:nvSpPr>
            <p:spPr>
              <a:xfrm>
                <a:off x="388515" y="3286125"/>
                <a:ext cx="9071640" cy="4419930"/>
              </a:xfrm>
            </p:spPr>
            <p:txBody>
              <a:bodyPr/>
              <a:lstStyle/>
              <a:p>
                <a:pPr marL="0" indent="0">
                  <a:buNone/>
                </a:pPr>
                <a:r>
                  <a:rPr lang="zh-TW" altLang="en-US" sz="2800" dirty="0" smtClean="0"/>
                  <a:t> </a:t>
                </a:r>
                <a14:m>
                  <m:oMath xmlns:m="http://schemas.openxmlformats.org/officeDocument/2006/math">
                    <m:r>
                      <a:rPr lang="zh-TW" altLang="en-US" sz="2800" i="1">
                        <a:latin typeface="Cambria Math" panose="02040503050406030204" pitchFamily="18" charset="0"/>
                      </a:rPr>
                      <m:t> </m:t>
                    </m:r>
                    <m:r>
                      <a:rPr lang="zh-TW" altLang="en-US" sz="2800" i="1" smtClean="0">
                        <a:latin typeface="Cambria Math" panose="02040503050406030204" pitchFamily="18" charset="0"/>
                      </a:rPr>
                      <m:t> </m:t>
                    </m:r>
                    <m:r>
                      <a:rPr lang="zh-TW" altLang="en-US" sz="2800" i="1">
                        <a:latin typeface="Cambria Math" panose="02040503050406030204" pitchFamily="18" charset="0"/>
                      </a:rPr>
                      <m:t> </m:t>
                    </m:r>
                    <m:d>
                      <m:dPr>
                        <m:begChr m:val="["/>
                        <m:endChr m:val="]"/>
                        <m:ctrlPr>
                          <a:rPr lang="en-US" altLang="zh-TW" sz="2800" i="1" smtClean="0">
                            <a:latin typeface="Cambria Math" panose="02040503050406030204" pitchFamily="18" charset="0"/>
                          </a:rPr>
                        </m:ctrlPr>
                      </m:dPr>
                      <m:e>
                        <m:m>
                          <m:mPr>
                            <m:mcs>
                              <m:mc>
                                <m:mcPr>
                                  <m:count m:val="2"/>
                                  <m:mcJc m:val="center"/>
                                </m:mcPr>
                              </m:mc>
                            </m:mcs>
                            <m:ctrlPr>
                              <a:rPr lang="en-US" altLang="zh-TW" sz="2800" i="1" smtClean="0">
                                <a:latin typeface="Cambria Math" panose="02040503050406030204" pitchFamily="18" charset="0"/>
                              </a:rPr>
                            </m:ctrlPr>
                          </m:mPr>
                          <m:mr>
                            <m:e>
                              <m:r>
                                <m:rPr>
                                  <m:brk m:alnAt="7"/>
                                </m:rPr>
                                <a:rPr lang="en-US" altLang="zh-TW" sz="2800" i="1">
                                  <a:latin typeface="Cambria Math" panose="02040503050406030204" pitchFamily="18" charset="0"/>
                                </a:rPr>
                                <m:t>1</m:t>
                              </m:r>
                            </m:e>
                            <m:e>
                              <m:r>
                                <a:rPr lang="en-US" altLang="zh-TW" sz="2800" i="1">
                                  <a:latin typeface="Cambria Math" panose="02040503050406030204" pitchFamily="18" charset="0"/>
                                </a:rPr>
                                <m:t>2</m:t>
                              </m:r>
                            </m:e>
                          </m:mr>
                          <m:mr>
                            <m:e>
                              <m:r>
                                <a:rPr lang="en-US" altLang="zh-TW" sz="2800" i="1">
                                  <a:latin typeface="Cambria Math" panose="02040503050406030204" pitchFamily="18" charset="0"/>
                                </a:rPr>
                                <m:t>3</m:t>
                              </m:r>
                            </m:e>
                            <m:e>
                              <m:r>
                                <a:rPr lang="en-US" altLang="zh-TW" sz="2800" i="1">
                                  <a:latin typeface="Cambria Math" panose="02040503050406030204" pitchFamily="18" charset="0"/>
                                </a:rPr>
                                <m:t>4</m:t>
                              </m:r>
                            </m:e>
                          </m:mr>
                        </m:m>
                      </m:e>
                    </m:d>
                    <m:r>
                      <a:rPr lang="en-US" altLang="zh-TW" sz="2800" i="1" smtClean="0">
                        <a:latin typeface="Cambria Math" panose="02040503050406030204" pitchFamily="18" charset="0"/>
                        <a:ea typeface="Cambria Math" panose="02040503050406030204" pitchFamily="18" charset="0"/>
                      </a:rPr>
                      <m:t>⊗</m:t>
                    </m:r>
                    <m:d>
                      <m:dPr>
                        <m:begChr m:val="["/>
                        <m:endChr m:val="]"/>
                        <m:ctrlPr>
                          <a:rPr lang="en-US" altLang="zh-TW" sz="2800" i="1" smtClean="0">
                            <a:latin typeface="Cambria Math" panose="02040503050406030204" pitchFamily="18" charset="0"/>
                          </a:rPr>
                        </m:ctrlPr>
                      </m:dPr>
                      <m:e>
                        <m:m>
                          <m:mPr>
                            <m:mcs>
                              <m:mc>
                                <m:mcPr>
                                  <m:count m:val="2"/>
                                  <m:mcJc m:val="center"/>
                                </m:mcPr>
                              </m:mc>
                            </m:mcs>
                            <m:ctrlPr>
                              <a:rPr lang="en-US" altLang="zh-TW" sz="2800" i="1" smtClean="0">
                                <a:latin typeface="Cambria Math" panose="02040503050406030204" pitchFamily="18" charset="0"/>
                              </a:rPr>
                            </m:ctrlPr>
                          </m:mPr>
                          <m:mr>
                            <m:e>
                              <m:r>
                                <m:rPr>
                                  <m:brk m:alnAt="7"/>
                                </m:rPr>
                                <a:rPr lang="en-US" altLang="zh-TW" sz="2800" i="1">
                                  <a:latin typeface="Cambria Math" panose="02040503050406030204" pitchFamily="18" charset="0"/>
                                </a:rPr>
                                <m:t>1</m:t>
                              </m:r>
                            </m:e>
                            <m:e>
                              <m:m>
                                <m:mPr>
                                  <m:mcs>
                                    <m:mc>
                                      <m:mcPr>
                                        <m:count m:val="2"/>
                                        <m:mcJc m:val="center"/>
                                      </m:mcPr>
                                    </m:mc>
                                  </m:mcs>
                                  <m:ctrlPr>
                                    <a:rPr lang="en-US" altLang="zh-TW" sz="2800" i="1" smtClean="0">
                                      <a:latin typeface="Cambria Math" panose="02040503050406030204" pitchFamily="18" charset="0"/>
                                    </a:rPr>
                                  </m:ctrlPr>
                                </m:mPr>
                                <m:mr>
                                  <m:e>
                                    <m:r>
                                      <m:rPr>
                                        <m:brk m:alnAt="7"/>
                                      </m:rPr>
                                      <a:rPr lang="en-US" altLang="zh-TW" sz="2800" i="1">
                                        <a:latin typeface="Cambria Math" panose="02040503050406030204" pitchFamily="18" charset="0"/>
                                      </a:rPr>
                                      <m:t>2</m:t>
                                    </m:r>
                                  </m:e>
                                  <m:e>
                                    <m:r>
                                      <a:rPr lang="en-US" altLang="zh-TW" sz="2800" i="1">
                                        <a:latin typeface="Cambria Math" panose="02040503050406030204" pitchFamily="18" charset="0"/>
                                      </a:rPr>
                                      <m:t>3</m:t>
                                    </m:r>
                                  </m:e>
                                </m:mr>
                              </m:m>
                            </m:e>
                          </m:mr>
                          <m:mr>
                            <m:e>
                              <m:m>
                                <m:mPr>
                                  <m:mcs>
                                    <m:mc>
                                      <m:mcPr>
                                        <m:count m:val="1"/>
                                        <m:mcJc m:val="center"/>
                                      </m:mcPr>
                                    </m:mc>
                                  </m:mcs>
                                  <m:ctrlPr>
                                    <a:rPr lang="en-US" altLang="zh-TW" sz="2800" i="1" smtClean="0">
                                      <a:latin typeface="Cambria Math" panose="02040503050406030204" pitchFamily="18" charset="0"/>
                                    </a:rPr>
                                  </m:ctrlPr>
                                </m:mPr>
                                <m:mr>
                                  <m:e>
                                    <m:r>
                                      <m:rPr>
                                        <m:brk m:alnAt="7"/>
                                      </m:rPr>
                                      <a:rPr lang="en-US" altLang="zh-TW" sz="2800" i="1">
                                        <a:latin typeface="Cambria Math" panose="02040503050406030204" pitchFamily="18" charset="0"/>
                                      </a:rPr>
                                      <m:t>4</m:t>
                                    </m:r>
                                  </m:e>
                                </m:mr>
                                <m:mr>
                                  <m:e>
                                    <m:r>
                                      <a:rPr lang="en-US" altLang="zh-TW" sz="2800" i="1">
                                        <a:latin typeface="Cambria Math" panose="02040503050406030204" pitchFamily="18" charset="0"/>
                                      </a:rPr>
                                      <m:t>7</m:t>
                                    </m:r>
                                  </m:e>
                                </m:mr>
                              </m:m>
                            </m:e>
                            <m:e>
                              <m:m>
                                <m:mPr>
                                  <m:mcs>
                                    <m:mc>
                                      <m:mcPr>
                                        <m:count m:val="2"/>
                                        <m:mcJc m:val="center"/>
                                      </m:mcPr>
                                    </m:mc>
                                  </m:mcs>
                                  <m:ctrlPr>
                                    <a:rPr lang="en-US" altLang="zh-TW" sz="2800" i="1" smtClean="0">
                                      <a:latin typeface="Cambria Math" panose="02040503050406030204" pitchFamily="18" charset="0"/>
                                    </a:rPr>
                                  </m:ctrlPr>
                                </m:mPr>
                                <m:mr>
                                  <m:e>
                                    <m:m>
                                      <m:mPr>
                                        <m:mcs>
                                          <m:mc>
                                            <m:mcPr>
                                              <m:count m:val="1"/>
                                              <m:mcJc m:val="center"/>
                                            </m:mcPr>
                                          </m:mc>
                                        </m:mcs>
                                        <m:ctrlPr>
                                          <a:rPr lang="en-US" altLang="zh-TW" sz="2800" i="1" smtClean="0">
                                            <a:latin typeface="Cambria Math" panose="02040503050406030204" pitchFamily="18" charset="0"/>
                                          </a:rPr>
                                        </m:ctrlPr>
                                      </m:mPr>
                                      <m:mr>
                                        <m:e>
                                          <m:r>
                                            <m:rPr>
                                              <m:brk m:alnAt="7"/>
                                            </m:rPr>
                                            <a:rPr lang="en-US" altLang="zh-TW" sz="2800" i="1">
                                              <a:latin typeface="Cambria Math" panose="02040503050406030204" pitchFamily="18" charset="0"/>
                                            </a:rPr>
                                            <m:t>5</m:t>
                                          </m:r>
                                        </m:e>
                                      </m:mr>
                                      <m:mr>
                                        <m:e>
                                          <m:r>
                                            <a:rPr lang="en-US" altLang="zh-TW" sz="2800" i="1">
                                              <a:latin typeface="Cambria Math" panose="02040503050406030204" pitchFamily="18" charset="0"/>
                                            </a:rPr>
                                            <m:t>8</m:t>
                                          </m:r>
                                        </m:e>
                                      </m:mr>
                                    </m:m>
                                  </m:e>
                                  <m:e>
                                    <m:m>
                                      <m:mPr>
                                        <m:mcs>
                                          <m:mc>
                                            <m:mcPr>
                                              <m:count m:val="1"/>
                                              <m:mcJc m:val="center"/>
                                            </m:mcPr>
                                          </m:mc>
                                        </m:mcs>
                                        <m:ctrlPr>
                                          <a:rPr lang="en-US" altLang="zh-TW" sz="2800" i="1" smtClean="0">
                                            <a:latin typeface="Cambria Math" panose="02040503050406030204" pitchFamily="18" charset="0"/>
                                          </a:rPr>
                                        </m:ctrlPr>
                                      </m:mPr>
                                      <m:mr>
                                        <m:e>
                                          <m:r>
                                            <m:rPr>
                                              <m:brk m:alnAt="7"/>
                                            </m:rPr>
                                            <a:rPr lang="en-US" altLang="zh-TW" sz="2800" i="1">
                                              <a:latin typeface="Cambria Math" panose="02040503050406030204" pitchFamily="18" charset="0"/>
                                            </a:rPr>
                                            <m:t>6</m:t>
                                          </m:r>
                                        </m:e>
                                      </m:mr>
                                      <m:mr>
                                        <m:e>
                                          <m:r>
                                            <a:rPr lang="en-US" altLang="zh-TW" sz="2800" i="1">
                                              <a:latin typeface="Cambria Math" panose="02040503050406030204" pitchFamily="18" charset="0"/>
                                            </a:rPr>
                                            <m:t>9</m:t>
                                          </m:r>
                                        </m:e>
                                      </m:mr>
                                    </m:m>
                                  </m:e>
                                </m:mr>
                              </m:m>
                            </m:e>
                          </m:mr>
                        </m:m>
                      </m:e>
                    </m:d>
                  </m:oMath>
                </a14:m>
                <a:r>
                  <a:rPr lang="zh-TW" altLang="en-US" sz="2800" dirty="0" smtClean="0"/>
                  <a:t>  </a:t>
                </a:r>
                <a:r>
                  <a:rPr lang="en-US" altLang="zh-TW" sz="2800" dirty="0" smtClean="0"/>
                  <a:t>=</a:t>
                </a:r>
                <a:r>
                  <a:rPr lang="zh-TW" altLang="en-US" sz="2800" dirty="0" smtClean="0"/>
                  <a:t> </a:t>
                </a:r>
                <a14:m>
                  <m:oMath xmlns:m="http://schemas.openxmlformats.org/officeDocument/2006/math">
                    <m:r>
                      <a:rPr lang="zh-TW" altLang="en-US" sz="2800" i="1" dirty="0">
                        <a:latin typeface="Cambria Math" panose="02040503050406030204" pitchFamily="18" charset="0"/>
                      </a:rPr>
                      <m:t> </m:t>
                    </m:r>
                    <m:d>
                      <m:dPr>
                        <m:begChr m:val="["/>
                        <m:endChr m:val="]"/>
                        <m:ctrlPr>
                          <a:rPr lang="en-US" altLang="zh-TW" sz="2800" i="1" dirty="0" smtClean="0">
                            <a:latin typeface="Cambria Math" panose="02040503050406030204" pitchFamily="18" charset="0"/>
                          </a:rPr>
                        </m:ctrlPr>
                      </m:dPr>
                      <m:e>
                        <m:m>
                          <m:mPr>
                            <m:mcs>
                              <m:mc>
                                <m:mcPr>
                                  <m:count m:val="2"/>
                                  <m:mcJc m:val="center"/>
                                </m:mcPr>
                              </m:mc>
                            </m:mcs>
                            <m:ctrlPr>
                              <a:rPr lang="en-US" altLang="zh-TW" sz="2800" i="1" dirty="0" smtClean="0">
                                <a:latin typeface="Cambria Math" panose="02040503050406030204" pitchFamily="18" charset="0"/>
                              </a:rPr>
                            </m:ctrlPr>
                          </m:mPr>
                          <m:mr>
                            <m:e>
                              <m:eqArr>
                                <m:eqArrPr>
                                  <m:ctrlPr>
                                    <a:rPr lang="en-US" altLang="zh-TW" sz="2800" i="1" dirty="0" smtClean="0">
                                      <a:latin typeface="Cambria Math" panose="02040503050406030204" pitchFamily="18" charset="0"/>
                                    </a:rPr>
                                  </m:ctrlPr>
                                </m:eqArrPr>
                                <m:e>
                                  <m:m>
                                    <m:mPr>
                                      <m:mcs>
                                        <m:mc>
                                          <m:mcPr>
                                            <m:count m:val="3"/>
                                            <m:mcJc m:val="center"/>
                                          </m:mcPr>
                                        </m:mc>
                                      </m:mcs>
                                      <m:ctrlPr>
                                        <a:rPr lang="en-US" altLang="zh-TW" sz="2800" i="1" dirty="0" smtClean="0">
                                          <a:latin typeface="Cambria Math" panose="02040503050406030204" pitchFamily="18" charset="0"/>
                                        </a:rPr>
                                      </m:ctrlPr>
                                    </m:mPr>
                                    <m:mr>
                                      <m:e>
                                        <m:r>
                                          <m:rPr>
                                            <m:brk m:alnAt="7"/>
                                          </m:rPr>
                                          <a:rPr lang="en-US" altLang="zh-TW" sz="2800" i="1" dirty="0">
                                            <a:latin typeface="Cambria Math" panose="02040503050406030204" pitchFamily="18" charset="0"/>
                                          </a:rPr>
                                          <m:t>1</m:t>
                                        </m:r>
                                      </m:e>
                                      <m:e>
                                        <m:r>
                                          <a:rPr lang="en-US" altLang="zh-TW" sz="2800" i="1" dirty="0">
                                            <a:latin typeface="Cambria Math" panose="02040503050406030204" pitchFamily="18" charset="0"/>
                                          </a:rPr>
                                          <m:t>2</m:t>
                                        </m:r>
                                      </m:e>
                                      <m:e>
                                        <m:r>
                                          <a:rPr lang="en-US" altLang="zh-TW" sz="2800" i="1" dirty="0">
                                            <a:latin typeface="Cambria Math" panose="02040503050406030204" pitchFamily="18" charset="0"/>
                                          </a:rPr>
                                          <m:t>3</m:t>
                                        </m:r>
                                      </m:e>
                                    </m:mr>
                                    <m:mr>
                                      <m:e>
                                        <m:r>
                                          <a:rPr lang="en-US" altLang="zh-TW" sz="2800" i="1" dirty="0">
                                            <a:latin typeface="Cambria Math" panose="02040503050406030204" pitchFamily="18" charset="0"/>
                                          </a:rPr>
                                          <m:t>4</m:t>
                                        </m:r>
                                      </m:e>
                                      <m:e>
                                        <m:r>
                                          <a:rPr lang="en-US" altLang="zh-TW" sz="2800" i="1" dirty="0">
                                            <a:latin typeface="Cambria Math" panose="02040503050406030204" pitchFamily="18" charset="0"/>
                                          </a:rPr>
                                          <m:t>5</m:t>
                                        </m:r>
                                      </m:e>
                                      <m:e>
                                        <m:r>
                                          <a:rPr lang="en-US" altLang="zh-TW" sz="2800" i="1" dirty="0">
                                            <a:latin typeface="Cambria Math" panose="02040503050406030204" pitchFamily="18" charset="0"/>
                                          </a:rPr>
                                          <m:t>6</m:t>
                                        </m:r>
                                      </m:e>
                                    </m:mr>
                                    <m:mr>
                                      <m:e>
                                        <m:r>
                                          <a:rPr lang="en-US" altLang="zh-TW" sz="2800" i="1" dirty="0">
                                            <a:latin typeface="Cambria Math" panose="02040503050406030204" pitchFamily="18" charset="0"/>
                                          </a:rPr>
                                          <m:t>7</m:t>
                                        </m:r>
                                      </m:e>
                                      <m:e>
                                        <m:r>
                                          <a:rPr lang="en-US" altLang="zh-TW" sz="2800" i="1" dirty="0">
                                            <a:latin typeface="Cambria Math" panose="02040503050406030204" pitchFamily="18" charset="0"/>
                                          </a:rPr>
                                          <m:t>8</m:t>
                                        </m:r>
                                      </m:e>
                                      <m:e>
                                        <m:r>
                                          <a:rPr lang="en-US" altLang="zh-TW" sz="2800" i="1" dirty="0">
                                            <a:latin typeface="Cambria Math" panose="02040503050406030204" pitchFamily="18" charset="0"/>
                                          </a:rPr>
                                          <m:t>9</m:t>
                                        </m:r>
                                      </m:e>
                                    </m:mr>
                                  </m:m>
                                </m:e>
                                <m:e>
                                  <m:r>
                                    <a:rPr lang="zh-TW" altLang="en-US" sz="2800" i="1" dirty="0">
                                      <a:latin typeface="Cambria Math" panose="02040503050406030204" pitchFamily="18" charset="0"/>
                                    </a:rPr>
                                    <m:t> </m:t>
                                  </m:r>
                                </m:e>
                              </m:eqArr>
                            </m:e>
                            <m:e>
                              <m:eqArr>
                                <m:eqArrPr>
                                  <m:ctrlPr>
                                    <a:rPr lang="en-US" altLang="zh-TW" sz="2800" i="1" dirty="0" smtClean="0">
                                      <a:latin typeface="Cambria Math" panose="02040503050406030204" pitchFamily="18" charset="0"/>
                                    </a:rPr>
                                  </m:ctrlPr>
                                </m:eqArrPr>
                                <m:e>
                                  <m:m>
                                    <m:mPr>
                                      <m:mcs>
                                        <m:mc>
                                          <m:mcPr>
                                            <m:count m:val="3"/>
                                            <m:mcJc m:val="center"/>
                                          </m:mcPr>
                                        </m:mc>
                                      </m:mcs>
                                      <m:ctrlPr>
                                        <a:rPr lang="en-US" altLang="zh-TW" sz="2800" i="1" dirty="0" smtClean="0">
                                          <a:latin typeface="Cambria Math" panose="02040503050406030204" pitchFamily="18" charset="0"/>
                                        </a:rPr>
                                      </m:ctrlPr>
                                    </m:mPr>
                                    <m:mr>
                                      <m:e>
                                        <m:r>
                                          <m:rPr>
                                            <m:brk m:alnAt="7"/>
                                          </m:rPr>
                                          <a:rPr lang="en-US" altLang="zh-TW" sz="2800" i="1" dirty="0">
                                            <a:latin typeface="Cambria Math" panose="02040503050406030204" pitchFamily="18" charset="0"/>
                                          </a:rPr>
                                          <m:t>2</m:t>
                                        </m:r>
                                      </m:e>
                                      <m:e>
                                        <m:r>
                                          <a:rPr lang="en-US" altLang="zh-TW" sz="2800" i="1" dirty="0">
                                            <a:latin typeface="Cambria Math" panose="02040503050406030204" pitchFamily="18" charset="0"/>
                                          </a:rPr>
                                          <m:t>4</m:t>
                                        </m:r>
                                      </m:e>
                                      <m:e>
                                        <m:r>
                                          <a:rPr lang="en-US" altLang="zh-TW" sz="2800" i="1" dirty="0">
                                            <a:latin typeface="Cambria Math" panose="02040503050406030204" pitchFamily="18" charset="0"/>
                                          </a:rPr>
                                          <m:t>6</m:t>
                                        </m:r>
                                      </m:e>
                                    </m:mr>
                                    <m:mr>
                                      <m:e>
                                        <m:r>
                                          <a:rPr lang="en-US" altLang="zh-TW" sz="2800" i="1" dirty="0">
                                            <a:latin typeface="Cambria Math" panose="02040503050406030204" pitchFamily="18" charset="0"/>
                                          </a:rPr>
                                          <m:t>8</m:t>
                                        </m:r>
                                      </m:e>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0</m:t>
                                        </m:r>
                                      </m:e>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2</m:t>
                                        </m:r>
                                      </m:e>
                                    </m:mr>
                                    <m:mr>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4</m:t>
                                        </m:r>
                                      </m:e>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6</m:t>
                                        </m:r>
                                      </m:e>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8</m:t>
                                        </m:r>
                                      </m:e>
                                    </m:mr>
                                  </m:m>
                                </m:e>
                                <m:e>
                                  <m:r>
                                    <a:rPr lang="zh-TW" altLang="en-US" sz="2800" i="1" dirty="0">
                                      <a:latin typeface="Cambria Math" panose="02040503050406030204" pitchFamily="18" charset="0"/>
                                    </a:rPr>
                                    <m:t> </m:t>
                                  </m:r>
                                </m:e>
                              </m:eqArr>
                            </m:e>
                          </m:mr>
                          <m:mr>
                            <m:e>
                              <m:m>
                                <m:mPr>
                                  <m:mcs>
                                    <m:mc>
                                      <m:mcPr>
                                        <m:count m:val="3"/>
                                        <m:mcJc m:val="center"/>
                                      </m:mcPr>
                                    </m:mc>
                                  </m:mcs>
                                  <m:ctrlPr>
                                    <a:rPr lang="en-US" altLang="zh-TW" sz="2800" i="1" dirty="0" smtClean="0">
                                      <a:latin typeface="Cambria Math" panose="02040503050406030204" pitchFamily="18" charset="0"/>
                                    </a:rPr>
                                  </m:ctrlPr>
                                </m:mPr>
                                <m:mr>
                                  <m:e>
                                    <m:r>
                                      <m:rPr>
                                        <m:brk m:alnAt="7"/>
                                      </m:rPr>
                                      <a:rPr lang="en-US" altLang="zh-TW" sz="2800" i="1" dirty="0">
                                        <a:latin typeface="Cambria Math" panose="02040503050406030204" pitchFamily="18" charset="0"/>
                                      </a:rPr>
                                      <m:t>3</m:t>
                                    </m:r>
                                  </m:e>
                                  <m:e>
                                    <m:r>
                                      <a:rPr lang="en-US" altLang="zh-TW" sz="2800" i="1" dirty="0">
                                        <a:latin typeface="Cambria Math" panose="02040503050406030204" pitchFamily="18" charset="0"/>
                                      </a:rPr>
                                      <m:t>6</m:t>
                                    </m:r>
                                  </m:e>
                                  <m:e>
                                    <m:r>
                                      <a:rPr lang="en-US" altLang="zh-TW" sz="2800" i="1" dirty="0">
                                        <a:latin typeface="Cambria Math" panose="02040503050406030204" pitchFamily="18" charset="0"/>
                                      </a:rPr>
                                      <m:t>9</m:t>
                                    </m:r>
                                  </m:e>
                                </m:mr>
                                <m:mr>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2</m:t>
                                    </m:r>
                                  </m:e>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5</m:t>
                                    </m:r>
                                  </m:e>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8</m:t>
                                    </m:r>
                                  </m:e>
                                </m:mr>
                                <m:mr>
                                  <m:e>
                                    <m:r>
                                      <a:rPr lang="en-US" altLang="zh-TW" sz="2800" i="1" dirty="0">
                                        <a:latin typeface="Cambria Math" panose="02040503050406030204" pitchFamily="18" charset="0"/>
                                      </a:rPr>
                                      <m:t>2</m:t>
                                    </m:r>
                                    <m:r>
                                      <a:rPr lang="en-US" altLang="zh-TW" sz="2800" i="1" dirty="0" smtClean="0">
                                        <a:latin typeface="Cambria Math" panose="02040503050406030204" pitchFamily="18" charset="0"/>
                                      </a:rPr>
                                      <m:t>1</m:t>
                                    </m:r>
                                  </m:e>
                                  <m:e>
                                    <m:r>
                                      <a:rPr lang="en-US" altLang="zh-TW" sz="2800" i="1" dirty="0">
                                        <a:latin typeface="Cambria Math" panose="02040503050406030204" pitchFamily="18" charset="0"/>
                                      </a:rPr>
                                      <m:t>2</m:t>
                                    </m:r>
                                    <m:r>
                                      <a:rPr lang="en-US" altLang="zh-TW" sz="2800" i="1" dirty="0" smtClean="0">
                                        <a:latin typeface="Cambria Math" panose="02040503050406030204" pitchFamily="18" charset="0"/>
                                      </a:rPr>
                                      <m:t>4</m:t>
                                    </m:r>
                                  </m:e>
                                  <m:e>
                                    <m:r>
                                      <a:rPr lang="en-US" altLang="zh-TW" sz="2800" i="1" dirty="0">
                                        <a:latin typeface="Cambria Math" panose="02040503050406030204" pitchFamily="18" charset="0"/>
                                      </a:rPr>
                                      <m:t>2</m:t>
                                    </m:r>
                                    <m:r>
                                      <a:rPr lang="en-US" altLang="zh-TW" sz="2800" i="1" dirty="0" smtClean="0">
                                        <a:latin typeface="Cambria Math" panose="02040503050406030204" pitchFamily="18" charset="0"/>
                                      </a:rPr>
                                      <m:t>7</m:t>
                                    </m:r>
                                  </m:e>
                                </m:mr>
                              </m:m>
                            </m:e>
                            <m:e>
                              <m:m>
                                <m:mPr>
                                  <m:mcs>
                                    <m:mc>
                                      <m:mcPr>
                                        <m:count m:val="3"/>
                                        <m:mcJc m:val="center"/>
                                      </m:mcPr>
                                    </m:mc>
                                  </m:mcs>
                                  <m:ctrlPr>
                                    <a:rPr lang="en-US" altLang="zh-TW" sz="2800" i="1" dirty="0" smtClean="0">
                                      <a:latin typeface="Cambria Math" panose="02040503050406030204" pitchFamily="18" charset="0"/>
                                    </a:rPr>
                                  </m:ctrlPr>
                                </m:mPr>
                                <m:mr>
                                  <m:e>
                                    <m:r>
                                      <m:rPr>
                                        <m:brk m:alnAt="7"/>
                                      </m:rPr>
                                      <a:rPr lang="en-US" altLang="zh-TW" sz="2800" i="1" dirty="0">
                                        <a:latin typeface="Cambria Math" panose="02040503050406030204" pitchFamily="18" charset="0"/>
                                      </a:rPr>
                                      <m:t>4</m:t>
                                    </m:r>
                                  </m:e>
                                  <m:e>
                                    <m:r>
                                      <a:rPr lang="en-US" altLang="zh-TW" sz="2800" i="1" dirty="0">
                                        <a:latin typeface="Cambria Math" panose="02040503050406030204" pitchFamily="18" charset="0"/>
                                      </a:rPr>
                                      <m:t>8</m:t>
                                    </m:r>
                                  </m:e>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2</m:t>
                                    </m:r>
                                  </m:e>
                                </m:mr>
                                <m:mr>
                                  <m:e>
                                    <m:r>
                                      <a:rPr lang="en-US" altLang="zh-TW" sz="2800" i="1" dirty="0">
                                        <a:latin typeface="Cambria Math" panose="02040503050406030204" pitchFamily="18" charset="0"/>
                                      </a:rPr>
                                      <m:t>1</m:t>
                                    </m:r>
                                    <m:r>
                                      <a:rPr lang="en-US" altLang="zh-TW" sz="2800" i="1" dirty="0" smtClean="0">
                                        <a:latin typeface="Cambria Math" panose="02040503050406030204" pitchFamily="18" charset="0"/>
                                      </a:rPr>
                                      <m:t>6</m:t>
                                    </m:r>
                                  </m:e>
                                  <m:e>
                                    <m:r>
                                      <a:rPr lang="en-US" altLang="zh-TW" sz="2800" i="1" dirty="0">
                                        <a:latin typeface="Cambria Math" panose="02040503050406030204" pitchFamily="18" charset="0"/>
                                      </a:rPr>
                                      <m:t>2</m:t>
                                    </m:r>
                                    <m:r>
                                      <a:rPr lang="en-US" altLang="zh-TW" sz="2800" i="1" dirty="0" smtClean="0">
                                        <a:latin typeface="Cambria Math" panose="02040503050406030204" pitchFamily="18" charset="0"/>
                                      </a:rPr>
                                      <m:t>0</m:t>
                                    </m:r>
                                  </m:e>
                                  <m:e>
                                    <m:r>
                                      <a:rPr lang="en-US" altLang="zh-TW" sz="2800" i="1" dirty="0">
                                        <a:latin typeface="Cambria Math" panose="02040503050406030204" pitchFamily="18" charset="0"/>
                                      </a:rPr>
                                      <m:t>2</m:t>
                                    </m:r>
                                    <m:r>
                                      <a:rPr lang="en-US" altLang="zh-TW" sz="2800" i="1" dirty="0" smtClean="0">
                                        <a:latin typeface="Cambria Math" panose="02040503050406030204" pitchFamily="18" charset="0"/>
                                      </a:rPr>
                                      <m:t>4</m:t>
                                    </m:r>
                                  </m:e>
                                </m:mr>
                                <m:mr>
                                  <m:e>
                                    <m:r>
                                      <a:rPr lang="en-US" altLang="zh-TW" sz="2800" i="1" dirty="0">
                                        <a:latin typeface="Cambria Math" panose="02040503050406030204" pitchFamily="18" charset="0"/>
                                      </a:rPr>
                                      <m:t>2</m:t>
                                    </m:r>
                                    <m:r>
                                      <a:rPr lang="en-US" altLang="zh-TW" sz="2800" i="1" dirty="0" smtClean="0">
                                        <a:latin typeface="Cambria Math" panose="02040503050406030204" pitchFamily="18" charset="0"/>
                                      </a:rPr>
                                      <m:t>8</m:t>
                                    </m:r>
                                  </m:e>
                                  <m:e>
                                    <m:r>
                                      <a:rPr lang="en-US" altLang="zh-TW" sz="2800" i="1" dirty="0">
                                        <a:latin typeface="Cambria Math" panose="02040503050406030204" pitchFamily="18" charset="0"/>
                                      </a:rPr>
                                      <m:t>3</m:t>
                                    </m:r>
                                    <m:r>
                                      <a:rPr lang="en-US" altLang="zh-TW" sz="2800" i="1" dirty="0" smtClean="0">
                                        <a:latin typeface="Cambria Math" panose="02040503050406030204" pitchFamily="18" charset="0"/>
                                      </a:rPr>
                                      <m:t>2</m:t>
                                    </m:r>
                                  </m:e>
                                  <m:e>
                                    <m:r>
                                      <a:rPr lang="en-US" altLang="zh-TW" sz="2800" i="1" dirty="0">
                                        <a:latin typeface="Cambria Math" panose="02040503050406030204" pitchFamily="18" charset="0"/>
                                      </a:rPr>
                                      <m:t>3</m:t>
                                    </m:r>
                                    <m:r>
                                      <a:rPr lang="en-US" altLang="zh-TW" sz="2800" i="1" dirty="0" smtClean="0">
                                        <a:latin typeface="Cambria Math" panose="02040503050406030204" pitchFamily="18" charset="0"/>
                                      </a:rPr>
                                      <m:t>6</m:t>
                                    </m:r>
                                  </m:e>
                                </m:mr>
                              </m:m>
                            </m:e>
                          </m:mr>
                        </m:m>
                      </m:e>
                    </m:d>
                  </m:oMath>
                </a14:m>
                <a:endParaRPr lang="zh-TW" altLang="en-US" sz="2800" dirty="0"/>
              </a:p>
            </p:txBody>
          </p:sp>
        </mc:Choice>
        <mc:Fallback xmlns="">
          <p:sp>
            <p:nvSpPr>
              <p:cNvPr id="5" name="文字版面配置區 2"/>
              <p:cNvSpPr>
                <a:spLocks noGrp="1" noRot="1" noChangeAspect="1" noMove="1" noResize="1" noEditPoints="1" noAdjustHandles="1" noChangeArrowheads="1" noChangeShapeType="1" noTextEdit="1"/>
              </p:cNvSpPr>
              <p:nvPr>
                <p:ph type="body"/>
              </p:nvPr>
            </p:nvSpPr>
            <p:spPr>
              <a:xfrm>
                <a:off x="388515" y="3286125"/>
                <a:ext cx="9071640" cy="4419930"/>
              </a:xfrm>
              <a:blipFill rotWithShape="0">
                <a:blip r:embed="rId4"/>
                <a:stretch>
                  <a:fillRect/>
                </a:stretch>
              </a:blipFill>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15" grpId="0" animBg="1"/>
      <p:bldP spid="11" grpId="0" animBg="1"/>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Shape 2"/>
          <p:cNvSpPr txBox="1"/>
          <p:nvPr/>
        </p:nvSpPr>
        <p:spPr>
          <a:xfrm>
            <a:off x="504000" y="1512360"/>
            <a:ext cx="9210600" cy="430200"/>
          </a:xfrm>
          <a:prstGeom prst="rect">
            <a:avLst/>
          </a:prstGeom>
          <a:noFill/>
          <a:ln>
            <a:noFill/>
          </a:ln>
        </p:spPr>
        <p:txBody>
          <a:bodyPr lIns="90000" tIns="45000" rIns="90000" bIns="45000"/>
          <a:lstStyle/>
          <a:p>
            <a:r>
              <a:rPr lang="en-US" sz="2400" spc="-1">
                <a:latin typeface="Arial"/>
              </a:rPr>
              <a:t>The basicproperties of the Kronecker product are quite predictable:</a:t>
            </a:r>
            <a:endParaRPr/>
          </a:p>
        </p:txBody>
      </p:sp>
      <mc:AlternateContent xmlns:mc="http://schemas.openxmlformats.org/markup-compatibility/2006" xmlns:a14="http://schemas.microsoft.com/office/drawing/2010/main">
        <mc:Choice Requires="a14">
          <p:sp>
            <p:nvSpPr>
              <p:cNvPr id="6" name="矩形 5"/>
              <p:cNvSpPr/>
              <p:nvPr/>
            </p:nvSpPr>
            <p:spPr>
              <a:xfrm>
                <a:off x="504000" y="2399354"/>
                <a:ext cx="4480714" cy="267765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TW" sz="2400" b="0" i="1" spc="-1" smtClean="0">
                          <a:solidFill>
                            <a:srgbClr val="FF0000"/>
                          </a:solidFill>
                          <a:latin typeface="Cambria Math" panose="02040503050406030204" pitchFamily="18" charset="0"/>
                        </a:rPr>
                        <m:t>𝐵</m:t>
                      </m:r>
                      <m:r>
                        <a:rPr lang="en-US" altLang="zh-TW" sz="2400" b="0" i="1" spc="-1" smtClean="0">
                          <a:solidFill>
                            <a:srgbClr val="FF0000"/>
                          </a:solidFill>
                          <a:latin typeface="Cambria Math" panose="02040503050406030204" pitchFamily="18" charset="0"/>
                          <a:ea typeface="Cambria Math" panose="02040503050406030204" pitchFamily="18" charset="0"/>
                        </a:rPr>
                        <m:t>⊗</m:t>
                      </m:r>
                      <m:d>
                        <m:dPr>
                          <m:ctrlPr>
                            <a:rPr lang="en-US" altLang="zh-TW" sz="2400" b="0" i="1" spc="-1" smtClean="0">
                              <a:solidFill>
                                <a:srgbClr val="FF0000"/>
                              </a:solidFill>
                              <a:latin typeface="Cambria Math" panose="02040503050406030204" pitchFamily="18" charset="0"/>
                              <a:ea typeface="Cambria Math" panose="02040503050406030204" pitchFamily="18" charset="0"/>
                            </a:rPr>
                          </m:ctrlPr>
                        </m:dPr>
                        <m:e>
                          <m:r>
                            <a:rPr lang="en-US" altLang="zh-TW" sz="2400" b="0" i="1" spc="-1" smtClean="0">
                              <a:solidFill>
                                <a:srgbClr val="FF0000"/>
                              </a:solidFill>
                              <a:latin typeface="Cambria Math" panose="02040503050406030204" pitchFamily="18" charset="0"/>
                              <a:ea typeface="Cambria Math" panose="02040503050406030204" pitchFamily="18" charset="0"/>
                            </a:rPr>
                            <m:t> </m:t>
                          </m:r>
                          <m:r>
                            <a:rPr lang="en-US" altLang="zh-TW" sz="2400" b="0" i="1" spc="-1" smtClean="0">
                              <a:solidFill>
                                <a:srgbClr val="FF0000"/>
                              </a:solidFill>
                              <a:latin typeface="Cambria Math" panose="02040503050406030204" pitchFamily="18" charset="0"/>
                              <a:ea typeface="Cambria Math" panose="02040503050406030204" pitchFamily="18" charset="0"/>
                            </a:rPr>
                            <m:t>𝐶</m:t>
                          </m:r>
                          <m:r>
                            <a:rPr lang="en-US" altLang="zh-TW" sz="2400" b="0" i="1" spc="-1" smtClean="0">
                              <a:solidFill>
                                <a:srgbClr val="FF0000"/>
                              </a:solidFill>
                              <a:latin typeface="Cambria Math" panose="02040503050406030204" pitchFamily="18" charset="0"/>
                              <a:ea typeface="Cambria Math" panose="02040503050406030204" pitchFamily="18" charset="0"/>
                            </a:rPr>
                            <m:t>⊗</m:t>
                          </m:r>
                          <m:r>
                            <a:rPr lang="en-US" altLang="zh-TW" sz="2400" b="0" i="1" spc="-1" smtClean="0">
                              <a:solidFill>
                                <a:srgbClr val="FF0000"/>
                              </a:solidFill>
                              <a:latin typeface="Cambria Math" panose="02040503050406030204" pitchFamily="18" charset="0"/>
                              <a:ea typeface="Cambria Math" panose="02040503050406030204" pitchFamily="18" charset="0"/>
                            </a:rPr>
                            <m:t>𝐷</m:t>
                          </m:r>
                          <m:r>
                            <a:rPr lang="en-US" altLang="zh-TW" sz="2400" b="0" i="1" spc="-1" smtClean="0">
                              <a:solidFill>
                                <a:srgbClr val="FF0000"/>
                              </a:solidFill>
                              <a:latin typeface="Cambria Math" panose="02040503050406030204" pitchFamily="18" charset="0"/>
                              <a:ea typeface="Cambria Math" panose="02040503050406030204" pitchFamily="18" charset="0"/>
                            </a:rPr>
                            <m:t> </m:t>
                          </m:r>
                        </m:e>
                      </m:d>
                      <m:r>
                        <a:rPr lang="en-US" altLang="zh-TW" sz="2400" b="0" i="1" spc="-1" smtClean="0">
                          <a:solidFill>
                            <a:srgbClr val="FF0000"/>
                          </a:solidFill>
                          <a:latin typeface="Cambria Math" panose="02040503050406030204" pitchFamily="18" charset="0"/>
                          <a:ea typeface="Cambria Math" panose="02040503050406030204" pitchFamily="18" charset="0"/>
                        </a:rPr>
                        <m:t>=</m:t>
                      </m:r>
                      <m:d>
                        <m:dPr>
                          <m:ctrlPr>
                            <a:rPr lang="en-US" altLang="zh-TW" sz="2400" b="0" i="1" spc="-1" smtClean="0">
                              <a:solidFill>
                                <a:srgbClr val="FF0000"/>
                              </a:solidFill>
                              <a:latin typeface="Cambria Math" panose="02040503050406030204" pitchFamily="18" charset="0"/>
                              <a:ea typeface="Cambria Math" panose="02040503050406030204" pitchFamily="18" charset="0"/>
                            </a:rPr>
                          </m:ctrlPr>
                        </m:dPr>
                        <m:e>
                          <m:r>
                            <a:rPr lang="en-US" altLang="zh-TW" sz="2400" b="0" i="1" spc="-1" smtClean="0">
                              <a:solidFill>
                                <a:srgbClr val="FF0000"/>
                              </a:solidFill>
                              <a:latin typeface="Cambria Math" panose="02040503050406030204" pitchFamily="18" charset="0"/>
                              <a:ea typeface="Cambria Math" panose="02040503050406030204" pitchFamily="18" charset="0"/>
                            </a:rPr>
                            <m:t> </m:t>
                          </m:r>
                          <m:r>
                            <a:rPr lang="en-US" altLang="zh-TW" sz="2400" b="0" i="1" spc="-1" smtClean="0">
                              <a:solidFill>
                                <a:srgbClr val="FF0000"/>
                              </a:solidFill>
                              <a:latin typeface="Cambria Math" panose="02040503050406030204" pitchFamily="18" charset="0"/>
                              <a:ea typeface="Cambria Math" panose="02040503050406030204" pitchFamily="18" charset="0"/>
                            </a:rPr>
                            <m:t>𝐵</m:t>
                          </m:r>
                          <m:r>
                            <a:rPr lang="en-US" altLang="zh-TW" sz="2400" b="0" i="1" spc="-1" smtClean="0">
                              <a:solidFill>
                                <a:srgbClr val="FF0000"/>
                              </a:solidFill>
                              <a:latin typeface="Cambria Math" panose="02040503050406030204" pitchFamily="18" charset="0"/>
                              <a:ea typeface="Cambria Math" panose="02040503050406030204" pitchFamily="18" charset="0"/>
                            </a:rPr>
                            <m:t>⊗</m:t>
                          </m:r>
                          <m:r>
                            <a:rPr lang="en-US" altLang="zh-TW" sz="2400" b="0" i="1" spc="-1" smtClean="0">
                              <a:solidFill>
                                <a:srgbClr val="FF0000"/>
                              </a:solidFill>
                              <a:latin typeface="Cambria Math" panose="02040503050406030204" pitchFamily="18" charset="0"/>
                              <a:ea typeface="Cambria Math" panose="02040503050406030204" pitchFamily="18" charset="0"/>
                            </a:rPr>
                            <m:t>𝐶</m:t>
                          </m:r>
                          <m:r>
                            <a:rPr lang="en-US" altLang="zh-TW" sz="2400" b="0" i="1" spc="-1" smtClean="0">
                              <a:solidFill>
                                <a:srgbClr val="FF0000"/>
                              </a:solidFill>
                              <a:latin typeface="Cambria Math" panose="02040503050406030204" pitchFamily="18" charset="0"/>
                              <a:ea typeface="Cambria Math" panose="02040503050406030204" pitchFamily="18" charset="0"/>
                            </a:rPr>
                            <m:t> </m:t>
                          </m:r>
                        </m:e>
                      </m:d>
                      <m:r>
                        <a:rPr lang="en-US" altLang="zh-TW" sz="2400" b="0" i="1" spc="-1" smtClean="0">
                          <a:solidFill>
                            <a:srgbClr val="FF0000"/>
                          </a:solidFill>
                          <a:latin typeface="Cambria Math" panose="02040503050406030204" pitchFamily="18" charset="0"/>
                          <a:ea typeface="Cambria Math" panose="02040503050406030204" pitchFamily="18" charset="0"/>
                        </a:rPr>
                        <m:t>⊗</m:t>
                      </m:r>
                      <m:r>
                        <a:rPr lang="en-US" altLang="zh-TW" sz="2400" b="0" i="1" spc="-1" smtClean="0">
                          <a:solidFill>
                            <a:srgbClr val="FF0000"/>
                          </a:solidFill>
                          <a:latin typeface="Cambria Math" panose="02040503050406030204" pitchFamily="18" charset="0"/>
                          <a:ea typeface="Cambria Math" panose="02040503050406030204" pitchFamily="18" charset="0"/>
                        </a:rPr>
                        <m:t>𝐷</m:t>
                      </m:r>
                    </m:oMath>
                  </m:oMathPara>
                </a14:m>
                <a:endParaRPr lang="en-US" altLang="zh-TW" sz="2400" b="0" spc="-1" dirty="0" smtClean="0">
                  <a:solidFill>
                    <a:srgbClr val="FF0000"/>
                  </a:solidFill>
                  <a:ea typeface="Cambria Math" panose="02040503050406030204" pitchFamily="18" charset="0"/>
                </a:endParaRPr>
              </a:p>
              <a:p>
                <a:endParaRPr lang="en-US" altLang="zh-TW" sz="2400" dirty="0" smtClean="0">
                  <a:solidFill>
                    <a:srgbClr val="FF0000"/>
                  </a:solidFill>
                </a:endParaRPr>
              </a:p>
              <a:p>
                <a:pPr/>
                <a14:m>
                  <m:oMathPara xmlns:m="http://schemas.openxmlformats.org/officeDocument/2006/math">
                    <m:oMathParaPr>
                      <m:jc m:val="left"/>
                    </m:oMathParaPr>
                    <m:oMath xmlns:m="http://schemas.openxmlformats.org/officeDocument/2006/math">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panose="02040503050406030204" pitchFamily="18" charset="0"/>
                            </a:rPr>
                            <m:t> </m:t>
                          </m:r>
                          <m:r>
                            <a:rPr lang="en-US" altLang="zh-TW" sz="2400" b="0" i="1" smtClean="0">
                              <a:solidFill>
                                <a:srgbClr val="FF0000"/>
                              </a:solidFill>
                              <a:latin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 </m:t>
                          </m:r>
                        </m:e>
                      </m:d>
                      <m:d>
                        <m:dPr>
                          <m:ctrlPr>
                            <a:rPr lang="en-US" altLang="zh-TW" sz="2400" b="0" i="1" smtClean="0">
                              <a:solidFill>
                                <a:srgbClr val="FF0000"/>
                              </a:solidFill>
                              <a:latin typeface="Cambria Math" panose="02040503050406030204" pitchFamily="18" charset="0"/>
                              <a:ea typeface="Cambria Math" panose="02040503050406030204" pitchFamily="18" charset="0"/>
                            </a:rPr>
                          </m:ctrlPr>
                        </m:dPr>
                        <m:e>
                          <m:r>
                            <a:rPr lang="en-US" altLang="zh-TW" sz="2400" b="0" i="1" smtClean="0">
                              <a:solidFill>
                                <a:srgbClr val="FF0000"/>
                              </a:solidFill>
                              <a:latin typeface="Cambria Math" panose="02040503050406030204" pitchFamily="18" charset="0"/>
                              <a:ea typeface="Cambria Math" panose="02040503050406030204" pitchFamily="18" charset="0"/>
                            </a:rPr>
                            <m:t>𝐷</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𝐹</m:t>
                          </m:r>
                          <m:r>
                            <a:rPr lang="en-US" altLang="zh-TW" sz="2400" b="0" i="1" smtClean="0">
                              <a:solidFill>
                                <a:srgbClr val="FF0000"/>
                              </a:solidFill>
                              <a:latin typeface="Cambria Math" panose="02040503050406030204" pitchFamily="18" charset="0"/>
                              <a:ea typeface="Cambria Math" panose="02040503050406030204" pitchFamily="18" charset="0"/>
                            </a:rPr>
                            <m:t> </m:t>
                          </m:r>
                        </m:e>
                      </m:d>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𝐵𝐷</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𝐶𝐹</m:t>
                      </m:r>
                    </m:oMath>
                  </m:oMathPara>
                </a14:m>
                <a:endParaRPr lang="en-US" altLang="zh-TW" sz="2400" b="0" dirty="0" smtClean="0">
                  <a:solidFill>
                    <a:srgbClr val="FF0000"/>
                  </a:solidFill>
                  <a:ea typeface="Cambria Math" panose="02040503050406030204" pitchFamily="18" charset="0"/>
                </a:endParaRPr>
              </a:p>
              <a:p>
                <a:endParaRPr lang="en-US" altLang="zh-TW" sz="2400" dirty="0" smtClean="0">
                  <a:solidFill>
                    <a:srgbClr val="FF0000"/>
                  </a:solidFill>
                </a:endParaRPr>
              </a:p>
              <a:p>
                <a:pPr/>
                <a14:m>
                  <m:oMathPara xmlns:m="http://schemas.openxmlformats.org/officeDocument/2006/math">
                    <m:oMathParaPr>
                      <m:jc m:val="left"/>
                    </m:oMathParaPr>
                    <m:oMath xmlns:m="http://schemas.openxmlformats.org/officeDocument/2006/math">
                      <m:sSup>
                        <m:sSupPr>
                          <m:ctrlPr>
                            <a:rPr lang="en-US" altLang="zh-TW" sz="2400" i="1" smtClean="0">
                              <a:solidFill>
                                <a:srgbClr val="FF0000"/>
                              </a:solidFill>
                              <a:latin typeface="Cambria Math" panose="02040503050406030204" pitchFamily="18" charset="0"/>
                            </a:rPr>
                          </m:ctrlPr>
                        </m:sSupPr>
                        <m:e>
                          <m:r>
                            <a:rPr lang="en-US" altLang="zh-TW" sz="2400" b="0" i="1" smtClean="0">
                              <a:solidFill>
                                <a:srgbClr val="FF0000"/>
                              </a:solidFill>
                              <a:latin typeface="Cambria Math" panose="02040503050406030204" pitchFamily="18" charset="0"/>
                            </a:rPr>
                            <m:t>( </m:t>
                          </m:r>
                          <m:r>
                            <a:rPr lang="en-US" altLang="zh-TW" sz="2400" b="0" i="1" smtClean="0">
                              <a:solidFill>
                                <a:srgbClr val="FF0000"/>
                              </a:solidFill>
                              <a:latin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 )</m:t>
                          </m:r>
                        </m:e>
                        <m:sup>
                          <m:r>
                            <a:rPr lang="en-US" altLang="zh-TW" sz="2400" b="0" i="1" smtClean="0">
                              <a:solidFill>
                                <a:srgbClr val="FF0000"/>
                              </a:solidFill>
                              <a:latin typeface="Cambria Math" panose="02040503050406030204" pitchFamily="18" charset="0"/>
                            </a:rPr>
                            <m:t>−1</m:t>
                          </m:r>
                        </m:sup>
                      </m:sSup>
                      <m:r>
                        <a:rPr lang="en-US" altLang="zh-TW" sz="2400" b="0" i="1" smtClean="0">
                          <a:solidFill>
                            <a:srgbClr val="FF0000"/>
                          </a:solidFill>
                          <a:latin typeface="Cambria Math" panose="02040503050406030204" pitchFamily="18" charset="0"/>
                        </a:rPr>
                        <m:t> = </m:t>
                      </m:r>
                      <m:sSup>
                        <m:sSupPr>
                          <m:ctrlPr>
                            <a:rPr lang="en-US" altLang="zh-TW" sz="2400" b="0" i="1" smtClean="0">
                              <a:solidFill>
                                <a:srgbClr val="FF0000"/>
                              </a:solidFill>
                              <a:latin typeface="Cambria Math" panose="02040503050406030204" pitchFamily="18" charset="0"/>
                            </a:rPr>
                          </m:ctrlPr>
                        </m:sSupPr>
                        <m:e>
                          <m:r>
                            <a:rPr lang="en-US" altLang="zh-TW" sz="2400" b="0" i="1" smtClean="0">
                              <a:solidFill>
                                <a:srgbClr val="FF0000"/>
                              </a:solidFill>
                              <a:latin typeface="Cambria Math" panose="02040503050406030204" pitchFamily="18" charset="0"/>
                            </a:rPr>
                            <m:t>𝐵</m:t>
                          </m:r>
                        </m:e>
                        <m:sup>
                          <m:r>
                            <a:rPr lang="en-US" altLang="zh-TW" sz="2400" b="0" i="1" smtClean="0">
                              <a:solidFill>
                                <a:srgbClr val="FF0000"/>
                              </a:solidFill>
                              <a:latin typeface="Cambria Math" panose="02040503050406030204" pitchFamily="18" charset="0"/>
                            </a:rPr>
                            <m:t>−1</m:t>
                          </m:r>
                        </m:sup>
                      </m:sSup>
                      <m:r>
                        <a:rPr lang="en-US" altLang="zh-TW" sz="2400" b="0" i="1" smtClean="0">
                          <a:solidFill>
                            <a:srgbClr val="FF0000"/>
                          </a:solidFill>
                          <a:latin typeface="Cambria Math" panose="02040503050406030204" pitchFamily="18" charset="0"/>
                          <a:ea typeface="Cambria Math" panose="02040503050406030204" pitchFamily="18" charset="0"/>
                        </a:rPr>
                        <m:t>⊗ </m:t>
                      </m:r>
                      <m:sSup>
                        <m:sSupPr>
                          <m:ctrlPr>
                            <a:rPr lang="en-US" altLang="zh-TW" sz="2400" b="0" i="1" smtClean="0">
                              <a:solidFill>
                                <a:srgbClr val="FF0000"/>
                              </a:solidFill>
                              <a:latin typeface="Cambria Math" panose="02040503050406030204" pitchFamily="18" charset="0"/>
                              <a:ea typeface="Cambria Math" panose="02040503050406030204" pitchFamily="18" charset="0"/>
                            </a:rPr>
                          </m:ctrlPr>
                        </m:sSupPr>
                        <m:e>
                          <m:r>
                            <a:rPr lang="en-US" altLang="zh-TW" sz="2400" b="0" i="1" smtClean="0">
                              <a:solidFill>
                                <a:srgbClr val="FF0000"/>
                              </a:solidFill>
                              <a:latin typeface="Cambria Math" panose="02040503050406030204" pitchFamily="18" charset="0"/>
                              <a:ea typeface="Cambria Math" panose="02040503050406030204" pitchFamily="18" charset="0"/>
                            </a:rPr>
                            <m:t>𝐶</m:t>
                          </m:r>
                        </m:e>
                        <m:sup>
                          <m:r>
                            <a:rPr lang="en-US" altLang="zh-TW" sz="2400" b="0" i="1" smtClean="0">
                              <a:solidFill>
                                <a:srgbClr val="FF0000"/>
                              </a:solidFill>
                              <a:latin typeface="Cambria Math" panose="02040503050406030204" pitchFamily="18" charset="0"/>
                              <a:ea typeface="Cambria Math" panose="02040503050406030204" pitchFamily="18" charset="0"/>
                            </a:rPr>
                            <m:t>−1</m:t>
                          </m:r>
                        </m:sup>
                      </m:sSup>
                    </m:oMath>
                  </m:oMathPara>
                </a14:m>
                <a:endParaRPr lang="en-US" altLang="zh-TW" sz="2400" dirty="0" smtClean="0">
                  <a:solidFill>
                    <a:srgbClr val="FF0000"/>
                  </a:solidFill>
                </a:endParaRPr>
              </a:p>
              <a:p>
                <a:endParaRPr lang="en-US" altLang="zh-TW" sz="2400" dirty="0">
                  <a:solidFill>
                    <a:srgbClr val="FF0000"/>
                  </a:solidFill>
                </a:endParaRPr>
              </a:p>
              <a:p>
                <a:pPr/>
                <a14:m>
                  <m:oMathPara xmlns:m="http://schemas.openxmlformats.org/officeDocument/2006/math">
                    <m:oMathParaPr>
                      <m:jc m:val="left"/>
                    </m:oMathParaPr>
                    <m:oMath xmlns:m="http://schemas.openxmlformats.org/officeDocument/2006/math">
                      <m:sSup>
                        <m:sSupPr>
                          <m:ctrlPr>
                            <a:rPr lang="en-US" altLang="zh-TW" sz="2400" i="1" smtClean="0">
                              <a:solidFill>
                                <a:srgbClr val="FF0000"/>
                              </a:solidFill>
                              <a:latin typeface="Cambria Math" panose="02040503050406030204" pitchFamily="18" charset="0"/>
                            </a:rPr>
                          </m:ctrlPr>
                        </m:sSupPr>
                        <m:e>
                          <m:r>
                            <a:rPr lang="en-US" altLang="zh-TW" sz="2400" b="0" i="1" smtClean="0">
                              <a:solidFill>
                                <a:srgbClr val="FF0000"/>
                              </a:solidFill>
                              <a:latin typeface="Cambria Math" panose="02040503050406030204" pitchFamily="18" charset="0"/>
                            </a:rPr>
                            <m:t>( </m:t>
                          </m:r>
                          <m:r>
                            <a:rPr lang="en-US" altLang="zh-TW" sz="2400" b="0" i="1" smtClean="0">
                              <a:solidFill>
                                <a:srgbClr val="FF0000"/>
                              </a:solidFill>
                              <a:latin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 )</m:t>
                          </m:r>
                        </m:e>
                        <m:sup>
                          <m:r>
                            <a:rPr lang="en-US" altLang="zh-TW" sz="2400" b="0" i="1" smtClean="0">
                              <a:solidFill>
                                <a:srgbClr val="FF0000"/>
                              </a:solidFill>
                              <a:latin typeface="Cambria Math" panose="02040503050406030204" pitchFamily="18" charset="0"/>
                            </a:rPr>
                            <m:t>𝑇</m:t>
                          </m:r>
                        </m:sup>
                      </m:sSup>
                      <m:r>
                        <a:rPr lang="en-US" altLang="zh-TW" sz="2400" b="0" i="1" smtClean="0">
                          <a:solidFill>
                            <a:srgbClr val="FF0000"/>
                          </a:solidFill>
                          <a:latin typeface="Cambria Math" panose="02040503050406030204" pitchFamily="18" charset="0"/>
                        </a:rPr>
                        <m:t> = </m:t>
                      </m:r>
                      <m:sSup>
                        <m:sSupPr>
                          <m:ctrlPr>
                            <a:rPr lang="en-US" altLang="zh-TW" sz="2400" b="0" i="1" smtClean="0">
                              <a:solidFill>
                                <a:srgbClr val="FF0000"/>
                              </a:solidFill>
                              <a:latin typeface="Cambria Math" panose="02040503050406030204" pitchFamily="18" charset="0"/>
                            </a:rPr>
                          </m:ctrlPr>
                        </m:sSupPr>
                        <m:e>
                          <m:r>
                            <a:rPr lang="en-US" altLang="zh-TW" sz="2400" b="0" i="1" smtClean="0">
                              <a:solidFill>
                                <a:srgbClr val="FF0000"/>
                              </a:solidFill>
                              <a:latin typeface="Cambria Math" panose="02040503050406030204" pitchFamily="18" charset="0"/>
                            </a:rPr>
                            <m:t>𝐵</m:t>
                          </m:r>
                        </m:e>
                        <m:sup>
                          <m:r>
                            <a:rPr lang="en-US" altLang="zh-TW" sz="2400" b="0" i="1" smtClean="0">
                              <a:solidFill>
                                <a:srgbClr val="FF0000"/>
                              </a:solidFill>
                              <a:latin typeface="Cambria Math" panose="02040503050406030204" pitchFamily="18" charset="0"/>
                            </a:rPr>
                            <m:t>𝑇</m:t>
                          </m:r>
                        </m:sup>
                      </m:sSup>
                      <m:r>
                        <a:rPr lang="en-US" altLang="zh-TW" sz="2400" b="0" i="1" smtClean="0">
                          <a:solidFill>
                            <a:srgbClr val="FF0000"/>
                          </a:solidFill>
                          <a:latin typeface="Cambria Math" panose="02040503050406030204" pitchFamily="18" charset="0"/>
                          <a:ea typeface="Cambria Math" panose="02040503050406030204" pitchFamily="18" charset="0"/>
                        </a:rPr>
                        <m:t>⊗ </m:t>
                      </m:r>
                      <m:sSup>
                        <m:sSupPr>
                          <m:ctrlPr>
                            <a:rPr lang="en-US" altLang="zh-TW" sz="2400" b="0" i="1" smtClean="0">
                              <a:solidFill>
                                <a:srgbClr val="FF0000"/>
                              </a:solidFill>
                              <a:latin typeface="Cambria Math" panose="02040503050406030204" pitchFamily="18" charset="0"/>
                              <a:ea typeface="Cambria Math" panose="02040503050406030204" pitchFamily="18" charset="0"/>
                            </a:rPr>
                          </m:ctrlPr>
                        </m:sSupPr>
                        <m:e>
                          <m:r>
                            <a:rPr lang="en-US" altLang="zh-TW" sz="2400" b="0" i="1" smtClean="0">
                              <a:solidFill>
                                <a:srgbClr val="FF0000"/>
                              </a:solidFill>
                              <a:latin typeface="Cambria Math" panose="02040503050406030204" pitchFamily="18" charset="0"/>
                              <a:ea typeface="Cambria Math" panose="02040503050406030204" pitchFamily="18" charset="0"/>
                            </a:rPr>
                            <m:t>𝐶</m:t>
                          </m:r>
                        </m:e>
                        <m:sup>
                          <m:r>
                            <a:rPr lang="en-US" altLang="zh-TW" sz="2400" b="0" i="1" smtClean="0">
                              <a:solidFill>
                                <a:srgbClr val="FF0000"/>
                              </a:solidFill>
                              <a:latin typeface="Cambria Math" panose="02040503050406030204" pitchFamily="18" charset="0"/>
                              <a:ea typeface="Cambria Math" panose="02040503050406030204" pitchFamily="18" charset="0"/>
                            </a:rPr>
                            <m:t>𝑇</m:t>
                          </m:r>
                        </m:sup>
                      </m:sSup>
                    </m:oMath>
                  </m:oMathPara>
                </a14:m>
                <a:endParaRPr lang="en-US" altLang="zh-TW" sz="2400" dirty="0" smtClean="0"/>
              </a:p>
            </p:txBody>
          </p:sp>
        </mc:Choice>
        <mc:Fallback xmlns="">
          <p:sp>
            <p:nvSpPr>
              <p:cNvPr id="6" name="矩形 5"/>
              <p:cNvSpPr>
                <a:spLocks noRot="1" noChangeAspect="1" noMove="1" noResize="1" noEditPoints="1" noAdjustHandles="1" noChangeArrowheads="1" noChangeShapeType="1" noTextEdit="1"/>
              </p:cNvSpPr>
              <p:nvPr/>
            </p:nvSpPr>
            <p:spPr>
              <a:xfrm>
                <a:off x="504000" y="2399354"/>
                <a:ext cx="4480714" cy="2677656"/>
              </a:xfrm>
              <a:prstGeom prst="rect">
                <a:avLst/>
              </a:prstGeom>
              <a:blipFill rotWithShape="0">
                <a:blip r:embed="rId2"/>
                <a:stretch>
                  <a:fillRect l="-1224" b="-27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04000" y="3543951"/>
                <a:ext cx="7721153" cy="400110"/>
              </a:xfrm>
              <a:prstGeom prst="rect">
                <a:avLst/>
              </a:prstGeom>
            </p:spPr>
            <p:txBody>
              <a:bodyPr wrap="none">
                <a:spAutoFit/>
              </a:bodyPr>
              <a:lstStyle/>
              <a:p>
                <a14:m>
                  <m:oMath xmlns:m="http://schemas.openxmlformats.org/officeDocument/2006/math">
                    <m:d>
                      <m:dPr>
                        <m:ctrlPr>
                          <a:rPr lang="en-US" altLang="zh-TW" sz="2000" b="0" i="1" smtClean="0">
                            <a:solidFill>
                              <a:schemeClr val="tx1"/>
                            </a:solidFill>
                            <a:latin typeface="Cambria Math" panose="02040503050406030204" pitchFamily="18" charset="0"/>
                          </a:rPr>
                        </m:ctrlPr>
                      </m:dPr>
                      <m:e>
                        <m:r>
                          <a:rPr lang="en-US" altLang="zh-TW" sz="2000" b="0" i="1" smtClean="0">
                            <a:solidFill>
                              <a:schemeClr val="tx1"/>
                            </a:solidFill>
                            <a:latin typeface="Cambria Math" panose="02040503050406030204" pitchFamily="18" charset="0"/>
                          </a:rPr>
                          <m:t> </m:t>
                        </m:r>
                        <m:r>
                          <a:rPr lang="en-US" altLang="zh-TW" sz="2000" b="0" i="1" smtClean="0">
                            <a:solidFill>
                              <a:schemeClr val="tx1"/>
                            </a:solidFill>
                            <a:latin typeface="Cambria Math" panose="02040503050406030204" pitchFamily="18" charset="0"/>
                          </a:rPr>
                          <m:t>𝐵</m:t>
                        </m:r>
                        <m:r>
                          <a:rPr lang="en-US" altLang="zh-TW" sz="2000" b="0" i="1" smtClean="0">
                            <a:solidFill>
                              <a:schemeClr val="tx1"/>
                            </a:solidFill>
                            <a:latin typeface="Cambria Math" panose="02040503050406030204" pitchFamily="18" charset="0"/>
                            <a:ea typeface="Cambria Math" panose="02040503050406030204" pitchFamily="18" charset="0"/>
                          </a:rPr>
                          <m:t>⊗</m:t>
                        </m:r>
                        <m:r>
                          <a:rPr lang="en-US" altLang="zh-TW" sz="2000" b="0" i="1" smtClean="0">
                            <a:solidFill>
                              <a:schemeClr val="tx1"/>
                            </a:solidFill>
                            <a:latin typeface="Cambria Math" panose="02040503050406030204" pitchFamily="18" charset="0"/>
                            <a:ea typeface="Cambria Math" panose="02040503050406030204" pitchFamily="18" charset="0"/>
                          </a:rPr>
                          <m:t>𝐶</m:t>
                        </m:r>
                        <m:r>
                          <a:rPr lang="en-US" altLang="zh-TW" sz="2000" b="0" i="1" smtClean="0">
                            <a:solidFill>
                              <a:schemeClr val="tx1"/>
                            </a:solidFill>
                            <a:latin typeface="Cambria Math" panose="02040503050406030204" pitchFamily="18" charset="0"/>
                            <a:ea typeface="Cambria Math" panose="02040503050406030204" pitchFamily="18" charset="0"/>
                          </a:rPr>
                          <m:t> </m:t>
                        </m:r>
                      </m:e>
                    </m:d>
                    <m:d>
                      <m:dPr>
                        <m:ctrlPr>
                          <a:rPr lang="en-US" altLang="zh-TW" sz="2000" b="0" i="1" smtClean="0">
                            <a:solidFill>
                              <a:schemeClr val="tx1"/>
                            </a:solidFill>
                            <a:latin typeface="Cambria Math" panose="02040503050406030204" pitchFamily="18" charset="0"/>
                            <a:ea typeface="Cambria Math" panose="02040503050406030204" pitchFamily="18" charset="0"/>
                          </a:rPr>
                        </m:ctrlPr>
                      </m:dPr>
                      <m:e>
                        <m:r>
                          <a:rPr lang="en-US" altLang="zh-TW" sz="2000" b="0" i="1" smtClean="0">
                            <a:solidFill>
                              <a:schemeClr val="tx1"/>
                            </a:solidFill>
                            <a:latin typeface="Cambria Math" panose="02040503050406030204" pitchFamily="18" charset="0"/>
                            <a:ea typeface="Cambria Math" panose="02040503050406030204" pitchFamily="18" charset="0"/>
                          </a:rPr>
                          <m:t> </m:t>
                        </m:r>
                        <m:sSup>
                          <m:sSupPr>
                            <m:ctrlPr>
                              <a:rPr lang="en-US" altLang="zh-TW" sz="2000" b="0" i="1" smtClean="0">
                                <a:solidFill>
                                  <a:schemeClr val="tx1"/>
                                </a:solidFill>
                                <a:latin typeface="Cambria Math" panose="02040503050406030204" pitchFamily="18" charset="0"/>
                                <a:ea typeface="Cambria Math" panose="02040503050406030204" pitchFamily="18" charset="0"/>
                              </a:rPr>
                            </m:ctrlPr>
                          </m:sSupPr>
                          <m:e>
                            <m:r>
                              <a:rPr lang="en-US" altLang="zh-TW" sz="2000" b="0" i="1" smtClean="0">
                                <a:solidFill>
                                  <a:schemeClr val="tx1"/>
                                </a:solidFill>
                                <a:latin typeface="Cambria Math" panose="02040503050406030204" pitchFamily="18" charset="0"/>
                                <a:ea typeface="Cambria Math" panose="02040503050406030204" pitchFamily="18" charset="0"/>
                              </a:rPr>
                              <m:t>𝐵</m:t>
                            </m:r>
                          </m:e>
                          <m:sup>
                            <m:r>
                              <a:rPr lang="en-US" altLang="zh-TW" sz="2000" b="0" i="1" smtClean="0">
                                <a:solidFill>
                                  <a:schemeClr val="tx1"/>
                                </a:solidFill>
                                <a:latin typeface="Cambria Math" panose="02040503050406030204" pitchFamily="18" charset="0"/>
                                <a:ea typeface="Cambria Math" panose="02040503050406030204" pitchFamily="18" charset="0"/>
                              </a:rPr>
                              <m:t>−1</m:t>
                            </m:r>
                          </m:sup>
                        </m:sSup>
                        <m:r>
                          <a:rPr lang="en-US" altLang="zh-TW" sz="2000" b="0" i="1" smtClean="0">
                            <a:solidFill>
                              <a:schemeClr val="tx1"/>
                            </a:solidFill>
                            <a:latin typeface="Cambria Math" panose="02040503050406030204" pitchFamily="18" charset="0"/>
                            <a:ea typeface="Cambria Math" panose="02040503050406030204" pitchFamily="18" charset="0"/>
                          </a:rPr>
                          <m:t>⊗ </m:t>
                        </m:r>
                        <m:sSup>
                          <m:sSupPr>
                            <m:ctrlPr>
                              <a:rPr lang="en-US" altLang="zh-TW" sz="2000" b="0" i="1" smtClean="0">
                                <a:solidFill>
                                  <a:schemeClr val="tx1"/>
                                </a:solidFill>
                                <a:latin typeface="Cambria Math" panose="02040503050406030204" pitchFamily="18" charset="0"/>
                                <a:ea typeface="Cambria Math" panose="02040503050406030204" pitchFamily="18" charset="0"/>
                              </a:rPr>
                            </m:ctrlPr>
                          </m:sSupPr>
                          <m:e>
                            <m:r>
                              <a:rPr lang="en-US" altLang="zh-TW" sz="2000" b="0" i="1" smtClean="0">
                                <a:solidFill>
                                  <a:schemeClr val="tx1"/>
                                </a:solidFill>
                                <a:latin typeface="Cambria Math" panose="02040503050406030204" pitchFamily="18" charset="0"/>
                                <a:ea typeface="Cambria Math" panose="02040503050406030204" pitchFamily="18" charset="0"/>
                              </a:rPr>
                              <m:t>𝐶</m:t>
                            </m:r>
                          </m:e>
                          <m:sup>
                            <m:r>
                              <a:rPr lang="en-US" altLang="zh-TW" sz="2000" b="0" i="1" smtClean="0">
                                <a:solidFill>
                                  <a:schemeClr val="tx1"/>
                                </a:solidFill>
                                <a:latin typeface="Cambria Math" panose="02040503050406030204" pitchFamily="18" charset="0"/>
                                <a:ea typeface="Cambria Math" panose="02040503050406030204" pitchFamily="18" charset="0"/>
                              </a:rPr>
                              <m:t>−1</m:t>
                            </m:r>
                          </m:sup>
                        </m:sSup>
                        <m:r>
                          <a:rPr lang="en-US" altLang="zh-TW" sz="2000" b="0" i="1" smtClean="0">
                            <a:solidFill>
                              <a:schemeClr val="tx1"/>
                            </a:solidFill>
                            <a:latin typeface="Cambria Math" panose="02040503050406030204" pitchFamily="18" charset="0"/>
                            <a:ea typeface="Cambria Math" panose="02040503050406030204" pitchFamily="18" charset="0"/>
                          </a:rPr>
                          <m:t> </m:t>
                        </m:r>
                      </m:e>
                    </m:d>
                    <m:r>
                      <a:rPr lang="en-US" altLang="zh-TW" sz="2000" b="0" i="1" smtClean="0">
                        <a:solidFill>
                          <a:schemeClr val="tx1"/>
                        </a:solidFill>
                        <a:latin typeface="Cambria Math" panose="02040503050406030204" pitchFamily="18" charset="0"/>
                        <a:ea typeface="Cambria Math" panose="02040503050406030204" pitchFamily="18" charset="0"/>
                      </a:rPr>
                      <m:t>=</m:t>
                    </m:r>
                    <m:sSup>
                      <m:sSupPr>
                        <m:ctrlPr>
                          <a:rPr lang="en-US" altLang="zh-TW" sz="2000" b="0" i="1" smtClean="0">
                            <a:solidFill>
                              <a:schemeClr val="tx1"/>
                            </a:solidFill>
                            <a:latin typeface="Cambria Math" panose="02040503050406030204" pitchFamily="18" charset="0"/>
                            <a:ea typeface="Cambria Math" panose="02040503050406030204" pitchFamily="18" charset="0"/>
                          </a:rPr>
                        </m:ctrlPr>
                      </m:sSupPr>
                      <m:e>
                        <m:r>
                          <a:rPr lang="en-US" altLang="zh-TW" sz="2000" b="0" i="1" smtClean="0">
                            <a:solidFill>
                              <a:schemeClr val="tx1"/>
                            </a:solidFill>
                            <a:latin typeface="Cambria Math" panose="02040503050406030204" pitchFamily="18" charset="0"/>
                            <a:ea typeface="Cambria Math" panose="02040503050406030204" pitchFamily="18" charset="0"/>
                          </a:rPr>
                          <m:t>𝐵𝐵</m:t>
                        </m:r>
                      </m:e>
                      <m:sup>
                        <m:r>
                          <a:rPr lang="en-US" altLang="zh-TW" sz="2000" b="0" i="1" smtClean="0">
                            <a:solidFill>
                              <a:schemeClr val="tx1"/>
                            </a:solidFill>
                            <a:latin typeface="Cambria Math" panose="02040503050406030204" pitchFamily="18" charset="0"/>
                            <a:ea typeface="Cambria Math" panose="02040503050406030204" pitchFamily="18" charset="0"/>
                          </a:rPr>
                          <m:t>−1</m:t>
                        </m:r>
                      </m:sup>
                    </m:sSup>
                    <m:r>
                      <a:rPr lang="en-US" altLang="zh-TW" sz="2000" b="0" i="1" smtClean="0">
                        <a:solidFill>
                          <a:schemeClr val="tx1"/>
                        </a:solidFill>
                        <a:latin typeface="Cambria Math" panose="02040503050406030204" pitchFamily="18" charset="0"/>
                        <a:ea typeface="Cambria Math" panose="02040503050406030204" pitchFamily="18" charset="0"/>
                      </a:rPr>
                      <m:t>⊗ </m:t>
                    </m:r>
                    <m:sSup>
                      <m:sSupPr>
                        <m:ctrlPr>
                          <a:rPr lang="en-US" altLang="zh-TW" sz="2000" b="0" i="1" smtClean="0">
                            <a:solidFill>
                              <a:schemeClr val="tx1"/>
                            </a:solidFill>
                            <a:latin typeface="Cambria Math" panose="02040503050406030204" pitchFamily="18" charset="0"/>
                            <a:ea typeface="Cambria Math" panose="02040503050406030204" pitchFamily="18" charset="0"/>
                          </a:rPr>
                        </m:ctrlPr>
                      </m:sSupPr>
                      <m:e>
                        <m:r>
                          <a:rPr lang="en-US" altLang="zh-TW" sz="2000" b="0" i="1" smtClean="0">
                            <a:solidFill>
                              <a:schemeClr val="tx1"/>
                            </a:solidFill>
                            <a:latin typeface="Cambria Math" panose="02040503050406030204" pitchFamily="18" charset="0"/>
                            <a:ea typeface="Cambria Math" panose="02040503050406030204" pitchFamily="18" charset="0"/>
                          </a:rPr>
                          <m:t>𝐶𝐶</m:t>
                        </m:r>
                      </m:e>
                      <m:sup>
                        <m:r>
                          <a:rPr lang="en-US" altLang="zh-TW" sz="2000" b="0" i="1" smtClean="0">
                            <a:solidFill>
                              <a:schemeClr val="tx1"/>
                            </a:solidFill>
                            <a:latin typeface="Cambria Math" panose="02040503050406030204" pitchFamily="18" charset="0"/>
                            <a:ea typeface="Cambria Math" panose="02040503050406030204" pitchFamily="18" charset="0"/>
                          </a:rPr>
                          <m:t>−1</m:t>
                        </m:r>
                      </m:sup>
                    </m:sSup>
                    <m:r>
                      <a:rPr lang="en-US" altLang="zh-TW" sz="2000" b="0" i="1" smtClean="0">
                        <a:solidFill>
                          <a:schemeClr val="tx1"/>
                        </a:solidFill>
                        <a:latin typeface="Cambria Math" panose="02040503050406030204" pitchFamily="18" charset="0"/>
                        <a:ea typeface="Cambria Math" panose="02040503050406030204" pitchFamily="18" charset="0"/>
                      </a:rPr>
                      <m:t>=</m:t>
                    </m:r>
                    <m:r>
                      <a:rPr lang="en-US" altLang="zh-TW" sz="2000" b="0" i="1" smtClean="0">
                        <a:solidFill>
                          <a:schemeClr val="tx1"/>
                        </a:solidFill>
                        <a:latin typeface="Cambria Math" panose="02040503050406030204" pitchFamily="18" charset="0"/>
                        <a:ea typeface="Cambria Math" panose="02040503050406030204" pitchFamily="18" charset="0"/>
                      </a:rPr>
                      <m:t>𝐼</m:t>
                    </m:r>
                    <m:r>
                      <a:rPr lang="en-US" altLang="zh-TW" sz="2000" b="0" i="0" smtClean="0">
                        <a:solidFill>
                          <a:schemeClr val="tx1"/>
                        </a:solidFill>
                        <a:latin typeface="Cambria Math" panose="02040503050406030204" pitchFamily="18" charset="0"/>
                        <a:ea typeface="Cambria Math" panose="02040503050406030204" pitchFamily="18" charset="0"/>
                      </a:rPr>
                      <m:t>  </m:t>
                    </m:r>
                    <m:r>
                      <a:rPr lang="en-US" altLang="zh-TW" sz="2000" b="0" i="1" smtClean="0">
                        <a:solidFill>
                          <a:schemeClr val="tx1"/>
                        </a:solidFill>
                        <a:latin typeface="Cambria Math" panose="02040503050406030204" pitchFamily="18" charset="0"/>
                        <a:ea typeface="Cambria Math" panose="02040503050406030204" pitchFamily="18" charset="0"/>
                      </a:rPr>
                      <m:t>⟺</m:t>
                    </m:r>
                  </m:oMath>
                </a14:m>
                <a:r>
                  <a:rPr lang="en-US" altLang="zh-TW" sz="2000" dirty="0" smtClean="0">
                    <a:solidFill>
                      <a:schemeClr val="tx1"/>
                    </a:solidFill>
                  </a:rPr>
                  <a:t> B.C are invertible</a:t>
                </a:r>
              </a:p>
            </p:txBody>
          </p:sp>
        </mc:Choice>
        <mc:Fallback xmlns="">
          <p:sp>
            <p:nvSpPr>
              <p:cNvPr id="16" name="矩形 15"/>
              <p:cNvSpPr>
                <a:spLocks noRot="1" noChangeAspect="1" noMove="1" noResize="1" noEditPoints="1" noAdjustHandles="1" noChangeArrowheads="1" noChangeShapeType="1" noTextEdit="1"/>
              </p:cNvSpPr>
              <p:nvPr/>
            </p:nvSpPr>
            <p:spPr>
              <a:xfrm>
                <a:off x="504000" y="3543951"/>
                <a:ext cx="7721153" cy="400110"/>
              </a:xfrm>
              <a:prstGeom prst="rect">
                <a:avLst/>
              </a:prstGeom>
              <a:blipFill rotWithShape="0">
                <a:blip r:embed="rId3"/>
                <a:stretch>
                  <a:fillRect t="-6061" r="-79" b="-27273"/>
                </a:stretch>
              </a:blipFill>
            </p:spPr>
            <p:txBody>
              <a:bodyPr/>
              <a:lstStyle/>
              <a:p>
                <a:r>
                  <a:rPr lang="zh-TW" altLang="en-US">
                    <a:noFill/>
                  </a:rPr>
                  <a:t> </a:t>
                </a:r>
              </a:p>
            </p:txBody>
          </p:sp>
        </mc:Fallback>
      </mc:AlternateContent>
      <p:sp>
        <p:nvSpPr>
          <p:cNvPr id="46" name="TextShape 1"/>
          <p:cNvSpPr txBox="1"/>
          <p:nvPr/>
        </p:nvSpPr>
        <p:spPr>
          <a:xfrm>
            <a:off x="504000" y="301320"/>
            <a:ext cx="9071640" cy="1262160"/>
          </a:xfrm>
          <a:prstGeom prst="rect">
            <a:avLst/>
          </a:prstGeom>
          <a:noFill/>
          <a:ln>
            <a:noFill/>
          </a:ln>
        </p:spPr>
        <p:txBody>
          <a:bodyPr lIns="0" tIns="0" rIns="0" bIns="0" anchor="ctr"/>
          <a:lstStyle/>
          <a:p>
            <a:pPr algn="ctr"/>
            <a:r>
              <a:rPr lang="en-US" sz="4400" spc="-1" dirty="0">
                <a:latin typeface="微軟正黑體"/>
              </a:rPr>
              <a:t>Basic properties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Shape 1"/>
          <p:cNvSpPr txBox="1"/>
          <p:nvPr/>
        </p:nvSpPr>
        <p:spPr>
          <a:xfrm>
            <a:off x="504000" y="301320"/>
            <a:ext cx="9071640" cy="1262160"/>
          </a:xfrm>
          <a:prstGeom prst="rect">
            <a:avLst/>
          </a:prstGeom>
          <a:noFill/>
          <a:ln>
            <a:noFill/>
          </a:ln>
        </p:spPr>
        <p:txBody>
          <a:bodyPr lIns="0" tIns="0" rIns="0" bIns="0" anchor="ctr"/>
          <a:lstStyle/>
          <a:p>
            <a:pPr algn="ctr"/>
            <a:endParaRPr/>
          </a:p>
        </p:txBody>
      </p:sp>
      <mc:AlternateContent xmlns:mc="http://schemas.openxmlformats.org/markup-compatibility/2006">
        <mc:Choice xmlns:a14="http://schemas.microsoft.com/office/drawing/2010/main" Requires="a14">
          <p:sp>
            <p:nvSpPr>
              <p:cNvPr id="68" name="TextShape 2"/>
              <p:cNvSpPr txBox="1"/>
              <p:nvPr/>
            </p:nvSpPr>
            <p:spPr>
              <a:xfrm>
                <a:off x="504000" y="1715880"/>
                <a:ext cx="9071640" cy="4384440"/>
              </a:xfrm>
              <a:prstGeom prst="rect">
                <a:avLst/>
              </a:prstGeom>
              <a:noFill/>
              <a:ln>
                <a:noFill/>
              </a:ln>
            </p:spPr>
            <p:txBody>
              <a:bodyPr lIns="0" tIns="0" rIns="0" bIns="0"/>
              <a:lstStyle/>
              <a:p>
                <a:pPr/>
                <a14:m>
                  <m:oMathPara xmlns:m="http://schemas.openxmlformats.org/officeDocument/2006/math">
                    <m:oMathParaPr>
                      <m:jc m:val="left"/>
                    </m:oMathParaPr>
                    <m:oMath xmlns:m="http://schemas.openxmlformats.org/officeDocument/2006/math">
                      <m:r>
                        <a:rPr lang="en-US" altLang="zh-TW" sz="2400" b="0" i="1" smtClean="0">
                          <a:solidFill>
                            <a:srgbClr val="FF0000"/>
                          </a:solidFill>
                          <a:latin typeface="Cambria Math" panose="02040503050406030204" pitchFamily="18" charset="0"/>
                          <a:ea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 </m:t>
                      </m:r>
                      <m:r>
                        <a:rPr lang="en-US" altLang="zh-TW" sz="2400" b="0" i="1" smtClean="0">
                          <a:solidFill>
                            <a:srgbClr val="FF0000"/>
                          </a:solidFill>
                          <a:latin typeface="Cambria Math" panose="02040503050406030204" pitchFamily="18" charset="0"/>
                          <a:ea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 ≠</m:t>
                      </m:r>
                      <m:r>
                        <a:rPr lang="en-US" altLang="zh-TW" sz="2400" b="0" i="1" smtClean="0">
                          <a:solidFill>
                            <a:srgbClr val="FF0000"/>
                          </a:solidFill>
                          <a:latin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𝐵</m:t>
                      </m:r>
                    </m:oMath>
                  </m:oMathPara>
                </a14:m>
                <a:endParaRPr lang="en-US" sz="2400" dirty="0" smtClean="0">
                  <a:solidFill>
                    <a:srgbClr val="FF0000"/>
                  </a:solidFill>
                </a:endParaRPr>
              </a:p>
              <a:p>
                <a:r>
                  <a:rPr lang="en-US" sz="2400" dirty="0" smtClean="0"/>
                  <a:t>However, </a:t>
                </a:r>
                <a14:m>
                  <m:oMath xmlns:m="http://schemas.openxmlformats.org/officeDocument/2006/math">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𝐶</m:t>
                    </m:r>
                    <m:r>
                      <a:rPr lang="en-US" altLang="zh-TW" sz="2400" b="0" i="1" smtClean="0">
                        <a:latin typeface="Cambria Math" panose="02040503050406030204" pitchFamily="18" charset="0"/>
                        <a:ea typeface="Cambria Math" panose="02040503050406030204" pitchFamily="18" charset="0"/>
                      </a:rPr>
                      <m:t> </m:t>
                    </m:r>
                  </m:oMath>
                </a14:m>
                <a:r>
                  <a:rPr lang="en-US" altLang="zh-TW" sz="2400" b="0" i="1" dirty="0" smtClean="0">
                    <a:latin typeface="Cambria Math" panose="02040503050406030204" pitchFamily="18" charset="0"/>
                    <a:ea typeface="Cambria Math" panose="02040503050406030204" pitchFamily="18" charset="0"/>
                  </a:rPr>
                  <a:t> </a:t>
                </a:r>
                <a:r>
                  <a:rPr lang="en-US" altLang="zh-TW" sz="2400" dirty="0" smtClean="0">
                    <a:latin typeface="Cambria Math" panose="02040503050406030204" pitchFamily="18" charset="0"/>
                    <a:ea typeface="Cambria Math" panose="02040503050406030204" pitchFamily="18" charset="0"/>
                  </a:rPr>
                  <a:t>and</a:t>
                </a:r>
                <a14:m>
                  <m:oMath xmlns:m="http://schemas.openxmlformats.org/officeDocument/2006/math">
                    <m:r>
                      <a:rPr lang="en-US" altLang="zh-TW" sz="2400" b="0" i="0" smtClean="0">
                        <a:latin typeface="Cambria Math" panose="02040503050406030204" pitchFamily="18" charset="0"/>
                      </a:rPr>
                      <m:t>  </m:t>
                    </m:r>
                    <m:r>
                      <a:rPr lang="en-US" altLang="zh-TW" sz="2400" b="0" i="1" smtClean="0">
                        <a:latin typeface="Cambria Math" panose="02040503050406030204" pitchFamily="18" charset="0"/>
                      </a:rPr>
                      <m:t>𝐶</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oMath>
                </a14:m>
                <a:r>
                  <a:rPr lang="en-US" sz="2400" dirty="0" smtClean="0"/>
                  <a:t>  are related by a permutation.</a:t>
                </a:r>
              </a:p>
              <a:p>
                <a:r>
                  <a:rPr lang="en-US" sz="2400" dirty="0" smtClean="0"/>
                  <a:t>The permutation involved is in fact the </a:t>
                </a:r>
                <a14:m>
                  <m:oMath xmlns:m="http://schemas.openxmlformats.org/officeDocument/2006/math">
                    <m:r>
                      <a:rPr lang="en-US" sz="2400" i="1" dirty="0" smtClean="0">
                        <a:latin typeface="Cambria Math" panose="02040503050406030204" pitchFamily="18" charset="0"/>
                      </a:rPr>
                      <m:t>𝑝𝑒𝑟𝑓𝑒𝑐𝑡</m:t>
                    </m:r>
                    <m:r>
                      <a:rPr lang="en-US" sz="2400" i="1" dirty="0" smtClean="0">
                        <a:latin typeface="Cambria Math" panose="02040503050406030204" pitchFamily="18" charset="0"/>
                      </a:rPr>
                      <m:t> </m:t>
                    </m:r>
                    <m:r>
                      <a:rPr lang="en-US" sz="2400" i="1" dirty="0" smtClean="0">
                        <a:latin typeface="Cambria Math" panose="02040503050406030204" pitchFamily="18" charset="0"/>
                      </a:rPr>
                      <m:t>𝑠h𝑢𝑓𝑓𝑙𝑒</m:t>
                    </m:r>
                  </m:oMath>
                </a14:m>
                <a:r>
                  <a:rPr lang="en-US" sz="2400" i="1" dirty="0" smtClean="0"/>
                  <a:t>.</a:t>
                </a:r>
                <a:r>
                  <a:rPr lang="en-US" sz="2400" dirty="0" smtClean="0"/>
                  <a:t> </a:t>
                </a:r>
              </a:p>
              <a:p>
                <a:r>
                  <a:rPr lang="en-US" sz="2400" dirty="0" smtClean="0"/>
                  <a:t>If </a:t>
                </a:r>
                <a14:m>
                  <m:oMath xmlns:m="http://schemas.openxmlformats.org/officeDocument/2006/math">
                    <m:r>
                      <a:rPr lang="en-US" sz="2400" b="0" i="1" smtClean="0">
                        <a:latin typeface="Cambria Math" panose="02040503050406030204" pitchFamily="18" charset="0"/>
                      </a:rPr>
                      <m:t>𝑝</m:t>
                    </m:r>
                    <m:r>
                      <a:rPr lang="en-US" sz="2400" b="0" i="1" smtClean="0">
                        <a:latin typeface="Cambria Math" panose="02040503050406030204" pitchFamily="18" charset="0"/>
                      </a:rPr>
                      <m:t>,</m:t>
                    </m:r>
                    <m:r>
                      <a:rPr lang="en-US" sz="2400" b="0" i="1" smtClean="0">
                        <a:latin typeface="Cambria Math" panose="02040503050406030204" pitchFamily="18" charset="0"/>
                      </a:rPr>
                      <m:t>𝑞</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ℕ</m:t>
                    </m:r>
                    <m:r>
                      <a:rPr lang="en-US" sz="2400" b="0" i="1"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and</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𝑟</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𝑝𝑞</m:t>
                    </m:r>
                    <m:r>
                      <a:rPr lang="en-US" sz="2400" b="0" i="1" smtClean="0">
                        <a:latin typeface="Cambria Math" panose="02040503050406030204" pitchFamily="18" charset="0"/>
                        <a:ea typeface="Cambria Math" panose="02040503050406030204" pitchFamily="18" charset="0"/>
                      </a:rPr>
                      <m:t>,</m:t>
                    </m:r>
                  </m:oMath>
                </a14:m>
                <a:r>
                  <a:rPr lang="en-US" sz="2400" dirty="0" smtClean="0"/>
                  <a:t> then (</a:t>
                </a:r>
                <a:r>
                  <a:rPr lang="en-US" sz="2400" dirty="0" err="1" smtClean="0"/>
                  <a:t>p,q</a:t>
                </a:r>
                <a:r>
                  <a:rPr lang="en-US" sz="2400" dirty="0" smtClean="0"/>
                  <a:t>) perfect shuffle is r</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smtClean="0"/>
                  <a:t>r matrix.</a:t>
                </a:r>
              </a:p>
              <a:p>
                <a:endParaRPr lang="en-US" sz="2400" dirty="0"/>
              </a:p>
              <a:p>
                <a:pPr/>
                <a14:m>
                  <m:oMathPara xmlns:m="http://schemas.openxmlformats.org/officeDocument/2006/math">
                    <m:oMathParaPr>
                      <m:jc m:val="left"/>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𝑝</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𝑞</m:t>
                          </m:r>
                        </m:sub>
                      </m:sSub>
                      <m:r>
                        <a:rPr lang="en-US" altLang="zh-TW" sz="2400" b="0" i="1" smtClean="0">
                          <a:latin typeface="Cambria Math" panose="02040503050406030204" pitchFamily="18" charset="0"/>
                        </a:rPr>
                        <m:t>=  </m:t>
                      </m:r>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b="0" i="1" smtClean="0">
                                  <a:latin typeface="Cambria Math" panose="02040503050406030204" pitchFamily="18" charset="0"/>
                                </a:rPr>
                              </m:ctrlPr>
                            </m:mPr>
                            <m:m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𝐼</m:t>
                                    </m:r>
                                  </m:e>
                                  <m:sub>
                                    <m:r>
                                      <a:rPr lang="en-US" altLang="zh-TW" sz="2400" b="0" i="1" smtClean="0">
                                        <a:latin typeface="Cambria Math" panose="02040503050406030204" pitchFamily="18" charset="0"/>
                                      </a:rPr>
                                      <m:t>𝑟</m:t>
                                    </m:r>
                                  </m:sub>
                                </m:sSub>
                                <m:r>
                                  <m:rPr>
                                    <m:brk m:alnAt="7"/>
                                  </m:rPr>
                                  <a:rPr lang="en-US" altLang="zh-TW" sz="2400" b="0" i="1" smtClean="0">
                                    <a:latin typeface="Cambria Math" panose="02040503050406030204" pitchFamily="18" charset="0"/>
                                  </a:rPr>
                                  <m:t>(</m:t>
                                </m:r>
                                <m:r>
                                  <a:rPr lang="en-US" altLang="zh-TW" sz="2400" b="0" i="1" smtClean="0">
                                    <a:latin typeface="Cambria Math" panose="02040503050406030204" pitchFamily="18" charset="0"/>
                                  </a:rPr>
                                  <m:t> 1 :</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𝑟</m:t>
                                </m:r>
                                <m:r>
                                  <a:rPr lang="en-US" altLang="zh-TW" sz="2400" b="0" i="1" smtClean="0">
                                    <a:latin typeface="Cambria Math" panose="02040503050406030204" pitchFamily="18" charset="0"/>
                                  </a:rPr>
                                  <m:t>,:)</m:t>
                                </m:r>
                              </m:e>
                            </m:mr>
                            <m:m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𝐼</m:t>
                                    </m:r>
                                  </m:e>
                                  <m:sub>
                                    <m:r>
                                      <a:rPr lang="en-US" altLang="zh-TW" sz="2400" b="0" i="1" smtClean="0">
                                        <a:latin typeface="Cambria Math" panose="02040503050406030204" pitchFamily="18" charset="0"/>
                                      </a:rPr>
                                      <m:t>𝑟</m:t>
                                    </m:r>
                                  </m:sub>
                                </m:sSub>
                                <m:r>
                                  <m:rPr>
                                    <m:brk m:alnAt="7"/>
                                  </m:rPr>
                                  <a:rPr lang="en-US" altLang="zh-TW" sz="2400" b="0" i="1" smtClean="0">
                                    <a:latin typeface="Cambria Math" panose="02040503050406030204" pitchFamily="18" charset="0"/>
                                  </a:rPr>
                                  <m:t>(</m:t>
                                </m:r>
                                <m:r>
                                  <a:rPr lang="en-US" altLang="zh-TW" sz="2400" b="0" i="1" smtClean="0">
                                    <a:latin typeface="Cambria Math" panose="02040503050406030204" pitchFamily="18" charset="0"/>
                                  </a:rPr>
                                  <m:t> 2 :</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𝑟</m:t>
                                </m:r>
                                <m:r>
                                  <a:rPr lang="en-US" altLang="zh-TW" sz="2400" b="0" i="1" smtClean="0">
                                    <a:latin typeface="Cambria Math" panose="02040503050406030204" pitchFamily="18" charset="0"/>
                                  </a:rPr>
                                  <m:t>,:)</m:t>
                                </m:r>
                              </m:e>
                            </m:mr>
                            <m:m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m:t>
                                    </m:r>
                                  </m:e>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𝐼</m:t>
                                        </m:r>
                                      </m:e>
                                      <m:sub>
                                        <m:r>
                                          <a:rPr lang="en-US" altLang="zh-TW" sz="2400" b="0" i="1" smtClean="0">
                                            <a:latin typeface="Cambria Math" panose="02040503050406030204" pitchFamily="18" charset="0"/>
                                          </a:rPr>
                                          <m:t>𝑟</m:t>
                                        </m:r>
                                      </m:sub>
                                    </m:sSub>
                                    <m:r>
                                      <m:rPr>
                                        <m:brk m:alnAt="7"/>
                                      </m:rPr>
                                      <a:rPr lang="en-US" altLang="zh-TW" sz="2400" b="0" i="1" smtClean="0">
                                        <a:latin typeface="Cambria Math" panose="02040503050406030204" pitchFamily="18" charset="0"/>
                                      </a:rPr>
                                      <m:t>(</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𝑟</m:t>
                                    </m:r>
                                    <m:r>
                                      <a:rPr lang="en-US" altLang="zh-TW" sz="2400" b="0" i="1" smtClean="0">
                                        <a:latin typeface="Cambria Math" panose="02040503050406030204" pitchFamily="18" charset="0"/>
                                      </a:rPr>
                                      <m:t>,:)</m:t>
                                    </m:r>
                                  </m:e>
                                </m:eqArr>
                              </m:e>
                            </m:mr>
                          </m:m>
                        </m:e>
                      </m:d>
                    </m:oMath>
                  </m:oMathPara>
                </a14:m>
                <a:endParaRPr lang="en-US" sz="2400" dirty="0" smtClean="0"/>
              </a:p>
              <a:p>
                <a:endParaRPr lang="en-US" sz="2400" dirty="0" smtClean="0"/>
              </a:p>
              <a:p>
                <a:endParaRPr lang="en-US" sz="2400" dirty="0"/>
              </a:p>
              <a:p>
                <a:pPr/>
                <a14:m>
                  <m:oMathPara xmlns:m="http://schemas.openxmlformats.org/officeDocument/2006/math">
                    <m:oMathParaPr>
                      <m:jc m:val="left"/>
                    </m:oMathParaPr>
                    <m:oMath xmlns:m="http://schemas.openxmlformats.org/officeDocument/2006/math">
                      <m:r>
                        <a:rPr lang="en-US" altLang="zh-TW" sz="2400" b="0" i="1" smtClean="0">
                          <a:solidFill>
                            <a:srgbClr val="FF0000"/>
                          </a:solidFill>
                          <a:latin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𝑆</m:t>
                          </m:r>
                        </m:e>
                        <m:sub>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𝑚</m:t>
                              </m:r>
                            </m:e>
                            <m:sub>
                              <m:r>
                                <a:rPr lang="en-US" altLang="zh-TW" sz="2400" b="0" i="1" smtClean="0">
                                  <a:solidFill>
                                    <a:srgbClr val="FF0000"/>
                                  </a:solidFill>
                                  <a:latin typeface="Cambria Math" panose="02040503050406030204" pitchFamily="18" charset="0"/>
                                  <a:ea typeface="Cambria Math" panose="02040503050406030204" pitchFamily="18" charset="0"/>
                                </a:rPr>
                                <m:t>1</m:t>
                              </m:r>
                            </m:sub>
                          </m:sSub>
                          <m:r>
                            <a:rPr lang="en-US" altLang="zh-TW" sz="2400" b="0" i="1" smtClean="0">
                              <a:solidFill>
                                <a:srgbClr val="FF0000"/>
                              </a:solidFill>
                              <a:latin typeface="Cambria Math" panose="02040503050406030204" pitchFamily="18" charset="0"/>
                              <a:ea typeface="Cambria Math" panose="02040503050406030204" pitchFamily="18" charset="0"/>
                            </a:rPr>
                            <m:t>,</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𝑚</m:t>
                              </m:r>
                            </m:e>
                            <m:sub>
                              <m:r>
                                <a:rPr lang="en-US" altLang="zh-TW" sz="2400" b="0" i="1" smtClean="0">
                                  <a:solidFill>
                                    <a:srgbClr val="FF0000"/>
                                  </a:solidFill>
                                  <a:latin typeface="Cambria Math" panose="02040503050406030204" pitchFamily="18" charset="0"/>
                                  <a:ea typeface="Cambria Math" panose="02040503050406030204" pitchFamily="18" charset="0"/>
                                </a:rPr>
                                <m:t>2</m:t>
                              </m:r>
                            </m:sub>
                          </m:sSub>
                        </m:sub>
                      </m:sSub>
                      <m:r>
                        <a:rPr lang="en-US" altLang="zh-TW" sz="2400" b="0" i="1" smtClean="0">
                          <a:solidFill>
                            <a:srgbClr val="FF0000"/>
                          </a:solidFill>
                          <a:latin typeface="Cambria Math" panose="02040503050406030204" pitchFamily="18" charset="0"/>
                          <a:ea typeface="Cambria Math" panose="02040503050406030204" pitchFamily="18" charset="0"/>
                        </a:rPr>
                        <m:t>( </m:t>
                      </m:r>
                      <m:r>
                        <a:rPr lang="en-US" altLang="zh-TW" sz="2400" b="0" i="1" smtClean="0">
                          <a:solidFill>
                            <a:srgbClr val="FF0000"/>
                          </a:solidFill>
                          <a:latin typeface="Cambria Math" panose="02040503050406030204" pitchFamily="18" charset="0"/>
                          <a:ea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m:t>
                      </m:r>
                      <m:r>
                        <a:rPr lang="en-US" altLang="zh-TW" sz="2400" b="0" i="1" smtClean="0">
                          <a:solidFill>
                            <a:srgbClr val="FF0000"/>
                          </a:solidFill>
                          <a:latin typeface="Cambria Math" panose="02040503050406030204" pitchFamily="18" charset="0"/>
                          <a:ea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 )</m:t>
                      </m:r>
                      <m:sSubSup>
                        <m:sSubSupPr>
                          <m:ctrlPr>
                            <a:rPr lang="en-US" altLang="zh-TW" sz="2400" b="0" i="1" smtClean="0">
                              <a:solidFill>
                                <a:srgbClr val="FF0000"/>
                              </a:solidFill>
                              <a:latin typeface="Cambria Math" panose="02040503050406030204" pitchFamily="18" charset="0"/>
                              <a:ea typeface="Cambria Math" panose="02040503050406030204" pitchFamily="18" charset="0"/>
                            </a:rPr>
                          </m:ctrlPr>
                        </m:sSubSupPr>
                        <m:e>
                          <m:r>
                            <a:rPr lang="en-US" altLang="zh-TW" sz="2400" b="0" i="1" smtClean="0">
                              <a:solidFill>
                                <a:srgbClr val="FF0000"/>
                              </a:solidFill>
                              <a:latin typeface="Cambria Math" panose="02040503050406030204" pitchFamily="18" charset="0"/>
                              <a:ea typeface="Cambria Math" panose="02040503050406030204" pitchFamily="18" charset="0"/>
                            </a:rPr>
                            <m:t>𝑆</m:t>
                          </m:r>
                        </m:e>
                        <m:sub>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𝑛</m:t>
                              </m:r>
                            </m:e>
                            <m:sub>
                              <m:r>
                                <a:rPr lang="en-US" altLang="zh-TW" sz="2400" b="0" i="1" smtClean="0">
                                  <a:solidFill>
                                    <a:srgbClr val="FF0000"/>
                                  </a:solidFill>
                                  <a:latin typeface="Cambria Math" panose="02040503050406030204" pitchFamily="18" charset="0"/>
                                  <a:ea typeface="Cambria Math" panose="02040503050406030204" pitchFamily="18" charset="0"/>
                                </a:rPr>
                                <m:t>1</m:t>
                              </m:r>
                            </m:sub>
                          </m:sSub>
                          <m:r>
                            <a:rPr lang="en-US" altLang="zh-TW" sz="2400" b="0" i="1" smtClean="0">
                              <a:solidFill>
                                <a:srgbClr val="FF0000"/>
                              </a:solidFill>
                              <a:latin typeface="Cambria Math" panose="02040503050406030204" pitchFamily="18" charset="0"/>
                              <a:ea typeface="Cambria Math" panose="02040503050406030204" pitchFamily="18" charset="0"/>
                            </a:rPr>
                            <m:t>,</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𝑛</m:t>
                              </m:r>
                            </m:e>
                            <m:sub>
                              <m:r>
                                <a:rPr lang="en-US" altLang="zh-TW" sz="2400" b="0" i="1" smtClean="0">
                                  <a:solidFill>
                                    <a:srgbClr val="FF0000"/>
                                  </a:solidFill>
                                  <a:latin typeface="Cambria Math" panose="02040503050406030204" pitchFamily="18" charset="0"/>
                                  <a:ea typeface="Cambria Math" panose="02040503050406030204" pitchFamily="18" charset="0"/>
                                </a:rPr>
                                <m:t>2</m:t>
                              </m:r>
                            </m:sub>
                          </m:sSub>
                        </m:sub>
                        <m:sup>
                          <m:r>
                            <a:rPr lang="en-US" altLang="zh-TW" sz="2400" b="0" i="1" smtClean="0">
                              <a:solidFill>
                                <a:srgbClr val="FF0000"/>
                              </a:solidFill>
                              <a:latin typeface="Cambria Math" panose="02040503050406030204" pitchFamily="18" charset="0"/>
                              <a:ea typeface="Cambria Math" panose="02040503050406030204" pitchFamily="18" charset="0"/>
                            </a:rPr>
                            <m:t>𝑇</m:t>
                          </m:r>
                        </m:sup>
                      </m:sSubSup>
                    </m:oMath>
                  </m:oMathPara>
                </a14:m>
                <a:endParaRPr lang="en-US" sz="2400" dirty="0" smtClean="0"/>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𝑤h𝑒𝑟𝑒</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ℝ</m:t>
                          </m:r>
                        </m:e>
                        <m:sup>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𝑚</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𝑛</m:t>
                              </m:r>
                            </m:e>
                            <m:sub>
                              <m:r>
                                <a:rPr lang="en-US" altLang="zh-TW" sz="2400" b="0" i="1" smtClean="0">
                                  <a:latin typeface="Cambria Math" panose="02040503050406030204" pitchFamily="18" charset="0"/>
                                  <a:ea typeface="Cambria Math" panose="02040503050406030204" pitchFamily="18" charset="0"/>
                                </a:rPr>
                                <m:t>1</m:t>
                              </m:r>
                            </m:sub>
                          </m:sSub>
                        </m:sup>
                      </m:sSup>
                      <m:r>
                        <a:rPr lang="en-US" altLang="zh-TW" sz="2400" b="0" i="1" smtClean="0">
                          <a:latin typeface="Cambria Math" panose="02040503050406030204" pitchFamily="18" charset="0"/>
                          <a:ea typeface="Cambria Math" panose="02040503050406030204" pitchFamily="18" charset="0"/>
                        </a:rPr>
                        <m:t> ,  </m:t>
                      </m:r>
                      <m:r>
                        <a:rPr lang="en-US" altLang="zh-TW" sz="2400" b="0" i="1" smtClean="0">
                          <a:latin typeface="Cambria Math" panose="02040503050406030204" pitchFamily="18" charset="0"/>
                        </a:rPr>
                        <m:t>𝐶</m:t>
                      </m:r>
                      <m:r>
                        <a:rPr lang="en-US" altLang="zh-TW" sz="2400" i="1">
                          <a:latin typeface="Cambria Math" panose="02040503050406030204" pitchFamily="18" charset="0"/>
                          <a:ea typeface="Cambria Math" panose="02040503050406030204" pitchFamily="18" charset="0"/>
                        </a:rPr>
                        <m:t>∈</m:t>
                      </m:r>
                      <m:sSup>
                        <m:sSupPr>
                          <m:ctrlPr>
                            <a:rPr lang="en-US" altLang="zh-TW" sz="2400" i="1" smtClean="0">
                              <a:latin typeface="Cambria Math" panose="02040503050406030204" pitchFamily="18" charset="0"/>
                              <a:ea typeface="Cambria Math" panose="02040503050406030204" pitchFamily="18" charset="0"/>
                            </a:rPr>
                          </m:ctrlPr>
                        </m:sSupPr>
                        <m:e>
                          <m:r>
                            <a:rPr lang="en-US" altLang="zh-TW" sz="2400" i="1">
                              <a:latin typeface="Cambria Math" panose="02040503050406030204" pitchFamily="18" charset="0"/>
                              <a:ea typeface="Cambria Math" panose="02040503050406030204" pitchFamily="18" charset="0"/>
                            </a:rPr>
                            <m:t>ℝ</m:t>
                          </m:r>
                        </m:e>
                        <m:sup>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𝑚</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𝑛</m:t>
                              </m:r>
                            </m:e>
                            <m:sub>
                              <m:r>
                                <a:rPr lang="en-US" altLang="zh-TW" sz="2400" b="0" i="1" smtClean="0">
                                  <a:latin typeface="Cambria Math" panose="02040503050406030204" pitchFamily="18" charset="0"/>
                                  <a:ea typeface="Cambria Math" panose="02040503050406030204" pitchFamily="18" charset="0"/>
                                </a:rPr>
                                <m:t>2</m:t>
                              </m:r>
                            </m:sub>
                          </m:sSub>
                        </m:sup>
                      </m:sSup>
                    </m:oMath>
                  </m:oMathPara>
                </a14:m>
                <a:endParaRPr sz="2400" dirty="0"/>
              </a:p>
            </p:txBody>
          </p:sp>
        </mc:Choice>
        <mc:Fallback>
          <p:sp>
            <p:nvSpPr>
              <p:cNvPr id="68" name="TextShape 2"/>
              <p:cNvSpPr txBox="1">
                <a:spLocks noRot="1" noChangeAspect="1" noMove="1" noResize="1" noEditPoints="1" noAdjustHandles="1" noChangeArrowheads="1" noChangeShapeType="1" noTextEdit="1"/>
              </p:cNvSpPr>
              <p:nvPr/>
            </p:nvSpPr>
            <p:spPr>
              <a:xfrm>
                <a:off x="504000" y="1715880"/>
                <a:ext cx="9071640" cy="4384440"/>
              </a:xfrm>
              <a:prstGeom prst="rect">
                <a:avLst/>
              </a:prstGeom>
              <a:blipFill rotWithShape="0">
                <a:blip r:embed="rId2"/>
                <a:stretch>
                  <a:fillRect l="-2083" b="-9167"/>
                </a:stretch>
              </a:blipFill>
              <a:ln>
                <a:no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 name="文字方塊 2"/>
              <p:cNvSpPr txBox="1"/>
              <p:nvPr/>
            </p:nvSpPr>
            <p:spPr>
              <a:xfrm>
                <a:off x="5847760" y="3515995"/>
                <a:ext cx="3727880" cy="20062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2,3</m:t>
                          </m:r>
                        </m:sub>
                      </m:sSub>
                      <m:r>
                        <a:rPr lang="en-US" altLang="zh-TW" sz="2400" b="0" i="1" smtClean="0">
                          <a:latin typeface="Cambria Math" panose="02040503050406030204" pitchFamily="18" charset="0"/>
                        </a:rPr>
                        <m:t>=</m:t>
                      </m:r>
                      <m:d>
                        <m:dPr>
                          <m:begChr m:val="["/>
                          <m:endChr m:val="]"/>
                          <m:ctrlPr>
                            <a:rPr lang="en-US" altLang="zh-TW" sz="2400" i="1" smtClean="0">
                              <a:latin typeface="Cambria Math" panose="02040503050406030204" pitchFamily="18" charset="0"/>
                            </a:rPr>
                          </m:ctrlPr>
                        </m:dPr>
                        <m:e>
                          <m:m>
                            <m:mPr>
                              <m:mcs>
                                <m:mc>
                                  <m:mcPr>
                                    <m:count m:val="2"/>
                                    <m:mcJc m:val="center"/>
                                  </m:mcPr>
                                </m:mc>
                              </m:mcs>
                              <m:ctrlPr>
                                <a:rPr lang="en-US" altLang="zh-TW" sz="2400" i="1" smtClean="0">
                                  <a:latin typeface="Cambria Math" panose="02040503050406030204" pitchFamily="18" charset="0"/>
                                </a:rPr>
                              </m:ctrlPr>
                            </m:mPr>
                            <m:mr>
                              <m:e>
                                <m:m>
                                  <m:mPr>
                                    <m:mcs>
                                      <m:mc>
                                        <m:mcPr>
                                          <m:count m:val="3"/>
                                          <m:mcJc m:val="center"/>
                                        </m:mcPr>
                                      </m:mc>
                                    </m:mcs>
                                    <m:ctrlPr>
                                      <a:rPr lang="en-US" altLang="zh-TW" sz="2400" i="1" smtClean="0">
                                        <a:latin typeface="Cambria Math" panose="02040503050406030204" pitchFamily="18" charset="0"/>
                                      </a:rPr>
                                    </m:ctrlPr>
                                  </m:mPr>
                                  <m:mr>
                                    <m:e>
                                      <m:r>
                                        <m:rPr>
                                          <m:brk m:alnAt="7"/>
                                        </m:rP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0</m:t>
                                      </m:r>
                                    </m:e>
                                  </m:mr>
                                </m:m>
                              </m:e>
                              <m:e>
                                <m:m>
                                  <m:mPr>
                                    <m:mcs>
                                      <m:mc>
                                        <m:mcPr>
                                          <m:count m:val="3"/>
                                          <m:mcJc m:val="center"/>
                                        </m:mcPr>
                                      </m:mc>
                                    </m:mcs>
                                    <m:ctrlPr>
                                      <a:rPr lang="en-US" altLang="zh-TW" sz="2400" i="1" smtClean="0">
                                        <a:latin typeface="Cambria Math" panose="02040503050406030204" pitchFamily="18" charset="0"/>
                                      </a:rPr>
                                    </m:ctrlPr>
                                  </m:mPr>
                                  <m:mr>
                                    <m:e>
                                      <m:r>
                                        <m:rPr>
                                          <m:brk m:alnAt="7"/>
                                        </m:rP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
                              </m:e>
                            </m:mr>
                            <m:mr>
                              <m:e>
                                <m:m>
                                  <m:mPr>
                                    <m:mcs>
                                      <m:mc>
                                        <m:mcPr>
                                          <m:count m:val="3"/>
                                          <m:mcJc m:val="center"/>
                                        </m:mcPr>
                                      </m:mc>
                                    </m:mcs>
                                    <m:ctrlPr>
                                      <a:rPr lang="en-US" altLang="zh-TW" sz="2400" i="1" smtClean="0">
                                        <a:latin typeface="Cambria Math" panose="02040503050406030204" pitchFamily="18" charset="0"/>
                                      </a:rPr>
                                    </m:ctrlPr>
                                  </m:mPr>
                                  <m:mr>
                                    <m:e>
                                      <m:r>
                                        <m:rPr>
                                          <m:brk m:alnAt="7"/>
                                        </m:rP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1</m:t>
                                      </m:r>
                                    </m:e>
                                  </m:mr>
                                  <m:m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
                              </m:e>
                              <m:e>
                                <m:m>
                                  <m:mPr>
                                    <m:mcs>
                                      <m:mc>
                                        <m:mcPr>
                                          <m:count m:val="3"/>
                                          <m:mcJc m:val="center"/>
                                        </m:mcPr>
                                      </m:mc>
                                    </m:mcs>
                                    <m:ctrlPr>
                                      <a:rPr lang="en-US" altLang="zh-TW" sz="2400" i="1" smtClean="0">
                                        <a:latin typeface="Cambria Math" panose="02040503050406030204" pitchFamily="18" charset="0"/>
                                      </a:rPr>
                                    </m:ctrlPr>
                                  </m:mPr>
                                  <m:mr>
                                    <m:e>
                                      <m:r>
                                        <m:rPr>
                                          <m:brk m:alnAt="7"/>
                                        </m:rP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mr>
                                  <m:m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1</m:t>
                                      </m:r>
                                    </m:e>
                                  </m:mr>
                                </m:m>
                              </m:e>
                            </m:mr>
                          </m:m>
                        </m:e>
                      </m:d>
                    </m:oMath>
                  </m:oMathPara>
                </a14:m>
                <a:endParaRPr lang="zh-TW" altLang="en-US" sz="2400" dirty="0"/>
              </a:p>
            </p:txBody>
          </p:sp>
        </mc:Choice>
        <mc:Fallback>
          <p:sp>
            <p:nvSpPr>
              <p:cNvPr id="3" name="文字方塊 2"/>
              <p:cNvSpPr txBox="1">
                <a:spLocks noRot="1" noChangeAspect="1" noMove="1" noResize="1" noEditPoints="1" noAdjustHandles="1" noChangeArrowheads="1" noChangeShapeType="1" noTextEdit="1"/>
              </p:cNvSpPr>
              <p:nvPr/>
            </p:nvSpPr>
            <p:spPr>
              <a:xfrm>
                <a:off x="5847760" y="3515995"/>
                <a:ext cx="3727880" cy="2006255"/>
              </a:xfrm>
              <a:prstGeom prst="rect">
                <a:avLst/>
              </a:prstGeom>
              <a:blipFill rotWithShape="0">
                <a:blip r:embed="rId3"/>
                <a:stretch>
                  <a:fillRect/>
                </a:stretch>
              </a:blipFill>
            </p:spPr>
            <p:txBody>
              <a:bodyPr/>
              <a:lstStyle/>
              <a:p>
                <a:r>
                  <a:rPr lang="zh-TW" altLang="en-US">
                    <a:noFill/>
                  </a:rPr>
                  <a:t> </a:t>
                </a:r>
              </a:p>
            </p:txBody>
          </p:sp>
        </mc:Fallback>
      </mc:AlternateContent>
      <p:sp>
        <p:nvSpPr>
          <p:cNvPr id="7" name="TextShape 1"/>
          <p:cNvSpPr txBox="1"/>
          <p:nvPr/>
        </p:nvSpPr>
        <p:spPr>
          <a:xfrm>
            <a:off x="656400" y="453720"/>
            <a:ext cx="9071640" cy="1262160"/>
          </a:xfrm>
          <a:prstGeom prst="rect">
            <a:avLst/>
          </a:prstGeom>
          <a:noFill/>
          <a:ln>
            <a:noFill/>
          </a:ln>
        </p:spPr>
        <p:txBody>
          <a:bodyPr lIns="0" tIns="0" rIns="0" bIns="0" anchor="ctr"/>
          <a:lstStyle/>
          <a:p>
            <a:pPr algn="ctr"/>
            <a:r>
              <a:rPr lang="en-US" sz="4400" spc="-1" dirty="0">
                <a:latin typeface="微軟正黑體"/>
              </a:rPr>
              <a:t>Basic properties</a:t>
            </a:r>
            <a:endParaRP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Shape 2"/>
          <p:cNvSpPr txBox="1"/>
          <p:nvPr/>
        </p:nvSpPr>
        <p:spPr>
          <a:xfrm>
            <a:off x="504000" y="1769040"/>
            <a:ext cx="9071640" cy="5393760"/>
          </a:xfrm>
          <a:prstGeom prst="rect">
            <a:avLst/>
          </a:prstGeom>
          <a:noFill/>
          <a:ln>
            <a:noFill/>
          </a:ln>
        </p:spPr>
        <p:txBody>
          <a:bodyPr lIns="0" tIns="0" rIns="0" bIns="0"/>
          <a:lstStyle/>
          <a:p>
            <a:r>
              <a:rPr lang="en-US" sz="2400" dirty="0" smtClean="0"/>
              <a:t>Particularly important in computational work are the issues </a:t>
            </a:r>
            <a:r>
              <a:rPr lang="en-US" sz="2400" dirty="0" err="1" smtClean="0"/>
              <a:t>theat</a:t>
            </a:r>
            <a:r>
              <a:rPr lang="en-US" sz="2400" dirty="0" smtClean="0"/>
              <a:t> surround the exploitation pf structure and the application of matrix factorizations.</a:t>
            </a:r>
            <a:r>
              <a:rPr lang="en-US" sz="2400" dirty="0"/>
              <a:t> </a:t>
            </a:r>
            <a:r>
              <a:rPr lang="en-US" sz="2400" dirty="0" smtClean="0"/>
              <a:t>By and large,  </a:t>
            </a:r>
            <a:r>
              <a:rPr lang="en-US" sz="2400" dirty="0" err="1" smtClean="0"/>
              <a:t>Kronecker</a:t>
            </a:r>
            <a:r>
              <a:rPr lang="en-US" sz="2400" dirty="0" smtClean="0"/>
              <a:t> product inherits structure from its factors.</a:t>
            </a:r>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smtClean="0"/>
          </a:p>
        </p:txBody>
      </p:sp>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25" y="3427235"/>
            <a:ext cx="10058400" cy="3122305"/>
          </a:xfrm>
          <a:prstGeom prst="rect">
            <a:avLst/>
          </a:prstGeom>
        </p:spPr>
      </p:pic>
      <p:sp>
        <p:nvSpPr>
          <p:cNvPr id="7" name="TextShape 1"/>
          <p:cNvSpPr txBox="1"/>
          <p:nvPr/>
        </p:nvSpPr>
        <p:spPr>
          <a:xfrm>
            <a:off x="504000" y="301320"/>
            <a:ext cx="9071640" cy="1262160"/>
          </a:xfrm>
          <a:prstGeom prst="rect">
            <a:avLst/>
          </a:prstGeom>
          <a:noFill/>
          <a:ln>
            <a:noFill/>
          </a:ln>
        </p:spPr>
        <p:txBody>
          <a:bodyPr lIns="0" tIns="0" rIns="0" bIns="0" anchor="ctr"/>
          <a:lstStyle/>
          <a:p>
            <a:pPr algn="ctr"/>
            <a:r>
              <a:rPr lang="en-US" sz="4400" spc="-1" dirty="0">
                <a:latin typeface="微軟正黑體"/>
              </a:rPr>
              <a:t>Basic properties</a:t>
            </a:r>
            <a:endParaRP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版面配置區 2"/>
              <p:cNvSpPr>
                <a:spLocks noGrp="1"/>
              </p:cNvSpPr>
              <p:nvPr>
                <p:ph type="body"/>
              </p:nvPr>
            </p:nvSpPr>
            <p:spPr>
              <a:xfrm>
                <a:off x="504000" y="1769040"/>
                <a:ext cx="9363900" cy="4384440"/>
              </a:xfrm>
            </p:spPr>
            <p:txBody>
              <a:bodyPr/>
              <a:lstStyle/>
              <a:p>
                <a:pPr marL="0" indent="0">
                  <a:buNone/>
                </a:pPr>
                <a:r>
                  <a:rPr lang="en-US" altLang="zh-TW" sz="2400" dirty="0" smtClean="0"/>
                  <a:t>With respect to factorizations, the LU-with-partial-pivoting, </a:t>
                </a:r>
                <a:r>
                  <a:rPr lang="en-US" altLang="zh-TW" sz="2400" dirty="0" err="1" smtClean="0"/>
                  <a:t>Cholesky</a:t>
                </a:r>
                <a:r>
                  <a:rPr lang="en-US" altLang="zh-TW" sz="2400" dirty="0" smtClean="0"/>
                  <a:t>, and QR factorizations of </a:t>
                </a:r>
                <a14:m>
                  <m:oMath xmlns:m="http://schemas.openxmlformats.org/officeDocument/2006/math">
                    <m:r>
                      <a:rPr lang="en-US" altLang="zh-TW" sz="2400" b="0" i="1" smtClean="0">
                        <a:latin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𝐶</m:t>
                    </m:r>
                  </m:oMath>
                </a14:m>
                <a:r>
                  <a:rPr lang="en-US" altLang="zh-TW" sz="2400" b="0" dirty="0" smtClean="0">
                    <a:ea typeface="Cambria Math" panose="02040503050406030204" pitchFamily="18" charset="0"/>
                  </a:rPr>
                  <a:t> merely require the corresponding factorizations of B and C.</a:t>
                </a:r>
              </a:p>
              <a:p>
                <a:pPr marL="0" indent="0">
                  <a:buNone/>
                </a:pPr>
                <a:endParaRPr lang="en-US" altLang="zh-TW" sz="2400" dirty="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sz="2400" b="0" i="1" smtClean="0">
                          <a:solidFill>
                            <a:srgbClr val="FF0000"/>
                          </a:solidFill>
                          <a:latin typeface="Cambria Math" panose="02040503050406030204" pitchFamily="18" charset="0"/>
                          <a:ea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 </m:t>
                      </m:r>
                      <m:r>
                        <a:rPr lang="en-US" altLang="zh-TW" sz="2400" b="0" i="1" smtClean="0">
                          <a:solidFill>
                            <a:srgbClr val="FF0000"/>
                          </a:solidFill>
                          <a:latin typeface="Cambria Math" panose="02040503050406030204" pitchFamily="18" charset="0"/>
                          <a:ea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m:t>
                      </m:r>
                      <m:d>
                        <m:dPr>
                          <m:ctrlPr>
                            <a:rPr lang="en-US" altLang="zh-TW" sz="2400" b="0" i="1" smtClean="0">
                              <a:solidFill>
                                <a:srgbClr val="FF0000"/>
                              </a:solidFill>
                              <a:latin typeface="Cambria Math" panose="02040503050406030204" pitchFamily="18" charset="0"/>
                              <a:ea typeface="Cambria Math" panose="02040503050406030204" pitchFamily="18" charset="0"/>
                            </a:rPr>
                          </m:ctrlPr>
                        </m:dPr>
                        <m:e>
                          <m:r>
                            <a:rPr lang="en-US" altLang="zh-TW" sz="2400" b="0" i="1" smtClean="0">
                              <a:solidFill>
                                <a:srgbClr val="FF0000"/>
                              </a:solidFill>
                              <a:latin typeface="Cambria Math" panose="02040503050406030204" pitchFamily="18" charset="0"/>
                              <a:ea typeface="Cambria Math" panose="02040503050406030204" pitchFamily="18" charset="0"/>
                            </a:rPr>
                            <m:t> </m:t>
                          </m:r>
                          <m:sSubSup>
                            <m:sSubSupPr>
                              <m:ctrlPr>
                                <a:rPr lang="en-US" altLang="zh-TW" sz="2400" b="0" i="1" smtClean="0">
                                  <a:solidFill>
                                    <a:srgbClr val="FF0000"/>
                                  </a:solidFill>
                                  <a:latin typeface="Cambria Math" panose="02040503050406030204" pitchFamily="18" charset="0"/>
                                  <a:ea typeface="Cambria Math" panose="02040503050406030204" pitchFamily="18" charset="0"/>
                                </a:rPr>
                              </m:ctrlPr>
                            </m:sSubSupPr>
                            <m:e>
                              <m:r>
                                <a:rPr lang="en-US" altLang="zh-TW" sz="2400" b="0" i="1" smtClean="0">
                                  <a:solidFill>
                                    <a:srgbClr val="FF0000"/>
                                  </a:solidFill>
                                  <a:latin typeface="Cambria Math" panose="02040503050406030204" pitchFamily="18" charset="0"/>
                                  <a:ea typeface="Cambria Math" panose="02040503050406030204" pitchFamily="18" charset="0"/>
                                </a:rPr>
                                <m:t>𝑃</m:t>
                              </m:r>
                            </m:e>
                            <m:sub>
                              <m:r>
                                <a:rPr lang="en-US" altLang="zh-TW" sz="2400" b="0" i="1" smtClean="0">
                                  <a:solidFill>
                                    <a:srgbClr val="FF0000"/>
                                  </a:solidFill>
                                  <a:latin typeface="Cambria Math" panose="02040503050406030204" pitchFamily="18" charset="0"/>
                                  <a:ea typeface="Cambria Math" panose="02040503050406030204" pitchFamily="18" charset="0"/>
                                </a:rPr>
                                <m:t>𝐵</m:t>
                              </m:r>
                            </m:sub>
                            <m:sup>
                              <m:r>
                                <a:rPr lang="en-US" altLang="zh-TW" sz="2400" b="0" i="1" smtClean="0">
                                  <a:solidFill>
                                    <a:srgbClr val="FF0000"/>
                                  </a:solidFill>
                                  <a:latin typeface="Cambria Math" panose="02040503050406030204" pitchFamily="18" charset="0"/>
                                  <a:ea typeface="Cambria Math" panose="02040503050406030204" pitchFamily="18" charset="0"/>
                                </a:rPr>
                                <m:t>𝑇</m:t>
                              </m:r>
                            </m:sup>
                          </m:sSubSup>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𝐿</m:t>
                              </m:r>
                            </m:e>
                            <m:sub>
                              <m:r>
                                <a:rPr lang="en-US" altLang="zh-TW" sz="2400" b="0" i="1" smtClean="0">
                                  <a:solidFill>
                                    <a:srgbClr val="FF0000"/>
                                  </a:solidFill>
                                  <a:latin typeface="Cambria Math" panose="02040503050406030204" pitchFamily="18" charset="0"/>
                                  <a:ea typeface="Cambria Math" panose="02040503050406030204" pitchFamily="18" charset="0"/>
                                </a:rPr>
                                <m:t>𝐶</m:t>
                              </m:r>
                            </m:sub>
                          </m:sSub>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𝑈</m:t>
                              </m:r>
                            </m:e>
                            <m:sub>
                              <m:r>
                                <a:rPr lang="en-US" altLang="zh-TW" sz="2400" b="0" i="1" smtClean="0">
                                  <a:solidFill>
                                    <a:srgbClr val="FF0000"/>
                                  </a:solidFill>
                                  <a:latin typeface="Cambria Math" panose="02040503050406030204" pitchFamily="18" charset="0"/>
                                  <a:ea typeface="Cambria Math" panose="02040503050406030204" pitchFamily="18" charset="0"/>
                                </a:rPr>
                                <m:t>𝐶</m:t>
                              </m:r>
                            </m:sub>
                          </m:sSub>
                          <m:r>
                            <a:rPr lang="en-US" altLang="zh-TW" sz="2400" b="0" i="1" smtClean="0">
                              <a:solidFill>
                                <a:srgbClr val="FF0000"/>
                              </a:solidFill>
                              <a:latin typeface="Cambria Math" panose="02040503050406030204" pitchFamily="18" charset="0"/>
                              <a:ea typeface="Cambria Math" panose="02040503050406030204" pitchFamily="18" charset="0"/>
                            </a:rPr>
                            <m:t> </m:t>
                          </m:r>
                        </m:e>
                      </m:d>
                      <m:r>
                        <a:rPr lang="en-US" altLang="zh-TW" sz="2400" b="0" i="1" smtClean="0">
                          <a:solidFill>
                            <a:srgbClr val="FF0000"/>
                          </a:solidFill>
                          <a:latin typeface="Cambria Math" panose="02040503050406030204" pitchFamily="18" charset="0"/>
                          <a:ea typeface="Cambria Math" panose="02040503050406030204" pitchFamily="18" charset="0"/>
                        </a:rPr>
                        <m:t>⊗</m:t>
                      </m:r>
                      <m:d>
                        <m:dPr>
                          <m:ctrlPr>
                            <a:rPr lang="en-US" altLang="zh-TW" sz="2400" b="0" i="1" smtClean="0">
                              <a:solidFill>
                                <a:srgbClr val="FF0000"/>
                              </a:solidFill>
                              <a:latin typeface="Cambria Math" panose="02040503050406030204" pitchFamily="18" charset="0"/>
                              <a:ea typeface="Cambria Math" panose="02040503050406030204" pitchFamily="18" charset="0"/>
                            </a:rPr>
                          </m:ctrlPr>
                        </m:dPr>
                        <m:e>
                          <m:r>
                            <a:rPr lang="en-US" altLang="zh-TW" sz="2400" b="0" i="1" smtClean="0">
                              <a:solidFill>
                                <a:srgbClr val="FF0000"/>
                              </a:solidFill>
                              <a:latin typeface="Cambria Math" panose="02040503050406030204" pitchFamily="18" charset="0"/>
                              <a:ea typeface="Cambria Math" panose="02040503050406030204" pitchFamily="18" charset="0"/>
                            </a:rPr>
                            <m:t> </m:t>
                          </m:r>
                          <m:sSubSup>
                            <m:sSubSupPr>
                              <m:ctrlPr>
                                <a:rPr lang="en-US" altLang="zh-TW" sz="2400" b="0" i="1" smtClean="0">
                                  <a:solidFill>
                                    <a:srgbClr val="FF0000"/>
                                  </a:solidFill>
                                  <a:latin typeface="Cambria Math" panose="02040503050406030204" pitchFamily="18" charset="0"/>
                                  <a:ea typeface="Cambria Math" panose="02040503050406030204" pitchFamily="18" charset="0"/>
                                </a:rPr>
                              </m:ctrlPr>
                            </m:sSubSupPr>
                            <m:e>
                              <m:r>
                                <a:rPr lang="en-US" altLang="zh-TW" sz="2400" b="0" i="1" smtClean="0">
                                  <a:solidFill>
                                    <a:srgbClr val="FF0000"/>
                                  </a:solidFill>
                                  <a:latin typeface="Cambria Math" panose="02040503050406030204" pitchFamily="18" charset="0"/>
                                  <a:ea typeface="Cambria Math" panose="02040503050406030204" pitchFamily="18" charset="0"/>
                                </a:rPr>
                                <m:t>𝑃</m:t>
                              </m:r>
                            </m:e>
                            <m:sub>
                              <m:r>
                                <a:rPr lang="en-US" altLang="zh-TW" sz="2400" b="0" i="1" smtClean="0">
                                  <a:solidFill>
                                    <a:srgbClr val="FF0000"/>
                                  </a:solidFill>
                                  <a:latin typeface="Cambria Math" panose="02040503050406030204" pitchFamily="18" charset="0"/>
                                  <a:ea typeface="Cambria Math" panose="02040503050406030204" pitchFamily="18" charset="0"/>
                                </a:rPr>
                                <m:t>𝐶</m:t>
                              </m:r>
                            </m:sub>
                            <m:sup>
                              <m:r>
                                <a:rPr lang="en-US" altLang="zh-TW" sz="2400" b="0" i="1" smtClean="0">
                                  <a:solidFill>
                                    <a:srgbClr val="FF0000"/>
                                  </a:solidFill>
                                  <a:latin typeface="Cambria Math" panose="02040503050406030204" pitchFamily="18" charset="0"/>
                                  <a:ea typeface="Cambria Math" panose="02040503050406030204" pitchFamily="18" charset="0"/>
                                </a:rPr>
                                <m:t>𝑇</m:t>
                              </m:r>
                            </m:sup>
                          </m:sSubSup>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𝐿</m:t>
                              </m:r>
                            </m:e>
                            <m:sub>
                              <m:r>
                                <a:rPr lang="en-US" altLang="zh-TW" sz="2400" b="0" i="1" smtClean="0">
                                  <a:solidFill>
                                    <a:srgbClr val="FF0000"/>
                                  </a:solidFill>
                                  <a:latin typeface="Cambria Math" panose="02040503050406030204" pitchFamily="18" charset="0"/>
                                  <a:ea typeface="Cambria Math" panose="02040503050406030204" pitchFamily="18" charset="0"/>
                                </a:rPr>
                                <m:t>𝐶</m:t>
                              </m:r>
                            </m:sub>
                          </m:sSub>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𝑈</m:t>
                              </m:r>
                            </m:e>
                            <m:sub>
                              <m:r>
                                <a:rPr lang="en-US" altLang="zh-TW" sz="2400" b="0" i="1" smtClean="0">
                                  <a:solidFill>
                                    <a:srgbClr val="FF0000"/>
                                  </a:solidFill>
                                  <a:latin typeface="Cambria Math" panose="02040503050406030204" pitchFamily="18" charset="0"/>
                                  <a:ea typeface="Cambria Math" panose="02040503050406030204" pitchFamily="18" charset="0"/>
                                </a:rPr>
                                <m:t>𝐶</m:t>
                              </m:r>
                            </m:sub>
                          </m:sSub>
                          <m:r>
                            <a:rPr lang="en-US" altLang="zh-TW" sz="2400" b="0" i="1" smtClean="0">
                              <a:solidFill>
                                <a:srgbClr val="FF0000"/>
                              </a:solidFill>
                              <a:latin typeface="Cambria Math" panose="02040503050406030204" pitchFamily="18" charset="0"/>
                              <a:ea typeface="Cambria Math" panose="02040503050406030204" pitchFamily="18" charset="0"/>
                            </a:rPr>
                            <m:t> </m:t>
                          </m:r>
                        </m:e>
                      </m:d>
                      <m:r>
                        <a:rPr lang="en-US" altLang="zh-TW" sz="2400" b="0" i="1" smtClean="0">
                          <a:solidFill>
                            <a:srgbClr val="FF0000"/>
                          </a:solidFill>
                          <a:latin typeface="Cambria Math" panose="02040503050406030204" pitchFamily="18" charset="0"/>
                          <a:ea typeface="Cambria Math" panose="02040503050406030204" pitchFamily="18" charset="0"/>
                        </a:rPr>
                        <m:t>=</m:t>
                      </m:r>
                      <m:sSup>
                        <m:sSupPr>
                          <m:ctrlPr>
                            <a:rPr lang="en-US" altLang="zh-TW" sz="2400" b="0" i="1" smtClean="0">
                              <a:solidFill>
                                <a:srgbClr val="FF0000"/>
                              </a:solidFill>
                              <a:latin typeface="Cambria Math" panose="02040503050406030204" pitchFamily="18" charset="0"/>
                              <a:ea typeface="Cambria Math" panose="02040503050406030204" pitchFamily="18" charset="0"/>
                            </a:rPr>
                          </m:ctrlPr>
                        </m:sSupPr>
                        <m:e>
                          <m:r>
                            <a:rPr lang="en-US" altLang="zh-TW" sz="2400" b="0" i="1"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𝑃</m:t>
                              </m:r>
                            </m:e>
                            <m:sub>
                              <m:r>
                                <a:rPr lang="en-US" altLang="zh-TW" sz="2400" b="0" i="1" smtClean="0">
                                  <a:solidFill>
                                    <a:srgbClr val="FF0000"/>
                                  </a:solidFill>
                                  <a:latin typeface="Cambria Math" panose="02040503050406030204" pitchFamily="18" charset="0"/>
                                  <a:ea typeface="Cambria Math" panose="02040503050406030204" pitchFamily="18" charset="0"/>
                                </a:rPr>
                                <m:t>𝐵</m:t>
                              </m:r>
                            </m:sub>
                          </m:sSub>
                          <m:r>
                            <a:rPr lang="zh-TW" altLang="en-US" sz="2400" i="1" smtClean="0">
                              <a:solidFill>
                                <a:srgbClr val="FF0000"/>
                              </a:solidFill>
                              <a:latin typeface="Cambria Math" panose="02040503050406030204" pitchFamily="18" charset="0"/>
                            </a:rPr>
                            <m:t>⊗</m:t>
                          </m:r>
                          <m:sSub>
                            <m:sSubPr>
                              <m:ctrlPr>
                                <a:rPr lang="en-US" altLang="zh-TW" sz="240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𝑃</m:t>
                              </m:r>
                            </m:e>
                            <m:sub>
                              <m:r>
                                <a:rPr lang="en-US" altLang="zh-TW" sz="2400" b="0" i="1" smtClean="0">
                                  <a:solidFill>
                                    <a:srgbClr val="FF0000"/>
                                  </a:solidFill>
                                  <a:latin typeface="Cambria Math" panose="02040503050406030204" pitchFamily="18" charset="0"/>
                                </a:rPr>
                                <m:t>𝐶</m:t>
                              </m:r>
                            </m:sub>
                          </m:sSub>
                          <m:r>
                            <a:rPr lang="en-US" altLang="zh-TW" sz="2400" b="0" i="1" smtClean="0">
                              <a:solidFill>
                                <a:srgbClr val="FF0000"/>
                              </a:solidFill>
                              <a:latin typeface="Cambria Math" panose="02040503050406030204" pitchFamily="18" charset="0"/>
                            </a:rPr>
                            <m:t> )</m:t>
                          </m:r>
                        </m:e>
                        <m:sup>
                          <m:r>
                            <a:rPr lang="en-US" altLang="zh-TW" sz="2400" b="0" i="1" smtClean="0">
                              <a:solidFill>
                                <a:srgbClr val="FF0000"/>
                              </a:solidFill>
                              <a:latin typeface="Cambria Math" panose="02040503050406030204" pitchFamily="18" charset="0"/>
                              <a:ea typeface="Cambria Math" panose="02040503050406030204" pitchFamily="18" charset="0"/>
                            </a:rPr>
                            <m:t>𝑇</m:t>
                          </m:r>
                        </m:sup>
                      </m:sSup>
                      <m:r>
                        <a:rPr lang="en-US" altLang="zh-TW" sz="2400" b="0" i="1" smtClean="0">
                          <a:solidFill>
                            <a:srgbClr val="FF0000"/>
                          </a:solidFill>
                          <a:latin typeface="Cambria Math" panose="02040503050406030204" pitchFamily="18" charset="0"/>
                          <a:ea typeface="Cambria Math" panose="02040503050406030204" pitchFamily="18" charset="0"/>
                        </a:rPr>
                        <m:t>(</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𝐿</m:t>
                          </m:r>
                        </m:e>
                        <m:sub>
                          <m:r>
                            <a:rPr lang="en-US" altLang="zh-TW" sz="2400" b="0" i="1" smtClean="0">
                              <a:solidFill>
                                <a:srgbClr val="FF0000"/>
                              </a:solidFill>
                              <a:latin typeface="Cambria Math" panose="02040503050406030204" pitchFamily="18" charset="0"/>
                              <a:ea typeface="Cambria Math" panose="02040503050406030204" pitchFamily="18" charset="0"/>
                            </a:rPr>
                            <m:t>𝐵</m:t>
                          </m:r>
                        </m:sub>
                      </m:sSub>
                      <m:r>
                        <a:rPr lang="zh-TW" altLang="en-US" sz="2400" i="1" smtClean="0">
                          <a:solidFill>
                            <a:srgbClr val="FF0000"/>
                          </a:solidFill>
                          <a:latin typeface="Cambria Math" panose="02040503050406030204" pitchFamily="18" charset="0"/>
                        </a:rPr>
                        <m:t>⊗</m:t>
                      </m:r>
                      <m:sSub>
                        <m:sSubPr>
                          <m:ctrlPr>
                            <a:rPr lang="en-US" altLang="zh-TW" sz="240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𝐿</m:t>
                          </m:r>
                        </m:e>
                        <m:sub>
                          <m:r>
                            <a:rPr lang="en-US" altLang="zh-TW" sz="2400" b="0" i="1" smtClean="0">
                              <a:solidFill>
                                <a:srgbClr val="FF0000"/>
                              </a:solidFill>
                              <a:latin typeface="Cambria Math" panose="02040503050406030204" pitchFamily="18" charset="0"/>
                            </a:rPr>
                            <m:t>𝐶</m:t>
                          </m:r>
                        </m:sub>
                      </m:sSub>
                      <m:r>
                        <a:rPr lang="en-US" altLang="zh-TW" sz="2400" b="0" i="1" smtClean="0">
                          <a:solidFill>
                            <a:srgbClr val="FF0000"/>
                          </a:solidFill>
                          <a:latin typeface="Cambria Math" panose="02040503050406030204" pitchFamily="18" charset="0"/>
                          <a:ea typeface="Cambria Math" panose="02040503050406030204" pitchFamily="18" charset="0"/>
                        </a:rPr>
                        <m:t>)(</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a:rPr lang="en-US" altLang="zh-TW" sz="2400" b="0" i="1" smtClean="0">
                              <a:solidFill>
                                <a:srgbClr val="FF0000"/>
                              </a:solidFill>
                              <a:latin typeface="Cambria Math" panose="02040503050406030204" pitchFamily="18" charset="0"/>
                              <a:ea typeface="Cambria Math" panose="02040503050406030204" pitchFamily="18" charset="0"/>
                            </a:rPr>
                            <m:t>𝑈</m:t>
                          </m:r>
                        </m:e>
                        <m:sub>
                          <m:r>
                            <a:rPr lang="en-US" altLang="zh-TW" sz="2400" b="0" i="1" smtClean="0">
                              <a:solidFill>
                                <a:srgbClr val="FF0000"/>
                              </a:solidFill>
                              <a:latin typeface="Cambria Math" panose="02040503050406030204" pitchFamily="18" charset="0"/>
                              <a:ea typeface="Cambria Math" panose="02040503050406030204" pitchFamily="18" charset="0"/>
                            </a:rPr>
                            <m:t>𝐵</m:t>
                          </m:r>
                        </m:sub>
                      </m:sSub>
                      <m:r>
                        <a:rPr lang="zh-TW" altLang="en-US" sz="2400" i="1" smtClean="0">
                          <a:solidFill>
                            <a:srgbClr val="FF0000"/>
                          </a:solidFill>
                          <a:latin typeface="Cambria Math" panose="02040503050406030204" pitchFamily="18" charset="0"/>
                        </a:rPr>
                        <m:t>⊗</m:t>
                      </m:r>
                      <m:sSub>
                        <m:sSubPr>
                          <m:ctrlPr>
                            <a:rPr lang="en-US" altLang="zh-TW" sz="240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𝑈</m:t>
                          </m:r>
                        </m:e>
                        <m:sub>
                          <m:r>
                            <a:rPr lang="en-US" altLang="zh-TW" sz="2400" b="0" i="1" smtClean="0">
                              <a:solidFill>
                                <a:srgbClr val="FF0000"/>
                              </a:solidFill>
                              <a:latin typeface="Cambria Math" panose="02040503050406030204" pitchFamily="18" charset="0"/>
                            </a:rPr>
                            <m:t>𝐶</m:t>
                          </m:r>
                        </m:sub>
                      </m:sSub>
                      <m:r>
                        <a:rPr lang="en-US" altLang="zh-TW" sz="2400" b="0" i="1" smtClean="0">
                          <a:solidFill>
                            <a:srgbClr val="FF0000"/>
                          </a:solidFill>
                          <a:latin typeface="Cambria Math" panose="02040503050406030204" pitchFamily="18" charset="0"/>
                          <a:ea typeface="Cambria Math" panose="02040503050406030204" pitchFamily="18" charset="0"/>
                        </a:rPr>
                        <m:t>)</m:t>
                      </m:r>
                    </m:oMath>
                  </m:oMathPara>
                </a14:m>
                <a:endParaRPr lang="en-US" altLang="zh-TW" sz="2400" b="0" dirty="0" smtClean="0">
                  <a:solidFill>
                    <a:srgbClr val="FF0000"/>
                  </a:solidFill>
                  <a:ea typeface="Cambria Math" panose="02040503050406030204" pitchFamily="18" charset="0"/>
                </a:endParaRPr>
              </a:p>
              <a:p>
                <a:pPr marL="0" indent="0">
                  <a:buNone/>
                </a:pPr>
                <a:endParaRPr lang="en-US" altLang="zh-TW" sz="2400" b="0" i="1" dirty="0" smtClean="0">
                  <a:solidFill>
                    <a:srgbClr val="FF0000"/>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sz="2400" b="0" i="1" smtClean="0">
                          <a:solidFill>
                            <a:srgbClr val="FF0000"/>
                          </a:solidFill>
                          <a:latin typeface="Cambria Math" panose="02040503050406030204" pitchFamily="18" charset="0"/>
                          <a:ea typeface="Cambria Math" panose="02040503050406030204" pitchFamily="18" charset="0"/>
                        </a:rPr>
                        <m:t>𝐵</m:t>
                      </m:r>
                      <m:r>
                        <a:rPr lang="en-US" altLang="zh-TW" sz="2400" b="0" i="1" smtClean="0">
                          <a:solidFill>
                            <a:srgbClr val="FF0000"/>
                          </a:solidFill>
                          <a:latin typeface="Cambria Math" panose="02040503050406030204" pitchFamily="18" charset="0"/>
                          <a:ea typeface="Cambria Math" panose="02040503050406030204" pitchFamily="18" charset="0"/>
                        </a:rPr>
                        <m:t>⊗ </m:t>
                      </m:r>
                      <m:r>
                        <a:rPr lang="en-US" altLang="zh-TW" sz="2400" b="0" i="1" smtClean="0">
                          <a:solidFill>
                            <a:srgbClr val="FF0000"/>
                          </a:solidFill>
                          <a:latin typeface="Cambria Math" panose="02040503050406030204" pitchFamily="18" charset="0"/>
                          <a:ea typeface="Cambria Math" panose="02040503050406030204" pitchFamily="18" charset="0"/>
                        </a:rPr>
                        <m:t>𝐶</m:t>
                      </m:r>
                      <m:r>
                        <a:rPr lang="en-US" altLang="zh-TW" sz="2400" b="0" i="1" smtClean="0">
                          <a:solidFill>
                            <a:srgbClr val="FF0000"/>
                          </a:solidFill>
                          <a:latin typeface="Cambria Math" panose="02040503050406030204" pitchFamily="18" charset="0"/>
                          <a:ea typeface="Cambria Math" panose="02040503050406030204" pitchFamily="18" charset="0"/>
                        </a:rPr>
                        <m:t>=</m:t>
                      </m:r>
                      <m:d>
                        <m:dPr>
                          <m:ctrlPr>
                            <a:rPr lang="en-US" altLang="zh-TW" sz="2400" b="0" i="1" smtClean="0">
                              <a:solidFill>
                                <a:srgbClr val="FF0000"/>
                              </a:solidFill>
                              <a:latin typeface="Cambria Math" panose="02040503050406030204" pitchFamily="18" charset="0"/>
                              <a:ea typeface="Cambria Math" panose="02040503050406030204" pitchFamily="18" charset="0"/>
                            </a:rPr>
                          </m:ctrlPr>
                        </m:dPr>
                        <m:e>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B</m:t>
                              </m:r>
                            </m:sub>
                          </m:sSub>
                          <m:sSubSup>
                            <m:sSubSupPr>
                              <m:ctrlPr>
                                <a:rPr lang="en-US" altLang="zh-TW" sz="2400" b="0" i="1" smtClean="0">
                                  <a:solidFill>
                                    <a:srgbClr val="FF0000"/>
                                  </a:solidFill>
                                  <a:latin typeface="Cambria Math" panose="02040503050406030204" pitchFamily="18" charset="0"/>
                                  <a:ea typeface="Cambria Math" panose="02040503050406030204" pitchFamily="18" charset="0"/>
                                </a:rPr>
                              </m:ctrlPr>
                            </m:sSubSup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B</m:t>
                              </m:r>
                            </m:sub>
                            <m:sup>
                              <m:r>
                                <m:rPr>
                                  <m:sty m:val="p"/>
                                </m:rPr>
                                <a:rPr lang="en-US" altLang="zh-TW" sz="2400" i="1">
                                  <a:solidFill>
                                    <a:srgbClr val="FF0000"/>
                                  </a:solidFill>
                                  <a:latin typeface="Cambria Math" panose="02040503050406030204" pitchFamily="18" charset="0"/>
                                  <a:ea typeface="Cambria Math" panose="02040503050406030204" pitchFamily="18" charset="0"/>
                                </a:rPr>
                                <m:t>T</m:t>
                              </m:r>
                            </m:sup>
                          </m:sSubSup>
                        </m:e>
                      </m:d>
                      <m:r>
                        <a:rPr lang="en-US" altLang="zh-TW" sz="2400" b="0" i="1" smtClean="0">
                          <a:solidFill>
                            <a:srgbClr val="FF0000"/>
                          </a:solidFill>
                          <a:latin typeface="Cambria Math" panose="02040503050406030204" pitchFamily="18" charset="0"/>
                          <a:ea typeface="Cambria Math" panose="02040503050406030204" pitchFamily="18" charset="0"/>
                        </a:rPr>
                        <m:t>⊗</m:t>
                      </m:r>
                      <m:d>
                        <m:dPr>
                          <m:ctrlPr>
                            <a:rPr lang="en-US" altLang="zh-TW" sz="2400" b="0" i="1" smtClean="0">
                              <a:solidFill>
                                <a:srgbClr val="FF0000"/>
                              </a:solidFill>
                              <a:latin typeface="Cambria Math" panose="02040503050406030204" pitchFamily="18" charset="0"/>
                              <a:ea typeface="Cambria Math" panose="02040503050406030204" pitchFamily="18" charset="0"/>
                            </a:rPr>
                          </m:ctrlPr>
                        </m:dPr>
                        <m:e>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C</m:t>
                              </m:r>
                            </m:sub>
                          </m:sSub>
                          <m:sSubSup>
                            <m:sSubSupPr>
                              <m:ctrlPr>
                                <a:rPr lang="en-US" altLang="zh-TW" sz="2400" b="0" i="1" smtClean="0">
                                  <a:solidFill>
                                    <a:srgbClr val="FF0000"/>
                                  </a:solidFill>
                                  <a:latin typeface="Cambria Math" panose="02040503050406030204" pitchFamily="18" charset="0"/>
                                  <a:ea typeface="Cambria Math" panose="02040503050406030204" pitchFamily="18" charset="0"/>
                                </a:rPr>
                              </m:ctrlPr>
                            </m:sSubSup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C</m:t>
                              </m:r>
                            </m:sub>
                            <m:sup>
                              <m:r>
                                <m:rPr>
                                  <m:sty m:val="p"/>
                                </m:rPr>
                                <a:rPr lang="en-US" altLang="zh-TW" sz="2400" i="1">
                                  <a:solidFill>
                                    <a:srgbClr val="FF0000"/>
                                  </a:solidFill>
                                  <a:latin typeface="Cambria Math" panose="02040503050406030204" pitchFamily="18" charset="0"/>
                                  <a:ea typeface="Cambria Math" panose="02040503050406030204" pitchFamily="18" charset="0"/>
                                </a:rPr>
                                <m:t>T</m:t>
                              </m:r>
                            </m:sup>
                          </m:sSubSup>
                        </m:e>
                      </m:d>
                      <m:r>
                        <a:rPr lang="en-US" altLang="zh-TW" sz="2400" b="0" i="1" smtClean="0">
                          <a:solidFill>
                            <a:srgbClr val="FF0000"/>
                          </a:solidFill>
                          <a:latin typeface="Cambria Math" panose="02040503050406030204" pitchFamily="18" charset="0"/>
                          <a:ea typeface="Cambria Math" panose="02040503050406030204" pitchFamily="18" charset="0"/>
                        </a:rPr>
                        <m:t>=</m:t>
                      </m:r>
                      <m:d>
                        <m:dPr>
                          <m:ctrlPr>
                            <a:rPr lang="en-US" altLang="zh-TW" sz="2400" b="0" i="1" smtClean="0">
                              <a:solidFill>
                                <a:srgbClr val="FF0000"/>
                              </a:solidFill>
                              <a:latin typeface="Cambria Math" panose="02040503050406030204" pitchFamily="18" charset="0"/>
                              <a:ea typeface="Cambria Math" panose="02040503050406030204" pitchFamily="18" charset="0"/>
                            </a:rPr>
                          </m:ctrlPr>
                        </m:dPr>
                        <m:e>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B</m:t>
                              </m:r>
                            </m:sub>
                          </m:sSub>
                          <m:r>
                            <a:rPr lang="en-US" altLang="zh-TW" sz="2400" b="0" i="1"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C</m:t>
                              </m:r>
                            </m:sub>
                          </m:sSub>
                        </m:e>
                      </m:d>
                      <m:sSup>
                        <m:sSupPr>
                          <m:ctrlPr>
                            <a:rPr lang="en-US" altLang="zh-TW" sz="2400" b="0" i="1" smtClean="0">
                              <a:solidFill>
                                <a:srgbClr val="FF0000"/>
                              </a:solidFill>
                              <a:latin typeface="Cambria Math" panose="02040503050406030204" pitchFamily="18" charset="0"/>
                              <a:ea typeface="Cambria Math" panose="02040503050406030204" pitchFamily="18" charset="0"/>
                            </a:rPr>
                          </m:ctrlPr>
                        </m:sSupPr>
                        <m:e>
                          <m:d>
                            <m:dPr>
                              <m:ctrlPr>
                                <a:rPr lang="en-US" altLang="zh-TW" sz="2400" i="1" smtClean="0">
                                  <a:solidFill>
                                    <a:srgbClr val="FF0000"/>
                                  </a:solidFill>
                                  <a:latin typeface="Cambria Math" panose="02040503050406030204" pitchFamily="18" charset="0"/>
                                  <a:ea typeface="Cambria Math" panose="02040503050406030204" pitchFamily="18" charset="0"/>
                                </a:rPr>
                              </m:ctrlPr>
                            </m:dPr>
                            <m:e>
                              <m:r>
                                <a:rPr lang="zh-TW" altLang="en-US" sz="2400" i="1"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B</m:t>
                                  </m:r>
                                </m:sub>
                              </m:sSub>
                              <m:r>
                                <a:rPr lang="en-US" altLang="zh-TW" sz="2400" b="0" i="1"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smtClean="0">
                                      <a:solidFill>
                                        <a:srgbClr val="FF0000"/>
                                      </a:solidFill>
                                      <a:latin typeface="Cambria Math" panose="02040503050406030204" pitchFamily="18" charset="0"/>
                                      <a:ea typeface="Cambria Math" panose="02040503050406030204" pitchFamily="18" charset="0"/>
                                    </a:rPr>
                                  </m:ctrlPr>
                                </m:sSubPr>
                                <m:e>
                                  <m:r>
                                    <m:rPr>
                                      <m:sty m:val="p"/>
                                    </m:rPr>
                                    <a:rPr lang="en-US" altLang="zh-TW" sz="2400" i="1">
                                      <a:solidFill>
                                        <a:srgbClr val="FF0000"/>
                                      </a:solidFill>
                                      <a:latin typeface="Cambria Math" panose="02040503050406030204" pitchFamily="18" charset="0"/>
                                      <a:ea typeface="Cambria Math" panose="02040503050406030204" pitchFamily="18" charset="0"/>
                                    </a:rPr>
                                    <m:t>G</m:t>
                                  </m:r>
                                </m:e>
                                <m:sub>
                                  <m:r>
                                    <m:rPr>
                                      <m:sty m:val="p"/>
                                    </m:rPr>
                                    <a:rPr lang="en-US" altLang="zh-TW" sz="2400" i="1">
                                      <a:solidFill>
                                        <a:srgbClr val="FF0000"/>
                                      </a:solidFill>
                                      <a:latin typeface="Cambria Math" panose="02040503050406030204" pitchFamily="18" charset="0"/>
                                      <a:ea typeface="Cambria Math" panose="02040503050406030204" pitchFamily="18" charset="0"/>
                                    </a:rPr>
                                    <m:t>C</m:t>
                                  </m:r>
                                </m:sub>
                              </m:sSub>
                              <m:r>
                                <a:rPr lang="zh-TW" altLang="en-US" sz="2400" i="1">
                                  <a:solidFill>
                                    <a:srgbClr val="FF0000"/>
                                  </a:solidFill>
                                  <a:latin typeface="Cambria Math" panose="02040503050406030204" pitchFamily="18" charset="0"/>
                                  <a:ea typeface="Cambria Math" panose="02040503050406030204" pitchFamily="18" charset="0"/>
                                </a:rPr>
                                <m:t> </m:t>
                              </m:r>
                            </m:e>
                          </m:d>
                        </m:e>
                        <m:sup>
                          <m:r>
                            <m:rPr>
                              <m:sty m:val="p"/>
                            </m:rPr>
                            <a:rPr lang="en-US" altLang="zh-TW" sz="2400" i="1">
                              <a:solidFill>
                                <a:srgbClr val="FF0000"/>
                              </a:solidFill>
                              <a:latin typeface="Cambria Math" panose="02040503050406030204" pitchFamily="18" charset="0"/>
                              <a:ea typeface="Cambria Math" panose="02040503050406030204" pitchFamily="18" charset="0"/>
                            </a:rPr>
                            <m:t>T</m:t>
                          </m:r>
                        </m:sup>
                      </m:sSup>
                    </m:oMath>
                  </m:oMathPara>
                </a14:m>
                <a:endParaRPr lang="en-US" altLang="zh-TW" sz="2400" b="0" dirty="0" smtClean="0">
                  <a:solidFill>
                    <a:srgbClr val="FF0000"/>
                  </a:solidFill>
                  <a:ea typeface="Cambria Math" panose="02040503050406030204" pitchFamily="18" charset="0"/>
                </a:endParaRPr>
              </a:p>
              <a:p>
                <a:pPr marL="0" indent="0">
                  <a:buNone/>
                </a:pPr>
                <a:endParaRPr lang="en-US" altLang="zh-TW" sz="2400" b="0" dirty="0" smtClean="0">
                  <a:solidFill>
                    <a:srgbClr val="FF0000"/>
                  </a:solidFill>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m:rPr>
                          <m:sty m:val="p"/>
                        </m:rPr>
                        <a:rPr lang="en-US" altLang="zh-TW" sz="2400" i="1" dirty="0">
                          <a:solidFill>
                            <a:srgbClr val="FF0000"/>
                          </a:solidFill>
                          <a:latin typeface="Cambria Math" panose="02040503050406030204" pitchFamily="18" charset="0"/>
                          <a:ea typeface="Cambria Math" panose="02040503050406030204" pitchFamily="18" charset="0"/>
                        </a:rPr>
                        <m:t>B</m:t>
                      </m:r>
                      <m:r>
                        <a:rPr lang="zh-TW" altLang="en-US" sz="2400" dirty="0">
                          <a:solidFill>
                            <a:srgbClr val="FF0000"/>
                          </a:solidFill>
                          <a:latin typeface="Cambria Math" panose="02040503050406030204" pitchFamily="18" charset="0"/>
                          <a:ea typeface="Cambria Math" panose="02040503050406030204" pitchFamily="18" charset="0"/>
                        </a:rPr>
                        <m:t>⊗</m:t>
                      </m:r>
                      <m:r>
                        <m:rPr>
                          <m:sty m:val="p"/>
                        </m:rPr>
                        <a:rPr lang="en-US" altLang="zh-TW" sz="2400" b="0" i="0" dirty="0" smtClean="0">
                          <a:solidFill>
                            <a:srgbClr val="FF0000"/>
                          </a:solidFill>
                          <a:latin typeface="Cambria Math" panose="02040503050406030204" pitchFamily="18" charset="0"/>
                          <a:ea typeface="Cambria Math" panose="02040503050406030204" pitchFamily="18" charset="0"/>
                        </a:rPr>
                        <m:t>C</m:t>
                      </m:r>
                      <m:r>
                        <a:rPr lang="en-US" altLang="zh-TW" sz="2400" b="0" i="0" dirty="0" smtClean="0">
                          <a:solidFill>
                            <a:srgbClr val="FF0000"/>
                          </a:solidFill>
                          <a:latin typeface="Cambria Math" panose="02040503050406030204" pitchFamily="18" charset="0"/>
                          <a:ea typeface="Cambria Math" panose="02040503050406030204" pitchFamily="18" charset="0"/>
                        </a:rPr>
                        <m:t>=</m:t>
                      </m:r>
                      <m:d>
                        <m:dPr>
                          <m:ctrlPr>
                            <a:rPr lang="en-US" altLang="zh-TW" sz="2400" b="0" i="1" dirty="0" smtClean="0">
                              <a:solidFill>
                                <a:srgbClr val="FF0000"/>
                              </a:solidFill>
                              <a:latin typeface="Cambria Math" panose="02040503050406030204" pitchFamily="18" charset="0"/>
                              <a:ea typeface="Cambria Math" panose="02040503050406030204" pitchFamily="18" charset="0"/>
                            </a:rPr>
                          </m:ctrlPr>
                        </m:dPr>
                        <m:e>
                          <m:r>
                            <a:rPr lang="en-US" altLang="zh-TW" sz="2400" b="0" i="0" dirty="0"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𝑄</m:t>
                              </m:r>
                            </m:e>
                            <m:sub>
                              <m:r>
                                <a:rPr lang="en-US" altLang="zh-TW" sz="2400" b="0" i="1" dirty="0" smtClean="0">
                                  <a:solidFill>
                                    <a:srgbClr val="FF0000"/>
                                  </a:solidFill>
                                  <a:latin typeface="Cambria Math" panose="02040503050406030204" pitchFamily="18" charset="0"/>
                                  <a:ea typeface="Cambria Math" panose="02040503050406030204" pitchFamily="18" charset="0"/>
                                </a:rPr>
                                <m:t>𝐵</m:t>
                              </m:r>
                            </m:sub>
                          </m:sSub>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𝑅</m:t>
                              </m:r>
                            </m:e>
                            <m:sub>
                              <m:r>
                                <a:rPr lang="en-US" altLang="zh-TW" sz="2400" b="0" i="1" dirty="0" smtClean="0">
                                  <a:solidFill>
                                    <a:srgbClr val="FF0000"/>
                                  </a:solidFill>
                                  <a:latin typeface="Cambria Math" panose="02040503050406030204" pitchFamily="18" charset="0"/>
                                  <a:ea typeface="Cambria Math" panose="02040503050406030204" pitchFamily="18" charset="0"/>
                                </a:rPr>
                                <m:t>𝐵</m:t>
                              </m:r>
                            </m:sub>
                          </m:sSub>
                          <m:r>
                            <a:rPr lang="en-US" altLang="zh-TW" sz="2400" b="0" i="1" dirty="0" smtClean="0">
                              <a:solidFill>
                                <a:srgbClr val="FF0000"/>
                              </a:solidFill>
                              <a:latin typeface="Cambria Math" panose="02040503050406030204" pitchFamily="18" charset="0"/>
                              <a:ea typeface="Cambria Math" panose="02040503050406030204" pitchFamily="18" charset="0"/>
                            </a:rPr>
                            <m:t> </m:t>
                          </m:r>
                        </m:e>
                      </m:d>
                      <m:r>
                        <a:rPr lang="en-US" altLang="zh-TW" sz="2400" b="0" i="1" dirty="0" smtClean="0">
                          <a:solidFill>
                            <a:srgbClr val="FF0000"/>
                          </a:solidFill>
                          <a:latin typeface="Cambria Math" panose="02040503050406030204" pitchFamily="18" charset="0"/>
                          <a:ea typeface="Cambria Math" panose="02040503050406030204" pitchFamily="18" charset="0"/>
                        </a:rPr>
                        <m:t>⊗</m:t>
                      </m:r>
                      <m:d>
                        <m:dPr>
                          <m:ctrlPr>
                            <a:rPr lang="en-US" altLang="zh-TW" sz="2400" b="0" i="1" dirty="0" smtClean="0">
                              <a:solidFill>
                                <a:srgbClr val="FF0000"/>
                              </a:solidFill>
                              <a:latin typeface="Cambria Math" panose="02040503050406030204" pitchFamily="18" charset="0"/>
                              <a:ea typeface="Cambria Math" panose="02040503050406030204" pitchFamily="18" charset="0"/>
                            </a:rPr>
                          </m:ctrlPr>
                        </m:dPr>
                        <m:e>
                          <m:r>
                            <a:rPr lang="en-US" altLang="zh-TW" sz="2400" b="0" i="1" dirty="0"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𝑄</m:t>
                              </m:r>
                            </m:e>
                            <m:sub>
                              <m:r>
                                <a:rPr lang="en-US" altLang="zh-TW" sz="2400" b="0" i="1" dirty="0" smtClean="0">
                                  <a:solidFill>
                                    <a:srgbClr val="FF0000"/>
                                  </a:solidFill>
                                  <a:latin typeface="Cambria Math" panose="02040503050406030204" pitchFamily="18" charset="0"/>
                                  <a:ea typeface="Cambria Math" panose="02040503050406030204" pitchFamily="18" charset="0"/>
                                </a:rPr>
                                <m:t>𝐶</m:t>
                              </m:r>
                            </m:sub>
                          </m:sSub>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𝑅</m:t>
                              </m:r>
                            </m:e>
                            <m:sub>
                              <m:r>
                                <a:rPr lang="en-US" altLang="zh-TW" sz="2400" b="0" i="1" dirty="0" smtClean="0">
                                  <a:solidFill>
                                    <a:srgbClr val="FF0000"/>
                                  </a:solidFill>
                                  <a:latin typeface="Cambria Math" panose="02040503050406030204" pitchFamily="18" charset="0"/>
                                  <a:ea typeface="Cambria Math" panose="02040503050406030204" pitchFamily="18" charset="0"/>
                                </a:rPr>
                                <m:t>𝐶</m:t>
                              </m:r>
                            </m:sub>
                          </m:sSub>
                          <m:r>
                            <a:rPr lang="en-US" altLang="zh-TW" sz="2400" b="0" i="1" dirty="0" smtClean="0">
                              <a:solidFill>
                                <a:srgbClr val="FF0000"/>
                              </a:solidFill>
                              <a:latin typeface="Cambria Math" panose="02040503050406030204" pitchFamily="18" charset="0"/>
                              <a:ea typeface="Cambria Math" panose="02040503050406030204" pitchFamily="18" charset="0"/>
                            </a:rPr>
                            <m:t> </m:t>
                          </m:r>
                        </m:e>
                      </m:d>
                      <m:r>
                        <a:rPr lang="en-US" altLang="zh-TW" sz="2400" b="0" i="1" dirty="0" smtClean="0">
                          <a:solidFill>
                            <a:srgbClr val="FF0000"/>
                          </a:solidFill>
                          <a:latin typeface="Cambria Math" panose="02040503050406030204" pitchFamily="18" charset="0"/>
                          <a:ea typeface="Cambria Math" panose="02040503050406030204" pitchFamily="18" charset="0"/>
                        </a:rPr>
                        <m:t>=</m:t>
                      </m:r>
                      <m:d>
                        <m:dPr>
                          <m:ctrlPr>
                            <a:rPr lang="en-US" altLang="zh-TW" sz="2400" b="0" i="1" dirty="0" smtClean="0">
                              <a:solidFill>
                                <a:srgbClr val="FF0000"/>
                              </a:solidFill>
                              <a:latin typeface="Cambria Math" panose="02040503050406030204" pitchFamily="18" charset="0"/>
                              <a:ea typeface="Cambria Math" panose="02040503050406030204" pitchFamily="18" charset="0"/>
                            </a:rPr>
                          </m:ctrlPr>
                        </m:dPr>
                        <m:e>
                          <m:r>
                            <a:rPr lang="en-US" altLang="zh-TW" sz="2400" b="0" i="1" dirty="0"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𝑄</m:t>
                              </m:r>
                            </m:e>
                            <m:sub>
                              <m:r>
                                <a:rPr lang="en-US" altLang="zh-TW" sz="2400" b="0" i="1" dirty="0" smtClean="0">
                                  <a:solidFill>
                                    <a:srgbClr val="FF0000"/>
                                  </a:solidFill>
                                  <a:latin typeface="Cambria Math" panose="02040503050406030204" pitchFamily="18" charset="0"/>
                                  <a:ea typeface="Cambria Math" panose="02040503050406030204" pitchFamily="18" charset="0"/>
                                </a:rPr>
                                <m:t>𝐵</m:t>
                              </m:r>
                            </m:sub>
                          </m:sSub>
                          <m:r>
                            <a:rPr lang="en-US" altLang="zh-TW" sz="2400" b="0" i="1" dirty="0"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𝑄</m:t>
                              </m:r>
                            </m:e>
                            <m:sub>
                              <m:r>
                                <a:rPr lang="en-US" altLang="zh-TW" sz="2400" b="0" i="1" dirty="0" smtClean="0">
                                  <a:solidFill>
                                    <a:srgbClr val="FF0000"/>
                                  </a:solidFill>
                                  <a:latin typeface="Cambria Math" panose="02040503050406030204" pitchFamily="18" charset="0"/>
                                  <a:ea typeface="Cambria Math" panose="02040503050406030204" pitchFamily="18" charset="0"/>
                                </a:rPr>
                                <m:t>𝐶</m:t>
                              </m:r>
                            </m:sub>
                          </m:sSub>
                          <m:r>
                            <a:rPr lang="en-US" altLang="zh-TW" sz="2400" b="0" i="1" dirty="0" smtClean="0">
                              <a:solidFill>
                                <a:srgbClr val="FF0000"/>
                              </a:solidFill>
                              <a:latin typeface="Cambria Math" panose="02040503050406030204" pitchFamily="18" charset="0"/>
                              <a:ea typeface="Cambria Math" panose="02040503050406030204" pitchFamily="18" charset="0"/>
                            </a:rPr>
                            <m:t> </m:t>
                          </m:r>
                        </m:e>
                      </m:d>
                      <m:d>
                        <m:dPr>
                          <m:ctrlPr>
                            <a:rPr lang="en-US" altLang="zh-TW" sz="2400" b="0" i="1" dirty="0" smtClean="0">
                              <a:solidFill>
                                <a:srgbClr val="FF0000"/>
                              </a:solidFill>
                              <a:latin typeface="Cambria Math" panose="02040503050406030204" pitchFamily="18" charset="0"/>
                              <a:ea typeface="Cambria Math" panose="02040503050406030204" pitchFamily="18" charset="0"/>
                            </a:rPr>
                          </m:ctrlPr>
                        </m:dPr>
                        <m:e>
                          <m:r>
                            <a:rPr lang="en-US" altLang="zh-TW" sz="2400" b="0" i="1" dirty="0"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𝑅</m:t>
                              </m:r>
                            </m:e>
                            <m:sub>
                              <m:r>
                                <a:rPr lang="en-US" altLang="zh-TW" sz="2400" b="0" i="1" dirty="0" smtClean="0">
                                  <a:solidFill>
                                    <a:srgbClr val="FF0000"/>
                                  </a:solidFill>
                                  <a:latin typeface="Cambria Math" panose="02040503050406030204" pitchFamily="18" charset="0"/>
                                  <a:ea typeface="Cambria Math" panose="02040503050406030204" pitchFamily="18" charset="0"/>
                                </a:rPr>
                                <m:t>𝐵</m:t>
                              </m:r>
                            </m:sub>
                          </m:sSub>
                          <m:r>
                            <a:rPr lang="en-US" altLang="zh-TW" sz="2400" i="1" dirty="0">
                              <a:solidFill>
                                <a:srgbClr val="FF0000"/>
                              </a:solidFill>
                              <a:latin typeface="Cambria Math" panose="02040503050406030204" pitchFamily="18" charset="0"/>
                              <a:ea typeface="Cambria Math" panose="02040503050406030204" pitchFamily="18" charset="0"/>
                            </a:rPr>
                            <m:t>⊕</m:t>
                          </m:r>
                          <m:r>
                            <a:rPr lang="en-US" altLang="zh-TW" sz="2400" b="0" i="1" dirty="0" smtClean="0">
                              <a:solidFill>
                                <a:srgbClr val="FF0000"/>
                              </a:solidFill>
                              <a:latin typeface="Cambria Math" panose="02040503050406030204" pitchFamily="18" charset="0"/>
                              <a:ea typeface="Cambria Math" panose="02040503050406030204" pitchFamily="18" charset="0"/>
                            </a:rPr>
                            <m:t> </m:t>
                          </m:r>
                          <m:sSub>
                            <m:sSubPr>
                              <m:ctrlPr>
                                <a:rPr lang="en-US" altLang="zh-TW" sz="2400" b="0" i="1" dirty="0" smtClean="0">
                                  <a:solidFill>
                                    <a:srgbClr val="FF0000"/>
                                  </a:solidFill>
                                  <a:latin typeface="Cambria Math" panose="02040503050406030204" pitchFamily="18" charset="0"/>
                                  <a:ea typeface="Cambria Math" panose="02040503050406030204" pitchFamily="18" charset="0"/>
                                </a:rPr>
                              </m:ctrlPr>
                            </m:sSubPr>
                            <m:e>
                              <m:r>
                                <a:rPr lang="en-US" altLang="zh-TW" sz="2400" b="0" i="1" dirty="0" smtClean="0">
                                  <a:solidFill>
                                    <a:srgbClr val="FF0000"/>
                                  </a:solidFill>
                                  <a:latin typeface="Cambria Math" panose="02040503050406030204" pitchFamily="18" charset="0"/>
                                  <a:ea typeface="Cambria Math" panose="02040503050406030204" pitchFamily="18" charset="0"/>
                                </a:rPr>
                                <m:t>𝑅</m:t>
                              </m:r>
                            </m:e>
                            <m:sub>
                              <m:r>
                                <a:rPr lang="en-US" altLang="zh-TW" sz="2400" b="0" i="1" dirty="0" smtClean="0">
                                  <a:solidFill>
                                    <a:srgbClr val="FF0000"/>
                                  </a:solidFill>
                                  <a:latin typeface="Cambria Math" panose="02040503050406030204" pitchFamily="18" charset="0"/>
                                  <a:ea typeface="Cambria Math" panose="02040503050406030204" pitchFamily="18" charset="0"/>
                                </a:rPr>
                                <m:t>𝐶</m:t>
                              </m:r>
                            </m:sub>
                          </m:sSub>
                          <m:r>
                            <a:rPr lang="en-US" altLang="zh-TW" sz="2400" b="0" i="1" dirty="0" smtClean="0">
                              <a:solidFill>
                                <a:srgbClr val="FF0000"/>
                              </a:solidFill>
                              <a:latin typeface="Cambria Math" panose="02040503050406030204" pitchFamily="18" charset="0"/>
                              <a:ea typeface="Cambria Math" panose="02040503050406030204" pitchFamily="18" charset="0"/>
                            </a:rPr>
                            <m:t> </m:t>
                          </m:r>
                        </m:e>
                      </m:d>
                      <m:r>
                        <a:rPr lang="en-US" altLang="zh-TW" sz="2400" b="0" i="1" dirty="0" smtClean="0">
                          <a:solidFill>
                            <a:srgbClr val="FF0000"/>
                          </a:solidFill>
                          <a:latin typeface="Cambria Math" panose="02040503050406030204" pitchFamily="18" charset="0"/>
                          <a:ea typeface="Cambria Math" panose="02040503050406030204" pitchFamily="18" charset="0"/>
                        </a:rPr>
                        <m:t> </m:t>
                      </m:r>
                    </m:oMath>
                  </m:oMathPara>
                </a14:m>
                <a:endParaRPr lang="en-US" altLang="zh-TW" sz="2400" b="0" dirty="0" smtClean="0">
                  <a:solidFill>
                    <a:srgbClr val="FF0000"/>
                  </a:solidFill>
                  <a:ea typeface="Cambria Math" panose="02040503050406030204" pitchFamily="18" charset="0"/>
                </a:endParaRPr>
              </a:p>
              <a:p>
                <a:pPr marL="0" indent="0">
                  <a:buNone/>
                </a:pPr>
                <a:endParaRPr lang="en-US" altLang="zh-TW" sz="2400" b="0" dirty="0" smtClean="0">
                  <a:solidFill>
                    <a:srgbClr val="FF0000"/>
                  </a:solidFill>
                  <a:ea typeface="Cambria Math" panose="02040503050406030204" pitchFamily="18" charset="0"/>
                </a:endParaRPr>
              </a:p>
              <a:p>
                <a:pPr marL="0" indent="0">
                  <a:buNone/>
                </a:pPr>
                <a:r>
                  <a:rPr lang="en-US" altLang="zh-TW" sz="2400" dirty="0" smtClean="0">
                    <a:ea typeface="Cambria Math" panose="02040503050406030204" pitchFamily="18" charset="0"/>
                  </a:rPr>
                  <a:t>The same is true for the singular value and </a:t>
                </a:r>
                <a:r>
                  <a:rPr lang="en-US" altLang="zh-TW" sz="2400" dirty="0" err="1" smtClean="0">
                    <a:ea typeface="Cambria Math" panose="02040503050406030204" pitchFamily="18" charset="0"/>
                  </a:rPr>
                  <a:t>Schur</a:t>
                </a:r>
                <a:r>
                  <a:rPr lang="en-US" altLang="zh-TW" sz="2400" dirty="0" smtClean="0">
                    <a:ea typeface="Cambria Math" panose="02040503050406030204" pitchFamily="18" charset="0"/>
                  </a:rPr>
                  <a:t> decompositions if we disregard ordering issues.</a:t>
                </a:r>
              </a:p>
            </p:txBody>
          </p:sp>
        </mc:Choice>
        <mc:Fallback xmlns="">
          <p:sp>
            <p:nvSpPr>
              <p:cNvPr id="3" name="文字版面配置區 2"/>
              <p:cNvSpPr>
                <a:spLocks noGrp="1" noRot="1" noChangeAspect="1" noMove="1" noResize="1" noEditPoints="1" noAdjustHandles="1" noChangeArrowheads="1" noChangeShapeType="1" noTextEdit="1"/>
              </p:cNvSpPr>
              <p:nvPr>
                <p:ph type="body"/>
              </p:nvPr>
            </p:nvSpPr>
            <p:spPr>
              <a:xfrm>
                <a:off x="504000" y="1769040"/>
                <a:ext cx="9363900" cy="4384440"/>
              </a:xfrm>
              <a:blipFill rotWithShape="0">
                <a:blip r:embed="rId2"/>
                <a:stretch>
                  <a:fillRect l="-2018" r="-1237" b="-417"/>
                </a:stretch>
              </a:blipFill>
            </p:spPr>
            <p:txBody>
              <a:bodyPr/>
              <a:lstStyle/>
              <a:p>
                <a:r>
                  <a:rPr lang="zh-TW" altLang="en-US">
                    <a:noFill/>
                  </a:rPr>
                  <a:t> </a:t>
                </a:r>
              </a:p>
            </p:txBody>
          </p:sp>
        </mc:Fallback>
      </mc:AlternateContent>
      <p:sp>
        <p:nvSpPr>
          <p:cNvPr id="4" name="TextShape 1"/>
          <p:cNvSpPr txBox="1">
            <a:spLocks noGrp="1"/>
          </p:cNvSpPr>
          <p:nvPr>
            <p:ph type="title"/>
          </p:nvPr>
        </p:nvSpPr>
        <p:spPr>
          <a:prstGeom prst="rect">
            <a:avLst/>
          </a:prstGeom>
          <a:noFill/>
          <a:ln>
            <a:noFill/>
          </a:ln>
        </p:spPr>
        <p:txBody>
          <a:bodyPr lIns="0" tIns="0" rIns="0" bIns="0" anchor="ctr"/>
          <a:lstStyle/>
          <a:p>
            <a:pPr algn="ctr"/>
            <a:r>
              <a:rPr lang="en-US" sz="4400" spc="-1" dirty="0">
                <a:latin typeface="微軟正黑體"/>
              </a:rPr>
              <a:t>Basic properties</a:t>
            </a:r>
            <a:endParaRPr dirty="0"/>
          </a:p>
        </p:txBody>
      </p:sp>
    </p:spTree>
    <p:extLst>
      <p:ext uri="{BB962C8B-B14F-4D97-AF65-F5344CB8AC3E}">
        <p14:creationId xmlns:p14="http://schemas.microsoft.com/office/powerpoint/2010/main" val="806857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版面配置區 2"/>
              <p:cNvSpPr>
                <a:spLocks noGrp="1"/>
              </p:cNvSpPr>
              <p:nvPr>
                <p:ph type="body"/>
              </p:nvPr>
            </p:nvSpPr>
            <p:spPr>
              <a:xfrm>
                <a:off x="504000" y="1727200"/>
                <a:ext cx="9071640" cy="2418080"/>
              </a:xfrm>
            </p:spPr>
            <p:txBody>
              <a:bodyPr/>
              <a:lstStyle/>
              <a:p>
                <a:pPr marL="0" indent="0">
                  <a:buNone/>
                </a:pPr>
                <a:r>
                  <a:rPr lang="en-US" altLang="zh-TW" sz="2600" dirty="0" smtClean="0">
                    <a:latin typeface="+mn-lt"/>
                  </a:rPr>
                  <a:t>In </a:t>
                </a:r>
                <a:r>
                  <a:rPr lang="en-US" altLang="zh-TW" sz="2600" dirty="0" err="1" smtClean="0">
                    <a:latin typeface="+mn-lt"/>
                  </a:rPr>
                  <a:t>kronecker</a:t>
                </a:r>
                <a:r>
                  <a:rPr lang="en-US" altLang="zh-TW" sz="2600" dirty="0" smtClean="0">
                    <a:latin typeface="+mn-lt"/>
                  </a:rPr>
                  <a:t> product work, matrices are sometimes regarded as vectors and vectors are sometimes “made into “ into matrices.</a:t>
                </a:r>
              </a:p>
              <a:p>
                <a:pPr marL="0" indent="0">
                  <a:buNone/>
                </a:pPr>
                <a:endParaRPr lang="en-US" altLang="zh-TW" sz="2600" b="0" i="1" dirty="0" smtClean="0">
                  <a:latin typeface="+mn-lt"/>
                </a:endParaRPr>
              </a:p>
              <a:p>
                <a:pPr marL="0" indent="0">
                  <a:buNone/>
                </a:pPr>
                <a14:m>
                  <m:oMathPara xmlns:m="http://schemas.openxmlformats.org/officeDocument/2006/math">
                    <m:oMathParaPr>
                      <m:jc m:val="left"/>
                    </m:oMathParaPr>
                    <m:oMath xmlns:m="http://schemas.openxmlformats.org/officeDocument/2006/math">
                      <m:r>
                        <a:rPr lang="en-US" altLang="zh-TW" sz="2600" b="0" i="1" smtClean="0">
                          <a:solidFill>
                            <a:srgbClr val="FF0000"/>
                          </a:solidFill>
                          <a:latin typeface="Cambria Math" panose="02040503050406030204" pitchFamily="18" charset="0"/>
                        </a:rPr>
                        <m:t>𝐶𝑋</m:t>
                      </m:r>
                      <m:sSup>
                        <m:sSupPr>
                          <m:ctrlPr>
                            <a:rPr lang="en-US" altLang="zh-TW" sz="2600" b="0" i="1" smtClean="0">
                              <a:solidFill>
                                <a:srgbClr val="FF0000"/>
                              </a:solidFill>
                              <a:latin typeface="Cambria Math" panose="02040503050406030204" pitchFamily="18" charset="0"/>
                            </a:rPr>
                          </m:ctrlPr>
                        </m:sSupPr>
                        <m:e>
                          <m:r>
                            <a:rPr lang="en-US" altLang="zh-TW" sz="2600" b="0" i="1" smtClean="0">
                              <a:solidFill>
                                <a:srgbClr val="FF0000"/>
                              </a:solidFill>
                              <a:latin typeface="Cambria Math" panose="02040503050406030204" pitchFamily="18" charset="0"/>
                            </a:rPr>
                            <m:t>𝐵</m:t>
                          </m:r>
                        </m:e>
                        <m:sup>
                          <m:r>
                            <a:rPr lang="en-US" altLang="zh-TW" sz="2600" b="0" i="1" smtClean="0">
                              <a:solidFill>
                                <a:srgbClr val="FF0000"/>
                              </a:solidFill>
                              <a:latin typeface="Cambria Math" panose="02040503050406030204" pitchFamily="18" charset="0"/>
                            </a:rPr>
                            <m:t>𝑇</m:t>
                          </m:r>
                        </m:sup>
                      </m:sSup>
                      <m:r>
                        <a:rPr lang="en-US" altLang="zh-TW" sz="2600" b="0" i="1" smtClean="0">
                          <a:solidFill>
                            <a:srgbClr val="FF0000"/>
                          </a:solidFill>
                          <a:latin typeface="Cambria Math" panose="02040503050406030204" pitchFamily="18" charset="0"/>
                        </a:rPr>
                        <m:t>=</m:t>
                      </m:r>
                      <m:r>
                        <a:rPr lang="en-US" altLang="zh-TW" sz="2600" b="0" i="1" smtClean="0">
                          <a:solidFill>
                            <a:srgbClr val="FF0000"/>
                          </a:solidFill>
                          <a:latin typeface="Cambria Math" panose="02040503050406030204" pitchFamily="18" charset="0"/>
                        </a:rPr>
                        <m:t>𝑌</m:t>
                      </m:r>
                      <m:r>
                        <a:rPr lang="en-US" altLang="zh-TW" sz="2600" b="0" i="1" smtClean="0">
                          <a:solidFill>
                            <a:srgbClr val="FF0000"/>
                          </a:solidFill>
                          <a:latin typeface="Cambria Math" panose="02040503050406030204" pitchFamily="18" charset="0"/>
                        </a:rPr>
                        <m:t> ≡ </m:t>
                      </m:r>
                      <m:d>
                        <m:dPr>
                          <m:ctrlPr>
                            <a:rPr lang="en-US" altLang="zh-TW" sz="2600" b="0" i="1" smtClean="0">
                              <a:solidFill>
                                <a:srgbClr val="FF0000"/>
                              </a:solidFill>
                              <a:latin typeface="Cambria Math" panose="02040503050406030204" pitchFamily="18" charset="0"/>
                            </a:rPr>
                          </m:ctrlPr>
                        </m:dPr>
                        <m:e>
                          <m:r>
                            <a:rPr lang="en-US" altLang="zh-TW" sz="2600" b="0" i="1" smtClean="0">
                              <a:solidFill>
                                <a:srgbClr val="FF0000"/>
                              </a:solidFill>
                              <a:latin typeface="Cambria Math" panose="02040503050406030204" pitchFamily="18" charset="0"/>
                            </a:rPr>
                            <m:t> </m:t>
                          </m:r>
                          <m:r>
                            <a:rPr lang="en-US" altLang="zh-TW" sz="2600" b="0" i="1" smtClean="0">
                              <a:solidFill>
                                <a:srgbClr val="FF0000"/>
                              </a:solidFill>
                              <a:latin typeface="Cambria Math" panose="02040503050406030204" pitchFamily="18" charset="0"/>
                            </a:rPr>
                            <m:t>𝐵</m:t>
                          </m:r>
                          <m:r>
                            <a:rPr lang="en-US" altLang="zh-TW" sz="2600" b="0" i="1" smtClean="0">
                              <a:solidFill>
                                <a:srgbClr val="FF0000"/>
                              </a:solidFill>
                              <a:latin typeface="Cambria Math" panose="02040503050406030204" pitchFamily="18" charset="0"/>
                              <a:ea typeface="Cambria Math" panose="02040503050406030204" pitchFamily="18" charset="0"/>
                            </a:rPr>
                            <m:t>⊗</m:t>
                          </m:r>
                          <m:r>
                            <a:rPr lang="en-US" altLang="zh-TW" sz="2600" b="0" i="1" smtClean="0">
                              <a:solidFill>
                                <a:srgbClr val="FF0000"/>
                              </a:solidFill>
                              <a:latin typeface="Cambria Math" panose="02040503050406030204" pitchFamily="18" charset="0"/>
                              <a:ea typeface="Cambria Math" panose="02040503050406030204" pitchFamily="18" charset="0"/>
                            </a:rPr>
                            <m:t>𝐶</m:t>
                          </m:r>
                          <m:r>
                            <a:rPr lang="en-US" altLang="zh-TW" sz="2600" b="0" i="1" smtClean="0">
                              <a:solidFill>
                                <a:srgbClr val="FF0000"/>
                              </a:solidFill>
                              <a:latin typeface="Cambria Math" panose="02040503050406030204" pitchFamily="18" charset="0"/>
                              <a:ea typeface="Cambria Math" panose="02040503050406030204" pitchFamily="18" charset="0"/>
                            </a:rPr>
                            <m:t> </m:t>
                          </m:r>
                        </m:e>
                      </m:d>
                      <m:r>
                        <a:rPr lang="en-US" altLang="zh-TW" sz="2600" b="0" i="1" smtClean="0">
                          <a:solidFill>
                            <a:srgbClr val="FF0000"/>
                          </a:solidFill>
                          <a:latin typeface="Cambria Math" panose="02040503050406030204" pitchFamily="18" charset="0"/>
                        </a:rPr>
                        <m:t>𝑣𝑒𝑐</m:t>
                      </m:r>
                      <m:d>
                        <m:dPr>
                          <m:ctrlPr>
                            <a:rPr lang="en-US" altLang="zh-TW" sz="2600" b="0" i="1" smtClean="0">
                              <a:solidFill>
                                <a:srgbClr val="FF0000"/>
                              </a:solidFill>
                              <a:latin typeface="Cambria Math" panose="02040503050406030204" pitchFamily="18" charset="0"/>
                            </a:rPr>
                          </m:ctrlPr>
                        </m:dPr>
                        <m:e>
                          <m:r>
                            <a:rPr lang="en-US" altLang="zh-TW" sz="2600" b="0" i="1" smtClean="0">
                              <a:solidFill>
                                <a:srgbClr val="FF0000"/>
                              </a:solidFill>
                              <a:latin typeface="Cambria Math" panose="02040503050406030204" pitchFamily="18" charset="0"/>
                            </a:rPr>
                            <m:t>𝑋</m:t>
                          </m:r>
                        </m:e>
                      </m:d>
                      <m:r>
                        <a:rPr lang="en-US" altLang="zh-TW" sz="2600" b="0" i="1" smtClean="0">
                          <a:solidFill>
                            <a:srgbClr val="FF0000"/>
                          </a:solidFill>
                          <a:latin typeface="Cambria Math" panose="02040503050406030204" pitchFamily="18" charset="0"/>
                        </a:rPr>
                        <m:t>=</m:t>
                      </m:r>
                      <m:r>
                        <a:rPr lang="en-US" altLang="zh-TW" sz="2600" b="0" i="1" smtClean="0">
                          <a:solidFill>
                            <a:srgbClr val="FF0000"/>
                          </a:solidFill>
                          <a:latin typeface="Cambria Math" panose="02040503050406030204" pitchFamily="18" charset="0"/>
                        </a:rPr>
                        <m:t>𝑣𝑒𝑐</m:t>
                      </m:r>
                      <m:r>
                        <a:rPr lang="en-US" altLang="zh-TW" sz="2600" b="0" i="1" smtClean="0">
                          <a:solidFill>
                            <a:srgbClr val="FF0000"/>
                          </a:solidFill>
                          <a:latin typeface="Cambria Math" panose="02040503050406030204" pitchFamily="18" charset="0"/>
                        </a:rPr>
                        <m:t>(</m:t>
                      </m:r>
                      <m:r>
                        <a:rPr lang="en-US" altLang="zh-TW" sz="2600" b="0" i="1" smtClean="0">
                          <a:solidFill>
                            <a:srgbClr val="FF0000"/>
                          </a:solidFill>
                          <a:latin typeface="Cambria Math" panose="02040503050406030204" pitchFamily="18" charset="0"/>
                        </a:rPr>
                        <m:t>𝑌</m:t>
                      </m:r>
                      <m:r>
                        <a:rPr lang="en-US" altLang="zh-TW" sz="2600" b="0" i="1" smtClean="0">
                          <a:solidFill>
                            <a:srgbClr val="FF0000"/>
                          </a:solidFill>
                          <a:latin typeface="Cambria Math" panose="02040503050406030204" pitchFamily="18" charset="0"/>
                        </a:rPr>
                        <m:t>)</m:t>
                      </m:r>
                    </m:oMath>
                  </m:oMathPara>
                </a14:m>
                <a:endParaRPr lang="en-US" altLang="zh-TW" sz="2600" dirty="0" smtClean="0">
                  <a:solidFill>
                    <a:srgbClr val="FF0000"/>
                  </a:solidFill>
                  <a:latin typeface="+mn-lt"/>
                </a:endParaRPr>
              </a:p>
              <a:p>
                <a:pPr marL="0" indent="0">
                  <a:buNone/>
                </a:pPr>
                <a:endParaRPr lang="zh-TW" altLang="en-US" sz="2600" dirty="0">
                  <a:latin typeface="+mn-lt"/>
                </a:endParaRPr>
              </a:p>
            </p:txBody>
          </p:sp>
        </mc:Choice>
        <mc:Fallback xmlns="">
          <p:sp>
            <p:nvSpPr>
              <p:cNvPr id="3" name="文字版面配置區 2"/>
              <p:cNvSpPr>
                <a:spLocks noGrp="1" noRot="1" noChangeAspect="1" noMove="1" noResize="1" noEditPoints="1" noAdjustHandles="1" noChangeArrowheads="1" noChangeShapeType="1" noTextEdit="1"/>
              </p:cNvSpPr>
              <p:nvPr>
                <p:ph type="body"/>
              </p:nvPr>
            </p:nvSpPr>
            <p:spPr>
              <a:xfrm>
                <a:off x="504000" y="1727200"/>
                <a:ext cx="9071640" cy="2418080"/>
              </a:xfrm>
              <a:blipFill rotWithShape="0">
                <a:blip r:embed="rId2"/>
                <a:stretch>
                  <a:fillRect l="-2218" t="-756" r="-1478"/>
                </a:stretch>
              </a:blipFill>
            </p:spPr>
            <p:txBody>
              <a:bodyPr/>
              <a:lstStyle/>
              <a:p>
                <a:r>
                  <a:rPr lang="zh-TW" altLang="en-US">
                    <a:noFill/>
                  </a:rPr>
                  <a:t> </a:t>
                </a:r>
              </a:p>
            </p:txBody>
          </p:sp>
        </mc:Fallback>
      </mc:AlternateContent>
      <p:sp>
        <p:nvSpPr>
          <p:cNvPr id="4" name="TextShape 1"/>
          <p:cNvSpPr txBox="1">
            <a:spLocks noGrp="1"/>
          </p:cNvSpPr>
          <p:nvPr>
            <p:ph type="title"/>
          </p:nvPr>
        </p:nvSpPr>
        <p:spPr>
          <a:prstGeom prst="rect">
            <a:avLst/>
          </a:prstGeom>
          <a:noFill/>
          <a:ln>
            <a:noFill/>
          </a:ln>
        </p:spPr>
        <p:txBody>
          <a:bodyPr lIns="0" tIns="0" rIns="0" bIns="0" anchor="ctr"/>
          <a:lstStyle/>
          <a:p>
            <a:pPr algn="ctr"/>
            <a:r>
              <a:rPr lang="en-US" sz="4400" spc="-1" dirty="0">
                <a:latin typeface="+mn-lt"/>
              </a:rPr>
              <a:t>Basic properties</a:t>
            </a:r>
            <a:endParaRPr dirty="0">
              <a:latin typeface="+mn-lt"/>
            </a:endParaRPr>
          </a:p>
        </p:txBody>
      </p:sp>
      <mc:AlternateContent xmlns:mc="http://schemas.openxmlformats.org/markup-compatibility/2006" xmlns:a14="http://schemas.microsoft.com/office/drawing/2010/main">
        <mc:Choice Requires="a14">
          <p:sp>
            <p:nvSpPr>
              <p:cNvPr id="5" name="文字方塊 4"/>
              <p:cNvSpPr txBox="1"/>
              <p:nvPr/>
            </p:nvSpPr>
            <p:spPr>
              <a:xfrm>
                <a:off x="7239000" y="3219450"/>
                <a:ext cx="1926553" cy="22235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𝑋</m:t>
                      </m:r>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m>
                            <m:mPr>
                              <m:mcs>
                                <m:mc>
                                  <m:mcPr>
                                    <m:count m:val="2"/>
                                    <m:mcJc m:val="center"/>
                                  </m:mcPr>
                                </m:mc>
                              </m:mcs>
                              <m:ctrlPr>
                                <a:rPr lang="en-US" altLang="zh-TW" sz="2400" b="0" i="1" smtClean="0">
                                  <a:latin typeface="Cambria Math" panose="02040503050406030204" pitchFamily="18" charset="0"/>
                                </a:rPr>
                              </m:ctrlPr>
                            </m:mPr>
                            <m:mr>
                              <m:e>
                                <m:r>
                                  <m:rPr>
                                    <m:brk m:alnAt="7"/>
                                  </m:rPr>
                                  <a:rPr lang="en-US" altLang="zh-TW" sz="2400" b="0" i="1" smtClean="0">
                                    <a:latin typeface="Cambria Math" panose="02040503050406030204" pitchFamily="18" charset="0"/>
                                  </a:rPr>
                                  <m:t>𝑎</m:t>
                                </m:r>
                              </m:e>
                              <m:e>
                                <m:r>
                                  <a:rPr lang="en-US" altLang="zh-TW" sz="2400" b="0" i="1" smtClean="0">
                                    <a:latin typeface="Cambria Math" panose="02040503050406030204" pitchFamily="18" charset="0"/>
                                  </a:rPr>
                                  <m:t>𝑏</m:t>
                                </m:r>
                              </m:e>
                            </m:mr>
                            <m:mr>
                              <m:e>
                                <m:r>
                                  <a:rPr lang="en-US" altLang="zh-TW" sz="2400" b="0" i="1" smtClean="0">
                                    <a:latin typeface="Cambria Math" panose="02040503050406030204" pitchFamily="18" charset="0"/>
                                  </a:rPr>
                                  <m:t>𝑐</m:t>
                                </m:r>
                              </m:e>
                              <m:e>
                                <m:r>
                                  <a:rPr lang="en-US" altLang="zh-TW" sz="2400" b="0" i="1" smtClean="0">
                                    <a:latin typeface="Cambria Math" panose="02040503050406030204" pitchFamily="18" charset="0"/>
                                  </a:rPr>
                                  <m:t>𝑑</m:t>
                                </m:r>
                              </m:e>
                            </m:mr>
                          </m:m>
                        </m:e>
                      </m:d>
                    </m:oMath>
                  </m:oMathPara>
                </a14:m>
                <a:endParaRPr lang="en-US" altLang="zh-TW" sz="2400" b="0" i="1" dirty="0" smtClean="0"/>
              </a:p>
              <a:p>
                <a:endParaRPr lang="en-US" altLang="zh-TW" sz="2400" b="0" i="1" dirty="0" smtClean="0"/>
              </a:p>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𝑣𝑒𝑐</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 </m:t>
                      </m:r>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b="0" i="1" smtClean="0">
                                  <a:latin typeface="Cambria Math" panose="02040503050406030204" pitchFamily="18" charset="0"/>
                                </a:rPr>
                              </m:ctrlPr>
                            </m:mPr>
                            <m:mr>
                              <m:e>
                                <m:m>
                                  <m:mPr>
                                    <m:mcs>
                                      <m:mc>
                                        <m:mcPr>
                                          <m:count m:val="1"/>
                                          <m:mcJc m:val="center"/>
                                        </m:mcPr>
                                      </m:mc>
                                    </m:mcs>
                                    <m:ctrlPr>
                                      <a:rPr lang="en-US" altLang="zh-TW" sz="2400" b="0" i="1" smtClean="0">
                                        <a:latin typeface="Cambria Math" panose="02040503050406030204" pitchFamily="18" charset="0"/>
                                      </a:rPr>
                                    </m:ctrlPr>
                                  </m:mPr>
                                  <m:mr>
                                    <m:e>
                                      <m:r>
                                        <m:rPr>
                                          <m:brk m:alnAt="7"/>
                                        </m:rPr>
                                        <a:rPr lang="en-US" altLang="zh-TW" sz="2400" b="0" i="1" smtClean="0">
                                          <a:latin typeface="Cambria Math" panose="02040503050406030204" pitchFamily="18" charset="0"/>
                                        </a:rPr>
                                        <m:t>𝑎</m:t>
                                      </m:r>
                                    </m:e>
                                  </m:mr>
                                  <m:mr>
                                    <m:e>
                                      <m:r>
                                        <a:rPr lang="en-US" altLang="zh-TW" sz="2400" b="0" i="1" smtClean="0">
                                          <a:latin typeface="Cambria Math" panose="02040503050406030204" pitchFamily="18" charset="0"/>
                                        </a:rPr>
                                        <m:t>𝑐</m:t>
                                      </m:r>
                                    </m:e>
                                  </m:mr>
                                </m:m>
                              </m:e>
                            </m:mr>
                            <m:mr>
                              <m:e>
                                <m:m>
                                  <m:mPr>
                                    <m:mcs>
                                      <m:mc>
                                        <m:mcPr>
                                          <m:count m:val="1"/>
                                          <m:mcJc m:val="center"/>
                                        </m:mcPr>
                                      </m:mc>
                                    </m:mcs>
                                    <m:ctrlPr>
                                      <a:rPr lang="en-US" altLang="zh-TW" sz="2400" b="0" i="1" smtClean="0">
                                        <a:latin typeface="Cambria Math" panose="02040503050406030204" pitchFamily="18" charset="0"/>
                                      </a:rPr>
                                    </m:ctrlPr>
                                  </m:mPr>
                                  <m:mr>
                                    <m:e>
                                      <m:r>
                                        <m:rPr>
                                          <m:brk m:alnAt="7"/>
                                        </m:rPr>
                                        <a:rPr lang="en-US" altLang="zh-TW" sz="2400" b="0" i="1" smtClean="0">
                                          <a:latin typeface="Cambria Math" panose="02040503050406030204" pitchFamily="18" charset="0"/>
                                        </a:rPr>
                                        <m:t>𝑏</m:t>
                                      </m:r>
                                    </m:e>
                                  </m:mr>
                                  <m:mr>
                                    <m:e>
                                      <m:r>
                                        <a:rPr lang="en-US" altLang="zh-TW" sz="2400" b="0" i="1" smtClean="0">
                                          <a:latin typeface="Cambria Math" panose="02040503050406030204" pitchFamily="18" charset="0"/>
                                        </a:rPr>
                                        <m:t>𝑑</m:t>
                                      </m:r>
                                    </m:e>
                                  </m:mr>
                                </m:m>
                              </m:e>
                            </m:mr>
                          </m:m>
                        </m:e>
                      </m:d>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7239000" y="3219450"/>
                <a:ext cx="1926553" cy="2223557"/>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文字方塊 1"/>
              <p:cNvSpPr txBox="1"/>
              <p:nvPr/>
            </p:nvSpPr>
            <p:spPr>
              <a:xfrm>
                <a:off x="504000" y="5826408"/>
                <a:ext cx="7185557" cy="738664"/>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𝐶</m:t>
                          </m:r>
                        </m:e>
                      </m:d>
                      <m:r>
                        <a:rPr lang="en-US" altLang="zh-TW" sz="2400" b="0" i="1" smtClean="0">
                          <a:latin typeface="Cambria Math" panose="02040503050406030204" pitchFamily="18" charset="0"/>
                          <a:ea typeface="Cambria Math" panose="02040503050406030204" pitchFamily="18" charset="0"/>
                        </a:rPr>
                        <m:t>𝑥</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𝑓</m:t>
                      </m:r>
                    </m:oMath>
                  </m:oMathPara>
                </a14:m>
                <a:endParaRPr lang="en-US" altLang="zh-TW" sz="2400" b="0" i="1" dirty="0" smtClean="0">
                  <a:ea typeface="Cambria Math" panose="02040503050406030204" pitchFamily="18" charset="0"/>
                </a:endParaRPr>
              </a:p>
              <a:p>
                <a14:m>
                  <m:oMath xmlns:m="http://schemas.openxmlformats.org/officeDocument/2006/math">
                    <m:r>
                      <a:rPr lang="en-US" altLang="zh-TW" sz="2400" b="0" i="1" smtClean="0">
                        <a:latin typeface="Cambria Math" panose="02040503050406030204" pitchFamily="18" charset="0"/>
                        <a:ea typeface="Cambria Math" panose="02040503050406030204" pitchFamily="18" charset="0"/>
                      </a:rPr>
                      <m:t>𝑖𝑓</m:t>
                    </m:r>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𝐶</m:t>
                    </m:r>
                    <m:r>
                      <a:rPr lang="en-US" altLang="zh-TW" sz="2400" b="0" i="1" smtClean="0">
                        <a:latin typeface="Cambria Math" panose="02040503050406030204" pitchFamily="18" charset="0"/>
                        <a:ea typeface="Cambria Math" panose="02040503050406030204" pitchFamily="18" charset="0"/>
                      </a:rPr>
                      <m:t>∈</m:t>
                    </m:r>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ℝ</m:t>
                        </m:r>
                      </m:e>
                      <m:sup>
                        <m:r>
                          <a:rPr lang="en-US" altLang="zh-TW" sz="2400" b="0" i="1" smtClean="0">
                            <a:latin typeface="Cambria Math" panose="02040503050406030204" pitchFamily="18" charset="0"/>
                            <a:ea typeface="Cambria Math" panose="02040503050406030204" pitchFamily="18" charset="0"/>
                          </a:rPr>
                          <m:t>𝑚</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𝑚</m:t>
                        </m:r>
                      </m:sup>
                    </m:sSup>
                    <m:r>
                      <a:rPr lang="en-US" altLang="zh-TW" sz="2400" b="0" i="1" smtClean="0">
                        <a:latin typeface="Cambria Math" panose="02040503050406030204" pitchFamily="18" charset="0"/>
                        <a:ea typeface="Cambria Math" panose="02040503050406030204" pitchFamily="18" charset="0"/>
                      </a:rPr>
                      <m:t> </m:t>
                    </m:r>
                    <m:r>
                      <a:rPr lang="en-US" altLang="zh-TW" sz="2400" b="0" i="0" smtClean="0">
                        <a:latin typeface="Cambria Math" panose="02040503050406030204" pitchFamily="18" charset="0"/>
                        <a:ea typeface="Cambria Math" panose="02040503050406030204" pitchFamily="18" charset="0"/>
                      </a:rPr>
                      <m:t>, </m:t>
                    </m:r>
                    <m:r>
                      <m:rPr>
                        <m:sty m:val="p"/>
                      </m:rPr>
                      <a:rPr lang="en-US" altLang="zh-TW" sz="2400" b="0" i="0" smtClean="0">
                        <a:latin typeface="Cambria Math" panose="02040503050406030204" pitchFamily="18" charset="0"/>
                        <a:ea typeface="Cambria Math" panose="02040503050406030204" pitchFamily="18" charset="0"/>
                      </a:rPr>
                      <m:t>then</m:t>
                    </m:r>
                    <m:r>
                      <a:rPr lang="en-US" altLang="zh-TW" sz="2400" b="0" i="0" smtClean="0">
                        <a:latin typeface="Cambria Math" panose="02040503050406030204" pitchFamily="18" charset="0"/>
                        <a:ea typeface="Cambria Math" panose="02040503050406030204" pitchFamily="18" charset="0"/>
                      </a:rPr>
                      <m:t> </m:t>
                    </m:r>
                    <m:r>
                      <m:rPr>
                        <m:sty m:val="p"/>
                      </m:rPr>
                      <a:rPr lang="en-US" altLang="zh-TW" sz="2400" b="0" i="0" smtClean="0">
                        <a:latin typeface="Cambria Math" panose="02040503050406030204" pitchFamily="18" charset="0"/>
                        <a:ea typeface="Cambria Math" panose="02040503050406030204" pitchFamily="18" charset="0"/>
                      </a:rPr>
                      <m:t>x</m:t>
                    </m:r>
                    <m:r>
                      <a:rPr lang="en-US" altLang="zh-TW" sz="2400" b="0" i="0" smtClean="0">
                        <a:latin typeface="Cambria Math" panose="02040503050406030204" pitchFamily="18" charset="0"/>
                        <a:ea typeface="Cambria Math" panose="02040503050406030204" pitchFamily="18" charset="0"/>
                      </a:rPr>
                      <m:t> </m:t>
                    </m:r>
                    <m:r>
                      <m:rPr>
                        <m:sty m:val="p"/>
                      </m:rPr>
                      <a:rPr lang="en-US" altLang="zh-TW" sz="2400" b="0" i="0" smtClean="0">
                        <a:latin typeface="Cambria Math" panose="02040503050406030204" pitchFamily="18" charset="0"/>
                        <a:ea typeface="Cambria Math" panose="02040503050406030204" pitchFamily="18" charset="0"/>
                      </a:rPr>
                      <m:t>can</m:t>
                    </m:r>
                    <m:r>
                      <a:rPr lang="en-US" altLang="zh-TW" sz="2400" b="0" i="0" smtClean="0">
                        <a:latin typeface="Cambria Math" panose="02040503050406030204" pitchFamily="18" charset="0"/>
                        <a:ea typeface="Cambria Math" panose="02040503050406030204" pitchFamily="18" charset="0"/>
                      </a:rPr>
                      <m:t> </m:t>
                    </m:r>
                    <m:r>
                      <m:rPr>
                        <m:sty m:val="p"/>
                      </m:rPr>
                      <a:rPr lang="en-US" altLang="zh-TW" sz="2400" b="0" i="0" smtClean="0">
                        <a:latin typeface="Cambria Math" panose="02040503050406030204" pitchFamily="18" charset="0"/>
                        <a:ea typeface="Cambria Math" panose="02040503050406030204" pitchFamily="18" charset="0"/>
                      </a:rPr>
                      <m:t>be</m:t>
                    </m:r>
                    <m:r>
                      <a:rPr lang="en-US" altLang="zh-TW" sz="2400" b="0" i="0" smtClean="0">
                        <a:latin typeface="Cambria Math" panose="02040503050406030204" pitchFamily="18" charset="0"/>
                        <a:ea typeface="Cambria Math" panose="02040503050406030204" pitchFamily="18" charset="0"/>
                      </a:rPr>
                      <m:t> </m:t>
                    </m:r>
                    <m:r>
                      <m:rPr>
                        <m:sty m:val="p"/>
                      </m:rPr>
                      <a:rPr lang="en-US" altLang="zh-TW" sz="2400" b="0" i="0" smtClean="0">
                        <a:latin typeface="Cambria Math" panose="02040503050406030204" pitchFamily="18" charset="0"/>
                        <a:ea typeface="Cambria Math" panose="02040503050406030204" pitchFamily="18" charset="0"/>
                      </a:rPr>
                      <m:t>obtained</m:t>
                    </m:r>
                    <m:r>
                      <a:rPr lang="en-US" altLang="zh-TW" sz="2400" b="0" i="0" smtClean="0">
                        <a:latin typeface="Cambria Math" panose="02040503050406030204" pitchFamily="18" charset="0"/>
                        <a:ea typeface="Cambria Math" panose="02040503050406030204" pitchFamily="18" charset="0"/>
                      </a:rPr>
                      <m:t> </m:t>
                    </m:r>
                    <m:r>
                      <m:rPr>
                        <m:sty m:val="p"/>
                      </m:rPr>
                      <a:rPr lang="en-US" altLang="zh-TW" sz="2400" b="0" i="0" smtClean="0">
                        <a:latin typeface="Cambria Math" panose="02040503050406030204" pitchFamily="18" charset="0"/>
                        <a:ea typeface="Cambria Math" panose="02040503050406030204" pitchFamily="18" charset="0"/>
                      </a:rPr>
                      <m:t>in</m:t>
                    </m:r>
                    <m:r>
                      <a:rPr lang="en-US" altLang="zh-TW" sz="2400" b="0" i="0"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𝑂</m:t>
                    </m:r>
                    <m:r>
                      <a:rPr lang="en-US" altLang="zh-TW" sz="2400" b="0" i="1" smtClean="0">
                        <a:latin typeface="Cambria Math" panose="02040503050406030204" pitchFamily="18" charset="0"/>
                        <a:ea typeface="Cambria Math" panose="02040503050406030204" pitchFamily="18" charset="0"/>
                      </a:rPr>
                      <m:t>(</m:t>
                    </m:r>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𝑚</m:t>
                        </m:r>
                      </m:e>
                      <m:sup>
                        <m:r>
                          <a:rPr lang="en-US" altLang="zh-TW" sz="2400" b="0" i="1" smtClean="0">
                            <a:latin typeface="Cambria Math" panose="02040503050406030204" pitchFamily="18" charset="0"/>
                            <a:ea typeface="Cambria Math" panose="02040503050406030204" pitchFamily="18" charset="0"/>
                          </a:rPr>
                          <m:t>3</m:t>
                        </m:r>
                      </m:sup>
                    </m:sSup>
                    <m:r>
                      <a:rPr lang="en-US" altLang="zh-TW" sz="2400" b="0" i="1" smtClean="0">
                        <a:latin typeface="Cambria Math" panose="02040503050406030204" pitchFamily="18" charset="0"/>
                        <a:ea typeface="Cambria Math" panose="02040503050406030204" pitchFamily="18" charset="0"/>
                      </a:rPr>
                      <m:t>)</m:t>
                    </m:r>
                  </m:oMath>
                </a14:m>
                <a:r>
                  <a:rPr lang="zh-TW" altLang="en-US" sz="2400" dirty="0" smtClean="0">
                    <a:latin typeface="Cambria Math" panose="02040503050406030204" pitchFamily="18" charset="0"/>
                  </a:rPr>
                  <a:t> </a:t>
                </a:r>
                <a:r>
                  <a:rPr lang="en-US" altLang="zh-TW" sz="2400" dirty="0" smtClean="0"/>
                  <a:t>flops</a:t>
                </a:r>
                <a:endParaRPr lang="zh-TW" altLang="en-US" sz="2400" dirty="0"/>
              </a:p>
            </p:txBody>
          </p:sp>
        </mc:Choice>
        <mc:Fallback xmlns="">
          <p:sp>
            <p:nvSpPr>
              <p:cNvPr id="2" name="文字方塊 1"/>
              <p:cNvSpPr txBox="1">
                <a:spLocks noRot="1" noChangeAspect="1" noMove="1" noResize="1" noEditPoints="1" noAdjustHandles="1" noChangeArrowheads="1" noChangeShapeType="1" noTextEdit="1"/>
              </p:cNvSpPr>
              <p:nvPr/>
            </p:nvSpPr>
            <p:spPr>
              <a:xfrm>
                <a:off x="504000" y="5826408"/>
                <a:ext cx="7185557" cy="738664"/>
              </a:xfrm>
              <a:prstGeom prst="rect">
                <a:avLst/>
              </a:prstGeom>
              <a:blipFill rotWithShape="0">
                <a:blip r:embed="rId4"/>
                <a:stretch>
                  <a:fillRect l="-2037" r="-1783" b="-247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718474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Matrix equations</a:t>
            </a:r>
            <a:endParaRPr lang="zh-TW" altLang="en-US" dirty="0"/>
          </a:p>
        </p:txBody>
      </p:sp>
      <mc:AlternateContent xmlns:mc="http://schemas.openxmlformats.org/markup-compatibility/2006">
        <mc:Choice xmlns:a14="http://schemas.microsoft.com/office/drawing/2010/main" Requires="a14">
          <p:sp>
            <p:nvSpPr>
              <p:cNvPr id="3" name="文字版面配置區 2"/>
              <p:cNvSpPr>
                <a:spLocks noGrp="1"/>
              </p:cNvSpPr>
              <p:nvPr>
                <p:ph type="body"/>
              </p:nvPr>
            </p:nvSpPr>
            <p:spPr>
              <a:xfrm>
                <a:off x="504000" y="1164920"/>
                <a:ext cx="9071640" cy="5008880"/>
              </a:xfrm>
            </p:spPr>
            <p:txBody>
              <a:bodyPr/>
              <a:lstStyle/>
              <a:p>
                <a:pPr marL="0" indent="0">
                  <a:buNone/>
                </a:pPr>
                <a:r>
                  <a:rPr lang="en-US" altLang="zh-TW" sz="2600" dirty="0" smtClean="0">
                    <a:latin typeface="Cambria Math" panose="02040503050406030204" pitchFamily="18" charset="0"/>
                  </a:rPr>
                  <a:t>To researchers in numerical linear algebra, the most familiar problem, where </a:t>
                </a:r>
                <a:r>
                  <a:rPr lang="en-US" altLang="zh-TW" sz="2600" dirty="0" err="1" smtClean="0">
                    <a:latin typeface="Cambria Math" panose="02040503050406030204" pitchFamily="18" charset="0"/>
                  </a:rPr>
                  <a:t>Kronecker</a:t>
                </a:r>
                <a:r>
                  <a:rPr lang="en-US" altLang="zh-TW" sz="2600" dirty="0" smtClean="0">
                    <a:latin typeface="Cambria Math" panose="02040503050406030204" pitchFamily="18" charset="0"/>
                  </a:rPr>
                  <a:t> products arise is the Sylvester matrix equation problem.</a:t>
                </a:r>
                <a:endParaRPr lang="en-US" altLang="zh-TW" sz="2600" b="0" dirty="0" smtClean="0">
                  <a:latin typeface="Cambria Math" panose="02040503050406030204" pitchFamily="18" charset="0"/>
                </a:endParaRPr>
              </a:p>
              <a:p>
                <a:pPr marL="0" indent="0">
                  <a:buNone/>
                </a:pPr>
                <a:endParaRPr lang="en-US" altLang="zh-TW" sz="2600"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sz="2600" b="0" i="1" smtClean="0">
                          <a:latin typeface="Cambria Math" panose="02040503050406030204" pitchFamily="18" charset="0"/>
                        </a:rPr>
                        <m:t>𝐹</m:t>
                      </m:r>
                      <m:r>
                        <a:rPr lang="en-US" altLang="zh-TW" sz="2600" b="0" i="1" smtClean="0">
                          <a:latin typeface="Cambria Math" panose="02040503050406030204" pitchFamily="18" charset="0"/>
                          <a:ea typeface="Cambria Math" panose="02040503050406030204" pitchFamily="18" charset="0"/>
                        </a:rPr>
                        <m:t>∈</m:t>
                      </m:r>
                      <m:sSup>
                        <m:sSupPr>
                          <m:ctrlPr>
                            <a:rPr lang="en-US" altLang="zh-TW" sz="2600" b="0" i="1" smtClean="0">
                              <a:latin typeface="Cambria Math" panose="02040503050406030204" pitchFamily="18" charset="0"/>
                              <a:ea typeface="Cambria Math" panose="02040503050406030204" pitchFamily="18" charset="0"/>
                            </a:rPr>
                          </m:ctrlPr>
                        </m:sSupPr>
                        <m:e>
                          <m:r>
                            <a:rPr lang="en-US" altLang="zh-TW" sz="2600" b="0" i="1" smtClean="0">
                              <a:latin typeface="Cambria Math" panose="02040503050406030204" pitchFamily="18" charset="0"/>
                              <a:ea typeface="Cambria Math" panose="02040503050406030204" pitchFamily="18" charset="0"/>
                            </a:rPr>
                            <m:t>ℝ</m:t>
                          </m:r>
                        </m:e>
                        <m:sup>
                          <m:r>
                            <a:rPr lang="en-US" altLang="zh-TW" sz="2600" b="0" i="1" smtClean="0">
                              <a:latin typeface="Cambria Math" panose="02040503050406030204" pitchFamily="18" charset="0"/>
                              <a:ea typeface="Cambria Math" panose="02040503050406030204" pitchFamily="18" charset="0"/>
                            </a:rPr>
                            <m:t>𝑚</m:t>
                          </m:r>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𝑚</m:t>
                          </m:r>
                        </m:sup>
                      </m:sSup>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𝐺</m:t>
                      </m:r>
                      <m:r>
                        <a:rPr lang="en-US" altLang="zh-TW" sz="2600" b="0" i="1" smtClean="0">
                          <a:latin typeface="Cambria Math" panose="02040503050406030204" pitchFamily="18" charset="0"/>
                          <a:ea typeface="Cambria Math" panose="02040503050406030204" pitchFamily="18" charset="0"/>
                        </a:rPr>
                        <m:t>∈</m:t>
                      </m:r>
                      <m:sSup>
                        <m:sSupPr>
                          <m:ctrlPr>
                            <a:rPr lang="en-US" altLang="zh-TW" sz="2600" b="0" i="1" smtClean="0">
                              <a:latin typeface="Cambria Math" panose="02040503050406030204" pitchFamily="18" charset="0"/>
                              <a:ea typeface="Cambria Math" panose="02040503050406030204" pitchFamily="18" charset="0"/>
                            </a:rPr>
                          </m:ctrlPr>
                        </m:sSupPr>
                        <m:e>
                          <m:r>
                            <a:rPr lang="en-US" altLang="zh-TW" sz="2600" b="0" i="1" smtClean="0">
                              <a:latin typeface="Cambria Math" panose="02040503050406030204" pitchFamily="18" charset="0"/>
                              <a:ea typeface="Cambria Math" panose="02040503050406030204" pitchFamily="18" charset="0"/>
                            </a:rPr>
                            <m:t>ℝ</m:t>
                          </m:r>
                        </m:e>
                        <m:sup>
                          <m:r>
                            <a:rPr lang="en-US" altLang="zh-TW" sz="2600" b="0" i="1" smtClean="0">
                              <a:latin typeface="Cambria Math" panose="02040503050406030204" pitchFamily="18" charset="0"/>
                              <a:ea typeface="Cambria Math" panose="02040503050406030204" pitchFamily="18" charset="0"/>
                            </a:rPr>
                            <m:t>𝑛</m:t>
                          </m:r>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𝑛</m:t>
                          </m:r>
                        </m:sup>
                      </m:sSup>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𝑎𝑛𝑑</m:t>
                      </m:r>
                      <m:r>
                        <a:rPr lang="en-US" altLang="zh-TW" sz="2600" b="0" i="1" smtClean="0">
                          <a:latin typeface="Cambria Math" panose="02040503050406030204" pitchFamily="18" charset="0"/>
                          <a:ea typeface="Cambria Math" panose="02040503050406030204" pitchFamily="18" charset="0"/>
                        </a:rPr>
                        <m:t> </m:t>
                      </m:r>
                      <m:r>
                        <a:rPr lang="en-US" altLang="zh-TW" sz="2600" b="0" i="1" smtClean="0">
                          <a:latin typeface="Cambria Math" panose="02040503050406030204" pitchFamily="18" charset="0"/>
                          <a:ea typeface="Cambria Math" panose="02040503050406030204" pitchFamily="18" charset="0"/>
                        </a:rPr>
                        <m:t>𝐶</m:t>
                      </m:r>
                      <m:r>
                        <a:rPr lang="en-US" altLang="zh-TW" sz="2600" b="0" i="1" smtClean="0">
                          <a:latin typeface="Cambria Math" panose="02040503050406030204" pitchFamily="18" charset="0"/>
                          <a:ea typeface="Cambria Math" panose="02040503050406030204" pitchFamily="18" charset="0"/>
                        </a:rPr>
                        <m:t>∈</m:t>
                      </m:r>
                      <m:sSup>
                        <m:sSupPr>
                          <m:ctrlPr>
                            <a:rPr lang="en-US" altLang="zh-TW" sz="2600" b="0" i="1" smtClean="0">
                              <a:latin typeface="Cambria Math" panose="02040503050406030204" pitchFamily="18" charset="0"/>
                              <a:ea typeface="Cambria Math" panose="02040503050406030204" pitchFamily="18" charset="0"/>
                            </a:rPr>
                          </m:ctrlPr>
                        </m:sSupPr>
                        <m:e>
                          <m:r>
                            <a:rPr lang="en-US" altLang="zh-TW" sz="2600" b="0" i="1" smtClean="0">
                              <a:latin typeface="Cambria Math" panose="02040503050406030204" pitchFamily="18" charset="0"/>
                              <a:ea typeface="Cambria Math" panose="02040503050406030204" pitchFamily="18" charset="0"/>
                            </a:rPr>
                            <m:t>ℝ</m:t>
                          </m:r>
                        </m:e>
                        <m:sup>
                          <m:r>
                            <a:rPr lang="en-US" altLang="zh-TW" sz="2600" b="0" i="1" smtClean="0">
                              <a:latin typeface="Cambria Math" panose="02040503050406030204" pitchFamily="18" charset="0"/>
                              <a:ea typeface="Cambria Math" panose="02040503050406030204" pitchFamily="18" charset="0"/>
                            </a:rPr>
                            <m:t>𝑚</m:t>
                          </m:r>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𝑛</m:t>
                          </m:r>
                        </m:sup>
                      </m:sSup>
                      <m:r>
                        <a:rPr lang="en-US" altLang="zh-TW" sz="2600" b="0" i="1" smtClean="0">
                          <a:latin typeface="Cambria Math" panose="02040503050406030204" pitchFamily="18" charset="0"/>
                          <a:ea typeface="Cambria Math" panose="02040503050406030204" pitchFamily="18" charset="0"/>
                        </a:rPr>
                        <m:t> </m:t>
                      </m:r>
                      <m:r>
                        <a:rPr lang="en-US" altLang="zh-TW" sz="2600" b="0" i="1" smtClean="0">
                          <a:latin typeface="Cambria Math" panose="02040503050406030204" pitchFamily="18" charset="0"/>
                          <a:ea typeface="Cambria Math" panose="02040503050406030204" pitchFamily="18" charset="0"/>
                        </a:rPr>
                        <m:t>𝑎𝑛𝑑</m:t>
                      </m:r>
                      <m:r>
                        <a:rPr lang="en-US" altLang="zh-TW" sz="2600" b="0" i="1" smtClean="0">
                          <a:latin typeface="Cambria Math" panose="02040503050406030204" pitchFamily="18" charset="0"/>
                          <a:ea typeface="Cambria Math" panose="02040503050406030204" pitchFamily="18" charset="0"/>
                        </a:rPr>
                        <m:t> </m:t>
                      </m:r>
                      <m:r>
                        <a:rPr lang="en-US" altLang="zh-TW" sz="2600" b="0" i="1" smtClean="0">
                          <a:latin typeface="Cambria Math" panose="02040503050406030204" pitchFamily="18" charset="0"/>
                          <a:ea typeface="Cambria Math" panose="02040503050406030204" pitchFamily="18" charset="0"/>
                        </a:rPr>
                        <m:t>𝑋</m:t>
                      </m:r>
                      <m:r>
                        <a:rPr lang="en-US" altLang="zh-TW" sz="2600" b="0" i="1" smtClean="0">
                          <a:latin typeface="Cambria Math" panose="02040503050406030204" pitchFamily="18" charset="0"/>
                          <a:ea typeface="Cambria Math" panose="02040503050406030204" pitchFamily="18" charset="0"/>
                        </a:rPr>
                        <m:t>∈</m:t>
                      </m:r>
                      <m:sSup>
                        <m:sSupPr>
                          <m:ctrlPr>
                            <a:rPr lang="en-US" altLang="zh-TW" sz="2600" b="0" i="1" smtClean="0">
                              <a:latin typeface="Cambria Math" panose="02040503050406030204" pitchFamily="18" charset="0"/>
                              <a:ea typeface="Cambria Math" panose="02040503050406030204" pitchFamily="18" charset="0"/>
                            </a:rPr>
                          </m:ctrlPr>
                        </m:sSupPr>
                        <m:e>
                          <m:r>
                            <a:rPr lang="en-US" altLang="zh-TW" sz="2600" b="0" i="1" smtClean="0">
                              <a:latin typeface="Cambria Math" panose="02040503050406030204" pitchFamily="18" charset="0"/>
                              <a:ea typeface="Cambria Math" panose="02040503050406030204" pitchFamily="18" charset="0"/>
                            </a:rPr>
                            <m:t>ℝ</m:t>
                          </m:r>
                        </m:e>
                        <m:sup>
                          <m:r>
                            <a:rPr lang="en-US" altLang="zh-TW" sz="2600" b="0" i="1" smtClean="0">
                              <a:latin typeface="Cambria Math" panose="02040503050406030204" pitchFamily="18" charset="0"/>
                              <a:ea typeface="Cambria Math" panose="02040503050406030204" pitchFamily="18" charset="0"/>
                            </a:rPr>
                            <m:t>𝑚</m:t>
                          </m:r>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𝑛</m:t>
                          </m:r>
                        </m:sup>
                      </m:sSup>
                      <m:r>
                        <a:rPr lang="en-US" altLang="zh-TW" sz="2600" b="0" i="1" smtClean="0">
                          <a:latin typeface="Cambria Math" panose="02040503050406030204" pitchFamily="18" charset="0"/>
                          <a:ea typeface="Cambria Math" panose="02040503050406030204" pitchFamily="18" charset="0"/>
                        </a:rPr>
                        <m:t> </m:t>
                      </m:r>
                      <m:r>
                        <a:rPr lang="en-US" altLang="zh-TW" sz="2600" b="0" i="1" smtClean="0">
                          <a:latin typeface="Cambria Math" panose="02040503050406030204" pitchFamily="18" charset="0"/>
                          <a:ea typeface="Cambria Math" panose="02040503050406030204" pitchFamily="18" charset="0"/>
                        </a:rPr>
                        <m:t>𝑠𝑜</m:t>
                      </m:r>
                      <m:r>
                        <a:rPr lang="en-US" altLang="zh-TW" sz="2600" b="0" i="1" smtClean="0">
                          <a:latin typeface="Cambria Math" panose="02040503050406030204" pitchFamily="18" charset="0"/>
                          <a:ea typeface="Cambria Math" panose="02040503050406030204" pitchFamily="18" charset="0"/>
                        </a:rPr>
                        <m:t> </m:t>
                      </m:r>
                      <m:r>
                        <a:rPr lang="en-US" altLang="zh-TW" sz="2600" b="0" i="1" smtClean="0">
                          <a:latin typeface="Cambria Math" panose="02040503050406030204" pitchFamily="18" charset="0"/>
                          <a:ea typeface="Cambria Math" panose="02040503050406030204" pitchFamily="18" charset="0"/>
                        </a:rPr>
                        <m:t>𝑡h𝑎𝑡</m:t>
                      </m:r>
                      <m:r>
                        <a:rPr lang="en-US" altLang="zh-TW" sz="2600" b="0" i="1" smtClean="0">
                          <a:latin typeface="Cambria Math" panose="02040503050406030204" pitchFamily="18" charset="0"/>
                          <a:ea typeface="Cambria Math" panose="02040503050406030204" pitchFamily="18" charset="0"/>
                        </a:rPr>
                        <m:t>   </m:t>
                      </m:r>
                    </m:oMath>
                  </m:oMathPara>
                </a14:m>
                <a:endParaRPr lang="en-US" altLang="zh-TW" sz="2600" b="0"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sz="2600" b="0" i="1" smtClean="0">
                          <a:latin typeface="Cambria Math" panose="02040503050406030204" pitchFamily="18" charset="0"/>
                          <a:ea typeface="Cambria Math" panose="02040503050406030204" pitchFamily="18" charset="0"/>
                        </a:rPr>
                        <m:t>𝐹𝑋</m:t>
                      </m:r>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𝑋</m:t>
                      </m:r>
                      <m:sSup>
                        <m:sSupPr>
                          <m:ctrlPr>
                            <a:rPr lang="en-US" altLang="zh-TW" sz="2600" b="0" i="1" smtClean="0">
                              <a:latin typeface="Cambria Math" panose="02040503050406030204" pitchFamily="18" charset="0"/>
                              <a:ea typeface="Cambria Math" panose="02040503050406030204" pitchFamily="18" charset="0"/>
                            </a:rPr>
                          </m:ctrlPr>
                        </m:sSupPr>
                        <m:e>
                          <m:r>
                            <a:rPr lang="en-US" altLang="zh-TW" sz="2600" b="0" i="1" smtClean="0">
                              <a:latin typeface="Cambria Math" panose="02040503050406030204" pitchFamily="18" charset="0"/>
                              <a:ea typeface="Cambria Math" panose="02040503050406030204" pitchFamily="18" charset="0"/>
                            </a:rPr>
                            <m:t>𝐺</m:t>
                          </m:r>
                        </m:e>
                        <m:sup>
                          <m:r>
                            <a:rPr lang="en-US" altLang="zh-TW" sz="2600" b="0" i="1" smtClean="0">
                              <a:latin typeface="Cambria Math" panose="02040503050406030204" pitchFamily="18" charset="0"/>
                              <a:ea typeface="Cambria Math" panose="02040503050406030204" pitchFamily="18" charset="0"/>
                            </a:rPr>
                            <m:t>𝑇</m:t>
                          </m:r>
                        </m:sup>
                      </m:sSup>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𝐶</m:t>
                      </m:r>
                    </m:oMath>
                  </m:oMathPara>
                </a14:m>
                <a:endParaRPr lang="en-US" altLang="zh-TW" sz="2600" dirty="0" smtClean="0"/>
              </a:p>
              <a:p>
                <a:pPr marL="0" indent="0">
                  <a:buNone/>
                </a:pPr>
                <a:endParaRPr lang="en-US" altLang="zh-TW" sz="2600" dirty="0" smtClean="0"/>
              </a:p>
              <a:p>
                <a:pPr marL="0" indent="0">
                  <a:buNone/>
                </a:pPr>
                <a:r>
                  <a:rPr lang="en-US" altLang="zh-TW" sz="2600" dirty="0" smtClean="0">
                    <a:latin typeface="+mn-lt"/>
                  </a:rPr>
                  <a:t>To find X is equivalent to solving the </a:t>
                </a:r>
                <a:r>
                  <a:rPr lang="en-US" altLang="zh-TW" sz="2600" dirty="0" err="1" smtClean="0">
                    <a:latin typeface="+mn-lt"/>
                  </a:rPr>
                  <a:t>mn</a:t>
                </a:r>
                <a:r>
                  <a:rPr lang="en-US" altLang="zh-TW" sz="2600" b="0" dirty="0" smtClean="0">
                    <a:latin typeface="+mn-lt"/>
                    <a:ea typeface="Cambria Math" panose="02040503050406030204" pitchFamily="18" charset="0"/>
                  </a:rPr>
                  <a:t> </a:t>
                </a:r>
                <a14:m>
                  <m:oMath xmlns:m="http://schemas.openxmlformats.org/officeDocument/2006/math">
                    <m:r>
                      <a:rPr lang="en-US" altLang="zh-TW" sz="2600" b="0" i="1" smtClean="0">
                        <a:latin typeface="Cambria Math" panose="02040503050406030204" pitchFamily="18" charset="0"/>
                        <a:ea typeface="Cambria Math" panose="02040503050406030204" pitchFamily="18" charset="0"/>
                      </a:rPr>
                      <m:t>×</m:t>
                    </m:r>
                  </m:oMath>
                </a14:m>
                <a:r>
                  <a:rPr lang="en-US" altLang="zh-TW" sz="2600" dirty="0" err="1" smtClean="0">
                    <a:latin typeface="+mn-lt"/>
                  </a:rPr>
                  <a:t>mn</a:t>
                </a:r>
                <a:r>
                  <a:rPr lang="en-US" altLang="zh-TW" sz="2600" dirty="0" smtClean="0">
                    <a:latin typeface="+mn-lt"/>
                  </a:rPr>
                  <a:t> linear system</a:t>
                </a:r>
              </a:p>
              <a:p>
                <a:pPr marL="0" indent="0">
                  <a:buNone/>
                </a:pPr>
                <a14:m>
                  <m:oMathPara xmlns:m="http://schemas.openxmlformats.org/officeDocument/2006/math">
                    <m:oMathParaPr>
                      <m:jc m:val="left"/>
                    </m:oMathParaPr>
                    <m:oMath xmlns:m="http://schemas.openxmlformats.org/officeDocument/2006/math">
                      <m:d>
                        <m:dPr>
                          <m:ctrlPr>
                            <a:rPr lang="en-US" altLang="zh-TW" sz="2600" b="0" i="1" smtClean="0">
                              <a:solidFill>
                                <a:srgbClr val="FF0000"/>
                              </a:solidFill>
                              <a:latin typeface="Cambria Math" panose="02040503050406030204" pitchFamily="18" charset="0"/>
                            </a:rPr>
                          </m:ctrlPr>
                        </m:dPr>
                        <m:e>
                          <m:r>
                            <a:rPr lang="en-US" altLang="zh-TW" sz="2600" b="0" i="1" smtClean="0">
                              <a:solidFill>
                                <a:srgbClr val="FF0000"/>
                              </a:solidFill>
                              <a:latin typeface="Cambria Math" panose="02040503050406030204" pitchFamily="18" charset="0"/>
                            </a:rPr>
                            <m:t> </m:t>
                          </m:r>
                          <m:sSub>
                            <m:sSubPr>
                              <m:ctrlPr>
                                <a:rPr lang="en-US" altLang="zh-TW" sz="2600" b="0" i="1" smtClean="0">
                                  <a:solidFill>
                                    <a:srgbClr val="FF0000"/>
                                  </a:solidFill>
                                  <a:latin typeface="Cambria Math" panose="02040503050406030204" pitchFamily="18" charset="0"/>
                                </a:rPr>
                              </m:ctrlPr>
                            </m:sSubPr>
                            <m:e>
                              <m:r>
                                <a:rPr lang="en-US" altLang="zh-TW" sz="2600" b="0" i="1" smtClean="0">
                                  <a:solidFill>
                                    <a:srgbClr val="FF0000"/>
                                  </a:solidFill>
                                  <a:latin typeface="Cambria Math" panose="02040503050406030204" pitchFamily="18" charset="0"/>
                                </a:rPr>
                                <m:t>𝐼</m:t>
                              </m:r>
                            </m:e>
                            <m:sub>
                              <m:r>
                                <a:rPr lang="en-US" altLang="zh-TW" sz="2600" b="0" i="1" smtClean="0">
                                  <a:solidFill>
                                    <a:srgbClr val="FF0000"/>
                                  </a:solidFill>
                                  <a:latin typeface="Cambria Math" panose="02040503050406030204" pitchFamily="18" charset="0"/>
                                </a:rPr>
                                <m:t>𝑛</m:t>
                              </m:r>
                            </m:sub>
                          </m:sSub>
                          <m:r>
                            <a:rPr lang="en-US" altLang="zh-TW" sz="2600" b="0" i="1" smtClean="0">
                              <a:solidFill>
                                <a:srgbClr val="FF0000"/>
                              </a:solidFill>
                              <a:latin typeface="Cambria Math" panose="02040503050406030204" pitchFamily="18" charset="0"/>
                              <a:ea typeface="Cambria Math" panose="02040503050406030204" pitchFamily="18" charset="0"/>
                            </a:rPr>
                            <m:t>⊗</m:t>
                          </m:r>
                          <m:r>
                            <a:rPr lang="en-US" altLang="zh-TW" sz="2600" b="0" i="1" smtClean="0">
                              <a:solidFill>
                                <a:srgbClr val="FF0000"/>
                              </a:solidFill>
                              <a:latin typeface="Cambria Math" panose="02040503050406030204" pitchFamily="18" charset="0"/>
                              <a:ea typeface="Cambria Math" panose="02040503050406030204" pitchFamily="18" charset="0"/>
                            </a:rPr>
                            <m:t>𝐹</m:t>
                          </m:r>
                          <m:r>
                            <a:rPr lang="en-US" altLang="zh-TW" sz="2600" b="0" i="1" smtClean="0">
                              <a:solidFill>
                                <a:srgbClr val="FF0000"/>
                              </a:solidFill>
                              <a:latin typeface="Cambria Math" panose="02040503050406030204" pitchFamily="18" charset="0"/>
                              <a:ea typeface="Cambria Math" panose="02040503050406030204" pitchFamily="18" charset="0"/>
                            </a:rPr>
                            <m:t>+</m:t>
                          </m:r>
                          <m:r>
                            <a:rPr lang="en-US" altLang="zh-TW" sz="2600" b="0" i="1" smtClean="0">
                              <a:solidFill>
                                <a:srgbClr val="FF0000"/>
                              </a:solidFill>
                              <a:latin typeface="Cambria Math" panose="02040503050406030204" pitchFamily="18" charset="0"/>
                              <a:ea typeface="Cambria Math" panose="02040503050406030204" pitchFamily="18" charset="0"/>
                            </a:rPr>
                            <m:t>𝐺</m:t>
                          </m:r>
                          <m:r>
                            <a:rPr lang="en-US" altLang="zh-TW" sz="2600" b="0" i="1" smtClean="0">
                              <a:solidFill>
                                <a:srgbClr val="FF0000"/>
                              </a:solidFill>
                              <a:latin typeface="Cambria Math" panose="02040503050406030204" pitchFamily="18" charset="0"/>
                              <a:ea typeface="Cambria Math" panose="02040503050406030204" pitchFamily="18" charset="0"/>
                            </a:rPr>
                            <m:t>⊗ </m:t>
                          </m:r>
                          <m:sSub>
                            <m:sSubPr>
                              <m:ctrlPr>
                                <a:rPr lang="en-US" altLang="zh-TW" sz="2600" b="0" i="1" smtClean="0">
                                  <a:solidFill>
                                    <a:srgbClr val="FF0000"/>
                                  </a:solidFill>
                                  <a:latin typeface="Cambria Math" panose="02040503050406030204" pitchFamily="18" charset="0"/>
                                  <a:ea typeface="Cambria Math" panose="02040503050406030204" pitchFamily="18" charset="0"/>
                                </a:rPr>
                              </m:ctrlPr>
                            </m:sSubPr>
                            <m:e>
                              <m:r>
                                <a:rPr lang="en-US" altLang="zh-TW" sz="2600" b="0" i="1" smtClean="0">
                                  <a:solidFill>
                                    <a:srgbClr val="FF0000"/>
                                  </a:solidFill>
                                  <a:latin typeface="Cambria Math" panose="02040503050406030204" pitchFamily="18" charset="0"/>
                                  <a:ea typeface="Cambria Math" panose="02040503050406030204" pitchFamily="18" charset="0"/>
                                </a:rPr>
                                <m:t>𝐼</m:t>
                              </m:r>
                            </m:e>
                            <m:sub>
                              <m:r>
                                <a:rPr lang="en-US" altLang="zh-TW" sz="2600" b="0" i="1" smtClean="0">
                                  <a:solidFill>
                                    <a:srgbClr val="FF0000"/>
                                  </a:solidFill>
                                  <a:latin typeface="Cambria Math" panose="02040503050406030204" pitchFamily="18" charset="0"/>
                                  <a:ea typeface="Cambria Math" panose="02040503050406030204" pitchFamily="18" charset="0"/>
                                </a:rPr>
                                <m:t>𝑚</m:t>
                              </m:r>
                            </m:sub>
                          </m:sSub>
                          <m:r>
                            <a:rPr lang="en-US" altLang="zh-TW" sz="2600" b="0" i="1" smtClean="0">
                              <a:solidFill>
                                <a:srgbClr val="FF0000"/>
                              </a:solidFill>
                              <a:latin typeface="Cambria Math" panose="02040503050406030204" pitchFamily="18" charset="0"/>
                              <a:ea typeface="Cambria Math" panose="02040503050406030204" pitchFamily="18" charset="0"/>
                            </a:rPr>
                            <m:t> </m:t>
                          </m:r>
                        </m:e>
                      </m:d>
                      <m:r>
                        <a:rPr lang="en-US" altLang="zh-TW" sz="2600" b="0" i="1" smtClean="0">
                          <a:solidFill>
                            <a:srgbClr val="FF0000"/>
                          </a:solidFill>
                          <a:latin typeface="Cambria Math" panose="02040503050406030204" pitchFamily="18" charset="0"/>
                        </a:rPr>
                        <m:t>𝑣𝑒𝑐</m:t>
                      </m:r>
                      <m:d>
                        <m:dPr>
                          <m:ctrlPr>
                            <a:rPr lang="en-US" altLang="zh-TW" sz="2600" b="0" i="1" smtClean="0">
                              <a:solidFill>
                                <a:srgbClr val="FF0000"/>
                              </a:solidFill>
                              <a:latin typeface="Cambria Math" panose="02040503050406030204" pitchFamily="18" charset="0"/>
                            </a:rPr>
                          </m:ctrlPr>
                        </m:dPr>
                        <m:e>
                          <m:r>
                            <a:rPr lang="en-US" altLang="zh-TW" sz="2600" b="0" i="1" smtClean="0">
                              <a:solidFill>
                                <a:srgbClr val="FF0000"/>
                              </a:solidFill>
                              <a:latin typeface="Cambria Math" panose="02040503050406030204" pitchFamily="18" charset="0"/>
                            </a:rPr>
                            <m:t>𝑋</m:t>
                          </m:r>
                        </m:e>
                      </m:d>
                      <m:r>
                        <a:rPr lang="en-US" altLang="zh-TW" sz="2600" b="0" i="1" smtClean="0">
                          <a:solidFill>
                            <a:srgbClr val="FF0000"/>
                          </a:solidFill>
                          <a:latin typeface="Cambria Math" panose="02040503050406030204" pitchFamily="18" charset="0"/>
                        </a:rPr>
                        <m:t>=</m:t>
                      </m:r>
                      <m:r>
                        <a:rPr lang="en-US" altLang="zh-TW" sz="2600" b="0" i="1" smtClean="0">
                          <a:solidFill>
                            <a:srgbClr val="FF0000"/>
                          </a:solidFill>
                          <a:latin typeface="Cambria Math" panose="02040503050406030204" pitchFamily="18" charset="0"/>
                        </a:rPr>
                        <m:t>𝑣𝑒𝑐</m:t>
                      </m:r>
                      <m:r>
                        <a:rPr lang="en-US" altLang="zh-TW" sz="2600" b="0" i="1" smtClean="0">
                          <a:solidFill>
                            <a:srgbClr val="FF0000"/>
                          </a:solidFill>
                          <a:latin typeface="Cambria Math" panose="02040503050406030204" pitchFamily="18" charset="0"/>
                        </a:rPr>
                        <m:t>(</m:t>
                      </m:r>
                      <m:r>
                        <a:rPr lang="en-US" altLang="zh-TW" sz="2600" b="0" i="1" smtClean="0">
                          <a:solidFill>
                            <a:srgbClr val="FF0000"/>
                          </a:solidFill>
                          <a:latin typeface="Cambria Math" panose="02040503050406030204" pitchFamily="18" charset="0"/>
                        </a:rPr>
                        <m:t>𝐶</m:t>
                      </m:r>
                      <m:r>
                        <a:rPr lang="en-US" altLang="zh-TW" sz="2600" b="0" i="1" smtClean="0">
                          <a:solidFill>
                            <a:srgbClr val="FF0000"/>
                          </a:solidFill>
                          <a:latin typeface="Cambria Math" panose="02040503050406030204" pitchFamily="18" charset="0"/>
                        </a:rPr>
                        <m:t>)</m:t>
                      </m:r>
                    </m:oMath>
                  </m:oMathPara>
                </a14:m>
                <a:endParaRPr lang="en-US" altLang="zh-TW" sz="2600" dirty="0" smtClean="0">
                  <a:solidFill>
                    <a:srgbClr val="FF0000"/>
                  </a:solidFill>
                </a:endParaRPr>
              </a:p>
              <a:p>
                <a:pPr marL="0" indent="0">
                  <a:buNone/>
                </a:pPr>
                <a:endParaRPr lang="en-US" altLang="zh-TW" sz="2600" dirty="0" smtClean="0"/>
              </a:p>
            </p:txBody>
          </p:sp>
        </mc:Choice>
        <mc:Fallback>
          <p:sp>
            <p:nvSpPr>
              <p:cNvPr id="3" name="文字版面配置區 2"/>
              <p:cNvSpPr>
                <a:spLocks noGrp="1" noRot="1" noChangeAspect="1" noMove="1" noResize="1" noEditPoints="1" noAdjustHandles="1" noChangeArrowheads="1" noChangeShapeType="1" noTextEdit="1"/>
              </p:cNvSpPr>
              <p:nvPr>
                <p:ph type="body"/>
              </p:nvPr>
            </p:nvSpPr>
            <p:spPr>
              <a:xfrm>
                <a:off x="504000" y="1164920"/>
                <a:ext cx="9071640" cy="5008880"/>
              </a:xfrm>
              <a:blipFill rotWithShape="0">
                <a:blip r:embed="rId2"/>
                <a:stretch>
                  <a:fillRect l="-2218" r="-268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45799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The nearest </a:t>
            </a:r>
            <a:r>
              <a:rPr lang="en-US" altLang="zh-TW" dirty="0" err="1" smtClean="0"/>
              <a:t>Kronecker</a:t>
            </a:r>
            <a:r>
              <a:rPr lang="en-US" altLang="zh-TW" dirty="0" smtClean="0"/>
              <a:t> product problem</a:t>
            </a:r>
            <a:endParaRPr lang="zh-TW" altLang="en-US" dirty="0"/>
          </a:p>
        </p:txBody>
      </p:sp>
      <mc:AlternateContent xmlns:mc="http://schemas.openxmlformats.org/markup-compatibility/2006" xmlns:a14="http://schemas.microsoft.com/office/drawing/2010/main">
        <mc:Choice Requires="a14">
          <p:sp>
            <p:nvSpPr>
              <p:cNvPr id="3" name="文字版面配置區 2"/>
              <p:cNvSpPr>
                <a:spLocks noGrp="1"/>
              </p:cNvSpPr>
              <p:nvPr>
                <p:ph type="body"/>
              </p:nvPr>
            </p:nvSpPr>
            <p:spPr>
              <a:xfrm>
                <a:off x="577377" y="1417912"/>
                <a:ext cx="9371520" cy="2541066"/>
              </a:xfrm>
            </p:spPr>
            <p:txBody>
              <a:bodyPr/>
              <a:lstStyle/>
              <a:p>
                <a:pPr marL="0" indent="0">
                  <a:buNone/>
                </a:pPr>
                <a:r>
                  <a:rPr lang="en-US" altLang="zh-TW" sz="2400" dirty="0" smtClean="0"/>
                  <a:t>Suppose </a:t>
                </a:r>
                <a14:m>
                  <m:oMath xmlns:m="http://schemas.openxmlformats.org/officeDocument/2006/math">
                    <m:r>
                      <a:rPr lang="en-US" altLang="zh-TW" sz="2400" b="0" i="1" smtClean="0">
                        <a:latin typeface="Cambria Math" panose="02040503050406030204" pitchFamily="18" charset="0"/>
                      </a:rPr>
                      <m:t>𝐴</m:t>
                    </m:r>
                    <m:r>
                      <a:rPr lang="en-US" altLang="zh-TW" sz="2400" b="0" i="1" smtClean="0">
                        <a:latin typeface="Cambria Math" panose="02040503050406030204" pitchFamily="18" charset="0"/>
                        <a:ea typeface="Cambria Math" panose="02040503050406030204" pitchFamily="18" charset="0"/>
                      </a:rPr>
                      <m:t>∈</m:t>
                    </m:r>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ℝ</m:t>
                        </m:r>
                      </m:e>
                      <m:sup>
                        <m:r>
                          <a:rPr lang="en-US" altLang="zh-TW" sz="2400" b="0" i="1" smtClean="0">
                            <a:latin typeface="Cambria Math" panose="02040503050406030204" pitchFamily="18" charset="0"/>
                            <a:ea typeface="Cambria Math" panose="02040503050406030204" pitchFamily="18" charset="0"/>
                          </a:rPr>
                          <m:t>𝑚</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𝑛</m:t>
                        </m:r>
                      </m:sup>
                    </m:sSup>
                    <m:r>
                      <a:rPr lang="en-US" altLang="zh-TW" sz="2400" b="0" i="1" smtClean="0">
                        <a:latin typeface="Cambria Math" panose="02040503050406030204" pitchFamily="18" charset="0"/>
                        <a:ea typeface="Cambria Math" panose="02040503050406030204" pitchFamily="18" charset="0"/>
                      </a:rPr>
                      <m:t> </m:t>
                    </m:r>
                  </m:oMath>
                </a14:m>
                <a:r>
                  <a:rPr lang="en-US" altLang="zh-TW" sz="2400" dirty="0" smtClean="0"/>
                  <a:t>is given with </a:t>
                </a:r>
                <a14:m>
                  <m:oMath xmlns:m="http://schemas.openxmlformats.org/officeDocument/2006/math">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𝑚</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𝑚</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 , </m:t>
                    </m:r>
                    <m:r>
                      <a:rPr lang="en-US" altLang="zh-TW" sz="2400" b="0" i="1" smtClean="0">
                        <a:latin typeface="Cambria Math" panose="02040503050406030204" pitchFamily="18" charset="0"/>
                      </a:rPr>
                      <m:t>𝑛</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𝑛</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𝑛</m:t>
                        </m:r>
                      </m:e>
                      <m:sub>
                        <m:r>
                          <a:rPr lang="en-US" altLang="zh-TW" sz="2400" b="0" i="1" smtClean="0">
                            <a:latin typeface="Cambria Math" panose="02040503050406030204" pitchFamily="18" charset="0"/>
                          </a:rPr>
                          <m:t>2</m:t>
                        </m:r>
                      </m:sub>
                    </m:sSub>
                  </m:oMath>
                </a14:m>
                <a:r>
                  <a:rPr lang="en-US" altLang="zh-TW" sz="2400" dirty="0" smtClean="0"/>
                  <a:t>.</a:t>
                </a:r>
              </a:p>
              <a:p>
                <a:pPr marL="0" indent="0">
                  <a:buNone/>
                </a:pPr>
                <a:r>
                  <a:rPr lang="en-US" altLang="zh-TW" sz="2400" dirty="0" smtClean="0"/>
                  <a:t>For these integer factorizations the NKP problem </a:t>
                </a:r>
                <a:r>
                  <a:rPr lang="en-US" altLang="zh-TW" sz="2400" dirty="0" err="1" smtClean="0"/>
                  <a:t>inbolves</a:t>
                </a:r>
                <a:r>
                  <a:rPr lang="en-US" altLang="zh-TW" sz="2400" dirty="0" smtClean="0"/>
                  <a:t> minimizing</a:t>
                </a:r>
              </a:p>
              <a:p>
                <a:pPr marL="0" indent="0">
                  <a:buNone/>
                </a:pPr>
                <a14:m>
                  <m:oMath xmlns:m="http://schemas.openxmlformats.org/officeDocument/2006/math">
                    <m:r>
                      <a:rPr lang="zh-TW" altLang="en-US" sz="2400" i="1" smtClean="0">
                        <a:latin typeface="Cambria Math" panose="02040503050406030204" pitchFamily="18" charset="0"/>
                      </a:rPr>
                      <m:t>𝜙</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𝐵</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𝐶</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𝐴</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𝐶</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m:t>
                        </m:r>
                      </m:e>
                      <m:sub>
                        <m:r>
                          <a:rPr lang="en-US" altLang="zh-TW" sz="2400" b="0" i="1" smtClean="0">
                            <a:latin typeface="Cambria Math" panose="02040503050406030204" pitchFamily="18" charset="0"/>
                            <a:ea typeface="Cambria Math" panose="02040503050406030204" pitchFamily="18" charset="0"/>
                          </a:rPr>
                          <m:t>𝐹</m:t>
                        </m:r>
                      </m:sub>
                    </m:sSub>
                  </m:oMath>
                </a14:m>
                <a:r>
                  <a:rPr lang="en-US" altLang="zh-TW" sz="2400" dirty="0" smtClean="0"/>
                  <a:t> 			</a:t>
                </a:r>
                <a14:m>
                  <m:oMath xmlns:m="http://schemas.openxmlformats.org/officeDocument/2006/math">
                    <m:r>
                      <a:rPr lang="en-US" altLang="zh-TW" sz="2400" b="0" i="1" smtClean="0">
                        <a:latin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ℝ</m:t>
                        </m:r>
                      </m:e>
                      <m:sup>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𝑚</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𝑛</m:t>
                            </m:r>
                          </m:e>
                          <m:sub>
                            <m:r>
                              <a:rPr lang="en-US" altLang="zh-TW" sz="2400" b="0" i="1" smtClean="0">
                                <a:latin typeface="Cambria Math" panose="02040503050406030204" pitchFamily="18" charset="0"/>
                                <a:ea typeface="Cambria Math" panose="02040503050406030204" pitchFamily="18" charset="0"/>
                              </a:rPr>
                              <m:t>1</m:t>
                            </m:r>
                          </m:sub>
                        </m:sSub>
                      </m:sup>
                    </m:sSup>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𝐶</m:t>
                    </m:r>
                    <m:r>
                      <a:rPr lang="en-US" altLang="zh-TW" sz="2400" b="0" i="1" smtClean="0">
                        <a:latin typeface="Cambria Math" panose="02040503050406030204" pitchFamily="18" charset="0"/>
                        <a:ea typeface="Cambria Math" panose="02040503050406030204" pitchFamily="18" charset="0"/>
                      </a:rPr>
                      <m:t>∈</m:t>
                    </m:r>
                    <m:sSup>
                      <m:sSupPr>
                        <m:ctrlPr>
                          <a:rPr lang="en-US" altLang="zh-TW" sz="2400" b="0" i="1" smtClean="0">
                            <a:latin typeface="Cambria Math" panose="02040503050406030204" pitchFamily="18" charset="0"/>
                            <a:ea typeface="Cambria Math" panose="02040503050406030204" pitchFamily="18" charset="0"/>
                          </a:rPr>
                        </m:ctrlPr>
                      </m:sSupPr>
                      <m:e>
                        <m:r>
                          <a:rPr lang="en-US" altLang="zh-TW" sz="2400" b="0" i="1" smtClean="0">
                            <a:latin typeface="Cambria Math" panose="02040503050406030204" pitchFamily="18" charset="0"/>
                            <a:ea typeface="Cambria Math" panose="02040503050406030204" pitchFamily="18" charset="0"/>
                          </a:rPr>
                          <m:t>ℝ</m:t>
                        </m:r>
                      </m:e>
                      <m:sup>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𝑚</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𝑛</m:t>
                            </m:r>
                          </m:e>
                          <m:sub>
                            <m:r>
                              <a:rPr lang="en-US" altLang="zh-TW" sz="2400" b="0" i="1" smtClean="0">
                                <a:latin typeface="Cambria Math" panose="02040503050406030204" pitchFamily="18" charset="0"/>
                                <a:ea typeface="Cambria Math" panose="02040503050406030204" pitchFamily="18" charset="0"/>
                              </a:rPr>
                              <m:t>2</m:t>
                            </m:r>
                          </m:sub>
                        </m:sSub>
                      </m:sup>
                    </m:sSup>
                  </m:oMath>
                </a14:m>
                <a:endParaRPr lang="en-US" altLang="zh-TW" sz="2400" dirty="0" smtClean="0"/>
              </a:p>
              <a:p>
                <a:pPr marL="0" indent="0">
                  <a:buNone/>
                </a:pPr>
                <a:endParaRPr lang="zh-TW" altLang="en-US" sz="2400" dirty="0"/>
              </a:p>
            </p:txBody>
          </p:sp>
        </mc:Choice>
        <mc:Fallback xmlns="">
          <p:sp>
            <p:nvSpPr>
              <p:cNvPr id="3" name="文字版面配置區 2"/>
              <p:cNvSpPr>
                <a:spLocks noGrp="1" noRot="1" noChangeAspect="1" noMove="1" noResize="1" noEditPoints="1" noAdjustHandles="1" noChangeArrowheads="1" noChangeShapeType="1" noTextEdit="1"/>
              </p:cNvSpPr>
              <p:nvPr>
                <p:ph type="body"/>
              </p:nvPr>
            </p:nvSpPr>
            <p:spPr>
              <a:xfrm>
                <a:off x="577377" y="1417912"/>
                <a:ext cx="9371520" cy="2541066"/>
              </a:xfrm>
              <a:blipFill rotWithShape="0">
                <a:blip r:embed="rId2"/>
                <a:stretch>
                  <a:fillRect l="-2017" r="-14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421923" y="3405005"/>
                <a:ext cx="2526974" cy="21533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000" i="1">
                          <a:latin typeface="Cambria Math" panose="02040503050406030204" pitchFamily="18" charset="0"/>
                          <a:ea typeface="Cambria Math" panose="02040503050406030204" pitchFamily="18" charset="0"/>
                        </a:rPr>
                        <m:t>ℛ</m:t>
                      </m:r>
                      <m:d>
                        <m:dPr>
                          <m:ctrlPr>
                            <a:rPr lang="en-US" altLang="zh-TW" sz="2000" i="1">
                              <a:latin typeface="Cambria Math" panose="02040503050406030204" pitchFamily="18" charset="0"/>
                              <a:ea typeface="Cambria Math" panose="02040503050406030204" pitchFamily="18" charset="0"/>
                            </a:rPr>
                          </m:ctrlPr>
                        </m:dPr>
                        <m:e>
                          <m:r>
                            <a:rPr lang="en-US" altLang="zh-TW" sz="2000" i="1">
                              <a:latin typeface="Cambria Math" panose="02040503050406030204" pitchFamily="18" charset="0"/>
                              <a:ea typeface="Cambria Math" panose="02040503050406030204" pitchFamily="18" charset="0"/>
                            </a:rPr>
                            <m:t>𝐴</m:t>
                          </m:r>
                        </m:e>
                      </m:d>
                      <m:r>
                        <a:rPr lang="en-US" altLang="zh-TW" sz="2000" i="1">
                          <a:latin typeface="Cambria Math" panose="02040503050406030204" pitchFamily="18" charset="0"/>
                          <a:ea typeface="Cambria Math" panose="02040503050406030204" pitchFamily="18" charset="0"/>
                        </a:rPr>
                        <m:t>=</m:t>
                      </m:r>
                      <m:d>
                        <m:dPr>
                          <m:begChr m:val="["/>
                          <m:endChr m:val="]"/>
                          <m:ctrlPr>
                            <a:rPr lang="en-US" altLang="zh-TW" sz="2000" i="1">
                              <a:latin typeface="Cambria Math" panose="02040503050406030204" pitchFamily="18" charset="0"/>
                              <a:ea typeface="Cambria Math" panose="02040503050406030204" pitchFamily="18" charset="0"/>
                            </a:rPr>
                          </m:ctrlPr>
                        </m:dPr>
                        <m:e>
                          <m:m>
                            <m:mPr>
                              <m:mcs>
                                <m:mc>
                                  <m:mcPr>
                                    <m:count m:val="1"/>
                                    <m:mcJc m:val="center"/>
                                  </m:mcPr>
                                </m:mc>
                              </m:mcs>
                              <m:ctrlPr>
                                <a:rPr lang="en-US" altLang="zh-TW" sz="2000" i="1">
                                  <a:latin typeface="Cambria Math" panose="02040503050406030204" pitchFamily="18" charset="0"/>
                                  <a:ea typeface="Cambria Math" panose="02040503050406030204" pitchFamily="18" charset="0"/>
                                </a:rPr>
                              </m:ctrlPr>
                            </m:mPr>
                            <m:mr>
                              <m:e>
                                <m:m>
                                  <m:mPr>
                                    <m:mcs>
                                      <m:mc>
                                        <m:mcPr>
                                          <m:count m:val="1"/>
                                          <m:mcJc m:val="center"/>
                                        </m:mcPr>
                                      </m:mc>
                                    </m:mcs>
                                    <m:ctrlPr>
                                      <a:rPr lang="en-US" altLang="zh-TW" sz="2000" i="1">
                                        <a:latin typeface="Cambria Math" panose="02040503050406030204" pitchFamily="18" charset="0"/>
                                        <a:ea typeface="Cambria Math" panose="02040503050406030204" pitchFamily="18" charset="0"/>
                                      </a:rPr>
                                    </m:ctrlPr>
                                  </m:mPr>
                                  <m:mr>
                                    <m:e>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𝑣𝑒𝑐</m:t>
                                          </m:r>
                                          <m:r>
                                            <a:rPr lang="en-US" altLang="zh-TW" sz="2000" i="1">
                                              <a:latin typeface="Cambria Math" panose="02040503050406030204" pitchFamily="18" charset="0"/>
                                              <a:ea typeface="Cambria Math" panose="02040503050406030204" pitchFamily="18" charset="0"/>
                                            </a:rPr>
                                            <m:t>( </m:t>
                                          </m:r>
                                          <m:sSub>
                                            <m:sSubPr>
                                              <m:ctrlPr>
                                                <a:rPr lang="en-US" altLang="zh-TW" sz="2000" i="1">
                                                  <a:latin typeface="Cambria Math" panose="02040503050406030204" pitchFamily="18" charset="0"/>
                                                  <a:ea typeface="Cambria Math" panose="02040503050406030204" pitchFamily="18" charset="0"/>
                                                </a:rPr>
                                              </m:ctrlPr>
                                            </m:sSubPr>
                                            <m:e>
                                              <m:r>
                                                <a:rPr lang="en-US" altLang="zh-TW" sz="2000" i="1">
                                                  <a:latin typeface="Cambria Math" panose="02040503050406030204" pitchFamily="18" charset="0"/>
                                                  <a:ea typeface="Cambria Math" panose="02040503050406030204" pitchFamily="18" charset="0"/>
                                                </a:rPr>
                                                <m:t>𝐴</m:t>
                                              </m:r>
                                            </m:e>
                                            <m:sub>
                                              <m:r>
                                                <a:rPr lang="en-US" altLang="zh-TW" sz="2000" i="1">
                                                  <a:latin typeface="Cambria Math" panose="02040503050406030204" pitchFamily="18" charset="0"/>
                                                  <a:ea typeface="Cambria Math" panose="02040503050406030204" pitchFamily="18" charset="0"/>
                                                </a:rPr>
                                                <m:t>11</m:t>
                                              </m:r>
                                            </m:sub>
                                          </m:sSub>
                                          <m:r>
                                            <a:rPr lang="en-US" altLang="zh-TW" sz="2000" i="1">
                                              <a:latin typeface="Cambria Math" panose="02040503050406030204" pitchFamily="18" charset="0"/>
                                              <a:ea typeface="Cambria Math" panose="02040503050406030204" pitchFamily="18" charset="0"/>
                                            </a:rPr>
                                            <m:t>)</m:t>
                                          </m:r>
                                        </m:e>
                                        <m:sup>
                                          <m:r>
                                            <a:rPr lang="en-US" altLang="zh-TW" sz="2000" i="1">
                                              <a:latin typeface="Cambria Math" panose="02040503050406030204" pitchFamily="18" charset="0"/>
                                              <a:ea typeface="Cambria Math" panose="02040503050406030204" pitchFamily="18" charset="0"/>
                                            </a:rPr>
                                            <m:t>𝑇</m:t>
                                          </m:r>
                                        </m:sup>
                                      </m:sSup>
                                    </m:e>
                                  </m:mr>
                                  <m:mr>
                                    <m:e>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𝑣𝑒𝑐</m:t>
                                          </m:r>
                                          <m:r>
                                            <a:rPr lang="en-US" altLang="zh-TW" sz="2000" i="1">
                                              <a:latin typeface="Cambria Math" panose="02040503050406030204" pitchFamily="18" charset="0"/>
                                              <a:ea typeface="Cambria Math" panose="02040503050406030204" pitchFamily="18" charset="0"/>
                                            </a:rPr>
                                            <m:t>( </m:t>
                                          </m:r>
                                          <m:sSub>
                                            <m:sSubPr>
                                              <m:ctrlPr>
                                                <a:rPr lang="en-US" altLang="zh-TW" sz="2000" i="1">
                                                  <a:latin typeface="Cambria Math" panose="02040503050406030204" pitchFamily="18" charset="0"/>
                                                  <a:ea typeface="Cambria Math" panose="02040503050406030204" pitchFamily="18" charset="0"/>
                                                </a:rPr>
                                              </m:ctrlPr>
                                            </m:sSubPr>
                                            <m:e>
                                              <m:r>
                                                <a:rPr lang="en-US" altLang="zh-TW" sz="2000" i="1">
                                                  <a:latin typeface="Cambria Math" panose="02040503050406030204" pitchFamily="18" charset="0"/>
                                                  <a:ea typeface="Cambria Math" panose="02040503050406030204" pitchFamily="18" charset="0"/>
                                                </a:rPr>
                                                <m:t>𝐴</m:t>
                                              </m:r>
                                            </m:e>
                                            <m:sub>
                                              <m:r>
                                                <a:rPr lang="en-US" altLang="zh-TW" sz="2000" i="1">
                                                  <a:latin typeface="Cambria Math" panose="02040503050406030204" pitchFamily="18" charset="0"/>
                                                  <a:ea typeface="Cambria Math" panose="02040503050406030204" pitchFamily="18" charset="0"/>
                                                </a:rPr>
                                                <m:t>21</m:t>
                                              </m:r>
                                            </m:sub>
                                          </m:sSub>
                                          <m:r>
                                            <a:rPr lang="en-US" altLang="zh-TW" sz="2000" i="1">
                                              <a:latin typeface="Cambria Math" panose="02040503050406030204" pitchFamily="18" charset="0"/>
                                              <a:ea typeface="Cambria Math" panose="02040503050406030204" pitchFamily="18" charset="0"/>
                                            </a:rPr>
                                            <m:t>)</m:t>
                                          </m:r>
                                        </m:e>
                                        <m:sup>
                                          <m:r>
                                            <a:rPr lang="en-US" altLang="zh-TW" sz="2000" i="1">
                                              <a:latin typeface="Cambria Math" panose="02040503050406030204" pitchFamily="18" charset="0"/>
                                              <a:ea typeface="Cambria Math" panose="02040503050406030204" pitchFamily="18" charset="0"/>
                                            </a:rPr>
                                            <m:t>𝑇</m:t>
                                          </m:r>
                                        </m:sup>
                                      </m:sSup>
                                    </m:e>
                                  </m:mr>
                                  <m:mr>
                                    <m:e>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𝑣𝑒𝑐</m:t>
                                          </m:r>
                                          <m:r>
                                            <a:rPr lang="en-US" altLang="zh-TW" sz="2000" i="1">
                                              <a:latin typeface="Cambria Math" panose="02040503050406030204" pitchFamily="18" charset="0"/>
                                              <a:ea typeface="Cambria Math" panose="02040503050406030204" pitchFamily="18" charset="0"/>
                                            </a:rPr>
                                            <m:t>( </m:t>
                                          </m:r>
                                          <m:sSub>
                                            <m:sSubPr>
                                              <m:ctrlPr>
                                                <a:rPr lang="en-US" altLang="zh-TW" sz="2000" i="1">
                                                  <a:latin typeface="Cambria Math" panose="02040503050406030204" pitchFamily="18" charset="0"/>
                                                  <a:ea typeface="Cambria Math" panose="02040503050406030204" pitchFamily="18" charset="0"/>
                                                </a:rPr>
                                              </m:ctrlPr>
                                            </m:sSubPr>
                                            <m:e>
                                              <m:r>
                                                <a:rPr lang="en-US" altLang="zh-TW" sz="2000" i="1">
                                                  <a:latin typeface="Cambria Math" panose="02040503050406030204" pitchFamily="18" charset="0"/>
                                                  <a:ea typeface="Cambria Math" panose="02040503050406030204" pitchFamily="18" charset="0"/>
                                                </a:rPr>
                                                <m:t>𝐴</m:t>
                                              </m:r>
                                            </m:e>
                                            <m:sub>
                                              <m:r>
                                                <a:rPr lang="en-US" altLang="zh-TW" sz="2000" i="1">
                                                  <a:latin typeface="Cambria Math" panose="02040503050406030204" pitchFamily="18" charset="0"/>
                                                  <a:ea typeface="Cambria Math" panose="02040503050406030204" pitchFamily="18" charset="0"/>
                                                </a:rPr>
                                                <m:t>31</m:t>
                                              </m:r>
                                            </m:sub>
                                          </m:sSub>
                                          <m:r>
                                            <a:rPr lang="en-US" altLang="zh-TW" sz="2000" i="1">
                                              <a:latin typeface="Cambria Math" panose="02040503050406030204" pitchFamily="18" charset="0"/>
                                              <a:ea typeface="Cambria Math" panose="02040503050406030204" pitchFamily="18" charset="0"/>
                                            </a:rPr>
                                            <m:t>)</m:t>
                                          </m:r>
                                        </m:e>
                                        <m:sup>
                                          <m:r>
                                            <a:rPr lang="en-US" altLang="zh-TW" sz="2000" i="1">
                                              <a:latin typeface="Cambria Math" panose="02040503050406030204" pitchFamily="18" charset="0"/>
                                              <a:ea typeface="Cambria Math" panose="02040503050406030204" pitchFamily="18" charset="0"/>
                                            </a:rPr>
                                            <m:t>𝑇</m:t>
                                          </m:r>
                                        </m:sup>
                                      </m:sSup>
                                    </m:e>
                                  </m:mr>
                                </m:m>
                              </m:e>
                            </m:mr>
                            <m:mr>
                              <m:e>
                                <m:m>
                                  <m:mPr>
                                    <m:mcs>
                                      <m:mc>
                                        <m:mcPr>
                                          <m:count m:val="1"/>
                                          <m:mcJc m:val="center"/>
                                        </m:mcPr>
                                      </m:mc>
                                    </m:mcs>
                                    <m:ctrlPr>
                                      <a:rPr lang="en-US" altLang="zh-TW" sz="2000" i="1">
                                        <a:latin typeface="Cambria Math" panose="02040503050406030204" pitchFamily="18" charset="0"/>
                                        <a:ea typeface="Cambria Math" panose="02040503050406030204" pitchFamily="18" charset="0"/>
                                      </a:rPr>
                                    </m:ctrlPr>
                                  </m:mPr>
                                  <m:mr>
                                    <m:e>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𝑣𝑒𝑐</m:t>
                                          </m:r>
                                          <m:r>
                                            <a:rPr lang="en-US" altLang="zh-TW" sz="2000" i="1">
                                              <a:latin typeface="Cambria Math" panose="02040503050406030204" pitchFamily="18" charset="0"/>
                                              <a:ea typeface="Cambria Math" panose="02040503050406030204" pitchFamily="18" charset="0"/>
                                            </a:rPr>
                                            <m:t>( </m:t>
                                          </m:r>
                                          <m:sSub>
                                            <m:sSubPr>
                                              <m:ctrlPr>
                                                <a:rPr lang="en-US" altLang="zh-TW" sz="2000" i="1">
                                                  <a:latin typeface="Cambria Math" panose="02040503050406030204" pitchFamily="18" charset="0"/>
                                                  <a:ea typeface="Cambria Math" panose="02040503050406030204" pitchFamily="18" charset="0"/>
                                                </a:rPr>
                                              </m:ctrlPr>
                                            </m:sSubPr>
                                            <m:e>
                                              <m:r>
                                                <a:rPr lang="en-US" altLang="zh-TW" sz="2000" i="1">
                                                  <a:latin typeface="Cambria Math" panose="02040503050406030204" pitchFamily="18" charset="0"/>
                                                  <a:ea typeface="Cambria Math" panose="02040503050406030204" pitchFamily="18" charset="0"/>
                                                </a:rPr>
                                                <m:t>𝐴</m:t>
                                              </m:r>
                                            </m:e>
                                            <m:sub>
                                              <m:r>
                                                <a:rPr lang="en-US" altLang="zh-TW" sz="2000" i="1">
                                                  <a:latin typeface="Cambria Math" panose="02040503050406030204" pitchFamily="18" charset="0"/>
                                                  <a:ea typeface="Cambria Math" panose="02040503050406030204" pitchFamily="18" charset="0"/>
                                                </a:rPr>
                                                <m:t>12</m:t>
                                              </m:r>
                                            </m:sub>
                                          </m:sSub>
                                          <m:r>
                                            <a:rPr lang="en-US" altLang="zh-TW" sz="2000" i="1">
                                              <a:latin typeface="Cambria Math" panose="02040503050406030204" pitchFamily="18" charset="0"/>
                                              <a:ea typeface="Cambria Math" panose="02040503050406030204" pitchFamily="18" charset="0"/>
                                            </a:rPr>
                                            <m:t>)</m:t>
                                          </m:r>
                                        </m:e>
                                        <m:sup>
                                          <m:r>
                                            <a:rPr lang="en-US" altLang="zh-TW" sz="2000" i="1">
                                              <a:latin typeface="Cambria Math" panose="02040503050406030204" pitchFamily="18" charset="0"/>
                                              <a:ea typeface="Cambria Math" panose="02040503050406030204" pitchFamily="18" charset="0"/>
                                            </a:rPr>
                                            <m:t>𝑇</m:t>
                                          </m:r>
                                        </m:sup>
                                      </m:sSup>
                                    </m:e>
                                  </m:mr>
                                  <m:mr>
                                    <m:e>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𝑣𝑒𝑐</m:t>
                                          </m:r>
                                          <m:r>
                                            <a:rPr lang="en-US" altLang="zh-TW" sz="2000" i="1">
                                              <a:latin typeface="Cambria Math" panose="02040503050406030204" pitchFamily="18" charset="0"/>
                                              <a:ea typeface="Cambria Math" panose="02040503050406030204" pitchFamily="18" charset="0"/>
                                            </a:rPr>
                                            <m:t>( </m:t>
                                          </m:r>
                                          <m:sSub>
                                            <m:sSubPr>
                                              <m:ctrlPr>
                                                <a:rPr lang="en-US" altLang="zh-TW" sz="2000" i="1">
                                                  <a:latin typeface="Cambria Math" panose="02040503050406030204" pitchFamily="18" charset="0"/>
                                                  <a:ea typeface="Cambria Math" panose="02040503050406030204" pitchFamily="18" charset="0"/>
                                                </a:rPr>
                                              </m:ctrlPr>
                                            </m:sSubPr>
                                            <m:e>
                                              <m:r>
                                                <a:rPr lang="en-US" altLang="zh-TW" sz="2000" i="1">
                                                  <a:latin typeface="Cambria Math" panose="02040503050406030204" pitchFamily="18" charset="0"/>
                                                  <a:ea typeface="Cambria Math" panose="02040503050406030204" pitchFamily="18" charset="0"/>
                                                </a:rPr>
                                                <m:t>𝐴</m:t>
                                              </m:r>
                                            </m:e>
                                            <m:sub>
                                              <m:r>
                                                <a:rPr lang="en-US" altLang="zh-TW" sz="2000" i="1">
                                                  <a:latin typeface="Cambria Math" panose="02040503050406030204" pitchFamily="18" charset="0"/>
                                                  <a:ea typeface="Cambria Math" panose="02040503050406030204" pitchFamily="18" charset="0"/>
                                                </a:rPr>
                                                <m:t>22</m:t>
                                              </m:r>
                                            </m:sub>
                                          </m:sSub>
                                          <m:r>
                                            <a:rPr lang="en-US" altLang="zh-TW" sz="2000" i="1">
                                              <a:latin typeface="Cambria Math" panose="02040503050406030204" pitchFamily="18" charset="0"/>
                                              <a:ea typeface="Cambria Math" panose="02040503050406030204" pitchFamily="18" charset="0"/>
                                            </a:rPr>
                                            <m:t>)</m:t>
                                          </m:r>
                                        </m:e>
                                        <m:sup>
                                          <m:r>
                                            <a:rPr lang="en-US" altLang="zh-TW" sz="2000" i="1">
                                              <a:latin typeface="Cambria Math" panose="02040503050406030204" pitchFamily="18" charset="0"/>
                                              <a:ea typeface="Cambria Math" panose="02040503050406030204" pitchFamily="18" charset="0"/>
                                            </a:rPr>
                                            <m:t>𝑇</m:t>
                                          </m:r>
                                        </m:sup>
                                      </m:sSup>
                                    </m:e>
                                  </m:mr>
                                  <m:mr>
                                    <m:e>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𝑣𝑒𝑐</m:t>
                                          </m:r>
                                          <m:r>
                                            <a:rPr lang="en-US" altLang="zh-TW" sz="2000" i="1">
                                              <a:latin typeface="Cambria Math" panose="02040503050406030204" pitchFamily="18" charset="0"/>
                                              <a:ea typeface="Cambria Math" panose="02040503050406030204" pitchFamily="18" charset="0"/>
                                            </a:rPr>
                                            <m:t>( </m:t>
                                          </m:r>
                                          <m:sSub>
                                            <m:sSubPr>
                                              <m:ctrlPr>
                                                <a:rPr lang="en-US" altLang="zh-TW" sz="2000" i="1">
                                                  <a:latin typeface="Cambria Math" panose="02040503050406030204" pitchFamily="18" charset="0"/>
                                                  <a:ea typeface="Cambria Math" panose="02040503050406030204" pitchFamily="18" charset="0"/>
                                                </a:rPr>
                                              </m:ctrlPr>
                                            </m:sSubPr>
                                            <m:e>
                                              <m:r>
                                                <a:rPr lang="en-US" altLang="zh-TW" sz="2000" i="1">
                                                  <a:latin typeface="Cambria Math" panose="02040503050406030204" pitchFamily="18" charset="0"/>
                                                  <a:ea typeface="Cambria Math" panose="02040503050406030204" pitchFamily="18" charset="0"/>
                                                </a:rPr>
                                                <m:t>𝐴</m:t>
                                              </m:r>
                                            </m:e>
                                            <m:sub>
                                              <m:r>
                                                <a:rPr lang="en-US" altLang="zh-TW" sz="2000" i="1">
                                                  <a:latin typeface="Cambria Math" panose="02040503050406030204" pitchFamily="18" charset="0"/>
                                                  <a:ea typeface="Cambria Math" panose="02040503050406030204" pitchFamily="18" charset="0"/>
                                                </a:rPr>
                                                <m:t>32</m:t>
                                              </m:r>
                                            </m:sub>
                                          </m:sSub>
                                          <m:r>
                                            <a:rPr lang="en-US" altLang="zh-TW" sz="2000" i="1">
                                              <a:latin typeface="Cambria Math" panose="02040503050406030204" pitchFamily="18" charset="0"/>
                                              <a:ea typeface="Cambria Math" panose="02040503050406030204" pitchFamily="18" charset="0"/>
                                            </a:rPr>
                                            <m:t>)</m:t>
                                          </m:r>
                                        </m:e>
                                        <m:sup>
                                          <m:r>
                                            <a:rPr lang="en-US" altLang="zh-TW" sz="2000" i="1">
                                              <a:latin typeface="Cambria Math" panose="02040503050406030204" pitchFamily="18" charset="0"/>
                                              <a:ea typeface="Cambria Math" panose="02040503050406030204" pitchFamily="18" charset="0"/>
                                            </a:rPr>
                                            <m:t>𝑇</m:t>
                                          </m:r>
                                        </m:sup>
                                      </m:sSup>
                                    </m:e>
                                  </m:mr>
                                </m:m>
                              </m:e>
                            </m:mr>
                          </m:m>
                        </m:e>
                      </m:d>
                    </m:oMath>
                  </m:oMathPara>
                </a14:m>
                <a:endParaRPr lang="zh-TW" altLang="en-US" sz="2000" dirty="0"/>
              </a:p>
            </p:txBody>
          </p:sp>
        </mc:Choice>
        <mc:Fallback xmlns="">
          <p:sp>
            <p:nvSpPr>
              <p:cNvPr id="9" name="矩形 8"/>
              <p:cNvSpPr>
                <a:spLocks noRot="1" noChangeAspect="1" noMove="1" noResize="1" noEditPoints="1" noAdjustHandles="1" noChangeArrowheads="1" noChangeShapeType="1" noTextEdit="1"/>
              </p:cNvSpPr>
              <p:nvPr/>
            </p:nvSpPr>
            <p:spPr>
              <a:xfrm>
                <a:off x="7421923" y="3405005"/>
                <a:ext cx="2526974" cy="2153346"/>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504000" y="6059571"/>
                <a:ext cx="5462265" cy="400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600" i="1" smtClean="0">
                          <a:latin typeface="Cambria Math" panose="02040503050406030204" pitchFamily="18" charset="0"/>
                        </a:rPr>
                        <m:t>𝜙</m:t>
                      </m:r>
                      <m:d>
                        <m:dPr>
                          <m:ctrlPr>
                            <a:rPr lang="en-US" altLang="zh-TW" sz="2600" i="1">
                              <a:latin typeface="Cambria Math" panose="02040503050406030204" pitchFamily="18" charset="0"/>
                            </a:rPr>
                          </m:ctrlPr>
                        </m:dPr>
                        <m:e>
                          <m:r>
                            <a:rPr lang="en-US" altLang="zh-TW" sz="2600" i="1">
                              <a:latin typeface="Cambria Math" panose="02040503050406030204" pitchFamily="18" charset="0"/>
                            </a:rPr>
                            <m:t>𝐵</m:t>
                          </m:r>
                          <m:r>
                            <a:rPr lang="en-US" altLang="zh-TW" sz="2600" i="1">
                              <a:latin typeface="Cambria Math" panose="02040503050406030204" pitchFamily="18" charset="0"/>
                            </a:rPr>
                            <m:t>,</m:t>
                          </m:r>
                          <m:r>
                            <a:rPr lang="en-US" altLang="zh-TW" sz="2600" i="1">
                              <a:latin typeface="Cambria Math" panose="02040503050406030204" pitchFamily="18" charset="0"/>
                            </a:rPr>
                            <m:t>𝐶</m:t>
                          </m:r>
                        </m:e>
                      </m:d>
                      <m:r>
                        <a:rPr lang="en-US" altLang="zh-TW" sz="2600" i="1">
                          <a:latin typeface="Cambria Math" panose="02040503050406030204" pitchFamily="18" charset="0"/>
                        </a:rPr>
                        <m:t>=</m:t>
                      </m:r>
                      <m:sSub>
                        <m:sSubPr>
                          <m:ctrlPr>
                            <a:rPr lang="en-US" altLang="zh-TW" sz="2600" i="1" smtClean="0">
                              <a:latin typeface="Cambria Math" panose="02040503050406030204" pitchFamily="18" charset="0"/>
                            </a:rPr>
                          </m:ctrlPr>
                        </m:sSubPr>
                        <m:e>
                          <m:d>
                            <m:dPr>
                              <m:begChr m:val="‖"/>
                              <m:endChr m:val="‖"/>
                              <m:ctrlPr>
                                <a:rPr lang="en-US" altLang="zh-TW" sz="2600" i="1" smtClean="0">
                                  <a:latin typeface="Cambria Math" panose="02040503050406030204" pitchFamily="18" charset="0"/>
                                </a:rPr>
                              </m:ctrlPr>
                            </m:dPr>
                            <m:e>
                              <m:sSup>
                                <m:sSupPr>
                                  <m:ctrlPr>
                                    <a:rPr lang="en-US" altLang="zh-TW" sz="2600" i="1" smtClean="0">
                                      <a:latin typeface="Cambria Math" panose="02040503050406030204" pitchFamily="18" charset="0"/>
                                    </a:rPr>
                                  </m:ctrlPr>
                                </m:sSupPr>
                                <m:e>
                                  <m:r>
                                    <a:rPr lang="en-US" altLang="zh-TW" sz="2600" i="1">
                                      <a:latin typeface="Cambria Math" panose="02040503050406030204" pitchFamily="18" charset="0"/>
                                      <a:ea typeface="Cambria Math" panose="02040503050406030204" pitchFamily="18" charset="0"/>
                                    </a:rPr>
                                    <m:t>ℛ</m:t>
                                  </m:r>
                                  <m:d>
                                    <m:dPr>
                                      <m:ctrlPr>
                                        <a:rPr lang="en-US" altLang="zh-TW" sz="2600" i="1">
                                          <a:latin typeface="Cambria Math" panose="02040503050406030204" pitchFamily="18" charset="0"/>
                                          <a:ea typeface="Cambria Math" panose="02040503050406030204" pitchFamily="18" charset="0"/>
                                        </a:rPr>
                                      </m:ctrlPr>
                                    </m:dPr>
                                    <m:e>
                                      <m:r>
                                        <a:rPr lang="en-US" altLang="zh-TW" sz="2600" i="1">
                                          <a:latin typeface="Cambria Math" panose="02040503050406030204" pitchFamily="18" charset="0"/>
                                          <a:ea typeface="Cambria Math" panose="02040503050406030204" pitchFamily="18" charset="0"/>
                                        </a:rPr>
                                        <m:t>𝐴</m:t>
                                      </m:r>
                                    </m:e>
                                  </m:d>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𝑣𝑒𝑐</m:t>
                                  </m:r>
                                  <m:d>
                                    <m:dPr>
                                      <m:ctrlPr>
                                        <a:rPr lang="en-US" altLang="zh-TW" sz="2600" b="0" i="1" smtClean="0">
                                          <a:latin typeface="Cambria Math" panose="02040503050406030204" pitchFamily="18" charset="0"/>
                                          <a:ea typeface="Cambria Math" panose="02040503050406030204" pitchFamily="18" charset="0"/>
                                        </a:rPr>
                                      </m:ctrlPr>
                                    </m:dPr>
                                    <m:e>
                                      <m:r>
                                        <a:rPr lang="en-US" altLang="zh-TW" sz="2600" b="0" i="1" smtClean="0">
                                          <a:latin typeface="Cambria Math" panose="02040503050406030204" pitchFamily="18" charset="0"/>
                                          <a:ea typeface="Cambria Math" panose="02040503050406030204" pitchFamily="18" charset="0"/>
                                        </a:rPr>
                                        <m:t>𝐵</m:t>
                                      </m:r>
                                    </m:e>
                                  </m:d>
                                  <m:r>
                                    <a:rPr lang="en-US" altLang="zh-TW" sz="2600" b="0" i="1" smtClean="0">
                                      <a:latin typeface="Cambria Math" panose="02040503050406030204" pitchFamily="18" charset="0"/>
                                      <a:ea typeface="Cambria Math" panose="02040503050406030204" pitchFamily="18" charset="0"/>
                                    </a:rPr>
                                    <m:t>𝑣𝑒𝑐</m:t>
                                  </m:r>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𝐶</m:t>
                                  </m:r>
                                  <m:r>
                                    <a:rPr lang="en-US" altLang="zh-TW" sz="2600" b="0" i="1" smtClean="0">
                                      <a:latin typeface="Cambria Math" panose="02040503050406030204" pitchFamily="18" charset="0"/>
                                      <a:ea typeface="Cambria Math" panose="02040503050406030204" pitchFamily="18" charset="0"/>
                                    </a:rPr>
                                    <m:t>)</m:t>
                                  </m:r>
                                </m:e>
                                <m:sup>
                                  <m:r>
                                    <a:rPr lang="en-US" altLang="zh-TW" sz="2600" b="0" i="1" smtClean="0">
                                      <a:latin typeface="Cambria Math" panose="02040503050406030204" pitchFamily="18" charset="0"/>
                                    </a:rPr>
                                    <m:t>𝑇</m:t>
                                  </m:r>
                                </m:sup>
                              </m:sSup>
                            </m:e>
                          </m:d>
                        </m:e>
                        <m:sub>
                          <m:r>
                            <a:rPr lang="en-US" altLang="zh-TW" sz="2600" b="0" i="1" smtClean="0">
                              <a:latin typeface="Cambria Math" panose="02040503050406030204" pitchFamily="18" charset="0"/>
                            </a:rPr>
                            <m:t>𝐹</m:t>
                          </m:r>
                        </m:sub>
                      </m:sSub>
                    </m:oMath>
                  </m:oMathPara>
                </a14:m>
                <a:endParaRPr lang="zh-TW" altLang="en-US" sz="26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504000" y="6059571"/>
                <a:ext cx="5462265" cy="400110"/>
              </a:xfrm>
              <a:prstGeom prst="rect">
                <a:avLst/>
              </a:prstGeom>
              <a:blipFill rotWithShape="0">
                <a:blip r:embed="rId4"/>
                <a:stretch>
                  <a:fillRect/>
                </a:stretch>
              </a:blipFill>
            </p:spPr>
            <p:txBody>
              <a:bodyPr/>
              <a:lstStyle/>
              <a:p>
                <a:r>
                  <a:rPr lang="zh-TW" altLang="en-US">
                    <a:noFill/>
                  </a:rPr>
                  <a:t> </a:t>
                </a:r>
              </a:p>
            </p:txBody>
          </p:sp>
        </mc:Fallback>
      </mc:AlternateContent>
      <p:pic>
        <p:nvPicPr>
          <p:cNvPr id="11" name="圖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0153" y="3271690"/>
            <a:ext cx="7018995" cy="2210813"/>
          </a:xfrm>
          <a:prstGeom prst="rect">
            <a:avLst/>
          </a:prstGeom>
        </p:spPr>
      </p:pic>
    </p:spTree>
    <p:extLst>
      <p:ext uri="{BB962C8B-B14F-4D97-AF65-F5344CB8AC3E}">
        <p14:creationId xmlns:p14="http://schemas.microsoft.com/office/powerpoint/2010/main" val="1410273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168370" y="1472164"/>
            <a:ext cx="911630" cy="5994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2997200" y="2117479"/>
            <a:ext cx="883920" cy="5994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2997200" y="826850"/>
            <a:ext cx="883920" cy="5994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 name="文字方塊 3"/>
              <p:cNvSpPr txBox="1"/>
              <p:nvPr/>
            </p:nvSpPr>
            <p:spPr>
              <a:xfrm>
                <a:off x="1316800" y="3882327"/>
                <a:ext cx="6629571" cy="18969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200" i="1" smtClean="0">
                          <a:latin typeface="Cambria Math" panose="02040503050406030204" pitchFamily="18" charset="0"/>
                        </a:rPr>
                        <m:t>𝜙</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𝐵</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𝐶</m:t>
                          </m:r>
                        </m:e>
                      </m:d>
                      <m:r>
                        <a:rPr lang="en-US" altLang="zh-TW" sz="2200" b="0" i="1" smtClean="0">
                          <a:latin typeface="Cambria Math" panose="02040503050406030204" pitchFamily="18" charset="0"/>
                        </a:rPr>
                        <m:t>= </m:t>
                      </m:r>
                      <m:sSub>
                        <m:sSubPr>
                          <m:ctrlPr>
                            <a:rPr lang="en-US" altLang="zh-TW" sz="2200" b="0" i="1" smtClean="0">
                              <a:latin typeface="Cambria Math" panose="02040503050406030204" pitchFamily="18" charset="0"/>
                            </a:rPr>
                          </m:ctrlPr>
                        </m:sSubPr>
                        <m:e>
                          <m:d>
                            <m:dPr>
                              <m:begChr m:val="‖"/>
                              <m:endChr m:val="‖"/>
                              <m:ctrlPr>
                                <a:rPr lang="en-US" altLang="zh-TW" sz="2200" i="1">
                                  <a:latin typeface="Cambria Math" panose="02040503050406030204" pitchFamily="18" charset="0"/>
                                </a:rPr>
                              </m:ctrlPr>
                            </m:dPr>
                            <m:e>
                              <m:d>
                                <m:dPr>
                                  <m:begChr m:val="["/>
                                  <m:endChr m:val="]"/>
                                  <m:ctrlPr>
                                    <a:rPr lang="en-US" altLang="zh-TW" sz="2200" i="1">
                                      <a:latin typeface="Cambria Math" panose="02040503050406030204" pitchFamily="18" charset="0"/>
                                    </a:rPr>
                                  </m:ctrlPr>
                                </m:dPr>
                                <m:e>
                                  <m:m>
                                    <m:mPr>
                                      <m:mcs>
                                        <m:mc>
                                          <m:mcPr>
                                            <m:count m:val="2"/>
                                            <m:mcJc m:val="center"/>
                                          </m:mcPr>
                                        </m:mc>
                                      </m:mcs>
                                      <m:ctrlPr>
                                        <a:rPr lang="en-US" altLang="zh-TW" sz="2200" i="1">
                                          <a:latin typeface="Cambria Math" panose="02040503050406030204" pitchFamily="18" charset="0"/>
                                        </a:rPr>
                                      </m:ctrlPr>
                                    </m:mPr>
                                    <m:mr>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1</m:t>
                                              </m:r>
                                            </m:e>
                                            <m:e>
                                              <m:r>
                                                <a:rPr lang="en-US" altLang="zh-TW" sz="2200" b="0" i="1" smtClean="0">
                                                  <a:latin typeface="Cambria Math" panose="02040503050406030204" pitchFamily="18" charset="0"/>
                                                </a:rPr>
                                                <m:t>5</m:t>
                                              </m:r>
                                            </m:e>
                                          </m:mr>
                                          <m:mr>
                                            <m:e>
                                              <m:r>
                                                <a:rPr lang="en-US" altLang="zh-TW" sz="2200" b="0" i="1" smtClean="0">
                                                  <a:latin typeface="Cambria Math" panose="02040503050406030204" pitchFamily="18" charset="0"/>
                                                </a:rPr>
                                                <m:t>3</m:t>
                                              </m:r>
                                            </m:e>
                                            <m:e>
                                              <m:r>
                                                <a:rPr lang="en-US" altLang="zh-TW" sz="2200" b="0" i="1" smtClean="0">
                                                  <a:latin typeface="Cambria Math" panose="02040503050406030204" pitchFamily="18" charset="0"/>
                                                </a:rPr>
                                                <m:t>7</m:t>
                                              </m:r>
                                            </m:e>
                                          </m:mr>
                                          <m:mr>
                                            <m:e>
                                              <m:r>
                                                <a:rPr lang="en-US" altLang="zh-TW" sz="2200" i="1">
                                                  <a:latin typeface="Cambria Math" panose="02040503050406030204" pitchFamily="18" charset="0"/>
                                                </a:rPr>
                                                <m:t>9</m:t>
                                              </m:r>
                                            </m:e>
                                            <m:e>
                                              <m:r>
                                                <a:rPr lang="en-US" altLang="zh-TW" sz="2200" i="1">
                                                  <a:latin typeface="Cambria Math" panose="02040503050406030204" pitchFamily="18" charset="0"/>
                                                </a:rPr>
                                                <m:t>1</m:t>
                                              </m:r>
                                              <m:r>
                                                <a:rPr lang="en-US" altLang="zh-TW" sz="2200" b="0" i="1" smtClean="0">
                                                  <a:latin typeface="Cambria Math" panose="02040503050406030204" pitchFamily="18" charset="0"/>
                                                </a:rPr>
                                                <m:t>3</m:t>
                                              </m:r>
                                            </m:e>
                                          </m:mr>
                                        </m:m>
                                      </m:e>
                                      <m:e>
                                        <m:m>
                                          <m:mPr>
                                            <m:mcs>
                                              <m:mc>
                                                <m:mcPr>
                                                  <m:count m:val="2"/>
                                                  <m:mcJc m:val="center"/>
                                                </m:mcPr>
                                              </m:mc>
                                            </m:mcs>
                                            <m:ctrlPr>
                                              <a:rPr lang="en-US" altLang="zh-TW" sz="2200" i="1">
                                                <a:latin typeface="Cambria Math" panose="02040503050406030204" pitchFamily="18" charset="0"/>
                                              </a:rPr>
                                            </m:ctrlPr>
                                          </m:mPr>
                                          <m:mr>
                                            <m:e>
                                              <m:r>
                                                <a:rPr lang="en-US" altLang="zh-TW" sz="2200" b="0" i="1" smtClean="0">
                                                  <a:latin typeface="Cambria Math" panose="02040503050406030204" pitchFamily="18" charset="0"/>
                                                </a:rPr>
                                                <m:t>2</m:t>
                                              </m:r>
                                            </m:e>
                                            <m:e>
                                              <m:r>
                                                <a:rPr lang="en-US" altLang="zh-TW" sz="2200" b="0" i="1" smtClean="0">
                                                  <a:latin typeface="Cambria Math" panose="02040503050406030204" pitchFamily="18" charset="0"/>
                                                </a:rPr>
                                                <m:t>6</m:t>
                                              </m:r>
                                            </m:e>
                                          </m:mr>
                                          <m:mr>
                                            <m:e>
                                              <m:r>
                                                <a:rPr lang="en-US" altLang="zh-TW" sz="2200" b="0" i="1" smtClean="0">
                                                  <a:latin typeface="Cambria Math" panose="02040503050406030204" pitchFamily="18" charset="0"/>
                                                </a:rPr>
                                                <m:t>4</m:t>
                                              </m:r>
                                            </m:e>
                                            <m:e>
                                              <m:r>
                                                <a:rPr lang="en-US" altLang="zh-TW" sz="2200" i="1">
                                                  <a:latin typeface="Cambria Math" panose="02040503050406030204" pitchFamily="18" charset="0"/>
                                                </a:rPr>
                                                <m:t>8</m:t>
                                              </m:r>
                                            </m:e>
                                          </m:mr>
                                          <m:mr>
                                            <m:e>
                                              <m:r>
                                                <a:rPr lang="en-US" altLang="zh-TW" sz="2200" i="1">
                                                  <a:latin typeface="Cambria Math" panose="02040503050406030204" pitchFamily="18" charset="0"/>
                                                </a:rPr>
                                                <m:t>1</m:t>
                                              </m:r>
                                              <m:r>
                                                <a:rPr lang="en-US" altLang="zh-TW" sz="2200" b="0" i="1" smtClean="0">
                                                  <a:latin typeface="Cambria Math" panose="02040503050406030204" pitchFamily="18" charset="0"/>
                                                </a:rPr>
                                                <m:t>0</m:t>
                                              </m:r>
                                            </m:e>
                                            <m:e>
                                              <m:r>
                                                <a:rPr lang="en-US" altLang="zh-TW" sz="2200" i="1">
                                                  <a:latin typeface="Cambria Math" panose="02040503050406030204" pitchFamily="18" charset="0"/>
                                                </a:rPr>
                                                <m:t>1</m:t>
                                              </m:r>
                                              <m:r>
                                                <a:rPr lang="en-US" altLang="zh-TW" sz="2200" b="0" i="1" smtClean="0">
                                                  <a:latin typeface="Cambria Math" panose="02040503050406030204" pitchFamily="18" charset="0"/>
                                                </a:rPr>
                                                <m:t>4</m:t>
                                              </m:r>
                                            </m:e>
                                          </m:mr>
                                        </m:m>
                                      </m:e>
                                    </m:mr>
                                    <m:mr>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1</m:t>
                                              </m:r>
                                              <m:r>
                                                <a:rPr lang="en-US" altLang="zh-TW" sz="2200" b="0" i="1" smtClean="0">
                                                  <a:latin typeface="Cambria Math" panose="02040503050406030204" pitchFamily="18" charset="0"/>
                                                </a:rPr>
                                                <m:t>1</m:t>
                                              </m:r>
                                            </m:e>
                                            <m:e>
                                              <m:r>
                                                <a:rPr lang="en-US" altLang="zh-TW" sz="2200" i="1">
                                                  <a:latin typeface="Cambria Math" panose="02040503050406030204" pitchFamily="18" charset="0"/>
                                                </a:rPr>
                                                <m:t>1</m:t>
                                              </m:r>
                                              <m:r>
                                                <a:rPr lang="en-US" altLang="zh-TW" sz="2200" b="0" i="1" smtClean="0">
                                                  <a:latin typeface="Cambria Math" panose="02040503050406030204" pitchFamily="18" charset="0"/>
                                                </a:rPr>
                                                <m:t>5</m:t>
                                              </m:r>
                                            </m:e>
                                          </m:mr>
                                          <m:mr>
                                            <m:e>
                                              <m:r>
                                                <a:rPr lang="en-US" altLang="zh-TW" sz="2200" i="1">
                                                  <a:latin typeface="Cambria Math" panose="02040503050406030204" pitchFamily="18" charset="0"/>
                                                </a:rPr>
                                                <m:t>17</m:t>
                                              </m:r>
                                            </m:e>
                                            <m:e>
                                              <m:r>
                                                <a:rPr lang="en-US" altLang="zh-TW" sz="2200" b="0" i="1" smtClean="0">
                                                  <a:latin typeface="Cambria Math" panose="02040503050406030204" pitchFamily="18" charset="0"/>
                                                </a:rPr>
                                                <m:t>21</m:t>
                                              </m:r>
                                            </m:e>
                                          </m:mr>
                                          <m:mr>
                                            <m:e>
                                              <m:r>
                                                <a:rPr lang="en-US" altLang="zh-TW" sz="2200" b="0" i="1" smtClean="0">
                                                  <a:latin typeface="Cambria Math" panose="02040503050406030204" pitchFamily="18" charset="0"/>
                                                </a:rPr>
                                                <m:t>19</m:t>
                                              </m:r>
                                            </m:e>
                                            <m:e>
                                              <m:r>
                                                <a:rPr lang="en-US" altLang="zh-TW" sz="2200" i="1">
                                                  <a:latin typeface="Cambria Math" panose="02040503050406030204" pitchFamily="18" charset="0"/>
                                                </a:rPr>
                                                <m:t>2</m:t>
                                              </m:r>
                                              <m:r>
                                                <a:rPr lang="en-US" altLang="zh-TW" sz="2200" b="0" i="1" smtClean="0">
                                                  <a:latin typeface="Cambria Math" panose="02040503050406030204" pitchFamily="18" charset="0"/>
                                                </a:rPr>
                                                <m:t>3</m:t>
                                              </m:r>
                                            </m:e>
                                          </m:mr>
                                        </m:m>
                                      </m:e>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1</m:t>
                                              </m:r>
                                              <m:r>
                                                <a:rPr lang="en-US" altLang="zh-TW" sz="2200" b="0" i="1" smtClean="0">
                                                  <a:latin typeface="Cambria Math" panose="02040503050406030204" pitchFamily="18" charset="0"/>
                                                </a:rPr>
                                                <m:t>2</m:t>
                                              </m:r>
                                            </m:e>
                                            <m:e>
                                              <m:r>
                                                <a:rPr lang="en-US" altLang="zh-TW" sz="2200" i="1">
                                                  <a:latin typeface="Cambria Math" panose="02040503050406030204" pitchFamily="18" charset="0"/>
                                                </a:rPr>
                                                <m:t>16</m:t>
                                              </m:r>
                                            </m:e>
                                          </m:mr>
                                          <m:mr>
                                            <m:e>
                                              <m:r>
                                                <a:rPr lang="en-US" altLang="zh-TW" sz="2200" i="1">
                                                  <a:latin typeface="Cambria Math" panose="02040503050406030204" pitchFamily="18" charset="0"/>
                                                </a:rPr>
                                                <m:t>1</m:t>
                                              </m:r>
                                              <m:r>
                                                <a:rPr lang="en-US" altLang="zh-TW" sz="2200" b="0" i="1" smtClean="0">
                                                  <a:latin typeface="Cambria Math" panose="02040503050406030204" pitchFamily="18" charset="0"/>
                                                </a:rPr>
                                                <m:t>8</m:t>
                                              </m:r>
                                            </m:e>
                                            <m:e>
                                              <m:r>
                                                <a:rPr lang="en-US" altLang="zh-TW" sz="2200" i="1">
                                                  <a:latin typeface="Cambria Math" panose="02040503050406030204" pitchFamily="18" charset="0"/>
                                                </a:rPr>
                                                <m:t>2</m:t>
                                              </m:r>
                                              <m:r>
                                                <a:rPr lang="en-US" altLang="zh-TW" sz="2200" b="0" i="1" smtClean="0">
                                                  <a:latin typeface="Cambria Math" panose="02040503050406030204" pitchFamily="18" charset="0"/>
                                                </a:rPr>
                                                <m:t>2</m:t>
                                              </m:r>
                                            </m:e>
                                          </m:mr>
                                          <m:mr>
                                            <m:e>
                                              <m:r>
                                                <a:rPr lang="en-US" altLang="zh-TW" sz="2200" i="1">
                                                  <a:latin typeface="Cambria Math" panose="02040503050406030204" pitchFamily="18" charset="0"/>
                                                </a:rPr>
                                                <m:t>2</m:t>
                                              </m:r>
                                              <m:r>
                                                <a:rPr lang="en-US" altLang="zh-TW" sz="2200" b="0" i="1" smtClean="0">
                                                  <a:latin typeface="Cambria Math" panose="02040503050406030204" pitchFamily="18" charset="0"/>
                                                </a:rPr>
                                                <m:t>0</m:t>
                                              </m:r>
                                            </m:e>
                                            <m:e>
                                              <m:r>
                                                <a:rPr lang="en-US" altLang="zh-TW" sz="2200" i="1">
                                                  <a:latin typeface="Cambria Math" panose="02040503050406030204" pitchFamily="18" charset="0"/>
                                                </a:rPr>
                                                <m:t>24</m:t>
                                              </m:r>
                                            </m:e>
                                          </m:mr>
                                        </m:m>
                                      </m:e>
                                    </m:mr>
                                  </m:m>
                                </m:e>
                              </m:d>
                              <m:r>
                                <a:rPr lang="en-US" altLang="zh-TW" sz="2200" i="1">
                                  <a:latin typeface="Cambria Math" panose="02040503050406030204" pitchFamily="18" charset="0"/>
                                </a:rPr>
                                <m:t>−</m:t>
                              </m:r>
                              <m:d>
                                <m:dPr>
                                  <m:begChr m:val="["/>
                                  <m:endChr m:val="]"/>
                                  <m:ctrlPr>
                                    <a:rPr lang="en-US" altLang="zh-TW" sz="2200" i="1">
                                      <a:latin typeface="Cambria Math" panose="02040503050406030204" pitchFamily="18" charset="0"/>
                                    </a:rPr>
                                  </m:ctrlPr>
                                </m:dPr>
                                <m:e>
                                  <m:m>
                                    <m:mPr>
                                      <m:mcs>
                                        <m:mc>
                                          <m:mcPr>
                                            <m:count m:val="1"/>
                                            <m:mcJc m:val="center"/>
                                          </m:mcPr>
                                        </m:mc>
                                      </m:mcs>
                                      <m:ctrlPr>
                                        <a:rPr lang="en-US" altLang="zh-TW" sz="2200" i="1" smtClean="0">
                                          <a:latin typeface="Cambria Math" panose="02040503050406030204" pitchFamily="18" charset="0"/>
                                        </a:rPr>
                                      </m:ctrlPr>
                                    </m:mPr>
                                    <m:mr>
                                      <m:e>
                                        <m:m>
                                          <m:mPr>
                                            <m:mcs>
                                              <m:mc>
                                                <m:mcPr>
                                                  <m:count m:val="1"/>
                                                  <m:mcJc m:val="center"/>
                                                </m:mcPr>
                                              </m:mc>
                                            </m:mcs>
                                            <m:ctrlPr>
                                              <a:rPr lang="en-US" altLang="zh-TW" sz="2200" i="1" smtClean="0">
                                                <a:latin typeface="Cambria Math" panose="02040503050406030204" pitchFamily="18" charset="0"/>
                                              </a:rPr>
                                            </m:ctrlPr>
                                          </m:mPr>
                                          <m:mr>
                                            <m:e>
                                              <m:r>
                                                <m:rPr>
                                                  <m:brk m:alnAt="7"/>
                                                </m:rPr>
                                                <a:rPr lang="en-US" altLang="zh-TW" sz="2200" b="0" i="1" smtClean="0">
                                                  <a:latin typeface="Cambria Math" panose="02040503050406030204" pitchFamily="18" charset="0"/>
                                                </a:rPr>
                                                <m:t>1</m:t>
                                              </m:r>
                                            </m:e>
                                          </m:mr>
                                          <m:mr>
                                            <m:e>
                                              <m:r>
                                                <a:rPr lang="en-US" altLang="zh-TW" sz="2200" b="0" i="1" smtClean="0">
                                                  <a:latin typeface="Cambria Math" panose="02040503050406030204" pitchFamily="18" charset="0"/>
                                                </a:rPr>
                                                <m:t>3</m:t>
                                              </m:r>
                                            </m:e>
                                          </m:mr>
                                          <m:mr>
                                            <m:e>
                                              <m:r>
                                                <a:rPr lang="en-US" altLang="zh-TW" sz="2200" b="0" i="1" smtClean="0">
                                                  <a:latin typeface="Cambria Math" panose="02040503050406030204" pitchFamily="18" charset="0"/>
                                                </a:rPr>
                                                <m:t>5</m:t>
                                              </m:r>
                                            </m:e>
                                          </m:mr>
                                        </m:m>
                                      </m:e>
                                    </m:mr>
                                    <m:mr>
                                      <m:e>
                                        <m:m>
                                          <m:mPr>
                                            <m:mcs>
                                              <m:mc>
                                                <m:mcPr>
                                                  <m:count m:val="1"/>
                                                  <m:mcJc m:val="center"/>
                                                </m:mcPr>
                                              </m:mc>
                                            </m:mcs>
                                            <m:ctrlPr>
                                              <a:rPr lang="en-US" altLang="zh-TW" sz="2200" i="1" smtClean="0">
                                                <a:latin typeface="Cambria Math" panose="02040503050406030204" pitchFamily="18" charset="0"/>
                                              </a:rPr>
                                            </m:ctrlPr>
                                          </m:mPr>
                                          <m:mr>
                                            <m:e>
                                              <m:r>
                                                <m:rPr>
                                                  <m:brk m:alnAt="7"/>
                                                </m:rPr>
                                                <a:rPr lang="en-US" altLang="zh-TW" sz="2200" b="0" i="1" smtClean="0">
                                                  <a:latin typeface="Cambria Math" panose="02040503050406030204" pitchFamily="18" charset="0"/>
                                                </a:rPr>
                                                <m:t>2</m:t>
                                              </m:r>
                                            </m:e>
                                          </m:mr>
                                          <m:mr>
                                            <m:e>
                                              <m:r>
                                                <a:rPr lang="en-US" altLang="zh-TW" sz="2200" b="0" i="1" smtClean="0">
                                                  <a:latin typeface="Cambria Math" panose="02040503050406030204" pitchFamily="18" charset="0"/>
                                                </a:rPr>
                                                <m:t>4</m:t>
                                              </m:r>
                                            </m:e>
                                          </m:mr>
                                          <m:mr>
                                            <m:e>
                                              <m:r>
                                                <a:rPr lang="en-US" altLang="zh-TW" sz="2200" b="0" i="1" smtClean="0">
                                                  <a:latin typeface="Cambria Math" panose="02040503050406030204" pitchFamily="18" charset="0"/>
                                                </a:rPr>
                                                <m:t>6</m:t>
                                              </m:r>
                                            </m:e>
                                          </m:mr>
                                        </m:m>
                                      </m:e>
                                    </m:mr>
                                  </m:m>
                                </m:e>
                              </m:d>
                              <m:d>
                                <m:dPr>
                                  <m:begChr m:val="["/>
                                  <m:endChr m:val="]"/>
                                  <m:ctrlPr>
                                    <a:rPr lang="en-US" altLang="zh-TW" sz="2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2200" i="1" smtClean="0">
                                          <a:latin typeface="Cambria Math" panose="02040503050406030204" pitchFamily="18" charset="0"/>
                                          <a:ea typeface="Cambria Math" panose="02040503050406030204" pitchFamily="18" charset="0"/>
                                        </a:rPr>
                                      </m:ctrlPr>
                                    </m:mPr>
                                    <m:mr>
                                      <m:e>
                                        <m:m>
                                          <m:mPr>
                                            <m:mcs>
                                              <m:mc>
                                                <m:mcPr>
                                                  <m:count m:val="2"/>
                                                  <m:mcJc m:val="center"/>
                                                </m:mcPr>
                                              </m:mc>
                                            </m:mcs>
                                            <m:ctrlPr>
                                              <a:rPr lang="en-US" altLang="zh-TW" sz="2200" i="1" smtClean="0">
                                                <a:latin typeface="Cambria Math" panose="02040503050406030204" pitchFamily="18" charset="0"/>
                                                <a:ea typeface="Cambria Math" panose="02040503050406030204" pitchFamily="18" charset="0"/>
                                              </a:rPr>
                                            </m:ctrlPr>
                                          </m:mPr>
                                          <m:mr>
                                            <m:e>
                                              <m:r>
                                                <m:rPr>
                                                  <m:brk m:alnAt="7"/>
                                                </m:rPr>
                                                <a:rPr lang="en-US" altLang="zh-TW" sz="2200" b="0" i="1" smtClean="0">
                                                  <a:latin typeface="Cambria Math" panose="02040503050406030204" pitchFamily="18" charset="0"/>
                                                  <a:ea typeface="Cambria Math" panose="02040503050406030204" pitchFamily="18" charset="0"/>
                                                </a:rPr>
                                                <m:t>1</m:t>
                                              </m:r>
                                            </m:e>
                                            <m:e>
                                              <m:r>
                                                <a:rPr lang="en-US" altLang="zh-TW" sz="2200" b="0" i="1" smtClean="0">
                                                  <a:latin typeface="Cambria Math" panose="02040503050406030204" pitchFamily="18" charset="0"/>
                                                  <a:ea typeface="Cambria Math" panose="02040503050406030204" pitchFamily="18" charset="0"/>
                                                </a:rPr>
                                                <m:t>3</m:t>
                                              </m:r>
                                            </m:e>
                                          </m:mr>
                                        </m:m>
                                      </m:e>
                                      <m:e>
                                        <m:m>
                                          <m:mPr>
                                            <m:mcs>
                                              <m:mc>
                                                <m:mcPr>
                                                  <m:count m:val="2"/>
                                                  <m:mcJc m:val="center"/>
                                                </m:mcPr>
                                              </m:mc>
                                            </m:mcs>
                                            <m:ctrlPr>
                                              <a:rPr lang="en-US" altLang="zh-TW" sz="2200" i="1" smtClean="0">
                                                <a:latin typeface="Cambria Math" panose="02040503050406030204" pitchFamily="18" charset="0"/>
                                                <a:ea typeface="Cambria Math" panose="02040503050406030204" pitchFamily="18" charset="0"/>
                                              </a:rPr>
                                            </m:ctrlPr>
                                          </m:mPr>
                                          <m:mr>
                                            <m:e>
                                              <m:r>
                                                <m:rPr>
                                                  <m:brk m:alnAt="7"/>
                                                </m:rPr>
                                                <a:rPr lang="en-US" altLang="zh-TW" sz="2200" b="0" i="1" smtClean="0">
                                                  <a:latin typeface="Cambria Math" panose="02040503050406030204" pitchFamily="18" charset="0"/>
                                                  <a:ea typeface="Cambria Math" panose="02040503050406030204" pitchFamily="18" charset="0"/>
                                                </a:rPr>
                                                <m:t>2</m:t>
                                              </m:r>
                                            </m:e>
                                            <m:e>
                                              <m:r>
                                                <a:rPr lang="en-US" altLang="zh-TW" sz="2200" b="0" i="1" smtClean="0">
                                                  <a:latin typeface="Cambria Math" panose="02040503050406030204" pitchFamily="18" charset="0"/>
                                                  <a:ea typeface="Cambria Math" panose="02040503050406030204" pitchFamily="18" charset="0"/>
                                                </a:rPr>
                                                <m:t>4</m:t>
                                              </m:r>
                                            </m:e>
                                          </m:mr>
                                        </m:m>
                                      </m:e>
                                    </m:mr>
                                  </m:m>
                                </m:e>
                              </m:d>
                            </m:e>
                          </m:d>
                        </m:e>
                        <m:sub>
                          <m:r>
                            <a:rPr lang="en-US" altLang="zh-TW" sz="2200" b="0" i="1" smtClean="0">
                              <a:latin typeface="Cambria Math" panose="02040503050406030204" pitchFamily="18" charset="0"/>
                            </a:rPr>
                            <m:t>𝐹</m:t>
                          </m:r>
                        </m:sub>
                      </m:sSub>
                    </m:oMath>
                  </m:oMathPara>
                </a14:m>
                <a:endParaRPr lang="zh-TW" altLang="en-US" sz="22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1316800" y="3882327"/>
                <a:ext cx="6629571" cy="1896930"/>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1316800" y="826850"/>
                <a:ext cx="6587060" cy="18900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200" i="1" smtClean="0">
                          <a:latin typeface="Cambria Math" panose="02040503050406030204" pitchFamily="18" charset="0"/>
                        </a:rPr>
                        <m:t>𝜙</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𝐵</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𝐶</m:t>
                          </m:r>
                        </m:e>
                      </m:d>
                      <m:r>
                        <a:rPr lang="en-US" altLang="zh-TW" sz="2200" b="0" i="1" smtClean="0">
                          <a:latin typeface="Cambria Math" panose="02040503050406030204" pitchFamily="18" charset="0"/>
                        </a:rPr>
                        <m:t>= </m:t>
                      </m:r>
                      <m:sSub>
                        <m:sSubPr>
                          <m:ctrlPr>
                            <a:rPr lang="en-US" altLang="zh-TW" sz="2200" b="0" i="1" smtClean="0">
                              <a:latin typeface="Cambria Math" panose="02040503050406030204" pitchFamily="18" charset="0"/>
                            </a:rPr>
                          </m:ctrlPr>
                        </m:sSubPr>
                        <m:e>
                          <m:d>
                            <m:dPr>
                              <m:begChr m:val="‖"/>
                              <m:endChr m:val="‖"/>
                              <m:ctrlPr>
                                <a:rPr lang="en-US" altLang="zh-TW" sz="2200" i="1">
                                  <a:latin typeface="Cambria Math" panose="02040503050406030204" pitchFamily="18" charset="0"/>
                                </a:rPr>
                              </m:ctrlPr>
                            </m:dPr>
                            <m:e>
                              <m:d>
                                <m:dPr>
                                  <m:begChr m:val="["/>
                                  <m:endChr m:val="]"/>
                                  <m:ctrlPr>
                                    <a:rPr lang="en-US" altLang="zh-TW" sz="2200" i="1">
                                      <a:latin typeface="Cambria Math" panose="02040503050406030204" pitchFamily="18" charset="0"/>
                                    </a:rPr>
                                  </m:ctrlPr>
                                </m:dPr>
                                <m:e>
                                  <m:m>
                                    <m:mPr>
                                      <m:mcs>
                                        <m:mc>
                                          <m:mcPr>
                                            <m:count m:val="2"/>
                                            <m:mcJc m:val="center"/>
                                          </m:mcPr>
                                        </m:mc>
                                      </m:mcs>
                                      <m:ctrlPr>
                                        <a:rPr lang="en-US" altLang="zh-TW" sz="2200" i="1">
                                          <a:latin typeface="Cambria Math" panose="02040503050406030204" pitchFamily="18" charset="0"/>
                                        </a:rPr>
                                      </m:ctrlPr>
                                    </m:mPr>
                                    <m:mr>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1</m:t>
                                              </m:r>
                                            </m:e>
                                            <m:e>
                                              <m:r>
                                                <a:rPr lang="en-US" altLang="zh-TW" sz="2200" i="1">
                                                  <a:latin typeface="Cambria Math" panose="02040503050406030204" pitchFamily="18" charset="0"/>
                                                </a:rPr>
                                                <m:t>2</m:t>
                                              </m:r>
                                            </m:e>
                                          </m:mr>
                                          <m:mr>
                                            <m:e>
                                              <m:r>
                                                <a:rPr lang="en-US" altLang="zh-TW" sz="2200" i="1">
                                                  <a:latin typeface="Cambria Math" panose="02040503050406030204" pitchFamily="18" charset="0"/>
                                                </a:rPr>
                                                <m:t>5</m:t>
                                              </m:r>
                                            </m:e>
                                            <m:e>
                                              <m:r>
                                                <a:rPr lang="en-US" altLang="zh-TW" sz="2200" i="1">
                                                  <a:latin typeface="Cambria Math" panose="02040503050406030204" pitchFamily="18" charset="0"/>
                                                </a:rPr>
                                                <m:t>6</m:t>
                                              </m:r>
                                            </m:e>
                                          </m:mr>
                                          <m:mr>
                                            <m:e>
                                              <m:r>
                                                <a:rPr lang="en-US" altLang="zh-TW" sz="2200" i="1">
                                                  <a:latin typeface="Cambria Math" panose="02040503050406030204" pitchFamily="18" charset="0"/>
                                                </a:rPr>
                                                <m:t>9</m:t>
                                              </m:r>
                                            </m:e>
                                            <m:e>
                                              <m:r>
                                                <a:rPr lang="en-US" altLang="zh-TW" sz="2200" i="1">
                                                  <a:latin typeface="Cambria Math" panose="02040503050406030204" pitchFamily="18" charset="0"/>
                                                </a:rPr>
                                                <m:t>10</m:t>
                                              </m:r>
                                            </m:e>
                                          </m:mr>
                                        </m:m>
                                      </m:e>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3</m:t>
                                              </m:r>
                                            </m:e>
                                            <m:e>
                                              <m:r>
                                                <a:rPr lang="en-US" altLang="zh-TW" sz="2200" i="1">
                                                  <a:latin typeface="Cambria Math" panose="02040503050406030204" pitchFamily="18" charset="0"/>
                                                </a:rPr>
                                                <m:t>4</m:t>
                                              </m:r>
                                            </m:e>
                                          </m:mr>
                                          <m:mr>
                                            <m:e>
                                              <m:r>
                                                <a:rPr lang="en-US" altLang="zh-TW" sz="2200" i="1">
                                                  <a:latin typeface="Cambria Math" panose="02040503050406030204" pitchFamily="18" charset="0"/>
                                                </a:rPr>
                                                <m:t>7</m:t>
                                              </m:r>
                                            </m:e>
                                            <m:e>
                                              <m:r>
                                                <a:rPr lang="en-US" altLang="zh-TW" sz="2200" i="1">
                                                  <a:latin typeface="Cambria Math" panose="02040503050406030204" pitchFamily="18" charset="0"/>
                                                </a:rPr>
                                                <m:t>8</m:t>
                                              </m:r>
                                            </m:e>
                                          </m:mr>
                                          <m:mr>
                                            <m:e>
                                              <m:r>
                                                <a:rPr lang="en-US" altLang="zh-TW" sz="2200" i="1">
                                                  <a:latin typeface="Cambria Math" panose="02040503050406030204" pitchFamily="18" charset="0"/>
                                                </a:rPr>
                                                <m:t>11</m:t>
                                              </m:r>
                                            </m:e>
                                            <m:e>
                                              <m:r>
                                                <a:rPr lang="en-US" altLang="zh-TW" sz="2200" i="1">
                                                  <a:latin typeface="Cambria Math" panose="02040503050406030204" pitchFamily="18" charset="0"/>
                                                </a:rPr>
                                                <m:t>12</m:t>
                                              </m:r>
                                            </m:e>
                                          </m:mr>
                                        </m:m>
                                      </m:e>
                                    </m:mr>
                                    <m:mr>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1</m:t>
                                              </m:r>
                                              <m:r>
                                                <a:rPr lang="en-US" altLang="zh-TW" sz="2200" i="1">
                                                  <a:latin typeface="Cambria Math" panose="02040503050406030204" pitchFamily="18" charset="0"/>
                                                </a:rPr>
                                                <m:t>3</m:t>
                                              </m:r>
                                            </m:e>
                                            <m:e>
                                              <m:r>
                                                <a:rPr lang="en-US" altLang="zh-TW" sz="2200" i="1">
                                                  <a:latin typeface="Cambria Math" panose="02040503050406030204" pitchFamily="18" charset="0"/>
                                                </a:rPr>
                                                <m:t>14</m:t>
                                              </m:r>
                                            </m:e>
                                          </m:mr>
                                          <m:mr>
                                            <m:e>
                                              <m:r>
                                                <a:rPr lang="en-US" altLang="zh-TW" sz="2200" i="1">
                                                  <a:latin typeface="Cambria Math" panose="02040503050406030204" pitchFamily="18" charset="0"/>
                                                </a:rPr>
                                                <m:t>17</m:t>
                                              </m:r>
                                            </m:e>
                                            <m:e>
                                              <m:r>
                                                <a:rPr lang="en-US" altLang="zh-TW" sz="2200" i="1">
                                                  <a:latin typeface="Cambria Math" panose="02040503050406030204" pitchFamily="18" charset="0"/>
                                                </a:rPr>
                                                <m:t>18</m:t>
                                              </m:r>
                                            </m:e>
                                          </m:mr>
                                          <m:mr>
                                            <m:e>
                                              <m:r>
                                                <a:rPr lang="en-US" altLang="zh-TW" sz="2200" i="1">
                                                  <a:latin typeface="Cambria Math" panose="02040503050406030204" pitchFamily="18" charset="0"/>
                                                </a:rPr>
                                                <m:t>21</m:t>
                                              </m:r>
                                            </m:e>
                                            <m:e>
                                              <m:r>
                                                <a:rPr lang="en-US" altLang="zh-TW" sz="2200" i="1">
                                                  <a:latin typeface="Cambria Math" panose="02040503050406030204" pitchFamily="18" charset="0"/>
                                                </a:rPr>
                                                <m:t>22</m:t>
                                              </m:r>
                                            </m:e>
                                          </m:mr>
                                        </m:m>
                                      </m:e>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1</m:t>
                                              </m:r>
                                              <m:r>
                                                <a:rPr lang="en-US" altLang="zh-TW" sz="2200" i="1">
                                                  <a:latin typeface="Cambria Math" panose="02040503050406030204" pitchFamily="18" charset="0"/>
                                                </a:rPr>
                                                <m:t>5</m:t>
                                              </m:r>
                                            </m:e>
                                            <m:e>
                                              <m:r>
                                                <a:rPr lang="en-US" altLang="zh-TW" sz="2200" i="1">
                                                  <a:latin typeface="Cambria Math" panose="02040503050406030204" pitchFamily="18" charset="0"/>
                                                </a:rPr>
                                                <m:t>16</m:t>
                                              </m:r>
                                            </m:e>
                                          </m:mr>
                                          <m:mr>
                                            <m:e>
                                              <m:r>
                                                <a:rPr lang="en-US" altLang="zh-TW" sz="2200" i="1">
                                                  <a:latin typeface="Cambria Math" panose="02040503050406030204" pitchFamily="18" charset="0"/>
                                                </a:rPr>
                                                <m:t>19</m:t>
                                              </m:r>
                                            </m:e>
                                            <m:e>
                                              <m:r>
                                                <a:rPr lang="en-US" altLang="zh-TW" sz="2200" i="1">
                                                  <a:latin typeface="Cambria Math" panose="02040503050406030204" pitchFamily="18" charset="0"/>
                                                </a:rPr>
                                                <m:t>20</m:t>
                                              </m:r>
                                            </m:e>
                                          </m:mr>
                                          <m:mr>
                                            <m:e>
                                              <m:r>
                                                <a:rPr lang="en-US" altLang="zh-TW" sz="2200" i="1">
                                                  <a:latin typeface="Cambria Math" panose="02040503050406030204" pitchFamily="18" charset="0"/>
                                                </a:rPr>
                                                <m:t>23</m:t>
                                              </m:r>
                                            </m:e>
                                            <m:e>
                                              <m:r>
                                                <a:rPr lang="en-US" altLang="zh-TW" sz="2200" i="1">
                                                  <a:latin typeface="Cambria Math" panose="02040503050406030204" pitchFamily="18" charset="0"/>
                                                </a:rPr>
                                                <m:t>24</m:t>
                                              </m:r>
                                            </m:e>
                                          </m:mr>
                                        </m:m>
                                      </m:e>
                                    </m:mr>
                                  </m:m>
                                </m:e>
                              </m:d>
                              <m:r>
                                <a:rPr lang="en-US" altLang="zh-TW" sz="2200" i="1">
                                  <a:latin typeface="Cambria Math" panose="02040503050406030204" pitchFamily="18" charset="0"/>
                                </a:rPr>
                                <m:t>−</m:t>
                              </m:r>
                              <m:d>
                                <m:dPr>
                                  <m:begChr m:val="["/>
                                  <m:endChr m:val="]"/>
                                  <m:ctrlPr>
                                    <a:rPr lang="en-US" altLang="zh-TW" sz="2200" i="1">
                                      <a:latin typeface="Cambria Math" panose="02040503050406030204" pitchFamily="18" charset="0"/>
                                    </a:rPr>
                                  </m:ctrlPr>
                                </m:dPr>
                                <m:e>
                                  <m:m>
                                    <m:mPr>
                                      <m:mcs>
                                        <m:mc>
                                          <m:mcPr>
                                            <m:count m:val="2"/>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1</m:t>
                                        </m:r>
                                      </m:e>
                                      <m:e>
                                        <m:r>
                                          <a:rPr lang="en-US" altLang="zh-TW" sz="2200" i="1">
                                            <a:latin typeface="Cambria Math" panose="02040503050406030204" pitchFamily="18" charset="0"/>
                                          </a:rPr>
                                          <m:t>2</m:t>
                                        </m:r>
                                      </m:e>
                                    </m:mr>
                                    <m:mr>
                                      <m:e>
                                        <m:m>
                                          <m:mPr>
                                            <m:mcs>
                                              <m:mc>
                                                <m:mcPr>
                                                  <m:count m:val="1"/>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3</m:t>
                                              </m:r>
                                            </m:e>
                                          </m:mr>
                                          <m:mr>
                                            <m:e>
                                              <m:r>
                                                <a:rPr lang="en-US" altLang="zh-TW" sz="2200" i="1">
                                                  <a:latin typeface="Cambria Math" panose="02040503050406030204" pitchFamily="18" charset="0"/>
                                                </a:rPr>
                                                <m:t>5</m:t>
                                              </m:r>
                                            </m:e>
                                          </m:mr>
                                        </m:m>
                                      </m:e>
                                      <m:e>
                                        <m:m>
                                          <m:mPr>
                                            <m:mcs>
                                              <m:mc>
                                                <m:mcPr>
                                                  <m:count m:val="1"/>
                                                  <m:mcJc m:val="center"/>
                                                </m:mcPr>
                                              </m:mc>
                                            </m:mcs>
                                            <m:ctrlPr>
                                              <a:rPr lang="en-US" altLang="zh-TW" sz="2200" i="1">
                                                <a:latin typeface="Cambria Math" panose="02040503050406030204" pitchFamily="18" charset="0"/>
                                              </a:rPr>
                                            </m:ctrlPr>
                                          </m:mPr>
                                          <m:mr>
                                            <m:e>
                                              <m:r>
                                                <m:rPr>
                                                  <m:brk m:alnAt="7"/>
                                                </m:rPr>
                                                <a:rPr lang="en-US" altLang="zh-TW" sz="2200" i="1">
                                                  <a:latin typeface="Cambria Math" panose="02040503050406030204" pitchFamily="18" charset="0"/>
                                                </a:rPr>
                                                <m:t>4</m:t>
                                              </m:r>
                                            </m:e>
                                          </m:mr>
                                          <m:mr>
                                            <m:e>
                                              <m:r>
                                                <a:rPr lang="en-US" altLang="zh-TW" sz="2200" i="1">
                                                  <a:latin typeface="Cambria Math" panose="02040503050406030204" pitchFamily="18" charset="0"/>
                                                </a:rPr>
                                                <m:t>6</m:t>
                                              </m:r>
                                            </m:e>
                                          </m:mr>
                                        </m:m>
                                      </m:e>
                                    </m:mr>
                                  </m:m>
                                </m:e>
                              </m:d>
                              <m:r>
                                <a:rPr lang="en-US" altLang="zh-TW" sz="2200" i="1">
                                  <a:latin typeface="Cambria Math" panose="02040503050406030204" pitchFamily="18" charset="0"/>
                                  <a:ea typeface="Cambria Math" panose="02040503050406030204" pitchFamily="18" charset="0"/>
                                </a:rPr>
                                <m:t>⊗</m:t>
                              </m:r>
                              <m:d>
                                <m:dPr>
                                  <m:begChr m:val="["/>
                                  <m:endChr m:val="]"/>
                                  <m:ctrlPr>
                                    <a:rPr lang="en-US" altLang="zh-TW" sz="2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2200" i="1">
                                          <a:latin typeface="Cambria Math" panose="02040503050406030204" pitchFamily="18" charset="0"/>
                                          <a:ea typeface="Cambria Math" panose="02040503050406030204" pitchFamily="18" charset="0"/>
                                        </a:rPr>
                                      </m:ctrlPr>
                                    </m:mPr>
                                    <m:mr>
                                      <m:e>
                                        <m:r>
                                          <m:rPr>
                                            <m:brk m:alnAt="7"/>
                                          </m:rPr>
                                          <a:rPr lang="en-US" altLang="zh-TW" sz="2200" i="1">
                                            <a:latin typeface="Cambria Math" panose="02040503050406030204" pitchFamily="18" charset="0"/>
                                            <a:ea typeface="Cambria Math" panose="02040503050406030204" pitchFamily="18" charset="0"/>
                                          </a:rPr>
                                          <m:t>1</m:t>
                                        </m:r>
                                      </m:e>
                                      <m:e>
                                        <m:r>
                                          <a:rPr lang="en-US" altLang="zh-TW" sz="2200" i="1">
                                            <a:latin typeface="Cambria Math" panose="02040503050406030204" pitchFamily="18" charset="0"/>
                                            <a:ea typeface="Cambria Math" panose="02040503050406030204" pitchFamily="18" charset="0"/>
                                          </a:rPr>
                                          <m:t>2</m:t>
                                        </m:r>
                                      </m:e>
                                    </m:mr>
                                    <m:mr>
                                      <m:e>
                                        <m:r>
                                          <a:rPr lang="en-US" altLang="zh-TW" sz="2200" i="1">
                                            <a:latin typeface="Cambria Math" panose="02040503050406030204" pitchFamily="18" charset="0"/>
                                            <a:ea typeface="Cambria Math" panose="02040503050406030204" pitchFamily="18" charset="0"/>
                                          </a:rPr>
                                          <m:t>3</m:t>
                                        </m:r>
                                      </m:e>
                                      <m:e>
                                        <m:r>
                                          <a:rPr lang="en-US" altLang="zh-TW" sz="2200" i="1">
                                            <a:latin typeface="Cambria Math" panose="02040503050406030204" pitchFamily="18" charset="0"/>
                                            <a:ea typeface="Cambria Math" panose="02040503050406030204" pitchFamily="18" charset="0"/>
                                          </a:rPr>
                                          <m:t>4</m:t>
                                        </m:r>
                                      </m:e>
                                    </m:mr>
                                  </m:m>
                                </m:e>
                              </m:d>
                            </m:e>
                          </m:d>
                        </m:e>
                        <m:sub>
                          <m:r>
                            <a:rPr lang="en-US" altLang="zh-TW" sz="2200" b="0" i="1" smtClean="0">
                              <a:latin typeface="Cambria Math" panose="02040503050406030204" pitchFamily="18" charset="0"/>
                            </a:rPr>
                            <m:t>𝐹</m:t>
                          </m:r>
                        </m:sub>
                      </m:sSub>
                    </m:oMath>
                  </m:oMathPara>
                </a14:m>
                <a:endParaRPr lang="zh-TW" altLang="en-US" sz="2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316800" y="826850"/>
                <a:ext cx="6587060" cy="1890069"/>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788942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The nearest </a:t>
            </a:r>
            <a:r>
              <a:rPr lang="en-US" altLang="zh-TW" dirty="0" err="1"/>
              <a:t>Kronecker</a:t>
            </a:r>
            <a:r>
              <a:rPr lang="en-US" altLang="zh-TW" dirty="0"/>
              <a:t> product problem</a:t>
            </a:r>
            <a:endParaRPr lang="zh-TW" altLang="en-US" dirty="0"/>
          </a:p>
        </p:txBody>
      </p:sp>
      <mc:AlternateContent xmlns:mc="http://schemas.openxmlformats.org/markup-compatibility/2006">
        <mc:Choice xmlns:a14="http://schemas.microsoft.com/office/drawing/2010/main" Requires="a14">
          <p:sp>
            <p:nvSpPr>
              <p:cNvPr id="4" name="文字方塊 3"/>
              <p:cNvSpPr txBox="1"/>
              <p:nvPr/>
            </p:nvSpPr>
            <p:spPr>
              <a:xfrm>
                <a:off x="92841" y="2131848"/>
                <a:ext cx="9482799" cy="3807774"/>
              </a:xfrm>
              <a:prstGeom prst="rect">
                <a:avLst/>
              </a:prstGeom>
              <a:noFill/>
            </p:spPr>
            <p:txBody>
              <a:bodyPr wrap="square" rtlCol="0">
                <a:spAutoFit/>
              </a:bodyPr>
              <a:lstStyle/>
              <a:p>
                <a:r>
                  <a:rPr lang="en-US" altLang="zh-TW" sz="2600" dirty="0" smtClean="0"/>
                  <a:t>The act of minimizing</a:t>
                </a:r>
                <a14:m>
                  <m:oMath xmlns:m="http://schemas.openxmlformats.org/officeDocument/2006/math">
                    <m:r>
                      <a:rPr lang="en-US" altLang="zh-TW" sz="2600" b="0" i="0" smtClean="0"/>
                      <m:t> </m:t>
                    </m:r>
                    <m:r>
                      <a:rPr lang="zh-TW" altLang="en-US" sz="2600" i="1">
                        <a:latin typeface="Cambria Math" panose="02040503050406030204" pitchFamily="18" charset="0"/>
                      </a:rPr>
                      <m:t>𝜙</m:t>
                    </m:r>
                    <m:r>
                      <a:rPr lang="en-US" altLang="zh-TW" sz="2600" b="0" i="1" smtClean="0">
                        <a:latin typeface="Cambria Math" panose="02040503050406030204" pitchFamily="18" charset="0"/>
                      </a:rPr>
                      <m:t> </m:t>
                    </m:r>
                    <m:r>
                      <m:rPr>
                        <m:sty m:val="p"/>
                      </m:rPr>
                      <a:rPr lang="en-US" altLang="zh-TW" sz="2600" b="0" i="0" smtClean="0"/>
                      <m:t>is</m:t>
                    </m:r>
                    <m:r>
                      <a:rPr lang="en-US" altLang="zh-TW" sz="2600" b="0" i="0" smtClean="0"/>
                      <m:t> </m:t>
                    </m:r>
                    <m:r>
                      <m:rPr>
                        <m:sty m:val="p"/>
                      </m:rPr>
                      <a:rPr lang="en-US" altLang="zh-TW" sz="2600" b="0" i="0" smtClean="0"/>
                      <m:t>wquivalent</m:t>
                    </m:r>
                    <m:r>
                      <a:rPr lang="en-US" altLang="zh-TW" sz="2600" b="0" i="0" smtClean="0"/>
                      <m:t> </m:t>
                    </m:r>
                    <m:r>
                      <m:rPr>
                        <m:sty m:val="p"/>
                      </m:rPr>
                      <a:rPr lang="en-US" altLang="zh-TW" sz="2600" b="0" i="0" smtClean="0"/>
                      <m:t>to</m:t>
                    </m:r>
                    <m:r>
                      <a:rPr lang="en-US" altLang="zh-TW" sz="2600" b="0" i="0" smtClean="0"/>
                      <m:t> </m:t>
                    </m:r>
                    <m:r>
                      <m:rPr>
                        <m:sty m:val="p"/>
                      </m:rPr>
                      <a:rPr lang="en-US" altLang="zh-TW" sz="2600" b="0" i="0" smtClean="0"/>
                      <m:t>finding</m:t>
                    </m:r>
                    <m:r>
                      <a:rPr lang="en-US" altLang="zh-TW" sz="2600" b="0" i="0" smtClean="0"/>
                      <m:t> </m:t>
                    </m:r>
                    <m:r>
                      <m:rPr>
                        <m:sty m:val="p"/>
                      </m:rPr>
                      <a:rPr lang="en-US" altLang="zh-TW" sz="2600" b="0" i="0" smtClean="0"/>
                      <m:t>a</m:t>
                    </m:r>
                    <m:r>
                      <a:rPr lang="en-US" altLang="zh-TW" sz="2600" b="0" i="0" smtClean="0"/>
                      <m:t> </m:t>
                    </m:r>
                    <m:r>
                      <m:rPr>
                        <m:sty m:val="p"/>
                      </m:rPr>
                      <a:rPr lang="en-US" altLang="zh-TW" sz="2600" b="0" i="0" smtClean="0"/>
                      <m:t>nearest</m:t>
                    </m:r>
                    <m:r>
                      <a:rPr lang="en-US" altLang="zh-TW" sz="2600" b="0" i="0" smtClean="0"/>
                      <m:t> </m:t>
                    </m:r>
                    <m:r>
                      <m:rPr>
                        <m:sty m:val="p"/>
                      </m:rPr>
                      <a:rPr lang="en-US" altLang="zh-TW" sz="2600" b="0" i="0" smtClean="0"/>
                      <m:t>rank</m:t>
                    </m:r>
                  </m:oMath>
                </a14:m>
                <a:r>
                  <a:rPr lang="en-US" altLang="zh-TW" sz="2600" dirty="0" smtClean="0"/>
                  <a:t>-1 matrix to </a:t>
                </a:r>
                <a14:m>
                  <m:oMath xmlns:m="http://schemas.openxmlformats.org/officeDocument/2006/math">
                    <m:r>
                      <a:rPr lang="en-US" altLang="zh-TW" sz="2600" i="1">
                        <a:latin typeface="Cambria Math" panose="02040503050406030204" pitchFamily="18" charset="0"/>
                        <a:ea typeface="Cambria Math" panose="02040503050406030204" pitchFamily="18" charset="0"/>
                      </a:rPr>
                      <m:t>ℛ</m:t>
                    </m:r>
                    <m:d>
                      <m:dPr>
                        <m:ctrlPr>
                          <a:rPr lang="en-US" altLang="zh-TW" sz="2600" i="1">
                            <a:latin typeface="Cambria Math" panose="02040503050406030204" pitchFamily="18" charset="0"/>
                            <a:ea typeface="Cambria Math" panose="02040503050406030204" pitchFamily="18" charset="0"/>
                          </a:rPr>
                        </m:ctrlPr>
                      </m:dPr>
                      <m:e>
                        <m:r>
                          <a:rPr lang="en-US" altLang="zh-TW" sz="2600" i="1">
                            <a:latin typeface="Cambria Math" panose="02040503050406030204" pitchFamily="18" charset="0"/>
                            <a:ea typeface="Cambria Math" panose="02040503050406030204" pitchFamily="18" charset="0"/>
                          </a:rPr>
                          <m:t>𝐴</m:t>
                        </m:r>
                      </m:e>
                    </m:d>
                  </m:oMath>
                </a14:m>
                <a:r>
                  <a:rPr lang="en-US" altLang="zh-TW" sz="2600" dirty="0" smtClean="0"/>
                  <a:t>. The nearest rank-1 matrix problem has a SVD solution.</a:t>
                </a:r>
              </a:p>
              <a:p>
                <a:endParaRPr lang="en-US" altLang="zh-TW" sz="2600" dirty="0" smtClean="0"/>
              </a:p>
              <a:p>
                <a14:m>
                  <m:oMath xmlns:m="http://schemas.openxmlformats.org/officeDocument/2006/math">
                    <m:sSup>
                      <m:sSupPr>
                        <m:ctrlPr>
                          <a:rPr lang="en-US" altLang="zh-TW" sz="2600" i="1" smtClean="0">
                            <a:latin typeface="Cambria Math" panose="02040503050406030204" pitchFamily="18" charset="0"/>
                          </a:rPr>
                        </m:ctrlPr>
                      </m:sSupPr>
                      <m:e>
                        <m:r>
                          <a:rPr lang="en-US" altLang="zh-TW" sz="2600" b="0" i="1" smtClean="0">
                            <a:latin typeface="Cambria Math" panose="02040503050406030204" pitchFamily="18" charset="0"/>
                          </a:rPr>
                          <m:t>𝑈</m:t>
                        </m:r>
                      </m:e>
                      <m:sup>
                        <m:r>
                          <a:rPr lang="en-US" altLang="zh-TW" sz="2600" b="0" i="1" smtClean="0">
                            <a:latin typeface="Cambria Math" panose="02040503050406030204" pitchFamily="18" charset="0"/>
                          </a:rPr>
                          <m:t>𝑇</m:t>
                        </m:r>
                      </m:sup>
                    </m:sSup>
                    <m:r>
                      <a:rPr lang="en-US" altLang="zh-TW" sz="2600" i="1" smtClean="0">
                        <a:latin typeface="Cambria Math" panose="02040503050406030204" pitchFamily="18" charset="0"/>
                        <a:ea typeface="Cambria Math" panose="02040503050406030204" pitchFamily="18" charset="0"/>
                      </a:rPr>
                      <m:t>ℛ</m:t>
                    </m:r>
                    <m:d>
                      <m:dPr>
                        <m:ctrlPr>
                          <a:rPr lang="en-US" altLang="zh-TW" sz="2600" b="0" i="1" smtClean="0">
                            <a:latin typeface="Cambria Math" panose="02040503050406030204" pitchFamily="18" charset="0"/>
                            <a:ea typeface="Cambria Math" panose="02040503050406030204" pitchFamily="18" charset="0"/>
                          </a:rPr>
                        </m:ctrlPr>
                      </m:dPr>
                      <m:e>
                        <m:r>
                          <a:rPr lang="en-US" altLang="zh-TW" sz="2600" b="0" i="1" smtClean="0">
                            <a:latin typeface="Cambria Math" panose="02040503050406030204" pitchFamily="18" charset="0"/>
                            <a:ea typeface="Cambria Math" panose="02040503050406030204" pitchFamily="18" charset="0"/>
                          </a:rPr>
                          <m:t>𝐴</m:t>
                        </m:r>
                      </m:e>
                    </m:d>
                    <m:r>
                      <a:rPr lang="en-US" altLang="zh-TW" sz="2600" b="0" i="1" smtClean="0">
                        <a:latin typeface="Cambria Math" panose="02040503050406030204" pitchFamily="18" charset="0"/>
                        <a:ea typeface="Cambria Math" panose="02040503050406030204" pitchFamily="18" charset="0"/>
                      </a:rPr>
                      <m:t>𝑉</m:t>
                    </m:r>
                    <m:r>
                      <a:rPr lang="en-US" altLang="zh-TW" sz="2600" b="0" i="1" smtClean="0">
                        <a:latin typeface="Cambria Math" panose="02040503050406030204" pitchFamily="18" charset="0"/>
                        <a:ea typeface="Cambria Math" panose="02040503050406030204" pitchFamily="18" charset="0"/>
                      </a:rPr>
                      <m:t>= ∑</m:t>
                    </m:r>
                  </m:oMath>
                </a14:m>
                <a:r>
                  <a:rPr lang="en-US" altLang="zh-TW" sz="2600" dirty="0" smtClean="0"/>
                  <a:t> </a:t>
                </a:r>
              </a:p>
              <a:p>
                <a:r>
                  <a:rPr lang="en-US" altLang="zh-TW" sz="2600" dirty="0" smtClean="0"/>
                  <a:t>Set </a:t>
                </a:r>
                <a14:m>
                  <m:oMath xmlns:m="http://schemas.openxmlformats.org/officeDocument/2006/math">
                    <m:r>
                      <a:rPr lang="en-US" altLang="zh-TW" sz="2600" b="0" i="1" smtClean="0">
                        <a:latin typeface="Cambria Math" panose="02040503050406030204" pitchFamily="18" charset="0"/>
                      </a:rPr>
                      <m:t>𝑣𝑒𝑐</m:t>
                    </m:r>
                    <m:d>
                      <m:dPr>
                        <m:ctrlPr>
                          <a:rPr lang="en-US" altLang="zh-TW" sz="2600" b="0" i="1" smtClean="0">
                            <a:latin typeface="Cambria Math" panose="02040503050406030204" pitchFamily="18" charset="0"/>
                          </a:rPr>
                        </m:ctrlPr>
                      </m:dPr>
                      <m:e>
                        <m:sSub>
                          <m:sSubPr>
                            <m:ctrlPr>
                              <a:rPr lang="en-US" altLang="zh-TW" sz="2600" b="0" i="1" smtClean="0">
                                <a:latin typeface="Cambria Math" panose="02040503050406030204" pitchFamily="18" charset="0"/>
                              </a:rPr>
                            </m:ctrlPr>
                          </m:sSubPr>
                          <m:e>
                            <m:r>
                              <a:rPr lang="en-US" altLang="zh-TW" sz="2600" b="0" i="1" smtClean="0">
                                <a:latin typeface="Cambria Math" panose="02040503050406030204" pitchFamily="18" charset="0"/>
                              </a:rPr>
                              <m:t>𝐵</m:t>
                            </m:r>
                          </m:e>
                          <m:sub>
                            <m:r>
                              <a:rPr lang="en-US" altLang="zh-TW" sz="2600" b="0" i="1" smtClean="0">
                                <a:latin typeface="Cambria Math" panose="02040503050406030204" pitchFamily="18" charset="0"/>
                              </a:rPr>
                              <m:t>𝑜𝑝𝑡</m:t>
                            </m:r>
                          </m:sub>
                        </m:sSub>
                      </m:e>
                    </m:d>
                    <m:r>
                      <a:rPr lang="en-US" altLang="zh-TW" sz="2600" b="0" i="1" smtClean="0">
                        <a:latin typeface="Cambria Math" panose="02040503050406030204" pitchFamily="18" charset="0"/>
                      </a:rPr>
                      <m:t>=</m:t>
                    </m:r>
                    <m:rad>
                      <m:radPr>
                        <m:degHide m:val="on"/>
                        <m:ctrlPr>
                          <a:rPr lang="en-US" altLang="zh-TW" sz="2600" b="0" i="1" smtClean="0">
                            <a:latin typeface="Cambria Math" panose="02040503050406030204" pitchFamily="18" charset="0"/>
                          </a:rPr>
                        </m:ctrlPr>
                      </m:radPr>
                      <m:deg/>
                      <m:e>
                        <m:sSub>
                          <m:sSubPr>
                            <m:ctrlPr>
                              <a:rPr lang="en-US" altLang="zh-TW" sz="2600" b="0" i="1" smtClean="0">
                                <a:latin typeface="Cambria Math" panose="02040503050406030204" pitchFamily="18" charset="0"/>
                              </a:rPr>
                            </m:ctrlPr>
                          </m:sSubPr>
                          <m:e>
                            <m:r>
                              <a:rPr lang="zh-TW" altLang="en-US" sz="2600" b="0" i="1" smtClean="0">
                                <a:latin typeface="Cambria Math" panose="02040503050406030204" pitchFamily="18" charset="0"/>
                              </a:rPr>
                              <m:t>𝜎</m:t>
                            </m:r>
                          </m:e>
                          <m:sub>
                            <m:r>
                              <a:rPr lang="en-US" altLang="zh-TW" sz="2600" b="0" i="1" smtClean="0">
                                <a:latin typeface="Cambria Math" panose="02040503050406030204" pitchFamily="18" charset="0"/>
                              </a:rPr>
                              <m:t>1</m:t>
                            </m:r>
                          </m:sub>
                        </m:sSub>
                      </m:e>
                    </m:rad>
                    <m:r>
                      <a:rPr lang="en-US" altLang="zh-TW" sz="2600" b="0" i="1" smtClean="0">
                        <a:latin typeface="Cambria Math" panose="02040503050406030204" pitchFamily="18" charset="0"/>
                      </a:rPr>
                      <m:t>𝑈</m:t>
                    </m:r>
                    <m:d>
                      <m:dPr>
                        <m:ctrlPr>
                          <a:rPr lang="en-US" altLang="zh-TW" sz="2600" b="0" i="1" smtClean="0">
                            <a:latin typeface="Cambria Math" panose="02040503050406030204" pitchFamily="18" charset="0"/>
                          </a:rPr>
                        </m:ctrlPr>
                      </m:dPr>
                      <m:e>
                        <m:r>
                          <a:rPr lang="en-US" altLang="zh-TW" sz="2600" b="0" i="1" smtClean="0">
                            <a:latin typeface="Cambria Math" panose="02040503050406030204" pitchFamily="18" charset="0"/>
                          </a:rPr>
                          <m:t>:,1</m:t>
                        </m:r>
                      </m:e>
                    </m:d>
                    <m:r>
                      <a:rPr lang="en-US" altLang="zh-TW" sz="2600" b="0" i="1" smtClean="0">
                        <a:latin typeface="Cambria Math" panose="02040503050406030204" pitchFamily="18" charset="0"/>
                      </a:rPr>
                      <m:t>        </m:t>
                    </m:r>
                    <m:r>
                      <a:rPr lang="en-US" altLang="zh-TW" sz="2600" i="1">
                        <a:latin typeface="Cambria Math" panose="02040503050406030204" pitchFamily="18" charset="0"/>
                      </a:rPr>
                      <m:t>𝑣𝑒𝑐</m:t>
                    </m:r>
                    <m:d>
                      <m:dPr>
                        <m:ctrlPr>
                          <a:rPr lang="en-US" altLang="zh-TW" sz="2600" i="1">
                            <a:latin typeface="Cambria Math" panose="02040503050406030204" pitchFamily="18" charset="0"/>
                          </a:rPr>
                        </m:ctrlPr>
                      </m:dPr>
                      <m:e>
                        <m:sSub>
                          <m:sSubPr>
                            <m:ctrlPr>
                              <a:rPr lang="en-US" altLang="zh-TW" sz="2600" i="1">
                                <a:latin typeface="Cambria Math" panose="02040503050406030204" pitchFamily="18" charset="0"/>
                              </a:rPr>
                            </m:ctrlPr>
                          </m:sSubPr>
                          <m:e>
                            <m:r>
                              <a:rPr lang="en-US" altLang="zh-TW" sz="2600" b="0" i="1" smtClean="0">
                                <a:latin typeface="Cambria Math" panose="02040503050406030204" pitchFamily="18" charset="0"/>
                              </a:rPr>
                              <m:t>𝐶</m:t>
                            </m:r>
                          </m:e>
                          <m:sub>
                            <m:r>
                              <a:rPr lang="en-US" altLang="zh-TW" sz="2600" i="1">
                                <a:latin typeface="Cambria Math" panose="02040503050406030204" pitchFamily="18" charset="0"/>
                              </a:rPr>
                              <m:t>𝑜𝑝𝑡</m:t>
                            </m:r>
                          </m:sub>
                        </m:sSub>
                      </m:e>
                    </m:d>
                    <m:r>
                      <a:rPr lang="en-US" altLang="zh-TW" sz="2600" i="1">
                        <a:latin typeface="Cambria Math" panose="02040503050406030204" pitchFamily="18" charset="0"/>
                      </a:rPr>
                      <m:t>=</m:t>
                    </m:r>
                    <m:rad>
                      <m:radPr>
                        <m:degHide m:val="on"/>
                        <m:ctrlPr>
                          <a:rPr lang="en-US" altLang="zh-TW" sz="2600" i="1">
                            <a:latin typeface="Cambria Math" panose="02040503050406030204" pitchFamily="18" charset="0"/>
                          </a:rPr>
                        </m:ctrlPr>
                      </m:radPr>
                      <m:deg/>
                      <m:e>
                        <m:sSub>
                          <m:sSubPr>
                            <m:ctrlPr>
                              <a:rPr lang="en-US" altLang="zh-TW" sz="2600" i="1">
                                <a:latin typeface="Cambria Math" panose="02040503050406030204" pitchFamily="18" charset="0"/>
                              </a:rPr>
                            </m:ctrlPr>
                          </m:sSubPr>
                          <m:e>
                            <m:r>
                              <a:rPr lang="zh-TW" altLang="en-US" sz="2600" i="1">
                                <a:latin typeface="Cambria Math" panose="02040503050406030204" pitchFamily="18" charset="0"/>
                              </a:rPr>
                              <m:t>𝜎</m:t>
                            </m:r>
                          </m:e>
                          <m:sub>
                            <m:r>
                              <a:rPr lang="en-US" altLang="zh-TW" sz="2600" i="1">
                                <a:latin typeface="Cambria Math" panose="02040503050406030204" pitchFamily="18" charset="0"/>
                              </a:rPr>
                              <m:t>1</m:t>
                            </m:r>
                          </m:sub>
                        </m:sSub>
                      </m:e>
                    </m:rad>
                    <m:r>
                      <a:rPr lang="en-US" altLang="zh-TW" sz="2600" b="0" i="1" smtClean="0">
                        <a:latin typeface="Cambria Math" panose="02040503050406030204" pitchFamily="18" charset="0"/>
                      </a:rPr>
                      <m:t>𝑉</m:t>
                    </m:r>
                    <m:d>
                      <m:dPr>
                        <m:ctrlPr>
                          <a:rPr lang="en-US" altLang="zh-TW" sz="2600" i="1">
                            <a:latin typeface="Cambria Math" panose="02040503050406030204" pitchFamily="18" charset="0"/>
                          </a:rPr>
                        </m:ctrlPr>
                      </m:dPr>
                      <m:e>
                        <m:r>
                          <a:rPr lang="en-US" altLang="zh-TW" sz="2600" i="1">
                            <a:latin typeface="Cambria Math" panose="02040503050406030204" pitchFamily="18" charset="0"/>
                          </a:rPr>
                          <m:t>:,1</m:t>
                        </m:r>
                      </m:e>
                    </m:d>
                  </m:oMath>
                </a14:m>
                <a:endParaRPr lang="en-US" altLang="zh-TW" sz="2600" dirty="0"/>
              </a:p>
              <a:p>
                <a14:m>
                  <m:oMath xmlns:m="http://schemas.openxmlformats.org/officeDocument/2006/math">
                    <m:acc>
                      <m:accPr>
                        <m:chr m:val="̂"/>
                        <m:ctrlPr>
                          <a:rPr lang="en-US" altLang="zh-TW" sz="2600" i="1" smtClean="0">
                            <a:latin typeface="Cambria Math" panose="02040503050406030204" pitchFamily="18" charset="0"/>
                          </a:rPr>
                        </m:ctrlPr>
                      </m:accPr>
                      <m:e>
                        <m:r>
                          <a:rPr lang="en-US" altLang="zh-TW" sz="2600" b="0" i="1" smtClean="0">
                            <a:latin typeface="Cambria Math" panose="02040503050406030204" pitchFamily="18" charset="0"/>
                          </a:rPr>
                          <m:t>𝐴</m:t>
                        </m:r>
                      </m:e>
                    </m:acc>
                    <m:r>
                      <a:rPr lang="en-US" altLang="zh-TW" sz="2600" b="0" i="1" smtClean="0">
                        <a:latin typeface="Cambria Math" panose="02040503050406030204" pitchFamily="18" charset="0"/>
                      </a:rPr>
                      <m:t>=</m:t>
                    </m:r>
                    <m:r>
                      <a:rPr lang="en-US" altLang="zh-TW" sz="2600" i="1">
                        <a:latin typeface="Cambria Math" panose="02040503050406030204" pitchFamily="18" charset="0"/>
                        <a:ea typeface="Cambria Math" panose="02040503050406030204" pitchFamily="18" charset="0"/>
                      </a:rPr>
                      <m:t>ℛ</m:t>
                    </m:r>
                    <m:d>
                      <m:dPr>
                        <m:ctrlPr>
                          <a:rPr lang="en-US" altLang="zh-TW" sz="2600" i="1">
                            <a:latin typeface="Cambria Math" panose="02040503050406030204" pitchFamily="18" charset="0"/>
                            <a:ea typeface="Cambria Math" panose="02040503050406030204" pitchFamily="18" charset="0"/>
                          </a:rPr>
                        </m:ctrlPr>
                      </m:dPr>
                      <m:e>
                        <m:r>
                          <a:rPr lang="en-US" altLang="zh-TW" sz="2600" i="1">
                            <a:latin typeface="Cambria Math" panose="02040503050406030204" pitchFamily="18" charset="0"/>
                            <a:ea typeface="Cambria Math" panose="02040503050406030204" pitchFamily="18" charset="0"/>
                          </a:rPr>
                          <m:t>𝐴</m:t>
                        </m:r>
                      </m:e>
                    </m:d>
                    <m:r>
                      <a:rPr lang="en-US" altLang="zh-TW" sz="2600" i="1">
                        <a:latin typeface="Cambria Math" panose="02040503050406030204" pitchFamily="18" charset="0"/>
                        <a:ea typeface="Cambria Math" panose="02040503050406030204" pitchFamily="18" charset="0"/>
                      </a:rPr>
                      <m:t>⇒</m:t>
                    </m:r>
                    <m:acc>
                      <m:accPr>
                        <m:chr m:val="̂"/>
                        <m:ctrlPr>
                          <a:rPr lang="en-US" altLang="zh-TW" sz="2600" i="1">
                            <a:latin typeface="Cambria Math" panose="02040503050406030204" pitchFamily="18" charset="0"/>
                          </a:rPr>
                        </m:ctrlPr>
                      </m:accPr>
                      <m:e>
                        <m:r>
                          <a:rPr lang="en-US" altLang="zh-TW" sz="2600" i="1">
                            <a:latin typeface="Cambria Math" panose="02040503050406030204" pitchFamily="18" charset="0"/>
                          </a:rPr>
                          <m:t>𝐴</m:t>
                        </m:r>
                      </m:e>
                    </m:acc>
                    <m:d>
                      <m:dPr>
                        <m:ctrlPr>
                          <a:rPr lang="en-US" altLang="zh-TW" sz="2600" b="0" i="1" smtClean="0">
                            <a:latin typeface="Cambria Math" panose="02040503050406030204" pitchFamily="18" charset="0"/>
                          </a:rPr>
                        </m:ctrlPr>
                      </m:dPr>
                      <m:e>
                        <m:r>
                          <a:rPr lang="en-US" altLang="zh-TW" sz="2600" b="0" i="1" smtClean="0">
                            <a:latin typeface="Cambria Math" panose="02040503050406030204" pitchFamily="18" charset="0"/>
                          </a:rPr>
                          <m:t>𝑖</m:t>
                        </m:r>
                        <m:r>
                          <a:rPr lang="en-US" altLang="zh-TW" sz="2600" b="0" i="1" smtClean="0">
                            <a:latin typeface="Cambria Math" panose="02040503050406030204" pitchFamily="18" charset="0"/>
                          </a:rPr>
                          <m:t>+</m:t>
                        </m:r>
                        <m:d>
                          <m:dPr>
                            <m:ctrlPr>
                              <a:rPr lang="en-US" altLang="zh-TW" sz="2600" b="0" i="1" smtClean="0">
                                <a:latin typeface="Cambria Math" panose="02040503050406030204" pitchFamily="18" charset="0"/>
                              </a:rPr>
                            </m:ctrlPr>
                          </m:dPr>
                          <m:e>
                            <m:r>
                              <a:rPr lang="en-US" altLang="zh-TW" sz="2600" b="0" i="1" smtClean="0">
                                <a:latin typeface="Cambria Math" panose="02040503050406030204" pitchFamily="18" charset="0"/>
                              </a:rPr>
                              <m:t>𝑗</m:t>
                            </m:r>
                            <m:r>
                              <a:rPr lang="en-US" altLang="zh-TW" sz="2600" b="0" i="1" smtClean="0">
                                <a:latin typeface="Cambria Math" panose="02040503050406030204" pitchFamily="18" charset="0"/>
                              </a:rPr>
                              <m:t>−1</m:t>
                            </m:r>
                          </m:e>
                        </m:d>
                        <m:sSub>
                          <m:sSubPr>
                            <m:ctrlPr>
                              <a:rPr lang="en-US" altLang="zh-TW" sz="2600" b="0" i="1" smtClean="0">
                                <a:latin typeface="Cambria Math" panose="02040503050406030204" pitchFamily="18" charset="0"/>
                              </a:rPr>
                            </m:ctrlPr>
                          </m:sSubPr>
                          <m:e>
                            <m:r>
                              <a:rPr lang="en-US" altLang="zh-TW" sz="2600" b="0" i="1" smtClean="0">
                                <a:latin typeface="Cambria Math" panose="02040503050406030204" pitchFamily="18" charset="0"/>
                              </a:rPr>
                              <m:t>𝑚</m:t>
                            </m:r>
                          </m:e>
                          <m:sub>
                            <m:r>
                              <a:rPr lang="en-US" altLang="zh-TW" sz="2600" b="0" i="1" smtClean="0">
                                <a:latin typeface="Cambria Math" panose="02040503050406030204" pitchFamily="18" charset="0"/>
                              </a:rPr>
                              <m:t>1</m:t>
                            </m:r>
                          </m:sub>
                        </m:sSub>
                        <m:r>
                          <a:rPr lang="en-US" altLang="zh-TW" sz="2600" b="0" i="1" smtClean="0">
                            <a:latin typeface="Cambria Math" panose="02040503050406030204" pitchFamily="18" charset="0"/>
                          </a:rPr>
                          <m:t>,: </m:t>
                        </m:r>
                      </m:e>
                    </m:d>
                    <m:r>
                      <a:rPr lang="en-US" altLang="zh-TW" sz="2600" b="0" i="1" smtClean="0">
                        <a:latin typeface="Cambria Math" panose="02040503050406030204" pitchFamily="18" charset="0"/>
                      </a:rPr>
                      <m:t>=</m:t>
                    </m:r>
                    <m:sSup>
                      <m:sSupPr>
                        <m:ctrlPr>
                          <a:rPr lang="en-US" altLang="zh-TW" sz="2600" b="0" i="1" smtClean="0">
                            <a:latin typeface="Cambria Math" panose="02040503050406030204" pitchFamily="18" charset="0"/>
                          </a:rPr>
                        </m:ctrlPr>
                      </m:sSupPr>
                      <m:e>
                        <m:r>
                          <a:rPr lang="en-US" altLang="zh-TW" sz="2600" i="1">
                            <a:latin typeface="Cambria Math" panose="02040503050406030204" pitchFamily="18" charset="0"/>
                          </a:rPr>
                          <m:t>𝑣𝑒𝑐</m:t>
                        </m:r>
                        <m:r>
                          <a:rPr lang="en-US" altLang="zh-TW" sz="2600" i="1">
                            <a:latin typeface="Cambria Math" panose="02040503050406030204" pitchFamily="18" charset="0"/>
                          </a:rPr>
                          <m:t>(</m:t>
                        </m:r>
                        <m:sSub>
                          <m:sSubPr>
                            <m:ctrlPr>
                              <a:rPr lang="en-US" altLang="zh-TW" sz="2600" i="1">
                                <a:latin typeface="Cambria Math" panose="02040503050406030204" pitchFamily="18" charset="0"/>
                              </a:rPr>
                            </m:ctrlPr>
                          </m:sSubPr>
                          <m:e>
                            <m:r>
                              <a:rPr lang="en-US" altLang="zh-TW" sz="2600" i="1">
                                <a:latin typeface="Cambria Math" panose="02040503050406030204" pitchFamily="18" charset="0"/>
                              </a:rPr>
                              <m:t>𝐴</m:t>
                            </m:r>
                          </m:e>
                          <m:sub>
                            <m:r>
                              <a:rPr lang="en-US" altLang="zh-TW" sz="2600" i="1">
                                <a:latin typeface="Cambria Math" panose="02040503050406030204" pitchFamily="18" charset="0"/>
                              </a:rPr>
                              <m:t>𝑖𝑗</m:t>
                            </m:r>
                          </m:sub>
                        </m:sSub>
                        <m:r>
                          <a:rPr lang="en-US" altLang="zh-TW" sz="2600" i="1">
                            <a:latin typeface="Cambria Math" panose="02040503050406030204" pitchFamily="18" charset="0"/>
                          </a:rPr>
                          <m:t>)</m:t>
                        </m:r>
                      </m:e>
                      <m:sup>
                        <m:r>
                          <a:rPr lang="en-US" altLang="zh-TW" sz="2600" b="0" i="1" smtClean="0">
                            <a:latin typeface="Cambria Math" panose="02040503050406030204" pitchFamily="18" charset="0"/>
                          </a:rPr>
                          <m:t>𝑇</m:t>
                        </m:r>
                      </m:sup>
                    </m:sSup>
                  </m:oMath>
                </a14:m>
                <a:r>
                  <a:rPr lang="en-US" altLang="zh-TW" sz="2600" dirty="0" smtClean="0"/>
                  <a:t>,  </a:t>
                </a:r>
                <a14:m>
                  <m:oMath xmlns:m="http://schemas.openxmlformats.org/officeDocument/2006/math">
                    <m:r>
                      <a:rPr lang="en-US" altLang="zh-TW" sz="2600" b="0" i="1" smtClean="0">
                        <a:latin typeface="Cambria Math" panose="02040503050406030204" pitchFamily="18" charset="0"/>
                      </a:rPr>
                      <m:t>𝑖</m:t>
                    </m:r>
                    <m:r>
                      <a:rPr lang="en-US" altLang="zh-TW" sz="2600" b="0" i="1" smtClean="0">
                        <a:latin typeface="Cambria Math" panose="02040503050406030204" pitchFamily="18" charset="0"/>
                      </a:rPr>
                      <m:t>=1:</m:t>
                    </m:r>
                    <m:r>
                      <a:rPr lang="en-US" altLang="zh-TW" sz="2600" b="0" i="1" smtClean="0">
                        <a:latin typeface="Cambria Math" panose="02040503050406030204" pitchFamily="18" charset="0"/>
                      </a:rPr>
                      <m:t>𝑚</m:t>
                    </m:r>
                    <m:r>
                      <a:rPr lang="en-US" altLang="zh-TW" sz="2600" b="0" i="1" smtClean="0">
                        <a:latin typeface="Cambria Math" panose="02040503050406030204" pitchFamily="18" charset="0"/>
                      </a:rPr>
                      <m:t>,</m:t>
                    </m:r>
                    <m:r>
                      <a:rPr lang="en-US" altLang="zh-TW" sz="2600" b="0" i="1" smtClean="0">
                        <a:latin typeface="Cambria Math" panose="02040503050406030204" pitchFamily="18" charset="0"/>
                      </a:rPr>
                      <m:t>𝑗</m:t>
                    </m:r>
                    <m:r>
                      <a:rPr lang="en-US" altLang="zh-TW" sz="2600" b="0" i="1" smtClean="0">
                        <a:latin typeface="Cambria Math" panose="02040503050406030204" pitchFamily="18" charset="0"/>
                      </a:rPr>
                      <m:t>=1:</m:t>
                    </m:r>
                    <m:r>
                      <a:rPr lang="en-US" altLang="zh-TW" sz="2600" b="0" i="1" smtClean="0">
                        <a:latin typeface="Cambria Math" panose="02040503050406030204" pitchFamily="18" charset="0"/>
                      </a:rPr>
                      <m:t>𝑚</m:t>
                    </m:r>
                    <m:r>
                      <a:rPr lang="en-US" altLang="zh-TW" sz="2600" b="0" i="1" smtClean="0">
                        <a:latin typeface="Cambria Math" panose="02040503050406030204" pitchFamily="18" charset="0"/>
                      </a:rPr>
                      <m:t> .</m:t>
                    </m:r>
                  </m:oMath>
                </a14:m>
                <a:endParaRPr lang="en-US" altLang="zh-TW" sz="2600" b="0" dirty="0" smtClean="0"/>
              </a:p>
              <a:p>
                <a:endParaRPr lang="en-US" altLang="zh-TW" sz="2600" dirty="0" smtClean="0"/>
              </a:p>
              <a:p>
                <a:endParaRPr lang="zh-TW" altLang="en-US" sz="2600" dirty="0"/>
              </a:p>
            </p:txBody>
          </p:sp>
        </mc:Choice>
        <mc:Fallback>
          <p:sp>
            <p:nvSpPr>
              <p:cNvPr id="4" name="文字方塊 3"/>
              <p:cNvSpPr txBox="1">
                <a:spLocks noRot="1" noChangeAspect="1" noMove="1" noResize="1" noEditPoints="1" noAdjustHandles="1" noChangeArrowheads="1" noChangeShapeType="1" noTextEdit="1"/>
              </p:cNvSpPr>
              <p:nvPr/>
            </p:nvSpPr>
            <p:spPr>
              <a:xfrm>
                <a:off x="92841" y="2131848"/>
                <a:ext cx="9482799" cy="3807774"/>
              </a:xfrm>
              <a:prstGeom prst="rect">
                <a:avLst/>
              </a:prstGeom>
              <a:blipFill rotWithShape="0">
                <a:blip r:embed="rId2"/>
                <a:stretch>
                  <a:fillRect l="-1157" t="-1603" r="-115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92841" y="5174791"/>
                <a:ext cx="5038725" cy="2384884"/>
              </a:xfrm>
              <a:prstGeom prst="rect">
                <a:avLst/>
              </a:prstGeom>
            </p:spPr>
            <p:txBody>
              <a:bodyPr>
                <a:spAutoFit/>
              </a:bodyPr>
              <a:lstStyle/>
              <a:p>
                <a:r>
                  <a:rPr lang="en-US" altLang="zh-TW" sz="2600" dirty="0"/>
                  <a:t>If </a:t>
                </a:r>
                <a14:m>
                  <m:oMath xmlns:m="http://schemas.openxmlformats.org/officeDocument/2006/math">
                    <m:r>
                      <a:rPr lang="en-US" altLang="zh-TW" sz="2600" i="1">
                        <a:latin typeface="Cambria Math" panose="02040503050406030204" pitchFamily="18" charset="0"/>
                        <a:ea typeface="Cambria Math" panose="02040503050406030204" pitchFamily="18" charset="0"/>
                      </a:rPr>
                      <m:t>ℛ</m:t>
                    </m:r>
                    <m:d>
                      <m:dPr>
                        <m:ctrlPr>
                          <a:rPr lang="en-US" altLang="zh-TW" sz="2600" i="1">
                            <a:latin typeface="Cambria Math" panose="02040503050406030204" pitchFamily="18" charset="0"/>
                            <a:ea typeface="Cambria Math" panose="02040503050406030204" pitchFamily="18" charset="0"/>
                          </a:rPr>
                        </m:ctrlPr>
                      </m:dPr>
                      <m:e>
                        <m:r>
                          <a:rPr lang="en-US" altLang="zh-TW" sz="2600" i="1">
                            <a:latin typeface="Cambria Math" panose="02040503050406030204" pitchFamily="18" charset="0"/>
                            <a:ea typeface="Cambria Math" panose="02040503050406030204" pitchFamily="18" charset="0"/>
                          </a:rPr>
                          <m:t>𝐴</m:t>
                        </m:r>
                      </m:e>
                    </m:d>
                  </m:oMath>
                </a14:m>
                <a:r>
                  <a:rPr lang="zh-TW" altLang="en-US" sz="2600" dirty="0"/>
                  <a:t> </a:t>
                </a:r>
                <a:r>
                  <a:rPr lang="en-US" altLang="zh-TW" sz="2600" dirty="0"/>
                  <a:t>has rank r, then</a:t>
                </a:r>
              </a:p>
              <a:p>
                <a:endParaRPr lang="en-US" altLang="zh-TW" sz="26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600" i="1">
                          <a:latin typeface="Cambria Math" panose="02040503050406030204" pitchFamily="18" charset="0"/>
                        </a:rPr>
                        <m:t>𝐴</m:t>
                      </m:r>
                      <m:r>
                        <a:rPr lang="en-US" altLang="zh-TW" sz="2600" i="1">
                          <a:latin typeface="Cambria Math" panose="02040503050406030204" pitchFamily="18" charset="0"/>
                        </a:rPr>
                        <m:t>=</m:t>
                      </m:r>
                      <m:nary>
                        <m:naryPr>
                          <m:chr m:val="∑"/>
                          <m:ctrlPr>
                            <a:rPr lang="en-US" altLang="zh-TW" sz="2600" i="1">
                              <a:latin typeface="Cambria Math" panose="02040503050406030204" pitchFamily="18" charset="0"/>
                            </a:rPr>
                          </m:ctrlPr>
                        </m:naryPr>
                        <m:sub>
                          <m:r>
                            <m:rPr>
                              <m:brk m:alnAt="23"/>
                            </m:rPr>
                            <a:rPr lang="en-US" altLang="zh-TW" sz="2600" i="1">
                              <a:latin typeface="Cambria Math" panose="02040503050406030204" pitchFamily="18" charset="0"/>
                            </a:rPr>
                            <m:t>𝑘</m:t>
                          </m:r>
                          <m:r>
                            <a:rPr lang="en-US" altLang="zh-TW" sz="2600" i="1">
                              <a:latin typeface="Cambria Math" panose="02040503050406030204" pitchFamily="18" charset="0"/>
                            </a:rPr>
                            <m:t>=1</m:t>
                          </m:r>
                        </m:sub>
                        <m:sup>
                          <m:r>
                            <a:rPr lang="en-US" altLang="zh-TW" sz="2600" i="1">
                              <a:latin typeface="Cambria Math" panose="02040503050406030204" pitchFamily="18" charset="0"/>
                            </a:rPr>
                            <m:t>𝑟</m:t>
                          </m:r>
                        </m:sup>
                        <m:e>
                          <m:sSub>
                            <m:sSubPr>
                              <m:ctrlPr>
                                <a:rPr lang="en-US" altLang="zh-TW" sz="2600" i="1">
                                  <a:latin typeface="Cambria Math" panose="02040503050406030204" pitchFamily="18" charset="0"/>
                                </a:rPr>
                              </m:ctrlPr>
                            </m:sSubPr>
                            <m:e>
                              <m:r>
                                <a:rPr lang="zh-TW" altLang="en-US" sz="2600" i="1">
                                  <a:latin typeface="Cambria Math" panose="02040503050406030204" pitchFamily="18" charset="0"/>
                                </a:rPr>
                                <m:t>𝜎</m:t>
                              </m:r>
                            </m:e>
                            <m:sub>
                              <m:r>
                                <a:rPr lang="en-US" altLang="zh-TW" sz="2600" i="1">
                                  <a:latin typeface="Cambria Math" panose="02040503050406030204" pitchFamily="18" charset="0"/>
                                </a:rPr>
                                <m:t>𝑘</m:t>
                              </m:r>
                            </m:sub>
                          </m:sSub>
                          <m:sSub>
                            <m:sSubPr>
                              <m:ctrlPr>
                                <a:rPr lang="en-US" altLang="zh-TW" sz="2600" i="1">
                                  <a:latin typeface="Cambria Math" panose="02040503050406030204" pitchFamily="18" charset="0"/>
                                </a:rPr>
                              </m:ctrlPr>
                            </m:sSubPr>
                            <m:e>
                              <m:r>
                                <a:rPr lang="en-US" altLang="zh-TW" sz="2600" i="1">
                                  <a:latin typeface="Cambria Math" panose="02040503050406030204" pitchFamily="18" charset="0"/>
                                </a:rPr>
                                <m:t>𝑈</m:t>
                              </m:r>
                            </m:e>
                            <m:sub>
                              <m:r>
                                <a:rPr lang="en-US" altLang="zh-TW" sz="2600" i="1">
                                  <a:latin typeface="Cambria Math" panose="02040503050406030204" pitchFamily="18" charset="0"/>
                                </a:rPr>
                                <m:t>𝑘</m:t>
                              </m:r>
                            </m:sub>
                          </m:sSub>
                          <m:sSub>
                            <m:sSubPr>
                              <m:ctrlPr>
                                <a:rPr lang="en-US" altLang="zh-TW" sz="2600" i="1">
                                  <a:latin typeface="Cambria Math" panose="02040503050406030204" pitchFamily="18" charset="0"/>
                                </a:rPr>
                              </m:ctrlPr>
                            </m:sSubPr>
                            <m:e>
                              <m:r>
                                <a:rPr lang="en-US" altLang="zh-TW" sz="2600" i="1">
                                  <a:latin typeface="Cambria Math" panose="02040503050406030204" pitchFamily="18" charset="0"/>
                                  <a:ea typeface="Cambria Math" panose="02040503050406030204" pitchFamily="18" charset="0"/>
                                </a:rPr>
                                <m:t>⊗</m:t>
                              </m:r>
                              <m:r>
                                <a:rPr lang="en-US" altLang="zh-TW" sz="2600" i="1">
                                  <a:latin typeface="Cambria Math" panose="02040503050406030204" pitchFamily="18" charset="0"/>
                                </a:rPr>
                                <m:t>𝑉</m:t>
                              </m:r>
                            </m:e>
                            <m:sub>
                              <m:r>
                                <a:rPr lang="en-US" altLang="zh-TW" sz="2600" i="1">
                                  <a:latin typeface="Cambria Math" panose="02040503050406030204" pitchFamily="18" charset="0"/>
                                </a:rPr>
                                <m:t>𝑘</m:t>
                              </m:r>
                            </m:sub>
                          </m:sSub>
                        </m:e>
                      </m:nary>
                    </m:oMath>
                  </m:oMathPara>
                </a14:m>
                <a:endParaRPr lang="en-US" altLang="zh-TW" sz="2600" dirty="0"/>
              </a:p>
              <a:p>
                <a:endParaRPr lang="en-US" altLang="zh-TW" sz="2600" dirty="0"/>
              </a:p>
            </p:txBody>
          </p:sp>
        </mc:Choice>
        <mc:Fallback>
          <p:sp>
            <p:nvSpPr>
              <p:cNvPr id="5" name="矩形 4"/>
              <p:cNvSpPr>
                <a:spLocks noRot="1" noChangeAspect="1" noMove="1" noResize="1" noEditPoints="1" noAdjustHandles="1" noChangeArrowheads="1" noChangeShapeType="1" noTextEdit="1"/>
              </p:cNvSpPr>
              <p:nvPr/>
            </p:nvSpPr>
            <p:spPr>
              <a:xfrm>
                <a:off x="92841" y="5174791"/>
                <a:ext cx="5038725" cy="2384884"/>
              </a:xfrm>
              <a:prstGeom prst="rect">
                <a:avLst/>
              </a:prstGeom>
              <a:blipFill rotWithShape="0">
                <a:blip r:embed="rId3"/>
                <a:stretch>
                  <a:fillRect l="-2177" t="-230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44005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1230</TotalTime>
  <Words>430</Words>
  <Application>Microsoft Office PowerPoint</Application>
  <PresentationFormat>自訂</PresentationFormat>
  <Paragraphs>92</Paragraphs>
  <Slides>13</Slides>
  <Notes>1</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13</vt:i4>
      </vt:variant>
    </vt:vector>
  </HeadingPairs>
  <TitlesOfParts>
    <vt:vector size="22" baseType="lpstr">
      <vt:lpstr>DejaVu Sans</vt:lpstr>
      <vt:lpstr>StarSymbol</vt:lpstr>
      <vt:lpstr>微軟正黑體</vt:lpstr>
      <vt:lpstr>新細明體</vt:lpstr>
      <vt:lpstr>Arial</vt:lpstr>
      <vt:lpstr>Calibri</vt:lpstr>
      <vt:lpstr>Cambria Math</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Basic properties</vt:lpstr>
      <vt:lpstr>Basic properties</vt:lpstr>
      <vt:lpstr>Matrix equations</vt:lpstr>
      <vt:lpstr>The nearest Kronecker product problem</vt:lpstr>
      <vt:lpstr>PowerPoint 簡報</vt:lpstr>
      <vt:lpstr>The nearest Kronecker product problem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emperor</dc:creator>
  <cp:lastModifiedBy>emperor</cp:lastModifiedBy>
  <cp:revision>59</cp:revision>
  <dcterms:created xsi:type="dcterms:W3CDTF">2015-10-18T16:03:56Z</dcterms:created>
  <dcterms:modified xsi:type="dcterms:W3CDTF">2015-10-20T10:21:14Z</dcterms:modified>
  <dc:language>zh-TW</dc:language>
</cp:coreProperties>
</file>