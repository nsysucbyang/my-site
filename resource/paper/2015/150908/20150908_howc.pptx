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5" r:id="rId8"/>
    <p:sldId id="263" r:id="rId9"/>
    <p:sldId id="266" r:id="rId10"/>
    <p:sldId id="268" r:id="rId11"/>
    <p:sldId id="267" r:id="rId12"/>
    <p:sldId id="271" r:id="rId13"/>
    <p:sldId id="272" r:id="rId14"/>
    <p:sldId id="270" r:id="rId15"/>
    <p:sldId id="274" r:id="rId16"/>
    <p:sldId id="275" r:id="rId17"/>
    <p:sldId id="276" r:id="rId18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4B1156A-380E-4F78-BDF5-A606A8083BF9}" styleName="中等深淺樣式 4 - 輔色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0505E3EF-67EA-436B-97B2-0124C06EBD24}" styleName="中等深淺樣式 4 - 輔色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3" d="100"/>
          <a:sy n="103" d="100"/>
        </p:scale>
        <p:origin x="234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55455-403F-4C24-93DC-405C09C862E3}" type="datetimeFigureOut">
              <a:rPr lang="zh-TW" altLang="en-US" smtClean="0"/>
              <a:pPr/>
              <a:t>2015/9/8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76C3B4-4943-449C-97A7-66A2004D5808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55455-403F-4C24-93DC-405C09C862E3}" type="datetimeFigureOut">
              <a:rPr lang="zh-TW" altLang="en-US" smtClean="0"/>
              <a:pPr/>
              <a:t>2015/9/8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76C3B4-4943-449C-97A7-66A2004D5808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55455-403F-4C24-93DC-405C09C862E3}" type="datetimeFigureOut">
              <a:rPr lang="zh-TW" altLang="en-US" smtClean="0"/>
              <a:pPr/>
              <a:t>2015/9/8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76C3B4-4943-449C-97A7-66A2004D5808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55455-403F-4C24-93DC-405C09C862E3}" type="datetimeFigureOut">
              <a:rPr lang="zh-TW" altLang="en-US" smtClean="0"/>
              <a:pPr/>
              <a:t>2015/9/8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76C3B4-4943-449C-97A7-66A2004D5808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55455-403F-4C24-93DC-405C09C862E3}" type="datetimeFigureOut">
              <a:rPr lang="zh-TW" altLang="en-US" smtClean="0"/>
              <a:pPr/>
              <a:t>2015/9/8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76C3B4-4943-449C-97A7-66A2004D5808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55455-403F-4C24-93DC-405C09C862E3}" type="datetimeFigureOut">
              <a:rPr lang="zh-TW" altLang="en-US" smtClean="0"/>
              <a:pPr/>
              <a:t>2015/9/8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76C3B4-4943-449C-97A7-66A2004D5808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55455-403F-4C24-93DC-405C09C862E3}" type="datetimeFigureOut">
              <a:rPr lang="zh-TW" altLang="en-US" smtClean="0"/>
              <a:pPr/>
              <a:t>2015/9/8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76C3B4-4943-449C-97A7-66A2004D5808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55455-403F-4C24-93DC-405C09C862E3}" type="datetimeFigureOut">
              <a:rPr lang="zh-TW" altLang="en-US" smtClean="0"/>
              <a:pPr/>
              <a:t>2015/9/8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76C3B4-4943-449C-97A7-66A2004D5808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55455-403F-4C24-93DC-405C09C862E3}" type="datetimeFigureOut">
              <a:rPr lang="zh-TW" altLang="en-US" smtClean="0"/>
              <a:pPr/>
              <a:t>2015/9/8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76C3B4-4943-449C-97A7-66A2004D5808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55455-403F-4C24-93DC-405C09C862E3}" type="datetimeFigureOut">
              <a:rPr lang="zh-TW" altLang="en-US" smtClean="0"/>
              <a:pPr/>
              <a:t>2015/9/8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76C3B4-4943-449C-97A7-66A2004D5808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55455-403F-4C24-93DC-405C09C862E3}" type="datetimeFigureOut">
              <a:rPr lang="zh-TW" altLang="en-US" smtClean="0"/>
              <a:pPr/>
              <a:t>2015/9/8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76C3B4-4943-449C-97A7-66A2004D5808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555455-403F-4C24-93DC-405C09C862E3}" type="datetimeFigureOut">
              <a:rPr lang="zh-TW" altLang="en-US" smtClean="0"/>
              <a:pPr/>
              <a:t>2015/9/8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76C3B4-4943-449C-97A7-66A2004D5808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b="1" dirty="0"/>
              <a:t>Algorithms for Approximate String Matching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ESKO </a:t>
            </a:r>
            <a:r>
              <a:rPr lang="en-US" altLang="zh-TW" dirty="0" smtClean="0"/>
              <a:t>UKKONEN,</a:t>
            </a:r>
            <a:r>
              <a:rPr lang="en-US" dirty="0" smtClean="0"/>
              <a:t> Information and Control Volume 64, Issues 1–3, January–March 1985, Pages 100-118</a:t>
            </a:r>
          </a:p>
          <a:p>
            <a:endParaRPr lang="zh-TW" altLang="en-US" dirty="0"/>
          </a:p>
        </p:txBody>
      </p:sp>
      <p:sp>
        <p:nvSpPr>
          <p:cNvPr id="4" name="文字方塊 3"/>
          <p:cNvSpPr txBox="1"/>
          <p:nvPr/>
        </p:nvSpPr>
        <p:spPr>
          <a:xfrm>
            <a:off x="5164449" y="5903893"/>
            <a:ext cx="3979551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>
                <a:latin typeface="Calibri" pitchFamily="34" charset="0"/>
              </a:rPr>
              <a:t>Presenter: </a:t>
            </a:r>
            <a:r>
              <a:rPr lang="en-US" altLang="zh-TW" sz="2800" dirty="0" err="1" smtClean="0">
                <a:latin typeface="Calibri" pitchFamily="34" charset="0"/>
              </a:rPr>
              <a:t>Wen</a:t>
            </a:r>
            <a:r>
              <a:rPr lang="en-US" altLang="zh-TW" sz="2800" dirty="0" smtClean="0">
                <a:latin typeface="Calibri" pitchFamily="34" charset="0"/>
              </a:rPr>
              <a:t>-Chuan Ho</a:t>
            </a:r>
          </a:p>
          <a:p>
            <a:r>
              <a:rPr lang="en-US" altLang="zh-TW" sz="2800" dirty="0" smtClean="0">
                <a:latin typeface="Calibri" pitchFamily="34" charset="0"/>
              </a:rPr>
              <a:t>Date: 2015/09/08</a:t>
            </a:r>
            <a:endParaRPr lang="zh-TW" altLang="en-US" sz="28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Abstract(1/3)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43510"/>
          </a:xfrm>
        </p:spPr>
        <p:txBody>
          <a:bodyPr>
            <a:noAutofit/>
          </a:bodyPr>
          <a:lstStyle/>
          <a:p>
            <a:pPr marL="0">
              <a:buNone/>
            </a:pPr>
            <a:r>
              <a:rPr lang="en-US" altLang="zh-TW" sz="2800" dirty="0" smtClean="0"/>
              <a:t>The edit distance between strings </a:t>
            </a:r>
            <a:r>
              <a:rPr lang="en-US" altLang="zh-TW" sz="2800" i="1" dirty="0" smtClean="0"/>
              <a:t>a</a:t>
            </a:r>
            <a:r>
              <a:rPr lang="en-US" altLang="zh-TW" sz="2800" i="1" baseline="-25000" dirty="0" smtClean="0"/>
              <a:t>1</a:t>
            </a:r>
            <a:r>
              <a:rPr lang="en-US" altLang="zh-TW" sz="2800" i="1" dirty="0" smtClean="0"/>
              <a:t> ... a </a:t>
            </a:r>
            <a:r>
              <a:rPr lang="en-US" altLang="zh-TW" sz="2800" i="1" baseline="-25000" dirty="0" smtClean="0"/>
              <a:t>m</a:t>
            </a:r>
            <a:r>
              <a:rPr lang="en-US" altLang="zh-TW" sz="2800" i="1" dirty="0" smtClean="0"/>
              <a:t> and b</a:t>
            </a:r>
            <a:r>
              <a:rPr lang="en-US" altLang="zh-TW" sz="2800" i="1" baseline="-25000" dirty="0" smtClean="0"/>
              <a:t>1</a:t>
            </a:r>
            <a:r>
              <a:rPr lang="en-US" altLang="zh-TW" sz="2800" i="1" dirty="0" smtClean="0"/>
              <a:t>… </a:t>
            </a:r>
            <a:r>
              <a:rPr lang="en-US" altLang="zh-TW" sz="2800" i="1" dirty="0" err="1" smtClean="0"/>
              <a:t>b</a:t>
            </a:r>
            <a:r>
              <a:rPr lang="en-US" altLang="zh-TW" sz="2800" i="1" baseline="-25000" dirty="0" err="1" smtClean="0"/>
              <a:t>n</a:t>
            </a:r>
            <a:r>
              <a:rPr lang="en-US" altLang="zh-TW" sz="2800" i="1" dirty="0"/>
              <a:t> </a:t>
            </a:r>
            <a:r>
              <a:rPr lang="en-US" altLang="zh-TW" sz="2800" i="1" dirty="0" smtClean="0"/>
              <a:t>is the minimum cost s of a </a:t>
            </a:r>
            <a:r>
              <a:rPr lang="en-US" altLang="zh-TW" sz="2800" dirty="0" smtClean="0"/>
              <a:t>sequence of editing steps (insertions, deletions, changes) that convert one string into the other. A well-known tabulating method computes s as well as the corresponding editing sequence in time and in space </a:t>
            </a:r>
            <a:r>
              <a:rPr lang="en-US" altLang="zh-TW" sz="2800" i="1" dirty="0" smtClean="0"/>
              <a:t>O(</a:t>
            </a:r>
            <a:r>
              <a:rPr lang="en-US" altLang="zh-TW" sz="2800" i="1" dirty="0" err="1" smtClean="0"/>
              <a:t>mn</a:t>
            </a:r>
            <a:r>
              <a:rPr lang="en-US" altLang="zh-TW" sz="2800" i="1" dirty="0" smtClean="0"/>
              <a:t>) (in space O(min(m, n)) if the editing </a:t>
            </a:r>
            <a:r>
              <a:rPr lang="en-US" altLang="zh-TW" sz="2800" dirty="0" smtClean="0"/>
              <a:t>sequence is not required). Starting from this method, we develop an improved algorithm that works in time and in space </a:t>
            </a:r>
            <a:r>
              <a:rPr lang="en-US" altLang="zh-TW" sz="2800" i="1" dirty="0" smtClean="0"/>
              <a:t>O(</a:t>
            </a:r>
            <a:r>
              <a:rPr lang="en-US" altLang="zh-TW" sz="2800" i="1" dirty="0" err="1" smtClean="0"/>
              <a:t>s</a:t>
            </a:r>
            <a:r>
              <a:rPr lang="en-US" altLang="zh-TW" sz="2800" dirty="0" err="1"/>
              <a:t>·</a:t>
            </a:r>
            <a:r>
              <a:rPr lang="en-US" altLang="zh-TW" sz="2800" i="1" dirty="0" err="1" smtClean="0"/>
              <a:t>min</a:t>
            </a:r>
            <a:r>
              <a:rPr lang="en-US" altLang="zh-TW" sz="2800" i="1" dirty="0" smtClean="0"/>
              <a:t>(m, n)). </a:t>
            </a:r>
            <a:endParaRPr lang="zh-TW" altLang="en-US" sz="28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Abstract(2/3)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>
              <a:buNone/>
            </a:pPr>
            <a:r>
              <a:rPr lang="en-US" altLang="zh-TW" sz="2800" i="1" dirty="0" smtClean="0"/>
              <a:t>Another improvement </a:t>
            </a:r>
            <a:r>
              <a:rPr lang="en-US" altLang="zh-TW" sz="2800" dirty="0" smtClean="0"/>
              <a:t>with time </a:t>
            </a:r>
            <a:r>
              <a:rPr lang="en-US" altLang="zh-TW" sz="2800" i="1" dirty="0" smtClean="0"/>
              <a:t>O(</a:t>
            </a:r>
            <a:r>
              <a:rPr lang="en-US" altLang="zh-TW" sz="2800" i="1" dirty="0" err="1" smtClean="0"/>
              <a:t>s</a:t>
            </a:r>
            <a:r>
              <a:rPr lang="en-US" altLang="zh-TW" sz="2800" dirty="0" err="1"/>
              <a:t>·</a:t>
            </a:r>
            <a:r>
              <a:rPr lang="en-US" altLang="zh-TW" sz="2800" i="1" dirty="0" err="1" smtClean="0"/>
              <a:t>min</a:t>
            </a:r>
            <a:r>
              <a:rPr lang="en-US" altLang="zh-TW" sz="2800" i="1" dirty="0" smtClean="0"/>
              <a:t>(m, n)) and space O(</a:t>
            </a:r>
            <a:r>
              <a:rPr lang="en-US" altLang="zh-TW" sz="2800" i="1" dirty="0" err="1" smtClean="0"/>
              <a:t>s</a:t>
            </a:r>
            <a:r>
              <a:rPr lang="en-US" altLang="zh-TW" sz="2800" dirty="0" err="1"/>
              <a:t>·</a:t>
            </a:r>
            <a:r>
              <a:rPr lang="en-US" altLang="zh-TW" sz="2800" i="1" dirty="0" err="1" smtClean="0"/>
              <a:t>min</a:t>
            </a:r>
            <a:r>
              <a:rPr lang="en-US" altLang="zh-TW" sz="2800" i="1" dirty="0" smtClean="0"/>
              <a:t>(s, m, n)) is given for the special case </a:t>
            </a:r>
            <a:r>
              <a:rPr lang="en-US" altLang="zh-TW" sz="2800" dirty="0" smtClean="0"/>
              <a:t>where all editing steps have the same cost independently of the characters involved. If the editing sequence that gives cost s is not required, our algorithms can be implemented in space O(min(s, m, n)).</a:t>
            </a:r>
            <a:r>
              <a:rPr lang="en-US" altLang="zh-TW" sz="2800" dirty="0"/>
              <a:t> Since s= O(max(m, n)), the new </a:t>
            </a:r>
            <a:r>
              <a:rPr lang="en-US" altLang="zh-TW" sz="2800" dirty="0" smtClean="0"/>
              <a:t>methods are </a:t>
            </a:r>
            <a:r>
              <a:rPr lang="en-US" altLang="zh-TW" sz="2800" dirty="0"/>
              <a:t>always asymptotically as good as the original tabulating method. </a:t>
            </a:r>
            <a:r>
              <a:rPr lang="en-US" altLang="zh-TW" sz="2800" dirty="0" smtClean="0"/>
              <a:t>As a byproduct, algorithms are obtained that, given a threshold value t, test in time </a:t>
            </a:r>
            <a:r>
              <a:rPr lang="en-US" altLang="zh-TW" sz="2800" i="1" dirty="0" smtClean="0"/>
              <a:t>O(</a:t>
            </a:r>
            <a:r>
              <a:rPr lang="en-US" altLang="zh-TW" sz="2800" i="1" dirty="0" err="1" smtClean="0"/>
              <a:t>t</a:t>
            </a:r>
            <a:r>
              <a:rPr lang="en-US" altLang="zh-TW" sz="2800" dirty="0" err="1"/>
              <a:t>·</a:t>
            </a:r>
            <a:r>
              <a:rPr lang="en-US" altLang="zh-TW" sz="2800" i="1" dirty="0" err="1" smtClean="0"/>
              <a:t>min</a:t>
            </a:r>
            <a:r>
              <a:rPr lang="en-US" altLang="zh-TW" sz="2800" i="1" dirty="0" smtClean="0"/>
              <a:t>(</a:t>
            </a:r>
            <a:r>
              <a:rPr lang="en-US" altLang="zh-TW" sz="2800" i="1" dirty="0" err="1" smtClean="0"/>
              <a:t>m,n</a:t>
            </a:r>
            <a:r>
              <a:rPr lang="en-US" altLang="zh-TW" sz="2800" i="1" dirty="0" smtClean="0"/>
              <a:t>)) and in space O(min(</a:t>
            </a:r>
            <a:r>
              <a:rPr lang="en-US" altLang="zh-TW" sz="2800" i="1" dirty="0" err="1" smtClean="0"/>
              <a:t>t,m,n</a:t>
            </a:r>
            <a:r>
              <a:rPr lang="en-US" altLang="zh-TW" sz="2800" i="1" dirty="0" smtClean="0"/>
              <a:t>)) whether </a:t>
            </a:r>
            <a:r>
              <a:rPr lang="en-US" altLang="zh-TW" sz="2800" i="1" dirty="0" err="1" smtClean="0"/>
              <a:t>s≤t</a:t>
            </a:r>
            <a:r>
              <a:rPr lang="en-US" altLang="zh-TW" sz="2800" i="1" dirty="0" smtClean="0"/>
              <a:t>.</a:t>
            </a:r>
            <a:endParaRPr lang="zh-TW" altLang="en-US" sz="2800" dirty="0" smtClean="0"/>
          </a:p>
          <a:p>
            <a:pPr marL="0">
              <a:buNone/>
            </a:pPr>
            <a:endParaRPr lang="zh-TW" altLang="en-US" sz="28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Abstract(3/3)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>
              <a:buNone/>
            </a:pPr>
            <a:r>
              <a:rPr lang="en-US" altLang="zh-TW" sz="2800" dirty="0" smtClean="0"/>
              <a:t>Finally</a:t>
            </a:r>
            <a:r>
              <a:rPr lang="en-US" altLang="zh-TW" sz="2800" dirty="0"/>
              <a:t>, </a:t>
            </a:r>
            <a:r>
              <a:rPr lang="en-US" altLang="zh-TW" sz="2800" dirty="0" smtClean="0"/>
              <a:t>different generalized </a:t>
            </a:r>
            <a:r>
              <a:rPr lang="en-US" altLang="zh-TW" sz="2800" dirty="0"/>
              <a:t>edit distances are analyzed and conditions are given under which </a:t>
            </a:r>
            <a:r>
              <a:rPr lang="en-US" altLang="zh-TW" sz="2800" dirty="0" smtClean="0"/>
              <a:t>our algorithms </a:t>
            </a:r>
            <a:r>
              <a:rPr lang="en-US" altLang="zh-TW" sz="2800" dirty="0"/>
              <a:t>can be used in conjunction with extended edit operation sets, </a:t>
            </a:r>
            <a:r>
              <a:rPr lang="en-US" altLang="zh-TW" sz="2800" dirty="0" smtClean="0"/>
              <a:t>including, for </a:t>
            </a:r>
            <a:r>
              <a:rPr lang="en-US" altLang="zh-TW" sz="2800" dirty="0"/>
              <a:t>example, transposition of adjacent characters.</a:t>
            </a:r>
            <a:endParaRPr lang="zh-TW" altLang="en-US" sz="28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Edit distance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A = </a:t>
            </a:r>
            <a:r>
              <a:rPr lang="en-US" altLang="zh-TW" dirty="0" err="1" smtClean="0"/>
              <a:t>yxxzy</a:t>
            </a:r>
            <a:r>
              <a:rPr lang="en-US" altLang="zh-TW" dirty="0" smtClean="0"/>
              <a:t> </a:t>
            </a:r>
          </a:p>
          <a:p>
            <a:r>
              <a:rPr lang="en-US" altLang="zh-TW" dirty="0" smtClean="0"/>
              <a:t>B = </a:t>
            </a:r>
            <a:r>
              <a:rPr lang="en-US" altLang="zh-TW" dirty="0" err="1" smtClean="0"/>
              <a:t>xyxzyz</a:t>
            </a:r>
            <a:endParaRPr lang="en-US" altLang="zh-TW" dirty="0" smtClean="0"/>
          </a:p>
          <a:p>
            <a:endParaRPr lang="en-US" altLang="zh-TW" dirty="0" smtClean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2786050" y="1857364"/>
          <a:ext cx="5418664" cy="362712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677333"/>
                <a:gridCol w="677333"/>
                <a:gridCol w="677333"/>
                <a:gridCol w="677333"/>
                <a:gridCol w="677333"/>
                <a:gridCol w="677333"/>
                <a:gridCol w="677333"/>
                <a:gridCol w="677333"/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x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y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x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z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y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z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0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2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4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6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8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10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12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y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2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3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2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4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6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8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10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x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4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2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4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2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4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6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8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x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6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4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5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4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5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7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9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z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8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6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7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6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4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6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7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y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10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8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6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8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6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4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6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</a:tr>
            </a:tbl>
          </a:graphicData>
        </a:graphic>
      </p:graphicFrame>
      <p:sp>
        <p:nvSpPr>
          <p:cNvPr id="5" name="文字方塊 4"/>
          <p:cNvSpPr txBox="1"/>
          <p:nvPr/>
        </p:nvSpPr>
        <p:spPr>
          <a:xfrm>
            <a:off x="2643174" y="5572140"/>
            <a:ext cx="585791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altLang="zh-TW" sz="2800" dirty="0" smtClean="0"/>
              <a:t>Deletion</a:t>
            </a:r>
            <a:r>
              <a:rPr lang="zh-TW" altLang="en-US" sz="2800" dirty="0" smtClean="0"/>
              <a:t> </a:t>
            </a:r>
            <a:r>
              <a:rPr lang="en-US" altLang="zh-TW" sz="2800" dirty="0" smtClean="0"/>
              <a:t>= 2  Insertion = 2  Change = 3</a:t>
            </a:r>
          </a:p>
          <a:p>
            <a:endParaRPr lang="zh-TW" altLang="en-US" sz="28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Procedure test</a:t>
            </a:r>
            <a:r>
              <a:rPr lang="en-US" altLang="zh-TW" baseline="-25000" dirty="0" smtClean="0"/>
              <a:t>1</a:t>
            </a:r>
            <a:r>
              <a:rPr lang="en-US" altLang="zh-TW" dirty="0" smtClean="0"/>
              <a:t>(1/2)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t</a:t>
            </a:r>
            <a:r>
              <a:rPr lang="en-US" altLang="zh-TW" baseline="-25000" dirty="0" smtClean="0"/>
              <a:t>0</a:t>
            </a:r>
            <a:r>
              <a:rPr lang="en-US" altLang="zh-TW" dirty="0" smtClean="0"/>
              <a:t> = (|n-m|+1)·∆ = 4</a:t>
            </a:r>
          </a:p>
          <a:p>
            <a:r>
              <a:rPr lang="en-US" altLang="zh-TW" dirty="0"/>
              <a:t>p</a:t>
            </a:r>
            <a:r>
              <a:rPr lang="en-US" altLang="zh-TW" dirty="0" smtClean="0"/>
              <a:t> = (t/∆-|n-m|)/2 = 0</a:t>
            </a:r>
          </a:p>
          <a:p>
            <a:endParaRPr lang="zh-TW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1714480" y="3000372"/>
          <a:ext cx="5418664" cy="362712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677333"/>
                <a:gridCol w="677333"/>
                <a:gridCol w="677333"/>
                <a:gridCol w="677333"/>
                <a:gridCol w="677333"/>
                <a:gridCol w="677333"/>
                <a:gridCol w="677333"/>
                <a:gridCol w="677333"/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x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y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x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z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y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z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0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2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y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3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2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x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4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2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/>
                    </a:p>
                  </a:txBody>
                  <a:tcPr anchor="ctr"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x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4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5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/>
                    </a:p>
                  </a:txBody>
                  <a:tcPr anchor="ctr"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z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4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6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/>
                    </a:p>
                  </a:txBody>
                  <a:tcPr anchor="ctr"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y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4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6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Procedure test</a:t>
            </a:r>
            <a:r>
              <a:rPr lang="en-US" altLang="zh-TW" baseline="-25000" dirty="0" smtClean="0"/>
              <a:t>1</a:t>
            </a:r>
            <a:r>
              <a:rPr lang="en-US" altLang="zh-TW" dirty="0" smtClean="0"/>
              <a:t>(2/2)</a:t>
            </a:r>
            <a:endParaRPr lang="zh-TW" altLang="en-US" baseline="-250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t</a:t>
            </a:r>
            <a:r>
              <a:rPr lang="en-US" altLang="zh-TW" baseline="-25000" dirty="0" smtClean="0"/>
              <a:t>1</a:t>
            </a:r>
            <a:r>
              <a:rPr lang="en-US" altLang="zh-TW" dirty="0" smtClean="0"/>
              <a:t> = 2 t</a:t>
            </a:r>
            <a:r>
              <a:rPr lang="en-US" altLang="zh-TW" baseline="-25000" dirty="0" smtClean="0"/>
              <a:t>0 </a:t>
            </a:r>
            <a:r>
              <a:rPr lang="en-US" altLang="zh-TW" dirty="0" smtClean="0"/>
              <a:t>= 8</a:t>
            </a:r>
          </a:p>
          <a:p>
            <a:r>
              <a:rPr lang="en-US" altLang="zh-TW" dirty="0"/>
              <a:t>p</a:t>
            </a:r>
            <a:r>
              <a:rPr lang="en-US" altLang="zh-TW" dirty="0" smtClean="0"/>
              <a:t> = (t/∆-|n-m|)/2 = 1</a:t>
            </a:r>
          </a:p>
          <a:p>
            <a:endParaRPr lang="zh-TW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1714480" y="3000372"/>
          <a:ext cx="5418664" cy="362712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677333"/>
                <a:gridCol w="677333"/>
                <a:gridCol w="677333"/>
                <a:gridCol w="677333"/>
                <a:gridCol w="677333"/>
                <a:gridCol w="677333"/>
                <a:gridCol w="677333"/>
                <a:gridCol w="677333"/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x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y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x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z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y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z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0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2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4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y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2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3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2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4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x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2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4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2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4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/>
                    </a:p>
                  </a:txBody>
                  <a:tcPr anchor="ctr"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x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5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4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5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7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z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6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4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6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8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y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6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4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6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內容版面配置區 3" descr="1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71472" y="71414"/>
            <a:ext cx="8072494" cy="5715040"/>
          </a:xfrm>
        </p:spPr>
      </p:pic>
      <p:sp>
        <p:nvSpPr>
          <p:cNvPr id="3" name="文字方塊 2"/>
          <p:cNvSpPr txBox="1"/>
          <p:nvPr/>
        </p:nvSpPr>
        <p:spPr>
          <a:xfrm>
            <a:off x="1643042" y="5786454"/>
            <a:ext cx="5094023" cy="95410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zh-TW" sz="2800" dirty="0" smtClean="0"/>
              <a:t>Time Complexity = O(</a:t>
            </a:r>
            <a:r>
              <a:rPr lang="en-US" altLang="zh-TW" sz="2800" dirty="0" err="1" smtClean="0"/>
              <a:t>t·min</a:t>
            </a:r>
            <a:r>
              <a:rPr lang="en-US" altLang="zh-TW" sz="2800" dirty="0" smtClean="0"/>
              <a:t>(</a:t>
            </a:r>
            <a:r>
              <a:rPr lang="en-US" altLang="zh-TW" sz="2800" dirty="0" err="1" smtClean="0"/>
              <a:t>m,n</a:t>
            </a:r>
            <a:r>
              <a:rPr lang="en-US" altLang="zh-TW" sz="2800" dirty="0" smtClean="0"/>
              <a:t>)) </a:t>
            </a:r>
          </a:p>
          <a:p>
            <a:r>
              <a:rPr lang="en-US" altLang="zh-TW" sz="2800" dirty="0" smtClean="0"/>
              <a:t>Space Complexity = O(</a:t>
            </a:r>
            <a:r>
              <a:rPr lang="en-US" altLang="zh-TW" sz="2800" dirty="0" err="1" smtClean="0"/>
              <a:t>t·min</a:t>
            </a:r>
            <a:r>
              <a:rPr lang="en-US" altLang="zh-TW" sz="2800" dirty="0" smtClean="0"/>
              <a:t>(</a:t>
            </a:r>
            <a:r>
              <a:rPr lang="en-US" altLang="zh-TW" sz="2800" dirty="0" err="1" smtClean="0"/>
              <a:t>m,n</a:t>
            </a:r>
            <a:r>
              <a:rPr lang="en-US" altLang="zh-TW" sz="2800" dirty="0" smtClean="0"/>
              <a:t>))</a:t>
            </a:r>
            <a:endParaRPr lang="zh-TW" altLang="en-US" sz="28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Procedure test</a:t>
            </a:r>
            <a:r>
              <a:rPr lang="en-US" altLang="zh-TW" baseline="-25000" dirty="0" smtClean="0"/>
              <a:t>2</a:t>
            </a:r>
            <a:r>
              <a:rPr lang="en-US" altLang="zh-TW" dirty="0" smtClean="0"/>
              <a:t>(1/3)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A = </a:t>
            </a:r>
            <a:r>
              <a:rPr lang="en-US" altLang="zh-TW" dirty="0" err="1" smtClean="0"/>
              <a:t>yxxzy</a:t>
            </a:r>
            <a:r>
              <a:rPr lang="en-US" altLang="zh-TW" dirty="0" smtClean="0"/>
              <a:t>   B = </a:t>
            </a:r>
            <a:r>
              <a:rPr lang="en-US" altLang="zh-TW" dirty="0" err="1" smtClean="0"/>
              <a:t>xyxzyz</a:t>
            </a:r>
            <a:endParaRPr lang="en-US" altLang="zh-TW" dirty="0" smtClean="0"/>
          </a:p>
          <a:p>
            <a:r>
              <a:rPr lang="en-US" altLang="zh-TW" dirty="0" smtClean="0"/>
              <a:t>t</a:t>
            </a:r>
            <a:r>
              <a:rPr lang="en-US" altLang="zh-TW" baseline="-25000" dirty="0" smtClean="0"/>
              <a:t>0</a:t>
            </a:r>
            <a:r>
              <a:rPr lang="en-US" altLang="zh-TW" dirty="0" smtClean="0"/>
              <a:t> = (|n-m|+1)·∆ = 4</a:t>
            </a:r>
          </a:p>
          <a:p>
            <a:r>
              <a:rPr lang="en-US" altLang="zh-TW" dirty="0" smtClean="0"/>
              <a:t>p = (t/∆-|n-m|)/2 = 0</a:t>
            </a:r>
          </a:p>
          <a:p>
            <a:pPr>
              <a:buNone/>
            </a:pPr>
            <a:endParaRPr lang="zh-TW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5643570" y="2000240"/>
          <a:ext cx="2160000" cy="108000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540000"/>
                <a:gridCol w="540000"/>
                <a:gridCol w="540000"/>
                <a:gridCol w="540000"/>
              </a:tblGrid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r</a:t>
                      </a:r>
                      <a:r>
                        <a:rPr lang="en-US" altLang="zh-TW" sz="2800" b="0" baseline="-25000" dirty="0" smtClean="0"/>
                        <a:t>-1</a:t>
                      </a:r>
                      <a:endParaRPr lang="zh-TW" altLang="en-US" sz="2800" b="0" baseline="-25000" dirty="0"/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b="0" dirty="0" smtClean="0"/>
                        <a:t>r</a:t>
                      </a:r>
                      <a:r>
                        <a:rPr lang="en-US" altLang="zh-TW" sz="2800" b="0" baseline="-25000" dirty="0" smtClean="0"/>
                        <a:t>0</a:t>
                      </a:r>
                      <a:endParaRPr lang="zh-TW" altLang="en-US" sz="2800" b="0" baseline="-25000" dirty="0" smtClean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b="0" dirty="0" smtClean="0"/>
                        <a:t>r</a:t>
                      </a:r>
                      <a:r>
                        <a:rPr lang="en-US" altLang="zh-TW" sz="2800" b="0" baseline="-25000" dirty="0" smtClean="0"/>
                        <a:t>1</a:t>
                      </a:r>
                      <a:endParaRPr lang="zh-TW" altLang="en-US" sz="2800" b="0" baseline="-25000" dirty="0" smtClean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b="0" dirty="0" smtClean="0"/>
                        <a:t>r</a:t>
                      </a:r>
                      <a:r>
                        <a:rPr lang="en-US" altLang="zh-TW" sz="2800" b="0" baseline="-25000" dirty="0" smtClean="0"/>
                        <a:t>2</a:t>
                      </a:r>
                      <a:endParaRPr lang="zh-TW" altLang="en-US" sz="2800" b="0" baseline="-25000" dirty="0" smtClean="0"/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800" b="0" dirty="0" smtClean="0"/>
                        <a:t>∞</a:t>
                      </a: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b="0" dirty="0" smtClean="0"/>
                        <a:t>∞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800" b="0" dirty="0" smtClean="0"/>
                        <a:t>∞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800" b="0" dirty="0" smtClean="0"/>
                        <a:t>∞</a:t>
                      </a: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1983372" y="3706322"/>
          <a:ext cx="2160000" cy="108000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540000"/>
                <a:gridCol w="540000"/>
                <a:gridCol w="540000"/>
                <a:gridCol w="540000"/>
              </a:tblGrid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r</a:t>
                      </a:r>
                      <a:r>
                        <a:rPr lang="en-US" altLang="zh-TW" sz="2800" b="0" baseline="-25000" dirty="0" smtClean="0"/>
                        <a:t>-1</a:t>
                      </a:r>
                      <a:endParaRPr lang="zh-TW" altLang="en-US" sz="2800" b="0" baseline="-25000" dirty="0"/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b="0" dirty="0" smtClean="0"/>
                        <a:t>r</a:t>
                      </a:r>
                      <a:r>
                        <a:rPr lang="en-US" altLang="zh-TW" sz="2800" b="0" baseline="-25000" dirty="0" smtClean="0"/>
                        <a:t>0</a:t>
                      </a:r>
                      <a:endParaRPr lang="zh-TW" altLang="en-US" sz="2800" b="0" baseline="-25000" dirty="0" smtClean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b="0" dirty="0" smtClean="0"/>
                        <a:t>r</a:t>
                      </a:r>
                      <a:r>
                        <a:rPr lang="en-US" altLang="zh-TW" sz="2800" b="0" baseline="-25000" dirty="0" smtClean="0"/>
                        <a:t>1</a:t>
                      </a:r>
                      <a:endParaRPr lang="zh-TW" altLang="en-US" sz="2800" b="0" baseline="-25000" dirty="0" smtClean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b="0" dirty="0" smtClean="0"/>
                        <a:t>r</a:t>
                      </a:r>
                      <a:r>
                        <a:rPr lang="en-US" altLang="zh-TW" sz="2800" b="0" baseline="-25000" dirty="0" smtClean="0"/>
                        <a:t>2</a:t>
                      </a:r>
                      <a:endParaRPr lang="zh-TW" altLang="en-US" sz="2800" b="0" baseline="-25000" dirty="0" smtClean="0"/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800" b="0" dirty="0" smtClean="0"/>
                        <a:t>∞</a:t>
                      </a: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0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800" b="0" dirty="0" smtClean="0"/>
                        <a:t>∞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800" b="0" dirty="0" smtClean="0"/>
                        <a:t>∞</a:t>
                      </a: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8" name="向右箭號 7"/>
          <p:cNvSpPr/>
          <p:nvPr/>
        </p:nvSpPr>
        <p:spPr>
          <a:xfrm>
            <a:off x="4269388" y="4063512"/>
            <a:ext cx="642942" cy="28575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9" name="表格 8"/>
          <p:cNvGraphicFramePr>
            <a:graphicFrameLocks noGrp="1"/>
          </p:cNvGraphicFramePr>
          <p:nvPr/>
        </p:nvGraphicFramePr>
        <p:xfrm>
          <a:off x="5055206" y="3706322"/>
          <a:ext cx="2160000" cy="108000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540000"/>
                <a:gridCol w="540000"/>
                <a:gridCol w="540000"/>
                <a:gridCol w="540000"/>
              </a:tblGrid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r</a:t>
                      </a:r>
                      <a:r>
                        <a:rPr lang="en-US" altLang="zh-TW" sz="2800" b="0" baseline="-25000" dirty="0" smtClean="0"/>
                        <a:t>-1</a:t>
                      </a:r>
                      <a:endParaRPr lang="zh-TW" altLang="en-US" sz="2800" b="0" baseline="-25000" dirty="0"/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b="0" dirty="0" smtClean="0"/>
                        <a:t>r</a:t>
                      </a:r>
                      <a:r>
                        <a:rPr lang="en-US" altLang="zh-TW" sz="2800" b="0" baseline="-25000" dirty="0" smtClean="0"/>
                        <a:t>0</a:t>
                      </a:r>
                      <a:endParaRPr lang="zh-TW" altLang="en-US" sz="2800" b="0" baseline="-25000" dirty="0" smtClean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b="0" dirty="0" smtClean="0"/>
                        <a:t>r</a:t>
                      </a:r>
                      <a:r>
                        <a:rPr lang="en-US" altLang="zh-TW" sz="2800" b="0" baseline="-25000" dirty="0" smtClean="0"/>
                        <a:t>1</a:t>
                      </a:r>
                      <a:endParaRPr lang="zh-TW" altLang="en-US" sz="2800" b="0" baseline="-25000" dirty="0" smtClean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b="0" dirty="0" smtClean="0"/>
                        <a:t>r</a:t>
                      </a:r>
                      <a:r>
                        <a:rPr lang="en-US" altLang="zh-TW" sz="2800" b="0" baseline="-25000" dirty="0" smtClean="0"/>
                        <a:t>2</a:t>
                      </a:r>
                      <a:endParaRPr lang="zh-TW" altLang="en-US" sz="2800" b="0" baseline="-25000" dirty="0" smtClean="0"/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800" b="0" dirty="0" smtClean="0"/>
                        <a:t>∞</a:t>
                      </a: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0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b="0" dirty="0" smtClean="0"/>
                        <a:t>2</a:t>
                      </a:r>
                      <a:endParaRPr lang="zh-TW" altLang="en-US" sz="2800" b="0" dirty="0" smtClean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800" b="0" dirty="0" smtClean="0"/>
                        <a:t>∞</a:t>
                      </a: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表格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7022483"/>
              </p:ext>
            </p:extLst>
          </p:nvPr>
        </p:nvGraphicFramePr>
        <p:xfrm>
          <a:off x="1983372" y="5135082"/>
          <a:ext cx="2160000" cy="108000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540000"/>
                <a:gridCol w="540000"/>
                <a:gridCol w="540000"/>
                <a:gridCol w="540000"/>
              </a:tblGrid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r</a:t>
                      </a:r>
                      <a:r>
                        <a:rPr lang="en-US" altLang="zh-TW" sz="2800" b="0" baseline="-25000" dirty="0" smtClean="0"/>
                        <a:t>-1</a:t>
                      </a:r>
                      <a:endParaRPr lang="zh-TW" altLang="en-US" sz="2800" b="0" baseline="-25000" dirty="0"/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b="0" dirty="0" smtClean="0"/>
                        <a:t>r</a:t>
                      </a:r>
                      <a:r>
                        <a:rPr lang="en-US" altLang="zh-TW" sz="2800" b="0" baseline="-25000" dirty="0" smtClean="0"/>
                        <a:t>0</a:t>
                      </a:r>
                      <a:endParaRPr lang="zh-TW" altLang="en-US" sz="2800" b="0" baseline="-25000" dirty="0" smtClean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b="0" dirty="0" smtClean="0"/>
                        <a:t>r</a:t>
                      </a:r>
                      <a:r>
                        <a:rPr lang="en-US" altLang="zh-TW" sz="2800" b="0" baseline="-25000" dirty="0" smtClean="0"/>
                        <a:t>1</a:t>
                      </a:r>
                      <a:endParaRPr lang="zh-TW" altLang="en-US" sz="2800" b="0" baseline="-25000" dirty="0" smtClean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b="0" dirty="0" smtClean="0"/>
                        <a:t>r</a:t>
                      </a:r>
                      <a:r>
                        <a:rPr lang="en-US" altLang="zh-TW" sz="2800" b="0" baseline="-25000" dirty="0" smtClean="0"/>
                        <a:t>2</a:t>
                      </a:r>
                      <a:endParaRPr lang="zh-TW" altLang="en-US" sz="2800" b="0" baseline="-25000" dirty="0" smtClean="0"/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800" b="0" dirty="0" smtClean="0"/>
                        <a:t>∞</a:t>
                      </a: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3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b="0" dirty="0" smtClean="0"/>
                        <a:t>2</a:t>
                      </a:r>
                      <a:endParaRPr lang="zh-TW" altLang="en-US" sz="2800" b="0" dirty="0" smtClean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800" b="0" dirty="0" smtClean="0"/>
                        <a:t>∞</a:t>
                      </a: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11" name="向右箭號 10"/>
          <p:cNvSpPr/>
          <p:nvPr/>
        </p:nvSpPr>
        <p:spPr>
          <a:xfrm>
            <a:off x="4269388" y="5492272"/>
            <a:ext cx="642942" cy="28575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12" name="表格 11"/>
          <p:cNvGraphicFramePr>
            <a:graphicFrameLocks noGrp="1"/>
          </p:cNvGraphicFramePr>
          <p:nvPr/>
        </p:nvGraphicFramePr>
        <p:xfrm>
          <a:off x="5055206" y="5135082"/>
          <a:ext cx="2160000" cy="108000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540000"/>
                <a:gridCol w="540000"/>
                <a:gridCol w="540000"/>
                <a:gridCol w="540000"/>
              </a:tblGrid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r</a:t>
                      </a:r>
                      <a:r>
                        <a:rPr lang="en-US" altLang="zh-TW" sz="2800" b="0" baseline="-25000" dirty="0" smtClean="0"/>
                        <a:t>-1</a:t>
                      </a:r>
                      <a:endParaRPr lang="zh-TW" altLang="en-US" sz="2800" b="0" baseline="-25000" dirty="0"/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b="0" dirty="0" smtClean="0"/>
                        <a:t>r</a:t>
                      </a:r>
                      <a:r>
                        <a:rPr lang="en-US" altLang="zh-TW" sz="2800" b="0" baseline="-25000" dirty="0" smtClean="0"/>
                        <a:t>0</a:t>
                      </a:r>
                      <a:endParaRPr lang="zh-TW" altLang="en-US" sz="2800" b="0" baseline="-25000" dirty="0" smtClean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b="0" dirty="0" smtClean="0"/>
                        <a:t>r</a:t>
                      </a:r>
                      <a:r>
                        <a:rPr lang="en-US" altLang="zh-TW" sz="2800" b="0" baseline="-25000" dirty="0" smtClean="0"/>
                        <a:t>1</a:t>
                      </a:r>
                      <a:endParaRPr lang="zh-TW" altLang="en-US" sz="2800" b="0" baseline="-25000" dirty="0" smtClean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b="0" dirty="0" smtClean="0"/>
                        <a:t>r</a:t>
                      </a:r>
                      <a:r>
                        <a:rPr lang="en-US" altLang="zh-TW" sz="2800" b="0" baseline="-25000" dirty="0" smtClean="0"/>
                        <a:t>2</a:t>
                      </a:r>
                      <a:endParaRPr lang="zh-TW" altLang="en-US" sz="2800" b="0" baseline="-25000" dirty="0" smtClean="0"/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800" b="0" dirty="0" smtClean="0"/>
                        <a:t>∞</a:t>
                      </a: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3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b="0" dirty="0" smtClean="0"/>
                        <a:t>2</a:t>
                      </a:r>
                      <a:endParaRPr lang="zh-TW" altLang="en-US" sz="2800" b="0" dirty="0" smtClean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800" b="0" dirty="0" smtClean="0"/>
                        <a:t>∞</a:t>
                      </a: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15" name="文字方塊 14"/>
          <p:cNvSpPr txBox="1"/>
          <p:nvPr/>
        </p:nvSpPr>
        <p:spPr>
          <a:xfrm>
            <a:off x="857224" y="4000504"/>
            <a:ext cx="792205" cy="52322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zh-TW" sz="2800" dirty="0" err="1" smtClean="0"/>
              <a:t>i</a:t>
            </a:r>
            <a:r>
              <a:rPr lang="en-US" altLang="zh-TW" sz="2800" dirty="0" smtClean="0"/>
              <a:t> = 0</a:t>
            </a:r>
            <a:endParaRPr lang="zh-TW" altLang="en-US" sz="2800" dirty="0"/>
          </a:p>
        </p:txBody>
      </p:sp>
      <p:sp>
        <p:nvSpPr>
          <p:cNvPr id="16" name="文字方塊 15"/>
          <p:cNvSpPr txBox="1"/>
          <p:nvPr/>
        </p:nvSpPr>
        <p:spPr>
          <a:xfrm>
            <a:off x="857224" y="5357826"/>
            <a:ext cx="792205" cy="52322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zh-TW" sz="2800" dirty="0" err="1" smtClean="0"/>
              <a:t>i</a:t>
            </a:r>
            <a:r>
              <a:rPr lang="en-US" altLang="zh-TW" sz="2800" dirty="0" smtClean="0"/>
              <a:t> = 1</a:t>
            </a:r>
            <a:endParaRPr lang="zh-TW" altLang="en-US" sz="2800" dirty="0"/>
          </a:p>
        </p:txBody>
      </p:sp>
      <p:cxnSp>
        <p:nvCxnSpPr>
          <p:cNvPr id="6" name="直線接點 5"/>
          <p:cNvCxnSpPr/>
          <p:nvPr/>
        </p:nvCxnSpPr>
        <p:spPr>
          <a:xfrm>
            <a:off x="7380312" y="3645024"/>
            <a:ext cx="1512168" cy="108012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7" name="直線接點 16"/>
          <p:cNvCxnSpPr/>
          <p:nvPr/>
        </p:nvCxnSpPr>
        <p:spPr>
          <a:xfrm>
            <a:off x="7341604" y="4026267"/>
            <a:ext cx="1045029" cy="76005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/>
          <p:cNvCxnSpPr/>
          <p:nvPr/>
        </p:nvCxnSpPr>
        <p:spPr>
          <a:xfrm>
            <a:off x="7884368" y="3645024"/>
            <a:ext cx="1512168" cy="108012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4" name="橢圓 13"/>
          <p:cNvSpPr/>
          <p:nvPr/>
        </p:nvSpPr>
        <p:spPr>
          <a:xfrm>
            <a:off x="8143152" y="4185084"/>
            <a:ext cx="198910" cy="182810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橢圓 18"/>
          <p:cNvSpPr/>
          <p:nvPr/>
        </p:nvSpPr>
        <p:spPr>
          <a:xfrm>
            <a:off x="8127040" y="3782279"/>
            <a:ext cx="198910" cy="18281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橢圓 19"/>
          <p:cNvSpPr/>
          <p:nvPr/>
        </p:nvSpPr>
        <p:spPr>
          <a:xfrm>
            <a:off x="7619807" y="4223484"/>
            <a:ext cx="198910" cy="18281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橢圓 20"/>
          <p:cNvSpPr/>
          <p:nvPr/>
        </p:nvSpPr>
        <p:spPr>
          <a:xfrm>
            <a:off x="7553178" y="3761187"/>
            <a:ext cx="198910" cy="182810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Procedure test</a:t>
            </a:r>
            <a:r>
              <a:rPr lang="en-US" altLang="zh-TW" baseline="-25000" dirty="0" smtClean="0"/>
              <a:t>2</a:t>
            </a:r>
            <a:r>
              <a:rPr lang="en-US" altLang="zh-TW" dirty="0" smtClean="0"/>
              <a:t>(2/3)</a:t>
            </a:r>
            <a:endParaRPr lang="zh-TW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1928794" y="2420438"/>
          <a:ext cx="2160000" cy="108000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540000"/>
                <a:gridCol w="540000"/>
                <a:gridCol w="540000"/>
                <a:gridCol w="540000"/>
              </a:tblGrid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r</a:t>
                      </a:r>
                      <a:r>
                        <a:rPr lang="en-US" altLang="zh-TW" sz="2800" b="0" baseline="-25000" dirty="0" smtClean="0"/>
                        <a:t>-1</a:t>
                      </a:r>
                      <a:endParaRPr lang="zh-TW" altLang="en-US" sz="2800" b="0" baseline="-25000" dirty="0"/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b="0" dirty="0" smtClean="0"/>
                        <a:t>r</a:t>
                      </a:r>
                      <a:r>
                        <a:rPr lang="en-US" altLang="zh-TW" sz="2800" b="0" baseline="-25000" dirty="0" smtClean="0"/>
                        <a:t>0</a:t>
                      </a:r>
                      <a:endParaRPr lang="zh-TW" altLang="en-US" sz="2800" b="0" baseline="-25000" dirty="0" smtClean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b="0" dirty="0" smtClean="0"/>
                        <a:t>r</a:t>
                      </a:r>
                      <a:r>
                        <a:rPr lang="en-US" altLang="zh-TW" sz="2800" b="0" baseline="-25000" dirty="0" smtClean="0"/>
                        <a:t>1</a:t>
                      </a:r>
                      <a:endParaRPr lang="zh-TW" altLang="en-US" sz="2800" b="0" baseline="-25000" dirty="0" smtClean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b="0" dirty="0" smtClean="0"/>
                        <a:t>r</a:t>
                      </a:r>
                      <a:r>
                        <a:rPr lang="en-US" altLang="zh-TW" sz="2800" b="0" baseline="-25000" dirty="0" smtClean="0"/>
                        <a:t>2</a:t>
                      </a:r>
                      <a:endParaRPr lang="zh-TW" altLang="en-US" sz="2800" b="0" baseline="-25000" dirty="0" smtClean="0"/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800" b="0" dirty="0" smtClean="0"/>
                        <a:t>∞</a:t>
                      </a: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4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b="0" dirty="0" smtClean="0"/>
                        <a:t>2</a:t>
                      </a:r>
                      <a:endParaRPr lang="zh-TW" altLang="en-US" sz="2800" b="0" dirty="0" smtClean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800" b="0" dirty="0" smtClean="0"/>
                        <a:t>∞</a:t>
                      </a: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5" name="向右箭號 4"/>
          <p:cNvSpPr/>
          <p:nvPr/>
        </p:nvSpPr>
        <p:spPr>
          <a:xfrm>
            <a:off x="4214810" y="2777628"/>
            <a:ext cx="642942" cy="28575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5000628" y="2420438"/>
          <a:ext cx="2160000" cy="108000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540000"/>
                <a:gridCol w="540000"/>
                <a:gridCol w="540000"/>
                <a:gridCol w="540000"/>
              </a:tblGrid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r</a:t>
                      </a:r>
                      <a:r>
                        <a:rPr lang="en-US" altLang="zh-TW" sz="2800" b="0" baseline="-25000" dirty="0" smtClean="0"/>
                        <a:t>-1</a:t>
                      </a:r>
                      <a:endParaRPr lang="zh-TW" altLang="en-US" sz="2800" b="0" baseline="-25000" dirty="0"/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b="0" dirty="0" smtClean="0"/>
                        <a:t>r</a:t>
                      </a:r>
                      <a:r>
                        <a:rPr lang="en-US" altLang="zh-TW" sz="2800" b="0" baseline="-25000" dirty="0" smtClean="0"/>
                        <a:t>0</a:t>
                      </a:r>
                      <a:endParaRPr lang="zh-TW" altLang="en-US" sz="2800" b="0" baseline="-25000" dirty="0" smtClean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b="0" dirty="0" smtClean="0"/>
                        <a:t>r</a:t>
                      </a:r>
                      <a:r>
                        <a:rPr lang="en-US" altLang="zh-TW" sz="2800" b="0" baseline="-25000" dirty="0" smtClean="0"/>
                        <a:t>1</a:t>
                      </a:r>
                      <a:endParaRPr lang="zh-TW" altLang="en-US" sz="2800" b="0" baseline="-25000" dirty="0" smtClean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b="0" dirty="0" smtClean="0"/>
                        <a:t>r</a:t>
                      </a:r>
                      <a:r>
                        <a:rPr lang="en-US" altLang="zh-TW" sz="2800" b="0" baseline="-25000" dirty="0" smtClean="0"/>
                        <a:t>2</a:t>
                      </a:r>
                      <a:endParaRPr lang="zh-TW" altLang="en-US" sz="2800" b="0" baseline="-25000" dirty="0" smtClean="0"/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800" b="0" dirty="0" smtClean="0"/>
                        <a:t>∞</a:t>
                      </a: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4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b="0" dirty="0" smtClean="0"/>
                        <a:t>2</a:t>
                      </a:r>
                      <a:endParaRPr lang="zh-TW" altLang="en-US" sz="2800" b="0" dirty="0" smtClean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800" b="0" dirty="0" smtClean="0"/>
                        <a:t>∞</a:t>
                      </a: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1928794" y="3849198"/>
          <a:ext cx="2160000" cy="108000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540000"/>
                <a:gridCol w="540000"/>
                <a:gridCol w="540000"/>
                <a:gridCol w="540000"/>
              </a:tblGrid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r</a:t>
                      </a:r>
                      <a:r>
                        <a:rPr lang="en-US" altLang="zh-TW" sz="2800" b="0" baseline="-25000" dirty="0" smtClean="0"/>
                        <a:t>-1</a:t>
                      </a:r>
                      <a:endParaRPr lang="zh-TW" altLang="en-US" sz="2800" b="0" baseline="-25000" dirty="0"/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b="0" dirty="0" smtClean="0"/>
                        <a:t>r</a:t>
                      </a:r>
                      <a:r>
                        <a:rPr lang="en-US" altLang="zh-TW" sz="2800" b="0" baseline="-25000" dirty="0" smtClean="0"/>
                        <a:t>0</a:t>
                      </a:r>
                      <a:endParaRPr lang="zh-TW" altLang="en-US" sz="2800" b="0" baseline="-25000" dirty="0" smtClean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b="0" dirty="0" smtClean="0"/>
                        <a:t>r</a:t>
                      </a:r>
                      <a:r>
                        <a:rPr lang="en-US" altLang="zh-TW" sz="2800" b="0" baseline="-25000" dirty="0" smtClean="0"/>
                        <a:t>1</a:t>
                      </a:r>
                      <a:endParaRPr lang="zh-TW" altLang="en-US" sz="2800" b="0" baseline="-25000" dirty="0" smtClean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b="0" dirty="0" smtClean="0"/>
                        <a:t>r</a:t>
                      </a:r>
                      <a:r>
                        <a:rPr lang="en-US" altLang="zh-TW" sz="2800" b="0" baseline="-25000" dirty="0" smtClean="0"/>
                        <a:t>2</a:t>
                      </a:r>
                      <a:endParaRPr lang="zh-TW" altLang="en-US" sz="2800" b="0" baseline="-25000" dirty="0" smtClean="0"/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800" b="0" dirty="0" smtClean="0"/>
                        <a:t>∞</a:t>
                      </a: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4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b="0" dirty="0" smtClean="0"/>
                        <a:t>2</a:t>
                      </a:r>
                      <a:endParaRPr lang="zh-TW" altLang="en-US" sz="2800" b="0" dirty="0" smtClean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800" b="0" dirty="0" smtClean="0"/>
                        <a:t>∞</a:t>
                      </a: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8" name="向右箭號 7"/>
          <p:cNvSpPr/>
          <p:nvPr/>
        </p:nvSpPr>
        <p:spPr>
          <a:xfrm>
            <a:off x="4214810" y="4206388"/>
            <a:ext cx="642942" cy="28575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9" name="表格 8"/>
          <p:cNvGraphicFramePr>
            <a:graphicFrameLocks noGrp="1"/>
          </p:cNvGraphicFramePr>
          <p:nvPr/>
        </p:nvGraphicFramePr>
        <p:xfrm>
          <a:off x="5000628" y="3849198"/>
          <a:ext cx="2160000" cy="108000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540000"/>
                <a:gridCol w="540000"/>
                <a:gridCol w="540000"/>
                <a:gridCol w="540000"/>
              </a:tblGrid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r</a:t>
                      </a:r>
                      <a:r>
                        <a:rPr lang="en-US" altLang="zh-TW" sz="2800" b="0" baseline="-25000" dirty="0" smtClean="0"/>
                        <a:t>-1</a:t>
                      </a:r>
                      <a:endParaRPr lang="zh-TW" altLang="en-US" sz="2800" b="0" baseline="-25000" dirty="0"/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b="0" dirty="0" smtClean="0"/>
                        <a:t>r</a:t>
                      </a:r>
                      <a:r>
                        <a:rPr lang="en-US" altLang="zh-TW" sz="2800" b="0" baseline="-25000" dirty="0" smtClean="0"/>
                        <a:t>0</a:t>
                      </a:r>
                      <a:endParaRPr lang="zh-TW" altLang="en-US" sz="2800" b="0" baseline="-25000" dirty="0" smtClean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b="0" dirty="0" smtClean="0"/>
                        <a:t>r</a:t>
                      </a:r>
                      <a:r>
                        <a:rPr lang="en-US" altLang="zh-TW" sz="2800" b="0" baseline="-25000" dirty="0" smtClean="0"/>
                        <a:t>1</a:t>
                      </a:r>
                      <a:endParaRPr lang="zh-TW" altLang="en-US" sz="2800" b="0" baseline="-25000" dirty="0" smtClean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b="0" dirty="0" smtClean="0"/>
                        <a:t>r</a:t>
                      </a:r>
                      <a:r>
                        <a:rPr lang="en-US" altLang="zh-TW" sz="2800" b="0" baseline="-25000" dirty="0" smtClean="0"/>
                        <a:t>2</a:t>
                      </a:r>
                      <a:endParaRPr lang="zh-TW" altLang="en-US" sz="2800" b="0" baseline="-25000" dirty="0" smtClean="0"/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800" b="0" dirty="0" smtClean="0"/>
                        <a:t>∞</a:t>
                      </a: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4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b="0" dirty="0" smtClean="0"/>
                        <a:t>5</a:t>
                      </a:r>
                      <a:endParaRPr lang="zh-TW" altLang="en-US" sz="2800" b="0" dirty="0" smtClean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800" b="0" dirty="0" smtClean="0"/>
                        <a:t>∞</a:t>
                      </a: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10" name="文字方塊 9"/>
          <p:cNvSpPr txBox="1"/>
          <p:nvPr/>
        </p:nvSpPr>
        <p:spPr>
          <a:xfrm>
            <a:off x="714348" y="2777628"/>
            <a:ext cx="792205" cy="52322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zh-TW" sz="2800" dirty="0" err="1" smtClean="0"/>
              <a:t>i</a:t>
            </a:r>
            <a:r>
              <a:rPr lang="en-US" altLang="zh-TW" sz="2800" dirty="0" smtClean="0"/>
              <a:t> = 2</a:t>
            </a:r>
            <a:endParaRPr lang="zh-TW" altLang="en-US" sz="2800" dirty="0"/>
          </a:p>
        </p:txBody>
      </p:sp>
      <p:sp>
        <p:nvSpPr>
          <p:cNvPr id="11" name="文字方塊 10"/>
          <p:cNvSpPr txBox="1"/>
          <p:nvPr/>
        </p:nvSpPr>
        <p:spPr>
          <a:xfrm>
            <a:off x="714348" y="4134950"/>
            <a:ext cx="792205" cy="52322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zh-TW" sz="2800" dirty="0" err="1" smtClean="0"/>
              <a:t>i</a:t>
            </a:r>
            <a:r>
              <a:rPr lang="en-US" altLang="zh-TW" sz="2800" dirty="0" smtClean="0"/>
              <a:t> = 3</a:t>
            </a:r>
            <a:endParaRPr lang="zh-TW" altLang="en-US" sz="2800" dirty="0"/>
          </a:p>
        </p:txBody>
      </p:sp>
      <p:graphicFrame>
        <p:nvGraphicFramePr>
          <p:cNvPr id="12" name="表格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7513326"/>
              </p:ext>
            </p:extLst>
          </p:nvPr>
        </p:nvGraphicFramePr>
        <p:xfrm>
          <a:off x="1928794" y="5277958"/>
          <a:ext cx="2160000" cy="108000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540000"/>
                <a:gridCol w="540000"/>
                <a:gridCol w="540000"/>
                <a:gridCol w="540000"/>
              </a:tblGrid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r</a:t>
                      </a:r>
                      <a:r>
                        <a:rPr lang="en-US" altLang="zh-TW" sz="2800" b="0" baseline="-25000" dirty="0" smtClean="0"/>
                        <a:t>-1</a:t>
                      </a:r>
                      <a:endParaRPr lang="zh-TW" altLang="en-US" sz="2800" b="0" baseline="-25000" dirty="0"/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b="0" dirty="0" smtClean="0"/>
                        <a:t>r</a:t>
                      </a:r>
                      <a:r>
                        <a:rPr lang="en-US" altLang="zh-TW" sz="2800" b="0" baseline="-25000" dirty="0" smtClean="0"/>
                        <a:t>0</a:t>
                      </a:r>
                      <a:endParaRPr lang="zh-TW" altLang="en-US" sz="2800" b="0" baseline="-25000" dirty="0" smtClean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b="0" dirty="0" smtClean="0"/>
                        <a:t>r</a:t>
                      </a:r>
                      <a:r>
                        <a:rPr lang="en-US" altLang="zh-TW" sz="2800" b="0" baseline="-25000" dirty="0" smtClean="0"/>
                        <a:t>1</a:t>
                      </a:r>
                      <a:endParaRPr lang="zh-TW" altLang="en-US" sz="2800" b="0" baseline="-25000" dirty="0" smtClean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b="0" dirty="0" smtClean="0"/>
                        <a:t>r</a:t>
                      </a:r>
                      <a:r>
                        <a:rPr lang="en-US" altLang="zh-TW" sz="2800" b="0" baseline="-25000" dirty="0" smtClean="0"/>
                        <a:t>2</a:t>
                      </a:r>
                      <a:endParaRPr lang="zh-TW" altLang="en-US" sz="2800" b="0" baseline="-25000" dirty="0" smtClean="0"/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800" b="0" dirty="0" smtClean="0"/>
                        <a:t>∞</a:t>
                      </a: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4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b="0" dirty="0" smtClean="0"/>
                        <a:t>5</a:t>
                      </a:r>
                      <a:endParaRPr lang="zh-TW" altLang="en-US" sz="2800" b="0" dirty="0" smtClean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800" b="0" dirty="0" smtClean="0"/>
                        <a:t>∞</a:t>
                      </a: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13" name="向右箭號 12"/>
          <p:cNvSpPr/>
          <p:nvPr/>
        </p:nvSpPr>
        <p:spPr>
          <a:xfrm>
            <a:off x="4214810" y="5635148"/>
            <a:ext cx="642942" cy="28575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14" name="表格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1095930"/>
              </p:ext>
            </p:extLst>
          </p:nvPr>
        </p:nvGraphicFramePr>
        <p:xfrm>
          <a:off x="5000628" y="5277958"/>
          <a:ext cx="2160000" cy="108000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540000"/>
                <a:gridCol w="540000"/>
                <a:gridCol w="540000"/>
                <a:gridCol w="540000"/>
              </a:tblGrid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r</a:t>
                      </a:r>
                      <a:r>
                        <a:rPr lang="en-US" altLang="zh-TW" sz="2800" b="0" baseline="-25000" dirty="0" smtClean="0"/>
                        <a:t>-1</a:t>
                      </a:r>
                      <a:endParaRPr lang="zh-TW" altLang="en-US" sz="2800" b="0" baseline="-25000" dirty="0"/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b="0" dirty="0" smtClean="0"/>
                        <a:t>r</a:t>
                      </a:r>
                      <a:r>
                        <a:rPr lang="en-US" altLang="zh-TW" sz="2800" b="0" baseline="-25000" dirty="0" smtClean="0"/>
                        <a:t>0</a:t>
                      </a:r>
                      <a:endParaRPr lang="zh-TW" altLang="en-US" sz="2800" b="0" baseline="-25000" dirty="0" smtClean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b="0" dirty="0" smtClean="0"/>
                        <a:t>r</a:t>
                      </a:r>
                      <a:r>
                        <a:rPr lang="en-US" altLang="zh-TW" sz="2800" b="0" baseline="-25000" dirty="0" smtClean="0"/>
                        <a:t>1</a:t>
                      </a:r>
                      <a:endParaRPr lang="zh-TW" altLang="en-US" sz="2800" b="0" baseline="-25000" dirty="0" smtClean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b="0" dirty="0" smtClean="0"/>
                        <a:t>r</a:t>
                      </a:r>
                      <a:r>
                        <a:rPr lang="en-US" altLang="zh-TW" sz="2800" b="0" baseline="-25000" dirty="0" smtClean="0"/>
                        <a:t>2</a:t>
                      </a:r>
                      <a:endParaRPr lang="zh-TW" altLang="en-US" sz="2800" b="0" baseline="-25000" dirty="0" smtClean="0"/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800" b="0" dirty="0" smtClean="0"/>
                        <a:t>∞</a:t>
                      </a: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b="0" dirty="0" smtClean="0"/>
                        <a:t>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b="0" dirty="0" smtClean="0"/>
                        <a:t>6</a:t>
                      </a:r>
                      <a:endParaRPr lang="zh-TW" altLang="en-US" sz="2800" b="0" dirty="0" smtClean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800" b="0" dirty="0" smtClean="0"/>
                        <a:t>∞</a:t>
                      </a: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15" name="文字方塊 14"/>
          <p:cNvSpPr txBox="1"/>
          <p:nvPr/>
        </p:nvSpPr>
        <p:spPr>
          <a:xfrm>
            <a:off x="714348" y="5563710"/>
            <a:ext cx="792205" cy="52322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zh-TW" sz="2800" dirty="0" err="1" smtClean="0"/>
              <a:t>i</a:t>
            </a:r>
            <a:r>
              <a:rPr lang="en-US" altLang="zh-TW" sz="2800" dirty="0" smtClean="0"/>
              <a:t> = 4</a:t>
            </a:r>
            <a:endParaRPr lang="zh-TW" altLang="en-US" sz="2800" dirty="0"/>
          </a:p>
        </p:txBody>
      </p:sp>
      <p:sp>
        <p:nvSpPr>
          <p:cNvPr id="16" name="矩形 15"/>
          <p:cNvSpPr/>
          <p:nvPr/>
        </p:nvSpPr>
        <p:spPr>
          <a:xfrm>
            <a:off x="500034" y="1714488"/>
            <a:ext cx="324678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altLang="zh-TW" sz="2800" dirty="0" smtClean="0"/>
              <a:t>A = </a:t>
            </a:r>
            <a:r>
              <a:rPr lang="en-US" altLang="zh-TW" sz="2800" dirty="0" err="1" smtClean="0"/>
              <a:t>yxxzy</a:t>
            </a:r>
            <a:r>
              <a:rPr lang="en-US" altLang="zh-TW" sz="2800" dirty="0" smtClean="0"/>
              <a:t>  B = </a:t>
            </a:r>
            <a:r>
              <a:rPr lang="en-US" altLang="zh-TW" sz="2800" dirty="0" err="1" smtClean="0"/>
              <a:t>xyxzyz</a:t>
            </a:r>
            <a:endParaRPr lang="en-US" altLang="zh-TW" sz="2800" dirty="0" smtClean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Procedure test</a:t>
            </a:r>
            <a:r>
              <a:rPr lang="en-US" altLang="zh-TW" baseline="-25000" dirty="0" smtClean="0"/>
              <a:t>2</a:t>
            </a:r>
            <a:r>
              <a:rPr lang="en-US" altLang="zh-TW" dirty="0" smtClean="0"/>
              <a:t>(3/3)</a:t>
            </a:r>
            <a:endParaRPr lang="zh-TW" altLang="en-US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871534"/>
              </p:ext>
            </p:extLst>
          </p:nvPr>
        </p:nvGraphicFramePr>
        <p:xfrm>
          <a:off x="1928794" y="2420438"/>
          <a:ext cx="2160000" cy="108000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540000"/>
                <a:gridCol w="540000"/>
                <a:gridCol w="540000"/>
                <a:gridCol w="540000"/>
              </a:tblGrid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r</a:t>
                      </a:r>
                      <a:r>
                        <a:rPr lang="en-US" altLang="zh-TW" sz="2800" b="0" baseline="-25000" dirty="0" smtClean="0"/>
                        <a:t>-1</a:t>
                      </a:r>
                      <a:endParaRPr lang="zh-TW" altLang="en-US" sz="2800" b="0" baseline="-25000" dirty="0"/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b="0" dirty="0" smtClean="0"/>
                        <a:t>r</a:t>
                      </a:r>
                      <a:r>
                        <a:rPr lang="en-US" altLang="zh-TW" sz="2800" b="0" baseline="-25000" dirty="0" smtClean="0"/>
                        <a:t>0</a:t>
                      </a:r>
                      <a:endParaRPr lang="zh-TW" altLang="en-US" sz="2800" b="0" baseline="-25000" dirty="0" smtClean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b="0" dirty="0" smtClean="0"/>
                        <a:t>r</a:t>
                      </a:r>
                      <a:r>
                        <a:rPr lang="en-US" altLang="zh-TW" sz="2800" b="0" baseline="-25000" dirty="0" smtClean="0"/>
                        <a:t>1</a:t>
                      </a:r>
                      <a:endParaRPr lang="zh-TW" altLang="en-US" sz="2800" b="0" baseline="-25000" dirty="0" smtClean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b="0" dirty="0" smtClean="0"/>
                        <a:t>r</a:t>
                      </a:r>
                      <a:r>
                        <a:rPr lang="en-US" altLang="zh-TW" sz="2800" b="0" baseline="-25000" dirty="0" smtClean="0"/>
                        <a:t>2</a:t>
                      </a:r>
                      <a:endParaRPr lang="zh-TW" altLang="en-US" sz="2800" b="0" baseline="-25000" dirty="0" smtClean="0"/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800" b="0" dirty="0" smtClean="0"/>
                        <a:t>∞</a:t>
                      </a: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b="0" dirty="0" smtClean="0"/>
                        <a:t>4</a:t>
                      </a:r>
                      <a:endParaRPr lang="zh-TW" altLang="en-US" sz="2400" b="0" dirty="0" smtClean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b="0" dirty="0" smtClean="0"/>
                        <a:t>6</a:t>
                      </a:r>
                      <a:endParaRPr lang="zh-TW" altLang="en-US" sz="2800" b="0" dirty="0" smtClean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800" b="0" dirty="0" smtClean="0"/>
                        <a:t>∞</a:t>
                      </a: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6" name="向右箭號 5"/>
          <p:cNvSpPr/>
          <p:nvPr/>
        </p:nvSpPr>
        <p:spPr>
          <a:xfrm>
            <a:off x="4214810" y="2777628"/>
            <a:ext cx="642942" cy="28575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3267388"/>
              </p:ext>
            </p:extLst>
          </p:nvPr>
        </p:nvGraphicFramePr>
        <p:xfrm>
          <a:off x="5000628" y="2420438"/>
          <a:ext cx="2160000" cy="108000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540000"/>
                <a:gridCol w="540000"/>
                <a:gridCol w="540000"/>
                <a:gridCol w="540000"/>
              </a:tblGrid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r</a:t>
                      </a:r>
                      <a:r>
                        <a:rPr lang="en-US" altLang="zh-TW" sz="2800" b="0" baseline="-25000" dirty="0" smtClean="0"/>
                        <a:t>-1</a:t>
                      </a:r>
                      <a:endParaRPr lang="zh-TW" altLang="en-US" sz="2800" b="0" baseline="-25000" dirty="0"/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b="0" dirty="0" smtClean="0"/>
                        <a:t>r</a:t>
                      </a:r>
                      <a:r>
                        <a:rPr lang="en-US" altLang="zh-TW" sz="2800" b="0" baseline="-25000" dirty="0" smtClean="0"/>
                        <a:t>0</a:t>
                      </a:r>
                      <a:endParaRPr lang="zh-TW" altLang="en-US" sz="2800" b="0" baseline="-25000" dirty="0" smtClean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b="0" dirty="0" smtClean="0"/>
                        <a:t>r</a:t>
                      </a:r>
                      <a:r>
                        <a:rPr lang="en-US" altLang="zh-TW" sz="2800" b="0" baseline="-25000" dirty="0" smtClean="0"/>
                        <a:t>1</a:t>
                      </a:r>
                      <a:endParaRPr lang="zh-TW" altLang="en-US" sz="2800" b="0" baseline="-25000" dirty="0" smtClean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b="0" dirty="0" smtClean="0"/>
                        <a:t>r</a:t>
                      </a:r>
                      <a:r>
                        <a:rPr lang="en-US" altLang="zh-TW" sz="2800" b="0" baseline="-25000" dirty="0" smtClean="0"/>
                        <a:t>2</a:t>
                      </a:r>
                      <a:endParaRPr lang="zh-TW" altLang="en-US" sz="2800" b="0" baseline="-25000" dirty="0" smtClean="0"/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800" b="0" dirty="0" smtClean="0"/>
                        <a:t>∞</a:t>
                      </a: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b="0" dirty="0" smtClean="0"/>
                        <a:t>4</a:t>
                      </a:r>
                      <a:endParaRPr lang="zh-TW" altLang="en-US" sz="24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b="0" dirty="0" smtClean="0"/>
                        <a:t>6</a:t>
                      </a:r>
                      <a:endParaRPr lang="zh-TW" altLang="en-US" sz="2800" b="0" dirty="0" smtClean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800" b="0" dirty="0" smtClean="0"/>
                        <a:t>∞</a:t>
                      </a: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8" name="文字方塊 7"/>
          <p:cNvSpPr txBox="1"/>
          <p:nvPr/>
        </p:nvSpPr>
        <p:spPr>
          <a:xfrm>
            <a:off x="714348" y="2777628"/>
            <a:ext cx="792205" cy="52322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zh-TW" sz="2800" dirty="0" err="1" smtClean="0"/>
              <a:t>i</a:t>
            </a:r>
            <a:r>
              <a:rPr lang="en-US" altLang="zh-TW" sz="2800" dirty="0" smtClean="0"/>
              <a:t> = 5</a:t>
            </a:r>
            <a:endParaRPr lang="zh-TW" altLang="en-US" sz="2800" dirty="0"/>
          </a:p>
        </p:txBody>
      </p:sp>
      <p:sp>
        <p:nvSpPr>
          <p:cNvPr id="9" name="矩形 8"/>
          <p:cNvSpPr/>
          <p:nvPr/>
        </p:nvSpPr>
        <p:spPr>
          <a:xfrm>
            <a:off x="500034" y="1714488"/>
            <a:ext cx="332854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altLang="zh-TW" sz="2800" dirty="0" smtClean="0"/>
              <a:t>A = </a:t>
            </a:r>
            <a:r>
              <a:rPr lang="en-US" altLang="zh-TW" sz="2800" dirty="0" err="1" smtClean="0"/>
              <a:t>yxxzy</a:t>
            </a:r>
            <a:r>
              <a:rPr lang="en-US" altLang="zh-TW" sz="2800" dirty="0" smtClean="0"/>
              <a:t>  B = </a:t>
            </a:r>
            <a:r>
              <a:rPr lang="en-US" altLang="zh-TW" sz="2800" dirty="0" err="1" smtClean="0"/>
              <a:t>xyxzyz</a:t>
            </a:r>
            <a:endParaRPr lang="en-US" altLang="zh-TW" sz="2800" dirty="0" smtClean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內容版面配置區 3" descr="2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7158" y="285728"/>
            <a:ext cx="8358246" cy="5429288"/>
          </a:xfrm>
        </p:spPr>
      </p:pic>
      <p:sp>
        <p:nvSpPr>
          <p:cNvPr id="5" name="文字方塊 4"/>
          <p:cNvSpPr txBox="1"/>
          <p:nvPr/>
        </p:nvSpPr>
        <p:spPr>
          <a:xfrm>
            <a:off x="1643042" y="5786454"/>
            <a:ext cx="5102038" cy="52322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zh-TW" sz="2800" dirty="0" smtClean="0"/>
              <a:t>Space Complexity = O(min(</a:t>
            </a:r>
            <a:r>
              <a:rPr lang="en-US" altLang="zh-TW" sz="2800" dirty="0" err="1" smtClean="0"/>
              <a:t>t,m,n</a:t>
            </a:r>
            <a:r>
              <a:rPr lang="en-US" altLang="zh-TW" sz="2800" dirty="0" smtClean="0"/>
              <a:t>))</a:t>
            </a:r>
            <a:endParaRPr lang="zh-TW" altLang="en-US" sz="28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Special Case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A = </a:t>
            </a:r>
            <a:r>
              <a:rPr lang="en-US" altLang="zh-TW" dirty="0" err="1" smtClean="0"/>
              <a:t>yxxzy</a:t>
            </a:r>
            <a:r>
              <a:rPr lang="en-US" altLang="zh-TW" dirty="0" smtClean="0"/>
              <a:t> </a:t>
            </a:r>
          </a:p>
          <a:p>
            <a:r>
              <a:rPr lang="en-US" altLang="zh-TW" dirty="0" smtClean="0"/>
              <a:t>B = </a:t>
            </a:r>
            <a:r>
              <a:rPr lang="en-US" altLang="zh-TW" dirty="0" err="1" smtClean="0"/>
              <a:t>xyxzyz</a:t>
            </a:r>
            <a:endParaRPr lang="en-US" altLang="zh-TW" dirty="0" smtClean="0"/>
          </a:p>
          <a:p>
            <a:r>
              <a:rPr lang="en-US" altLang="zh-TW" dirty="0" smtClean="0"/>
              <a:t>Deletion = 1</a:t>
            </a:r>
          </a:p>
          <a:p>
            <a:r>
              <a:rPr lang="en-US" altLang="zh-TW" dirty="0" smtClean="0"/>
              <a:t>Insertion = 1</a:t>
            </a:r>
          </a:p>
          <a:p>
            <a:r>
              <a:rPr lang="en-US" altLang="zh-TW" dirty="0" smtClean="0"/>
              <a:t>Change = 1</a:t>
            </a:r>
          </a:p>
          <a:p>
            <a:endParaRPr lang="en-US" altLang="zh-TW" dirty="0" smtClean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8185676"/>
              </p:ext>
            </p:extLst>
          </p:nvPr>
        </p:nvGraphicFramePr>
        <p:xfrm>
          <a:off x="3214678" y="1643050"/>
          <a:ext cx="5418664" cy="362712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677333"/>
                <a:gridCol w="677333"/>
                <a:gridCol w="677333"/>
                <a:gridCol w="677333"/>
                <a:gridCol w="677333"/>
                <a:gridCol w="677333"/>
                <a:gridCol w="677333"/>
                <a:gridCol w="677333"/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x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y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x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z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y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z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0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1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2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3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4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5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6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y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1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1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1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2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3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4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5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x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2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1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2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1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2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3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4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x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3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2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2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2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2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3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4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z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4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3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3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3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2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3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3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y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5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4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3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4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3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2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3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內容版面配置區 3"/>
          <p:cNvGraphicFramePr>
            <a:graphicFrameLocks/>
          </p:cNvGraphicFramePr>
          <p:nvPr/>
        </p:nvGraphicFramePr>
        <p:xfrm>
          <a:off x="3643338" y="5500702"/>
          <a:ext cx="4572000" cy="103632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914400"/>
                <a:gridCol w="914400"/>
                <a:gridCol w="914400"/>
                <a:gridCol w="914400"/>
                <a:gridCol w="914400"/>
              </a:tblGrid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b="0" dirty="0" smtClean="0"/>
                        <a:t>f</a:t>
                      </a:r>
                      <a:r>
                        <a:rPr lang="en-US" altLang="zh-TW" sz="2800" b="0" baseline="-25000" dirty="0" smtClean="0"/>
                        <a:t>1,-1</a:t>
                      </a:r>
                      <a:endParaRPr lang="zh-TW" altLang="en-US" sz="2800" b="0" baseline="-25000" dirty="0" smtClean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b="0" dirty="0" smtClean="0"/>
                        <a:t>f</a:t>
                      </a:r>
                      <a:r>
                        <a:rPr lang="en-US" altLang="zh-TW" sz="2800" b="0" baseline="-25000" dirty="0" smtClean="0"/>
                        <a:t>1,0</a:t>
                      </a:r>
                      <a:endParaRPr lang="zh-TW" altLang="en-US" sz="2800" b="0" baseline="-25000" dirty="0" smtClean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b="0" dirty="0" smtClean="0"/>
                        <a:t>f</a:t>
                      </a:r>
                      <a:r>
                        <a:rPr lang="en-US" altLang="zh-TW" sz="2800" b="0" baseline="-25000" dirty="0" smtClean="0"/>
                        <a:t>1,1</a:t>
                      </a:r>
                      <a:endParaRPr lang="zh-TW" altLang="en-US" sz="2800" b="0" baseline="-25000" dirty="0" smtClean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b="0" dirty="0" smtClean="0"/>
                        <a:t>f</a:t>
                      </a:r>
                      <a:r>
                        <a:rPr lang="en-US" altLang="zh-TW" sz="2800" b="0" baseline="-25000" dirty="0" smtClean="0"/>
                        <a:t>1,2</a:t>
                      </a:r>
                      <a:endParaRPr lang="zh-TW" altLang="en-US" sz="2800" b="0" baseline="-25000" dirty="0" smtClean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b="0" dirty="0" smtClean="0"/>
                        <a:t>f</a:t>
                      </a:r>
                      <a:r>
                        <a:rPr lang="en-US" altLang="zh-TW" sz="2800" b="0" baseline="-25000" dirty="0" smtClean="0"/>
                        <a:t>1,3</a:t>
                      </a:r>
                      <a:endParaRPr lang="zh-TW" altLang="en-US" sz="2800" b="0" baseline="-25000" dirty="0" smtClean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b="0" dirty="0" smtClean="0"/>
                        <a:t>-</a:t>
                      </a:r>
                      <a:r>
                        <a:rPr lang="zh-TW" altLang="en-US" sz="2800" b="0" dirty="0" smtClean="0"/>
                        <a:t>∞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-1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3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4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6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Compute </a:t>
            </a:r>
            <a:r>
              <a:rPr lang="en-US" altLang="zh-TW" dirty="0" err="1" smtClean="0"/>
              <a:t>f</a:t>
            </a:r>
            <a:r>
              <a:rPr lang="en-US" altLang="zh-TW" baseline="-25000" dirty="0" err="1" smtClean="0"/>
              <a:t>k,p</a:t>
            </a:r>
            <a:endParaRPr lang="zh-TW" altLang="en-US" dirty="0"/>
          </a:p>
        </p:txBody>
      </p:sp>
      <p:sp>
        <p:nvSpPr>
          <p:cNvPr id="4" name="文字方塊 3"/>
          <p:cNvSpPr txBox="1"/>
          <p:nvPr/>
        </p:nvSpPr>
        <p:spPr>
          <a:xfrm>
            <a:off x="142844" y="1643050"/>
            <a:ext cx="1010213" cy="52322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zh-TW" sz="2800" dirty="0" smtClean="0"/>
              <a:t>p = -1</a:t>
            </a:r>
            <a:endParaRPr lang="zh-TW" altLang="en-US" sz="2800" dirty="0"/>
          </a:p>
        </p:txBody>
      </p:sp>
      <p:sp>
        <p:nvSpPr>
          <p:cNvPr id="5" name="文字方塊 4"/>
          <p:cNvSpPr txBox="1"/>
          <p:nvPr/>
        </p:nvSpPr>
        <p:spPr>
          <a:xfrm>
            <a:off x="142844" y="2357430"/>
            <a:ext cx="899605" cy="52322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zh-TW" sz="2800" dirty="0" smtClean="0"/>
              <a:t>p = 0</a:t>
            </a:r>
            <a:endParaRPr lang="zh-TW" altLang="en-US" sz="2800" dirty="0"/>
          </a:p>
        </p:txBody>
      </p:sp>
      <p:sp>
        <p:nvSpPr>
          <p:cNvPr id="7" name="文字方塊 6"/>
          <p:cNvSpPr txBox="1"/>
          <p:nvPr/>
        </p:nvSpPr>
        <p:spPr>
          <a:xfrm>
            <a:off x="1071538" y="2357430"/>
            <a:ext cx="120417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f</a:t>
            </a:r>
            <a:r>
              <a:rPr lang="en-US" altLang="zh-TW" sz="2800" baseline="-25000" dirty="0" smtClean="0"/>
              <a:t>0,0</a:t>
            </a:r>
            <a:r>
              <a:rPr lang="zh-TW" altLang="en-US" sz="2800" dirty="0" smtClean="0"/>
              <a:t> </a:t>
            </a:r>
            <a:r>
              <a:rPr lang="en-US" altLang="zh-TW" sz="2800" dirty="0" smtClean="0"/>
              <a:t>= 0 </a:t>
            </a:r>
            <a:endParaRPr lang="zh-TW" altLang="en-US" sz="2800" baseline="-25000" dirty="0" smtClean="0"/>
          </a:p>
        </p:txBody>
      </p:sp>
      <p:sp>
        <p:nvSpPr>
          <p:cNvPr id="9" name="文字方塊 8"/>
          <p:cNvSpPr txBox="1"/>
          <p:nvPr/>
        </p:nvSpPr>
        <p:spPr>
          <a:xfrm>
            <a:off x="142844" y="3071810"/>
            <a:ext cx="899605" cy="52322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zh-TW" sz="2800" dirty="0" smtClean="0"/>
              <a:t>p = 1</a:t>
            </a:r>
            <a:endParaRPr lang="zh-TW" altLang="en-US" sz="2800" dirty="0"/>
          </a:p>
        </p:txBody>
      </p:sp>
      <p:sp>
        <p:nvSpPr>
          <p:cNvPr id="10" name="文字方塊 9"/>
          <p:cNvSpPr txBox="1"/>
          <p:nvPr/>
        </p:nvSpPr>
        <p:spPr>
          <a:xfrm>
            <a:off x="1071538" y="3071810"/>
            <a:ext cx="365997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f</a:t>
            </a:r>
            <a:r>
              <a:rPr lang="en-US" altLang="zh-TW" sz="2800" baseline="-25000" dirty="0" smtClean="0"/>
              <a:t>-1,1</a:t>
            </a:r>
            <a:r>
              <a:rPr lang="zh-TW" altLang="en-US" sz="2800" dirty="0" smtClean="0"/>
              <a:t> </a:t>
            </a:r>
            <a:r>
              <a:rPr lang="en-US" altLang="zh-TW" sz="2800" dirty="0" smtClean="0"/>
              <a:t>=  1 , f</a:t>
            </a:r>
            <a:r>
              <a:rPr lang="en-US" altLang="zh-TW" sz="2800" baseline="-25000" dirty="0" smtClean="0"/>
              <a:t>0,1</a:t>
            </a:r>
            <a:r>
              <a:rPr lang="zh-TW" altLang="en-US" sz="2800" dirty="0" smtClean="0"/>
              <a:t> </a:t>
            </a:r>
            <a:r>
              <a:rPr lang="en-US" altLang="zh-TW" sz="2800" dirty="0" smtClean="0"/>
              <a:t>= 1 , f</a:t>
            </a:r>
            <a:r>
              <a:rPr lang="en-US" altLang="zh-TW" sz="2800" baseline="-25000" dirty="0" smtClean="0"/>
              <a:t>1,1</a:t>
            </a:r>
            <a:r>
              <a:rPr lang="zh-TW" altLang="en-US" sz="2800" dirty="0" smtClean="0"/>
              <a:t> </a:t>
            </a:r>
            <a:r>
              <a:rPr lang="en-US" altLang="zh-TW" sz="2800" dirty="0" smtClean="0"/>
              <a:t>= 3</a:t>
            </a:r>
            <a:endParaRPr lang="zh-TW" altLang="en-US" sz="2800" baseline="-25000" dirty="0" smtClean="0"/>
          </a:p>
        </p:txBody>
      </p:sp>
      <p:sp>
        <p:nvSpPr>
          <p:cNvPr id="11" name="文字方塊 10"/>
          <p:cNvSpPr txBox="1"/>
          <p:nvPr/>
        </p:nvSpPr>
        <p:spPr>
          <a:xfrm>
            <a:off x="142844" y="4143380"/>
            <a:ext cx="899605" cy="52322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zh-TW" sz="2800" dirty="0" smtClean="0"/>
              <a:t>p = 2</a:t>
            </a:r>
            <a:endParaRPr lang="zh-TW" altLang="en-US" sz="2800" dirty="0"/>
          </a:p>
        </p:txBody>
      </p:sp>
      <p:sp>
        <p:nvSpPr>
          <p:cNvPr id="12" name="文字方塊 11"/>
          <p:cNvSpPr txBox="1"/>
          <p:nvPr/>
        </p:nvSpPr>
        <p:spPr>
          <a:xfrm>
            <a:off x="1071538" y="4143380"/>
            <a:ext cx="3815468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f</a:t>
            </a:r>
            <a:r>
              <a:rPr lang="en-US" altLang="zh-TW" sz="2800" baseline="-25000" dirty="0" smtClean="0"/>
              <a:t>-2,2</a:t>
            </a:r>
            <a:r>
              <a:rPr lang="zh-TW" altLang="en-US" sz="2800" dirty="0" smtClean="0"/>
              <a:t> </a:t>
            </a:r>
            <a:r>
              <a:rPr lang="en-US" altLang="zh-TW" sz="2800" dirty="0" smtClean="0"/>
              <a:t>=  1 ,f</a:t>
            </a:r>
            <a:r>
              <a:rPr lang="en-US" altLang="zh-TW" sz="2800" baseline="-25000" dirty="0" smtClean="0"/>
              <a:t>-1,2</a:t>
            </a:r>
            <a:r>
              <a:rPr lang="zh-TW" altLang="en-US" sz="2800" dirty="0" smtClean="0"/>
              <a:t> </a:t>
            </a:r>
            <a:r>
              <a:rPr lang="en-US" altLang="zh-TW" sz="2800" dirty="0" smtClean="0"/>
              <a:t>=  2 , f</a:t>
            </a:r>
            <a:r>
              <a:rPr lang="en-US" altLang="zh-TW" sz="2800" baseline="-25000" dirty="0" smtClean="0"/>
              <a:t>0,2</a:t>
            </a:r>
            <a:r>
              <a:rPr lang="zh-TW" altLang="en-US" sz="2800" dirty="0" smtClean="0"/>
              <a:t> </a:t>
            </a:r>
            <a:r>
              <a:rPr lang="en-US" altLang="zh-TW" sz="2800" dirty="0" smtClean="0"/>
              <a:t>= 5 </a:t>
            </a:r>
          </a:p>
          <a:p>
            <a:r>
              <a:rPr lang="en-US" altLang="zh-TW" sz="2800" dirty="0" smtClean="0"/>
              <a:t>f</a:t>
            </a:r>
            <a:r>
              <a:rPr lang="en-US" altLang="zh-TW" sz="2800" baseline="-25000" dirty="0" smtClean="0"/>
              <a:t>1,2</a:t>
            </a:r>
            <a:r>
              <a:rPr lang="zh-TW" altLang="en-US" sz="2800" dirty="0" smtClean="0"/>
              <a:t> </a:t>
            </a:r>
            <a:r>
              <a:rPr lang="en-US" altLang="zh-TW" sz="2800" dirty="0" smtClean="0"/>
              <a:t>= 4 , f</a:t>
            </a:r>
            <a:r>
              <a:rPr lang="en-US" altLang="zh-TW" sz="2800" baseline="-25000" dirty="0" smtClean="0"/>
              <a:t>2,2</a:t>
            </a:r>
            <a:r>
              <a:rPr lang="zh-TW" altLang="en-US" sz="2800" dirty="0" smtClean="0"/>
              <a:t> </a:t>
            </a:r>
            <a:r>
              <a:rPr lang="en-US" altLang="zh-TW" sz="2800" dirty="0" smtClean="0"/>
              <a:t>=  4 </a:t>
            </a:r>
            <a:endParaRPr lang="zh-TW" altLang="en-US" sz="2800" baseline="-25000" dirty="0" smtClean="0"/>
          </a:p>
        </p:txBody>
      </p:sp>
      <p:sp>
        <p:nvSpPr>
          <p:cNvPr id="14" name="文字方塊 13"/>
          <p:cNvSpPr txBox="1"/>
          <p:nvPr/>
        </p:nvSpPr>
        <p:spPr>
          <a:xfrm>
            <a:off x="142844" y="5334672"/>
            <a:ext cx="899605" cy="52322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zh-TW" sz="2800" dirty="0" smtClean="0"/>
              <a:t>p = 3</a:t>
            </a:r>
            <a:endParaRPr lang="zh-TW" altLang="en-US" sz="2800" dirty="0"/>
          </a:p>
        </p:txBody>
      </p:sp>
      <p:sp>
        <p:nvSpPr>
          <p:cNvPr id="15" name="文字方塊 14"/>
          <p:cNvSpPr txBox="1"/>
          <p:nvPr/>
        </p:nvSpPr>
        <p:spPr>
          <a:xfrm>
            <a:off x="1051343" y="5332413"/>
            <a:ext cx="5173211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f</a:t>
            </a:r>
            <a:r>
              <a:rPr lang="en-US" altLang="zh-TW" sz="2800" baseline="-25000" dirty="0" smtClean="0"/>
              <a:t>-3,3</a:t>
            </a:r>
            <a:r>
              <a:rPr lang="zh-TW" altLang="en-US" sz="2800" dirty="0" smtClean="0"/>
              <a:t> </a:t>
            </a:r>
            <a:r>
              <a:rPr lang="en-US" altLang="zh-TW" sz="2800" dirty="0" smtClean="0"/>
              <a:t>= 2 , f</a:t>
            </a:r>
            <a:r>
              <a:rPr lang="en-US" altLang="zh-TW" sz="2800" baseline="-25000" dirty="0" smtClean="0"/>
              <a:t>-2,3</a:t>
            </a:r>
            <a:r>
              <a:rPr lang="zh-TW" altLang="en-US" sz="2800" dirty="0" smtClean="0"/>
              <a:t> </a:t>
            </a:r>
            <a:r>
              <a:rPr lang="en-US" altLang="zh-TW" sz="2800" dirty="0" smtClean="0"/>
              <a:t>= 2  ,f</a:t>
            </a:r>
            <a:r>
              <a:rPr lang="en-US" altLang="zh-TW" sz="2800" baseline="-25000" dirty="0" smtClean="0"/>
              <a:t>-1,3</a:t>
            </a:r>
            <a:r>
              <a:rPr lang="zh-TW" altLang="en-US" sz="2800" dirty="0" smtClean="0"/>
              <a:t> </a:t>
            </a:r>
            <a:r>
              <a:rPr lang="en-US" altLang="zh-TW" sz="2800" dirty="0" smtClean="0"/>
              <a:t>= 4  , f</a:t>
            </a:r>
            <a:r>
              <a:rPr lang="en-US" altLang="zh-TW" sz="2800" baseline="-25000" dirty="0" smtClean="0"/>
              <a:t>0,3</a:t>
            </a:r>
            <a:r>
              <a:rPr lang="zh-TW" altLang="en-US" sz="2800" dirty="0" smtClean="0"/>
              <a:t> </a:t>
            </a:r>
            <a:r>
              <a:rPr lang="en-US" altLang="zh-TW" sz="2800" dirty="0" smtClean="0"/>
              <a:t>=  X,</a:t>
            </a:r>
          </a:p>
          <a:p>
            <a:r>
              <a:rPr lang="en-US" altLang="zh-TW" sz="2800" b="1" dirty="0" smtClean="0">
                <a:solidFill>
                  <a:srgbClr val="FF0000"/>
                </a:solidFill>
              </a:rPr>
              <a:t>f</a:t>
            </a:r>
            <a:r>
              <a:rPr lang="en-US" altLang="zh-TW" sz="2800" b="1" baseline="-25000" dirty="0" smtClean="0">
                <a:solidFill>
                  <a:srgbClr val="FF0000"/>
                </a:solidFill>
              </a:rPr>
              <a:t>1,3</a:t>
            </a:r>
            <a:r>
              <a:rPr lang="zh-TW" altLang="en-US" sz="2800" b="1" dirty="0" smtClean="0">
                <a:solidFill>
                  <a:srgbClr val="FF0000"/>
                </a:solidFill>
              </a:rPr>
              <a:t> </a:t>
            </a:r>
            <a:r>
              <a:rPr lang="en-US" altLang="zh-TW" sz="2800" b="1" dirty="0" smtClean="0">
                <a:solidFill>
                  <a:srgbClr val="FF0000"/>
                </a:solidFill>
              </a:rPr>
              <a:t>= 6 </a:t>
            </a:r>
            <a:r>
              <a:rPr lang="en-US" altLang="zh-TW" sz="2800" dirty="0" smtClean="0"/>
              <a:t>, f</a:t>
            </a:r>
            <a:r>
              <a:rPr lang="en-US" altLang="zh-TW" sz="2800" baseline="-25000" dirty="0" smtClean="0"/>
              <a:t>2,3</a:t>
            </a:r>
            <a:r>
              <a:rPr lang="zh-TW" altLang="en-US" sz="2800" dirty="0" smtClean="0"/>
              <a:t> </a:t>
            </a:r>
            <a:r>
              <a:rPr lang="en-US" altLang="zh-TW" sz="2800" dirty="0" smtClean="0"/>
              <a:t>=  6 , f</a:t>
            </a:r>
            <a:r>
              <a:rPr lang="en-US" altLang="zh-TW" sz="2800" baseline="-25000" dirty="0" smtClean="0"/>
              <a:t>3,3</a:t>
            </a:r>
            <a:r>
              <a:rPr lang="zh-TW" altLang="en-US" sz="2800" dirty="0" smtClean="0"/>
              <a:t> </a:t>
            </a:r>
            <a:r>
              <a:rPr lang="en-US" altLang="zh-TW" sz="2800" dirty="0" smtClean="0"/>
              <a:t>= 5  </a:t>
            </a:r>
            <a:endParaRPr lang="zh-TW" altLang="en-US" sz="2800" baseline="-25000" dirty="0" smtClean="0"/>
          </a:p>
        </p:txBody>
      </p:sp>
      <p:graphicFrame>
        <p:nvGraphicFramePr>
          <p:cNvPr id="16" name="表格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6324230"/>
              </p:ext>
            </p:extLst>
          </p:nvPr>
        </p:nvGraphicFramePr>
        <p:xfrm>
          <a:off x="4826280" y="1686950"/>
          <a:ext cx="4032000" cy="352800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504000"/>
                <a:gridCol w="504000"/>
                <a:gridCol w="504000"/>
                <a:gridCol w="504000"/>
                <a:gridCol w="504000"/>
                <a:gridCol w="504000"/>
                <a:gridCol w="504000"/>
                <a:gridCol w="504000"/>
              </a:tblGrid>
              <a:tr h="504000">
                <a:tc>
                  <a:txBody>
                    <a:bodyPr/>
                    <a:lstStyle/>
                    <a:p>
                      <a:pPr algn="ctr"/>
                      <a:endParaRPr lang="zh-TW" altLang="en-US" sz="2400" b="0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/>
                        <a:t>x</a:t>
                      </a:r>
                      <a:endParaRPr lang="zh-TW" altLang="en-US" sz="2400" b="0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/>
                        <a:t>y</a:t>
                      </a:r>
                      <a:endParaRPr lang="zh-TW" altLang="en-US" sz="2400" b="0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/>
                        <a:t>x</a:t>
                      </a:r>
                      <a:endParaRPr lang="zh-TW" altLang="en-US" sz="2400" b="0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/>
                        <a:t>z</a:t>
                      </a:r>
                      <a:endParaRPr lang="zh-TW" altLang="en-US" sz="2400" b="0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/>
                        <a:t>y</a:t>
                      </a:r>
                      <a:endParaRPr lang="zh-TW" altLang="en-US" sz="2400" b="0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/>
                        <a:t>z</a:t>
                      </a:r>
                      <a:endParaRPr lang="zh-TW" altLang="en-US" sz="2400" b="0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</a:tr>
              <a:tr h="504000">
                <a:tc>
                  <a:txBody>
                    <a:bodyPr/>
                    <a:lstStyle/>
                    <a:p>
                      <a:pPr algn="ctr"/>
                      <a:endParaRPr lang="zh-TW" altLang="en-US" sz="2400" b="0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/>
                        <a:t>0</a:t>
                      </a:r>
                      <a:endParaRPr lang="zh-TW" altLang="en-US" sz="24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/>
                        <a:t>1</a:t>
                      </a:r>
                      <a:endParaRPr lang="zh-TW" altLang="en-US" sz="24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/>
                        <a:t>2</a:t>
                      </a:r>
                      <a:endParaRPr lang="zh-TW" altLang="en-US" sz="24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/>
                        <a:t>3</a:t>
                      </a:r>
                      <a:endParaRPr lang="zh-TW" altLang="en-US" sz="24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/>
                        <a:t>4</a:t>
                      </a:r>
                      <a:endParaRPr lang="zh-TW" altLang="en-US" sz="24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/>
                        <a:t>5</a:t>
                      </a:r>
                      <a:endParaRPr lang="zh-TW" altLang="en-US" sz="24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/>
                        <a:t>6</a:t>
                      </a:r>
                      <a:endParaRPr lang="zh-TW" altLang="en-US" sz="2400" b="0" dirty="0"/>
                    </a:p>
                  </a:txBody>
                  <a:tcPr anchor="ctr">
                    <a:noFill/>
                  </a:tcPr>
                </a:tc>
              </a:tr>
              <a:tr h="504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/>
                        <a:t>y</a:t>
                      </a:r>
                      <a:endParaRPr lang="zh-TW" altLang="en-US" sz="2400" b="0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/>
                        <a:t>1</a:t>
                      </a:r>
                      <a:endParaRPr lang="zh-TW" altLang="en-US" sz="24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/>
                        <a:t>1</a:t>
                      </a:r>
                      <a:endParaRPr lang="zh-TW" altLang="en-US" sz="2400" b="0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/>
                        <a:t>1</a:t>
                      </a:r>
                      <a:endParaRPr lang="zh-TW" altLang="en-US" sz="24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/>
                        <a:t>2</a:t>
                      </a:r>
                      <a:endParaRPr lang="zh-TW" altLang="en-US" sz="24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/>
                        <a:t>3</a:t>
                      </a:r>
                      <a:endParaRPr lang="zh-TW" altLang="en-US" sz="24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/>
                        <a:t>4</a:t>
                      </a:r>
                      <a:endParaRPr lang="zh-TW" altLang="en-US" sz="24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/>
                        <a:t>5</a:t>
                      </a:r>
                      <a:endParaRPr lang="zh-TW" altLang="en-US" sz="2400" b="0" dirty="0"/>
                    </a:p>
                  </a:txBody>
                  <a:tcPr anchor="ctr">
                    <a:noFill/>
                  </a:tcPr>
                </a:tc>
              </a:tr>
              <a:tr h="504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/>
                        <a:t>x</a:t>
                      </a:r>
                      <a:endParaRPr lang="zh-TW" altLang="en-US" sz="2400" b="0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/>
                        <a:t>2</a:t>
                      </a:r>
                      <a:endParaRPr lang="zh-TW" altLang="en-US" sz="24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/>
                        <a:t>1</a:t>
                      </a:r>
                      <a:endParaRPr lang="zh-TW" altLang="en-US" sz="24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/>
                        <a:t>2</a:t>
                      </a:r>
                      <a:endParaRPr lang="zh-TW" altLang="en-US" sz="24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/>
                        <a:t>1</a:t>
                      </a:r>
                      <a:endParaRPr lang="zh-TW" altLang="en-US" sz="2400" b="0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/>
                        <a:t>2</a:t>
                      </a:r>
                      <a:endParaRPr lang="zh-TW" altLang="en-US" sz="24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/>
                        <a:t>3</a:t>
                      </a:r>
                      <a:endParaRPr lang="zh-TW" altLang="en-US" sz="24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/>
                        <a:t>4</a:t>
                      </a:r>
                      <a:endParaRPr lang="zh-TW" altLang="en-US" sz="2400" b="0" dirty="0"/>
                    </a:p>
                  </a:txBody>
                  <a:tcPr anchor="ctr">
                    <a:noFill/>
                  </a:tcPr>
                </a:tc>
              </a:tr>
              <a:tr h="504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/>
                        <a:t>x</a:t>
                      </a:r>
                      <a:endParaRPr lang="zh-TW" altLang="en-US" sz="2400" b="0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/>
                        <a:t>3</a:t>
                      </a:r>
                      <a:endParaRPr lang="zh-TW" altLang="en-US" sz="24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/>
                        <a:t>2</a:t>
                      </a:r>
                      <a:endParaRPr lang="zh-TW" altLang="en-US" sz="24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/>
                        <a:t>2</a:t>
                      </a:r>
                      <a:endParaRPr lang="zh-TW" altLang="en-US" sz="24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/>
                        <a:t>2</a:t>
                      </a:r>
                      <a:endParaRPr lang="zh-TW" altLang="en-US" sz="24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/>
                        <a:t>2</a:t>
                      </a:r>
                      <a:endParaRPr lang="zh-TW" altLang="en-US" sz="2400" b="0" dirty="0"/>
                    </a:p>
                  </a:txBody>
                  <a:tcPr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/>
                        <a:t>3</a:t>
                      </a:r>
                      <a:endParaRPr lang="zh-TW" altLang="en-US" sz="24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/>
                        <a:t>4</a:t>
                      </a:r>
                      <a:endParaRPr lang="zh-TW" altLang="en-US" sz="2400" b="0" dirty="0"/>
                    </a:p>
                  </a:txBody>
                  <a:tcPr anchor="ctr">
                    <a:noFill/>
                  </a:tcPr>
                </a:tc>
              </a:tr>
              <a:tr h="504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/>
                        <a:t>z</a:t>
                      </a:r>
                      <a:endParaRPr lang="zh-TW" altLang="en-US" sz="2400" b="0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/>
                        <a:t>4</a:t>
                      </a:r>
                      <a:endParaRPr lang="zh-TW" altLang="en-US" sz="24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/>
                        <a:t>3</a:t>
                      </a:r>
                      <a:endParaRPr lang="zh-TW" altLang="en-US" sz="24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/>
                        <a:t>3</a:t>
                      </a:r>
                      <a:endParaRPr lang="zh-TW" altLang="en-US" sz="24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/>
                        <a:t>3</a:t>
                      </a:r>
                      <a:endParaRPr lang="zh-TW" altLang="en-US" sz="24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/>
                        <a:t>2</a:t>
                      </a:r>
                      <a:endParaRPr lang="zh-TW" altLang="en-US" sz="24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/>
                        <a:t>3</a:t>
                      </a:r>
                      <a:endParaRPr lang="zh-TW" altLang="en-US" sz="24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/>
                        <a:t>3</a:t>
                      </a:r>
                      <a:endParaRPr lang="zh-TW" altLang="en-US" sz="2400" b="0" dirty="0"/>
                    </a:p>
                  </a:txBody>
                  <a:tcPr anchor="ctr">
                    <a:noFill/>
                  </a:tcPr>
                </a:tc>
              </a:tr>
              <a:tr h="504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/>
                        <a:t>y</a:t>
                      </a:r>
                      <a:endParaRPr lang="zh-TW" altLang="en-US" sz="2400" b="0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/>
                        <a:t>5</a:t>
                      </a:r>
                      <a:endParaRPr lang="zh-TW" altLang="en-US" sz="24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/>
                        <a:t>4</a:t>
                      </a:r>
                      <a:endParaRPr lang="zh-TW" altLang="en-US" sz="24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/>
                        <a:t>3</a:t>
                      </a:r>
                      <a:endParaRPr lang="zh-TW" altLang="en-US" sz="24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/>
                        <a:t>4</a:t>
                      </a:r>
                      <a:endParaRPr lang="zh-TW" altLang="en-US" sz="24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/>
                        <a:t>3</a:t>
                      </a:r>
                      <a:endParaRPr lang="zh-TW" altLang="en-US" sz="24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/>
                        <a:t>2</a:t>
                      </a:r>
                      <a:endParaRPr lang="zh-TW" altLang="en-US" sz="24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/>
                        <a:t>3</a:t>
                      </a:r>
                      <a:endParaRPr lang="zh-TW" altLang="en-US" sz="2400" b="0" dirty="0"/>
                    </a:p>
                  </a:txBody>
                  <a:tcPr anchor="ctr"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Compute Edit Distance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Algorithm 10</a:t>
            </a:r>
          </a:p>
          <a:p>
            <a:endParaRPr lang="en-US" altLang="zh-TW" dirty="0" smtClean="0"/>
          </a:p>
          <a:p>
            <a:endParaRPr lang="en-US" altLang="zh-TW" dirty="0" smtClean="0"/>
          </a:p>
          <a:p>
            <a:endParaRPr lang="en-US" altLang="zh-TW" dirty="0" smtClean="0"/>
          </a:p>
          <a:p>
            <a:endParaRPr lang="en-US" altLang="zh-TW" dirty="0" smtClean="0"/>
          </a:p>
          <a:p>
            <a:r>
              <a:rPr lang="en-US" altLang="zh-TW" dirty="0" smtClean="0"/>
              <a:t>Algorithm 8</a:t>
            </a:r>
            <a:endParaRPr lang="zh-TW" altLang="en-US" dirty="0"/>
          </a:p>
        </p:txBody>
      </p:sp>
      <p:pic>
        <p:nvPicPr>
          <p:cNvPr id="4" name="內容版面配置區 3" descr="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786" y="2143116"/>
            <a:ext cx="6786610" cy="2286016"/>
          </a:xfrm>
          <a:prstGeom prst="rect">
            <a:avLst/>
          </a:prstGeom>
        </p:spPr>
      </p:pic>
      <p:pic>
        <p:nvPicPr>
          <p:cNvPr id="5" name="圖片 4" descr="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24" y="5143512"/>
            <a:ext cx="7143800" cy="14287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4" name="內容版面配置區 3" descr="11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4282" y="285728"/>
            <a:ext cx="8715436" cy="6215106"/>
          </a:xfrm>
        </p:spPr>
      </p:pic>
      <p:sp>
        <p:nvSpPr>
          <p:cNvPr id="5" name="文字方塊 4"/>
          <p:cNvSpPr txBox="1"/>
          <p:nvPr/>
        </p:nvSpPr>
        <p:spPr>
          <a:xfrm>
            <a:off x="3331488" y="5557817"/>
            <a:ext cx="5355312" cy="95410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zh-TW" sz="2800" dirty="0" smtClean="0"/>
              <a:t>Time Complexity = O(</a:t>
            </a:r>
            <a:r>
              <a:rPr lang="en-US" altLang="zh-TW" sz="2800" dirty="0" err="1" smtClean="0"/>
              <a:t>s·min</a:t>
            </a:r>
            <a:r>
              <a:rPr lang="en-US" altLang="zh-TW" sz="2800" dirty="0" smtClean="0"/>
              <a:t>(</a:t>
            </a:r>
            <a:r>
              <a:rPr lang="en-US" altLang="zh-TW" sz="2800" dirty="0" err="1" smtClean="0"/>
              <a:t>m,n</a:t>
            </a:r>
            <a:r>
              <a:rPr lang="en-US" altLang="zh-TW" sz="2800" dirty="0" smtClean="0"/>
              <a:t>))</a:t>
            </a:r>
          </a:p>
          <a:p>
            <a:r>
              <a:rPr lang="en-US" altLang="zh-TW" sz="2800" dirty="0" smtClean="0"/>
              <a:t>Space Complexity = O(</a:t>
            </a:r>
            <a:r>
              <a:rPr lang="en-US" altLang="zh-TW" sz="2800" dirty="0" err="1" smtClean="0"/>
              <a:t>s·min</a:t>
            </a:r>
            <a:r>
              <a:rPr lang="en-US" altLang="zh-TW" sz="2800" dirty="0" smtClean="0"/>
              <a:t>(</a:t>
            </a:r>
            <a:r>
              <a:rPr lang="en-US" altLang="zh-TW" sz="2800" dirty="0" err="1" smtClean="0"/>
              <a:t>s,m,n</a:t>
            </a:r>
            <a:r>
              <a:rPr lang="en-US" altLang="zh-TW" sz="2800" dirty="0" smtClean="0"/>
              <a:t>))</a:t>
            </a:r>
            <a:endParaRPr lang="zh-TW" altLang="en-US" sz="28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Editing Sequence</a:t>
            </a:r>
            <a:endParaRPr lang="zh-TW" altLang="en-US" dirty="0"/>
          </a:p>
        </p:txBody>
      </p:sp>
      <p:pic>
        <p:nvPicPr>
          <p:cNvPr id="4" name="內容版面配置區 3" descr="12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4282" y="1556792"/>
            <a:ext cx="8715436" cy="5015480"/>
          </a:xfr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631</TotalTime>
  <Words>870</Words>
  <Application>Microsoft Office PowerPoint</Application>
  <PresentationFormat>如螢幕大小 (4:3)</PresentationFormat>
  <Paragraphs>394</Paragraphs>
  <Slides>17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17</vt:i4>
      </vt:variant>
    </vt:vector>
  </HeadingPairs>
  <TitlesOfParts>
    <vt:vector size="21" baseType="lpstr">
      <vt:lpstr>新細明體</vt:lpstr>
      <vt:lpstr>Arial</vt:lpstr>
      <vt:lpstr>Calibri</vt:lpstr>
      <vt:lpstr>Office 佈景主題</vt:lpstr>
      <vt:lpstr>Algorithms for Approximate String Matching</vt:lpstr>
      <vt:lpstr>Abstract(1/3)</vt:lpstr>
      <vt:lpstr>Abstract(2/3)</vt:lpstr>
      <vt:lpstr>Abstract(3/3)</vt:lpstr>
      <vt:lpstr>Edit distance</vt:lpstr>
      <vt:lpstr>Procedure test1(1/2)</vt:lpstr>
      <vt:lpstr>Procedure test1(2/2)</vt:lpstr>
      <vt:lpstr>PowerPoint 簡報</vt:lpstr>
      <vt:lpstr>Procedure test2(1/3)</vt:lpstr>
      <vt:lpstr>Procedure test2(2/3)</vt:lpstr>
      <vt:lpstr>Procedure test2(3/3)</vt:lpstr>
      <vt:lpstr>PowerPoint 簡報</vt:lpstr>
      <vt:lpstr>Special Case</vt:lpstr>
      <vt:lpstr>Compute fk,p</vt:lpstr>
      <vt:lpstr>Compute Edit Distance</vt:lpstr>
      <vt:lpstr>PowerPoint 簡報</vt:lpstr>
      <vt:lpstr>Editing Sequence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AthenaHo</dc:creator>
  <cp:lastModifiedBy>cse5012</cp:lastModifiedBy>
  <cp:revision>50</cp:revision>
  <dcterms:created xsi:type="dcterms:W3CDTF">2015-09-07T11:08:51Z</dcterms:created>
  <dcterms:modified xsi:type="dcterms:W3CDTF">2015-09-08T13:15:53Z</dcterms:modified>
</cp:coreProperties>
</file>