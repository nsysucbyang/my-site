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87" r:id="rId5"/>
    <p:sldId id="260" r:id="rId6"/>
    <p:sldId id="303" r:id="rId7"/>
    <p:sldId id="304" r:id="rId8"/>
    <p:sldId id="306" r:id="rId9"/>
    <p:sldId id="305" r:id="rId10"/>
    <p:sldId id="307" r:id="rId11"/>
    <p:sldId id="308" r:id="rId12"/>
    <p:sldId id="309" r:id="rId13"/>
    <p:sldId id="312" r:id="rId14"/>
    <p:sldId id="311" r:id="rId15"/>
    <p:sldId id="314" r:id="rId16"/>
    <p:sldId id="316" r:id="rId17"/>
    <p:sldId id="313" r:id="rId1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中等深淺樣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003" autoAdjust="0"/>
    <p:restoredTop sz="94660"/>
  </p:normalViewPr>
  <p:slideViewPr>
    <p:cSldViewPr snapToGrid="0">
      <p:cViewPr varScale="1">
        <p:scale>
          <a:sx n="100" d="100"/>
          <a:sy n="100" d="100"/>
        </p:scale>
        <p:origin x="90"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4C465F44-F807-4518-89E2-C811281CE334}" type="datetimeFigureOut">
              <a:rPr lang="zh-TW" altLang="en-US" smtClean="0"/>
              <a:t>2015/9/8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778676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4C465F44-F807-4518-89E2-C811281CE334}" type="datetimeFigureOut">
              <a:rPr lang="zh-TW" altLang="en-US" smtClean="0"/>
              <a:t>2015/9/8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1615088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4C465F44-F807-4518-89E2-C811281CE334}" type="datetimeFigureOut">
              <a:rPr lang="zh-TW" altLang="en-US" smtClean="0"/>
              <a:t>2015/9/8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1319045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4C465F44-F807-4518-89E2-C811281CE334}" type="datetimeFigureOut">
              <a:rPr lang="zh-TW" altLang="en-US" smtClean="0"/>
              <a:t>2015/9/8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839354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4C465F44-F807-4518-89E2-C811281CE334}" type="datetimeFigureOut">
              <a:rPr lang="zh-TW" altLang="en-US" smtClean="0"/>
              <a:t>2015/9/8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371187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4C465F44-F807-4518-89E2-C811281CE334}" type="datetimeFigureOut">
              <a:rPr lang="zh-TW" altLang="en-US" smtClean="0"/>
              <a:t>2015/9/8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1060125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465F44-F807-4518-89E2-C811281CE334}" type="datetimeFigureOut">
              <a:rPr lang="zh-TW" altLang="en-US" smtClean="0"/>
              <a:t>2015/9/8</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016498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4C465F44-F807-4518-89E2-C811281CE334}" type="datetimeFigureOut">
              <a:rPr lang="zh-TW" altLang="en-US" smtClean="0"/>
              <a:t>2015/9/8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2819419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4C465F44-F807-4518-89E2-C811281CE334}" type="datetimeFigureOut">
              <a:rPr lang="zh-TW" altLang="en-US" smtClean="0"/>
              <a:t>2015/9/8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226180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4C465F44-F807-4518-89E2-C811281CE334}" type="datetimeFigureOut">
              <a:rPr lang="zh-TW" altLang="en-US" smtClean="0"/>
              <a:t>2015/9/8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4123520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4C465F44-F807-4518-89E2-C811281CE334}" type="datetimeFigureOut">
              <a:rPr lang="zh-TW" altLang="en-US" smtClean="0"/>
              <a:t>2015/9/8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700096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465F44-F807-4518-89E2-C811281CE334}" type="datetimeFigureOut">
              <a:rPr lang="zh-TW" altLang="en-US" smtClean="0"/>
              <a:t>2015/9/8</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88030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598488" y="1286632"/>
            <a:ext cx="7772400" cy="1470025"/>
          </a:xfrm>
          <a:prstGeom prst="rect">
            <a:avLst/>
          </a:prstGeom>
        </p:spPr>
        <p:txBody>
          <a:bodyPr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TW" sz="3200" b="1" dirty="0" smtClean="0">
                <a:latin typeface="Times New Roman" panose="02020603050405020304" pitchFamily="18" charset="0"/>
                <a:cs typeface="Times New Roman" panose="02020603050405020304" pitchFamily="18" charset="0"/>
              </a:rPr>
              <a:t>Dynamic programming algorithms for the mosaic longest common subsequence problem</a:t>
            </a:r>
            <a:endParaRPr lang="zh-TW" altLang="en-US" sz="3200" dirty="0">
              <a:latin typeface="Times New Roman" panose="02020603050405020304" pitchFamily="18" charset="0"/>
              <a:ea typeface="Arial Unicode MS" pitchFamily="34" charset="-120"/>
              <a:cs typeface="Times New Roman" panose="02020603050405020304" pitchFamily="18" charset="0"/>
            </a:endParaRPr>
          </a:p>
        </p:txBody>
      </p:sp>
      <p:sp>
        <p:nvSpPr>
          <p:cNvPr id="5" name="副標題 2"/>
          <p:cNvSpPr txBox="1">
            <a:spLocks/>
          </p:cNvSpPr>
          <p:nvPr/>
        </p:nvSpPr>
        <p:spPr>
          <a:xfrm>
            <a:off x="1406525" y="3019431"/>
            <a:ext cx="6400800" cy="479425"/>
          </a:xfrm>
          <a:prstGeom prst="rect">
            <a:avLst/>
          </a:prstGeom>
        </p:spPr>
        <p:txBody>
          <a:bodyPr>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defRPr/>
            </a:pPr>
            <a:r>
              <a:rPr lang="en-US" altLang="zh-TW" sz="2000" dirty="0" err="1" smtClean="0"/>
              <a:t>Kuo</a:t>
            </a:r>
            <a:r>
              <a:rPr lang="en-US" altLang="zh-TW" sz="2000" dirty="0" smtClean="0"/>
              <a:t>-Si Huang, Chang-</a:t>
            </a:r>
            <a:r>
              <a:rPr lang="en-US" altLang="zh-TW" sz="2000" dirty="0" err="1" smtClean="0"/>
              <a:t>Biau</a:t>
            </a:r>
            <a:r>
              <a:rPr lang="en-US" altLang="zh-TW" sz="2000" dirty="0" smtClean="0"/>
              <a:t> Yang, </a:t>
            </a:r>
            <a:r>
              <a:rPr lang="en-US" altLang="zh-TW" sz="2000" dirty="0" err="1" smtClean="0"/>
              <a:t>Kuo-Tsung</a:t>
            </a:r>
            <a:r>
              <a:rPr lang="en-US" altLang="zh-TW" sz="2000" dirty="0" smtClean="0"/>
              <a:t> Tseng</a:t>
            </a:r>
            <a:r>
              <a:rPr lang="en-US" altLang="zh-TW" sz="2000" dirty="0" smtClean="0"/>
              <a:t>, Yung-</a:t>
            </a:r>
            <a:r>
              <a:rPr lang="en-US" altLang="zh-TW" sz="2000" dirty="0" err="1" smtClean="0"/>
              <a:t>Hsing</a:t>
            </a:r>
            <a:r>
              <a:rPr lang="en-US" altLang="zh-TW" sz="2000" dirty="0" smtClean="0"/>
              <a:t> </a:t>
            </a:r>
            <a:r>
              <a:rPr lang="en-US" altLang="zh-TW" sz="2000" dirty="0" smtClean="0"/>
              <a:t>Peng, </a:t>
            </a:r>
            <a:r>
              <a:rPr lang="en-US" altLang="zh-TW" sz="2000" dirty="0" err="1" smtClean="0"/>
              <a:t>Hsing</a:t>
            </a:r>
            <a:r>
              <a:rPr lang="en-US" altLang="zh-TW" sz="2000" dirty="0" smtClean="0"/>
              <a:t>-Yen Ann</a:t>
            </a:r>
            <a:endParaRPr lang="en-US" altLang="zh-TW" sz="2000" dirty="0"/>
          </a:p>
        </p:txBody>
      </p:sp>
      <p:graphicFrame>
        <p:nvGraphicFramePr>
          <p:cNvPr id="6" name="表格 5"/>
          <p:cNvGraphicFramePr>
            <a:graphicFrameLocks noGrp="1"/>
          </p:cNvGraphicFramePr>
          <p:nvPr>
            <p:extLst>
              <p:ext uri="{D42A27DB-BD31-4B8C-83A1-F6EECF244321}">
                <p14:modId xmlns:p14="http://schemas.microsoft.com/office/powerpoint/2010/main" val="1389333936"/>
              </p:ext>
            </p:extLst>
          </p:nvPr>
        </p:nvGraphicFramePr>
        <p:xfrm>
          <a:off x="2698748" y="4019549"/>
          <a:ext cx="3816351" cy="1500105"/>
        </p:xfrm>
        <a:graphic>
          <a:graphicData uri="http://schemas.openxmlformats.org/drawingml/2006/table">
            <a:tbl>
              <a:tblPr/>
              <a:tblGrid>
                <a:gridCol w="3816351"/>
              </a:tblGrid>
              <a:tr h="846860">
                <a:tc>
                  <a:txBody>
                    <a:bodyPr/>
                    <a:lstStyle/>
                    <a:p>
                      <a:pPr algn="ctr" fontAlgn="base"/>
                      <a:r>
                        <a:rPr lang="en-US" altLang="zh-TW" dirty="0" smtClean="0">
                          <a:solidFill>
                            <a:schemeClr val="tx1"/>
                          </a:solidFill>
                        </a:rPr>
                        <a:t>Information</a:t>
                      </a:r>
                      <a:r>
                        <a:rPr lang="en-US" altLang="zh-TW" baseline="0" dirty="0" smtClean="0">
                          <a:solidFill>
                            <a:schemeClr val="tx1"/>
                          </a:solidFill>
                        </a:rPr>
                        <a:t> Processing Letters</a:t>
                      </a:r>
                    </a:p>
                    <a:p>
                      <a:pPr algn="ctr" fontAlgn="base"/>
                      <a:r>
                        <a:rPr lang="en-US" altLang="zh-TW" baseline="0" dirty="0" smtClean="0">
                          <a:solidFill>
                            <a:schemeClr val="tx1"/>
                          </a:solidFill>
                        </a:rPr>
                        <a:t>30th April 2007</a:t>
                      </a:r>
                    </a:p>
                    <a:p>
                      <a:pPr algn="ctr" fontAlgn="base"/>
                      <a:r>
                        <a:rPr lang="en-US" altLang="zh-TW" baseline="0" dirty="0" smtClean="0">
                          <a:solidFill>
                            <a:schemeClr val="tx1"/>
                          </a:solidFill>
                        </a:rPr>
                        <a:t>pp.99-103</a:t>
                      </a:r>
                      <a:endParaRPr lang="en-US" altLang="zh-TW" dirty="0">
                        <a:solidFill>
                          <a:schemeClr val="tx1"/>
                        </a:solidFill>
                      </a:endParaRPr>
                    </a:p>
                  </a:txBody>
                  <a:tcPr marL="95251" marR="9525" marT="9523" marB="9523">
                    <a:lnL>
                      <a:noFill/>
                    </a:lnL>
                    <a:lnR>
                      <a:noFill/>
                    </a:lnR>
                    <a:lnT>
                      <a:noFill/>
                    </a:lnT>
                    <a:lnB>
                      <a:noFill/>
                    </a:lnB>
                    <a:solidFill>
                      <a:srgbClr val="FFFFFF"/>
                    </a:solidFill>
                  </a:tcPr>
                </a:tc>
              </a:tr>
              <a:tr h="653245">
                <a:tc>
                  <a:txBody>
                    <a:bodyPr/>
                    <a:lstStyle/>
                    <a:p>
                      <a:pPr algn="ctr"/>
                      <a:endParaRPr lang="zh-TW" altLang="en-US" sz="1600" kern="1200" dirty="0">
                        <a:solidFill>
                          <a:schemeClr val="tx1"/>
                        </a:solidFill>
                        <a:effectLst/>
                        <a:latin typeface="Verdana" panose="020B0604030504040204" pitchFamily="34" charset="0"/>
                        <a:ea typeface="+mn-ea"/>
                        <a:cs typeface="+mn-cs"/>
                      </a:endParaRPr>
                    </a:p>
                  </a:txBody>
                  <a:tcPr marL="95251" marR="9525" marT="9523" marB="95225">
                    <a:lnL>
                      <a:noFill/>
                    </a:lnL>
                    <a:lnR>
                      <a:noFill/>
                    </a:lnR>
                    <a:lnT>
                      <a:noFill/>
                    </a:lnT>
                    <a:lnB>
                      <a:noFill/>
                    </a:lnB>
                    <a:solidFill>
                      <a:srgbClr val="FFFFFF"/>
                    </a:solidFill>
                  </a:tcPr>
                </a:tc>
              </a:tr>
            </a:tbl>
          </a:graphicData>
        </a:graphic>
      </p:graphicFrame>
      <p:sp>
        <p:nvSpPr>
          <p:cNvPr id="3079" name="文字方塊 6"/>
          <p:cNvSpPr txBox="1">
            <a:spLocks noChangeArrowheads="1"/>
          </p:cNvSpPr>
          <p:nvPr/>
        </p:nvSpPr>
        <p:spPr bwMode="auto">
          <a:xfrm>
            <a:off x="2982910" y="5196488"/>
            <a:ext cx="32480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algn="ctr" eaLnBrk="1" hangingPunct="1">
              <a:spcBef>
                <a:spcPct val="0"/>
              </a:spcBef>
              <a:buFontTx/>
              <a:buNone/>
            </a:pPr>
            <a:r>
              <a:rPr lang="en-US" altLang="zh-TW" sz="1800" dirty="0"/>
              <a:t>Presenter:  </a:t>
            </a:r>
            <a:r>
              <a:rPr lang="en-US" altLang="zh-TW" sz="1800" dirty="0" smtClean="0"/>
              <a:t>Bi-</a:t>
            </a:r>
            <a:r>
              <a:rPr lang="en-US" altLang="zh-TW" sz="1800" dirty="0" err="1" smtClean="0"/>
              <a:t>Shiang</a:t>
            </a:r>
            <a:r>
              <a:rPr lang="en-US" altLang="zh-TW" sz="1800" dirty="0" smtClean="0"/>
              <a:t> Lin</a:t>
            </a:r>
            <a:endParaRPr lang="en-US" altLang="zh-TW" sz="1800" dirty="0"/>
          </a:p>
          <a:p>
            <a:pPr algn="ctr" eaLnBrk="1" hangingPunct="1">
              <a:spcBef>
                <a:spcPct val="0"/>
              </a:spcBef>
              <a:buFontTx/>
              <a:buNone/>
            </a:pPr>
            <a:r>
              <a:rPr lang="en-US" altLang="zh-TW" sz="1800" dirty="0"/>
              <a:t>Date:</a:t>
            </a:r>
            <a:fld id="{F3590F60-3E7B-48AD-979A-345F224951B5}" type="datetime1">
              <a:rPr lang="zh-TW" altLang="en-US" sz="1800"/>
              <a:pPr algn="ctr" eaLnBrk="1" hangingPunct="1">
                <a:spcBef>
                  <a:spcPct val="0"/>
                </a:spcBef>
                <a:buFontTx/>
                <a:buNone/>
              </a:pPr>
              <a:t>2015/9/8</a:t>
            </a:fld>
            <a:endParaRPr lang="zh-TW" altLang="en-US" sz="1800" dirty="0"/>
          </a:p>
        </p:txBody>
      </p:sp>
    </p:spTree>
    <p:extLst>
      <p:ext uri="{BB962C8B-B14F-4D97-AF65-F5344CB8AC3E}">
        <p14:creationId xmlns:p14="http://schemas.microsoft.com/office/powerpoint/2010/main" val="14946692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ea typeface="KaiTi" panose="02010609060101010101" pitchFamily="49" charset="-122"/>
                <a:cs typeface="Times New Roman" panose="02020603050405020304" pitchFamily="18" charset="0"/>
              </a:rPr>
              <a:t>Abstract(1/3</a:t>
            </a: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3" name="內容版面配置區 2"/>
          <p:cNvSpPr>
            <a:spLocks noGrp="1"/>
          </p:cNvSpPr>
          <p:nvPr>
            <p:ph idx="1"/>
          </p:nvPr>
        </p:nvSpPr>
        <p:spPr/>
        <p:txBody>
          <a:bodyPr>
            <a:noAutofit/>
          </a:bodyPr>
          <a:lstStyle/>
          <a:p>
            <a:pPr marL="0" indent="0" algn="just">
              <a:lnSpc>
                <a:spcPct val="110000"/>
              </a:lnSpc>
              <a:buNone/>
            </a:pPr>
            <a:r>
              <a:rPr lang="en-US" altLang="zh-TW" dirty="0" smtClean="0">
                <a:latin typeface="Times New Roman" panose="02020603050405020304" pitchFamily="18" charset="0"/>
                <a:cs typeface="Times New Roman" panose="02020603050405020304" pitchFamily="18" charset="0"/>
              </a:rPr>
              <a:t>The longest common subsequence(LCS) problem can be used to measure the relationship between sequences. In general, the inputs of the LCS problem are two sequences. For finding the relationship between one sequence and a set of sequences, we cannot apply the traditional LCS algorithms immediately.</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75597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cs typeface="Times New Roman" panose="02020603050405020304" pitchFamily="18" charset="0"/>
              </a:rPr>
              <a:t>Abstract(2/3</a:t>
            </a: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Autofit/>
              </a:bodyPr>
              <a:lstStyle/>
              <a:p>
                <a:pPr marL="0" indent="0" algn="just">
                  <a:lnSpc>
                    <a:spcPct val="110000"/>
                  </a:lnSpc>
                  <a:buNone/>
                </a:pPr>
                <a:r>
                  <a:rPr lang="en-US" altLang="zh-TW" dirty="0" smtClean="0">
                    <a:latin typeface="Times New Roman" panose="02020603050405020304" pitchFamily="18" charset="0"/>
                    <a:cs typeface="Times New Roman" panose="02020603050405020304" pitchFamily="18" charset="0"/>
                  </a:rPr>
                  <a:t>In this paper, we define the mosaic LCS(MLCS) problem of finding a mosaic sequence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𝐶</m:t>
                    </m:r>
                  </m:oMath>
                </a14:m>
                <a:r>
                  <a:rPr lang="en-US" altLang="zh-TW" dirty="0" smtClean="0">
                    <a:latin typeface="Times New Roman" panose="02020603050405020304" pitchFamily="18" charset="0"/>
                    <a:cs typeface="Times New Roman" panose="02020603050405020304" pitchFamily="18" charset="0"/>
                  </a:rPr>
                  <a:t>, composed of repeatable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𝑘</m:t>
                    </m:r>
                  </m:oMath>
                </a14:m>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sequences in source sequence set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𝑆</m:t>
                    </m:r>
                  </m:oMath>
                </a14:m>
                <a:r>
                  <a:rPr lang="en-US" altLang="zh-TW" dirty="0" smtClean="0">
                    <a:latin typeface="Times New Roman" panose="02020603050405020304" pitchFamily="18" charset="0"/>
                    <a:cs typeface="Times New Roman" panose="02020603050405020304" pitchFamily="18" charset="0"/>
                  </a:rPr>
                  <a:t>, such that the LCS of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𝐶</m:t>
                    </m:r>
                  </m:oMath>
                </a14:m>
                <a:r>
                  <a:rPr lang="en-US" altLang="zh-TW" dirty="0" smtClean="0">
                    <a:latin typeface="Times New Roman" panose="02020603050405020304" pitchFamily="18" charset="0"/>
                    <a:cs typeface="Times New Roman" panose="02020603050405020304" pitchFamily="18" charset="0"/>
                  </a:rPr>
                  <a:t> and the target sequence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𝑇</m:t>
                    </m:r>
                  </m:oMath>
                </a14:m>
                <a:r>
                  <a:rPr lang="en-US" altLang="zh-TW" dirty="0" smtClean="0">
                    <a:latin typeface="Times New Roman" panose="02020603050405020304" pitchFamily="18" charset="0"/>
                    <a:cs typeface="Times New Roman" panose="02020603050405020304" pitchFamily="18" charset="0"/>
                  </a:rPr>
                  <a:t> is maximal. </a:t>
                </a:r>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1120" r="-162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281171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ea typeface="KaiTi" panose="02010609060101010101" pitchFamily="49" charset="-122"/>
                <a:cs typeface="Times New Roman" panose="02020603050405020304" pitchFamily="18" charset="0"/>
              </a:rPr>
              <a:t>Abstract(3/3</a:t>
            </a: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pPr marL="0" indent="0" algn="just">
                  <a:lnSpc>
                    <a:spcPct val="110000"/>
                  </a:lnSpc>
                  <a:buNone/>
                </a:pPr>
                <a:r>
                  <a:rPr lang="en-US" altLang="zh-TW" dirty="0" smtClean="0">
                    <a:latin typeface="Times New Roman" panose="02020603050405020304" pitchFamily="18" charset="0"/>
                    <a:cs typeface="Times New Roman" panose="02020603050405020304" pitchFamily="18" charset="0"/>
                  </a:rPr>
                  <a:t>Based on the concept of break points in sequence T, we first propose a divide-and-conquer algorithm with </a:t>
                </a:r>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𝑂</m:t>
                    </m:r>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𝑛</m:t>
                        </m:r>
                      </m:e>
                      <m:sup>
                        <m:r>
                          <a:rPr lang="en-US" altLang="zh-TW" b="0" i="1" smtClean="0">
                            <a:latin typeface="Cambria Math" panose="02040503050406030204" pitchFamily="18" charset="0"/>
                            <a:cs typeface="Times New Roman" panose="02020603050405020304" pitchFamily="18" charset="0"/>
                          </a:rPr>
                          <m:t>2</m:t>
                        </m:r>
                      </m:sup>
                    </m:sSup>
                    <m:r>
                      <a:rPr lang="en-US" altLang="zh-TW" b="0" i="1" smtClean="0">
                        <a:latin typeface="Cambria Math" panose="02040503050406030204" pitchFamily="18" charset="0"/>
                        <a:cs typeface="Times New Roman" panose="02020603050405020304" pitchFamily="18" charset="0"/>
                      </a:rPr>
                      <m:t>𝑚</m:t>
                    </m:r>
                    <m:d>
                      <m:dPr>
                        <m:begChr m:val="|"/>
                        <m:endChr m:val="|"/>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𝑆</m:t>
                        </m:r>
                      </m:e>
                    </m:d>
                    <m:r>
                      <a:rPr lang="en-US" altLang="zh-TW" b="0" i="1" smtClean="0">
                        <a:latin typeface="Cambria Math" panose="02040503050406030204" pitchFamily="18" charset="0"/>
                        <a:cs typeface="Times New Roman" panose="02020603050405020304" pitchFamily="18" charset="0"/>
                      </a:rPr>
                      <m:t>+</m:t>
                    </m:r>
                    <m:sSup>
                      <m:sSupPr>
                        <m:ctrlPr>
                          <a:rPr lang="zh-TW" altLang="en-US" i="1" dirty="0" smtClean="0">
                            <a:latin typeface="Cambria Math" panose="02040503050406030204" pitchFamily="18" charset="0"/>
                            <a:cs typeface="Times New Roman" panose="02020603050405020304" pitchFamily="18" charset="0"/>
                          </a:rPr>
                        </m:ctrlPr>
                      </m:sSupPr>
                      <m:e>
                        <m:r>
                          <a:rPr lang="en-US" altLang="zh-TW" b="0" i="1" dirty="0" smtClean="0">
                            <a:latin typeface="Cambria Math" panose="02040503050406030204" pitchFamily="18" charset="0"/>
                            <a:cs typeface="Times New Roman" panose="02020603050405020304" pitchFamily="18" charset="0"/>
                          </a:rPr>
                          <m:t>𝑛</m:t>
                        </m:r>
                      </m:e>
                      <m:sup>
                        <m:r>
                          <a:rPr lang="en-US" altLang="zh-TW" b="0" i="1" dirty="0" smtClean="0">
                            <a:latin typeface="Cambria Math" panose="02040503050406030204" pitchFamily="18" charset="0"/>
                            <a:cs typeface="Times New Roman" panose="02020603050405020304" pitchFamily="18" charset="0"/>
                          </a:rPr>
                          <m:t>3</m:t>
                        </m:r>
                      </m:sup>
                    </m:sSup>
                    <m:func>
                      <m:funcPr>
                        <m:ctrlPr>
                          <a:rPr lang="en-US" altLang="zh-TW" i="1" dirty="0" smtClean="0">
                            <a:latin typeface="Cambria Math" panose="02040503050406030204" pitchFamily="18" charset="0"/>
                            <a:cs typeface="Times New Roman" panose="02020603050405020304" pitchFamily="18" charset="0"/>
                          </a:rPr>
                        </m:ctrlPr>
                      </m:funcPr>
                      <m:fName>
                        <m:r>
                          <m:rPr>
                            <m:sty m:val="p"/>
                          </m:rPr>
                          <a:rPr lang="en-US" altLang="zh-TW" i="0" dirty="0" smtClean="0">
                            <a:latin typeface="Cambria Math" panose="02040503050406030204" pitchFamily="18" charset="0"/>
                            <a:cs typeface="Times New Roman" panose="02020603050405020304" pitchFamily="18" charset="0"/>
                          </a:rPr>
                          <m:t>log</m:t>
                        </m:r>
                      </m:fName>
                      <m:e>
                        <m:r>
                          <a:rPr lang="en-US" altLang="zh-TW" b="0" i="1" dirty="0" smtClean="0">
                            <a:latin typeface="Cambria Math" panose="02040503050406030204" pitchFamily="18" charset="0"/>
                            <a:cs typeface="Times New Roman" panose="02020603050405020304" pitchFamily="18" charset="0"/>
                          </a:rPr>
                          <m:t>𝑘</m:t>
                        </m:r>
                      </m:e>
                    </m:func>
                    <m:r>
                      <a:rPr lang="en-US" altLang="zh-TW" b="0" i="1" smtClean="0">
                        <a:latin typeface="Cambria Math" panose="02040503050406030204" pitchFamily="18" charset="0"/>
                        <a:cs typeface="Times New Roman" panose="02020603050405020304" pitchFamily="18" charset="0"/>
                      </a:rPr>
                      <m:t>)</m:t>
                    </m:r>
                  </m:oMath>
                </a14:m>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time for solving this problem, where n and m are the length of T and maximal length of sequences in S, respectively. Furthermore, </a:t>
                </a:r>
                <a:r>
                  <a:rPr lang="en-US" altLang="zh-TW" dirty="0" smtClean="0">
                    <a:latin typeface="Times New Roman" panose="02020603050405020304" pitchFamily="18" charset="0"/>
                    <a:cs typeface="Times New Roman" panose="02020603050405020304" pitchFamily="18" charset="0"/>
                  </a:rPr>
                  <a:t>an </a:t>
                </a:r>
                <a:r>
                  <a:rPr lang="en-US" altLang="zh-TW" dirty="0" smtClean="0">
                    <a:latin typeface="Times New Roman" panose="02020603050405020304" pitchFamily="18" charset="0"/>
                    <a:cs typeface="Times New Roman" panose="02020603050405020304" pitchFamily="18" charset="0"/>
                  </a:rPr>
                  <a:t>improved algorithm with </a:t>
                </a:r>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𝑂</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𝑛</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𝑚</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𝑘</m:t>
                        </m:r>
                      </m:e>
                    </m:d>
                    <m:d>
                      <m:dPr>
                        <m:begChr m:val="|"/>
                        <m:endChr m:val="|"/>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𝑆</m:t>
                        </m:r>
                      </m:e>
                    </m:d>
                    <m:r>
                      <a:rPr lang="en-US" altLang="zh-TW" b="0" i="1" smtClean="0">
                        <a:latin typeface="Cambria Math" panose="02040503050406030204" pitchFamily="18" charset="0"/>
                        <a:cs typeface="Times New Roman" panose="02020603050405020304" pitchFamily="18" charset="0"/>
                      </a:rPr>
                      <m:t>)</m:t>
                    </m:r>
                  </m:oMath>
                </a14:m>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time is proposed by applying an efficient preprocessing for the MLCS problem.</a:t>
                </a:r>
                <a:endParaRPr lang="zh-TW" altLang="en-US" dirty="0">
                  <a:latin typeface="Times New Roman" panose="02020603050405020304" pitchFamily="18" charset="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1120" r="-162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00966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cs typeface="Times New Roman" panose="02020603050405020304" pitchFamily="18" charset="0"/>
              </a:rPr>
              <a:t>The</a:t>
            </a:r>
            <a:r>
              <a:rPr lang="en-US" altLang="zh-TW" dirty="0" smtClean="0">
                <a:latin typeface="Times New Roman" panose="02020603050405020304" pitchFamily="18" charset="0"/>
                <a:cs typeface="Times New Roman" panose="02020603050405020304" pitchFamily="18" charset="0"/>
              </a:rPr>
              <a:t> </a:t>
            </a:r>
            <a:r>
              <a:rPr lang="en-US" altLang="zh-TW" sz="4000" dirty="0" smtClean="0">
                <a:latin typeface="Times New Roman" panose="02020603050405020304" pitchFamily="18" charset="0"/>
                <a:cs typeface="Times New Roman" panose="02020603050405020304" pitchFamily="18" charset="0"/>
              </a:rPr>
              <a:t>LCS</a:t>
            </a:r>
            <a:r>
              <a:rPr lang="en-US" altLang="zh-TW" dirty="0" smtClean="0">
                <a:latin typeface="Times New Roman" panose="02020603050405020304" pitchFamily="18" charset="0"/>
                <a:cs typeface="Times New Roman" panose="02020603050405020304" pitchFamily="18" charset="0"/>
              </a:rPr>
              <a:t> Problem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solidFill>
                      <a:schemeClr val="tx1"/>
                    </a:solidFill>
                    <a:latin typeface="Times New Roman" panose="02020603050405020304" pitchFamily="18" charset="0"/>
                    <a:cs typeface="Times New Roman" panose="02020603050405020304" pitchFamily="18" charset="0"/>
                  </a:rPr>
                  <a:t>Sequence </a:t>
                </a:r>
                <a14:m>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𝑋</m:t>
                    </m:r>
                  </m:oMath>
                </a14:m>
                <a:r>
                  <a:rPr lang="en-US" altLang="zh-TW" dirty="0" smtClean="0">
                    <a:solidFill>
                      <a:schemeClr val="tx1"/>
                    </a:solidFill>
                    <a:latin typeface="Times New Roman" panose="02020603050405020304" pitchFamily="18" charset="0"/>
                    <a:cs typeface="Times New Roman" panose="02020603050405020304" pitchFamily="18" charset="0"/>
                  </a:rPr>
                  <a:t>: ATTGCCA</a:t>
                </a:r>
              </a:p>
              <a:p>
                <a:pPr marL="0" indent="0">
                  <a:buNone/>
                </a:pPr>
                <a:r>
                  <a:rPr lang="en-US" altLang="zh-TW" dirty="0" smtClean="0">
                    <a:solidFill>
                      <a:schemeClr val="tx1"/>
                    </a:solidFill>
                    <a:latin typeface="Times New Roman" panose="02020603050405020304" pitchFamily="18" charset="0"/>
                    <a:cs typeface="Times New Roman" panose="02020603050405020304" pitchFamily="18" charset="0"/>
                  </a:rPr>
                  <a:t>Sequence </a:t>
                </a:r>
                <a14:m>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𝑌</m:t>
                    </m:r>
                  </m:oMath>
                </a14:m>
                <a:r>
                  <a:rPr lang="en-US" altLang="zh-TW" dirty="0" smtClean="0">
                    <a:solidFill>
                      <a:schemeClr val="tx1"/>
                    </a:solidFill>
                    <a:latin typeface="Times New Roman" panose="02020603050405020304" pitchFamily="18" charset="0"/>
                    <a:cs typeface="Times New Roman" panose="02020603050405020304" pitchFamily="18" charset="0"/>
                  </a:rPr>
                  <a:t>: TAGAC</a:t>
                </a:r>
              </a:p>
              <a:p>
                <a:pPr marL="0" indent="0">
                  <a:buNone/>
                </a:pPr>
                <a:r>
                  <a:rPr lang="en-US" altLang="zh-TW" dirty="0" smtClean="0">
                    <a:latin typeface="Times New Roman" panose="02020603050405020304" pitchFamily="18" charset="0"/>
                    <a:cs typeface="Times New Roman" panose="02020603050405020304" pitchFamily="18" charset="0"/>
                  </a:rPr>
                  <a:t>Common Subsequence : TA</a:t>
                </a:r>
                <a:r>
                  <a:rPr lang="zh-TW" altLang="en-US" dirty="0" smtClean="0">
                    <a:latin typeface="Times New Roman" panose="02020603050405020304" pitchFamily="18" charset="0"/>
                    <a:cs typeface="Times New Roman" panose="02020603050405020304" pitchFamily="18" charset="0"/>
                  </a:rPr>
                  <a:t>、</a:t>
                </a:r>
                <a:r>
                  <a:rPr lang="en-US" altLang="zh-TW" dirty="0" smtClean="0">
                    <a:latin typeface="Times New Roman" panose="02020603050405020304" pitchFamily="18" charset="0"/>
                    <a:cs typeface="Times New Roman" panose="02020603050405020304" pitchFamily="18" charset="0"/>
                  </a:rPr>
                  <a:t>TGC</a:t>
                </a:r>
                <a:r>
                  <a:rPr lang="zh-TW" altLang="en-US" dirty="0" smtClean="0">
                    <a:latin typeface="Times New Roman" panose="02020603050405020304" pitchFamily="18" charset="0"/>
                    <a:cs typeface="Times New Roman" panose="02020603050405020304" pitchFamily="18" charset="0"/>
                  </a:rPr>
                  <a:t>、</a:t>
                </a:r>
                <a:r>
                  <a:rPr lang="en-US" altLang="zh-TW" dirty="0" smtClean="0">
                    <a:latin typeface="Times New Roman" panose="02020603050405020304" pitchFamily="18" charset="0"/>
                    <a:cs typeface="Times New Roman" panose="02020603050405020304" pitchFamily="18" charset="0"/>
                  </a:rPr>
                  <a:t>AC …</a:t>
                </a:r>
              </a:p>
              <a:p>
                <a:pPr marL="0" indent="0">
                  <a:buNone/>
                </a:pPr>
                <a:r>
                  <a:rPr lang="en-US" altLang="zh-TW" dirty="0" smtClean="0">
                    <a:solidFill>
                      <a:schemeClr val="tx1"/>
                    </a:solidFill>
                    <a:latin typeface="Times New Roman" panose="02020603050405020304" pitchFamily="18" charset="0"/>
                    <a:cs typeface="Times New Roman" panose="02020603050405020304" pitchFamily="18" charset="0"/>
                  </a:rPr>
                  <a:t>Longest Common Subsequence : AGC</a:t>
                </a:r>
                <a:r>
                  <a:rPr lang="zh-TW" altLang="en-US" dirty="0" smtClean="0">
                    <a:latin typeface="Times New Roman" panose="02020603050405020304" pitchFamily="18" charset="0"/>
                    <a:cs typeface="Times New Roman" panose="02020603050405020304" pitchFamily="18" charset="0"/>
                  </a:rPr>
                  <a:t>、</a:t>
                </a:r>
                <a:r>
                  <a:rPr lang="en-US" altLang="zh-TW" dirty="0" smtClean="0">
                    <a:latin typeface="Times New Roman" panose="02020603050405020304" pitchFamily="18" charset="0"/>
                    <a:cs typeface="Times New Roman" panose="02020603050405020304" pitchFamily="18" charset="0"/>
                  </a:rPr>
                  <a:t>TGA</a:t>
                </a:r>
                <a:r>
                  <a:rPr lang="zh-TW" altLang="en-US"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endParaRPr lang="en-US" altLang="zh-TW" dirty="0" smtClean="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338937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cs typeface="Times New Roman" panose="02020603050405020304" pitchFamily="18" charset="0"/>
              </a:rPr>
              <a:t>The</a:t>
            </a:r>
            <a:r>
              <a:rPr lang="en-US" altLang="zh-TW" dirty="0" smtClean="0">
                <a:latin typeface="Times New Roman" panose="02020603050405020304" pitchFamily="18" charset="0"/>
                <a:cs typeface="Times New Roman" panose="02020603050405020304" pitchFamily="18" charset="0"/>
              </a:rPr>
              <a:t> </a:t>
            </a:r>
            <a:r>
              <a:rPr lang="en-US" altLang="zh-TW" sz="4000" dirty="0" smtClean="0">
                <a:latin typeface="Times New Roman" panose="02020603050405020304" pitchFamily="18" charset="0"/>
                <a:cs typeface="Times New Roman" panose="02020603050405020304" pitchFamily="18" charset="0"/>
              </a:rPr>
              <a:t>MLCS</a:t>
            </a:r>
            <a:r>
              <a:rPr lang="en-US" altLang="zh-TW" dirty="0" smtClean="0">
                <a:latin typeface="Times New Roman" panose="02020603050405020304" pitchFamily="18" charset="0"/>
                <a:cs typeface="Times New Roman" panose="02020603050405020304" pitchFamily="18" charset="0"/>
              </a:rPr>
              <a:t> Problem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latin typeface="Times New Roman" panose="02020603050405020304" pitchFamily="18" charset="0"/>
                    <a:cs typeface="Times New Roman" panose="02020603050405020304" pitchFamily="18" charset="0"/>
                  </a:rPr>
                  <a:t>Input : Target sequence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𝑇</m:t>
                    </m:r>
                  </m:oMath>
                </a14:m>
                <a:r>
                  <a:rPr lang="en-US" altLang="zh-TW" dirty="0" smtClean="0">
                    <a:latin typeface="Times New Roman" panose="02020603050405020304" pitchFamily="18" charset="0"/>
                    <a:cs typeface="Times New Roman" panose="02020603050405020304" pitchFamily="18" charset="0"/>
                  </a:rPr>
                  <a:t>, mosaic number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𝑘</m:t>
                    </m:r>
                  </m:oMath>
                </a14:m>
                <a:r>
                  <a:rPr lang="en-US" altLang="zh-TW" dirty="0" smtClean="0">
                    <a:latin typeface="Times New Roman" panose="02020603050405020304" pitchFamily="18" charset="0"/>
                    <a:cs typeface="Times New Roman" panose="02020603050405020304" pitchFamily="18" charset="0"/>
                  </a:rPr>
                  <a:t>, a set of source sequences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𝑆</m:t>
                    </m:r>
                  </m:oMath>
                </a14:m>
                <a:r>
                  <a:rPr lang="en-US" altLang="zh-TW" dirty="0" smtClean="0">
                    <a:latin typeface="Times New Roman" panose="02020603050405020304" pitchFamily="18" charset="0"/>
                    <a:cs typeface="Times New Roman" panose="02020603050405020304" pitchFamily="18" charset="0"/>
                  </a:rPr>
                  <a:t>.</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Output : find a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𝑘</m:t>
                    </m:r>
                  </m:oMath>
                </a14:m>
                <a:r>
                  <a:rPr lang="en-US" altLang="zh-TW" dirty="0" smtClean="0">
                    <a:latin typeface="Times New Roman" panose="02020603050405020304" pitchFamily="18" charset="0"/>
                    <a:cs typeface="Times New Roman" panose="02020603050405020304" pitchFamily="18" charset="0"/>
                  </a:rPr>
                  <a:t>-mosaic sequence </a:t>
                </a:r>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𝐶</m:t>
                    </m:r>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𝐶</m:t>
                        </m:r>
                      </m:e>
                      <m:sub>
                        <m:r>
                          <a:rPr lang="en-US" altLang="zh-TW" b="0" i="1" smtClean="0">
                            <a:latin typeface="Cambria Math" panose="02040503050406030204" pitchFamily="18" charset="0"/>
                            <a:cs typeface="Times New Roman" panose="02020603050405020304" pitchFamily="18" charset="0"/>
                          </a:rPr>
                          <m:t>1</m:t>
                        </m:r>
                      </m:sub>
                    </m:sSub>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𝐶</m:t>
                        </m:r>
                      </m:e>
                      <m:sub>
                        <m:r>
                          <a:rPr lang="en-US" altLang="zh-TW" b="0" i="1" smtClean="0">
                            <a:latin typeface="Cambria Math" panose="02040503050406030204" pitchFamily="18" charset="0"/>
                            <a:cs typeface="Times New Roman" panose="02020603050405020304" pitchFamily="18" charset="0"/>
                          </a:rPr>
                          <m:t>2</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𝐶</m:t>
                        </m:r>
                      </m:e>
                      <m:sub>
                        <m:r>
                          <a:rPr lang="en-US" altLang="zh-TW" b="0" i="1" smtClean="0">
                            <a:latin typeface="Cambria Math" panose="02040503050406030204" pitchFamily="18" charset="0"/>
                            <a:cs typeface="Times New Roman" panose="02020603050405020304" pitchFamily="18" charset="0"/>
                          </a:rPr>
                          <m:t>𝑘</m:t>
                        </m:r>
                      </m:sub>
                    </m:sSub>
                  </m:oMath>
                </a14:m>
                <a:r>
                  <a:rPr lang="en-US" altLang="zh-TW" dirty="0" smtClean="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𝐶</m:t>
                        </m:r>
                      </m:e>
                      <m:sub>
                        <m:r>
                          <a:rPr lang="en-US" altLang="zh-TW" b="0" i="1" smtClean="0">
                            <a:latin typeface="Cambria Math" panose="02040503050406030204" pitchFamily="18" charset="0"/>
                            <a:cs typeface="Times New Roman" panose="02020603050405020304" pitchFamily="18" charset="0"/>
                          </a:rPr>
                          <m:t>𝑖</m:t>
                        </m:r>
                      </m:sub>
                    </m:sSub>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𝑆</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𝑎𝑛𝑑</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 1≤</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𝑘</m:t>
                    </m:r>
                  </m:oMath>
                </a14:m>
                <a:r>
                  <a:rPr lang="en-US" altLang="zh-TW" dirty="0" smtClean="0">
                    <a:latin typeface="Times New Roman" panose="02020603050405020304" pitchFamily="18" charset="0"/>
                    <a:cs typeface="Times New Roman" panose="02020603050405020304" pitchFamily="18" charset="0"/>
                  </a:rPr>
                  <a:t>, such that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𝐿𝐶𝑆</m:t>
                    </m:r>
                    <m:r>
                      <a:rPr lang="en-US" altLang="zh-TW" i="1" dirty="0" smtClean="0">
                        <a:latin typeface="Cambria Math" panose="02040503050406030204" pitchFamily="18" charset="0"/>
                        <a:cs typeface="Times New Roman" panose="02020603050405020304" pitchFamily="18" charset="0"/>
                      </a:rPr>
                      <m:t>(</m:t>
                    </m:r>
                    <m:r>
                      <a:rPr lang="en-US" altLang="zh-TW" i="1" dirty="0" smtClean="0">
                        <a:latin typeface="Cambria Math" panose="02040503050406030204" pitchFamily="18" charset="0"/>
                        <a:cs typeface="Times New Roman" panose="02020603050405020304" pitchFamily="18" charset="0"/>
                      </a:rPr>
                      <m:t>𝑇</m:t>
                    </m:r>
                    <m:r>
                      <a:rPr lang="en-US" altLang="zh-TW" i="1" dirty="0" smtClean="0">
                        <a:latin typeface="Cambria Math" panose="02040503050406030204" pitchFamily="18" charset="0"/>
                        <a:cs typeface="Times New Roman" panose="02020603050405020304" pitchFamily="18" charset="0"/>
                      </a:rPr>
                      <m:t>,</m:t>
                    </m:r>
                    <m:r>
                      <a:rPr lang="en-US" altLang="zh-TW" i="1" dirty="0" smtClean="0">
                        <a:latin typeface="Cambria Math" panose="02040503050406030204" pitchFamily="18" charset="0"/>
                        <a:cs typeface="Times New Roman" panose="02020603050405020304" pitchFamily="18" charset="0"/>
                      </a:rPr>
                      <m:t>𝐶</m:t>
                    </m:r>
                    <m:r>
                      <a:rPr lang="en-US" altLang="zh-TW" i="1" dirty="0" smtClean="0">
                        <a:latin typeface="Cambria Math" panose="02040503050406030204" pitchFamily="18" charset="0"/>
                        <a:cs typeface="Times New Roman" panose="02020603050405020304" pitchFamily="18" charset="0"/>
                      </a:rPr>
                      <m:t>)</m:t>
                    </m:r>
                  </m:oMath>
                </a14:m>
                <a:r>
                  <a:rPr lang="en-US" altLang="zh-TW" dirty="0" smtClean="0">
                    <a:latin typeface="Times New Roman" panose="02020603050405020304" pitchFamily="18" charset="0"/>
                    <a:cs typeface="Times New Roman" panose="02020603050405020304" pitchFamily="18" charset="0"/>
                  </a:rPr>
                  <a:t> is maximal.</a:t>
                </a:r>
              </a:p>
              <a:p>
                <a:pPr marL="0" indent="0">
                  <a:buNone/>
                </a:pPr>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0624891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cs typeface="Times New Roman" panose="02020603050405020304" pitchFamily="18" charset="0"/>
              </a:rPr>
              <a:t>The</a:t>
            </a:r>
            <a:r>
              <a:rPr lang="en-US" altLang="zh-TW" dirty="0" smtClean="0">
                <a:latin typeface="Times New Roman" panose="02020603050405020304" pitchFamily="18" charset="0"/>
                <a:cs typeface="Times New Roman" panose="02020603050405020304" pitchFamily="18" charset="0"/>
              </a:rPr>
              <a:t> </a:t>
            </a:r>
            <a:r>
              <a:rPr lang="en-US" altLang="zh-TW" sz="4000" dirty="0" smtClean="0">
                <a:latin typeface="Times New Roman" panose="02020603050405020304" pitchFamily="18" charset="0"/>
                <a:cs typeface="Times New Roman" panose="02020603050405020304" pitchFamily="18" charset="0"/>
              </a:rPr>
              <a:t>MLCS</a:t>
            </a:r>
            <a:r>
              <a:rPr lang="en-US" altLang="zh-TW" dirty="0" smtClean="0">
                <a:latin typeface="Times New Roman" panose="02020603050405020304" pitchFamily="18" charset="0"/>
                <a:cs typeface="Times New Roman" panose="02020603050405020304" pitchFamily="18" charset="0"/>
              </a:rPr>
              <a:t> Problem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latin typeface="Times New Roman" panose="02020603050405020304" pitchFamily="18" charset="0"/>
                    <a:cs typeface="Times New Roman" panose="02020603050405020304" pitchFamily="18" charset="0"/>
                  </a:rPr>
                  <a:t>Example :</a:t>
                </a:r>
              </a:p>
              <a:p>
                <a:pPr marL="0" indent="0">
                  <a:buNone/>
                </a:pPr>
                <a:r>
                  <a:rPr lang="en-US" altLang="zh-TW" dirty="0">
                    <a:latin typeface="Times New Roman" panose="02020603050405020304" pitchFamily="18" charset="0"/>
                    <a:cs typeface="Times New Roman" panose="02020603050405020304" pitchFamily="18" charset="0"/>
                  </a:rPr>
                  <a:t>Target sequence </a:t>
                </a:r>
                <a14:m>
                  <m:oMath xmlns:m="http://schemas.openxmlformats.org/officeDocument/2006/math">
                    <m:r>
                      <a:rPr lang="en-US" altLang="zh-TW" i="1" dirty="0">
                        <a:latin typeface="Cambria Math" panose="02040503050406030204" pitchFamily="18" charset="0"/>
                        <a:cs typeface="Times New Roman" panose="02020603050405020304" pitchFamily="18" charset="0"/>
                      </a:rPr>
                      <m:t>𝑇</m:t>
                    </m:r>
                    <m:r>
                      <a:rPr lang="en-US" altLang="zh-TW" b="0" i="1" dirty="0" smtClean="0">
                        <a:latin typeface="Cambria Math" panose="02040503050406030204" pitchFamily="18" charset="0"/>
                        <a:cs typeface="Times New Roman" panose="02020603050405020304" pitchFamily="18" charset="0"/>
                      </a:rPr>
                      <m:t>=</m:t>
                    </m:r>
                    <m:r>
                      <a:rPr lang="en-US" altLang="zh-TW" b="0" i="1" dirty="0" smtClean="0">
                        <a:latin typeface="Cambria Math" panose="02040503050406030204" pitchFamily="18" charset="0"/>
                        <a:cs typeface="Times New Roman" panose="02020603050405020304" pitchFamily="18" charset="0"/>
                      </a:rPr>
                      <m:t>𝑎𝑔𝑎𝑡𝑔𝑎𝑔𝑐</m:t>
                    </m:r>
                  </m:oMath>
                </a14:m>
                <a:r>
                  <a:rPr lang="en-US" altLang="zh-TW" dirty="0" smtClean="0">
                    <a:latin typeface="Times New Roman" panose="02020603050405020304" pitchFamily="18" charset="0"/>
                    <a:cs typeface="Times New Roman" panose="02020603050405020304" pitchFamily="18" charset="0"/>
                  </a:rPr>
                  <a:t> </a:t>
                </a:r>
              </a:p>
              <a:p>
                <a:pPr marL="0" indent="0">
                  <a:buNone/>
                </a:pPr>
                <a:r>
                  <a:rPr lang="en-US" altLang="zh-TW" dirty="0" smtClean="0">
                    <a:latin typeface="Times New Roman" panose="02020603050405020304" pitchFamily="18" charset="0"/>
                    <a:cs typeface="Times New Roman" panose="02020603050405020304" pitchFamily="18" charset="0"/>
                  </a:rPr>
                  <a:t>mosaic </a:t>
                </a:r>
                <a:r>
                  <a:rPr lang="en-US" altLang="zh-TW" dirty="0">
                    <a:latin typeface="Times New Roman" panose="02020603050405020304" pitchFamily="18" charset="0"/>
                    <a:cs typeface="Times New Roman" panose="02020603050405020304" pitchFamily="18" charset="0"/>
                  </a:rPr>
                  <a:t>number </a:t>
                </a:r>
                <a14:m>
                  <m:oMath xmlns:m="http://schemas.openxmlformats.org/officeDocument/2006/math">
                    <m:r>
                      <a:rPr lang="en-US" altLang="zh-TW" i="1" dirty="0">
                        <a:latin typeface="Cambria Math" panose="02040503050406030204" pitchFamily="18" charset="0"/>
                        <a:cs typeface="Times New Roman" panose="02020603050405020304" pitchFamily="18" charset="0"/>
                      </a:rPr>
                      <m:t>𝑘</m:t>
                    </m:r>
                    <m:r>
                      <a:rPr lang="en-US" altLang="zh-TW" b="0" i="0" dirty="0" smtClean="0">
                        <a:latin typeface="Cambria Math" panose="02040503050406030204" pitchFamily="18" charset="0"/>
                        <a:cs typeface="Times New Roman" panose="02020603050405020304" pitchFamily="18" charset="0"/>
                      </a:rPr>
                      <m:t>=3</m:t>
                    </m:r>
                  </m:oMath>
                </a14:m>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a </a:t>
                </a:r>
                <a:r>
                  <a:rPr lang="en-US" altLang="zh-TW" dirty="0">
                    <a:latin typeface="Times New Roman" panose="02020603050405020304" pitchFamily="18" charset="0"/>
                    <a:cs typeface="Times New Roman" panose="02020603050405020304" pitchFamily="18" charset="0"/>
                  </a:rPr>
                  <a:t>set of source sequences </a:t>
                </a:r>
                <a14:m>
                  <m:oMath xmlns:m="http://schemas.openxmlformats.org/officeDocument/2006/math">
                    <m:r>
                      <a:rPr lang="en-US" altLang="zh-TW" i="1" dirty="0">
                        <a:latin typeface="Cambria Math" panose="02040503050406030204" pitchFamily="18" charset="0"/>
                        <a:cs typeface="Times New Roman" panose="02020603050405020304" pitchFamily="18" charset="0"/>
                      </a:rPr>
                      <m:t>𝑆</m:t>
                    </m:r>
                    <m:r>
                      <a:rPr lang="en-US" altLang="zh-TW" b="0" i="0" dirty="0" smtClean="0">
                        <a:latin typeface="Cambria Math" panose="02040503050406030204" pitchFamily="18" charset="0"/>
                        <a:cs typeface="Times New Roman" panose="02020603050405020304" pitchFamily="18" charset="0"/>
                      </a:rPr>
                      <m:t>={</m:t>
                    </m:r>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𝑆</m:t>
                        </m:r>
                      </m:e>
                      <m:sub>
                        <m:r>
                          <a:rPr lang="en-US" altLang="zh-TW" b="0" i="1" dirty="0" smtClean="0">
                            <a:latin typeface="Cambria Math" panose="02040503050406030204" pitchFamily="18" charset="0"/>
                            <a:cs typeface="Times New Roman" panose="02020603050405020304" pitchFamily="18" charset="0"/>
                          </a:rPr>
                          <m:t>1</m:t>
                        </m:r>
                      </m:sub>
                    </m:sSub>
                    <m:r>
                      <a:rPr lang="en-US" altLang="zh-TW" b="0" i="1" dirty="0" smtClean="0">
                        <a:latin typeface="Cambria Math" panose="02040503050406030204" pitchFamily="18" charset="0"/>
                        <a:cs typeface="Times New Roman" panose="02020603050405020304" pitchFamily="18" charset="0"/>
                      </a:rPr>
                      <m:t>=</m:t>
                    </m:r>
                    <m:r>
                      <a:rPr lang="en-US" altLang="zh-TW" b="0" i="1" dirty="0" smtClean="0">
                        <a:latin typeface="Cambria Math" panose="02040503050406030204" pitchFamily="18" charset="0"/>
                        <a:cs typeface="Times New Roman" panose="02020603050405020304" pitchFamily="18" charset="0"/>
                      </a:rPr>
                      <m:t>𝑎𝑔𝑐</m:t>
                    </m:r>
                    <m:r>
                      <a:rPr lang="en-US" altLang="zh-TW" b="0" i="0" dirty="0" smtClean="0">
                        <a:latin typeface="Cambria Math" panose="02040503050406030204" pitchFamily="18" charset="0"/>
                        <a:cs typeface="Times New Roman" panose="02020603050405020304" pitchFamily="18" charset="0"/>
                      </a:rPr>
                      <m:t>, </m:t>
                    </m:r>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𝑆</m:t>
                        </m:r>
                      </m:e>
                      <m:sub>
                        <m:r>
                          <a:rPr lang="en-US" altLang="zh-TW" b="0" i="1" dirty="0" smtClean="0">
                            <a:latin typeface="Cambria Math" panose="02040503050406030204" pitchFamily="18" charset="0"/>
                            <a:cs typeface="Times New Roman" panose="02020603050405020304" pitchFamily="18" charset="0"/>
                          </a:rPr>
                          <m:t>2</m:t>
                        </m:r>
                      </m:sub>
                    </m:sSub>
                    <m:r>
                      <a:rPr lang="en-US" altLang="zh-TW" b="0" i="1" dirty="0" smtClean="0">
                        <a:latin typeface="Cambria Math" panose="02040503050406030204" pitchFamily="18" charset="0"/>
                        <a:cs typeface="Times New Roman" panose="02020603050405020304" pitchFamily="18" charset="0"/>
                      </a:rPr>
                      <m:t>=</m:t>
                    </m:r>
                    <m:r>
                      <a:rPr lang="en-US" altLang="zh-TW" b="0" i="1" dirty="0" smtClean="0">
                        <a:latin typeface="Cambria Math" panose="02040503050406030204" pitchFamily="18" charset="0"/>
                        <a:cs typeface="Times New Roman" panose="02020603050405020304" pitchFamily="18" charset="0"/>
                      </a:rPr>
                      <m:t>𝑡𝑔</m:t>
                    </m:r>
                    <m:r>
                      <m:rPr>
                        <m:sty m:val="p"/>
                      </m:rPr>
                      <a:rPr lang="en-US" altLang="zh-TW" b="0" i="0" dirty="0" smtClean="0">
                        <a:latin typeface="Cambria Math" panose="02040503050406030204" pitchFamily="18" charset="0"/>
                        <a:cs typeface="Times New Roman" panose="02020603050405020304" pitchFamily="18" charset="0"/>
                      </a:rPr>
                      <m:t>c</m:t>
                    </m:r>
                    <m:r>
                      <a:rPr lang="en-US" altLang="zh-TW" b="0" i="0" dirty="0" smtClean="0">
                        <a:latin typeface="Cambria Math" panose="02040503050406030204" pitchFamily="18" charset="0"/>
                        <a:cs typeface="Times New Roman" panose="02020603050405020304" pitchFamily="18" charset="0"/>
                      </a:rPr>
                      <m:t>}</m:t>
                    </m:r>
                  </m:oMath>
                </a14:m>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If </a:t>
                </a:r>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𝐶</m:t>
                    </m:r>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𝑆</m:t>
                        </m:r>
                      </m:e>
                      <m:sub>
                        <m:r>
                          <a:rPr lang="en-US" altLang="zh-TW" b="0" i="1" smtClean="0">
                            <a:latin typeface="Cambria Math" panose="02040503050406030204" pitchFamily="18" charset="0"/>
                            <a:cs typeface="Times New Roman" panose="02020603050405020304" pitchFamily="18" charset="0"/>
                          </a:rPr>
                          <m:t>1</m:t>
                        </m:r>
                      </m:sub>
                    </m:sSub>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𝑆</m:t>
                        </m:r>
                      </m:e>
                      <m:sub>
                        <m:r>
                          <a:rPr lang="en-US" altLang="zh-TW" b="0" i="1" smtClean="0">
                            <a:latin typeface="Cambria Math" panose="02040503050406030204" pitchFamily="18" charset="0"/>
                            <a:cs typeface="Times New Roman" panose="02020603050405020304" pitchFamily="18" charset="0"/>
                          </a:rPr>
                          <m:t>2</m:t>
                        </m:r>
                      </m:sub>
                    </m:sSub>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𝑆</m:t>
                        </m:r>
                      </m:e>
                      <m:sub>
                        <m:r>
                          <a:rPr lang="en-US" altLang="zh-TW" b="0" i="1" smtClean="0">
                            <a:latin typeface="Cambria Math" panose="02040503050406030204" pitchFamily="18" charset="0"/>
                            <a:cs typeface="Times New Roman" panose="02020603050405020304" pitchFamily="18" charset="0"/>
                          </a:rPr>
                          <m:t>1</m:t>
                        </m:r>
                      </m:sub>
                    </m:s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𝑎𝑔𝑐𝑡𝑔𝑐𝑎𝑔𝑐</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𝐿𝐶𝑆</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𝑇</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𝐶</m:t>
                        </m:r>
                      </m:e>
                    </m:d>
                    <m:r>
                      <a:rPr lang="en-US" altLang="zh-TW" b="0" i="1" smtClean="0">
                        <a:latin typeface="Cambria Math" panose="02040503050406030204" pitchFamily="18" charset="0"/>
                        <a:cs typeface="Times New Roman" panose="02020603050405020304" pitchFamily="18" charset="0"/>
                      </a:rPr>
                      <m:t>=7</m:t>
                    </m:r>
                  </m:oMath>
                </a14:m>
                <a:endParaRPr lang="en-US" altLang="zh-TW" b="0" dirty="0" smtClean="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0784641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4000" dirty="0" smtClean="0">
                <a:latin typeface="Times New Roman" panose="02020603050405020304" pitchFamily="18" charset="0"/>
                <a:cs typeface="Times New Roman" panose="02020603050405020304" pitchFamily="18" charset="0"/>
              </a:rPr>
              <a:t>Method</a:t>
            </a:r>
            <a:r>
              <a:rPr lang="en-US" altLang="zh-TW"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1 : </a:t>
            </a:r>
            <a:r>
              <a:rPr lang="en-US" altLang="zh-TW" dirty="0" smtClean="0">
                <a:latin typeface="Times New Roman" panose="02020603050405020304" pitchFamily="18" charset="0"/>
                <a:cs typeface="Times New Roman" panose="02020603050405020304" pitchFamily="18" charset="0"/>
              </a:rPr>
              <a:t>brute force</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marL="0" indent="0">
                  <a:buNone/>
                </a:pPr>
                <a:r>
                  <a:rPr lang="en-US" altLang="zh-TW" dirty="0" smtClean="0">
                    <a:latin typeface="Times New Roman" panose="02020603050405020304" pitchFamily="18" charset="0"/>
                    <a:cs typeface="Times New Roman" panose="02020603050405020304" pitchFamily="18" charset="0"/>
                  </a:rPr>
                  <a:t>Compute all situation.</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cs typeface="Times New Roman" panose="02020603050405020304" pitchFamily="18" charset="0"/>
                        </a:rPr>
                        <m:t>𝐿𝐶𝑆</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𝑇</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𝐶</m:t>
                          </m:r>
                        </m:e>
                      </m:d>
                      <m:r>
                        <a:rPr lang="en-US" altLang="zh-TW" b="0" i="1" smtClean="0">
                          <a:latin typeface="Cambria Math" panose="02040503050406030204" pitchFamily="18" charset="0"/>
                          <a:cs typeface="Times New Roman" panose="02020603050405020304" pitchFamily="18" charset="0"/>
                        </a:rPr>
                        <m:t>=</m:t>
                      </m:r>
                      <m:r>
                        <m:rPr>
                          <m:sty m:val="p"/>
                        </m:rPr>
                        <a:rPr lang="en-US" altLang="zh-TW" b="0" i="0" smtClean="0">
                          <a:latin typeface="Cambria Math" panose="02040503050406030204" pitchFamily="18" charset="0"/>
                          <a:cs typeface="Times New Roman" panose="02020603050405020304" pitchFamily="18" charset="0"/>
                        </a:rPr>
                        <m:t>max</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𝐿𝐶𝑆</m:t>
                      </m:r>
                      <m:d>
                        <m:dPr>
                          <m:endChr m:val="}"/>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𝑇</m:t>
                          </m:r>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𝑃</m:t>
                              </m:r>
                            </m:e>
                            <m:sub>
                              <m:r>
                                <a:rPr lang="en-US" altLang="zh-TW" b="0" i="1" smtClean="0">
                                  <a:latin typeface="Cambria Math" panose="02040503050406030204" pitchFamily="18" charset="0"/>
                                  <a:cs typeface="Times New Roman" panose="02020603050405020304" pitchFamily="18" charset="0"/>
                                </a:rPr>
                                <m:t>𝑖</m:t>
                              </m:r>
                            </m:sub>
                          </m:sSub>
                          <m:r>
                            <a:rPr lang="en-US" altLang="zh-TW" b="0" i="1" smtClean="0">
                              <a:latin typeface="Cambria Math" panose="02040503050406030204" pitchFamily="18" charset="0"/>
                              <a:cs typeface="Times New Roman" panose="02020603050405020304" pitchFamily="18" charset="0"/>
                            </a:rPr>
                            <m:t>)</m:t>
                          </m:r>
                        </m:e>
                      </m:d>
                    </m:oMath>
                  </m:oMathPara>
                </a14:m>
                <a:endParaRPr lang="en-US" altLang="zh-TW" b="0" dirty="0" smtClean="0">
                  <a:latin typeface="Times New Roman" panose="02020603050405020304" pitchFamily="18" charset="0"/>
                  <a:cs typeface="Times New Roman" panose="02020603050405020304" pitchFamily="18" charset="0"/>
                </a:endParaRPr>
              </a:p>
              <a:p>
                <a:pPr marL="0" indent="0">
                  <a:buNone/>
                </a:pP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Time complexity : </a:t>
                </a:r>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𝑂</m:t>
                    </m:r>
                    <m:r>
                      <a:rPr lang="en-US" altLang="zh-TW" b="0" i="1" smtClean="0">
                        <a:latin typeface="Cambria Math" panose="02040503050406030204" pitchFamily="18" charset="0"/>
                        <a:cs typeface="Times New Roman" panose="02020603050405020304" pitchFamily="18" charset="0"/>
                      </a:rPr>
                      <m:t>(</m:t>
                    </m:r>
                    <m:r>
                      <a:rPr lang="en-US" altLang="zh-TW" b="0" i="1" smtClean="0">
                        <a:solidFill>
                          <a:srgbClr val="FF0000"/>
                        </a:solidFill>
                        <a:latin typeface="Cambria Math" panose="02040503050406030204" pitchFamily="18" charset="0"/>
                        <a:cs typeface="Times New Roman" panose="02020603050405020304" pitchFamily="18" charset="0"/>
                      </a:rPr>
                      <m:t>𝑛𝑚</m:t>
                    </m:r>
                    <m:sSup>
                      <m:sSupPr>
                        <m:ctrlPr>
                          <a:rPr lang="en-US" altLang="zh-TW" b="0" i="1" smtClean="0">
                            <a:solidFill>
                              <a:srgbClr val="0070C0"/>
                            </a:solidFill>
                            <a:latin typeface="Cambria Math" panose="02040503050406030204" pitchFamily="18" charset="0"/>
                            <a:cs typeface="Times New Roman" panose="02020603050405020304" pitchFamily="18" charset="0"/>
                          </a:rPr>
                        </m:ctrlPr>
                      </m:sSupPr>
                      <m:e>
                        <m:r>
                          <a:rPr lang="en-US" altLang="zh-TW" b="0" i="1" smtClean="0">
                            <a:solidFill>
                              <a:srgbClr val="0070C0"/>
                            </a:solidFill>
                            <a:latin typeface="Cambria Math" panose="02040503050406030204" pitchFamily="18" charset="0"/>
                            <a:cs typeface="Times New Roman" panose="02020603050405020304" pitchFamily="18" charset="0"/>
                          </a:rPr>
                          <m:t>|</m:t>
                        </m:r>
                        <m:r>
                          <a:rPr lang="en-US" altLang="zh-TW" b="0" i="1" smtClean="0">
                            <a:solidFill>
                              <a:srgbClr val="0070C0"/>
                            </a:solidFill>
                            <a:latin typeface="Cambria Math" panose="02040503050406030204" pitchFamily="18" charset="0"/>
                            <a:cs typeface="Times New Roman" panose="02020603050405020304" pitchFamily="18" charset="0"/>
                          </a:rPr>
                          <m:t>𝑆</m:t>
                        </m:r>
                        <m:r>
                          <a:rPr lang="en-US" altLang="zh-TW" b="0" i="1" smtClean="0">
                            <a:solidFill>
                              <a:srgbClr val="0070C0"/>
                            </a:solidFill>
                            <a:latin typeface="Cambria Math" panose="02040503050406030204" pitchFamily="18" charset="0"/>
                            <a:cs typeface="Times New Roman" panose="02020603050405020304" pitchFamily="18" charset="0"/>
                          </a:rPr>
                          <m:t>|</m:t>
                        </m:r>
                      </m:e>
                      <m:sup>
                        <m:r>
                          <a:rPr lang="en-US" altLang="zh-TW" b="0" i="1" smtClean="0">
                            <a:solidFill>
                              <a:srgbClr val="0070C0"/>
                            </a:solidFill>
                            <a:latin typeface="Cambria Math" panose="02040503050406030204" pitchFamily="18" charset="0"/>
                            <a:cs typeface="Times New Roman" panose="02020603050405020304" pitchFamily="18" charset="0"/>
                          </a:rPr>
                          <m:t>𝑘</m:t>
                        </m:r>
                      </m:sup>
                    </m:sSup>
                    <m:r>
                      <a:rPr lang="en-US" altLang="zh-TW" b="0" i="1" smtClean="0">
                        <a:latin typeface="Cambria Math" panose="02040503050406030204" pitchFamily="18" charset="0"/>
                        <a:cs typeface="Times New Roman" panose="02020603050405020304" pitchFamily="18" charset="0"/>
                      </a:rPr>
                      <m:t>)</m:t>
                    </m:r>
                  </m:oMath>
                </a14:m>
                <a:endParaRPr lang="en-US" altLang="zh-TW" dirty="0" smtClean="0">
                  <a:latin typeface="Times New Roman" panose="02020603050405020304" pitchFamily="18" charset="0"/>
                  <a:cs typeface="Times New Roman" panose="02020603050405020304" pitchFamily="18" charset="0"/>
                </a:endParaRPr>
              </a:p>
              <a:p>
                <a:pPr marL="0" indent="0" algn="ctr">
                  <a:buNone/>
                </a:pPr>
                <a14:m>
                  <m:oMathPara xmlns:m="http://schemas.openxmlformats.org/officeDocument/2006/math">
                    <m:oMathParaPr>
                      <m:jc m:val="center"/>
                    </m:oMathParaPr>
                    <m:oMath xmlns:m="http://schemas.openxmlformats.org/officeDocument/2006/math">
                      <m:r>
                        <a:rPr lang="en-US" altLang="zh-TW" b="0" i="1" smtClean="0">
                          <a:latin typeface="Cambria Math" panose="02040503050406030204" pitchFamily="18" charset="0"/>
                          <a:cs typeface="Times New Roman" panose="02020603050405020304" pitchFamily="18" charset="0"/>
                        </a:rPr>
                        <m:t>𝑛</m:t>
                      </m:r>
                      <m:r>
                        <a:rPr lang="en-US" altLang="zh-TW" b="0" i="1" smtClean="0">
                          <a:latin typeface="Cambria Math" panose="02040503050406030204" pitchFamily="18" charset="0"/>
                          <a:cs typeface="Times New Roman" panose="02020603050405020304" pitchFamily="18" charset="0"/>
                        </a:rPr>
                        <m:t>=</m:t>
                      </m:r>
                      <m:d>
                        <m:dPr>
                          <m:begChr m:val="|"/>
                          <m:endChr m:val="|"/>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𝑇</m:t>
                          </m:r>
                        </m:e>
                      </m:d>
                      <m:r>
                        <a:rPr lang="en-US" altLang="zh-TW" b="0" i="1" smtClean="0">
                          <a:latin typeface="Cambria Math" panose="02040503050406030204" pitchFamily="18" charset="0"/>
                          <a:cs typeface="Times New Roman" panose="02020603050405020304" pitchFamily="18" charset="0"/>
                        </a:rPr>
                        <m:t>                                                                           </m:t>
                      </m:r>
                    </m:oMath>
                  </m:oMathPara>
                </a14:m>
                <a:endParaRPr lang="en-US" altLang="zh-TW" b="0" i="1" dirty="0" smtClean="0">
                  <a:latin typeface="Cambria Math" panose="02040503050406030204" pitchFamily="18" charset="0"/>
                  <a:cs typeface="Times New Roman" panose="020206030504050203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cs typeface="Times New Roman" panose="02020603050405020304" pitchFamily="18" charset="0"/>
                        </a:rPr>
                        <m:t>𝑚</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𝑡h𝑒</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𝑙𝑒𝑛𝑔𝑡h</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𝑜𝑓</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𝑡h𝑒</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𝑙𝑜𝑛𝑔𝑒𝑠𝑡</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𝑠𝑒𝑞𝑢𝑒𝑛𝑐𝑒</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𝑖𝑛</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𝑆</m:t>
                      </m:r>
                    </m:oMath>
                  </m:oMathPara>
                </a14:m>
                <a:endParaRPr lang="en-US" altLang="zh-TW" b="0" dirty="0" smtClean="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1757345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4000" dirty="0" smtClean="0">
                <a:latin typeface="Times New Roman" panose="02020603050405020304" pitchFamily="18" charset="0"/>
                <a:cs typeface="Times New Roman" panose="02020603050405020304" pitchFamily="18" charset="0"/>
              </a:rPr>
              <a:t>Method</a:t>
            </a:r>
            <a:r>
              <a:rPr lang="en-US" altLang="zh-TW"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2 </a:t>
            </a:r>
            <a:r>
              <a:rPr lang="en-US" altLang="zh-TW" dirty="0" smtClean="0">
                <a:latin typeface="Times New Roman" panose="02020603050405020304" pitchFamily="18" charset="0"/>
                <a:cs typeface="Times New Roman" panose="02020603050405020304" pitchFamily="18" charset="0"/>
              </a:rPr>
              <a:t>: divide-and-conquer</a:t>
            </a:r>
            <a:endParaRPr lang="zh-TW" altLang="en-US" dirty="0">
              <a:latin typeface="Times New Roman" panose="02020603050405020304" pitchFamily="18" charset="0"/>
              <a:cs typeface="Times New Roman" panose="02020603050405020304" pitchFamily="18" charset="0"/>
            </a:endParaRPr>
          </a:p>
        </p:txBody>
      </p:sp>
      <p:cxnSp>
        <p:nvCxnSpPr>
          <p:cNvPr id="5" name="直線接點 4"/>
          <p:cNvCxnSpPr/>
          <p:nvPr/>
        </p:nvCxnSpPr>
        <p:spPr>
          <a:xfrm>
            <a:off x="1689709" y="2054801"/>
            <a:ext cx="5400000"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線接點 6"/>
          <p:cNvCxnSpPr/>
          <p:nvPr/>
        </p:nvCxnSpPr>
        <p:spPr>
          <a:xfrm>
            <a:off x="1689709" y="2910843"/>
            <a:ext cx="5400000" cy="0"/>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flipV="1">
            <a:off x="4029727" y="2646366"/>
            <a:ext cx="5719" cy="528953"/>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直線接點 9"/>
          <p:cNvCxnSpPr/>
          <p:nvPr/>
        </p:nvCxnSpPr>
        <p:spPr>
          <a:xfrm flipV="1">
            <a:off x="4770850" y="1790324"/>
            <a:ext cx="5719" cy="528953"/>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文字方塊 10"/>
          <p:cNvSpPr txBox="1"/>
          <p:nvPr/>
        </p:nvSpPr>
        <p:spPr>
          <a:xfrm>
            <a:off x="1190625" y="1790324"/>
            <a:ext cx="375424" cy="1384995"/>
          </a:xfrm>
          <a:prstGeom prst="rect">
            <a:avLst/>
          </a:prstGeom>
          <a:noFill/>
        </p:spPr>
        <p:txBody>
          <a:bodyPr wrap="none" rtlCol="0">
            <a:spAutoFit/>
          </a:bodyPr>
          <a:lstStyle/>
          <a:p>
            <a:r>
              <a:rPr lang="en-US" altLang="zh-TW" sz="2800" dirty="0" smtClean="0"/>
              <a:t>T</a:t>
            </a:r>
          </a:p>
          <a:p>
            <a:endParaRPr lang="en-US" altLang="zh-TW" sz="2800" dirty="0" smtClean="0"/>
          </a:p>
          <a:p>
            <a:r>
              <a:rPr lang="en-US" altLang="zh-TW" sz="2800" dirty="0" smtClean="0"/>
              <a:t>C</a:t>
            </a:r>
          </a:p>
        </p:txBody>
      </p:sp>
      <p:cxnSp>
        <p:nvCxnSpPr>
          <p:cNvPr id="12" name="直線接點 11"/>
          <p:cNvCxnSpPr/>
          <p:nvPr/>
        </p:nvCxnSpPr>
        <p:spPr>
          <a:xfrm>
            <a:off x="1689709" y="4397951"/>
            <a:ext cx="5400000"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1689709" y="5253993"/>
            <a:ext cx="5400000" cy="0"/>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 name="直線接點 13"/>
          <p:cNvCxnSpPr/>
          <p:nvPr/>
        </p:nvCxnSpPr>
        <p:spPr>
          <a:xfrm flipV="1">
            <a:off x="6239527" y="4989515"/>
            <a:ext cx="5719" cy="528953"/>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p:sp>
        <p:nvSpPr>
          <p:cNvPr id="16" name="文字方塊 15"/>
          <p:cNvSpPr txBox="1"/>
          <p:nvPr/>
        </p:nvSpPr>
        <p:spPr>
          <a:xfrm>
            <a:off x="1190625" y="4133474"/>
            <a:ext cx="375424" cy="1384995"/>
          </a:xfrm>
          <a:prstGeom prst="rect">
            <a:avLst/>
          </a:prstGeom>
          <a:noFill/>
        </p:spPr>
        <p:txBody>
          <a:bodyPr wrap="none" rtlCol="0">
            <a:spAutoFit/>
          </a:bodyPr>
          <a:lstStyle/>
          <a:p>
            <a:r>
              <a:rPr lang="en-US" altLang="zh-TW" sz="2800" dirty="0" smtClean="0"/>
              <a:t>T</a:t>
            </a:r>
          </a:p>
          <a:p>
            <a:endParaRPr lang="en-US" altLang="zh-TW" sz="2800" dirty="0" smtClean="0"/>
          </a:p>
          <a:p>
            <a:r>
              <a:rPr lang="en-US" altLang="zh-TW" sz="2800" dirty="0" smtClean="0"/>
              <a:t>C</a:t>
            </a:r>
          </a:p>
        </p:txBody>
      </p:sp>
      <p:cxnSp>
        <p:nvCxnSpPr>
          <p:cNvPr id="17" name="直線接點 16"/>
          <p:cNvCxnSpPr/>
          <p:nvPr/>
        </p:nvCxnSpPr>
        <p:spPr>
          <a:xfrm flipV="1">
            <a:off x="3894209" y="4133474"/>
            <a:ext cx="5719" cy="528953"/>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flipV="1">
            <a:off x="5163202" y="4989515"/>
            <a:ext cx="5719" cy="528953"/>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flipV="1">
            <a:off x="2792168" y="4989515"/>
            <a:ext cx="5719" cy="528953"/>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flipV="1">
            <a:off x="3637375" y="4989515"/>
            <a:ext cx="5719" cy="528953"/>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文字方塊 20"/>
              <p:cNvSpPr txBox="1"/>
              <p:nvPr/>
            </p:nvSpPr>
            <p:spPr>
              <a:xfrm>
                <a:off x="154444" y="3283164"/>
                <a:ext cx="88351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𝐿𝐶𝑆</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𝑇</m:t>
                          </m:r>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𝑛</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𝐶</m:t>
                          </m:r>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𝐿𝐶𝑆</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𝑇</m:t>
                          </m:r>
                          <m:d>
                            <m:dPr>
                              <m:begChr m:val="["/>
                              <m:endChr m:val="]"/>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𝑟</m:t>
                              </m:r>
                            </m:e>
                          </m:d>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𝐶</m:t>
                              </m:r>
                            </m:e>
                            <m:sub>
                              <m:r>
                                <a:rPr lang="en-US" altLang="zh-TW" sz="2800" b="0" i="1" smtClean="0">
                                  <a:latin typeface="Cambria Math" panose="02040503050406030204" pitchFamily="18" charset="0"/>
                                </a:rPr>
                                <m:t>1</m:t>
                              </m:r>
                            </m:sub>
                          </m:sSub>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𝐿𝐶𝑆</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𝑇</m:t>
                      </m:r>
                      <m:d>
                        <m:dPr>
                          <m:begChr m:val="["/>
                          <m:endChr m:val="]"/>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𝑟</m:t>
                          </m:r>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𝑛</m:t>
                          </m:r>
                        </m:e>
                      </m:d>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𝐶</m:t>
                          </m:r>
                        </m:e>
                        <m:sub>
                          <m:r>
                            <a:rPr lang="en-US" altLang="zh-TW" sz="2800" b="0" i="1" smtClean="0">
                              <a:latin typeface="Cambria Math" panose="02040503050406030204" pitchFamily="18" charset="0"/>
                            </a:rPr>
                            <m:t>2</m:t>
                          </m:r>
                        </m:sub>
                      </m:sSub>
                      <m:r>
                        <a:rPr lang="en-US" altLang="zh-TW" sz="2800" b="0" i="1" smtClean="0">
                          <a:latin typeface="Cambria Math" panose="02040503050406030204" pitchFamily="18" charset="0"/>
                        </a:rPr>
                        <m:t>)</m:t>
                      </m:r>
                    </m:oMath>
                  </m:oMathPara>
                </a14:m>
                <a:endParaRPr lang="zh-TW" altLang="en-US" sz="2800" dirty="0"/>
              </a:p>
            </p:txBody>
          </p:sp>
        </mc:Choice>
        <mc:Fallback xmlns="">
          <p:sp>
            <p:nvSpPr>
              <p:cNvPr id="21" name="文字方塊 20"/>
              <p:cNvSpPr txBox="1">
                <a:spLocks noRot="1" noChangeAspect="1" noMove="1" noResize="1" noEditPoints="1" noAdjustHandles="1" noChangeArrowheads="1" noChangeShapeType="1" noTextEdit="1"/>
              </p:cNvSpPr>
              <p:nvPr/>
            </p:nvSpPr>
            <p:spPr>
              <a:xfrm>
                <a:off x="154444" y="3283164"/>
                <a:ext cx="8835111" cy="523220"/>
              </a:xfrm>
              <a:prstGeom prst="rect">
                <a:avLst/>
              </a:prstGeom>
              <a:blipFill rotWithShape="0">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p:cNvSpPr txBox="1"/>
              <p:nvPr/>
            </p:nvSpPr>
            <p:spPr>
              <a:xfrm>
                <a:off x="206602" y="5632977"/>
                <a:ext cx="8457828" cy="95410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𝐿𝐶𝑆</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𝑇</m:t>
                          </m:r>
                          <m:d>
                            <m:dPr>
                              <m:begChr m:val="["/>
                              <m:endChr m:val="]"/>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𝑛</m:t>
                              </m:r>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𝐶</m:t>
                          </m:r>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𝑘</m:t>
                          </m:r>
                          <m:r>
                            <a:rPr lang="en-US" altLang="zh-TW" sz="2800" b="0" i="1" smtClean="0">
                              <a:latin typeface="Cambria Math" panose="02040503050406030204" pitchFamily="18" charset="0"/>
                            </a:rPr>
                            <m:t>)</m:t>
                          </m:r>
                        </m:e>
                      </m:d>
                      <m:r>
                        <a:rPr lang="en-US" altLang="zh-TW" sz="2800" b="0" i="1" smtClean="0">
                          <a:latin typeface="Cambria Math" panose="02040503050406030204" pitchFamily="18" charset="0"/>
                        </a:rPr>
                        <m:t>=</m:t>
                      </m:r>
                    </m:oMath>
                  </m:oMathPara>
                </a14:m>
                <a:endParaRPr lang="en-US" altLang="zh-TW" sz="2800" b="0" i="1" dirty="0" smtClean="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𝐿𝐶𝑆</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𝑇</m:t>
                          </m:r>
                          <m:d>
                            <m:dPr>
                              <m:begChr m:val="["/>
                              <m:endChr m:val="]"/>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𝑟</m:t>
                              </m:r>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𝐶</m:t>
                          </m:r>
                          <m:r>
                            <a:rPr lang="en-US" altLang="zh-TW" sz="2800" b="0" i="1" smtClean="0">
                              <a:latin typeface="Cambria Math" panose="02040503050406030204" pitchFamily="18" charset="0"/>
                            </a:rPr>
                            <m:t>(1,</m:t>
                          </m:r>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𝑘</m:t>
                              </m:r>
                            </m:e>
                            <m:sup>
                              <m:r>
                                <a:rPr lang="en-US" altLang="zh-TW" sz="2800" b="0" i="1" smtClean="0">
                                  <a:latin typeface="Cambria Math" panose="02040503050406030204" pitchFamily="18" charset="0"/>
                                </a:rPr>
                                <m:t>′</m:t>
                              </m:r>
                            </m:sup>
                          </m:sSup>
                          <m:r>
                            <a:rPr lang="en-US" altLang="zh-TW" sz="2800" b="0" i="1" smtClean="0">
                              <a:latin typeface="Cambria Math" panose="02040503050406030204" pitchFamily="18" charset="0"/>
                            </a:rPr>
                            <m:t>) </m:t>
                          </m:r>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𝐿𝐶𝑆</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𝑇</m:t>
                      </m:r>
                      <m:d>
                        <m:dPr>
                          <m:begChr m:val="["/>
                          <m:endChr m:val="]"/>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𝑟</m:t>
                          </m:r>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𝑛</m:t>
                          </m:r>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𝐶</m:t>
                      </m:r>
                      <m:r>
                        <a:rPr lang="en-US" altLang="zh-TW" sz="2800" b="0" i="1" smtClean="0">
                          <a:latin typeface="Cambria Math" panose="02040503050406030204" pitchFamily="18" charset="0"/>
                        </a:rPr>
                        <m:t>(</m:t>
                      </m:r>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𝑘</m:t>
                          </m:r>
                        </m:e>
                        <m:sup>
                          <m:r>
                            <a:rPr lang="en-US" altLang="zh-TW" sz="2800" b="0" i="1" smtClean="0">
                              <a:latin typeface="Cambria Math" panose="02040503050406030204" pitchFamily="18" charset="0"/>
                            </a:rPr>
                            <m:t>′</m:t>
                          </m:r>
                        </m:sup>
                      </m:sSup>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𝑘</m:t>
                      </m:r>
                      <m:r>
                        <a:rPr lang="en-US" altLang="zh-TW" sz="2800" b="0" i="1" smtClean="0">
                          <a:latin typeface="Cambria Math" panose="02040503050406030204" pitchFamily="18" charset="0"/>
                        </a:rPr>
                        <m:t>))</m:t>
                      </m:r>
                    </m:oMath>
                  </m:oMathPara>
                </a14:m>
                <a:endParaRPr lang="zh-TW" altLang="en-US" sz="2800"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206602" y="5632977"/>
                <a:ext cx="8457828" cy="954107"/>
              </a:xfrm>
              <a:prstGeom prst="rect">
                <a:avLst/>
              </a:prstGeom>
              <a:blipFill rotWithShape="0">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702937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4000" dirty="0" smtClean="0">
                <a:latin typeface="Times New Roman" panose="02020603050405020304" pitchFamily="18" charset="0"/>
                <a:cs typeface="Times New Roman" panose="02020603050405020304" pitchFamily="18" charset="0"/>
              </a:rPr>
              <a:t>Method</a:t>
            </a:r>
            <a:r>
              <a:rPr lang="en-US" altLang="zh-TW"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2 </a:t>
            </a:r>
            <a:r>
              <a:rPr lang="en-US" altLang="zh-TW" dirty="0" smtClean="0">
                <a:latin typeface="Times New Roman" panose="02020603050405020304" pitchFamily="18" charset="0"/>
                <a:cs typeface="Times New Roman" panose="02020603050405020304" pitchFamily="18" charset="0"/>
              </a:rPr>
              <a:t>: divide-and-conquer</a:t>
            </a:r>
            <a:endParaRPr lang="zh-TW" altLang="en-US" dirty="0">
              <a:latin typeface="Times New Roman" panose="02020603050405020304" pitchFamily="18" charset="0"/>
              <a:cs typeface="Times New Roman" panose="02020603050405020304" pitchFamily="18" charset="0"/>
            </a:endParaRPr>
          </a:p>
        </p:txBody>
      </p:sp>
      <p:cxnSp>
        <p:nvCxnSpPr>
          <p:cNvPr id="12" name="直線接點 11"/>
          <p:cNvCxnSpPr/>
          <p:nvPr/>
        </p:nvCxnSpPr>
        <p:spPr>
          <a:xfrm>
            <a:off x="1689709" y="2092901"/>
            <a:ext cx="5400000"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1689709" y="2948943"/>
            <a:ext cx="5400000" cy="0"/>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 name="直線接點 13"/>
          <p:cNvCxnSpPr/>
          <p:nvPr/>
        </p:nvCxnSpPr>
        <p:spPr>
          <a:xfrm flipV="1">
            <a:off x="6239527" y="2684465"/>
            <a:ext cx="5719" cy="528953"/>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p:sp>
        <p:nvSpPr>
          <p:cNvPr id="16" name="文字方塊 15"/>
          <p:cNvSpPr txBox="1"/>
          <p:nvPr/>
        </p:nvSpPr>
        <p:spPr>
          <a:xfrm>
            <a:off x="1190625" y="1828424"/>
            <a:ext cx="375424" cy="1384995"/>
          </a:xfrm>
          <a:prstGeom prst="rect">
            <a:avLst/>
          </a:prstGeom>
          <a:noFill/>
        </p:spPr>
        <p:txBody>
          <a:bodyPr wrap="none" rtlCol="0">
            <a:spAutoFit/>
          </a:bodyPr>
          <a:lstStyle/>
          <a:p>
            <a:r>
              <a:rPr lang="en-US" altLang="zh-TW" sz="2800" dirty="0" smtClean="0"/>
              <a:t>T</a:t>
            </a:r>
          </a:p>
          <a:p>
            <a:endParaRPr lang="en-US" altLang="zh-TW" sz="2800" dirty="0" smtClean="0"/>
          </a:p>
          <a:p>
            <a:r>
              <a:rPr lang="en-US" altLang="zh-TW" sz="2800" dirty="0" smtClean="0"/>
              <a:t>C</a:t>
            </a:r>
          </a:p>
        </p:txBody>
      </p:sp>
      <p:cxnSp>
        <p:nvCxnSpPr>
          <p:cNvPr id="17" name="直線接點 16"/>
          <p:cNvCxnSpPr/>
          <p:nvPr/>
        </p:nvCxnSpPr>
        <p:spPr>
          <a:xfrm flipV="1">
            <a:off x="3899928" y="1793944"/>
            <a:ext cx="5719" cy="528953"/>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flipV="1">
            <a:off x="5163202" y="2684465"/>
            <a:ext cx="5719" cy="528953"/>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flipV="1">
            <a:off x="2792168" y="2684465"/>
            <a:ext cx="5719" cy="528953"/>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flipV="1">
            <a:off x="3637375" y="2684465"/>
            <a:ext cx="5719" cy="528953"/>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文字方塊 21"/>
              <p:cNvSpPr txBox="1"/>
              <p:nvPr/>
            </p:nvSpPr>
            <p:spPr>
              <a:xfrm>
                <a:off x="160795" y="3615631"/>
                <a:ext cx="8907054" cy="2174378"/>
              </a:xfrm>
              <a:prstGeom prst="rect">
                <a:avLst/>
              </a:prstGeom>
              <a:noFill/>
            </p:spPr>
            <p:txBody>
              <a:bodyPr wrap="none" rtlCol="0">
                <a:spAutoFit/>
              </a:bodyPr>
              <a:lstStyle/>
              <a:p>
                <a14:m>
                  <m:oMath xmlns:m="http://schemas.openxmlformats.org/officeDocument/2006/math">
                    <m:r>
                      <a:rPr lang="en-US" altLang="zh-TW" sz="2800" i="1" dirty="0" smtClean="0">
                        <a:latin typeface="Cambria Math" panose="02040503050406030204" pitchFamily="18" charset="0"/>
                      </a:rPr>
                      <m:t>𝐹𝑖𝑛𝑑</m:t>
                    </m:r>
                    <m:r>
                      <a:rPr lang="en-US" altLang="zh-TW" sz="2800" i="1" dirty="0" smtClean="0">
                        <a:latin typeface="Cambria Math" panose="02040503050406030204" pitchFamily="18" charset="0"/>
                      </a:rPr>
                      <m:t> </m:t>
                    </m:r>
                    <m:r>
                      <a:rPr lang="en-US" altLang="zh-TW" sz="2800" i="1" dirty="0" smtClean="0">
                        <a:latin typeface="Cambria Math" panose="02040503050406030204" pitchFamily="18" charset="0"/>
                      </a:rPr>
                      <m:t>𝑎</m:t>
                    </m:r>
                    <m:r>
                      <a:rPr lang="en-US" altLang="zh-TW" sz="2800" i="1" dirty="0" smtClean="0">
                        <a:latin typeface="Cambria Math" panose="02040503050406030204" pitchFamily="18" charset="0"/>
                      </a:rPr>
                      <m:t> </m:t>
                    </m:r>
                    <m:r>
                      <a:rPr lang="en-US" altLang="zh-TW" sz="2800" i="1" dirty="0" smtClean="0">
                        <a:latin typeface="Cambria Math" panose="02040503050406030204" pitchFamily="18" charset="0"/>
                      </a:rPr>
                      <m:t>𝑣𝑒𝑐𝑡𝑜𝑟</m:t>
                    </m:r>
                    <m:r>
                      <a:rPr lang="en-US" altLang="zh-TW" sz="2800" i="1" dirty="0" smtClean="0">
                        <a:latin typeface="Cambria Math" panose="02040503050406030204" pitchFamily="18" charset="0"/>
                      </a:rPr>
                      <m:t> </m:t>
                    </m:r>
                    <m:r>
                      <a:rPr lang="en-US" altLang="zh-TW" sz="2800" i="1" dirty="0" smtClean="0">
                        <a:latin typeface="Cambria Math" panose="02040503050406030204" pitchFamily="18" charset="0"/>
                      </a:rPr>
                      <m:t>𝑜𝑓</m:t>
                    </m:r>
                    <m:r>
                      <a:rPr lang="en-US" altLang="zh-TW" sz="2800" i="1" dirty="0" smtClean="0">
                        <a:latin typeface="Cambria Math" panose="02040503050406030204" pitchFamily="18" charset="0"/>
                      </a:rPr>
                      <m:t> </m:t>
                    </m:r>
                    <m:r>
                      <a:rPr lang="en-US" altLang="zh-TW" sz="2800" i="1" dirty="0" smtClean="0">
                        <a:latin typeface="Cambria Math" panose="02040503050406030204" pitchFamily="18" charset="0"/>
                      </a:rPr>
                      <m:t>𝑏𝑟𝑒𝑎𝑘</m:t>
                    </m:r>
                    <m:r>
                      <a:rPr lang="en-US" altLang="zh-TW" sz="2800" i="1" dirty="0" smtClean="0">
                        <a:latin typeface="Cambria Math" panose="02040503050406030204" pitchFamily="18" charset="0"/>
                      </a:rPr>
                      <m:t> </m:t>
                    </m:r>
                    <m:r>
                      <a:rPr lang="en-US" altLang="zh-TW" sz="2800" i="1" dirty="0" smtClean="0">
                        <a:latin typeface="Cambria Math" panose="02040503050406030204" pitchFamily="18" charset="0"/>
                      </a:rPr>
                      <m:t>𝑝𝑜𝑖𝑛𝑡𝑠</m:t>
                    </m:r>
                    <m:r>
                      <a:rPr lang="en-US" altLang="zh-TW" sz="2800" i="1" dirty="0" smtClean="0">
                        <a:latin typeface="Cambria Math" panose="02040503050406030204" pitchFamily="18" charset="0"/>
                      </a:rPr>
                      <m:t> </m:t>
                    </m:r>
                    <m:r>
                      <a:rPr lang="en-US" altLang="zh-TW" sz="2800" i="1" dirty="0" smtClean="0">
                        <a:latin typeface="Cambria Math" panose="02040503050406030204" pitchFamily="18" charset="0"/>
                      </a:rPr>
                      <m:t>𝑟</m:t>
                    </m:r>
                    <m:r>
                      <a:rPr lang="en-US" altLang="zh-TW" sz="2800" i="1" dirty="0" smtClean="0">
                        <a:latin typeface="Cambria Math" panose="02040503050406030204" pitchFamily="18" charset="0"/>
                      </a:rPr>
                      <m:t>=(</m:t>
                    </m:r>
                    <m:sSub>
                      <m:sSubPr>
                        <m:ctrlPr>
                          <a:rPr lang="en-US" altLang="zh-TW" sz="2800" i="1" dirty="0" smtClean="0">
                            <a:latin typeface="Cambria Math" panose="02040503050406030204" pitchFamily="18" charset="0"/>
                          </a:rPr>
                        </m:ctrlPr>
                      </m:sSubPr>
                      <m:e>
                        <m:r>
                          <a:rPr lang="en-US" altLang="zh-TW" sz="2800" b="0" i="1" dirty="0" smtClean="0">
                            <a:latin typeface="Cambria Math" panose="02040503050406030204" pitchFamily="18" charset="0"/>
                          </a:rPr>
                          <m:t>𝑟</m:t>
                        </m:r>
                      </m:e>
                      <m:sub>
                        <m:r>
                          <a:rPr lang="en-US" altLang="zh-TW" sz="2800" b="0" i="1" dirty="0" smtClean="0">
                            <a:latin typeface="Cambria Math" panose="02040503050406030204" pitchFamily="18" charset="0"/>
                          </a:rPr>
                          <m:t>0</m:t>
                        </m:r>
                      </m:sub>
                    </m:sSub>
                    <m:r>
                      <a:rPr lang="en-US" altLang="zh-TW" sz="2800" b="0" i="1" dirty="0" smtClean="0">
                        <a:latin typeface="Cambria Math" panose="02040503050406030204" pitchFamily="18" charset="0"/>
                      </a:rPr>
                      <m:t>,</m:t>
                    </m:r>
                    <m:sSub>
                      <m:sSubPr>
                        <m:ctrlPr>
                          <a:rPr lang="en-US" altLang="zh-TW" sz="2800" i="1" dirty="0" smtClean="0">
                            <a:latin typeface="Cambria Math" panose="02040503050406030204" pitchFamily="18" charset="0"/>
                          </a:rPr>
                        </m:ctrlPr>
                      </m:sSubPr>
                      <m:e>
                        <m:r>
                          <a:rPr lang="en-US" altLang="zh-TW" sz="2800" b="0" i="1" dirty="0" smtClean="0">
                            <a:latin typeface="Cambria Math" panose="02040503050406030204" pitchFamily="18" charset="0"/>
                          </a:rPr>
                          <m:t>𝑟</m:t>
                        </m:r>
                      </m:e>
                      <m:sub>
                        <m:r>
                          <a:rPr lang="en-US" altLang="zh-TW" sz="2800" b="0" i="1" dirty="0" smtClean="0">
                            <a:latin typeface="Cambria Math" panose="02040503050406030204" pitchFamily="18" charset="0"/>
                          </a:rPr>
                          <m:t>1</m:t>
                        </m:r>
                      </m:sub>
                    </m:sSub>
                    <m:r>
                      <a:rPr lang="en-US" altLang="zh-TW" sz="2800" b="0" i="1" dirty="0" smtClean="0">
                        <a:latin typeface="Cambria Math" panose="02040503050406030204" pitchFamily="18" charset="0"/>
                      </a:rPr>
                      <m:t>…</m:t>
                    </m:r>
                    <m:sSub>
                      <m:sSubPr>
                        <m:ctrlPr>
                          <a:rPr lang="en-US" altLang="zh-TW" sz="2800" b="0" i="1" dirty="0" smtClean="0">
                            <a:latin typeface="Cambria Math" panose="02040503050406030204" pitchFamily="18" charset="0"/>
                          </a:rPr>
                        </m:ctrlPr>
                      </m:sSubPr>
                      <m:e>
                        <m:r>
                          <a:rPr lang="en-US" altLang="zh-TW" sz="2800" b="0" i="1" dirty="0" smtClean="0">
                            <a:latin typeface="Cambria Math" panose="02040503050406030204" pitchFamily="18" charset="0"/>
                          </a:rPr>
                          <m:t>𝑟</m:t>
                        </m:r>
                      </m:e>
                      <m:sub>
                        <m:r>
                          <a:rPr lang="en-US" altLang="zh-TW" sz="2800" b="0" i="1" dirty="0" smtClean="0">
                            <a:latin typeface="Cambria Math" panose="02040503050406030204" pitchFamily="18" charset="0"/>
                          </a:rPr>
                          <m:t>𝑘</m:t>
                        </m:r>
                      </m:sub>
                    </m:sSub>
                    <m:r>
                      <a:rPr lang="en-US" altLang="zh-TW" sz="2800" b="0" i="1" dirty="0" smtClean="0">
                        <a:latin typeface="Cambria Math" panose="02040503050406030204" pitchFamily="18" charset="0"/>
                      </a:rPr>
                      <m:t>)</m:t>
                    </m:r>
                  </m:oMath>
                </a14:m>
                <a:r>
                  <a:rPr lang="en-US" altLang="zh-TW" sz="2800" b="0" dirty="0" smtClean="0">
                    <a:latin typeface="Cambria Math" panose="02040503050406030204" pitchFamily="18" charset="0"/>
                  </a:rPr>
                  <a:t> </a:t>
                </a:r>
                <a:r>
                  <a:rPr lang="en-US" altLang="zh-TW" sz="2800" b="0" i="1" dirty="0" smtClean="0">
                    <a:latin typeface="Cambria Math" panose="02040503050406030204" pitchFamily="18" charset="0"/>
                  </a:rPr>
                  <a:t>such that</a:t>
                </a:r>
              </a:p>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𝐿𝐶𝑆</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𝑇</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𝐶</m:t>
                          </m:r>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𝑘</m:t>
                          </m:r>
                          <m:r>
                            <a:rPr lang="en-US" altLang="zh-TW" sz="2800" b="0" i="1" smtClean="0">
                              <a:latin typeface="Cambria Math" panose="02040503050406030204" pitchFamily="18" charset="0"/>
                            </a:rPr>
                            <m:t>)</m:t>
                          </m:r>
                        </m:e>
                      </m:d>
                      <m:r>
                        <a:rPr lang="en-US" altLang="zh-TW" sz="2800" b="0" i="1" smtClean="0">
                          <a:latin typeface="Cambria Math" panose="02040503050406030204" pitchFamily="18" charset="0"/>
                        </a:rPr>
                        <m:t>=</m:t>
                      </m:r>
                      <m:r>
                        <m:rPr>
                          <m:sty m:val="p"/>
                        </m:rPr>
                        <a:rPr lang="en-US" altLang="zh-TW" sz="2800" b="0" i="0" smtClean="0">
                          <a:latin typeface="Cambria Math" panose="02040503050406030204" pitchFamily="18" charset="0"/>
                        </a:rPr>
                        <m:t>max</m:t>
                      </m:r>
                      <m:r>
                        <a:rPr lang="en-US" altLang="zh-TW" sz="2800" b="0" i="1" smtClean="0">
                          <a:latin typeface="Cambria Math" panose="02040503050406030204" pitchFamily="18" charset="0"/>
                        </a:rPr>
                        <m:t>⁡{</m:t>
                      </m:r>
                      <m:nary>
                        <m:naryPr>
                          <m:chr m:val="∑"/>
                          <m:ctrlPr>
                            <a:rPr lang="en-US" altLang="zh-TW" sz="2800" b="0" i="1" smtClean="0">
                              <a:latin typeface="Cambria Math" panose="02040503050406030204" pitchFamily="18" charset="0"/>
                            </a:rPr>
                          </m:ctrlPr>
                        </m:naryPr>
                        <m:sub>
                          <m:r>
                            <m:rPr>
                              <m:brk m:alnAt="23"/>
                            </m:rP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=1</m:t>
                          </m:r>
                        </m:sub>
                        <m:sup>
                          <m:r>
                            <a:rPr lang="en-US" altLang="zh-TW" sz="2800" b="0" i="1" smtClean="0">
                              <a:latin typeface="Cambria Math" panose="02040503050406030204" pitchFamily="18" charset="0"/>
                            </a:rPr>
                            <m:t>𝑘</m:t>
                          </m:r>
                        </m:sup>
                        <m:e>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𝐿𝐶𝑆</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𝑇</m:t>
                          </m:r>
                        </m:e>
                      </m:nary>
                      <m:d>
                        <m:dPr>
                          <m:begChr m:val="["/>
                          <m:endChr m:val="]"/>
                          <m:ctrlPr>
                            <a:rPr lang="en-US" altLang="zh-TW" sz="2800" b="0" i="1" smtClean="0">
                              <a:latin typeface="Cambria Math" panose="02040503050406030204" pitchFamily="18" charset="0"/>
                            </a:rPr>
                          </m:ctrlPr>
                        </m:dPr>
                        <m:e>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𝑟</m:t>
                              </m:r>
                            </m:e>
                            <m:sub>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−1</m:t>
                              </m:r>
                            </m:sub>
                          </m:sSub>
                          <m:r>
                            <a:rPr lang="en-US" altLang="zh-TW" sz="2800" b="0" i="1" smtClean="0">
                              <a:latin typeface="Cambria Math" panose="02040503050406030204" pitchFamily="18" charset="0"/>
                            </a:rPr>
                            <m:t>+1,</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𝑟</m:t>
                              </m:r>
                            </m:e>
                            <m:sub>
                              <m:r>
                                <a:rPr lang="en-US" altLang="zh-TW" sz="2800" b="0" i="1" smtClean="0">
                                  <a:latin typeface="Cambria Math" panose="02040503050406030204" pitchFamily="18" charset="0"/>
                                </a:rPr>
                                <m:t>𝑖</m:t>
                              </m:r>
                            </m:sub>
                          </m:sSub>
                        </m:e>
                      </m:d>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𝐶</m:t>
                          </m:r>
                        </m:e>
                        <m:sub>
                          <m:r>
                            <a:rPr lang="en-US" altLang="zh-TW" sz="2800" b="0" i="1" smtClean="0">
                              <a:latin typeface="Cambria Math" panose="02040503050406030204" pitchFamily="18" charset="0"/>
                            </a:rPr>
                            <m:t>𝑖</m:t>
                          </m:r>
                        </m:sub>
                      </m:sSub>
                      <m:r>
                        <a:rPr lang="en-US" altLang="zh-TW" sz="2800" b="0" i="1" smtClean="0">
                          <a:latin typeface="Cambria Math" panose="02040503050406030204" pitchFamily="18" charset="0"/>
                        </a:rPr>
                        <m:t>)}</m:t>
                      </m:r>
                    </m:oMath>
                  </m:oMathPara>
                </a14:m>
                <a:endParaRPr lang="en-US" altLang="zh-TW" sz="2800" b="0" i="1" dirty="0" smtClean="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𝑤h𝑒𝑟𝑒</m:t>
                      </m:r>
                      <m:r>
                        <a:rPr lang="en-US" altLang="zh-TW" sz="2800" b="0" i="1" smtClean="0">
                          <a:latin typeface="Cambria Math" panose="02040503050406030204" pitchFamily="18" charset="0"/>
                        </a:rPr>
                        <m:t> </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𝑟</m:t>
                          </m:r>
                        </m:e>
                        <m:sub>
                          <m:r>
                            <a:rPr lang="en-US" altLang="zh-TW" sz="2800" b="0" i="1" smtClean="0">
                              <a:latin typeface="Cambria Math" panose="02040503050406030204" pitchFamily="18" charset="0"/>
                            </a:rPr>
                            <m:t>0</m:t>
                          </m:r>
                        </m:sub>
                      </m:sSub>
                      <m:r>
                        <a:rPr lang="en-US" altLang="zh-TW" sz="2800" b="0" i="1" smtClean="0">
                          <a:latin typeface="Cambria Math" panose="02040503050406030204" pitchFamily="18" charset="0"/>
                        </a:rPr>
                        <m:t>=0,</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𝑟</m:t>
                          </m:r>
                        </m:e>
                        <m:sub>
                          <m:r>
                            <a:rPr lang="en-US" altLang="zh-TW" sz="2800" b="0" i="1" smtClean="0">
                              <a:latin typeface="Cambria Math" panose="02040503050406030204" pitchFamily="18" charset="0"/>
                            </a:rPr>
                            <m:t>𝑘</m:t>
                          </m:r>
                        </m:sub>
                      </m:sSub>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𝑛</m:t>
                      </m:r>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𝐶</m:t>
                          </m:r>
                        </m:e>
                        <m:sub>
                          <m:r>
                            <a:rPr lang="en-US" altLang="zh-TW" sz="2800" b="0" i="1" smtClean="0">
                              <a:latin typeface="Cambria Math" panose="02040503050406030204" pitchFamily="18" charset="0"/>
                            </a:rPr>
                            <m:t>𝑖</m:t>
                          </m:r>
                        </m:sub>
                      </m:sSub>
                      <m:r>
                        <a:rPr lang="en-US" altLang="zh-TW" sz="2800" b="0" i="1" smtClean="0">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𝑆</m:t>
                      </m:r>
                    </m:oMath>
                  </m:oMathPara>
                </a14:m>
                <a:endParaRPr lang="en-US" altLang="zh-TW" sz="2800" b="0" i="1" dirty="0" smtClean="0">
                  <a:latin typeface="Cambria Math" panose="02040503050406030204" pitchFamily="18" charset="0"/>
                </a:endParaRPr>
              </a:p>
            </p:txBody>
          </p:sp>
        </mc:Choice>
        <mc:Fallback xmlns="">
          <p:sp>
            <p:nvSpPr>
              <p:cNvPr id="22" name="文字方塊 21"/>
              <p:cNvSpPr txBox="1">
                <a:spLocks noRot="1" noChangeAspect="1" noMove="1" noResize="1" noEditPoints="1" noAdjustHandles="1" noChangeArrowheads="1" noChangeShapeType="1" noTextEdit="1"/>
              </p:cNvSpPr>
              <p:nvPr/>
            </p:nvSpPr>
            <p:spPr>
              <a:xfrm>
                <a:off x="160795" y="3615631"/>
                <a:ext cx="8907054" cy="2174378"/>
              </a:xfrm>
              <a:prstGeom prst="rect">
                <a:avLst/>
              </a:prstGeom>
              <a:blipFill rotWithShape="0">
                <a:blip r:embed="rId2"/>
                <a:stretch>
                  <a:fillRect t="-2801" r="-410"/>
                </a:stretch>
              </a:blipFill>
            </p:spPr>
            <p:txBody>
              <a:bodyPr/>
              <a:lstStyle/>
              <a:p>
                <a:r>
                  <a:rPr lang="zh-TW" altLang="en-US">
                    <a:noFill/>
                  </a:rPr>
                  <a:t> </a:t>
                </a:r>
              </a:p>
            </p:txBody>
          </p:sp>
        </mc:Fallback>
      </mc:AlternateContent>
      <p:cxnSp>
        <p:nvCxnSpPr>
          <p:cNvPr id="23" name="直線接點 22"/>
          <p:cNvCxnSpPr/>
          <p:nvPr/>
        </p:nvCxnSpPr>
        <p:spPr>
          <a:xfrm flipV="1">
            <a:off x="3258990" y="1790860"/>
            <a:ext cx="5719" cy="528953"/>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直線接點 23"/>
          <p:cNvCxnSpPr/>
          <p:nvPr/>
        </p:nvCxnSpPr>
        <p:spPr>
          <a:xfrm flipV="1">
            <a:off x="4960168" y="1790860"/>
            <a:ext cx="5719" cy="528953"/>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線接點 24"/>
          <p:cNvCxnSpPr/>
          <p:nvPr/>
        </p:nvCxnSpPr>
        <p:spPr>
          <a:xfrm flipV="1">
            <a:off x="6561209" y="1790861"/>
            <a:ext cx="5719" cy="528953"/>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flipV="1">
            <a:off x="1689709" y="1787782"/>
            <a:ext cx="5719" cy="528953"/>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flipV="1">
            <a:off x="7049928" y="1790861"/>
            <a:ext cx="5719" cy="528953"/>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8367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pPr algn="just"/>
            <a:r>
              <a:rPr lang="en-US" altLang="zh-TW" sz="4000" dirty="0" smtClean="0">
                <a:latin typeface="Times New Roman" panose="02020603050405020304" pitchFamily="18" charset="0"/>
                <a:cs typeface="Times New Roman" panose="02020603050405020304" pitchFamily="18" charset="0"/>
              </a:rPr>
              <a:t>Method</a:t>
            </a:r>
            <a:r>
              <a:rPr lang="en-US" altLang="zh-TW"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2 </a:t>
            </a:r>
            <a:r>
              <a:rPr lang="en-US" altLang="zh-TW" dirty="0" smtClean="0">
                <a:latin typeface="Times New Roman" panose="02020603050405020304" pitchFamily="18" charset="0"/>
                <a:cs typeface="Times New Roman" panose="02020603050405020304" pitchFamily="18" charset="0"/>
              </a:rPr>
              <a:t>: divide-and-conquer</a:t>
            </a:r>
            <a:endParaRPr lang="zh-TW" altLang="en-US"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2"/>
          <a:stretch>
            <a:fillRect/>
          </a:stretch>
        </p:blipFill>
        <p:spPr>
          <a:xfrm>
            <a:off x="2209799" y="1471444"/>
            <a:ext cx="5676227" cy="4749035"/>
          </a:xfrm>
          <a:prstGeom prst="rect">
            <a:avLst/>
          </a:prstGeom>
        </p:spPr>
      </p:pic>
      <mc:AlternateContent xmlns:mc="http://schemas.openxmlformats.org/markup-compatibility/2006" xmlns:a14="http://schemas.microsoft.com/office/drawing/2010/main">
        <mc:Choice Requires="a14">
          <p:sp>
            <p:nvSpPr>
              <p:cNvPr id="4" name="文字方塊 3"/>
              <p:cNvSpPr txBox="1"/>
              <p:nvPr/>
            </p:nvSpPr>
            <p:spPr>
              <a:xfrm>
                <a:off x="199434" y="3463752"/>
                <a:ext cx="192841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𝑂</m:t>
                      </m:r>
                      <m:r>
                        <a:rPr lang="en-US" altLang="zh-TW" sz="2800" b="0" i="1" smtClean="0">
                          <a:latin typeface="Cambria Math" panose="02040503050406030204" pitchFamily="18" charset="0"/>
                        </a:rPr>
                        <m:t>(</m:t>
                      </m:r>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𝑛</m:t>
                          </m:r>
                        </m:e>
                        <m:sup>
                          <m:r>
                            <a:rPr lang="en-US" altLang="zh-TW" sz="2800" b="0" i="1" smtClean="0">
                              <a:latin typeface="Cambria Math" panose="02040503050406030204" pitchFamily="18" charset="0"/>
                            </a:rPr>
                            <m:t>2</m:t>
                          </m:r>
                        </m:sup>
                      </m:sSup>
                      <m:r>
                        <a:rPr lang="en-US" altLang="zh-TW" sz="2800" b="0" i="1" smtClean="0">
                          <a:latin typeface="Cambria Math" panose="02040503050406030204" pitchFamily="18" charset="0"/>
                        </a:rPr>
                        <m:t>𝑚</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oMath>
                  </m:oMathPara>
                </a14:m>
                <a:endParaRPr lang="zh-TW" altLang="en-US" sz="2800"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199434" y="3463752"/>
                <a:ext cx="1928413" cy="523220"/>
              </a:xfrm>
              <a:prstGeom prst="rect">
                <a:avLst/>
              </a:prstGeom>
              <a:blipFill rotWithShape="0">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p:cNvSpPr txBox="1"/>
              <p:nvPr/>
            </p:nvSpPr>
            <p:spPr>
              <a:xfrm>
                <a:off x="395642" y="2569213"/>
                <a:ext cx="173220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𝑂</m:t>
                      </m:r>
                      <m:r>
                        <a:rPr lang="en-US" altLang="zh-TW" sz="2800" b="0" i="1" smtClean="0">
                          <a:latin typeface="Cambria Math" panose="02040503050406030204" pitchFamily="18" charset="0"/>
                        </a:rPr>
                        <m:t>(</m:t>
                      </m:r>
                      <m:func>
                        <m:funcPr>
                          <m:ctrlPr>
                            <a:rPr lang="en-US" altLang="zh-TW" sz="2800" b="0" i="1" smtClean="0">
                              <a:latin typeface="Cambria Math" panose="02040503050406030204" pitchFamily="18" charset="0"/>
                            </a:rPr>
                          </m:ctrlPr>
                        </m:funcPr>
                        <m:fName>
                          <m:sSub>
                            <m:sSubPr>
                              <m:ctrlPr>
                                <a:rPr lang="en-US" altLang="zh-TW" sz="2800" b="0" i="1" smtClean="0">
                                  <a:latin typeface="Cambria Math" panose="02040503050406030204" pitchFamily="18" charset="0"/>
                                </a:rPr>
                              </m:ctrlPr>
                            </m:sSubPr>
                            <m:e>
                              <m:r>
                                <m:rPr>
                                  <m:sty m:val="p"/>
                                </m:rPr>
                                <a:rPr lang="en-US" altLang="zh-TW" sz="2800" b="0" i="0" smtClean="0">
                                  <a:latin typeface="Cambria Math" panose="02040503050406030204" pitchFamily="18" charset="0"/>
                                </a:rPr>
                                <m:t>log</m:t>
                              </m:r>
                            </m:e>
                            <m:sub>
                              <m:r>
                                <a:rPr lang="en-US" altLang="zh-TW" sz="2800" b="0" i="1" smtClean="0">
                                  <a:latin typeface="Cambria Math" panose="02040503050406030204" pitchFamily="18" charset="0"/>
                                </a:rPr>
                                <m:t>2</m:t>
                              </m:r>
                            </m:sub>
                          </m:sSub>
                        </m:fName>
                        <m:e>
                          <m:r>
                            <a:rPr lang="en-US" altLang="zh-TW" sz="2800" b="0" i="1" smtClean="0">
                              <a:latin typeface="Cambria Math" panose="02040503050406030204" pitchFamily="18" charset="0"/>
                            </a:rPr>
                            <m:t>𝑘</m:t>
                          </m:r>
                        </m:e>
                      </m:func>
                      <m:r>
                        <a:rPr lang="en-US" altLang="zh-TW" sz="2800" b="0" i="1" smtClean="0">
                          <a:latin typeface="Cambria Math" panose="02040503050406030204" pitchFamily="18" charset="0"/>
                        </a:rPr>
                        <m:t>)</m:t>
                      </m:r>
                    </m:oMath>
                  </m:oMathPara>
                </a14:m>
                <a:endParaRPr lang="zh-TW" altLang="en-US" sz="2800" dirty="0"/>
              </a:p>
            </p:txBody>
          </p:sp>
        </mc:Choice>
        <mc:Fallback xmlns="">
          <p:sp>
            <p:nvSpPr>
              <p:cNvPr id="21" name="文字方塊 20"/>
              <p:cNvSpPr txBox="1">
                <a:spLocks noRot="1" noChangeAspect="1" noMove="1" noResize="1" noEditPoints="1" noAdjustHandles="1" noChangeArrowheads="1" noChangeShapeType="1" noTextEdit="1"/>
              </p:cNvSpPr>
              <p:nvPr/>
            </p:nvSpPr>
            <p:spPr>
              <a:xfrm>
                <a:off x="395642" y="2569213"/>
                <a:ext cx="1732205" cy="523220"/>
              </a:xfrm>
              <a:prstGeom prst="rect">
                <a:avLst/>
              </a:prstGeom>
              <a:blipFill rotWithShape="0">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p:cNvSpPr txBox="1"/>
              <p:nvPr/>
            </p:nvSpPr>
            <p:spPr>
              <a:xfrm>
                <a:off x="136917" y="4019652"/>
                <a:ext cx="19909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𝑂</m:t>
                      </m:r>
                      <m:r>
                        <a:rPr lang="en-US" altLang="zh-TW" sz="2800" b="0" i="1" smtClean="0">
                          <a:latin typeface="Cambria Math" panose="02040503050406030204" pitchFamily="18" charset="0"/>
                        </a:rPr>
                        <m:t>(</m:t>
                      </m:r>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𝑛</m:t>
                          </m:r>
                        </m:e>
                        <m:sup>
                          <m:r>
                            <a:rPr lang="en-US" altLang="zh-TW" sz="2800" b="0" i="1" smtClean="0">
                              <a:latin typeface="Cambria Math" panose="02040503050406030204" pitchFamily="18" charset="0"/>
                            </a:rPr>
                            <m:t>3</m:t>
                          </m:r>
                        </m:sup>
                      </m:sSup>
                      <m:func>
                        <m:funcPr>
                          <m:ctrlPr>
                            <a:rPr lang="en-US" altLang="zh-TW" sz="2800" b="0" i="1" smtClean="0">
                              <a:latin typeface="Cambria Math" panose="02040503050406030204" pitchFamily="18" charset="0"/>
                            </a:rPr>
                          </m:ctrlPr>
                        </m:funcPr>
                        <m:fName>
                          <m:r>
                            <m:rPr>
                              <m:sty m:val="p"/>
                            </m:rPr>
                            <a:rPr lang="en-US" altLang="zh-TW" sz="2800" b="0" i="0" smtClean="0">
                              <a:latin typeface="Cambria Math" panose="02040503050406030204" pitchFamily="18" charset="0"/>
                            </a:rPr>
                            <m:t>log</m:t>
                          </m:r>
                        </m:fName>
                        <m:e>
                          <m:r>
                            <a:rPr lang="en-US" altLang="zh-TW" sz="2800" b="0" i="1" smtClean="0">
                              <a:latin typeface="Cambria Math" panose="02040503050406030204" pitchFamily="18" charset="0"/>
                            </a:rPr>
                            <m:t>𝑘</m:t>
                          </m:r>
                        </m:e>
                      </m:func>
                      <m:r>
                        <a:rPr lang="en-US" altLang="zh-TW" sz="2800" b="0" i="1" smtClean="0">
                          <a:latin typeface="Cambria Math" panose="02040503050406030204" pitchFamily="18" charset="0"/>
                        </a:rPr>
                        <m:t>)</m:t>
                      </m:r>
                    </m:oMath>
                  </m:oMathPara>
                </a14:m>
                <a:endParaRPr lang="zh-TW" altLang="en-US" sz="2800"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136917" y="4019652"/>
                <a:ext cx="1990930" cy="523220"/>
              </a:xfrm>
              <a:prstGeom prst="rect">
                <a:avLst/>
              </a:prstGeom>
              <a:blipFill rotWithShape="0">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p:cNvSpPr txBox="1"/>
              <p:nvPr/>
            </p:nvSpPr>
            <p:spPr>
              <a:xfrm>
                <a:off x="136917" y="4767811"/>
                <a:ext cx="19909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𝑂</m:t>
                      </m:r>
                      <m:r>
                        <a:rPr lang="en-US" altLang="zh-TW" sz="2800" b="0" i="1" smtClean="0">
                          <a:latin typeface="Cambria Math" panose="02040503050406030204" pitchFamily="18" charset="0"/>
                        </a:rPr>
                        <m:t>(</m:t>
                      </m:r>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𝑛</m:t>
                          </m:r>
                        </m:e>
                        <m:sup>
                          <m:r>
                            <a:rPr lang="en-US" altLang="zh-TW" sz="2800" b="0" i="1" smtClean="0">
                              <a:latin typeface="Cambria Math" panose="02040503050406030204" pitchFamily="18" charset="0"/>
                            </a:rPr>
                            <m:t>3</m:t>
                          </m:r>
                        </m:sup>
                      </m:sSup>
                      <m:func>
                        <m:funcPr>
                          <m:ctrlPr>
                            <a:rPr lang="en-US" altLang="zh-TW" sz="2800" b="0" i="1" smtClean="0">
                              <a:latin typeface="Cambria Math" panose="02040503050406030204" pitchFamily="18" charset="0"/>
                            </a:rPr>
                          </m:ctrlPr>
                        </m:funcPr>
                        <m:fName>
                          <m:r>
                            <m:rPr>
                              <m:sty m:val="p"/>
                            </m:rPr>
                            <a:rPr lang="en-US" altLang="zh-TW" sz="2800" b="0" i="0" smtClean="0">
                              <a:latin typeface="Cambria Math" panose="02040503050406030204" pitchFamily="18" charset="0"/>
                            </a:rPr>
                            <m:t>log</m:t>
                          </m:r>
                        </m:fName>
                        <m:e>
                          <m:r>
                            <a:rPr lang="en-US" altLang="zh-TW" sz="2800" b="0" i="1" smtClean="0">
                              <a:latin typeface="Cambria Math" panose="02040503050406030204" pitchFamily="18" charset="0"/>
                            </a:rPr>
                            <m:t>𝑘</m:t>
                          </m:r>
                        </m:e>
                      </m:func>
                      <m:r>
                        <a:rPr lang="en-US" altLang="zh-TW" sz="2800" b="0" i="1" smtClean="0">
                          <a:latin typeface="Cambria Math" panose="02040503050406030204" pitchFamily="18" charset="0"/>
                        </a:rPr>
                        <m:t>)</m:t>
                      </m:r>
                    </m:oMath>
                  </m:oMathPara>
                </a14:m>
                <a:endParaRPr lang="zh-TW" altLang="en-US" sz="2800" dirty="0"/>
              </a:p>
            </p:txBody>
          </p:sp>
        </mc:Choice>
        <mc:Fallback xmlns="">
          <p:sp>
            <p:nvSpPr>
              <p:cNvPr id="29" name="文字方塊 28"/>
              <p:cNvSpPr txBox="1">
                <a:spLocks noRot="1" noChangeAspect="1" noMove="1" noResize="1" noEditPoints="1" noAdjustHandles="1" noChangeArrowheads="1" noChangeShapeType="1" noTextEdit="1"/>
              </p:cNvSpPr>
              <p:nvPr/>
            </p:nvSpPr>
            <p:spPr>
              <a:xfrm>
                <a:off x="136917" y="4767811"/>
                <a:ext cx="1990930" cy="523220"/>
              </a:xfrm>
              <a:prstGeom prst="rect">
                <a:avLst/>
              </a:prstGeom>
              <a:blipFill rotWithShape="0">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p:cNvSpPr txBox="1"/>
              <p:nvPr/>
            </p:nvSpPr>
            <p:spPr>
              <a:xfrm>
                <a:off x="1261744" y="6206293"/>
                <a:ext cx="637943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𝑇𝑖𝑚𝑒</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𝑐𝑜𝑚𝑝𝑙𝑒𝑥𝑖𝑡𝑦</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𝑂</m:t>
                      </m:r>
                      <m:r>
                        <a:rPr lang="en-US" altLang="zh-TW" sz="2800" b="0" i="1" smtClean="0">
                          <a:latin typeface="Cambria Math" panose="02040503050406030204" pitchFamily="18" charset="0"/>
                        </a:rPr>
                        <m:t>(</m:t>
                      </m:r>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𝑛</m:t>
                          </m:r>
                        </m:e>
                        <m:sup>
                          <m:r>
                            <a:rPr lang="en-US" altLang="zh-TW" sz="2800" i="1">
                              <a:latin typeface="Cambria Math" panose="02040503050406030204" pitchFamily="18" charset="0"/>
                            </a:rPr>
                            <m:t>2</m:t>
                          </m:r>
                        </m:sup>
                      </m:sSup>
                      <m:r>
                        <a:rPr lang="en-US" altLang="zh-TW" sz="2800" i="1">
                          <a:latin typeface="Cambria Math" panose="02040503050406030204" pitchFamily="18" charset="0"/>
                        </a:rPr>
                        <m:t>𝑚</m:t>
                      </m:r>
                      <m:d>
                        <m:dPr>
                          <m:begChr m:val="|"/>
                          <m:endChr m:val="|"/>
                          <m:ctrlPr>
                            <a:rPr lang="en-US" altLang="zh-TW" sz="2800" i="1">
                              <a:latin typeface="Cambria Math" panose="02040503050406030204" pitchFamily="18" charset="0"/>
                            </a:rPr>
                          </m:ctrlPr>
                        </m:dPr>
                        <m:e>
                          <m:r>
                            <a:rPr lang="en-US" altLang="zh-TW" sz="2800" i="1">
                              <a:latin typeface="Cambria Math" panose="02040503050406030204" pitchFamily="18" charset="0"/>
                            </a:rPr>
                            <m:t>𝑆</m:t>
                          </m:r>
                        </m:e>
                      </m:d>
                      <m:r>
                        <a:rPr lang="en-US" altLang="zh-TW" sz="2800" b="0" i="1" smtClean="0">
                          <a:latin typeface="Cambria Math" panose="02040503050406030204" pitchFamily="18" charset="0"/>
                        </a:rPr>
                        <m:t>+</m:t>
                      </m:r>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𝑛</m:t>
                          </m:r>
                        </m:e>
                        <m:sup>
                          <m:r>
                            <a:rPr lang="en-US" altLang="zh-TW" sz="2800" b="0" i="1" smtClean="0">
                              <a:latin typeface="Cambria Math" panose="02040503050406030204" pitchFamily="18" charset="0"/>
                            </a:rPr>
                            <m:t>3</m:t>
                          </m:r>
                        </m:sup>
                      </m:sSup>
                      <m:func>
                        <m:funcPr>
                          <m:ctrlPr>
                            <a:rPr lang="en-US" altLang="zh-TW" sz="2800" b="0" i="1" smtClean="0">
                              <a:latin typeface="Cambria Math" panose="02040503050406030204" pitchFamily="18" charset="0"/>
                            </a:rPr>
                          </m:ctrlPr>
                        </m:funcPr>
                        <m:fName>
                          <m:r>
                            <m:rPr>
                              <m:sty m:val="p"/>
                            </m:rPr>
                            <a:rPr lang="en-US" altLang="zh-TW" sz="2800" b="0" i="0" smtClean="0">
                              <a:latin typeface="Cambria Math" panose="02040503050406030204" pitchFamily="18" charset="0"/>
                            </a:rPr>
                            <m:t>log</m:t>
                          </m:r>
                        </m:fName>
                        <m:e>
                          <m:r>
                            <a:rPr lang="en-US" altLang="zh-TW" sz="2800" b="0" i="1" smtClean="0">
                              <a:latin typeface="Cambria Math" panose="02040503050406030204" pitchFamily="18" charset="0"/>
                            </a:rPr>
                            <m:t>𝑘</m:t>
                          </m:r>
                        </m:e>
                      </m:func>
                      <m:r>
                        <a:rPr lang="en-US" altLang="zh-TW" sz="2800" b="0" i="1" smtClean="0">
                          <a:latin typeface="Cambria Math" panose="02040503050406030204" pitchFamily="18" charset="0"/>
                        </a:rPr>
                        <m:t>)</m:t>
                      </m:r>
                    </m:oMath>
                  </m:oMathPara>
                </a14:m>
                <a:endParaRPr lang="zh-TW" altLang="en-US" sz="2800" dirty="0"/>
              </a:p>
            </p:txBody>
          </p:sp>
        </mc:Choice>
        <mc:Fallback xmlns="">
          <p:sp>
            <p:nvSpPr>
              <p:cNvPr id="30" name="文字方塊 29"/>
              <p:cNvSpPr txBox="1">
                <a:spLocks noRot="1" noChangeAspect="1" noMove="1" noResize="1" noEditPoints="1" noAdjustHandles="1" noChangeArrowheads="1" noChangeShapeType="1" noTextEdit="1"/>
              </p:cNvSpPr>
              <p:nvPr/>
            </p:nvSpPr>
            <p:spPr>
              <a:xfrm>
                <a:off x="1261744" y="6206293"/>
                <a:ext cx="6379439" cy="523220"/>
              </a:xfrm>
              <a:prstGeom prst="rect">
                <a:avLst/>
              </a:prstGeom>
              <a:blipFill rotWithShape="0">
                <a:blip r:embed="rId7"/>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0914723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Method </a:t>
            </a:r>
            <a:r>
              <a:rPr lang="en-US" altLang="zh-TW" sz="3600" dirty="0" smtClean="0">
                <a:latin typeface="Times New Roman" panose="02020603050405020304" pitchFamily="18" charset="0"/>
                <a:cs typeface="Times New Roman" panose="02020603050405020304" pitchFamily="18" charset="0"/>
              </a:rPr>
              <a:t>3 </a:t>
            </a:r>
            <a:r>
              <a:rPr lang="en-US" altLang="zh-TW" sz="3600" dirty="0" smtClean="0">
                <a:latin typeface="Times New Roman" panose="02020603050405020304" pitchFamily="18" charset="0"/>
                <a:cs typeface="Times New Roman" panose="02020603050405020304" pitchFamily="18" charset="0"/>
              </a:rPr>
              <a:t>: S-table</a:t>
            </a:r>
            <a:endParaRPr lang="zh-TW" altLang="en-US" dirty="0">
              <a:latin typeface="Times New Roman" panose="02020603050405020304" pitchFamily="18" charset="0"/>
              <a:cs typeface="Times New Roman" panose="02020603050405020304" pitchFamily="18" charset="0"/>
            </a:endParaRPr>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1095455103"/>
              </p:ext>
            </p:extLst>
          </p:nvPr>
        </p:nvGraphicFramePr>
        <p:xfrm>
          <a:off x="628650" y="1576389"/>
          <a:ext cx="3086100" cy="1483360"/>
        </p:xfrm>
        <a:graphic>
          <a:graphicData uri="http://schemas.openxmlformats.org/drawingml/2006/table">
            <a:tbl>
              <a:tblPr firstRow="1" bandRow="1">
                <a:tableStyleId>{5940675A-B579-460E-94D1-54222C63F5DA}</a:tableStyleId>
              </a:tblPr>
              <a:tblGrid>
                <a:gridCol w="617220"/>
                <a:gridCol w="617220"/>
                <a:gridCol w="617220"/>
                <a:gridCol w="617220"/>
                <a:gridCol w="617220"/>
              </a:tblGrid>
              <a:tr h="370840">
                <a:tc>
                  <a:txBody>
                    <a:bodyPr/>
                    <a:lstStyle/>
                    <a:p>
                      <a:pPr algn="ctr"/>
                      <a:endParaRPr lang="zh-TW" altLang="en-US" dirty="0"/>
                    </a:p>
                  </a:txBody>
                  <a:tcPr/>
                </a:tc>
                <a:tc>
                  <a:txBody>
                    <a:bodyPr/>
                    <a:lstStyle/>
                    <a:p>
                      <a:pPr algn="ctr"/>
                      <a:r>
                        <a:rPr lang="en-US" altLang="zh-TW" dirty="0" smtClean="0"/>
                        <a:t>T</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A</a:t>
                      </a:r>
                      <a:endParaRPr lang="zh-TW" altLang="en-US" dirty="0"/>
                    </a:p>
                  </a:txBody>
                  <a:tcPr/>
                </a:tc>
              </a:tr>
              <a:tr h="370840">
                <a:tc>
                  <a:txBody>
                    <a:bodyPr/>
                    <a:lstStyle/>
                    <a:p>
                      <a:pPr algn="ctr"/>
                      <a:r>
                        <a:rPr lang="en-US" altLang="zh-TW" dirty="0" smtClean="0"/>
                        <a:t>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r>
              <a:tr h="370840">
                <a:tc>
                  <a:txBody>
                    <a:bodyPr/>
                    <a:lstStyle/>
                    <a:p>
                      <a:pPr algn="ctr"/>
                      <a:r>
                        <a:rPr lang="en-US" altLang="zh-TW" dirty="0" smtClean="0"/>
                        <a:t>C</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r>
              <a:tr h="370840">
                <a:tc>
                  <a:txBody>
                    <a:bodyPr/>
                    <a:lstStyle/>
                    <a:p>
                      <a:pPr algn="ctr"/>
                      <a:r>
                        <a:rPr lang="en-US" altLang="zh-TW" dirty="0" smtClean="0"/>
                        <a:t>A</a:t>
                      </a:r>
                      <a:endParaRPr lang="zh-TW" altLang="en-US" dirty="0"/>
                    </a:p>
                  </a:txBody>
                  <a:tcPr>
                    <a:solidFill>
                      <a:schemeClr val="bg1"/>
                    </a:solidFill>
                  </a:tcPr>
                </a:tc>
                <a:tc>
                  <a:txBody>
                    <a:bodyPr/>
                    <a:lstStyle/>
                    <a:p>
                      <a:pPr algn="ctr"/>
                      <a:r>
                        <a:rPr lang="en-US" altLang="zh-TW" dirty="0" smtClean="0">
                          <a:solidFill>
                            <a:srgbClr val="00B0F0"/>
                          </a:solidFill>
                        </a:rPr>
                        <a:t>1</a:t>
                      </a:r>
                      <a:endParaRPr lang="zh-TW" altLang="en-US" dirty="0">
                        <a:solidFill>
                          <a:srgbClr val="00B0F0"/>
                        </a:solidFill>
                      </a:endParaRPr>
                    </a:p>
                  </a:txBody>
                  <a:tcPr>
                    <a:solidFill>
                      <a:schemeClr val="bg1"/>
                    </a:solidFill>
                  </a:tcPr>
                </a:tc>
                <a:tc>
                  <a:txBody>
                    <a:bodyPr/>
                    <a:lstStyle/>
                    <a:p>
                      <a:pPr algn="ctr"/>
                      <a:r>
                        <a:rPr lang="en-US" altLang="zh-TW" dirty="0" smtClean="0">
                          <a:solidFill>
                            <a:srgbClr val="FF00FF"/>
                          </a:solidFill>
                        </a:rPr>
                        <a:t>2</a:t>
                      </a:r>
                      <a:endParaRPr lang="zh-TW" altLang="en-US" dirty="0">
                        <a:solidFill>
                          <a:srgbClr val="FF00FF"/>
                        </a:solidFill>
                      </a:endParaRPr>
                    </a:p>
                  </a:txBody>
                  <a:tcPr>
                    <a:solidFill>
                      <a:schemeClr val="bg1"/>
                    </a:solidFill>
                  </a:tcPr>
                </a:tc>
                <a:tc>
                  <a:txBody>
                    <a:bodyPr/>
                    <a:lstStyle/>
                    <a:p>
                      <a:pPr algn="ctr"/>
                      <a:r>
                        <a:rPr lang="en-US" altLang="zh-TW" dirty="0" smtClean="0">
                          <a:solidFill>
                            <a:srgbClr val="FF00FF"/>
                          </a:solidFill>
                        </a:rPr>
                        <a:t>2</a:t>
                      </a:r>
                      <a:endParaRPr lang="zh-TW" altLang="en-US" dirty="0">
                        <a:solidFill>
                          <a:srgbClr val="FF00FF"/>
                        </a:solidFill>
                      </a:endParaRPr>
                    </a:p>
                  </a:txBody>
                  <a:tcPr>
                    <a:solidFill>
                      <a:schemeClr val="bg1"/>
                    </a:solidFill>
                  </a:tcPr>
                </a:tc>
                <a:tc>
                  <a:txBody>
                    <a:bodyPr/>
                    <a:lstStyle/>
                    <a:p>
                      <a:pPr algn="ctr"/>
                      <a:r>
                        <a:rPr lang="en-US" altLang="zh-TW" dirty="0" smtClean="0">
                          <a:solidFill>
                            <a:srgbClr val="00B050"/>
                          </a:solidFill>
                        </a:rPr>
                        <a:t>3</a:t>
                      </a:r>
                      <a:endParaRPr lang="zh-TW" altLang="en-US" dirty="0">
                        <a:solidFill>
                          <a:srgbClr val="00B050"/>
                        </a:solidFill>
                      </a:endParaRPr>
                    </a:p>
                  </a:txBody>
                  <a:tcPr>
                    <a:solidFill>
                      <a:schemeClr val="bg1"/>
                    </a:solidFill>
                  </a:tcPr>
                </a:tc>
              </a:tr>
            </a:tbl>
          </a:graphicData>
        </a:graphic>
      </p:graphicFrame>
      <p:graphicFrame>
        <p:nvGraphicFramePr>
          <p:cNvPr id="5" name="內容版面配置區 3"/>
          <p:cNvGraphicFramePr>
            <a:graphicFrameLocks/>
          </p:cNvGraphicFramePr>
          <p:nvPr>
            <p:extLst>
              <p:ext uri="{D42A27DB-BD31-4B8C-83A1-F6EECF244321}">
                <p14:modId xmlns:p14="http://schemas.microsoft.com/office/powerpoint/2010/main" val="1598158280"/>
              </p:ext>
            </p:extLst>
          </p:nvPr>
        </p:nvGraphicFramePr>
        <p:xfrm>
          <a:off x="628650" y="3267869"/>
          <a:ext cx="2468880" cy="1483360"/>
        </p:xfrm>
        <a:graphic>
          <a:graphicData uri="http://schemas.openxmlformats.org/drawingml/2006/table">
            <a:tbl>
              <a:tblPr firstRow="1" bandRow="1">
                <a:tableStyleId>{5940675A-B579-460E-94D1-54222C63F5DA}</a:tableStyleId>
              </a:tblPr>
              <a:tblGrid>
                <a:gridCol w="617220"/>
                <a:gridCol w="617220"/>
                <a:gridCol w="617220"/>
                <a:gridCol w="617220"/>
              </a:tblGrid>
              <a:tr h="370840">
                <a:tc>
                  <a:txBody>
                    <a:bodyPr/>
                    <a:lstStyle/>
                    <a:p>
                      <a:pPr algn="ct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A</a:t>
                      </a:r>
                      <a:endParaRPr lang="zh-TW" altLang="en-US" dirty="0"/>
                    </a:p>
                  </a:txBody>
                  <a:tcPr/>
                </a:tc>
              </a:tr>
              <a:tr h="370840">
                <a:tc>
                  <a:txBody>
                    <a:bodyPr/>
                    <a:lstStyle/>
                    <a:p>
                      <a:pPr algn="ctr"/>
                      <a:r>
                        <a:rPr lang="en-US" altLang="zh-TW" dirty="0" smtClean="0"/>
                        <a:t>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r>
              <a:tr h="370840">
                <a:tc>
                  <a:txBody>
                    <a:bodyPr/>
                    <a:lstStyle/>
                    <a:p>
                      <a:pPr algn="ctr"/>
                      <a:r>
                        <a:rPr lang="en-US" altLang="zh-TW" dirty="0" smtClean="0"/>
                        <a:t>C</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r>
              <a:tr h="370840">
                <a:tc>
                  <a:txBody>
                    <a:bodyPr/>
                    <a:lstStyle/>
                    <a:p>
                      <a:pPr algn="ctr"/>
                      <a:r>
                        <a:rPr lang="en-US" altLang="zh-TW" dirty="0" smtClean="0"/>
                        <a:t>A</a:t>
                      </a:r>
                      <a:endParaRPr lang="zh-TW" altLang="en-US" dirty="0"/>
                    </a:p>
                  </a:txBody>
                  <a:tcPr>
                    <a:solidFill>
                      <a:schemeClr val="bg1"/>
                    </a:solidFill>
                  </a:tcPr>
                </a:tc>
                <a:tc>
                  <a:txBody>
                    <a:bodyPr/>
                    <a:lstStyle/>
                    <a:p>
                      <a:pPr algn="ctr"/>
                      <a:r>
                        <a:rPr lang="en-US" altLang="zh-TW" dirty="0" smtClean="0">
                          <a:solidFill>
                            <a:srgbClr val="00B0F0"/>
                          </a:solidFill>
                        </a:rPr>
                        <a:t>1</a:t>
                      </a:r>
                      <a:endParaRPr lang="zh-TW" altLang="en-US" dirty="0">
                        <a:solidFill>
                          <a:srgbClr val="00B0F0"/>
                        </a:solidFill>
                      </a:endParaRPr>
                    </a:p>
                  </a:txBody>
                  <a:tcPr>
                    <a:solidFill>
                      <a:schemeClr val="bg1"/>
                    </a:solidFill>
                  </a:tcPr>
                </a:tc>
                <a:tc>
                  <a:txBody>
                    <a:bodyPr/>
                    <a:lstStyle/>
                    <a:p>
                      <a:pPr algn="ctr"/>
                      <a:r>
                        <a:rPr lang="en-US" altLang="zh-TW" dirty="0" smtClean="0">
                          <a:solidFill>
                            <a:srgbClr val="00B0F0"/>
                          </a:solidFill>
                        </a:rPr>
                        <a:t>1</a:t>
                      </a:r>
                      <a:endParaRPr lang="zh-TW" altLang="en-US" dirty="0">
                        <a:solidFill>
                          <a:srgbClr val="00B0F0"/>
                        </a:solidFill>
                      </a:endParaRPr>
                    </a:p>
                  </a:txBody>
                  <a:tcPr>
                    <a:solidFill>
                      <a:schemeClr val="bg1"/>
                    </a:solidFill>
                  </a:tcPr>
                </a:tc>
                <a:tc>
                  <a:txBody>
                    <a:bodyPr/>
                    <a:lstStyle/>
                    <a:p>
                      <a:pPr algn="ctr"/>
                      <a:r>
                        <a:rPr lang="en-US" altLang="zh-TW" dirty="0" smtClean="0">
                          <a:solidFill>
                            <a:srgbClr val="FF00FF"/>
                          </a:solidFill>
                        </a:rPr>
                        <a:t>2</a:t>
                      </a:r>
                      <a:endParaRPr lang="zh-TW" altLang="en-US" dirty="0">
                        <a:solidFill>
                          <a:srgbClr val="FF00FF"/>
                        </a:solidFill>
                      </a:endParaRPr>
                    </a:p>
                  </a:txBody>
                  <a:tcPr>
                    <a:solidFill>
                      <a:schemeClr val="bg1"/>
                    </a:solidFill>
                  </a:tcPr>
                </a:tc>
              </a:tr>
            </a:tbl>
          </a:graphicData>
        </a:graphic>
      </p:graphicFrame>
      <p:graphicFrame>
        <p:nvGraphicFramePr>
          <p:cNvPr id="6" name="內容版面配置區 3"/>
          <p:cNvGraphicFramePr>
            <a:graphicFrameLocks/>
          </p:cNvGraphicFramePr>
          <p:nvPr>
            <p:extLst>
              <p:ext uri="{D42A27DB-BD31-4B8C-83A1-F6EECF244321}">
                <p14:modId xmlns:p14="http://schemas.microsoft.com/office/powerpoint/2010/main" val="1108145945"/>
              </p:ext>
            </p:extLst>
          </p:nvPr>
        </p:nvGraphicFramePr>
        <p:xfrm>
          <a:off x="628650" y="4975223"/>
          <a:ext cx="1851660" cy="1483360"/>
        </p:xfrm>
        <a:graphic>
          <a:graphicData uri="http://schemas.openxmlformats.org/drawingml/2006/table">
            <a:tbl>
              <a:tblPr firstRow="1" bandRow="1">
                <a:tableStyleId>{5940675A-B579-460E-94D1-54222C63F5DA}</a:tableStyleId>
              </a:tblPr>
              <a:tblGrid>
                <a:gridCol w="617220"/>
                <a:gridCol w="617220"/>
                <a:gridCol w="617220"/>
              </a:tblGrid>
              <a:tr h="370840">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A</a:t>
                      </a:r>
                      <a:endParaRPr lang="zh-TW" altLang="en-US" dirty="0"/>
                    </a:p>
                  </a:txBody>
                  <a:tcPr/>
                </a:tc>
              </a:tr>
              <a:tr h="370840">
                <a:tc>
                  <a:txBody>
                    <a:bodyPr/>
                    <a:lstStyle/>
                    <a:p>
                      <a:pPr algn="ctr"/>
                      <a:r>
                        <a:rPr lang="en-US" altLang="zh-TW" dirty="0" smtClean="0"/>
                        <a:t>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r>
              <a:tr h="370840">
                <a:tc>
                  <a:txBody>
                    <a:bodyPr/>
                    <a:lstStyle/>
                    <a:p>
                      <a:pPr algn="ctr"/>
                      <a:r>
                        <a:rPr lang="en-US" altLang="zh-TW" dirty="0" smtClean="0"/>
                        <a:t>C</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r>
              <a:tr h="370840">
                <a:tc>
                  <a:txBody>
                    <a:bodyPr/>
                    <a:lstStyle/>
                    <a:p>
                      <a:pPr algn="ctr"/>
                      <a:r>
                        <a:rPr lang="en-US" altLang="zh-TW" dirty="0" smtClean="0"/>
                        <a:t>A</a:t>
                      </a:r>
                      <a:endParaRPr lang="zh-TW" altLang="en-US" dirty="0"/>
                    </a:p>
                  </a:txBody>
                  <a:tcPr>
                    <a:solidFill>
                      <a:schemeClr val="bg1"/>
                    </a:solidFill>
                  </a:tcPr>
                </a:tc>
                <a:tc>
                  <a:txBody>
                    <a:bodyPr/>
                    <a:lstStyle/>
                    <a:p>
                      <a:pPr algn="ctr"/>
                      <a:r>
                        <a:rPr lang="en-US" altLang="zh-TW" dirty="0" smtClean="0">
                          <a:solidFill>
                            <a:srgbClr val="00B0F0"/>
                          </a:solidFill>
                        </a:rPr>
                        <a:t>1</a:t>
                      </a:r>
                      <a:endParaRPr lang="zh-TW" altLang="en-US" dirty="0">
                        <a:solidFill>
                          <a:srgbClr val="00B0F0"/>
                        </a:solidFill>
                      </a:endParaRPr>
                    </a:p>
                  </a:txBody>
                  <a:tcPr>
                    <a:solidFill>
                      <a:schemeClr val="bg1"/>
                    </a:solidFill>
                  </a:tcPr>
                </a:tc>
                <a:tc>
                  <a:txBody>
                    <a:bodyPr/>
                    <a:lstStyle/>
                    <a:p>
                      <a:pPr algn="ctr"/>
                      <a:r>
                        <a:rPr lang="en-US" altLang="zh-TW" dirty="0" smtClean="0">
                          <a:solidFill>
                            <a:srgbClr val="FF00FF"/>
                          </a:solidFill>
                        </a:rPr>
                        <a:t>2</a:t>
                      </a:r>
                      <a:endParaRPr lang="zh-TW" altLang="en-US" dirty="0">
                        <a:solidFill>
                          <a:srgbClr val="FF00FF"/>
                        </a:solidFill>
                      </a:endParaRPr>
                    </a:p>
                  </a:txBody>
                  <a:tcPr>
                    <a:solidFill>
                      <a:schemeClr val="bg1"/>
                    </a:solidFill>
                  </a:tcPr>
                </a:tc>
              </a:tr>
            </a:tbl>
          </a:graphicData>
        </a:graphic>
      </p:graphicFrame>
      <p:graphicFrame>
        <p:nvGraphicFramePr>
          <p:cNvPr id="7" name="內容版面配置區 3"/>
          <p:cNvGraphicFramePr>
            <a:graphicFrameLocks/>
          </p:cNvGraphicFramePr>
          <p:nvPr>
            <p:extLst>
              <p:ext uri="{D42A27DB-BD31-4B8C-83A1-F6EECF244321}">
                <p14:modId xmlns:p14="http://schemas.microsoft.com/office/powerpoint/2010/main" val="1530498643"/>
              </p:ext>
            </p:extLst>
          </p:nvPr>
        </p:nvGraphicFramePr>
        <p:xfrm>
          <a:off x="3295650" y="4975223"/>
          <a:ext cx="1234440" cy="1483360"/>
        </p:xfrm>
        <a:graphic>
          <a:graphicData uri="http://schemas.openxmlformats.org/drawingml/2006/table">
            <a:tbl>
              <a:tblPr firstRow="1" bandRow="1">
                <a:tableStyleId>{5940675A-B579-460E-94D1-54222C63F5DA}</a:tableStyleId>
              </a:tblPr>
              <a:tblGrid>
                <a:gridCol w="617220"/>
                <a:gridCol w="617220"/>
              </a:tblGrid>
              <a:tr h="370840">
                <a:tc>
                  <a:txBody>
                    <a:bodyPr/>
                    <a:lstStyle/>
                    <a:p>
                      <a:pPr algn="ctr"/>
                      <a:endParaRPr lang="zh-TW" altLang="en-US" dirty="0"/>
                    </a:p>
                  </a:txBody>
                  <a:tcPr/>
                </a:tc>
                <a:tc>
                  <a:txBody>
                    <a:bodyPr/>
                    <a:lstStyle/>
                    <a:p>
                      <a:pPr algn="ctr"/>
                      <a:r>
                        <a:rPr lang="en-US" altLang="zh-TW" dirty="0" smtClean="0"/>
                        <a:t>A</a:t>
                      </a:r>
                      <a:endParaRPr lang="zh-TW" altLang="en-US" dirty="0"/>
                    </a:p>
                  </a:txBody>
                  <a:tcPr/>
                </a:tc>
              </a:tr>
              <a:tr h="370840">
                <a:tc>
                  <a:txBody>
                    <a:bodyPr/>
                    <a:lstStyle/>
                    <a:p>
                      <a:pPr algn="ctr"/>
                      <a:r>
                        <a:rPr lang="en-US" altLang="zh-TW" dirty="0" smtClean="0"/>
                        <a:t>T</a:t>
                      </a:r>
                      <a:endParaRPr lang="zh-TW" altLang="en-US" dirty="0"/>
                    </a:p>
                  </a:txBody>
                  <a:tcPr/>
                </a:tc>
                <a:tc>
                  <a:txBody>
                    <a:bodyPr/>
                    <a:lstStyle/>
                    <a:p>
                      <a:pPr algn="ctr"/>
                      <a:r>
                        <a:rPr lang="en-US" altLang="zh-TW" dirty="0" smtClean="0"/>
                        <a:t>0</a:t>
                      </a:r>
                      <a:endParaRPr lang="zh-TW" altLang="en-US" dirty="0"/>
                    </a:p>
                  </a:txBody>
                  <a:tcPr/>
                </a:tc>
              </a:tr>
              <a:tr h="370840">
                <a:tc>
                  <a:txBody>
                    <a:bodyPr/>
                    <a:lstStyle/>
                    <a:p>
                      <a:pPr algn="ctr"/>
                      <a:r>
                        <a:rPr lang="en-US" altLang="zh-TW" dirty="0" smtClean="0"/>
                        <a:t>C</a:t>
                      </a:r>
                      <a:endParaRPr lang="zh-TW" altLang="en-US" dirty="0"/>
                    </a:p>
                  </a:txBody>
                  <a:tcPr/>
                </a:tc>
                <a:tc>
                  <a:txBody>
                    <a:bodyPr/>
                    <a:lstStyle/>
                    <a:p>
                      <a:pPr algn="ctr"/>
                      <a:r>
                        <a:rPr lang="en-US" altLang="zh-TW" dirty="0" smtClean="0"/>
                        <a:t>0</a:t>
                      </a:r>
                      <a:endParaRPr lang="zh-TW" altLang="en-US" dirty="0"/>
                    </a:p>
                  </a:txBody>
                  <a:tcPr/>
                </a:tc>
              </a:tr>
              <a:tr h="370840">
                <a:tc>
                  <a:txBody>
                    <a:bodyPr/>
                    <a:lstStyle/>
                    <a:p>
                      <a:pPr algn="ctr"/>
                      <a:r>
                        <a:rPr lang="en-US" altLang="zh-TW" dirty="0" smtClean="0"/>
                        <a:t>A</a:t>
                      </a:r>
                      <a:endParaRPr lang="zh-TW" altLang="en-US" dirty="0"/>
                    </a:p>
                  </a:txBody>
                  <a:tcPr/>
                </a:tc>
                <a:tc>
                  <a:txBody>
                    <a:bodyPr/>
                    <a:lstStyle/>
                    <a:p>
                      <a:pPr algn="ctr"/>
                      <a:r>
                        <a:rPr lang="en-US" altLang="zh-TW" dirty="0" smtClean="0">
                          <a:solidFill>
                            <a:srgbClr val="00B0F0"/>
                          </a:solidFill>
                        </a:rPr>
                        <a:t>1</a:t>
                      </a:r>
                      <a:endParaRPr lang="zh-TW" altLang="en-US" dirty="0">
                        <a:solidFill>
                          <a:srgbClr val="00B0F0"/>
                        </a:solidFill>
                      </a:endParaRPr>
                    </a:p>
                  </a:txBody>
                  <a:tcPr>
                    <a:solidFill>
                      <a:schemeClr val="bg1"/>
                    </a:solidFill>
                  </a:tcPr>
                </a:tc>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1368828078"/>
              </p:ext>
            </p:extLst>
          </p:nvPr>
        </p:nvGraphicFramePr>
        <p:xfrm>
          <a:off x="5124449" y="1576389"/>
          <a:ext cx="3067050" cy="2190750"/>
        </p:xfrm>
        <a:graphic>
          <a:graphicData uri="http://schemas.openxmlformats.org/drawingml/2006/table">
            <a:tbl>
              <a:tblPr firstRow="1" bandRow="1">
                <a:tableStyleId>{5940675A-B579-460E-94D1-54222C63F5DA}</a:tableStyleId>
              </a:tblPr>
              <a:tblGrid>
                <a:gridCol w="613410"/>
                <a:gridCol w="613410"/>
                <a:gridCol w="613410"/>
                <a:gridCol w="613410"/>
                <a:gridCol w="613410"/>
              </a:tblGrid>
              <a:tr h="438150">
                <a:tc>
                  <a:txBody>
                    <a:bodyPr/>
                    <a:lstStyle/>
                    <a:p>
                      <a:pPr algn="ct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r>
              <a:tr h="438150">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solidFill>
                      <a:srgbClr val="FFFF00"/>
                    </a:solidFill>
                  </a:tcPr>
                </a:tc>
                <a:tc>
                  <a:txBody>
                    <a:bodyPr/>
                    <a:lstStyle/>
                    <a:p>
                      <a:pPr algn="ctr"/>
                      <a:r>
                        <a:rPr lang="en-US" altLang="zh-TW" dirty="0" smtClean="0"/>
                        <a:t>2</a:t>
                      </a:r>
                      <a:endParaRPr lang="zh-TW" altLang="en-US" dirty="0"/>
                    </a:p>
                  </a:txBody>
                  <a:tcPr>
                    <a:solidFill>
                      <a:srgbClr val="FFFF00"/>
                    </a:solidFill>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solidFill>
                      <a:srgbClr val="FFFF00"/>
                    </a:solidFill>
                  </a:tcPr>
                </a:tc>
              </a:tr>
              <a:tr h="438150">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solidFill>
                      <a:srgbClr val="FFFF00"/>
                    </a:solidFill>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solidFill>
                      <a:srgbClr val="FFFF00"/>
                    </a:solidFill>
                  </a:tcPr>
                </a:tc>
              </a:tr>
              <a:tr h="438150">
                <a:tc>
                  <a:txBody>
                    <a:bodyPr/>
                    <a:lstStyle/>
                    <a:p>
                      <a:pPr algn="ctr"/>
                      <a:r>
                        <a:rPr lang="en-US" altLang="zh-TW" dirty="0" smtClean="0"/>
                        <a:t>2</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solidFill>
                      <a:srgbClr val="FFFF00"/>
                    </a:solidFill>
                  </a:tcPr>
                </a:tc>
                <a:tc>
                  <a:txBody>
                    <a:bodyPr/>
                    <a:lstStyle/>
                    <a:p>
                      <a:pPr algn="ctr"/>
                      <a:r>
                        <a:rPr lang="en-US" altLang="zh-TW" dirty="0" smtClean="0"/>
                        <a:t>2</a:t>
                      </a:r>
                      <a:endParaRPr lang="zh-TW" altLang="en-US" dirty="0"/>
                    </a:p>
                  </a:txBody>
                  <a:tcPr>
                    <a:solidFill>
                      <a:srgbClr val="FFFF00"/>
                    </a:solidFill>
                  </a:tcPr>
                </a:tc>
              </a:tr>
              <a:tr h="438150">
                <a:tc>
                  <a:txBody>
                    <a:bodyPr/>
                    <a:lstStyle/>
                    <a:p>
                      <a:pPr algn="ctr"/>
                      <a:r>
                        <a:rPr lang="en-US" altLang="zh-TW" dirty="0" smtClean="0"/>
                        <a:t>3</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solidFill>
                      <a:srgbClr val="FFFF00"/>
                    </a:solidFill>
                  </a:tcPr>
                </a:tc>
              </a:tr>
            </a:tbl>
          </a:graphicData>
        </a:graphic>
      </p:graphicFrame>
      <p:cxnSp>
        <p:nvCxnSpPr>
          <p:cNvPr id="9" name="直線單箭頭接點 8"/>
          <p:cNvCxnSpPr/>
          <p:nvPr/>
        </p:nvCxnSpPr>
        <p:spPr>
          <a:xfrm flipV="1">
            <a:off x="3819525" y="2200275"/>
            <a:ext cx="1200150" cy="6953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p:cNvCxnSpPr/>
          <p:nvPr/>
        </p:nvCxnSpPr>
        <p:spPr>
          <a:xfrm flipV="1">
            <a:off x="3202304" y="2629694"/>
            <a:ext cx="1817370" cy="187793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flipV="1">
            <a:off x="2549842" y="3139281"/>
            <a:ext cx="2469833" cy="31091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p:nvPr/>
        </p:nvCxnSpPr>
        <p:spPr>
          <a:xfrm flipV="1">
            <a:off x="4599622" y="3568661"/>
            <a:ext cx="419100" cy="267973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a:off x="6657972" y="3834607"/>
            <a:ext cx="2" cy="34686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9" name="表格 18"/>
          <p:cNvGraphicFramePr>
            <a:graphicFrameLocks noGrp="1"/>
          </p:cNvGraphicFramePr>
          <p:nvPr>
            <p:extLst>
              <p:ext uri="{D42A27DB-BD31-4B8C-83A1-F6EECF244321}">
                <p14:modId xmlns:p14="http://schemas.microsoft.com/office/powerpoint/2010/main" val="1318160726"/>
              </p:ext>
            </p:extLst>
          </p:nvPr>
        </p:nvGraphicFramePr>
        <p:xfrm>
          <a:off x="5371147" y="4267833"/>
          <a:ext cx="2453640" cy="2190750"/>
        </p:xfrm>
        <a:graphic>
          <a:graphicData uri="http://schemas.openxmlformats.org/drawingml/2006/table">
            <a:tbl>
              <a:tblPr firstRow="1" bandRow="1">
                <a:tableStyleId>{5940675A-B579-460E-94D1-54222C63F5DA}</a:tableStyleId>
              </a:tblPr>
              <a:tblGrid>
                <a:gridCol w="613410"/>
                <a:gridCol w="613410"/>
                <a:gridCol w="613410"/>
                <a:gridCol w="613410"/>
              </a:tblGrid>
              <a:tr h="438150">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r>
                        <a:rPr lang="en-US" altLang="zh-TW" dirty="0" smtClean="0"/>
                        <a:t>2</a:t>
                      </a:r>
                      <a:endParaRPr lang="zh-TW" altLang="en-US" dirty="0"/>
                    </a:p>
                  </a:txBody>
                  <a:tcPr>
                    <a:solidFill>
                      <a:schemeClr val="bg1"/>
                    </a:solidFill>
                  </a:tcPr>
                </a:tc>
                <a:tc>
                  <a:txBody>
                    <a:bodyPr/>
                    <a:lstStyle/>
                    <a:p>
                      <a:pPr algn="ctr"/>
                      <a:r>
                        <a:rPr lang="en-US" altLang="zh-TW" dirty="0" smtClean="0"/>
                        <a:t>3</a:t>
                      </a:r>
                      <a:endParaRPr lang="zh-TW" altLang="en-US" dirty="0"/>
                    </a:p>
                  </a:txBody>
                  <a:tcPr>
                    <a:solidFill>
                      <a:schemeClr val="bg1"/>
                    </a:solidFill>
                  </a:tcPr>
                </a:tc>
              </a:tr>
              <a:tr h="438150">
                <a:tc>
                  <a:txBody>
                    <a:bodyPr/>
                    <a:lstStyle/>
                    <a:p>
                      <a:pPr algn="ctr"/>
                      <a:r>
                        <a:rPr lang="en-US" altLang="zh-TW" dirty="0" smtClean="0"/>
                        <a:t>0</a:t>
                      </a:r>
                      <a:endParaRPr lang="zh-TW" altLang="en-US" dirty="0"/>
                    </a:p>
                  </a:txBody>
                  <a:tcPr>
                    <a:solidFill>
                      <a:schemeClr val="bg1"/>
                    </a:solidFill>
                  </a:tcPr>
                </a:tc>
                <a:tc>
                  <a:txBody>
                    <a:bodyPr/>
                    <a:lstStyle/>
                    <a:p>
                      <a:pPr algn="ctr"/>
                      <a:r>
                        <a:rPr lang="en-US" altLang="zh-TW" dirty="0" smtClean="0">
                          <a:solidFill>
                            <a:srgbClr val="00B0F0"/>
                          </a:solidFill>
                        </a:rPr>
                        <a:t>1</a:t>
                      </a:r>
                      <a:endParaRPr lang="zh-TW" altLang="en-US" dirty="0">
                        <a:solidFill>
                          <a:srgbClr val="00B0F0"/>
                        </a:solidFill>
                      </a:endParaRPr>
                    </a:p>
                  </a:txBody>
                  <a:tcPr>
                    <a:solidFill>
                      <a:schemeClr val="bg1"/>
                    </a:solidFill>
                  </a:tcPr>
                </a:tc>
                <a:tc>
                  <a:txBody>
                    <a:bodyPr/>
                    <a:lstStyle/>
                    <a:p>
                      <a:pPr algn="ctr"/>
                      <a:r>
                        <a:rPr lang="en-US" altLang="zh-TW" dirty="0" smtClean="0">
                          <a:solidFill>
                            <a:srgbClr val="FF00FF"/>
                          </a:solidFill>
                        </a:rPr>
                        <a:t>2</a:t>
                      </a:r>
                      <a:endParaRPr lang="zh-TW" altLang="en-US" dirty="0">
                        <a:solidFill>
                          <a:srgbClr val="FF00FF"/>
                        </a:solidFill>
                      </a:endParaRPr>
                    </a:p>
                  </a:txBody>
                  <a:tcPr>
                    <a:solidFill>
                      <a:schemeClr val="bg1"/>
                    </a:solidFill>
                  </a:tcPr>
                </a:tc>
                <a:tc>
                  <a:txBody>
                    <a:bodyPr/>
                    <a:lstStyle/>
                    <a:p>
                      <a:pPr algn="ctr"/>
                      <a:r>
                        <a:rPr lang="en-US" altLang="zh-TW" dirty="0" smtClean="0">
                          <a:solidFill>
                            <a:srgbClr val="00B050"/>
                          </a:solidFill>
                        </a:rPr>
                        <a:t>4</a:t>
                      </a:r>
                      <a:endParaRPr lang="zh-TW" altLang="en-US" dirty="0">
                        <a:solidFill>
                          <a:srgbClr val="00B050"/>
                        </a:solidFill>
                      </a:endParaRPr>
                    </a:p>
                  </a:txBody>
                  <a:tcPr>
                    <a:solidFill>
                      <a:schemeClr val="bg1"/>
                    </a:solidFill>
                  </a:tcPr>
                </a:tc>
              </a:tr>
              <a:tr h="438150">
                <a:tc>
                  <a:txBody>
                    <a:bodyPr/>
                    <a:lstStyle/>
                    <a:p>
                      <a:pPr algn="ctr"/>
                      <a:r>
                        <a:rPr lang="en-US" altLang="zh-TW" dirty="0" smtClean="0"/>
                        <a:t>1</a:t>
                      </a:r>
                      <a:endParaRPr lang="zh-TW" altLang="en-US" dirty="0"/>
                    </a:p>
                  </a:txBody>
                  <a:tcPr>
                    <a:solidFill>
                      <a:schemeClr val="bg1"/>
                    </a:solidFill>
                  </a:tcPr>
                </a:tc>
                <a:tc>
                  <a:txBody>
                    <a:bodyPr/>
                    <a:lstStyle/>
                    <a:p>
                      <a:pPr algn="ctr"/>
                      <a:r>
                        <a:rPr lang="en-US" altLang="zh-TW" dirty="0" smtClean="0">
                          <a:solidFill>
                            <a:srgbClr val="00B0F0"/>
                          </a:solidFill>
                        </a:rPr>
                        <a:t>2</a:t>
                      </a:r>
                      <a:endParaRPr lang="zh-TW" altLang="en-US" dirty="0">
                        <a:solidFill>
                          <a:srgbClr val="00B0F0"/>
                        </a:solidFill>
                      </a:endParaRPr>
                    </a:p>
                  </a:txBody>
                  <a:tcPr>
                    <a:solidFill>
                      <a:schemeClr val="bg1"/>
                    </a:solidFill>
                  </a:tcPr>
                </a:tc>
                <a:tc>
                  <a:txBody>
                    <a:bodyPr/>
                    <a:lstStyle/>
                    <a:p>
                      <a:pPr algn="ctr"/>
                      <a:r>
                        <a:rPr lang="en-US" altLang="zh-TW" dirty="0" smtClean="0">
                          <a:solidFill>
                            <a:srgbClr val="FF00FF"/>
                          </a:solidFill>
                        </a:rPr>
                        <a:t>4</a:t>
                      </a:r>
                      <a:endParaRPr lang="zh-TW" altLang="en-US" dirty="0">
                        <a:solidFill>
                          <a:srgbClr val="FF00FF"/>
                        </a:solidFill>
                      </a:endParaRPr>
                    </a:p>
                  </a:txBody>
                  <a:tcPr>
                    <a:solidFill>
                      <a:schemeClr val="bg1"/>
                    </a:solidFill>
                  </a:tcPr>
                </a:tc>
                <a:tc>
                  <a:txBody>
                    <a:bodyPr/>
                    <a:lstStyle/>
                    <a:p>
                      <a:pPr algn="ctr"/>
                      <a:endParaRPr lang="zh-TW" altLang="en-US" dirty="0"/>
                    </a:p>
                  </a:txBody>
                  <a:tcPr>
                    <a:solidFill>
                      <a:schemeClr val="bg1"/>
                    </a:solidFill>
                  </a:tcPr>
                </a:tc>
              </a:tr>
              <a:tr h="438150">
                <a:tc>
                  <a:txBody>
                    <a:bodyPr/>
                    <a:lstStyle/>
                    <a:p>
                      <a:pPr algn="ctr"/>
                      <a:r>
                        <a:rPr lang="en-US" altLang="zh-TW" dirty="0" smtClean="0"/>
                        <a:t>2</a:t>
                      </a:r>
                      <a:endParaRPr lang="zh-TW" altLang="en-US" dirty="0"/>
                    </a:p>
                  </a:txBody>
                  <a:tcPr>
                    <a:solidFill>
                      <a:schemeClr val="bg1"/>
                    </a:solidFill>
                  </a:tcPr>
                </a:tc>
                <a:tc>
                  <a:txBody>
                    <a:bodyPr/>
                    <a:lstStyle/>
                    <a:p>
                      <a:pPr algn="ctr"/>
                      <a:r>
                        <a:rPr lang="en-US" altLang="zh-TW" dirty="0" smtClean="0">
                          <a:solidFill>
                            <a:srgbClr val="00B0F0"/>
                          </a:solidFill>
                        </a:rPr>
                        <a:t>3</a:t>
                      </a:r>
                      <a:endParaRPr lang="zh-TW" altLang="en-US" dirty="0">
                        <a:solidFill>
                          <a:srgbClr val="00B0F0"/>
                        </a:solidFill>
                      </a:endParaRPr>
                    </a:p>
                  </a:txBody>
                  <a:tcPr>
                    <a:solidFill>
                      <a:schemeClr val="bg1"/>
                    </a:solidFill>
                  </a:tcPr>
                </a:tc>
                <a:tc>
                  <a:txBody>
                    <a:bodyPr/>
                    <a:lstStyle/>
                    <a:p>
                      <a:pPr algn="ctr"/>
                      <a:r>
                        <a:rPr lang="en-US" altLang="zh-TW" dirty="0" smtClean="0">
                          <a:solidFill>
                            <a:srgbClr val="FF00FF"/>
                          </a:solidFill>
                        </a:rPr>
                        <a:t>4</a:t>
                      </a:r>
                      <a:endParaRPr lang="zh-TW" altLang="en-US" dirty="0">
                        <a:solidFill>
                          <a:srgbClr val="FF00FF"/>
                        </a:solidFill>
                      </a:endParaRPr>
                    </a:p>
                  </a:txBody>
                  <a:tcPr>
                    <a:solidFill>
                      <a:schemeClr val="bg1"/>
                    </a:solidFill>
                  </a:tcPr>
                </a:tc>
                <a:tc>
                  <a:txBody>
                    <a:bodyPr/>
                    <a:lstStyle/>
                    <a:p>
                      <a:pPr algn="ctr"/>
                      <a:endParaRPr lang="zh-TW" altLang="en-US" dirty="0"/>
                    </a:p>
                  </a:txBody>
                  <a:tcPr>
                    <a:solidFill>
                      <a:schemeClr val="bg1"/>
                    </a:solidFill>
                  </a:tcPr>
                </a:tc>
              </a:tr>
              <a:tr h="438150">
                <a:tc>
                  <a:txBody>
                    <a:bodyPr/>
                    <a:lstStyle/>
                    <a:p>
                      <a:pPr algn="ctr"/>
                      <a:r>
                        <a:rPr lang="en-US" altLang="zh-TW" dirty="0" smtClean="0"/>
                        <a:t>3</a:t>
                      </a:r>
                      <a:endParaRPr lang="zh-TW" altLang="en-US" dirty="0"/>
                    </a:p>
                  </a:txBody>
                  <a:tcPr>
                    <a:solidFill>
                      <a:schemeClr val="bg1"/>
                    </a:solidFill>
                  </a:tcPr>
                </a:tc>
                <a:tc>
                  <a:txBody>
                    <a:bodyPr/>
                    <a:lstStyle/>
                    <a:p>
                      <a:pPr algn="ctr"/>
                      <a:r>
                        <a:rPr lang="en-US" altLang="zh-TW" dirty="0" smtClean="0">
                          <a:solidFill>
                            <a:srgbClr val="00B0F0"/>
                          </a:solidFill>
                        </a:rPr>
                        <a:t>4</a:t>
                      </a:r>
                      <a:endParaRPr lang="zh-TW" altLang="en-US" dirty="0">
                        <a:solidFill>
                          <a:srgbClr val="00B0F0"/>
                        </a:solidFill>
                      </a:endParaRPr>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bl>
          </a:graphicData>
        </a:graphic>
      </p:graphicFrame>
    </p:spTree>
    <p:extLst>
      <p:ext uri="{BB962C8B-B14F-4D97-AF65-F5344CB8AC3E}">
        <p14:creationId xmlns:p14="http://schemas.microsoft.com/office/powerpoint/2010/main" val="805470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cs typeface="Times New Roman" panose="02020603050405020304" pitchFamily="18" charset="0"/>
              </a:rPr>
              <a:t>Method </a:t>
            </a:r>
            <a:r>
              <a:rPr lang="en-US" altLang="zh-TW" sz="4000" dirty="0" smtClean="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內容版面配置區 7"/>
              <p:cNvSpPr>
                <a:spLocks noGrp="1"/>
              </p:cNvSpPr>
              <p:nvPr>
                <p:ph idx="1"/>
              </p:nvPr>
            </p:nvSpPr>
            <p:spPr>
              <a:xfrm>
                <a:off x="628650" y="1385889"/>
                <a:ext cx="7886700" cy="4351338"/>
              </a:xfrm>
            </p:spPr>
            <p:txBody>
              <a:bodyPr/>
              <a:lstStyle/>
              <a:p>
                <a:pPr marL="0" indent="0">
                  <a:buNone/>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𝑇</m:t>
                      </m:r>
                      <m:r>
                        <a:rPr lang="en-US" altLang="zh-TW" b="0" i="1" smtClean="0">
                          <a:latin typeface="Cambria Math" panose="02040503050406030204" pitchFamily="18" charset="0"/>
                        </a:rPr>
                        <m:t>=</m:t>
                      </m:r>
                      <m:r>
                        <a:rPr lang="en-US" altLang="zh-TW" b="0" i="1" smtClean="0">
                          <a:latin typeface="Cambria Math" panose="02040503050406030204" pitchFamily="18" charset="0"/>
                        </a:rPr>
                        <m:t>𝑎𝑔𝑎𝑐𝑡𝑎𝑔𝑡𝑐</m:t>
                      </m:r>
                    </m:oMath>
                  </m:oMathPara>
                </a14:m>
                <a:endParaRPr lang="en-US" altLang="zh-TW" b="0" i="1"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𝑆</m:t>
                      </m:r>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𝑎𝑔𝑐</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𝑎𝑐𝑡</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𝑎𝑎𝑡𝑔</m:t>
                          </m:r>
                        </m:e>
                      </m:d>
                    </m:oMath>
                  </m:oMathPara>
                </a14:m>
                <a:endParaRPr lang="en-US" altLang="zh-TW" b="0" i="1"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0</m:t>
                          </m:r>
                        </m:sub>
                      </m:sSub>
                      <m:r>
                        <a:rPr lang="en-US" altLang="zh-TW" b="0" i="1" smtClean="0">
                          <a:latin typeface="Cambria Math" panose="02040503050406030204" pitchFamily="18" charset="0"/>
                        </a:rPr>
                        <m:t>=(0) </m:t>
                      </m:r>
                    </m:oMath>
                  </m:oMathPara>
                </a14:m>
                <a:endParaRPr lang="en-US" altLang="zh-TW" b="0" i="1"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𝑚𝑖𝑛𝐸</m:t>
                      </m:r>
                      <m:d>
                        <m:dPr>
                          <m:begChr m:val="{"/>
                          <m:endChr m:val="}"/>
                          <m:ctrlPr>
                            <a:rPr lang="en-US" altLang="zh-TW" b="0" i="1" smtClean="0">
                              <a:latin typeface="Cambria Math" panose="02040503050406030204" pitchFamily="18" charset="0"/>
                            </a:rPr>
                          </m:ctrlPr>
                        </m:dPr>
                        <m:e>
                          <m:eqArr>
                            <m:eqArrPr>
                              <m:ctrlPr>
                                <a:rPr lang="en-US" altLang="zh-TW" b="0" i="1" smtClean="0">
                                  <a:latin typeface="Cambria Math" panose="02040503050406030204" pitchFamily="18" charset="0"/>
                                </a:rPr>
                              </m:ctrlPr>
                            </m:eqArrPr>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0,1,2,4</m:t>
                                  </m:r>
                                </m:e>
                              </m:d>
                            </m:e>
                            <m:e>
                              <m:eqArr>
                                <m:eqArrPr>
                                  <m:ctrlPr>
                                    <a:rPr lang="en-US" altLang="zh-TW" b="0" i="1" smtClean="0">
                                      <a:latin typeface="Cambria Math" panose="02040503050406030204" pitchFamily="18" charset="0"/>
                                    </a:rPr>
                                  </m:ctrlPr>
                                </m:eqArrPr>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0,1,4,5</m:t>
                                      </m:r>
                                    </m:e>
                                  </m:d>
                                </m:e>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0,1,2,5,7</m:t>
                                      </m:r>
                                    </m:e>
                                  </m:d>
                                </m:e>
                              </m:eqArr>
                            </m:e>
                          </m:eqArr>
                        </m:e>
                      </m:d>
                    </m:oMath>
                  </m:oMathPara>
                </a14:m>
                <a:endParaRPr lang="en-US" altLang="zh-TW" b="0" i="1"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=(0,1,2,4,7)</m:t>
                      </m:r>
                    </m:oMath>
                  </m:oMathPara>
                </a14:m>
                <a:endParaRPr lang="en-US" altLang="zh-TW" b="0" i="1" dirty="0" smtClean="0">
                  <a:latin typeface="Cambria Math" panose="02040503050406030204" pitchFamily="18" charset="0"/>
                </a:endParaRPr>
              </a:p>
              <a:p>
                <a:pPr marL="0" indent="0">
                  <a:buNone/>
                </a:pPr>
                <a:endParaRPr lang="en-US" altLang="zh-TW" b="0" i="1" dirty="0" smtClean="0">
                  <a:latin typeface="Cambria Math" panose="02040503050406030204" pitchFamily="18" charset="0"/>
                </a:endParaRPr>
              </a:p>
              <a:p>
                <a:pPr marL="0" indent="0">
                  <a:buNone/>
                </a:pPr>
                <a:endParaRPr lang="en-US" altLang="zh-TW" b="0" dirty="0" smtClean="0"/>
              </a:p>
              <a:p>
                <a:pPr marL="0" indent="0">
                  <a:buNone/>
                </a:pPr>
                <a:endParaRPr lang="en-US" altLang="zh-TW" b="0" dirty="0" smtClean="0"/>
              </a:p>
            </p:txBody>
          </p:sp>
        </mc:Choice>
        <mc:Fallback xmlns="">
          <p:sp>
            <p:nvSpPr>
              <p:cNvPr id="8" name="內容版面配置區 7"/>
              <p:cNvSpPr>
                <a:spLocks noGrp="1" noRot="1" noChangeAspect="1" noMove="1" noResize="1" noEditPoints="1" noAdjustHandles="1" noChangeArrowheads="1" noChangeShapeType="1" noTextEdit="1"/>
              </p:cNvSpPr>
              <p:nvPr>
                <p:ph idx="1"/>
              </p:nvPr>
            </p:nvSpPr>
            <p:spPr>
              <a:xfrm>
                <a:off x="628650" y="1385889"/>
                <a:ext cx="7886700" cy="4351338"/>
              </a:xfrm>
              <a:blipFill rotWithShape="0">
                <a:blip r:embed="rId2"/>
                <a:stretch>
                  <a:fillRect/>
                </a:stretch>
              </a:blipFill>
            </p:spPr>
            <p:txBody>
              <a:bodyPr/>
              <a:lstStyle/>
              <a:p>
                <a:r>
                  <a:rPr lang="zh-TW" altLang="en-US">
                    <a:noFill/>
                  </a:rPr>
                  <a:t> </a:t>
                </a:r>
              </a:p>
            </p:txBody>
          </p:sp>
        </mc:Fallback>
      </mc:AlternateContent>
      <p:graphicFrame>
        <p:nvGraphicFramePr>
          <p:cNvPr id="3" name="表格 2"/>
          <p:cNvGraphicFramePr>
            <a:graphicFrameLocks noGrp="1"/>
          </p:cNvGraphicFramePr>
          <p:nvPr>
            <p:extLst>
              <p:ext uri="{D42A27DB-BD31-4B8C-83A1-F6EECF244321}">
                <p14:modId xmlns:p14="http://schemas.microsoft.com/office/powerpoint/2010/main" val="997390129"/>
              </p:ext>
            </p:extLst>
          </p:nvPr>
        </p:nvGraphicFramePr>
        <p:xfrm>
          <a:off x="4565198" y="2492379"/>
          <a:ext cx="4169231" cy="3851270"/>
        </p:xfrm>
        <a:graphic>
          <a:graphicData uri="http://schemas.openxmlformats.org/drawingml/2006/table">
            <a:tbl>
              <a:tblPr firstRow="1" bandRow="1">
                <a:tableStyleId>{5940675A-B579-460E-94D1-54222C63F5DA}</a:tableStyleId>
              </a:tblPr>
              <a:tblGrid>
                <a:gridCol w="379021"/>
                <a:gridCol w="379021"/>
                <a:gridCol w="379021"/>
                <a:gridCol w="379021"/>
                <a:gridCol w="379021"/>
                <a:gridCol w="379021"/>
                <a:gridCol w="379021"/>
                <a:gridCol w="379021"/>
                <a:gridCol w="379021"/>
                <a:gridCol w="379021"/>
                <a:gridCol w="379021"/>
              </a:tblGrid>
              <a:tr h="385127">
                <a:tc>
                  <a:txBody>
                    <a:bodyPr/>
                    <a:lstStyle/>
                    <a:p>
                      <a:pPr algn="ctr"/>
                      <a:endParaRPr lang="zh-TW" altLang="en-US" dirty="0"/>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en-US" altLang="zh-TW" dirty="0" smtClean="0"/>
                        <a:t>1</a:t>
                      </a:r>
                      <a:endParaRPr lang="zh-TW" altLang="en-US" dirty="0"/>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algn="ctr"/>
                      <a:r>
                        <a:rPr lang="en-US" altLang="zh-TW" dirty="0" smtClean="0"/>
                        <a:t>2</a:t>
                      </a:r>
                      <a:endParaRPr lang="zh-TW" altLang="en-US" dirty="0"/>
                    </a:p>
                  </a:txBody>
                  <a:tcPr>
                    <a:lnB w="381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en-US" altLang="zh-TW" dirty="0" smtClean="0"/>
                        <a:t>1</a:t>
                      </a:r>
                      <a:endParaRPr lang="zh-TW" altLang="en-US" dirty="0"/>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algn="ctr"/>
                      <a:r>
                        <a:rPr lang="en-US" altLang="zh-TW" dirty="0" smtClean="0"/>
                        <a:t>2</a:t>
                      </a:r>
                      <a:endParaRPr lang="zh-TW" altLang="en-US" dirty="0"/>
                    </a:p>
                  </a:txBody>
                  <a:tcPr>
                    <a:lnB w="381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en-US" altLang="zh-TW" dirty="0" smtClean="0"/>
                        <a:t>1</a:t>
                      </a:r>
                      <a:endParaRPr lang="zh-TW" altLang="en-US" dirty="0"/>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algn="ctr"/>
                      <a:r>
                        <a:rPr lang="en-US" altLang="zh-TW" dirty="0" smtClean="0"/>
                        <a:t>2</a:t>
                      </a:r>
                      <a:endParaRPr lang="zh-TW" altLang="en-US" dirty="0"/>
                    </a:p>
                  </a:txBody>
                  <a:tcPr>
                    <a:lnB w="381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B w="38100" cap="flat" cmpd="sng" algn="ctr">
                      <a:solidFill>
                        <a:schemeClr val="tx1"/>
                      </a:solidFill>
                      <a:prstDash val="solid"/>
                      <a:round/>
                      <a:headEnd type="none" w="med" len="med"/>
                      <a:tailEnd type="none" w="med" len="med"/>
                    </a:lnB>
                  </a:tcPr>
                </a:tc>
                <a:tc>
                  <a:txBody>
                    <a:bodyPr/>
                    <a:lstStyle/>
                    <a:p>
                      <a:pPr algn="ctr"/>
                      <a:r>
                        <a:rPr lang="en-US" altLang="zh-TW" dirty="0" smtClean="0"/>
                        <a:t>4</a:t>
                      </a:r>
                      <a:endParaRPr lang="zh-TW" altLang="en-US" dirty="0"/>
                    </a:p>
                  </a:txBody>
                  <a:tcPr>
                    <a:lnB w="38100" cap="flat" cmpd="sng" algn="ctr">
                      <a:solidFill>
                        <a:schemeClr val="tx1"/>
                      </a:solidFill>
                      <a:prstDash val="solid"/>
                      <a:round/>
                      <a:headEnd type="none" w="med" len="med"/>
                      <a:tailEnd type="none" w="med" len="med"/>
                    </a:lnB>
                  </a:tcPr>
                </a:tc>
              </a:tr>
              <a:tr h="385127">
                <a:tc>
                  <a:txBody>
                    <a:bodyPr/>
                    <a:lstStyle/>
                    <a:p>
                      <a:pPr algn="ctr"/>
                      <a:r>
                        <a:rPr lang="en-US" altLang="zh-TW" dirty="0" smtClean="0"/>
                        <a:t>0</a:t>
                      </a:r>
                      <a:endParaRPr lang="zh-TW" altLang="en-US" dirty="0"/>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algn="ctr"/>
                      <a:r>
                        <a:rPr lang="en-US" altLang="zh-TW" dirty="0" smtClean="0"/>
                        <a:t>1</a:t>
                      </a:r>
                      <a:endParaRPr lang="zh-TW" altLang="en-US" dirty="0"/>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dirty="0" smtClean="0"/>
                        <a:t>2</a:t>
                      </a:r>
                      <a:endParaRPr lang="zh-TW" altLang="en-US" dirty="0"/>
                    </a:p>
                  </a:txBody>
                  <a:tcPr>
                    <a:lnT w="381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dirty="0" smtClean="0"/>
                        <a:t>4</a:t>
                      </a:r>
                      <a:endParaRPr lang="zh-TW" altLang="en-US" dirty="0"/>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dirty="0" smtClean="0"/>
                        <a:t>1</a:t>
                      </a:r>
                      <a:endParaRPr lang="zh-TW" altLang="en-US" dirty="0"/>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dirty="0" smtClean="0"/>
                        <a:t>4</a:t>
                      </a:r>
                      <a:endParaRPr lang="zh-TW" altLang="en-US" dirty="0"/>
                    </a:p>
                  </a:txBody>
                  <a:tcPr>
                    <a:lnT w="381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dirty="0" smtClean="0"/>
                        <a:t>5</a:t>
                      </a:r>
                      <a:endParaRPr lang="zh-TW" altLang="en-US" dirty="0"/>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dirty="0" smtClean="0"/>
                        <a:t>1</a:t>
                      </a:r>
                      <a:endParaRPr lang="zh-TW" altLang="en-US" dirty="0"/>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dirty="0" smtClean="0"/>
                        <a:t>2</a:t>
                      </a:r>
                      <a:endParaRPr lang="zh-TW" altLang="en-US" dirty="0"/>
                    </a:p>
                  </a:txBody>
                  <a:tcPr>
                    <a:lnT w="381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dirty="0" smtClean="0"/>
                        <a:t>5</a:t>
                      </a:r>
                      <a:endParaRPr lang="zh-TW" altLang="en-US" dirty="0"/>
                    </a:p>
                  </a:txBody>
                  <a:tcPr>
                    <a:lnT w="381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dirty="0" smtClean="0"/>
                        <a:t>7</a:t>
                      </a:r>
                      <a:endParaRPr lang="zh-TW" altLang="en-US" dirty="0"/>
                    </a:p>
                  </a:txBody>
                  <a:tcPr>
                    <a:lnT w="38100" cap="flat" cmpd="sng" algn="ctr">
                      <a:solidFill>
                        <a:schemeClr val="tx1"/>
                      </a:solidFill>
                      <a:prstDash val="solid"/>
                      <a:round/>
                      <a:headEnd type="none" w="med" len="med"/>
                      <a:tailEnd type="none" w="med" len="med"/>
                    </a:lnT>
                    <a:solidFill>
                      <a:srgbClr val="FFFF00"/>
                    </a:solidFill>
                  </a:tcPr>
                </a:tc>
              </a:tr>
              <a:tr h="385127">
                <a:tc>
                  <a:txBody>
                    <a:bodyPr/>
                    <a:lstStyle/>
                    <a:p>
                      <a:pPr algn="ctr"/>
                      <a:r>
                        <a:rPr lang="en-US" altLang="zh-TW" dirty="0" smtClean="0"/>
                        <a:t>1</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2</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smtClean="0"/>
                        <a:t>4</a:t>
                      </a:r>
                      <a:endParaRPr lang="zh-TW" altLang="en-US" dirty="0"/>
                    </a:p>
                  </a:txBody>
                  <a:tcPr/>
                </a:tc>
                <a:tc>
                  <a:txBody>
                    <a:bodyPr/>
                    <a:lstStyle/>
                    <a:p>
                      <a:pPr algn="ctr"/>
                      <a:r>
                        <a:rPr lang="en-US" altLang="zh-TW" dirty="0" smtClean="0"/>
                        <a:t>9</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3</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2</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smtClean="0"/>
                        <a:t>5</a:t>
                      </a:r>
                      <a:endParaRPr lang="zh-TW" altLang="en-US" dirty="0"/>
                    </a:p>
                  </a:txBody>
                  <a:tcPr/>
                </a:tc>
                <a:tc>
                  <a:txBody>
                    <a:bodyPr/>
                    <a:lstStyle/>
                    <a:p>
                      <a:pPr algn="ctr"/>
                      <a:r>
                        <a:rPr lang="en-US" altLang="zh-TW" dirty="0" smtClean="0"/>
                        <a:t>7</a:t>
                      </a:r>
                      <a:endParaRPr lang="zh-TW" altLang="en-US" dirty="0"/>
                    </a:p>
                  </a:txBody>
                  <a:tcPr/>
                </a:tc>
                <a:tc>
                  <a:txBody>
                    <a:bodyPr/>
                    <a:lstStyle/>
                    <a:p>
                      <a:pPr algn="ctr"/>
                      <a:endParaRPr lang="zh-TW" altLang="en-US" dirty="0"/>
                    </a:p>
                  </a:txBody>
                  <a:tcPr/>
                </a:tc>
              </a:tr>
              <a:tr h="385127">
                <a:tc>
                  <a:txBody>
                    <a:bodyPr/>
                    <a:lstStyle/>
                    <a:p>
                      <a:pPr algn="ctr"/>
                      <a:r>
                        <a:rPr lang="en-US" altLang="zh-TW" dirty="0" smtClean="0"/>
                        <a:t>2</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3</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smtClean="0"/>
                        <a:t>4</a:t>
                      </a:r>
                      <a:endParaRPr lang="zh-TW" altLang="en-US" dirty="0"/>
                    </a:p>
                  </a:txBody>
                  <a:tcPr/>
                </a:tc>
                <a:tc>
                  <a:txBody>
                    <a:bodyPr/>
                    <a:lstStyle/>
                    <a:p>
                      <a:pPr algn="ctr"/>
                      <a:r>
                        <a:rPr lang="en-US" altLang="zh-TW" dirty="0" smtClean="0"/>
                        <a:t>9</a:t>
                      </a:r>
                      <a:endParaRPr lang="zh-TW" altLang="en-US" dirty="0"/>
                    </a:p>
                  </a:txBody>
                  <a:tcPr>
                    <a:lnR w="38100" cap="flat" cmpd="sng" algn="ctr">
                      <a:solidFill>
                        <a:schemeClr val="tx1"/>
                      </a:solidFill>
                      <a:prstDash val="solid"/>
                      <a:round/>
                      <a:headEnd type="none" w="med" len="med"/>
                      <a:tailEnd type="none" w="med" len="med"/>
                    </a:lnR>
                  </a:tcPr>
                </a:tc>
                <a:tc>
                  <a:txBody>
                    <a:bodyPr/>
                    <a:lstStyle/>
                    <a:p>
                      <a:r>
                        <a:rPr lang="en-US" altLang="zh-TW" dirty="0" smtClean="0"/>
                        <a:t>3</a:t>
                      </a:r>
                      <a:endParaRPr lang="zh-TW" altLang="en-US" dirty="0"/>
                    </a:p>
                  </a:txBody>
                  <a:tcPr>
                    <a:lnL w="38100" cap="flat" cmpd="sng" algn="ctr">
                      <a:solidFill>
                        <a:schemeClr val="tx1"/>
                      </a:solidFill>
                      <a:prstDash val="solid"/>
                      <a:round/>
                      <a:headEnd type="none" w="med" len="med"/>
                      <a:tailEnd type="none" w="med" len="med"/>
                    </a:lnL>
                  </a:tcPr>
                </a:tc>
                <a:tc>
                  <a:txBody>
                    <a:bodyPr/>
                    <a:lstStyle/>
                    <a:p>
                      <a:r>
                        <a:rPr lang="en-US" altLang="zh-TW" dirty="0" smtClean="0"/>
                        <a:t>4</a:t>
                      </a:r>
                      <a:endParaRPr lang="zh-TW" altLang="en-US" dirty="0"/>
                    </a:p>
                  </a:txBody>
                  <a:tcPr/>
                </a:tc>
                <a:tc>
                  <a:txBody>
                    <a:bodyPr/>
                    <a:lstStyle/>
                    <a:p>
                      <a:pPr algn="ctr"/>
                      <a:r>
                        <a:rPr lang="en-US" altLang="zh-TW" dirty="0" smtClean="0"/>
                        <a:t>5</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3</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smtClean="0"/>
                        <a:t>5</a:t>
                      </a:r>
                      <a:endParaRPr lang="zh-TW" altLang="en-US" dirty="0"/>
                    </a:p>
                  </a:txBody>
                  <a:tcPr/>
                </a:tc>
                <a:tc>
                  <a:txBody>
                    <a:bodyPr/>
                    <a:lstStyle/>
                    <a:p>
                      <a:pPr algn="ctr"/>
                      <a:r>
                        <a:rPr lang="en-US" altLang="zh-TW" dirty="0" smtClean="0"/>
                        <a:t>7</a:t>
                      </a:r>
                      <a:endParaRPr lang="zh-TW" altLang="en-US" dirty="0"/>
                    </a:p>
                  </a:txBody>
                  <a:tcPr/>
                </a:tc>
                <a:tc>
                  <a:txBody>
                    <a:bodyPr/>
                    <a:lstStyle/>
                    <a:p>
                      <a:pPr algn="ctr"/>
                      <a:endParaRPr lang="zh-TW" altLang="en-US" dirty="0"/>
                    </a:p>
                  </a:txBody>
                  <a:tcPr/>
                </a:tc>
              </a:tr>
              <a:tr h="385127">
                <a:tc>
                  <a:txBody>
                    <a:bodyPr/>
                    <a:lstStyle/>
                    <a:p>
                      <a:pPr algn="ctr"/>
                      <a:r>
                        <a:rPr lang="en-US" altLang="zh-TW" dirty="0" smtClean="0"/>
                        <a:t>3</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4</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smtClean="0"/>
                        <a:t>7</a:t>
                      </a:r>
                      <a:endParaRPr lang="zh-TW" altLang="en-US" dirty="0"/>
                    </a:p>
                  </a:txBody>
                  <a:tcPr/>
                </a:tc>
                <a:tc>
                  <a:txBody>
                    <a:bodyPr/>
                    <a:lstStyle/>
                    <a:p>
                      <a:pPr algn="ctr"/>
                      <a:r>
                        <a:rPr lang="en-US" altLang="zh-TW" dirty="0" smtClean="0"/>
                        <a:t>9</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4</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smtClean="0"/>
                        <a:t>5</a:t>
                      </a:r>
                      <a:endParaRPr lang="zh-TW" altLang="en-US" dirty="0"/>
                    </a:p>
                  </a:txBody>
                  <a:tcPr/>
                </a:tc>
                <a:tc>
                  <a:txBody>
                    <a:bodyPr/>
                    <a:lstStyle/>
                    <a:p>
                      <a:pPr algn="ct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5</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smtClean="0"/>
                        <a:t>7</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85127">
                <a:tc>
                  <a:txBody>
                    <a:bodyPr/>
                    <a:lstStyle/>
                    <a:p>
                      <a:pPr algn="ctr"/>
                      <a:r>
                        <a:rPr lang="en-US" altLang="zh-TW" dirty="0" smtClean="0"/>
                        <a:t>4</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6</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smtClean="0"/>
                        <a:t>7</a:t>
                      </a:r>
                      <a:endParaRPr lang="zh-TW" altLang="en-US" dirty="0"/>
                    </a:p>
                  </a:txBody>
                  <a:tcPr/>
                </a:tc>
                <a:tc>
                  <a:txBody>
                    <a:bodyPr/>
                    <a:lstStyle/>
                    <a:p>
                      <a:pPr algn="ctr"/>
                      <a:r>
                        <a:rPr lang="en-US" altLang="zh-TW" dirty="0" smtClean="0"/>
                        <a:t>9</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5</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smtClean="0"/>
                        <a:t>8</a:t>
                      </a:r>
                      <a:endParaRPr lang="zh-TW" altLang="en-US" dirty="0"/>
                    </a:p>
                  </a:txBody>
                  <a:tcPr/>
                </a:tc>
                <a:tc>
                  <a:txBody>
                    <a:bodyPr/>
                    <a:lstStyle/>
                    <a:p>
                      <a:pPr algn="ct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5</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smtClean="0"/>
                        <a:t>7</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85127">
                <a:tc>
                  <a:txBody>
                    <a:bodyPr/>
                    <a:lstStyle/>
                    <a:p>
                      <a:pPr algn="ctr"/>
                      <a:r>
                        <a:rPr lang="en-US" altLang="zh-TW" dirty="0" smtClean="0"/>
                        <a:t>5</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6</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smtClean="0"/>
                        <a:t>7</a:t>
                      </a:r>
                      <a:endParaRPr lang="zh-TW" altLang="en-US" dirty="0"/>
                    </a:p>
                  </a:txBody>
                  <a:tcPr/>
                </a:tc>
                <a:tc>
                  <a:txBody>
                    <a:bodyPr/>
                    <a:lstStyle/>
                    <a:p>
                      <a:pPr algn="ctr"/>
                      <a:r>
                        <a:rPr lang="en-US" altLang="zh-TW" dirty="0" smtClean="0"/>
                        <a:t>9</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6</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smtClean="0"/>
                        <a:t>8</a:t>
                      </a:r>
                      <a:endParaRPr lang="zh-TW" altLang="en-US" dirty="0"/>
                    </a:p>
                  </a:txBody>
                  <a:tcPr/>
                </a:tc>
                <a:tc>
                  <a:txBody>
                    <a:bodyPr/>
                    <a:lstStyle/>
                    <a:p>
                      <a:pPr algn="ct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6</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smtClean="0"/>
                        <a:t>7</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85127">
                <a:tc>
                  <a:txBody>
                    <a:bodyPr/>
                    <a:lstStyle/>
                    <a:p>
                      <a:pPr algn="ctr"/>
                      <a:r>
                        <a:rPr lang="en-US" altLang="zh-TW" dirty="0" smtClean="0"/>
                        <a:t>6</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7</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smtClean="0"/>
                        <a:t>9</a:t>
                      </a:r>
                      <a:endParaRPr lang="zh-TW" altLang="en-US" dirty="0"/>
                    </a:p>
                  </a:txBody>
                  <a:tcPr/>
                </a:tc>
                <a:tc>
                  <a:txBody>
                    <a:bodyPr/>
                    <a:lstStyle/>
                    <a:p>
                      <a:pPr algn="ct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8</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smtClean="0"/>
                        <a:t> </a:t>
                      </a:r>
                      <a:endParaRPr lang="zh-TW" altLang="en-US" dirty="0"/>
                    </a:p>
                  </a:txBody>
                  <a:tcPr/>
                </a:tc>
                <a:tc>
                  <a:txBody>
                    <a:bodyPr/>
                    <a:lstStyle/>
                    <a:p>
                      <a:pPr algn="ctr"/>
                      <a:r>
                        <a:rPr lang="en-US" altLang="zh-TW" dirty="0" smtClean="0"/>
                        <a:t> </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7</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85127">
                <a:tc>
                  <a:txBody>
                    <a:bodyPr/>
                    <a:lstStyle/>
                    <a:p>
                      <a:pPr algn="ctr"/>
                      <a:r>
                        <a:rPr lang="en-US" altLang="zh-TW" dirty="0" smtClean="0"/>
                        <a:t>7</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7</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smtClean="0"/>
                        <a:t>9</a:t>
                      </a:r>
                      <a:endParaRPr lang="zh-TW" altLang="en-US" dirty="0"/>
                    </a:p>
                  </a:txBody>
                  <a:tcPr/>
                </a:tc>
                <a:tc>
                  <a:txBody>
                    <a:bodyPr/>
                    <a:lstStyle/>
                    <a:p>
                      <a:pPr algn="ct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8</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endParaRPr lang="zh-TW" altLang="en-US" dirty="0"/>
                    </a:p>
                  </a:txBody>
                  <a:tcPr/>
                </a:tc>
                <a:tc>
                  <a:txBody>
                    <a:bodyPr/>
                    <a:lstStyle/>
                    <a:p>
                      <a:pPr algn="ct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8</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85127">
                <a:tc>
                  <a:txBody>
                    <a:bodyPr/>
                    <a:lstStyle/>
                    <a:p>
                      <a:pPr algn="ctr"/>
                      <a:r>
                        <a:rPr lang="en-US" altLang="zh-TW" dirty="0" smtClean="0"/>
                        <a:t>8</a:t>
                      </a: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8</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r>
                        <a:rPr lang="en-US" altLang="zh-TW" dirty="0" smtClean="0"/>
                        <a:t>9</a:t>
                      </a:r>
                      <a:endParaRPr lang="zh-TW" altLang="en-US" dirty="0"/>
                    </a:p>
                  </a:txBody>
                  <a:tcPr/>
                </a:tc>
                <a:tc>
                  <a:txBody>
                    <a:bodyPr/>
                    <a:lstStyle/>
                    <a:p>
                      <a:pPr algn="ct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r>
                        <a:rPr lang="en-US" altLang="zh-TW" dirty="0" smtClean="0"/>
                        <a:t>9</a:t>
                      </a: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endParaRPr lang="zh-TW" altLang="en-US" dirty="0"/>
                    </a:p>
                  </a:txBody>
                  <a:tcPr/>
                </a:tc>
                <a:tc>
                  <a:txBody>
                    <a:bodyPr/>
                    <a:lstStyle/>
                    <a:p>
                      <a:pPr algn="ctr"/>
                      <a:endParaRPr lang="zh-TW" altLang="en-US" dirty="0"/>
                    </a:p>
                  </a:txBody>
                  <a:tcPr>
                    <a:lnR w="38100" cap="flat" cmpd="sng" algn="ctr">
                      <a:solidFill>
                        <a:schemeClr val="tx1"/>
                      </a:solidFill>
                      <a:prstDash val="solid"/>
                      <a:round/>
                      <a:headEnd type="none" w="med" len="med"/>
                      <a:tailEnd type="none" w="med" len="med"/>
                    </a:lnR>
                  </a:tcPr>
                </a:tc>
                <a:tc>
                  <a:txBody>
                    <a:bodyPr/>
                    <a:lstStyle/>
                    <a:p>
                      <a:pPr algn="ctr"/>
                      <a:endParaRPr lang="zh-TW" altLang="en-US" dirty="0"/>
                    </a:p>
                  </a:txBody>
                  <a:tcPr>
                    <a:lnL w="38100" cap="flat" cmpd="sng" algn="ctr">
                      <a:solidFill>
                        <a:schemeClr val="tx1"/>
                      </a:solidFill>
                      <a:prstDash val="solid"/>
                      <a:round/>
                      <a:headEnd type="none" w="med" len="med"/>
                      <a:tailEnd type="none" w="med" len="med"/>
                    </a:ln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bl>
          </a:graphicData>
        </a:graphic>
      </p:graphicFrame>
    </p:spTree>
    <p:extLst>
      <p:ext uri="{BB962C8B-B14F-4D97-AF65-F5344CB8AC3E}">
        <p14:creationId xmlns:p14="http://schemas.microsoft.com/office/powerpoint/2010/main" val="32219906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cs typeface="Times New Roman" panose="02020603050405020304" pitchFamily="18" charset="0"/>
              </a:rPr>
              <a:t>Method </a:t>
            </a:r>
            <a:r>
              <a:rPr lang="en-US" altLang="zh-TW" sz="4000" dirty="0" smtClean="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p:txBody>
      </p:sp>
      <p:pic>
        <p:nvPicPr>
          <p:cNvPr id="4" name="圖片 3"/>
          <p:cNvPicPr>
            <a:picLocks noChangeAspect="1"/>
          </p:cNvPicPr>
          <p:nvPr/>
        </p:nvPicPr>
        <p:blipFill>
          <a:blip r:embed="rId2"/>
          <a:stretch>
            <a:fillRect/>
          </a:stretch>
        </p:blipFill>
        <p:spPr>
          <a:xfrm>
            <a:off x="1467174" y="2747964"/>
            <a:ext cx="6209652" cy="3929061"/>
          </a:xfrm>
          <a:prstGeom prst="rect">
            <a:avLst/>
          </a:prstGeom>
        </p:spPr>
      </p:pic>
      <p:sp>
        <p:nvSpPr>
          <p:cNvPr id="5" name="文字方塊 4"/>
          <p:cNvSpPr txBox="1"/>
          <p:nvPr/>
        </p:nvSpPr>
        <p:spPr>
          <a:xfrm>
            <a:off x="2033912" y="3001932"/>
            <a:ext cx="1478290" cy="400110"/>
          </a:xfrm>
          <a:prstGeom prst="rect">
            <a:avLst/>
          </a:prstGeom>
          <a:noFill/>
        </p:spPr>
        <p:txBody>
          <a:bodyPr wrap="none" rtlCol="0">
            <a:spAutoFit/>
          </a:bodyPr>
          <a:lstStyle/>
          <a:p>
            <a:r>
              <a:rPr lang="en-US" altLang="zh-TW" sz="2000" b="1" dirty="0" smtClean="0">
                <a:solidFill>
                  <a:srgbClr val="FF0000"/>
                </a:solidFill>
              </a:rPr>
              <a:t>(0, 1, 2, 3, 4)</a:t>
            </a:r>
            <a:endParaRPr lang="zh-TW" altLang="en-US" sz="2000" b="1" dirty="0">
              <a:solidFill>
                <a:srgbClr val="FF0000"/>
              </a:solidFill>
            </a:endParaRPr>
          </a:p>
        </p:txBody>
      </p:sp>
      <p:sp>
        <p:nvSpPr>
          <p:cNvPr id="7" name="文字方塊 6"/>
          <p:cNvSpPr txBox="1"/>
          <p:nvPr/>
        </p:nvSpPr>
        <p:spPr>
          <a:xfrm>
            <a:off x="3093710" y="5973732"/>
            <a:ext cx="1600118" cy="400110"/>
          </a:xfrm>
          <a:prstGeom prst="rect">
            <a:avLst/>
          </a:prstGeom>
          <a:noFill/>
        </p:spPr>
        <p:txBody>
          <a:bodyPr wrap="none" rtlCol="0">
            <a:spAutoFit/>
          </a:bodyPr>
          <a:lstStyle/>
          <a:p>
            <a:r>
              <a:rPr lang="en-US" altLang="zh-TW" sz="2000" b="1" dirty="0" smtClean="0">
                <a:solidFill>
                  <a:srgbClr val="FF0000"/>
                </a:solidFill>
              </a:rPr>
              <a:t>(0 1 2 3 4 5 6)</a:t>
            </a:r>
            <a:endParaRPr lang="zh-TW" altLang="en-US" sz="2000" b="1" dirty="0">
              <a:solidFill>
                <a:srgbClr val="FF0000"/>
              </a:solidFill>
            </a:endParaRPr>
          </a:p>
        </p:txBody>
      </p:sp>
      <mc:AlternateContent xmlns:mc="http://schemas.openxmlformats.org/markup-compatibility/2006" xmlns:a14="http://schemas.microsoft.com/office/drawing/2010/main">
        <mc:Choice Requires="a14">
          <p:sp>
            <p:nvSpPr>
              <p:cNvPr id="8" name="內容版面配置區 7"/>
              <p:cNvSpPr>
                <a:spLocks noGrp="1"/>
              </p:cNvSpPr>
              <p:nvPr>
                <p:ph idx="1"/>
              </p:nvPr>
            </p:nvSpPr>
            <p:spPr>
              <a:xfrm>
                <a:off x="628650" y="1690689"/>
                <a:ext cx="7886700" cy="4351338"/>
              </a:xfrm>
            </p:spPr>
            <p:txBody>
              <a:bodyPr/>
              <a:lstStyle/>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𝑇</m:t>
                      </m:r>
                      <m:r>
                        <a:rPr lang="en-US" altLang="zh-TW" b="0" i="1" smtClean="0">
                          <a:latin typeface="Cambria Math" panose="02040503050406030204" pitchFamily="18" charset="0"/>
                        </a:rPr>
                        <m:t>=</m:t>
                      </m:r>
                      <m:r>
                        <a:rPr lang="en-US" altLang="zh-TW" b="0" i="1" smtClean="0">
                          <a:latin typeface="Cambria Math" panose="02040503050406030204" pitchFamily="18" charset="0"/>
                        </a:rPr>
                        <m:t>𝑎𝑔𝑎𝑐𝑡𝑎𝑔𝑡𝑐</m:t>
                      </m:r>
                    </m:oMath>
                  </m:oMathPara>
                </a14:m>
                <a:endParaRPr lang="en-US" altLang="zh-TW"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𝑆</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𝑎𝑔𝑐</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𝑎𝑐𝑡</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𝑎𝑎𝑡𝑔</m:t>
                      </m:r>
                      <m:r>
                        <a:rPr lang="en-US" altLang="zh-TW" b="0" i="1" smtClean="0">
                          <a:latin typeface="Cambria Math" panose="02040503050406030204" pitchFamily="18" charset="0"/>
                        </a:rPr>
                        <m:t>}</m:t>
                      </m:r>
                    </m:oMath>
                  </m:oMathPara>
                </a14:m>
                <a:endParaRPr lang="zh-TW" altLang="en-US" dirty="0"/>
              </a:p>
            </p:txBody>
          </p:sp>
        </mc:Choice>
        <mc:Fallback xmlns="">
          <p:sp>
            <p:nvSpPr>
              <p:cNvPr id="8" name="內容版面配置區 7"/>
              <p:cNvSpPr>
                <a:spLocks noGrp="1" noRot="1" noChangeAspect="1" noMove="1" noResize="1" noEditPoints="1" noAdjustHandles="1" noChangeArrowheads="1" noChangeShapeType="1" noTextEdit="1"/>
              </p:cNvSpPr>
              <p:nvPr>
                <p:ph idx="1"/>
              </p:nvPr>
            </p:nvSpPr>
            <p:spPr>
              <a:xfrm>
                <a:off x="628650" y="1690689"/>
                <a:ext cx="7886700" cy="4351338"/>
              </a:xfrm>
              <a:blipFill rotWithShape="0">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872403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cs typeface="Times New Roman" panose="02020603050405020304" pitchFamily="18" charset="0"/>
              </a:rPr>
              <a:t>Method </a:t>
            </a:r>
            <a:r>
              <a:rPr lang="en-US" altLang="zh-TW" sz="4000" dirty="0" smtClean="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p:txBody>
      </p:sp>
      <p:pic>
        <p:nvPicPr>
          <p:cNvPr id="6" name="圖片 5"/>
          <p:cNvPicPr>
            <a:picLocks noChangeAspect="1"/>
          </p:cNvPicPr>
          <p:nvPr/>
        </p:nvPicPr>
        <p:blipFill>
          <a:blip r:embed="rId2"/>
          <a:stretch>
            <a:fillRect/>
          </a:stretch>
        </p:blipFill>
        <p:spPr>
          <a:xfrm>
            <a:off x="2095498" y="2028825"/>
            <a:ext cx="6505576" cy="2897014"/>
          </a:xfrm>
          <a:prstGeom prst="rect">
            <a:avLst/>
          </a:prstGeom>
        </p:spPr>
      </p:pic>
      <mc:AlternateContent xmlns:mc="http://schemas.openxmlformats.org/markup-compatibility/2006" xmlns:a14="http://schemas.microsoft.com/office/drawing/2010/main">
        <mc:Choice Requires="a14">
          <p:sp>
            <p:nvSpPr>
              <p:cNvPr id="9" name="文字方塊 8"/>
              <p:cNvSpPr txBox="1"/>
              <p:nvPr/>
            </p:nvSpPr>
            <p:spPr>
              <a:xfrm>
                <a:off x="106092" y="3349452"/>
                <a:ext cx="1755096"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𝑂</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𝑛𝑚</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oMath>
                  </m:oMathPara>
                </a14:m>
                <a:endParaRPr lang="zh-TW" altLang="en-US" sz="2800" dirty="0"/>
              </a:p>
            </p:txBody>
          </p:sp>
        </mc:Choice>
        <mc:Fallback xmlns="">
          <p:sp>
            <p:nvSpPr>
              <p:cNvPr id="9" name="文字方塊 8"/>
              <p:cNvSpPr txBox="1">
                <a:spLocks noRot="1" noChangeAspect="1" noMove="1" noResize="1" noEditPoints="1" noAdjustHandles="1" noChangeArrowheads="1" noChangeShapeType="1" noTextEdit="1"/>
              </p:cNvSpPr>
              <p:nvPr/>
            </p:nvSpPr>
            <p:spPr>
              <a:xfrm>
                <a:off x="106092" y="3349452"/>
                <a:ext cx="1755096" cy="523220"/>
              </a:xfrm>
              <a:prstGeom prst="rect">
                <a:avLst/>
              </a:prstGeom>
              <a:blipFill rotWithShape="0">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p:cNvSpPr txBox="1"/>
              <p:nvPr/>
            </p:nvSpPr>
            <p:spPr>
              <a:xfrm>
                <a:off x="137232" y="3940002"/>
                <a:ext cx="165686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𝑂</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𝑛𝑘</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oMath>
                  </m:oMathPara>
                </a14:m>
                <a:endParaRPr lang="zh-TW" altLang="en-US" sz="2800"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137232" y="3940002"/>
                <a:ext cx="1656864" cy="523220"/>
              </a:xfrm>
              <a:prstGeom prst="rect">
                <a:avLst/>
              </a:prstGeom>
              <a:blipFill rotWithShape="0">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p:cNvSpPr txBox="1"/>
              <p:nvPr/>
            </p:nvSpPr>
            <p:spPr>
              <a:xfrm>
                <a:off x="1382280" y="5531435"/>
                <a:ext cx="554421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𝑇𝑖𝑚𝑒</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𝑐𝑜𝑚𝑝𝑙𝑒𝑥𝑖𝑡𝑦</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𝑂</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𝑛</m:t>
                      </m:r>
                      <m:r>
                        <a:rPr lang="en-US" altLang="zh-TW" sz="2800" b="0" i="1" smtClean="0">
                          <a:latin typeface="Cambria Math" panose="02040503050406030204" pitchFamily="18" charset="0"/>
                        </a:rPr>
                        <m:t>(</m:t>
                      </m:r>
                      <m:r>
                        <a:rPr lang="en-US" altLang="zh-TW" sz="2800" i="1">
                          <a:latin typeface="Cambria Math" panose="02040503050406030204" pitchFamily="18" charset="0"/>
                        </a:rPr>
                        <m:t>𝑚</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𝑘</m:t>
                      </m:r>
                      <m:r>
                        <a:rPr lang="en-US" altLang="zh-TW" sz="2800" b="0" i="1" smtClean="0">
                          <a:latin typeface="Cambria Math" panose="02040503050406030204" pitchFamily="18" charset="0"/>
                        </a:rPr>
                        <m:t>)</m:t>
                      </m:r>
                      <m:d>
                        <m:dPr>
                          <m:begChr m:val="|"/>
                          <m:endChr m:val="|"/>
                          <m:ctrlPr>
                            <a:rPr lang="en-US" altLang="zh-TW" sz="2800" i="1">
                              <a:latin typeface="Cambria Math" panose="02040503050406030204" pitchFamily="18" charset="0"/>
                            </a:rPr>
                          </m:ctrlPr>
                        </m:dPr>
                        <m:e>
                          <m:r>
                            <a:rPr lang="en-US" altLang="zh-TW" sz="2800" i="1">
                              <a:latin typeface="Cambria Math" panose="02040503050406030204" pitchFamily="18" charset="0"/>
                            </a:rPr>
                            <m:t>𝑆</m:t>
                          </m:r>
                        </m:e>
                      </m:d>
                      <m:r>
                        <a:rPr lang="en-US" altLang="zh-TW" sz="2800" b="0" i="1" smtClean="0">
                          <a:latin typeface="Cambria Math" panose="02040503050406030204" pitchFamily="18" charset="0"/>
                        </a:rPr>
                        <m:t>)</m:t>
                      </m:r>
                    </m:oMath>
                  </m:oMathPara>
                </a14:m>
                <a:endParaRPr lang="zh-TW" altLang="en-US" sz="2800" dirty="0"/>
              </a:p>
            </p:txBody>
          </p:sp>
        </mc:Choice>
        <mc:Fallback xmlns="">
          <p:sp>
            <p:nvSpPr>
              <p:cNvPr id="12" name="文字方塊 11"/>
              <p:cNvSpPr txBox="1">
                <a:spLocks noRot="1" noChangeAspect="1" noMove="1" noResize="1" noEditPoints="1" noAdjustHandles="1" noChangeArrowheads="1" noChangeShapeType="1" noTextEdit="1"/>
              </p:cNvSpPr>
              <p:nvPr/>
            </p:nvSpPr>
            <p:spPr>
              <a:xfrm>
                <a:off x="1382280" y="5531435"/>
                <a:ext cx="5544210" cy="523220"/>
              </a:xfrm>
              <a:prstGeom prst="rect">
                <a:avLst/>
              </a:prstGeom>
              <a:blipFill rotWithShape="0">
                <a:blip r:embed="rId5"/>
                <a:stretch>
                  <a:fillRect/>
                </a:stretch>
              </a:blipFill>
            </p:spPr>
            <p:txBody>
              <a:bodyPr/>
              <a:lstStyle/>
              <a:p>
                <a:r>
                  <a:rPr lang="zh-TW" altLang="en-US">
                    <a:noFill/>
                  </a:rPr>
                  <a:t> </a:t>
                </a:r>
              </a:p>
            </p:txBody>
          </p:sp>
        </mc:Fallback>
      </mc:AlternateContent>
      <p:cxnSp>
        <p:nvCxnSpPr>
          <p:cNvPr id="14" name="直線單箭頭接點 13"/>
          <p:cNvCxnSpPr/>
          <p:nvPr/>
        </p:nvCxnSpPr>
        <p:spPr>
          <a:xfrm>
            <a:off x="1794096" y="3600450"/>
            <a:ext cx="295275" cy="1333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a:stCxn id="10" idx="3"/>
          </p:cNvCxnSpPr>
          <p:nvPr/>
        </p:nvCxnSpPr>
        <p:spPr>
          <a:xfrm flipV="1">
            <a:off x="1794096" y="4049344"/>
            <a:ext cx="331885" cy="15226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81911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Obtain the sequence of LCS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fontScale="85000" lnSpcReduction="10000"/>
              </a:bodyPr>
              <a:lstStyle/>
              <a:p>
                <a:pPr marL="0" indent="0">
                  <a:buNone/>
                </a:pPr>
                <a:endParaRPr lang="en-US" altLang="zh-TW" b="0" i="1" dirty="0" smtClean="0">
                  <a:latin typeface="Cambria Math" panose="02040503050406030204" pitchFamily="18" charset="0"/>
                </a:endParaRPr>
              </a:p>
              <a:p>
                <a:pPr marL="0" indent="0">
                  <a:buNone/>
                </a:pPr>
                <a:endParaRPr lang="en-US" altLang="zh-TW"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𝑖𝑓</m:t>
                      </m:r>
                      <m:r>
                        <a:rPr lang="en-US" altLang="zh-TW" b="0" i="1" smtClean="0">
                          <a:latin typeface="Cambria Math" panose="02040503050406030204" pitchFamily="18" charset="0"/>
                        </a:rPr>
                        <m:t> </m:t>
                      </m:r>
                      <m:r>
                        <a:rPr lang="en-US" altLang="zh-TW" b="0" i="1" smtClean="0">
                          <a:latin typeface="Cambria Math" panose="02040503050406030204" pitchFamily="18" charset="0"/>
                        </a:rPr>
                        <m:t>𝑡h𝑒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𝑘</m:t>
                      </m:r>
                      <m:r>
                        <a:rPr lang="en-US" altLang="zh-TW" b="0" i="1" smtClean="0">
                          <a:latin typeface="Cambria Math" panose="02040503050406030204" pitchFamily="18" charset="0"/>
                        </a:rPr>
                        <m:t>−</m:t>
                      </m:r>
                      <m:r>
                        <a:rPr lang="en-US" altLang="zh-TW" b="0" i="1" smtClean="0">
                          <a:latin typeface="Cambria Math" panose="02040503050406030204" pitchFamily="18" charset="0"/>
                        </a:rPr>
                        <m:t>𝑚𝑜𝑠𝑎𝑖𝑐</m:t>
                      </m:r>
                      <m:r>
                        <a:rPr lang="en-US" altLang="zh-TW" b="0" i="1" smtClean="0">
                          <a:latin typeface="Cambria Math" panose="02040503050406030204" pitchFamily="18" charset="0"/>
                        </a:rPr>
                        <m:t> </m:t>
                      </m:r>
                      <m:r>
                        <a:rPr lang="en-US" altLang="zh-TW" b="0" i="1" smtClean="0">
                          <a:latin typeface="Cambria Math" panose="02040503050406030204" pitchFamily="18" charset="0"/>
                        </a:rPr>
                        <m:t>𝑠𝑒𝑞𝑢𝑒𝑛𝑐𝑒</m:t>
                      </m:r>
                      <m:r>
                        <a:rPr lang="en-US" altLang="zh-TW" b="0" i="1" smtClean="0">
                          <a:latin typeface="Cambria Math" panose="02040503050406030204" pitchFamily="18" charset="0"/>
                        </a:rPr>
                        <m:t> </m:t>
                      </m:r>
                      <m:r>
                        <a:rPr lang="en-US" altLang="zh-TW" b="0" i="1" smtClean="0">
                          <a:latin typeface="Cambria Math" panose="02040503050406030204" pitchFamily="18" charset="0"/>
                        </a:rPr>
                        <m:t>𝐶</m:t>
                      </m:r>
                      <m:r>
                        <a:rPr lang="en-US" altLang="zh-TW" b="0" i="1" smtClean="0">
                          <a:latin typeface="Cambria Math" panose="02040503050406030204" pitchFamily="18" charset="0"/>
                        </a:rPr>
                        <m:t> </m:t>
                      </m:r>
                      <m:r>
                        <a:rPr lang="en-US" altLang="zh-TW" b="0" i="1" smtClean="0">
                          <a:latin typeface="Cambria Math" panose="02040503050406030204" pitchFamily="18" charset="0"/>
                        </a:rPr>
                        <m:t>𝑎𝑛𝑑</m:t>
                      </m:r>
                    </m:oMath>
                  </m:oMathPara>
                </a14:m>
                <a:endParaRPr lang="en-US" altLang="zh-TW"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𝑖𝑡𝑠</m:t>
                      </m:r>
                      <m:r>
                        <a:rPr lang="en-US" altLang="zh-TW" b="0" i="1" smtClean="0">
                          <a:latin typeface="Cambria Math" panose="02040503050406030204" pitchFamily="18" charset="0"/>
                        </a:rPr>
                        <m:t> </m:t>
                      </m:r>
                      <m:r>
                        <a:rPr lang="en-US" altLang="zh-TW" b="0" i="1" smtClean="0">
                          <a:latin typeface="Cambria Math" panose="02040503050406030204" pitchFamily="18" charset="0"/>
                        </a:rPr>
                        <m:t>𝑐𝑜𝑟𝑟𝑒𝑠𝑝𝑜𝑛𝑑𝑖𝑛𝑔</m:t>
                      </m:r>
                      <m:r>
                        <a:rPr lang="en-US" altLang="zh-TW" b="0" i="1" smtClean="0">
                          <a:latin typeface="Cambria Math" panose="02040503050406030204" pitchFamily="18" charset="0"/>
                        </a:rPr>
                        <m:t> </m:t>
                      </m:r>
                      <m:r>
                        <a:rPr lang="en-US" altLang="zh-TW" b="0" i="1" smtClean="0">
                          <a:latin typeface="Cambria Math" panose="02040503050406030204" pitchFamily="18" charset="0"/>
                        </a:rPr>
                        <m:t>𝑏𝑟𝑒𝑎𝑘</m:t>
                      </m:r>
                      <m:r>
                        <a:rPr lang="en-US" altLang="zh-TW" b="0" i="1" smtClean="0">
                          <a:latin typeface="Cambria Math" panose="02040503050406030204" pitchFamily="18" charset="0"/>
                        </a:rPr>
                        <m:t> </m:t>
                      </m:r>
                      <m:r>
                        <a:rPr lang="en-US" altLang="zh-TW" b="0" i="1" smtClean="0">
                          <a:latin typeface="Cambria Math" panose="02040503050406030204" pitchFamily="18" charset="0"/>
                        </a:rPr>
                        <m:t>𝑝𝑜𝑖𝑛𝑡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𝑣𝑒𝑐𝑡𝑜𝑟</m:t>
                      </m:r>
                      <m:r>
                        <a:rPr lang="en-US" altLang="zh-TW" b="0" i="1" smtClean="0">
                          <a:latin typeface="Cambria Math" panose="02040503050406030204" pitchFamily="18" charset="0"/>
                        </a:rPr>
                        <m:t> </m:t>
                      </m:r>
                      <m:r>
                        <a:rPr lang="en-US" altLang="zh-TW" b="0" i="1" smtClean="0">
                          <a:latin typeface="Cambria Math" panose="02040503050406030204" pitchFamily="18" charset="0"/>
                        </a:rPr>
                        <m:t>𝑟</m:t>
                      </m:r>
                      <m:r>
                        <a:rPr lang="en-US" altLang="zh-TW" b="0" i="1" smtClean="0">
                          <a:latin typeface="Cambria Math" panose="02040503050406030204" pitchFamily="18" charset="0"/>
                        </a:rPr>
                        <m:t> </m:t>
                      </m:r>
                      <m:r>
                        <a:rPr lang="en-US" altLang="zh-TW" b="0" i="1" smtClean="0">
                          <a:latin typeface="Cambria Math" panose="02040503050406030204" pitchFamily="18" charset="0"/>
                        </a:rPr>
                        <m:t>𝑜𝑓</m:t>
                      </m:r>
                      <m:r>
                        <a:rPr lang="en-US" altLang="zh-TW" b="0" i="1" smtClean="0">
                          <a:latin typeface="Cambria Math" panose="02040503050406030204" pitchFamily="18" charset="0"/>
                        </a:rPr>
                        <m:t> </m:t>
                      </m:r>
                      <m:r>
                        <a:rPr lang="en-US" altLang="zh-TW" b="0" i="1" smtClean="0">
                          <a:latin typeface="Cambria Math" panose="02040503050406030204" pitchFamily="18" charset="0"/>
                        </a:rPr>
                        <m:t>𝑇</m:t>
                      </m:r>
                      <m:r>
                        <a:rPr lang="en-US" altLang="zh-TW" b="0" i="1" smtClean="0">
                          <a:latin typeface="Cambria Math" panose="02040503050406030204" pitchFamily="18" charset="0"/>
                        </a:rPr>
                        <m:t> </m:t>
                      </m:r>
                      <m:r>
                        <a:rPr lang="en-US" altLang="zh-TW" b="0" i="1" smtClean="0">
                          <a:latin typeface="Cambria Math" panose="02040503050406030204" pitchFamily="18" charset="0"/>
                        </a:rPr>
                        <m:t>𝑖𝑠</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𝑔𝑖𝑣𝑒𝑛</m:t>
                      </m:r>
                      <m:r>
                        <a:rPr lang="en-US" altLang="zh-TW" b="0" i="1" smtClean="0">
                          <a:latin typeface="Cambria Math" panose="02040503050406030204" pitchFamily="18" charset="0"/>
                        </a:rPr>
                        <m:t>,</m:t>
                      </m:r>
                    </m:oMath>
                  </m:oMathPara>
                </a14:m>
                <a:endParaRPr lang="en-US" altLang="zh-TW"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𝑡h𝑒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𝑠𝑒𝑞𝑢𝑒𝑛𝑐𝑒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𝑜𝑓</m:t>
                      </m:r>
                      <m:r>
                        <a:rPr lang="en-US" altLang="zh-TW" b="0" i="1" smtClean="0">
                          <a:latin typeface="Cambria Math" panose="02040503050406030204" pitchFamily="18" charset="0"/>
                        </a:rPr>
                        <m:t> </m:t>
                      </m:r>
                      <m:r>
                        <a:rPr lang="en-US" altLang="zh-TW" b="0" i="1" smtClean="0">
                          <a:latin typeface="Cambria Math" panose="02040503050406030204" pitchFamily="18" charset="0"/>
                        </a:rPr>
                        <m:t>𝐿𝐶𝑆</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𝑇</m:t>
                          </m:r>
                          <m:r>
                            <a:rPr lang="en-US" altLang="zh-TW" b="0" i="1" smtClean="0">
                              <a:latin typeface="Cambria Math" panose="02040503050406030204" pitchFamily="18" charset="0"/>
                            </a:rPr>
                            <m:t>,</m:t>
                          </m:r>
                          <m:r>
                            <a:rPr lang="en-US" altLang="zh-TW" b="0" i="1" smtClean="0">
                              <a:latin typeface="Cambria Math" panose="02040503050406030204" pitchFamily="18" charset="0"/>
                            </a:rPr>
                            <m:t>𝐶</m:t>
                          </m:r>
                        </m:e>
                      </m:d>
                      <m:r>
                        <a:rPr lang="en-US" altLang="zh-TW" b="0" i="1" smtClean="0">
                          <a:latin typeface="Cambria Math" panose="02040503050406030204" pitchFamily="18" charset="0"/>
                        </a:rPr>
                        <m:t>𝑐𝑎𝑛</m:t>
                      </m:r>
                      <m:r>
                        <a:rPr lang="en-US" altLang="zh-TW" b="0" i="1" smtClean="0">
                          <a:latin typeface="Cambria Math" panose="02040503050406030204" pitchFamily="18" charset="0"/>
                        </a:rPr>
                        <m:t> </m:t>
                      </m:r>
                      <m:r>
                        <a:rPr lang="en-US" altLang="zh-TW" b="0" i="1" smtClean="0">
                          <a:latin typeface="Cambria Math" panose="02040503050406030204" pitchFamily="18" charset="0"/>
                        </a:rPr>
                        <m:t>𝑏𝑒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𝑜𝑏𝑡𝑎𝑖𝑛𝑒𝑑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𝑖𝑛</m:t>
                      </m:r>
                      <m:r>
                        <a:rPr lang="en-US" altLang="zh-TW" b="0" i="1" smtClean="0">
                          <a:latin typeface="Cambria Math" panose="02040503050406030204" pitchFamily="18" charset="0"/>
                        </a:rPr>
                        <m:t> </m:t>
                      </m:r>
                      <m:r>
                        <a:rPr lang="en-US" altLang="zh-TW" b="0" i="1" smtClean="0">
                          <a:latin typeface="Cambria Math" panose="02040503050406030204" pitchFamily="18" charset="0"/>
                        </a:rPr>
                        <m:t>𝑂</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𝑚𝑛</m:t>
                          </m:r>
                        </m:e>
                      </m:d>
                      <m:r>
                        <a:rPr lang="en-US" altLang="zh-TW" b="0" i="1" smtClean="0">
                          <a:latin typeface="Cambria Math" panose="02040503050406030204" pitchFamily="18" charset="0"/>
                        </a:rPr>
                        <m:t>𝑡𝑖𝑚𝑒</m:t>
                      </m:r>
                      <m:r>
                        <a:rPr lang="en-US" altLang="zh-TW" b="0" i="1" smtClean="0">
                          <a:latin typeface="Cambria Math" panose="02040503050406030204" pitchFamily="18" charset="0"/>
                        </a:rPr>
                        <m:t>.</m:t>
                      </m:r>
                    </m:oMath>
                  </m:oMathPara>
                </a14:m>
                <a:endParaRPr lang="en-US" altLang="zh-TW" b="0" i="1" dirty="0" smtClean="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7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698148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1825625"/>
                <a:ext cx="7886700" cy="4575176"/>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𝑖𝑓</m:t>
                      </m:r>
                      <m:r>
                        <a:rPr lang="en-US" altLang="zh-TW" b="0" i="1" smtClean="0">
                          <a:solidFill>
                            <a:schemeClr val="tx1"/>
                          </a:solidFill>
                          <a:latin typeface="Cambria Math" panose="02040503050406030204" pitchFamily="18" charset="0"/>
                          <a:cs typeface="Times New Roman" panose="02020603050405020304" pitchFamily="18" charset="0"/>
                        </a:rPr>
                        <m:t> </m:t>
                      </m:r>
                      <m:r>
                        <a:rPr lang="en-US" altLang="zh-TW" b="0" i="1" smtClean="0">
                          <a:solidFill>
                            <a:schemeClr val="tx1"/>
                          </a:solidFill>
                          <a:latin typeface="Cambria Math" panose="02040503050406030204" pitchFamily="18" charset="0"/>
                          <a:cs typeface="Times New Roman" panose="02020603050405020304" pitchFamily="18" charset="0"/>
                        </a:rPr>
                        <m:t>𝐿𝐶𝑆</m:t>
                      </m:r>
                      <m:d>
                        <m:dPr>
                          <m:ctrlPr>
                            <a:rPr lang="en-US" altLang="zh-TW" b="0" i="1" smtClean="0">
                              <a:solidFill>
                                <a:schemeClr val="tx1"/>
                              </a:solidFill>
                              <a:latin typeface="Cambria Math" panose="02040503050406030204" pitchFamily="18" charset="0"/>
                              <a:cs typeface="Times New Roman" panose="02020603050405020304" pitchFamily="18" charset="0"/>
                            </a:rPr>
                          </m:ctrlPr>
                        </m:dPr>
                        <m:e>
                          <m:r>
                            <a:rPr lang="en-US" altLang="zh-TW" b="0" i="1" smtClean="0">
                              <a:solidFill>
                                <a:schemeClr val="tx1"/>
                              </a:solidFill>
                              <a:latin typeface="Cambria Math" panose="02040503050406030204" pitchFamily="18" charset="0"/>
                              <a:cs typeface="Times New Roman" panose="02020603050405020304" pitchFamily="18" charset="0"/>
                            </a:rPr>
                            <m:t>𝑇</m:t>
                          </m:r>
                          <m:d>
                            <m:dPr>
                              <m:begChr m:val="["/>
                              <m:endChr m:val="]"/>
                              <m:ctrlPr>
                                <a:rPr lang="en-US" altLang="zh-TW" b="0" i="1" smtClean="0">
                                  <a:solidFill>
                                    <a:schemeClr val="tx1"/>
                                  </a:solidFill>
                                  <a:latin typeface="Cambria Math" panose="02040503050406030204" pitchFamily="18" charset="0"/>
                                  <a:cs typeface="Times New Roman" panose="02020603050405020304" pitchFamily="18" charset="0"/>
                                </a:rPr>
                              </m:ctrlPr>
                            </m:dPr>
                            <m:e>
                              <m:r>
                                <a:rPr lang="en-US" altLang="zh-TW" b="0" i="1" smtClean="0">
                                  <a:solidFill>
                                    <a:schemeClr val="tx1"/>
                                  </a:solidFill>
                                  <a:latin typeface="Cambria Math" panose="02040503050406030204" pitchFamily="18" charset="0"/>
                                  <a:cs typeface="Times New Roman" panose="02020603050405020304" pitchFamily="18" charset="0"/>
                                </a:rPr>
                                <m:t>1,</m:t>
                              </m:r>
                              <m:r>
                                <a:rPr lang="en-US" altLang="zh-TW" b="0" i="1" smtClean="0">
                                  <a:solidFill>
                                    <a:schemeClr val="tx1"/>
                                  </a:solidFill>
                                  <a:latin typeface="Cambria Math" panose="02040503050406030204" pitchFamily="18" charset="0"/>
                                  <a:cs typeface="Times New Roman" panose="02020603050405020304" pitchFamily="18" charset="0"/>
                                </a:rPr>
                                <m:t>𝑗</m:t>
                              </m:r>
                            </m:e>
                          </m:d>
                          <m:r>
                            <a:rPr lang="en-US" altLang="zh-TW" b="0" i="1" smtClean="0">
                              <a:solidFill>
                                <a:schemeClr val="tx1"/>
                              </a:solidFill>
                              <a:latin typeface="Cambria Math" panose="02040503050406030204" pitchFamily="18" charset="0"/>
                              <a:cs typeface="Times New Roman" panose="02020603050405020304" pitchFamily="18" charset="0"/>
                            </a:rPr>
                            <m:t>,</m:t>
                          </m:r>
                          <m:sSub>
                            <m:sSubPr>
                              <m:ctrlPr>
                                <a:rPr lang="en-US" altLang="zh-TW" b="0" i="1" smtClean="0">
                                  <a:solidFill>
                                    <a:schemeClr val="tx1"/>
                                  </a:solidFill>
                                  <a:latin typeface="Cambria Math" panose="02040503050406030204" pitchFamily="18" charset="0"/>
                                  <a:cs typeface="Times New Roman" panose="02020603050405020304" pitchFamily="18" charset="0"/>
                                </a:rPr>
                              </m:ctrlPr>
                            </m:sSubPr>
                            <m:e>
                              <m:r>
                                <a:rPr lang="en-US" altLang="zh-TW" b="0" i="1" smtClean="0">
                                  <a:solidFill>
                                    <a:schemeClr val="tx1"/>
                                  </a:solidFill>
                                  <a:latin typeface="Cambria Math" panose="02040503050406030204" pitchFamily="18" charset="0"/>
                                  <a:cs typeface="Times New Roman" panose="02020603050405020304" pitchFamily="18" charset="0"/>
                                </a:rPr>
                                <m:t>𝐶</m:t>
                              </m:r>
                            </m:e>
                            <m:sub>
                              <m:r>
                                <a:rPr lang="en-US" altLang="zh-TW" b="0" i="1" smtClean="0">
                                  <a:solidFill>
                                    <a:schemeClr val="tx1"/>
                                  </a:solidFill>
                                  <a:latin typeface="Cambria Math" panose="02040503050406030204" pitchFamily="18" charset="0"/>
                                  <a:cs typeface="Times New Roman" panose="02020603050405020304" pitchFamily="18" charset="0"/>
                                </a:rPr>
                                <m:t>1</m:t>
                              </m:r>
                            </m:sub>
                          </m:sSub>
                        </m:e>
                      </m:d>
                      <m:r>
                        <a:rPr lang="en-US" altLang="zh-TW" b="0" i="1" smtClean="0">
                          <a:solidFill>
                            <a:schemeClr val="tx1"/>
                          </a:solidFill>
                          <a:latin typeface="Cambria Math" panose="02040503050406030204" pitchFamily="18" charset="0"/>
                          <a:cs typeface="Times New Roman" panose="02020603050405020304" pitchFamily="18" charset="0"/>
                        </a:rPr>
                        <m:t> </m:t>
                      </m:r>
                      <m:r>
                        <a:rPr lang="en-US" altLang="zh-TW" b="0" i="1" smtClean="0">
                          <a:solidFill>
                            <a:schemeClr val="tx1"/>
                          </a:solidFill>
                          <a:latin typeface="Cambria Math" panose="02040503050406030204" pitchFamily="18" charset="0"/>
                          <a:cs typeface="Times New Roman" panose="02020603050405020304" pitchFamily="18" charset="0"/>
                        </a:rPr>
                        <m:t>𝑎𝑛𝑑</m:t>
                      </m:r>
                      <m:r>
                        <a:rPr lang="en-US" altLang="zh-TW" b="0" i="1" smtClean="0">
                          <a:solidFill>
                            <a:schemeClr val="tx1"/>
                          </a:solidFill>
                          <a:latin typeface="Cambria Math" panose="02040503050406030204" pitchFamily="18" charset="0"/>
                          <a:cs typeface="Times New Roman" panose="02020603050405020304" pitchFamily="18" charset="0"/>
                        </a:rPr>
                        <m:t> </m:t>
                      </m:r>
                      <m:sSup>
                        <m:sSupPr>
                          <m:ctrlPr>
                            <a:rPr lang="en-US" altLang="zh-TW" b="0" i="1" smtClean="0">
                              <a:solidFill>
                                <a:schemeClr val="tx1"/>
                              </a:solidFill>
                              <a:latin typeface="Cambria Math" panose="02040503050406030204" pitchFamily="18" charset="0"/>
                              <a:cs typeface="Times New Roman" panose="02020603050405020304" pitchFamily="18" charset="0"/>
                            </a:rPr>
                          </m:ctrlPr>
                        </m:sSupPr>
                        <m:e>
                          <m:r>
                            <a:rPr lang="en-US" altLang="zh-TW" b="0" i="1" smtClean="0">
                              <a:solidFill>
                                <a:schemeClr val="tx1"/>
                              </a:solidFill>
                              <a:latin typeface="Cambria Math" panose="02040503050406030204" pitchFamily="18" charset="0"/>
                              <a:cs typeface="Times New Roman" panose="02020603050405020304" pitchFamily="18" charset="0"/>
                            </a:rPr>
                            <m:t>𝑆</m:t>
                          </m:r>
                        </m:e>
                        <m:sup>
                          <m:r>
                            <a:rPr lang="en-US" altLang="zh-TW" b="0" i="1" smtClean="0">
                              <a:solidFill>
                                <a:schemeClr val="tx1"/>
                              </a:solidFill>
                              <a:latin typeface="Cambria Math" panose="02040503050406030204" pitchFamily="18" charset="0"/>
                              <a:cs typeface="Times New Roman" panose="02020603050405020304" pitchFamily="18" charset="0"/>
                            </a:rPr>
                            <m:t>𝑡</m:t>
                          </m:r>
                        </m:sup>
                      </m:sSup>
                      <m:d>
                        <m:dPr>
                          <m:ctrlPr>
                            <a:rPr lang="en-US" altLang="zh-TW" b="0" i="1" smtClean="0">
                              <a:solidFill>
                                <a:schemeClr val="tx1"/>
                              </a:solidFill>
                              <a:latin typeface="Cambria Math" panose="02040503050406030204" pitchFamily="18" charset="0"/>
                              <a:cs typeface="Times New Roman" panose="02020603050405020304" pitchFamily="18" charset="0"/>
                            </a:rPr>
                          </m:ctrlPr>
                        </m:dPr>
                        <m:e>
                          <m:r>
                            <a:rPr lang="en-US" altLang="zh-TW" b="0" i="1" smtClean="0">
                              <a:solidFill>
                                <a:schemeClr val="tx1"/>
                              </a:solidFill>
                              <a:latin typeface="Cambria Math" panose="02040503050406030204" pitchFamily="18" charset="0"/>
                              <a:cs typeface="Times New Roman" panose="02020603050405020304" pitchFamily="18" charset="0"/>
                            </a:rPr>
                            <m:t>𝑇</m:t>
                          </m:r>
                          <m:r>
                            <a:rPr lang="en-US" altLang="zh-TW" b="0" i="1" smtClean="0">
                              <a:solidFill>
                                <a:schemeClr val="tx1"/>
                              </a:solidFill>
                              <a:latin typeface="Cambria Math" panose="02040503050406030204" pitchFamily="18" charset="0"/>
                              <a:cs typeface="Times New Roman" panose="02020603050405020304" pitchFamily="18" charset="0"/>
                            </a:rPr>
                            <m:t>,</m:t>
                          </m:r>
                          <m:sSub>
                            <m:sSubPr>
                              <m:ctrlPr>
                                <a:rPr lang="en-US" altLang="zh-TW" b="0" i="1" smtClean="0">
                                  <a:solidFill>
                                    <a:schemeClr val="tx1"/>
                                  </a:solidFill>
                                  <a:latin typeface="Cambria Math" panose="02040503050406030204" pitchFamily="18" charset="0"/>
                                  <a:cs typeface="Times New Roman" panose="02020603050405020304" pitchFamily="18" charset="0"/>
                                </a:rPr>
                              </m:ctrlPr>
                            </m:sSubPr>
                            <m:e>
                              <m:r>
                                <a:rPr lang="en-US" altLang="zh-TW" b="0" i="1" smtClean="0">
                                  <a:solidFill>
                                    <a:schemeClr val="tx1"/>
                                  </a:solidFill>
                                  <a:latin typeface="Cambria Math" panose="02040503050406030204" pitchFamily="18" charset="0"/>
                                  <a:cs typeface="Times New Roman" panose="02020603050405020304" pitchFamily="18" charset="0"/>
                                </a:rPr>
                                <m:t>𝐶</m:t>
                              </m:r>
                            </m:e>
                            <m:sub>
                              <m:r>
                                <a:rPr lang="en-US" altLang="zh-TW" b="0" i="1" smtClean="0">
                                  <a:solidFill>
                                    <a:schemeClr val="tx1"/>
                                  </a:solidFill>
                                  <a:latin typeface="Cambria Math" panose="02040503050406030204" pitchFamily="18" charset="0"/>
                                  <a:cs typeface="Times New Roman" panose="02020603050405020304" pitchFamily="18" charset="0"/>
                                </a:rPr>
                                <m:t>2</m:t>
                              </m:r>
                            </m:sub>
                          </m:sSub>
                        </m:e>
                      </m:d>
                      <m:r>
                        <a:rPr lang="en-US" altLang="zh-TW" b="0" i="1" smtClean="0">
                          <a:solidFill>
                            <a:schemeClr val="tx1"/>
                          </a:solidFill>
                          <a:latin typeface="Cambria Math" panose="02040503050406030204" pitchFamily="18" charset="0"/>
                          <a:cs typeface="Times New Roman" panose="02020603050405020304" pitchFamily="18" charset="0"/>
                        </a:rPr>
                        <m:t> </m:t>
                      </m:r>
                      <m:r>
                        <a:rPr lang="en-US" altLang="zh-TW" b="0" i="1" smtClean="0">
                          <a:solidFill>
                            <a:schemeClr val="tx1"/>
                          </a:solidFill>
                          <a:latin typeface="Cambria Math" panose="02040503050406030204" pitchFamily="18" charset="0"/>
                          <a:cs typeface="Times New Roman" panose="02020603050405020304" pitchFamily="18" charset="0"/>
                        </a:rPr>
                        <m:t>𝑎𝑟𝑒</m:t>
                      </m:r>
                      <m:r>
                        <a:rPr lang="en-US" altLang="zh-TW" b="0" i="1" smtClean="0">
                          <a:solidFill>
                            <a:schemeClr val="tx1"/>
                          </a:solidFill>
                          <a:latin typeface="Cambria Math" panose="02040503050406030204" pitchFamily="18" charset="0"/>
                          <a:cs typeface="Times New Roman" panose="02020603050405020304" pitchFamily="18" charset="0"/>
                        </a:rPr>
                        <m:t> </m:t>
                      </m:r>
                      <m:r>
                        <a:rPr lang="en-US" altLang="zh-TW" b="0" i="1" smtClean="0">
                          <a:solidFill>
                            <a:schemeClr val="tx1"/>
                          </a:solidFill>
                          <a:latin typeface="Cambria Math" panose="02040503050406030204" pitchFamily="18" charset="0"/>
                          <a:cs typeface="Times New Roman" panose="02020603050405020304" pitchFamily="18" charset="0"/>
                        </a:rPr>
                        <m:t>𝑔𝑖𝑣𝑒𝑛</m:t>
                      </m:r>
                      <m:r>
                        <a:rPr lang="en-US" altLang="zh-TW" b="0" i="1" smtClean="0">
                          <a:solidFill>
                            <a:schemeClr val="tx1"/>
                          </a:solidFill>
                          <a:latin typeface="Cambria Math" panose="02040503050406030204" pitchFamily="18" charset="0"/>
                          <a:cs typeface="Times New Roman" panose="02020603050405020304" pitchFamily="18" charset="0"/>
                        </a:rPr>
                        <m:t>,</m:t>
                      </m:r>
                    </m:oMath>
                  </m:oMathPara>
                </a14:m>
                <a:endParaRPr lang="en-US" altLang="zh-TW" b="0" i="1" dirty="0" smtClean="0">
                  <a:solidFill>
                    <a:schemeClr val="tx1"/>
                  </a:solidFill>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𝐿𝐶𝑆</m:t>
                      </m:r>
                      <m:d>
                        <m:dPr>
                          <m:ctrlPr>
                            <a:rPr lang="en-US" altLang="zh-TW" b="0" i="1" smtClean="0">
                              <a:solidFill>
                                <a:schemeClr val="tx1"/>
                              </a:solidFill>
                              <a:latin typeface="Cambria Math" panose="02040503050406030204" pitchFamily="18" charset="0"/>
                              <a:cs typeface="Times New Roman" panose="02020603050405020304" pitchFamily="18" charset="0"/>
                            </a:rPr>
                          </m:ctrlPr>
                        </m:dPr>
                        <m:e>
                          <m:r>
                            <a:rPr lang="en-US" altLang="zh-TW" b="0" i="1" smtClean="0">
                              <a:solidFill>
                                <a:schemeClr val="tx1"/>
                              </a:solidFill>
                              <a:latin typeface="Cambria Math" panose="02040503050406030204" pitchFamily="18" charset="0"/>
                              <a:cs typeface="Times New Roman" panose="02020603050405020304" pitchFamily="18" charset="0"/>
                            </a:rPr>
                            <m:t>𝑇</m:t>
                          </m:r>
                          <m:d>
                            <m:dPr>
                              <m:begChr m:val="["/>
                              <m:endChr m:val="]"/>
                              <m:ctrlPr>
                                <a:rPr lang="en-US" altLang="zh-TW" b="0" i="1" smtClean="0">
                                  <a:solidFill>
                                    <a:schemeClr val="tx1"/>
                                  </a:solidFill>
                                  <a:latin typeface="Cambria Math" panose="02040503050406030204" pitchFamily="18" charset="0"/>
                                  <a:cs typeface="Times New Roman" panose="02020603050405020304" pitchFamily="18" charset="0"/>
                                </a:rPr>
                              </m:ctrlPr>
                            </m:dPr>
                            <m:e>
                              <m:r>
                                <a:rPr lang="en-US" altLang="zh-TW" b="0" i="1" smtClean="0">
                                  <a:solidFill>
                                    <a:schemeClr val="tx1"/>
                                  </a:solidFill>
                                  <a:latin typeface="Cambria Math" panose="02040503050406030204" pitchFamily="18" charset="0"/>
                                  <a:cs typeface="Times New Roman" panose="02020603050405020304" pitchFamily="18" charset="0"/>
                                </a:rPr>
                                <m:t>1,</m:t>
                              </m:r>
                              <m:r>
                                <a:rPr lang="en-US" altLang="zh-TW" b="0" i="1" smtClean="0">
                                  <a:solidFill>
                                    <a:schemeClr val="tx1"/>
                                  </a:solidFill>
                                  <a:latin typeface="Cambria Math" panose="02040503050406030204" pitchFamily="18" charset="0"/>
                                  <a:cs typeface="Times New Roman" panose="02020603050405020304" pitchFamily="18" charset="0"/>
                                </a:rPr>
                                <m:t>𝑗</m:t>
                              </m:r>
                            </m:e>
                          </m:d>
                          <m:r>
                            <a:rPr lang="en-US" altLang="zh-TW" b="0" i="1" smtClean="0">
                              <a:solidFill>
                                <a:schemeClr val="tx1"/>
                              </a:solidFill>
                              <a:latin typeface="Cambria Math" panose="02040503050406030204" pitchFamily="18" charset="0"/>
                              <a:cs typeface="Times New Roman" panose="02020603050405020304" pitchFamily="18" charset="0"/>
                            </a:rPr>
                            <m:t>,</m:t>
                          </m:r>
                          <m:sSub>
                            <m:sSubPr>
                              <m:ctrlPr>
                                <a:rPr lang="en-US" altLang="zh-TW" b="0" i="1" smtClean="0">
                                  <a:solidFill>
                                    <a:schemeClr val="tx1"/>
                                  </a:solidFill>
                                  <a:latin typeface="Cambria Math" panose="02040503050406030204" pitchFamily="18" charset="0"/>
                                  <a:cs typeface="Times New Roman" panose="02020603050405020304" pitchFamily="18" charset="0"/>
                                </a:rPr>
                              </m:ctrlPr>
                            </m:sSubPr>
                            <m:e>
                              <m:r>
                                <a:rPr lang="en-US" altLang="zh-TW" b="0" i="1" smtClean="0">
                                  <a:solidFill>
                                    <a:schemeClr val="tx1"/>
                                  </a:solidFill>
                                  <a:latin typeface="Cambria Math" panose="02040503050406030204" pitchFamily="18" charset="0"/>
                                  <a:cs typeface="Times New Roman" panose="02020603050405020304" pitchFamily="18" charset="0"/>
                                </a:rPr>
                                <m:t>𝐶</m:t>
                              </m:r>
                            </m:e>
                            <m:sub>
                              <m:r>
                                <a:rPr lang="en-US" altLang="zh-TW" b="0" i="1" smtClean="0">
                                  <a:solidFill>
                                    <a:schemeClr val="tx1"/>
                                  </a:solidFill>
                                  <a:latin typeface="Cambria Math" panose="02040503050406030204" pitchFamily="18" charset="0"/>
                                  <a:cs typeface="Times New Roman" panose="02020603050405020304" pitchFamily="18" charset="0"/>
                                </a:rPr>
                                <m:t>1</m:t>
                              </m:r>
                            </m:sub>
                          </m:sSub>
                          <m:sSub>
                            <m:sSubPr>
                              <m:ctrlPr>
                                <a:rPr lang="en-US" altLang="zh-TW" b="0" i="1" smtClean="0">
                                  <a:solidFill>
                                    <a:schemeClr val="tx1"/>
                                  </a:solidFill>
                                  <a:latin typeface="Cambria Math" panose="02040503050406030204" pitchFamily="18" charset="0"/>
                                  <a:cs typeface="Times New Roman" panose="02020603050405020304" pitchFamily="18" charset="0"/>
                                </a:rPr>
                              </m:ctrlPr>
                            </m:sSubPr>
                            <m:e>
                              <m:r>
                                <a:rPr lang="en-US" altLang="zh-TW" b="0" i="1" smtClean="0">
                                  <a:solidFill>
                                    <a:schemeClr val="tx1"/>
                                  </a:solidFill>
                                  <a:latin typeface="Cambria Math" panose="02040503050406030204" pitchFamily="18" charset="0"/>
                                  <a:cs typeface="Times New Roman" panose="02020603050405020304" pitchFamily="18" charset="0"/>
                                </a:rPr>
                                <m:t>𝐶</m:t>
                              </m:r>
                            </m:e>
                            <m:sub>
                              <m:r>
                                <a:rPr lang="en-US" altLang="zh-TW" b="0" i="1" smtClean="0">
                                  <a:solidFill>
                                    <a:schemeClr val="tx1"/>
                                  </a:solidFill>
                                  <a:latin typeface="Cambria Math" panose="02040503050406030204" pitchFamily="18" charset="0"/>
                                  <a:cs typeface="Times New Roman" panose="02020603050405020304" pitchFamily="18" charset="0"/>
                                </a:rPr>
                                <m:t>2</m:t>
                              </m:r>
                            </m:sub>
                          </m:sSub>
                        </m:e>
                      </m:d>
                      <m:r>
                        <a:rPr lang="en-US" altLang="zh-TW" b="0" i="1" smtClean="0">
                          <a:solidFill>
                            <a:schemeClr val="tx1"/>
                          </a:solidFill>
                          <a:latin typeface="Cambria Math" panose="02040503050406030204" pitchFamily="18" charset="0"/>
                          <a:cs typeface="Times New Roman" panose="02020603050405020304" pitchFamily="18" charset="0"/>
                        </a:rPr>
                        <m:t> </m:t>
                      </m:r>
                      <m:r>
                        <a:rPr lang="en-US" altLang="zh-TW" b="0" i="1" smtClean="0">
                          <a:solidFill>
                            <a:schemeClr val="tx1"/>
                          </a:solidFill>
                          <a:latin typeface="Cambria Math" panose="02040503050406030204" pitchFamily="18" charset="0"/>
                          <a:cs typeface="Times New Roman" panose="02020603050405020304" pitchFamily="18" charset="0"/>
                        </a:rPr>
                        <m:t>𝑐𝑎𝑛</m:t>
                      </m:r>
                      <m:r>
                        <a:rPr lang="en-US" altLang="zh-TW" b="0" i="1" smtClean="0">
                          <a:solidFill>
                            <a:schemeClr val="tx1"/>
                          </a:solidFill>
                          <a:latin typeface="Cambria Math" panose="02040503050406030204" pitchFamily="18" charset="0"/>
                          <a:cs typeface="Times New Roman" panose="02020603050405020304" pitchFamily="18" charset="0"/>
                        </a:rPr>
                        <m:t> </m:t>
                      </m:r>
                      <m:r>
                        <a:rPr lang="en-US" altLang="zh-TW" b="0" i="1" smtClean="0">
                          <a:solidFill>
                            <a:schemeClr val="tx1"/>
                          </a:solidFill>
                          <a:latin typeface="Cambria Math" panose="02040503050406030204" pitchFamily="18" charset="0"/>
                          <a:cs typeface="Times New Roman" panose="02020603050405020304" pitchFamily="18" charset="0"/>
                        </a:rPr>
                        <m:t>𝑏𝑒</m:t>
                      </m:r>
                      <m:r>
                        <a:rPr lang="en-US" altLang="zh-TW" b="0" i="1" smtClean="0">
                          <a:solidFill>
                            <a:schemeClr val="tx1"/>
                          </a:solidFill>
                          <a:latin typeface="Cambria Math" panose="02040503050406030204" pitchFamily="18" charset="0"/>
                          <a:cs typeface="Times New Roman" panose="02020603050405020304" pitchFamily="18" charset="0"/>
                        </a:rPr>
                        <m:t> </m:t>
                      </m:r>
                      <m:r>
                        <a:rPr lang="en-US" altLang="zh-TW" b="0" i="1" smtClean="0">
                          <a:solidFill>
                            <a:schemeClr val="tx1"/>
                          </a:solidFill>
                          <a:latin typeface="Cambria Math" panose="02040503050406030204" pitchFamily="18" charset="0"/>
                          <a:cs typeface="Times New Roman" panose="02020603050405020304" pitchFamily="18" charset="0"/>
                        </a:rPr>
                        <m:t>𝑜𝑏𝑡𝑎𝑖𝑛𝑒𝑑</m:t>
                      </m:r>
                      <m:r>
                        <a:rPr lang="en-US" altLang="zh-TW" b="0" i="1" smtClean="0">
                          <a:solidFill>
                            <a:schemeClr val="tx1"/>
                          </a:solidFill>
                          <a:latin typeface="Cambria Math" panose="02040503050406030204" pitchFamily="18" charset="0"/>
                          <a:cs typeface="Times New Roman" panose="02020603050405020304" pitchFamily="18" charset="0"/>
                        </a:rPr>
                        <m:t> </m:t>
                      </m:r>
                      <m:r>
                        <a:rPr lang="en-US" altLang="zh-TW" b="0" i="1" smtClean="0">
                          <a:solidFill>
                            <a:schemeClr val="tx1"/>
                          </a:solidFill>
                          <a:latin typeface="Cambria Math" panose="02040503050406030204" pitchFamily="18" charset="0"/>
                          <a:cs typeface="Times New Roman" panose="02020603050405020304" pitchFamily="18" charset="0"/>
                        </a:rPr>
                        <m:t>𝑏𝑦</m:t>
                      </m:r>
                      <m:r>
                        <a:rPr lang="en-US" altLang="zh-TW" b="0" i="1" smtClean="0">
                          <a:solidFill>
                            <a:schemeClr val="tx1"/>
                          </a:solidFill>
                          <a:latin typeface="Cambria Math" panose="02040503050406030204" pitchFamily="18" charset="0"/>
                          <a:cs typeface="Times New Roman" panose="02020603050405020304" pitchFamily="18" charset="0"/>
                        </a:rPr>
                        <m:t> </m:t>
                      </m:r>
                      <m:r>
                        <a:rPr lang="en-US" altLang="zh-TW" b="0" i="1" smtClean="0">
                          <a:solidFill>
                            <a:schemeClr val="tx1"/>
                          </a:solidFill>
                          <a:latin typeface="Cambria Math" panose="02040503050406030204" pitchFamily="18" charset="0"/>
                          <a:cs typeface="Times New Roman" panose="02020603050405020304" pitchFamily="18" charset="0"/>
                        </a:rPr>
                        <m:t>𝑚𝑒𝑟𝑔𝑖𝑛𝑔</m:t>
                      </m:r>
                    </m:oMath>
                  </m:oMathPara>
                </a14:m>
                <a:endParaRPr lang="en-US" altLang="zh-TW" b="0" i="1" dirty="0" smtClean="0">
                  <a:solidFill>
                    <a:schemeClr val="tx1"/>
                  </a:solidFill>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cs typeface="Times New Roman" panose="02020603050405020304" pitchFamily="18" charset="0"/>
                        </a:rPr>
                        <m:t>𝐿𝐶𝑆</m:t>
                      </m:r>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𝑇</m:t>
                          </m:r>
                          <m:d>
                            <m:dPr>
                              <m:begChr m:val="["/>
                              <m:endChr m:val="]"/>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1,</m:t>
                              </m:r>
                              <m:r>
                                <a:rPr lang="en-US" altLang="zh-TW" i="1">
                                  <a:latin typeface="Cambria Math" panose="02040503050406030204" pitchFamily="18" charset="0"/>
                                  <a:cs typeface="Times New Roman" panose="02020603050405020304" pitchFamily="18" charset="0"/>
                                </a:rPr>
                                <m:t>𝑗</m:t>
                              </m:r>
                            </m:e>
                          </m:d>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𝐶</m:t>
                              </m:r>
                            </m:e>
                            <m:sub>
                              <m:r>
                                <a:rPr lang="en-US" altLang="zh-TW" i="1">
                                  <a:latin typeface="Cambria Math" panose="02040503050406030204" pitchFamily="18" charset="0"/>
                                  <a:cs typeface="Times New Roman" panose="02020603050405020304" pitchFamily="18" charset="0"/>
                                </a:rPr>
                                <m:t>1</m:t>
                              </m:r>
                            </m:sub>
                          </m:sSub>
                        </m:e>
                      </m:d>
                      <m:r>
                        <a:rPr lang="en-US" altLang="zh-TW" i="1">
                          <a:latin typeface="Cambria Math" panose="02040503050406030204" pitchFamily="18" charset="0"/>
                          <a:cs typeface="Times New Roman" panose="02020603050405020304" pitchFamily="18" charset="0"/>
                        </a:rPr>
                        <m:t> </m:t>
                      </m:r>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𝑆</m:t>
                          </m:r>
                        </m:e>
                        <m:sup>
                          <m:r>
                            <a:rPr lang="en-US" altLang="zh-TW" i="1">
                              <a:latin typeface="Cambria Math" panose="02040503050406030204" pitchFamily="18" charset="0"/>
                              <a:cs typeface="Times New Roman" panose="02020603050405020304" pitchFamily="18" charset="0"/>
                            </a:rPr>
                            <m:t>𝑡</m:t>
                          </m:r>
                        </m:sup>
                      </m:s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𝑇</m:t>
                          </m:r>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𝐶</m:t>
                              </m:r>
                            </m:e>
                            <m:sub>
                              <m:r>
                                <a:rPr lang="en-US" altLang="zh-TW" i="1">
                                  <a:latin typeface="Cambria Math" panose="02040503050406030204" pitchFamily="18" charset="0"/>
                                  <a:cs typeface="Times New Roman" panose="02020603050405020304" pitchFamily="18" charset="0"/>
                                </a:rPr>
                                <m:t>2</m:t>
                              </m:r>
                            </m:sub>
                          </m:sSub>
                        </m:e>
                      </m:d>
                      <m:r>
                        <a:rPr lang="en-US" altLang="zh-TW" b="0" i="1">
                          <a:latin typeface="Cambria Math" panose="02040503050406030204" pitchFamily="18" charset="0"/>
                          <a:cs typeface="Times New Roman" panose="02020603050405020304" pitchFamily="18" charset="0"/>
                        </a:rPr>
                        <m:t> </m:t>
                      </m:r>
                    </m:oMath>
                  </m:oMathPara>
                </a14:m>
                <a:endParaRPr lang="en-US" altLang="zh-TW" b="0" i="1" dirty="0" smtClean="0">
                  <a:latin typeface="Cambria Math" panose="02040503050406030204" pitchFamily="18" charset="0"/>
                  <a:cs typeface="Times New Roman" panose="02020603050405020304" pitchFamily="18" charset="0"/>
                </a:endParaRPr>
              </a:p>
              <a:p>
                <a:pPr marL="0" indent="0">
                  <a:buNone/>
                </a:pPr>
                <a:endParaRPr lang="en-US" altLang="zh-TW" i="1" dirty="0" smtClean="0">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𝐿</m:t>
                          </m:r>
                        </m:e>
                        <m:sup>
                          <m:r>
                            <a:rPr lang="en-US" altLang="zh-TW" b="0" i="1" smtClean="0">
                              <a:latin typeface="Cambria Math" panose="02040503050406030204" pitchFamily="18" charset="0"/>
                              <a:cs typeface="Times New Roman" panose="02020603050405020304" pitchFamily="18" charset="0"/>
                            </a:rPr>
                            <m:t>′</m:t>
                          </m:r>
                        </m:sup>
                      </m:sSup>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𝑙</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𝑗</m:t>
                          </m:r>
                        </m:e>
                      </m:d>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𝑑𝑒𝑛𝑜𝑡𝑒</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𝑡h𝑒</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𝑏𝑒𝑠𝑡</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𝑜𝑓</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𝐿𝐶𝑆</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𝑇</m:t>
                      </m:r>
                      <m:d>
                        <m:dPr>
                          <m:begChr m:val="["/>
                          <m:endChr m:val="]"/>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1,</m:t>
                          </m:r>
                          <m:r>
                            <a:rPr lang="en-US" altLang="zh-TW" b="0" i="1" smtClean="0">
                              <a:latin typeface="Cambria Math" panose="02040503050406030204" pitchFamily="18" charset="0"/>
                              <a:cs typeface="Times New Roman" panose="02020603050405020304" pitchFamily="18" charset="0"/>
                            </a:rPr>
                            <m:t>𝑗</m:t>
                          </m:r>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𝐶</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1,</m:t>
                          </m:r>
                          <m:r>
                            <a:rPr lang="en-US" altLang="zh-TW" b="0" i="1" smtClean="0">
                              <a:latin typeface="Cambria Math" panose="02040503050406030204" pitchFamily="18" charset="0"/>
                              <a:cs typeface="Times New Roman" panose="02020603050405020304" pitchFamily="18" charset="0"/>
                            </a:rPr>
                            <m:t>𝑙</m:t>
                          </m:r>
                        </m:e>
                      </m:d>
                      <m:r>
                        <a:rPr lang="en-US" altLang="zh-TW" b="0" i="1" smtClean="0">
                          <a:latin typeface="Cambria Math" panose="02040503050406030204" pitchFamily="18" charset="0"/>
                          <a:cs typeface="Times New Roman" panose="02020603050405020304" pitchFamily="18" charset="0"/>
                        </a:rPr>
                        <m:t>)</m:t>
                      </m:r>
                    </m:oMath>
                  </m:oMathPara>
                </a14:m>
                <a:endParaRPr lang="en-US" altLang="zh-TW" i="1" dirty="0">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cs typeface="Times New Roman" panose="02020603050405020304" pitchFamily="18" charset="0"/>
                        </a:rPr>
                        <m:t>𝑑𝑒𝑓𝑖𝑛𝑒</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𝑎</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𝑣𝑒𝑐𝑡𝑜𝑟</m:t>
                      </m:r>
                      <m:r>
                        <a:rPr lang="en-US" altLang="zh-TW" b="0" i="1" smtClean="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𝑉</m:t>
                          </m:r>
                        </m:e>
                        <m:sub>
                          <m:r>
                            <a:rPr lang="en-US" altLang="zh-TW" b="0" i="1" smtClean="0">
                              <a:latin typeface="Cambria Math" panose="02040503050406030204" pitchFamily="18" charset="0"/>
                              <a:cs typeface="Times New Roman" panose="02020603050405020304" pitchFamily="18" charset="0"/>
                            </a:rPr>
                            <m:t>𝑙</m:t>
                          </m:r>
                        </m:sub>
                      </m:sSub>
                      <m:r>
                        <a:rPr lang="en-US" altLang="zh-TW" b="0" i="1" smtClean="0">
                          <a:latin typeface="Cambria Math" panose="02040503050406030204" pitchFamily="18" charset="0"/>
                          <a:cs typeface="Times New Roman" panose="02020603050405020304" pitchFamily="18" charset="0"/>
                        </a:rPr>
                        <m:t>=</m:t>
                      </m:r>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𝑉</m:t>
                              </m:r>
                            </m:e>
                            <m:sub>
                              <m:r>
                                <a:rPr lang="en-US" altLang="zh-TW" b="0" i="1" smtClean="0">
                                  <a:latin typeface="Cambria Math" panose="02040503050406030204" pitchFamily="18" charset="0"/>
                                  <a:cs typeface="Times New Roman" panose="02020603050405020304" pitchFamily="18" charset="0"/>
                                </a:rPr>
                                <m:t>𝑙</m:t>
                              </m:r>
                              <m:r>
                                <a:rPr lang="en-US" altLang="zh-TW" b="0" i="1" smtClean="0">
                                  <a:latin typeface="Cambria Math" panose="02040503050406030204" pitchFamily="18" charset="0"/>
                                  <a:cs typeface="Times New Roman" panose="02020603050405020304" pitchFamily="18" charset="0"/>
                                </a:rPr>
                                <m:t>0</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𝑉</m:t>
                              </m:r>
                            </m:e>
                            <m:sub>
                              <m:r>
                                <a:rPr lang="en-US" altLang="zh-TW" b="0" i="1" smtClean="0">
                                  <a:latin typeface="Cambria Math" panose="02040503050406030204" pitchFamily="18" charset="0"/>
                                  <a:cs typeface="Times New Roman" panose="02020603050405020304" pitchFamily="18" charset="0"/>
                                </a:rPr>
                                <m:t>𝑙</m:t>
                              </m:r>
                              <m:r>
                                <a:rPr lang="en-US" altLang="zh-TW" b="0" i="1" smtClean="0">
                                  <a:latin typeface="Cambria Math" panose="02040503050406030204" pitchFamily="18" charset="0"/>
                                  <a:cs typeface="Times New Roman" panose="02020603050405020304" pitchFamily="18" charset="0"/>
                                </a:rPr>
                                <m:t>1</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𝑉</m:t>
                              </m:r>
                            </m:e>
                            <m:sub>
                              <m:r>
                                <a:rPr lang="en-US" altLang="zh-TW" b="0" i="1" smtClean="0">
                                  <a:latin typeface="Cambria Math" panose="02040503050406030204" pitchFamily="18" charset="0"/>
                                  <a:cs typeface="Times New Roman" panose="02020603050405020304" pitchFamily="18" charset="0"/>
                                </a:rPr>
                                <m:t>𝑙</m:t>
                              </m:r>
                              <m:r>
                                <a:rPr lang="zh-TW" altLang="en-US" b="0" i="1" smtClean="0">
                                  <a:latin typeface="Cambria Math" panose="02040503050406030204" pitchFamily="18" charset="0"/>
                                  <a:cs typeface="Times New Roman" panose="02020603050405020304" pitchFamily="18" charset="0"/>
                                </a:rPr>
                                <m:t>𝜆</m:t>
                              </m:r>
                            </m:sub>
                          </m:sSub>
                        </m:e>
                      </m:d>
                    </m:oMath>
                  </m:oMathPara>
                </a14:m>
                <a:endParaRPr lang="en-US" altLang="zh-TW" b="0" i="1" dirty="0" smtClean="0">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𝑉</m:t>
                          </m:r>
                        </m:e>
                        <m:sub>
                          <m:r>
                            <a:rPr lang="en-US" altLang="zh-TW" b="0" i="1" smtClean="0">
                              <a:latin typeface="Cambria Math" panose="02040503050406030204" pitchFamily="18" charset="0"/>
                              <a:cs typeface="Times New Roman" panose="02020603050405020304" pitchFamily="18" charset="0"/>
                            </a:rPr>
                            <m:t>𝑙𝑖</m:t>
                          </m:r>
                        </m:sub>
                      </m:sSub>
                      <m:r>
                        <a:rPr lang="en-US" altLang="zh-TW" b="0" i="1" smtClean="0">
                          <a:latin typeface="Cambria Math" panose="02040503050406030204" pitchFamily="18" charset="0"/>
                          <a:cs typeface="Times New Roman" panose="02020603050405020304" pitchFamily="18" charset="0"/>
                        </a:rPr>
                        <m:t>=</m:t>
                      </m:r>
                      <m:func>
                        <m:funcPr>
                          <m:ctrlPr>
                            <a:rPr lang="en-US" altLang="zh-TW" b="0" i="1" smtClean="0">
                              <a:latin typeface="Cambria Math" panose="02040503050406030204" pitchFamily="18" charset="0"/>
                              <a:cs typeface="Times New Roman" panose="02020603050405020304" pitchFamily="18" charset="0"/>
                            </a:rPr>
                          </m:ctrlPr>
                        </m:funcPr>
                        <m:fName>
                          <m:r>
                            <m:rPr>
                              <m:sty m:val="p"/>
                            </m:rPr>
                            <a:rPr lang="en-US" altLang="zh-TW" b="0" i="0" smtClean="0">
                              <a:latin typeface="Cambria Math" panose="02040503050406030204" pitchFamily="18" charset="0"/>
                              <a:cs typeface="Times New Roman" panose="02020603050405020304" pitchFamily="18" charset="0"/>
                            </a:rPr>
                            <m:t>min</m:t>
                          </m:r>
                        </m:fName>
                        <m:e>
                          <m:d>
                            <m:dPr>
                              <m:begChr m:val="{"/>
                              <m:endChr m:val="}"/>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𝑗</m:t>
                              </m:r>
                            </m:e>
                            <m:e>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𝐿</m:t>
                                  </m:r>
                                </m:e>
                                <m:sup>
                                  <m:r>
                                    <a:rPr lang="en-US" altLang="zh-TW" b="0" i="1" smtClean="0">
                                      <a:latin typeface="Cambria Math" panose="02040503050406030204" pitchFamily="18" charset="0"/>
                                      <a:cs typeface="Times New Roman" panose="02020603050405020304" pitchFamily="18" charset="0"/>
                                    </a:rPr>
                                    <m:t>′</m:t>
                                  </m:r>
                                </m:sup>
                              </m:sSup>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𝑙</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𝑗</m:t>
                                  </m:r>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𝑖</m:t>
                              </m:r>
                            </m:e>
                          </m:d>
                        </m:e>
                      </m:func>
                      <m:r>
                        <a:rPr lang="en-US" altLang="zh-TW" b="0" i="1" smtClean="0">
                          <a:latin typeface="Cambria Math" panose="02040503050406030204" pitchFamily="18" charset="0"/>
                          <a:cs typeface="Times New Roman" panose="02020603050405020304" pitchFamily="18" charset="0"/>
                        </a:rPr>
                        <m:t>, 1</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zh-TW" altLang="en-US" b="0" i="1" smtClean="0">
                          <a:latin typeface="Cambria Math" panose="02040503050406030204" pitchFamily="18" charset="0"/>
                          <a:ea typeface="Cambria Math" panose="02040503050406030204" pitchFamily="18" charset="0"/>
                          <a:cs typeface="Times New Roman" panose="02020603050405020304" pitchFamily="18" charset="0"/>
                        </a:rPr>
                        <m:t>𝜆</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 </m:t>
                      </m:r>
                      <m:r>
                        <a:rPr lang="zh-TW" altLang="en-US" b="0" i="1" smtClean="0">
                          <a:latin typeface="Cambria Math" panose="02040503050406030204" pitchFamily="18" charset="0"/>
                          <a:ea typeface="Cambria Math" panose="02040503050406030204" pitchFamily="18" charset="0"/>
                          <a:cs typeface="Times New Roman" panose="02020603050405020304" pitchFamily="18" charset="0"/>
                        </a:rPr>
                        <m:t>𝜆</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𝐿</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𝑙</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𝑛</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endParaRPr>
              </a:p>
              <a:p>
                <a:pPr marL="0" indent="0">
                  <a:buNone/>
                </a:pPr>
                <a:endPar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cs typeface="Times New Roman" panose="02020603050405020304" pitchFamily="18" charset="0"/>
                        </a:rPr>
                        <m:t>𝑚𝑖𝑛𝐸</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 </m:t>
                          </m:r>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𝑔𝑒𝑡</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𝑡h𝑒</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𝑚𝑖𝑛𝑖𝑛𝑢𝑚</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𝑣𝑎𝑙𝑢𝑒</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𝑖𝑛</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𝑒𝑎𝑐h</m:t>
                      </m:r>
                    </m:oMath>
                  </m:oMathPara>
                </a14:m>
                <a:endParaRPr lang="en-US" altLang="zh-TW" b="0" i="1" dirty="0" smtClean="0">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cs typeface="Times New Roman" panose="02020603050405020304" pitchFamily="18" charset="0"/>
                        </a:rPr>
                        <m:t>𝑝𝑜𝑠𝑖𝑡𝑖𝑜𝑛</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𝑎𝑚𝑜𝑛𝑔</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𝑠𝑒𝑣𝑒𝑟𝑎𝑙</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𝑣𝑒𝑐𝑡𝑜𝑟𝑠</m:t>
                      </m:r>
                    </m:oMath>
                  </m:oMathPara>
                </a14:m>
                <a:endParaRPr lang="en-US" altLang="zh-TW" b="0" i="1" dirty="0" smtClean="0">
                  <a:latin typeface="Cambria Math" panose="02040503050406030204" pitchFamily="18" charset="0"/>
                  <a:cs typeface="Times New Roman" panose="02020603050405020304" pitchFamily="18" charset="0"/>
                </a:endParaRPr>
              </a:p>
              <a:p>
                <a:pPr marL="0" indent="0">
                  <a:buNone/>
                </a:pPr>
                <a:endParaRPr lang="en-US" altLang="zh-TW" b="0" i="1" dirty="0" smtClean="0">
                  <a:latin typeface="Cambria Math" panose="02040503050406030204" pitchFamily="18" charset="0"/>
                  <a:cs typeface="Times New Roman" panose="02020603050405020304" pitchFamily="18" charset="0"/>
                </a:endParaRPr>
              </a:p>
              <a:p>
                <a:pPr marL="0" indent="0">
                  <a:buNone/>
                </a:pPr>
                <a:endParaRPr lang="en-US" altLang="zh-TW" dirty="0" smtClean="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1825625"/>
                <a:ext cx="7886700" cy="4575176"/>
              </a:xfrm>
              <a:blipFill rotWithShape="0">
                <a:blip r:embed="rId2"/>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15605192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1564</TotalTime>
  <Words>579</Words>
  <Application>Microsoft Office PowerPoint</Application>
  <PresentationFormat>如螢幕大小 (4:3)</PresentationFormat>
  <Paragraphs>264</Paragraphs>
  <Slides>17</Slides>
  <Notes>0</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17</vt:i4>
      </vt:variant>
    </vt:vector>
  </HeadingPairs>
  <TitlesOfParts>
    <vt:vector size="27" baseType="lpstr">
      <vt:lpstr>Arial Unicode MS</vt:lpstr>
      <vt:lpstr>KaiTi</vt:lpstr>
      <vt:lpstr>新細明體</vt:lpstr>
      <vt:lpstr>Arial</vt:lpstr>
      <vt:lpstr>Calibri</vt:lpstr>
      <vt:lpstr>Calibri Light</vt:lpstr>
      <vt:lpstr>Cambria Math</vt:lpstr>
      <vt:lpstr>Times New Roman</vt:lpstr>
      <vt:lpstr>Verdana</vt:lpstr>
      <vt:lpstr>Office 佈景主題</vt:lpstr>
      <vt:lpstr>PowerPoint 簡報</vt:lpstr>
      <vt:lpstr>Abstract(1/3)</vt:lpstr>
      <vt:lpstr>Abstract(2/3)</vt:lpstr>
      <vt:lpstr>Abstract(3/3)</vt:lpstr>
      <vt:lpstr>The LCS Problem</vt:lpstr>
      <vt:lpstr>The MLCS Problem</vt:lpstr>
      <vt:lpstr>The MLCS Problem</vt:lpstr>
      <vt:lpstr>Method 1 : brute force</vt:lpstr>
      <vt:lpstr>Method 2 : divide-and-conquer</vt:lpstr>
      <vt:lpstr>Method 2 : divide-and-conquer</vt:lpstr>
      <vt:lpstr>Method 2 : divide-and-conquer</vt:lpstr>
      <vt:lpstr>Method 3 : S-table</vt:lpstr>
      <vt:lpstr>Method 3</vt:lpstr>
      <vt:lpstr>Method 3</vt:lpstr>
      <vt:lpstr>Method 3</vt:lpstr>
      <vt:lpstr>Obtain the sequence of LCS</vt:lpstr>
      <vt:lpstr>PowerPoint 簡報</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Bebe</dc:creator>
  <cp:lastModifiedBy>Bebe</cp:lastModifiedBy>
  <cp:revision>136</cp:revision>
  <dcterms:created xsi:type="dcterms:W3CDTF">2015-06-30T03:57:49Z</dcterms:created>
  <dcterms:modified xsi:type="dcterms:W3CDTF">2015-09-08T10:17:04Z</dcterms:modified>
</cp:coreProperties>
</file>