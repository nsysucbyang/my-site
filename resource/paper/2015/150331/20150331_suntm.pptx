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72" r:id="rId7"/>
    <p:sldId id="271" r:id="rId8"/>
    <p:sldId id="265" r:id="rId9"/>
    <p:sldId id="267" r:id="rId10"/>
    <p:sldId id="269" r:id="rId11"/>
    <p:sldId id="270" r:id="rId12"/>
    <p:sldId id="273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741F-11EC-439C-970B-9E9F2BEC3066}" type="datetimeFigureOut">
              <a:rPr lang="zh-TW" altLang="en-US" smtClean="0"/>
              <a:t>2015/3/31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A790-05A2-4E54-99D9-52E84485B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6340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741F-11EC-439C-970B-9E9F2BEC3066}" type="datetimeFigureOut">
              <a:rPr lang="zh-TW" altLang="en-US" smtClean="0"/>
              <a:t>2015/3/31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A790-05A2-4E54-99D9-52E84485B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7860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741F-11EC-439C-970B-9E9F2BEC3066}" type="datetimeFigureOut">
              <a:rPr lang="zh-TW" altLang="en-US" smtClean="0"/>
              <a:t>2015/3/31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A790-05A2-4E54-99D9-52E84485B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5855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741F-11EC-439C-970B-9E9F2BEC3066}" type="datetimeFigureOut">
              <a:rPr lang="zh-TW" altLang="en-US" smtClean="0"/>
              <a:t>2015/3/31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A790-05A2-4E54-99D9-52E84485B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6421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741F-11EC-439C-970B-9E9F2BEC3066}" type="datetimeFigureOut">
              <a:rPr lang="zh-TW" altLang="en-US" smtClean="0"/>
              <a:t>2015/3/31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A790-05A2-4E54-99D9-52E84485B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758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741F-11EC-439C-970B-9E9F2BEC3066}" type="datetimeFigureOut">
              <a:rPr lang="zh-TW" altLang="en-US" smtClean="0"/>
              <a:t>2015/3/31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A790-05A2-4E54-99D9-52E84485B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214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741F-11EC-439C-970B-9E9F2BEC3066}" type="datetimeFigureOut">
              <a:rPr lang="zh-TW" altLang="en-US" smtClean="0"/>
              <a:t>2015/3/31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A790-05A2-4E54-99D9-52E84485B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2368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741F-11EC-439C-970B-9E9F2BEC3066}" type="datetimeFigureOut">
              <a:rPr lang="zh-TW" altLang="en-US" smtClean="0"/>
              <a:t>2015/3/31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A790-05A2-4E54-99D9-52E84485B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6478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741F-11EC-439C-970B-9E9F2BEC3066}" type="datetimeFigureOut">
              <a:rPr lang="zh-TW" altLang="en-US" smtClean="0"/>
              <a:t>2015/3/31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A790-05A2-4E54-99D9-52E84485B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527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741F-11EC-439C-970B-9E9F2BEC3066}" type="datetimeFigureOut">
              <a:rPr lang="zh-TW" altLang="en-US" smtClean="0"/>
              <a:t>2015/3/31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A790-05A2-4E54-99D9-52E84485B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8318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741F-11EC-439C-970B-9E9F2BEC3066}" type="datetimeFigureOut">
              <a:rPr lang="zh-TW" altLang="en-US" smtClean="0"/>
              <a:t>2015/3/31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A790-05A2-4E54-99D9-52E84485B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3696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7741F-11EC-439C-970B-9E9F2BEC3066}" type="datetimeFigureOut">
              <a:rPr lang="zh-TW" altLang="en-US" smtClean="0"/>
              <a:t>2015/3/31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5A790-05A2-4E54-99D9-52E84485B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3119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419230"/>
            <a:ext cx="12191999" cy="147002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/>
              <a:t>Flower Image Retrieval with Category Attributes</a:t>
            </a:r>
            <a:endParaRPr lang="en-US" altLang="zh-TW" sz="3600" b="1" dirty="0"/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2921000" y="3076579"/>
            <a:ext cx="6400800" cy="479425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2800" dirty="0"/>
              <a:t>Lin Li, Yu </a:t>
            </a:r>
            <a:r>
              <a:rPr lang="en-US" altLang="zh-TW" sz="2800" dirty="0" err="1"/>
              <a:t>Qiao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278338"/>
              </p:ext>
            </p:extLst>
          </p:nvPr>
        </p:nvGraphicFramePr>
        <p:xfrm>
          <a:off x="452846" y="3866605"/>
          <a:ext cx="11660777" cy="966207"/>
        </p:xfrm>
        <a:graphic>
          <a:graphicData uri="http://schemas.openxmlformats.org/drawingml/2006/table">
            <a:tbl>
              <a:tblPr/>
              <a:tblGrid>
                <a:gridCol w="11660777"/>
              </a:tblGrid>
              <a:tr h="3129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2014 4th IEEE International Conference on</a:t>
                      </a:r>
                      <a:r>
                        <a:rPr lang="zh-TW" altLang="en-US" sz="19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9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Information Science and Technology (ICIST)</a:t>
                      </a:r>
                      <a:endParaRPr lang="en-US" altLang="zh-TW" sz="1900" kern="1200" dirty="0" smtClean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endParaRPr lang="en-US" sz="15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4656143" y="5229229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Tsai-Ming Sun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Date:</a:t>
            </a:r>
            <a:fld id="{F3590F60-3E7B-48AD-979A-345F224951B5}" type="datetime1">
              <a:rPr lang="zh-TW" altLang="en-US" sz="1800"/>
              <a:pPr eaLnBrk="1" hangingPunct="1">
                <a:spcBef>
                  <a:spcPct val="0"/>
                </a:spcBef>
                <a:buFontTx/>
                <a:buNone/>
              </a:pPr>
              <a:t>2015/3/31</a:t>
            </a:fld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234130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49829"/>
            <a:ext cx="10515600" cy="482713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TW" dirty="0" smtClean="0"/>
              <a:t>In </a:t>
            </a:r>
            <a:r>
              <a:rPr lang="en-US" altLang="zh-TW" dirty="0"/>
              <a:t>this paper, we recommend a mid-level </a:t>
            </a:r>
            <a:r>
              <a:rPr lang="en-US" altLang="zh-TW" dirty="0" smtClean="0"/>
              <a:t>representation, category </a:t>
            </a:r>
            <a:r>
              <a:rPr lang="en-US" altLang="zh-TW" dirty="0"/>
              <a:t>attributes, for content based flower </a:t>
            </a:r>
            <a:r>
              <a:rPr lang="en-US" altLang="zh-TW" dirty="0" smtClean="0"/>
              <a:t>image retrieval</a:t>
            </a:r>
            <a:r>
              <a:rPr lang="en-US" altLang="zh-TW" dirty="0"/>
              <a:t>. Low-level features have been utilized in images </a:t>
            </a:r>
            <a:r>
              <a:rPr lang="en-US" altLang="zh-TW" dirty="0" smtClean="0"/>
              <a:t>for retrieval</a:t>
            </a:r>
            <a:r>
              <a:rPr lang="en-US" altLang="zh-TW" dirty="0"/>
              <a:t>. However, even though these features are efficient, </a:t>
            </a:r>
            <a:r>
              <a:rPr lang="en-US" altLang="zh-TW" dirty="0" smtClean="0"/>
              <a:t>the similarity </a:t>
            </a:r>
            <a:r>
              <a:rPr lang="en-US" altLang="zh-TW" dirty="0"/>
              <a:t>between </a:t>
            </a:r>
            <a:r>
              <a:rPr lang="en-US" altLang="zh-TW" dirty="0" smtClean="0"/>
              <a:t>low-level </a:t>
            </a:r>
            <a:r>
              <a:rPr lang="en-US" altLang="zh-TW" dirty="0"/>
              <a:t>features may differ from high </a:t>
            </a:r>
            <a:r>
              <a:rPr lang="en-US" altLang="zh-TW" dirty="0" smtClean="0"/>
              <a:t>level human </a:t>
            </a:r>
            <a:r>
              <a:rPr lang="en-US" altLang="zh-TW" dirty="0"/>
              <a:t>perception, known as </a:t>
            </a:r>
            <a:r>
              <a:rPr lang="en-US" altLang="zh-TW" dirty="0" smtClean="0"/>
              <a:t>semantic gap</a:t>
            </a:r>
            <a:r>
              <a:rPr lang="en-US" altLang="zh-TW" dirty="0"/>
              <a:t>. In real life, it </a:t>
            </a:r>
            <a:r>
              <a:rPr lang="en-US" altLang="zh-TW" dirty="0" smtClean="0"/>
              <a:t>is very </a:t>
            </a:r>
            <a:r>
              <a:rPr lang="en-US" altLang="zh-TW" dirty="0"/>
              <a:t>usual to use attributes, a domain specific </a:t>
            </a:r>
            <a:r>
              <a:rPr lang="en-US" altLang="zh-TW" dirty="0" smtClean="0"/>
              <a:t>terminology, to </a:t>
            </a:r>
            <a:r>
              <a:rPr lang="en-US" altLang="zh-TW" dirty="0"/>
              <a:t>describe the visual appearance of objects. Inspired by </a:t>
            </a:r>
            <a:r>
              <a:rPr lang="en-US" altLang="zh-TW" dirty="0" smtClean="0"/>
              <a:t>this, we </a:t>
            </a:r>
            <a:r>
              <a:rPr lang="en-US" altLang="zh-TW" dirty="0"/>
              <a:t>utilize category attributes, i.e. daisy, buttercup or iris </a:t>
            </a:r>
            <a:r>
              <a:rPr lang="en-US" altLang="zh-TW" dirty="0" smtClean="0"/>
              <a:t>to construct </a:t>
            </a:r>
            <a:r>
              <a:rPr lang="en-US" altLang="zh-TW" dirty="0"/>
              <a:t>semantic representation of flower images. For </a:t>
            </a:r>
            <a:r>
              <a:rPr lang="en-US" altLang="zh-TW" dirty="0" smtClean="0"/>
              <a:t>each category </a:t>
            </a:r>
            <a:r>
              <a:rPr lang="en-US" altLang="zh-TW" dirty="0"/>
              <a:t>attribute, we train a linear SVM based on low </a:t>
            </a:r>
            <a:r>
              <a:rPr lang="en-US" altLang="zh-TW" dirty="0" smtClean="0"/>
              <a:t>level visual </a:t>
            </a:r>
            <a:r>
              <a:rPr lang="en-US" altLang="zh-TW" dirty="0"/>
              <a:t>features</a:t>
            </a:r>
            <a:r>
              <a:rPr lang="en-US" altLang="zh-TW" dirty="0" smtClean="0"/>
              <a:t>, containing </a:t>
            </a:r>
            <a:r>
              <a:rPr lang="en-US" altLang="zh-TW" dirty="0"/>
              <a:t>the appearance of color, texture </a:t>
            </a:r>
            <a:r>
              <a:rPr lang="en-US" altLang="zh-TW" dirty="0" smtClean="0"/>
              <a:t>and shape</a:t>
            </a:r>
            <a:r>
              <a:rPr lang="en-US" altLang="zh-TW" dirty="0"/>
              <a:t>. Outputs of these classifiers are regarded as </a:t>
            </a:r>
            <a:r>
              <a:rPr lang="en-US" altLang="zh-TW" dirty="0" smtClean="0"/>
              <a:t>attribute features</a:t>
            </a:r>
            <a:r>
              <a:rPr lang="en-US" altLang="zh-TW" dirty="0"/>
              <a:t>. Then we use distances between attribute features </a:t>
            </a:r>
            <a:r>
              <a:rPr lang="en-US" altLang="zh-TW" dirty="0" smtClean="0"/>
              <a:t>for flower </a:t>
            </a:r>
            <a:r>
              <a:rPr lang="en-US" altLang="zh-TW" dirty="0"/>
              <a:t>retrieval. This method was evaluated on 17 </a:t>
            </a:r>
            <a:r>
              <a:rPr lang="en-US" altLang="zh-TW" dirty="0" smtClean="0"/>
              <a:t>Category Flower </a:t>
            </a:r>
            <a:r>
              <a:rPr lang="en-US" altLang="zh-TW" dirty="0"/>
              <a:t>Dataset. Experimental results show that attribute </a:t>
            </a:r>
            <a:r>
              <a:rPr lang="en-US" altLang="zh-TW" dirty="0" smtClean="0"/>
              <a:t>based representation </a:t>
            </a:r>
            <a:r>
              <a:rPr lang="en-US" altLang="zh-TW" dirty="0"/>
              <a:t>outperforms low-level features in terms of </a:t>
            </a:r>
            <a:r>
              <a:rPr lang="en-US" altLang="zh-TW" dirty="0" smtClean="0"/>
              <a:t>mean-average </a:t>
            </a:r>
            <a:r>
              <a:rPr lang="en-US" altLang="zh-TW" dirty="0"/>
              <a:t>precision.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12665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Low-level image feature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HSV</a:t>
            </a:r>
            <a:endParaRPr lang="en-US" altLang="zh-TW" dirty="0"/>
          </a:p>
          <a:p>
            <a:r>
              <a:rPr lang="en-US" altLang="zh-TW" dirty="0" smtClean="0"/>
              <a:t>SIFT</a:t>
            </a:r>
          </a:p>
          <a:p>
            <a:r>
              <a:rPr lang="en-US" altLang="zh-TW" dirty="0" smtClean="0"/>
              <a:t>Local Binary Pattern(LBP)</a:t>
            </a:r>
          </a:p>
        </p:txBody>
      </p:sp>
    </p:spTree>
    <p:extLst>
      <p:ext uri="{BB962C8B-B14F-4D97-AF65-F5344CB8AC3E}">
        <p14:creationId xmlns:p14="http://schemas.microsoft.com/office/powerpoint/2010/main" val="1596998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HSV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93371"/>
            <a:ext cx="10515600" cy="4783592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一種將</a:t>
            </a:r>
            <a:r>
              <a:rPr lang="en-US" altLang="zh-TW" dirty="0"/>
              <a:t>RGB</a:t>
            </a:r>
            <a:r>
              <a:rPr lang="zh-TW" altLang="en-US" dirty="0"/>
              <a:t>色彩模型中的點在圓柱坐標系中的表示法。</a:t>
            </a:r>
            <a:endParaRPr lang="en-US" altLang="zh-TW" dirty="0" smtClean="0"/>
          </a:p>
          <a:p>
            <a:r>
              <a:rPr lang="en-US" altLang="zh-TW" dirty="0" smtClean="0"/>
              <a:t>H(</a:t>
            </a:r>
            <a:r>
              <a:rPr lang="zh-TW" altLang="en-US" dirty="0" smtClean="0"/>
              <a:t>色相</a:t>
            </a:r>
            <a:r>
              <a:rPr lang="en-US" altLang="zh-TW" dirty="0" smtClean="0"/>
              <a:t>,Hue)</a:t>
            </a:r>
          </a:p>
          <a:p>
            <a:r>
              <a:rPr lang="en-US" altLang="zh-TW" dirty="0" smtClean="0"/>
              <a:t>S(</a:t>
            </a:r>
            <a:r>
              <a:rPr lang="zh-TW" altLang="en-US" dirty="0" smtClean="0"/>
              <a:t>飽和度</a:t>
            </a:r>
            <a:r>
              <a:rPr lang="en-US" altLang="zh-TW" dirty="0" smtClean="0"/>
              <a:t>,Saturation)</a:t>
            </a:r>
          </a:p>
          <a:p>
            <a:r>
              <a:rPr lang="en-US" altLang="zh-TW" dirty="0" smtClean="0"/>
              <a:t>V(</a:t>
            </a:r>
            <a:r>
              <a:rPr lang="zh-TW" altLang="en-US" dirty="0" smtClean="0"/>
              <a:t>明度</a:t>
            </a:r>
            <a:r>
              <a:rPr lang="en-US" altLang="zh-TW" dirty="0" smtClean="0"/>
              <a:t>,value)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max: max(</a:t>
            </a:r>
            <a:r>
              <a:rPr lang="en-US" altLang="zh-TW" dirty="0" err="1" smtClean="0"/>
              <a:t>r,g,b</a:t>
            </a:r>
            <a:r>
              <a:rPr lang="en-US" altLang="zh-TW" dirty="0" smtClean="0"/>
              <a:t>)</a:t>
            </a:r>
          </a:p>
          <a:p>
            <a:pPr marL="0" indent="0">
              <a:buNone/>
            </a:pPr>
            <a:r>
              <a:rPr lang="en-US" altLang="zh-TW" dirty="0" smtClean="0"/>
              <a:t>min: min(</a:t>
            </a:r>
            <a:r>
              <a:rPr lang="en-US" altLang="zh-TW" dirty="0" err="1" smtClean="0"/>
              <a:t>r,g,b</a:t>
            </a:r>
            <a:r>
              <a:rPr lang="en-US" altLang="zh-TW" dirty="0" smtClean="0"/>
              <a:t>)</a:t>
            </a: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4361" y="1782536"/>
            <a:ext cx="3810000" cy="28575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36" y="4640036"/>
            <a:ext cx="4333875" cy="14859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262" y="4921023"/>
            <a:ext cx="324802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237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07" y="3482131"/>
            <a:ext cx="10379639" cy="1244247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SIFT(Scale-invariant feature transform)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一種圖像匹配演算法，</a:t>
            </a:r>
            <a:r>
              <a:rPr lang="zh-TW" altLang="en-US" dirty="0"/>
              <a:t>同時能</a:t>
            </a:r>
            <a:r>
              <a:rPr lang="zh-TW" altLang="en-US" dirty="0" smtClean="0"/>
              <a:t>處理亮度、平移、旋轉、尺度的變化，利用特徵點的配對來尋找圖像之間的對應關係。</a:t>
            </a:r>
            <a:endParaRPr lang="en-US" altLang="zh-TW" dirty="0" smtClean="0"/>
          </a:p>
          <a:p>
            <a:endParaRPr lang="en-US" altLang="zh-TW" b="1" dirty="0" smtClean="0"/>
          </a:p>
          <a:p>
            <a:pPr marL="457200" lvl="1" indent="0">
              <a:buNone/>
            </a:pPr>
            <a:endParaRPr lang="zh-TW" altLang="en-US" b="1" dirty="0" smtClean="0"/>
          </a:p>
          <a:p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sp>
        <p:nvSpPr>
          <p:cNvPr id="9" name="內容版面配置區 2"/>
          <p:cNvSpPr txBox="1">
            <a:spLocks/>
          </p:cNvSpPr>
          <p:nvPr/>
        </p:nvSpPr>
        <p:spPr>
          <a:xfrm>
            <a:off x="838200" y="2926079"/>
            <a:ext cx="10515600" cy="2798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mtClean="0"/>
              <a:t>DoG(Difference of Gaussians)</a:t>
            </a:r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550" y="4537689"/>
            <a:ext cx="5324475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509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46611" y="0"/>
            <a:ext cx="10515600" cy="1325563"/>
          </a:xfrm>
        </p:spPr>
        <p:txBody>
          <a:bodyPr/>
          <a:lstStyle/>
          <a:p>
            <a:r>
              <a:rPr lang="en-US" altLang="zh-TW" dirty="0" smtClean="0"/>
              <a:t>SIFT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980892"/>
            <a:ext cx="5759229" cy="587710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443" y="69149"/>
            <a:ext cx="5737744" cy="360586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443" y="3744166"/>
            <a:ext cx="4868768" cy="307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56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SIFT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771" y="2069465"/>
            <a:ext cx="2702227" cy="435133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801" y="2069465"/>
            <a:ext cx="796290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799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LBP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88869"/>
            <a:ext cx="10515600" cy="4888094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LBP</a:t>
            </a:r>
            <a:r>
              <a:rPr lang="zh-TW" altLang="en-US" dirty="0"/>
              <a:t>是一種用來描述區域紋理變化的特徵計算方式。其</a:t>
            </a:r>
            <a:r>
              <a:rPr lang="zh-TW" altLang="en-US" b="1" dirty="0"/>
              <a:t>計算速度非常的快</a:t>
            </a:r>
            <a:r>
              <a:rPr lang="zh-TW" altLang="en-US" dirty="0"/>
              <a:t>，相當</a:t>
            </a:r>
            <a:r>
              <a:rPr lang="zh-TW" altLang="en-US" b="1" dirty="0"/>
              <a:t>適合使用在真實的即時系統</a:t>
            </a:r>
            <a:r>
              <a:rPr lang="zh-TW" altLang="en-US" dirty="0"/>
              <a:t>之中。而缺點則是</a:t>
            </a:r>
            <a:r>
              <a:rPr lang="zh-TW" altLang="en-US" b="1" dirty="0"/>
              <a:t>在平滑影像上的效果差強人意</a:t>
            </a:r>
            <a:r>
              <a:rPr lang="en-US" altLang="zh-TW" dirty="0"/>
              <a:t>(</a:t>
            </a:r>
            <a:r>
              <a:rPr lang="zh-TW" altLang="en-US" dirty="0"/>
              <a:t>例如</a:t>
            </a:r>
            <a:r>
              <a:rPr lang="en-US" altLang="zh-TW" dirty="0"/>
              <a:t>:</a:t>
            </a:r>
            <a:r>
              <a:rPr lang="zh-TW" altLang="en-US" dirty="0">
                <a:solidFill>
                  <a:srgbClr val="FF0000"/>
                </a:solidFill>
              </a:rPr>
              <a:t>天空</a:t>
            </a:r>
            <a:r>
              <a:rPr lang="en-US" altLang="zh-TW" dirty="0">
                <a:solidFill>
                  <a:srgbClr val="FF0000"/>
                </a:solidFill>
              </a:rPr>
              <a:t>or</a:t>
            </a:r>
            <a:r>
              <a:rPr lang="zh-TW" altLang="en-US" dirty="0">
                <a:solidFill>
                  <a:srgbClr val="FF0000"/>
                </a:solidFill>
              </a:rPr>
              <a:t>海洋</a:t>
            </a:r>
            <a:r>
              <a:rPr lang="en-US" altLang="zh-TW" dirty="0"/>
              <a:t>)</a:t>
            </a:r>
            <a:r>
              <a:rPr lang="zh-TW" altLang="en-US" dirty="0"/>
              <a:t>，因為</a:t>
            </a:r>
            <a:r>
              <a:rPr lang="zh-TW" altLang="en-US" dirty="0">
                <a:solidFill>
                  <a:srgbClr val="FF0000"/>
                </a:solidFill>
              </a:rPr>
              <a:t>平滑影像</a:t>
            </a:r>
            <a:r>
              <a:rPr lang="zh-TW" altLang="en-US" dirty="0"/>
              <a:t>的灰階值太過相近。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17" y="3017665"/>
            <a:ext cx="3901440" cy="3700335"/>
          </a:xfrm>
          <a:prstGeom prst="rect">
            <a:avLst/>
          </a:prstGeom>
        </p:spPr>
      </p:pic>
      <p:sp>
        <p:nvSpPr>
          <p:cNvPr id="5" name="內容版面配置區 2"/>
          <p:cNvSpPr txBox="1">
            <a:spLocks/>
          </p:cNvSpPr>
          <p:nvPr/>
        </p:nvSpPr>
        <p:spPr>
          <a:xfrm>
            <a:off x="4894217" y="3811178"/>
            <a:ext cx="59283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/>
              <a:t>先將周圍的灰階與中心點相減之後做二值化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Threholding</a:t>
            </a:r>
            <a:r>
              <a:rPr lang="en-US" altLang="zh-TW" dirty="0" smtClean="0"/>
              <a:t>)</a:t>
            </a:r>
            <a:r>
              <a:rPr lang="zh-TW" altLang="en-US" dirty="0" smtClean="0"/>
              <a:t>。像這樣： </a:t>
            </a:r>
            <a:br>
              <a:rPr lang="zh-TW" altLang="en-US" dirty="0" smtClean="0"/>
            </a:br>
            <a:r>
              <a:rPr lang="en-US" altLang="zh-TW" dirty="0" smtClean="0"/>
              <a:t>55-43=</a:t>
            </a:r>
            <a:r>
              <a:rPr lang="zh-TW" altLang="en-US" dirty="0" smtClean="0"/>
              <a:t>＋</a:t>
            </a:r>
            <a:r>
              <a:rPr lang="en-US" altLang="zh-TW" dirty="0" smtClean="0"/>
              <a:t>12&gt;0 </a:t>
            </a:r>
            <a:r>
              <a:rPr lang="zh-TW" altLang="en-US" dirty="0" smtClean="0"/>
              <a:t>則二值化後，其值</a:t>
            </a:r>
            <a:r>
              <a:rPr lang="en-US" altLang="zh-TW" dirty="0" smtClean="0"/>
              <a:t>=1 </a:t>
            </a:r>
            <a:r>
              <a:rPr lang="zh-TW" altLang="en-US" dirty="0" smtClean="0"/>
              <a:t/>
            </a:r>
            <a:br>
              <a:rPr lang="zh-TW" altLang="en-US" dirty="0" smtClean="0"/>
            </a:br>
            <a:r>
              <a:rPr lang="en-US" altLang="zh-TW" dirty="0" smtClean="0"/>
              <a:t>35-43=</a:t>
            </a:r>
            <a:r>
              <a:rPr lang="zh-TW" altLang="en-US" dirty="0" smtClean="0"/>
              <a:t>－</a:t>
            </a:r>
            <a:r>
              <a:rPr lang="en-US" altLang="zh-TW" dirty="0" smtClean="0"/>
              <a:t>08&lt;0 </a:t>
            </a:r>
            <a:r>
              <a:rPr lang="zh-TW" altLang="en-US" dirty="0" smtClean="0"/>
              <a:t>則二值化後，其值</a:t>
            </a:r>
            <a:r>
              <a:rPr lang="en-US" altLang="zh-TW" dirty="0" smtClean="0"/>
              <a:t>=0 </a:t>
            </a:r>
            <a:r>
              <a:rPr lang="zh-TW" altLang="en-US" dirty="0" smtClean="0"/>
              <a:t/>
            </a:r>
            <a:br>
              <a:rPr lang="zh-TW" altLang="en-US" dirty="0" smtClean="0"/>
            </a:br>
            <a:r>
              <a:rPr lang="en-US" altLang="zh-TW" dirty="0" smtClean="0"/>
              <a:t>28-43=</a:t>
            </a:r>
            <a:r>
              <a:rPr lang="zh-TW" altLang="en-US" dirty="0" smtClean="0"/>
              <a:t>－</a:t>
            </a:r>
            <a:r>
              <a:rPr lang="en-US" altLang="zh-TW" dirty="0" smtClean="0"/>
              <a:t>15&lt;0 </a:t>
            </a:r>
            <a:r>
              <a:rPr lang="zh-TW" altLang="en-US" dirty="0" smtClean="0"/>
              <a:t>則二值化後，其值</a:t>
            </a:r>
            <a:r>
              <a:rPr lang="en-US" altLang="zh-TW" dirty="0" smtClean="0"/>
              <a:t>=0 </a:t>
            </a:r>
            <a:r>
              <a:rPr lang="zh-TW" altLang="en-US" dirty="0" smtClean="0"/>
              <a:t/>
            </a:r>
            <a:br>
              <a:rPr lang="zh-TW" altLang="en-US" dirty="0" smtClean="0"/>
            </a:br>
            <a:r>
              <a:rPr lang="en-US" altLang="zh-TW" dirty="0" smtClean="0"/>
              <a:t>52-43=</a:t>
            </a:r>
            <a:r>
              <a:rPr lang="zh-TW" altLang="en-US" dirty="0" smtClean="0"/>
              <a:t>＋</a:t>
            </a:r>
            <a:r>
              <a:rPr lang="en-US" altLang="zh-TW" dirty="0" smtClean="0"/>
              <a:t>09&gt;0 </a:t>
            </a:r>
            <a:r>
              <a:rPr lang="zh-TW" altLang="en-US" dirty="0" smtClean="0"/>
              <a:t>則二值化後，其值</a:t>
            </a:r>
            <a:r>
              <a:rPr lang="en-US" altLang="zh-TW" dirty="0" smtClean="0"/>
              <a:t>=1 </a:t>
            </a:r>
            <a:r>
              <a:rPr lang="zh-TW" altLang="en-US" dirty="0" smtClean="0"/>
              <a:t/>
            </a:r>
            <a:br>
              <a:rPr lang="zh-TW" altLang="en-US" dirty="0" smtClean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06843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54" y="1668887"/>
            <a:ext cx="3577840" cy="3520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5957" y="1762233"/>
            <a:ext cx="3505430" cy="342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5309057" y="74555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b="0" i="0" dirty="0" smtClean="0">
                <a:solidFill>
                  <a:srgbClr val="333333"/>
                </a:solidFill>
                <a:effectLst/>
                <a:latin typeface="Helvetica Neue"/>
              </a:rPr>
              <a:t>依照</a:t>
            </a:r>
            <a:r>
              <a:rPr lang="en-US" altLang="zh-TW" b="1" i="0" dirty="0" smtClean="0">
                <a:effectLst/>
                <a:latin typeface="Helvetica Neue"/>
              </a:rPr>
              <a:t>2</a:t>
            </a:r>
            <a:r>
              <a:rPr lang="zh-TW" altLang="en-US" b="1" i="0" dirty="0" smtClean="0">
                <a:effectLst/>
                <a:latin typeface="Helvetica Neue"/>
              </a:rPr>
              <a:t>的次方排列相關位置的權重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Helvetica Neue"/>
              </a:rPr>
              <a:t>。由左到右，由上到下分別是 </a:t>
            </a:r>
            <a:r>
              <a:rPr lang="en-US" altLang="zh-TW" b="0" i="0" dirty="0" smtClean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Helvetica Neue"/>
              </a:rPr>
              <a:t>的</a:t>
            </a:r>
            <a:r>
              <a:rPr lang="en-US" altLang="zh-TW" b="0" i="0" dirty="0" smtClean="0">
                <a:solidFill>
                  <a:srgbClr val="333333"/>
                </a:solidFill>
                <a:effectLst/>
                <a:latin typeface="Helvetica Neue"/>
              </a:rPr>
              <a:t>0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Helvetica Neue"/>
              </a:rPr>
              <a:t>次方</a:t>
            </a:r>
            <a:r>
              <a:rPr lang="en-US" altLang="zh-TW" b="0" i="0" dirty="0" smtClean="0">
                <a:solidFill>
                  <a:srgbClr val="333333"/>
                </a:solidFill>
                <a:effectLst/>
                <a:latin typeface="Helvetica Neue"/>
              </a:rPr>
              <a:t>=1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TW" b="0" i="0" dirty="0" smtClean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Helvetica Neue"/>
              </a:rPr>
              <a:t>的</a:t>
            </a:r>
            <a:r>
              <a:rPr lang="en-US" altLang="zh-TW" b="0" i="0" dirty="0" smtClean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Helvetica Neue"/>
              </a:rPr>
              <a:t>次方</a:t>
            </a:r>
            <a:r>
              <a:rPr lang="en-US" altLang="zh-TW" b="0" i="0" dirty="0" smtClean="0">
                <a:solidFill>
                  <a:srgbClr val="333333"/>
                </a:solidFill>
                <a:effectLst/>
                <a:latin typeface="Helvetica Neue"/>
              </a:rPr>
              <a:t>=2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TW" b="0" i="0" dirty="0" smtClean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Helvetica Neue"/>
              </a:rPr>
              <a:t>的</a:t>
            </a:r>
            <a:r>
              <a:rPr lang="en-US" altLang="zh-TW" b="0" i="0" dirty="0" smtClean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Helvetica Neue"/>
              </a:rPr>
              <a:t>次方</a:t>
            </a:r>
            <a:r>
              <a:rPr lang="en-US" altLang="zh-TW" b="0" i="0" dirty="0" smtClean="0">
                <a:solidFill>
                  <a:srgbClr val="333333"/>
                </a:solidFill>
                <a:effectLst/>
                <a:latin typeface="Helvetica Neue"/>
              </a:rPr>
              <a:t>=4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TW" b="0" i="0" dirty="0" smtClean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Helvetica Neue"/>
              </a:rPr>
              <a:t>的</a:t>
            </a:r>
            <a:r>
              <a:rPr lang="en-US" altLang="zh-TW" b="0" i="0" dirty="0" smtClean="0">
                <a:solidFill>
                  <a:srgbClr val="333333"/>
                </a:solidFill>
                <a:effectLst/>
                <a:latin typeface="Helvetica Neue"/>
              </a:rPr>
              <a:t>3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Helvetica Neue"/>
              </a:rPr>
              <a:t>次方</a:t>
            </a:r>
            <a:r>
              <a:rPr lang="en-US" altLang="zh-TW" b="0" i="0" dirty="0" smtClean="0">
                <a:solidFill>
                  <a:srgbClr val="333333"/>
                </a:solidFill>
                <a:effectLst/>
                <a:latin typeface="Helvetica Neue"/>
              </a:rPr>
              <a:t>=8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Helvetica Neue"/>
              </a:rPr>
              <a:t>，以此類推。因此會形成下面的</a:t>
            </a:r>
            <a:r>
              <a:rPr lang="zh-TW" altLang="en-US" b="1" i="0" dirty="0" smtClean="0">
                <a:effectLst/>
                <a:latin typeface="Helvetica Neue"/>
              </a:rPr>
              <a:t>權重方塊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Helvetica Neue"/>
              </a:rPr>
              <a:t>。 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309057" y="538915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b="0" i="0" dirty="0" smtClean="0">
                <a:solidFill>
                  <a:srgbClr val="333333"/>
                </a:solidFill>
                <a:effectLst/>
                <a:latin typeface="Helvetica Neue"/>
              </a:rPr>
              <a:t>將權重方塊在第一步得到的結果相乘以後再相加</a:t>
            </a:r>
            <a:r>
              <a:rPr lang="zh-TW" altLang="en-US" dirty="0" smtClean="0"/>
              <a:t/>
            </a:r>
            <a:br>
              <a:rPr lang="zh-TW" altLang="en-US" dirty="0" smtClean="0"/>
            </a:br>
            <a:r>
              <a:rPr lang="en-US" altLang="zh-TW" b="0" i="0" dirty="0" smtClean="0">
                <a:solidFill>
                  <a:srgbClr val="333333"/>
                </a:solidFill>
                <a:effectLst/>
                <a:latin typeface="Helvetica Neue"/>
              </a:rPr>
              <a:t>1X1+0X2+1X4+1X8+0X16+0X32+1X64+1X128=205 </a:t>
            </a:r>
            <a:r>
              <a:rPr lang="zh-TW" altLang="en-US" dirty="0" smtClean="0"/>
              <a:t/>
            </a:r>
            <a:br>
              <a:rPr lang="zh-TW" altLang="en-US" dirty="0" smtClean="0"/>
            </a:br>
            <a:r>
              <a:rPr lang="zh-TW" altLang="en-US" b="0" i="0" dirty="0" smtClean="0">
                <a:solidFill>
                  <a:srgbClr val="333333"/>
                </a:solidFill>
                <a:effectLst/>
                <a:latin typeface="Helvetica Neue"/>
              </a:rPr>
              <a:t>就是這</a:t>
            </a:r>
            <a:r>
              <a:rPr lang="en-US" altLang="zh-TW" b="0" i="0" dirty="0" smtClean="0">
                <a:solidFill>
                  <a:srgbClr val="333333"/>
                </a:solidFill>
                <a:effectLst/>
                <a:latin typeface="Helvetica Neue"/>
              </a:rPr>
              <a:t>3X3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Helvetica Neue"/>
              </a:rPr>
              <a:t>區塊的</a:t>
            </a:r>
            <a:r>
              <a:rPr lang="en-US" altLang="zh-TW" b="0" i="0" dirty="0" smtClean="0">
                <a:solidFill>
                  <a:srgbClr val="333333"/>
                </a:solidFill>
                <a:effectLst/>
                <a:latin typeface="Helvetica Neue"/>
              </a:rPr>
              <a:t>LBP</a:t>
            </a:r>
            <a:r>
              <a:rPr lang="zh-TW" altLang="en-US" b="0" i="0" dirty="0" smtClean="0">
                <a:solidFill>
                  <a:srgbClr val="333333"/>
                </a:solidFill>
                <a:effectLst/>
                <a:latin typeface="Helvetica Neue"/>
              </a:rPr>
              <a:t>值。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31485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</a:t>
            </a:r>
            <a:r>
              <a:rPr lang="en-US" altLang="zh-TW" dirty="0" smtClean="0"/>
              <a:t>stimate </a:t>
            </a:r>
            <a:r>
              <a:rPr lang="en-US" altLang="zh-TW" dirty="0"/>
              <a:t>measurement of image similarity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we compute the Euclidean distances between the query </a:t>
            </a:r>
            <a:r>
              <a:rPr lang="en-US" altLang="zh-TW" dirty="0" smtClean="0"/>
              <a:t>and images </a:t>
            </a:r>
            <a:r>
              <a:rPr lang="en-US" altLang="zh-TW" dirty="0"/>
              <a:t>from the </a:t>
            </a:r>
            <a:r>
              <a:rPr lang="en-US" altLang="zh-TW" dirty="0" smtClean="0"/>
              <a:t>dataset</a:t>
            </a: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21020"/>
            <a:ext cx="4467225" cy="77152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92545"/>
            <a:ext cx="4448175" cy="249555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106" y="6042388"/>
            <a:ext cx="3057525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772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EXPERIMENTS AND RESULTS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8287" y="1753122"/>
            <a:ext cx="4676775" cy="4381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456" y="2253706"/>
            <a:ext cx="1590675" cy="80962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762" y="3125765"/>
            <a:ext cx="4686300" cy="55245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9072" y="3822133"/>
            <a:ext cx="1847850" cy="67627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572" y="4744811"/>
            <a:ext cx="3181350" cy="590550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762" y="5565004"/>
            <a:ext cx="4543425" cy="68580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1905" y="1205973"/>
            <a:ext cx="5950774" cy="494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013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ZCR(zero-crossing rate)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579" y="3858419"/>
            <a:ext cx="6915150" cy="27241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60605"/>
            <a:ext cx="3133725" cy="96202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38200" y="2055484"/>
            <a:ext cx="103449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NewRoman"/>
              </a:rPr>
              <a:t>where </a:t>
            </a:r>
            <a:r>
              <a:rPr lang="en-US" altLang="zh-TW" i="1" dirty="0">
                <a:latin typeface="TimesNewRoman,Italic"/>
              </a:rPr>
              <a:t>D </a:t>
            </a:r>
            <a:r>
              <a:rPr lang="en-US" altLang="zh-TW" dirty="0">
                <a:latin typeface="TimesNewRoman"/>
              </a:rPr>
              <a:t>is a value of </a:t>
            </a:r>
            <a:r>
              <a:rPr lang="en-US" altLang="zh-TW" i="1" dirty="0">
                <a:latin typeface="TimesNewRoman,Italic"/>
              </a:rPr>
              <a:t>d </a:t>
            </a:r>
            <a:r>
              <a:rPr lang="en-US" altLang="zh-TW" i="1" dirty="0" smtClean="0">
                <a:latin typeface="TimesNewRoman,Italic"/>
              </a:rPr>
              <a:t>-</a:t>
            </a:r>
            <a:r>
              <a:rPr lang="en-US" altLang="zh-TW" i="1" dirty="0" err="1" smtClean="0">
                <a:latin typeface="TimesNewRoman,Italic"/>
              </a:rPr>
              <a:t>average_d</a:t>
            </a:r>
            <a:r>
              <a:rPr lang="en-US" altLang="zh-TW" i="1" dirty="0" smtClean="0">
                <a:latin typeface="TimesNewRoman,Italic"/>
              </a:rPr>
              <a:t> </a:t>
            </a:r>
            <a:r>
              <a:rPr lang="en-US" altLang="zh-TW" dirty="0">
                <a:latin typeface="TimesNewRoman"/>
              </a:rPr>
              <a:t>and the indicator function </a:t>
            </a:r>
            <a:r>
              <a:rPr lang="en-US" altLang="zh-TW" i="1" dirty="0">
                <a:latin typeface="TimesNewRoman,Italic"/>
              </a:rPr>
              <a:t>I{A} </a:t>
            </a:r>
            <a:r>
              <a:rPr lang="en-US" altLang="zh-TW" dirty="0">
                <a:latin typeface="TimesNewRoman"/>
              </a:rPr>
              <a:t>is 1, if </a:t>
            </a:r>
            <a:r>
              <a:rPr lang="en-US" altLang="zh-TW" dirty="0" smtClean="0">
                <a:latin typeface="TimesNewRoman"/>
              </a:rPr>
              <a:t>its argument </a:t>
            </a:r>
            <a:r>
              <a:rPr lang="en-US" altLang="zh-TW" i="1" dirty="0">
                <a:latin typeface="TimesNewRoman,Italic"/>
              </a:rPr>
              <a:t>A </a:t>
            </a:r>
            <a:r>
              <a:rPr lang="en-US" altLang="zh-TW" dirty="0">
                <a:latin typeface="TimesNewRoman"/>
              </a:rPr>
              <a:t>is true and 0 otherwise.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310" y="329"/>
            <a:ext cx="4927690" cy="78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454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</TotalTime>
  <Words>511</Words>
  <Application>Microsoft Office PowerPoint</Application>
  <PresentationFormat>寬螢幕</PresentationFormat>
  <Paragraphs>36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1" baseType="lpstr">
      <vt:lpstr>Helvetica Neue</vt:lpstr>
      <vt:lpstr>TimesNewRoman</vt:lpstr>
      <vt:lpstr>TimesNewRoman,Italic</vt:lpstr>
      <vt:lpstr>新細明體</vt:lpstr>
      <vt:lpstr>Arial</vt:lpstr>
      <vt:lpstr>Calibri</vt:lpstr>
      <vt:lpstr>Calibri Light</vt:lpstr>
      <vt:lpstr>Verdana</vt:lpstr>
      <vt:lpstr>Office 佈景主題</vt:lpstr>
      <vt:lpstr>PowerPoint 簡報</vt:lpstr>
      <vt:lpstr>abstract</vt:lpstr>
      <vt:lpstr>Low-level image feature</vt:lpstr>
      <vt:lpstr>HSV</vt:lpstr>
      <vt:lpstr>SIFT(Scale-invariant feature transform)</vt:lpstr>
      <vt:lpstr>SIFT</vt:lpstr>
      <vt:lpstr>SIFT</vt:lpstr>
      <vt:lpstr>LBP</vt:lpstr>
      <vt:lpstr>PowerPoint 簡報</vt:lpstr>
      <vt:lpstr>Estimate measurement of image similarity</vt:lpstr>
      <vt:lpstr>EXPERIMENTS AND RESULTS</vt:lpstr>
      <vt:lpstr>ZCR(zero-crossing rate)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Sun</dc:creator>
  <cp:lastModifiedBy>Sun</cp:lastModifiedBy>
  <cp:revision>28</cp:revision>
  <dcterms:created xsi:type="dcterms:W3CDTF">2015-02-08T19:38:20Z</dcterms:created>
  <dcterms:modified xsi:type="dcterms:W3CDTF">2015-03-31T10:33:52Z</dcterms:modified>
</cp:coreProperties>
</file>