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0" r:id="rId2"/>
    <p:sldId id="261" r:id="rId3"/>
    <p:sldId id="264" r:id="rId4"/>
    <p:sldId id="266" r:id="rId5"/>
    <p:sldId id="263" r:id="rId6"/>
    <p:sldId id="265" r:id="rId7"/>
    <p:sldId id="262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40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64BC7-D94C-4E60-9B9E-BB5F1F9F58D2}" type="datetimeFigureOut">
              <a:rPr lang="zh-TW" altLang="en-US" smtClean="0"/>
              <a:t>2015/8/31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F85D3-4DDB-423D-A80D-9F7E3CE35D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044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http://www.combinatorialmath.ca/jcmcc/jcmcc71.html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0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F85D3-4DDB-423D-A80D-9F7E3CE35D4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96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582A-440D-499B-8FF3-DC629FB17E65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49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EE54-9187-4164-B154-F0B1282E0D92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28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F04AE-8731-4978-BBBE-9E61EC356099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5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6A32-81F4-4254-BADA-D09380E3806B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47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B00B-AF84-460E-A666-89DE34C63807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2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8AEE-2765-4752-B59D-3B21241ABE20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28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DC5B-03EA-459E-9903-F267CF50E719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17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98EBA-A02E-4F2B-A7FC-BCD249EC4BFD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ADF3-EDB1-4C20-9862-743373B5EB35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9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F92C-5969-4D3A-936E-9D92F883E4B7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07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4A63-97C5-455F-9B6B-DCDC4FAA8F5F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50B99-21E2-4CF3-8349-C2EB2DF7EC64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2015/8/31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19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" y="2130425"/>
            <a:ext cx="9129558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/>
              <a:t>Optional Sequence Alignment Allowing For Long Gaps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7016824" cy="1512168"/>
          </a:xfrm>
        </p:spPr>
        <p:txBody>
          <a:bodyPr>
            <a:normAutofit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/>
              <a:t>OSAMU GOTOH</a:t>
            </a:r>
            <a:endParaRPr lang="it-IT" altLang="zh-TW" dirty="0"/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i="1" dirty="0" smtClean="0"/>
              <a:t>Bulletin of Mathematical Biology, </a:t>
            </a:r>
            <a:r>
              <a:rPr lang="en-US" altLang="zh-TW" sz="2000" dirty="0" smtClean="0"/>
              <a:t>Vol. 52, No. 3, pp. 359—373(1990)</a:t>
            </a:r>
            <a:endParaRPr lang="zh-TW" altLang="en-US" sz="2000" dirty="0">
              <a:solidFill>
                <a:prstClr val="black"/>
              </a:solidFill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05C5-2A8E-44A6-8CFC-004FFAC5B1E9}" type="datetime1">
              <a:rPr lang="zh-TW" altLang="en-US" smtClean="0"/>
              <a:t>2015/8/31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1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25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200" dirty="0" smtClean="0"/>
                  <a:t>	A </a:t>
                </a:r>
                <a:r>
                  <a:rPr lang="en-US" altLang="zh-TW" sz="2200" dirty="0"/>
                  <a:t>new algorithm for optimal sequence alignment allowing for long insertions and deletions </a:t>
                </a:r>
                <a:r>
                  <a:rPr lang="en-US" altLang="zh-TW" sz="2200" dirty="0" smtClean="0"/>
                  <a:t>is developed</a:t>
                </a:r>
                <a:r>
                  <a:rPr lang="en-US" altLang="zh-TW" sz="2200" dirty="0"/>
                  <a:t>. </a:t>
                </a:r>
                <a:endParaRPr lang="en-US" altLang="zh-TW" sz="2200" dirty="0" smtClean="0"/>
              </a:p>
              <a:p>
                <a:pPr marL="0" indent="0">
                  <a:buNone/>
                </a:pPr>
                <a:r>
                  <a:rPr lang="en-US" altLang="zh-TW" sz="2200" dirty="0"/>
                  <a:t>	</a:t>
                </a:r>
                <a:r>
                  <a:rPr lang="en-US" altLang="zh-TW" sz="2200" dirty="0" smtClean="0"/>
                  <a:t>The </a:t>
                </a:r>
                <a:r>
                  <a:rPr lang="en-US" altLang="zh-TW" sz="2200" dirty="0"/>
                  <a:t>algorithm requires O((L+C)MN) computational steps, O(LN)</a:t>
                </a:r>
                <a:r>
                  <a:rPr lang="en-US" altLang="zh-TW" sz="2200" i="1" dirty="0"/>
                  <a:t> </a:t>
                </a:r>
                <a:r>
                  <a:rPr lang="en-US" altLang="zh-TW" sz="2200" dirty="0" smtClean="0"/>
                  <a:t>primary memory </a:t>
                </a:r>
                <a:r>
                  <a:rPr lang="en-US" altLang="zh-TW" sz="2200" dirty="0"/>
                  <a:t>and O(MN) secondary memory storage, where M and N (</a:t>
                </a:r>
                <a:r>
                  <a:rPr lang="en-US" altLang="zh-TW" sz="2200" dirty="0" smtClean="0"/>
                  <a:t>M</a:t>
                </a:r>
                <a14:m>
                  <m:oMath xmlns:m="http://schemas.openxmlformats.org/officeDocument/2006/math">
                    <m:r>
                      <a:rPr lang="en-US" altLang="zh-TW" sz="22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sz="2200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N) are sequence </a:t>
                </a:r>
                <a:r>
                  <a:rPr lang="en-US" altLang="zh-TW" sz="2200" dirty="0" smtClean="0"/>
                  <a:t>lengths, L </a:t>
                </a:r>
                <a:r>
                  <a:rPr lang="en-US" altLang="zh-TW" sz="2200" dirty="0"/>
                  <a:t>(typically </a:t>
                </a:r>
                <a:r>
                  <a:rPr lang="en-US" altLang="zh-TW" sz="2200" dirty="0" smtClean="0"/>
                  <a:t>L</a:t>
                </a:r>
                <a14:m>
                  <m:oMath xmlns:m="http://schemas.openxmlformats.org/officeDocument/2006/math">
                    <m:r>
                      <a:rPr lang="en-US" altLang="zh-TW" sz="22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3) is the number of segment specifying the gap weighting function, and C is a</a:t>
                </a:r>
              </a:p>
              <a:p>
                <a:pPr marL="0" indent="0">
                  <a:buNone/>
                </a:pPr>
                <a:r>
                  <a:rPr lang="en-US" altLang="zh-TW" sz="2200" dirty="0"/>
                  <a:t>constant. </a:t>
                </a:r>
                <a:endParaRPr lang="en-US" altLang="zh-TW" sz="2200" dirty="0" smtClean="0"/>
              </a:p>
              <a:p>
                <a:pPr marL="0" indent="0">
                  <a:buNone/>
                </a:pPr>
                <a:r>
                  <a:rPr lang="en-US" altLang="zh-TW" sz="2200" dirty="0"/>
                  <a:t>	</a:t>
                </a:r>
                <a:r>
                  <a:rPr lang="en-US" altLang="zh-TW" sz="2200" dirty="0" smtClean="0"/>
                  <a:t>We </a:t>
                </a:r>
                <a:r>
                  <a:rPr lang="en-US" altLang="zh-TW" sz="2200" dirty="0"/>
                  <a:t>have also modified our earlier </a:t>
                </a:r>
                <a:r>
                  <a:rPr lang="en-US" altLang="zh-TW" sz="2200" dirty="0" smtClean="0"/>
                  <a:t>trace-back </a:t>
                </a:r>
                <a:r>
                  <a:rPr lang="en-US" altLang="zh-TW" sz="2200" dirty="0"/>
                  <a:t>algorithm so that it finds all and only </a:t>
                </a:r>
                <a:r>
                  <a:rPr lang="en-US" altLang="zh-TW" sz="2200" dirty="0" smtClean="0"/>
                  <a:t>the optimal </a:t>
                </a:r>
                <a:r>
                  <a:rPr lang="en-US" altLang="zh-TW" sz="2200" dirty="0"/>
                  <a:t>alignments in a compact form of a directed graph. </a:t>
                </a:r>
                <a:endParaRPr lang="en-US" altLang="zh-TW" sz="2200" dirty="0" smtClean="0"/>
              </a:p>
              <a:p>
                <a:pPr marL="0" indent="0">
                  <a:buNone/>
                </a:pPr>
                <a:r>
                  <a:rPr lang="en-US" altLang="zh-TW" sz="2200" dirty="0"/>
                  <a:t>	</a:t>
                </a:r>
                <a:r>
                  <a:rPr lang="en-US" altLang="zh-TW" sz="2200" dirty="0" smtClean="0"/>
                  <a:t>The </a:t>
                </a:r>
                <a:r>
                  <a:rPr lang="en-US" altLang="zh-TW" sz="2200" dirty="0"/>
                  <a:t>current versions accept a set </a:t>
                </a:r>
                <a:r>
                  <a:rPr lang="en-US" altLang="zh-TW" sz="2200" dirty="0" smtClean="0"/>
                  <a:t>of aligned </a:t>
                </a:r>
                <a:r>
                  <a:rPr lang="en-US" altLang="zh-TW" sz="2200" dirty="0"/>
                  <a:t>sequences as input, which facilitates multiple sequence alignment by some iterative</a:t>
                </a:r>
              </a:p>
              <a:p>
                <a:pPr marL="0" indent="0">
                  <a:buNone/>
                </a:pPr>
                <a:r>
                  <a:rPr lang="en-US" altLang="zh-TW" sz="2200" dirty="0"/>
                  <a:t>procedures.</a:t>
                </a:r>
                <a:endParaRPr lang="zh-TW" altLang="en-US" sz="22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809" r="-1259" b="-83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60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Algorithm(1/2)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55576" y="1412776"/>
                <a:ext cx="7848872" cy="2202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𝐷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−1,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TW" b="0" dirty="0" smtClean="0"/>
              </a:p>
              <a:p>
                <a:r>
                  <a:rPr lang="en-US" altLang="zh-TW" b="0" dirty="0" smtClean="0"/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m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𝑖𝑛</m:t>
                              </m:r>
                            </m:e>
                            <m:lim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1≤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𝑚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{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𝑤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)}</m:t>
                          </m:r>
                        </m:e>
                      </m:func>
                    </m:oMath>
                  </m:oMathPara>
                </a14:m>
                <a:endParaRPr lang="en-US" altLang="zh-TW" b="0" dirty="0" smtClean="0"/>
              </a:p>
              <a:p>
                <a:pPr algn="ctr"/>
                <a:r>
                  <a:rPr lang="en-US" altLang="zh-TW" dirty="0"/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m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𝑖𝑛</m:t>
                            </m:r>
                          </m:e>
                          <m:lim>
                            <m:r>
                              <a:rPr lang="en-US" altLang="zh-TW" b="0" i="1" smtClean="0">
                                <a:latin typeface="Cambria Math"/>
                              </a:rPr>
                              <m:t>1≤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𝑚</m:t>
                            </m:r>
                          </m:lim>
                        </m:limLow>
                      </m:fName>
                      <m:e>
                        <m:r>
                          <a:rPr lang="en-US" altLang="zh-TW" b="0" i="1" smtClean="0">
                            <a:latin typeface="Cambria Math"/>
                          </a:rPr>
                          <m:t>{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𝑤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)}</m:t>
                        </m:r>
                      </m:e>
                    </m:func>
                  </m:oMath>
                </a14:m>
                <a:endParaRPr lang="en-US" altLang="zh-TW" b="0" dirty="0" smtClean="0"/>
              </a:p>
              <a:p>
                <a:r>
                  <a:rPr lang="en-US" altLang="zh-TW" b="0" dirty="0" smtClean="0"/>
                  <a:t>(</a:t>
                </a:r>
                <a:r>
                  <a:rPr lang="en-US" altLang="zh-TW" dirty="0"/>
                  <a:t>algorithm of Waterman </a:t>
                </a:r>
                <a:r>
                  <a:rPr lang="en-US" altLang="zh-TW" i="1" dirty="0"/>
                  <a:t>et al. </a:t>
                </a:r>
                <a:r>
                  <a:rPr lang="en-US" altLang="zh-TW" dirty="0"/>
                  <a:t>(1976</a:t>
                </a:r>
                <a:r>
                  <a:rPr lang="en-US" altLang="zh-TW" dirty="0" smtClean="0"/>
                  <a:t>)</a:t>
                </a:r>
                <a:r>
                  <a:rPr lang="en-US" altLang="zh-TW" b="0" dirty="0" smtClean="0"/>
                  <a:t>)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Example of w(k)= k+1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12776"/>
                <a:ext cx="7848872" cy="2202141"/>
              </a:xfrm>
              <a:prstGeom prst="rect">
                <a:avLst/>
              </a:prstGeom>
              <a:blipFill rotWithShape="1">
                <a:blip r:embed="rId2"/>
                <a:stretch>
                  <a:fillRect l="-699" b="-36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532566"/>
                  </p:ext>
                </p:extLst>
              </p:nvPr>
            </p:nvGraphicFramePr>
            <p:xfrm>
              <a:off x="3203848" y="3140968"/>
              <a:ext cx="4245615" cy="29197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</a:tblGrid>
                  <a:tr h="486630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486630">
                    <a:tc gridSpan="2"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532566"/>
                  </p:ext>
                </p:extLst>
              </p:nvPr>
            </p:nvGraphicFramePr>
            <p:xfrm>
              <a:off x="3203848" y="3140968"/>
              <a:ext cx="4245615" cy="29197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  <a:gridCol w="471735"/>
                  </a:tblGrid>
                  <a:tr h="486630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486630">
                    <a:tc gridSpan="2"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2597" t="-106250" r="-60389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206250" r="-6948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</a:tr>
                  <a:tr h="486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T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31995"/>
              </p:ext>
            </p:extLst>
          </p:nvPr>
        </p:nvGraphicFramePr>
        <p:xfrm>
          <a:off x="7452320" y="3645025"/>
          <a:ext cx="864096" cy="1944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</a:tblGrid>
              <a:tr h="48486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w(k)</a:t>
                      </a:r>
                      <a:endParaRPr lang="zh-TW" altLang="en-US" dirty="0"/>
                    </a:p>
                  </a:txBody>
                  <a:tcPr/>
                </a:tc>
              </a:tr>
              <a:tr h="41559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w(3)=4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8486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w(2)=3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5889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w(1)=2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675127"/>
              </p:ext>
            </p:extLst>
          </p:nvPr>
        </p:nvGraphicFramePr>
        <p:xfrm>
          <a:off x="3419870" y="6093296"/>
          <a:ext cx="3528392" cy="50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80"/>
                <a:gridCol w="470452"/>
                <a:gridCol w="470452"/>
                <a:gridCol w="470452"/>
                <a:gridCol w="470452"/>
                <a:gridCol w="470452"/>
                <a:gridCol w="47045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w(k)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01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Piecewise linear gap-weighting function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114" y="2328516"/>
            <a:ext cx="5607439" cy="4529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43608" y="1650866"/>
                <a:ext cx="8028383" cy="55399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/>
                      </a:rPr>
                      <m:t>𝑤</m:t>
                    </m:r>
                    <m:r>
                      <a:rPr lang="en-US" altLang="zh-TW" sz="3000" i="1" baseline="-25000" dirty="0" err="1" smtClean="0">
                        <a:latin typeface="Cambria Math"/>
                      </a:rPr>
                      <m:t>𝑖</m:t>
                    </m:r>
                    <m:d>
                      <m:dPr>
                        <m:ctrlPr>
                          <a:rPr lang="en-US" altLang="zh-TW" sz="3000" i="1" baseline="-25000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3000" i="1" dirty="0" smtClean="0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en-US" altLang="zh-TW" sz="3000" i="1" dirty="0" smtClean="0">
                        <a:latin typeface="Cambria Math"/>
                      </a:rPr>
                      <m:t>= </m:t>
                    </m:r>
                    <m:r>
                      <a:rPr lang="en-US" altLang="zh-TW" sz="3000" i="1" dirty="0" err="1" smtClean="0">
                        <a:latin typeface="Cambria Math"/>
                      </a:rPr>
                      <m:t>𝑣</m:t>
                    </m:r>
                    <m:r>
                      <a:rPr lang="en-US" altLang="zh-TW" sz="3000" i="1" baseline="-25000" dirty="0" err="1" smtClean="0">
                        <a:latin typeface="Cambria Math"/>
                      </a:rPr>
                      <m:t>𝑖</m:t>
                    </m:r>
                    <m:r>
                      <a:rPr lang="en-US" altLang="zh-TW" sz="3000" i="1" dirty="0" err="1" smtClean="0">
                        <a:latin typeface="Cambria Math"/>
                      </a:rPr>
                      <m:t>𝑘</m:t>
                    </m:r>
                    <m:r>
                      <a:rPr lang="en-US" altLang="zh-TW" sz="3000" i="1" dirty="0" smtClean="0">
                        <a:latin typeface="Cambria Math"/>
                      </a:rPr>
                      <m:t> + </m:t>
                    </m:r>
                    <m:r>
                      <a:rPr lang="en-US" altLang="zh-TW" sz="3000" i="1" dirty="0" err="1" smtClean="0">
                        <a:latin typeface="Cambria Math"/>
                      </a:rPr>
                      <m:t>𝑢</m:t>
                    </m:r>
                    <m:r>
                      <a:rPr lang="en-US" altLang="zh-TW" sz="3000" i="1" baseline="-25000" dirty="0" err="1" smtClean="0">
                        <a:latin typeface="Cambria Math"/>
                      </a:rPr>
                      <m:t>𝑖</m:t>
                    </m:r>
                    <m:r>
                      <a:rPr lang="en-US" altLang="zh-TW" sz="3000" b="0" i="1" baseline="-25000" dirty="0" smtClean="0">
                        <a:latin typeface="Cambria Math"/>
                      </a:rPr>
                      <m:t> ,</m:t>
                    </m:r>
                  </m:oMath>
                </a14:m>
                <a:r>
                  <a:rPr lang="en-US" altLang="zh-TW" sz="3000" dirty="0" smtClean="0"/>
                  <a:t>where 0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30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sz="300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/>
                        <a:ea typeface="Cambria Math"/>
                      </a:rPr>
                      <m:t>L</m:t>
                    </m:r>
                    <m:r>
                      <a:rPr lang="en-US" altLang="zh-TW" sz="3000" b="0" i="0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650866"/>
                <a:ext cx="8028383" cy="55399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27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Algorithm(2/2)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61" y="1124744"/>
            <a:ext cx="88011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直線接點 8"/>
          <p:cNvCxnSpPr/>
          <p:nvPr/>
        </p:nvCxnSpPr>
        <p:spPr>
          <a:xfrm>
            <a:off x="6372200" y="5229200"/>
            <a:ext cx="129614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1681"/>
            <a:ext cx="9144000" cy="1401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直線接點 15"/>
          <p:cNvCxnSpPr/>
          <p:nvPr/>
        </p:nvCxnSpPr>
        <p:spPr>
          <a:xfrm>
            <a:off x="3059832" y="1916832"/>
            <a:ext cx="7920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843808" y="6165304"/>
            <a:ext cx="3528392" cy="64807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94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Presentation of optimal alignments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605077"/>
            <a:ext cx="6298328" cy="435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-1116632" y="191857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TW" dirty="0" smtClean="0"/>
              <a:t>(a)</a:t>
            </a:r>
          </a:p>
          <a:p>
            <a:pPr algn="ctr"/>
            <a:r>
              <a:rPr lang="en-US" altLang="zh-TW" dirty="0" smtClean="0"/>
              <a:t>Standard</a:t>
            </a:r>
            <a:r>
              <a:rPr lang="en-US" altLang="zh-TW" baseline="0" dirty="0" smtClean="0"/>
              <a:t> alignments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-1116632" y="299695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TW" dirty="0" smtClean="0"/>
              <a:t>(b)</a:t>
            </a:r>
          </a:p>
          <a:p>
            <a:pPr algn="ctr"/>
            <a:r>
              <a:rPr lang="en-US" altLang="zh-TW" dirty="0" smtClean="0"/>
              <a:t>Path</a:t>
            </a:r>
            <a:r>
              <a:rPr lang="en-US" altLang="zh-TW" baseline="0" dirty="0" smtClean="0"/>
              <a:t> representations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-1116632" y="40050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TW" dirty="0" smtClean="0"/>
              <a:t>(c)</a:t>
            </a:r>
          </a:p>
          <a:p>
            <a:pPr algn="ctr"/>
            <a:r>
              <a:rPr lang="en-US" altLang="zh-TW" dirty="0" smtClean="0"/>
              <a:t>Skeletal</a:t>
            </a:r>
            <a:r>
              <a:rPr lang="en-US" altLang="zh-TW" baseline="0" dirty="0" smtClean="0"/>
              <a:t> representations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-1116632" y="508518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TW" dirty="0" smtClean="0"/>
              <a:t>(d)</a:t>
            </a:r>
          </a:p>
          <a:p>
            <a:pPr algn="ctr"/>
            <a:r>
              <a:rPr lang="en-US" altLang="zh-TW" dirty="0" smtClean="0"/>
              <a:t>Reduced forms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 flipV="1">
            <a:off x="2771800" y="2924943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 flipV="1">
            <a:off x="3203848" y="2924944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flipV="1">
            <a:off x="3995936" y="3573015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flipV="1">
            <a:off x="4283968" y="2924944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flipV="1">
            <a:off x="4716016" y="2924944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 flipV="1">
            <a:off x="5364088" y="3356991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 flipV="1">
            <a:off x="5580112" y="3573015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 flipV="1">
            <a:off x="5796136" y="2924944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 flipV="1">
            <a:off x="6876256" y="3356991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 flipV="1">
            <a:off x="7092280" y="3573015"/>
            <a:ext cx="144016" cy="14401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7236296" y="4941168"/>
            <a:ext cx="1656184" cy="108012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4427984" y="6021288"/>
            <a:ext cx="4464496" cy="4320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Using reduced forms to trackback by FPS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982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52585"/>
            <a:ext cx="7056784" cy="6290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496" y="30905"/>
            <a:ext cx="6408710" cy="5539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000" dirty="0" smtClean="0"/>
              <a:t>a=AGT, b=TGAGTT, L=1, </a:t>
            </a:r>
            <a:r>
              <a:rPr lang="en-US" altLang="zh-TW" sz="3000" dirty="0" smtClean="0"/>
              <a:t>w</a:t>
            </a:r>
            <a:r>
              <a:rPr lang="en-US" altLang="zh-TW" sz="3000" baseline="-25000" dirty="0" smtClean="0"/>
              <a:t>1</a:t>
            </a:r>
            <a:r>
              <a:rPr lang="en-US" altLang="zh-TW" sz="3000" dirty="0" smtClean="0"/>
              <a:t> (k</a:t>
            </a:r>
            <a:r>
              <a:rPr lang="en-US" altLang="zh-TW" sz="3000" dirty="0" smtClean="0"/>
              <a:t>)=k+1</a:t>
            </a:r>
            <a:endParaRPr lang="zh-TW" altLang="en-US" sz="3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3" y="836712"/>
            <a:ext cx="2195737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12"/>
          <p:cNvSpPr/>
          <p:nvPr/>
        </p:nvSpPr>
        <p:spPr>
          <a:xfrm>
            <a:off x="6943272" y="908720"/>
            <a:ext cx="2200727" cy="165618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220072" y="945595"/>
            <a:ext cx="1584174" cy="3231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500" dirty="0" smtClean="0"/>
              <a:t>Primary list</a:t>
            </a:r>
            <a:endParaRPr lang="zh-TW" altLang="en-US" sz="1500" dirty="0"/>
          </a:p>
        </p:txBody>
      </p:sp>
      <p:sp>
        <p:nvSpPr>
          <p:cNvPr id="15" name="矩形 14"/>
          <p:cNvSpPr/>
          <p:nvPr/>
        </p:nvSpPr>
        <p:spPr>
          <a:xfrm>
            <a:off x="4860032" y="6226868"/>
            <a:ext cx="1584174" cy="3231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500" dirty="0" smtClean="0"/>
              <a:t>Second list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389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75"/>
          <a:stretch/>
        </p:blipFill>
        <p:spPr bwMode="auto">
          <a:xfrm>
            <a:off x="107504" y="552585"/>
            <a:ext cx="2443432" cy="6290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611560" y="945595"/>
            <a:ext cx="1584174" cy="3231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500" dirty="0" smtClean="0"/>
              <a:t>Primary list</a:t>
            </a:r>
            <a:endParaRPr lang="zh-TW" altLang="en-US" sz="1500" dirty="0"/>
          </a:p>
        </p:txBody>
      </p:sp>
      <p:sp>
        <p:nvSpPr>
          <p:cNvPr id="7" name="矩形 6"/>
          <p:cNvSpPr/>
          <p:nvPr/>
        </p:nvSpPr>
        <p:spPr>
          <a:xfrm>
            <a:off x="323528" y="6237878"/>
            <a:ext cx="1584174" cy="3231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500" dirty="0" smtClean="0"/>
              <a:t>Second list</a:t>
            </a:r>
            <a:endParaRPr lang="zh-TW" altLang="en-US" sz="1500" dirty="0"/>
          </a:p>
        </p:txBody>
      </p:sp>
      <p:grpSp>
        <p:nvGrpSpPr>
          <p:cNvPr id="65" name="群組 64"/>
          <p:cNvGrpSpPr/>
          <p:nvPr/>
        </p:nvGrpSpPr>
        <p:grpSpPr>
          <a:xfrm>
            <a:off x="3375337" y="1484784"/>
            <a:ext cx="2204775" cy="4227263"/>
            <a:chOff x="4506487" y="3861048"/>
            <a:chExt cx="1782926" cy="1845816"/>
          </a:xfrm>
        </p:grpSpPr>
        <p:sp>
          <p:nvSpPr>
            <p:cNvPr id="8" name="文字方塊 7"/>
            <p:cNvSpPr txBox="1"/>
            <p:nvPr/>
          </p:nvSpPr>
          <p:spPr>
            <a:xfrm>
              <a:off x="5074323" y="5351150"/>
              <a:ext cx="637293" cy="355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000" dirty="0" smtClean="0"/>
                <a:t>(3,6)</a:t>
              </a:r>
              <a:endParaRPr lang="zh-TW" altLang="en-US" sz="3000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4506487" y="4437112"/>
              <a:ext cx="637293" cy="355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000" dirty="0" smtClean="0"/>
                <a:t>(0,2)</a:t>
              </a:r>
              <a:endParaRPr lang="zh-TW" altLang="en-US" sz="3000" dirty="0"/>
            </a:p>
          </p:txBody>
        </p:sp>
        <p:cxnSp>
          <p:nvCxnSpPr>
            <p:cNvPr id="12" name="直線單箭頭接點 11"/>
            <p:cNvCxnSpPr>
              <a:stCxn id="10" idx="2"/>
              <a:endCxn id="8" idx="1"/>
            </p:cNvCxnSpPr>
            <p:nvPr/>
          </p:nvCxnSpPr>
          <p:spPr>
            <a:xfrm>
              <a:off x="4825134" y="4792826"/>
              <a:ext cx="249189" cy="73618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5652120" y="4437112"/>
              <a:ext cx="637293" cy="355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000" dirty="0" smtClean="0"/>
                <a:t>(2,5)</a:t>
              </a:r>
              <a:endParaRPr lang="zh-TW" altLang="en-US" sz="3000" dirty="0"/>
            </a:p>
          </p:txBody>
        </p:sp>
        <p:cxnSp>
          <p:nvCxnSpPr>
            <p:cNvPr id="14" name="直線單箭頭接點 13"/>
            <p:cNvCxnSpPr>
              <a:stCxn id="13" idx="2"/>
              <a:endCxn id="8" idx="3"/>
            </p:cNvCxnSpPr>
            <p:nvPr/>
          </p:nvCxnSpPr>
          <p:spPr>
            <a:xfrm flipH="1">
              <a:off x="5711616" y="4792826"/>
              <a:ext cx="259150" cy="73618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5037783" y="3861048"/>
              <a:ext cx="637293" cy="3557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000" dirty="0" smtClean="0"/>
                <a:t>(0,0)</a:t>
              </a:r>
              <a:endParaRPr lang="zh-TW" altLang="en-US" sz="3000" dirty="0"/>
            </a:p>
          </p:txBody>
        </p:sp>
        <p:cxnSp>
          <p:nvCxnSpPr>
            <p:cNvPr id="20" name="直線單箭頭接點 19"/>
            <p:cNvCxnSpPr>
              <a:stCxn id="10" idx="3"/>
              <a:endCxn id="13" idx="1"/>
            </p:cNvCxnSpPr>
            <p:nvPr/>
          </p:nvCxnSpPr>
          <p:spPr>
            <a:xfrm>
              <a:off x="5143780" y="4614969"/>
              <a:ext cx="50833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19" idx="3"/>
              <a:endCxn id="13" idx="0"/>
            </p:cNvCxnSpPr>
            <p:nvPr/>
          </p:nvCxnSpPr>
          <p:spPr>
            <a:xfrm>
              <a:off x="5675076" y="4038905"/>
              <a:ext cx="295690" cy="39820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19" idx="1"/>
              <a:endCxn id="10" idx="0"/>
            </p:cNvCxnSpPr>
            <p:nvPr/>
          </p:nvCxnSpPr>
          <p:spPr>
            <a:xfrm flipH="1">
              <a:off x="4825134" y="4038905"/>
              <a:ext cx="212649" cy="39820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6" name="向下箭號 65"/>
          <p:cNvSpPr/>
          <p:nvPr/>
        </p:nvSpPr>
        <p:spPr>
          <a:xfrm rot="16200000">
            <a:off x="2722702" y="2719619"/>
            <a:ext cx="498428" cy="832275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233" y="1498902"/>
            <a:ext cx="2195737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" name="矩形 68"/>
          <p:cNvSpPr/>
          <p:nvPr/>
        </p:nvSpPr>
        <p:spPr>
          <a:xfrm>
            <a:off x="82419" y="523144"/>
            <a:ext cx="2473357" cy="62182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向下箭號 69"/>
          <p:cNvSpPr/>
          <p:nvPr/>
        </p:nvSpPr>
        <p:spPr>
          <a:xfrm rot="18056376">
            <a:off x="6011352" y="2558085"/>
            <a:ext cx="580893" cy="115534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endParaRPr lang="en-US" altLang="zh-TW" dirty="0" smtClean="0"/>
          </a:p>
          <a:p>
            <a:pPr algn="ctr"/>
            <a:r>
              <a:rPr lang="en-US" altLang="zh-TW" dirty="0" smtClean="0"/>
              <a:t>DFS</a:t>
            </a:r>
            <a:endParaRPr lang="zh-TW" altLang="en-US" dirty="0" smtClean="0"/>
          </a:p>
          <a:p>
            <a:pPr algn="ctr"/>
            <a:endParaRPr lang="zh-TW" altLang="en-US" dirty="0"/>
          </a:p>
        </p:txBody>
      </p:sp>
      <p:grpSp>
        <p:nvGrpSpPr>
          <p:cNvPr id="71" name="群組 70"/>
          <p:cNvGrpSpPr/>
          <p:nvPr/>
        </p:nvGrpSpPr>
        <p:grpSpPr>
          <a:xfrm>
            <a:off x="6084734" y="3698045"/>
            <a:ext cx="3035944" cy="379110"/>
            <a:chOff x="5037783" y="3852195"/>
            <a:chExt cx="684956" cy="171595"/>
          </a:xfrm>
        </p:grpSpPr>
        <p:sp>
          <p:nvSpPr>
            <p:cNvPr id="72" name="文字方塊 71"/>
            <p:cNvSpPr txBox="1"/>
            <p:nvPr/>
          </p:nvSpPr>
          <p:spPr>
            <a:xfrm>
              <a:off x="5593947" y="3856621"/>
              <a:ext cx="128792" cy="167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(3,6)</a:t>
              </a:r>
              <a:endParaRPr lang="zh-TW" altLang="en-US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328556" y="3852195"/>
              <a:ext cx="127286" cy="167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(2,5)</a:t>
              </a:r>
              <a:endParaRPr lang="zh-TW" altLang="en-US" dirty="0"/>
            </a:p>
          </p:txBody>
        </p:sp>
        <p:cxnSp>
          <p:nvCxnSpPr>
            <p:cNvPr id="76" name="直線單箭頭接點 75"/>
            <p:cNvCxnSpPr>
              <a:stCxn id="75" idx="3"/>
              <a:endCxn id="72" idx="1"/>
            </p:cNvCxnSpPr>
            <p:nvPr/>
          </p:nvCxnSpPr>
          <p:spPr>
            <a:xfrm>
              <a:off x="5455842" y="3935780"/>
              <a:ext cx="138105" cy="44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77" name="文字方塊 76"/>
            <p:cNvSpPr txBox="1"/>
            <p:nvPr/>
          </p:nvSpPr>
          <p:spPr>
            <a:xfrm>
              <a:off x="5037783" y="3856585"/>
              <a:ext cx="141197" cy="167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(0,0)</a:t>
              </a:r>
              <a:endParaRPr lang="zh-TW" altLang="en-US" dirty="0"/>
            </a:p>
          </p:txBody>
        </p:sp>
        <p:cxnSp>
          <p:nvCxnSpPr>
            <p:cNvPr id="79" name="直線單箭頭接點 78"/>
            <p:cNvCxnSpPr>
              <a:stCxn id="77" idx="3"/>
              <a:endCxn id="75" idx="1"/>
            </p:cNvCxnSpPr>
            <p:nvPr/>
          </p:nvCxnSpPr>
          <p:spPr>
            <a:xfrm flipV="1">
              <a:off x="5178980" y="3935780"/>
              <a:ext cx="149576" cy="43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9" name="矩形 98"/>
          <p:cNvSpPr/>
          <p:nvPr/>
        </p:nvSpPr>
        <p:spPr>
          <a:xfrm>
            <a:off x="3388054" y="1484783"/>
            <a:ext cx="2268941" cy="3960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0" name="群組 99"/>
          <p:cNvGrpSpPr/>
          <p:nvPr/>
        </p:nvGrpSpPr>
        <p:grpSpPr>
          <a:xfrm>
            <a:off x="6140131" y="4365104"/>
            <a:ext cx="3035944" cy="379110"/>
            <a:chOff x="5037783" y="3852195"/>
            <a:chExt cx="684956" cy="171595"/>
          </a:xfrm>
        </p:grpSpPr>
        <p:sp>
          <p:nvSpPr>
            <p:cNvPr id="101" name="文字方塊 100"/>
            <p:cNvSpPr txBox="1"/>
            <p:nvPr/>
          </p:nvSpPr>
          <p:spPr>
            <a:xfrm>
              <a:off x="5593947" y="3856621"/>
              <a:ext cx="128792" cy="167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(3,6)</a:t>
              </a:r>
              <a:endParaRPr lang="zh-TW" altLang="en-US" dirty="0"/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5328556" y="3852195"/>
              <a:ext cx="127286" cy="167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(0,2)</a:t>
              </a:r>
              <a:endParaRPr lang="zh-TW" altLang="en-US" dirty="0"/>
            </a:p>
          </p:txBody>
        </p:sp>
        <p:cxnSp>
          <p:nvCxnSpPr>
            <p:cNvPr id="103" name="直線單箭頭接點 102"/>
            <p:cNvCxnSpPr>
              <a:stCxn id="102" idx="3"/>
              <a:endCxn id="101" idx="1"/>
            </p:cNvCxnSpPr>
            <p:nvPr/>
          </p:nvCxnSpPr>
          <p:spPr>
            <a:xfrm>
              <a:off x="5455842" y="3935780"/>
              <a:ext cx="138105" cy="44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4" name="文字方塊 103"/>
            <p:cNvSpPr txBox="1"/>
            <p:nvPr/>
          </p:nvSpPr>
          <p:spPr>
            <a:xfrm>
              <a:off x="5037783" y="3856585"/>
              <a:ext cx="141197" cy="167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(0,0)</a:t>
              </a:r>
              <a:endParaRPr lang="zh-TW" altLang="en-US" dirty="0"/>
            </a:p>
          </p:txBody>
        </p:sp>
        <p:cxnSp>
          <p:nvCxnSpPr>
            <p:cNvPr id="105" name="直線單箭頭接點 104"/>
            <p:cNvCxnSpPr>
              <a:stCxn id="104" idx="3"/>
              <a:endCxn id="102" idx="1"/>
            </p:cNvCxnSpPr>
            <p:nvPr/>
          </p:nvCxnSpPr>
          <p:spPr>
            <a:xfrm flipV="1">
              <a:off x="5178980" y="3935780"/>
              <a:ext cx="149576" cy="43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9" name="群組 128"/>
          <p:cNvGrpSpPr/>
          <p:nvPr/>
        </p:nvGrpSpPr>
        <p:grpSpPr>
          <a:xfrm>
            <a:off x="6084166" y="5017991"/>
            <a:ext cx="3096346" cy="375688"/>
            <a:chOff x="6193046" y="5532197"/>
            <a:chExt cx="3096346" cy="375688"/>
          </a:xfrm>
        </p:grpSpPr>
        <p:grpSp>
          <p:nvGrpSpPr>
            <p:cNvPr id="106" name="群組 105"/>
            <p:cNvGrpSpPr/>
            <p:nvPr/>
          </p:nvGrpSpPr>
          <p:grpSpPr>
            <a:xfrm>
              <a:off x="6193046" y="5532197"/>
              <a:ext cx="2227037" cy="375688"/>
              <a:chOff x="5037783" y="3856585"/>
              <a:chExt cx="502454" cy="170046"/>
            </a:xfrm>
          </p:grpSpPr>
          <p:sp>
            <p:nvSpPr>
              <p:cNvPr id="107" name="文字方塊 106"/>
              <p:cNvSpPr txBox="1"/>
              <p:nvPr/>
            </p:nvSpPr>
            <p:spPr>
              <a:xfrm>
                <a:off x="5411445" y="3859462"/>
                <a:ext cx="128792" cy="167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(2,5)</a:t>
                </a:r>
                <a:endParaRPr lang="zh-TW" altLang="en-US" dirty="0"/>
              </a:p>
            </p:txBody>
          </p:sp>
          <p:sp>
            <p:nvSpPr>
              <p:cNvPr id="108" name="文字方塊 107"/>
              <p:cNvSpPr txBox="1"/>
              <p:nvPr/>
            </p:nvSpPr>
            <p:spPr>
              <a:xfrm>
                <a:off x="5229331" y="3856621"/>
                <a:ext cx="127286" cy="167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(0,2)</a:t>
                </a:r>
                <a:endParaRPr lang="zh-TW" altLang="en-US" dirty="0"/>
              </a:p>
            </p:txBody>
          </p:sp>
          <p:cxnSp>
            <p:nvCxnSpPr>
              <p:cNvPr id="109" name="直線單箭頭接點 108"/>
              <p:cNvCxnSpPr>
                <a:stCxn id="108" idx="3"/>
                <a:endCxn id="107" idx="1"/>
              </p:cNvCxnSpPr>
              <p:nvPr/>
            </p:nvCxnSpPr>
            <p:spPr>
              <a:xfrm>
                <a:off x="5356617" y="3940206"/>
                <a:ext cx="54828" cy="284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0" name="文字方塊 109"/>
              <p:cNvSpPr txBox="1"/>
              <p:nvPr/>
            </p:nvSpPr>
            <p:spPr>
              <a:xfrm>
                <a:off x="5037783" y="3856585"/>
                <a:ext cx="141197" cy="167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(0,0)</a:t>
                </a:r>
                <a:endParaRPr lang="zh-TW" altLang="en-US" dirty="0"/>
              </a:p>
            </p:txBody>
          </p:sp>
          <p:cxnSp>
            <p:nvCxnSpPr>
              <p:cNvPr id="111" name="直線單箭頭接點 110"/>
              <p:cNvCxnSpPr>
                <a:stCxn id="110" idx="3"/>
                <a:endCxn id="108" idx="1"/>
              </p:cNvCxnSpPr>
              <p:nvPr/>
            </p:nvCxnSpPr>
            <p:spPr>
              <a:xfrm>
                <a:off x="5178980" y="3940170"/>
                <a:ext cx="50351" cy="3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12" name="文字方塊 111"/>
            <p:cNvSpPr txBox="1"/>
            <p:nvPr/>
          </p:nvSpPr>
          <p:spPr>
            <a:xfrm>
              <a:off x="8718545" y="5538553"/>
              <a:ext cx="5708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(3,6)</a:t>
              </a:r>
              <a:endParaRPr lang="zh-TW" altLang="en-US" dirty="0"/>
            </a:p>
          </p:txBody>
        </p:sp>
        <p:cxnSp>
          <p:nvCxnSpPr>
            <p:cNvPr id="113" name="直線單箭頭接點 112"/>
            <p:cNvCxnSpPr>
              <a:stCxn id="107" idx="3"/>
              <a:endCxn id="112" idx="1"/>
            </p:cNvCxnSpPr>
            <p:nvPr/>
          </p:nvCxnSpPr>
          <p:spPr>
            <a:xfrm>
              <a:off x="8420083" y="5723219"/>
              <a:ext cx="29846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0" name="矩形 129"/>
          <p:cNvSpPr/>
          <p:nvPr/>
        </p:nvSpPr>
        <p:spPr>
          <a:xfrm>
            <a:off x="6140131" y="3618729"/>
            <a:ext cx="3003869" cy="19705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Trace-back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623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Time complexity:</a:t>
            </a:r>
          </a:p>
          <a:p>
            <a:pPr lvl="1"/>
            <a:r>
              <a:rPr lang="en-US" altLang="zh-TW" dirty="0" smtClean="0"/>
              <a:t>Get optimal alignment : </a:t>
            </a:r>
            <a:r>
              <a:rPr lang="en-US" altLang="zh-TW" dirty="0" smtClean="0">
                <a:solidFill>
                  <a:srgbClr val="C00000"/>
                </a:solidFill>
              </a:rPr>
              <a:t>O((L+C)MN) times.</a:t>
            </a:r>
          </a:p>
          <a:p>
            <a:pPr lvl="1"/>
            <a:r>
              <a:rPr lang="en-US" altLang="zh-TW" dirty="0" smtClean="0"/>
              <a:t>Trackback: </a:t>
            </a:r>
            <a:r>
              <a:rPr lang="en-US" altLang="zh-TW" dirty="0" smtClean="0">
                <a:solidFill>
                  <a:srgbClr val="C00000"/>
                </a:solidFill>
              </a:rPr>
              <a:t>O(T) times</a:t>
            </a:r>
            <a:r>
              <a:rPr lang="en-US" altLang="zh-TW" dirty="0" smtClean="0"/>
              <a:t>, where T is the total number of gaps in all the optimal alignments.</a:t>
            </a:r>
          </a:p>
          <a:p>
            <a:r>
              <a:rPr lang="en-US" altLang="zh-TW" dirty="0" smtClean="0"/>
              <a:t>Space complexity:</a:t>
            </a:r>
          </a:p>
          <a:p>
            <a:pPr lvl="1"/>
            <a:r>
              <a:rPr lang="en-US" altLang="zh-TW" dirty="0" smtClean="0">
                <a:solidFill>
                  <a:srgbClr val="C00000"/>
                </a:solidFill>
              </a:rPr>
              <a:t>O(L(M+N)) </a:t>
            </a:r>
            <a:r>
              <a:rPr lang="en-US" altLang="zh-TW" dirty="0" smtClean="0"/>
              <a:t>space.</a:t>
            </a:r>
          </a:p>
          <a:p>
            <a:pPr marL="57150" indent="0">
              <a:buNone/>
            </a:pP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3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numCol="1" anchor="ctr">
            <a:normAutofit/>
          </a:bodyPr>
          <a:lstStyle/>
          <a:p>
            <a:pPr marL="0" indent="0" algn="ctr">
              <a:buNone/>
            </a:pPr>
            <a:r>
              <a:rPr lang="en-US" altLang="zh-TW" sz="6000" dirty="0" smtClean="0"/>
              <a:t>Thanks for listening</a:t>
            </a:r>
            <a:endParaRPr lang="zh-TW" altLang="en-US" sz="6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3122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380</Words>
  <Application>Microsoft Office PowerPoint</Application>
  <PresentationFormat>如螢幕大小 (4:3)</PresentationFormat>
  <Paragraphs>137</Paragraphs>
  <Slides>10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1_Office 佈景主題</vt:lpstr>
      <vt:lpstr> Optional Sequence Alignment Allowing For Long Gaps</vt:lpstr>
      <vt:lpstr>Abstract</vt:lpstr>
      <vt:lpstr>Algorithm(1/2)</vt:lpstr>
      <vt:lpstr>Piecewise linear gap-weighting function</vt:lpstr>
      <vt:lpstr>Algorithm(2/2)</vt:lpstr>
      <vt:lpstr>Presentation of optimal alignments</vt:lpstr>
      <vt:lpstr>PowerPoint 簡報</vt:lpstr>
      <vt:lpstr>Trace-back</vt:lpstr>
      <vt:lpstr>Complexity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Optional Sequence Alignment Allowing For Long Gaps</dc:title>
  <dc:creator>Leo</dc:creator>
  <cp:lastModifiedBy>Leo</cp:lastModifiedBy>
  <cp:revision>17</cp:revision>
  <dcterms:created xsi:type="dcterms:W3CDTF">2015-08-24T14:37:16Z</dcterms:created>
  <dcterms:modified xsi:type="dcterms:W3CDTF">2015-08-31T06:31:34Z</dcterms:modified>
</cp:coreProperties>
</file>