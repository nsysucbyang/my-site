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handoutMasterIdLst>
    <p:handoutMasterId r:id="rId17"/>
  </p:handoutMasterIdLst>
  <p:sldIdLst>
    <p:sldId id="256" r:id="rId2"/>
    <p:sldId id="258" r:id="rId3"/>
    <p:sldId id="265" r:id="rId4"/>
    <p:sldId id="264" r:id="rId5"/>
    <p:sldId id="266" r:id="rId6"/>
    <p:sldId id="272" r:id="rId7"/>
    <p:sldId id="267" r:id="rId8"/>
    <p:sldId id="273" r:id="rId9"/>
    <p:sldId id="268" r:id="rId10"/>
    <p:sldId id="269" r:id="rId11"/>
    <p:sldId id="270" r:id="rId12"/>
    <p:sldId id="271" r:id="rId13"/>
    <p:sldId id="274" r:id="rId14"/>
    <p:sldId id="275" r:id="rId15"/>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0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t>2015/8/30</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t>‹#›</a:t>
            </a:fld>
            <a:endParaRPr lang="zh-TW" altLang="en-US"/>
          </a:p>
        </p:txBody>
      </p:sp>
    </p:spTree>
    <p:extLst>
      <p:ext uri="{BB962C8B-B14F-4D97-AF65-F5344CB8AC3E}">
        <p14:creationId xmlns:p14="http://schemas.microsoft.com/office/powerpoint/2010/main"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t>2015/8/30</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t>‹#›</a:t>
            </a:fld>
            <a:endParaRPr lang="zh-TW" altLang="en-US"/>
          </a:p>
        </p:txBody>
      </p:sp>
    </p:spTree>
    <p:extLst>
      <p:ext uri="{BB962C8B-B14F-4D97-AF65-F5344CB8AC3E}">
        <p14:creationId xmlns:p14="http://schemas.microsoft.com/office/powerpoint/2010/main"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a:t>
            </a:fld>
            <a:endParaRPr lang="zh-TW" altLang="en-US"/>
          </a:p>
        </p:txBody>
      </p:sp>
    </p:spTree>
    <p:extLst>
      <p:ext uri="{BB962C8B-B14F-4D97-AF65-F5344CB8AC3E}">
        <p14:creationId xmlns:p14="http://schemas.microsoft.com/office/powerpoint/2010/main" val="40702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a:t>
            </a:fld>
            <a:endParaRPr lang="zh-TW" altLang="en-US"/>
          </a:p>
        </p:txBody>
      </p:sp>
    </p:spTree>
    <p:extLst>
      <p:ext uri="{BB962C8B-B14F-4D97-AF65-F5344CB8AC3E}">
        <p14:creationId xmlns:p14="http://schemas.microsoft.com/office/powerpoint/2010/main" val="976998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a:t>
            </a:fld>
            <a:endParaRPr lang="zh-TW" altLang="en-US"/>
          </a:p>
        </p:txBody>
      </p:sp>
    </p:spTree>
    <p:extLst>
      <p:ext uri="{BB962C8B-B14F-4D97-AF65-F5344CB8AC3E}">
        <p14:creationId xmlns:p14="http://schemas.microsoft.com/office/powerpoint/2010/main" val="2387114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a:t>
            </a:fld>
            <a:endParaRPr lang="zh-TW" altLang="en-US"/>
          </a:p>
        </p:txBody>
      </p:sp>
    </p:spTree>
    <p:extLst>
      <p:ext uri="{BB962C8B-B14F-4D97-AF65-F5344CB8AC3E}">
        <p14:creationId xmlns:p14="http://schemas.microsoft.com/office/powerpoint/2010/main" val="1110351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5</a:t>
            </a:fld>
            <a:endParaRPr lang="zh-TW" altLang="en-US"/>
          </a:p>
        </p:txBody>
      </p:sp>
    </p:spTree>
    <p:extLst>
      <p:ext uri="{BB962C8B-B14F-4D97-AF65-F5344CB8AC3E}">
        <p14:creationId xmlns:p14="http://schemas.microsoft.com/office/powerpoint/2010/main" val="3282141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6</a:t>
            </a:fld>
            <a:endParaRPr lang="zh-TW" altLang="en-US"/>
          </a:p>
        </p:txBody>
      </p:sp>
    </p:spTree>
    <p:extLst>
      <p:ext uri="{BB962C8B-B14F-4D97-AF65-F5344CB8AC3E}">
        <p14:creationId xmlns:p14="http://schemas.microsoft.com/office/powerpoint/2010/main" val="4106780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7</a:t>
            </a:fld>
            <a:endParaRPr lang="zh-TW" altLang="en-US"/>
          </a:p>
        </p:txBody>
      </p:sp>
    </p:spTree>
    <p:extLst>
      <p:ext uri="{BB962C8B-B14F-4D97-AF65-F5344CB8AC3E}">
        <p14:creationId xmlns:p14="http://schemas.microsoft.com/office/powerpoint/2010/main" val="811863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8</a:t>
            </a:fld>
            <a:endParaRPr lang="zh-TW" altLang="en-US"/>
          </a:p>
        </p:txBody>
      </p:sp>
    </p:spTree>
    <p:extLst>
      <p:ext uri="{BB962C8B-B14F-4D97-AF65-F5344CB8AC3E}">
        <p14:creationId xmlns:p14="http://schemas.microsoft.com/office/powerpoint/2010/main" val="1375947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9</a:t>
            </a:fld>
            <a:endParaRPr lang="zh-TW" altLang="en-US"/>
          </a:p>
        </p:txBody>
      </p:sp>
    </p:spTree>
    <p:extLst>
      <p:ext uri="{BB962C8B-B14F-4D97-AF65-F5344CB8AC3E}">
        <p14:creationId xmlns:p14="http://schemas.microsoft.com/office/powerpoint/2010/main" val="256257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10</a:t>
            </a:fld>
            <a:endParaRPr lang="zh-TW" altLang="en-US"/>
          </a:p>
        </p:txBody>
      </p:sp>
    </p:spTree>
    <p:extLst>
      <p:ext uri="{BB962C8B-B14F-4D97-AF65-F5344CB8AC3E}">
        <p14:creationId xmlns:p14="http://schemas.microsoft.com/office/powerpoint/2010/main" val="2685125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11</a:t>
            </a:fld>
            <a:endParaRPr lang="zh-TW" altLang="en-US"/>
          </a:p>
        </p:txBody>
      </p:sp>
    </p:spTree>
    <p:extLst>
      <p:ext uri="{BB962C8B-B14F-4D97-AF65-F5344CB8AC3E}">
        <p14:creationId xmlns:p14="http://schemas.microsoft.com/office/powerpoint/2010/main" val="901945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12</a:t>
            </a:fld>
            <a:endParaRPr lang="zh-TW" altLang="en-US"/>
          </a:p>
        </p:txBody>
      </p:sp>
    </p:spTree>
    <p:extLst>
      <p:ext uri="{BB962C8B-B14F-4D97-AF65-F5344CB8AC3E}">
        <p14:creationId xmlns:p14="http://schemas.microsoft.com/office/powerpoint/2010/main" val="1241268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13</a:t>
            </a:fld>
            <a:endParaRPr lang="zh-TW" altLang="en-US"/>
          </a:p>
        </p:txBody>
      </p:sp>
    </p:spTree>
    <p:extLst>
      <p:ext uri="{BB962C8B-B14F-4D97-AF65-F5344CB8AC3E}">
        <p14:creationId xmlns:p14="http://schemas.microsoft.com/office/powerpoint/2010/main" val="134359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14</a:t>
            </a:fld>
            <a:endParaRPr lang="zh-TW" altLang="en-US"/>
          </a:p>
        </p:txBody>
      </p:sp>
    </p:spTree>
    <p:extLst>
      <p:ext uri="{BB962C8B-B14F-4D97-AF65-F5344CB8AC3E}">
        <p14:creationId xmlns:p14="http://schemas.microsoft.com/office/powerpoint/2010/main" val="2133626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t>2015/8/30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t>2015/8/30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t>2015/8/30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t>2015/8/30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t>2015/8/30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t>2015/8/30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t>2015/8/30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t>2015/8/30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t>2015/8/30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t>2015/8/30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t>2015/8/30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t>2015/8/30</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0"/>
            <a:ext cx="9144000" cy="3128317"/>
          </a:xfrm>
        </p:spPr>
        <p:txBody>
          <a:bodyPr>
            <a:noAutofit/>
          </a:bodyPr>
          <a:lstStyle/>
          <a:p>
            <a:r>
              <a:rPr lang="en-US" altLang="zh-TW" sz="4400" dirty="0">
                <a:latin typeface="Times New Roman" panose="02020603050405020304" pitchFamily="18" charset="0"/>
                <a:cs typeface="Times New Roman" panose="02020603050405020304" pitchFamily="18" charset="0"/>
              </a:rPr>
              <a:t>A Comparative Study of Stock Scoring using</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Regression and Genetic-based Linear Models</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3204518"/>
            <a:ext cx="9144000" cy="3482031"/>
          </a:xfrm>
        </p:spPr>
        <p:txBody>
          <a:bodyPr>
            <a:normAutofit/>
          </a:bodyPr>
          <a:lstStyle/>
          <a:p>
            <a:pPr>
              <a:lnSpc>
                <a:spcPct val="150000"/>
              </a:lnSpc>
            </a:pPr>
            <a:r>
              <a:rPr lang="en-US" altLang="zh-TW" sz="2000" dirty="0" err="1">
                <a:latin typeface="Times New Roman" panose="02020603050405020304" pitchFamily="18" charset="0"/>
                <a:cs typeface="Times New Roman" panose="02020603050405020304" pitchFamily="18" charset="0"/>
              </a:rPr>
              <a:t>Chien</a:t>
            </a:r>
            <a:r>
              <a:rPr lang="en-US" altLang="zh-TW" sz="2000" dirty="0">
                <a:latin typeface="Times New Roman" panose="02020603050405020304" pitchFamily="18" charset="0"/>
                <a:cs typeface="Times New Roman" panose="02020603050405020304" pitchFamily="18" charset="0"/>
              </a:rPr>
              <a:t>-Feng </a:t>
            </a:r>
            <a:r>
              <a:rPr lang="en-US" altLang="zh-TW" sz="2000" dirty="0" smtClean="0">
                <a:latin typeface="Times New Roman" panose="02020603050405020304" pitchFamily="18" charset="0"/>
                <a:cs typeface="Times New Roman" panose="02020603050405020304" pitchFamily="18" charset="0"/>
              </a:rPr>
              <a:t>Huang,</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Tsung</a:t>
            </a:r>
            <a:r>
              <a:rPr lang="en-US" altLang="zh-TW" sz="2000" dirty="0">
                <a:latin typeface="Times New Roman" panose="02020603050405020304" pitchFamily="18" charset="0"/>
                <a:cs typeface="Times New Roman" panose="02020603050405020304" pitchFamily="18" charset="0"/>
              </a:rPr>
              <a:t>-Nan </a:t>
            </a:r>
            <a:r>
              <a:rPr lang="en-US" altLang="zh-TW" sz="2000" dirty="0" smtClean="0">
                <a:latin typeface="Times New Roman" panose="02020603050405020304" pitchFamily="18" charset="0"/>
                <a:cs typeface="Times New Roman" panose="02020603050405020304" pitchFamily="18" charset="0"/>
              </a:rPr>
              <a:t>Hsieh, </a:t>
            </a:r>
            <a:r>
              <a:rPr lang="en-US" altLang="zh-TW" sz="2000" dirty="0" err="1">
                <a:latin typeface="Times New Roman" panose="02020603050405020304" pitchFamily="18" charset="0"/>
                <a:cs typeface="Times New Roman" panose="02020603050405020304" pitchFamily="18" charset="0"/>
              </a:rPr>
              <a:t>Bao</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Rong</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Chang, </a:t>
            </a:r>
            <a:r>
              <a:rPr lang="en-US" altLang="zh-TW" sz="2000" dirty="0" err="1">
                <a:latin typeface="Times New Roman" panose="02020603050405020304" pitchFamily="18" charset="0"/>
                <a:cs typeface="Times New Roman" panose="02020603050405020304" pitchFamily="18" charset="0"/>
              </a:rPr>
              <a:t>Chih</a:t>
            </a:r>
            <a:r>
              <a:rPr lang="en-US" altLang="zh-TW" sz="2000" dirty="0">
                <a:latin typeface="Times New Roman" panose="02020603050405020304" pitchFamily="18" charset="0"/>
                <a:cs typeface="Times New Roman" panose="02020603050405020304" pitchFamily="18" charset="0"/>
              </a:rPr>
              <a:t>-Hsiang </a:t>
            </a:r>
            <a:r>
              <a:rPr lang="en-US" altLang="zh-TW" sz="2000" dirty="0" smtClean="0">
                <a:latin typeface="Times New Roman" panose="02020603050405020304" pitchFamily="18" charset="0"/>
                <a:cs typeface="Times New Roman" panose="02020603050405020304" pitchFamily="18" charset="0"/>
              </a:rPr>
              <a:t>Chang</a:t>
            </a:r>
          </a:p>
          <a:p>
            <a:r>
              <a:rPr lang="en-US" altLang="zh-TW" sz="2000" dirty="0">
                <a:latin typeface="Times New Roman" panose="02020603050405020304" pitchFamily="18" charset="0"/>
                <a:cs typeface="Times New Roman" panose="02020603050405020304" pitchFamily="18" charset="0"/>
              </a:rPr>
              <a:t>National University </a:t>
            </a:r>
            <a:r>
              <a:rPr lang="en-US" altLang="zh-TW" sz="2000" dirty="0" smtClean="0">
                <a:latin typeface="Times New Roman" panose="02020603050405020304" pitchFamily="18" charset="0"/>
                <a:cs typeface="Times New Roman" panose="02020603050405020304" pitchFamily="18" charset="0"/>
              </a:rPr>
              <a:t>of Kaohsiung</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a:latin typeface="Times New Roman" panose="02020603050405020304" pitchFamily="18" charset="0"/>
                <a:cs typeface="Times New Roman" panose="02020603050405020304" pitchFamily="18" charset="0"/>
              </a:rPr>
              <a:t>2011 IEEE International Conference on Granular </a:t>
            </a:r>
            <a:r>
              <a:rPr lang="en-US" altLang="zh-TW" sz="2000" dirty="0" smtClean="0">
                <a:latin typeface="Times New Roman" panose="02020603050405020304" pitchFamily="18" charset="0"/>
                <a:cs typeface="Times New Roman" panose="02020603050405020304" pitchFamily="18" charset="0"/>
              </a:rPr>
              <a:t>Computing</a:t>
            </a:r>
          </a:p>
          <a:p>
            <a:pPr>
              <a:lnSpc>
                <a:spcPct val="150000"/>
              </a:lnSpc>
            </a:pPr>
            <a:r>
              <a:rPr lang="en-US" altLang="zh-TW" sz="2000" dirty="0" smtClean="0">
                <a:latin typeface="Times New Roman" panose="02020603050405020304" pitchFamily="18" charset="0"/>
                <a:cs typeface="Times New Roman" panose="02020603050405020304" pitchFamily="18" charset="0"/>
              </a:rPr>
              <a:t>pp. </a:t>
            </a:r>
            <a:r>
              <a:rPr lang="en-US" altLang="zh-TW" sz="2000" dirty="0">
                <a:latin typeface="Times New Roman" panose="02020603050405020304" pitchFamily="18" charset="0"/>
                <a:cs typeface="Times New Roman" panose="02020603050405020304" pitchFamily="18" charset="0"/>
              </a:rPr>
              <a:t>268 - </a:t>
            </a:r>
            <a:r>
              <a:rPr lang="en-US" altLang="zh-TW" sz="2000" dirty="0" smtClean="0">
                <a:latin typeface="Times New Roman" panose="02020603050405020304" pitchFamily="18" charset="0"/>
                <a:cs typeface="Times New Roman" panose="02020603050405020304" pitchFamily="18" charset="0"/>
              </a:rPr>
              <a:t>273</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Presenter </a:t>
            </a:r>
            <a:r>
              <a:rPr lang="en-US" altLang="zh-TW" sz="2000" dirty="0" smtClean="0">
                <a:latin typeface="Times New Roman" panose="02020603050405020304" pitchFamily="18" charset="0"/>
                <a:cs typeface="Times New Roman" panose="02020603050405020304" pitchFamily="18" charset="0"/>
              </a:rPr>
              <a:t>: Tsai Yao-</a:t>
            </a:r>
            <a:r>
              <a:rPr lang="en-US" altLang="zh-TW" sz="2000" dirty="0">
                <a:latin typeface="Times New Roman" panose="02020603050405020304" pitchFamily="18" charset="0"/>
                <a:cs typeface="Times New Roman" panose="02020603050405020304" pitchFamily="18" charset="0"/>
              </a:rPr>
              <a:t>C</a:t>
            </a:r>
            <a:r>
              <a:rPr lang="en-US" altLang="zh-TW" sz="2000" dirty="0" smtClean="0">
                <a:latin typeface="Times New Roman" panose="02020603050405020304" pitchFamily="18" charset="0"/>
                <a:cs typeface="Times New Roman" panose="02020603050405020304" pitchFamily="18" charset="0"/>
              </a:rPr>
              <a:t>hou</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a:t>
            </a:fld>
            <a:endParaRPr lang="zh-TW" altLang="en-US"/>
          </a:p>
        </p:txBody>
      </p:sp>
    </p:spTree>
    <p:extLst>
      <p:ext uri="{BB962C8B-B14F-4D97-AF65-F5344CB8AC3E}">
        <p14:creationId xmlns:p14="http://schemas.microsoft.com/office/powerpoint/2010/main"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vert="horz" lIns="91440" tIns="45720" rIns="91440" bIns="45720" rtlCol="0" anchor="t">
            <a:normAutofit lnSpcReduction="10000"/>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Stock selection has long been a challenging and important task in investment and finance</a:t>
            </a:r>
            <a:r>
              <a:rPr lang="en-US" altLang="zh-TW" sz="2400" dirty="0" smtClean="0">
                <a:latin typeface="Times New Roman" panose="02020603050405020304" pitchFamily="18" charset="0"/>
                <a:cs typeface="Times New Roman" panose="02020603050405020304" pitchFamily="18" charset="0"/>
              </a:rPr>
              <a:t>. Researchers </a:t>
            </a:r>
            <a:r>
              <a:rPr lang="en-US" altLang="zh-TW" sz="2400" dirty="0">
                <a:latin typeface="Times New Roman" panose="02020603050405020304" pitchFamily="18" charset="0"/>
                <a:cs typeface="Times New Roman" panose="02020603050405020304" pitchFamily="18" charset="0"/>
              </a:rPr>
              <a:t>and practitioners in this area often use regression models to tackle this problem due to their simplicity and effectiveness. Recent advances in machine learning (ML) are leading to significant opportunities to solve these problems more effectively</a:t>
            </a:r>
            <a:r>
              <a:rPr lang="en-US" altLang="zh-TW" sz="2400" dirty="0" smtClean="0">
                <a:latin typeface="Times New Roman" panose="02020603050405020304" pitchFamily="18" charset="0"/>
                <a:cs typeface="Times New Roman" panose="02020603050405020304" pitchFamily="18" charset="0"/>
              </a:rPr>
              <a:t>. In </a:t>
            </a:r>
            <a:r>
              <a:rPr lang="en-US" altLang="zh-TW" sz="2400" dirty="0">
                <a:latin typeface="Times New Roman" panose="02020603050405020304" pitchFamily="18" charset="0"/>
                <a:cs typeface="Times New Roman" panose="02020603050405020304" pitchFamily="18" charset="0"/>
              </a:rPr>
              <a:t>this paper, we present a comparative study between the traditional regression-based and ML-based linear models for stock scoring, which is crucial to the success of stock selection. In ML-based models, Genetic Algorithms (GA), a class of well-known search algorithms in the area of ML, is used for optimization of model parameters and selection of input variables to the stock scoring model.</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a:t>
            </a:fld>
            <a:endParaRPr lang="zh-TW" altLang="en-US" dirty="0"/>
          </a:p>
        </p:txBody>
      </p:sp>
    </p:spTree>
    <p:extLst>
      <p:ext uri="{BB962C8B-B14F-4D97-AF65-F5344CB8AC3E}">
        <p14:creationId xmlns:p14="http://schemas.microsoft.com/office/powerpoint/2010/main" val="2744253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vert="horz" lIns="91440" tIns="45720" rIns="91440" bIns="45720" rtlCol="0" anchor="t">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We will show that our proposed genetic-based method significantly outperforms the traditional regression-based method as well as the </a:t>
            </a:r>
            <a:r>
              <a:rPr lang="en-US" altLang="zh-TW" sz="2400" dirty="0" err="1">
                <a:latin typeface="Times New Roman" panose="02020603050405020304" pitchFamily="18" charset="0"/>
                <a:cs typeface="Times New Roman" panose="02020603050405020304" pitchFamily="18" charset="0"/>
              </a:rPr>
              <a:t>benchmark.As</a:t>
            </a:r>
            <a:r>
              <a:rPr lang="en-US" altLang="zh-TW" sz="2400" dirty="0">
                <a:latin typeface="Times New Roman" panose="02020603050405020304" pitchFamily="18" charset="0"/>
                <a:cs typeface="Times New Roman" panose="02020603050405020304" pitchFamily="18" charset="0"/>
              </a:rPr>
              <a:t> a result, we expect this genetic-based methodology to advance the research in machine learning for finance and provide an attractive alternative to stock selection over the regression-based approach.</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a:t>
            </a:fld>
            <a:endParaRPr lang="zh-TW" altLang="en-US" dirty="0"/>
          </a:p>
        </p:txBody>
      </p:sp>
    </p:spTree>
    <p:extLst>
      <p:ext uri="{BB962C8B-B14F-4D97-AF65-F5344CB8AC3E}">
        <p14:creationId xmlns:p14="http://schemas.microsoft.com/office/powerpoint/2010/main" val="25321653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Regression Model</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Type :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Liner regression</a:t>
                </a:r>
              </a:p>
              <a:p>
                <a:pPr>
                  <a:lnSpc>
                    <a:spcPct val="150000"/>
                  </a:lnSpc>
                </a:pPr>
                <a14:m>
                  <m:oMath xmlns:m="http://schemas.openxmlformats.org/officeDocument/2006/math">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𝒏</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training instances with input variable </a:t>
                </a:r>
                <a14:m>
                  <m:oMath xmlns:m="http://schemas.openxmlformats.org/officeDocument/2006/math">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𝒙</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and output variable </a:t>
                </a:r>
                <a14:m>
                  <m:oMath xmlns:m="http://schemas.openxmlformats.org/officeDocument/2006/math">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𝒚</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at time </a:t>
                </a:r>
                <a14:m>
                  <m:oMath xmlns:m="http://schemas.openxmlformats.org/officeDocument/2006/math">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𝒕</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b>
                              </m:sSub>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i="1">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𝑦</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b>
                              </m:sSub>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𝑡</m:t>
                                  </m:r>
                                </m:e>
                              </m:d>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sub>
                              </m:sSub>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i="1">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𝑦</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sub>
                              </m:sSub>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𝑡</m:t>
                                  </m:r>
                                </m:e>
                              </m:d>
                            </m:e>
                          </m:d>
                        </m:e>
                      </m:d>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𝛽</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 regression coefficient</a:t>
                </a:r>
              </a:p>
              <a:p>
                <a:pPr>
                  <a:lnSpc>
                    <a:spcPct val="150000"/>
                  </a:lnSpc>
                </a:pP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𝜀</m:t>
                    </m:r>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 error term</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𝑌</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𝛽</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𝜀</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4"/>
          <a:stretch>
            <a:fillRect/>
          </a:stretch>
        </p:blipFill>
        <p:spPr>
          <a:xfrm>
            <a:off x="622731" y="4495413"/>
            <a:ext cx="7869960" cy="1953335"/>
          </a:xfrm>
          <a:prstGeom prst="rect">
            <a:avLst/>
          </a:prstGeom>
        </p:spPr>
      </p:pic>
    </p:spTree>
    <p:extLst>
      <p:ext uri="{BB962C8B-B14F-4D97-AF65-F5344CB8AC3E}">
        <p14:creationId xmlns:p14="http://schemas.microsoft.com/office/powerpoint/2010/main" val="2837081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Fundamental indicators (1/2)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4"/>
                <a:ext cx="8924925" cy="5607052"/>
              </a:xfrm>
            </p:spPr>
            <p:txBody>
              <a:bodyPr>
                <a:normAutofit/>
              </a:bodyPr>
              <a:lstStyle/>
              <a:p>
                <a:pPr marL="0" indent="0">
                  <a:lnSpc>
                    <a:spcPct val="150000"/>
                  </a:lnSpc>
                  <a:buNone/>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PE ratio : Price to earnings ratio</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f>
                      <m:fPr>
                        <m:ctrlPr>
                          <a:rPr lang="en-US" altLang="zh-TW" sz="180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zh-TW" altLang="en-US" sz="1800" i="1">
                            <a:latin typeface="Cambria Math" panose="02040503050406030204" pitchFamily="18" charset="0"/>
                            <a:ea typeface="標楷體" panose="03000509000000000000" pitchFamily="65" charset="-120"/>
                            <a:cs typeface="Times New Roman" panose="02020603050405020304" pitchFamily="18" charset="0"/>
                          </a:rPr>
                          <m:t>每股市價</m:t>
                        </m:r>
                      </m:num>
                      <m:den>
                        <m:r>
                          <a:rPr lang="zh-TW" altLang="en-US" sz="1800" i="1">
                            <a:latin typeface="Cambria Math" panose="02040503050406030204" pitchFamily="18" charset="0"/>
                            <a:ea typeface="標楷體" panose="03000509000000000000" pitchFamily="65" charset="-120"/>
                            <a:cs typeface="Times New Roman" panose="02020603050405020304" pitchFamily="18" charset="0"/>
                          </a:rPr>
                          <m:t>每股盈餘</m:t>
                        </m:r>
                      </m:den>
                    </m:f>
                  </m:oMath>
                </a14:m>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較小表示風險低，較高表示風險高</a:t>
                </a:r>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PB</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ratio</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Price</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to</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book</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ratio</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f>
                      <m:fPr>
                        <m:ctrlPr>
                          <a:rPr lang="en-US" altLang="zh-TW" sz="180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zh-TW" altLang="en-US" sz="1800" i="1">
                            <a:latin typeface="Cambria Math" panose="02040503050406030204" pitchFamily="18" charset="0"/>
                            <a:ea typeface="標楷體" panose="03000509000000000000" pitchFamily="65" charset="-120"/>
                            <a:cs typeface="Times New Roman" panose="02020603050405020304" pitchFamily="18" charset="0"/>
                          </a:rPr>
                          <m:t>每股市價</m:t>
                        </m:r>
                      </m:num>
                      <m:den>
                        <m:r>
                          <a:rPr lang="zh-TW" altLang="en-US" sz="1800" i="1">
                            <a:latin typeface="Cambria Math" panose="02040503050406030204" pitchFamily="18" charset="0"/>
                            <a:ea typeface="標楷體" panose="03000509000000000000" pitchFamily="65" charset="-120"/>
                            <a:cs typeface="Times New Roman" panose="02020603050405020304" pitchFamily="18" charset="0"/>
                          </a:rPr>
                          <m:t>每股淨資產</m:t>
                        </m:r>
                      </m:den>
                    </m:f>
                  </m:oMath>
                </a14:m>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較小投資價值高，較大投資價值低</a:t>
                </a:r>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PS ratio : Price to sales = </a:t>
                </a:r>
                <a14:m>
                  <m:oMath xmlns:m="http://schemas.openxmlformats.org/officeDocument/2006/math">
                    <m:f>
                      <m:fPr>
                        <m:ctrlPr>
                          <a:rPr lang="en-US" altLang="zh-TW" sz="180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zh-TW" altLang="en-US" sz="1800" i="1">
                            <a:latin typeface="Cambria Math" panose="02040503050406030204" pitchFamily="18" charset="0"/>
                            <a:ea typeface="標楷體" panose="03000509000000000000" pitchFamily="65" charset="-120"/>
                            <a:cs typeface="Times New Roman" panose="02020603050405020304" pitchFamily="18" charset="0"/>
                          </a:rPr>
                          <m:t>股價</m:t>
                        </m:r>
                        <m:r>
                          <a:rPr lang="zh-TW" altLang="en-US" sz="1800" i="1" smtClean="0">
                            <a:latin typeface="Cambria Math" panose="02040503050406030204" pitchFamily="18" charset="0"/>
                            <a:ea typeface="標楷體" panose="03000509000000000000" pitchFamily="65" charset="-120"/>
                            <a:cs typeface="Times New Roman" panose="02020603050405020304" pitchFamily="18" charset="0"/>
                          </a:rPr>
                          <m:t> ×</m:t>
                        </m:r>
                        <m:r>
                          <a:rPr lang="zh-TW" altLang="en-US" sz="1800" i="1">
                            <a:latin typeface="Cambria Math" panose="02040503050406030204" pitchFamily="18" charset="0"/>
                            <a:ea typeface="標楷體" panose="03000509000000000000" pitchFamily="65" charset="-120"/>
                            <a:cs typeface="Times New Roman" panose="02020603050405020304" pitchFamily="18" charset="0"/>
                          </a:rPr>
                          <m:t> </m:t>
                        </m:r>
                        <m:r>
                          <a:rPr lang="zh-TW" altLang="en-US" sz="1800" i="1" smtClean="0">
                            <a:latin typeface="Cambria Math" panose="02040503050406030204" pitchFamily="18" charset="0"/>
                            <a:ea typeface="標楷體" panose="03000509000000000000" pitchFamily="65" charset="-120"/>
                            <a:cs typeface="Times New Roman" panose="02020603050405020304" pitchFamily="18" charset="0"/>
                          </a:rPr>
                          <m:t>總股數</m:t>
                        </m:r>
                      </m:num>
                      <m:den>
                        <m:r>
                          <a:rPr lang="zh-TW" altLang="en-US" sz="1800" i="1">
                            <a:latin typeface="Cambria Math" panose="02040503050406030204" pitchFamily="18" charset="0"/>
                            <a:ea typeface="標楷體" panose="03000509000000000000" pitchFamily="65" charset="-120"/>
                            <a:cs typeface="Times New Roman" panose="02020603050405020304" pitchFamily="18" charset="0"/>
                          </a:rPr>
                          <m:t>營收</m:t>
                        </m:r>
                      </m:den>
                    </m:f>
                  </m:oMath>
                </a14:m>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較小單位營收高風險低，較大風險高</a:t>
                </a:r>
                <a:endParaRPr lang="en-US" altLang="zh-TW" sz="1800" i="1" dirty="0" smtClean="0">
                  <a:latin typeface="Cambria Math" panose="02040503050406030204" pitchFamily="18" charset="0"/>
                  <a:ea typeface="標楷體" panose="03000509000000000000" pitchFamily="65" charset="-120"/>
                  <a:cs typeface="Times New Roman" panose="02020603050405020304" pitchFamily="18" charset="0"/>
                </a:endParaRPr>
              </a:p>
              <a:p>
                <a:pPr marL="0" indent="0">
                  <a:lnSpc>
                    <a:spcPct val="150000"/>
                  </a:lnSpc>
                  <a:buNone/>
                </a:pPr>
                <a:endParaRPr lang="en-US" altLang="zh-TW" i="1" dirty="0" smtClean="0">
                  <a:latin typeface="Cambria Math" panose="020405030504060302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607052"/>
              </a:xfrm>
              <a:blipFill rotWithShape="0">
                <a:blip r:embed="rId3"/>
                <a:stretch>
                  <a:fillRect l="-61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3803641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Fundamental indicators (2/2)</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105640" y="1180776"/>
            <a:ext cx="8924925" cy="2487521"/>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6</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4"/>
          <a:stretch>
            <a:fillRect/>
          </a:stretch>
        </p:blipFill>
        <p:spPr>
          <a:xfrm>
            <a:off x="105639" y="3688845"/>
            <a:ext cx="8970359" cy="2311258"/>
          </a:xfrm>
          <a:prstGeom prst="rect">
            <a:avLst/>
          </a:prstGeom>
        </p:spPr>
      </p:pic>
    </p:spTree>
    <p:extLst>
      <p:ext uri="{BB962C8B-B14F-4D97-AF65-F5344CB8AC3E}">
        <p14:creationId xmlns:p14="http://schemas.microsoft.com/office/powerpoint/2010/main" val="31360806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Ranking scheme</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5"/>
                <a:ext cx="8924925" cy="5607052"/>
              </a:xfrm>
            </p:spPr>
            <p:txBody>
              <a:bodyPr/>
              <a:lstStyle/>
              <a:p>
                <a:pPr marL="457200" indent="-457200">
                  <a:lnSpc>
                    <a:spcPct val="150000"/>
                  </a:lnSpc>
                  <a:buAutoNum type="arabicPeriod"/>
                </a:pP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𝜌</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e>
                    </m:d>
                  </m:oMath>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b="0" dirty="0" smtClean="0">
                    <a:ea typeface="Cambria Math" panose="02040503050406030204" pitchFamily="18" charset="0"/>
                    <a:cs typeface="Times New Roman" panose="02020603050405020304" pitchFamily="18" charset="0"/>
                  </a:rPr>
                  <a:t>	</a:t>
                </a:r>
                <a14:m>
                  <m:oMath xmlns:m="http://schemas.openxmlformats.org/officeDocument/2006/math">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𝜌</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d>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 ranking function</a:t>
                </a:r>
              </a:p>
              <a:p>
                <a:pPr marL="0" indent="0">
                  <a:lnSpc>
                    <a:spcPct val="150000"/>
                  </a:lnSpc>
                  <a:buNone/>
                </a:pPr>
                <a:r>
                  <a:rPr lang="en-US" altLang="zh-TW" b="0" dirty="0" smtClean="0">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 ranking of stock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at time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oMath>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AutoNum type="arabicPeriod" startAt="2"/>
                </a:pPr>
                <a14:m>
                  <m:oMath xmlns:m="http://schemas.openxmlformats.org/officeDocument/2006/math">
                    <m:acc>
                      <m:accPr>
                        <m:chr m:val="̅"/>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i="1">
                                <a:latin typeface="Cambria Math" panose="02040503050406030204" pitchFamily="18" charset="0"/>
                                <a:ea typeface="Cambria Math" panose="02040503050406030204" pitchFamily="18" charset="0"/>
                                <a:cs typeface="Times New Roman" panose="02020603050405020304" pitchFamily="18" charset="0"/>
                              </a:rPr>
                              <m:t>R</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e>
                    </m:acc>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den>
                    </m:f>
                    <m:nary>
                      <m:naryPr>
                        <m: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sup>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e>
                        </m:d>
                      </m:e>
                    </m:nary>
                  </m:oMath>
                </a14:m>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dirty="0" smtClean="0">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oMath>
                </a14:m>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 ranked stock at time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oMath>
                </a14:m>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dirty="0" smtClean="0">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sub>
                    </m:sSub>
                    <m:d>
                      <m:d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e>
                    </m:d>
                  </m:oMath>
                </a14:m>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 actual return of a stock at time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oMath>
                </a14:m>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Average return over all the me stocks in the portfolio at time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oMath>
                </a14:m>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Font typeface="+mj-lt"/>
                  <a:buAutoNum type="arabicPeriod" startAt="3"/>
                </a:pP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𝑐</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m:t>
                        </m:r>
                      </m:sup>
                      <m:e>
                        <m:acc>
                          <m:accPr>
                            <m: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sub>
                            </m:sSub>
                          </m:e>
                        </m:acc>
                      </m:e>
                    </m:nary>
                  </m:oMath>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Evaluate the performance of a stock selection model.</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820" b="-6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42982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GA-based model (1/4)</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pPr marL="0" indent="0">
                  <a:lnSpc>
                    <a:spcPct val="150000"/>
                  </a:lnSpc>
                  <a:buNone/>
                </a:pP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 score of stock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assigned by variable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at time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50000"/>
                  </a:lnSpc>
                  <a:buNone/>
                </a:pP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𝑣</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 value of variable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50000"/>
                  </a:lnSpc>
                  <a:buNone/>
                </a:pP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𝜌</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50000"/>
                  </a:lnSpc>
                  <a:buNone/>
                </a:pPr>
                <a:r>
                  <a:rPr lang="en-US" altLang="zh-TW" b="1" dirty="0" smtClean="0">
                    <a:latin typeface="Times New Roman" panose="02020603050405020304" pitchFamily="18" charset="0"/>
                    <a:ea typeface="標楷體" panose="03000509000000000000" pitchFamily="65" charset="-120"/>
                    <a:cs typeface="Times New Roman" panose="02020603050405020304" pitchFamily="18" charset="0"/>
                  </a:rPr>
                  <a:t>1. </a:t>
                </a:r>
                <a14:m>
                  <m:oMath xmlns:m="http://schemas.openxmlformats.org/officeDocument/2006/math">
                    <m:sSub>
                      <m:sSubPr>
                        <m:ctrlP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𝑰</m:t>
                        </m:r>
                      </m:e>
                      <m:sub>
                        <m:r>
                          <a:rPr lang="en-US" altLang="zh-TW" b="1" i="1" smtClean="0">
                            <a:latin typeface="Cambria Math" panose="02040503050406030204" pitchFamily="18" charset="0"/>
                            <a:ea typeface="標楷體" panose="03000509000000000000" pitchFamily="65" charset="-120"/>
                            <a:cs typeface="Times New Roman" panose="02020603050405020304" pitchFamily="18" charset="0"/>
                          </a:rPr>
                          <m:t>𝒋</m:t>
                        </m:r>
                      </m:sub>
                    </m:sSub>
                    <m:r>
                      <a:rPr lang="en-US" altLang="zh-TW" b="1" i="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1" i="0" smtClean="0">
                        <a:latin typeface="Cambria Math" panose="02040503050406030204" pitchFamily="18" charset="0"/>
                        <a:ea typeface="標楷體" panose="03000509000000000000" pitchFamily="65" charset="-120"/>
                        <a:cs typeface="Times New Roman" panose="02020603050405020304" pitchFamily="18" charset="0"/>
                      </a:rPr>
                      <m:t>𝟎</m:t>
                    </m:r>
                    <m:r>
                      <a:rPr lang="en-US" altLang="zh-TW" b="1" i="0"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b="1"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dirty="0" smtClean="0">
                    <a:ea typeface="標楷體" panose="03000509000000000000" pitchFamily="65" charset="-12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𝜌</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i="1" smtClean="0">
                            <a:latin typeface="Cambria Math" panose="02040503050406030204" pitchFamily="18" charset="0"/>
                            <a:ea typeface="Cambria Math" panose="02040503050406030204" pitchFamily="18" charset="0"/>
                            <a:cs typeface="Times New Roman" panose="02020603050405020304" pitchFamily="18" charset="0"/>
                          </a:rPr>
                          <m:t>𝜌</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𝑖𝑓𝑓</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for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b="1" dirty="0" smtClean="0">
                    <a:latin typeface="Times New Roman" panose="02020603050405020304" pitchFamily="18" charset="0"/>
                    <a:ea typeface="Cambria Math" panose="02040503050406030204" pitchFamily="18" charset="0"/>
                    <a:cs typeface="Times New Roman" panose="02020603050405020304" pitchFamily="18" charset="0"/>
                  </a:rPr>
                  <a:t>2. </a:t>
                </a:r>
                <a14:m>
                  <m:oMath xmlns:m="http://schemas.openxmlformats.org/officeDocument/2006/math">
                    <m:sSub>
                      <m:sSubPr>
                        <m:ctrlPr>
                          <a:rPr lang="en-US" altLang="zh-TW"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1" i="1" smtClean="0">
                            <a:latin typeface="Cambria Math" panose="02040503050406030204" pitchFamily="18" charset="0"/>
                            <a:ea typeface="Cambria Math" panose="02040503050406030204" pitchFamily="18" charset="0"/>
                            <a:cs typeface="Times New Roman" panose="02020603050405020304" pitchFamily="18" charset="0"/>
                          </a:rPr>
                          <m:t>𝑰</m:t>
                        </m:r>
                      </m:e>
                      <m:sub>
                        <m:r>
                          <a:rPr lang="en-US" altLang="zh-TW" b="1" i="1" smtClean="0">
                            <a:latin typeface="Cambria Math" panose="02040503050406030204" pitchFamily="18" charset="0"/>
                            <a:ea typeface="Cambria Math" panose="02040503050406030204" pitchFamily="18" charset="0"/>
                            <a:cs typeface="Times New Roman" panose="02020603050405020304" pitchFamily="18" charset="0"/>
                          </a:rPr>
                          <m:t>𝒋</m:t>
                        </m:r>
                      </m:sub>
                    </m:sSub>
                    <m:r>
                      <a:rPr lang="en-US" altLang="zh-TW" b="1" i="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1" i="0" smtClean="0">
                        <a:latin typeface="Cambria Math" panose="02040503050406030204" pitchFamily="18" charset="0"/>
                        <a:ea typeface="Cambria Math" panose="02040503050406030204" pitchFamily="18" charset="0"/>
                        <a:cs typeface="Times New Roman" panose="02020603050405020304" pitchFamily="18" charset="0"/>
                      </a:rPr>
                      <m:t>𝟏</m:t>
                    </m:r>
                    <m:r>
                      <a:rPr lang="en-US" altLang="zh-TW" b="1" i="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b="1"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a:latin typeface="Cambria Math" panose="02040503050406030204" pitchFamily="18" charset="0"/>
                            <a:ea typeface="標楷體" panose="03000509000000000000" pitchFamily="65" charset="-120"/>
                            <a:cs typeface="Times New Roman" panose="02020603050405020304" pitchFamily="18" charset="0"/>
                          </a:rPr>
                          <m:t>𝜌</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a:latin typeface="Cambria Math" panose="02040503050406030204" pitchFamily="18" charset="0"/>
                            <a:ea typeface="標楷體" panose="03000509000000000000" pitchFamily="65" charset="-120"/>
                            <a:cs typeface="Times New Roman" panose="02020603050405020304" pitchFamily="18" charset="0"/>
                          </a:rPr>
                          <m:t>,</m:t>
                        </m:r>
                        <m:r>
                          <a:rPr lang="en-US" altLang="zh-TW" i="1">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𝑡</m:t>
                        </m:r>
                      </m:e>
                    </m:d>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ea typeface="Cambria Math" panose="02040503050406030204" pitchFamily="18" charset="0"/>
                            <a:cs typeface="Times New Roman" panose="02020603050405020304" pitchFamily="18" charset="0"/>
                          </a:rPr>
                          <m:t>𝜌</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𝑘</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i="1">
                        <a:latin typeface="Cambria Math" panose="02040503050406030204" pitchFamily="18" charset="0"/>
                        <a:ea typeface="Cambria Math" panose="02040503050406030204" pitchFamily="18" charset="0"/>
                        <a:cs typeface="Times New Roman" panose="02020603050405020304" pitchFamily="18" charset="0"/>
                      </a:rPr>
                      <m:t>  </m:t>
                    </m:r>
                    <m:r>
                      <a:rPr lang="en-US" altLang="zh-TW" i="1">
                        <a:latin typeface="Cambria Math" panose="02040503050406030204" pitchFamily="18" charset="0"/>
                        <a:ea typeface="Cambria Math" panose="02040503050406030204" pitchFamily="18" charset="0"/>
                        <a:cs typeface="Times New Roman" panose="02020603050405020304" pitchFamily="18" charset="0"/>
                      </a:rPr>
                      <m:t>𝑖𝑓𝑓</m:t>
                    </m:r>
                    <m:r>
                      <a:rPr lang="en-US" altLang="zh-TW"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𝑘</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e>
                    </m:d>
                  </m:oMath>
                </a14:m>
                <a:r>
                  <a:rPr lang="en-US" altLang="zh-TW" dirty="0">
                    <a:latin typeface="Times New Roman" panose="02020603050405020304" pitchFamily="18" charset="0"/>
                    <a:ea typeface="標楷體" panose="03000509000000000000" pitchFamily="65" charset="-120"/>
                    <a:cs typeface="Times New Roman" panose="02020603050405020304" pitchFamily="18" charset="0"/>
                  </a:rPr>
                  <a:t> for </a:t>
                </a:r>
                <a14:m>
                  <m:oMath xmlns:m="http://schemas.openxmlformats.org/officeDocument/2006/math">
                    <m:r>
                      <a:rPr lang="en-US" altLang="zh-TW"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𝑘</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8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8</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18526496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GA-based model (2/4)</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pPr marL="0" indent="0" algn="ctr">
                  <a:lnSpc>
                    <a:spcPct val="150000"/>
                  </a:lnSpc>
                  <a:buNone/>
                </a:pPr>
                <a14:m>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7"/>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up/>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𝑊</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e>
                    </m:nary>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a:t>
                </a:r>
              </a:p>
              <a:p>
                <a:pPr marL="0" indent="0">
                  <a:lnSpc>
                    <a:spcPct val="150000"/>
                  </a:lnSpc>
                  <a:buNone/>
                </a:pPr>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1. Where </a:t>
                </a:r>
                <a14:m>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𝑊</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is weight of the j-</a:t>
                </a:r>
                <a:r>
                  <a:rPr lang="en-US" altLang="zh-TW" b="0" dirty="0" err="1" smtClean="0">
                    <a:latin typeface="Times New Roman" panose="02020603050405020304" pitchFamily="18" charset="0"/>
                    <a:ea typeface="Cambria Math" panose="02040503050406030204" pitchFamily="18" charset="0"/>
                    <a:cs typeface="Times New Roman" panose="02020603050405020304" pitchFamily="18" charset="0"/>
                  </a:rPr>
                  <a:t>th</a:t>
                </a:r>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variable.</a:t>
                </a:r>
              </a:p>
              <a:p>
                <a:pPr marL="0" indent="0">
                  <a:lnSpc>
                    <a:spcPct val="150000"/>
                  </a:lnSpc>
                  <a:buNone/>
                </a:pPr>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2. Total score of stock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at time </a:t>
                </a:r>
                <a14:m>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a:t>
                </a:r>
              </a:p>
              <a:p>
                <a:pPr marL="0" indent="0">
                  <a:lnSpc>
                    <a:spcPct val="150000"/>
                  </a:lnSpc>
                  <a:buNone/>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Basic genetic algorithm steps:</a:t>
                </a:r>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820" t="-658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9</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4"/>
          <a:stretch>
            <a:fillRect/>
          </a:stretch>
        </p:blipFill>
        <p:spPr>
          <a:xfrm>
            <a:off x="346940" y="3600815"/>
            <a:ext cx="5519735" cy="3023596"/>
          </a:xfrm>
          <a:prstGeom prst="rect">
            <a:avLst/>
          </a:prstGeom>
        </p:spPr>
      </p:pic>
    </p:spTree>
    <p:extLst>
      <p:ext uri="{BB962C8B-B14F-4D97-AF65-F5344CB8AC3E}">
        <p14:creationId xmlns:p14="http://schemas.microsoft.com/office/powerpoint/2010/main" val="38379228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GA-based model (3/4)</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marL="0" indent="0">
              <a:lnSpc>
                <a:spcPct val="150000"/>
              </a:lnSpc>
              <a:buNone/>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Three sets of parameters:</a:t>
            </a:r>
          </a:p>
          <a:p>
            <a:pPr marL="457200" indent="-457200">
              <a:lnSpc>
                <a:spcPct val="150000"/>
              </a:lnSpc>
              <a:buAutoNum type="arabicPeriod"/>
            </a:pP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F</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a:t>
            </a:r>
            <a:r>
              <a:rPr lang="en-US" altLang="zh-TW" dirty="0">
                <a:latin typeface="Times New Roman" panose="02020603050405020304" pitchFamily="18" charset="0"/>
                <a:ea typeface="Cambria Math" panose="02040503050406030204" pitchFamily="18" charset="0"/>
                <a:cs typeface="Times New Roman" panose="02020603050405020304" pitchFamily="18" charset="0"/>
              </a:rPr>
              <a:t>: The set of input features</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a:t>
            </a:r>
          </a:p>
          <a:p>
            <a:pPr marL="800100" lvl="1" indent="-457200">
              <a:lnSpc>
                <a:spcPct val="150000"/>
              </a:lnSpc>
              <a:buAutoNum type="arabicPeriod"/>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1 </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sym typeface="Wingdings" panose="05000000000000000000" pitchFamily="2" charset="2"/>
              </a:rPr>
              <a:t> select, 0  not select</a:t>
            </a:r>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AutoNum type="arabicPeriod"/>
            </a:pP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I </a:t>
            </a:r>
            <a:r>
              <a:rPr lang="en-US" altLang="zh-TW" dirty="0">
                <a:latin typeface="Times New Roman" panose="02020603050405020304" pitchFamily="18" charset="0"/>
                <a:ea typeface="Cambria Math" panose="02040503050406030204" pitchFamily="18" charset="0"/>
                <a:cs typeface="Times New Roman" panose="02020603050405020304" pitchFamily="18" charset="0"/>
              </a:rPr>
              <a:t>: The set of stock sorting indicators. </a:t>
            </a:r>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800100" lvl="1" indent="-457200">
              <a:lnSpc>
                <a:spcPct val="150000"/>
              </a:lnSpc>
              <a:buAutoNum type="arabicPeriod"/>
            </a:pPr>
            <a:r>
              <a:rPr lang="en-US" altLang="zh-TW" dirty="0">
                <a:latin typeface="Times New Roman" panose="02020603050405020304" pitchFamily="18" charset="0"/>
                <a:ea typeface="Cambria Math" panose="02040503050406030204" pitchFamily="18" charset="0"/>
                <a:cs typeface="Times New Roman" panose="02020603050405020304" pitchFamily="18" charset="0"/>
              </a:rPr>
              <a:t>B</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ased on page 6</a:t>
            </a:r>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10</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1193141" y="4371699"/>
            <a:ext cx="6293509" cy="1481828"/>
          </a:xfrm>
          <a:prstGeom prst="rect">
            <a:avLst/>
          </a:prstGeom>
        </p:spPr>
      </p:pic>
    </p:spTree>
    <p:extLst>
      <p:ext uri="{BB962C8B-B14F-4D97-AF65-F5344CB8AC3E}">
        <p14:creationId xmlns:p14="http://schemas.microsoft.com/office/powerpoint/2010/main" val="34620629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GA-based model (4/4)</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pPr marL="457200" indent="-457200">
                  <a:lnSpc>
                    <a:spcPct val="150000"/>
                  </a:lnSpc>
                  <a:buAutoNum type="arabicPeriod" startAt="3"/>
                </a:pP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W</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 The weights of the fundamental variables.</a:t>
                </a:r>
              </a:p>
              <a:p>
                <a:pPr marL="0" indent="0">
                  <a:lnSpc>
                    <a:spcPct val="150000"/>
                  </a:lnSpc>
                  <a:buNone/>
                </a:pPr>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b="1" dirty="0" smtClean="0">
                    <a:latin typeface="Times New Roman" panose="02020603050405020304" pitchFamily="18" charset="0"/>
                    <a:ea typeface="Cambria Math" panose="02040503050406030204" pitchFamily="18" charset="0"/>
                    <a:cs typeface="Times New Roman" panose="02020603050405020304" pitchFamily="18" charset="0"/>
                  </a:rPr>
                  <a:t>Genotypes</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to </a:t>
                </a:r>
                <a:r>
                  <a:rPr lang="en-US" altLang="zh-TW" b="1" dirty="0" smtClean="0">
                    <a:latin typeface="Times New Roman" panose="02020603050405020304" pitchFamily="18" charset="0"/>
                    <a:ea typeface="Cambria Math" panose="02040503050406030204" pitchFamily="18" charset="0"/>
                    <a:cs typeface="Times New Roman" panose="02020603050405020304" pitchFamily="18" charset="0"/>
                  </a:rPr>
                  <a:t>Phenotype</a:t>
                </a: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𝑚𝑖𝑛</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𝑑</m:t>
                          </m:r>
                        </m:num>
                        <m:den>
                          <m:sSup>
                            <m:s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e>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𝑙</m:t>
                              </m:r>
                            </m:sup>
                          </m:s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𝑚𝑎𝑥</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𝑚𝑖𝑛</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sub>
                          </m:sSub>
                        </m:e>
                      </m:d>
                    </m:oMath>
                  </m:oMathPara>
                </a14:m>
                <a:endPar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Fitness function:</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𝑓𝑖𝑡𝑛𝑒𝑠𝑠</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ad>
                        <m:ra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radPr>
                        <m:deg>
                          <m:r>
                            <m:rPr>
                              <m:brk m:alnAt="7"/>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m:t>
                          </m:r>
                        </m:deg>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𝑐</m:t>
                              </m:r>
                            </m:sub>
                          </m:sSub>
                        </m:e>
                      </m:rad>
                    </m:oMath>
                  </m:oMathPara>
                </a14:m>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8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11</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4"/>
          <a:stretch>
            <a:fillRect/>
          </a:stretch>
        </p:blipFill>
        <p:spPr>
          <a:xfrm>
            <a:off x="134215" y="1659932"/>
            <a:ext cx="8896350" cy="981075"/>
          </a:xfrm>
          <a:prstGeom prst="rect">
            <a:avLst/>
          </a:prstGeom>
        </p:spPr>
      </p:pic>
      <p:cxnSp>
        <p:nvCxnSpPr>
          <p:cNvPr id="9" name="直線接點 8"/>
          <p:cNvCxnSpPr/>
          <p:nvPr/>
        </p:nvCxnSpPr>
        <p:spPr>
          <a:xfrm>
            <a:off x="297950" y="2518166"/>
            <a:ext cx="0" cy="348778"/>
          </a:xfrm>
          <a:prstGeom prst="line">
            <a:avLst/>
          </a:prstGeom>
        </p:spPr>
        <p:style>
          <a:lnRef idx="1">
            <a:schemeClr val="dk1"/>
          </a:lnRef>
          <a:fillRef idx="0">
            <a:schemeClr val="dk1"/>
          </a:fillRef>
          <a:effectRef idx="0">
            <a:schemeClr val="dk1"/>
          </a:effectRef>
          <a:fontRef idx="minor">
            <a:schemeClr val="tx1"/>
          </a:fontRef>
        </p:style>
      </p:cxnSp>
      <p:cxnSp>
        <p:nvCxnSpPr>
          <p:cNvPr id="11" name="直線接點 10"/>
          <p:cNvCxnSpPr/>
          <p:nvPr/>
        </p:nvCxnSpPr>
        <p:spPr>
          <a:xfrm>
            <a:off x="297950" y="2702556"/>
            <a:ext cx="2147298" cy="0"/>
          </a:xfrm>
          <a:prstGeom prst="line">
            <a:avLst/>
          </a:prstGeom>
        </p:spPr>
        <p:style>
          <a:lnRef idx="1">
            <a:schemeClr val="dk1"/>
          </a:lnRef>
          <a:fillRef idx="0">
            <a:schemeClr val="dk1"/>
          </a:fillRef>
          <a:effectRef idx="0">
            <a:schemeClr val="dk1"/>
          </a:effectRef>
          <a:fontRef idx="minor">
            <a:schemeClr val="tx1"/>
          </a:fontRef>
        </p:style>
      </p:cxnSp>
      <p:cxnSp>
        <p:nvCxnSpPr>
          <p:cNvPr id="15" name="直線接點 14"/>
          <p:cNvCxnSpPr/>
          <p:nvPr/>
        </p:nvCxnSpPr>
        <p:spPr>
          <a:xfrm>
            <a:off x="2455523" y="2548283"/>
            <a:ext cx="0" cy="318661"/>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文字方塊 15"/>
              <p:cNvSpPr txBox="1"/>
              <p:nvPr/>
            </p:nvSpPr>
            <p:spPr>
              <a:xfrm>
                <a:off x="297950" y="2897509"/>
                <a:ext cx="2301411" cy="369332"/>
              </a:xfrm>
              <a:prstGeom prst="rect">
                <a:avLst/>
              </a:prstGeom>
              <a:noFill/>
            </p:spPr>
            <p:txBody>
              <a:bodyPr wrap="square" rtlCol="0">
                <a:spAutoFit/>
              </a:bodyPr>
              <a:lstStyle/>
              <a:p>
                <a:r>
                  <a:rPr lang="en-US" altLang="zh-TW" dirty="0" smtClean="0"/>
                  <a:t>Weight for variable </a:t>
                </a:r>
                <a14:m>
                  <m:oMath xmlns:m="http://schemas.openxmlformats.org/officeDocument/2006/math">
                    <m:r>
                      <a:rPr lang="en-US" altLang="zh-TW" b="0" i="1" smtClean="0">
                        <a:latin typeface="Cambria Math" panose="02040503050406030204" pitchFamily="18" charset="0"/>
                      </a:rPr>
                      <m:t>1</m:t>
                    </m:r>
                  </m:oMath>
                </a14:m>
                <a:endParaRPr lang="zh-TW" altLang="en-US" dirty="0"/>
              </a:p>
            </p:txBody>
          </p:sp>
        </mc:Choice>
        <mc:Fallback>
          <p:sp>
            <p:nvSpPr>
              <p:cNvPr id="16" name="文字方塊 15"/>
              <p:cNvSpPr txBox="1">
                <a:spLocks noRot="1" noChangeAspect="1" noMove="1" noResize="1" noEditPoints="1" noAdjustHandles="1" noChangeArrowheads="1" noChangeShapeType="1" noTextEdit="1"/>
              </p:cNvSpPr>
              <p:nvPr/>
            </p:nvSpPr>
            <p:spPr>
              <a:xfrm>
                <a:off x="297950" y="2897509"/>
                <a:ext cx="2301411" cy="369332"/>
              </a:xfrm>
              <a:prstGeom prst="rect">
                <a:avLst/>
              </a:prstGeom>
              <a:blipFill rotWithShape="0">
                <a:blip r:embed="rId5"/>
                <a:stretch>
                  <a:fillRect l="-2387"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354586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Algorithm flowchart</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2592980" y="1409754"/>
            <a:ext cx="3950244" cy="5129159"/>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12</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34976835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 (1/2)</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13</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624752" y="1091045"/>
            <a:ext cx="7886700" cy="5081889"/>
          </a:xfrm>
          <a:prstGeom prst="rect">
            <a:avLst/>
          </a:prstGeom>
        </p:spPr>
      </p:pic>
    </p:spTree>
    <p:extLst>
      <p:ext uri="{BB962C8B-B14F-4D97-AF65-F5344CB8AC3E}">
        <p14:creationId xmlns:p14="http://schemas.microsoft.com/office/powerpoint/2010/main" val="3195221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 (2/2)</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3" name="圖片 2"/>
          <p:cNvPicPr>
            <a:picLocks noChangeAspect="1"/>
          </p:cNvPicPr>
          <p:nvPr/>
        </p:nvPicPr>
        <p:blipFill>
          <a:blip r:embed="rId3"/>
          <a:stretch>
            <a:fillRect/>
          </a:stretch>
        </p:blipFill>
        <p:spPr>
          <a:xfrm>
            <a:off x="0" y="2213113"/>
            <a:ext cx="4528005" cy="3219662"/>
          </a:xfrm>
          <a:prstGeom prst="rect">
            <a:avLst/>
          </a:prstGeom>
        </p:spPr>
      </p:pic>
      <p:pic>
        <p:nvPicPr>
          <p:cNvPr id="5" name="圖片 4"/>
          <p:cNvPicPr>
            <a:picLocks noChangeAspect="1"/>
          </p:cNvPicPr>
          <p:nvPr/>
        </p:nvPicPr>
        <p:blipFill>
          <a:blip r:embed="rId4"/>
          <a:stretch>
            <a:fillRect/>
          </a:stretch>
        </p:blipFill>
        <p:spPr>
          <a:xfrm>
            <a:off x="4587011" y="2184736"/>
            <a:ext cx="4517521" cy="3248040"/>
          </a:xfrm>
          <a:prstGeom prst="rect">
            <a:avLst/>
          </a:prstGeom>
        </p:spPr>
      </p:pic>
    </p:spTree>
    <p:extLst>
      <p:ext uri="{BB962C8B-B14F-4D97-AF65-F5344CB8AC3E}">
        <p14:creationId xmlns:p14="http://schemas.microsoft.com/office/powerpoint/2010/main" val="1640440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6262</TotalTime>
  <Words>372</Words>
  <Application>Microsoft Office PowerPoint</Application>
  <PresentationFormat>如螢幕大小 (4:3)</PresentationFormat>
  <Paragraphs>95</Paragraphs>
  <Slides>14</Slides>
  <Notes>14</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14</vt:i4>
      </vt:variant>
    </vt:vector>
  </HeadingPairs>
  <TitlesOfParts>
    <vt:vector size="23" baseType="lpstr">
      <vt:lpstr>新細明體</vt:lpstr>
      <vt:lpstr>標楷體</vt:lpstr>
      <vt:lpstr>Arial</vt:lpstr>
      <vt:lpstr>Calibri</vt:lpstr>
      <vt:lpstr>Calibri Light</vt:lpstr>
      <vt:lpstr>Cambria Math</vt:lpstr>
      <vt:lpstr>Times New Roman</vt:lpstr>
      <vt:lpstr>Wingdings</vt:lpstr>
      <vt:lpstr>Office 佈景主題</vt:lpstr>
      <vt:lpstr>A Comparative Study of Stock Scoring using Regression and Genetic-based Linear Models</vt:lpstr>
      <vt:lpstr>Abstract(1/2)</vt:lpstr>
      <vt:lpstr>Abstract(1/2)</vt:lpstr>
      <vt:lpstr>Regression Model</vt:lpstr>
      <vt:lpstr>Fundamental indicators (1/2)</vt:lpstr>
      <vt:lpstr>Fundamental indicators (2/2)</vt:lpstr>
      <vt:lpstr>Ranking scheme</vt:lpstr>
      <vt:lpstr>GA-based model (1/4)</vt:lpstr>
      <vt:lpstr>GA-based model (2/4)</vt:lpstr>
      <vt:lpstr>GA-based model (3/4)</vt:lpstr>
      <vt:lpstr>GA-based model (4/4)</vt:lpstr>
      <vt:lpstr>Algorithm flowchart</vt:lpstr>
      <vt:lpstr>Experiment (1/2)</vt:lpstr>
      <vt:lpstr>Experiment (2/2)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Jarvis Tsai</cp:lastModifiedBy>
  <cp:revision>244</cp:revision>
  <cp:lastPrinted>2015-05-05T05:44:38Z</cp:lastPrinted>
  <dcterms:created xsi:type="dcterms:W3CDTF">2015-05-03T09:05:15Z</dcterms:created>
  <dcterms:modified xsi:type="dcterms:W3CDTF">2015-08-31T17:17:23Z</dcterms:modified>
</cp:coreProperties>
</file>