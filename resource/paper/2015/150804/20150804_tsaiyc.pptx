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handoutMasterIdLst>
    <p:handoutMasterId r:id="rId25"/>
  </p:handoutMasterIdLst>
  <p:sldIdLst>
    <p:sldId id="256" r:id="rId2"/>
    <p:sldId id="258" r:id="rId3"/>
    <p:sldId id="260" r:id="rId4"/>
    <p:sldId id="262" r:id="rId5"/>
    <p:sldId id="263" r:id="rId6"/>
    <p:sldId id="264" r:id="rId7"/>
    <p:sldId id="265" r:id="rId8"/>
    <p:sldId id="266" r:id="rId9"/>
    <p:sldId id="270" r:id="rId10"/>
    <p:sldId id="268" r:id="rId11"/>
    <p:sldId id="269" r:id="rId12"/>
    <p:sldId id="267" r:id="rId13"/>
    <p:sldId id="271" r:id="rId14"/>
    <p:sldId id="272" r:id="rId15"/>
    <p:sldId id="273" r:id="rId16"/>
    <p:sldId id="274" r:id="rId17"/>
    <p:sldId id="275" r:id="rId18"/>
    <p:sldId id="276" r:id="rId19"/>
    <p:sldId id="277" r:id="rId20"/>
    <p:sldId id="278" r:id="rId21"/>
    <p:sldId id="279" r:id="rId22"/>
    <p:sldId id="280" r:id="rId23"/>
  </p:sldIdLst>
  <p:sldSz cx="9144000" cy="6858000" type="screen4x3"/>
  <p:notesSz cx="9947275" cy="6858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0016" autoAdjust="0"/>
    <p:restoredTop sz="94660"/>
  </p:normalViewPr>
  <p:slideViewPr>
    <p:cSldViewPr snapToGrid="0">
      <p:cViewPr varScale="1">
        <p:scale>
          <a:sx n="73" d="100"/>
          <a:sy n="73" d="100"/>
        </p:scale>
        <p:origin x="-294"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10486"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634487" y="1"/>
            <a:ext cx="4310486" cy="344091"/>
          </a:xfrm>
          <a:prstGeom prst="rect">
            <a:avLst/>
          </a:prstGeom>
        </p:spPr>
        <p:txBody>
          <a:bodyPr vert="horz" lIns="91440" tIns="45720" rIns="91440" bIns="45720" rtlCol="0"/>
          <a:lstStyle>
            <a:lvl1pPr algn="r">
              <a:defRPr sz="1200"/>
            </a:lvl1pPr>
          </a:lstStyle>
          <a:p>
            <a:fld id="{656B342C-D3E6-4343-B7E6-7344C4D3E48E}" type="datetimeFigureOut">
              <a:rPr lang="zh-TW" altLang="en-US" smtClean="0"/>
              <a:pPr/>
              <a:t>2015/8/4</a:t>
            </a:fld>
            <a:endParaRPr lang="zh-TW" altLang="en-US"/>
          </a:p>
        </p:txBody>
      </p:sp>
      <p:sp>
        <p:nvSpPr>
          <p:cNvPr id="4" name="頁尾版面配置區 3"/>
          <p:cNvSpPr>
            <a:spLocks noGrp="1"/>
          </p:cNvSpPr>
          <p:nvPr>
            <p:ph type="ftr" sz="quarter" idx="2"/>
          </p:nvPr>
        </p:nvSpPr>
        <p:spPr>
          <a:xfrm>
            <a:off x="0" y="6513910"/>
            <a:ext cx="4310486" cy="34409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634487" y="6513910"/>
            <a:ext cx="4310486" cy="344090"/>
          </a:xfrm>
          <a:prstGeom prst="rect">
            <a:avLst/>
          </a:prstGeom>
        </p:spPr>
        <p:txBody>
          <a:bodyPr vert="horz" lIns="91440" tIns="45720" rIns="91440" bIns="45720" rtlCol="0" anchor="b"/>
          <a:lstStyle>
            <a:lvl1pPr algn="r">
              <a:defRPr sz="1200"/>
            </a:lvl1pPr>
          </a:lstStyle>
          <a:p>
            <a:fld id="{641071B8-4507-4225-B265-9ABFCA3C6D5D}" type="slidenum">
              <a:rPr lang="zh-TW" altLang="en-US" smtClean="0"/>
              <a:pPr/>
              <a:t>‹#›</a:t>
            </a:fld>
            <a:endParaRPr lang="zh-TW" altLang="en-US"/>
          </a:p>
        </p:txBody>
      </p:sp>
    </p:spTree>
    <p:extLst>
      <p:ext uri="{BB962C8B-B14F-4D97-AF65-F5344CB8AC3E}">
        <p14:creationId xmlns:p14="http://schemas.microsoft.com/office/powerpoint/2010/main" xmlns="" val="3371184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10486" cy="3444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35063" y="0"/>
            <a:ext cx="4310486" cy="344488"/>
          </a:xfrm>
          <a:prstGeom prst="rect">
            <a:avLst/>
          </a:prstGeom>
        </p:spPr>
        <p:txBody>
          <a:bodyPr vert="horz" lIns="91440" tIns="45720" rIns="91440" bIns="45720" rtlCol="0"/>
          <a:lstStyle>
            <a:lvl1pPr algn="r">
              <a:defRPr sz="1200"/>
            </a:lvl1pPr>
          </a:lstStyle>
          <a:p>
            <a:fld id="{1051319D-5FEB-4BB2-8449-8B5AD3FD1565}" type="datetimeFigureOut">
              <a:rPr lang="zh-TW" altLang="en-US" smtClean="0"/>
              <a:pPr/>
              <a:t>2015/8/4</a:t>
            </a:fld>
            <a:endParaRPr lang="zh-TW" altLang="en-US"/>
          </a:p>
        </p:txBody>
      </p:sp>
      <p:sp>
        <p:nvSpPr>
          <p:cNvPr id="4" name="投影片圖像版面配置區 3"/>
          <p:cNvSpPr>
            <a:spLocks noGrp="1" noRot="1" noChangeAspect="1"/>
          </p:cNvSpPr>
          <p:nvPr>
            <p:ph type="sldImg" idx="2"/>
          </p:nvPr>
        </p:nvSpPr>
        <p:spPr>
          <a:xfrm>
            <a:off x="3430588" y="857250"/>
            <a:ext cx="30861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4728" y="3300414"/>
            <a:ext cx="7957820" cy="2700337"/>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6513514"/>
            <a:ext cx="4310486" cy="3444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35063" y="6513514"/>
            <a:ext cx="4310486" cy="344487"/>
          </a:xfrm>
          <a:prstGeom prst="rect">
            <a:avLst/>
          </a:prstGeom>
        </p:spPr>
        <p:txBody>
          <a:bodyPr vert="horz" lIns="91440" tIns="45720" rIns="91440" bIns="45720" rtlCol="0" anchor="b"/>
          <a:lstStyle>
            <a:lvl1pPr algn="r">
              <a:defRPr sz="1200"/>
            </a:lvl1pPr>
          </a:lstStyle>
          <a:p>
            <a:fld id="{9A8D4387-758A-48A1-B6FC-B6449276ED87}" type="slidenum">
              <a:rPr lang="zh-TW" altLang="en-US" smtClean="0"/>
              <a:pPr/>
              <a:t>‹#›</a:t>
            </a:fld>
            <a:endParaRPr lang="zh-TW" altLang="en-US"/>
          </a:p>
        </p:txBody>
      </p:sp>
    </p:spTree>
    <p:extLst>
      <p:ext uri="{BB962C8B-B14F-4D97-AF65-F5344CB8AC3E}">
        <p14:creationId xmlns:p14="http://schemas.microsoft.com/office/powerpoint/2010/main" xmlns="" val="11241250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1</a:t>
            </a:fld>
            <a:endParaRPr lang="zh-TW" altLang="en-US"/>
          </a:p>
        </p:txBody>
      </p:sp>
    </p:spTree>
    <p:extLst>
      <p:ext uri="{BB962C8B-B14F-4D97-AF65-F5344CB8AC3E}">
        <p14:creationId xmlns:p14="http://schemas.microsoft.com/office/powerpoint/2010/main" xmlns="" val="407028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2</a:t>
            </a:fld>
            <a:endParaRPr lang="zh-TW" altLang="en-US"/>
          </a:p>
        </p:txBody>
      </p:sp>
    </p:spTree>
    <p:extLst>
      <p:ext uri="{BB962C8B-B14F-4D97-AF65-F5344CB8AC3E}">
        <p14:creationId xmlns:p14="http://schemas.microsoft.com/office/powerpoint/2010/main" xmlns="" val="976998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3</a:t>
            </a:fld>
            <a:endParaRPr lang="zh-TW" altLang="en-US"/>
          </a:p>
        </p:txBody>
      </p:sp>
    </p:spTree>
    <p:extLst>
      <p:ext uri="{BB962C8B-B14F-4D97-AF65-F5344CB8AC3E}">
        <p14:creationId xmlns:p14="http://schemas.microsoft.com/office/powerpoint/2010/main" xmlns="" val="2078341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4</a:t>
            </a:fld>
            <a:endParaRPr lang="zh-TW" altLang="en-US"/>
          </a:p>
        </p:txBody>
      </p:sp>
    </p:spTree>
    <p:extLst>
      <p:ext uri="{BB962C8B-B14F-4D97-AF65-F5344CB8AC3E}">
        <p14:creationId xmlns:p14="http://schemas.microsoft.com/office/powerpoint/2010/main" xmlns="" val="1575559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5</a:t>
            </a:fld>
            <a:endParaRPr lang="zh-TW" altLang="en-US"/>
          </a:p>
        </p:txBody>
      </p:sp>
    </p:spTree>
    <p:extLst>
      <p:ext uri="{BB962C8B-B14F-4D97-AF65-F5344CB8AC3E}">
        <p14:creationId xmlns:p14="http://schemas.microsoft.com/office/powerpoint/2010/main" xmlns="" val="637232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6</a:t>
            </a:fld>
            <a:endParaRPr lang="zh-TW" altLang="en-US"/>
          </a:p>
        </p:txBody>
      </p:sp>
    </p:spTree>
    <p:extLst>
      <p:ext uri="{BB962C8B-B14F-4D97-AF65-F5344CB8AC3E}">
        <p14:creationId xmlns:p14="http://schemas.microsoft.com/office/powerpoint/2010/main" xmlns="" val="1110351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7</a:t>
            </a:fld>
            <a:endParaRPr lang="zh-TW" altLang="en-US"/>
          </a:p>
        </p:txBody>
      </p:sp>
    </p:spTree>
    <p:extLst>
      <p:ext uri="{BB962C8B-B14F-4D97-AF65-F5344CB8AC3E}">
        <p14:creationId xmlns:p14="http://schemas.microsoft.com/office/powerpoint/2010/main" xmlns="" val="232721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15</a:t>
            </a:fld>
            <a:endParaRPr lang="zh-TW" altLang="en-US"/>
          </a:p>
        </p:txBody>
      </p:sp>
    </p:spTree>
    <p:extLst>
      <p:ext uri="{BB962C8B-B14F-4D97-AF65-F5344CB8AC3E}">
        <p14:creationId xmlns:p14="http://schemas.microsoft.com/office/powerpoint/2010/main" xmlns="" val="4162908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16</a:t>
            </a:fld>
            <a:endParaRPr lang="zh-TW" altLang="en-US"/>
          </a:p>
        </p:txBody>
      </p:sp>
    </p:spTree>
    <p:extLst>
      <p:ext uri="{BB962C8B-B14F-4D97-AF65-F5344CB8AC3E}">
        <p14:creationId xmlns:p14="http://schemas.microsoft.com/office/powerpoint/2010/main" xmlns="" val="1061070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17</a:t>
            </a:fld>
            <a:endParaRPr lang="zh-TW" altLang="en-US"/>
          </a:p>
        </p:txBody>
      </p:sp>
    </p:spTree>
    <p:extLst>
      <p:ext uri="{BB962C8B-B14F-4D97-AF65-F5344CB8AC3E}">
        <p14:creationId xmlns:p14="http://schemas.microsoft.com/office/powerpoint/2010/main" xmlns="" val="346439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18</a:t>
            </a:fld>
            <a:endParaRPr lang="zh-TW" altLang="en-US"/>
          </a:p>
        </p:txBody>
      </p:sp>
    </p:spTree>
    <p:extLst>
      <p:ext uri="{BB962C8B-B14F-4D97-AF65-F5344CB8AC3E}">
        <p14:creationId xmlns:p14="http://schemas.microsoft.com/office/powerpoint/2010/main" xmlns="" val="4251468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19</a:t>
            </a:fld>
            <a:endParaRPr lang="zh-TW" altLang="en-US"/>
          </a:p>
        </p:txBody>
      </p:sp>
    </p:spTree>
    <p:extLst>
      <p:ext uri="{BB962C8B-B14F-4D97-AF65-F5344CB8AC3E}">
        <p14:creationId xmlns:p14="http://schemas.microsoft.com/office/powerpoint/2010/main" xmlns="" val="233007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20</a:t>
            </a:fld>
            <a:endParaRPr lang="zh-TW" altLang="en-US"/>
          </a:p>
        </p:txBody>
      </p:sp>
    </p:spTree>
    <p:extLst>
      <p:ext uri="{BB962C8B-B14F-4D97-AF65-F5344CB8AC3E}">
        <p14:creationId xmlns:p14="http://schemas.microsoft.com/office/powerpoint/2010/main" xmlns="" val="618311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21</a:t>
            </a:fld>
            <a:endParaRPr lang="zh-TW" altLang="en-US"/>
          </a:p>
        </p:txBody>
      </p:sp>
    </p:spTree>
    <p:extLst>
      <p:ext uri="{BB962C8B-B14F-4D97-AF65-F5344CB8AC3E}">
        <p14:creationId xmlns:p14="http://schemas.microsoft.com/office/powerpoint/2010/main" xmlns="" val="3546905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22</a:t>
            </a:fld>
            <a:endParaRPr lang="zh-TW" altLang="en-US"/>
          </a:p>
        </p:txBody>
      </p:sp>
    </p:spTree>
    <p:extLst>
      <p:ext uri="{BB962C8B-B14F-4D97-AF65-F5344CB8AC3E}">
        <p14:creationId xmlns:p14="http://schemas.microsoft.com/office/powerpoint/2010/main" xmlns="" val="1143676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F813411-B8F4-4907-AA92-4552EEC98037}" type="datetime1">
              <a:rPr lang="zh-TW" altLang="en-US" smtClean="0"/>
              <a:pPr/>
              <a:t>2015/8/4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22770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467948-3BC4-474B-B2C5-B24B6278D5CC}" type="datetime1">
              <a:rPr lang="zh-TW" altLang="en-US" smtClean="0"/>
              <a:pPr/>
              <a:t>2015/8/4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628356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B5E4401-0966-4BE9-949A-1941D46B255A}" type="datetime1">
              <a:rPr lang="zh-TW" altLang="en-US" smtClean="0"/>
              <a:pPr/>
              <a:t>2015/8/4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221637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2E5F7A8-39F7-47D3-84AF-7F86628B5FAB}" type="datetime1">
              <a:rPr lang="zh-TW" altLang="en-US" smtClean="0"/>
              <a:pPr/>
              <a:t>2015/8/4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3334492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84A1C-B702-477E-9BF4-97BB9A31376D}" type="datetime1">
              <a:rPr lang="zh-TW" altLang="en-US" smtClean="0"/>
              <a:pPr/>
              <a:t>2015/8/4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129008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9DAD37B-8EDA-44B1-B8D7-9E8653376522}" type="datetime1">
              <a:rPr lang="zh-TW" altLang="en-US" smtClean="0"/>
              <a:pPr/>
              <a:t>2015/8/4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107157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F73D677-579F-4601-A0E0-98D0EF8FF300}" type="datetime1">
              <a:rPr lang="zh-TW" altLang="en-US" smtClean="0"/>
              <a:pPr/>
              <a:t>2015/8/4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403127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3204F25-68B9-4B98-A00F-22886F6765A0}" type="datetime1">
              <a:rPr lang="zh-TW" altLang="en-US" smtClean="0"/>
              <a:pPr/>
              <a:t>2015/8/4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347231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35A57DF-E3E8-4590-BCB8-918F6FA7A470}" type="datetime1">
              <a:rPr lang="zh-TW" altLang="en-US" smtClean="0"/>
              <a:pPr/>
              <a:t>2015/8/4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157871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183A9F8-67B4-415C-958B-B847634E21C6}" type="datetime1">
              <a:rPr lang="zh-TW" altLang="en-US" smtClean="0"/>
              <a:pPr/>
              <a:t>2015/8/4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1937675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BD22B4F-FCBB-477E-B7D1-1CF98B64D8ED}" type="datetime1">
              <a:rPr lang="zh-TW" altLang="en-US" smtClean="0"/>
              <a:pPr/>
              <a:t>2015/8/4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190038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451B09C-9434-434F-8521-A32D48F8D9B0}" type="datetime1">
              <a:rPr lang="zh-TW" altLang="en-US" smtClean="0"/>
              <a:pPr/>
              <a:t>2015/8/4</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6D0F78-E2D1-4ADE-B2ED-40AB43ACB23D}" type="slidenum">
              <a:rPr lang="zh-TW" altLang="en-US" smtClean="0"/>
              <a:pPr/>
              <a:t>‹#›</a:t>
            </a:fld>
            <a:endParaRPr lang="zh-TW" altLang="en-US"/>
          </a:p>
        </p:txBody>
      </p:sp>
    </p:spTree>
    <p:extLst>
      <p:ext uri="{BB962C8B-B14F-4D97-AF65-F5344CB8AC3E}">
        <p14:creationId xmlns:p14="http://schemas.microsoft.com/office/powerpoint/2010/main" xmlns="" val="3857525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76200"/>
            <a:ext cx="9144000" cy="3128317"/>
          </a:xfrm>
        </p:spPr>
        <p:txBody>
          <a:bodyPr>
            <a:noAutofit/>
          </a:bodyPr>
          <a:lstStyle/>
          <a:p>
            <a:r>
              <a:rPr lang="en-US" altLang="zh-TW" sz="4400" dirty="0">
                <a:latin typeface="Times New Roman" panose="02020603050405020304" pitchFamily="18" charset="0"/>
                <a:cs typeface="Times New Roman" panose="02020603050405020304" pitchFamily="18" charset="0"/>
              </a:rPr>
              <a:t>Feature Selection Based on Mutual Information:</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Criteria of Max-Dependency, Max-Relevance,</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and Min-Redundancy</a:t>
            </a:r>
            <a:endParaRPr lang="zh-TW" altLang="en-US" sz="4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0" y="3204518"/>
            <a:ext cx="9144000" cy="3482031"/>
          </a:xfrm>
        </p:spPr>
        <p:txBody>
          <a:bodyPr>
            <a:normAutofit/>
          </a:bodyPr>
          <a:lstStyle/>
          <a:p>
            <a:pPr>
              <a:lnSpc>
                <a:spcPct val="150000"/>
              </a:lnSpc>
            </a:pPr>
            <a:r>
              <a:rPr lang="en-US" altLang="zh-TW" sz="2000" dirty="0" err="1">
                <a:latin typeface="Times New Roman" panose="02020603050405020304" pitchFamily="18" charset="0"/>
                <a:cs typeface="Times New Roman" panose="02020603050405020304" pitchFamily="18" charset="0"/>
              </a:rPr>
              <a:t>Hanchuan</a:t>
            </a:r>
            <a:r>
              <a:rPr lang="en-US" altLang="zh-TW" sz="2000" dirty="0">
                <a:latin typeface="Times New Roman" panose="02020603050405020304" pitchFamily="18" charset="0"/>
                <a:cs typeface="Times New Roman" panose="02020603050405020304" pitchFamily="18" charset="0"/>
              </a:rPr>
              <a:t> Peng, Member, IEEE, </a:t>
            </a:r>
            <a:r>
              <a:rPr lang="en-US" altLang="zh-TW" sz="2000" dirty="0" err="1">
                <a:latin typeface="Times New Roman" panose="02020603050405020304" pitchFamily="18" charset="0"/>
                <a:cs typeface="Times New Roman" panose="02020603050405020304" pitchFamily="18" charset="0"/>
              </a:rPr>
              <a:t>Fuhui</a:t>
            </a:r>
            <a:r>
              <a:rPr lang="en-US" altLang="zh-TW" sz="2000" dirty="0">
                <a:latin typeface="Times New Roman" panose="02020603050405020304" pitchFamily="18" charset="0"/>
                <a:cs typeface="Times New Roman" panose="02020603050405020304" pitchFamily="18" charset="0"/>
              </a:rPr>
              <a:t> Long, and Chris </a:t>
            </a:r>
            <a:r>
              <a:rPr lang="en-US" altLang="zh-TW" sz="2000" dirty="0" smtClean="0">
                <a:latin typeface="Times New Roman" panose="02020603050405020304" pitchFamily="18" charset="0"/>
                <a:cs typeface="Times New Roman" panose="02020603050405020304" pitchFamily="18" charset="0"/>
              </a:rPr>
              <a:t>Ding</a:t>
            </a:r>
          </a:p>
          <a:p>
            <a:pPr>
              <a:lnSpc>
                <a:spcPct val="150000"/>
              </a:lnSpc>
            </a:pPr>
            <a:r>
              <a:rPr lang="en-US" altLang="zh-TW" sz="2000" dirty="0">
                <a:latin typeface="Times New Roman" panose="02020603050405020304" pitchFamily="18" charset="0"/>
                <a:cs typeface="Times New Roman" panose="02020603050405020304" pitchFamily="18" charset="0"/>
              </a:rPr>
              <a:t>Pattern Analysis and Machine Intelligence, IEEE Transactions </a:t>
            </a:r>
            <a:r>
              <a:rPr lang="en-US" altLang="zh-TW" sz="2000" dirty="0" smtClean="0">
                <a:latin typeface="Times New Roman" panose="02020603050405020304" pitchFamily="18" charset="0"/>
                <a:cs typeface="Times New Roman" panose="02020603050405020304" pitchFamily="18" charset="0"/>
              </a:rPr>
              <a:t>on, 2005</a:t>
            </a:r>
          </a:p>
          <a:p>
            <a:pPr>
              <a:lnSpc>
                <a:spcPct val="150000"/>
              </a:lnSpc>
            </a:pPr>
            <a:r>
              <a:rPr lang="en-US" altLang="zh-TW" sz="2000" dirty="0" smtClean="0">
                <a:latin typeface="Times New Roman" panose="02020603050405020304" pitchFamily="18" charset="0"/>
                <a:cs typeface="Times New Roman" panose="02020603050405020304" pitchFamily="18" charset="0"/>
              </a:rPr>
              <a:t>pp. </a:t>
            </a:r>
            <a:r>
              <a:rPr lang="en-US" altLang="zh-TW" sz="2000" dirty="0">
                <a:latin typeface="Times New Roman" panose="02020603050405020304" pitchFamily="18" charset="0"/>
                <a:cs typeface="Times New Roman" panose="02020603050405020304" pitchFamily="18" charset="0"/>
              </a:rPr>
              <a:t>1226 - 1238 </a:t>
            </a:r>
            <a:endParaRPr lang="en-US" altLang="zh-TW" sz="2000" dirty="0" smtClean="0">
              <a:latin typeface="Times New Roman" panose="02020603050405020304" pitchFamily="18" charset="0"/>
              <a:cs typeface="Times New Roman" panose="02020603050405020304" pitchFamily="18" charset="0"/>
            </a:endParaRPr>
          </a:p>
          <a:p>
            <a:pPr>
              <a:lnSpc>
                <a:spcPct val="150000"/>
              </a:lnSpc>
            </a:pPr>
            <a:r>
              <a:rPr lang="en-US" altLang="zh-TW" sz="2000" dirty="0" smtClean="0">
                <a:latin typeface="Times New Roman" panose="02020603050405020304" pitchFamily="18" charset="0"/>
                <a:cs typeface="Times New Roman" panose="02020603050405020304" pitchFamily="18" charset="0"/>
              </a:rPr>
              <a:t>2015/8/4</a:t>
            </a:r>
            <a:endParaRPr lang="en-US" altLang="zh-TW" sz="2000" dirty="0" smtClean="0">
              <a:latin typeface="Times New Roman" panose="02020603050405020304" pitchFamily="18" charset="0"/>
              <a:cs typeface="Times New Roman" panose="02020603050405020304" pitchFamily="18" charset="0"/>
            </a:endParaRPr>
          </a:p>
          <a:p>
            <a:pPr>
              <a:lnSpc>
                <a:spcPct val="150000"/>
              </a:lnSpc>
            </a:pPr>
            <a:r>
              <a:rPr lang="en-US" altLang="zh-TW" sz="2000" dirty="0" smtClean="0">
                <a:latin typeface="Times New Roman" panose="02020603050405020304" pitchFamily="18" charset="0"/>
                <a:cs typeface="Times New Roman" panose="02020603050405020304" pitchFamily="18" charset="0"/>
              </a:rPr>
              <a:t>Presenter : Tsai Yao-</a:t>
            </a:r>
            <a:r>
              <a:rPr lang="en-US" altLang="zh-TW" sz="2000" dirty="0">
                <a:latin typeface="Times New Roman" panose="02020603050405020304" pitchFamily="18" charset="0"/>
                <a:cs typeface="Times New Roman" panose="02020603050405020304" pitchFamily="18" charset="0"/>
              </a:rPr>
              <a:t>C</a:t>
            </a:r>
            <a:r>
              <a:rPr lang="en-US" altLang="zh-TW" sz="2000" dirty="0" smtClean="0">
                <a:latin typeface="Times New Roman" panose="02020603050405020304" pitchFamily="18" charset="0"/>
                <a:cs typeface="Times New Roman" panose="02020603050405020304" pitchFamily="18" charset="0"/>
              </a:rPr>
              <a:t>hou</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a:t>
            </a:fld>
            <a:endParaRPr lang="zh-TW" altLang="en-US"/>
          </a:p>
        </p:txBody>
      </p:sp>
    </p:spTree>
    <p:extLst>
      <p:ext uri="{BB962C8B-B14F-4D97-AF65-F5344CB8AC3E}">
        <p14:creationId xmlns:p14="http://schemas.microsoft.com/office/powerpoint/2010/main" xmlns="" val="27241994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vert="horz" lIns="91440" tIns="45720" rIns="91440" bIns="45720" rtlCol="0" anchor="t">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Feature selection is an important problem for pattern classification systems. We study how to select good features according to the maximal statistical dependency criterion based on mutual information. Because of the difficulty in directly implementing the maximal dependency condition, we first derive an equivalent form, called minimal-redundancy-maximal-relevance criterion (</a:t>
            </a:r>
            <a:r>
              <a:rPr lang="en-US" altLang="zh-TW" sz="2400" dirty="0" err="1">
                <a:latin typeface="Times New Roman" panose="02020603050405020304" pitchFamily="18" charset="0"/>
                <a:cs typeface="Times New Roman" panose="02020603050405020304" pitchFamily="18" charset="0"/>
              </a:rPr>
              <a:t>mRMR</a:t>
            </a:r>
            <a:r>
              <a:rPr lang="en-US" altLang="zh-TW" sz="2400" dirty="0">
                <a:latin typeface="Times New Roman" panose="02020603050405020304" pitchFamily="18" charset="0"/>
                <a:cs typeface="Times New Roman" panose="02020603050405020304" pitchFamily="18" charset="0"/>
              </a:rPr>
              <a:t>), for first-order incremental feature selection. Then, we present a two-stage feature selection algorithm by combining </a:t>
            </a:r>
            <a:r>
              <a:rPr lang="en-US" altLang="zh-TW" sz="2400" dirty="0" err="1">
                <a:latin typeface="Times New Roman" panose="02020603050405020304" pitchFamily="18" charset="0"/>
                <a:cs typeface="Times New Roman" panose="02020603050405020304" pitchFamily="18" charset="0"/>
              </a:rPr>
              <a:t>mRMR</a:t>
            </a:r>
            <a:r>
              <a:rPr lang="en-US" altLang="zh-TW" sz="2400" dirty="0">
                <a:latin typeface="Times New Roman" panose="02020603050405020304" pitchFamily="18" charset="0"/>
                <a:cs typeface="Times New Roman" panose="02020603050405020304" pitchFamily="18" charset="0"/>
              </a:rPr>
              <a:t> and other more sophisticated feature selectors (e.g., wrappers). This allows us to select a compact set of superior features at very low cost.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2</a:t>
            </a:fld>
            <a:endParaRPr lang="zh-TW" altLang="en-US" dirty="0"/>
          </a:p>
        </p:txBody>
      </p:sp>
    </p:spTree>
    <p:extLst>
      <p:ext uri="{BB962C8B-B14F-4D97-AF65-F5344CB8AC3E}">
        <p14:creationId xmlns:p14="http://schemas.microsoft.com/office/powerpoint/2010/main" xmlns="" val="2744253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Abstract(2/2)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We perform extensive experimental comparison of our algorithm and other methods using three different classifiers (naive Bayes, support vector machine, and linear discriminate analysis) and four different data sets (handwritten digits, arrhythmia, NCI cancer cell lines, and lymphoma tissues). The results confirm that </a:t>
            </a:r>
            <a:r>
              <a:rPr lang="en-US" altLang="zh-TW" sz="2400" dirty="0" err="1">
                <a:latin typeface="Times New Roman" panose="02020603050405020304" pitchFamily="18" charset="0"/>
                <a:cs typeface="Times New Roman" panose="02020603050405020304" pitchFamily="18" charset="0"/>
              </a:rPr>
              <a:t>mRMR</a:t>
            </a:r>
            <a:r>
              <a:rPr lang="en-US" altLang="zh-TW" sz="2400" dirty="0">
                <a:latin typeface="Times New Roman" panose="02020603050405020304" pitchFamily="18" charset="0"/>
                <a:cs typeface="Times New Roman" panose="02020603050405020304" pitchFamily="18" charset="0"/>
              </a:rPr>
              <a:t> leads to promising improvement on feature selection and classification accuracy.</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3</a:t>
            </a:fld>
            <a:endParaRPr lang="zh-TW" altLang="en-US"/>
          </a:p>
        </p:txBody>
      </p:sp>
    </p:spTree>
    <p:extLst>
      <p:ext uri="{BB962C8B-B14F-4D97-AF65-F5344CB8AC3E}">
        <p14:creationId xmlns:p14="http://schemas.microsoft.com/office/powerpoint/2010/main" xmlns="" val="19308212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Mutual information</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marL="0" indent="0">
                  <a:lnSpc>
                    <a:spcPct val="150000"/>
                  </a:lnSpc>
                  <a:buNone/>
                </a:pP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𝐼</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nary>
                        <m:naryPr>
                          <m:limLoc m:val="undOvr"/>
                          <m:subHide m:val="on"/>
                          <m:supHide m:val="on"/>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naryPr>
                        <m:sub/>
                        <m:sup/>
                        <m:e>
                          <m:nary>
                            <m:naryPr>
                              <m:limLoc m:val="undOvr"/>
                              <m:subHide m:val="on"/>
                              <m:supHide m:val="on"/>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naryPr>
                            <m:sub/>
                            <m:sup/>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𝑝</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func>
                                <m:func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uncPr>
                                <m:fName>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log</m:t>
                                  </m:r>
                                </m:fName>
                                <m:e>
                                  <m:f>
                                    <m:f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𝑝</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num>
                                    <m:den>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𝑝</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𝑝</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den>
                                  </m:f>
                                </m:e>
                              </m:func>
                            </m:e>
                          </m:nary>
                        </m:e>
                      </m:nary>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𝑑𝑥𝑑𝑦</m:t>
                      </m:r>
                    </m:oMath>
                  </m:oMathPara>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𝑝</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𝑝</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𝑝</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are </a:t>
                </a:r>
                <a:r>
                  <a:rPr lang="en-US" altLang="zh-TW" b="1" dirty="0"/>
                  <a:t>Probability density function</a:t>
                </a:r>
              </a:p>
              <a:p>
                <a:pPr>
                  <a:lnSpc>
                    <a:spcPct val="150000"/>
                  </a:lnSpc>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68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4</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5" name="圖片 4"/>
          <p:cNvPicPr>
            <a:picLocks noChangeAspect="1"/>
          </p:cNvPicPr>
          <p:nvPr/>
        </p:nvPicPr>
        <p:blipFill>
          <a:blip r:embed="rId4"/>
          <a:stretch>
            <a:fillRect/>
          </a:stretch>
        </p:blipFill>
        <p:spPr>
          <a:xfrm>
            <a:off x="2156406" y="3127327"/>
            <a:ext cx="4805503" cy="2840500"/>
          </a:xfrm>
          <a:prstGeom prst="rect">
            <a:avLst/>
          </a:prstGeom>
        </p:spPr>
      </p:pic>
    </p:spTree>
    <p:extLst>
      <p:ext uri="{BB962C8B-B14F-4D97-AF65-F5344CB8AC3E}">
        <p14:creationId xmlns:p14="http://schemas.microsoft.com/office/powerpoint/2010/main" xmlns="" val="19519849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Max-Dependency (1/2)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 feature set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oMath>
                </a14:m>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with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features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have the largest dependency on the target class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𝑐</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a:lnSpc>
                    <a:spcPct val="150000"/>
                  </a:lnSpc>
                </a:pPr>
                <a14:m>
                  <m:oMath xmlns:m="http://schemas.openxmlformats.org/officeDocument/2006/math">
                    <m:func>
                      <m:func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uncPr>
                      <m:fName>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max</m:t>
                        </m:r>
                      </m:fName>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𝐷</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𝑐</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𝐷</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𝐼</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𝑐</m:t>
                        </m:r>
                      </m:e>
                    </m:func>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endParaRPr lang="en-US" altLang="zh-TW" b="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b="0" dirty="0" smtClean="0">
                    <a:latin typeface="Times New Roman" panose="02020603050405020304" pitchFamily="18" charset="0"/>
                    <a:ea typeface="標楷體" panose="03000509000000000000" pitchFamily="65" charset="-120"/>
                    <a:cs typeface="Times New Roman" panose="02020603050405020304" pitchFamily="18" charset="0"/>
                  </a:rPr>
                  <a:t>1.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oMath>
                </a14:m>
                <a:r>
                  <a:rPr lang="en-US" altLang="zh-TW" b="0" dirty="0" smtClean="0">
                    <a:latin typeface="Times New Roman" panose="02020603050405020304" pitchFamily="18" charset="0"/>
                    <a:ea typeface="標楷體" panose="03000509000000000000" pitchFamily="65" charset="-120"/>
                    <a:cs typeface="Times New Roman" panose="02020603050405020304" pitchFamily="18" charset="0"/>
                  </a:rPr>
                  <a:t> , maximizes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𝐼</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𝑐</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𝑀</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endParaRPr lang="en-US" altLang="zh-TW" b="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2.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&gt;1</m:t>
                    </m:r>
                  </m:oMath>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marL="0" indent="0">
                  <a:lnSpc>
                    <a:spcPct val="150000"/>
                  </a:lnSpc>
                  <a:buNone/>
                </a:pPr>
                <a:endParaRPr lang="en-US" altLang="zh-TW" b="0"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82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5</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4"/>
          <a:stretch>
            <a:fillRect/>
          </a:stretch>
        </p:blipFill>
        <p:spPr>
          <a:xfrm>
            <a:off x="1104457" y="3878453"/>
            <a:ext cx="6906507" cy="2660460"/>
          </a:xfrm>
          <a:prstGeom prst="rect">
            <a:avLst/>
          </a:prstGeom>
        </p:spPr>
      </p:pic>
    </p:spTree>
    <p:extLst>
      <p:ext uri="{BB962C8B-B14F-4D97-AF65-F5344CB8AC3E}">
        <p14:creationId xmlns:p14="http://schemas.microsoft.com/office/powerpoint/2010/main" xmlns="" val="23585665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Max-Dependency (2/2)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Three difficulties in the high-dimensional space</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 number of samples is often insufficient.</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 multivariate density estimation often involves computing the </a:t>
                </a:r>
                <a:r>
                  <a:rPr lang="en-US" altLang="zh-TW"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inverse of the high-dimensional covariance matrix</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Slow computational speed</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In discrete features</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Each feature has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3 categorical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states, N samples, K</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features</a:t>
                </a:r>
              </a:p>
              <a:p>
                <a:pPr lvl="1">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Have maximum </a:t>
                </a:r>
                <a14:m>
                  <m:oMath xmlns:m="http://schemas.openxmlformats.org/officeDocument/2006/math">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min</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p>
                      <m:sSup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3</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𝐾</m:t>
                        </m:r>
                      </m:sup>
                    </m:s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𝑁</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joint states.</a:t>
                </a:r>
              </a:p>
              <a:p>
                <a:pPr>
                  <a:lnSpc>
                    <a:spcPct val="150000"/>
                  </a:lnSpc>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68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6</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xmlns="" val="28370819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Max-Relevance and Min-Redundancy(1/2)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Max-Relevance</a:t>
                </a:r>
              </a:p>
              <a:p>
                <a:pPr marL="0" indent="0">
                  <a:lnSpc>
                    <a:spcPct val="150000"/>
                  </a:lnSpc>
                  <a:buNone/>
                </a:pPr>
                <a14:m>
                  <m:oMathPara xmlns:m="http://schemas.openxmlformats.org/officeDocument/2006/math">
                    <m:oMathParaPr>
                      <m:jc m:val="center"/>
                    </m:oMathParaPr>
                    <m:oMath xmlns:m="http://schemas.openxmlformats.org/officeDocument/2006/math">
                      <m:func>
                        <m:func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uncPr>
                        <m:fName>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max</m:t>
                          </m:r>
                        </m:fName>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𝐷</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𝑐</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𝐷</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num>
                            <m:den>
                              <m:d>
                                <m:dPr>
                                  <m:begChr m:val="|"/>
                                  <m:endChr m:val="|"/>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d>
                            </m:den>
                          </m:f>
                        </m:e>
                      </m:func>
                      <m:nary>
                        <m:naryPr>
                          <m:chr m:val="∑"/>
                          <m:supHide m:val="on"/>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naryPr>
                        <m:sub>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m:rPr>
                              <m:brk m:alnAt="7"/>
                            </m:rPr>
                            <a:rPr lang="zh-TW" altLang="en-US" b="0" i="1" smtClean="0">
                              <a:latin typeface="Cambria Math" panose="02040503050406030204" pitchFamily="18" charset="0"/>
                              <a:ea typeface="標楷體" panose="03000509000000000000" pitchFamily="65" charset="-120"/>
                              <a:cs typeface="Times New Roman" panose="02020603050405020304" pitchFamily="18" charset="0"/>
                            </a:rPr>
                            <m:t>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sub>
                        <m:sup/>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𝐼</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𝑐</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e>
                      </m:nary>
                    </m:oMath>
                  </m:oMathPara>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Features selected according to Max-Relevance could have rich redundancy.</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Min-Redundancy</a:t>
                </a:r>
              </a:p>
              <a:p>
                <a:pPr marL="0" indent="0">
                  <a:lnSpc>
                    <a:spcPct val="150000"/>
                  </a:lnSpc>
                  <a:buNone/>
                </a:pPr>
                <a14:m>
                  <m:oMathPara xmlns:m="http://schemas.openxmlformats.org/officeDocument/2006/math">
                    <m:oMathParaPr>
                      <m:jc m:val="center"/>
                    </m:oMathParaPr>
                    <m:oMath xmlns:m="http://schemas.openxmlformats.org/officeDocument/2006/math">
                      <m:func>
                        <m:func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uncPr>
                        <m:fName>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min</m:t>
                          </m:r>
                        </m:fName>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𝑅</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𝑅</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num>
                            <m:den>
                              <m:sSup>
                                <m:sSup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pPr>
                                <m:e>
                                  <m:d>
                                    <m:dPr>
                                      <m:begChr m:val="|"/>
                                      <m:endChr m:val="|"/>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d>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2</m:t>
                                  </m:r>
                                </m:sup>
                              </m:sSup>
                            </m:den>
                          </m:f>
                        </m:e>
                      </m:func>
                      <m:nary>
                        <m:naryPr>
                          <m:chr m:val="∑"/>
                          <m:supHide m:val="on"/>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naryPr>
                        <m:sub>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m:rPr>
                              <m:brk m:alnAt="7"/>
                            </m:r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r>
                            <m:rPr>
                              <m:brk m:alnAt="7"/>
                            </m:rPr>
                            <a:rPr lang="zh-TW" altLang="en-US" b="0" i="1" smtClean="0">
                              <a:latin typeface="Cambria Math" panose="02040503050406030204" pitchFamily="18" charset="0"/>
                              <a:ea typeface="標楷體" panose="03000509000000000000" pitchFamily="65" charset="-120"/>
                              <a:cs typeface="Times New Roman" panose="02020603050405020304" pitchFamily="18" charset="0"/>
                            </a:rPr>
                            <m:t>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sub>
                        <m:sup/>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𝐼</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e>
                      </m:nary>
                    </m:oMath>
                  </m:oMathPara>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dirty="0" smtClean="0">
                    <a:solidFill>
                      <a:schemeClr val="accent2">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*When two features highly depend on each other, the respective class-discriminative power would not change much if one of them were removed.*</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82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7</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xmlns="" val="9293060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Max-Relevance and Min-Redundancy(2/2)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Combining two constraints called “minimal-redundancy-maximal-relevance</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Defined </a:t>
                </a:r>
                <a14:m>
                  <m:oMath xmlns:m="http://schemas.openxmlformats.org/officeDocument/2006/math">
                    <m:r>
                      <m:rPr>
                        <m:sty m:val="p"/>
                      </m:rPr>
                      <a:rPr lang="el-GR" altLang="zh-TW" i="1" smtClean="0">
                        <a:latin typeface="Cambria Math" panose="02040503050406030204" pitchFamily="18" charset="0"/>
                        <a:ea typeface="Cambria Math" panose="02040503050406030204" pitchFamily="18" charset="0"/>
                        <a:cs typeface="Times New Roman" panose="02020603050405020304" pitchFamily="18" charset="0"/>
                      </a:rPr>
                      <m:t>Φ</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𝐷</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to combine D and R</a:t>
                </a:r>
              </a:p>
              <a:p>
                <a:pPr marL="0" indent="0">
                  <a:lnSpc>
                    <a:spcPct val="150000"/>
                  </a:lnSpc>
                  <a:buNone/>
                </a:pPr>
                <a14:m>
                  <m:oMathPara xmlns:m="http://schemas.openxmlformats.org/officeDocument/2006/math">
                    <m:oMathParaPr>
                      <m:jc m:val="center"/>
                    </m:oMathParaPr>
                    <m:oMath xmlns:m="http://schemas.openxmlformats.org/officeDocument/2006/math">
                      <m:func>
                        <m:func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uncPr>
                        <m:fName>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max</m:t>
                          </m:r>
                        </m:fName>
                        <m:e>
                          <m:r>
                            <m:rPr>
                              <m:sty m:val="p"/>
                            </m:rPr>
                            <a:rPr lang="el-GR" altLang="zh-TW" b="0" i="1" smtClean="0">
                              <a:latin typeface="Cambria Math" panose="02040503050406030204" pitchFamily="18" charset="0"/>
                              <a:ea typeface="Cambria Math" panose="02040503050406030204" pitchFamily="18" charset="0"/>
                              <a:cs typeface="Times New Roman" panose="02020603050405020304" pitchFamily="18" charset="0"/>
                            </a:rPr>
                            <m:t>Φ</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𝐷</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l-GR" altLang="zh-TW" b="0" i="1" smtClean="0">
                              <a:latin typeface="Cambria Math" panose="02040503050406030204" pitchFamily="18" charset="0"/>
                              <a:ea typeface="Cambria Math" panose="02040503050406030204" pitchFamily="18" charset="0"/>
                              <a:cs typeface="Times New Roman" panose="02020603050405020304" pitchFamily="18" charset="0"/>
                            </a:rPr>
                            <m:t>Φ</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𝐷</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func>
                    </m:oMath>
                  </m:oMathPara>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Suppose we have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feature set with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features.</a:t>
                </a:r>
              </a:p>
              <a:p>
                <a:pPr marL="0" indent="0">
                  <a:lnSpc>
                    <a:spcPct val="150000"/>
                  </a:lnSpc>
                  <a:buNone/>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Select the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𝑚𝑡h</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feature from the set </a:t>
                </a:r>
                <a14:m>
                  <m:oMath xmlns:m="http://schemas.openxmlformats.org/officeDocument/2006/math">
                    <m:d>
                      <m:dPr>
                        <m:begChr m:val="{"/>
                        <m:endChr m:val="}"/>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𝑋</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r>
              </a:p>
              <a:p>
                <a:pPr>
                  <a:lnSpc>
                    <a:spcPct val="150000"/>
                  </a:lnSpc>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82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8</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5" name="圖片 4"/>
          <p:cNvPicPr>
            <a:picLocks noChangeAspect="1"/>
          </p:cNvPicPr>
          <p:nvPr/>
        </p:nvPicPr>
        <p:blipFill>
          <a:blip r:embed="rId3"/>
          <a:stretch>
            <a:fillRect/>
          </a:stretch>
        </p:blipFill>
        <p:spPr>
          <a:xfrm>
            <a:off x="509987" y="3801235"/>
            <a:ext cx="7755979" cy="1643601"/>
          </a:xfrm>
          <a:prstGeom prst="rect">
            <a:avLst/>
          </a:prstGeom>
        </p:spPr>
      </p:pic>
    </p:spTree>
    <p:extLst>
      <p:ext uri="{BB962C8B-B14F-4D97-AF65-F5344CB8AC3E}">
        <p14:creationId xmlns:p14="http://schemas.microsoft.com/office/powerpoint/2010/main" xmlns="" val="31355466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Feature selection algorithm (1/5)</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mRMR is the feature selection scheme.</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Remaining issue is that how to determine the optimal number of features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Two-stage feature selection algorithm</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Find a candidate feature set using  the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mRMR</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incremental selection method.</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Use other more sophisticated schemes.</a:t>
                </a:r>
              </a:p>
              <a:p>
                <a:pPr marL="0" indent="0">
                  <a:lnSpc>
                    <a:spcPct val="150000"/>
                  </a:lnSpc>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9</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xmlns="" val="28875745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38233"/>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Feature selection algorithm (2/5)</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marL="0" indent="0">
              <a:lnSpc>
                <a:spcPct val="150000"/>
              </a:lnSpc>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10</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mc:AlternateContent xmlns:mc="http://schemas.openxmlformats.org/markup-compatibility/2006">
        <mc:Choice xmlns:a14="http://schemas.microsoft.com/office/drawing/2010/main" xmlns="" Requires="a14">
          <p:sp>
            <p:nvSpPr>
              <p:cNvPr id="5" name="圓角矩形 4"/>
              <p:cNvSpPr/>
              <p:nvPr/>
            </p:nvSpPr>
            <p:spPr>
              <a:xfrm>
                <a:off x="105640" y="1114424"/>
                <a:ext cx="8924924" cy="155146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ctr">
                  <a:buAutoNum type="arabicPeriod"/>
                </a:pPr>
                <a:r>
                  <a:rPr lang="en-US" altLang="zh-TW" sz="2400" dirty="0" smtClean="0"/>
                  <a:t>Use </a:t>
                </a:r>
                <a:r>
                  <a:rPr lang="en-US" altLang="zh-TW" sz="2400" dirty="0" err="1" smtClean="0"/>
                  <a:t>mRMR</a:t>
                </a:r>
                <a:r>
                  <a:rPr lang="en-US" altLang="zh-TW" sz="2400" dirty="0" smtClean="0"/>
                  <a:t> to select n sequential features.</a:t>
                </a:r>
              </a:p>
              <a:p>
                <a:pPr marL="342900" indent="-342900" algn="ctr">
                  <a:buAutoNum type="arabicPeriod"/>
                </a:pPr>
                <a:r>
                  <a:rPr lang="en-US" altLang="zh-TW" sz="2400" dirty="0" smtClean="0"/>
                  <a:t>We get feature sets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Sub>
                    <m:r>
                      <a:rPr lang="en-US" altLang="zh-TW" sz="2400" i="1" smtClean="0">
                        <a:latin typeface="Cambria Math" panose="02040503050406030204" pitchFamily="18" charset="0"/>
                        <a:ea typeface="Cambria Math" panose="02040503050406030204" pitchFamily="18" charset="0"/>
                      </a:rPr>
                      <m:t>⊂</m:t>
                    </m:r>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𝑆</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𝑆</m:t>
                        </m:r>
                      </m:e>
                      <m:sub>
                        <m:r>
                          <a:rPr lang="en-US" altLang="zh-TW" sz="2400" b="0" i="1" smtClean="0">
                            <a:latin typeface="Cambria Math" panose="02040503050406030204" pitchFamily="18" charset="0"/>
                            <a:ea typeface="Cambria Math" panose="02040503050406030204" pitchFamily="18" charset="0"/>
                          </a:rPr>
                          <m:t>𝑛</m:t>
                        </m:r>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𝑆</m:t>
                        </m:r>
                      </m:e>
                      <m:sub>
                        <m:r>
                          <a:rPr lang="en-US" altLang="zh-TW" sz="2400" b="0" i="1" smtClean="0">
                            <a:latin typeface="Cambria Math" panose="02040503050406030204" pitchFamily="18" charset="0"/>
                            <a:ea typeface="Cambria Math" panose="02040503050406030204" pitchFamily="18" charset="0"/>
                          </a:rPr>
                          <m:t>𝑛</m:t>
                        </m:r>
                      </m:sub>
                    </m:sSub>
                  </m:oMath>
                </a14:m>
                <a:endParaRPr lang="zh-TW" altLang="en-US" sz="2400" dirty="0"/>
              </a:p>
            </p:txBody>
          </p:sp>
        </mc:Choice>
        <mc:Fallback>
          <p:sp>
            <p:nvSpPr>
              <p:cNvPr id="5" name="圓角矩形 4"/>
              <p:cNvSpPr>
                <a:spLocks noRot="1" noChangeAspect="1" noMove="1" noResize="1" noEditPoints="1" noAdjustHandles="1" noChangeArrowheads="1" noChangeShapeType="1" noTextEdit="1"/>
              </p:cNvSpPr>
              <p:nvPr/>
            </p:nvSpPr>
            <p:spPr>
              <a:xfrm>
                <a:off x="105640" y="1114424"/>
                <a:ext cx="8924924" cy="1551464"/>
              </a:xfrm>
              <a:prstGeom prst="round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7" name="圓角矩形 6"/>
              <p:cNvSpPr/>
              <p:nvPr/>
            </p:nvSpPr>
            <p:spPr>
              <a:xfrm>
                <a:off x="105640" y="3244224"/>
                <a:ext cx="8924924" cy="155146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ctr">
                  <a:buAutoNum type="arabicPeriod"/>
                </a:pPr>
                <a:r>
                  <a:rPr lang="en-US" altLang="zh-TW" sz="2400" dirty="0" smtClean="0"/>
                  <a:t>Compare all sequential sets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𝑘</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𝑛</m:t>
                        </m:r>
                      </m:sub>
                    </m:sSub>
                  </m:oMath>
                </a14:m>
                <a:r>
                  <a:rPr lang="zh-TW" altLang="en-US" sz="2400" dirty="0" smtClean="0"/>
                  <a:t/>
                </a:r>
                <a14:m>
                  <m:oMath xmlns:m="http://schemas.openxmlformats.org/officeDocument/2006/math">
                    <m:r>
                      <a:rPr lang="en-US" altLang="zh-TW" sz="2400">
                        <a:latin typeface="Cambria Math" panose="02040503050406030204" pitchFamily="18" charset="0"/>
                        <a:ea typeface="Cambria Math" panose="02040503050406030204" pitchFamily="18" charset="0"/>
                      </a:rPr>
                      <m:t>(</m:t>
                    </m:r>
                    <m:r>
                      <a:rPr lang="en-US" altLang="zh-TW" sz="2400" b="0" i="0" smtClean="0">
                        <a:latin typeface="Cambria Math" panose="02040503050406030204" pitchFamily="18" charset="0"/>
                        <a:ea typeface="Cambria Math" panose="02040503050406030204" pitchFamily="18" charset="0"/>
                      </a:rPr>
                      <m:t>1</m:t>
                    </m:r>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𝑘</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𝑛</m:t>
                    </m:r>
                    <m:r>
                      <a:rPr lang="en-US" altLang="zh-TW" sz="2400" b="0" i="1" smtClean="0">
                        <a:latin typeface="Cambria Math" panose="02040503050406030204" pitchFamily="18" charset="0"/>
                        <a:ea typeface="Cambria Math" panose="02040503050406030204" pitchFamily="18" charset="0"/>
                      </a:rPr>
                      <m:t>)</m:t>
                    </m:r>
                  </m:oMath>
                </a14:m>
                <a:endParaRPr lang="en-US" altLang="zh-TW" sz="2400" dirty="0" smtClean="0"/>
              </a:p>
              <a:p>
                <a:pPr marL="342900" indent="-342900" algn="ctr">
                  <a:buAutoNum type="arabicPeriod"/>
                </a:pPr>
                <a:r>
                  <a:rPr lang="en-US" altLang="zh-TW" sz="2400" dirty="0" smtClean="0"/>
                  <a:t>Find range of </a:t>
                </a:r>
                <a14:m>
                  <m:oMath xmlns:m="http://schemas.openxmlformats.org/officeDocument/2006/math">
                    <m:r>
                      <a:rPr lang="en-US" altLang="zh-TW" sz="2400" b="0" i="1" smtClean="0">
                        <a:latin typeface="Cambria Math" panose="02040503050406030204" pitchFamily="18" charset="0"/>
                      </a:rPr>
                      <m:t>𝑘</m:t>
                    </m:r>
                  </m:oMath>
                </a14:m>
                <a:r>
                  <a:rPr lang="en-US" altLang="zh-TW" sz="2400" dirty="0" smtClean="0"/>
                  <a:t>, called </a:t>
                </a:r>
                <a14:m>
                  <m:oMath xmlns:m="http://schemas.openxmlformats.org/officeDocument/2006/math">
                    <m:r>
                      <m:rPr>
                        <m:sty m:val="p"/>
                      </m:rPr>
                      <a:rPr lang="el-GR" altLang="zh-TW" sz="2400" i="1" smtClean="0">
                        <a:latin typeface="Cambria Math" panose="02040503050406030204" pitchFamily="18" charset="0"/>
                        <a:ea typeface="Cambria Math" panose="02040503050406030204" pitchFamily="18" charset="0"/>
                      </a:rPr>
                      <m:t>Ω</m:t>
                    </m:r>
                  </m:oMath>
                </a14:m>
                <a:r>
                  <a:rPr lang="en-US" altLang="zh-TW" sz="2400" dirty="0" smtClean="0"/>
                  <a:t>, the respective error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en-US" altLang="zh-TW" sz="2400" b="0" i="1" smtClean="0">
                            <a:latin typeface="Cambria Math" panose="02040503050406030204" pitchFamily="18" charset="0"/>
                          </a:rPr>
                          <m:t>𝑘</m:t>
                        </m:r>
                      </m:sub>
                    </m:sSub>
                  </m:oMath>
                </a14:m>
                <a:r>
                  <a:rPr lang="en-US" altLang="zh-TW" sz="2400" dirty="0" smtClean="0"/>
                  <a:t>is consistently small.(cross-validation classification)(both small mean and small variance)</a:t>
                </a:r>
              </a:p>
            </p:txBody>
          </p:sp>
        </mc:Choice>
        <mc:Fallback>
          <p:sp>
            <p:nvSpPr>
              <p:cNvPr id="7" name="圓角矩形 6"/>
              <p:cNvSpPr>
                <a:spLocks noRot="1" noChangeAspect="1" noMove="1" noResize="1" noEditPoints="1" noAdjustHandles="1" noChangeArrowheads="1" noChangeShapeType="1" noTextEdit="1"/>
              </p:cNvSpPr>
              <p:nvPr/>
            </p:nvSpPr>
            <p:spPr>
              <a:xfrm>
                <a:off x="105640" y="3244224"/>
                <a:ext cx="8924924" cy="1551464"/>
              </a:xfrm>
              <a:prstGeom prst="roundRect">
                <a:avLst/>
              </a:prstGeom>
              <a:blipFill rotWithShape="0">
                <a:blip r:embed="rId3"/>
                <a:stretch>
                  <a:fillRect t="-3516" b="-859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8" name="圓角矩形 7"/>
              <p:cNvSpPr/>
              <p:nvPr/>
            </p:nvSpPr>
            <p:spPr>
              <a:xfrm>
                <a:off x="105639" y="5334786"/>
                <a:ext cx="8904143" cy="151222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ctr">
                  <a:buAutoNum type="arabicPeriod"/>
                </a:pPr>
                <a:r>
                  <a:rPr lang="en-US" altLang="zh-TW" sz="2400" dirty="0" smtClean="0"/>
                  <a:t>Find </a:t>
                </a:r>
                <a14:m>
                  <m:oMath xmlns:m="http://schemas.openxmlformats.org/officeDocument/2006/math">
                    <m:func>
                      <m:funcPr>
                        <m:ctrlPr>
                          <a:rPr lang="en-US" altLang="zh-TW" sz="2400" b="0" i="1" smtClean="0">
                            <a:latin typeface="Cambria Math" panose="02040503050406030204" pitchFamily="18" charset="0"/>
                          </a:rPr>
                        </m:ctrlPr>
                      </m:funcPr>
                      <m:fName>
                        <m:r>
                          <m:rPr>
                            <m:sty m:val="p"/>
                          </m:rPr>
                          <a:rPr lang="en-US" altLang="zh-TW" sz="2400" b="0" i="0" smtClean="0">
                            <a:latin typeface="Cambria Math" panose="02040503050406030204" pitchFamily="18" charset="0"/>
                          </a:rPr>
                          <m:t>min</m:t>
                        </m:r>
                      </m:fName>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en-US" altLang="zh-TW" sz="2400" b="0" i="1" smtClean="0">
                                <a:latin typeface="Cambria Math" panose="02040503050406030204" pitchFamily="18" charset="0"/>
                              </a:rPr>
                              <m:t>𝑘</m:t>
                            </m:r>
                          </m:sub>
                        </m:sSub>
                      </m:e>
                    </m:func>
                  </m:oMath>
                </a14:m>
                <a:r>
                  <a:rPr lang="en-US" altLang="zh-TW" sz="2400" dirty="0" smtClean="0"/>
                  <a:t>, called </a:t>
                </a:r>
                <a14:m>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𝑒</m:t>
                        </m:r>
                      </m:e>
                      <m:sup>
                        <m:r>
                          <a:rPr lang="en-US" altLang="zh-TW" sz="2400" b="0" i="1" smtClean="0">
                            <a:latin typeface="Cambria Math" panose="02040503050406030204" pitchFamily="18" charset="0"/>
                          </a:rPr>
                          <m:t>∗</m:t>
                        </m:r>
                      </m:sup>
                    </m:sSup>
                  </m:oMath>
                </a14:m>
                <a:endParaRPr lang="en-US" altLang="zh-TW" sz="2400" dirty="0" smtClean="0"/>
              </a:p>
              <a:p>
                <a:pPr marL="342900" indent="-342900" algn="ctr">
                  <a:buAutoNum type="arabicPeriod"/>
                </a:pPr>
                <a:r>
                  <a:rPr lang="en-US" altLang="zh-TW" sz="2400" dirty="0" smtClean="0"/>
                  <a:t>Optimal size of the candidate feature set, </a:t>
                </a:r>
                <a14:m>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𝑛</m:t>
                        </m:r>
                      </m:e>
                      <m:sup>
                        <m:r>
                          <a:rPr lang="en-US" altLang="zh-TW" sz="2400" b="0" i="1" smtClean="0">
                            <a:latin typeface="Cambria Math" panose="02040503050406030204" pitchFamily="18" charset="0"/>
                          </a:rPr>
                          <m:t>∗</m:t>
                        </m:r>
                      </m:sup>
                    </m:sSup>
                  </m:oMath>
                </a14:m>
                <a:r>
                  <a:rPr lang="en-US" altLang="zh-TW" sz="2400" dirty="0" smtClean="0"/>
                  <a:t>, is chosen as the smallest </a:t>
                </a:r>
                <a14:m>
                  <m:oMath xmlns:m="http://schemas.openxmlformats.org/officeDocument/2006/math">
                    <m:r>
                      <a:rPr lang="en-US" altLang="zh-TW" sz="2400" b="0" i="1" smtClean="0">
                        <a:latin typeface="Cambria Math" panose="02040503050406030204" pitchFamily="18" charset="0"/>
                      </a:rPr>
                      <m:t>𝑘</m:t>
                    </m:r>
                  </m:oMath>
                </a14:m>
                <a:r>
                  <a:rPr lang="en-US" altLang="zh-TW" sz="2400" dirty="0" smtClean="0"/>
                  <a:t> that corresponds to </a:t>
                </a:r>
                <a14:m>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𝑒</m:t>
                        </m:r>
                      </m:e>
                      <m:sup>
                        <m:r>
                          <a:rPr lang="en-US" altLang="zh-TW" sz="2400" b="0" i="1" smtClean="0">
                            <a:latin typeface="Cambria Math" panose="02040503050406030204" pitchFamily="18" charset="0"/>
                          </a:rPr>
                          <m:t>∗</m:t>
                        </m:r>
                      </m:sup>
                    </m:sSup>
                  </m:oMath>
                </a14:m>
                <a:endParaRPr lang="zh-TW" altLang="en-US" sz="2400" dirty="0"/>
              </a:p>
            </p:txBody>
          </p:sp>
        </mc:Choice>
        <mc:Fallback>
          <p:sp>
            <p:nvSpPr>
              <p:cNvPr id="8" name="圓角矩形 7"/>
              <p:cNvSpPr>
                <a:spLocks noRot="1" noChangeAspect="1" noMove="1" noResize="1" noEditPoints="1" noAdjustHandles="1" noChangeArrowheads="1" noChangeShapeType="1" noTextEdit="1"/>
              </p:cNvSpPr>
              <p:nvPr/>
            </p:nvSpPr>
            <p:spPr>
              <a:xfrm>
                <a:off x="105639" y="5334786"/>
                <a:ext cx="8904143" cy="1512226"/>
              </a:xfrm>
              <a:prstGeom prst="roundRect">
                <a:avLst/>
              </a:prstGeom>
              <a:blipFill rotWithShape="0">
                <a:blip r:embed="rId4"/>
                <a:stretch>
                  <a:fillRect/>
                </a:stretch>
              </a:blipFill>
            </p:spPr>
            <p:txBody>
              <a:bodyPr/>
              <a:lstStyle/>
              <a:p>
                <a:r>
                  <a:rPr lang="zh-TW" altLang="en-US">
                    <a:noFill/>
                  </a:rPr>
                  <a:t> </a:t>
                </a:r>
              </a:p>
            </p:txBody>
          </p:sp>
        </mc:Fallback>
      </mc:AlternateContent>
      <p:sp>
        <p:nvSpPr>
          <p:cNvPr id="9" name="向下箭號 8"/>
          <p:cNvSpPr/>
          <p:nvPr/>
        </p:nvSpPr>
        <p:spPr>
          <a:xfrm>
            <a:off x="4344697" y="2689267"/>
            <a:ext cx="446809" cy="515719"/>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0" name="向下箭號 9"/>
          <p:cNvSpPr/>
          <p:nvPr/>
        </p:nvSpPr>
        <p:spPr>
          <a:xfrm>
            <a:off x="4344697" y="4819067"/>
            <a:ext cx="446809" cy="515719"/>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41214788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Feature selection algorithm (3/5)</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Wrapper</a:t>
            </a:r>
          </a:p>
          <a:p>
            <a:pPr lvl="1">
              <a:lnSpc>
                <a:spcPct val="150000"/>
              </a:lnSpc>
            </a:pPr>
            <a:r>
              <a:rPr lang="en-US" altLang="zh-TW" dirty="0">
                <a:latin typeface="Times New Roman" panose="02020603050405020304" pitchFamily="18" charset="0"/>
                <a:cs typeface="Times New Roman" panose="02020603050405020304" pitchFamily="18" charset="0"/>
              </a:rPr>
              <a:t>D</a:t>
            </a:r>
            <a:r>
              <a:rPr lang="en-US" altLang="zh-TW" dirty="0" smtClean="0">
                <a:latin typeface="Times New Roman" panose="02020603050405020304" pitchFamily="18" charset="0"/>
                <a:cs typeface="Times New Roman" panose="02020603050405020304" pitchFamily="18" charset="0"/>
              </a:rPr>
              <a:t>etect the possible interactions between variables.(Cost time)</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11</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8" name="圖片 7"/>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2453729"/>
            <a:ext cx="9144000" cy="2563318"/>
          </a:xfrm>
          <a:prstGeom prst="rect">
            <a:avLst/>
          </a:prstGeom>
        </p:spPr>
      </p:pic>
    </p:spTree>
    <p:extLst>
      <p:ext uri="{BB962C8B-B14F-4D97-AF65-F5344CB8AC3E}">
        <p14:creationId xmlns:p14="http://schemas.microsoft.com/office/powerpoint/2010/main" xmlns="" val="3876563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Feature selection algorithm (4/5)</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Backward selection (assume the current feature set is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Exclude 1 redundant feature at a time.</a:t>
                </a:r>
              </a:p>
              <a:p>
                <a:pPr marL="457200" indent="-457200">
                  <a:lnSpc>
                    <a:spcPct val="150000"/>
                  </a:lnSpc>
                  <a:buAutoNum type="arabicPeriod"/>
                </a:pPr>
                <a14:m>
                  <m:oMath xmlns:m="http://schemas.openxmlformats.org/officeDocument/2006/math">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k</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set to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oMath>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 feature set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leads to a classification error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𝑒</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no worse than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𝑒</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There are k different configurations of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If every configuration, the corresponding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𝑒</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larger than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𝑒</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the selection </a:t>
                </a:r>
                <a:r>
                  <a:rPr lang="en-US" altLang="zh-TW"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terminates</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Choose the one leads to the largest error reduction, than get new feature set.</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820" r="-102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12</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xmlns="" val="22466517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Feature selection algorithm (5/5)</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Forward selection (select from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Classification error set to the number of samples,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𝑁</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Select the feature </a:t>
                </a:r>
                <a14:m>
                  <m:oMath xmlns:m="http://schemas.openxmlformats.org/officeDocument/2006/math">
                    <m:sSubSup>
                      <m:sSub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b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to get feature subset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leads to the largest error reduction.</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From </a:t>
                </a:r>
                <a14:m>
                  <m:oMath xmlns:m="http://schemas.openxmlformats.org/officeDocument/2006/math">
                    <m:d>
                      <m:dPr>
                        <m:begChr m:val="{"/>
                        <m:endChr m:val="}"/>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 </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 select feature </a:t>
                </a:r>
                <a14:m>
                  <m:oMath xmlns:m="http://schemas.openxmlformats.org/officeDocument/2006/math">
                    <m:sSubSup>
                      <m:sSub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2</m:t>
                        </m:r>
                      </m:sub>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b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to</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get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Sup>
                      <m:sSubSup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2</m:t>
                        </m:r>
                      </m:sub>
                      <m:sup>
                        <m:r>
                          <a:rPr lang="zh-TW" altLang="en-US" i="1">
                            <a:latin typeface="Cambria Math" panose="02040503050406030204" pitchFamily="18" charset="0"/>
                            <a:ea typeface="標楷體" panose="03000509000000000000" pitchFamily="65" charset="-120"/>
                            <a:cs typeface="Times New Roman" panose="02020603050405020304" pitchFamily="18" charset="0"/>
                          </a:rPr>
                          <m:t>∗</m:t>
                        </m:r>
                      </m:sup>
                    </m:sSub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leads to largest error reduction.</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When classification error begins to increase, </a:t>
                </a:r>
                <a:r>
                  <a:rPr lang="en-US" altLang="zh-TW"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terminate</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13</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xmlns="" val="2533878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Characteristic (1/2)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marL="0" indent="0">
              <a:lnSpc>
                <a:spcPct val="150000"/>
              </a:lnSpc>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14</a:t>
            </a:fld>
            <a:endParaRPr lang="zh-TW" altLang="en-US" dirty="0"/>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mc:AlternateContent xmlns:mc="http://schemas.openxmlformats.org/markup-compatibility/2006">
        <mc:Choice xmlns:a14="http://schemas.microsoft.com/office/drawing/2010/main" xmlns="" Requires="a14">
          <p:sp>
            <p:nvSpPr>
              <p:cNvPr id="5" name="圓角矩形 4"/>
              <p:cNvSpPr/>
              <p:nvPr/>
            </p:nvSpPr>
            <p:spPr>
              <a:xfrm>
                <a:off x="47624" y="1109232"/>
                <a:ext cx="9020174" cy="178781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2 feature sets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 </m:t>
                    </m:r>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p>
                    </m:sSubSup>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both containing </a:t>
                </a:r>
                <a:r>
                  <a:rPr lang="en-US" altLang="zh-TW" sz="2000" i="1" dirty="0">
                    <a:latin typeface="Times New Roman" panose="02020603050405020304" pitchFamily="18" charset="0"/>
                    <a:ea typeface="標楷體" panose="03000509000000000000" pitchFamily="65" charset="-120"/>
                    <a:cs typeface="Times New Roman" panose="02020603050405020304" pitchFamily="18" charset="0"/>
                  </a:rPr>
                  <a:t>n</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features.</a:t>
                </a:r>
              </a:p>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 classifier </a:t>
                </a:r>
                <a14:m>
                  <m:oMath xmlns:m="http://schemas.openxmlformats.org/officeDocument/2006/math">
                    <m:r>
                      <a:rPr lang="zh-TW" altLang="en-US" sz="2000" i="1">
                        <a:latin typeface="Cambria Math" panose="02040503050406030204" pitchFamily="18" charset="0"/>
                        <a:ea typeface="標楷體" panose="03000509000000000000" pitchFamily="65" charset="-120"/>
                        <a:cs typeface="Times New Roman" panose="02020603050405020304" pitchFamily="18" charset="0"/>
                      </a:rPr>
                      <m:t>𝛼</m:t>
                    </m:r>
                  </m:oMath>
                </a14:m>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If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classification error (using</a:t>
                </a:r>
                <a14:m>
                  <m:oMath xmlns:m="http://schemas.openxmlformats.org/officeDocument/2006/math">
                    <m:r>
                      <a:rPr lang="en-US" altLang="zh-TW" sz="2000">
                        <a:latin typeface="Cambria Math" panose="02040503050406030204" pitchFamily="18" charset="0"/>
                        <a:ea typeface="標楷體" panose="03000509000000000000" pitchFamily="65" charset="-120"/>
                        <a:cs typeface="Times New Roman" panose="02020603050405020304" pitchFamily="18" charset="0"/>
                      </a:rPr>
                      <m:t> </m:t>
                    </m:r>
                    <m:r>
                      <a:rPr lang="zh-TW" altLang="en-US" sz="2000" i="1">
                        <a:latin typeface="Cambria Math" panose="02040503050406030204" pitchFamily="18" charset="0"/>
                        <a:ea typeface="標楷體" panose="03000509000000000000" pitchFamily="65" charset="-120"/>
                        <a:cs typeface="Times New Roman" panose="02020603050405020304" pitchFamily="18" charset="0"/>
                      </a:rPr>
                      <m:t>𝛼</m:t>
                    </m:r>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altLang="zh-TW" sz="2000" i="1">
                        <a:latin typeface="Cambria Math" panose="02040503050406030204" pitchFamily="18" charset="0"/>
                        <a:ea typeface="Cambria Math" panose="02040503050406030204" pitchFamily="18" charset="0"/>
                        <a:cs typeface="Times New Roman" panose="02020603050405020304" pitchFamily="18" charset="0"/>
                      </a:rPr>
                      <m:t>&lt;</m:t>
                    </m:r>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a:r>
                <a14:m>
                  <m:oMath xmlns:m="http://schemas.openxmlformats.org/officeDocument/2006/math">
                    <m:sSubSup>
                      <m:sSubSupPr>
                        <m:ctrlPr>
                          <a:rPr lang="en-US" altLang="zh-TW" sz="2000" i="1" dirty="0">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dirty="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dirty="0">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dirty="0">
                            <a:latin typeface="Cambria Math" panose="02040503050406030204" pitchFamily="18" charset="0"/>
                            <a:ea typeface="標楷體" panose="03000509000000000000" pitchFamily="65" charset="-120"/>
                            <a:cs typeface="Times New Roman" panose="02020603050405020304" pitchFamily="18" charset="0"/>
                          </a:rPr>
                          <m:t>2</m:t>
                        </m:r>
                      </m:sup>
                    </m:sSubSup>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is </a:t>
                </a:r>
                <a:r>
                  <a:rPr lang="en-US" altLang="zh-TW" sz="2000" i="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more characteristic </a:t>
                </a:r>
              </a:p>
            </p:txBody>
          </p:sp>
        </mc:Choice>
        <mc:Fallback>
          <p:sp>
            <p:nvSpPr>
              <p:cNvPr id="5" name="圓角矩形 4"/>
              <p:cNvSpPr>
                <a:spLocks noRot="1" noChangeAspect="1" noMove="1" noResize="1" noEditPoints="1" noAdjustHandles="1" noChangeArrowheads="1" noChangeShapeType="1" noTextEdit="1"/>
              </p:cNvSpPr>
              <p:nvPr/>
            </p:nvSpPr>
            <p:spPr>
              <a:xfrm>
                <a:off x="47624" y="1109232"/>
                <a:ext cx="9020174" cy="1787817"/>
              </a:xfrm>
              <a:prstGeom prst="round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7" name="圓角矩形 6"/>
              <p:cNvSpPr/>
              <p:nvPr/>
            </p:nvSpPr>
            <p:spPr>
              <a:xfrm>
                <a:off x="58015" y="2993206"/>
                <a:ext cx="9020174" cy="341366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Use feature selection method </a:t>
                </a:r>
                <a14:m>
                  <m:oMath xmlns:m="http://schemas.openxmlformats.org/officeDocument/2006/math">
                    <m:r>
                      <a:rPr lang="en-US" altLang="zh-TW" sz="2000" i="1">
                        <a:latin typeface="Cambria Math" panose="02040503050406030204" pitchFamily="18" charset="0"/>
                        <a:ea typeface="標楷體" panose="03000509000000000000" pitchFamily="65" charset="-120"/>
                        <a:cs typeface="Times New Roman" panose="02020603050405020304" pitchFamily="18" charset="0"/>
                      </a:rPr>
                      <m:t>𝐹</m:t>
                    </m:r>
                    <m:r>
                      <a:rPr lang="en-US" altLang="zh-TW" sz="2000" i="1">
                        <a:latin typeface="Cambria Math" panose="02040503050406030204" pitchFamily="18" charset="0"/>
                        <a:ea typeface="標楷體" panose="03000509000000000000" pitchFamily="65" charset="-120"/>
                        <a:cs typeface="Times New Roman" panose="02020603050405020304" pitchFamily="18" charset="0"/>
                      </a:rPr>
                      <m:t> </m:t>
                    </m:r>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to generate feature subsets</a:t>
                </a:r>
              </a:p>
              <a:p>
                <a:pPr>
                  <a:lnSpc>
                    <a:spcPct val="150000"/>
                  </a:lnSpc>
                </a:pPr>
                <a14:m>
                  <m:oMath xmlns:m="http://schemas.openxmlformats.org/officeDocument/2006/math">
                    <m:sSubSup>
                      <m:sSubSupPr>
                        <m:ctrlPr>
                          <a:rPr lang="en-US" altLang="zh-TW" sz="2000" i="1" smtClean="0">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t>1</m:t>
                        </m:r>
                      </m:sup>
                    </m:sSubSup>
                  </m:oMath>
                </a14:m>
                <a:r>
                  <a:rPr lang="en-US" altLang="zh-TW" sz="2000" dirty="0">
                    <a:solidFill>
                      <a:schemeClr val="accent2">
                        <a:lumMod val="40000"/>
                        <a:lumOff val="60000"/>
                      </a:schemeClr>
                    </a:solidFill>
                    <a:latin typeface="Times New Roman" panose="02020603050405020304" pitchFamily="18" charset="0"/>
                    <a:ea typeface="標楷體" panose="03000509000000000000" pitchFamily="65" charset="-120"/>
                    <a:cs typeface="Times New Roman" panose="02020603050405020304" pitchFamily="18" charset="0"/>
                  </a:rPr>
                  <a:t> :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𝑘</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oMath>
                </a14:m>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14:m>
                  <m:oMath xmlns:m="http://schemas.openxmlformats.org/officeDocument/2006/math">
                    <m:sSubSup>
                      <m:sSubSupPr>
                        <m:ctrlPr>
                          <a:rPr lang="en-US" altLang="zh-TW" sz="2000" i="1" smtClean="0">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solidFill>
                              <a:schemeClr val="accent2">
                                <a:lumMod val="40000"/>
                                <a:lumOff val="60000"/>
                              </a:schemeClr>
                            </a:solidFill>
                            <a:latin typeface="Cambria Math" panose="02040503050406030204" pitchFamily="18" charset="0"/>
                            <a:ea typeface="標楷體" panose="03000509000000000000" pitchFamily="65" charset="-120"/>
                            <a:cs typeface="Times New Roman" panose="02020603050405020304" pitchFamily="18" charset="0"/>
                          </a:rPr>
                          <m:t>2</m:t>
                        </m:r>
                      </m:sup>
                    </m:sSubSup>
                  </m:oMath>
                </a14:m>
                <a:r>
                  <a:rPr lang="en-US" altLang="zh-TW" sz="2000" dirty="0">
                    <a:solidFill>
                      <a:schemeClr val="accent2">
                        <a:lumMod val="40000"/>
                        <a:lumOff val="60000"/>
                      </a:schemeClr>
                    </a:solidFill>
                    <a:latin typeface="Times New Roman" panose="02020603050405020304" pitchFamily="18" charset="0"/>
                    <a:ea typeface="標楷體" panose="03000509000000000000" pitchFamily="65" charset="-120"/>
                    <a:cs typeface="Times New Roman" panose="02020603050405020304" pitchFamily="18" charset="0"/>
                  </a:rPr>
                  <a:t> :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𝑘</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p>
                    </m:sSubSup>
                  </m:oMath>
                </a14:m>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 range </a:t>
                </a:r>
                <a14:m>
                  <m:oMath xmlns:m="http://schemas.openxmlformats.org/officeDocument/2006/math">
                    <m:r>
                      <m:rPr>
                        <m:sty m:val="p"/>
                      </m:rPr>
                      <a:rPr lang="el-GR" altLang="zh-TW" sz="2000" i="1">
                        <a:latin typeface="Cambria Math" panose="02040503050406030204" pitchFamily="18" charset="0"/>
                        <a:ea typeface="Cambria Math" panose="02040503050406030204" pitchFamily="18" charset="0"/>
                        <a:cs typeface="Times New Roman" panose="02020603050405020304" pitchFamily="18" charset="0"/>
                      </a:rPr>
                      <m:t>Ω</m:t>
                    </m:r>
                    <m:r>
                      <a:rPr lang="en-US" altLang="zh-TW" sz="200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𝑘</m:t>
                            </m:r>
                          </m:e>
                          <m: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𝑙𝑜𝑤𝑒𝑟</m:t>
                            </m:r>
                          </m:sub>
                        </m:s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𝑘</m:t>
                            </m:r>
                          </m:e>
                          <m: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𝑢𝑝𝑝𝑒𝑟</m:t>
                            </m:r>
                          </m:sub>
                        </m:sSub>
                      </m:e>
                    </m:d>
                    <m:r>
                      <a:rPr lang="en-US" altLang="zh-TW" sz="2000">
                        <a:latin typeface="Cambria Math" panose="02040503050406030204" pitchFamily="18" charset="0"/>
                        <a:ea typeface="Cambria Math" panose="02040503050406030204" pitchFamily="18" charset="0"/>
                        <a:cs typeface="Times New Roman" panose="02020603050405020304" pitchFamily="18" charset="0"/>
                      </a:rPr>
                      <m:t> (1</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𝑘</m:t>
                        </m:r>
                      </m:e>
                      <m: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𝑙𝑜𝑤𝑒𝑟</m:t>
                        </m:r>
                      </m:sub>
                    </m:s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𝑘</m:t>
                        </m:r>
                      </m:e>
                      <m: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𝑢𝑝𝑝𝑒𝑟</m:t>
                        </m:r>
                      </m:sub>
                    </m:s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𝑛</m:t>
                    </m:r>
                    <m:r>
                      <a:rPr lang="en-US" altLang="zh-TW" sz="200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for every </a:t>
                </a:r>
                <a14:m>
                  <m:oMath xmlns:m="http://schemas.openxmlformats.org/officeDocument/2006/math">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𝑘</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altLang="zh-TW" sz="2000" i="1">
                        <a:latin typeface="Cambria Math" panose="02040503050406030204" pitchFamily="18" charset="0"/>
                        <a:ea typeface="Cambria Math" panose="02040503050406030204" pitchFamily="18" charset="0"/>
                        <a:cs typeface="Times New Roman" panose="02020603050405020304" pitchFamily="18" charset="0"/>
                      </a:rPr>
                      <m:t>Ω</m:t>
                    </m:r>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the classification error on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is consistently smaller than </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2</m:t>
                        </m:r>
                      </m:sup>
                    </m:sSubSup>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a:t>
                </a:r>
                <a14:m>
                  <m:oMath xmlns:m="http://schemas.openxmlformats.org/officeDocument/2006/math">
                    <m:sSubSup>
                      <m:sSubSupPr>
                        <m:ctrlPr>
                          <a:rPr lang="en-US" altLang="zh-TW" sz="2000"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sz="2000"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sz="2000" i="1">
                            <a:latin typeface="Cambria Math" panose="02040503050406030204" pitchFamily="18" charset="0"/>
                            <a:ea typeface="標楷體" panose="03000509000000000000" pitchFamily="65" charset="-120"/>
                            <a:cs typeface="Times New Roman" panose="02020603050405020304" pitchFamily="18" charset="0"/>
                          </a:rPr>
                          <m:t>1</m:t>
                        </m:r>
                      </m:sup>
                    </m:sSubSup>
                  </m:oMath>
                </a14:m>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a:r>
                <a:r>
                  <a:rPr lang="en-US" altLang="zh-TW" sz="2000" i="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recursively more characteristic</a:t>
                </a:r>
              </a:p>
            </p:txBody>
          </p:sp>
        </mc:Choice>
        <mc:Fallback>
          <p:sp>
            <p:nvSpPr>
              <p:cNvPr id="7" name="圓角矩形 6"/>
              <p:cNvSpPr>
                <a:spLocks noRot="1" noChangeAspect="1" noMove="1" noResize="1" noEditPoints="1" noAdjustHandles="1" noChangeArrowheads="1" noChangeShapeType="1" noTextEdit="1"/>
              </p:cNvSpPr>
              <p:nvPr/>
            </p:nvSpPr>
            <p:spPr>
              <a:xfrm>
                <a:off x="58015" y="2993206"/>
                <a:ext cx="9020174" cy="3413666"/>
              </a:xfrm>
              <a:prstGeom prst="round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8697614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Characteristic (2/2)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Examine whether the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mRMR</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sequential feature sets are RM-characteristic than Max-Relevance sequential.</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Use other feature selection methods</a:t>
                </a:r>
              </a:p>
              <a:p>
                <a:pPr marL="800100" lvl="1"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Use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mRMR</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and Max-Relevance find candidate feature set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(2 sets)</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800100" lvl="1"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Use backward selection wrapper to product 2 series sets.</a:t>
                </a:r>
              </a:p>
              <a:p>
                <a:pPr marL="800100" lvl="1"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Compute the classification errors respectively.</a:t>
                </a:r>
              </a:p>
              <a:p>
                <a:pPr marL="800100" lvl="1"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If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mRMR</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classification error lower than Max-Relevance,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mRMR</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RM-characteristic.</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Use both forward and backward selections.</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If </a:t>
                </a:r>
                <a14:m>
                  <m:oMath xmlns:m="http://schemas.openxmlformats.org/officeDocument/2006/math">
                    <m:sSubSup>
                      <m:sSub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up>
                    </m:sSub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RM-characteristic than </a:t>
                </a:r>
                <a14:m>
                  <m:oMath xmlns:m="http://schemas.openxmlformats.org/officeDocument/2006/math">
                    <m:sSubSup>
                      <m:sSub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2</m:t>
                        </m:r>
                      </m:sup>
                    </m:sSub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so is the subsets of </a:t>
                </a:r>
                <a14:m>
                  <m:oMath xmlns:m="http://schemas.openxmlformats.org/officeDocument/2006/math">
                    <m:sSubSup>
                      <m:sSubSup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i="1">
                            <a:latin typeface="Cambria Math" panose="02040503050406030204" pitchFamily="18" charset="0"/>
                            <a:ea typeface="標楷體" panose="03000509000000000000" pitchFamily="65" charset="-120"/>
                            <a:cs typeface="Times New Roman" panose="02020603050405020304" pitchFamily="18" charset="0"/>
                          </a:rPr>
                          <m:t>1</m:t>
                        </m:r>
                      </m:sup>
                    </m:sSub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and </a:t>
                </a:r>
                <a14:m>
                  <m:oMath xmlns:m="http://schemas.openxmlformats.org/officeDocument/2006/math">
                    <m:sSubSup>
                      <m:sSubSup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SupPr>
                      <m:e>
                        <m:r>
                          <a:rPr lang="en-US" altLang="zh-TW" i="1">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𝑛</m:t>
                        </m:r>
                      </m:sub>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b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683" r="-88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15</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xmlns="" val="22995746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Implementation issues</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95249" y="1114424"/>
                <a:ext cx="8924925" cy="5743575"/>
              </a:xfrm>
            </p:spPr>
            <p:txBody>
              <a:bodyPr/>
              <a:lstStyle/>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One of variables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and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continuous, their mutual information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𝐼</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hard to compute.</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Hard to compute integral(</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積分</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in the continuous space.</a:t>
                </a:r>
              </a:p>
              <a:p>
                <a:pPr marL="457200" indent="-457200">
                  <a:lnSpc>
                    <a:spcPct val="150000"/>
                  </a:lnSpc>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Use </a:t>
                </a:r>
                <a:r>
                  <a:rPr lang="en-US" altLang="zh-TW"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density estimation method</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Parzen</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windows) to approximate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𝐼</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𝑦</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endParaRPr lang="en-US" altLang="zh-TW" b="0"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14:m>
                  <m:oMath xmlns:m="http://schemas.openxmlformats.org/officeDocument/2006/math">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𝑁</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samples, variable </a:t>
                </a:r>
                <a14:m>
                  <m:oMath xmlns:m="http://schemas.openxmlformats.org/officeDocument/2006/math">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𝑥</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approximate density function</a:t>
                </a:r>
                <a:r>
                  <a:rPr lang="en-US" altLang="zh-TW" dirty="0"/>
                  <a:t/>
                </a:r>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𝑝</m:t>
                        </m:r>
                      </m:e>
                    </m:acc>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oMath>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14:m>
                  <m:oMath xmlns:m="http://schemas.openxmlformats.org/officeDocument/2006/math">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𝛿</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Parzen</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window function,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𝑥</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the </a:t>
                </a:r>
                <a14:m>
                  <m:oMath xmlns:m="http://schemas.openxmlformats.org/officeDocument/2006/math">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𝑖𝑡h</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sample, </a:t>
                </a:r>
                <a14:m>
                  <m:oMath xmlns:m="http://schemas.openxmlformats.org/officeDocument/2006/math">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h</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window width</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3"/>
                <a:stretch>
                  <a:fillRect l="-68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16</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5" name="圖片 4"/>
          <p:cNvPicPr>
            <a:picLocks noChangeAspect="1"/>
          </p:cNvPicPr>
          <p:nvPr/>
        </p:nvPicPr>
        <p:blipFill>
          <a:blip r:embed="rId4"/>
          <a:stretch>
            <a:fillRect/>
          </a:stretch>
        </p:blipFill>
        <p:spPr>
          <a:xfrm>
            <a:off x="105640" y="5070240"/>
            <a:ext cx="3361460" cy="957547"/>
          </a:xfrm>
          <a:prstGeom prst="rect">
            <a:avLst/>
          </a:prstGeom>
        </p:spPr>
      </p:pic>
      <p:pic>
        <p:nvPicPr>
          <p:cNvPr id="7" name="圖片 6"/>
          <p:cNvPicPr>
            <a:picLocks noChangeAspect="1"/>
          </p:cNvPicPr>
          <p:nvPr/>
        </p:nvPicPr>
        <p:blipFill>
          <a:blip r:embed="rId5"/>
          <a:stretch>
            <a:fillRect/>
          </a:stretch>
        </p:blipFill>
        <p:spPr>
          <a:xfrm>
            <a:off x="3674268" y="5107410"/>
            <a:ext cx="5414962" cy="883205"/>
          </a:xfrm>
          <a:prstGeom prst="rect">
            <a:avLst/>
          </a:prstGeom>
        </p:spPr>
      </p:pic>
    </p:spTree>
    <p:extLst>
      <p:ext uri="{BB962C8B-B14F-4D97-AF65-F5344CB8AC3E}">
        <p14:creationId xmlns:p14="http://schemas.microsoft.com/office/powerpoint/2010/main" xmlns="" val="2235113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Classifiers</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mRMR</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feature selection method does not convolve with specific classifiers.</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In this paper, uses</a:t>
            </a:r>
          </a:p>
          <a:p>
            <a:pPr marL="0" indent="0">
              <a:lnSpc>
                <a:spcPct val="150000"/>
              </a:lnSpc>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Naive Bayes(NB)</a:t>
            </a:r>
          </a:p>
          <a:p>
            <a:pPr marL="0" indent="0">
              <a:lnSpc>
                <a:spcPct val="150000"/>
              </a:lnSpc>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Support Vector Machine(SVM)</a:t>
            </a:r>
          </a:p>
          <a:p>
            <a:pPr marL="0" indent="0">
              <a:lnSpc>
                <a:spcPct val="150000"/>
              </a:lnSpc>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Linear </a:t>
            </a:r>
            <a:r>
              <a:rPr lang="en-US" altLang="zh-TW" dirty="0" err="1" smtClean="0">
                <a:latin typeface="Times New Roman" panose="02020603050405020304" pitchFamily="18" charset="0"/>
                <a:ea typeface="標楷體" panose="03000509000000000000" pitchFamily="65" charset="-120"/>
                <a:cs typeface="Times New Roman" panose="02020603050405020304" pitchFamily="18" charset="0"/>
              </a:rPr>
              <a:t>Discrimant</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Analysis(LDA)</a:t>
            </a: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17</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xmlns="" val="14261996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Experiments (1/5)</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18</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0" y="1049431"/>
            <a:ext cx="6037985" cy="5128470"/>
          </a:xfrm>
          <a:prstGeom prst="rect">
            <a:avLst/>
          </a:prstGeom>
        </p:spPr>
      </p:pic>
      <p:sp>
        <p:nvSpPr>
          <p:cNvPr id="3" name="矩形 2"/>
          <p:cNvSpPr/>
          <p:nvPr/>
        </p:nvSpPr>
        <p:spPr>
          <a:xfrm>
            <a:off x="6251455" y="1091045"/>
            <a:ext cx="250581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National Cancer Institute</a:t>
            </a:r>
          </a:p>
        </p:txBody>
      </p:sp>
      <p:sp>
        <p:nvSpPr>
          <p:cNvPr id="5" name="矩形 4"/>
          <p:cNvSpPr/>
          <p:nvPr/>
        </p:nvSpPr>
        <p:spPr>
          <a:xfrm>
            <a:off x="6251455" y="1663700"/>
            <a:ext cx="1858201" cy="369332"/>
          </a:xfrm>
          <a:prstGeom prst="rect">
            <a:avLst/>
          </a:prstGeom>
        </p:spPr>
        <p:txBody>
          <a:bodyPr wrap="none" anchor="t">
            <a:spAutoFit/>
          </a:bodyPr>
          <a:lstStyle/>
          <a:p>
            <a:r>
              <a:rPr lang="en-US" altLang="zh-TW" dirty="0">
                <a:latin typeface="Times New Roman" panose="02020603050405020304" pitchFamily="18" charset="0"/>
                <a:cs typeface="Times New Roman" panose="02020603050405020304" pitchFamily="18" charset="0"/>
              </a:rPr>
              <a:t>handwritten digits</a:t>
            </a:r>
            <a:endParaRPr lang="zh-TW" altLang="en-US" dirty="0">
              <a:latin typeface="Times New Roman" panose="02020603050405020304" pitchFamily="18" charset="0"/>
              <a:cs typeface="Times New Roman" panose="02020603050405020304" pitchFamily="18" charset="0"/>
            </a:endParaRPr>
          </a:p>
        </p:txBody>
      </p:sp>
      <p:sp>
        <p:nvSpPr>
          <p:cNvPr id="8" name="矩形 7"/>
          <p:cNvSpPr/>
          <p:nvPr/>
        </p:nvSpPr>
        <p:spPr>
          <a:xfrm>
            <a:off x="6251455" y="2236355"/>
            <a:ext cx="2242922" cy="369332"/>
          </a:xfrm>
          <a:prstGeom prst="rect">
            <a:avLst/>
          </a:prstGeom>
        </p:spPr>
        <p:txBody>
          <a:bodyPr wrap="none">
            <a:spAutoFit/>
          </a:bodyPr>
          <a:lstStyle/>
          <a:p>
            <a:r>
              <a:rPr lang="en-US" altLang="zh-TW" dirty="0" smtClean="0">
                <a:latin typeface="Times New Roman" panose="02020603050405020304" pitchFamily="18" charset="0"/>
                <a:cs typeface="Times New Roman" panose="02020603050405020304" pitchFamily="18" charset="0"/>
              </a:rPr>
              <a:t>Arrhythmia </a:t>
            </a:r>
            <a:r>
              <a:rPr lang="zh-TW" altLang="en-US" dirty="0" smtClean="0">
                <a:latin typeface="Times New Roman" panose="02020603050405020304" pitchFamily="18" charset="0"/>
                <a:cs typeface="Times New Roman" panose="02020603050405020304" pitchFamily="18" charset="0"/>
              </a:rPr>
              <a:t>心律不整</a:t>
            </a:r>
            <a:endParaRPr lang="zh-TW" altLang="en-US" dirty="0">
              <a:latin typeface="Times New Roman" panose="02020603050405020304" pitchFamily="18" charset="0"/>
              <a:cs typeface="Times New Roman" panose="02020603050405020304" pitchFamily="18" charset="0"/>
            </a:endParaRPr>
          </a:p>
        </p:txBody>
      </p:sp>
      <p:sp>
        <p:nvSpPr>
          <p:cNvPr id="9" name="矩形 8"/>
          <p:cNvSpPr/>
          <p:nvPr/>
        </p:nvSpPr>
        <p:spPr>
          <a:xfrm>
            <a:off x="6251455" y="2814279"/>
            <a:ext cx="1986506" cy="369332"/>
          </a:xfrm>
          <a:prstGeom prst="rect">
            <a:avLst/>
          </a:prstGeom>
        </p:spPr>
        <p:txBody>
          <a:bodyPr wrap="none">
            <a:spAutoFit/>
          </a:bodyPr>
          <a:lstStyle/>
          <a:p>
            <a:r>
              <a:rPr lang="en-US" altLang="zh-TW" dirty="0" smtClean="0">
                <a:latin typeface="Times New Roman" panose="02020603050405020304" pitchFamily="18" charset="0"/>
                <a:cs typeface="Times New Roman" panose="02020603050405020304" pitchFamily="18" charset="0"/>
              </a:rPr>
              <a:t>Lymphoma </a:t>
            </a:r>
            <a:r>
              <a:rPr lang="zh-TW" altLang="en-US" dirty="0" smtClean="0"/>
              <a:t>淋巴</a:t>
            </a:r>
            <a:r>
              <a:rPr lang="zh-TW" altLang="en-US" dirty="0"/>
              <a:t>瘤</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44875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Experiments (2/5)</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19</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3" name="圖片 2"/>
          <p:cNvPicPr>
            <a:picLocks noChangeAspect="1"/>
          </p:cNvPicPr>
          <p:nvPr/>
        </p:nvPicPr>
        <p:blipFill>
          <a:blip r:embed="rId3"/>
          <a:stretch>
            <a:fillRect/>
          </a:stretch>
        </p:blipFill>
        <p:spPr>
          <a:xfrm>
            <a:off x="179782" y="1845274"/>
            <a:ext cx="4199798" cy="3400246"/>
          </a:xfrm>
          <a:prstGeom prst="rect">
            <a:avLst/>
          </a:prstGeom>
        </p:spPr>
      </p:pic>
      <p:pic>
        <p:nvPicPr>
          <p:cNvPr id="5" name="圖片 4"/>
          <p:cNvPicPr>
            <a:picLocks noChangeAspect="1"/>
          </p:cNvPicPr>
          <p:nvPr/>
        </p:nvPicPr>
        <p:blipFill>
          <a:blip r:embed="rId4"/>
          <a:stretch>
            <a:fillRect/>
          </a:stretch>
        </p:blipFill>
        <p:spPr>
          <a:xfrm>
            <a:off x="4577276" y="1944105"/>
            <a:ext cx="4250861" cy="3375556"/>
          </a:xfrm>
          <a:prstGeom prst="rect">
            <a:avLst/>
          </a:prstGeom>
        </p:spPr>
      </p:pic>
      <p:sp>
        <p:nvSpPr>
          <p:cNvPr id="7" name="文字方塊 6"/>
          <p:cNvSpPr txBox="1"/>
          <p:nvPr/>
        </p:nvSpPr>
        <p:spPr>
          <a:xfrm>
            <a:off x="105640" y="5629275"/>
            <a:ext cx="2799485" cy="36933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Time : seconds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8932695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Experiments (3/5)</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20</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605733" y="885099"/>
            <a:ext cx="3476367" cy="2837946"/>
          </a:xfrm>
          <a:prstGeom prst="rect">
            <a:avLst/>
          </a:prstGeom>
        </p:spPr>
      </p:pic>
      <p:pic>
        <p:nvPicPr>
          <p:cNvPr id="8" name="圖片 7"/>
          <p:cNvPicPr>
            <a:picLocks noChangeAspect="1"/>
          </p:cNvPicPr>
          <p:nvPr/>
        </p:nvPicPr>
        <p:blipFill>
          <a:blip r:embed="rId4"/>
          <a:stretch>
            <a:fillRect/>
          </a:stretch>
        </p:blipFill>
        <p:spPr>
          <a:xfrm>
            <a:off x="4582193" y="923831"/>
            <a:ext cx="3751515" cy="2966429"/>
          </a:xfrm>
          <a:prstGeom prst="rect">
            <a:avLst/>
          </a:prstGeom>
        </p:spPr>
      </p:pic>
      <p:pic>
        <p:nvPicPr>
          <p:cNvPr id="9" name="圖片 8"/>
          <p:cNvPicPr>
            <a:picLocks noChangeAspect="1"/>
          </p:cNvPicPr>
          <p:nvPr/>
        </p:nvPicPr>
        <p:blipFill>
          <a:blip r:embed="rId5"/>
          <a:stretch>
            <a:fillRect/>
          </a:stretch>
        </p:blipFill>
        <p:spPr>
          <a:xfrm>
            <a:off x="511560" y="3813612"/>
            <a:ext cx="3570540" cy="2907864"/>
          </a:xfrm>
          <a:prstGeom prst="rect">
            <a:avLst/>
          </a:prstGeom>
        </p:spPr>
      </p:pic>
      <p:pic>
        <p:nvPicPr>
          <p:cNvPr id="10" name="圖片 9"/>
          <p:cNvPicPr>
            <a:picLocks noChangeAspect="1"/>
          </p:cNvPicPr>
          <p:nvPr/>
        </p:nvPicPr>
        <p:blipFill>
          <a:blip r:embed="rId6"/>
          <a:stretch>
            <a:fillRect/>
          </a:stretch>
        </p:blipFill>
        <p:spPr>
          <a:xfrm>
            <a:off x="4674908" y="3865635"/>
            <a:ext cx="3713784" cy="2992365"/>
          </a:xfrm>
          <a:prstGeom prst="rect">
            <a:avLst/>
          </a:prstGeom>
        </p:spPr>
      </p:pic>
    </p:spTree>
    <p:extLst>
      <p:ext uri="{BB962C8B-B14F-4D97-AF65-F5344CB8AC3E}">
        <p14:creationId xmlns:p14="http://schemas.microsoft.com/office/powerpoint/2010/main" xmlns="" val="31305239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Experiments (4/5)</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21</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3" name="圖片 2"/>
          <p:cNvPicPr>
            <a:picLocks noChangeAspect="1"/>
          </p:cNvPicPr>
          <p:nvPr/>
        </p:nvPicPr>
        <p:blipFill>
          <a:blip r:embed="rId3"/>
          <a:stretch>
            <a:fillRect/>
          </a:stretch>
        </p:blipFill>
        <p:spPr>
          <a:xfrm>
            <a:off x="706039" y="816528"/>
            <a:ext cx="7809311" cy="3022304"/>
          </a:xfrm>
          <a:prstGeom prst="rect">
            <a:avLst/>
          </a:prstGeom>
        </p:spPr>
      </p:pic>
      <p:pic>
        <p:nvPicPr>
          <p:cNvPr id="5" name="圖片 4"/>
          <p:cNvPicPr>
            <a:picLocks noChangeAspect="1"/>
          </p:cNvPicPr>
          <p:nvPr/>
        </p:nvPicPr>
        <p:blipFill>
          <a:blip r:embed="rId4"/>
          <a:stretch>
            <a:fillRect/>
          </a:stretch>
        </p:blipFill>
        <p:spPr>
          <a:xfrm>
            <a:off x="791923" y="3838832"/>
            <a:ext cx="3672985" cy="2971459"/>
          </a:xfrm>
          <a:prstGeom prst="rect">
            <a:avLst/>
          </a:prstGeom>
        </p:spPr>
      </p:pic>
    </p:spTree>
    <p:extLst>
      <p:ext uri="{BB962C8B-B14F-4D97-AF65-F5344CB8AC3E}">
        <p14:creationId xmlns:p14="http://schemas.microsoft.com/office/powerpoint/2010/main" xmlns="" val="34108049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5640" y="46471"/>
            <a:ext cx="8924925" cy="1044574"/>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Experiments</a:t>
            </a:r>
            <a:r>
              <a:rPr lang="zh-TW" altLang="en-US" sz="4000" dirty="0" smtClean="0">
                <a:latin typeface="Times New Roman" panose="02020603050405020304" pitchFamily="18" charset="0"/>
                <a:cs typeface="Times New Roman" panose="02020603050405020304" pitchFamily="18" charset="0"/>
              </a:rPr>
              <a:t> </a:t>
            </a:r>
            <a:r>
              <a:rPr lang="en-US" altLang="zh-TW" sz="4000" dirty="0" smtClean="0">
                <a:latin typeface="Times New Roman" panose="02020603050405020304" pitchFamily="18" charset="0"/>
                <a:cs typeface="Times New Roman" panose="02020603050405020304" pitchFamily="18" charset="0"/>
              </a:rPr>
              <a:t>(5/5)</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22</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11" name="圖片 10"/>
          <p:cNvPicPr>
            <a:picLocks noChangeAspect="1"/>
          </p:cNvPicPr>
          <p:nvPr/>
        </p:nvPicPr>
        <p:blipFill>
          <a:blip r:embed="rId3"/>
          <a:stretch>
            <a:fillRect/>
          </a:stretch>
        </p:blipFill>
        <p:spPr>
          <a:xfrm>
            <a:off x="324784" y="2405863"/>
            <a:ext cx="8486636" cy="2400925"/>
          </a:xfrm>
          <a:prstGeom prst="rect">
            <a:avLst/>
          </a:prstGeom>
        </p:spPr>
      </p:pic>
    </p:spTree>
    <p:extLst>
      <p:ext uri="{BB962C8B-B14F-4D97-AF65-F5344CB8AC3E}">
        <p14:creationId xmlns:p14="http://schemas.microsoft.com/office/powerpoint/2010/main" xmlns="" val="19751515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4044</TotalTime>
  <Words>367</Words>
  <Application>Microsoft Office PowerPoint</Application>
  <PresentationFormat>如螢幕大小 (4:3)</PresentationFormat>
  <Paragraphs>93</Paragraphs>
  <Slides>22</Slides>
  <Notes>15</Notes>
  <HiddenSlides>0</HiddenSlides>
  <MMClips>0</MMClips>
  <ScaleCrop>false</ScaleCrop>
  <HeadingPairs>
    <vt:vector size="4" baseType="variant">
      <vt:variant>
        <vt:lpstr>佈景主題</vt:lpstr>
      </vt:variant>
      <vt:variant>
        <vt:i4>1</vt:i4>
      </vt:variant>
      <vt:variant>
        <vt:lpstr>投影片標題</vt:lpstr>
      </vt:variant>
      <vt:variant>
        <vt:i4>22</vt:i4>
      </vt:variant>
    </vt:vector>
  </HeadingPairs>
  <TitlesOfParts>
    <vt:vector size="23" baseType="lpstr">
      <vt:lpstr>Office 佈景主題</vt:lpstr>
      <vt:lpstr>Feature Selection Based on Mutual Information: Criteria of Max-Dependency, Max-Relevance, and Min-Redundancy</vt:lpstr>
      <vt:lpstr>Abstract(1/2)</vt:lpstr>
      <vt:lpstr>Abstract(2/2)</vt:lpstr>
      <vt:lpstr>Mutual information</vt:lpstr>
      <vt:lpstr>Max-Dependency (1/2)</vt:lpstr>
      <vt:lpstr>Max-Dependency (2/2)</vt:lpstr>
      <vt:lpstr>Max-Relevance and Min-Redundancy(1/2)</vt:lpstr>
      <vt:lpstr>Max-Relevance and Min-Redundancy(2/2)</vt:lpstr>
      <vt:lpstr>Feature selection algorithm (1/5)</vt:lpstr>
      <vt:lpstr>Feature selection algorithm (2/5)</vt:lpstr>
      <vt:lpstr>Feature selection algorithm (3/5)</vt:lpstr>
      <vt:lpstr>Feature selection algorithm (4/5)</vt:lpstr>
      <vt:lpstr>Feature selection algorithm (5/5)</vt:lpstr>
      <vt:lpstr>Characteristic (1/2)</vt:lpstr>
      <vt:lpstr>Characteristic (2/2)</vt:lpstr>
      <vt:lpstr>Implementation issues</vt:lpstr>
      <vt:lpstr>Classifiers</vt:lpstr>
      <vt:lpstr>Experiments (1/5)</vt:lpstr>
      <vt:lpstr>Experiments (2/5)</vt:lpstr>
      <vt:lpstr>Experiments (3/5)</vt:lpstr>
      <vt:lpstr>Experiments (4/5)</vt:lpstr>
      <vt:lpstr>Experiments (5/5)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Large Graph Pattern Mining for Big Data in the Cloud</dc:title>
  <dc:creator>MONSTER J</dc:creator>
  <cp:lastModifiedBy>admin</cp:lastModifiedBy>
  <cp:revision>199</cp:revision>
  <cp:lastPrinted>2015-05-05T05:44:38Z</cp:lastPrinted>
  <dcterms:created xsi:type="dcterms:W3CDTF">2015-05-03T09:05:15Z</dcterms:created>
  <dcterms:modified xsi:type="dcterms:W3CDTF">2015-08-04T10:50:08Z</dcterms:modified>
</cp:coreProperties>
</file>