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9" r:id="rId10"/>
    <p:sldId id="270" r:id="rId11"/>
    <p:sldId id="265" r:id="rId12"/>
    <p:sldId id="267" r:id="rId13"/>
    <p:sldId id="266" r:id="rId14"/>
    <p:sldId id="268" r:id="rId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490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4CFE9-FD77-477E-914C-7C8862B84EAD}" type="datetimeFigureOut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1AA14-140B-49FF-AA73-478967E9BED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79685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#Extension limits</a:t>
            </a:r>
            <a:r>
              <a:rPr lang="en-US" altLang="zh-TW" baseline="0" dirty="0" smtClean="0"/>
              <a:t> is only for these nodes which  has the same father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61AA14-140B-49FF-AA73-478967E9BEDA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32680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75685-F013-4773-91A6-C3D5AA3E73AC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71651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99B73-6C9B-43A0-B894-3592EC8D9255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8107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0DA9-365C-407D-B295-CEF028B48616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3183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EB9C5-3018-44FC-8DCB-759B96BB4ADC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1611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830E-157A-4D82-925A-F26D68E0AEF6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9485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67A7B-E3CD-47A7-B221-4CDB0A95D053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5244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F768E-53E9-4A4B-9E19-9A55CDE99C98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19238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8FFFC-ABEA-40A0-9A71-3313D03B7F87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4261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C8791-B28E-4668-BC16-1223204896F7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5926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4CBC-D3E0-45CD-97E2-1C92DC8BBDD1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17210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7E1CD-C8FD-49B7-BF4B-2850DE376034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6449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993FD-AE9E-4558-AF2E-8989121A033F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1FA3F-C850-4B58-8EFA-B1BDB4303FC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00438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784976" cy="1470025"/>
          </a:xfrm>
        </p:spPr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Beam search for the longest common subsequence problem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79512" y="3886200"/>
            <a:ext cx="8712968" cy="1162109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Times New Roman" pitchFamily="18" charset="0"/>
                <a:cs typeface="Times New Roman" pitchFamily="18" charset="0"/>
              </a:rPr>
              <a:t>Christian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Blum,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Maria J.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Blesa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Manuel </a:t>
            </a:r>
            <a:r>
              <a:rPr lang="en-US" altLang="zh-TW" sz="2800" dirty="0" err="1" smtClean="0">
                <a:latin typeface="Times New Roman" pitchFamily="18" charset="0"/>
                <a:cs typeface="Times New Roman" pitchFamily="18" charset="0"/>
              </a:rPr>
              <a:t>López</a:t>
            </a:r>
            <a:r>
              <a:rPr lang="en-US" altLang="zh-TW" sz="2800" dirty="0" smtClean="0">
                <a:latin typeface="Times New Roman" pitchFamily="18" charset="0"/>
                <a:cs typeface="Times New Roman" pitchFamily="18" charset="0"/>
              </a:rPr>
              <a:t>-Ibáñez</a:t>
            </a:r>
            <a:endParaRPr lang="zh-TW" alt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1560" y="5013176"/>
            <a:ext cx="80648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Computers and Operations Research, </a:t>
            </a:r>
            <a:r>
              <a:rPr lang="en-US" altLang="zh-TW" sz="2000" dirty="0" smtClean="0">
                <a:effectLst/>
                <a:latin typeface="Times New Roman" pitchFamily="18" charset="0"/>
                <a:cs typeface="Times New Roman" pitchFamily="18" charset="0"/>
              </a:rPr>
              <a:t>Volume 36, 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000" dirty="0" smtClean="0">
                <a:effectLst/>
                <a:latin typeface="Times New Roman" pitchFamily="18" charset="0"/>
                <a:cs typeface="Times New Roman" pitchFamily="18" charset="0"/>
              </a:rPr>
              <a:t>p. 3178-3186 (2009)</a:t>
            </a:r>
          </a:p>
          <a:p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A36F-7348-49AF-BA01-FBCE92158227}" type="datetime1">
              <a:rPr lang="zh-TW" altLang="en-US" smtClean="0"/>
              <a:pPr/>
              <a:t>2015/4/7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3783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TW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78112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longest common subsequence problem is a classical string problem that concerns finding the common part of a set of strings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has several important applications, for example, pattern recognition or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computational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biology. Most research efforts up to now have focused on solving this problem optimally.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comparison, only few works exist dealing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with heuristic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approaches. 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this work we present a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deterministic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beam search algorithm. The results show that our algorithm outperforms the current state-of-the-art approaches not only in solution quality but often also in computation time.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12510F-E49A-4699-9420-973056C4BAE8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7429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4" name="群組 2063"/>
          <p:cNvGrpSpPr/>
          <p:nvPr/>
        </p:nvGrpSpPr>
        <p:grpSpPr>
          <a:xfrm>
            <a:off x="-36512" y="1392318"/>
            <a:ext cx="5921459" cy="5133026"/>
            <a:chOff x="-36512" y="1340768"/>
            <a:chExt cx="5921459" cy="5133026"/>
          </a:xfrm>
        </p:grpSpPr>
        <p:pic>
          <p:nvPicPr>
            <p:cNvPr id="2056" name="Picture 8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6512" y="1340768"/>
              <a:ext cx="5921459" cy="51330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7" name="群組 26"/>
            <p:cNvGrpSpPr/>
            <p:nvPr/>
          </p:nvGrpSpPr>
          <p:grpSpPr>
            <a:xfrm>
              <a:off x="539552" y="1844824"/>
              <a:ext cx="2286254" cy="4139296"/>
              <a:chOff x="773578" y="1897084"/>
              <a:chExt cx="2286254" cy="4139296"/>
            </a:xfrm>
          </p:grpSpPr>
          <p:cxnSp>
            <p:nvCxnSpPr>
              <p:cNvPr id="6" name="直線單箭頭接點 5"/>
              <p:cNvCxnSpPr/>
              <p:nvPr/>
            </p:nvCxnSpPr>
            <p:spPr>
              <a:xfrm flipH="1">
                <a:off x="2429762" y="1969092"/>
                <a:ext cx="630070" cy="7200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直線單箭頭接點 12"/>
              <p:cNvCxnSpPr/>
              <p:nvPr/>
            </p:nvCxnSpPr>
            <p:spPr>
              <a:xfrm flipH="1">
                <a:off x="773578" y="1897084"/>
                <a:ext cx="2232248" cy="86409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直線單箭頭接點 24"/>
              <p:cNvCxnSpPr/>
              <p:nvPr/>
            </p:nvCxnSpPr>
            <p:spPr>
              <a:xfrm flipH="1">
                <a:off x="1673678" y="2977204"/>
                <a:ext cx="540060" cy="89516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" name="直線單箭頭接點 29"/>
              <p:cNvCxnSpPr/>
              <p:nvPr/>
            </p:nvCxnSpPr>
            <p:spPr>
              <a:xfrm>
                <a:off x="1637674" y="4129332"/>
                <a:ext cx="0" cy="75492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線單箭頭接點 31"/>
              <p:cNvCxnSpPr/>
              <p:nvPr/>
            </p:nvCxnSpPr>
            <p:spPr>
              <a:xfrm>
                <a:off x="1637674" y="5281460"/>
                <a:ext cx="0" cy="75492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pic>
          <p:nvPicPr>
            <p:cNvPr id="2063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2636912"/>
              <a:ext cx="237626" cy="216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BS Algorithm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6084168" y="4509120"/>
            <a:ext cx="305983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3000" dirty="0"/>
          </a:p>
          <a:p>
            <a:r>
              <a:rPr lang="en-US" altLang="zh-TW" sz="3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000" baseline="-25000" dirty="0" err="1" smtClean="0"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=2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(beam width)</a:t>
            </a:r>
          </a:p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u=1.5</a:t>
            </a:r>
          </a:p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Extension limit=3</a:t>
            </a:r>
          </a:p>
          <a:p>
            <a:endParaRPr lang="zh-TW" alt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53853633"/>
              </p:ext>
            </p:extLst>
          </p:nvPr>
        </p:nvGraphicFramePr>
        <p:xfrm>
          <a:off x="5854573" y="1268760"/>
          <a:ext cx="3296536" cy="2647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</a:tblGrid>
              <a:tr h="446909">
                <a:tc>
                  <a:txBody>
                    <a:bodyPr/>
                    <a:lstStyle/>
                    <a:p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65" name="日期版面配置區 206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A74D8-8420-48A8-9FD2-C054C8B5DC86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2066" name="投影片編號版面配置區 20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76295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N</a:t>
            </a:r>
            <a:r>
              <a:rPr lang="en-US" altLang="zh-TW" dirty="0" smtClean="0"/>
              <a:t>on-domination relation(1/2)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734043040"/>
              </p:ext>
            </p:extLst>
          </p:nvPr>
        </p:nvGraphicFramePr>
        <p:xfrm>
          <a:off x="5883976" y="1269337"/>
          <a:ext cx="3296536" cy="3959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</a:tblGrid>
              <a:tr h="668536">
                <a:tc>
                  <a:txBody>
                    <a:bodyPr/>
                    <a:lstStyle/>
                    <a:p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097109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097109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097109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5" name="直線單箭頭接點 14"/>
          <p:cNvCxnSpPr/>
          <p:nvPr/>
        </p:nvCxnSpPr>
        <p:spPr>
          <a:xfrm>
            <a:off x="2195736" y="2904486"/>
            <a:ext cx="630070" cy="88455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/>
          <p:nvPr/>
        </p:nvCxnSpPr>
        <p:spPr>
          <a:xfrm flipV="1">
            <a:off x="2438763" y="3225863"/>
            <a:ext cx="144016" cy="32588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1" name="群組 30"/>
          <p:cNvGrpSpPr/>
          <p:nvPr/>
        </p:nvGrpSpPr>
        <p:grpSpPr>
          <a:xfrm>
            <a:off x="-36512" y="1392318"/>
            <a:ext cx="5921459" cy="2736304"/>
            <a:chOff x="-36512" y="1392318"/>
            <a:chExt cx="5921459" cy="2736304"/>
          </a:xfrm>
        </p:grpSpPr>
        <p:grpSp>
          <p:nvGrpSpPr>
            <p:cNvPr id="5" name="群組 4"/>
            <p:cNvGrpSpPr/>
            <p:nvPr/>
          </p:nvGrpSpPr>
          <p:grpSpPr>
            <a:xfrm>
              <a:off x="-36512" y="1392318"/>
              <a:ext cx="5921459" cy="2736304"/>
              <a:chOff x="-36512" y="1340768"/>
              <a:chExt cx="5921459" cy="2736304"/>
            </a:xfrm>
          </p:grpSpPr>
          <p:pic>
            <p:nvPicPr>
              <p:cNvPr id="6" name="Picture 8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 b="46692"/>
              <a:stretch/>
            </p:blipFill>
            <p:spPr bwMode="auto">
              <a:xfrm>
                <a:off x="-36512" y="1340768"/>
                <a:ext cx="5921459" cy="2736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7" name="群組 6"/>
              <p:cNvGrpSpPr/>
              <p:nvPr/>
            </p:nvGrpSpPr>
            <p:grpSpPr>
              <a:xfrm>
                <a:off x="539552" y="1844824"/>
                <a:ext cx="2286254" cy="1975281"/>
                <a:chOff x="773578" y="1897084"/>
                <a:chExt cx="2286254" cy="1975281"/>
              </a:xfrm>
            </p:grpSpPr>
            <p:cxnSp>
              <p:nvCxnSpPr>
                <p:cNvPr id="9" name="直線單箭頭接點 8"/>
                <p:cNvCxnSpPr/>
                <p:nvPr/>
              </p:nvCxnSpPr>
              <p:spPr>
                <a:xfrm flipH="1">
                  <a:off x="2429762" y="1969092"/>
                  <a:ext cx="630070" cy="72008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線單箭頭接點 9"/>
                <p:cNvCxnSpPr/>
                <p:nvPr/>
              </p:nvCxnSpPr>
              <p:spPr>
                <a:xfrm flipH="1">
                  <a:off x="773578" y="1897084"/>
                  <a:ext cx="2232248" cy="86409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線單箭頭接點 10"/>
                <p:cNvCxnSpPr/>
                <p:nvPr/>
              </p:nvCxnSpPr>
              <p:spPr>
                <a:xfrm flipH="1">
                  <a:off x="1673678" y="2977204"/>
                  <a:ext cx="540060" cy="89516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8" name="Picture 9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64088" y="2636912"/>
                <a:ext cx="237626" cy="2160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30" name="群組 29"/>
            <p:cNvGrpSpPr/>
            <p:nvPr/>
          </p:nvGrpSpPr>
          <p:grpSpPr>
            <a:xfrm>
              <a:off x="2195736" y="2904486"/>
              <a:ext cx="630070" cy="884554"/>
              <a:chOff x="2195736" y="2904486"/>
              <a:chExt cx="630070" cy="884554"/>
            </a:xfrm>
          </p:grpSpPr>
          <p:cxnSp>
            <p:nvCxnSpPr>
              <p:cNvPr id="28" name="直線單箭頭接點 27"/>
              <p:cNvCxnSpPr/>
              <p:nvPr/>
            </p:nvCxnSpPr>
            <p:spPr>
              <a:xfrm>
                <a:off x="2195736" y="2904486"/>
                <a:ext cx="630070" cy="88455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/>
              <p:nvPr/>
            </p:nvCxnSpPr>
            <p:spPr>
              <a:xfrm flipV="1">
                <a:off x="2438763" y="3225863"/>
                <a:ext cx="144016" cy="32588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群組 37"/>
          <p:cNvGrpSpPr/>
          <p:nvPr/>
        </p:nvGrpSpPr>
        <p:grpSpPr>
          <a:xfrm>
            <a:off x="6300191" y="1916832"/>
            <a:ext cx="2448274" cy="2952328"/>
            <a:chOff x="6300191" y="1916832"/>
            <a:chExt cx="2448274" cy="2952328"/>
          </a:xfrm>
        </p:grpSpPr>
        <p:sp>
          <p:nvSpPr>
            <p:cNvPr id="32" name="矩形 31"/>
            <p:cNvSpPr/>
            <p:nvPr/>
          </p:nvSpPr>
          <p:spPr>
            <a:xfrm>
              <a:off x="6300192" y="1916832"/>
              <a:ext cx="1224136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7524328" y="3032956"/>
              <a:ext cx="793919" cy="3240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6300192" y="4149080"/>
              <a:ext cx="792088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6300191" y="2276872"/>
              <a:ext cx="1621095" cy="36004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7524329" y="3356992"/>
              <a:ext cx="1224136" cy="36004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6300192" y="4509120"/>
              <a:ext cx="1621094" cy="36004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39" name="直線單箭頭接點 38"/>
          <p:cNvCxnSpPr/>
          <p:nvPr/>
        </p:nvCxnSpPr>
        <p:spPr>
          <a:xfrm>
            <a:off x="395536" y="3013230"/>
            <a:ext cx="0" cy="77581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6084168" y="4700751"/>
            <a:ext cx="305983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3000" dirty="0"/>
          </a:p>
          <a:p>
            <a:r>
              <a:rPr lang="en-US" altLang="zh-TW" sz="3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000" baseline="-25000" dirty="0" err="1" smtClean="0"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=2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(beam width)</a:t>
            </a:r>
          </a:p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u=1.5</a:t>
            </a:r>
          </a:p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Extension limit=3</a:t>
            </a:r>
          </a:p>
          <a:p>
            <a:endParaRPr lang="zh-TW" alt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日期版面配置區 4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053E6-BF3A-426A-8C83-E3A0AED772C4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43" name="投影片編號版面配置區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74515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Non-domination relation(2/2)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-45657" y="1392318"/>
            <a:ext cx="5921459" cy="2736304"/>
            <a:chOff x="-36512" y="1392318"/>
            <a:chExt cx="5921459" cy="2736304"/>
          </a:xfrm>
        </p:grpSpPr>
        <p:grpSp>
          <p:nvGrpSpPr>
            <p:cNvPr id="5" name="群組 4"/>
            <p:cNvGrpSpPr/>
            <p:nvPr/>
          </p:nvGrpSpPr>
          <p:grpSpPr>
            <a:xfrm>
              <a:off x="-36512" y="1392318"/>
              <a:ext cx="5921459" cy="2736304"/>
              <a:chOff x="-36512" y="1340768"/>
              <a:chExt cx="5921459" cy="2736304"/>
            </a:xfrm>
          </p:grpSpPr>
          <p:pic>
            <p:nvPicPr>
              <p:cNvPr id="11" name="Picture 8"/>
              <p:cNvPicPr>
                <a:picLocks noChangeAspect="1" noChangeArrowheads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 b="46692"/>
              <a:stretch/>
            </p:blipFill>
            <p:spPr bwMode="auto">
              <a:xfrm>
                <a:off x="-36512" y="1340768"/>
                <a:ext cx="5921459" cy="27363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2" name="群組 11"/>
              <p:cNvGrpSpPr/>
              <p:nvPr/>
            </p:nvGrpSpPr>
            <p:grpSpPr>
              <a:xfrm>
                <a:off x="539552" y="1844824"/>
                <a:ext cx="2286254" cy="1975281"/>
                <a:chOff x="773578" y="1897084"/>
                <a:chExt cx="2286254" cy="1975281"/>
              </a:xfrm>
            </p:grpSpPr>
            <p:cxnSp>
              <p:nvCxnSpPr>
                <p:cNvPr id="14" name="直線單箭頭接點 13"/>
                <p:cNvCxnSpPr/>
                <p:nvPr/>
              </p:nvCxnSpPr>
              <p:spPr>
                <a:xfrm flipH="1">
                  <a:off x="2429762" y="1969092"/>
                  <a:ext cx="630070" cy="72008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單箭頭接點 14"/>
                <p:cNvCxnSpPr/>
                <p:nvPr/>
              </p:nvCxnSpPr>
              <p:spPr>
                <a:xfrm flipH="1">
                  <a:off x="773578" y="1897084"/>
                  <a:ext cx="2232248" cy="86409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線單箭頭接點 15"/>
                <p:cNvCxnSpPr/>
                <p:nvPr/>
              </p:nvCxnSpPr>
              <p:spPr>
                <a:xfrm flipH="1">
                  <a:off x="1673678" y="2977204"/>
                  <a:ext cx="540060" cy="89516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3" name="Picture 9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64088" y="2636912"/>
                <a:ext cx="237626" cy="2160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6" name="群組 5"/>
            <p:cNvGrpSpPr/>
            <p:nvPr/>
          </p:nvGrpSpPr>
          <p:grpSpPr>
            <a:xfrm>
              <a:off x="251520" y="2904486"/>
              <a:ext cx="288032" cy="812546"/>
              <a:chOff x="251520" y="2904486"/>
              <a:chExt cx="288032" cy="812546"/>
            </a:xfrm>
          </p:grpSpPr>
          <p:cxnSp>
            <p:nvCxnSpPr>
              <p:cNvPr id="7" name="直線單箭頭接點 6"/>
              <p:cNvCxnSpPr/>
              <p:nvPr/>
            </p:nvCxnSpPr>
            <p:spPr>
              <a:xfrm>
                <a:off x="395536" y="2904486"/>
                <a:ext cx="0" cy="81254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接點 7"/>
              <p:cNvCxnSpPr/>
              <p:nvPr/>
            </p:nvCxnSpPr>
            <p:spPr>
              <a:xfrm>
                <a:off x="251520" y="3140968"/>
                <a:ext cx="288032" cy="169791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43141659"/>
              </p:ext>
            </p:extLst>
          </p:nvPr>
        </p:nvGraphicFramePr>
        <p:xfrm>
          <a:off x="5883976" y="1269337"/>
          <a:ext cx="3296536" cy="3959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</a:tblGrid>
              <a:tr h="668536">
                <a:tc>
                  <a:txBody>
                    <a:bodyPr/>
                    <a:lstStyle/>
                    <a:p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097109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097109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097109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rgbClr val="00B05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rgbClr val="00B05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8" name="群組 17"/>
          <p:cNvGrpSpPr/>
          <p:nvPr/>
        </p:nvGrpSpPr>
        <p:grpSpPr>
          <a:xfrm>
            <a:off x="6300192" y="1916832"/>
            <a:ext cx="2448273" cy="2952328"/>
            <a:chOff x="6300192" y="1916832"/>
            <a:chExt cx="2448273" cy="2952328"/>
          </a:xfrm>
        </p:grpSpPr>
        <p:sp>
          <p:nvSpPr>
            <p:cNvPr id="19" name="矩形 18"/>
            <p:cNvSpPr/>
            <p:nvPr/>
          </p:nvSpPr>
          <p:spPr>
            <a:xfrm>
              <a:off x="6300192" y="1916832"/>
              <a:ext cx="1224136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7524328" y="3032956"/>
              <a:ext cx="793919" cy="3240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6300192" y="4149080"/>
              <a:ext cx="792088" cy="3600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7092280" y="2276872"/>
              <a:ext cx="829006" cy="36004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6696236" y="3356992"/>
              <a:ext cx="2052229" cy="36004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6696236" y="4509120"/>
              <a:ext cx="1225050" cy="36004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26" name="直線接點 25"/>
          <p:cNvCxnSpPr/>
          <p:nvPr/>
        </p:nvCxnSpPr>
        <p:spPr>
          <a:xfrm>
            <a:off x="2195736" y="3310759"/>
            <a:ext cx="630070" cy="462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3B159-A7EA-42FE-B139-B383C829EE76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5786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hoose Extensions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251520" y="4408550"/>
            <a:ext cx="52097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 </a:t>
            </a:r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ŋ</a:t>
            </a:r>
            <a:r>
              <a:rPr lang="en-US" altLang="zh-TW" sz="25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(a)=min{ (7-3), (7-2), (7-2) }= 4</a:t>
            </a:r>
          </a:p>
          <a:p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	           S</a:t>
            </a:r>
            <a:r>
              <a:rPr lang="en-US" altLang="zh-TW" sz="25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      S</a:t>
            </a:r>
            <a:r>
              <a:rPr lang="en-US" altLang="zh-TW" sz="25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       S</a:t>
            </a:r>
            <a:r>
              <a:rPr lang="en-US" altLang="zh-TW" sz="25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altLang="zh-TW" sz="25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ŋ</a:t>
            </a:r>
            <a:r>
              <a:rPr lang="en-US" altLang="zh-TW" sz="25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(b)=3</a:t>
            </a:r>
          </a:p>
          <a:p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ŋ</a:t>
            </a:r>
            <a:r>
              <a:rPr lang="en-US" altLang="zh-TW" sz="25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(c)=4</a:t>
            </a:r>
          </a:p>
          <a:p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ŋ</a:t>
            </a:r>
            <a:r>
              <a:rPr lang="en-US" altLang="zh-TW" sz="25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(d)=1</a:t>
            </a:r>
          </a:p>
          <a:p>
            <a:r>
              <a:rPr lang="en-US" altLang="zh-TW" sz="25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=&gt;remove d</a:t>
            </a:r>
            <a:endParaRPr lang="zh-TW" altLang="en-US" sz="25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25051"/>
            <a:ext cx="487680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21127270"/>
              </p:ext>
            </p:extLst>
          </p:nvPr>
        </p:nvGraphicFramePr>
        <p:xfrm>
          <a:off x="5883976" y="1269337"/>
          <a:ext cx="3296536" cy="2647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</a:tblGrid>
              <a:tr h="446909"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83" name="群組 82"/>
          <p:cNvGrpSpPr/>
          <p:nvPr/>
        </p:nvGrpSpPr>
        <p:grpSpPr>
          <a:xfrm>
            <a:off x="-108520" y="1268760"/>
            <a:ext cx="6036992" cy="2097846"/>
            <a:chOff x="-108520" y="1269337"/>
            <a:chExt cx="6036992" cy="2097846"/>
          </a:xfrm>
        </p:grpSpPr>
        <p:pic>
          <p:nvPicPr>
            <p:cNvPr id="3077" name="Picture 5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b="59912"/>
            <a:stretch/>
          </p:blipFill>
          <p:spPr bwMode="auto">
            <a:xfrm>
              <a:off x="-108520" y="1269337"/>
              <a:ext cx="6036992" cy="2097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77" name="群組 76"/>
            <p:cNvGrpSpPr/>
            <p:nvPr/>
          </p:nvGrpSpPr>
          <p:grpSpPr>
            <a:xfrm>
              <a:off x="467544" y="1772816"/>
              <a:ext cx="4896544" cy="864096"/>
              <a:chOff x="683568" y="1772816"/>
              <a:chExt cx="4896544" cy="864096"/>
            </a:xfrm>
          </p:grpSpPr>
          <p:grpSp>
            <p:nvGrpSpPr>
              <p:cNvPr id="63" name="群組 62"/>
              <p:cNvGrpSpPr/>
              <p:nvPr/>
            </p:nvGrpSpPr>
            <p:grpSpPr>
              <a:xfrm>
                <a:off x="683568" y="1772816"/>
                <a:ext cx="4896544" cy="864096"/>
                <a:chOff x="539552" y="1988840"/>
                <a:chExt cx="4896544" cy="864096"/>
              </a:xfrm>
            </p:grpSpPr>
            <p:cxnSp>
              <p:nvCxnSpPr>
                <p:cNvPr id="35" name="直線單箭頭接點 34"/>
                <p:cNvCxnSpPr/>
                <p:nvPr/>
              </p:nvCxnSpPr>
              <p:spPr>
                <a:xfrm flipH="1">
                  <a:off x="539552" y="1988840"/>
                  <a:ext cx="2268252" cy="86409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單箭頭接點 37"/>
                <p:cNvCxnSpPr/>
                <p:nvPr/>
              </p:nvCxnSpPr>
              <p:spPr>
                <a:xfrm flipH="1">
                  <a:off x="2231740" y="2060848"/>
                  <a:ext cx="612068" cy="7273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線單箭頭接點 57"/>
                <p:cNvCxnSpPr/>
                <p:nvPr/>
              </p:nvCxnSpPr>
              <p:spPr>
                <a:xfrm>
                  <a:off x="3131840" y="2060848"/>
                  <a:ext cx="603684" cy="72008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線單箭頭接點 61"/>
                <p:cNvCxnSpPr/>
                <p:nvPr/>
              </p:nvCxnSpPr>
              <p:spPr>
                <a:xfrm>
                  <a:off x="3248236" y="2002883"/>
                  <a:ext cx="2187860" cy="850053"/>
                </a:xfrm>
                <a:prstGeom prst="straightConnector1">
                  <a:avLst/>
                </a:prstGeom>
                <a:ln>
                  <a:solidFill>
                    <a:schemeClr val="accent1"/>
                  </a:solidFill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8" name="直線接點 67"/>
              <p:cNvCxnSpPr/>
              <p:nvPr/>
            </p:nvCxnSpPr>
            <p:spPr>
              <a:xfrm flipH="1">
                <a:off x="4716016" y="2129450"/>
                <a:ext cx="288032" cy="442714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078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2006837"/>
              <a:ext cx="3672473" cy="2700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4" name="Picture 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4494" y="2564904"/>
              <a:ext cx="237626" cy="216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1" name="群組 80"/>
          <p:cNvGrpSpPr/>
          <p:nvPr/>
        </p:nvGrpSpPr>
        <p:grpSpPr>
          <a:xfrm>
            <a:off x="7236296" y="2057442"/>
            <a:ext cx="1800200" cy="1873687"/>
            <a:chOff x="7236296" y="2057442"/>
            <a:chExt cx="1800200" cy="1873687"/>
          </a:xfrm>
        </p:grpSpPr>
        <p:sp>
          <p:nvSpPr>
            <p:cNvPr id="79" name="左大括弧 78"/>
            <p:cNvSpPr/>
            <p:nvPr/>
          </p:nvSpPr>
          <p:spPr>
            <a:xfrm rot="16200000">
              <a:off x="8188204" y="1537582"/>
              <a:ext cx="219430" cy="1259150"/>
            </a:xfrm>
            <a:prstGeom prst="lef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左大括弧 85"/>
            <p:cNvSpPr/>
            <p:nvPr/>
          </p:nvSpPr>
          <p:spPr>
            <a:xfrm rot="16200000">
              <a:off x="7992380" y="2024844"/>
              <a:ext cx="288032" cy="1800200"/>
            </a:xfrm>
            <a:prstGeom prst="lef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7" name="左大括弧 86"/>
            <p:cNvSpPr/>
            <p:nvPr/>
          </p:nvSpPr>
          <p:spPr>
            <a:xfrm rot="16200000">
              <a:off x="7992380" y="2744924"/>
              <a:ext cx="288032" cy="1800200"/>
            </a:xfrm>
            <a:prstGeom prst="leftBrac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8028384" y="2278799"/>
              <a:ext cx="504056" cy="21409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4</a:t>
              </a:r>
              <a:endParaRPr lang="zh-TW" altLang="en-US" dirty="0"/>
            </a:p>
          </p:txBody>
        </p:sp>
        <p:sp>
          <p:nvSpPr>
            <p:cNvPr id="89" name="矩形 88"/>
            <p:cNvSpPr/>
            <p:nvPr/>
          </p:nvSpPr>
          <p:spPr>
            <a:xfrm>
              <a:off x="7884368" y="2998879"/>
              <a:ext cx="504056" cy="21409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5</a:t>
              </a:r>
              <a:endParaRPr lang="zh-TW" altLang="en-US" dirty="0"/>
            </a:p>
          </p:txBody>
        </p:sp>
        <p:sp>
          <p:nvSpPr>
            <p:cNvPr id="90" name="矩形 89"/>
            <p:cNvSpPr/>
            <p:nvPr/>
          </p:nvSpPr>
          <p:spPr>
            <a:xfrm>
              <a:off x="7884368" y="3717032"/>
              <a:ext cx="504056" cy="214097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5</a:t>
              </a:r>
              <a:endParaRPr lang="zh-TW" altLang="en-US" dirty="0"/>
            </a:p>
          </p:txBody>
        </p:sp>
      </p:grpSp>
      <p:sp>
        <p:nvSpPr>
          <p:cNvPr id="94" name="文字方塊 93"/>
          <p:cNvSpPr txBox="1"/>
          <p:nvPr/>
        </p:nvSpPr>
        <p:spPr>
          <a:xfrm>
            <a:off x="6084168" y="4509120"/>
            <a:ext cx="305983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3000" dirty="0"/>
          </a:p>
          <a:p>
            <a:r>
              <a:rPr lang="en-US" altLang="zh-TW" sz="3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000" baseline="-25000" dirty="0" err="1" smtClean="0"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=2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(beam width)</a:t>
            </a:r>
          </a:p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u=1.5</a:t>
            </a:r>
          </a:p>
          <a:p>
            <a:r>
              <a:rPr lang="en-US" altLang="zh-TW" sz="3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Extension limit=3</a:t>
            </a:r>
          </a:p>
          <a:p>
            <a:endParaRPr lang="zh-TW" alt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日期版面配置區 8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78AD7-6C29-4A43-8747-FDEF51F8BAF5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88" name="投影片編號版面配置區 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4756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Upper bound</a:t>
            </a:r>
            <a:endParaRPr lang="zh-TW" altLang="en-US" dirty="0"/>
          </a:p>
        </p:txBody>
      </p:sp>
      <p:grpSp>
        <p:nvGrpSpPr>
          <p:cNvPr id="19" name="群組 18"/>
          <p:cNvGrpSpPr/>
          <p:nvPr/>
        </p:nvGrpSpPr>
        <p:grpSpPr>
          <a:xfrm>
            <a:off x="179512" y="1268760"/>
            <a:ext cx="5296770" cy="2097846"/>
            <a:chOff x="157732" y="1758846"/>
            <a:chExt cx="5296770" cy="2097846"/>
          </a:xfrm>
        </p:grpSpPr>
        <p:pic>
          <p:nvPicPr>
            <p:cNvPr id="4" name="Picture 5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r="12261" b="59912"/>
            <a:stretch/>
          </p:blipFill>
          <p:spPr bwMode="auto">
            <a:xfrm>
              <a:off x="157732" y="1758846"/>
              <a:ext cx="5296770" cy="20978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5" name="群組 4"/>
            <p:cNvGrpSpPr/>
            <p:nvPr/>
          </p:nvGrpSpPr>
          <p:grpSpPr>
            <a:xfrm>
              <a:off x="733796" y="2262325"/>
              <a:ext cx="3195972" cy="864096"/>
              <a:chOff x="683568" y="1772816"/>
              <a:chExt cx="3195972" cy="864096"/>
            </a:xfrm>
          </p:grpSpPr>
          <p:grpSp>
            <p:nvGrpSpPr>
              <p:cNvPr id="6" name="群組 5"/>
              <p:cNvGrpSpPr/>
              <p:nvPr/>
            </p:nvGrpSpPr>
            <p:grpSpPr>
              <a:xfrm>
                <a:off x="683568" y="1772816"/>
                <a:ext cx="3195972" cy="864096"/>
                <a:chOff x="539552" y="1988840"/>
                <a:chExt cx="3195972" cy="864096"/>
              </a:xfrm>
            </p:grpSpPr>
            <p:cxnSp>
              <p:nvCxnSpPr>
                <p:cNvPr id="8" name="直線單箭頭接點 7"/>
                <p:cNvCxnSpPr/>
                <p:nvPr/>
              </p:nvCxnSpPr>
              <p:spPr>
                <a:xfrm flipH="1">
                  <a:off x="539552" y="1988840"/>
                  <a:ext cx="2268252" cy="86409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直線單箭頭接點 8"/>
                <p:cNvCxnSpPr/>
                <p:nvPr/>
              </p:nvCxnSpPr>
              <p:spPr>
                <a:xfrm flipH="1">
                  <a:off x="2231740" y="2060848"/>
                  <a:ext cx="612068" cy="72734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線單箭頭接點 9"/>
                <p:cNvCxnSpPr/>
                <p:nvPr/>
              </p:nvCxnSpPr>
              <p:spPr>
                <a:xfrm>
                  <a:off x="3131840" y="2060848"/>
                  <a:ext cx="603684" cy="72008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" name="直線接點 6"/>
              <p:cNvCxnSpPr/>
              <p:nvPr/>
            </p:nvCxnSpPr>
            <p:spPr>
              <a:xfrm flipH="1">
                <a:off x="3563888" y="2279390"/>
                <a:ext cx="223994" cy="142075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7852" y="2496346"/>
              <a:ext cx="3672473" cy="2700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6" name="直線接點 15"/>
            <p:cNvCxnSpPr/>
            <p:nvPr/>
          </p:nvCxnSpPr>
          <p:spPr>
            <a:xfrm flipH="1">
              <a:off x="4211960" y="2631363"/>
              <a:ext cx="57606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404979889"/>
              </p:ext>
            </p:extLst>
          </p:nvPr>
        </p:nvGraphicFramePr>
        <p:xfrm>
          <a:off x="5883976" y="1269337"/>
          <a:ext cx="3296536" cy="2647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</a:tblGrid>
              <a:tr h="446909"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sng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sng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sng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sng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sng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sng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sng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sng" dirty="0" smtClean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27211"/>
          <a:stretch/>
        </p:blipFill>
        <p:spPr bwMode="auto">
          <a:xfrm>
            <a:off x="47731" y="3566914"/>
            <a:ext cx="5560331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文字方塊 22"/>
          <p:cNvSpPr txBox="1"/>
          <p:nvPr/>
        </p:nvSpPr>
        <p:spPr>
          <a:xfrm>
            <a:off x="6084168" y="4509120"/>
            <a:ext cx="305983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TW" sz="3000" dirty="0"/>
          </a:p>
          <a:p>
            <a:r>
              <a:rPr lang="en-US" altLang="zh-TW" sz="3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zh-TW" sz="3000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en-US" altLang="zh-TW" sz="3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=2</a:t>
            </a:r>
            <a:r>
              <a:rPr lang="en-US" altLang="zh-TW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(beam width)</a:t>
            </a:r>
          </a:p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u=1.5</a:t>
            </a:r>
          </a:p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Extension limit=3</a:t>
            </a:r>
          </a:p>
          <a:p>
            <a:endParaRPr lang="zh-TW" alt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5496" y="4221088"/>
            <a:ext cx="619268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UB(a)= 1 + 0 + 0 + 2 =3</a:t>
            </a:r>
          </a:p>
          <a:p>
            <a:r>
              <a:rPr lang="en-US" altLang="zh-TW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            |a|               d’s occurrences</a:t>
            </a:r>
          </a:p>
          <a:p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UB(b)=4</a:t>
            </a:r>
          </a:p>
          <a:p>
            <a:r>
              <a:rPr lang="en-US" altLang="zh-TW" sz="2500" dirty="0" smtClean="0">
                <a:latin typeface="Times New Roman" pitchFamily="18" charset="0"/>
                <a:cs typeface="Times New Roman" pitchFamily="18" charset="0"/>
              </a:rPr>
              <a:t>UB(c)=3</a:t>
            </a:r>
          </a:p>
          <a:p>
            <a:r>
              <a:rPr lang="en-US" altLang="zh-TW" sz="25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=&gt;remove c</a:t>
            </a:r>
          </a:p>
          <a:p>
            <a:r>
              <a:rPr lang="en-US" altLang="zh-TW" sz="2500" i="1" dirty="0" smtClean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en-US" altLang="zh-TW" sz="2500" i="1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zh-TW" sz="2500" i="1" dirty="0" smtClean="0">
                <a:latin typeface="Times New Roman" pitchFamily="18" charset="0"/>
                <a:cs typeface="Times New Roman" pitchFamily="18" charset="0"/>
              </a:rPr>
              <a:t>is lexicographically greater than </a:t>
            </a:r>
            <a:r>
              <a:rPr lang="en-US" altLang="zh-TW" sz="2500" i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zh-TW" sz="2500" i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sz="25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121" name="群組 5120"/>
          <p:cNvGrpSpPr/>
          <p:nvPr/>
        </p:nvGrpSpPr>
        <p:grpSpPr>
          <a:xfrm>
            <a:off x="7668344" y="2131377"/>
            <a:ext cx="1368152" cy="1873687"/>
            <a:chOff x="7668344" y="2057442"/>
            <a:chExt cx="1368152" cy="1873687"/>
          </a:xfrm>
        </p:grpSpPr>
        <p:grpSp>
          <p:nvGrpSpPr>
            <p:cNvPr id="25" name="群組 24"/>
            <p:cNvGrpSpPr/>
            <p:nvPr/>
          </p:nvGrpSpPr>
          <p:grpSpPr>
            <a:xfrm>
              <a:off x="7668344" y="2057442"/>
              <a:ext cx="1368152" cy="1873687"/>
              <a:chOff x="7668344" y="2057442"/>
              <a:chExt cx="1368152" cy="1873687"/>
            </a:xfrm>
          </p:grpSpPr>
          <p:sp>
            <p:nvSpPr>
              <p:cNvPr id="26" name="左大括弧 25"/>
              <p:cNvSpPr/>
              <p:nvPr/>
            </p:nvSpPr>
            <p:spPr>
              <a:xfrm rot="16200000">
                <a:off x="7990677" y="1735109"/>
                <a:ext cx="219430" cy="864096"/>
              </a:xfrm>
              <a:prstGeom prst="leftBrac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左大括弧 26"/>
              <p:cNvSpPr/>
              <p:nvPr/>
            </p:nvSpPr>
            <p:spPr>
              <a:xfrm rot="16200000">
                <a:off x="8615879" y="2720351"/>
                <a:ext cx="265168" cy="432050"/>
              </a:xfrm>
              <a:prstGeom prst="leftBrac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左大括弧 27"/>
              <p:cNvSpPr/>
              <p:nvPr/>
            </p:nvSpPr>
            <p:spPr>
              <a:xfrm rot="16200000">
                <a:off x="8172400" y="2996951"/>
                <a:ext cx="288033" cy="1296146"/>
              </a:xfrm>
              <a:prstGeom prst="leftBrac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7884368" y="2278799"/>
                <a:ext cx="504056" cy="21409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8532440" y="2995025"/>
                <a:ext cx="504056" cy="21409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8100392" y="3717032"/>
                <a:ext cx="504056" cy="214097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 smtClean="0"/>
                  <a:t>3</a:t>
                </a:r>
                <a:endParaRPr lang="zh-TW" altLang="en-US" dirty="0"/>
              </a:p>
            </p:txBody>
          </p:sp>
        </p:grpSp>
        <p:cxnSp>
          <p:nvCxnSpPr>
            <p:cNvPr id="5120" name="直線接點 5119"/>
            <p:cNvCxnSpPr/>
            <p:nvPr/>
          </p:nvCxnSpPr>
          <p:spPr>
            <a:xfrm>
              <a:off x="8136396" y="3501007"/>
              <a:ext cx="0" cy="144017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123" name="日期版面配置區 512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754B6-A5A9-4D15-AD6B-5E41EC1BA76A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124" name="投影片編號版面配置區 51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73011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-36512" y="1392318"/>
            <a:ext cx="5921459" cy="5133026"/>
            <a:chOff x="-36512" y="1340768"/>
            <a:chExt cx="5921459" cy="5133026"/>
          </a:xfrm>
        </p:grpSpPr>
        <p:pic>
          <p:nvPicPr>
            <p:cNvPr id="5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6512" y="1340768"/>
              <a:ext cx="5921459" cy="51330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群組 5"/>
            <p:cNvGrpSpPr/>
            <p:nvPr/>
          </p:nvGrpSpPr>
          <p:grpSpPr>
            <a:xfrm>
              <a:off x="539552" y="1793274"/>
              <a:ext cx="2286254" cy="864096"/>
              <a:chOff x="773578" y="1845534"/>
              <a:chExt cx="2286254" cy="864096"/>
            </a:xfrm>
          </p:grpSpPr>
          <p:cxnSp>
            <p:nvCxnSpPr>
              <p:cNvPr id="8" name="直線單箭頭接點 7"/>
              <p:cNvCxnSpPr/>
              <p:nvPr/>
            </p:nvCxnSpPr>
            <p:spPr>
              <a:xfrm flipH="1">
                <a:off x="2429762" y="1969092"/>
                <a:ext cx="630070" cy="7200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" name="直線單箭頭接點 8"/>
              <p:cNvCxnSpPr/>
              <p:nvPr/>
            </p:nvCxnSpPr>
            <p:spPr>
              <a:xfrm flipH="1">
                <a:off x="773578" y="1845534"/>
                <a:ext cx="2232248" cy="86409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2636912"/>
              <a:ext cx="237626" cy="216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" name="文字方塊 12"/>
          <p:cNvSpPr txBox="1"/>
          <p:nvPr/>
        </p:nvSpPr>
        <p:spPr>
          <a:xfrm>
            <a:off x="6156176" y="6035670"/>
            <a:ext cx="21307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LCS: b a d </a:t>
            </a:r>
            <a:r>
              <a:rPr lang="en-US" altLang="zh-TW" sz="3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zh-TW" alt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3CA7-0E0C-49E3-B8B1-5B8AE5456428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5940152" y="2870823"/>
            <a:ext cx="2880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Run1:</a:t>
            </a:r>
          </a:p>
          <a:p>
            <a:r>
              <a:rPr lang="en-US" altLang="zh-TW" dirty="0" err="1" smtClean="0"/>
              <a:t>Init</a:t>
            </a:r>
            <a:r>
              <a:rPr lang="en-US" altLang="zh-TW" dirty="0" smtClean="0"/>
              <a:t>() 	            </a:t>
            </a:r>
          </a:p>
          <a:p>
            <a:r>
              <a:rPr lang="en-US" altLang="zh-TW" dirty="0" smtClean="0"/>
              <a:t>{    }-&gt;{ a, b, c ,d } </a:t>
            </a:r>
          </a:p>
          <a:p>
            <a:r>
              <a:rPr lang="en-US" altLang="zh-TW" dirty="0" smtClean="0"/>
              <a:t>Check domination() </a:t>
            </a:r>
          </a:p>
          <a:p>
            <a:r>
              <a:rPr lang="en-US" altLang="zh-TW" dirty="0" smtClean="0"/>
              <a:t>-&gt;{a, b ,c }</a:t>
            </a:r>
          </a:p>
          <a:p>
            <a:r>
              <a:rPr lang="en-US" altLang="zh-TW" dirty="0" smtClean="0"/>
              <a:t>Choose </a:t>
            </a:r>
            <a:r>
              <a:rPr lang="en-US" altLang="zh-TW" dirty="0" err="1" smtClean="0"/>
              <a:t>extentions</a:t>
            </a:r>
            <a:r>
              <a:rPr lang="en-US" altLang="zh-TW" dirty="0" smtClean="0"/>
              <a:t>(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ŋ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,3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-&gt;{a, b ,c}</a:t>
            </a:r>
          </a:p>
          <a:p>
            <a:r>
              <a:rPr lang="en-US" altLang="zh-TW" dirty="0" smtClean="0"/>
              <a:t>Reduce(2)</a:t>
            </a:r>
          </a:p>
          <a:p>
            <a:r>
              <a:rPr lang="en-US" altLang="zh-TW" dirty="0" smtClean="0"/>
              <a:t>-&gt;{ a, b}</a:t>
            </a:r>
          </a:p>
          <a:p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34257443"/>
              </p:ext>
            </p:extLst>
          </p:nvPr>
        </p:nvGraphicFramePr>
        <p:xfrm>
          <a:off x="5811968" y="-10215"/>
          <a:ext cx="3296536" cy="2647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</a:tblGrid>
              <a:tr h="446909">
                <a:tc>
                  <a:txBody>
                    <a:bodyPr/>
                    <a:lstStyle/>
                    <a:p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49449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-36512" y="1392318"/>
            <a:ext cx="5921459" cy="5133026"/>
            <a:chOff x="-36512" y="1340768"/>
            <a:chExt cx="5921459" cy="5133026"/>
          </a:xfrm>
        </p:grpSpPr>
        <p:pic>
          <p:nvPicPr>
            <p:cNvPr id="5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6512" y="1340768"/>
              <a:ext cx="5921459" cy="51330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群組 5"/>
            <p:cNvGrpSpPr/>
            <p:nvPr/>
          </p:nvGrpSpPr>
          <p:grpSpPr>
            <a:xfrm>
              <a:off x="539552" y="1793274"/>
              <a:ext cx="2286254" cy="2026831"/>
              <a:chOff x="773578" y="1845534"/>
              <a:chExt cx="2286254" cy="2026831"/>
            </a:xfrm>
          </p:grpSpPr>
          <p:cxnSp>
            <p:nvCxnSpPr>
              <p:cNvPr id="8" name="直線單箭頭接點 7"/>
              <p:cNvCxnSpPr/>
              <p:nvPr/>
            </p:nvCxnSpPr>
            <p:spPr>
              <a:xfrm flipH="1">
                <a:off x="2429762" y="1969092"/>
                <a:ext cx="630070" cy="7200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" name="直線單箭頭接點 8"/>
              <p:cNvCxnSpPr/>
              <p:nvPr/>
            </p:nvCxnSpPr>
            <p:spPr>
              <a:xfrm flipH="1">
                <a:off x="773578" y="1845534"/>
                <a:ext cx="2232248" cy="86409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直線單箭頭接點 9"/>
              <p:cNvCxnSpPr/>
              <p:nvPr/>
            </p:nvCxnSpPr>
            <p:spPr>
              <a:xfrm flipH="1">
                <a:off x="1673678" y="2977204"/>
                <a:ext cx="540060" cy="89516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2636912"/>
              <a:ext cx="237626" cy="216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" name="文字方塊 12"/>
          <p:cNvSpPr txBox="1"/>
          <p:nvPr/>
        </p:nvSpPr>
        <p:spPr>
          <a:xfrm>
            <a:off x="6156176" y="6035670"/>
            <a:ext cx="21307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LCS: b a d </a:t>
            </a:r>
            <a:r>
              <a:rPr lang="en-US" altLang="zh-TW" sz="3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zh-TW" alt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3CA7-0E0C-49E3-B8B1-5B8AE5456428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5940152" y="2870823"/>
            <a:ext cx="2880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Run2:</a:t>
            </a:r>
          </a:p>
          <a:p>
            <a:r>
              <a:rPr lang="en-US" altLang="zh-TW" dirty="0" err="1"/>
              <a:t>Produce_extention</a:t>
            </a:r>
            <a:r>
              <a:rPr lang="en-US" altLang="zh-TW" dirty="0"/>
              <a:t>()            </a:t>
            </a:r>
            <a:r>
              <a:rPr lang="en-US" altLang="zh-TW" dirty="0" smtClean="0"/>
              <a:t>            </a:t>
            </a:r>
          </a:p>
          <a:p>
            <a:r>
              <a:rPr lang="en-US" altLang="zh-TW" dirty="0" smtClean="0"/>
              <a:t>{ </a:t>
            </a:r>
            <a:r>
              <a:rPr lang="en-US" altLang="zh-TW" dirty="0" err="1" smtClean="0"/>
              <a:t>a,b</a:t>
            </a:r>
            <a:r>
              <a:rPr lang="en-US" altLang="zh-TW" dirty="0" smtClean="0"/>
              <a:t> }-&gt;{ ad ,</a:t>
            </a:r>
            <a:r>
              <a:rPr lang="en-US" altLang="zh-TW" dirty="0" err="1" smtClean="0"/>
              <a:t>ba</a:t>
            </a:r>
            <a:r>
              <a:rPr lang="en-US" altLang="zh-TW" dirty="0" smtClean="0"/>
              <a:t> ,</a:t>
            </a:r>
            <a:r>
              <a:rPr lang="en-US" altLang="zh-TW" dirty="0" err="1" smtClean="0"/>
              <a:t>bd</a:t>
            </a:r>
            <a:r>
              <a:rPr lang="en-US" altLang="zh-TW" dirty="0" smtClean="0"/>
              <a:t> } </a:t>
            </a:r>
          </a:p>
          <a:p>
            <a:r>
              <a:rPr lang="en-US" altLang="zh-TW" dirty="0" smtClean="0"/>
              <a:t>Check domination() </a:t>
            </a:r>
          </a:p>
          <a:p>
            <a:r>
              <a:rPr lang="en-US" altLang="zh-TW" dirty="0" smtClean="0"/>
              <a:t>-&gt;{ </a:t>
            </a:r>
            <a:r>
              <a:rPr lang="en-US" altLang="zh-TW" dirty="0" err="1" smtClean="0"/>
              <a:t>ba</a:t>
            </a:r>
            <a:r>
              <a:rPr lang="en-US" altLang="zh-TW" dirty="0" smtClean="0"/>
              <a:t> }</a:t>
            </a:r>
          </a:p>
          <a:p>
            <a:r>
              <a:rPr lang="en-US" altLang="zh-TW" dirty="0" smtClean="0"/>
              <a:t>Choose </a:t>
            </a:r>
            <a:r>
              <a:rPr lang="en-US" altLang="zh-TW" dirty="0" err="1" smtClean="0"/>
              <a:t>extentions</a:t>
            </a:r>
            <a:r>
              <a:rPr lang="en-US" altLang="zh-TW" dirty="0" smtClean="0"/>
              <a:t>(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ŋ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,3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-&gt;{ </a:t>
            </a:r>
            <a:r>
              <a:rPr lang="en-US" altLang="zh-TW" dirty="0" err="1" smtClean="0"/>
              <a:t>ba</a:t>
            </a:r>
            <a:r>
              <a:rPr lang="en-US" altLang="zh-TW" dirty="0" smtClean="0"/>
              <a:t> }</a:t>
            </a:r>
          </a:p>
          <a:p>
            <a:r>
              <a:rPr lang="en-US" altLang="zh-TW" dirty="0" smtClean="0"/>
              <a:t>Reduce(2)</a:t>
            </a:r>
          </a:p>
          <a:p>
            <a:r>
              <a:rPr lang="en-US" altLang="zh-TW" dirty="0" smtClean="0"/>
              <a:t>-&gt;{ </a:t>
            </a:r>
            <a:r>
              <a:rPr lang="en-US" altLang="zh-TW" dirty="0" err="1" smtClean="0"/>
              <a:t>ba</a:t>
            </a:r>
            <a:r>
              <a:rPr lang="en-US" altLang="zh-TW" dirty="0" smtClean="0"/>
              <a:t> }</a:t>
            </a:r>
          </a:p>
          <a:p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811968" y="-10215"/>
          <a:ext cx="3296536" cy="2647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</a:tblGrid>
              <a:tr h="446909">
                <a:tc>
                  <a:txBody>
                    <a:bodyPr/>
                    <a:lstStyle/>
                    <a:p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03753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-36512" y="1392318"/>
            <a:ext cx="5921459" cy="5133026"/>
            <a:chOff x="-36512" y="1340768"/>
            <a:chExt cx="5921459" cy="5133026"/>
          </a:xfrm>
        </p:grpSpPr>
        <p:pic>
          <p:nvPicPr>
            <p:cNvPr id="5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6512" y="1340768"/>
              <a:ext cx="5921459" cy="51330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" name="群組 5"/>
            <p:cNvGrpSpPr/>
            <p:nvPr/>
          </p:nvGrpSpPr>
          <p:grpSpPr>
            <a:xfrm>
              <a:off x="539552" y="1793274"/>
              <a:ext cx="2286254" cy="4190846"/>
              <a:chOff x="773578" y="1845534"/>
              <a:chExt cx="2286254" cy="4190846"/>
            </a:xfrm>
          </p:grpSpPr>
          <p:cxnSp>
            <p:nvCxnSpPr>
              <p:cNvPr id="8" name="直線單箭頭接點 7"/>
              <p:cNvCxnSpPr/>
              <p:nvPr/>
            </p:nvCxnSpPr>
            <p:spPr>
              <a:xfrm flipH="1">
                <a:off x="2429762" y="1969092"/>
                <a:ext cx="630070" cy="72008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" name="直線單箭頭接點 8"/>
              <p:cNvCxnSpPr/>
              <p:nvPr/>
            </p:nvCxnSpPr>
            <p:spPr>
              <a:xfrm flipH="1">
                <a:off x="773578" y="1845534"/>
                <a:ext cx="2232248" cy="86409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直線單箭頭接點 9"/>
              <p:cNvCxnSpPr/>
              <p:nvPr/>
            </p:nvCxnSpPr>
            <p:spPr>
              <a:xfrm flipH="1">
                <a:off x="1673678" y="2977204"/>
                <a:ext cx="540060" cy="895161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1" name="直線單箭頭接點 10"/>
              <p:cNvCxnSpPr/>
              <p:nvPr/>
            </p:nvCxnSpPr>
            <p:spPr>
              <a:xfrm>
                <a:off x="1637674" y="4129332"/>
                <a:ext cx="0" cy="75492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" name="直線單箭頭接點 11"/>
              <p:cNvCxnSpPr/>
              <p:nvPr/>
            </p:nvCxnSpPr>
            <p:spPr>
              <a:xfrm>
                <a:off x="1637674" y="5281460"/>
                <a:ext cx="0" cy="75492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pic>
          <p:nvPicPr>
            <p:cNvPr id="7" name="Picture 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4088" y="2636912"/>
              <a:ext cx="237626" cy="216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" name="文字方塊 12"/>
          <p:cNvSpPr txBox="1"/>
          <p:nvPr/>
        </p:nvSpPr>
        <p:spPr>
          <a:xfrm>
            <a:off x="6156176" y="6035670"/>
            <a:ext cx="21307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dirty="0" smtClean="0">
                <a:latin typeface="Times New Roman" pitchFamily="18" charset="0"/>
                <a:cs typeface="Times New Roman" pitchFamily="18" charset="0"/>
              </a:rPr>
              <a:t>LCS: b a d </a:t>
            </a:r>
            <a:r>
              <a:rPr lang="en-US" altLang="zh-TW" sz="3000" dirty="0" err="1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zh-TW" alt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A3CA7-0E0C-49E3-B8B1-5B8AE5456428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5940152" y="2870823"/>
            <a:ext cx="28803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Run4:</a:t>
            </a:r>
          </a:p>
          <a:p>
            <a:r>
              <a:rPr lang="en-US" altLang="zh-TW" dirty="0" err="1" smtClean="0"/>
              <a:t>Produce_extention</a:t>
            </a:r>
            <a:r>
              <a:rPr lang="en-US" altLang="zh-TW" dirty="0" smtClean="0"/>
              <a:t>()            </a:t>
            </a:r>
          </a:p>
          <a:p>
            <a:r>
              <a:rPr lang="en-US" altLang="zh-TW" dirty="0" smtClean="0"/>
              <a:t>{ bad }-&gt;{ </a:t>
            </a:r>
            <a:r>
              <a:rPr lang="en-US" altLang="zh-TW" dirty="0" err="1" smtClean="0"/>
              <a:t>badd</a:t>
            </a:r>
            <a:r>
              <a:rPr lang="en-US" altLang="zh-TW" dirty="0" smtClean="0"/>
              <a:t> }  </a:t>
            </a:r>
          </a:p>
          <a:p>
            <a:r>
              <a:rPr lang="en-US" altLang="zh-TW" dirty="0" smtClean="0"/>
              <a:t>Check domination() </a:t>
            </a:r>
          </a:p>
          <a:p>
            <a:r>
              <a:rPr lang="en-US" altLang="zh-TW" dirty="0" smtClean="0"/>
              <a:t>-&gt;{ </a:t>
            </a:r>
            <a:r>
              <a:rPr lang="en-US" altLang="zh-TW" dirty="0" err="1" smtClean="0"/>
              <a:t>badd</a:t>
            </a:r>
            <a:r>
              <a:rPr lang="en-US" altLang="zh-TW" dirty="0" smtClean="0"/>
              <a:t> }</a:t>
            </a:r>
          </a:p>
          <a:p>
            <a:r>
              <a:rPr lang="en-US" altLang="zh-TW" dirty="0" smtClean="0"/>
              <a:t>Choose </a:t>
            </a:r>
            <a:r>
              <a:rPr lang="en-US" altLang="zh-TW" dirty="0" err="1" smtClean="0"/>
              <a:t>extentions</a:t>
            </a:r>
            <a:r>
              <a:rPr lang="en-US" altLang="zh-TW" dirty="0" smtClean="0"/>
              <a:t>(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ŋ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,3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-&gt;{ </a:t>
            </a:r>
            <a:r>
              <a:rPr lang="en-US" altLang="zh-TW" dirty="0" err="1" smtClean="0"/>
              <a:t>badd</a:t>
            </a:r>
            <a:r>
              <a:rPr lang="en-US" altLang="zh-TW" dirty="0" smtClean="0"/>
              <a:t> }</a:t>
            </a:r>
          </a:p>
          <a:p>
            <a:r>
              <a:rPr lang="en-US" altLang="zh-TW" dirty="0" smtClean="0"/>
              <a:t>Reduce(2)</a:t>
            </a:r>
          </a:p>
          <a:p>
            <a:r>
              <a:rPr lang="en-US" altLang="zh-TW" dirty="0" smtClean="0"/>
              <a:t>-&gt;{ </a:t>
            </a:r>
            <a:r>
              <a:rPr lang="en-US" altLang="zh-TW" dirty="0" err="1" smtClean="0"/>
              <a:t>badd</a:t>
            </a:r>
            <a:r>
              <a:rPr lang="en-US" altLang="zh-TW" dirty="0" smtClean="0"/>
              <a:t> }</a:t>
            </a:r>
          </a:p>
          <a:p>
            <a:endParaRPr lang="zh-TW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5811968" y="-10215"/>
          <a:ext cx="3296536" cy="2647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  <a:gridCol w="412067"/>
              </a:tblGrid>
              <a:tr h="446909">
                <a:tc>
                  <a:txBody>
                    <a:bodyPr/>
                    <a:lstStyle/>
                    <a:p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733406">
                <a:tc>
                  <a:txBody>
                    <a:bodyPr/>
                    <a:lstStyle/>
                    <a:p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sz="2000" baseline="-250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u="none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endParaRPr lang="zh-TW" altLang="en-US" sz="2000" u="non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86046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Experiments(for set BB)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56209" y="1211005"/>
            <a:ext cx="9480737" cy="3658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-34131" y="5273913"/>
            <a:ext cx="883286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Set BB</a:t>
            </a:r>
          </a:p>
          <a:p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1.Base </a:t>
            </a:r>
            <a:r>
              <a:rPr lang="en-US" altLang="zh-TW" sz="2000" i="1" dirty="0">
                <a:latin typeface="Times New Roman" pitchFamily="18" charset="0"/>
                <a:cs typeface="Times New Roman" pitchFamily="18" charset="0"/>
              </a:rPr>
              <a:t>string 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of length </a:t>
            </a:r>
            <a:r>
              <a:rPr lang="en-US" altLang="zh-TW" sz="2000" i="1" dirty="0">
                <a:latin typeface="Times New Roman" pitchFamily="18" charset="0"/>
                <a:cs typeface="Times New Roman" pitchFamily="18" charset="0"/>
              </a:rPr>
              <a:t>l 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was 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created by randomly generating letters from ∑ .</a:t>
            </a:r>
          </a:p>
          <a:p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2.Each of the </a:t>
            </a:r>
            <a:r>
              <a:rPr lang="en-US" altLang="zh-TW" sz="2000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strings 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was produced by 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traversing 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the base string and deleting each </a:t>
            </a:r>
          </a:p>
          <a:p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  Letter with </a:t>
            </a:r>
            <a:r>
              <a:rPr lang="en-US" altLang="zh-TW" sz="2000" dirty="0" err="1" smtClean="0">
                <a:latin typeface="Times New Roman" pitchFamily="18" charset="0"/>
                <a:cs typeface="Times New Roman" pitchFamily="18" charset="0"/>
              </a:rPr>
              <a:t>aprobability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of 0.1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Ten instances were generated for each of the combinations </a:t>
            </a:r>
            <a:r>
              <a:rPr lang="en-US" altLang="zh-TW" sz="2000" dirty="0"/>
              <a:t>of | 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∑ </a:t>
            </a:r>
            <a:r>
              <a:rPr lang="en-US" altLang="zh-TW" sz="2000" dirty="0" smtClean="0"/>
              <a:t>| .</a:t>
            </a:r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11960" y="4357553"/>
            <a:ext cx="49320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(%) : (100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X/Y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 − 100,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result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obtained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by BS,</a:t>
            </a: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best result between Expansion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and 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      Best-Next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D8C16-EA9B-42B0-BBCB-7A6E8A591D99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65790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Experiments(for set ES) </a:t>
            </a:r>
            <a:endParaRPr lang="zh-TW" alt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36512" y="1196752"/>
            <a:ext cx="9249716" cy="364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07504" y="5613047"/>
            <a:ext cx="9036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Set ES 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1.It is composed of 50 instances per combination of |∑|,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2.These instances were created by sequentially generating each letter with a probability of 1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|∑|.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60032" y="4434559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(%) : (100 ·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X/Y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 − 100,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is the result obtained by BS,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result of THSB(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high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quality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).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ED876-EA09-4CF5-B471-A08B3D2A7D63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4515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72008" y="980728"/>
            <a:ext cx="9252520" cy="4467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Experiments (for set ST)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5429" y="6516052"/>
            <a:ext cx="30957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ACO:Ant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 Colony Optimization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652120" y="513309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∆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(%) : (100 ·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X/Y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 − 100, 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is the result obtained by BS,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result of ACO 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29" y="5733256"/>
            <a:ext cx="63367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Set ST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Instances are biologically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inspired,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and thus they consider an alphabet of size |∑|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4(DNA), or of size |∑|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20(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protien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4E984-A9F0-4634-85A6-EDE7E476A96E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49876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 algn="ctr">
              <a:buNone/>
            </a:pPr>
            <a:r>
              <a:rPr lang="en-US" altLang="zh-TW" sz="5000" dirty="0" smtClean="0">
                <a:latin typeface="Times New Roman" pitchFamily="18" charset="0"/>
                <a:cs typeface="Times New Roman" pitchFamily="18" charset="0"/>
              </a:rPr>
              <a:t>Thanks for listening</a:t>
            </a:r>
            <a:endParaRPr lang="zh-TW" altLang="en-US" sz="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2757-C943-40FA-B33C-CFB24E9EB690}" type="datetime1">
              <a:rPr lang="zh-TW" altLang="en-US" smtClean="0"/>
              <a:pPr/>
              <a:t>2015/4/7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FA3F-C850-4B58-8EFA-B1BDB4303FCD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9643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855</Words>
  <Application>Microsoft Office PowerPoint</Application>
  <PresentationFormat>如螢幕大小 (4:3)</PresentationFormat>
  <Paragraphs>421</Paragraphs>
  <Slides>14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5" baseType="lpstr">
      <vt:lpstr>Office 佈景主題</vt:lpstr>
      <vt:lpstr>Beam search for the longest common subsequence problem </vt:lpstr>
      <vt:lpstr>Abstract</vt:lpstr>
      <vt:lpstr>BS Algorithm</vt:lpstr>
      <vt:lpstr>Non-domination relation(1/2)</vt:lpstr>
      <vt:lpstr>Non-domination relation(2/2)</vt:lpstr>
      <vt:lpstr>Choose Extensions</vt:lpstr>
      <vt:lpstr>Upper bound</vt:lpstr>
      <vt:lpstr>投影片 8</vt:lpstr>
      <vt:lpstr>投影片 9</vt:lpstr>
      <vt:lpstr>投影片 10</vt:lpstr>
      <vt:lpstr>Experiments(for set BB) </vt:lpstr>
      <vt:lpstr>Experiments(for set ES) </vt:lpstr>
      <vt:lpstr>Experiments (for set ST)</vt:lpstr>
      <vt:lpstr>投影片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Beam search for the longest common subsequence problem</dc:title>
  <dc:creator>Leo</dc:creator>
  <cp:lastModifiedBy>cse</cp:lastModifiedBy>
  <cp:revision>36</cp:revision>
  <dcterms:created xsi:type="dcterms:W3CDTF">2015-04-03T12:56:26Z</dcterms:created>
  <dcterms:modified xsi:type="dcterms:W3CDTF">2015-04-07T10:33:06Z</dcterms:modified>
</cp:coreProperties>
</file>