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4" r:id="rId8"/>
    <p:sldId id="263" r:id="rId9"/>
    <p:sldId id="279" r:id="rId10"/>
    <p:sldId id="265" r:id="rId11"/>
    <p:sldId id="267" r:id="rId12"/>
    <p:sldId id="276" r:id="rId13"/>
    <p:sldId id="278" r:id="rId14"/>
    <p:sldId id="268" r:id="rId15"/>
    <p:sldId id="269" r:id="rId16"/>
    <p:sldId id="270" r:id="rId17"/>
    <p:sldId id="271" r:id="rId18"/>
    <p:sldId id="272" r:id="rId19"/>
    <p:sldId id="274" r:id="rId20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164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89F6D-E4CA-4E6C-AFA9-15F0F1A9CD67}" type="datetimeFigureOut">
              <a:rPr lang="zh-TW" altLang="en-US" smtClean="0"/>
              <a:pPr/>
              <a:t>2015/4/7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55716-5C3A-45EC-8B62-BD8D72F6380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89F6D-E4CA-4E6C-AFA9-15F0F1A9CD67}" type="datetimeFigureOut">
              <a:rPr lang="zh-TW" altLang="en-US" smtClean="0"/>
              <a:pPr/>
              <a:t>2015/4/7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55716-5C3A-45EC-8B62-BD8D72F6380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89F6D-E4CA-4E6C-AFA9-15F0F1A9CD67}" type="datetimeFigureOut">
              <a:rPr lang="zh-TW" altLang="en-US" smtClean="0"/>
              <a:pPr/>
              <a:t>2015/4/7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55716-5C3A-45EC-8B62-BD8D72F6380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89F6D-E4CA-4E6C-AFA9-15F0F1A9CD67}" type="datetimeFigureOut">
              <a:rPr lang="zh-TW" altLang="en-US" smtClean="0"/>
              <a:pPr/>
              <a:t>2015/4/7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55716-5C3A-45EC-8B62-BD8D72F6380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89F6D-E4CA-4E6C-AFA9-15F0F1A9CD67}" type="datetimeFigureOut">
              <a:rPr lang="zh-TW" altLang="en-US" smtClean="0"/>
              <a:pPr/>
              <a:t>2015/4/7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55716-5C3A-45EC-8B62-BD8D72F6380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89F6D-E4CA-4E6C-AFA9-15F0F1A9CD67}" type="datetimeFigureOut">
              <a:rPr lang="zh-TW" altLang="en-US" smtClean="0"/>
              <a:pPr/>
              <a:t>2015/4/7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55716-5C3A-45EC-8B62-BD8D72F6380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89F6D-E4CA-4E6C-AFA9-15F0F1A9CD67}" type="datetimeFigureOut">
              <a:rPr lang="zh-TW" altLang="en-US" smtClean="0"/>
              <a:pPr/>
              <a:t>2015/4/7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55716-5C3A-45EC-8B62-BD8D72F6380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89F6D-E4CA-4E6C-AFA9-15F0F1A9CD67}" type="datetimeFigureOut">
              <a:rPr lang="zh-TW" altLang="en-US" smtClean="0"/>
              <a:pPr/>
              <a:t>2015/4/7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55716-5C3A-45EC-8B62-BD8D72F6380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89F6D-E4CA-4E6C-AFA9-15F0F1A9CD67}" type="datetimeFigureOut">
              <a:rPr lang="zh-TW" altLang="en-US" smtClean="0"/>
              <a:pPr/>
              <a:t>2015/4/7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55716-5C3A-45EC-8B62-BD8D72F6380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89F6D-E4CA-4E6C-AFA9-15F0F1A9CD67}" type="datetimeFigureOut">
              <a:rPr lang="zh-TW" altLang="en-US" smtClean="0"/>
              <a:pPr/>
              <a:t>2015/4/7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55716-5C3A-45EC-8B62-BD8D72F6380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89F6D-E4CA-4E6C-AFA9-15F0F1A9CD67}" type="datetimeFigureOut">
              <a:rPr lang="zh-TW" altLang="en-US" smtClean="0"/>
              <a:pPr/>
              <a:t>2015/4/7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55716-5C3A-45EC-8B62-BD8D72F6380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E89F6D-E4CA-4E6C-AFA9-15F0F1A9CD67}" type="datetimeFigureOut">
              <a:rPr lang="zh-TW" altLang="en-US" smtClean="0"/>
              <a:pPr/>
              <a:t>2015/4/7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155716-5C3A-45EC-8B62-BD8D72F6380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latin typeface="+mn-lt"/>
              </a:rPr>
              <a:t>A </a:t>
            </a:r>
            <a:r>
              <a:rPr lang="en-US" dirty="0" err="1" smtClean="0">
                <a:latin typeface="+mn-lt"/>
              </a:rPr>
              <a:t>Shapelet</a:t>
            </a:r>
            <a:r>
              <a:rPr lang="en-US" dirty="0" smtClean="0">
                <a:latin typeface="+mn-lt"/>
              </a:rPr>
              <a:t> Transform for Time Series Classification</a:t>
            </a:r>
            <a:endParaRPr lang="zh-TW" altLang="en-US" dirty="0">
              <a:latin typeface="+mn-lt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214282" y="3886200"/>
            <a:ext cx="8643966" cy="1752600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dirty="0" smtClean="0"/>
              <a:t>Jason Lines, Luke M. Davis, Jon Hills, Anthony </a:t>
            </a:r>
            <a:r>
              <a:rPr lang="en-US" altLang="zh-TW" dirty="0" err="1" smtClean="0"/>
              <a:t>Bagnall</a:t>
            </a:r>
            <a:r>
              <a:rPr lang="en-US" altLang="zh-TW" dirty="0" smtClean="0"/>
              <a:t>,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 Proceedings of the 18th International Conference on Knowledge Discovery in Data and Data Mining P.289-P.297,2012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5715008" y="5929330"/>
            <a:ext cx="31432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 smtClean="0">
                <a:ea typeface="標楷體" pitchFamily="65" charset="-120"/>
              </a:rPr>
              <a:t>Presenter: </a:t>
            </a:r>
            <a:r>
              <a:rPr lang="en-US" altLang="zh-TW" sz="2000" dirty="0" err="1" smtClean="0">
                <a:ea typeface="標楷體" pitchFamily="65" charset="-120"/>
              </a:rPr>
              <a:t>Wen</a:t>
            </a:r>
            <a:r>
              <a:rPr lang="en-US" altLang="zh-TW" sz="2000" dirty="0" smtClean="0">
                <a:ea typeface="標楷體" pitchFamily="65" charset="-120"/>
              </a:rPr>
              <a:t>-Chuan Ho</a:t>
            </a:r>
          </a:p>
          <a:p>
            <a:r>
              <a:rPr lang="en-US" altLang="zh-TW" sz="2000" dirty="0" smtClean="0">
                <a:ea typeface="標楷體" pitchFamily="65" charset="-120"/>
              </a:rPr>
              <a:t>Date:2015/04/07</a:t>
            </a:r>
            <a:endParaRPr lang="zh-TW" altLang="en-US" sz="2000" dirty="0">
              <a:ea typeface="標楷體" pitchFamily="65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Abstract(1/2)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The problem of time series classification (TSC), where we consider any real-valued ordered data a time series, presents a specific machine learning challenge as the ordering of variables is often crucial in finding the best discriminating features. One of the most promising recent approaches is to find </a:t>
            </a:r>
            <a:r>
              <a:rPr lang="en-US" dirty="0" err="1" smtClean="0"/>
              <a:t>shapelets</a:t>
            </a:r>
            <a:r>
              <a:rPr lang="en-US" dirty="0" smtClean="0"/>
              <a:t> within a data set. A </a:t>
            </a:r>
            <a:r>
              <a:rPr lang="en-US" dirty="0" err="1" smtClean="0"/>
              <a:t>shapelet</a:t>
            </a:r>
            <a:r>
              <a:rPr lang="en-US" dirty="0" smtClean="0"/>
              <a:t> is a time series subsequence that is identified as being representative of class membership. The original research in this field embedded the procedure of finding </a:t>
            </a:r>
            <a:r>
              <a:rPr lang="en-US" dirty="0" err="1" smtClean="0"/>
              <a:t>shapelets</a:t>
            </a:r>
            <a:r>
              <a:rPr lang="en-US" dirty="0" smtClean="0"/>
              <a:t> within a decision tree.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Abstract(2/2)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72072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We propose disconnecting the process of finding </a:t>
            </a:r>
            <a:r>
              <a:rPr lang="en-US" dirty="0" err="1" smtClean="0"/>
              <a:t>shapelets</a:t>
            </a:r>
            <a:r>
              <a:rPr lang="en-US" dirty="0" smtClean="0"/>
              <a:t> from the classification algorithm by proposing a </a:t>
            </a:r>
            <a:r>
              <a:rPr lang="en-US" dirty="0" err="1" smtClean="0"/>
              <a:t>shapelet</a:t>
            </a:r>
            <a:r>
              <a:rPr lang="en-US" dirty="0" smtClean="0"/>
              <a:t> transformation. We describe a means of extracting the k best </a:t>
            </a:r>
            <a:r>
              <a:rPr lang="en-US" dirty="0" err="1" smtClean="0"/>
              <a:t>shapelets</a:t>
            </a:r>
            <a:r>
              <a:rPr lang="en-US" dirty="0" smtClean="0"/>
              <a:t> from a data set in a single pass, and then use these </a:t>
            </a:r>
            <a:r>
              <a:rPr lang="en-US" dirty="0" err="1" smtClean="0"/>
              <a:t>shapelets</a:t>
            </a:r>
            <a:r>
              <a:rPr lang="en-US" dirty="0" smtClean="0"/>
              <a:t> to transform data by calculating the distances from a series to each </a:t>
            </a:r>
            <a:r>
              <a:rPr lang="en-US" dirty="0" err="1" smtClean="0"/>
              <a:t>shapelet</a:t>
            </a:r>
            <a:r>
              <a:rPr lang="en-US" dirty="0" smtClean="0"/>
              <a:t>. We demonstrate that transformation into this new data space can improve classification accuracy, whilst retaining the explanatory power provided by </a:t>
            </a:r>
            <a:r>
              <a:rPr lang="en-US" dirty="0" err="1" smtClean="0"/>
              <a:t>shapelets</a:t>
            </a:r>
            <a:r>
              <a:rPr lang="en-US" dirty="0" smtClean="0"/>
              <a:t>.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Time Series Classification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A time series is a sequence of data that is typically </a:t>
            </a:r>
            <a:r>
              <a:rPr lang="en-US" altLang="zh-TW" dirty="0" smtClean="0"/>
              <a:t>recorded in </a:t>
            </a:r>
            <a:r>
              <a:rPr lang="en-US" altLang="zh-TW" dirty="0"/>
              <a:t>temporal order at </a:t>
            </a:r>
            <a:r>
              <a:rPr lang="en-US" altLang="zh-TW" dirty="0" smtClean="0"/>
              <a:t>fixed </a:t>
            </a:r>
            <a:r>
              <a:rPr lang="en-US" altLang="zh-TW" dirty="0"/>
              <a:t>intervals of time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T = </a:t>
            </a:r>
            <a:r>
              <a:rPr lang="en-US" altLang="zh-TW" dirty="0" smtClean="0"/>
              <a:t>{ T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, T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, …, </a:t>
            </a:r>
            <a:r>
              <a:rPr lang="en-US" altLang="zh-TW" dirty="0" err="1" smtClean="0"/>
              <a:t>T</a:t>
            </a:r>
            <a:r>
              <a:rPr lang="en-US" altLang="zh-TW" baseline="-25000" dirty="0" err="1" smtClean="0"/>
              <a:t>n</a:t>
            </a:r>
            <a:r>
              <a:rPr lang="en-US" altLang="zh-TW" baseline="-25000" dirty="0" smtClean="0"/>
              <a:t> </a:t>
            </a:r>
            <a:r>
              <a:rPr lang="en-US" altLang="zh-TW" dirty="0" smtClean="0"/>
              <a:t>}</a:t>
            </a:r>
          </a:p>
          <a:p>
            <a:r>
              <a:rPr lang="en-US" altLang="zh-TW" dirty="0"/>
              <a:t>T</a:t>
            </a:r>
            <a:r>
              <a:rPr lang="en-US" altLang="zh-TW" baseline="-25000" dirty="0"/>
              <a:t>i </a:t>
            </a:r>
            <a:r>
              <a:rPr lang="en-US" altLang="zh-TW" dirty="0"/>
              <a:t>=&lt; </a:t>
            </a:r>
            <a:r>
              <a:rPr lang="en-US" altLang="zh-TW" dirty="0" smtClean="0"/>
              <a:t>t</a:t>
            </a:r>
            <a:r>
              <a:rPr lang="en-US" altLang="zh-TW" baseline="-25000" dirty="0" smtClean="0"/>
              <a:t>i1</a:t>
            </a:r>
            <a:r>
              <a:rPr lang="en-US" altLang="zh-TW" dirty="0" smtClean="0"/>
              <a:t>, t</a:t>
            </a:r>
            <a:r>
              <a:rPr lang="en-US" altLang="zh-TW" baseline="-25000" dirty="0" smtClean="0"/>
              <a:t>i2</a:t>
            </a:r>
            <a:r>
              <a:rPr lang="en-US" altLang="zh-TW" dirty="0" smtClean="0"/>
              <a:t>, …, </a:t>
            </a:r>
            <a:r>
              <a:rPr lang="en-US" altLang="zh-TW" dirty="0" err="1" smtClean="0"/>
              <a:t>t</a:t>
            </a:r>
            <a:r>
              <a:rPr lang="en-US" altLang="zh-TW" baseline="-25000" dirty="0" err="1" smtClean="0"/>
              <a:t>im</a:t>
            </a:r>
            <a:r>
              <a:rPr lang="en-US" altLang="zh-TW" dirty="0" smtClean="0"/>
              <a:t> &gt;</a:t>
            </a:r>
          </a:p>
          <a:p>
            <a:r>
              <a:rPr lang="en-US" altLang="zh-TW" dirty="0" smtClean="0"/>
              <a:t>A </a:t>
            </a:r>
            <a:r>
              <a:rPr lang="en-US" altLang="zh-TW" dirty="0"/>
              <a:t>class value </a:t>
            </a:r>
            <a:r>
              <a:rPr lang="en-US" altLang="zh-TW" dirty="0" err="1" smtClean="0"/>
              <a:t>c</a:t>
            </a:r>
            <a:r>
              <a:rPr lang="en-US" altLang="zh-TW" baseline="-25000" dirty="0" err="1" smtClean="0"/>
              <a:t>i</a:t>
            </a:r>
            <a:endParaRPr lang="en-US" altLang="zh-TW" baseline="-25000" dirty="0" smtClean="0"/>
          </a:p>
        </p:txBody>
      </p:sp>
      <p:sp>
        <p:nvSpPr>
          <p:cNvPr id="4" name="手繪多邊形 3"/>
          <p:cNvSpPr/>
          <p:nvPr/>
        </p:nvSpPr>
        <p:spPr>
          <a:xfrm>
            <a:off x="5000628" y="2786058"/>
            <a:ext cx="3600000" cy="989463"/>
          </a:xfrm>
          <a:custGeom>
            <a:avLst/>
            <a:gdLst>
              <a:gd name="connsiteX0" fmla="*/ 0 w 7560860"/>
              <a:gd name="connsiteY0" fmla="*/ 950794 h 989463"/>
              <a:gd name="connsiteX1" fmla="*/ 1009935 w 7560860"/>
              <a:gd name="connsiteY1" fmla="*/ 9098 h 989463"/>
              <a:gd name="connsiteX2" fmla="*/ 2784144 w 7560860"/>
              <a:gd name="connsiteY2" fmla="*/ 896203 h 989463"/>
              <a:gd name="connsiteX3" fmla="*/ 3357350 w 7560860"/>
              <a:gd name="connsiteY3" fmla="*/ 568656 h 989463"/>
              <a:gd name="connsiteX4" fmla="*/ 4380932 w 7560860"/>
              <a:gd name="connsiteY4" fmla="*/ 814316 h 989463"/>
              <a:gd name="connsiteX5" fmla="*/ 5991368 w 7560860"/>
              <a:gd name="connsiteY5" fmla="*/ 22746 h 989463"/>
              <a:gd name="connsiteX6" fmla="*/ 7560860 w 7560860"/>
              <a:gd name="connsiteY6" fmla="*/ 868907 h 989463"/>
              <a:gd name="connsiteX7" fmla="*/ 7560860 w 7560860"/>
              <a:gd name="connsiteY7" fmla="*/ 868907 h 989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60860" h="989463">
                <a:moveTo>
                  <a:pt x="0" y="950794"/>
                </a:moveTo>
                <a:cubicBezTo>
                  <a:pt x="272955" y="484495"/>
                  <a:pt x="545911" y="18196"/>
                  <a:pt x="1009935" y="9098"/>
                </a:cubicBezTo>
                <a:cubicBezTo>
                  <a:pt x="1473959" y="0"/>
                  <a:pt x="2392908" y="802943"/>
                  <a:pt x="2784144" y="896203"/>
                </a:cubicBezTo>
                <a:cubicBezTo>
                  <a:pt x="3175380" y="989463"/>
                  <a:pt x="3091219" y="582304"/>
                  <a:pt x="3357350" y="568656"/>
                </a:cubicBezTo>
                <a:cubicBezTo>
                  <a:pt x="3623481" y="555008"/>
                  <a:pt x="3941929" y="905301"/>
                  <a:pt x="4380932" y="814316"/>
                </a:cubicBezTo>
                <a:cubicBezTo>
                  <a:pt x="4819935" y="723331"/>
                  <a:pt x="5461380" y="13648"/>
                  <a:pt x="5991368" y="22746"/>
                </a:cubicBezTo>
                <a:cubicBezTo>
                  <a:pt x="6521356" y="31845"/>
                  <a:pt x="7560860" y="868907"/>
                  <a:pt x="7560860" y="868907"/>
                </a:cubicBezTo>
                <a:lnTo>
                  <a:pt x="7560860" y="868907"/>
                </a:lnTo>
              </a:path>
            </a:pathLst>
          </a:cu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手繪多邊形 4"/>
          <p:cNvSpPr/>
          <p:nvPr/>
        </p:nvSpPr>
        <p:spPr>
          <a:xfrm>
            <a:off x="5000628" y="3786190"/>
            <a:ext cx="3600000" cy="1057702"/>
          </a:xfrm>
          <a:custGeom>
            <a:avLst/>
            <a:gdLst>
              <a:gd name="connsiteX0" fmla="*/ 0 w 7356144"/>
              <a:gd name="connsiteY0" fmla="*/ 1048603 h 1057702"/>
              <a:gd name="connsiteX1" fmla="*/ 832514 w 7356144"/>
              <a:gd name="connsiteY1" fmla="*/ 175147 h 1057702"/>
              <a:gd name="connsiteX2" fmla="*/ 2538484 w 7356144"/>
              <a:gd name="connsiteY2" fmla="*/ 953069 h 1057702"/>
              <a:gd name="connsiteX3" fmla="*/ 3111690 w 7356144"/>
              <a:gd name="connsiteY3" fmla="*/ 802944 h 1057702"/>
              <a:gd name="connsiteX4" fmla="*/ 3289111 w 7356144"/>
              <a:gd name="connsiteY4" fmla="*/ 557284 h 1057702"/>
              <a:gd name="connsiteX5" fmla="*/ 3794078 w 7356144"/>
              <a:gd name="connsiteY5" fmla="*/ 762000 h 1057702"/>
              <a:gd name="connsiteX6" fmla="*/ 4380932 w 7356144"/>
              <a:gd name="connsiteY6" fmla="*/ 898478 h 1057702"/>
              <a:gd name="connsiteX7" fmla="*/ 5841242 w 7356144"/>
              <a:gd name="connsiteY7" fmla="*/ 25021 h 1057702"/>
              <a:gd name="connsiteX8" fmla="*/ 7356144 w 7356144"/>
              <a:gd name="connsiteY8" fmla="*/ 748353 h 1057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56144" h="1057702">
                <a:moveTo>
                  <a:pt x="0" y="1048603"/>
                </a:moveTo>
                <a:cubicBezTo>
                  <a:pt x="204716" y="619836"/>
                  <a:pt x="409433" y="191069"/>
                  <a:pt x="832514" y="175147"/>
                </a:cubicBezTo>
                <a:cubicBezTo>
                  <a:pt x="1255595" y="159225"/>
                  <a:pt x="2158621" y="848436"/>
                  <a:pt x="2538484" y="953069"/>
                </a:cubicBezTo>
                <a:cubicBezTo>
                  <a:pt x="2918347" y="1057702"/>
                  <a:pt x="2986586" y="868908"/>
                  <a:pt x="3111690" y="802944"/>
                </a:cubicBezTo>
                <a:cubicBezTo>
                  <a:pt x="3236794" y="736980"/>
                  <a:pt x="3175380" y="564108"/>
                  <a:pt x="3289111" y="557284"/>
                </a:cubicBezTo>
                <a:cubicBezTo>
                  <a:pt x="3402842" y="550460"/>
                  <a:pt x="3612108" y="705134"/>
                  <a:pt x="3794078" y="762000"/>
                </a:cubicBezTo>
                <a:cubicBezTo>
                  <a:pt x="3976048" y="818866"/>
                  <a:pt x="4039738" y="1021308"/>
                  <a:pt x="4380932" y="898478"/>
                </a:cubicBezTo>
                <a:cubicBezTo>
                  <a:pt x="4722126" y="775648"/>
                  <a:pt x="5345373" y="50042"/>
                  <a:pt x="5841242" y="25021"/>
                </a:cubicBezTo>
                <a:cubicBezTo>
                  <a:pt x="6337111" y="0"/>
                  <a:pt x="6846627" y="374176"/>
                  <a:pt x="7356144" y="748353"/>
                </a:cubicBezTo>
              </a:path>
            </a:pathLst>
          </a:cu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手繪多邊形 5"/>
          <p:cNvSpPr/>
          <p:nvPr/>
        </p:nvSpPr>
        <p:spPr>
          <a:xfrm>
            <a:off x="5000628" y="4643446"/>
            <a:ext cx="3600000" cy="1055427"/>
          </a:xfrm>
          <a:custGeom>
            <a:avLst/>
            <a:gdLst>
              <a:gd name="connsiteX0" fmla="*/ 0 w 6919415"/>
              <a:gd name="connsiteY0" fmla="*/ 1055427 h 1055427"/>
              <a:gd name="connsiteX1" fmla="*/ 750627 w 6919415"/>
              <a:gd name="connsiteY1" fmla="*/ 277504 h 1055427"/>
              <a:gd name="connsiteX2" fmla="*/ 2497540 w 6919415"/>
              <a:gd name="connsiteY2" fmla="*/ 878006 h 1055427"/>
              <a:gd name="connsiteX3" fmla="*/ 3166280 w 6919415"/>
              <a:gd name="connsiteY3" fmla="*/ 495869 h 1055427"/>
              <a:gd name="connsiteX4" fmla="*/ 3903259 w 6919415"/>
              <a:gd name="connsiteY4" fmla="*/ 714233 h 1055427"/>
              <a:gd name="connsiteX5" fmla="*/ 5554638 w 6919415"/>
              <a:gd name="connsiteY5" fmla="*/ 4549 h 1055427"/>
              <a:gd name="connsiteX6" fmla="*/ 6919415 w 6919415"/>
              <a:gd name="connsiteY6" fmla="*/ 741528 h 1055427"/>
              <a:gd name="connsiteX7" fmla="*/ 6919415 w 6919415"/>
              <a:gd name="connsiteY7" fmla="*/ 741528 h 1055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919415" h="1055427">
                <a:moveTo>
                  <a:pt x="0" y="1055427"/>
                </a:moveTo>
                <a:cubicBezTo>
                  <a:pt x="167185" y="681250"/>
                  <a:pt x="334370" y="307074"/>
                  <a:pt x="750627" y="277504"/>
                </a:cubicBezTo>
                <a:cubicBezTo>
                  <a:pt x="1166884" y="247934"/>
                  <a:pt x="2094931" y="841612"/>
                  <a:pt x="2497540" y="878006"/>
                </a:cubicBezTo>
                <a:cubicBezTo>
                  <a:pt x="2900149" y="914400"/>
                  <a:pt x="2931993" y="523165"/>
                  <a:pt x="3166280" y="495869"/>
                </a:cubicBezTo>
                <a:cubicBezTo>
                  <a:pt x="3400567" y="468573"/>
                  <a:pt x="3505199" y="796120"/>
                  <a:pt x="3903259" y="714233"/>
                </a:cubicBezTo>
                <a:cubicBezTo>
                  <a:pt x="4301319" y="632346"/>
                  <a:pt x="5051945" y="0"/>
                  <a:pt x="5554638" y="4549"/>
                </a:cubicBezTo>
                <a:cubicBezTo>
                  <a:pt x="6057331" y="9098"/>
                  <a:pt x="6919415" y="741528"/>
                  <a:pt x="6919415" y="741528"/>
                </a:cubicBezTo>
                <a:lnTo>
                  <a:pt x="6919415" y="741528"/>
                </a:lnTo>
              </a:path>
            </a:pathLst>
          </a:cu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3" name="群組 12"/>
          <p:cNvGrpSpPr/>
          <p:nvPr/>
        </p:nvGrpSpPr>
        <p:grpSpPr>
          <a:xfrm>
            <a:off x="5000628" y="5698873"/>
            <a:ext cx="3573488" cy="516209"/>
            <a:chOff x="5000628" y="5857892"/>
            <a:chExt cx="3573488" cy="516209"/>
          </a:xfrm>
        </p:grpSpPr>
        <p:cxnSp>
          <p:nvCxnSpPr>
            <p:cNvPr id="8" name="直線接點 7"/>
            <p:cNvCxnSpPr/>
            <p:nvPr/>
          </p:nvCxnSpPr>
          <p:spPr>
            <a:xfrm>
              <a:off x="5000628" y="5929330"/>
              <a:ext cx="1588" cy="44477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直線接點 8"/>
            <p:cNvCxnSpPr/>
            <p:nvPr/>
          </p:nvCxnSpPr>
          <p:spPr>
            <a:xfrm>
              <a:off x="8572528" y="5857892"/>
              <a:ext cx="1588" cy="44477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直線接點 10"/>
            <p:cNvCxnSpPr/>
            <p:nvPr/>
          </p:nvCxnSpPr>
          <p:spPr>
            <a:xfrm>
              <a:off x="5000628" y="6143644"/>
              <a:ext cx="3571900" cy="158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文字方塊 11"/>
          <p:cNvSpPr txBox="1"/>
          <p:nvPr/>
        </p:nvSpPr>
        <p:spPr>
          <a:xfrm>
            <a:off x="6500826" y="5857892"/>
            <a:ext cx="5000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/>
              <a:t>m</a:t>
            </a:r>
            <a:endParaRPr lang="zh-TW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Shapelets</a:t>
            </a:r>
            <a:r>
              <a:rPr lang="en-US" altLang="zh-TW" dirty="0" smtClean="0"/>
              <a:t>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 </a:t>
            </a:r>
            <a:r>
              <a:rPr lang="en-US" dirty="0" err="1" smtClean="0"/>
              <a:t>shapelet</a:t>
            </a:r>
            <a:r>
              <a:rPr lang="en-US" dirty="0" smtClean="0"/>
              <a:t> is a time series subsequence that is identified as being representative of class membership</a:t>
            </a:r>
            <a:endParaRPr lang="zh-TW" altLang="en-US" dirty="0"/>
          </a:p>
        </p:txBody>
      </p:sp>
      <p:pic>
        <p:nvPicPr>
          <p:cNvPr id="4" name="圖片 3" descr="shapelet-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662" y="3357562"/>
            <a:ext cx="3824034" cy="2500330"/>
          </a:xfrm>
          <a:prstGeom prst="rect">
            <a:avLst/>
          </a:prstGeom>
        </p:spPr>
      </p:pic>
      <p:pic>
        <p:nvPicPr>
          <p:cNvPr id="5" name="圖片 4" descr="shapelet-fi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5835" y="3357562"/>
            <a:ext cx="3258065" cy="24288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Shapelets</a:t>
            </a:r>
            <a:r>
              <a:rPr lang="en-US" altLang="zh-TW" dirty="0" smtClean="0"/>
              <a:t>(2/2)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lnSpcReduction="10000"/>
          </a:bodyPr>
          <a:lstStyle/>
          <a:p>
            <a:r>
              <a:rPr lang="en-US" altLang="zh-TW" dirty="0"/>
              <a:t>A subsequence </a:t>
            </a:r>
            <a:r>
              <a:rPr lang="en-US" altLang="zh-TW" dirty="0" smtClean="0"/>
              <a:t>S ,length = l</a:t>
            </a:r>
          </a:p>
          <a:p>
            <a:r>
              <a:rPr lang="en-US" altLang="zh-TW" dirty="0" smtClean="0"/>
              <a:t>A</a:t>
            </a:r>
            <a:r>
              <a:rPr lang="en-US" altLang="zh-TW" dirty="0"/>
              <a:t> time series T </a:t>
            </a:r>
            <a:r>
              <a:rPr lang="en-US" altLang="zh-TW" dirty="0" smtClean="0"/>
              <a:t>, </a:t>
            </a:r>
            <a:r>
              <a:rPr lang="en-US" altLang="zh-TW" dirty="0"/>
              <a:t>length </a:t>
            </a:r>
            <a:r>
              <a:rPr lang="en-US" altLang="zh-TW" dirty="0" smtClean="0"/>
              <a:t>= m</a:t>
            </a:r>
          </a:p>
          <a:p>
            <a:r>
              <a:rPr lang="en-US" altLang="zh-TW" dirty="0" err="1" smtClean="0"/>
              <a:t>W</a:t>
            </a:r>
            <a:r>
              <a:rPr lang="en-US" altLang="zh-TW" baseline="-25000" dirty="0" err="1" smtClean="0"/>
              <a:t>i,l</a:t>
            </a:r>
            <a:r>
              <a:rPr lang="en-US" altLang="zh-TW" dirty="0"/>
              <a:t> </a:t>
            </a:r>
            <a:r>
              <a:rPr lang="en-US" altLang="zh-TW" dirty="0" smtClean="0"/>
              <a:t>:The </a:t>
            </a:r>
            <a:r>
              <a:rPr lang="en-US" altLang="zh-TW" dirty="0"/>
              <a:t>set of all subsequences of </a:t>
            </a:r>
            <a:r>
              <a:rPr lang="en-US" altLang="zh-TW" dirty="0" smtClean="0"/>
              <a:t>length l </a:t>
            </a:r>
            <a:r>
              <a:rPr lang="en-US" altLang="zh-TW" dirty="0"/>
              <a:t>for series </a:t>
            </a:r>
            <a:r>
              <a:rPr lang="en-US" altLang="zh-TW" dirty="0" smtClean="0"/>
              <a:t>T</a:t>
            </a:r>
            <a:r>
              <a:rPr lang="en-US" altLang="zh-TW" baseline="-25000" dirty="0" smtClean="0"/>
              <a:t>i</a:t>
            </a:r>
          </a:p>
          <a:p>
            <a:r>
              <a:rPr lang="en-US" altLang="zh-TW" dirty="0" err="1"/>
              <a:t>W</a:t>
            </a:r>
            <a:r>
              <a:rPr lang="en-US" altLang="zh-TW" baseline="-25000" dirty="0" err="1"/>
              <a:t>l</a:t>
            </a:r>
            <a:r>
              <a:rPr lang="en-US" altLang="zh-TW" dirty="0"/>
              <a:t> </a:t>
            </a:r>
            <a:r>
              <a:rPr lang="en-US" altLang="zh-TW" dirty="0" smtClean="0"/>
              <a:t>: The set of all subsequences of length l for data set T</a:t>
            </a:r>
          </a:p>
          <a:p>
            <a:pPr>
              <a:buNone/>
            </a:pPr>
            <a:r>
              <a:rPr lang="en-US" altLang="zh-TW" dirty="0" smtClean="0"/>
              <a:t>		</a:t>
            </a:r>
            <a:r>
              <a:rPr lang="en-US" altLang="zh-TW" dirty="0" err="1" smtClean="0"/>
              <a:t>W</a:t>
            </a:r>
            <a:r>
              <a:rPr lang="en-US" altLang="zh-TW" baseline="-25000" dirty="0" err="1" smtClean="0"/>
              <a:t>l</a:t>
            </a:r>
            <a:r>
              <a:rPr lang="en-US" altLang="zh-TW" baseline="-25000" dirty="0" smtClean="0"/>
              <a:t> </a:t>
            </a:r>
            <a:r>
              <a:rPr lang="en-US" altLang="zh-TW" dirty="0" smtClean="0"/>
              <a:t>= {W</a:t>
            </a:r>
            <a:r>
              <a:rPr lang="en-US" altLang="zh-TW" baseline="-25000" dirty="0" smtClean="0"/>
              <a:t>1,l</a:t>
            </a:r>
            <a:r>
              <a:rPr lang="en-US" altLang="zh-TW" dirty="0" smtClean="0"/>
              <a:t>, W</a:t>
            </a:r>
            <a:r>
              <a:rPr lang="en-US" altLang="zh-TW" baseline="-25000" dirty="0"/>
              <a:t>2</a:t>
            </a:r>
            <a:r>
              <a:rPr lang="en-US" altLang="zh-TW" baseline="-25000" dirty="0" smtClean="0"/>
              <a:t>,l</a:t>
            </a:r>
            <a:r>
              <a:rPr lang="en-US" altLang="zh-TW" dirty="0" smtClean="0"/>
              <a:t>,…..,</a:t>
            </a:r>
            <a:r>
              <a:rPr lang="en-US" altLang="zh-TW" dirty="0"/>
              <a:t> </a:t>
            </a:r>
            <a:r>
              <a:rPr lang="en-US" altLang="zh-TW" dirty="0" err="1" smtClean="0"/>
              <a:t>W</a:t>
            </a:r>
            <a:r>
              <a:rPr lang="en-US" altLang="zh-TW" baseline="-25000" dirty="0" err="1"/>
              <a:t>n</a:t>
            </a:r>
            <a:r>
              <a:rPr lang="en-US" altLang="zh-TW" baseline="-25000" dirty="0" err="1" smtClean="0"/>
              <a:t>,l</a:t>
            </a:r>
            <a:r>
              <a:rPr lang="en-US" altLang="zh-TW" dirty="0" smtClean="0"/>
              <a:t> }</a:t>
            </a:r>
          </a:p>
          <a:p>
            <a:r>
              <a:rPr lang="en-US" altLang="zh-TW" dirty="0" smtClean="0"/>
              <a:t>W :</a:t>
            </a:r>
            <a:r>
              <a:rPr lang="en-US" altLang="zh-TW" dirty="0"/>
              <a:t> The set of all candidate </a:t>
            </a:r>
            <a:r>
              <a:rPr lang="en-US" altLang="zh-TW" dirty="0" err="1"/>
              <a:t>shapelets</a:t>
            </a:r>
            <a:r>
              <a:rPr lang="en-US" altLang="zh-TW" dirty="0"/>
              <a:t> for data set </a:t>
            </a:r>
            <a:r>
              <a:rPr lang="en-US" altLang="zh-TW" dirty="0" smtClean="0"/>
              <a:t>T</a:t>
            </a:r>
          </a:p>
          <a:p>
            <a:pPr lvl="2">
              <a:buNone/>
            </a:pPr>
            <a:r>
              <a:rPr lang="en-US" altLang="zh-TW" sz="3200" dirty="0" smtClean="0"/>
              <a:t>W = {W</a:t>
            </a:r>
            <a:r>
              <a:rPr lang="en-US" altLang="zh-TW" sz="3200" baseline="-25000" dirty="0" smtClean="0"/>
              <a:t>min</a:t>
            </a:r>
            <a:r>
              <a:rPr lang="en-US" altLang="zh-TW" sz="3200" dirty="0" smtClean="0"/>
              <a:t>,W</a:t>
            </a:r>
            <a:r>
              <a:rPr lang="en-US" altLang="zh-TW" sz="3200" baseline="-25000" dirty="0" smtClean="0"/>
              <a:t>min+1</a:t>
            </a:r>
            <a:r>
              <a:rPr lang="en-US" altLang="zh-TW" sz="3200" dirty="0" smtClean="0"/>
              <a:t>,…,</a:t>
            </a:r>
            <a:r>
              <a:rPr lang="en-US" altLang="zh-TW" sz="3200" dirty="0" err="1" smtClean="0"/>
              <a:t>W</a:t>
            </a:r>
            <a:r>
              <a:rPr lang="en-US" altLang="zh-TW" sz="3200" baseline="-25000" dirty="0" err="1" smtClean="0"/>
              <a:t>max</a:t>
            </a:r>
            <a:r>
              <a:rPr lang="en-US" altLang="zh-TW" sz="3200" dirty="0" smtClean="0"/>
              <a:t>}</a:t>
            </a:r>
            <a:endParaRPr lang="zh-TW" altLang="en-US" sz="3200" baseline="-25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Measuring Distances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dist(S,R) = Ʃ(</a:t>
            </a:r>
            <a:r>
              <a:rPr lang="en-US" altLang="zh-TW" dirty="0" err="1" smtClean="0"/>
              <a:t>s</a:t>
            </a:r>
            <a:r>
              <a:rPr lang="en-US" altLang="zh-TW" baseline="-25000" dirty="0" err="1" smtClean="0"/>
              <a:t>i</a:t>
            </a:r>
            <a:r>
              <a:rPr lang="en-US" altLang="zh-TW" dirty="0" err="1" smtClean="0"/>
              <a:t>,r</a:t>
            </a:r>
            <a:r>
              <a:rPr lang="en-US" altLang="zh-TW" baseline="-25000" dirty="0" err="1" smtClean="0"/>
              <a:t>i</a:t>
            </a:r>
            <a:r>
              <a:rPr lang="en-US" altLang="zh-TW" dirty="0" smtClean="0"/>
              <a:t>)</a:t>
            </a:r>
            <a:r>
              <a:rPr lang="en-US" altLang="zh-TW" baseline="30000" dirty="0" smtClean="0"/>
              <a:t>2</a:t>
            </a:r>
          </a:p>
          <a:p>
            <a:r>
              <a:rPr lang="en-US" altLang="zh-TW" dirty="0" smtClean="0"/>
              <a:t>D</a:t>
            </a:r>
            <a:r>
              <a:rPr lang="en-US" altLang="zh-TW" baseline="-25000" dirty="0" smtClean="0"/>
              <a:t>S</a:t>
            </a:r>
            <a:r>
              <a:rPr lang="en-US" altLang="zh-TW" dirty="0" smtClean="0"/>
              <a:t> =&lt; d</a:t>
            </a:r>
            <a:r>
              <a:rPr lang="en-US" altLang="zh-TW" baseline="-25000" dirty="0" smtClean="0"/>
              <a:t>1,S</a:t>
            </a:r>
            <a:r>
              <a:rPr lang="en-US" altLang="zh-TW" dirty="0" smtClean="0"/>
              <a:t>, d</a:t>
            </a:r>
            <a:r>
              <a:rPr lang="en-US" altLang="zh-TW" baseline="-25000" dirty="0" smtClean="0"/>
              <a:t>2,S</a:t>
            </a:r>
            <a:r>
              <a:rPr lang="en-US" altLang="zh-TW" dirty="0" smtClean="0"/>
              <a:t>,…, </a:t>
            </a:r>
            <a:r>
              <a:rPr lang="en-US" altLang="zh-TW" dirty="0" err="1" smtClean="0"/>
              <a:t>d</a:t>
            </a:r>
            <a:r>
              <a:rPr lang="en-US" altLang="zh-TW" baseline="-25000" dirty="0" err="1" smtClean="0"/>
              <a:t>n,s</a:t>
            </a:r>
            <a:r>
              <a:rPr lang="en-US" altLang="zh-TW" dirty="0" smtClean="0"/>
              <a:t> &gt;</a:t>
            </a:r>
          </a:p>
          <a:p>
            <a:endParaRPr lang="en-US" altLang="zh-TW" baseline="30000" dirty="0" smtClean="0"/>
          </a:p>
          <a:p>
            <a:endParaRPr lang="en-US" altLang="zh-TW" baseline="30000" dirty="0" smtClean="0"/>
          </a:p>
          <a:p>
            <a:endParaRPr lang="en-US" altLang="zh-TW" baseline="30000" dirty="0"/>
          </a:p>
        </p:txBody>
      </p:sp>
      <p:sp>
        <p:nvSpPr>
          <p:cNvPr id="4" name="文字方塊 3"/>
          <p:cNvSpPr txBox="1"/>
          <p:nvPr/>
        </p:nvSpPr>
        <p:spPr>
          <a:xfrm>
            <a:off x="2500298" y="2000240"/>
            <a:ext cx="470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i</a:t>
            </a:r>
            <a:r>
              <a:rPr lang="en-US" altLang="zh-TW" dirty="0" smtClean="0"/>
              <a:t>=1</a:t>
            </a:r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2571736" y="1488032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mtClean="0"/>
              <a:t>l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2844" y="274638"/>
            <a:ext cx="8858312" cy="1143000"/>
          </a:xfrm>
        </p:spPr>
        <p:txBody>
          <a:bodyPr>
            <a:noAutofit/>
          </a:bodyPr>
          <a:lstStyle/>
          <a:p>
            <a:r>
              <a:rPr lang="en-US" altLang="zh-TW" sz="4000" dirty="0" smtClean="0"/>
              <a:t>The generic </a:t>
            </a:r>
            <a:r>
              <a:rPr lang="en-US" altLang="zh-TW" sz="4000" dirty="0" err="1" smtClean="0"/>
              <a:t>shapelet</a:t>
            </a:r>
            <a:r>
              <a:rPr lang="en-US" altLang="zh-TW" sz="4000" dirty="0" smtClean="0"/>
              <a:t> finding</a:t>
            </a:r>
            <a:br>
              <a:rPr lang="en-US" altLang="zh-TW" sz="4000" dirty="0" smtClean="0"/>
            </a:br>
            <a:r>
              <a:rPr lang="en-US" altLang="zh-TW" sz="4000" dirty="0" smtClean="0"/>
              <a:t>algorithm</a:t>
            </a:r>
            <a:endParaRPr lang="zh-TW" altLang="en-US" sz="40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" name="圖片 3" descr="ALG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14" y="1500174"/>
            <a:ext cx="7000924" cy="535782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Shapelet</a:t>
            </a:r>
            <a:r>
              <a:rPr lang="en-US" altLang="zh-TW" dirty="0" smtClean="0"/>
              <a:t> Generation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 smtClean="0"/>
              <a:t>Step1. Store all candidates for a given time series along with their associated quality measures</a:t>
            </a:r>
          </a:p>
          <a:p>
            <a:r>
              <a:rPr lang="en-US" altLang="zh-TW" sz="2800" dirty="0" smtClean="0"/>
              <a:t>Step2. Sort all candidates of a series in order of fitness</a:t>
            </a:r>
          </a:p>
          <a:p>
            <a:r>
              <a:rPr lang="en-US" altLang="zh-TW" sz="2800" dirty="0" smtClean="0"/>
              <a:t>Step3.Remove self-similar </a:t>
            </a:r>
            <a:r>
              <a:rPr lang="en-US" altLang="zh-TW" sz="2800" dirty="0" err="1" smtClean="0"/>
              <a:t>shapelets</a:t>
            </a:r>
            <a:endParaRPr lang="en-US" altLang="zh-TW" sz="2800" dirty="0" smtClean="0"/>
          </a:p>
          <a:p>
            <a:r>
              <a:rPr lang="en-US" altLang="zh-TW" sz="2800" dirty="0" smtClean="0"/>
              <a:t>Step4.Merge current best </a:t>
            </a:r>
            <a:r>
              <a:rPr lang="en-US" altLang="zh-TW" sz="2800" dirty="0" err="1" smtClean="0"/>
              <a:t>shapelets</a:t>
            </a:r>
            <a:r>
              <a:rPr lang="en-US" altLang="zh-TW" sz="2800" dirty="0" smtClean="0"/>
              <a:t> and retain the top k</a:t>
            </a:r>
            <a:endParaRPr lang="zh-TW" altLang="en-US" sz="2800" dirty="0"/>
          </a:p>
        </p:txBody>
      </p:sp>
      <p:cxnSp>
        <p:nvCxnSpPr>
          <p:cNvPr id="9" name="直線接點 8"/>
          <p:cNvCxnSpPr/>
          <p:nvPr/>
        </p:nvCxnSpPr>
        <p:spPr>
          <a:xfrm rot="10800000">
            <a:off x="142844" y="4286256"/>
            <a:ext cx="285752" cy="1588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 rot="5400000" flipH="1" flipV="1">
            <a:off x="-1072396" y="3071810"/>
            <a:ext cx="2429686" cy="794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/>
          <p:nvPr/>
        </p:nvCxnSpPr>
        <p:spPr>
          <a:xfrm>
            <a:off x="142844" y="1857364"/>
            <a:ext cx="35719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Shapelet</a:t>
            </a:r>
            <a:r>
              <a:rPr lang="en-US" altLang="zh-TW" dirty="0" smtClean="0"/>
              <a:t> Generation Algorithm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zh-TW" altLang="en-US" dirty="0"/>
          </a:p>
        </p:txBody>
      </p:sp>
      <p:pic>
        <p:nvPicPr>
          <p:cNvPr id="4" name="圖片 3" descr="ALG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14" y="1214422"/>
            <a:ext cx="6715172" cy="542926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Data Transformation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zh-TW" altLang="en-US" dirty="0"/>
          </a:p>
        </p:txBody>
      </p:sp>
      <p:pic>
        <p:nvPicPr>
          <p:cNvPr id="4" name="圖片 3" descr="AL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32" y="1285860"/>
            <a:ext cx="5500726" cy="52149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Shapelet</a:t>
            </a:r>
            <a:r>
              <a:rPr lang="en-US" altLang="zh-TW" dirty="0" smtClean="0"/>
              <a:t> Selection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2 strategies for selecting the number of </a:t>
            </a:r>
            <a:r>
              <a:rPr lang="en-US" altLang="zh-TW" dirty="0" err="1" smtClean="0"/>
              <a:t>shapelets</a:t>
            </a:r>
            <a:r>
              <a:rPr lang="en-US" altLang="zh-TW" dirty="0" smtClean="0"/>
              <a:t>:</a:t>
            </a:r>
          </a:p>
          <a:p>
            <a:pPr lvl="1"/>
            <a:r>
              <a:rPr lang="en-US" altLang="zh-TW" dirty="0" smtClean="0"/>
              <a:t>Use n/2 </a:t>
            </a:r>
            <a:r>
              <a:rPr lang="en-US" altLang="zh-TW" dirty="0" err="1" smtClean="0"/>
              <a:t>shapelets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Selects the number of </a:t>
            </a:r>
            <a:r>
              <a:rPr lang="en-US" altLang="zh-TW" dirty="0" err="1" smtClean="0"/>
              <a:t>shapelets</a:t>
            </a:r>
            <a:r>
              <a:rPr lang="en-US" altLang="zh-TW" dirty="0" smtClean="0"/>
              <a:t> to use based on the results of a 5-fold cross-validation experiment</a:t>
            </a: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5-Fold Cross-Validation Experiment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 smtClean="0"/>
              <a:t>Step1. Partition the training data into 5 equal parts</a:t>
            </a:r>
          </a:p>
          <a:p>
            <a:r>
              <a:rPr lang="en-US" altLang="zh-TW" sz="2800" dirty="0" smtClean="0"/>
              <a:t>Step2. Use the data as a testing set and combine the four other folds to form a set of training data</a:t>
            </a:r>
          </a:p>
          <a:p>
            <a:r>
              <a:rPr lang="en-US" altLang="zh-TW" sz="2800" dirty="0" smtClean="0"/>
              <a:t>Step3. Pass the training data into filtering algorithm and produce n </a:t>
            </a:r>
            <a:r>
              <a:rPr lang="en-US" altLang="zh-TW" sz="2800" dirty="0" err="1" smtClean="0"/>
              <a:t>shapelets</a:t>
            </a:r>
            <a:endParaRPr lang="en-US" altLang="zh-TW" sz="2800" dirty="0" smtClean="0"/>
          </a:p>
          <a:p>
            <a:r>
              <a:rPr lang="en-US" altLang="zh-TW" sz="2800" dirty="0" smtClean="0"/>
              <a:t>Step4. Create n different sets of transformed training data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and transformed testing data</a:t>
            </a:r>
          </a:p>
          <a:p>
            <a:pPr>
              <a:buNone/>
            </a:pPr>
            <a:endParaRPr lang="en-US" altLang="zh-TW" sz="2800" dirty="0" smtClean="0"/>
          </a:p>
        </p:txBody>
      </p:sp>
      <p:sp>
        <p:nvSpPr>
          <p:cNvPr id="4" name="橢圓 3"/>
          <p:cNvSpPr/>
          <p:nvPr/>
        </p:nvSpPr>
        <p:spPr>
          <a:xfrm>
            <a:off x="457200" y="5157192"/>
            <a:ext cx="370384" cy="36004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/>
          <p:cNvSpPr/>
          <p:nvPr/>
        </p:nvSpPr>
        <p:spPr>
          <a:xfrm>
            <a:off x="1060132" y="6245499"/>
            <a:ext cx="370384" cy="36004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橢圓 5"/>
          <p:cNvSpPr/>
          <p:nvPr/>
        </p:nvSpPr>
        <p:spPr>
          <a:xfrm>
            <a:off x="1060132" y="4986375"/>
            <a:ext cx="370384" cy="36004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/>
          <p:cNvSpPr/>
          <p:nvPr/>
        </p:nvSpPr>
        <p:spPr>
          <a:xfrm>
            <a:off x="1060132" y="5825791"/>
            <a:ext cx="370384" cy="36004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1060132" y="5406083"/>
            <a:ext cx="370384" cy="36004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179512" y="4869160"/>
            <a:ext cx="1944216" cy="1944216"/>
          </a:xfrm>
          <a:prstGeom prst="ellipse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向右箭號 10"/>
          <p:cNvSpPr/>
          <p:nvPr/>
        </p:nvSpPr>
        <p:spPr>
          <a:xfrm>
            <a:off x="2195736" y="5661248"/>
            <a:ext cx="648072" cy="164543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3464848" y="5373217"/>
            <a:ext cx="370384" cy="36004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>
            <a:off x="3284118" y="5861795"/>
            <a:ext cx="919580" cy="64807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2915816" y="4941168"/>
            <a:ext cx="1512168" cy="1944216"/>
          </a:xfrm>
          <a:prstGeom prst="ellipse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向右箭號 14"/>
          <p:cNvSpPr/>
          <p:nvPr/>
        </p:nvSpPr>
        <p:spPr>
          <a:xfrm>
            <a:off x="4499992" y="5661248"/>
            <a:ext cx="648072" cy="164543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/>
          <p:cNvSpPr txBox="1"/>
          <p:nvPr/>
        </p:nvSpPr>
        <p:spPr>
          <a:xfrm>
            <a:off x="5148064" y="5530647"/>
            <a:ext cx="1252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n </a:t>
            </a:r>
            <a:r>
              <a:rPr lang="en-US" altLang="zh-TW" dirty="0" err="1"/>
              <a:t>shapelets</a:t>
            </a:r>
            <a:endParaRPr lang="zh-TW" altLang="en-US" dirty="0"/>
          </a:p>
        </p:txBody>
      </p:sp>
      <p:sp>
        <p:nvSpPr>
          <p:cNvPr id="19" name="向右箭號 18"/>
          <p:cNvSpPr/>
          <p:nvPr/>
        </p:nvSpPr>
        <p:spPr>
          <a:xfrm>
            <a:off x="6407287" y="5633041"/>
            <a:ext cx="648072" cy="164543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橢圓 19"/>
          <p:cNvSpPr/>
          <p:nvPr/>
        </p:nvSpPr>
        <p:spPr>
          <a:xfrm>
            <a:off x="7061159" y="5046043"/>
            <a:ext cx="175137" cy="111149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橢圓 20"/>
          <p:cNvSpPr/>
          <p:nvPr/>
        </p:nvSpPr>
        <p:spPr>
          <a:xfrm>
            <a:off x="7349191" y="5046043"/>
            <a:ext cx="175137" cy="111149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橢圓 21"/>
          <p:cNvSpPr/>
          <p:nvPr/>
        </p:nvSpPr>
        <p:spPr>
          <a:xfrm>
            <a:off x="7205175" y="5229200"/>
            <a:ext cx="175137" cy="111149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橢圓 22"/>
          <p:cNvSpPr/>
          <p:nvPr/>
        </p:nvSpPr>
        <p:spPr>
          <a:xfrm>
            <a:off x="7452320" y="5229200"/>
            <a:ext cx="175137" cy="111149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橢圓 23"/>
          <p:cNvSpPr/>
          <p:nvPr/>
        </p:nvSpPr>
        <p:spPr>
          <a:xfrm>
            <a:off x="7637223" y="5046043"/>
            <a:ext cx="175137" cy="11114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橢圓 24"/>
          <p:cNvSpPr/>
          <p:nvPr/>
        </p:nvSpPr>
        <p:spPr>
          <a:xfrm>
            <a:off x="7709231" y="5262067"/>
            <a:ext cx="175137" cy="111149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橢圓 25"/>
          <p:cNvSpPr/>
          <p:nvPr/>
        </p:nvSpPr>
        <p:spPr>
          <a:xfrm>
            <a:off x="7213559" y="4869160"/>
            <a:ext cx="175137" cy="111149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橢圓 26"/>
          <p:cNvSpPr/>
          <p:nvPr/>
        </p:nvSpPr>
        <p:spPr>
          <a:xfrm>
            <a:off x="7493207" y="4830019"/>
            <a:ext cx="175137" cy="111149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橢圓 27"/>
          <p:cNvSpPr/>
          <p:nvPr/>
        </p:nvSpPr>
        <p:spPr>
          <a:xfrm>
            <a:off x="6876256" y="4869160"/>
            <a:ext cx="175137" cy="111149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橢圓 28"/>
          <p:cNvSpPr/>
          <p:nvPr/>
        </p:nvSpPr>
        <p:spPr>
          <a:xfrm>
            <a:off x="7122823" y="5681775"/>
            <a:ext cx="265873" cy="21820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橢圓 29"/>
          <p:cNvSpPr/>
          <p:nvPr/>
        </p:nvSpPr>
        <p:spPr>
          <a:xfrm>
            <a:off x="7474479" y="5731076"/>
            <a:ext cx="265873" cy="21820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橢圓 30"/>
          <p:cNvSpPr/>
          <p:nvPr/>
        </p:nvSpPr>
        <p:spPr>
          <a:xfrm>
            <a:off x="7164288" y="6021288"/>
            <a:ext cx="265873" cy="218204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橢圓 31"/>
          <p:cNvSpPr/>
          <p:nvPr/>
        </p:nvSpPr>
        <p:spPr>
          <a:xfrm>
            <a:off x="7236296" y="6309320"/>
            <a:ext cx="265873" cy="218204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橢圓 32"/>
          <p:cNvSpPr/>
          <p:nvPr/>
        </p:nvSpPr>
        <p:spPr>
          <a:xfrm>
            <a:off x="7546487" y="6019108"/>
            <a:ext cx="265873" cy="218204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橢圓 33"/>
          <p:cNvSpPr/>
          <p:nvPr/>
        </p:nvSpPr>
        <p:spPr>
          <a:xfrm>
            <a:off x="7524328" y="6309320"/>
            <a:ext cx="265873" cy="21820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橢圓 34"/>
          <p:cNvSpPr/>
          <p:nvPr/>
        </p:nvSpPr>
        <p:spPr>
          <a:xfrm>
            <a:off x="7834519" y="5733256"/>
            <a:ext cx="265873" cy="218204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橢圓 35"/>
          <p:cNvSpPr/>
          <p:nvPr/>
        </p:nvSpPr>
        <p:spPr>
          <a:xfrm>
            <a:off x="7906527" y="6021288"/>
            <a:ext cx="265873" cy="218204"/>
          </a:xfrm>
          <a:prstGeom prst="ellipse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橢圓 36"/>
          <p:cNvSpPr/>
          <p:nvPr/>
        </p:nvSpPr>
        <p:spPr>
          <a:xfrm>
            <a:off x="7906527" y="6379148"/>
            <a:ext cx="265873" cy="21820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Experimental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26 data sets:</a:t>
            </a:r>
          </a:p>
          <a:p>
            <a:pPr lvl="1"/>
            <a:r>
              <a:rPr lang="en-US" altLang="zh-TW" dirty="0" smtClean="0"/>
              <a:t>18 data sets from the UCR time </a:t>
            </a:r>
          </a:p>
          <a:p>
            <a:pPr lvl="1">
              <a:buNone/>
            </a:pPr>
            <a:r>
              <a:rPr lang="en-US" altLang="zh-TW" dirty="0" smtClean="0"/>
              <a:t>	series repository</a:t>
            </a:r>
          </a:p>
          <a:p>
            <a:pPr lvl="1"/>
            <a:r>
              <a:rPr lang="en-US" altLang="zh-TW" dirty="0" smtClean="0"/>
              <a:t>8 data sets from hand </a:t>
            </a:r>
            <a:r>
              <a:rPr lang="en-US" altLang="zh-TW" dirty="0" smtClean="0"/>
              <a:t>x-rays</a:t>
            </a:r>
          </a:p>
          <a:p>
            <a:pPr lvl="2"/>
            <a:r>
              <a:rPr lang="en-US" altLang="zh-TW" dirty="0" smtClean="0"/>
              <a:t>845Testing</a:t>
            </a:r>
          </a:p>
          <a:p>
            <a:pPr lvl="2"/>
            <a:r>
              <a:rPr lang="en-US" altLang="zh-TW" dirty="0" smtClean="0"/>
              <a:t>200Training</a:t>
            </a:r>
            <a:endParaRPr lang="zh-TW" altLang="en-US" dirty="0"/>
          </a:p>
        </p:txBody>
      </p:sp>
      <p:pic>
        <p:nvPicPr>
          <p:cNvPr id="11" name="圖片 10" descr="擷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12" y="1214421"/>
            <a:ext cx="2786050" cy="5643579"/>
          </a:xfrm>
          <a:prstGeom prst="rect">
            <a:avLst/>
          </a:prstGeom>
        </p:spPr>
      </p:pic>
      <p:pic>
        <p:nvPicPr>
          <p:cNvPr id="12" name="圖片 11" descr="擷取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5534" y="3714752"/>
            <a:ext cx="2357454" cy="314324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Results(1/5)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214422"/>
            <a:ext cx="8229600" cy="4911741"/>
          </a:xfrm>
        </p:spPr>
        <p:txBody>
          <a:bodyPr>
            <a:normAutofit/>
          </a:bodyPr>
          <a:lstStyle/>
          <a:p>
            <a:r>
              <a:rPr lang="en-US" altLang="zh-TW" sz="2800" dirty="0" err="1" smtClean="0"/>
              <a:t>Shapelet</a:t>
            </a:r>
            <a:endParaRPr lang="en-US" altLang="zh-TW" sz="2800" dirty="0" smtClean="0"/>
          </a:p>
          <a:p>
            <a:pPr lvl="1"/>
            <a:r>
              <a:rPr lang="en-US" altLang="zh-TW" dirty="0" err="1" smtClean="0"/>
              <a:t>Shapelet</a:t>
            </a:r>
            <a:r>
              <a:rPr lang="en-US" altLang="zh-TW" dirty="0" smtClean="0"/>
              <a:t> decision tree </a:t>
            </a:r>
            <a:r>
              <a:rPr lang="en-US" altLang="zh-TW" dirty="0" err="1" smtClean="0"/>
              <a:t>Classication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C4.5 decision tree </a:t>
            </a:r>
            <a:r>
              <a:rPr lang="en-US" altLang="zh-TW" dirty="0" err="1" smtClean="0"/>
              <a:t>classication</a:t>
            </a:r>
            <a:endParaRPr lang="zh-TW" altLang="en-US" dirty="0"/>
          </a:p>
        </p:txBody>
      </p:sp>
      <p:pic>
        <p:nvPicPr>
          <p:cNvPr id="4" name="圖片 3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48" y="2714620"/>
            <a:ext cx="7786742" cy="4143380"/>
          </a:xfrm>
          <a:prstGeom prst="rect">
            <a:avLst/>
          </a:prstGeom>
        </p:spPr>
      </p:pic>
      <p:sp>
        <p:nvSpPr>
          <p:cNvPr id="16" name="文字方塊 15"/>
          <p:cNvSpPr txBox="1"/>
          <p:nvPr/>
        </p:nvSpPr>
        <p:spPr>
          <a:xfrm>
            <a:off x="2643174" y="5500702"/>
            <a:ext cx="4344331" cy="95410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TW" sz="2800" dirty="0" err="1" smtClean="0">
                <a:solidFill>
                  <a:srgbClr val="FF0000"/>
                </a:solidFill>
              </a:rPr>
              <a:t>Shapelet</a:t>
            </a:r>
            <a:r>
              <a:rPr lang="en-US" altLang="zh-TW" sz="2800" dirty="0" smtClean="0">
                <a:solidFill>
                  <a:srgbClr val="FF0000"/>
                </a:solidFill>
              </a:rPr>
              <a:t> tree classication:13</a:t>
            </a:r>
          </a:p>
          <a:p>
            <a:r>
              <a:rPr lang="en-US" altLang="zh-TW" sz="2800" dirty="0" smtClean="0">
                <a:solidFill>
                  <a:srgbClr val="FF0000"/>
                </a:solidFill>
              </a:rPr>
              <a:t>C4.5 classication:12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Results(2/5)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3000" dirty="0" err="1" smtClean="0"/>
              <a:t>Shapelet</a:t>
            </a:r>
            <a:r>
              <a:rPr lang="en-US" altLang="zh-TW" sz="3000" dirty="0" smtClean="0"/>
              <a:t> selection</a:t>
            </a:r>
          </a:p>
          <a:p>
            <a:pPr lvl="1"/>
            <a:r>
              <a:rPr lang="en-US" altLang="zh-TW" sz="2600" dirty="0" smtClean="0"/>
              <a:t>Information Gain: </a:t>
            </a:r>
          </a:p>
          <a:p>
            <a:pPr lvl="1"/>
            <a:r>
              <a:rPr lang="en-US" altLang="zh-TW" sz="2600" dirty="0" smtClean="0"/>
              <a:t>F-Statistic</a:t>
            </a:r>
            <a:endParaRPr lang="zh-TW" altLang="en-US" sz="2600" dirty="0"/>
          </a:p>
        </p:txBody>
      </p:sp>
      <p:pic>
        <p:nvPicPr>
          <p:cNvPr id="4" name="圖片 3" descr="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9058" y="2123414"/>
            <a:ext cx="4982271" cy="47345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28596" y="214290"/>
            <a:ext cx="8229600" cy="4525963"/>
          </a:xfrm>
        </p:spPr>
        <p:txBody>
          <a:bodyPr>
            <a:normAutofit/>
          </a:bodyPr>
          <a:lstStyle/>
          <a:p>
            <a:r>
              <a:rPr lang="en-US" altLang="zh-TW" sz="2800" dirty="0" smtClean="0"/>
              <a:t>The build time for the </a:t>
            </a:r>
            <a:r>
              <a:rPr lang="en-US" altLang="zh-TW" sz="2800" dirty="0" err="1" smtClean="0"/>
              <a:t>shapelet</a:t>
            </a:r>
            <a:r>
              <a:rPr lang="en-US" altLang="zh-TW" sz="2800" dirty="0" smtClean="0"/>
              <a:t> tree</a:t>
            </a:r>
          </a:p>
          <a:p>
            <a:pPr lvl="1"/>
            <a:r>
              <a:rPr lang="en-US" altLang="zh-TW" sz="2400" dirty="0" smtClean="0"/>
              <a:t>The information gain </a:t>
            </a:r>
            <a:r>
              <a:rPr lang="en-US" altLang="zh-TW" sz="2400" dirty="0" err="1" smtClean="0"/>
              <a:t>shapelet</a:t>
            </a:r>
            <a:r>
              <a:rPr lang="en-US" altLang="zh-TW" sz="2400" dirty="0" smtClean="0"/>
              <a:t> transform </a:t>
            </a:r>
          </a:p>
          <a:p>
            <a:pPr lvl="1"/>
            <a:r>
              <a:rPr lang="en-US" altLang="zh-TW" sz="2400" dirty="0" smtClean="0"/>
              <a:t>The F-statistic </a:t>
            </a:r>
            <a:r>
              <a:rPr lang="en-US" altLang="zh-TW" sz="2400" dirty="0" err="1" smtClean="0"/>
              <a:t>shapelet</a:t>
            </a:r>
            <a:r>
              <a:rPr lang="en-US" altLang="zh-TW" sz="2400" dirty="0" smtClean="0"/>
              <a:t> transform</a:t>
            </a:r>
            <a:endParaRPr lang="zh-TW" altLang="en-US" sz="2400" dirty="0"/>
          </a:p>
        </p:txBody>
      </p:sp>
      <p:pic>
        <p:nvPicPr>
          <p:cNvPr id="5" name="圖片 4" descr="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10" y="1857364"/>
            <a:ext cx="7929618" cy="4600952"/>
          </a:xfrm>
          <a:prstGeom prst="rect">
            <a:avLst/>
          </a:prstGeom>
        </p:spPr>
      </p:pic>
      <p:sp>
        <p:nvSpPr>
          <p:cNvPr id="6" name="圓角矩形 5"/>
          <p:cNvSpPr/>
          <p:nvPr/>
        </p:nvSpPr>
        <p:spPr>
          <a:xfrm>
            <a:off x="5715008" y="2786058"/>
            <a:ext cx="1000132" cy="21431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28596" y="357166"/>
            <a:ext cx="8229600" cy="4525963"/>
          </a:xfrm>
        </p:spPr>
        <p:txBody>
          <a:bodyPr>
            <a:normAutofit/>
          </a:bodyPr>
          <a:lstStyle/>
          <a:p>
            <a:r>
              <a:rPr lang="en-US" altLang="zh-TW" sz="2800" dirty="0" smtClean="0"/>
              <a:t>Testing accuracy and ranks of 8 </a:t>
            </a:r>
            <a:r>
              <a:rPr lang="en-US" altLang="zh-TW" sz="2800" dirty="0" err="1" smtClean="0"/>
              <a:t>classiers</a:t>
            </a:r>
            <a:r>
              <a:rPr lang="en-US" altLang="zh-TW" sz="2800" dirty="0" smtClean="0"/>
              <a:t> constructed on the </a:t>
            </a:r>
            <a:r>
              <a:rPr lang="en-US" altLang="zh-TW" sz="2800" dirty="0" err="1" smtClean="0"/>
              <a:t>shapelet</a:t>
            </a:r>
            <a:r>
              <a:rPr lang="en-US" altLang="zh-TW" sz="2800" dirty="0" smtClean="0"/>
              <a:t> transform with n=2 </a:t>
            </a:r>
            <a:r>
              <a:rPr lang="en-US" altLang="zh-TW" sz="2800" dirty="0" err="1" smtClean="0"/>
              <a:t>shapelets</a:t>
            </a:r>
            <a:r>
              <a:rPr lang="en-US" altLang="zh-TW" sz="2800" dirty="0" smtClean="0"/>
              <a:t>.</a:t>
            </a:r>
            <a:endParaRPr lang="zh-TW" altLang="en-US" sz="2800" dirty="0"/>
          </a:p>
        </p:txBody>
      </p:sp>
      <p:pic>
        <p:nvPicPr>
          <p:cNvPr id="4" name="圖片 3" descr="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5860"/>
            <a:ext cx="9144000" cy="5572140"/>
          </a:xfrm>
          <a:prstGeom prst="rect">
            <a:avLst/>
          </a:prstGeom>
        </p:spPr>
      </p:pic>
      <p:sp>
        <p:nvSpPr>
          <p:cNvPr id="5" name="圓角矩形 4"/>
          <p:cNvSpPr/>
          <p:nvPr/>
        </p:nvSpPr>
        <p:spPr>
          <a:xfrm>
            <a:off x="8072462" y="2285992"/>
            <a:ext cx="1071538" cy="457200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28596" y="214290"/>
            <a:ext cx="8229600" cy="4525963"/>
          </a:xfrm>
        </p:spPr>
        <p:txBody>
          <a:bodyPr>
            <a:normAutofit/>
          </a:bodyPr>
          <a:lstStyle/>
          <a:p>
            <a:r>
              <a:rPr lang="en-US" altLang="zh-TW" sz="2800" dirty="0" smtClean="0"/>
              <a:t>Relative accuracies of the </a:t>
            </a:r>
            <a:r>
              <a:rPr lang="en-US" altLang="zh-TW" sz="2800" dirty="0" err="1" smtClean="0"/>
              <a:t>classiers</a:t>
            </a:r>
            <a:r>
              <a:rPr lang="en-US" altLang="zh-TW" sz="2800" dirty="0" smtClean="0"/>
              <a:t> when trained with an automatically selected number of </a:t>
            </a:r>
            <a:r>
              <a:rPr lang="en-US" altLang="zh-TW" sz="2800" dirty="0" err="1" smtClean="0"/>
              <a:t>shapelets</a:t>
            </a:r>
            <a:r>
              <a:rPr lang="en-US" altLang="zh-TW" sz="2800" dirty="0" smtClean="0"/>
              <a:t> through cross-validation vs. using n=2 </a:t>
            </a:r>
            <a:r>
              <a:rPr lang="en-US" altLang="zh-TW" sz="2800" dirty="0" err="1" smtClean="0"/>
              <a:t>shapelets</a:t>
            </a:r>
            <a:endParaRPr lang="zh-TW" altLang="en-US" sz="2800" dirty="0"/>
          </a:p>
        </p:txBody>
      </p:sp>
      <p:pic>
        <p:nvPicPr>
          <p:cNvPr id="4" name="內容版面配置區 3" descr="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82" y="1571612"/>
            <a:ext cx="8643998" cy="5072098"/>
          </a:xfrm>
          <a:prstGeom prst="rect">
            <a:avLst/>
          </a:prstGeom>
        </p:spPr>
      </p:pic>
      <p:sp>
        <p:nvSpPr>
          <p:cNvPr id="5" name="圓角矩形 4"/>
          <p:cNvSpPr/>
          <p:nvPr/>
        </p:nvSpPr>
        <p:spPr>
          <a:xfrm>
            <a:off x="0" y="6215082"/>
            <a:ext cx="9001156" cy="42862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560</TotalTime>
  <Words>545</Words>
  <Application>Microsoft Office PowerPoint</Application>
  <PresentationFormat>如螢幕大小 (4:3)</PresentationFormat>
  <Paragraphs>70</Paragraphs>
  <Slides>19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4" baseType="lpstr">
      <vt:lpstr>新細明體</vt:lpstr>
      <vt:lpstr>標楷體</vt:lpstr>
      <vt:lpstr>Arial</vt:lpstr>
      <vt:lpstr>Calibri</vt:lpstr>
      <vt:lpstr>Office 佈景主題</vt:lpstr>
      <vt:lpstr>A Shapelet Transform for Time Series Classification</vt:lpstr>
      <vt:lpstr>Abstract(1/2)</vt:lpstr>
      <vt:lpstr>Abstract(2/2)</vt:lpstr>
      <vt:lpstr>Time Series Classification</vt:lpstr>
      <vt:lpstr>Shapelets(1/2)</vt:lpstr>
      <vt:lpstr>Shapelets(2/2)</vt:lpstr>
      <vt:lpstr>Measuring Distances</vt:lpstr>
      <vt:lpstr>The generic shapelet finding algorithm</vt:lpstr>
      <vt:lpstr>Shapelet Generation</vt:lpstr>
      <vt:lpstr>Shapelet Generation Algorithm</vt:lpstr>
      <vt:lpstr>Data Transformation</vt:lpstr>
      <vt:lpstr>Shapelet Selection</vt:lpstr>
      <vt:lpstr>5-Fold Cross-Validation Experiment</vt:lpstr>
      <vt:lpstr>Experimental</vt:lpstr>
      <vt:lpstr>Results(1/5)</vt:lpstr>
      <vt:lpstr>Results(2/5)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Shapelet Transform for Time Series Classification</dc:title>
  <dc:creator>Athena_Ho</dc:creator>
  <cp:lastModifiedBy>AthenaHo</cp:lastModifiedBy>
  <cp:revision>49</cp:revision>
  <dcterms:created xsi:type="dcterms:W3CDTF">2015-04-06T12:52:39Z</dcterms:created>
  <dcterms:modified xsi:type="dcterms:W3CDTF">2015-04-07T10:20:56Z</dcterms:modified>
</cp:coreProperties>
</file>