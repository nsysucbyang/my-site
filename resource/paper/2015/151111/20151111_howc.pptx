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87" r:id="rId5"/>
    <p:sldId id="260" r:id="rId6"/>
    <p:sldId id="336" r:id="rId7"/>
    <p:sldId id="337" r:id="rId8"/>
    <p:sldId id="339" r:id="rId9"/>
    <p:sldId id="340" r:id="rId10"/>
    <p:sldId id="341" r:id="rId11"/>
    <p:sldId id="342" r:id="rId12"/>
    <p:sldId id="343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99CC"/>
    <a:srgbClr val="C5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8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2015/11/11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67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2015/11/11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08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2015/11/11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904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2015/11/11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35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2015/11/11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18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2015/11/11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012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2015/11/11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649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2015/11/11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9419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2015/11/11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18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2015/11/11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352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2015/11/11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009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65F44-F807-4518-89E2-C811281CE334}" type="datetimeFigureOut">
              <a:rPr lang="zh-TW" altLang="en-US" smtClean="0"/>
              <a:t>2015/11/11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3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598488" y="1286632"/>
            <a:ext cx="7772400" cy="147002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the </a:t>
            </a:r>
            <a:r>
              <a:rPr lang="en-US" altLang="zh-TW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Algorithm to Solve the Longest Common Subsequence from Fragments Problem</a:t>
            </a:r>
            <a:endParaRPr lang="zh-TW" altLang="en-US" sz="3200" dirty="0"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406525" y="3019431"/>
            <a:ext cx="6400800" cy="479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2000" dirty="0" smtClean="0"/>
              <a:t>Yu-Mei Pan and Chia-Tung Lee</a:t>
            </a:r>
            <a:endParaRPr lang="en-US" altLang="zh-TW" sz="20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57350"/>
              </p:ext>
            </p:extLst>
          </p:nvPr>
        </p:nvGraphicFramePr>
        <p:xfrm>
          <a:off x="2698748" y="3848099"/>
          <a:ext cx="3816351" cy="1500105"/>
        </p:xfrm>
        <a:graphic>
          <a:graphicData uri="http://schemas.openxmlformats.org/drawingml/2006/table">
            <a:tbl>
              <a:tblPr/>
              <a:tblGrid>
                <a:gridCol w="3816351"/>
              </a:tblGrid>
              <a:tr h="84686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  <a:latin typeface="+mn-lt"/>
                        </a:rPr>
                        <a:t>The 23</a:t>
                      </a:r>
                      <a:r>
                        <a:rPr lang="en-US" altLang="zh-TW" sz="1800" baseline="30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rd</a:t>
                      </a:r>
                      <a:r>
                        <a:rPr lang="en-US" altLang="zh-TW" sz="180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Workshop on Combinatorial Mathematics and Computation Theory</a:t>
                      </a:r>
                    </a:p>
                    <a:p>
                      <a:pPr algn="ctr" fontAlgn="base"/>
                      <a:r>
                        <a:rPr lang="en-US" altLang="zh-TW" sz="180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pp.240-245 </a:t>
                      </a:r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2982910" y="5253638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 </a:t>
            </a:r>
            <a:r>
              <a:rPr lang="en-US" altLang="zh-TW" sz="1800" dirty="0" smtClean="0"/>
              <a:t>Bi-</a:t>
            </a:r>
            <a:r>
              <a:rPr lang="en-US" altLang="zh-TW" sz="1800" dirty="0" err="1" smtClean="0"/>
              <a:t>Shiang</a:t>
            </a:r>
            <a:r>
              <a:rPr lang="en-US" altLang="zh-TW" sz="1800" dirty="0" smtClean="0"/>
              <a:t> Lin</a:t>
            </a:r>
            <a:endParaRPr lang="en-US" altLang="zh-TW" sz="180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Date:</a:t>
            </a:r>
            <a:fld id="{F3590F60-3E7B-48AD-979A-345F224951B5}" type="datetime1">
              <a:rPr lang="zh-TW" altLang="en-US" sz="1800"/>
              <a:pPr algn="ctr" eaLnBrk="1" hangingPunct="1">
                <a:spcBef>
                  <a:spcPct val="0"/>
                </a:spcBef>
                <a:buFontTx/>
                <a:buNone/>
              </a:pPr>
              <a:t>2015/11/11</a:t>
            </a:fld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49466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Abstract(1/3)</a:t>
            </a:r>
            <a:endParaRPr lang="zh-TW" altLang="en-US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just">
                  <a:lnSpc>
                    <a:spcPct val="11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Finding longest common subsequence (LCS) is a common problem in Biology informatics. The problem is defined as follows: Given two strings    X=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Y=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find a common subsequence L=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X and Y such that p is maximized.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1120" r="-16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755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Abstract(2/3)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we discuss a variation of the LCS problem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from fragments problem defined as follows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Given two strings X and Y and a set M of fragments which are matching substrings of X and Y, find a LCS from M. A new method using a tree searching strategy,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algorithm, is proposed in this study for the LCS from fragments problem.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11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Abstract(3/3)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can help us to filter out some fragments which wouldn’t appear in solutions, and efficiently find a solution. However, in worst cases, all fragments are needed to be computed in the solving process.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6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actat</a:t>
                </a: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tacat</a:t>
                </a: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Common Subsequence : at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cat…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Longest Common Subsequence : 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acat</a:t>
                </a: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389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from fragments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010219"/>
              </p:ext>
            </p:extLst>
          </p:nvPr>
        </p:nvGraphicFramePr>
        <p:xfrm>
          <a:off x="2621278" y="3827971"/>
          <a:ext cx="39014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7349"/>
                <a:gridCol w="557349"/>
                <a:gridCol w="557349"/>
                <a:gridCol w="557349"/>
                <a:gridCol w="557349"/>
                <a:gridCol w="557349"/>
                <a:gridCol w="55734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7" name="直線單箭頭接點 26"/>
          <p:cNvCxnSpPr/>
          <p:nvPr/>
        </p:nvCxnSpPr>
        <p:spPr>
          <a:xfrm>
            <a:off x="3191256" y="4951667"/>
            <a:ext cx="1655064" cy="1100565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4846320" y="5318522"/>
            <a:ext cx="1676401" cy="1105329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內容版面配置區 2"/>
              <p:cNvSpPr txBox="1">
                <a:spLocks/>
              </p:cNvSpPr>
              <p:nvPr/>
            </p:nvSpPr>
            <p:spPr>
              <a:xfrm>
                <a:off x="628649" y="1825625"/>
                <a:ext cx="78867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Sequence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: 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gactac</a:t>
                </a: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Sequence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: 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ctatac</a:t>
                </a: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Set of fragments: { 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cta</a:t>
                </a:r>
                <a:r>
                  <a:rPr lang="zh-TW" altLang="en-US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tac</a:t>
                </a:r>
                <a:r>
                  <a:rPr lang="zh-TW" altLang="en-US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ac }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1825625"/>
                <a:ext cx="7886700" cy="4351338"/>
              </a:xfrm>
              <a:prstGeom prst="rect">
                <a:avLst/>
              </a:prstGeom>
              <a:blipFill rotWithShape="0"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單箭頭接點 9"/>
          <p:cNvCxnSpPr/>
          <p:nvPr/>
        </p:nvCxnSpPr>
        <p:spPr>
          <a:xfrm>
            <a:off x="5404104" y="4584812"/>
            <a:ext cx="1118617" cy="733710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9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from fragments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820741"/>
              </p:ext>
            </p:extLst>
          </p:nvPr>
        </p:nvGraphicFramePr>
        <p:xfrm>
          <a:off x="2621278" y="3827971"/>
          <a:ext cx="39014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7349"/>
                <a:gridCol w="557349"/>
                <a:gridCol w="557349"/>
                <a:gridCol w="557349"/>
                <a:gridCol w="557349"/>
                <a:gridCol w="557349"/>
                <a:gridCol w="55734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7" name="直線單箭頭接點 26"/>
          <p:cNvCxnSpPr/>
          <p:nvPr/>
        </p:nvCxnSpPr>
        <p:spPr>
          <a:xfrm>
            <a:off x="3191256" y="4951667"/>
            <a:ext cx="1655064" cy="110056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4846320" y="5318522"/>
            <a:ext cx="1676401" cy="1105329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內容版面配置區 2"/>
              <p:cNvSpPr txBox="1">
                <a:spLocks/>
              </p:cNvSpPr>
              <p:nvPr/>
            </p:nvSpPr>
            <p:spPr>
              <a:xfrm>
                <a:off x="628649" y="1825625"/>
                <a:ext cx="78867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Sequence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: 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ga</a:t>
                </a:r>
                <a:r>
                  <a:rPr lang="en-US" altLang="zh-TW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ctac</a:t>
                </a:r>
                <a:endParaRPr lang="en-US" altLang="zh-TW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Sequence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: </a:t>
                </a:r>
                <a:r>
                  <a:rPr lang="en-US" altLang="zh-TW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cta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ta</a:t>
                </a:r>
                <a:r>
                  <a:rPr lang="en-US" altLang="zh-TW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c</a:t>
                </a:r>
                <a:endParaRPr lang="en-US" altLang="zh-TW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Set of fragments: { </a:t>
                </a:r>
                <a:r>
                  <a:rPr lang="en-US" altLang="zh-TW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cta</a:t>
                </a:r>
                <a:r>
                  <a:rPr lang="zh-TW" altLang="en-US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TW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ta</a:t>
                </a:r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c</a:t>
                </a:r>
                <a:r>
                  <a:rPr lang="zh-TW" altLang="en-US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TW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ac }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1825625"/>
                <a:ext cx="7886700" cy="4351338"/>
              </a:xfrm>
              <a:prstGeom prst="rect">
                <a:avLst/>
              </a:prstGeom>
              <a:blipFill rotWithShape="0"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單箭頭接點 9"/>
          <p:cNvCxnSpPr/>
          <p:nvPr/>
        </p:nvCxnSpPr>
        <p:spPr>
          <a:xfrm>
            <a:off x="5404104" y="4584812"/>
            <a:ext cx="1118617" cy="733710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5963412" y="6052232"/>
            <a:ext cx="559309" cy="371619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012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 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621278" y="3827971"/>
          <a:ext cx="39014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7349"/>
                <a:gridCol w="557349"/>
                <a:gridCol w="557349"/>
                <a:gridCol w="557349"/>
                <a:gridCol w="557349"/>
                <a:gridCol w="557349"/>
                <a:gridCol w="55734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7" name="直線單箭頭接點 26"/>
          <p:cNvCxnSpPr/>
          <p:nvPr/>
        </p:nvCxnSpPr>
        <p:spPr>
          <a:xfrm>
            <a:off x="3191256" y="4951667"/>
            <a:ext cx="1655064" cy="110056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4846320" y="5318522"/>
            <a:ext cx="1676401" cy="1105329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內容版面配置區 2"/>
          <p:cNvSpPr txBox="1">
            <a:spLocks/>
          </p:cNvSpPr>
          <p:nvPr/>
        </p:nvSpPr>
        <p:spPr>
          <a:xfrm>
            <a:off x="628649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Find the shortest path from (0,0) to (</a:t>
            </a:r>
            <a:r>
              <a:rPr lang="en-US" altLang="zh-TW" dirty="0" err="1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m,n</a:t>
            </a:r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Horizontal and vertical edge cost 1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Diagonal edge cost </a:t>
            </a:r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0</a:t>
            </a:r>
            <a:endParaRPr lang="en-US" altLang="zh-TW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5404104" y="4584812"/>
            <a:ext cx="1118617" cy="733710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5963412" y="6052232"/>
            <a:ext cx="559309" cy="371619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3185159" y="4206392"/>
            <a:ext cx="6097" cy="74527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4846320" y="6052232"/>
            <a:ext cx="1117092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20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橢圓 72"/>
          <p:cNvSpPr/>
          <p:nvPr/>
        </p:nvSpPr>
        <p:spPr>
          <a:xfrm>
            <a:off x="1036429" y="5160929"/>
            <a:ext cx="547989" cy="44730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4228408" cy="1325563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4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Algorithm</a:t>
            </a:r>
            <a:endParaRPr lang="zh-TW" altLang="en-US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416100"/>
              </p:ext>
            </p:extLst>
          </p:nvPr>
        </p:nvGraphicFramePr>
        <p:xfrm>
          <a:off x="4857058" y="3271538"/>
          <a:ext cx="39014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7349"/>
                <a:gridCol w="557349"/>
                <a:gridCol w="557349"/>
                <a:gridCol w="557349"/>
                <a:gridCol w="557349"/>
                <a:gridCol w="557349"/>
                <a:gridCol w="55734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5" name="直線單箭頭接點 14"/>
          <p:cNvCxnSpPr/>
          <p:nvPr/>
        </p:nvCxnSpPr>
        <p:spPr>
          <a:xfrm>
            <a:off x="5426177" y="4388005"/>
            <a:ext cx="1655064" cy="1100565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7096424" y="4760184"/>
            <a:ext cx="1676401" cy="1105329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>
            <a:off x="7645092" y="4013087"/>
            <a:ext cx="1118617" cy="733710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字方塊 3"/>
          <p:cNvSpPr txBox="1"/>
          <p:nvPr/>
        </p:nvSpPr>
        <p:spPr>
          <a:xfrm>
            <a:off x="2053145" y="1531537"/>
            <a:ext cx="873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(0,0)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線接點 6"/>
          <p:cNvCxnSpPr/>
          <p:nvPr/>
        </p:nvCxnSpPr>
        <p:spPr>
          <a:xfrm flipH="1">
            <a:off x="953300" y="2050889"/>
            <a:ext cx="1529425" cy="6356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2482723" y="2050889"/>
            <a:ext cx="426411" cy="6356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flipH="1">
            <a:off x="1848559" y="2058461"/>
            <a:ext cx="652727" cy="6281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2482722" y="2057214"/>
            <a:ext cx="1346326" cy="61297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628649" y="2690282"/>
            <a:ext cx="3954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m1      m2       m3      (6,6)</a:t>
            </a:r>
          </a:p>
        </p:txBody>
      </p:sp>
      <p:sp>
        <p:nvSpPr>
          <p:cNvPr id="32" name="文字方塊 31"/>
          <p:cNvSpPr txBox="1"/>
          <p:nvPr/>
        </p:nvSpPr>
        <p:spPr>
          <a:xfrm>
            <a:off x="8129703" y="6218664"/>
            <a:ext cx="873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(6,6)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4803788" y="2668036"/>
            <a:ext cx="873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(0,0)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直線單箭頭接點 34"/>
          <p:cNvCxnSpPr/>
          <p:nvPr/>
        </p:nvCxnSpPr>
        <p:spPr>
          <a:xfrm>
            <a:off x="5212080" y="3191256"/>
            <a:ext cx="204287" cy="447304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stCxn id="32" idx="0"/>
          </p:cNvCxnSpPr>
          <p:nvPr/>
        </p:nvCxnSpPr>
        <p:spPr>
          <a:xfrm flipV="1">
            <a:off x="8566682" y="5873892"/>
            <a:ext cx="180786" cy="344772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/>
          <p:cNvSpPr txBox="1"/>
          <p:nvPr/>
        </p:nvSpPr>
        <p:spPr>
          <a:xfrm>
            <a:off x="1003275" y="2232895"/>
            <a:ext cx="2896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2            5              6           12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直線接點 40"/>
          <p:cNvCxnSpPr/>
          <p:nvPr/>
        </p:nvCxnSpPr>
        <p:spPr>
          <a:xfrm flipH="1">
            <a:off x="354987" y="3644389"/>
            <a:ext cx="475332" cy="102226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837304" y="3640685"/>
            <a:ext cx="1610767" cy="1025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>
            <a:off x="830319" y="3644389"/>
            <a:ext cx="682223" cy="1030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2" name="橢圓 71"/>
          <p:cNvSpPr/>
          <p:nvPr/>
        </p:nvSpPr>
        <p:spPr>
          <a:xfrm>
            <a:off x="522871" y="3088982"/>
            <a:ext cx="547989" cy="44730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33424" y="4670952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m2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1134444" y="4666657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m3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2150303" y="4666657"/>
            <a:ext cx="873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(6,6)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623441" y="3044371"/>
            <a:ext cx="35958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4         8          6         12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192757" y="4122870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2            4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50631" y="5100669"/>
            <a:ext cx="2518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4          6</a:t>
            </a:r>
          </a:p>
        </p:txBody>
      </p:sp>
      <p:cxnSp>
        <p:nvCxnSpPr>
          <p:cNvPr id="62" name="直線接點 61"/>
          <p:cNvCxnSpPr/>
          <p:nvPr/>
        </p:nvCxnSpPr>
        <p:spPr>
          <a:xfrm>
            <a:off x="1291776" y="5705034"/>
            <a:ext cx="0" cy="53128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5" name="文字方塊 64"/>
          <p:cNvSpPr txBox="1"/>
          <p:nvPr/>
        </p:nvSpPr>
        <p:spPr>
          <a:xfrm>
            <a:off x="872971" y="6218664"/>
            <a:ext cx="1143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(6,6) </a:t>
            </a:r>
            <a:r>
              <a:rPr lang="en-US" altLang="zh-TW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1363640" y="57860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500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31" grpId="0"/>
      <p:bldP spid="39" grpId="0"/>
      <p:bldP spid="72" grpId="0" animBg="1"/>
      <p:bldP spid="50" grpId="0"/>
      <p:bldP spid="51" grpId="0"/>
      <p:bldP spid="52" grpId="0"/>
      <p:bldP spid="57" grpId="0"/>
      <p:bldP spid="60" grpId="0"/>
      <p:bldP spid="61" grpId="0"/>
      <p:bldP spid="65" grpId="0"/>
      <p:bldP spid="6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930623"/>
            <a:ext cx="4210050" cy="355282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89482"/>
            <a:ext cx="4200525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718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4228408" cy="1325563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195" y="1485328"/>
            <a:ext cx="6143625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82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4228408" cy="1325563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result</a:t>
            </a:r>
            <a:endParaRPr lang="zh-TW" altLang="en-US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1690689"/>
            <a:ext cx="8579167" cy="486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837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2780</TotalTime>
  <Words>378</Words>
  <Application>Microsoft Office PowerPoint</Application>
  <PresentationFormat>如螢幕大小 (4:3)</PresentationFormat>
  <Paragraphs>97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2" baseType="lpstr">
      <vt:lpstr>Arial Unicode MS</vt:lpstr>
      <vt:lpstr>KaiTi</vt:lpstr>
      <vt:lpstr>新細明體</vt:lpstr>
      <vt:lpstr>Arial</vt:lpstr>
      <vt:lpstr>Calibri</vt:lpstr>
      <vt:lpstr>Calibri Light</vt:lpstr>
      <vt:lpstr>Cambria Math</vt:lpstr>
      <vt:lpstr>Times New Roman</vt:lpstr>
      <vt:lpstr>Verdana</vt:lpstr>
      <vt:lpstr>Office 佈景主題</vt:lpstr>
      <vt:lpstr>PowerPoint 簡報</vt:lpstr>
      <vt:lpstr>Abstract(1/3)</vt:lpstr>
      <vt:lpstr>Abstract(2/3)</vt:lpstr>
      <vt:lpstr>Abstract(3/3)</vt:lpstr>
      <vt:lpstr>The LCS Problem</vt:lpstr>
      <vt:lpstr>The LCS from fragments problem</vt:lpstr>
      <vt:lpstr>The LCS from fragments problem</vt:lpstr>
      <vt:lpstr>Shortest path problem</vt:lpstr>
      <vt:lpstr>The A* Algorithm</vt:lpstr>
      <vt:lpstr>Algorithm</vt:lpstr>
      <vt:lpstr>Example</vt:lpstr>
      <vt:lpstr>Experiment result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Bebe</dc:creator>
  <cp:lastModifiedBy>Bebe</cp:lastModifiedBy>
  <cp:revision>217</cp:revision>
  <dcterms:created xsi:type="dcterms:W3CDTF">2015-06-30T03:57:49Z</dcterms:created>
  <dcterms:modified xsi:type="dcterms:W3CDTF">2015-11-11T10:20:21Z</dcterms:modified>
</cp:coreProperties>
</file>