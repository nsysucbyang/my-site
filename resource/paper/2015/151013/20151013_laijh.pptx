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93" r:id="rId5"/>
    <p:sldId id="294" r:id="rId6"/>
    <p:sldId id="260" r:id="rId7"/>
    <p:sldId id="259" r:id="rId8"/>
    <p:sldId id="261" r:id="rId9"/>
    <p:sldId id="262" r:id="rId10"/>
    <p:sldId id="268" r:id="rId11"/>
    <p:sldId id="269" r:id="rId12"/>
    <p:sldId id="270" r:id="rId13"/>
    <p:sldId id="271" r:id="rId14"/>
    <p:sldId id="272" r:id="rId15"/>
    <p:sldId id="263" r:id="rId16"/>
    <p:sldId id="264" r:id="rId17"/>
    <p:sldId id="296" r:id="rId18"/>
    <p:sldId id="265" r:id="rId19"/>
    <p:sldId id="273" r:id="rId20"/>
    <p:sldId id="274" r:id="rId21"/>
    <p:sldId id="276" r:id="rId22"/>
    <p:sldId id="290" r:id="rId23"/>
    <p:sldId id="289" r:id="rId24"/>
    <p:sldId id="277" r:id="rId25"/>
    <p:sldId id="278" r:id="rId26"/>
    <p:sldId id="279" r:id="rId27"/>
    <p:sldId id="281" r:id="rId28"/>
    <p:sldId id="284" r:id="rId29"/>
    <p:sldId id="285" r:id="rId30"/>
    <p:sldId id="282" r:id="rId31"/>
    <p:sldId id="275" r:id="rId32"/>
    <p:sldId id="295" r:id="rId33"/>
    <p:sldId id="291" r:id="rId34"/>
    <p:sldId id="292" r:id="rId35"/>
  </p:sldIdLst>
  <p:sldSz cx="10080625" cy="7559675"/>
  <p:notesSz cx="7559675" cy="106918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AEFF7"/>
          </a:solidFill>
        </a:fill>
      </a:tcStyle>
    </a:wholeTbl>
    <a:band1H>
      <a:tcStyle>
        <a:tcBdr/>
        <a:fill>
          <a:solidFill>
            <a:srgbClr val="D2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DEE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5B9BD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5B9BD5"/>
          </a:solidFill>
        </a:fill>
      </a:tcStyle>
    </a:firstRow>
  </a:tblStyle>
  <a:tblStyle styleId="{BC89EF96-8CEA-46FF-86C4-4CE0E7609802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5B9BD5"/>
          </a:solidFill>
        </a:fill>
      </a:tcStyle>
    </a:band1H>
    <a:band1V>
      <a:tcStyle>
        <a:tcBdr/>
        <a:fill>
          <a:solidFill>
            <a:srgbClr val="5B9BD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  <a:tblStyle styleId="{E8B1032C-EA38-4F05-BA0D-38AFFFC7BED3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70AD47"/>
          </a:solidFill>
        </a:fill>
      </a:tcStyle>
    </a:band1H>
    <a:band1V>
      <a:tcStyle>
        <a:tcBdr/>
        <a:fill>
          <a:solidFill>
            <a:srgbClr val="70AD47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DA37D80-6434-44D0-A028-1B22A696006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ED7D31"/>
          </a:solidFill>
        </a:fill>
      </a:tcStyle>
    </a:band1H>
    <a:band1V>
      <a:tcStyle>
        <a:tcBdr/>
        <a:fill>
          <a:solidFill>
            <a:srgbClr val="ED7D31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EB344D84-9AFB-497E-A393-DC336BA19D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2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0227E8C-9554-460F-B633-51D5AD774E1F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5513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備忘稿版面配置區 2"/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頁首版面配置區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78A57073-AB8B-4F7A-BB5E-FAEF8A970D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33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  <a:ea typeface="微軟正黑體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4E8A48-0BB3-4429-A23E-981E055DBE4D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4662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C8B0FF1-64C1-43F0-B461-D498103689F2}" type="slidenum">
              <a:t>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549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</p:spPr>
      </p:sp>
      <p:sp>
        <p:nvSpPr>
          <p:cNvPr id="3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D512471-C209-4787-B80D-3B3FA604CCD5}" type="slidenum">
              <a:t>15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新細明體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038825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副標題 2"/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zh-TW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6BFC27-068B-4B72-92F7-9C821F0A3E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842836-F473-4F88-8FC5-E6506225DA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9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06D477E-DD58-4DE2-94A6-FBA23A9245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2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240" y="1768477"/>
            <a:ext cx="4459291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5114925" y="1768477"/>
            <a:ext cx="4460872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2D141D-6966-43C1-8EB1-BB4818DFA3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8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文字版面配置區 4"/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6" name="內容版面配置區 5"/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7" name="日期版面配置區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頁尾版面配置區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投影片編號版面配置區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382990-A4FF-4906-9C3D-CE47CFC3DC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1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3CCA10-4506-4689-B9C6-7A25C650BA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頁尾版面配置區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投影片編號版面配置區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413963-2284-408C-A1F3-BA9C90A14B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0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59FB30-6DA3-498A-B3E4-39789FBB38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7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DDE591-0FAF-4F51-A0C1-3BEDC4250A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1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523178-8C3C-4D5B-987E-9C6DE9B0522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0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 txBox="1">
            <a:spLocks noGrp="1"/>
          </p:cNvSpPr>
          <p:nvPr>
            <p:ph type="title" orient="vert"/>
          </p:nvPr>
        </p:nvSpPr>
        <p:spPr>
          <a:xfrm>
            <a:off x="7308854" y="301623"/>
            <a:ext cx="2266953" cy="5851529"/>
          </a:xfrm>
        </p:spPr>
        <p:txBody>
          <a:bodyPr vert="eaVert"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>
          <a:xfrm>
            <a:off x="503240" y="301623"/>
            <a:ext cx="6653210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83D96B-BEA4-46BB-A345-50D7E40AC1B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0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 txBox="1">
            <a:spLocks noGrp="1"/>
          </p:cNvSpPr>
          <p:nvPr>
            <p:ph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503998" y="1769043"/>
            <a:ext cx="9071643" cy="43844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2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3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4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FA3188D1-A64F-4C0D-9118-94DC8B17CC66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None/>
        <a:tabLst/>
        <a:defRPr lang="zh-TW" sz="32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4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0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>
          <a:xfrm>
            <a:off x="576355" y="3639613"/>
            <a:ext cx="9071643" cy="1670764"/>
          </a:xfrm>
        </p:spPr>
        <p:txBody>
          <a:bodyPr>
            <a:spAutoFit/>
          </a:bodyPr>
          <a:lstStyle/>
          <a:p>
            <a:pPr lvl="0"/>
            <a:r>
              <a:rPr lang="en-US" sz="2700" b="1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Communications of the ACM</a:t>
            </a:r>
            <a:br>
              <a:rPr lang="en-US" sz="2700" b="1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</a:br>
            <a:r>
              <a:rPr lang="en-US" sz="2700" b="1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June 1975 Volume 18 Number 6</a:t>
            </a:r>
            <a:br>
              <a:rPr lang="en-US" sz="2700" b="1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</a:br>
            <a:r>
              <a:rPr lang="en-US" sz="2700" b="1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D.S. Hirschberg</a:t>
            </a:r>
            <a:br>
              <a:rPr lang="en-US" sz="2700" b="1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</a:br>
            <a:r>
              <a:rPr lang="en-US" sz="2700" b="1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>Princeton University</a:t>
            </a: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576355" y="935998"/>
            <a:ext cx="9071643" cy="2091241"/>
          </a:xfrm>
        </p:spPr>
        <p:txBody>
          <a:bodyPr anchorCtr="1"/>
          <a:lstStyle/>
          <a:p>
            <a:pPr lvl="0" algn="ctr"/>
            <a:r>
              <a:rPr lang="en-US" sz="4400" b="1"/>
              <a:t>A Linear Space Algorithm for Computing Maximal Common Subsequences</a:t>
            </a:r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4294967295"/>
          </p:nvPr>
        </p:nvSpPr>
        <p:spPr>
          <a:xfrm>
            <a:off x="704380" y="4976996"/>
            <a:ext cx="9071643" cy="2091241"/>
          </a:xfrm>
        </p:spPr>
        <p:txBody>
          <a:bodyPr/>
          <a:lstStyle/>
          <a:p>
            <a:pPr lvl="1" algn="r" hangingPunct="0">
              <a:spcBef>
                <a:spcPts val="1415"/>
              </a:spcBef>
              <a:buNone/>
            </a:pPr>
            <a:endParaRPr lang="en-US" sz="3200">
              <a:highlight>
                <a:scrgbClr r="0" g="0" b="0">
                  <a:alpha val="0"/>
                </a:scrgbClr>
              </a:highlight>
              <a:latin typeface="Liberation Sans" pitchFamily="18"/>
              <a:ea typeface="微軟正黑體" pitchFamily="2"/>
              <a:cs typeface="Mangal" pitchFamily="2"/>
            </a:endParaRPr>
          </a:p>
          <a:p>
            <a:pPr lvl="1" algn="r" hangingPunct="0">
              <a:spcBef>
                <a:spcPts val="1415"/>
              </a:spcBef>
              <a:buNone/>
            </a:pPr>
            <a:endParaRPr lang="en-US" sz="3200">
              <a:highlight>
                <a:scrgbClr r="0" g="0" b="0">
                  <a:alpha val="0"/>
                </a:scrgbClr>
              </a:highlight>
              <a:latin typeface="Liberation Sans" pitchFamily="18"/>
              <a:ea typeface="微軟正黑體" pitchFamily="2"/>
              <a:cs typeface="Mangal" pitchFamily="2"/>
            </a:endParaRPr>
          </a:p>
          <a:p>
            <a:pPr lvl="1" algn="r" hangingPunct="0">
              <a:spcBef>
                <a:spcPts val="1415"/>
              </a:spcBef>
              <a:buNone/>
            </a:pP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Jyun-Hao Lai</a:t>
            </a:r>
          </a:p>
          <a:p>
            <a:pPr lvl="1" algn="r" hangingPunct="0">
              <a:spcBef>
                <a:spcPts val="1415"/>
              </a:spcBef>
              <a:buNone/>
            </a:pP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104 / 10 / 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 b="1"/>
              <a:t>Abstract</a:t>
            </a: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503998" y="1769043"/>
            <a:ext cx="9071643" cy="5498532"/>
          </a:xfrm>
        </p:spPr>
        <p:txBody>
          <a:bodyPr/>
          <a:lstStyle/>
          <a:p>
            <a:pPr lvl="0" algn="l"/>
            <a:r>
              <a:rPr lang="en-US" sz="3600" dirty="0" smtClean="0">
                <a:latin typeface="Cambria Math" pitchFamily="18"/>
                <a:ea typeface="Cambria Math" pitchFamily="18"/>
              </a:rPr>
              <a:t>The problem of finding a longest common</a:t>
            </a:r>
          </a:p>
          <a:p>
            <a:pPr lvl="0" algn="l"/>
            <a:r>
              <a:rPr lang="en-US" sz="3600" dirty="0" smtClean="0">
                <a:latin typeface="Cambria Math" pitchFamily="18"/>
                <a:ea typeface="Cambria Math" pitchFamily="18"/>
              </a:rPr>
              <a:t>subsequence of two strings has been </a:t>
            </a:r>
            <a:r>
              <a:rPr lang="en-US" sz="3600" dirty="0" err="1" smtClean="0">
                <a:latin typeface="Cambria Math" pitchFamily="18"/>
                <a:ea typeface="Cambria Math" pitchFamily="18"/>
              </a:rPr>
              <a:t>sloved</a:t>
            </a:r>
            <a:r>
              <a:rPr lang="en-US" sz="3600" dirty="0" smtClean="0">
                <a:latin typeface="Cambria Math" pitchFamily="18"/>
                <a:ea typeface="Cambria Math" pitchFamily="18"/>
              </a:rPr>
              <a:t> in</a:t>
            </a:r>
          </a:p>
          <a:p>
            <a:pPr lvl="0" algn="l"/>
            <a:r>
              <a:rPr lang="en-US" sz="3600" dirty="0" smtClean="0">
                <a:latin typeface="Cambria Math" pitchFamily="18"/>
                <a:ea typeface="Cambria Math" pitchFamily="18"/>
              </a:rPr>
              <a:t>quadratic time and space. </a:t>
            </a:r>
          </a:p>
          <a:p>
            <a:pPr lvl="0" algn="l"/>
            <a:r>
              <a:rPr lang="en-US" sz="3600" dirty="0" smtClean="0">
                <a:latin typeface="Cambria Math" pitchFamily="18"/>
                <a:ea typeface="Cambria Math" pitchFamily="18"/>
              </a:rPr>
              <a:t>An algorithm is presented which will </a:t>
            </a:r>
            <a:r>
              <a:rPr lang="en-US" sz="3600" dirty="0" err="1" smtClean="0">
                <a:latin typeface="Cambria Math" pitchFamily="18"/>
                <a:ea typeface="Cambria Math" pitchFamily="18"/>
              </a:rPr>
              <a:t>slove</a:t>
            </a:r>
            <a:endParaRPr lang="en-US" sz="3600" dirty="0" smtClean="0">
              <a:latin typeface="Cambria Math" pitchFamily="18"/>
              <a:ea typeface="Cambria Math" pitchFamily="18"/>
            </a:endParaRPr>
          </a:p>
          <a:p>
            <a:pPr lvl="0" algn="l"/>
            <a:r>
              <a:rPr lang="en-US" sz="3600" dirty="0" smtClean="0">
                <a:latin typeface="Cambria Math" pitchFamily="18"/>
                <a:ea typeface="Cambria Math" pitchFamily="18"/>
              </a:rPr>
              <a:t>this problem in quadratic time and in  </a:t>
            </a:r>
            <a:r>
              <a:rPr lang="en-US" sz="3600" smtClean="0">
                <a:latin typeface="Cambria Math" pitchFamily="18"/>
                <a:ea typeface="Cambria Math" pitchFamily="18"/>
              </a:rPr>
              <a:t>linear </a:t>
            </a:r>
          </a:p>
          <a:p>
            <a:pPr lvl="0" algn="l"/>
            <a:r>
              <a:rPr lang="en-US" sz="3600" smtClean="0">
                <a:latin typeface="Cambria Math" pitchFamily="18"/>
                <a:ea typeface="Cambria Math" pitchFamily="18"/>
              </a:rPr>
              <a:t>space</a:t>
            </a:r>
            <a:r>
              <a:rPr lang="en-US" sz="3600" dirty="0" smtClean="0">
                <a:latin typeface="Cambria Math" pitchFamily="18"/>
                <a:ea typeface="Cambria Math" pitchFamily="18"/>
              </a:rPr>
              <a:t>.</a:t>
            </a:r>
          </a:p>
          <a:p>
            <a:pPr lvl="0">
              <a:buSzPct val="45000"/>
              <a:buFont typeface="StarSymbol"/>
              <a:buChar char="●"/>
            </a:pPr>
            <a:endParaRPr lang="en-US" sz="2800" dirty="0">
              <a:latin typeface="微軟正黑體" pitchFamily="34"/>
            </a:endParaRPr>
          </a:p>
          <a:p>
            <a:pPr lvl="0">
              <a:buSzPct val="45000"/>
              <a:buFont typeface="StarSymbol"/>
              <a:buChar char="●"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b="1" dirty="0"/>
              <a:t>Longest Common Subsequence</a:t>
            </a:r>
            <a:r>
              <a:rPr lang="zh-TW" sz="3600" b="1" dirty="0"/>
              <a:t>（</a:t>
            </a:r>
            <a:r>
              <a:rPr lang="en-US" sz="3600" b="1" dirty="0"/>
              <a:t>LCS</a:t>
            </a:r>
            <a:r>
              <a:rPr lang="zh-TW" sz="3600" b="1" dirty="0"/>
              <a:t>）</a:t>
            </a:r>
            <a:endParaRPr lang="en-US" sz="3600" dirty="0"/>
          </a:p>
        </p:txBody>
      </p:sp>
      <p:sp>
        <p:nvSpPr>
          <p:cNvPr id="3" name="內容版面配置區 4"/>
          <p:cNvSpPr txBox="1">
            <a:spLocks noGrp="1"/>
          </p:cNvSpPr>
          <p:nvPr>
            <p:ph idx="1"/>
          </p:nvPr>
        </p:nvSpPr>
        <p:spPr>
          <a:xfrm>
            <a:off x="503998" y="1769042"/>
            <a:ext cx="9402002" cy="5546157"/>
          </a:xfrm>
        </p:spPr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000" dirty="0" smtClean="0">
                <a:latin typeface="Cambria Math" pitchFamily="18"/>
                <a:ea typeface="Cambria Math" pitchFamily="18"/>
              </a:rPr>
              <a:t>In the longest common subsequence problem, we are given two sequences A and B and wish to find a </a:t>
            </a:r>
            <a:r>
              <a:rPr lang="en-US" sz="3000" dirty="0" err="1" smtClean="0">
                <a:latin typeface="Cambria Math" pitchFamily="18"/>
                <a:ea typeface="Cambria Math" pitchFamily="18"/>
              </a:rPr>
              <a:t>maximun</a:t>
            </a:r>
            <a:r>
              <a:rPr lang="en-US" sz="3000" dirty="0" smtClean="0">
                <a:latin typeface="Cambria Math" pitchFamily="18"/>
                <a:ea typeface="Cambria Math" pitchFamily="18"/>
              </a:rPr>
              <a:t> length </a:t>
            </a:r>
            <a:r>
              <a:rPr lang="en-US" altLang="zh-TW" sz="3000" dirty="0">
                <a:latin typeface="Cambria Math" pitchFamily="18"/>
                <a:ea typeface="Cambria Math" pitchFamily="18"/>
              </a:rPr>
              <a:t>common subsequence </a:t>
            </a:r>
            <a:r>
              <a:rPr lang="en-US" altLang="zh-TW" sz="3000" dirty="0" smtClean="0">
                <a:latin typeface="Cambria Math" pitchFamily="18"/>
                <a:ea typeface="Cambria Math" pitchFamily="18"/>
              </a:rPr>
              <a:t>of A and B.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altLang="zh-TW" sz="1400" dirty="0" smtClean="0">
              <a:latin typeface="Cambria Math" pitchFamily="18"/>
              <a:ea typeface="Cambria Math" pitchFamily="18"/>
            </a:endParaRPr>
          </a:p>
          <a:p>
            <a:r>
              <a:rPr lang="en-US" dirty="0" smtClean="0">
                <a:latin typeface="Cambria Math" pitchFamily="18"/>
                <a:ea typeface="Cambria Math" pitchFamily="18"/>
              </a:rPr>
              <a:t>     Example</a:t>
            </a:r>
            <a:r>
              <a:rPr lang="zh-TW" altLang="en-US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：</a:t>
            </a:r>
            <a:endParaRPr lang="en-US" dirty="0" smtClean="0">
              <a:latin typeface="Cambria Math" pitchFamily="18"/>
              <a:ea typeface="Cambria Math" pitchFamily="18"/>
            </a:endParaRPr>
          </a:p>
          <a:p>
            <a:pPr lvl="0"/>
            <a:r>
              <a:rPr lang="en-US" dirty="0" smtClean="0">
                <a:latin typeface="Cambria Math" pitchFamily="18"/>
                <a:ea typeface="Cambria Math" pitchFamily="18"/>
              </a:rPr>
              <a:t>     A</a:t>
            </a:r>
            <a:r>
              <a:rPr lang="en-US" dirty="0" smtClean="0">
                <a:latin typeface="Cambria Math" pitchFamily="18"/>
              </a:rPr>
              <a:t> </a:t>
            </a:r>
            <a:r>
              <a:rPr lang="en-US" dirty="0">
                <a:latin typeface="Cambria Math" pitchFamily="18"/>
                <a:ea typeface="Cambria Math" pitchFamily="18"/>
              </a:rPr>
              <a:t>= 〈a, b, c, b, d, a, b</a:t>
            </a:r>
            <a:r>
              <a:rPr lang="zh-TW" dirty="0">
                <a:latin typeface="Cambria Math" pitchFamily="18"/>
              </a:rPr>
              <a:t>〉</a:t>
            </a:r>
          </a:p>
          <a:p>
            <a:pPr lvl="0"/>
            <a:r>
              <a:rPr lang="en-US" dirty="0" smtClean="0">
                <a:latin typeface="Cambria Math" pitchFamily="18"/>
                <a:ea typeface="Cambria Math" pitchFamily="18"/>
              </a:rPr>
              <a:t>     B</a:t>
            </a:r>
            <a:r>
              <a:rPr lang="en-US" dirty="0" smtClean="0">
                <a:latin typeface="Cambria Math" pitchFamily="18"/>
              </a:rPr>
              <a:t> </a:t>
            </a:r>
            <a:r>
              <a:rPr lang="en-US" dirty="0">
                <a:latin typeface="Cambria Math" pitchFamily="18"/>
                <a:ea typeface="Cambria Math" pitchFamily="18"/>
              </a:rPr>
              <a:t>= 〈b, d, c, a, b, a〉</a:t>
            </a:r>
          </a:p>
          <a:p>
            <a:pPr lvl="0"/>
            <a:r>
              <a:rPr lang="en-US" dirty="0" smtClean="0">
                <a:latin typeface="Cambria Math" pitchFamily="18"/>
                <a:ea typeface="Cambria Math" pitchFamily="18"/>
              </a:rPr>
              <a:t>     Common </a:t>
            </a:r>
            <a:r>
              <a:rPr lang="en-US" dirty="0">
                <a:latin typeface="Cambria Math" pitchFamily="18"/>
                <a:ea typeface="Cambria Math" pitchFamily="18"/>
              </a:rPr>
              <a:t>subsequence</a:t>
            </a:r>
            <a:r>
              <a:rPr lang="zh-TW" dirty="0">
                <a:latin typeface="Cambria Math" pitchFamily="18"/>
              </a:rPr>
              <a:t>：</a:t>
            </a:r>
            <a:r>
              <a:rPr lang="en-US" dirty="0" err="1">
                <a:latin typeface="Cambria Math" pitchFamily="18"/>
                <a:ea typeface="Cambria Math" pitchFamily="18"/>
              </a:rPr>
              <a:t>bcb</a:t>
            </a:r>
            <a:r>
              <a:rPr lang="en-US" dirty="0">
                <a:latin typeface="Cambria Math" pitchFamily="18"/>
                <a:ea typeface="Cambria Math" pitchFamily="18"/>
              </a:rPr>
              <a:t>, </a:t>
            </a:r>
            <a:r>
              <a:rPr lang="en-US" dirty="0" err="1">
                <a:latin typeface="Cambria Math" pitchFamily="18"/>
                <a:ea typeface="Cambria Math" pitchFamily="18"/>
              </a:rPr>
              <a:t>bca</a:t>
            </a:r>
            <a:r>
              <a:rPr lang="en-US" dirty="0">
                <a:latin typeface="Cambria Math" pitchFamily="18"/>
                <a:ea typeface="Cambria Math" pitchFamily="18"/>
              </a:rPr>
              <a:t>, ……</a:t>
            </a:r>
          </a:p>
          <a:p>
            <a:pPr lvl="0"/>
            <a:r>
              <a:rPr lang="en-US" dirty="0" smtClean="0">
                <a:latin typeface="Cambria Math" pitchFamily="18"/>
                <a:ea typeface="Cambria Math" pitchFamily="18"/>
              </a:rPr>
              <a:t>     Longest </a:t>
            </a:r>
            <a:r>
              <a:rPr lang="en-US" dirty="0">
                <a:latin typeface="Cambria Math" pitchFamily="18"/>
                <a:ea typeface="Cambria Math" pitchFamily="18"/>
              </a:rPr>
              <a:t>common subsequence</a:t>
            </a:r>
            <a:r>
              <a:rPr lang="zh-TW" dirty="0">
                <a:latin typeface="Cambria Math" pitchFamily="18"/>
              </a:rPr>
              <a:t>：</a:t>
            </a:r>
            <a:r>
              <a:rPr lang="en-US" dirty="0" err="1">
                <a:latin typeface="Cambria Math" pitchFamily="18"/>
              </a:rPr>
              <a:t>bcba</a:t>
            </a:r>
            <a:endParaRPr lang="en-US" dirty="0">
              <a:latin typeface="Cambria Math" pitchFamily="18"/>
              <a:ea typeface="Cambria Math" pitchFamily="18"/>
            </a:endParaRP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b="1" dirty="0"/>
              <a:t>Longest Common Subsequence</a:t>
            </a:r>
            <a:r>
              <a:rPr lang="zh-TW" altLang="zh-TW" sz="3600" b="1" dirty="0"/>
              <a:t>（</a:t>
            </a:r>
            <a:r>
              <a:rPr lang="en-US" altLang="zh-TW" sz="3600" b="1" dirty="0"/>
              <a:t>LCS</a:t>
            </a:r>
            <a:r>
              <a:rPr lang="zh-TW" altLang="zh-TW" sz="3600" b="1" dirty="0"/>
              <a:t>）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2"/>
            <a:ext cx="9071643" cy="550805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Optimal substructure of an LCS</a:t>
            </a:r>
            <a:r>
              <a:rPr lang="zh-TW" altLang="en-US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：</a:t>
            </a:r>
            <a:endParaRPr lang="en-US" altLang="zh-TW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       Let A = &lt;a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a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a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..., a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&gt; and B = &lt;b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, ..., </a:t>
            </a:r>
            <a:r>
              <a:rPr lang="en-US" altLang="zh-TW" sz="22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altLang="zh-TW" sz="22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&gt; be sequences, and </a:t>
            </a:r>
          </a:p>
          <a:p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       let C = &lt;c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, c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, c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, ..., </a:t>
            </a:r>
            <a:r>
              <a:rPr lang="en-US" altLang="zh-TW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altLang="zh-TW" sz="22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zh-TW" altLang="en-US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be any LCS of X and Y.</a:t>
            </a:r>
          </a:p>
          <a:p>
            <a:endParaRPr lang="en-US" altLang="zh-TW" sz="22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             </a:t>
            </a:r>
            <a:r>
              <a:rPr lang="en-US" altLang="zh-TW" sz="22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①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If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altLang="zh-TW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altLang="zh-TW" sz="22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then </a:t>
            </a:r>
            <a:r>
              <a:rPr lang="en-US" altLang="zh-TW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altLang="zh-TW" sz="22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= a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altLang="zh-TW" sz="22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altLang="zh-TW" sz="22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en-US" altLang="zh-TW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altLang="zh-TW" sz="22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– 1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is an LCS of A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m – 1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en-US" altLang="zh-TW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altLang="zh-TW" sz="22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– 1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.</a:t>
            </a:r>
          </a:p>
          <a:p>
            <a:endParaRPr lang="en-US" altLang="zh-TW" sz="22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             </a:t>
            </a:r>
            <a:r>
              <a:rPr lang="en-US" altLang="zh-TW" sz="22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②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If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≠ </a:t>
            </a:r>
            <a:r>
              <a:rPr lang="en-US" altLang="zh-TW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altLang="zh-TW" sz="22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then </a:t>
            </a:r>
            <a:r>
              <a:rPr lang="en-US" altLang="zh-TW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altLang="zh-TW" sz="22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≠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is an LCS of A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m </a:t>
            </a:r>
            <a:r>
              <a:rPr lang="en-US" altLang="zh-TW" sz="22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– 1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B .</a:t>
            </a:r>
          </a:p>
          <a:p>
            <a:endParaRPr lang="zh-TW" altLang="en-US" sz="2200" baseline="-25000" dirty="0">
              <a:latin typeface="Cambria Math" panose="02040503050406030204" pitchFamily="18" charset="0"/>
            </a:endParaRPr>
          </a:p>
          <a:p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             </a:t>
            </a:r>
            <a:r>
              <a:rPr lang="en-US" altLang="zh-TW" sz="22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③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If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≠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altLang="zh-TW" sz="22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then </a:t>
            </a:r>
            <a:r>
              <a:rPr lang="en-US" altLang="zh-TW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altLang="zh-TW" sz="22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≠ </a:t>
            </a:r>
            <a:r>
              <a:rPr lang="en-US" altLang="zh-TW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altLang="zh-TW" sz="22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is an LCS of </a:t>
            </a:r>
            <a:r>
              <a:rPr lang="en-US" altLang="zh-TW" sz="22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en-US" altLang="zh-TW" sz="2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altLang="zh-TW" sz="22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altLang="zh-TW" sz="2200" baseline="-25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22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– 1</a:t>
            </a:r>
            <a:r>
              <a:rPr lang="en-US" altLang="zh-TW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.</a:t>
            </a:r>
            <a:endParaRPr lang="zh-TW" altLang="en-US" sz="2200" baseline="-25000" dirty="0">
              <a:latin typeface="Cambria Math" panose="02040503050406030204" pitchFamily="18" charset="0"/>
            </a:endParaRPr>
          </a:p>
          <a:p>
            <a:pPr marL="457200" indent="-457200">
              <a:buAutoNum type="arabicPeriod"/>
            </a:pPr>
            <a:endParaRPr lang="zh-TW" altLang="en-US" sz="2200" baseline="-250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58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Longest Common Subsequence</a:t>
            </a:r>
            <a:r>
              <a:rPr lang="zh-TW" altLang="zh-TW" sz="3600" b="1" dirty="0">
                <a:latin typeface="Cambria Math" panose="02040503050406030204" pitchFamily="18" charset="0"/>
              </a:rPr>
              <a:t>（</a:t>
            </a:r>
            <a:r>
              <a:rPr lang="en-US" altLang="zh-TW" sz="3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LCS</a:t>
            </a:r>
            <a:r>
              <a:rPr lang="zh-TW" altLang="zh-TW" sz="3600" b="1" dirty="0">
                <a:latin typeface="Cambria Math" panose="02040503050406030204" pitchFamily="18" charset="0"/>
              </a:rPr>
              <a:t>）</a:t>
            </a:r>
            <a:endParaRPr lang="zh-TW" altLang="en-US" sz="3600" dirty="0">
              <a:latin typeface="Cambria Math" panose="020405030504060302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769043"/>
            <a:ext cx="9071643" cy="5593782"/>
          </a:xfrm>
        </p:spPr>
        <p:txBody>
          <a:bodyPr/>
          <a:lstStyle/>
          <a:p>
            <a:r>
              <a:rPr lang="en-US" altLang="zh-TW" sz="2800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Recursive formula</a:t>
            </a:r>
            <a:r>
              <a:rPr lang="zh-TW" altLang="en-US" sz="2800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：</a:t>
            </a:r>
            <a:endParaRPr lang="en-US" altLang="zh-TW" sz="2800" dirty="0" smtClean="0">
              <a:latin typeface="Cambria Math" panose="02040503050406030204" pitchFamily="18" charset="0"/>
              <a:ea typeface="新細明體" panose="02020500000000000000" pitchFamily="18" charset="-120"/>
            </a:endParaRPr>
          </a:p>
          <a:p>
            <a:r>
              <a:rPr lang="en-US" altLang="zh-TW" sz="2400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          Let us define c[</a:t>
            </a:r>
            <a:r>
              <a:rPr lang="en-US" altLang="zh-TW" sz="2400" dirty="0" err="1" smtClean="0">
                <a:latin typeface="Cambria Math" panose="02040503050406030204" pitchFamily="18" charset="0"/>
                <a:ea typeface="新細明體" panose="02020500000000000000" pitchFamily="18" charset="-120"/>
              </a:rPr>
              <a:t>i</a:t>
            </a:r>
            <a:r>
              <a:rPr lang="en-US" altLang="zh-TW" sz="2400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, j] to be the length of an LCS of the sequences </a:t>
            </a:r>
          </a:p>
          <a:p>
            <a:r>
              <a:rPr lang="en-US" altLang="zh-TW" sz="2400" dirty="0">
                <a:latin typeface="Cambria Math" panose="020405030504060302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         A</a:t>
            </a:r>
            <a:r>
              <a:rPr lang="en-US" altLang="zh-TW" sz="2400" baseline="-25000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i</a:t>
            </a:r>
            <a:r>
              <a:rPr lang="en-US" altLang="zh-TW" sz="2400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  and  </a:t>
            </a:r>
            <a:r>
              <a:rPr lang="en-US" altLang="zh-TW" sz="2400" dirty="0" err="1">
                <a:latin typeface="Cambria Math" panose="02040503050406030204" pitchFamily="18" charset="0"/>
                <a:ea typeface="新細明體" panose="02020500000000000000" pitchFamily="18" charset="-120"/>
              </a:rPr>
              <a:t>B</a:t>
            </a:r>
            <a:r>
              <a:rPr lang="en-US" altLang="zh-TW" sz="2400" baseline="-25000" dirty="0" err="1" smtClean="0">
                <a:latin typeface="Cambria Math" panose="02040503050406030204" pitchFamily="18" charset="0"/>
                <a:ea typeface="新細明體" panose="02020500000000000000" pitchFamily="18" charset="-120"/>
              </a:rPr>
              <a:t>j</a:t>
            </a:r>
            <a:r>
              <a:rPr lang="en-US" altLang="zh-TW" sz="2400" baseline="-25000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 smtClean="0">
                <a:latin typeface="Cambria Math" panose="02040503050406030204" pitchFamily="18" charset="0"/>
                <a:ea typeface="新細明體" panose="02020500000000000000" pitchFamily="18" charset="-120"/>
              </a:rPr>
              <a:t> .</a:t>
            </a:r>
            <a:endParaRPr lang="en-US" altLang="zh-TW" sz="2400" baseline="-25000" dirty="0" smtClean="0">
              <a:latin typeface="Cambria Math" panose="02040503050406030204" pitchFamily="18" charset="0"/>
              <a:ea typeface="新細明體" panose="02020500000000000000" pitchFamily="18" charset="-120"/>
            </a:endParaRPr>
          </a:p>
          <a:p>
            <a:endParaRPr lang="en-US" altLang="zh-TW" sz="2400" dirty="0" smtClean="0">
              <a:latin typeface="Cambria Math" panose="02040503050406030204" pitchFamily="18" charset="0"/>
              <a:ea typeface="新細明體" panose="02020500000000000000" pitchFamily="18" charset="-120"/>
            </a:endParaRPr>
          </a:p>
          <a:p>
            <a:pPr algn="l"/>
            <a:endParaRPr lang="en-US" altLang="zh-TW" sz="2400" dirty="0" smtClean="0">
              <a:latin typeface="Cambria Math" panose="02040503050406030204" pitchFamily="18" charset="0"/>
              <a:ea typeface="新細明體" panose="02020500000000000000" pitchFamily="18" charset="-120"/>
            </a:endParaRPr>
          </a:p>
          <a:p>
            <a:pPr algn="l"/>
            <a:endParaRPr lang="en-US" altLang="zh-TW" sz="2400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zh-TW" altLang="en-US" sz="24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3009443" y="4335101"/>
            <a:ext cx="582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0                                                     if </a:t>
            </a:r>
            <a:r>
              <a:rPr lang="en-US" altLang="zh-TW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= 0 or j = 0</a:t>
            </a:r>
            <a:endParaRPr lang="zh-TW" altLang="en-US" sz="2400" dirty="0">
              <a:latin typeface="Cambria Math" panose="020405030504060302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2955903" y="4796766"/>
            <a:ext cx="6471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c[</a:t>
            </a:r>
            <a:r>
              <a:rPr lang="en-US" altLang="zh-TW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– 1, j - 1] + 1                          if </a:t>
            </a:r>
            <a:r>
              <a:rPr lang="en-US" altLang="zh-TW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j &gt; 0 and </a:t>
            </a:r>
            <a:r>
              <a:rPr lang="en-US" altLang="zh-TW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altLang="zh-TW" sz="24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altLang="zh-TW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altLang="zh-TW" sz="24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endParaRPr lang="zh-TW" altLang="en-US" sz="2400" baseline="-25000" dirty="0">
              <a:latin typeface="Cambria Math" panose="020405030504060302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955903" y="5275038"/>
            <a:ext cx="6612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max(c[</a:t>
            </a:r>
            <a:r>
              <a:rPr lang="en-US" altLang="zh-TW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j - 1], c[</a:t>
            </a:r>
            <a:r>
              <a:rPr lang="en-US" altLang="zh-TW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– 1, j</a:t>
            </a:r>
            <a:r>
              <a:rPr lang="en-US" altLang="zh-TW" sz="2400" smtClean="0">
                <a:latin typeface="Cambria Math" panose="02040503050406030204" pitchFamily="18" charset="0"/>
                <a:ea typeface="Cambria Math" panose="02040503050406030204" pitchFamily="18" charset="0"/>
              </a:rPr>
              <a:t>])          if </a:t>
            </a:r>
            <a:r>
              <a:rPr lang="en-US" altLang="zh-TW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, j &gt; 0 and </a:t>
            </a:r>
            <a:r>
              <a:rPr lang="en-US" altLang="zh-TW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altLang="zh-TW" sz="24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altLang="zh-TW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≠ </a:t>
            </a:r>
            <a:r>
              <a:rPr lang="en-US" altLang="zh-TW" sz="24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altLang="zh-TW" sz="2400" baseline="-25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endParaRPr lang="zh-TW" altLang="en-US" sz="2400" baseline="-25000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396780" y="4160148"/>
                <a:ext cx="2068580" cy="1664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c[</a:t>
                </a:r>
                <a:r>
                  <a:rPr lang="en-US" altLang="zh-TW" sz="32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altLang="zh-TW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j] </a:t>
                </a:r>
                <a:r>
                  <a:rPr lang="en-US" altLang="zh-TW" sz="3200" dirty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/>
                          <m:e/>
                          <m:e/>
                        </m:eqArr>
                      </m:e>
                    </m:d>
                  </m:oMath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780" y="4160148"/>
                <a:ext cx="2068580" cy="1664495"/>
              </a:xfrm>
              <a:prstGeom prst="rect">
                <a:avLst/>
              </a:prstGeom>
              <a:blipFill rotWithShape="0">
                <a:blip r:embed="rId2"/>
                <a:stretch>
                  <a:fillRect l="-7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59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A</a:t>
            </a:r>
            <a:endParaRPr lang="en-US"/>
          </a:p>
        </p:txBody>
      </p:sp>
      <p:graphicFrame>
        <p:nvGraphicFramePr>
          <p:cNvPr id="3" name="內容版面配置區 3"/>
          <p:cNvGraphicFramePr>
            <a:graphicFrameLocks noGrp="1"/>
          </p:cNvGraphicFramePr>
          <p:nvPr>
            <p:ph idx="1"/>
          </p:nvPr>
        </p:nvGraphicFramePr>
        <p:xfrm>
          <a:off x="2620368" y="3629025"/>
          <a:ext cx="4838892" cy="2955684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806482"/>
                <a:gridCol w="806482"/>
                <a:gridCol w="806482"/>
                <a:gridCol w="806482"/>
                <a:gridCol w="806482"/>
                <a:gridCol w="806482"/>
              </a:tblGrid>
              <a:tr h="492614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</a:tr>
              <a:tr h="492614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 marL="50566" marR="50566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 marL="50566" marR="50566"/>
                </a:tc>
              </a:tr>
              <a:tr h="492614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marL="50566" marR="50566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marL="0" lvl="0" algn="ctr" rtl="0" fontAlgn="t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latin typeface="Arial" pitchFamily="34"/>
                        </a:rPr>
                        <a:t>1</a:t>
                      </a:r>
                    </a:p>
                  </a:txBody>
                  <a:tcPr marL="50548" marR="50548"/>
                </a:tc>
                <a:tc>
                  <a:txBody>
                    <a:bodyPr/>
                    <a:lstStyle/>
                    <a:p>
                      <a:pPr marL="0" lvl="0" algn="ctr" rtl="0" fontAlgn="t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latin typeface="Arial" pitchFamily="34"/>
                        </a:rPr>
                        <a:t>1</a:t>
                      </a:r>
                    </a:p>
                  </a:txBody>
                  <a:tcPr marL="50548" marR="50548"/>
                </a:tc>
                <a:tc>
                  <a:txBody>
                    <a:bodyPr/>
                    <a:lstStyle/>
                    <a:p>
                      <a:pPr marL="0" lvl="0" algn="ctr" rtl="0" fontAlgn="t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latin typeface="Arial" pitchFamily="34"/>
                        </a:rPr>
                        <a:t>1</a:t>
                      </a:r>
                    </a:p>
                  </a:txBody>
                  <a:tcPr marL="50548" marR="50548"/>
                </a:tc>
                <a:tc>
                  <a:txBody>
                    <a:bodyPr/>
                    <a:lstStyle/>
                    <a:p>
                      <a:pPr marL="0" lvl="0" algn="ctr" rtl="0" fontAlgn="t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latin typeface="Calibri" pitchFamily="34"/>
                        </a:rPr>
                        <a:t>1</a:t>
                      </a:r>
                      <a:endParaRPr lang="en-US" sz="1800" b="0" i="0" u="none" strike="noStrike">
                        <a:latin typeface="Arial" pitchFamily="34"/>
                      </a:endParaRPr>
                    </a:p>
                  </a:txBody>
                  <a:tcPr marL="50548" marR="50548"/>
                </a:tc>
              </a:tr>
              <a:tr h="492614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 marL="50566" marR="50566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 marL="50566" marR="50566"/>
                </a:tc>
              </a:tr>
              <a:tr h="492614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marL="50566" marR="50566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 marL="50566" marR="50566"/>
                </a:tc>
              </a:tr>
              <a:tr h="492614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marL="50566" marR="50566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3</a:t>
                      </a:r>
                    </a:p>
                  </a:txBody>
                  <a:tcPr marL="50566" marR="50566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3</a:t>
                      </a:r>
                    </a:p>
                  </a:txBody>
                  <a:tcPr marL="50566" marR="50566"/>
                </a:tc>
              </a:tr>
            </a:tbl>
          </a:graphicData>
        </a:graphic>
      </p:graphicFrame>
      <p:sp>
        <p:nvSpPr>
          <p:cNvPr id="4" name="內容版面配置區 6"/>
          <p:cNvSpPr txBox="1">
            <a:spLocks noGrp="1"/>
          </p:cNvSpPr>
          <p:nvPr>
            <p:ph idx="2"/>
          </p:nvPr>
        </p:nvSpPr>
        <p:spPr>
          <a:xfrm>
            <a:off x="237963" y="1563477"/>
            <a:ext cx="9337679" cy="1365254"/>
          </a:xfrm>
        </p:spPr>
        <p:txBody>
          <a:bodyPr/>
          <a:lstStyle/>
          <a:p>
            <a:pPr lvl="0"/>
            <a:r>
              <a:rPr lang="en-US">
                <a:latin typeface="Cambria Math" pitchFamily="18"/>
                <a:ea typeface="Cambria Math" pitchFamily="18"/>
              </a:rPr>
              <a:t>Example</a:t>
            </a:r>
            <a:r>
              <a:rPr lang="en-US">
                <a:latin typeface="新細明體" pitchFamily="18"/>
                <a:ea typeface="新細明體" pitchFamily="18"/>
              </a:rPr>
              <a:t>：</a:t>
            </a:r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A</a:t>
            </a:r>
            <a:r>
              <a:rPr lang="en-US">
                <a:latin typeface="Cambria Math" pitchFamily="18"/>
                <a:ea typeface="新細明體" pitchFamily="18"/>
              </a:rPr>
              <a:t> 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r>
              <a:rPr lang="en-US">
                <a:latin typeface="Cambria Math" pitchFamily="18"/>
                <a:ea typeface="Cambria Math" pitchFamily="18"/>
              </a:rPr>
              <a:t>abcd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B</a:t>
            </a:r>
            <a:r>
              <a:rPr lang="en-US">
                <a:latin typeface="Cambria Math" pitchFamily="18"/>
                <a:ea typeface="新細明體" pitchFamily="18"/>
              </a:rPr>
              <a:t> 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r>
              <a:rPr lang="en-US">
                <a:latin typeface="Cambria Math" pitchFamily="18"/>
                <a:ea typeface="Cambria Math" pitchFamily="18"/>
              </a:rPr>
              <a:t>acde</a:t>
            </a:r>
            <a:endParaRPr lang="en-US">
              <a:latin typeface="Cambria Math" pitchFamily="18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200525" y="6700228"/>
            <a:ext cx="1927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LCS = </a:t>
            </a:r>
            <a:r>
              <a:rPr lang="en-US" altLang="zh-TW" sz="3200" dirty="0" err="1" smtClean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acd</a:t>
            </a:r>
            <a:endParaRPr lang="zh-TW" altLang="en-US" sz="3200" dirty="0">
              <a:solidFill>
                <a:srgbClr val="FF0000"/>
              </a:solidFill>
              <a:latin typeface="Cambria Math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A</a:t>
            </a:r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769043"/>
            <a:ext cx="9071643" cy="5641409"/>
          </a:xfrm>
        </p:spPr>
        <p:txBody>
          <a:bodyPr/>
          <a:lstStyle/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Input</a:t>
            </a:r>
            <a:r>
              <a:rPr lang="zh-TW" sz="2400" dirty="0">
                <a:latin typeface="Cambria Math" pitchFamily="18"/>
              </a:rPr>
              <a:t>：</a:t>
            </a:r>
            <a:r>
              <a:rPr lang="en-US" sz="2400" dirty="0">
                <a:latin typeface="Cambria Math" pitchFamily="18"/>
              </a:rPr>
              <a:t>strings A</a:t>
            </a:r>
            <a:r>
              <a:rPr lang="en-US" sz="2400" baseline="-25000" dirty="0">
                <a:latin typeface="Cambria Math" pitchFamily="18"/>
              </a:rPr>
              <a:t>1m  </a:t>
            </a:r>
            <a:r>
              <a:rPr lang="en-US" sz="2400" dirty="0">
                <a:latin typeface="Cambria Math" pitchFamily="18"/>
              </a:rPr>
              <a:t>and B</a:t>
            </a:r>
            <a:r>
              <a:rPr lang="en-US" sz="2400" baseline="-25000" dirty="0">
                <a:latin typeface="Cambria Math" pitchFamily="18"/>
              </a:rPr>
              <a:t>1n</a:t>
            </a:r>
            <a:endParaRPr lang="en-US" sz="2400" baseline="-25000" dirty="0">
              <a:latin typeface="Cambria Math" pitchFamily="18"/>
              <a:ea typeface="Cambria Math" pitchFamily="18"/>
            </a:endParaRPr>
          </a:p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Output</a:t>
            </a:r>
            <a:r>
              <a:rPr lang="en-US" sz="2400" dirty="0">
                <a:latin typeface="Cambria Math" pitchFamily="18"/>
              </a:rPr>
              <a:t> </a:t>
            </a:r>
            <a:r>
              <a:rPr lang="zh-TW" sz="2400" dirty="0">
                <a:latin typeface="Cambria Math" pitchFamily="18"/>
              </a:rPr>
              <a:t>：</a:t>
            </a:r>
            <a:r>
              <a:rPr lang="en-US" sz="2400" dirty="0">
                <a:latin typeface="Cambria Math" pitchFamily="18"/>
              </a:rPr>
              <a:t>matrix L </a:t>
            </a:r>
          </a:p>
          <a:p>
            <a:pPr lvl="0"/>
            <a:endParaRPr lang="en-US" sz="2400" dirty="0">
              <a:latin typeface="Cambria Math" pitchFamily="18"/>
            </a:endParaRPr>
          </a:p>
          <a:p>
            <a:pPr lvl="0"/>
            <a:r>
              <a:rPr lang="en-US" sz="2400" dirty="0">
                <a:latin typeface="Cambria Math" pitchFamily="18"/>
              </a:rPr>
              <a:t>ALG A(m, n, A, B)</a:t>
            </a:r>
          </a:p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1. Initialization</a:t>
            </a:r>
            <a:r>
              <a:rPr lang="en-US" sz="2400" dirty="0">
                <a:latin typeface="Cambria Math" pitchFamily="18"/>
              </a:rPr>
              <a:t> </a:t>
            </a:r>
            <a:r>
              <a:rPr lang="zh-TW" sz="2400" dirty="0">
                <a:latin typeface="Cambria Math" pitchFamily="18"/>
              </a:rPr>
              <a:t>：</a:t>
            </a:r>
            <a:r>
              <a:rPr lang="en-US" sz="2400" dirty="0">
                <a:latin typeface="Cambria Math" pitchFamily="18"/>
              </a:rPr>
              <a:t> </a:t>
            </a:r>
            <a:r>
              <a:rPr lang="en-US" sz="2400" dirty="0">
                <a:latin typeface="Cambria Math" pitchFamily="18"/>
                <a:ea typeface="Cambria Math" pitchFamily="18"/>
              </a:rPr>
              <a:t>L(</a:t>
            </a:r>
            <a:r>
              <a:rPr lang="en-US" sz="2400" dirty="0" err="1">
                <a:latin typeface="Cambria Math" pitchFamily="18"/>
                <a:ea typeface="Cambria Math" pitchFamily="18"/>
              </a:rPr>
              <a:t>i</a:t>
            </a:r>
            <a:r>
              <a:rPr lang="en-US" sz="2400" dirty="0">
                <a:latin typeface="Cambria Math" pitchFamily="18"/>
                <a:ea typeface="Cambria Math" pitchFamily="18"/>
              </a:rPr>
              <a:t>, 0) ← 0 [</a:t>
            </a:r>
            <a:r>
              <a:rPr lang="en-US" sz="2400" dirty="0" err="1">
                <a:latin typeface="Cambria Math" pitchFamily="18"/>
                <a:ea typeface="Cambria Math" pitchFamily="18"/>
              </a:rPr>
              <a:t>i</a:t>
            </a:r>
            <a:r>
              <a:rPr lang="en-US" sz="2400" dirty="0">
                <a:latin typeface="Cambria Math" pitchFamily="18"/>
                <a:ea typeface="Cambria Math" pitchFamily="18"/>
              </a:rPr>
              <a:t> = 0···m]</a:t>
            </a:r>
          </a:p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                                    L(0, j) ← 0 [j = 0···n]</a:t>
            </a:r>
          </a:p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2. for </a:t>
            </a:r>
            <a:r>
              <a:rPr lang="en-US" sz="2400" dirty="0" err="1">
                <a:latin typeface="Cambria Math" pitchFamily="18"/>
                <a:ea typeface="Cambria Math" pitchFamily="18"/>
              </a:rPr>
              <a:t>i</a:t>
            </a:r>
            <a:r>
              <a:rPr lang="en-US" sz="2400" dirty="0">
                <a:latin typeface="Cambria Math" pitchFamily="18"/>
                <a:ea typeface="Cambria Math" pitchFamily="18"/>
              </a:rPr>
              <a:t> ← 1 to m do</a:t>
            </a:r>
          </a:p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          for j ← 1 to n do</a:t>
            </a:r>
          </a:p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                   if A(</a:t>
            </a:r>
            <a:r>
              <a:rPr lang="en-US" sz="2400" dirty="0" err="1">
                <a:latin typeface="Cambria Math" pitchFamily="18"/>
                <a:ea typeface="Cambria Math" pitchFamily="18"/>
              </a:rPr>
              <a:t>i</a:t>
            </a:r>
            <a:r>
              <a:rPr lang="en-US" sz="2400" dirty="0">
                <a:latin typeface="Cambria Math" pitchFamily="18"/>
                <a:ea typeface="Cambria Math" pitchFamily="18"/>
              </a:rPr>
              <a:t>) = B(j) then L(</a:t>
            </a:r>
            <a:r>
              <a:rPr lang="en-US" sz="2400" dirty="0" err="1">
                <a:latin typeface="Cambria Math" pitchFamily="18"/>
                <a:ea typeface="Cambria Math" pitchFamily="18"/>
              </a:rPr>
              <a:t>i</a:t>
            </a:r>
            <a:r>
              <a:rPr lang="en-US" sz="2400" dirty="0">
                <a:latin typeface="Cambria Math" pitchFamily="18"/>
                <a:ea typeface="Cambria Math" pitchFamily="18"/>
              </a:rPr>
              <a:t>, j) ← L(</a:t>
            </a:r>
            <a:r>
              <a:rPr lang="en-US" sz="2400" dirty="0" err="1">
                <a:latin typeface="Cambria Math" pitchFamily="18"/>
                <a:ea typeface="Cambria Math" pitchFamily="18"/>
              </a:rPr>
              <a:t>i</a:t>
            </a:r>
            <a:r>
              <a:rPr lang="en-US" sz="2400" dirty="0">
                <a:latin typeface="Cambria Math" pitchFamily="18"/>
                <a:ea typeface="Cambria Math" pitchFamily="18"/>
              </a:rPr>
              <a:t> -1, j - 1) + 1</a:t>
            </a:r>
          </a:p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                   else L(</a:t>
            </a:r>
            <a:r>
              <a:rPr lang="en-US" sz="2400" dirty="0" err="1">
                <a:latin typeface="Cambria Math" pitchFamily="18"/>
                <a:ea typeface="Cambria Math" pitchFamily="18"/>
              </a:rPr>
              <a:t>i</a:t>
            </a:r>
            <a:r>
              <a:rPr lang="en-US" sz="2400" dirty="0">
                <a:latin typeface="Cambria Math" pitchFamily="18"/>
                <a:ea typeface="Cambria Math" pitchFamily="18"/>
              </a:rPr>
              <a:t>, j) ← max{ L(</a:t>
            </a:r>
            <a:r>
              <a:rPr lang="en-US" sz="2400" dirty="0" err="1">
                <a:latin typeface="Cambria Math" pitchFamily="18"/>
                <a:ea typeface="Cambria Math" pitchFamily="18"/>
              </a:rPr>
              <a:t>i</a:t>
            </a:r>
            <a:r>
              <a:rPr lang="en-US" sz="2400" dirty="0">
                <a:latin typeface="Cambria Math" pitchFamily="18"/>
                <a:ea typeface="Cambria Math" pitchFamily="18"/>
              </a:rPr>
              <a:t>, j - 1), L(</a:t>
            </a:r>
            <a:r>
              <a:rPr lang="en-US" sz="2400" dirty="0" err="1">
                <a:latin typeface="Cambria Math" pitchFamily="18"/>
                <a:ea typeface="Cambria Math" pitchFamily="18"/>
              </a:rPr>
              <a:t>i</a:t>
            </a:r>
            <a:r>
              <a:rPr lang="en-US" sz="2400" dirty="0">
                <a:latin typeface="Cambria Math" pitchFamily="18"/>
                <a:ea typeface="Cambria Math" pitchFamily="18"/>
              </a:rPr>
              <a:t> - 1, j) }</a:t>
            </a:r>
          </a:p>
          <a:p>
            <a:pPr lvl="0"/>
            <a:endParaRPr lang="en-US" sz="2000" dirty="0">
              <a:latin typeface="Cambria Math" pitchFamily="18"/>
              <a:ea typeface="Cambria Math" pitchFamily="18"/>
            </a:endParaRPr>
          </a:p>
          <a:p>
            <a:pPr lvl="0"/>
            <a:r>
              <a:rPr lang="en-US" sz="2000" dirty="0">
                <a:latin typeface="Cambria Math" pitchFamily="18"/>
                <a:ea typeface="Cambria Math" pitchFamily="18"/>
              </a:rPr>
              <a:t> </a:t>
            </a:r>
          </a:p>
          <a:p>
            <a:pPr marL="514350" lvl="0" indent="-514350">
              <a:buSzPct val="100000"/>
              <a:buFont typeface="Calibri Light"/>
              <a:buAutoNum type="arabicPeriod"/>
            </a:pPr>
            <a:endParaRPr lang="en-US" sz="2800" dirty="0">
              <a:latin typeface="Cambria Math" pitchFamily="18"/>
              <a:ea typeface="Cambria Math" pitchFamily="1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b="1"/>
              <a:t>Time and Space Analysis of Algorithm A</a:t>
            </a:r>
            <a:endParaRPr lang="en-US" sz="3600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SzPct val="100000"/>
              <a:buFont typeface="Arial" pitchFamily="34"/>
              <a:buChar char="•"/>
            </a:pPr>
            <a:r>
              <a:rPr lang="en-US">
                <a:latin typeface="Cambria Math" pitchFamily="18"/>
                <a:ea typeface="Cambria Math" pitchFamily="18"/>
              </a:rPr>
              <a:t>Algorithm A will be executed exactly mn times.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     Time</a:t>
            </a:r>
            <a:r>
              <a:rPr lang="zh-TW">
                <a:latin typeface="新細明體" pitchFamily="18"/>
                <a:ea typeface="新細明體" pitchFamily="18"/>
              </a:rPr>
              <a:t>：</a:t>
            </a:r>
            <a:r>
              <a:rPr lang="en-US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O(mn)</a:t>
            </a:r>
          </a:p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marL="457200" lvl="0" indent="-457200">
              <a:buSzPct val="100000"/>
              <a:buFont typeface="Arial" pitchFamily="34"/>
              <a:buChar char="•"/>
            </a:pPr>
            <a:r>
              <a:rPr lang="en-US">
                <a:latin typeface="Cambria Math" pitchFamily="18"/>
                <a:ea typeface="Cambria Math" pitchFamily="18"/>
              </a:rPr>
              <a:t>Matrix L require mn locations.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     Space</a:t>
            </a:r>
            <a:r>
              <a:rPr lang="zh-TW">
                <a:latin typeface="新細明體" pitchFamily="18"/>
                <a:ea typeface="新細明體" pitchFamily="18"/>
              </a:rPr>
              <a:t>：</a:t>
            </a:r>
            <a:r>
              <a:rPr lang="en-US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O(mn)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 </a:t>
            </a:r>
          </a:p>
          <a:p>
            <a:pPr lvl="0"/>
            <a:endParaRPr lang="en-US">
              <a:latin typeface="Cambria Math" pitchFamily="1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B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SzPct val="100000"/>
              <a:buFont typeface="Arial" pitchFamily="34"/>
              <a:buChar char="•"/>
            </a:pPr>
            <a:r>
              <a:rPr lang="en-US">
                <a:latin typeface="Cambria Math" pitchFamily="18"/>
                <a:ea typeface="Cambria Math" pitchFamily="18"/>
              </a:rPr>
              <a:t>Question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r>
              <a:rPr lang="en-US">
                <a:latin typeface="Cambria Math" pitchFamily="18"/>
                <a:ea typeface="新細明體" pitchFamily="18"/>
              </a:rPr>
              <a:t>Can we use less?</a:t>
            </a:r>
          </a:p>
          <a:p>
            <a:pPr marL="457200" lvl="0" indent="-457200">
              <a:buSzPct val="100000"/>
              <a:buFont typeface="Arial" pitchFamily="34"/>
              <a:buChar char="•"/>
            </a:pPr>
            <a:endParaRPr lang="en-US">
              <a:solidFill>
                <a:srgbClr val="FF0000"/>
              </a:solidFill>
              <a:latin typeface="Cambria Math" pitchFamily="18"/>
              <a:ea typeface="新細明體" pitchFamily="18"/>
            </a:endParaRPr>
          </a:p>
          <a:p>
            <a:pPr marL="457200" lvl="0" indent="-457200">
              <a:buSzPct val="100000"/>
              <a:buFont typeface="Arial" pitchFamily="34"/>
              <a:buChar char="•"/>
            </a:pPr>
            <a:r>
              <a:rPr lang="en-US">
                <a:latin typeface="Cambria Math" pitchFamily="18"/>
                <a:ea typeface="Cambria Math" pitchFamily="18"/>
              </a:rPr>
              <a:t>In Algorithm A, the derivation of row i of matrix L requires only row i-1 of matrix L.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 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79606" y="4678152"/>
          <a:ext cx="6720425" cy="187961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344085"/>
                <a:gridCol w="1344085"/>
                <a:gridCol w="1344085"/>
                <a:gridCol w="1344085"/>
                <a:gridCol w="1344085"/>
              </a:tblGrid>
              <a:tr h="370844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</a:tr>
              <a:tr h="370844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</a:tr>
              <a:tr h="370844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000" b="1">
                          <a:latin typeface="Cambria Math" pitchFamily="18"/>
                          <a:ea typeface="Cambria Math" pitchFamily="18"/>
                        </a:rPr>
                        <a:t>L(i, j)</a:t>
                      </a:r>
                      <a:endParaRPr lang="en-US" sz="2000" b="1">
                        <a:latin typeface="Cambria Math" pitchFamily="18"/>
                      </a:endParaRP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</a:tr>
              <a:tr h="370844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</a:tr>
              <a:tr h="370844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" name="直線單箭頭接點 13"/>
          <p:cNvCxnSpPr/>
          <p:nvPr/>
        </p:nvCxnSpPr>
        <p:spPr>
          <a:xfrm flipH="1" flipV="1">
            <a:off x="4177162" y="5652976"/>
            <a:ext cx="480563" cy="4873"/>
          </a:xfrm>
          <a:prstGeom prst="straightConnector1">
            <a:avLst/>
          </a:prstGeom>
          <a:noFill/>
          <a:ln w="25402" cap="flat">
            <a:solidFill>
              <a:srgbClr val="FF0000"/>
            </a:solidFill>
            <a:prstDash val="solid"/>
            <a:miter/>
            <a:tailEnd type="arrow"/>
          </a:ln>
        </p:spPr>
      </p:cxnSp>
      <p:cxnSp>
        <p:nvCxnSpPr>
          <p:cNvPr id="6" name="直線單箭頭接點 15"/>
          <p:cNvCxnSpPr/>
          <p:nvPr/>
        </p:nvCxnSpPr>
        <p:spPr>
          <a:xfrm flipH="1" flipV="1">
            <a:off x="4181478" y="5295903"/>
            <a:ext cx="485775" cy="238118"/>
          </a:xfrm>
          <a:prstGeom prst="straightConnector1">
            <a:avLst/>
          </a:prstGeom>
          <a:noFill/>
          <a:ln w="25402" cap="flat">
            <a:solidFill>
              <a:srgbClr val="FF0000"/>
            </a:solidFill>
            <a:prstDash val="solid"/>
            <a:miter/>
            <a:tailEnd type="arrow"/>
          </a:ln>
        </p:spPr>
      </p:cxnSp>
      <p:cxnSp>
        <p:nvCxnSpPr>
          <p:cNvPr id="7" name="直線單箭頭接點 18"/>
          <p:cNvCxnSpPr/>
          <p:nvPr/>
        </p:nvCxnSpPr>
        <p:spPr>
          <a:xfrm flipH="1" flipV="1">
            <a:off x="4791071" y="5286274"/>
            <a:ext cx="1098" cy="238320"/>
          </a:xfrm>
          <a:prstGeom prst="straightConnector1">
            <a:avLst/>
          </a:prstGeom>
          <a:noFill/>
          <a:ln w="25402" cap="flat">
            <a:solidFill>
              <a:srgbClr val="FF0000"/>
            </a:solidFill>
            <a:prstDash val="solid"/>
            <a:miter/>
            <a:tailEnd type="arrow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B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314449"/>
            <a:ext cx="9071643" cy="4839032"/>
          </a:xfrm>
        </p:spPr>
        <p:txBody>
          <a:bodyPr/>
          <a:lstStyle/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Example</a:t>
            </a:r>
            <a:r>
              <a:rPr lang="zh-TW">
                <a:latin typeface="新細明體" pitchFamily="18"/>
                <a:ea typeface="新細明體" pitchFamily="18"/>
              </a:rPr>
              <a:t>：</a:t>
            </a:r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A</a:t>
            </a:r>
            <a:r>
              <a:rPr lang="en-US">
                <a:latin typeface="Cambria Math" pitchFamily="18"/>
                <a:ea typeface="新細明體" pitchFamily="18"/>
              </a:rPr>
              <a:t> 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r>
              <a:rPr lang="en-US">
                <a:latin typeface="Cambria Math" pitchFamily="18"/>
                <a:ea typeface="Cambria Math" pitchFamily="18"/>
              </a:rPr>
              <a:t>abcd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B</a:t>
            </a:r>
            <a:r>
              <a:rPr lang="en-US">
                <a:latin typeface="Cambria Math" pitchFamily="18"/>
                <a:ea typeface="新細明體" pitchFamily="18"/>
              </a:rPr>
              <a:t> 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r>
              <a:rPr lang="en-US">
                <a:latin typeface="Cambria Math" pitchFamily="18"/>
                <a:ea typeface="Cambria Math" pitchFamily="18"/>
              </a:rPr>
              <a:t>acde</a:t>
            </a:r>
            <a:endParaRPr lang="en-US">
              <a:latin typeface="Cambria Math" pitchFamily="18"/>
            </a:endParaRPr>
          </a:p>
          <a:p>
            <a:pPr lvl="0"/>
            <a:endParaRPr lang="en-US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3428177" y="2364300"/>
          <a:ext cx="3714726" cy="145436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19121"/>
                <a:gridCol w="619121"/>
                <a:gridCol w="619121"/>
                <a:gridCol w="619121"/>
                <a:gridCol w="619121"/>
                <a:gridCol w="619121"/>
              </a:tblGrid>
              <a:tr h="484787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</a:tr>
              <a:tr h="484787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/>
                    </a:p>
                  </a:txBody>
                  <a:tcPr/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7"/>
          <p:cNvGraphicFramePr>
            <a:graphicFrameLocks noGrp="1"/>
          </p:cNvGraphicFramePr>
          <p:nvPr/>
        </p:nvGraphicFramePr>
        <p:xfrm>
          <a:off x="3428177" y="4356677"/>
          <a:ext cx="3714726" cy="145436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19121"/>
                <a:gridCol w="619121"/>
                <a:gridCol w="619121"/>
                <a:gridCol w="619121"/>
                <a:gridCol w="619121"/>
                <a:gridCol w="619121"/>
              </a:tblGrid>
              <a:tr h="484787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</a:tr>
              <a:tr h="484787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10"/>
          <p:cNvSpPr txBox="1"/>
          <p:nvPr/>
        </p:nvSpPr>
        <p:spPr>
          <a:xfrm>
            <a:off x="3336764" y="1905911"/>
            <a:ext cx="349512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Step1</a:t>
            </a:r>
            <a:r>
              <a:rPr lang="zh-TW" sz="1800" b="0" i="0" u="none" strike="noStrike" kern="1200" cap="none" spc="0" baseline="0">
                <a:solidFill>
                  <a:srgbClr val="000000"/>
                </a:solidFill>
                <a:uFillTx/>
                <a:latin typeface="新細明體" pitchFamily="18"/>
                <a:ea typeface="新細明體" pitchFamily="18"/>
              </a:rPr>
              <a:t>：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Compute K(1, j), j = 0…n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 Math" pitchFamily="18"/>
              <a:ea typeface="新細明體" pitchFamily="18"/>
            </a:endParaRPr>
          </a:p>
        </p:txBody>
      </p:sp>
      <p:sp>
        <p:nvSpPr>
          <p:cNvPr id="7" name="文字方塊 12"/>
          <p:cNvSpPr txBox="1"/>
          <p:nvPr/>
        </p:nvSpPr>
        <p:spPr>
          <a:xfrm>
            <a:off x="3336764" y="3902805"/>
            <a:ext cx="3363931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Step2</a:t>
            </a:r>
            <a:r>
              <a:rPr lang="zh-TW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新細明體" pitchFamily="18"/>
              </a:rPr>
              <a:t>：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新細明體" pitchFamily="18"/>
              </a:rPr>
              <a:t>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Copy to K(0, j) , j = 0…n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 Math" pitchFamily="18"/>
              <a:ea typeface="新細明體" pitchFamily="18"/>
            </a:endParaRPr>
          </a:p>
        </p:txBody>
      </p:sp>
      <p:sp>
        <p:nvSpPr>
          <p:cNvPr id="8" name="弧形箭號 (左彎) 13"/>
          <p:cNvSpPr/>
          <p:nvPr/>
        </p:nvSpPr>
        <p:spPr>
          <a:xfrm>
            <a:off x="7286625" y="3449985"/>
            <a:ext cx="1009653" cy="1847846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5400000"/>
              <a:gd name="f10" fmla="val 25000"/>
              <a:gd name="f11" fmla="val 50000"/>
              <a:gd name="f12" fmla="+- 0 0 -270"/>
              <a:gd name="f13" fmla="+- 0 0 -90"/>
              <a:gd name="f14" fmla="+- 0 0 -180"/>
              <a:gd name="f15" fmla="abs f4"/>
              <a:gd name="f16" fmla="abs f5"/>
              <a:gd name="f17" fmla="abs f6"/>
              <a:gd name="f18" fmla="*/ f12 f0 1"/>
              <a:gd name="f19" fmla="*/ f13 f0 1"/>
              <a:gd name="f20" fmla="*/ f14 f0 1"/>
              <a:gd name="f21" fmla="?: f15 f4 1"/>
              <a:gd name="f22" fmla="?: f16 f5 1"/>
              <a:gd name="f23" fmla="?: f17 f6 1"/>
              <a:gd name="f24" fmla="*/ f18 1 f3"/>
              <a:gd name="f25" fmla="*/ f19 1 f3"/>
              <a:gd name="f26" fmla="*/ f20 1 f3"/>
              <a:gd name="f27" fmla="*/ f21 1 21600"/>
              <a:gd name="f28" fmla="*/ f22 1 21600"/>
              <a:gd name="f29" fmla="*/ 21600 f21 1"/>
              <a:gd name="f30" fmla="*/ 21600 f22 1"/>
              <a:gd name="f31" fmla="+- f24 0 f1"/>
              <a:gd name="f32" fmla="+- f25 0 f1"/>
              <a:gd name="f33" fmla="+- f26 0 f1"/>
              <a:gd name="f34" fmla="min f28 f27"/>
              <a:gd name="f35" fmla="*/ f29 1 f23"/>
              <a:gd name="f36" fmla="*/ f30 1 f23"/>
              <a:gd name="f37" fmla="val f35"/>
              <a:gd name="f38" fmla="val f36"/>
              <a:gd name="f39" fmla="*/ f7 f34 1"/>
              <a:gd name="f40" fmla="+- f38 0 f7"/>
              <a:gd name="f41" fmla="+- f37 0 f7"/>
              <a:gd name="f42" fmla="*/ f37 f34 1"/>
              <a:gd name="f43" fmla="*/ f38 f34 1"/>
              <a:gd name="f44" fmla="*/ f40 1 2"/>
              <a:gd name="f45" fmla="min f41 f40"/>
              <a:gd name="f46" fmla="*/ f41 f41 1"/>
              <a:gd name="f47" fmla="*/ f41 f34 1"/>
              <a:gd name="f48" fmla="*/ f45 f10 1"/>
              <a:gd name="f49" fmla="*/ f45 f11 1"/>
              <a:gd name="f50" fmla="*/ f48 1 100000"/>
              <a:gd name="f51" fmla="*/ f49 1 100000"/>
              <a:gd name="f52" fmla="+- f50 f51 0"/>
              <a:gd name="f53" fmla="*/ f50 f50 1"/>
              <a:gd name="f54" fmla="+- f51 0 f50"/>
              <a:gd name="f55" fmla="*/ f51 1 2"/>
              <a:gd name="f56" fmla="+- f7 f50 0"/>
              <a:gd name="f57" fmla="+- 0 0 f50"/>
              <a:gd name="f58" fmla="*/ f50 1 2"/>
              <a:gd name="f59" fmla="*/ f52 1 4"/>
              <a:gd name="f60" fmla="+- f46 0 f53"/>
              <a:gd name="f61" fmla="*/ f54 1 2"/>
              <a:gd name="f62" fmla="+- f38 0 f55"/>
              <a:gd name="f63" fmla="+- 0 0 f58"/>
              <a:gd name="f64" fmla="+- 0 0 f57"/>
              <a:gd name="f65" fmla="*/ f56 f34 1"/>
              <a:gd name="f66" fmla="*/ f58 f34 1"/>
              <a:gd name="f67" fmla="+- f44 0 f59"/>
              <a:gd name="f68" fmla="sqrt f60"/>
              <a:gd name="f69" fmla="+- 0 0 f63"/>
              <a:gd name="f70" fmla="*/ f62 f34 1"/>
              <a:gd name="f71" fmla="*/ f67 2 1"/>
              <a:gd name="f72" fmla="+- f67 f50 0"/>
              <a:gd name="f73" fmla="*/ f68 f67 1"/>
              <a:gd name="f74" fmla="*/ f67 f34 1"/>
              <a:gd name="f75" fmla="*/ f71 f71 1"/>
              <a:gd name="f76" fmla="*/ f73 1 f41"/>
              <a:gd name="f77" fmla="+- f67 f72 0"/>
              <a:gd name="f78" fmla="*/ f72 f34 1"/>
              <a:gd name="f79" fmla="+- f75 0 f53"/>
              <a:gd name="f80" fmla="+- f67 f76 0"/>
              <a:gd name="f81" fmla="+- f72 f76 0"/>
              <a:gd name="f82" fmla="+- 0 0 f76"/>
              <a:gd name="f83" fmla="*/ f77 1 2"/>
              <a:gd name="f84" fmla="sqrt f79"/>
              <a:gd name="f85" fmla="+- f80 0 f61"/>
              <a:gd name="f86" fmla="+- f81 f61 0"/>
              <a:gd name="f87" fmla="+- 0 0 f82"/>
              <a:gd name="f88" fmla="*/ f80 f34 1"/>
              <a:gd name="f89" fmla="*/ f83 f34 1"/>
              <a:gd name="f90" fmla="*/ f84 f41 1"/>
              <a:gd name="f91" fmla="at2 f64 f87"/>
              <a:gd name="f92" fmla="*/ f85 f34 1"/>
              <a:gd name="f93" fmla="*/ f86 f34 1"/>
              <a:gd name="f94" fmla="+- f91 f1 0"/>
              <a:gd name="f95" fmla="*/ f90 1 f71"/>
              <a:gd name="f96" fmla="*/ f94 f8 1"/>
              <a:gd name="f97" fmla="+- 0 0 f95"/>
              <a:gd name="f98" fmla="*/ f96 1 f0"/>
              <a:gd name="f99" fmla="+- 0 0 f97"/>
              <a:gd name="f100" fmla="+- 0 0 f98"/>
              <a:gd name="f101" fmla="at2 f99 f69"/>
              <a:gd name="f102" fmla="val f100"/>
              <a:gd name="f103" fmla="+- f101 f1 0"/>
              <a:gd name="f104" fmla="+- 0 0 f102"/>
              <a:gd name="f105" fmla="*/ f103 f8 1"/>
              <a:gd name="f106" fmla="*/ f104 f0 1"/>
              <a:gd name="f107" fmla="*/ f105 1 f0"/>
              <a:gd name="f108" fmla="*/ f106 1 f8"/>
              <a:gd name="f109" fmla="+- 0 0 f107"/>
              <a:gd name="f110" fmla="+- f108 0 f1"/>
              <a:gd name="f111" fmla="val f109"/>
              <a:gd name="f112" fmla="+- 0 0 f111"/>
              <a:gd name="f113" fmla="*/ f112 f0 1"/>
              <a:gd name="f114" fmla="*/ f113 1 f8"/>
              <a:gd name="f115" fmla="+- f114 0 f1"/>
              <a:gd name="f116" fmla="+- f115 0 f110"/>
              <a:gd name="f117" fmla="+- f110 f115 0"/>
              <a:gd name="f118" fmla="+- 0 0 f115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39" y="f66"/>
              </a:cxn>
              <a:cxn ang="f31">
                <a:pos x="f65" y="f92"/>
              </a:cxn>
              <a:cxn ang="f32">
                <a:pos x="f39" y="f70"/>
              </a:cxn>
              <a:cxn ang="f33">
                <a:pos x="f65" y="f93"/>
              </a:cxn>
              <a:cxn ang="f32">
                <a:pos x="f42" y="f89"/>
              </a:cxn>
            </a:cxnLst>
            <a:rect l="f39" t="f39" r="f42" b="f43"/>
            <a:pathLst>
              <a:path stroke="0">
                <a:moveTo>
                  <a:pt x="f39" y="f70"/>
                </a:moveTo>
                <a:lnTo>
                  <a:pt x="f65" y="f92"/>
                </a:lnTo>
                <a:lnTo>
                  <a:pt x="f65" y="f88"/>
                </a:lnTo>
                <a:arcTo wR="f47" hR="f74" stAng="f110" swAng="f116"/>
                <a:arcTo wR="f47" hR="f74" stAng="f118" swAng="f117"/>
                <a:lnTo>
                  <a:pt x="f65" y="f93"/>
                </a:lnTo>
                <a:close/>
              </a:path>
              <a:path stroke="0">
                <a:moveTo>
                  <a:pt x="f42" y="f78"/>
                </a:moveTo>
                <a:arcTo wR="f47" hR="f74" stAng="f7" swAng="f9"/>
                <a:lnTo>
                  <a:pt x="f39" y="f39"/>
                </a:lnTo>
                <a:arcTo wR="f47" hR="f74" stAng="f2" swAng="f1"/>
                <a:close/>
              </a:path>
              <a:path fill="none">
                <a:moveTo>
                  <a:pt x="f42" y="f78"/>
                </a:moveTo>
                <a:arcTo wR="f47" hR="f74" stAng="f7" swAng="f9"/>
                <a:lnTo>
                  <a:pt x="f39" y="f39"/>
                </a:lnTo>
                <a:arcTo wR="f47" hR="f74" stAng="f2" swAng="f1"/>
                <a:lnTo>
                  <a:pt x="f42" y="f78"/>
                </a:lnTo>
                <a:arcTo wR="f47" hR="f74" stAng="f7" swAng="f110"/>
                <a:lnTo>
                  <a:pt x="f65" y="f93"/>
                </a:lnTo>
                <a:lnTo>
                  <a:pt x="f39" y="f70"/>
                </a:lnTo>
                <a:lnTo>
                  <a:pt x="f65" y="f92"/>
                </a:lnTo>
                <a:lnTo>
                  <a:pt x="f65" y="f88"/>
                </a:lnTo>
                <a:arcTo wR="f47" hR="f74" stAng="f110" swAng="f116"/>
              </a:path>
            </a:pathLst>
          </a:custGeom>
          <a:solidFill>
            <a:srgbClr val="5B9BD5"/>
          </a:solidFill>
          <a:ln w="12701" cap="flat">
            <a:solidFill>
              <a:srgbClr val="41719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9" name="文字方塊 3"/>
          <p:cNvSpPr txBox="1"/>
          <p:nvPr/>
        </p:nvSpPr>
        <p:spPr>
          <a:xfrm>
            <a:off x="4799136" y="6052943"/>
            <a:ext cx="97283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Matrix 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B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314449"/>
            <a:ext cx="9071643" cy="4839032"/>
          </a:xfrm>
        </p:spPr>
        <p:txBody>
          <a:bodyPr/>
          <a:lstStyle/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Example</a:t>
            </a:r>
            <a:r>
              <a:rPr lang="zh-TW">
                <a:latin typeface="新細明體" pitchFamily="18"/>
                <a:ea typeface="新細明體" pitchFamily="18"/>
              </a:rPr>
              <a:t>：</a:t>
            </a:r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A</a:t>
            </a:r>
            <a:r>
              <a:rPr lang="en-US">
                <a:latin typeface="Cambria Math" pitchFamily="18"/>
                <a:ea typeface="新細明體" pitchFamily="18"/>
              </a:rPr>
              <a:t> 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r>
              <a:rPr lang="en-US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a</a:t>
            </a:r>
            <a:r>
              <a:rPr lang="en-US">
                <a:latin typeface="Cambria Math" pitchFamily="18"/>
                <a:ea typeface="Cambria Math" pitchFamily="18"/>
              </a:rPr>
              <a:t>bcd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B</a:t>
            </a:r>
            <a:r>
              <a:rPr lang="en-US">
                <a:latin typeface="Cambria Math" pitchFamily="18"/>
                <a:ea typeface="新細明體" pitchFamily="18"/>
              </a:rPr>
              <a:t> 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r>
              <a:rPr lang="en-US">
                <a:latin typeface="Cambria Math" pitchFamily="18"/>
                <a:ea typeface="Cambria Math" pitchFamily="18"/>
              </a:rPr>
              <a:t>acde</a:t>
            </a:r>
            <a:endParaRPr lang="en-US">
              <a:latin typeface="Cambria Math" pitchFamily="18"/>
            </a:endParaRPr>
          </a:p>
          <a:p>
            <a:pPr lvl="0"/>
            <a:endParaRPr lang="en-US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3437695" y="2364300"/>
          <a:ext cx="3714726" cy="145436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19121"/>
                <a:gridCol w="619121"/>
                <a:gridCol w="619121"/>
                <a:gridCol w="619121"/>
                <a:gridCol w="619121"/>
                <a:gridCol w="619121"/>
              </a:tblGrid>
              <a:tr h="484787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</a:tr>
              <a:tr h="484787">
                <a:tc>
                  <a:txBody>
                    <a:bodyPr/>
                    <a:lstStyle/>
                    <a:p>
                      <a:pPr marL="0" marR="0" lvl="0" indent="0" algn="ctr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7"/>
          <p:cNvGraphicFramePr>
            <a:graphicFrameLocks noGrp="1"/>
          </p:cNvGraphicFramePr>
          <p:nvPr/>
        </p:nvGraphicFramePr>
        <p:xfrm>
          <a:off x="3437695" y="4356677"/>
          <a:ext cx="3714726" cy="145436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19121"/>
                <a:gridCol w="619121"/>
                <a:gridCol w="619121"/>
                <a:gridCol w="619121"/>
                <a:gridCol w="619121"/>
                <a:gridCol w="619121"/>
              </a:tblGrid>
              <a:tr h="484787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</a:tr>
              <a:tr h="484787">
                <a:tc>
                  <a:txBody>
                    <a:bodyPr/>
                    <a:lstStyle/>
                    <a:p>
                      <a:pPr marL="0" marR="0" lvl="0" indent="0" algn="ctr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10"/>
          <p:cNvSpPr txBox="1"/>
          <p:nvPr/>
        </p:nvSpPr>
        <p:spPr>
          <a:xfrm>
            <a:off x="3346292" y="1905911"/>
            <a:ext cx="349512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Step1</a:t>
            </a:r>
            <a:r>
              <a:rPr lang="zh-TW" sz="1800" b="0" i="0" u="none" strike="noStrike" kern="1200" cap="none" spc="0" baseline="0">
                <a:solidFill>
                  <a:srgbClr val="000000"/>
                </a:solidFill>
                <a:uFillTx/>
                <a:latin typeface="新細明體" pitchFamily="18"/>
                <a:ea typeface="新細明體" pitchFamily="18"/>
              </a:rPr>
              <a:t>：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Compute K(1, j), j = 0…n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 Math" pitchFamily="18"/>
              <a:ea typeface="新細明體" pitchFamily="18"/>
            </a:endParaRPr>
          </a:p>
        </p:txBody>
      </p:sp>
      <p:sp>
        <p:nvSpPr>
          <p:cNvPr id="7" name="文字方塊 12"/>
          <p:cNvSpPr txBox="1"/>
          <p:nvPr/>
        </p:nvSpPr>
        <p:spPr>
          <a:xfrm>
            <a:off x="3346292" y="3902805"/>
            <a:ext cx="3363931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Step2</a:t>
            </a:r>
            <a:r>
              <a:rPr lang="zh-TW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新細明體" pitchFamily="18"/>
              </a:rPr>
              <a:t>：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新細明體" pitchFamily="18"/>
              </a:rPr>
              <a:t>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Copy to K(0, j) , j = 0…n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 Math" pitchFamily="18"/>
              <a:ea typeface="新細明體" pitchFamily="18"/>
            </a:endParaRPr>
          </a:p>
        </p:txBody>
      </p:sp>
      <p:sp>
        <p:nvSpPr>
          <p:cNvPr id="8" name="弧形箭號 (左彎) 13"/>
          <p:cNvSpPr/>
          <p:nvPr/>
        </p:nvSpPr>
        <p:spPr>
          <a:xfrm>
            <a:off x="7296153" y="3449985"/>
            <a:ext cx="1009653" cy="1847846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5400000"/>
              <a:gd name="f10" fmla="val 25000"/>
              <a:gd name="f11" fmla="val 50000"/>
              <a:gd name="f12" fmla="+- 0 0 -270"/>
              <a:gd name="f13" fmla="+- 0 0 -90"/>
              <a:gd name="f14" fmla="+- 0 0 -180"/>
              <a:gd name="f15" fmla="abs f4"/>
              <a:gd name="f16" fmla="abs f5"/>
              <a:gd name="f17" fmla="abs f6"/>
              <a:gd name="f18" fmla="*/ f12 f0 1"/>
              <a:gd name="f19" fmla="*/ f13 f0 1"/>
              <a:gd name="f20" fmla="*/ f14 f0 1"/>
              <a:gd name="f21" fmla="?: f15 f4 1"/>
              <a:gd name="f22" fmla="?: f16 f5 1"/>
              <a:gd name="f23" fmla="?: f17 f6 1"/>
              <a:gd name="f24" fmla="*/ f18 1 f3"/>
              <a:gd name="f25" fmla="*/ f19 1 f3"/>
              <a:gd name="f26" fmla="*/ f20 1 f3"/>
              <a:gd name="f27" fmla="*/ f21 1 21600"/>
              <a:gd name="f28" fmla="*/ f22 1 21600"/>
              <a:gd name="f29" fmla="*/ 21600 f21 1"/>
              <a:gd name="f30" fmla="*/ 21600 f22 1"/>
              <a:gd name="f31" fmla="+- f24 0 f1"/>
              <a:gd name="f32" fmla="+- f25 0 f1"/>
              <a:gd name="f33" fmla="+- f26 0 f1"/>
              <a:gd name="f34" fmla="min f28 f27"/>
              <a:gd name="f35" fmla="*/ f29 1 f23"/>
              <a:gd name="f36" fmla="*/ f30 1 f23"/>
              <a:gd name="f37" fmla="val f35"/>
              <a:gd name="f38" fmla="val f36"/>
              <a:gd name="f39" fmla="*/ f7 f34 1"/>
              <a:gd name="f40" fmla="+- f38 0 f7"/>
              <a:gd name="f41" fmla="+- f37 0 f7"/>
              <a:gd name="f42" fmla="*/ f37 f34 1"/>
              <a:gd name="f43" fmla="*/ f38 f34 1"/>
              <a:gd name="f44" fmla="*/ f40 1 2"/>
              <a:gd name="f45" fmla="min f41 f40"/>
              <a:gd name="f46" fmla="*/ f41 f41 1"/>
              <a:gd name="f47" fmla="*/ f41 f34 1"/>
              <a:gd name="f48" fmla="*/ f45 f10 1"/>
              <a:gd name="f49" fmla="*/ f45 f11 1"/>
              <a:gd name="f50" fmla="*/ f48 1 100000"/>
              <a:gd name="f51" fmla="*/ f49 1 100000"/>
              <a:gd name="f52" fmla="+- f50 f51 0"/>
              <a:gd name="f53" fmla="*/ f50 f50 1"/>
              <a:gd name="f54" fmla="+- f51 0 f50"/>
              <a:gd name="f55" fmla="*/ f51 1 2"/>
              <a:gd name="f56" fmla="+- f7 f50 0"/>
              <a:gd name="f57" fmla="+- 0 0 f50"/>
              <a:gd name="f58" fmla="*/ f50 1 2"/>
              <a:gd name="f59" fmla="*/ f52 1 4"/>
              <a:gd name="f60" fmla="+- f46 0 f53"/>
              <a:gd name="f61" fmla="*/ f54 1 2"/>
              <a:gd name="f62" fmla="+- f38 0 f55"/>
              <a:gd name="f63" fmla="+- 0 0 f58"/>
              <a:gd name="f64" fmla="+- 0 0 f57"/>
              <a:gd name="f65" fmla="*/ f56 f34 1"/>
              <a:gd name="f66" fmla="*/ f58 f34 1"/>
              <a:gd name="f67" fmla="+- f44 0 f59"/>
              <a:gd name="f68" fmla="sqrt f60"/>
              <a:gd name="f69" fmla="+- 0 0 f63"/>
              <a:gd name="f70" fmla="*/ f62 f34 1"/>
              <a:gd name="f71" fmla="*/ f67 2 1"/>
              <a:gd name="f72" fmla="+- f67 f50 0"/>
              <a:gd name="f73" fmla="*/ f68 f67 1"/>
              <a:gd name="f74" fmla="*/ f67 f34 1"/>
              <a:gd name="f75" fmla="*/ f71 f71 1"/>
              <a:gd name="f76" fmla="*/ f73 1 f41"/>
              <a:gd name="f77" fmla="+- f67 f72 0"/>
              <a:gd name="f78" fmla="*/ f72 f34 1"/>
              <a:gd name="f79" fmla="+- f75 0 f53"/>
              <a:gd name="f80" fmla="+- f67 f76 0"/>
              <a:gd name="f81" fmla="+- f72 f76 0"/>
              <a:gd name="f82" fmla="+- 0 0 f76"/>
              <a:gd name="f83" fmla="*/ f77 1 2"/>
              <a:gd name="f84" fmla="sqrt f79"/>
              <a:gd name="f85" fmla="+- f80 0 f61"/>
              <a:gd name="f86" fmla="+- f81 f61 0"/>
              <a:gd name="f87" fmla="+- 0 0 f82"/>
              <a:gd name="f88" fmla="*/ f80 f34 1"/>
              <a:gd name="f89" fmla="*/ f83 f34 1"/>
              <a:gd name="f90" fmla="*/ f84 f41 1"/>
              <a:gd name="f91" fmla="at2 f64 f87"/>
              <a:gd name="f92" fmla="*/ f85 f34 1"/>
              <a:gd name="f93" fmla="*/ f86 f34 1"/>
              <a:gd name="f94" fmla="+- f91 f1 0"/>
              <a:gd name="f95" fmla="*/ f90 1 f71"/>
              <a:gd name="f96" fmla="*/ f94 f8 1"/>
              <a:gd name="f97" fmla="+- 0 0 f95"/>
              <a:gd name="f98" fmla="*/ f96 1 f0"/>
              <a:gd name="f99" fmla="+- 0 0 f97"/>
              <a:gd name="f100" fmla="+- 0 0 f98"/>
              <a:gd name="f101" fmla="at2 f99 f69"/>
              <a:gd name="f102" fmla="val f100"/>
              <a:gd name="f103" fmla="+- f101 f1 0"/>
              <a:gd name="f104" fmla="+- 0 0 f102"/>
              <a:gd name="f105" fmla="*/ f103 f8 1"/>
              <a:gd name="f106" fmla="*/ f104 f0 1"/>
              <a:gd name="f107" fmla="*/ f105 1 f0"/>
              <a:gd name="f108" fmla="*/ f106 1 f8"/>
              <a:gd name="f109" fmla="+- 0 0 f107"/>
              <a:gd name="f110" fmla="+- f108 0 f1"/>
              <a:gd name="f111" fmla="val f109"/>
              <a:gd name="f112" fmla="+- 0 0 f111"/>
              <a:gd name="f113" fmla="*/ f112 f0 1"/>
              <a:gd name="f114" fmla="*/ f113 1 f8"/>
              <a:gd name="f115" fmla="+- f114 0 f1"/>
              <a:gd name="f116" fmla="+- f115 0 f110"/>
              <a:gd name="f117" fmla="+- f110 f115 0"/>
              <a:gd name="f118" fmla="+- 0 0 f115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39" y="f66"/>
              </a:cxn>
              <a:cxn ang="f31">
                <a:pos x="f65" y="f92"/>
              </a:cxn>
              <a:cxn ang="f32">
                <a:pos x="f39" y="f70"/>
              </a:cxn>
              <a:cxn ang="f33">
                <a:pos x="f65" y="f93"/>
              </a:cxn>
              <a:cxn ang="f32">
                <a:pos x="f42" y="f89"/>
              </a:cxn>
            </a:cxnLst>
            <a:rect l="f39" t="f39" r="f42" b="f43"/>
            <a:pathLst>
              <a:path stroke="0">
                <a:moveTo>
                  <a:pt x="f39" y="f70"/>
                </a:moveTo>
                <a:lnTo>
                  <a:pt x="f65" y="f92"/>
                </a:lnTo>
                <a:lnTo>
                  <a:pt x="f65" y="f88"/>
                </a:lnTo>
                <a:arcTo wR="f47" hR="f74" stAng="f110" swAng="f116"/>
                <a:arcTo wR="f47" hR="f74" stAng="f118" swAng="f117"/>
                <a:lnTo>
                  <a:pt x="f65" y="f93"/>
                </a:lnTo>
                <a:close/>
              </a:path>
              <a:path stroke="0">
                <a:moveTo>
                  <a:pt x="f42" y="f78"/>
                </a:moveTo>
                <a:arcTo wR="f47" hR="f74" stAng="f7" swAng="f9"/>
                <a:lnTo>
                  <a:pt x="f39" y="f39"/>
                </a:lnTo>
                <a:arcTo wR="f47" hR="f74" stAng="f2" swAng="f1"/>
                <a:close/>
              </a:path>
              <a:path fill="none">
                <a:moveTo>
                  <a:pt x="f42" y="f78"/>
                </a:moveTo>
                <a:arcTo wR="f47" hR="f74" stAng="f7" swAng="f9"/>
                <a:lnTo>
                  <a:pt x="f39" y="f39"/>
                </a:lnTo>
                <a:arcTo wR="f47" hR="f74" stAng="f2" swAng="f1"/>
                <a:lnTo>
                  <a:pt x="f42" y="f78"/>
                </a:lnTo>
                <a:arcTo wR="f47" hR="f74" stAng="f7" swAng="f110"/>
                <a:lnTo>
                  <a:pt x="f65" y="f93"/>
                </a:lnTo>
                <a:lnTo>
                  <a:pt x="f39" y="f70"/>
                </a:lnTo>
                <a:lnTo>
                  <a:pt x="f65" y="f92"/>
                </a:lnTo>
                <a:lnTo>
                  <a:pt x="f65" y="f88"/>
                </a:lnTo>
                <a:arcTo wR="f47" hR="f74" stAng="f110" swAng="f116"/>
              </a:path>
            </a:pathLst>
          </a:custGeom>
          <a:solidFill>
            <a:srgbClr val="5B9BD5"/>
          </a:solidFill>
          <a:ln w="12701" cap="flat">
            <a:solidFill>
              <a:srgbClr val="41719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799136" y="6052943"/>
            <a:ext cx="97283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Matrix 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B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314449"/>
            <a:ext cx="9071643" cy="4839032"/>
          </a:xfrm>
        </p:spPr>
        <p:txBody>
          <a:bodyPr/>
          <a:lstStyle/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Example</a:t>
            </a:r>
            <a:r>
              <a:rPr lang="zh-TW">
                <a:latin typeface="新細明體" pitchFamily="18"/>
                <a:ea typeface="新細明體" pitchFamily="18"/>
              </a:rPr>
              <a:t>：</a:t>
            </a:r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A</a:t>
            </a:r>
            <a:r>
              <a:rPr lang="en-US">
                <a:latin typeface="Cambria Math" pitchFamily="18"/>
                <a:ea typeface="新細明體" pitchFamily="18"/>
              </a:rPr>
              <a:t> 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r>
              <a:rPr lang="en-US">
                <a:latin typeface="Cambria Math" pitchFamily="18"/>
                <a:ea typeface="Cambria Math" pitchFamily="18"/>
              </a:rPr>
              <a:t>a</a:t>
            </a:r>
            <a:r>
              <a:rPr lang="en-US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b</a:t>
            </a:r>
            <a:r>
              <a:rPr lang="en-US">
                <a:latin typeface="Cambria Math" pitchFamily="18"/>
                <a:ea typeface="Cambria Math" pitchFamily="18"/>
              </a:rPr>
              <a:t>cd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B</a:t>
            </a:r>
            <a:r>
              <a:rPr lang="en-US">
                <a:latin typeface="Cambria Math" pitchFamily="18"/>
                <a:ea typeface="新細明體" pitchFamily="18"/>
              </a:rPr>
              <a:t> 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r>
              <a:rPr lang="en-US">
                <a:latin typeface="Cambria Math" pitchFamily="18"/>
                <a:ea typeface="Cambria Math" pitchFamily="18"/>
              </a:rPr>
              <a:t>acde</a:t>
            </a:r>
            <a:endParaRPr lang="en-US">
              <a:latin typeface="Cambria Math" pitchFamily="18"/>
            </a:endParaRPr>
          </a:p>
          <a:p>
            <a:pPr lvl="0"/>
            <a:endParaRPr lang="en-US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3418648" y="2364300"/>
          <a:ext cx="3714726" cy="145436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19121"/>
                <a:gridCol w="619121"/>
                <a:gridCol w="619121"/>
                <a:gridCol w="619121"/>
                <a:gridCol w="619121"/>
                <a:gridCol w="619121"/>
              </a:tblGrid>
              <a:tr h="484787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7"/>
          <p:cNvGraphicFramePr>
            <a:graphicFrameLocks noGrp="1"/>
          </p:cNvGraphicFramePr>
          <p:nvPr/>
        </p:nvGraphicFramePr>
        <p:xfrm>
          <a:off x="3418648" y="4356677"/>
          <a:ext cx="3714726" cy="145436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19121"/>
                <a:gridCol w="619121"/>
                <a:gridCol w="619121"/>
                <a:gridCol w="619121"/>
                <a:gridCol w="619121"/>
                <a:gridCol w="619121"/>
              </a:tblGrid>
              <a:tr h="484787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10"/>
          <p:cNvSpPr txBox="1"/>
          <p:nvPr/>
        </p:nvSpPr>
        <p:spPr>
          <a:xfrm>
            <a:off x="3327245" y="1905911"/>
            <a:ext cx="349512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Step1</a:t>
            </a:r>
            <a:r>
              <a:rPr lang="zh-TW" sz="1800" b="0" i="0" u="none" strike="noStrike" kern="1200" cap="none" spc="0" baseline="0">
                <a:solidFill>
                  <a:srgbClr val="000000"/>
                </a:solidFill>
                <a:uFillTx/>
                <a:latin typeface="新細明體" pitchFamily="18"/>
                <a:ea typeface="新細明體" pitchFamily="18"/>
              </a:rPr>
              <a:t>：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Compute K(1, j), j = 0…n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 Math" pitchFamily="18"/>
              <a:ea typeface="新細明體" pitchFamily="18"/>
            </a:endParaRPr>
          </a:p>
        </p:txBody>
      </p:sp>
      <p:sp>
        <p:nvSpPr>
          <p:cNvPr id="7" name="文字方塊 12"/>
          <p:cNvSpPr txBox="1"/>
          <p:nvPr/>
        </p:nvSpPr>
        <p:spPr>
          <a:xfrm>
            <a:off x="3327245" y="3902805"/>
            <a:ext cx="3363931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Step2</a:t>
            </a:r>
            <a:r>
              <a:rPr lang="zh-TW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新細明體" pitchFamily="18"/>
              </a:rPr>
              <a:t>：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新細明體" pitchFamily="18"/>
              </a:rPr>
              <a:t>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Copy to K(0, j) , j = 0…n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 Math" pitchFamily="18"/>
              <a:ea typeface="新細明體" pitchFamily="18"/>
            </a:endParaRPr>
          </a:p>
        </p:txBody>
      </p:sp>
      <p:sp>
        <p:nvSpPr>
          <p:cNvPr id="8" name="弧形箭號 (左彎) 13"/>
          <p:cNvSpPr/>
          <p:nvPr/>
        </p:nvSpPr>
        <p:spPr>
          <a:xfrm>
            <a:off x="7277096" y="3449985"/>
            <a:ext cx="1009653" cy="1847846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5400000"/>
              <a:gd name="f10" fmla="val 25000"/>
              <a:gd name="f11" fmla="val 50000"/>
              <a:gd name="f12" fmla="+- 0 0 -270"/>
              <a:gd name="f13" fmla="+- 0 0 -90"/>
              <a:gd name="f14" fmla="+- 0 0 -180"/>
              <a:gd name="f15" fmla="abs f4"/>
              <a:gd name="f16" fmla="abs f5"/>
              <a:gd name="f17" fmla="abs f6"/>
              <a:gd name="f18" fmla="*/ f12 f0 1"/>
              <a:gd name="f19" fmla="*/ f13 f0 1"/>
              <a:gd name="f20" fmla="*/ f14 f0 1"/>
              <a:gd name="f21" fmla="?: f15 f4 1"/>
              <a:gd name="f22" fmla="?: f16 f5 1"/>
              <a:gd name="f23" fmla="?: f17 f6 1"/>
              <a:gd name="f24" fmla="*/ f18 1 f3"/>
              <a:gd name="f25" fmla="*/ f19 1 f3"/>
              <a:gd name="f26" fmla="*/ f20 1 f3"/>
              <a:gd name="f27" fmla="*/ f21 1 21600"/>
              <a:gd name="f28" fmla="*/ f22 1 21600"/>
              <a:gd name="f29" fmla="*/ 21600 f21 1"/>
              <a:gd name="f30" fmla="*/ 21600 f22 1"/>
              <a:gd name="f31" fmla="+- f24 0 f1"/>
              <a:gd name="f32" fmla="+- f25 0 f1"/>
              <a:gd name="f33" fmla="+- f26 0 f1"/>
              <a:gd name="f34" fmla="min f28 f27"/>
              <a:gd name="f35" fmla="*/ f29 1 f23"/>
              <a:gd name="f36" fmla="*/ f30 1 f23"/>
              <a:gd name="f37" fmla="val f35"/>
              <a:gd name="f38" fmla="val f36"/>
              <a:gd name="f39" fmla="*/ f7 f34 1"/>
              <a:gd name="f40" fmla="+- f38 0 f7"/>
              <a:gd name="f41" fmla="+- f37 0 f7"/>
              <a:gd name="f42" fmla="*/ f37 f34 1"/>
              <a:gd name="f43" fmla="*/ f38 f34 1"/>
              <a:gd name="f44" fmla="*/ f40 1 2"/>
              <a:gd name="f45" fmla="min f41 f40"/>
              <a:gd name="f46" fmla="*/ f41 f41 1"/>
              <a:gd name="f47" fmla="*/ f41 f34 1"/>
              <a:gd name="f48" fmla="*/ f45 f10 1"/>
              <a:gd name="f49" fmla="*/ f45 f11 1"/>
              <a:gd name="f50" fmla="*/ f48 1 100000"/>
              <a:gd name="f51" fmla="*/ f49 1 100000"/>
              <a:gd name="f52" fmla="+- f50 f51 0"/>
              <a:gd name="f53" fmla="*/ f50 f50 1"/>
              <a:gd name="f54" fmla="+- f51 0 f50"/>
              <a:gd name="f55" fmla="*/ f51 1 2"/>
              <a:gd name="f56" fmla="+- f7 f50 0"/>
              <a:gd name="f57" fmla="+- 0 0 f50"/>
              <a:gd name="f58" fmla="*/ f50 1 2"/>
              <a:gd name="f59" fmla="*/ f52 1 4"/>
              <a:gd name="f60" fmla="+- f46 0 f53"/>
              <a:gd name="f61" fmla="*/ f54 1 2"/>
              <a:gd name="f62" fmla="+- f38 0 f55"/>
              <a:gd name="f63" fmla="+- 0 0 f58"/>
              <a:gd name="f64" fmla="+- 0 0 f57"/>
              <a:gd name="f65" fmla="*/ f56 f34 1"/>
              <a:gd name="f66" fmla="*/ f58 f34 1"/>
              <a:gd name="f67" fmla="+- f44 0 f59"/>
              <a:gd name="f68" fmla="sqrt f60"/>
              <a:gd name="f69" fmla="+- 0 0 f63"/>
              <a:gd name="f70" fmla="*/ f62 f34 1"/>
              <a:gd name="f71" fmla="*/ f67 2 1"/>
              <a:gd name="f72" fmla="+- f67 f50 0"/>
              <a:gd name="f73" fmla="*/ f68 f67 1"/>
              <a:gd name="f74" fmla="*/ f67 f34 1"/>
              <a:gd name="f75" fmla="*/ f71 f71 1"/>
              <a:gd name="f76" fmla="*/ f73 1 f41"/>
              <a:gd name="f77" fmla="+- f67 f72 0"/>
              <a:gd name="f78" fmla="*/ f72 f34 1"/>
              <a:gd name="f79" fmla="+- f75 0 f53"/>
              <a:gd name="f80" fmla="+- f67 f76 0"/>
              <a:gd name="f81" fmla="+- f72 f76 0"/>
              <a:gd name="f82" fmla="+- 0 0 f76"/>
              <a:gd name="f83" fmla="*/ f77 1 2"/>
              <a:gd name="f84" fmla="sqrt f79"/>
              <a:gd name="f85" fmla="+- f80 0 f61"/>
              <a:gd name="f86" fmla="+- f81 f61 0"/>
              <a:gd name="f87" fmla="+- 0 0 f82"/>
              <a:gd name="f88" fmla="*/ f80 f34 1"/>
              <a:gd name="f89" fmla="*/ f83 f34 1"/>
              <a:gd name="f90" fmla="*/ f84 f41 1"/>
              <a:gd name="f91" fmla="at2 f64 f87"/>
              <a:gd name="f92" fmla="*/ f85 f34 1"/>
              <a:gd name="f93" fmla="*/ f86 f34 1"/>
              <a:gd name="f94" fmla="+- f91 f1 0"/>
              <a:gd name="f95" fmla="*/ f90 1 f71"/>
              <a:gd name="f96" fmla="*/ f94 f8 1"/>
              <a:gd name="f97" fmla="+- 0 0 f95"/>
              <a:gd name="f98" fmla="*/ f96 1 f0"/>
              <a:gd name="f99" fmla="+- 0 0 f97"/>
              <a:gd name="f100" fmla="+- 0 0 f98"/>
              <a:gd name="f101" fmla="at2 f99 f69"/>
              <a:gd name="f102" fmla="val f100"/>
              <a:gd name="f103" fmla="+- f101 f1 0"/>
              <a:gd name="f104" fmla="+- 0 0 f102"/>
              <a:gd name="f105" fmla="*/ f103 f8 1"/>
              <a:gd name="f106" fmla="*/ f104 f0 1"/>
              <a:gd name="f107" fmla="*/ f105 1 f0"/>
              <a:gd name="f108" fmla="*/ f106 1 f8"/>
              <a:gd name="f109" fmla="+- 0 0 f107"/>
              <a:gd name="f110" fmla="+- f108 0 f1"/>
              <a:gd name="f111" fmla="val f109"/>
              <a:gd name="f112" fmla="+- 0 0 f111"/>
              <a:gd name="f113" fmla="*/ f112 f0 1"/>
              <a:gd name="f114" fmla="*/ f113 1 f8"/>
              <a:gd name="f115" fmla="+- f114 0 f1"/>
              <a:gd name="f116" fmla="+- f115 0 f110"/>
              <a:gd name="f117" fmla="+- f110 f115 0"/>
              <a:gd name="f118" fmla="+- 0 0 f115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39" y="f66"/>
              </a:cxn>
              <a:cxn ang="f31">
                <a:pos x="f65" y="f92"/>
              </a:cxn>
              <a:cxn ang="f32">
                <a:pos x="f39" y="f70"/>
              </a:cxn>
              <a:cxn ang="f33">
                <a:pos x="f65" y="f93"/>
              </a:cxn>
              <a:cxn ang="f32">
                <a:pos x="f42" y="f89"/>
              </a:cxn>
            </a:cxnLst>
            <a:rect l="f39" t="f39" r="f42" b="f43"/>
            <a:pathLst>
              <a:path stroke="0">
                <a:moveTo>
                  <a:pt x="f39" y="f70"/>
                </a:moveTo>
                <a:lnTo>
                  <a:pt x="f65" y="f92"/>
                </a:lnTo>
                <a:lnTo>
                  <a:pt x="f65" y="f88"/>
                </a:lnTo>
                <a:arcTo wR="f47" hR="f74" stAng="f110" swAng="f116"/>
                <a:arcTo wR="f47" hR="f74" stAng="f118" swAng="f117"/>
                <a:lnTo>
                  <a:pt x="f65" y="f93"/>
                </a:lnTo>
                <a:close/>
              </a:path>
              <a:path stroke="0">
                <a:moveTo>
                  <a:pt x="f42" y="f78"/>
                </a:moveTo>
                <a:arcTo wR="f47" hR="f74" stAng="f7" swAng="f9"/>
                <a:lnTo>
                  <a:pt x="f39" y="f39"/>
                </a:lnTo>
                <a:arcTo wR="f47" hR="f74" stAng="f2" swAng="f1"/>
                <a:close/>
              </a:path>
              <a:path fill="none">
                <a:moveTo>
                  <a:pt x="f42" y="f78"/>
                </a:moveTo>
                <a:arcTo wR="f47" hR="f74" stAng="f7" swAng="f9"/>
                <a:lnTo>
                  <a:pt x="f39" y="f39"/>
                </a:lnTo>
                <a:arcTo wR="f47" hR="f74" stAng="f2" swAng="f1"/>
                <a:lnTo>
                  <a:pt x="f42" y="f78"/>
                </a:lnTo>
                <a:arcTo wR="f47" hR="f74" stAng="f7" swAng="f110"/>
                <a:lnTo>
                  <a:pt x="f65" y="f93"/>
                </a:lnTo>
                <a:lnTo>
                  <a:pt x="f39" y="f70"/>
                </a:lnTo>
                <a:lnTo>
                  <a:pt x="f65" y="f92"/>
                </a:lnTo>
                <a:lnTo>
                  <a:pt x="f65" y="f88"/>
                </a:lnTo>
                <a:arcTo wR="f47" hR="f74" stAng="f110" swAng="f116"/>
              </a:path>
            </a:pathLst>
          </a:custGeom>
          <a:solidFill>
            <a:srgbClr val="5B9BD5"/>
          </a:solidFill>
          <a:ln w="12701" cap="flat">
            <a:solidFill>
              <a:srgbClr val="41719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799136" y="6052943"/>
            <a:ext cx="97283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Matrix 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B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314449"/>
            <a:ext cx="9071643" cy="4839032"/>
          </a:xfrm>
        </p:spPr>
        <p:txBody>
          <a:bodyPr/>
          <a:lstStyle/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Example</a:t>
            </a:r>
            <a:r>
              <a:rPr lang="zh-TW">
                <a:latin typeface="新細明體" pitchFamily="18"/>
                <a:ea typeface="新細明體" pitchFamily="18"/>
              </a:rPr>
              <a:t>：</a:t>
            </a:r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A</a:t>
            </a:r>
            <a:r>
              <a:rPr lang="en-US">
                <a:latin typeface="Cambria Math" pitchFamily="18"/>
                <a:ea typeface="新細明體" pitchFamily="18"/>
              </a:rPr>
              <a:t> 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r>
              <a:rPr lang="en-US">
                <a:latin typeface="Cambria Math" pitchFamily="18"/>
                <a:ea typeface="Cambria Math" pitchFamily="18"/>
              </a:rPr>
              <a:t>ab</a:t>
            </a:r>
            <a:r>
              <a:rPr lang="en-US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c</a:t>
            </a:r>
            <a:r>
              <a:rPr lang="en-US">
                <a:latin typeface="Cambria Math" pitchFamily="18"/>
                <a:ea typeface="Cambria Math" pitchFamily="18"/>
              </a:rPr>
              <a:t>d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B</a:t>
            </a:r>
            <a:r>
              <a:rPr lang="en-US">
                <a:latin typeface="Cambria Math" pitchFamily="18"/>
                <a:ea typeface="新細明體" pitchFamily="18"/>
              </a:rPr>
              <a:t> 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r>
              <a:rPr lang="en-US">
                <a:latin typeface="Cambria Math" pitchFamily="18"/>
                <a:ea typeface="Cambria Math" pitchFamily="18"/>
              </a:rPr>
              <a:t>acde</a:t>
            </a:r>
            <a:endParaRPr lang="en-US">
              <a:latin typeface="Cambria Math" pitchFamily="18"/>
            </a:endParaRPr>
          </a:p>
          <a:p>
            <a:pPr lvl="0"/>
            <a:endParaRPr lang="en-US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3428177" y="2364300"/>
          <a:ext cx="3714726" cy="145436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19121"/>
                <a:gridCol w="619121"/>
                <a:gridCol w="619121"/>
                <a:gridCol w="619121"/>
                <a:gridCol w="619121"/>
                <a:gridCol w="619121"/>
              </a:tblGrid>
              <a:tr h="484787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7"/>
          <p:cNvGraphicFramePr>
            <a:graphicFrameLocks noGrp="1"/>
          </p:cNvGraphicFramePr>
          <p:nvPr/>
        </p:nvGraphicFramePr>
        <p:xfrm>
          <a:off x="3428177" y="4356677"/>
          <a:ext cx="3714726" cy="145436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19121"/>
                <a:gridCol w="619121"/>
                <a:gridCol w="619121"/>
                <a:gridCol w="619121"/>
                <a:gridCol w="619121"/>
                <a:gridCol w="619121"/>
              </a:tblGrid>
              <a:tr h="484787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10"/>
          <p:cNvSpPr txBox="1"/>
          <p:nvPr/>
        </p:nvSpPr>
        <p:spPr>
          <a:xfrm>
            <a:off x="3336764" y="1905911"/>
            <a:ext cx="349512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Step1</a:t>
            </a:r>
            <a:r>
              <a:rPr lang="zh-TW" sz="1800" b="0" i="0" u="none" strike="noStrike" kern="1200" cap="none" spc="0" baseline="0">
                <a:solidFill>
                  <a:srgbClr val="000000"/>
                </a:solidFill>
                <a:uFillTx/>
                <a:latin typeface="新細明體" pitchFamily="18"/>
                <a:ea typeface="新細明體" pitchFamily="18"/>
              </a:rPr>
              <a:t>：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Compute K(1, j), j = 0…n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 Math" pitchFamily="18"/>
              <a:ea typeface="新細明體" pitchFamily="18"/>
            </a:endParaRPr>
          </a:p>
        </p:txBody>
      </p:sp>
      <p:sp>
        <p:nvSpPr>
          <p:cNvPr id="7" name="文字方塊 12"/>
          <p:cNvSpPr txBox="1"/>
          <p:nvPr/>
        </p:nvSpPr>
        <p:spPr>
          <a:xfrm>
            <a:off x="3336764" y="3902805"/>
            <a:ext cx="3363931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Step2</a:t>
            </a:r>
            <a:r>
              <a:rPr lang="zh-TW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新細明體" pitchFamily="18"/>
              </a:rPr>
              <a:t>：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新細明體" pitchFamily="18"/>
              </a:rPr>
              <a:t>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Copy to K(0, j) , j = 0…n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 Math" pitchFamily="18"/>
              <a:ea typeface="新細明體" pitchFamily="18"/>
            </a:endParaRPr>
          </a:p>
        </p:txBody>
      </p:sp>
      <p:sp>
        <p:nvSpPr>
          <p:cNvPr id="8" name="弧形箭號 (左彎) 13"/>
          <p:cNvSpPr/>
          <p:nvPr/>
        </p:nvSpPr>
        <p:spPr>
          <a:xfrm>
            <a:off x="7286625" y="3449985"/>
            <a:ext cx="1009653" cy="1847846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5400000"/>
              <a:gd name="f10" fmla="val 25000"/>
              <a:gd name="f11" fmla="val 50000"/>
              <a:gd name="f12" fmla="+- 0 0 -270"/>
              <a:gd name="f13" fmla="+- 0 0 -90"/>
              <a:gd name="f14" fmla="+- 0 0 -180"/>
              <a:gd name="f15" fmla="abs f4"/>
              <a:gd name="f16" fmla="abs f5"/>
              <a:gd name="f17" fmla="abs f6"/>
              <a:gd name="f18" fmla="*/ f12 f0 1"/>
              <a:gd name="f19" fmla="*/ f13 f0 1"/>
              <a:gd name="f20" fmla="*/ f14 f0 1"/>
              <a:gd name="f21" fmla="?: f15 f4 1"/>
              <a:gd name="f22" fmla="?: f16 f5 1"/>
              <a:gd name="f23" fmla="?: f17 f6 1"/>
              <a:gd name="f24" fmla="*/ f18 1 f3"/>
              <a:gd name="f25" fmla="*/ f19 1 f3"/>
              <a:gd name="f26" fmla="*/ f20 1 f3"/>
              <a:gd name="f27" fmla="*/ f21 1 21600"/>
              <a:gd name="f28" fmla="*/ f22 1 21600"/>
              <a:gd name="f29" fmla="*/ 21600 f21 1"/>
              <a:gd name="f30" fmla="*/ 21600 f22 1"/>
              <a:gd name="f31" fmla="+- f24 0 f1"/>
              <a:gd name="f32" fmla="+- f25 0 f1"/>
              <a:gd name="f33" fmla="+- f26 0 f1"/>
              <a:gd name="f34" fmla="min f28 f27"/>
              <a:gd name="f35" fmla="*/ f29 1 f23"/>
              <a:gd name="f36" fmla="*/ f30 1 f23"/>
              <a:gd name="f37" fmla="val f35"/>
              <a:gd name="f38" fmla="val f36"/>
              <a:gd name="f39" fmla="*/ f7 f34 1"/>
              <a:gd name="f40" fmla="+- f38 0 f7"/>
              <a:gd name="f41" fmla="+- f37 0 f7"/>
              <a:gd name="f42" fmla="*/ f37 f34 1"/>
              <a:gd name="f43" fmla="*/ f38 f34 1"/>
              <a:gd name="f44" fmla="*/ f40 1 2"/>
              <a:gd name="f45" fmla="min f41 f40"/>
              <a:gd name="f46" fmla="*/ f41 f41 1"/>
              <a:gd name="f47" fmla="*/ f41 f34 1"/>
              <a:gd name="f48" fmla="*/ f45 f10 1"/>
              <a:gd name="f49" fmla="*/ f45 f11 1"/>
              <a:gd name="f50" fmla="*/ f48 1 100000"/>
              <a:gd name="f51" fmla="*/ f49 1 100000"/>
              <a:gd name="f52" fmla="+- f50 f51 0"/>
              <a:gd name="f53" fmla="*/ f50 f50 1"/>
              <a:gd name="f54" fmla="+- f51 0 f50"/>
              <a:gd name="f55" fmla="*/ f51 1 2"/>
              <a:gd name="f56" fmla="+- f7 f50 0"/>
              <a:gd name="f57" fmla="+- 0 0 f50"/>
              <a:gd name="f58" fmla="*/ f50 1 2"/>
              <a:gd name="f59" fmla="*/ f52 1 4"/>
              <a:gd name="f60" fmla="+- f46 0 f53"/>
              <a:gd name="f61" fmla="*/ f54 1 2"/>
              <a:gd name="f62" fmla="+- f38 0 f55"/>
              <a:gd name="f63" fmla="+- 0 0 f58"/>
              <a:gd name="f64" fmla="+- 0 0 f57"/>
              <a:gd name="f65" fmla="*/ f56 f34 1"/>
              <a:gd name="f66" fmla="*/ f58 f34 1"/>
              <a:gd name="f67" fmla="+- f44 0 f59"/>
              <a:gd name="f68" fmla="sqrt f60"/>
              <a:gd name="f69" fmla="+- 0 0 f63"/>
              <a:gd name="f70" fmla="*/ f62 f34 1"/>
              <a:gd name="f71" fmla="*/ f67 2 1"/>
              <a:gd name="f72" fmla="+- f67 f50 0"/>
              <a:gd name="f73" fmla="*/ f68 f67 1"/>
              <a:gd name="f74" fmla="*/ f67 f34 1"/>
              <a:gd name="f75" fmla="*/ f71 f71 1"/>
              <a:gd name="f76" fmla="*/ f73 1 f41"/>
              <a:gd name="f77" fmla="+- f67 f72 0"/>
              <a:gd name="f78" fmla="*/ f72 f34 1"/>
              <a:gd name="f79" fmla="+- f75 0 f53"/>
              <a:gd name="f80" fmla="+- f67 f76 0"/>
              <a:gd name="f81" fmla="+- f72 f76 0"/>
              <a:gd name="f82" fmla="+- 0 0 f76"/>
              <a:gd name="f83" fmla="*/ f77 1 2"/>
              <a:gd name="f84" fmla="sqrt f79"/>
              <a:gd name="f85" fmla="+- f80 0 f61"/>
              <a:gd name="f86" fmla="+- f81 f61 0"/>
              <a:gd name="f87" fmla="+- 0 0 f82"/>
              <a:gd name="f88" fmla="*/ f80 f34 1"/>
              <a:gd name="f89" fmla="*/ f83 f34 1"/>
              <a:gd name="f90" fmla="*/ f84 f41 1"/>
              <a:gd name="f91" fmla="at2 f64 f87"/>
              <a:gd name="f92" fmla="*/ f85 f34 1"/>
              <a:gd name="f93" fmla="*/ f86 f34 1"/>
              <a:gd name="f94" fmla="+- f91 f1 0"/>
              <a:gd name="f95" fmla="*/ f90 1 f71"/>
              <a:gd name="f96" fmla="*/ f94 f8 1"/>
              <a:gd name="f97" fmla="+- 0 0 f95"/>
              <a:gd name="f98" fmla="*/ f96 1 f0"/>
              <a:gd name="f99" fmla="+- 0 0 f97"/>
              <a:gd name="f100" fmla="+- 0 0 f98"/>
              <a:gd name="f101" fmla="at2 f99 f69"/>
              <a:gd name="f102" fmla="val f100"/>
              <a:gd name="f103" fmla="+- f101 f1 0"/>
              <a:gd name="f104" fmla="+- 0 0 f102"/>
              <a:gd name="f105" fmla="*/ f103 f8 1"/>
              <a:gd name="f106" fmla="*/ f104 f0 1"/>
              <a:gd name="f107" fmla="*/ f105 1 f0"/>
              <a:gd name="f108" fmla="*/ f106 1 f8"/>
              <a:gd name="f109" fmla="+- 0 0 f107"/>
              <a:gd name="f110" fmla="+- f108 0 f1"/>
              <a:gd name="f111" fmla="val f109"/>
              <a:gd name="f112" fmla="+- 0 0 f111"/>
              <a:gd name="f113" fmla="*/ f112 f0 1"/>
              <a:gd name="f114" fmla="*/ f113 1 f8"/>
              <a:gd name="f115" fmla="+- f114 0 f1"/>
              <a:gd name="f116" fmla="+- f115 0 f110"/>
              <a:gd name="f117" fmla="+- f110 f115 0"/>
              <a:gd name="f118" fmla="+- 0 0 f115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39" y="f66"/>
              </a:cxn>
              <a:cxn ang="f31">
                <a:pos x="f65" y="f92"/>
              </a:cxn>
              <a:cxn ang="f32">
                <a:pos x="f39" y="f70"/>
              </a:cxn>
              <a:cxn ang="f33">
                <a:pos x="f65" y="f93"/>
              </a:cxn>
              <a:cxn ang="f32">
                <a:pos x="f42" y="f89"/>
              </a:cxn>
            </a:cxnLst>
            <a:rect l="f39" t="f39" r="f42" b="f43"/>
            <a:pathLst>
              <a:path stroke="0">
                <a:moveTo>
                  <a:pt x="f39" y="f70"/>
                </a:moveTo>
                <a:lnTo>
                  <a:pt x="f65" y="f92"/>
                </a:lnTo>
                <a:lnTo>
                  <a:pt x="f65" y="f88"/>
                </a:lnTo>
                <a:arcTo wR="f47" hR="f74" stAng="f110" swAng="f116"/>
                <a:arcTo wR="f47" hR="f74" stAng="f118" swAng="f117"/>
                <a:lnTo>
                  <a:pt x="f65" y="f93"/>
                </a:lnTo>
                <a:close/>
              </a:path>
              <a:path stroke="0">
                <a:moveTo>
                  <a:pt x="f42" y="f78"/>
                </a:moveTo>
                <a:arcTo wR="f47" hR="f74" stAng="f7" swAng="f9"/>
                <a:lnTo>
                  <a:pt x="f39" y="f39"/>
                </a:lnTo>
                <a:arcTo wR="f47" hR="f74" stAng="f2" swAng="f1"/>
                <a:close/>
              </a:path>
              <a:path fill="none">
                <a:moveTo>
                  <a:pt x="f42" y="f78"/>
                </a:moveTo>
                <a:arcTo wR="f47" hR="f74" stAng="f7" swAng="f9"/>
                <a:lnTo>
                  <a:pt x="f39" y="f39"/>
                </a:lnTo>
                <a:arcTo wR="f47" hR="f74" stAng="f2" swAng="f1"/>
                <a:lnTo>
                  <a:pt x="f42" y="f78"/>
                </a:lnTo>
                <a:arcTo wR="f47" hR="f74" stAng="f7" swAng="f110"/>
                <a:lnTo>
                  <a:pt x="f65" y="f93"/>
                </a:lnTo>
                <a:lnTo>
                  <a:pt x="f39" y="f70"/>
                </a:lnTo>
                <a:lnTo>
                  <a:pt x="f65" y="f92"/>
                </a:lnTo>
                <a:lnTo>
                  <a:pt x="f65" y="f88"/>
                </a:lnTo>
                <a:arcTo wR="f47" hR="f74" stAng="f110" swAng="f116"/>
              </a:path>
            </a:pathLst>
          </a:custGeom>
          <a:solidFill>
            <a:srgbClr val="5B9BD5"/>
          </a:solidFill>
          <a:ln w="12701" cap="flat">
            <a:solidFill>
              <a:srgbClr val="41719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799136" y="6052943"/>
            <a:ext cx="97283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Matrix 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B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314449"/>
            <a:ext cx="9071643" cy="4839032"/>
          </a:xfrm>
        </p:spPr>
        <p:txBody>
          <a:bodyPr/>
          <a:lstStyle/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Example</a:t>
            </a:r>
            <a:r>
              <a:rPr lang="zh-TW">
                <a:latin typeface="新細明體" pitchFamily="18"/>
                <a:ea typeface="新細明體" pitchFamily="18"/>
              </a:rPr>
              <a:t>：</a:t>
            </a:r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A</a:t>
            </a:r>
            <a:r>
              <a:rPr lang="en-US">
                <a:latin typeface="Cambria Math" pitchFamily="18"/>
                <a:ea typeface="新細明體" pitchFamily="18"/>
              </a:rPr>
              <a:t> 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r>
              <a:rPr lang="en-US">
                <a:latin typeface="Cambria Math" pitchFamily="18"/>
                <a:ea typeface="Cambria Math" pitchFamily="18"/>
              </a:rPr>
              <a:t>abc</a:t>
            </a:r>
            <a:r>
              <a:rPr lang="en-US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d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B</a:t>
            </a:r>
            <a:r>
              <a:rPr lang="en-US">
                <a:latin typeface="Cambria Math" pitchFamily="18"/>
                <a:ea typeface="新細明體" pitchFamily="18"/>
              </a:rPr>
              <a:t> 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r>
              <a:rPr lang="en-US">
                <a:latin typeface="Cambria Math" pitchFamily="18"/>
                <a:ea typeface="Cambria Math" pitchFamily="18"/>
              </a:rPr>
              <a:t>acde</a:t>
            </a:r>
            <a:endParaRPr lang="en-US">
              <a:latin typeface="Cambria Math" pitchFamily="18"/>
            </a:endParaRPr>
          </a:p>
          <a:p>
            <a:pPr lvl="0"/>
            <a:endParaRPr lang="en-US"/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3399602" y="2364300"/>
          <a:ext cx="3714726" cy="145436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19121"/>
                <a:gridCol w="619121"/>
                <a:gridCol w="619121"/>
                <a:gridCol w="619121"/>
                <a:gridCol w="619121"/>
                <a:gridCol w="619121"/>
              </a:tblGrid>
              <a:tr h="484787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7"/>
          <p:cNvGraphicFramePr>
            <a:graphicFrameLocks noGrp="1"/>
          </p:cNvGraphicFramePr>
          <p:nvPr/>
        </p:nvGraphicFramePr>
        <p:xfrm>
          <a:off x="3399602" y="4356677"/>
          <a:ext cx="3714726" cy="145436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19121"/>
                <a:gridCol w="619121"/>
                <a:gridCol w="619121"/>
                <a:gridCol w="619121"/>
                <a:gridCol w="619121"/>
                <a:gridCol w="619121"/>
              </a:tblGrid>
              <a:tr h="484787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ɸ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 marL="50566" marR="50566">
                    <a:solidFill>
                      <a:srgbClr val="FFF2CC"/>
                    </a:solidFill>
                  </a:tcPr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3</a:t>
                      </a:r>
                    </a:p>
                  </a:txBody>
                  <a:tcPr/>
                </a:tc>
              </a:tr>
              <a:tr h="484787">
                <a:tc>
                  <a:txBody>
                    <a:bodyPr/>
                    <a:lstStyle/>
                    <a:p>
                      <a:pPr lvl="0" algn="ctr"/>
                      <a:r>
                        <a:rPr lang="en-US" b="1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字方塊 10"/>
          <p:cNvSpPr txBox="1"/>
          <p:nvPr/>
        </p:nvSpPr>
        <p:spPr>
          <a:xfrm>
            <a:off x="3308189" y="1905911"/>
            <a:ext cx="349512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Step1</a:t>
            </a:r>
            <a:r>
              <a:rPr lang="zh-TW" sz="1800" b="0" i="0" u="none" strike="noStrike" kern="1200" cap="none" spc="0" baseline="0">
                <a:solidFill>
                  <a:srgbClr val="000000"/>
                </a:solidFill>
                <a:uFillTx/>
                <a:latin typeface="新細明體" pitchFamily="18"/>
                <a:ea typeface="新細明體" pitchFamily="18"/>
              </a:rPr>
              <a:t>：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Compute K(1, j), j = 0…n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 Math" pitchFamily="18"/>
              <a:ea typeface="新細明體" pitchFamily="18"/>
            </a:endParaRPr>
          </a:p>
        </p:txBody>
      </p:sp>
      <p:sp>
        <p:nvSpPr>
          <p:cNvPr id="7" name="文字方塊 12"/>
          <p:cNvSpPr txBox="1"/>
          <p:nvPr/>
        </p:nvSpPr>
        <p:spPr>
          <a:xfrm>
            <a:off x="3308189" y="3902805"/>
            <a:ext cx="3363931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Step2</a:t>
            </a:r>
            <a:r>
              <a:rPr lang="zh-TW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新細明體" pitchFamily="18"/>
              </a:rPr>
              <a:t>：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新細明體" pitchFamily="18"/>
              </a:rPr>
              <a:t>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Copy to K(0, j) , j = 0…n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mbria Math" pitchFamily="18"/>
              <a:ea typeface="新細明體" pitchFamily="18"/>
            </a:endParaRPr>
          </a:p>
        </p:txBody>
      </p:sp>
      <p:sp>
        <p:nvSpPr>
          <p:cNvPr id="8" name="弧形箭號 (左彎) 13"/>
          <p:cNvSpPr/>
          <p:nvPr/>
        </p:nvSpPr>
        <p:spPr>
          <a:xfrm>
            <a:off x="7258050" y="3449985"/>
            <a:ext cx="1009653" cy="1847846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5400000"/>
              <a:gd name="f10" fmla="val 25000"/>
              <a:gd name="f11" fmla="val 50000"/>
              <a:gd name="f12" fmla="+- 0 0 -270"/>
              <a:gd name="f13" fmla="+- 0 0 -90"/>
              <a:gd name="f14" fmla="+- 0 0 -180"/>
              <a:gd name="f15" fmla="abs f4"/>
              <a:gd name="f16" fmla="abs f5"/>
              <a:gd name="f17" fmla="abs f6"/>
              <a:gd name="f18" fmla="*/ f12 f0 1"/>
              <a:gd name="f19" fmla="*/ f13 f0 1"/>
              <a:gd name="f20" fmla="*/ f14 f0 1"/>
              <a:gd name="f21" fmla="?: f15 f4 1"/>
              <a:gd name="f22" fmla="?: f16 f5 1"/>
              <a:gd name="f23" fmla="?: f17 f6 1"/>
              <a:gd name="f24" fmla="*/ f18 1 f3"/>
              <a:gd name="f25" fmla="*/ f19 1 f3"/>
              <a:gd name="f26" fmla="*/ f20 1 f3"/>
              <a:gd name="f27" fmla="*/ f21 1 21600"/>
              <a:gd name="f28" fmla="*/ f22 1 21600"/>
              <a:gd name="f29" fmla="*/ 21600 f21 1"/>
              <a:gd name="f30" fmla="*/ 21600 f22 1"/>
              <a:gd name="f31" fmla="+- f24 0 f1"/>
              <a:gd name="f32" fmla="+- f25 0 f1"/>
              <a:gd name="f33" fmla="+- f26 0 f1"/>
              <a:gd name="f34" fmla="min f28 f27"/>
              <a:gd name="f35" fmla="*/ f29 1 f23"/>
              <a:gd name="f36" fmla="*/ f30 1 f23"/>
              <a:gd name="f37" fmla="val f35"/>
              <a:gd name="f38" fmla="val f36"/>
              <a:gd name="f39" fmla="*/ f7 f34 1"/>
              <a:gd name="f40" fmla="+- f38 0 f7"/>
              <a:gd name="f41" fmla="+- f37 0 f7"/>
              <a:gd name="f42" fmla="*/ f37 f34 1"/>
              <a:gd name="f43" fmla="*/ f38 f34 1"/>
              <a:gd name="f44" fmla="*/ f40 1 2"/>
              <a:gd name="f45" fmla="min f41 f40"/>
              <a:gd name="f46" fmla="*/ f41 f41 1"/>
              <a:gd name="f47" fmla="*/ f41 f34 1"/>
              <a:gd name="f48" fmla="*/ f45 f10 1"/>
              <a:gd name="f49" fmla="*/ f45 f11 1"/>
              <a:gd name="f50" fmla="*/ f48 1 100000"/>
              <a:gd name="f51" fmla="*/ f49 1 100000"/>
              <a:gd name="f52" fmla="+- f50 f51 0"/>
              <a:gd name="f53" fmla="*/ f50 f50 1"/>
              <a:gd name="f54" fmla="+- f51 0 f50"/>
              <a:gd name="f55" fmla="*/ f51 1 2"/>
              <a:gd name="f56" fmla="+- f7 f50 0"/>
              <a:gd name="f57" fmla="+- 0 0 f50"/>
              <a:gd name="f58" fmla="*/ f50 1 2"/>
              <a:gd name="f59" fmla="*/ f52 1 4"/>
              <a:gd name="f60" fmla="+- f46 0 f53"/>
              <a:gd name="f61" fmla="*/ f54 1 2"/>
              <a:gd name="f62" fmla="+- f38 0 f55"/>
              <a:gd name="f63" fmla="+- 0 0 f58"/>
              <a:gd name="f64" fmla="+- 0 0 f57"/>
              <a:gd name="f65" fmla="*/ f56 f34 1"/>
              <a:gd name="f66" fmla="*/ f58 f34 1"/>
              <a:gd name="f67" fmla="+- f44 0 f59"/>
              <a:gd name="f68" fmla="sqrt f60"/>
              <a:gd name="f69" fmla="+- 0 0 f63"/>
              <a:gd name="f70" fmla="*/ f62 f34 1"/>
              <a:gd name="f71" fmla="*/ f67 2 1"/>
              <a:gd name="f72" fmla="+- f67 f50 0"/>
              <a:gd name="f73" fmla="*/ f68 f67 1"/>
              <a:gd name="f74" fmla="*/ f67 f34 1"/>
              <a:gd name="f75" fmla="*/ f71 f71 1"/>
              <a:gd name="f76" fmla="*/ f73 1 f41"/>
              <a:gd name="f77" fmla="+- f67 f72 0"/>
              <a:gd name="f78" fmla="*/ f72 f34 1"/>
              <a:gd name="f79" fmla="+- f75 0 f53"/>
              <a:gd name="f80" fmla="+- f67 f76 0"/>
              <a:gd name="f81" fmla="+- f72 f76 0"/>
              <a:gd name="f82" fmla="+- 0 0 f76"/>
              <a:gd name="f83" fmla="*/ f77 1 2"/>
              <a:gd name="f84" fmla="sqrt f79"/>
              <a:gd name="f85" fmla="+- f80 0 f61"/>
              <a:gd name="f86" fmla="+- f81 f61 0"/>
              <a:gd name="f87" fmla="+- 0 0 f82"/>
              <a:gd name="f88" fmla="*/ f80 f34 1"/>
              <a:gd name="f89" fmla="*/ f83 f34 1"/>
              <a:gd name="f90" fmla="*/ f84 f41 1"/>
              <a:gd name="f91" fmla="at2 f64 f87"/>
              <a:gd name="f92" fmla="*/ f85 f34 1"/>
              <a:gd name="f93" fmla="*/ f86 f34 1"/>
              <a:gd name="f94" fmla="+- f91 f1 0"/>
              <a:gd name="f95" fmla="*/ f90 1 f71"/>
              <a:gd name="f96" fmla="*/ f94 f8 1"/>
              <a:gd name="f97" fmla="+- 0 0 f95"/>
              <a:gd name="f98" fmla="*/ f96 1 f0"/>
              <a:gd name="f99" fmla="+- 0 0 f97"/>
              <a:gd name="f100" fmla="+- 0 0 f98"/>
              <a:gd name="f101" fmla="at2 f99 f69"/>
              <a:gd name="f102" fmla="val f100"/>
              <a:gd name="f103" fmla="+- f101 f1 0"/>
              <a:gd name="f104" fmla="+- 0 0 f102"/>
              <a:gd name="f105" fmla="*/ f103 f8 1"/>
              <a:gd name="f106" fmla="*/ f104 f0 1"/>
              <a:gd name="f107" fmla="*/ f105 1 f0"/>
              <a:gd name="f108" fmla="*/ f106 1 f8"/>
              <a:gd name="f109" fmla="+- 0 0 f107"/>
              <a:gd name="f110" fmla="+- f108 0 f1"/>
              <a:gd name="f111" fmla="val f109"/>
              <a:gd name="f112" fmla="+- 0 0 f111"/>
              <a:gd name="f113" fmla="*/ f112 f0 1"/>
              <a:gd name="f114" fmla="*/ f113 1 f8"/>
              <a:gd name="f115" fmla="+- f114 0 f1"/>
              <a:gd name="f116" fmla="+- f115 0 f110"/>
              <a:gd name="f117" fmla="+- f110 f115 0"/>
              <a:gd name="f118" fmla="+- 0 0 f115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39" y="f66"/>
              </a:cxn>
              <a:cxn ang="f31">
                <a:pos x="f65" y="f92"/>
              </a:cxn>
              <a:cxn ang="f32">
                <a:pos x="f39" y="f70"/>
              </a:cxn>
              <a:cxn ang="f33">
                <a:pos x="f65" y="f93"/>
              </a:cxn>
              <a:cxn ang="f32">
                <a:pos x="f42" y="f89"/>
              </a:cxn>
            </a:cxnLst>
            <a:rect l="f39" t="f39" r="f42" b="f43"/>
            <a:pathLst>
              <a:path stroke="0">
                <a:moveTo>
                  <a:pt x="f39" y="f70"/>
                </a:moveTo>
                <a:lnTo>
                  <a:pt x="f65" y="f92"/>
                </a:lnTo>
                <a:lnTo>
                  <a:pt x="f65" y="f88"/>
                </a:lnTo>
                <a:arcTo wR="f47" hR="f74" stAng="f110" swAng="f116"/>
                <a:arcTo wR="f47" hR="f74" stAng="f118" swAng="f117"/>
                <a:lnTo>
                  <a:pt x="f65" y="f93"/>
                </a:lnTo>
                <a:close/>
              </a:path>
              <a:path stroke="0">
                <a:moveTo>
                  <a:pt x="f42" y="f78"/>
                </a:moveTo>
                <a:arcTo wR="f47" hR="f74" stAng="f7" swAng="f9"/>
                <a:lnTo>
                  <a:pt x="f39" y="f39"/>
                </a:lnTo>
                <a:arcTo wR="f47" hR="f74" stAng="f2" swAng="f1"/>
                <a:close/>
              </a:path>
              <a:path fill="none">
                <a:moveTo>
                  <a:pt x="f42" y="f78"/>
                </a:moveTo>
                <a:arcTo wR="f47" hR="f74" stAng="f7" swAng="f9"/>
                <a:lnTo>
                  <a:pt x="f39" y="f39"/>
                </a:lnTo>
                <a:arcTo wR="f47" hR="f74" stAng="f2" swAng="f1"/>
                <a:lnTo>
                  <a:pt x="f42" y="f78"/>
                </a:lnTo>
                <a:arcTo wR="f47" hR="f74" stAng="f7" swAng="f110"/>
                <a:lnTo>
                  <a:pt x="f65" y="f93"/>
                </a:lnTo>
                <a:lnTo>
                  <a:pt x="f39" y="f70"/>
                </a:lnTo>
                <a:lnTo>
                  <a:pt x="f65" y="f92"/>
                </a:lnTo>
                <a:lnTo>
                  <a:pt x="f65" y="f88"/>
                </a:lnTo>
                <a:arcTo wR="f47" hR="f74" stAng="f110" swAng="f116"/>
              </a:path>
            </a:pathLst>
          </a:custGeom>
          <a:solidFill>
            <a:srgbClr val="5B9BD5"/>
          </a:solidFill>
          <a:ln w="12701" cap="flat">
            <a:solidFill>
              <a:srgbClr val="41719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799136" y="6052943"/>
            <a:ext cx="97283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Matrix 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B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769043"/>
            <a:ext cx="9071643" cy="5639397"/>
          </a:xfrm>
        </p:spPr>
        <p:txBody>
          <a:bodyPr/>
          <a:lstStyle/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Input</a:t>
            </a:r>
            <a:r>
              <a:rPr lang="zh-TW" sz="2400" dirty="0">
                <a:latin typeface="Cambria Math" pitchFamily="18"/>
              </a:rPr>
              <a:t>：</a:t>
            </a:r>
            <a:r>
              <a:rPr lang="en-US" sz="2400" dirty="0">
                <a:latin typeface="Cambria Math" pitchFamily="18"/>
              </a:rPr>
              <a:t>strings A</a:t>
            </a:r>
            <a:r>
              <a:rPr lang="en-US" sz="2400" baseline="-25000" dirty="0">
                <a:latin typeface="Cambria Math" pitchFamily="18"/>
              </a:rPr>
              <a:t>1m  </a:t>
            </a:r>
            <a:r>
              <a:rPr lang="en-US" sz="2400" dirty="0">
                <a:latin typeface="Cambria Math" pitchFamily="18"/>
              </a:rPr>
              <a:t>and B</a:t>
            </a:r>
            <a:r>
              <a:rPr lang="en-US" sz="2400" baseline="-25000" dirty="0">
                <a:latin typeface="Cambria Math" pitchFamily="18"/>
              </a:rPr>
              <a:t>1n</a:t>
            </a:r>
            <a:endParaRPr lang="en-US" sz="2400" baseline="-25000" dirty="0">
              <a:latin typeface="Cambria Math" pitchFamily="18"/>
              <a:ea typeface="Cambria Math" pitchFamily="18"/>
            </a:endParaRPr>
          </a:p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Output</a:t>
            </a:r>
            <a:r>
              <a:rPr lang="en-US" sz="2400" dirty="0">
                <a:latin typeface="Cambria Math" pitchFamily="18"/>
              </a:rPr>
              <a:t> </a:t>
            </a:r>
            <a:r>
              <a:rPr lang="zh-TW" sz="2400" dirty="0">
                <a:latin typeface="Cambria Math" pitchFamily="18"/>
              </a:rPr>
              <a:t>：</a:t>
            </a:r>
            <a:r>
              <a:rPr lang="en-US" sz="2400" dirty="0">
                <a:latin typeface="Cambria Math" pitchFamily="18"/>
              </a:rPr>
              <a:t>array </a:t>
            </a:r>
            <a:r>
              <a:rPr lang="en-US" sz="2400">
                <a:latin typeface="Cambria Math" pitchFamily="18"/>
              </a:rPr>
              <a:t>LL </a:t>
            </a:r>
            <a:r>
              <a:rPr lang="en-US" sz="2400" smtClean="0">
                <a:latin typeface="Cambria Math" pitchFamily="18"/>
              </a:rPr>
              <a:t>(LL(j) = LCS(m, j))</a:t>
            </a:r>
            <a:endParaRPr lang="en-US" sz="2400" dirty="0">
              <a:latin typeface="Cambria Math" pitchFamily="18"/>
            </a:endParaRPr>
          </a:p>
          <a:p>
            <a:pPr lvl="0"/>
            <a:endParaRPr lang="en-US" sz="1100" dirty="0">
              <a:latin typeface="Cambria Math" pitchFamily="18"/>
            </a:endParaRPr>
          </a:p>
          <a:p>
            <a:pPr lvl="0"/>
            <a:r>
              <a:rPr lang="en-US" sz="2400" dirty="0">
                <a:latin typeface="Cambria Math" pitchFamily="18"/>
              </a:rPr>
              <a:t>ALG B(m, n, A, B)</a:t>
            </a:r>
          </a:p>
          <a:p>
            <a:pPr marL="514350" lvl="0" indent="-514350">
              <a:buSzPct val="100000"/>
              <a:buAutoNum type="arabicPeriod"/>
            </a:pPr>
            <a:r>
              <a:rPr lang="en-US" sz="2400" dirty="0">
                <a:latin typeface="Cambria Math" pitchFamily="18"/>
                <a:ea typeface="Cambria Math" pitchFamily="18"/>
              </a:rPr>
              <a:t>Initialization</a:t>
            </a:r>
            <a:r>
              <a:rPr lang="en-US" sz="2400" dirty="0">
                <a:latin typeface="Cambria Math" pitchFamily="18"/>
              </a:rPr>
              <a:t> </a:t>
            </a:r>
            <a:r>
              <a:rPr lang="zh-TW" sz="2400" dirty="0">
                <a:latin typeface="Cambria Math" pitchFamily="18"/>
              </a:rPr>
              <a:t>：</a:t>
            </a:r>
            <a:r>
              <a:rPr lang="en-US" sz="2400" dirty="0">
                <a:latin typeface="Cambria Math" pitchFamily="18"/>
              </a:rPr>
              <a:t>K(1, j) </a:t>
            </a:r>
            <a:r>
              <a:rPr lang="en-US" sz="2400" dirty="0">
                <a:latin typeface="Cambria Math" pitchFamily="18"/>
                <a:ea typeface="Cambria Math" pitchFamily="18"/>
              </a:rPr>
              <a:t>← 0 [j = 0 ···n]</a:t>
            </a:r>
          </a:p>
          <a:p>
            <a:pPr marL="514350" lvl="0" indent="-514350">
              <a:buSzPct val="100000"/>
              <a:buAutoNum type="arabicPeriod"/>
            </a:pPr>
            <a:r>
              <a:rPr lang="en-US" sz="2400" dirty="0">
                <a:latin typeface="Cambria Math" pitchFamily="18"/>
                <a:ea typeface="Cambria Math" pitchFamily="18"/>
              </a:rPr>
              <a:t>for </a:t>
            </a:r>
            <a:r>
              <a:rPr lang="en-US" sz="2400" dirty="0" err="1">
                <a:latin typeface="Cambria Math" pitchFamily="18"/>
                <a:ea typeface="Cambria Math" pitchFamily="18"/>
              </a:rPr>
              <a:t>i</a:t>
            </a:r>
            <a:r>
              <a:rPr lang="en-US" sz="2400" dirty="0">
                <a:latin typeface="Cambria Math" pitchFamily="18"/>
                <a:ea typeface="Cambria Math" pitchFamily="18"/>
              </a:rPr>
              <a:t> ← 1 to m do</a:t>
            </a:r>
          </a:p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3.          K(0, j) ← </a:t>
            </a:r>
            <a:r>
              <a:rPr lang="en-US" sz="2400" dirty="0">
                <a:latin typeface="Cambria Math" pitchFamily="18"/>
              </a:rPr>
              <a:t>K(1, j)</a:t>
            </a:r>
            <a:r>
              <a:rPr lang="en-US" sz="2400" dirty="0">
                <a:latin typeface="Cambria Math" pitchFamily="18"/>
                <a:ea typeface="Cambria Math" pitchFamily="18"/>
              </a:rPr>
              <a:t> [j = 0 ···n]</a:t>
            </a:r>
          </a:p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4.          for j ← 1 to n do</a:t>
            </a:r>
          </a:p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5.               if A(</a:t>
            </a:r>
            <a:r>
              <a:rPr lang="en-US" sz="2400" dirty="0" err="1">
                <a:latin typeface="Cambria Math" pitchFamily="18"/>
                <a:ea typeface="Cambria Math" pitchFamily="18"/>
              </a:rPr>
              <a:t>i</a:t>
            </a:r>
            <a:r>
              <a:rPr lang="en-US" sz="2400" dirty="0">
                <a:latin typeface="Cambria Math" pitchFamily="18"/>
                <a:ea typeface="Cambria Math" pitchFamily="18"/>
              </a:rPr>
              <a:t>) = B(j) then K(1,j) ← K(0, j - 1) + 1</a:t>
            </a:r>
          </a:p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6.               else K(1, j) ← max{ K(1, j - 1), K(0, j)}</a:t>
            </a:r>
          </a:p>
          <a:p>
            <a:pPr lvl="0"/>
            <a:r>
              <a:rPr lang="en-US" sz="2400" dirty="0">
                <a:latin typeface="Cambria Math" pitchFamily="18"/>
                <a:ea typeface="Cambria Math" pitchFamily="18"/>
              </a:rPr>
              <a:t>7.    LL(j) ←  K(1, j) [j = 0 ···n]</a:t>
            </a:r>
          </a:p>
          <a:p>
            <a:pPr lvl="0"/>
            <a:endParaRPr lang="en-US" sz="2400" dirty="0">
              <a:latin typeface="Cambria Math" pitchFamily="18"/>
              <a:ea typeface="Cambria Math" pitchFamily="18"/>
            </a:endParaRPr>
          </a:p>
          <a:p>
            <a:pPr lvl="0"/>
            <a:endParaRPr lang="en-US" dirty="0">
              <a:latin typeface="Cambria Math" pitchFamily="18"/>
              <a:ea typeface="Cambria Math" pitchFamily="18"/>
            </a:endParaRPr>
          </a:p>
          <a:p>
            <a:pPr lvl="0"/>
            <a:r>
              <a:rPr lang="en-US" dirty="0">
                <a:latin typeface="Cambria Math" pitchFamily="18"/>
                <a:ea typeface="Cambria Math" pitchFamily="18"/>
              </a:rPr>
              <a:t>    </a:t>
            </a:r>
            <a:endParaRPr lang="en-US" dirty="0">
              <a:latin typeface="Cambria Math" pitchFamily="18"/>
            </a:endParaRPr>
          </a:p>
          <a:p>
            <a:pPr lvl="0"/>
            <a:endParaRPr lang="en-US" dirty="0"/>
          </a:p>
        </p:txBody>
      </p:sp>
      <p:sp>
        <p:nvSpPr>
          <p:cNvPr id="4" name="投影片編號版面配置區 3"/>
          <p:cNvSpPr txBox="1"/>
          <p:nvPr/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新細明體" pitchFamily="2"/>
              <a:cs typeface="Tahoma" pitchFamily="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b="1"/>
              <a:t>Time and Space Analysis of Algorithm B</a:t>
            </a:r>
            <a:endParaRPr lang="en-US" sz="3600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SzPct val="100000"/>
              <a:buFont typeface="Arial" pitchFamily="34"/>
              <a:buChar char="•"/>
            </a:pPr>
            <a:r>
              <a:rPr lang="en-US">
                <a:latin typeface="Cambria Math" pitchFamily="18"/>
                <a:ea typeface="Cambria Math" pitchFamily="18"/>
              </a:rPr>
              <a:t>Algorithm B is executed exactly mn times.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     Time</a:t>
            </a:r>
            <a:r>
              <a:rPr lang="zh-TW">
                <a:latin typeface="Cambria Math" pitchFamily="18"/>
              </a:rPr>
              <a:t>：</a:t>
            </a:r>
            <a:r>
              <a:rPr lang="en-US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O(mn)</a:t>
            </a:r>
          </a:p>
          <a:p>
            <a:pPr marL="457200" lvl="0" indent="-457200">
              <a:buSzPct val="100000"/>
              <a:buFont typeface="Arial" pitchFamily="34"/>
              <a:buChar char="•"/>
            </a:pPr>
            <a:endParaRPr lang="en-US">
              <a:latin typeface="Cambria Math" pitchFamily="18"/>
              <a:ea typeface="Cambria Math" pitchFamily="18"/>
            </a:endParaRPr>
          </a:p>
          <a:p>
            <a:pPr marL="457200" lvl="0" indent="-457200">
              <a:buSzPct val="100000"/>
              <a:buFont typeface="Arial" pitchFamily="34"/>
              <a:buChar char="•"/>
            </a:pPr>
            <a:r>
              <a:rPr lang="en-US">
                <a:latin typeface="Cambria Math" pitchFamily="18"/>
                <a:ea typeface="Cambria Math" pitchFamily="18"/>
              </a:rPr>
              <a:t>Matrix K require 2(n + 1) locations.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     Space</a:t>
            </a:r>
            <a:r>
              <a:rPr lang="zh-TW">
                <a:latin typeface="Cambria Math" pitchFamily="18"/>
              </a:rPr>
              <a:t> ：</a:t>
            </a:r>
            <a:r>
              <a:rPr lang="en-US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O(n)</a:t>
            </a:r>
          </a:p>
          <a:p>
            <a:pPr lvl="0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Algorithm 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Daniel S. Hirschberg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000" y="2680733"/>
            <a:ext cx="2315165" cy="347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273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b="1" dirty="0"/>
              <a:t>Algorithm C</a:t>
            </a:r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769043"/>
            <a:ext cx="9071643" cy="5469959"/>
          </a:xfrm>
        </p:spPr>
        <p:txBody>
          <a:bodyPr/>
          <a:lstStyle/>
          <a:p>
            <a:pPr marL="342900" lvl="0" indent="-342900">
              <a:buSzPct val="100000"/>
              <a:buFont typeface="Arial" pitchFamily="34"/>
              <a:buChar char="•"/>
            </a:pPr>
            <a:r>
              <a:rPr lang="en-US" sz="2800">
                <a:latin typeface="Cambria Math" pitchFamily="18"/>
                <a:ea typeface="Cambria Math" pitchFamily="18"/>
              </a:rPr>
              <a:t>Let </a:t>
            </a:r>
            <a:r>
              <a:rPr lang="en-US" sz="2800">
                <a:solidFill>
                  <a:srgbClr val="0070C0"/>
                </a:solidFill>
                <a:latin typeface="Cambria Math" pitchFamily="18"/>
                <a:ea typeface="Cambria Math" pitchFamily="18"/>
              </a:rPr>
              <a:t>S</a:t>
            </a:r>
            <a:r>
              <a:rPr lang="en-US" sz="2800" baseline="-25000">
                <a:solidFill>
                  <a:srgbClr val="0070C0"/>
                </a:solidFill>
                <a:latin typeface="Cambria Math" pitchFamily="18"/>
                <a:ea typeface="Cambria Math" pitchFamily="18"/>
              </a:rPr>
              <a:t>1</a:t>
            </a:r>
            <a:r>
              <a:rPr lang="en-US" sz="2800">
                <a:latin typeface="Cambria Math" pitchFamily="18"/>
                <a:ea typeface="Cambria Math" pitchFamily="18"/>
              </a:rPr>
              <a:t> and </a:t>
            </a:r>
            <a:r>
              <a:rPr lang="en-US" sz="2800">
                <a:solidFill>
                  <a:srgbClr val="00B050"/>
                </a:solidFill>
                <a:latin typeface="Cambria Math" pitchFamily="18"/>
                <a:ea typeface="Cambria Math" pitchFamily="18"/>
              </a:rPr>
              <a:t>S</a:t>
            </a:r>
            <a:r>
              <a:rPr lang="en-US" sz="2800" baseline="-25000">
                <a:solidFill>
                  <a:srgbClr val="00B050"/>
                </a:solidFill>
                <a:latin typeface="Cambria Math" pitchFamily="18"/>
                <a:ea typeface="Cambria Math" pitchFamily="18"/>
              </a:rPr>
              <a:t>2</a:t>
            </a:r>
            <a:r>
              <a:rPr lang="en-US" sz="2800">
                <a:latin typeface="Cambria Math" pitchFamily="18"/>
                <a:ea typeface="Cambria Math" pitchFamily="18"/>
              </a:rPr>
              <a:t> denote the first half and the second half of A, respectively </a:t>
            </a:r>
          </a:p>
          <a:p>
            <a:pPr marL="342900" lvl="0" indent="-342900">
              <a:buSzPct val="100000"/>
              <a:buFont typeface="Arial" pitchFamily="34"/>
              <a:buChar char="•"/>
            </a:pPr>
            <a:endParaRPr lang="en-US" sz="2800">
              <a:latin typeface="Cambria Math" pitchFamily="18"/>
              <a:ea typeface="Cambria Math" pitchFamily="18"/>
            </a:endParaRPr>
          </a:p>
          <a:p>
            <a:pPr marL="342900" lvl="0" indent="-342900">
              <a:buSzPct val="100000"/>
              <a:buFont typeface="Arial" pitchFamily="34"/>
              <a:buChar char="•"/>
            </a:pPr>
            <a:r>
              <a:rPr lang="en-US" sz="2800">
                <a:latin typeface="Cambria Math" pitchFamily="18"/>
                <a:ea typeface="Cambria Math" pitchFamily="18"/>
              </a:rPr>
              <a:t>Consider </a:t>
            </a:r>
            <a:r>
              <a:rPr lang="en-US" sz="2800">
                <a:solidFill>
                  <a:srgbClr val="7030A0"/>
                </a:solidFill>
                <a:latin typeface="Cambria Math" pitchFamily="18"/>
                <a:ea typeface="Cambria Math" pitchFamily="18"/>
              </a:rPr>
              <a:t>X</a:t>
            </a:r>
            <a:r>
              <a:rPr lang="en-US" sz="2800">
                <a:latin typeface="Cambria Math" pitchFamily="18"/>
                <a:ea typeface="Cambria Math" pitchFamily="18"/>
              </a:rPr>
              <a:t>, which is the LCS of A and B</a:t>
            </a:r>
          </a:p>
          <a:p>
            <a:pPr lvl="0"/>
            <a:endParaRPr lang="en-US" sz="2800">
              <a:latin typeface="Cambria Math" pitchFamily="18"/>
              <a:ea typeface="Cambria Math" pitchFamily="18"/>
            </a:endParaRPr>
          </a:p>
          <a:p>
            <a:pPr marL="342900" lvl="0" indent="-342900">
              <a:buSzPct val="100000"/>
              <a:buFont typeface="Arial" pitchFamily="34"/>
              <a:buChar char="•"/>
            </a:pPr>
            <a:r>
              <a:rPr lang="en-US" sz="2800">
                <a:latin typeface="Cambria Math" pitchFamily="18"/>
                <a:ea typeface="Cambria Math" pitchFamily="18"/>
              </a:rPr>
              <a:t>Let </a:t>
            </a:r>
            <a:r>
              <a:rPr lang="en-US" sz="2800">
                <a:solidFill>
                  <a:srgbClr val="FF9933"/>
                </a:solidFill>
                <a:latin typeface="Cambria Math" pitchFamily="18"/>
                <a:ea typeface="Cambria Math" pitchFamily="18"/>
              </a:rPr>
              <a:t>X’</a:t>
            </a:r>
            <a:r>
              <a:rPr lang="en-US" sz="2800">
                <a:latin typeface="Cambria Math" pitchFamily="18"/>
                <a:ea typeface="Cambria Math" pitchFamily="18"/>
              </a:rPr>
              <a:t>and </a:t>
            </a:r>
            <a:r>
              <a:rPr lang="en-US" sz="2800">
                <a:solidFill>
                  <a:srgbClr val="FF66CC"/>
                </a:solidFill>
                <a:latin typeface="Cambria Math" pitchFamily="18"/>
                <a:ea typeface="Cambria Math" pitchFamily="18"/>
              </a:rPr>
              <a:t>X”</a:t>
            </a:r>
            <a:r>
              <a:rPr lang="en-US" sz="2800">
                <a:latin typeface="Cambria Math" pitchFamily="18"/>
                <a:ea typeface="Cambria Math" pitchFamily="18"/>
              </a:rPr>
              <a:t>denote the portion of X which comes from </a:t>
            </a:r>
            <a:r>
              <a:rPr lang="en-US" sz="2800">
                <a:solidFill>
                  <a:srgbClr val="0070C0"/>
                </a:solidFill>
                <a:latin typeface="Cambria Math" pitchFamily="18"/>
                <a:ea typeface="Cambria Math" pitchFamily="18"/>
              </a:rPr>
              <a:t>S</a:t>
            </a:r>
            <a:r>
              <a:rPr lang="en-US" sz="2800" baseline="-25000">
                <a:solidFill>
                  <a:srgbClr val="0070C0"/>
                </a:solidFill>
                <a:latin typeface="Cambria Math" pitchFamily="18"/>
                <a:ea typeface="Cambria Math" pitchFamily="18"/>
              </a:rPr>
              <a:t>1</a:t>
            </a:r>
            <a:r>
              <a:rPr lang="en-US" sz="2800">
                <a:latin typeface="Cambria Math" pitchFamily="18"/>
                <a:ea typeface="Cambria Math" pitchFamily="18"/>
              </a:rPr>
              <a:t> and </a:t>
            </a:r>
            <a:r>
              <a:rPr lang="en-US" sz="2800">
                <a:solidFill>
                  <a:srgbClr val="00B050"/>
                </a:solidFill>
                <a:latin typeface="Cambria Math" pitchFamily="18"/>
                <a:ea typeface="Cambria Math" pitchFamily="18"/>
              </a:rPr>
              <a:t>S</a:t>
            </a:r>
            <a:r>
              <a:rPr lang="en-US" sz="2800" baseline="-25000">
                <a:solidFill>
                  <a:srgbClr val="00B050"/>
                </a:solidFill>
                <a:latin typeface="Cambria Math" pitchFamily="18"/>
                <a:ea typeface="Cambria Math" pitchFamily="18"/>
              </a:rPr>
              <a:t>2</a:t>
            </a:r>
            <a:r>
              <a:rPr lang="en-US" sz="2800">
                <a:latin typeface="Cambria Math" pitchFamily="18"/>
                <a:ea typeface="Cambria Math" pitchFamily="18"/>
              </a:rPr>
              <a:t> </a:t>
            </a:r>
          </a:p>
          <a:p>
            <a:pPr lvl="0"/>
            <a:r>
              <a:rPr lang="en-US" sz="2800">
                <a:latin typeface="Cambria Math" pitchFamily="18"/>
                <a:ea typeface="Cambria Math" pitchFamily="18"/>
              </a:rPr>
              <a:t>    (</a:t>
            </a:r>
            <a:r>
              <a:rPr lang="en-US" sz="2800">
                <a:solidFill>
                  <a:srgbClr val="FF9933"/>
                </a:solidFill>
                <a:latin typeface="Cambria Math" pitchFamily="18"/>
                <a:ea typeface="Cambria Math" pitchFamily="18"/>
              </a:rPr>
              <a:t>X’</a:t>
            </a:r>
            <a:r>
              <a:rPr lang="en-US" sz="2800">
                <a:latin typeface="Cambria Math" pitchFamily="18"/>
                <a:ea typeface="Cambria Math" pitchFamily="18"/>
              </a:rPr>
              <a:t> or </a:t>
            </a:r>
            <a:r>
              <a:rPr lang="en-US" sz="2800">
                <a:solidFill>
                  <a:srgbClr val="FF66CC"/>
                </a:solidFill>
                <a:latin typeface="Cambria Math" pitchFamily="18"/>
                <a:ea typeface="Cambria Math" pitchFamily="18"/>
              </a:rPr>
              <a:t>X”</a:t>
            </a:r>
            <a:r>
              <a:rPr lang="en-US" sz="2800">
                <a:latin typeface="Cambria Math" pitchFamily="18"/>
                <a:ea typeface="Cambria Math" pitchFamily="18"/>
              </a:rPr>
              <a:t>may be empty, and may be of unequal length )</a:t>
            </a:r>
            <a:endParaRPr lang="en-US" sz="2800">
              <a:latin typeface="Cambria Math" pitchFamily="1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C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769043"/>
            <a:ext cx="9071643" cy="5650927"/>
          </a:xfrm>
        </p:spPr>
        <p:txBody>
          <a:bodyPr/>
          <a:lstStyle/>
          <a:p>
            <a:pPr lvl="0"/>
            <a:r>
              <a:rPr lang="en-US">
                <a:latin typeface="Cambria Math" pitchFamily="18"/>
                <a:ea typeface="Cambria Math" pitchFamily="18"/>
              </a:rPr>
              <a:t>Example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A = DIRTYROOM 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B = DORMITORY </a:t>
            </a:r>
          </a:p>
          <a:p>
            <a:pPr lvl="0"/>
            <a:r>
              <a:rPr lang="en-US">
                <a:solidFill>
                  <a:srgbClr val="7030A0"/>
                </a:solidFill>
                <a:latin typeface="Cambria Math" pitchFamily="18"/>
                <a:ea typeface="Cambria Math" pitchFamily="18"/>
              </a:rPr>
              <a:t>X</a:t>
            </a:r>
            <a:r>
              <a:rPr lang="en-US">
                <a:latin typeface="Cambria Math" pitchFamily="18"/>
                <a:ea typeface="Cambria Math" pitchFamily="18"/>
              </a:rPr>
              <a:t> = DITR (LCS)</a:t>
            </a:r>
          </a:p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solidFill>
                  <a:srgbClr val="0070C0"/>
                </a:solidFill>
                <a:latin typeface="Cambria Math" pitchFamily="18"/>
                <a:ea typeface="Cambria Math" pitchFamily="18"/>
              </a:rPr>
              <a:t>S</a:t>
            </a:r>
            <a:r>
              <a:rPr lang="en-US" baseline="-25000">
                <a:solidFill>
                  <a:srgbClr val="0070C0"/>
                </a:solidFill>
                <a:latin typeface="Cambria Math" pitchFamily="18"/>
                <a:ea typeface="Cambria Math" pitchFamily="18"/>
              </a:rPr>
              <a:t>1</a:t>
            </a:r>
            <a:r>
              <a:rPr lang="en-US">
                <a:latin typeface="Cambria Math" pitchFamily="18"/>
                <a:ea typeface="Cambria Math" pitchFamily="18"/>
              </a:rPr>
              <a:t> = DIRT, </a:t>
            </a:r>
            <a:r>
              <a:rPr lang="en-US">
                <a:solidFill>
                  <a:srgbClr val="00B050"/>
                </a:solidFill>
                <a:latin typeface="Cambria Math" pitchFamily="18"/>
                <a:ea typeface="Cambria Math" pitchFamily="18"/>
              </a:rPr>
              <a:t>S</a:t>
            </a:r>
            <a:r>
              <a:rPr lang="en-US" baseline="-25000">
                <a:solidFill>
                  <a:srgbClr val="00B050"/>
                </a:solidFill>
                <a:latin typeface="Cambria Math" pitchFamily="18"/>
                <a:ea typeface="Cambria Math" pitchFamily="18"/>
              </a:rPr>
              <a:t>2 </a:t>
            </a:r>
            <a:r>
              <a:rPr lang="en-US">
                <a:latin typeface="Cambria Math" pitchFamily="18"/>
                <a:ea typeface="Cambria Math" pitchFamily="18"/>
              </a:rPr>
              <a:t>= YROOM </a:t>
            </a:r>
          </a:p>
          <a:p>
            <a:pPr lvl="0"/>
            <a:r>
              <a:rPr lang="en-US">
                <a:solidFill>
                  <a:srgbClr val="FF9933"/>
                </a:solidFill>
                <a:latin typeface="Cambria Math" pitchFamily="18"/>
                <a:ea typeface="Cambria Math" pitchFamily="18"/>
              </a:rPr>
              <a:t>X’ </a:t>
            </a:r>
            <a:r>
              <a:rPr lang="en-US">
                <a:latin typeface="Cambria Math" pitchFamily="18"/>
                <a:ea typeface="Cambria Math" pitchFamily="18"/>
              </a:rPr>
              <a:t>= DIT, </a:t>
            </a:r>
            <a:r>
              <a:rPr lang="en-US">
                <a:solidFill>
                  <a:srgbClr val="FF66CC"/>
                </a:solidFill>
                <a:latin typeface="Cambria Math" pitchFamily="18"/>
                <a:ea typeface="Cambria Math" pitchFamily="18"/>
              </a:rPr>
              <a:t>X” </a:t>
            </a:r>
            <a:r>
              <a:rPr lang="en-US">
                <a:latin typeface="Cambria Math" pitchFamily="18"/>
                <a:ea typeface="Cambria Math" pitchFamily="18"/>
              </a:rPr>
              <a:t>= R</a:t>
            </a:r>
            <a:endParaRPr lang="en-US">
              <a:latin typeface="Cambria Math" pitchFamily="1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C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769043"/>
            <a:ext cx="9071643" cy="3174431"/>
          </a:xfrm>
        </p:spPr>
        <p:txBody>
          <a:bodyPr/>
          <a:lstStyle/>
          <a:p>
            <a:pPr lvl="0"/>
            <a:r>
              <a:rPr lang="en-US">
                <a:latin typeface="Cambria Math" pitchFamily="18"/>
                <a:ea typeface="Cambria Math" pitchFamily="18"/>
              </a:rPr>
              <a:t>Observation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 sz="2400">
                <a:latin typeface="Cambria Math" pitchFamily="18"/>
                <a:ea typeface="Cambria Math" pitchFamily="18"/>
              </a:rPr>
              <a:t>    </a:t>
            </a:r>
            <a:r>
              <a:rPr lang="en-US" sz="2800">
                <a:latin typeface="Cambria Math" pitchFamily="18"/>
                <a:ea typeface="Cambria Math" pitchFamily="18"/>
              </a:rPr>
              <a:t>There exists </a:t>
            </a:r>
            <a:r>
              <a:rPr lang="en-US" sz="2800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j</a:t>
            </a:r>
            <a:r>
              <a:rPr lang="en-US" sz="2800">
                <a:latin typeface="Cambria Math" pitchFamily="18"/>
                <a:ea typeface="Cambria Math" pitchFamily="18"/>
              </a:rPr>
              <a:t> such that X’ is a subsequence of B</a:t>
            </a:r>
            <a:r>
              <a:rPr lang="en-US" sz="2800" baseline="-25000">
                <a:latin typeface="Cambria Math" pitchFamily="18"/>
                <a:ea typeface="Cambria Math" pitchFamily="18"/>
              </a:rPr>
              <a:t>1j</a:t>
            </a:r>
            <a:r>
              <a:rPr lang="en-US" sz="2800">
                <a:latin typeface="Cambria Math" pitchFamily="18"/>
                <a:ea typeface="Cambria Math" pitchFamily="18"/>
              </a:rPr>
              <a:t> and X’’</a:t>
            </a:r>
          </a:p>
          <a:p>
            <a:pPr lvl="0"/>
            <a:r>
              <a:rPr lang="en-US" sz="2800">
                <a:latin typeface="Cambria Math" pitchFamily="18"/>
                <a:ea typeface="Cambria Math" pitchFamily="18"/>
              </a:rPr>
              <a:t>    is a subsequence of B</a:t>
            </a:r>
            <a:r>
              <a:rPr lang="en-US" sz="2800" baseline="-25000">
                <a:latin typeface="Cambria Math" pitchFamily="18"/>
                <a:ea typeface="Cambria Math" pitchFamily="18"/>
              </a:rPr>
              <a:t>j+1,n</a:t>
            </a:r>
            <a:r>
              <a:rPr lang="en-US" sz="2800">
                <a:latin typeface="Cambria Math" pitchFamily="18"/>
                <a:ea typeface="Cambria Math" pitchFamily="18"/>
              </a:rPr>
              <a:t> , then</a:t>
            </a:r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 sz="2800">
                <a:latin typeface="Cambria Math" pitchFamily="18"/>
                <a:ea typeface="Cambria Math" pitchFamily="18"/>
              </a:rPr>
              <a:t>        ․X’ is an LCS of S</a:t>
            </a:r>
            <a:r>
              <a:rPr lang="en-US" sz="2800" baseline="-25000">
                <a:latin typeface="Cambria Math" pitchFamily="18"/>
                <a:ea typeface="Cambria Math" pitchFamily="18"/>
              </a:rPr>
              <a:t>1</a:t>
            </a:r>
            <a:r>
              <a:rPr lang="en-US" sz="2800">
                <a:latin typeface="Cambria Math" pitchFamily="18"/>
                <a:ea typeface="Cambria Math" pitchFamily="18"/>
              </a:rPr>
              <a:t> and B</a:t>
            </a:r>
            <a:r>
              <a:rPr lang="en-US" sz="2800" baseline="-25000">
                <a:latin typeface="Cambria Math" pitchFamily="18"/>
                <a:ea typeface="Cambria Math" pitchFamily="18"/>
              </a:rPr>
              <a:t>1j</a:t>
            </a:r>
          </a:p>
          <a:p>
            <a:pPr lvl="0"/>
            <a:r>
              <a:rPr lang="en-US" sz="2800">
                <a:latin typeface="Cambria Math" pitchFamily="18"/>
                <a:ea typeface="Cambria Math" pitchFamily="18"/>
              </a:rPr>
              <a:t>        ․X’’ is an LCS of S</a:t>
            </a:r>
            <a:r>
              <a:rPr lang="en-US" sz="2800" baseline="-25000">
                <a:latin typeface="Cambria Math" pitchFamily="18"/>
                <a:ea typeface="Cambria Math" pitchFamily="18"/>
              </a:rPr>
              <a:t>2</a:t>
            </a:r>
            <a:r>
              <a:rPr lang="en-US" sz="2800">
                <a:latin typeface="Cambria Math" pitchFamily="18"/>
                <a:ea typeface="Cambria Math" pitchFamily="18"/>
              </a:rPr>
              <a:t> and B</a:t>
            </a:r>
            <a:r>
              <a:rPr lang="en-US" sz="2800" baseline="-25000">
                <a:latin typeface="Cambria Math" pitchFamily="18"/>
                <a:ea typeface="Cambria Math" pitchFamily="18"/>
              </a:rPr>
              <a:t>j+1,n</a:t>
            </a:r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 sz="2800">
                <a:latin typeface="Cambria Math" pitchFamily="18"/>
                <a:ea typeface="Cambria Math" pitchFamily="18"/>
              </a:rPr>
              <a:t>Corollary </a:t>
            </a:r>
            <a:r>
              <a:rPr lang="zh-TW" sz="2800">
                <a:latin typeface="Cambria Math" pitchFamily="18"/>
                <a:ea typeface="新細明體" pitchFamily="18"/>
              </a:rPr>
              <a:t>：</a:t>
            </a:r>
            <a:endParaRPr lang="en-US" sz="2800">
              <a:latin typeface="Cambria Math" pitchFamily="18"/>
              <a:ea typeface="新細明體" pitchFamily="18"/>
            </a:endParaRPr>
          </a:p>
          <a:p>
            <a:pPr lvl="0"/>
            <a:r>
              <a:rPr lang="en-US" sz="2800">
                <a:latin typeface="Cambria Math" pitchFamily="18"/>
                <a:ea typeface="新細明體" pitchFamily="18"/>
              </a:rPr>
              <a:t>     The reverse of X’’ is LCS of the reverse of </a:t>
            </a:r>
            <a:r>
              <a:rPr lang="en-US" sz="2800">
                <a:latin typeface="Cambria Math" pitchFamily="18"/>
                <a:ea typeface="Cambria Math" pitchFamily="18"/>
              </a:rPr>
              <a:t>S</a:t>
            </a:r>
            <a:r>
              <a:rPr lang="en-US" sz="2800" baseline="-25000">
                <a:latin typeface="Cambria Math" pitchFamily="18"/>
                <a:ea typeface="Cambria Math" pitchFamily="18"/>
              </a:rPr>
              <a:t>2 </a:t>
            </a:r>
            <a:r>
              <a:rPr lang="en-US" sz="2800">
                <a:latin typeface="Cambria Math" pitchFamily="18"/>
                <a:ea typeface="Cambria Math" pitchFamily="18"/>
              </a:rPr>
              <a:t>and </a:t>
            </a:r>
          </a:p>
          <a:p>
            <a:pPr lvl="0"/>
            <a:r>
              <a:rPr lang="en-US" sz="2800">
                <a:latin typeface="Cambria Math" pitchFamily="18"/>
                <a:ea typeface="Cambria Math" pitchFamily="18"/>
              </a:rPr>
              <a:t>     reverse of B</a:t>
            </a:r>
            <a:r>
              <a:rPr lang="en-US" sz="2800" baseline="-25000">
                <a:latin typeface="Cambria Math" pitchFamily="18"/>
                <a:ea typeface="Cambria Math" pitchFamily="18"/>
              </a:rPr>
              <a:t>j+1,n</a:t>
            </a:r>
          </a:p>
          <a:p>
            <a:pPr lvl="0"/>
            <a:endParaRPr lang="en-US" sz="2800">
              <a:latin typeface="Cambria Math" pitchFamily="18"/>
              <a:ea typeface="Cambria Math" pitchFamily="1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C</a:t>
            </a:r>
            <a:endParaRPr lang="en-US"/>
          </a:p>
        </p:txBody>
      </p:sp>
      <p:graphicFrame>
        <p:nvGraphicFramePr>
          <p:cNvPr id="3" name="內容版面配置區 5"/>
          <p:cNvGraphicFramePr>
            <a:graphicFrameLocks noGrp="1"/>
          </p:cNvGraphicFramePr>
          <p:nvPr>
            <p:ph idx="1"/>
          </p:nvPr>
        </p:nvGraphicFramePr>
        <p:xfrm>
          <a:off x="598483" y="2466465"/>
          <a:ext cx="9072528" cy="410468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756044"/>
                <a:gridCol w="756044"/>
                <a:gridCol w="756044"/>
                <a:gridCol w="756044"/>
                <a:gridCol w="756044"/>
                <a:gridCol w="756044"/>
                <a:gridCol w="756044"/>
                <a:gridCol w="756044"/>
                <a:gridCol w="756044"/>
                <a:gridCol w="756044"/>
                <a:gridCol w="756044"/>
                <a:gridCol w="756044"/>
              </a:tblGrid>
              <a:tr h="370844"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D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O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R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M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I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T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O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R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Y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</a:tr>
              <a:tr h="370844"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</a:tr>
              <a:tr h="370844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D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</a:tr>
              <a:tr h="370844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I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</a:tr>
              <a:tr h="370844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R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</a:tr>
              <a:tr h="370844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T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000" baseline="0"/>
                        <a:t>i - j</a:t>
                      </a:r>
                      <a:endParaRPr lang="en-US" sz="2000" b="1">
                        <a:solidFill>
                          <a:srgbClr val="002060"/>
                        </a:solidFill>
                        <a:latin typeface="Cambria Math" pitchFamily="18"/>
                      </a:endParaRP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</a:tr>
              <a:tr h="370844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Y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</a:tr>
              <a:tr h="370844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R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</a:tr>
              <a:tr h="370844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O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</a:tr>
              <a:tr h="370844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O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</a:tr>
              <a:tr h="370844">
                <a:tc>
                  <a:txBody>
                    <a:bodyPr/>
                    <a:lstStyle/>
                    <a:p>
                      <a:pPr lvl="0" algn="ctr"/>
                      <a:r>
                        <a:rPr lang="en-US"/>
                        <a:t>M</a:t>
                      </a:r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endParaRPr lang="en-US">
                        <a:latin typeface="Cambria Math" pitchFamily="18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直線單箭頭接點 21"/>
          <p:cNvCxnSpPr/>
          <p:nvPr/>
        </p:nvCxnSpPr>
        <p:spPr>
          <a:xfrm>
            <a:off x="1381128" y="2867028"/>
            <a:ext cx="4524368" cy="1447797"/>
          </a:xfrm>
          <a:prstGeom prst="straightConnector1">
            <a:avLst/>
          </a:prstGeom>
          <a:noFill/>
          <a:ln w="38103" cap="flat">
            <a:solidFill>
              <a:srgbClr val="FF0000"/>
            </a:solidFill>
            <a:prstDash val="solid"/>
            <a:miter/>
            <a:tailEnd type="arrow"/>
          </a:ln>
        </p:spPr>
      </p:cxnSp>
      <p:cxnSp>
        <p:nvCxnSpPr>
          <p:cNvPr id="5" name="直線單箭頭接點 23"/>
          <p:cNvCxnSpPr/>
          <p:nvPr/>
        </p:nvCxnSpPr>
        <p:spPr>
          <a:xfrm>
            <a:off x="6639083" y="4714362"/>
            <a:ext cx="3031968" cy="1856745"/>
          </a:xfrm>
          <a:prstGeom prst="straightConnector1">
            <a:avLst/>
          </a:prstGeom>
          <a:noFill/>
          <a:ln w="38103" cap="flat">
            <a:solidFill>
              <a:srgbClr val="FF0000"/>
            </a:solidFill>
            <a:prstDash val="solid"/>
            <a:miter/>
            <a:headEnd type="arrow"/>
          </a:ln>
        </p:spPr>
      </p:cxnSp>
      <p:sp>
        <p:nvSpPr>
          <p:cNvPr id="6" name="文字方塊 25"/>
          <p:cNvSpPr txBox="1"/>
          <p:nvPr/>
        </p:nvSpPr>
        <p:spPr>
          <a:xfrm>
            <a:off x="6143625" y="1937732"/>
            <a:ext cx="390521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j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895978" y="4314825"/>
          <a:ext cx="742950" cy="4000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42950"/>
              </a:tblGrid>
              <a:tr h="400050">
                <a:tc>
                  <a:txBody>
                    <a:bodyPr/>
                    <a:lstStyle/>
                    <a:p>
                      <a:pPr lvl="0"/>
                      <a:endParaRPr lang="en-US"/>
                    </a:p>
                  </a:txBody>
                  <a:tcPr>
                    <a:lnL w="38103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C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SzPct val="100000"/>
              <a:buFont typeface="Arial" pitchFamily="34"/>
              <a:buChar char="•"/>
            </a:pPr>
            <a:r>
              <a:rPr lang="en-US">
                <a:latin typeface="Cambria Math" pitchFamily="18"/>
                <a:ea typeface="Cambria Math" pitchFamily="18"/>
              </a:rPr>
              <a:t>We now apply the above trick recursively to </a:t>
            </a:r>
            <a:r>
              <a:rPr lang="en-US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divide</a:t>
            </a:r>
            <a:r>
              <a:rPr lang="en-US">
                <a:latin typeface="Cambria Math" pitchFamily="18"/>
                <a:ea typeface="Cambria Math" pitchFamily="18"/>
              </a:rPr>
              <a:t> a given problem into two smallr problem until we obtain a trivial subproblem.</a:t>
            </a:r>
          </a:p>
          <a:p>
            <a:pPr marL="457200" lvl="0" indent="-457200">
              <a:buSzPct val="100000"/>
              <a:buFont typeface="Arial" pitchFamily="34"/>
              <a:buChar char="•"/>
            </a:pPr>
            <a:endParaRPr lang="en-US">
              <a:latin typeface="Cambria Math" pitchFamily="18"/>
              <a:ea typeface="Cambria Math" pitchFamily="18"/>
            </a:endParaRPr>
          </a:p>
          <a:p>
            <a:pPr marL="457200" lvl="0" indent="-457200">
              <a:buSzPct val="100000"/>
              <a:buFont typeface="Arial" pitchFamily="34"/>
              <a:buChar char="•"/>
            </a:pPr>
            <a:r>
              <a:rPr lang="en-US">
                <a:latin typeface="Cambria Math" pitchFamily="18"/>
                <a:ea typeface="Cambria Math" pitchFamily="18"/>
              </a:rPr>
              <a:t>Divide &amp; Conquer</a:t>
            </a:r>
            <a:endParaRPr lang="en-US"/>
          </a:p>
          <a:p>
            <a:pPr marL="457200" lvl="0" indent="-457200">
              <a:buSzPct val="100000"/>
              <a:buFont typeface="Arial" pitchFamily="34"/>
              <a:buChar char="•"/>
            </a:pPr>
            <a:endParaRPr lang="en-US">
              <a:latin typeface="Cambria Math" pitchFamily="18"/>
              <a:ea typeface="Cambria Math" pitchFamily="1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C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769043"/>
            <a:ext cx="9071643" cy="5527109"/>
          </a:xfrm>
        </p:spPr>
        <p:txBody>
          <a:bodyPr/>
          <a:lstStyle/>
          <a:p>
            <a:pPr lvl="0"/>
            <a:r>
              <a:rPr lang="en-US">
                <a:solidFill>
                  <a:srgbClr val="0070C0"/>
                </a:solidFill>
                <a:latin typeface="Cambria Math" pitchFamily="18"/>
                <a:ea typeface="Cambria Math" pitchFamily="18"/>
              </a:rPr>
              <a:t>If problem is trivial, solve it</a:t>
            </a:r>
            <a:r>
              <a:rPr lang="zh-TW">
                <a:solidFill>
                  <a:srgbClr val="0070C0"/>
                </a:solidFill>
                <a:latin typeface="Cambria Math" pitchFamily="18"/>
                <a:ea typeface="新細明體" pitchFamily="18"/>
              </a:rPr>
              <a:t>：</a:t>
            </a:r>
            <a:endParaRPr lang="en-US">
              <a:solidFill>
                <a:srgbClr val="0070C0"/>
              </a:solidFill>
              <a:latin typeface="Cambria Math" pitchFamily="18"/>
              <a:ea typeface="Cambria Math" pitchFamily="18"/>
            </a:endParaRPr>
          </a:p>
          <a:p>
            <a:pPr lvl="0"/>
            <a:r>
              <a:rPr lang="zh-TW">
                <a:latin typeface="Cambria Math" pitchFamily="18"/>
                <a:ea typeface="新細明體" pitchFamily="18"/>
              </a:rPr>
              <a:t>①</a:t>
            </a:r>
            <a:r>
              <a:rPr lang="en-US">
                <a:latin typeface="Cambria Math" pitchFamily="18"/>
                <a:ea typeface="Cambria Math" pitchFamily="18"/>
              </a:rPr>
              <a:t> String B is empty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       A = “abcd”, B = “”  → </a:t>
            </a:r>
            <a:r>
              <a:rPr lang="en-US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LCS = “”</a:t>
            </a:r>
          </a:p>
          <a:p>
            <a:pPr lvl="0"/>
            <a:endParaRPr lang="en-US" sz="1200">
              <a:latin typeface="Cambria Math" pitchFamily="18"/>
              <a:ea typeface="Cambria Math" pitchFamily="18"/>
            </a:endParaRPr>
          </a:p>
          <a:p>
            <a:pPr lvl="0"/>
            <a:r>
              <a:rPr lang="zh-TW">
                <a:latin typeface="Cambria Math" pitchFamily="18"/>
                <a:ea typeface="新細明體" pitchFamily="18"/>
              </a:rPr>
              <a:t>②</a:t>
            </a:r>
            <a:r>
              <a:rPr lang="en-US">
                <a:latin typeface="Cambria Math" pitchFamily="18"/>
                <a:ea typeface="Cambria Math" pitchFamily="18"/>
              </a:rPr>
              <a:t> Length of string A is 1.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      A = “b”, B = “abcd” → </a:t>
            </a:r>
            <a:r>
              <a:rPr lang="en-US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LCS = “b”</a:t>
            </a:r>
          </a:p>
          <a:p>
            <a:pPr lvl="0"/>
            <a:endParaRPr lang="en-US" sz="1200">
              <a:latin typeface="Cambria Math" pitchFamily="18"/>
              <a:ea typeface="Cambria Math" pitchFamily="18"/>
            </a:endParaRPr>
          </a:p>
          <a:p>
            <a:pPr lvl="0"/>
            <a:r>
              <a:rPr lang="zh-TW">
                <a:latin typeface="新細明體" pitchFamily="18"/>
                <a:ea typeface="新細明體" pitchFamily="18"/>
              </a:rPr>
              <a:t>③</a:t>
            </a:r>
            <a:r>
              <a:rPr lang="en-US">
                <a:latin typeface="Cambria Math" pitchFamily="18"/>
                <a:ea typeface="Cambria Math" pitchFamily="18"/>
              </a:rPr>
              <a:t> String A is empty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      A = “”, B = “abcd” → </a:t>
            </a:r>
            <a:r>
              <a:rPr lang="en-US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LCS = “”</a:t>
            </a:r>
            <a:endParaRPr lang="en-US">
              <a:solidFill>
                <a:srgbClr val="FF0000"/>
              </a:solidFill>
              <a:latin typeface="Cambria Math" pitchFamily="18"/>
              <a:ea typeface="新細明體" pitchFamily="18"/>
            </a:endParaRPr>
          </a:p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lvl="0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C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 txBox="1">
                <a:spLocks noGrp="1"/>
              </p:cNvSpPr>
              <p:nvPr>
                <p:ph idx="1"/>
              </p:nvPr>
            </p:nvSpPr>
            <p:spPr>
              <a:xfrm>
                <a:off x="503998" y="1769043"/>
                <a:ext cx="9071643" cy="5460431"/>
              </a:xfrm>
            </p:spPr>
            <p:txBody>
              <a:bodyPr/>
              <a:lstStyle/>
              <a:p>
                <a:pPr lvl="0"/>
                <a:r>
                  <a:rPr lang="en-US" dirty="0" err="1">
                    <a:solidFill>
                      <a:srgbClr val="0070C0"/>
                    </a:solidFill>
                    <a:latin typeface="Cambria Math" pitchFamily="18"/>
                    <a:ea typeface="Cambria Math" pitchFamily="18"/>
                  </a:rPr>
                  <a:t>Otherewise</a:t>
                </a:r>
                <a:r>
                  <a:rPr lang="en-US" dirty="0">
                    <a:solidFill>
                      <a:srgbClr val="0070C0"/>
                    </a:solidFill>
                    <a:latin typeface="Cambria Math" pitchFamily="18"/>
                    <a:ea typeface="Cambria Math" pitchFamily="18"/>
                  </a:rPr>
                  <a:t>, split problem</a:t>
                </a:r>
                <a:r>
                  <a:rPr lang="zh-TW" dirty="0">
                    <a:solidFill>
                      <a:srgbClr val="0070C0"/>
                    </a:solidFill>
                    <a:latin typeface="Cambria Math" pitchFamily="18"/>
                    <a:ea typeface="新細明體" pitchFamily="18"/>
                  </a:rPr>
                  <a:t> ：</a:t>
                </a:r>
                <a:endParaRPr lang="en-US" dirty="0">
                  <a:solidFill>
                    <a:srgbClr val="0070C0"/>
                  </a:solidFill>
                  <a:latin typeface="新細明體" pitchFamily="18"/>
                  <a:ea typeface="新細明體" pitchFamily="18"/>
                </a:endParaRPr>
              </a:p>
              <a:p>
                <a:pPr lvl="0" algn="l"/>
                <a:r>
                  <a:rPr lang="en-US" dirty="0">
                    <a:latin typeface="Cambria Math" pitchFamily="18"/>
                    <a:ea typeface="Cambria Math" pitchFamily="18"/>
                  </a:rPr>
                  <a:t>A</a:t>
                </a:r>
                <a:r>
                  <a:rPr lang="en-US" dirty="0">
                    <a:latin typeface="Cambria Math" pitchFamily="18"/>
                    <a:ea typeface="新細明體" pitchFamily="18"/>
                  </a:rPr>
                  <a:t> </a:t>
                </a:r>
                <a:r>
                  <a:rPr lang="zh-TW" dirty="0">
                    <a:latin typeface="Cambria Math" pitchFamily="18"/>
                    <a:ea typeface="新細明體" pitchFamily="18"/>
                  </a:rPr>
                  <a:t>：</a:t>
                </a:r>
                <a:r>
                  <a:rPr lang="en-US" dirty="0" err="1">
                    <a:latin typeface="Cambria Math" pitchFamily="18"/>
                    <a:ea typeface="Cambria Math" pitchFamily="18"/>
                  </a:rPr>
                  <a:t>abcd</a:t>
                </a:r>
                <a:r>
                  <a:rPr lang="en-US" dirty="0">
                    <a:latin typeface="Cambria Math" pitchFamily="18"/>
                    <a:ea typeface="Cambria Math" pitchFamily="18"/>
                  </a:rPr>
                  <a:t>  </a:t>
                </a:r>
              </a:p>
              <a:p>
                <a:pPr lvl="0" algn="l"/>
                <a:r>
                  <a:rPr lang="en-US" dirty="0">
                    <a:latin typeface="Cambria Math" pitchFamily="18"/>
                    <a:ea typeface="Cambria Math" pitchFamily="18"/>
                  </a:rPr>
                  <a:t>B</a:t>
                </a:r>
                <a:r>
                  <a:rPr lang="en-US" dirty="0">
                    <a:latin typeface="Cambria Math" pitchFamily="18"/>
                    <a:ea typeface="新細明體" pitchFamily="18"/>
                  </a:rPr>
                  <a:t> </a:t>
                </a:r>
                <a:r>
                  <a:rPr lang="zh-TW" dirty="0">
                    <a:latin typeface="Cambria Math" pitchFamily="18"/>
                    <a:ea typeface="新細明體" pitchFamily="18"/>
                  </a:rPr>
                  <a:t>：</a:t>
                </a:r>
                <a:r>
                  <a:rPr lang="en-US" dirty="0" err="1">
                    <a:latin typeface="Cambria Math" pitchFamily="18"/>
                    <a:ea typeface="Cambria Math" pitchFamily="18"/>
                  </a:rPr>
                  <a:t>acde</a:t>
                </a:r>
                <a:r>
                  <a:rPr lang="en-US" dirty="0">
                    <a:latin typeface="Cambria Math" pitchFamily="18"/>
                    <a:ea typeface="Cambria Math" pitchFamily="18"/>
                  </a:rPr>
                  <a:t> </a:t>
                </a:r>
              </a:p>
              <a:p>
                <a:pPr lvl="0" algn="l"/>
                <a:endParaRPr lang="en-US" dirty="0">
                  <a:latin typeface="Cambria Math" pitchFamily="18"/>
                  <a:ea typeface="Cambria Math" pitchFamily="18"/>
                </a:endParaRPr>
              </a:p>
              <a:p>
                <a:pPr lvl="0" algn="l"/>
                <a:endParaRPr lang="en-US" dirty="0">
                  <a:latin typeface="Cambria Math" pitchFamily="18"/>
                  <a:ea typeface="Cambria Math" pitchFamily="18"/>
                </a:endParaRPr>
              </a:p>
              <a:p>
                <a:pPr lvl="0" algn="l"/>
                <a:r>
                  <a:rPr lang="en-US" dirty="0">
                    <a:latin typeface="Cambria Math" pitchFamily="18"/>
                    <a:ea typeface="Cambria Math" pitchFamily="18"/>
                  </a:rPr>
                  <a:t>A</a:t>
                </a:r>
                <a:r>
                  <a:rPr lang="en-US" baseline="-25000" dirty="0">
                    <a:latin typeface="Cambria Math" pitchFamily="18"/>
                    <a:ea typeface="Cambria Math" pitchFamily="18"/>
                  </a:rPr>
                  <a:t>1</a:t>
                </a:r>
                <a:r>
                  <a:rPr lang="zh-TW" dirty="0">
                    <a:latin typeface="Cambria Math" pitchFamily="18"/>
                    <a:ea typeface="新細明體" pitchFamily="18"/>
                  </a:rPr>
                  <a:t>：</a:t>
                </a:r>
                <a:r>
                  <a:rPr lang="en-US" dirty="0">
                    <a:latin typeface="Cambria Math" pitchFamily="18"/>
                    <a:ea typeface="Cambria Math" pitchFamily="18"/>
                  </a:rPr>
                  <a:t>ab , B</a:t>
                </a:r>
                <a:r>
                  <a:rPr lang="zh-TW" dirty="0" smtClean="0">
                    <a:latin typeface="Cambria Math" pitchFamily="18"/>
                    <a:ea typeface="新細明體" pitchFamily="18"/>
                  </a:rPr>
                  <a:t> ：</a:t>
                </a:r>
                <a:r>
                  <a:rPr lang="en-US" altLang="zh-TW" dirty="0" err="1" smtClean="0">
                    <a:latin typeface="Cambria Math" pitchFamily="18"/>
                    <a:ea typeface="新細明體" pitchFamily="18"/>
                  </a:rPr>
                  <a:t>acde</a:t>
                </a:r>
                <a:endParaRPr lang="en-US" dirty="0">
                  <a:latin typeface="Cambria Math" pitchFamily="18"/>
                  <a:ea typeface="Cambria Math" pitchFamily="18"/>
                </a:endParaRPr>
              </a:p>
              <a:p>
                <a:pPr lvl="0" algn="l"/>
                <a:r>
                  <a:rPr lang="en-US" dirty="0">
                    <a:latin typeface="Cambria Math" pitchFamily="18"/>
                    <a:ea typeface="Cambria Math" pitchFamily="18"/>
                  </a:rPr>
                  <a:t>Â</a:t>
                </a:r>
                <a:r>
                  <a:rPr lang="en-US" baseline="-25000" dirty="0">
                    <a:latin typeface="Cambria Math" pitchFamily="18"/>
                    <a:ea typeface="Cambria Math" pitchFamily="18"/>
                  </a:rPr>
                  <a:t>2</a:t>
                </a:r>
                <a:r>
                  <a:rPr lang="zh-TW" dirty="0">
                    <a:latin typeface="Cambria Math" pitchFamily="18"/>
                    <a:ea typeface="新細明體" pitchFamily="18"/>
                  </a:rPr>
                  <a:t>：</a:t>
                </a:r>
                <a:r>
                  <a:rPr lang="en-US" dirty="0">
                    <a:latin typeface="Cambria Math" pitchFamily="18"/>
                    <a:ea typeface="Cambria Math" pitchFamily="18"/>
                  </a:rPr>
                  <a:t>dc 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zh-TW" dirty="0">
                    <a:latin typeface="Cambria Math" pitchFamily="18"/>
                    <a:ea typeface="新細明體" pitchFamily="18"/>
                  </a:rPr>
                  <a:t> </a:t>
                </a:r>
                <a:r>
                  <a:rPr lang="zh-TW" dirty="0" smtClean="0">
                    <a:latin typeface="Cambria Math" pitchFamily="18"/>
                    <a:ea typeface="新細明體" pitchFamily="18"/>
                  </a:rPr>
                  <a:t>：</a:t>
                </a:r>
                <a:r>
                  <a:rPr lang="en-US" altLang="zh-TW" smtClean="0">
                    <a:latin typeface="Cambria Math" pitchFamily="18"/>
                    <a:ea typeface="新細明體" pitchFamily="18"/>
                  </a:rPr>
                  <a:t>edca</a:t>
                </a:r>
                <a:endParaRPr lang="en-US" dirty="0">
                  <a:latin typeface="Cambria Math" pitchFamily="18"/>
                  <a:ea typeface="Cambria Math" pitchFamily="18"/>
                </a:endParaRPr>
              </a:p>
              <a:p>
                <a:pPr lvl="0"/>
                <a:endParaRPr lang="en-US" dirty="0">
                  <a:latin typeface="Cambria Math" pitchFamily="18"/>
                  <a:ea typeface="Cambria Math" pitchFamily="18"/>
                </a:endParaRPr>
              </a:p>
              <a:p>
                <a:pPr lvl="0"/>
                <a:endParaRPr lang="en-US" dirty="0">
                  <a:latin typeface="Cambria Math" pitchFamily="18"/>
                </a:endParaRPr>
              </a:p>
            </p:txBody>
          </p:sp>
        </mc:Choice>
        <mc:Fallback>
          <p:sp>
            <p:nvSpPr>
              <p:cNvPr id="3" name="內容版面配置區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998" y="1769043"/>
                <a:ext cx="9071643" cy="5460431"/>
              </a:xfrm>
              <a:blipFill rotWithShape="0">
                <a:blip r:embed="rId2"/>
                <a:stretch>
                  <a:fillRect l="-2755" t="-23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8"/>
          <p:cNvSpPr txBox="1"/>
          <p:nvPr/>
        </p:nvSpPr>
        <p:spPr>
          <a:xfrm>
            <a:off x="2066928" y="3976039"/>
            <a:ext cx="1200150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Divide</a:t>
            </a: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mbria Math" pitchFamily="18"/>
              <a:ea typeface="新細明體" pitchFamily="18"/>
            </a:endParaRPr>
          </a:p>
        </p:txBody>
      </p:sp>
      <p:sp>
        <p:nvSpPr>
          <p:cNvPr id="5" name="向下箭號 14"/>
          <p:cNvSpPr/>
          <p:nvPr/>
        </p:nvSpPr>
        <p:spPr>
          <a:xfrm>
            <a:off x="1200150" y="3714749"/>
            <a:ext cx="866778" cy="1181103"/>
          </a:xfrm>
          <a:custGeom>
            <a:avLst>
              <a:gd name="f0" fmla="val 13674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+- f8 0 f7"/>
              <a:gd name="f15" fmla="pin 0 f1 10800"/>
              <a:gd name="f16" fmla="pin 0 f0 21600"/>
              <a:gd name="f17" fmla="*/ f10 f2 1"/>
              <a:gd name="f18" fmla="*/ f11 f2 1"/>
              <a:gd name="f19" fmla="val f15"/>
              <a:gd name="f20" fmla="val f16"/>
              <a:gd name="f21" fmla="*/ f14 1 21600"/>
              <a:gd name="f22" fmla="*/ f15 f12 1"/>
              <a:gd name="f23" fmla="*/ f16 f13 1"/>
              <a:gd name="f24" fmla="*/ f17 1 f4"/>
              <a:gd name="f25" fmla="*/ f18 1 f4"/>
              <a:gd name="f26" fmla="+- 21600 0 f19"/>
              <a:gd name="f27" fmla="+- 21600 0 f20"/>
              <a:gd name="f28" fmla="*/ 0 f21 1"/>
              <a:gd name="f29" fmla="*/ 21600 f21 1"/>
              <a:gd name="f30" fmla="*/ f19 f12 1"/>
              <a:gd name="f31" fmla="*/ f20 f13 1"/>
              <a:gd name="f32" fmla="+- f24 0 f3"/>
              <a:gd name="f33" fmla="+- f25 0 f3"/>
              <a:gd name="f34" fmla="*/ f27 f19 1"/>
              <a:gd name="f35" fmla="*/ f28 1 f21"/>
              <a:gd name="f36" fmla="*/ f29 1 f21"/>
              <a:gd name="f37" fmla="*/ f26 f12 1"/>
              <a:gd name="f38" fmla="*/ f34 1 10800"/>
              <a:gd name="f39" fmla="*/ f35 f13 1"/>
              <a:gd name="f40" fmla="*/ f35 f12 1"/>
              <a:gd name="f41" fmla="*/ f36 f12 1"/>
              <a:gd name="f42" fmla="+- f20 f38 0"/>
              <a:gd name="f43" fmla="*/ f42 f13 1"/>
            </a:gdLst>
            <a:ahLst>
              <a:ahXY gdRefX="f1" minX="f7" maxX="f9" gdRefY="f0" minY="f7" maxY="f8">
                <a:pos x="f22" y="f23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40" y="f31"/>
              </a:cxn>
              <a:cxn ang="f33">
                <a:pos x="f41" y="f31"/>
              </a:cxn>
            </a:cxnLst>
            <a:rect l="f30" t="f39" r="f37" b="f43"/>
            <a:pathLst>
              <a:path w="21600" h="21600">
                <a:moveTo>
                  <a:pt x="f19" y="f7"/>
                </a:moveTo>
                <a:lnTo>
                  <a:pt x="f19" y="f20"/>
                </a:lnTo>
                <a:lnTo>
                  <a:pt x="f7" y="f20"/>
                </a:lnTo>
                <a:lnTo>
                  <a:pt x="f9" y="f8"/>
                </a:lnTo>
                <a:lnTo>
                  <a:pt x="f8" y="f20"/>
                </a:lnTo>
                <a:lnTo>
                  <a:pt x="f26" y="f20"/>
                </a:lnTo>
                <a:lnTo>
                  <a:pt x="f26" y="f7"/>
                </a:lnTo>
                <a:close/>
              </a:path>
            </a:pathLst>
          </a:custGeom>
          <a:gradFill>
            <a:gsLst>
              <a:gs pos="0">
                <a:srgbClr val="FFDD9C"/>
              </a:gs>
              <a:gs pos="100000">
                <a:srgbClr val="FFD78E"/>
              </a:gs>
            </a:gsLst>
            <a:lin ang="5400000"/>
          </a:gradFill>
          <a:ln w="6345" cap="flat">
            <a:solidFill>
              <a:srgbClr val="FFC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6" name="文字方塊 11"/>
          <p:cNvSpPr txBox="1"/>
          <p:nvPr/>
        </p:nvSpPr>
        <p:spPr>
          <a:xfrm>
            <a:off x="2514600" y="2371725"/>
            <a:ext cx="3321740" cy="861776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(A</a:t>
            </a:r>
            <a:r>
              <a:rPr lang="en-US" sz="3200" b="0" i="0" u="none" strike="noStrike" kern="1200" cap="none" spc="0" baseline="-2500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1</a:t>
            </a: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 = ab, A</a:t>
            </a:r>
            <a:r>
              <a:rPr lang="en-US" sz="3200" b="0" i="0" u="none" strike="noStrike" kern="1200" cap="none" spc="0" baseline="-2500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2</a:t>
            </a: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 = cd)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C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52453" y="3414232"/>
          <a:ext cx="3786162" cy="1112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31027"/>
                <a:gridCol w="631027"/>
                <a:gridCol w="631027"/>
                <a:gridCol w="631027"/>
                <a:gridCol w="631027"/>
                <a:gridCol w="631027"/>
              </a:tblGrid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a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c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d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e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a</a:t>
                      </a:r>
                      <a:endParaRPr lang="en-US" sz="1800">
                        <a:solidFill>
                          <a:srgbClr val="C0000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52453" y="5511161"/>
          <a:ext cx="3786162" cy="1112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31027"/>
                <a:gridCol w="631027"/>
                <a:gridCol w="631027"/>
                <a:gridCol w="631027"/>
                <a:gridCol w="631027"/>
                <a:gridCol w="631027"/>
              </a:tblGrid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a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c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d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e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1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1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1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1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b</a:t>
                      </a:r>
                      <a:endParaRPr lang="en-US" sz="1800">
                        <a:solidFill>
                          <a:srgbClr val="C0000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789450" y="3414232"/>
          <a:ext cx="3786162" cy="1112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31027"/>
                <a:gridCol w="631027"/>
                <a:gridCol w="631027"/>
                <a:gridCol w="631027"/>
                <a:gridCol w="631027"/>
                <a:gridCol w="631027"/>
              </a:tblGrid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e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d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c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a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d</a:t>
                      </a:r>
                      <a:endParaRPr lang="en-US" sz="1800">
                        <a:solidFill>
                          <a:srgbClr val="C0000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789450" y="5513575"/>
          <a:ext cx="3786162" cy="1112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31027"/>
                <a:gridCol w="631027"/>
                <a:gridCol w="631027"/>
                <a:gridCol w="631027"/>
                <a:gridCol w="631027"/>
                <a:gridCol w="631027"/>
              </a:tblGrid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e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d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c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a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1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1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1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c</a:t>
                      </a:r>
                      <a:endParaRPr lang="en-US" sz="1800">
                        <a:solidFill>
                          <a:srgbClr val="C0000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03998" y="2679859"/>
            <a:ext cx="3738908" cy="800218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ALG B(2, 4, “ab”, “acde”)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789450" y="2679859"/>
            <a:ext cx="4076120" cy="8002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ALG B(2, 4, “dc”, “edca”)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  <p:cxnSp>
        <p:nvCxnSpPr>
          <p:cNvPr id="10" name="直線接點 14"/>
          <p:cNvCxnSpPr/>
          <p:nvPr/>
        </p:nvCxnSpPr>
        <p:spPr>
          <a:xfrm>
            <a:off x="5059960" y="2334856"/>
            <a:ext cx="0" cy="4384438"/>
          </a:xfrm>
          <a:prstGeom prst="straightConnector1">
            <a:avLst/>
          </a:prstGeom>
          <a:noFill/>
          <a:ln w="6345" cap="flat">
            <a:solidFill>
              <a:srgbClr val="5B9BD5"/>
            </a:solidFill>
            <a:prstDash val="solid"/>
            <a:miter/>
          </a:ln>
        </p:spPr>
      </p:cxnSp>
      <p:sp>
        <p:nvSpPr>
          <p:cNvPr id="11" name="向下箭號 15"/>
          <p:cNvSpPr/>
          <p:nvPr/>
        </p:nvSpPr>
        <p:spPr>
          <a:xfrm>
            <a:off x="2278346" y="4865440"/>
            <a:ext cx="335758" cy="378305"/>
          </a:xfrm>
          <a:custGeom>
            <a:avLst>
              <a:gd name="f0" fmla="val 12015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+- f8 0 f7"/>
              <a:gd name="f15" fmla="pin 0 f1 10800"/>
              <a:gd name="f16" fmla="pin 0 f0 21600"/>
              <a:gd name="f17" fmla="*/ f10 f2 1"/>
              <a:gd name="f18" fmla="*/ f11 f2 1"/>
              <a:gd name="f19" fmla="val f15"/>
              <a:gd name="f20" fmla="val f16"/>
              <a:gd name="f21" fmla="*/ f14 1 21600"/>
              <a:gd name="f22" fmla="*/ f15 f12 1"/>
              <a:gd name="f23" fmla="*/ f16 f13 1"/>
              <a:gd name="f24" fmla="*/ f17 1 f4"/>
              <a:gd name="f25" fmla="*/ f18 1 f4"/>
              <a:gd name="f26" fmla="+- 21600 0 f19"/>
              <a:gd name="f27" fmla="+- 21600 0 f20"/>
              <a:gd name="f28" fmla="*/ 0 f21 1"/>
              <a:gd name="f29" fmla="*/ 21600 f21 1"/>
              <a:gd name="f30" fmla="*/ f19 f12 1"/>
              <a:gd name="f31" fmla="*/ f20 f13 1"/>
              <a:gd name="f32" fmla="+- f24 0 f3"/>
              <a:gd name="f33" fmla="+- f25 0 f3"/>
              <a:gd name="f34" fmla="*/ f27 f19 1"/>
              <a:gd name="f35" fmla="*/ f28 1 f21"/>
              <a:gd name="f36" fmla="*/ f29 1 f21"/>
              <a:gd name="f37" fmla="*/ f26 f12 1"/>
              <a:gd name="f38" fmla="*/ f34 1 10800"/>
              <a:gd name="f39" fmla="*/ f35 f13 1"/>
              <a:gd name="f40" fmla="*/ f35 f12 1"/>
              <a:gd name="f41" fmla="*/ f36 f12 1"/>
              <a:gd name="f42" fmla="+- f20 f38 0"/>
              <a:gd name="f43" fmla="*/ f42 f13 1"/>
            </a:gdLst>
            <a:ahLst>
              <a:ahXY gdRefX="f1" minX="f7" maxX="f9" gdRefY="f0" minY="f7" maxY="f8">
                <a:pos x="f22" y="f23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40" y="f31"/>
              </a:cxn>
              <a:cxn ang="f33">
                <a:pos x="f41" y="f31"/>
              </a:cxn>
            </a:cxnLst>
            <a:rect l="f30" t="f39" r="f37" b="f43"/>
            <a:pathLst>
              <a:path w="21600" h="21600">
                <a:moveTo>
                  <a:pt x="f19" y="f7"/>
                </a:moveTo>
                <a:lnTo>
                  <a:pt x="f19" y="f20"/>
                </a:lnTo>
                <a:lnTo>
                  <a:pt x="f7" y="f20"/>
                </a:lnTo>
                <a:lnTo>
                  <a:pt x="f9" y="f8"/>
                </a:lnTo>
                <a:lnTo>
                  <a:pt x="f8" y="f20"/>
                </a:lnTo>
                <a:lnTo>
                  <a:pt x="f26" y="f20"/>
                </a:lnTo>
                <a:lnTo>
                  <a:pt x="f26" y="f7"/>
                </a:lnTo>
                <a:close/>
              </a:path>
            </a:pathLst>
          </a:custGeom>
          <a:solidFill>
            <a:srgbClr val="5B9BD5"/>
          </a:solidFill>
          <a:ln w="12701" cap="flat">
            <a:solidFill>
              <a:srgbClr val="41719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12" name="向下箭號 16"/>
          <p:cNvSpPr/>
          <p:nvPr/>
        </p:nvSpPr>
        <p:spPr>
          <a:xfrm>
            <a:off x="7514667" y="4883142"/>
            <a:ext cx="335758" cy="378305"/>
          </a:xfrm>
          <a:custGeom>
            <a:avLst>
              <a:gd name="f0" fmla="val 12015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+- f8 0 f7"/>
              <a:gd name="f15" fmla="pin 0 f1 10800"/>
              <a:gd name="f16" fmla="pin 0 f0 21600"/>
              <a:gd name="f17" fmla="*/ f10 f2 1"/>
              <a:gd name="f18" fmla="*/ f11 f2 1"/>
              <a:gd name="f19" fmla="val f15"/>
              <a:gd name="f20" fmla="val f16"/>
              <a:gd name="f21" fmla="*/ f14 1 21600"/>
              <a:gd name="f22" fmla="*/ f15 f12 1"/>
              <a:gd name="f23" fmla="*/ f16 f13 1"/>
              <a:gd name="f24" fmla="*/ f17 1 f4"/>
              <a:gd name="f25" fmla="*/ f18 1 f4"/>
              <a:gd name="f26" fmla="+- 21600 0 f19"/>
              <a:gd name="f27" fmla="+- 21600 0 f20"/>
              <a:gd name="f28" fmla="*/ 0 f21 1"/>
              <a:gd name="f29" fmla="*/ 21600 f21 1"/>
              <a:gd name="f30" fmla="*/ f19 f12 1"/>
              <a:gd name="f31" fmla="*/ f20 f13 1"/>
              <a:gd name="f32" fmla="+- f24 0 f3"/>
              <a:gd name="f33" fmla="+- f25 0 f3"/>
              <a:gd name="f34" fmla="*/ f27 f19 1"/>
              <a:gd name="f35" fmla="*/ f28 1 f21"/>
              <a:gd name="f36" fmla="*/ f29 1 f21"/>
              <a:gd name="f37" fmla="*/ f26 f12 1"/>
              <a:gd name="f38" fmla="*/ f34 1 10800"/>
              <a:gd name="f39" fmla="*/ f35 f13 1"/>
              <a:gd name="f40" fmla="*/ f35 f12 1"/>
              <a:gd name="f41" fmla="*/ f36 f12 1"/>
              <a:gd name="f42" fmla="+- f20 f38 0"/>
              <a:gd name="f43" fmla="*/ f42 f13 1"/>
            </a:gdLst>
            <a:ahLst>
              <a:ahXY gdRefX="f1" minX="f7" maxX="f9" gdRefY="f0" minY="f7" maxY="f8">
                <a:pos x="f22" y="f23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40" y="f31"/>
              </a:cxn>
              <a:cxn ang="f33">
                <a:pos x="f41" y="f31"/>
              </a:cxn>
            </a:cxnLst>
            <a:rect l="f30" t="f39" r="f37" b="f43"/>
            <a:pathLst>
              <a:path w="21600" h="21600">
                <a:moveTo>
                  <a:pt x="f19" y="f7"/>
                </a:moveTo>
                <a:lnTo>
                  <a:pt x="f19" y="f20"/>
                </a:lnTo>
                <a:lnTo>
                  <a:pt x="f7" y="f20"/>
                </a:lnTo>
                <a:lnTo>
                  <a:pt x="f9" y="f8"/>
                </a:lnTo>
                <a:lnTo>
                  <a:pt x="f8" y="f20"/>
                </a:lnTo>
                <a:lnTo>
                  <a:pt x="f26" y="f20"/>
                </a:lnTo>
                <a:lnTo>
                  <a:pt x="f26" y="f7"/>
                </a:lnTo>
                <a:close/>
              </a:path>
            </a:pathLst>
          </a:custGeom>
          <a:solidFill>
            <a:srgbClr val="5B9BD5"/>
          </a:solidFill>
          <a:ln w="12701" cap="flat">
            <a:solidFill>
              <a:srgbClr val="41719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新細明體" pitchFamily="1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C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769043"/>
            <a:ext cx="9071643" cy="5603306"/>
          </a:xfrm>
        </p:spPr>
        <p:txBody>
          <a:bodyPr/>
          <a:lstStyle/>
          <a:p>
            <a:pPr lvl="0"/>
            <a:r>
              <a:rPr lang="en-US" sz="2800">
                <a:latin typeface="Cambria Math" pitchFamily="18"/>
                <a:ea typeface="Cambria Math" pitchFamily="18"/>
              </a:rPr>
              <a:t>Find j such that M ← max{ L</a:t>
            </a:r>
            <a:r>
              <a:rPr lang="en-US" sz="2800" baseline="-25000">
                <a:latin typeface="Cambria Math" pitchFamily="18"/>
                <a:ea typeface="Cambria Math" pitchFamily="18"/>
              </a:rPr>
              <a:t>1</a:t>
            </a:r>
            <a:r>
              <a:rPr lang="en-US" sz="2800">
                <a:latin typeface="Cambria Math" pitchFamily="18"/>
                <a:ea typeface="Cambria Math" pitchFamily="18"/>
              </a:rPr>
              <a:t>(j) + L</a:t>
            </a:r>
            <a:r>
              <a:rPr lang="en-US" sz="2800" baseline="-25000">
                <a:latin typeface="Cambria Math" pitchFamily="18"/>
                <a:ea typeface="Cambria Math" pitchFamily="18"/>
              </a:rPr>
              <a:t>2</a:t>
            </a:r>
            <a:r>
              <a:rPr lang="en-US" sz="2800">
                <a:latin typeface="Cambria Math" pitchFamily="18"/>
                <a:ea typeface="Cambria Math" pitchFamily="18"/>
              </a:rPr>
              <a:t>(n - j) } , j = 0 … n</a:t>
            </a:r>
          </a:p>
          <a:p>
            <a:pPr lvl="0"/>
            <a:endParaRPr lang="en-US" sz="2400"/>
          </a:p>
          <a:p>
            <a:pPr lvl="0"/>
            <a:endParaRPr lang="en-US" sz="2000">
              <a:latin typeface="Cambria Math" pitchFamily="18"/>
              <a:ea typeface="Cambria Math" pitchFamily="18"/>
            </a:endParaRPr>
          </a:p>
          <a:p>
            <a:pPr lvl="0"/>
            <a:r>
              <a:rPr lang="en-US" sz="2000">
                <a:latin typeface="Cambria Math" pitchFamily="18"/>
                <a:ea typeface="Cambria Math" pitchFamily="18"/>
              </a:rPr>
              <a:t>j = 0, L</a:t>
            </a:r>
            <a:r>
              <a:rPr lang="en-US" sz="2000" baseline="-25000">
                <a:latin typeface="Cambria Math" pitchFamily="18"/>
                <a:ea typeface="Cambria Math" pitchFamily="18"/>
              </a:rPr>
              <a:t>1</a:t>
            </a:r>
            <a:r>
              <a:rPr lang="en-US" sz="2000">
                <a:latin typeface="Cambria Math" pitchFamily="18"/>
                <a:ea typeface="Cambria Math" pitchFamily="18"/>
              </a:rPr>
              <a:t>(0) + L</a:t>
            </a:r>
            <a:r>
              <a:rPr lang="en-US" sz="2000" baseline="-25000">
                <a:latin typeface="Cambria Math" pitchFamily="18"/>
                <a:ea typeface="Cambria Math" pitchFamily="18"/>
              </a:rPr>
              <a:t>2</a:t>
            </a:r>
            <a:r>
              <a:rPr lang="en-US" sz="2000">
                <a:latin typeface="Cambria Math" pitchFamily="18"/>
                <a:ea typeface="Cambria Math" pitchFamily="18"/>
              </a:rPr>
              <a:t>(4) = 2</a:t>
            </a:r>
          </a:p>
          <a:p>
            <a:pPr lvl="0"/>
            <a:r>
              <a:rPr lang="en-US" sz="2000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j = 1, L</a:t>
            </a:r>
            <a:r>
              <a:rPr lang="en-US" sz="2000" baseline="-25000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1</a:t>
            </a:r>
            <a:r>
              <a:rPr lang="en-US" sz="2000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(1) + L</a:t>
            </a:r>
            <a:r>
              <a:rPr lang="en-US" sz="2000" baseline="-25000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2</a:t>
            </a:r>
            <a:r>
              <a:rPr lang="en-US" sz="2000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(3) = 3 (max)</a:t>
            </a:r>
          </a:p>
          <a:p>
            <a:pPr lvl="0"/>
            <a:r>
              <a:rPr lang="en-US" sz="2000">
                <a:latin typeface="Cambria Math" pitchFamily="18"/>
                <a:ea typeface="Cambria Math" pitchFamily="18"/>
              </a:rPr>
              <a:t>j = 2, L</a:t>
            </a:r>
            <a:r>
              <a:rPr lang="en-US" sz="2000" baseline="-25000">
                <a:latin typeface="Cambria Math" pitchFamily="18"/>
                <a:ea typeface="Cambria Math" pitchFamily="18"/>
              </a:rPr>
              <a:t>1</a:t>
            </a:r>
            <a:r>
              <a:rPr lang="en-US" sz="2000">
                <a:latin typeface="Cambria Math" pitchFamily="18"/>
                <a:ea typeface="Cambria Math" pitchFamily="18"/>
              </a:rPr>
              <a:t>(2) + L</a:t>
            </a:r>
            <a:r>
              <a:rPr lang="en-US" sz="2000" baseline="-25000">
                <a:latin typeface="Cambria Math" pitchFamily="18"/>
                <a:ea typeface="Cambria Math" pitchFamily="18"/>
              </a:rPr>
              <a:t>2</a:t>
            </a:r>
            <a:r>
              <a:rPr lang="en-US" sz="2000">
                <a:latin typeface="Cambria Math" pitchFamily="18"/>
                <a:ea typeface="Cambria Math" pitchFamily="18"/>
              </a:rPr>
              <a:t>(2) = 2</a:t>
            </a:r>
          </a:p>
          <a:p>
            <a:pPr lvl="0"/>
            <a:r>
              <a:rPr lang="en-US" sz="2000">
                <a:latin typeface="Cambria Math" pitchFamily="18"/>
                <a:ea typeface="Cambria Math" pitchFamily="18"/>
              </a:rPr>
              <a:t>j = 3, L</a:t>
            </a:r>
            <a:r>
              <a:rPr lang="en-US" sz="2000" baseline="-25000">
                <a:latin typeface="Cambria Math" pitchFamily="18"/>
                <a:ea typeface="Cambria Math" pitchFamily="18"/>
              </a:rPr>
              <a:t>1</a:t>
            </a:r>
            <a:r>
              <a:rPr lang="en-US" sz="2000">
                <a:latin typeface="Cambria Math" pitchFamily="18"/>
                <a:ea typeface="Cambria Math" pitchFamily="18"/>
              </a:rPr>
              <a:t>(3) + L</a:t>
            </a:r>
            <a:r>
              <a:rPr lang="en-US" sz="2000" baseline="-25000">
                <a:latin typeface="Cambria Math" pitchFamily="18"/>
                <a:ea typeface="Cambria Math" pitchFamily="18"/>
              </a:rPr>
              <a:t>2</a:t>
            </a:r>
            <a:r>
              <a:rPr lang="en-US" sz="2000">
                <a:latin typeface="Cambria Math" pitchFamily="18"/>
                <a:ea typeface="Cambria Math" pitchFamily="18"/>
              </a:rPr>
              <a:t>(1) = 1</a:t>
            </a:r>
          </a:p>
          <a:p>
            <a:pPr lvl="0"/>
            <a:r>
              <a:rPr lang="en-US" sz="2000">
                <a:latin typeface="Cambria Math" pitchFamily="18"/>
                <a:ea typeface="Cambria Math" pitchFamily="18"/>
              </a:rPr>
              <a:t>j = 4, L</a:t>
            </a:r>
            <a:r>
              <a:rPr lang="en-US" sz="2000" baseline="-25000">
                <a:latin typeface="Cambria Math" pitchFamily="18"/>
                <a:ea typeface="Cambria Math" pitchFamily="18"/>
              </a:rPr>
              <a:t>1</a:t>
            </a:r>
            <a:r>
              <a:rPr lang="en-US" sz="2000">
                <a:latin typeface="Cambria Math" pitchFamily="18"/>
                <a:ea typeface="Cambria Math" pitchFamily="18"/>
              </a:rPr>
              <a:t>(4) + L</a:t>
            </a:r>
            <a:r>
              <a:rPr lang="en-US" sz="2000" baseline="-25000">
                <a:latin typeface="Cambria Math" pitchFamily="18"/>
                <a:ea typeface="Cambria Math" pitchFamily="18"/>
              </a:rPr>
              <a:t>2</a:t>
            </a:r>
            <a:r>
              <a:rPr lang="en-US" sz="2000">
                <a:latin typeface="Cambria Math" pitchFamily="18"/>
                <a:ea typeface="Cambria Math" pitchFamily="18"/>
              </a:rPr>
              <a:t>(0) = 1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618000" y="3810286"/>
          <a:ext cx="3786162" cy="1112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31027"/>
                <a:gridCol w="631027"/>
                <a:gridCol w="631027"/>
                <a:gridCol w="631027"/>
                <a:gridCol w="631027"/>
                <a:gridCol w="631027"/>
              </a:tblGrid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a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c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d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e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1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1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1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1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b</a:t>
                      </a:r>
                      <a:endParaRPr lang="en-US" sz="1800">
                        <a:solidFill>
                          <a:srgbClr val="C0000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618000" y="5696236"/>
          <a:ext cx="3786162" cy="1112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631027"/>
                <a:gridCol w="631027"/>
                <a:gridCol w="631027"/>
                <a:gridCol w="631027"/>
                <a:gridCol w="631027"/>
                <a:gridCol w="631027"/>
              </a:tblGrid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e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d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c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a</a:t>
                      </a:r>
                      <a:endParaRPr lang="en-US" sz="1800">
                        <a:solidFill>
                          <a:srgbClr val="0070C0"/>
                        </a:solidFill>
                      </a:endParaRP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1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1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1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c</a:t>
                      </a:r>
                      <a:endParaRPr lang="en-US" sz="1800">
                        <a:solidFill>
                          <a:srgbClr val="C00000"/>
                        </a:solidFill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5618000" y="3247006"/>
            <a:ext cx="4459876" cy="67710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A</a:t>
            </a:r>
            <a:r>
              <a:rPr lang="en-US" sz="2000" b="0" i="0" u="none" strike="noStrike" kern="1200" cap="none" spc="0" baseline="-2500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1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 </a:t>
            </a:r>
            <a:r>
              <a:rPr lang="zh-TW" sz="20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新細明體" pitchFamily="18"/>
              </a:rPr>
              <a:t>：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ab , B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新細明體" pitchFamily="18"/>
              </a:rPr>
              <a:t> </a:t>
            </a:r>
            <a:r>
              <a:rPr lang="zh-TW" sz="20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新細明體" pitchFamily="18"/>
              </a:rPr>
              <a:t>：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acde                                        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618000" y="5230870"/>
                <a:ext cx="2168033" cy="408444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non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2000" b="0" i="0" u="none" strike="noStrike" kern="1200" cap="none" spc="0" baseline="0">
                    <a:solidFill>
                      <a:srgbClr val="000000"/>
                    </a:solidFill>
                    <a:uFillTx/>
                    <a:latin typeface="Cambria Math" pitchFamily="18"/>
                    <a:ea typeface="Cambria Math" pitchFamily="18"/>
                  </a:rPr>
                  <a:t>Â</a:t>
                </a:r>
                <a:r>
                  <a:rPr lang="en-US" sz="2000" b="0" i="0" u="none" strike="noStrike" kern="1200" cap="none" spc="0" baseline="-25000">
                    <a:solidFill>
                      <a:srgbClr val="000000"/>
                    </a:solidFill>
                    <a:uFillTx/>
                    <a:latin typeface="Cambria Math" pitchFamily="18"/>
                    <a:ea typeface="Cambria Math" pitchFamily="18"/>
                  </a:rPr>
                  <a:t>2</a:t>
                </a:r>
                <a:r>
                  <a:rPr lang="en-US" sz="2000" b="0" i="0" u="none" strike="noStrike" kern="1200" cap="none" spc="0" baseline="0">
                    <a:solidFill>
                      <a:srgbClr val="000000"/>
                    </a:solidFill>
                    <a:uFillTx/>
                    <a:latin typeface="Cambria Math" pitchFamily="18"/>
                    <a:ea typeface="Cambria Math" pitchFamily="18"/>
                  </a:rPr>
                  <a:t> </a:t>
                </a:r>
                <a:r>
                  <a:rPr lang="zh-TW" sz="2000" b="0" i="0" u="none" strike="noStrike" kern="1200" cap="none" spc="0" baseline="0">
                    <a:solidFill>
                      <a:srgbClr val="000000"/>
                    </a:solidFill>
                    <a:uFillTx/>
                    <a:latin typeface="Cambria Math" pitchFamily="18"/>
                    <a:ea typeface="新細明體" pitchFamily="18"/>
                  </a:rPr>
                  <a:t>：</a:t>
                </a:r>
                <a:r>
                  <a:rPr lang="en-US" sz="2000" b="0" i="0" u="none" strike="noStrike" kern="1200" cap="none" spc="0" baseline="0">
                    <a:solidFill>
                      <a:srgbClr val="000000"/>
                    </a:solidFill>
                    <a:uFillTx/>
                    <a:latin typeface="Cambria Math" pitchFamily="18"/>
                    <a:ea typeface="Cambria Math" pitchFamily="18"/>
                  </a:rPr>
                  <a:t>dc 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sz="2000" b="0" i="0" u="none" strike="noStrike" kern="1200" cap="none" spc="0" baseline="0">
                    <a:solidFill>
                      <a:srgbClr val="000000"/>
                    </a:solidFill>
                    <a:uFillTx/>
                    <a:latin typeface="Cambria Math" pitchFamily="18"/>
                    <a:ea typeface="新細明體" pitchFamily="18"/>
                  </a:rPr>
                  <a:t> </a:t>
                </a:r>
                <a:r>
                  <a:rPr lang="zh-TW" sz="2000" b="0" i="0" u="none" strike="noStrike" kern="1200" cap="none" spc="0" baseline="0">
                    <a:solidFill>
                      <a:srgbClr val="000000"/>
                    </a:solidFill>
                    <a:uFillTx/>
                    <a:latin typeface="Cambria Math" pitchFamily="18"/>
                    <a:ea typeface="新細明體" pitchFamily="18"/>
                  </a:rPr>
                  <a:t>：</a:t>
                </a:r>
                <a:r>
                  <a:rPr lang="en-US" sz="2000" b="0" i="0" u="none" strike="noStrike" kern="1200" cap="none" spc="0" baseline="0">
                    <a:solidFill>
                      <a:srgbClr val="000000"/>
                    </a:solidFill>
                    <a:uFillTx/>
                    <a:latin typeface="Cambria Math" pitchFamily="18"/>
                    <a:ea typeface="新細明體" pitchFamily="18"/>
                  </a:rPr>
                  <a:t>edca</a:t>
                </a: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000" y="5230870"/>
                <a:ext cx="2168033" cy="408444"/>
              </a:xfrm>
              <a:prstGeom prst="rect">
                <a:avLst/>
              </a:prstGeom>
              <a:blipFill rotWithShape="0">
                <a:blip r:embed="rId2"/>
                <a:stretch>
                  <a:fillRect l="-3099" t="-8955" r="-1690" b="-23881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C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Cambria Math" pitchFamily="18"/>
                <a:ea typeface="Cambria Math" pitchFamily="18"/>
              </a:rPr>
              <a:t>Recursive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03998" y="3927805"/>
          <a:ext cx="3714759" cy="1112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238253"/>
                <a:gridCol w="1238253"/>
                <a:gridCol w="1238253"/>
              </a:tblGrid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a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a</a:t>
                      </a:r>
                    </a:p>
                  </a:txBody>
                  <a:tcPr marT="45729" marB="4572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503998" y="6086566"/>
          <a:ext cx="3714759" cy="1112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238253"/>
                <a:gridCol w="1238253"/>
                <a:gridCol w="1238253"/>
              </a:tblGrid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a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b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7"/>
          <p:cNvGraphicFramePr>
            <a:graphicFrameLocks noGrp="1"/>
          </p:cNvGraphicFramePr>
          <p:nvPr/>
        </p:nvGraphicFramePr>
        <p:xfrm>
          <a:off x="5314949" y="3898955"/>
          <a:ext cx="4000500" cy="1112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c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d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e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c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8"/>
          <p:cNvGraphicFramePr>
            <a:graphicFrameLocks noGrp="1"/>
          </p:cNvGraphicFramePr>
          <p:nvPr/>
        </p:nvGraphicFramePr>
        <p:xfrm>
          <a:off x="5314949" y="6086566"/>
          <a:ext cx="4000500" cy="1112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e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d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c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d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8" name="文字方塊 10"/>
          <p:cNvSpPr txBox="1"/>
          <p:nvPr/>
        </p:nvSpPr>
        <p:spPr>
          <a:xfrm>
            <a:off x="401028" y="3498851"/>
            <a:ext cx="2013243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ALG B(1, 1, “a”, “a”)</a:t>
            </a:r>
          </a:p>
        </p:txBody>
      </p:sp>
      <p:sp>
        <p:nvSpPr>
          <p:cNvPr id="9" name="文字方塊 11"/>
          <p:cNvSpPr txBox="1"/>
          <p:nvPr/>
        </p:nvSpPr>
        <p:spPr>
          <a:xfrm>
            <a:off x="401028" y="5567735"/>
            <a:ext cx="2030105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ALG B(1, 1, “b”, “a”)</a:t>
            </a:r>
          </a:p>
        </p:txBody>
      </p:sp>
      <p:sp>
        <p:nvSpPr>
          <p:cNvPr id="10" name="文字方塊 12"/>
          <p:cNvSpPr txBox="1"/>
          <p:nvPr/>
        </p:nvSpPr>
        <p:spPr>
          <a:xfrm>
            <a:off x="5239731" y="3490593"/>
            <a:ext cx="2214713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ALG B(1, 3, “c”, “cde”)</a:t>
            </a:r>
          </a:p>
        </p:txBody>
      </p:sp>
      <p:sp>
        <p:nvSpPr>
          <p:cNvPr id="11" name="文字方塊 13"/>
          <p:cNvSpPr txBox="1"/>
          <p:nvPr/>
        </p:nvSpPr>
        <p:spPr>
          <a:xfrm>
            <a:off x="5314949" y="5583673"/>
            <a:ext cx="2239905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ALG B(1, 3, “d”, “edc”)</a:t>
            </a:r>
          </a:p>
        </p:txBody>
      </p:sp>
      <p:cxnSp>
        <p:nvCxnSpPr>
          <p:cNvPr id="12" name="直線接點 15"/>
          <p:cNvCxnSpPr/>
          <p:nvPr/>
        </p:nvCxnSpPr>
        <p:spPr>
          <a:xfrm>
            <a:off x="4754066" y="3007297"/>
            <a:ext cx="0" cy="4384438"/>
          </a:xfrm>
          <a:prstGeom prst="straightConnector1">
            <a:avLst/>
          </a:prstGeom>
          <a:noFill/>
          <a:ln w="6345" cap="flat">
            <a:solidFill>
              <a:srgbClr val="5B9BD5"/>
            </a:solidFill>
            <a:prstDash val="solid"/>
            <a:miter/>
          </a:ln>
        </p:spPr>
      </p:cxnSp>
      <p:sp>
        <p:nvSpPr>
          <p:cNvPr id="13" name="文字方塊 16"/>
          <p:cNvSpPr txBox="1"/>
          <p:nvPr/>
        </p:nvSpPr>
        <p:spPr>
          <a:xfrm>
            <a:off x="1271912" y="2908770"/>
            <a:ext cx="217893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ambria Math" pitchFamily="18"/>
                <a:ea typeface="Cambria Math" pitchFamily="18"/>
              </a:rPr>
              <a:t>ALG C(2, 1, “ab”, “a”)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14" name="文字方塊 17"/>
          <p:cNvSpPr txBox="1"/>
          <p:nvPr/>
        </p:nvSpPr>
        <p:spPr>
          <a:xfrm>
            <a:off x="6109197" y="2918719"/>
            <a:ext cx="2412004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ambria Math" pitchFamily="18"/>
                <a:ea typeface="Cambria Math" pitchFamily="18"/>
              </a:rPr>
              <a:t>ALG C(2, 3, “cd”, “cde”)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C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769043"/>
            <a:ext cx="9071643" cy="602681"/>
          </a:xfrm>
        </p:spPr>
        <p:txBody>
          <a:bodyPr/>
          <a:lstStyle/>
          <a:p>
            <a:pPr lvl="0"/>
            <a:r>
              <a:rPr lang="en-US">
                <a:latin typeface="Cambria Math" pitchFamily="18"/>
                <a:ea typeface="Cambria Math" pitchFamily="18"/>
              </a:rPr>
              <a:t>Find j</a:t>
            </a:r>
          </a:p>
          <a:p>
            <a:pPr lvl="0"/>
            <a:endParaRPr 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03998" y="2577291"/>
          <a:ext cx="3714759" cy="1112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238253"/>
                <a:gridCol w="1238253"/>
                <a:gridCol w="1238253"/>
              </a:tblGrid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a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a</a:t>
                      </a:r>
                    </a:p>
                  </a:txBody>
                  <a:tcPr marT="45729" marB="4572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503998" y="4038694"/>
          <a:ext cx="3714759" cy="1112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238253"/>
                <a:gridCol w="1238253"/>
                <a:gridCol w="1238253"/>
              </a:tblGrid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a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b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503998" y="5500088"/>
            <a:ext cx="3294491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j = 0, L</a:t>
            </a:r>
            <a:r>
              <a:rPr lang="en-US" sz="1800" b="0" i="0" u="none" strike="noStrike" kern="1200" cap="none" spc="0" baseline="-2500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1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(0) + L</a:t>
            </a:r>
            <a:r>
              <a:rPr lang="en-US" sz="1800" b="0" i="0" u="none" strike="noStrike" kern="1200" cap="none" spc="0" baseline="-2500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2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(1) = 0 + 0 = 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ambria Math" pitchFamily="18"/>
                <a:ea typeface="Cambria Math" pitchFamily="18"/>
              </a:rPr>
              <a:t>j = 1, L</a:t>
            </a:r>
            <a:r>
              <a:rPr lang="en-US" sz="1800" b="0" i="0" u="none" strike="noStrike" kern="1200" cap="none" spc="0" baseline="-25000">
                <a:solidFill>
                  <a:srgbClr val="FF0000"/>
                </a:solidFill>
                <a:uFillTx/>
                <a:latin typeface="Cambria Math" pitchFamily="18"/>
                <a:ea typeface="Cambria Math" pitchFamily="18"/>
              </a:rPr>
              <a:t>1</a:t>
            </a:r>
            <a:r>
              <a: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ambria Math" pitchFamily="18"/>
                <a:ea typeface="Cambria Math" pitchFamily="18"/>
              </a:rPr>
              <a:t>(1) + L</a:t>
            </a:r>
            <a:r>
              <a:rPr lang="en-US" sz="1800" b="0" i="0" u="none" strike="noStrike" kern="1200" cap="none" spc="0" baseline="-25000">
                <a:solidFill>
                  <a:srgbClr val="FF0000"/>
                </a:solidFill>
                <a:uFillTx/>
                <a:latin typeface="Cambria Math" pitchFamily="18"/>
                <a:ea typeface="Cambria Math" pitchFamily="18"/>
              </a:rPr>
              <a:t>2</a:t>
            </a:r>
            <a:r>
              <a: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ambria Math" pitchFamily="18"/>
                <a:ea typeface="Cambria Math" pitchFamily="18"/>
              </a:rPr>
              <a:t>(0) = 1 + 0 = 1</a:t>
            </a:r>
            <a:endParaRPr lang="en-US" sz="1800" b="0" i="0" u="none" strike="noStrike" kern="1200" cap="none" spc="0" baseline="0">
              <a:solidFill>
                <a:srgbClr val="FF0000"/>
              </a:solidFill>
              <a:uFillTx/>
              <a:latin typeface="Calibri"/>
              <a:ea typeface="新細明體" pitchFamily="18"/>
            </a:endParaRPr>
          </a:p>
        </p:txBody>
      </p:sp>
      <p:graphicFrame>
        <p:nvGraphicFramePr>
          <p:cNvPr id="7" name="表格 7"/>
          <p:cNvGraphicFramePr>
            <a:graphicFrameLocks noGrp="1"/>
          </p:cNvGraphicFramePr>
          <p:nvPr/>
        </p:nvGraphicFramePr>
        <p:xfrm>
          <a:off x="5575142" y="2577291"/>
          <a:ext cx="4000500" cy="1112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c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d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e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c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8"/>
          <p:cNvGraphicFramePr>
            <a:graphicFrameLocks noGrp="1"/>
          </p:cNvGraphicFramePr>
          <p:nvPr/>
        </p:nvGraphicFramePr>
        <p:xfrm>
          <a:off x="5575142" y="4038694"/>
          <a:ext cx="4000500" cy="1112832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c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d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e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endParaRPr lang="en-US" sz="180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0</a:t>
                      </a:r>
                    </a:p>
                  </a:txBody>
                  <a:tcPr marT="45729" marB="45729"/>
                </a:tc>
              </a:tr>
              <a:tr h="370944">
                <a:tc>
                  <a:txBody>
                    <a:bodyPr/>
                    <a:lstStyle/>
                    <a:p>
                      <a:pPr lvl="0" algn="ctr"/>
                      <a:r>
                        <a:rPr lang="en-US" sz="1800"/>
                        <a:t>d</a:t>
                      </a: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29" marB="45729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5575142" y="5500088"/>
            <a:ext cx="3294491" cy="1477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j = 0, L</a:t>
            </a:r>
            <a:r>
              <a:rPr lang="en-US" sz="1800" b="0" i="0" u="none" strike="noStrike" kern="1200" cap="none" spc="0" baseline="-2500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1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(0) + L</a:t>
            </a:r>
            <a:r>
              <a:rPr lang="en-US" sz="1800" b="0" i="0" u="none" strike="noStrike" kern="1200" cap="none" spc="0" baseline="-2500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2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(1) = 0 + 1 = 1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ambria Math" pitchFamily="18"/>
                <a:ea typeface="Cambria Math" pitchFamily="18"/>
              </a:rPr>
              <a:t>j = 1, L</a:t>
            </a:r>
            <a:r>
              <a:rPr lang="en-US" sz="1800" b="0" i="0" u="none" strike="noStrike" kern="1200" cap="none" spc="0" baseline="-25000">
                <a:solidFill>
                  <a:srgbClr val="FF0000"/>
                </a:solidFill>
                <a:uFillTx/>
                <a:latin typeface="Cambria Math" pitchFamily="18"/>
                <a:ea typeface="Cambria Math" pitchFamily="18"/>
              </a:rPr>
              <a:t>1</a:t>
            </a:r>
            <a:r>
              <a: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ambria Math" pitchFamily="18"/>
                <a:ea typeface="Cambria Math" pitchFamily="18"/>
              </a:rPr>
              <a:t>(1) + L</a:t>
            </a:r>
            <a:r>
              <a:rPr lang="en-US" sz="1800" b="0" i="0" u="none" strike="noStrike" kern="1200" cap="none" spc="0" baseline="-25000">
                <a:solidFill>
                  <a:srgbClr val="FF0000"/>
                </a:solidFill>
                <a:uFillTx/>
                <a:latin typeface="Cambria Math" pitchFamily="18"/>
                <a:ea typeface="Cambria Math" pitchFamily="18"/>
              </a:rPr>
              <a:t>2</a:t>
            </a:r>
            <a:r>
              <a: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ambria Math" pitchFamily="18"/>
                <a:ea typeface="Cambria Math" pitchFamily="18"/>
              </a:rPr>
              <a:t>(0) = 1 + 1 = 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j = 2, L</a:t>
            </a:r>
            <a:r>
              <a:rPr lang="en-US" sz="1800" b="0" i="0" u="none" strike="noStrike" kern="1200" cap="none" spc="0" baseline="-2500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1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(1) + L</a:t>
            </a:r>
            <a:r>
              <a:rPr lang="en-US" sz="1800" b="0" i="0" u="none" strike="noStrike" kern="1200" cap="none" spc="0" baseline="-2500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2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(0) = 1 + 0 = 1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j = 3, L</a:t>
            </a:r>
            <a:r>
              <a:rPr lang="en-US" sz="1800" b="0" i="0" u="none" strike="noStrike" kern="1200" cap="none" spc="0" baseline="-2500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1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(1) + L</a:t>
            </a:r>
            <a:r>
              <a:rPr lang="en-US" sz="1800" b="0" i="0" u="none" strike="noStrike" kern="1200" cap="none" spc="0" baseline="-2500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2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(0) = 1 + 0 = 1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03998" y="6238750"/>
            <a:ext cx="2888607" cy="984881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AlgoC(1, 1, “A”, “A”) =&gt; A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AlgoC(1, 0, “B”,</a:t>
            </a:r>
            <a:r>
              <a:rPr lang="en-US" sz="2000" b="1" i="0" u="none" strike="noStrike" kern="1200" cap="none" spc="0" baseline="0">
                <a:solidFill>
                  <a:srgbClr val="0070C0"/>
                </a:solidFill>
                <a:uFillTx/>
                <a:latin typeface="Calibri"/>
                <a:ea typeface="新細明體" pitchFamily="18"/>
              </a:rPr>
              <a:t> </a:t>
            </a: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“” ) = &gt;””</a:t>
            </a:r>
            <a:endParaRPr lang="en-US" sz="2000" b="0" i="0" u="none" strike="noStrike" kern="1200" cap="none" spc="0" baseline="0">
              <a:solidFill>
                <a:srgbClr val="000000"/>
              </a:solidFill>
              <a:uFillTx/>
              <a:latin typeface="Cambria Math" pitchFamily="18"/>
              <a:ea typeface="新細明體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575142" y="6761969"/>
            <a:ext cx="2995821" cy="984881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新細明體" pitchFamily="18"/>
              </a:rPr>
              <a:t>AlgoC(1, 1, “C”, “C”) =&gt; C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新細明體" pitchFamily="18"/>
              </a:rPr>
              <a:t>AlgoC(1, 2, “D”,  “DE”) =&gt; D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C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769043"/>
            <a:ext cx="9071643" cy="512429"/>
          </a:xfrm>
        </p:spPr>
        <p:txBody>
          <a:bodyPr/>
          <a:lstStyle/>
          <a:p>
            <a:pPr lvl="0"/>
            <a:r>
              <a:rPr lang="en-US">
                <a:latin typeface="Cambria Math" pitchFamily="18"/>
                <a:ea typeface="Cambria Math" pitchFamily="18"/>
              </a:rPr>
              <a:t>Merge</a:t>
            </a: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               </a:t>
            </a:r>
            <a:endParaRPr lang="en-US">
              <a:latin typeface="Cambria Math" pitchFamily="18"/>
            </a:endParaRPr>
          </a:p>
          <a:p>
            <a:pPr lvl="0"/>
            <a:endParaRPr lang="en-US">
              <a:latin typeface="Cambria Math" pitchFamily="18"/>
            </a:endParaRPr>
          </a:p>
        </p:txBody>
      </p:sp>
      <p:sp>
        <p:nvSpPr>
          <p:cNvPr id="4" name="向下箭號 3"/>
          <p:cNvSpPr/>
          <p:nvPr/>
        </p:nvSpPr>
        <p:spPr>
          <a:xfrm>
            <a:off x="3805239" y="3109718"/>
            <a:ext cx="533396" cy="647696"/>
          </a:xfrm>
          <a:custGeom>
            <a:avLst>
              <a:gd name="f0" fmla="val 12706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val f7"/>
              <a:gd name="f15" fmla="val f8"/>
              <a:gd name="f16" fmla="pin 0 f1 10800"/>
              <a:gd name="f17" fmla="pin 0 f0 21600"/>
              <a:gd name="f18" fmla="*/ f10 f2 1"/>
              <a:gd name="f19" fmla="*/ f11 f2 1"/>
              <a:gd name="f20" fmla="+- f15 0 f14"/>
              <a:gd name="f21" fmla="val f16"/>
              <a:gd name="f22" fmla="val f17"/>
              <a:gd name="f23" fmla="*/ f16 f12 1"/>
              <a:gd name="f24" fmla="*/ f17 f13 1"/>
              <a:gd name="f25" fmla="*/ f18 1 f4"/>
              <a:gd name="f26" fmla="*/ f19 1 f4"/>
              <a:gd name="f27" fmla="*/ f20 1 21600"/>
              <a:gd name="f28" fmla="+- 21600 0 f21"/>
              <a:gd name="f29" fmla="+- 21600 0 f22"/>
              <a:gd name="f30" fmla="*/ f21 f12 1"/>
              <a:gd name="f31" fmla="*/ f22 f13 1"/>
              <a:gd name="f32" fmla="+- f25 0 f3"/>
              <a:gd name="f33" fmla="+- f26 0 f3"/>
              <a:gd name="f34" fmla="*/ 0 f27 1"/>
              <a:gd name="f35" fmla="*/ 21600 f27 1"/>
              <a:gd name="f36" fmla="*/ f29 f21 1"/>
              <a:gd name="f37" fmla="*/ f28 f12 1"/>
              <a:gd name="f38" fmla="*/ f36 1 10800"/>
              <a:gd name="f39" fmla="*/ f34 1 f27"/>
              <a:gd name="f40" fmla="*/ f35 1 f27"/>
              <a:gd name="f41" fmla="+- f22 f38 0"/>
              <a:gd name="f42" fmla="*/ f39 f13 1"/>
              <a:gd name="f43" fmla="*/ f39 f12 1"/>
              <a:gd name="f44" fmla="*/ f40 f12 1"/>
              <a:gd name="f45" fmla="*/ f41 f13 1"/>
            </a:gdLst>
            <a:ahLst>
              <a:ahXY gdRefX="f1" minX="f7" maxX="f9" gdRefY="f0" minY="f7" maxY="f8">
                <a:pos x="f23" y="f24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43" y="f31"/>
              </a:cxn>
              <a:cxn ang="f33">
                <a:pos x="f44" y="f31"/>
              </a:cxn>
            </a:cxnLst>
            <a:rect l="f30" t="f42" r="f37" b="f45"/>
            <a:pathLst>
              <a:path w="21600" h="21600">
                <a:moveTo>
                  <a:pt x="f21" y="f7"/>
                </a:moveTo>
                <a:lnTo>
                  <a:pt x="f21" y="f22"/>
                </a:lnTo>
                <a:lnTo>
                  <a:pt x="f7" y="f22"/>
                </a:lnTo>
                <a:lnTo>
                  <a:pt x="f9" y="f8"/>
                </a:lnTo>
                <a:lnTo>
                  <a:pt x="f8" y="f22"/>
                </a:lnTo>
                <a:lnTo>
                  <a:pt x="f28" y="f22"/>
                </a:lnTo>
                <a:lnTo>
                  <a:pt x="f28" y="f7"/>
                </a:lnTo>
                <a:close/>
              </a:path>
            </a:pathLst>
          </a:custGeom>
          <a:solidFill>
            <a:srgbClr val="5B9BD5"/>
          </a:solidFill>
          <a:ln w="12701" cap="flat">
            <a:solidFill>
              <a:srgbClr val="41719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133721" y="2477511"/>
            <a:ext cx="1638303" cy="8617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“a”  + “” </a:t>
            </a:r>
            <a:endParaRPr lang="en-US" sz="3200" b="0" i="0" u="none" strike="noStrike" kern="1200" cap="none" spc="0" baseline="0">
              <a:solidFill>
                <a:srgbClr val="000000"/>
              </a:solidFill>
              <a:uFillTx/>
              <a:latin typeface="新細明體" pitchFamily="18"/>
              <a:ea typeface="新細明體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714503" y="3971495"/>
            <a:ext cx="714877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“a”</a:t>
            </a:r>
          </a:p>
        </p:txBody>
      </p:sp>
      <p:sp>
        <p:nvSpPr>
          <p:cNvPr id="7" name="向下箭號 6"/>
          <p:cNvSpPr/>
          <p:nvPr/>
        </p:nvSpPr>
        <p:spPr>
          <a:xfrm>
            <a:off x="6186482" y="3100200"/>
            <a:ext cx="533396" cy="647696"/>
          </a:xfrm>
          <a:custGeom>
            <a:avLst>
              <a:gd name="f0" fmla="val 12706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val f7"/>
              <a:gd name="f15" fmla="val f8"/>
              <a:gd name="f16" fmla="pin 0 f1 10800"/>
              <a:gd name="f17" fmla="pin 0 f0 21600"/>
              <a:gd name="f18" fmla="*/ f10 f2 1"/>
              <a:gd name="f19" fmla="*/ f11 f2 1"/>
              <a:gd name="f20" fmla="+- f15 0 f14"/>
              <a:gd name="f21" fmla="val f16"/>
              <a:gd name="f22" fmla="val f17"/>
              <a:gd name="f23" fmla="*/ f16 f12 1"/>
              <a:gd name="f24" fmla="*/ f17 f13 1"/>
              <a:gd name="f25" fmla="*/ f18 1 f4"/>
              <a:gd name="f26" fmla="*/ f19 1 f4"/>
              <a:gd name="f27" fmla="*/ f20 1 21600"/>
              <a:gd name="f28" fmla="+- 21600 0 f21"/>
              <a:gd name="f29" fmla="+- 21600 0 f22"/>
              <a:gd name="f30" fmla="*/ f21 f12 1"/>
              <a:gd name="f31" fmla="*/ f22 f13 1"/>
              <a:gd name="f32" fmla="+- f25 0 f3"/>
              <a:gd name="f33" fmla="+- f26 0 f3"/>
              <a:gd name="f34" fmla="*/ 0 f27 1"/>
              <a:gd name="f35" fmla="*/ 21600 f27 1"/>
              <a:gd name="f36" fmla="*/ f29 f21 1"/>
              <a:gd name="f37" fmla="*/ f28 f12 1"/>
              <a:gd name="f38" fmla="*/ f36 1 10800"/>
              <a:gd name="f39" fmla="*/ f34 1 f27"/>
              <a:gd name="f40" fmla="*/ f35 1 f27"/>
              <a:gd name="f41" fmla="+- f22 f38 0"/>
              <a:gd name="f42" fmla="*/ f39 f13 1"/>
              <a:gd name="f43" fmla="*/ f39 f12 1"/>
              <a:gd name="f44" fmla="*/ f40 f12 1"/>
              <a:gd name="f45" fmla="*/ f41 f13 1"/>
            </a:gdLst>
            <a:ahLst>
              <a:ahXY gdRefX="f1" minX="f7" maxX="f9" gdRefY="f0" minY="f7" maxY="f8">
                <a:pos x="f23" y="f24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43" y="f31"/>
              </a:cxn>
              <a:cxn ang="f33">
                <a:pos x="f44" y="f31"/>
              </a:cxn>
            </a:cxnLst>
            <a:rect l="f30" t="f42" r="f37" b="f45"/>
            <a:pathLst>
              <a:path w="21600" h="21600">
                <a:moveTo>
                  <a:pt x="f21" y="f7"/>
                </a:moveTo>
                <a:lnTo>
                  <a:pt x="f21" y="f22"/>
                </a:lnTo>
                <a:lnTo>
                  <a:pt x="f7" y="f22"/>
                </a:lnTo>
                <a:lnTo>
                  <a:pt x="f9" y="f8"/>
                </a:lnTo>
                <a:lnTo>
                  <a:pt x="f8" y="f22"/>
                </a:lnTo>
                <a:lnTo>
                  <a:pt x="f28" y="f22"/>
                </a:lnTo>
                <a:lnTo>
                  <a:pt x="f28" y="f7"/>
                </a:lnTo>
                <a:close/>
              </a:path>
            </a:pathLst>
          </a:custGeom>
          <a:solidFill>
            <a:srgbClr val="5B9BD5"/>
          </a:solidFill>
          <a:ln w="12701" cap="flat">
            <a:solidFill>
              <a:srgbClr val="41719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514975" y="2459479"/>
            <a:ext cx="1895478" cy="8617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“c”  +  “d” </a:t>
            </a:r>
            <a:endParaRPr lang="en-US" sz="3200" b="0" i="0" u="none" strike="noStrike" kern="1200" cap="none" spc="0" baseline="0">
              <a:solidFill>
                <a:srgbClr val="000000"/>
              </a:solidFill>
              <a:uFillTx/>
              <a:latin typeface="新細明體" pitchFamily="18"/>
              <a:ea typeface="新細明體" pitchFamily="18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013615" y="3961967"/>
            <a:ext cx="898196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“cd”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5026566" y="3961967"/>
            <a:ext cx="389854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+</a:t>
            </a:r>
          </a:p>
        </p:txBody>
      </p:sp>
      <p:sp>
        <p:nvSpPr>
          <p:cNvPr id="11" name="向下箭號 10"/>
          <p:cNvSpPr/>
          <p:nvPr/>
        </p:nvSpPr>
        <p:spPr>
          <a:xfrm>
            <a:off x="4856131" y="4556272"/>
            <a:ext cx="730733" cy="962021"/>
          </a:xfrm>
          <a:custGeom>
            <a:avLst>
              <a:gd name="f0" fmla="val 13397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val f7"/>
              <a:gd name="f15" fmla="val f8"/>
              <a:gd name="f16" fmla="pin 0 f1 10800"/>
              <a:gd name="f17" fmla="pin 0 f0 21600"/>
              <a:gd name="f18" fmla="*/ f10 f2 1"/>
              <a:gd name="f19" fmla="*/ f11 f2 1"/>
              <a:gd name="f20" fmla="+- f15 0 f14"/>
              <a:gd name="f21" fmla="val f16"/>
              <a:gd name="f22" fmla="val f17"/>
              <a:gd name="f23" fmla="*/ f16 f12 1"/>
              <a:gd name="f24" fmla="*/ f17 f13 1"/>
              <a:gd name="f25" fmla="*/ f18 1 f4"/>
              <a:gd name="f26" fmla="*/ f19 1 f4"/>
              <a:gd name="f27" fmla="*/ f20 1 21600"/>
              <a:gd name="f28" fmla="+- 21600 0 f21"/>
              <a:gd name="f29" fmla="+- 21600 0 f22"/>
              <a:gd name="f30" fmla="*/ f21 f12 1"/>
              <a:gd name="f31" fmla="*/ f22 f13 1"/>
              <a:gd name="f32" fmla="+- f25 0 f3"/>
              <a:gd name="f33" fmla="+- f26 0 f3"/>
              <a:gd name="f34" fmla="*/ 0 f27 1"/>
              <a:gd name="f35" fmla="*/ 21600 f27 1"/>
              <a:gd name="f36" fmla="*/ f29 f21 1"/>
              <a:gd name="f37" fmla="*/ f28 f12 1"/>
              <a:gd name="f38" fmla="*/ f36 1 10800"/>
              <a:gd name="f39" fmla="*/ f34 1 f27"/>
              <a:gd name="f40" fmla="*/ f35 1 f27"/>
              <a:gd name="f41" fmla="+- f22 f38 0"/>
              <a:gd name="f42" fmla="*/ f39 f13 1"/>
              <a:gd name="f43" fmla="*/ f39 f12 1"/>
              <a:gd name="f44" fmla="*/ f40 f12 1"/>
              <a:gd name="f45" fmla="*/ f41 f13 1"/>
            </a:gdLst>
            <a:ahLst>
              <a:ahXY gdRefX="f1" minX="f7" maxX="f9" gdRefY="f0" minY="f7" maxY="f8">
                <a:pos x="f23" y="f24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43" y="f31"/>
              </a:cxn>
              <a:cxn ang="f33">
                <a:pos x="f44" y="f31"/>
              </a:cxn>
            </a:cxnLst>
            <a:rect l="f30" t="f42" r="f37" b="f45"/>
            <a:pathLst>
              <a:path w="21600" h="21600">
                <a:moveTo>
                  <a:pt x="f21" y="f7"/>
                </a:moveTo>
                <a:lnTo>
                  <a:pt x="f21" y="f22"/>
                </a:lnTo>
                <a:lnTo>
                  <a:pt x="f7" y="f22"/>
                </a:lnTo>
                <a:lnTo>
                  <a:pt x="f9" y="f8"/>
                </a:lnTo>
                <a:lnTo>
                  <a:pt x="f8" y="f22"/>
                </a:lnTo>
                <a:lnTo>
                  <a:pt x="f28" y="f22"/>
                </a:lnTo>
                <a:lnTo>
                  <a:pt x="f28" y="f7"/>
                </a:lnTo>
                <a:close/>
              </a:path>
            </a:pathLst>
          </a:custGeom>
          <a:solidFill>
            <a:srgbClr val="5B9BD5"/>
          </a:solidFill>
          <a:ln w="12701" cap="flat">
            <a:solidFill>
              <a:srgbClr val="41719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新細明體" pitchFamily="18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669292" y="5583207"/>
            <a:ext cx="1104403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rPr>
              <a:t>“acd”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4338635" y="6467496"/>
            <a:ext cx="2050596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  <a:ea typeface="新細明體" pitchFamily="18"/>
              </a:rPr>
              <a:t>LCS = acd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/>
      <p:bldP spid="11" grpId="0" animBg="1"/>
      <p:bldP spid="12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C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 txBox="1">
                <a:spLocks noGrp="1"/>
              </p:cNvSpPr>
              <p:nvPr>
                <p:ph idx="1"/>
              </p:nvPr>
            </p:nvSpPr>
            <p:spPr>
              <a:xfrm>
                <a:off x="570677" y="1426143"/>
                <a:ext cx="9071643" cy="6031931"/>
              </a:xfrm>
            </p:spPr>
            <p:txBody>
              <a:bodyPr/>
              <a:lstStyle/>
              <a:p>
                <a:pPr lvl="0"/>
                <a:r>
                  <a:rPr lang="en-US" sz="2000" dirty="0">
                    <a:latin typeface="Cambria Math" pitchFamily="18"/>
                    <a:ea typeface="Cambria Math" pitchFamily="18"/>
                  </a:rPr>
                  <a:t>ALG C(m, n, A, B, C)</a:t>
                </a:r>
              </a:p>
              <a:p>
                <a:pPr lvl="0"/>
                <a:r>
                  <a:rPr lang="en-US" sz="1600" dirty="0">
                    <a:solidFill>
                      <a:srgbClr val="FF0000"/>
                    </a:solidFill>
                    <a:latin typeface="Cambria Math" pitchFamily="18"/>
                    <a:ea typeface="Cambria Math" pitchFamily="18"/>
                  </a:rPr>
                  <a:t>1.    If problem is </a:t>
                </a:r>
                <a:r>
                  <a:rPr lang="en-US" sz="1600" dirty="0" err="1">
                    <a:solidFill>
                      <a:srgbClr val="FF0000"/>
                    </a:solidFill>
                    <a:latin typeface="Cambria Math" pitchFamily="18"/>
                    <a:ea typeface="Cambria Math" pitchFamily="18"/>
                  </a:rPr>
                  <a:t>trival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itchFamily="18"/>
                    <a:ea typeface="Cambria Math" pitchFamily="18"/>
                  </a:rPr>
                  <a:t>, solve it</a:t>
                </a:r>
                <a:r>
                  <a:rPr lang="zh-TW" sz="1600" dirty="0">
                    <a:solidFill>
                      <a:srgbClr val="FF0000"/>
                    </a:solidFill>
                    <a:latin typeface="Cambria Math" pitchFamily="18"/>
                    <a:ea typeface="新細明體" pitchFamily="18"/>
                  </a:rPr>
                  <a:t>：</a:t>
                </a:r>
                <a:endParaRPr lang="en-US" sz="1600" dirty="0">
                  <a:solidFill>
                    <a:srgbClr val="FF0000"/>
                  </a:solidFill>
                  <a:latin typeface="Cambria Math" pitchFamily="18"/>
                  <a:ea typeface="Cambria Math" pitchFamily="18"/>
                </a:endParaRPr>
              </a:p>
              <a:p>
                <a:pPr lvl="0"/>
                <a:r>
                  <a:rPr lang="en-US" sz="1600" dirty="0">
                    <a:latin typeface="Cambria Math" pitchFamily="18"/>
                    <a:ea typeface="Cambria Math" pitchFamily="18"/>
                  </a:rPr>
                  <a:t>       if n = 0 then C  ← e(e is empty string)</a:t>
                </a:r>
              </a:p>
              <a:p>
                <a:pPr lvl="0"/>
                <a:r>
                  <a:rPr lang="en-US" sz="1600" dirty="0">
                    <a:latin typeface="Cambria Math" pitchFamily="18"/>
                    <a:ea typeface="Cambria Math" pitchFamily="18"/>
                  </a:rPr>
                  <a:t>       else if m = 1 then if </a:t>
                </a:r>
                <a14:m>
                  <m:oMath xmlns:m="http://schemas.openxmlformats.org/officeDocument/2006/math">
                    <m:r>
                      <a:rPr lang="zh-TW" altLang="en-US" sz="180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1600" dirty="0">
                    <a:latin typeface="Cambria Math" pitchFamily="18"/>
                    <a:ea typeface="Cambria Math" pitchFamily="18"/>
                  </a:rPr>
                  <a:t> j ≦ n such that A(1) = B(j)</a:t>
                </a:r>
              </a:p>
              <a:p>
                <a:pPr lvl="0"/>
                <a:r>
                  <a:rPr lang="en-US" sz="1600" dirty="0">
                    <a:latin typeface="Cambria Math" pitchFamily="18"/>
                    <a:ea typeface="Cambria Math" pitchFamily="18"/>
                  </a:rPr>
                  <a:t>                                             then C  ← A(1)</a:t>
                </a:r>
              </a:p>
              <a:p>
                <a:pPr lvl="0"/>
                <a:r>
                  <a:rPr lang="en-US" sz="1600" dirty="0">
                    <a:latin typeface="Cambria Math" pitchFamily="18"/>
                    <a:ea typeface="Cambria Math" pitchFamily="18"/>
                  </a:rPr>
                  <a:t>                                              else C  ← e</a:t>
                </a:r>
              </a:p>
              <a:p>
                <a:pPr lvl="0"/>
                <a:r>
                  <a:rPr lang="en-US" sz="1600" dirty="0">
                    <a:solidFill>
                      <a:srgbClr val="FF0000"/>
                    </a:solidFill>
                    <a:latin typeface="Cambria Math" pitchFamily="18"/>
                    <a:ea typeface="Cambria Math" pitchFamily="18"/>
                  </a:rPr>
                  <a:t>2. Otherwise, split problem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itchFamily="18"/>
                    <a:ea typeface="新細明體" pitchFamily="18"/>
                  </a:rPr>
                  <a:t> </a:t>
                </a:r>
                <a:r>
                  <a:rPr lang="zh-TW" sz="1600" dirty="0">
                    <a:solidFill>
                      <a:srgbClr val="FF0000"/>
                    </a:solidFill>
                    <a:latin typeface="Cambria Math" pitchFamily="18"/>
                    <a:ea typeface="新細明體" pitchFamily="18"/>
                  </a:rPr>
                  <a:t>：</a:t>
                </a:r>
                <a:endParaRPr lang="en-US" sz="1600" dirty="0">
                  <a:solidFill>
                    <a:srgbClr val="FF0000"/>
                  </a:solidFill>
                  <a:latin typeface="Cambria Math" pitchFamily="18"/>
                  <a:ea typeface="新細明體" pitchFamily="18"/>
                </a:endParaRPr>
              </a:p>
              <a:p>
                <a:pPr lvl="0"/>
                <a:r>
                  <a:rPr lang="en-US" sz="1600" dirty="0">
                    <a:latin typeface="Cambria Math" pitchFamily="18"/>
                    <a:ea typeface="Cambria Math" pitchFamily="18"/>
                  </a:rPr>
                  <a:t>       </a:t>
                </a:r>
                <a:r>
                  <a:rPr lang="en-US" sz="1600" dirty="0" err="1">
                    <a:latin typeface="Cambria Math" pitchFamily="18"/>
                    <a:ea typeface="Cambria Math" pitchFamily="18"/>
                  </a:rPr>
                  <a:t>i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 ← </a:t>
                </a:r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└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m / 2</a:t>
                </a:r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┘</a:t>
                </a:r>
              </a:p>
              <a:p>
                <a:pPr lvl="0"/>
                <a:r>
                  <a:rPr lang="en-US" sz="1600" dirty="0">
                    <a:latin typeface="Cambria Math" pitchFamily="18"/>
                    <a:ea typeface="Cambria Math" pitchFamily="18"/>
                  </a:rPr>
                  <a:t>3. Evaluate L(</a:t>
                </a:r>
                <a:r>
                  <a:rPr lang="en-US" sz="1600" dirty="0" err="1">
                    <a:latin typeface="Cambria Math" pitchFamily="18"/>
                    <a:ea typeface="Cambria Math" pitchFamily="18"/>
                  </a:rPr>
                  <a:t>i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, j) and L*(</a:t>
                </a:r>
                <a:r>
                  <a:rPr lang="en-US" sz="1600" dirty="0" err="1">
                    <a:latin typeface="Cambria Math" pitchFamily="18"/>
                    <a:ea typeface="Cambria Math" pitchFamily="18"/>
                  </a:rPr>
                  <a:t>i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, j) [j = 0…n]</a:t>
                </a:r>
              </a:p>
              <a:p>
                <a:pPr lvl="0"/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        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ALG B(</a:t>
                </a:r>
                <a:r>
                  <a:rPr lang="en-US" sz="1600" dirty="0" err="1">
                    <a:latin typeface="Cambria Math" pitchFamily="18"/>
                    <a:ea typeface="Cambria Math" pitchFamily="18"/>
                  </a:rPr>
                  <a:t>i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, n, A</a:t>
                </a:r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1i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, B</a:t>
                </a:r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1n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)</a:t>
                </a:r>
              </a:p>
              <a:p>
                <a:pPr lvl="0"/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        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ALG B(m - </a:t>
                </a:r>
                <a:r>
                  <a:rPr lang="en-US" sz="1600" dirty="0" err="1">
                    <a:latin typeface="Cambria Math" pitchFamily="18"/>
                    <a:ea typeface="Cambria Math" pitchFamily="18"/>
                  </a:rPr>
                  <a:t>i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, n, </a:t>
                </a:r>
                <a:r>
                  <a:rPr lang="en-US" sz="1600" dirty="0" err="1">
                    <a:latin typeface="Cambria Math" pitchFamily="18"/>
                    <a:ea typeface="Cambria Math" pitchFamily="18"/>
                  </a:rPr>
                  <a:t>Â</a:t>
                </a:r>
                <a:r>
                  <a:rPr lang="en-US" sz="1600" baseline="-25000" dirty="0" err="1">
                    <a:latin typeface="Cambria Math" pitchFamily="18"/>
                    <a:ea typeface="Cambria Math" pitchFamily="18"/>
                  </a:rPr>
                  <a:t>i</a:t>
                </a:r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 +1, n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zh-TW" altLang="en-US" sz="18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1n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)</a:t>
                </a:r>
              </a:p>
              <a:p>
                <a:pPr lvl="0"/>
                <a:r>
                  <a:rPr lang="en-US" sz="1600" dirty="0">
                    <a:latin typeface="Cambria Math" pitchFamily="18"/>
                    <a:ea typeface="Cambria Math" pitchFamily="18"/>
                  </a:rPr>
                  <a:t>4. Find j such that L(</a:t>
                </a:r>
                <a:r>
                  <a:rPr lang="en-US" sz="1600" dirty="0" err="1">
                    <a:latin typeface="Cambria Math" pitchFamily="18"/>
                    <a:ea typeface="Cambria Math" pitchFamily="18"/>
                  </a:rPr>
                  <a:t>i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, j) + L*(</a:t>
                </a:r>
                <a:r>
                  <a:rPr lang="en-US" sz="1600" dirty="0" err="1">
                    <a:latin typeface="Cambria Math" pitchFamily="18"/>
                    <a:ea typeface="Cambria Math" pitchFamily="18"/>
                  </a:rPr>
                  <a:t>i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, j)  = L(m, n) </a:t>
                </a:r>
                <a:r>
                  <a:rPr lang="en-US" sz="1600" dirty="0">
                    <a:latin typeface="新細明體" pitchFamily="18"/>
                    <a:ea typeface="新細明體" pitchFamily="18"/>
                  </a:rPr>
                  <a:t>→ 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let k = j</a:t>
                </a:r>
              </a:p>
              <a:p>
                <a:pPr lvl="0"/>
                <a:r>
                  <a:rPr lang="en-US" sz="1600" dirty="0">
                    <a:latin typeface="Cambria Math" pitchFamily="18"/>
                    <a:ea typeface="Cambria Math" pitchFamily="18"/>
                  </a:rPr>
                  <a:t>5. Recursion</a:t>
                </a:r>
                <a:r>
                  <a:rPr lang="en-US" sz="1600" dirty="0">
                    <a:latin typeface="新細明體" pitchFamily="18"/>
                    <a:ea typeface="新細明體" pitchFamily="18"/>
                  </a:rPr>
                  <a:t>：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 ALG C(</a:t>
                </a:r>
                <a:r>
                  <a:rPr lang="en-US" sz="1600" dirty="0" err="1">
                    <a:latin typeface="Cambria Math" pitchFamily="18"/>
                    <a:ea typeface="Cambria Math" pitchFamily="18"/>
                  </a:rPr>
                  <a:t>i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, k, A</a:t>
                </a:r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1i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 , B</a:t>
                </a:r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1k 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, C</a:t>
                </a:r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1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) and ALG C(m - </a:t>
                </a:r>
                <a:r>
                  <a:rPr lang="en-US" sz="1600" dirty="0" err="1">
                    <a:latin typeface="Cambria Math" pitchFamily="18"/>
                    <a:ea typeface="Cambria Math" pitchFamily="18"/>
                  </a:rPr>
                  <a:t>i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, n - k, A</a:t>
                </a:r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i+1, m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 , B</a:t>
                </a:r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k + 1, n 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, C</a:t>
                </a:r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2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)</a:t>
                </a:r>
              </a:p>
              <a:p>
                <a:pPr lvl="0"/>
                <a:r>
                  <a:rPr lang="en-US" sz="1600" dirty="0">
                    <a:latin typeface="Cambria Math" pitchFamily="18"/>
                    <a:ea typeface="Cambria Math" pitchFamily="18"/>
                  </a:rPr>
                  <a:t>6. Output</a:t>
                </a:r>
                <a:r>
                  <a:rPr lang="en-US" sz="1600" dirty="0">
                    <a:latin typeface="新細明體" pitchFamily="18"/>
                    <a:ea typeface="新細明體" pitchFamily="18"/>
                  </a:rPr>
                  <a:t> </a:t>
                </a:r>
                <a:r>
                  <a:rPr lang="zh-TW" sz="1600" dirty="0">
                    <a:latin typeface="新細明體" pitchFamily="18"/>
                    <a:ea typeface="新細明體" pitchFamily="18"/>
                  </a:rPr>
                  <a:t>：</a:t>
                </a:r>
                <a:r>
                  <a:rPr lang="en-US" sz="1600" dirty="0">
                    <a:latin typeface="新細明體" pitchFamily="18"/>
                    <a:ea typeface="新細明體" pitchFamily="18"/>
                  </a:rPr>
                  <a:t> 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Merge C</a:t>
                </a:r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1 </a:t>
                </a:r>
                <a:r>
                  <a:rPr lang="en-US" sz="1600" dirty="0">
                    <a:latin typeface="Cambria Math" pitchFamily="18"/>
                    <a:ea typeface="Cambria Math" pitchFamily="18"/>
                  </a:rPr>
                  <a:t>and C</a:t>
                </a:r>
                <a:r>
                  <a:rPr lang="en-US" sz="1600" baseline="-25000" dirty="0">
                    <a:latin typeface="Cambria Math" pitchFamily="18"/>
                    <a:ea typeface="Cambria Math" pitchFamily="18"/>
                  </a:rPr>
                  <a:t>2</a:t>
                </a:r>
                <a:endParaRPr lang="en-US" sz="1600" dirty="0">
                  <a:latin typeface="Cambria Math" pitchFamily="18"/>
                  <a:ea typeface="Cambria Math" pitchFamily="18"/>
                </a:endParaRPr>
              </a:p>
            </p:txBody>
          </p:sp>
        </mc:Choice>
        <mc:Fallback xmlns="">
          <p:sp>
            <p:nvSpPr>
              <p:cNvPr id="3" name="內容版面配置區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0677" y="1426143"/>
                <a:ext cx="9071643" cy="6031931"/>
              </a:xfrm>
              <a:blipFill rotWithShape="0">
                <a:blip r:embed="rId2"/>
                <a:stretch>
                  <a:fillRect l="-1747" t="-13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b="1"/>
              <a:t>Time and Space Analysis of Algorithm C</a:t>
            </a:r>
            <a:endParaRPr lang="en-US" sz="3600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Time</a:t>
            </a:r>
            <a:r>
              <a:rPr lang="zh-TW">
                <a:latin typeface="新細明體" pitchFamily="18"/>
                <a:ea typeface="新細明體" pitchFamily="18"/>
              </a:rPr>
              <a:t>：</a:t>
            </a:r>
            <a:endParaRPr lang="en-US">
              <a:latin typeface="新細明體" pitchFamily="18"/>
              <a:ea typeface="新細明體" pitchFamily="18"/>
            </a:endParaRPr>
          </a:p>
          <a:p>
            <a:pPr lvl="0"/>
            <a:r>
              <a:rPr lang="en-US" sz="2800">
                <a:latin typeface="Cambria Math" pitchFamily="18"/>
                <a:ea typeface="Cambria Math" pitchFamily="18"/>
              </a:rPr>
              <a:t>           T(m, n) = T(m / 2, k) + T(m / 2, n - k) + </a:t>
            </a:r>
            <a:r>
              <a:rPr lang="el-GR" sz="2800">
                <a:latin typeface="Cambria Math" pitchFamily="18"/>
                <a:ea typeface="Cambria Math" pitchFamily="18"/>
              </a:rPr>
              <a:t>Θ</a:t>
            </a:r>
            <a:r>
              <a:rPr lang="en-US" sz="2800">
                <a:latin typeface="Cambria Math" pitchFamily="18"/>
                <a:ea typeface="Cambria Math" pitchFamily="18"/>
              </a:rPr>
              <a:t>(mn)</a:t>
            </a:r>
          </a:p>
          <a:p>
            <a:pPr lvl="0"/>
            <a:r>
              <a:rPr lang="en-US" sz="2800">
                <a:latin typeface="Cambria Math" pitchFamily="18"/>
                <a:ea typeface="Cambria Math" pitchFamily="18"/>
              </a:rPr>
              <a:t>           →By recursion tree, </a:t>
            </a:r>
            <a:r>
              <a:rPr lang="en-US" sz="2800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T(m, n) = </a:t>
            </a:r>
            <a:r>
              <a:rPr lang="el-GR" sz="2800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Θ</a:t>
            </a:r>
            <a:r>
              <a:rPr lang="en-US" sz="2800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(mn)</a:t>
            </a:r>
          </a:p>
          <a:p>
            <a:pPr lvl="0"/>
            <a:endParaRPr lang="en-US" sz="2800">
              <a:solidFill>
                <a:srgbClr val="FF0000"/>
              </a:solidFill>
              <a:latin typeface="Cambria Math" pitchFamily="18"/>
              <a:ea typeface="Cambria Math" pitchFamily="18"/>
            </a:endParaRPr>
          </a:p>
          <a:p>
            <a:pPr lvl="0"/>
            <a:r>
              <a:rPr lang="en-US"/>
              <a:t>Space</a:t>
            </a:r>
            <a:r>
              <a:rPr lang="en-US">
                <a:latin typeface="新細明體" pitchFamily="18"/>
                <a:ea typeface="新細明體" pitchFamily="18"/>
              </a:rPr>
              <a:t> </a:t>
            </a:r>
            <a:r>
              <a:rPr lang="zh-TW">
                <a:latin typeface="新細明體" pitchFamily="18"/>
                <a:ea typeface="新細明體" pitchFamily="18"/>
              </a:rPr>
              <a:t>：</a:t>
            </a:r>
            <a:endParaRPr lang="en-US">
              <a:latin typeface="新細明體" pitchFamily="18"/>
              <a:ea typeface="新細明體" pitchFamily="18"/>
            </a:endParaRPr>
          </a:p>
          <a:p>
            <a:pPr lvl="0"/>
            <a:r>
              <a:rPr lang="en-US">
                <a:latin typeface="新細明體" pitchFamily="18"/>
                <a:ea typeface="新細明體" pitchFamily="18"/>
              </a:rPr>
              <a:t>        </a:t>
            </a:r>
            <a:r>
              <a:rPr lang="en-US" sz="2800">
                <a:latin typeface="Cambria Math" pitchFamily="18"/>
                <a:ea typeface="Cambria Math" pitchFamily="18"/>
              </a:rPr>
              <a:t>Because space can be reused → </a:t>
            </a:r>
            <a:r>
              <a:rPr lang="en-US" sz="2800">
                <a:solidFill>
                  <a:srgbClr val="FF0000"/>
                </a:solidFill>
                <a:latin typeface="Cambria Math" pitchFamily="18"/>
                <a:ea typeface="Cambria Math" pitchFamily="18"/>
              </a:rPr>
              <a:t>O(n)</a:t>
            </a:r>
            <a:endParaRPr lang="en-US" sz="2800">
              <a:solidFill>
                <a:srgbClr val="FF0000"/>
              </a:solidFill>
              <a:latin typeface="Cambria Math" pitchFamily="18"/>
            </a:endParaRPr>
          </a:p>
          <a:p>
            <a:pPr lvl="0"/>
            <a:endParaRPr lang="en-US" sz="2800">
              <a:latin typeface="Cambria Math" pitchFamily="18"/>
            </a:endParaRPr>
          </a:p>
        </p:txBody>
      </p:sp>
      <p:sp>
        <p:nvSpPr>
          <p:cNvPr id="4" name="橢圓形圖說文字 4"/>
          <p:cNvSpPr/>
          <p:nvPr/>
        </p:nvSpPr>
        <p:spPr>
          <a:xfrm>
            <a:off x="8048621" y="1962146"/>
            <a:ext cx="1085850" cy="447671"/>
          </a:xfrm>
          <a:custGeom>
            <a:avLst>
              <a:gd name="f0" fmla="val 6300"/>
              <a:gd name="f1" fmla="val 24300"/>
            </a:avLst>
            <a:gdLst>
              <a:gd name="f2" fmla="val 21600000"/>
              <a:gd name="f3" fmla="val 10800000"/>
              <a:gd name="f4" fmla="val 5400000"/>
              <a:gd name="f5" fmla="val 180"/>
              <a:gd name="f6" fmla="val w"/>
              <a:gd name="f7" fmla="val h"/>
              <a:gd name="f8" fmla="val 0"/>
              <a:gd name="f9" fmla="val 21600"/>
              <a:gd name="f10" fmla="*/ 5419351 1 1725033"/>
              <a:gd name="f11" fmla="val 2147483647"/>
              <a:gd name="f12" fmla="min 0 21600"/>
              <a:gd name="f13" fmla="max 0 21600"/>
              <a:gd name="f14" fmla="val -2147483647"/>
              <a:gd name="f15" fmla="+- 0 0 0"/>
              <a:gd name="f16" fmla="+- 0 0 180"/>
              <a:gd name="f17" fmla="+- 0 0 -194"/>
              <a:gd name="f18" fmla="*/ f6 1 21600"/>
              <a:gd name="f19" fmla="*/ f7 1 21600"/>
              <a:gd name="f20" fmla="val f8"/>
              <a:gd name="f21" fmla="val f9"/>
              <a:gd name="f22" fmla="*/ f10 1 180"/>
              <a:gd name="f23" fmla="+- f13 0 f12"/>
              <a:gd name="f24" fmla="pin -2147483647 f0 2147483647"/>
              <a:gd name="f25" fmla="pin -2147483647 f1 2147483647"/>
              <a:gd name="f26" fmla="*/ f15 f3 1"/>
              <a:gd name="f27" fmla="*/ f16 f3 1"/>
              <a:gd name="f28" fmla="*/ f17 f3 1"/>
              <a:gd name="f29" fmla="+- f21 0 f20"/>
              <a:gd name="f30" fmla="val f24"/>
              <a:gd name="f31" fmla="val f25"/>
              <a:gd name="f32" fmla="*/ f23 1 2"/>
              <a:gd name="f33" fmla="*/ f24 f18 1"/>
              <a:gd name="f34" fmla="*/ f25 f19 1"/>
              <a:gd name="f35" fmla="*/ f26 1 f5"/>
              <a:gd name="f36" fmla="*/ f27 1 f5"/>
              <a:gd name="f37" fmla="*/ f28 1 f5"/>
              <a:gd name="f38" fmla="*/ f29 1 21600"/>
              <a:gd name="f39" fmla="+- f30 0 10800"/>
              <a:gd name="f40" fmla="+- f31 0 10800"/>
              <a:gd name="f41" fmla="+- f12 f32 0"/>
              <a:gd name="f42" fmla="*/ f32 f32 1"/>
              <a:gd name="f43" fmla="+- f35 0 f4"/>
              <a:gd name="f44" fmla="+- f36 0 f4"/>
              <a:gd name="f45" fmla="+- f37 0 f4"/>
              <a:gd name="f46" fmla="*/ 3200 f38 1"/>
              <a:gd name="f47" fmla="*/ 18400 f38 1"/>
              <a:gd name="f48" fmla="*/ 3160 f38 1"/>
              <a:gd name="f49" fmla="*/ 18440 f38 1"/>
              <a:gd name="f50" fmla="*/ f39 f39 1"/>
              <a:gd name="f51" fmla="*/ f40 f40 1"/>
              <a:gd name="f52" fmla="+- 0 0 f40"/>
              <a:gd name="f53" fmla="+- 0 0 f39"/>
              <a:gd name="f54" fmla="+- f50 f51 0"/>
              <a:gd name="f55" fmla="+- 0 0 f52"/>
              <a:gd name="f56" fmla="+- 0 0 f53"/>
              <a:gd name="f57" fmla="*/ f48 1 f38"/>
              <a:gd name="f58" fmla="*/ f49 1 f38"/>
              <a:gd name="f59" fmla="*/ f46 1 f38"/>
              <a:gd name="f60" fmla="*/ f47 1 f38"/>
              <a:gd name="f61" fmla="+- 0 0 f55"/>
              <a:gd name="f62" fmla="+- 0 0 f56"/>
              <a:gd name="f63" fmla="sqrt f54"/>
              <a:gd name="f64" fmla="*/ f59 f18 1"/>
              <a:gd name="f65" fmla="*/ f60 f18 1"/>
              <a:gd name="f66" fmla="*/ f60 f19 1"/>
              <a:gd name="f67" fmla="*/ f59 f19 1"/>
              <a:gd name="f68" fmla="*/ f57 f18 1"/>
              <a:gd name="f69" fmla="*/ f57 f19 1"/>
              <a:gd name="f70" fmla="*/ f58 f19 1"/>
              <a:gd name="f71" fmla="*/ f58 f18 1"/>
              <a:gd name="f72" fmla="at2 f61 f62"/>
              <a:gd name="f73" fmla="+- f63 0 10800"/>
              <a:gd name="f74" fmla="+- f72 f4 0"/>
              <a:gd name="f75" fmla="*/ f74 f10 1"/>
              <a:gd name="f76" fmla="*/ f75 1 f3"/>
              <a:gd name="f77" fmla="+- 0 0 f76"/>
              <a:gd name="f78" fmla="val f77"/>
              <a:gd name="f79" fmla="+- 0 0 f78"/>
              <a:gd name="f80" fmla="*/ f79 f3 1"/>
              <a:gd name="f81" fmla="*/ f80 1 f10"/>
              <a:gd name="f82" fmla="+- f81 0 f4"/>
              <a:gd name="f83" fmla="*/ f81 f10 1"/>
              <a:gd name="f84" fmla="*/ f83 1 f3"/>
              <a:gd name="f85" fmla="+- f82 f4 0"/>
              <a:gd name="f86" fmla="+- 0 0 f84"/>
              <a:gd name="f87" fmla="*/ f85 f10 1"/>
              <a:gd name="f88" fmla="*/ f86 1 f22"/>
              <a:gd name="f89" fmla="*/ f87 1 f3"/>
              <a:gd name="f90" fmla="+- f88 0 10"/>
              <a:gd name="f91" fmla="+- f88 10 0"/>
              <a:gd name="f92" fmla="+- 0 0 f89"/>
              <a:gd name="f93" fmla="*/ f90 f22 1"/>
              <a:gd name="f94" fmla="*/ f91 f22 1"/>
              <a:gd name="f95" fmla="+- 0 0 f92"/>
              <a:gd name="f96" fmla="+- 0 0 f93"/>
              <a:gd name="f97" fmla="+- 0 0 f94"/>
              <a:gd name="f98" fmla="*/ f95 f3 1"/>
              <a:gd name="f99" fmla="*/ f96 f3 1"/>
              <a:gd name="f100" fmla="*/ f97 f3 1"/>
              <a:gd name="f101" fmla="*/ f98 1 f10"/>
              <a:gd name="f102" fmla="*/ f99 1 f10"/>
              <a:gd name="f103" fmla="*/ f100 1 f10"/>
              <a:gd name="f104" fmla="+- f101 0 f4"/>
              <a:gd name="f105" fmla="sin 1 f104"/>
              <a:gd name="f106" fmla="cos 1 f104"/>
              <a:gd name="f107" fmla="+- f102 0 f4"/>
              <a:gd name="f108" fmla="+- f103 0 f4"/>
              <a:gd name="f109" fmla="+- 0 0 f105"/>
              <a:gd name="f110" fmla="+- 0 0 f106"/>
              <a:gd name="f111" fmla="+- f107 f4 0"/>
              <a:gd name="f112" fmla="+- f108 f4 0"/>
              <a:gd name="f113" fmla="+- 0 0 f109"/>
              <a:gd name="f114" fmla="+- 0 0 f110"/>
              <a:gd name="f115" fmla="*/ f111 f10 1"/>
              <a:gd name="f116" fmla="*/ f112 f10 1"/>
              <a:gd name="f117" fmla="val f113"/>
              <a:gd name="f118" fmla="val f114"/>
              <a:gd name="f119" fmla="*/ f115 1 f3"/>
              <a:gd name="f120" fmla="*/ f116 1 f3"/>
              <a:gd name="f121" fmla="+- 0 0 f117"/>
              <a:gd name="f122" fmla="+- 0 0 f118"/>
              <a:gd name="f123" fmla="+- 0 0 f119"/>
              <a:gd name="f124" fmla="+- 0 0 f120"/>
              <a:gd name="f125" fmla="+- 0 0 f123"/>
              <a:gd name="f126" fmla="+- 0 0 f124"/>
              <a:gd name="f127" fmla="*/ 10800 f121 1"/>
              <a:gd name="f128" fmla="*/ 10800 f122 1"/>
              <a:gd name="f129" fmla="*/ f125 f3 1"/>
              <a:gd name="f130" fmla="*/ f126 f3 1"/>
              <a:gd name="f131" fmla="+- f127 10800 0"/>
              <a:gd name="f132" fmla="+- f128 10800 0"/>
              <a:gd name="f133" fmla="*/ f129 1 f10"/>
              <a:gd name="f134" fmla="*/ f130 1 f10"/>
              <a:gd name="f135" fmla="?: f73 f30 f131"/>
              <a:gd name="f136" fmla="?: f73 f31 f132"/>
              <a:gd name="f137" fmla="+- f133 0 f4"/>
              <a:gd name="f138" fmla="+- f134 0 f4"/>
              <a:gd name="f139" fmla="*/ f135 f18 1"/>
              <a:gd name="f140" fmla="*/ f136 f19 1"/>
              <a:gd name="f141" fmla="sin 1 f137"/>
              <a:gd name="f142" fmla="cos 1 f137"/>
              <a:gd name="f143" fmla="sin 1 f138"/>
              <a:gd name="f144" fmla="cos 1 f138"/>
              <a:gd name="f145" fmla="+- 0 0 f141"/>
              <a:gd name="f146" fmla="+- 0 0 f142"/>
              <a:gd name="f147" fmla="+- 0 0 f143"/>
              <a:gd name="f148" fmla="+- 0 0 f144"/>
              <a:gd name="f149" fmla="+- 0 0 f145"/>
              <a:gd name="f150" fmla="+- 0 0 f146"/>
              <a:gd name="f151" fmla="+- 0 0 f147"/>
              <a:gd name="f152" fmla="+- 0 0 f148"/>
              <a:gd name="f153" fmla="val f149"/>
              <a:gd name="f154" fmla="val f150"/>
              <a:gd name="f155" fmla="val f151"/>
              <a:gd name="f156" fmla="val f152"/>
              <a:gd name="f157" fmla="+- 0 0 f153"/>
              <a:gd name="f158" fmla="+- 0 0 f154"/>
              <a:gd name="f159" fmla="+- 0 0 f155"/>
              <a:gd name="f160" fmla="+- 0 0 f156"/>
              <a:gd name="f161" fmla="*/ 10800 f157 1"/>
              <a:gd name="f162" fmla="*/ 10800 f158 1"/>
              <a:gd name="f163" fmla="*/ 10800 f159 1"/>
              <a:gd name="f164" fmla="*/ 10800 f160 1"/>
              <a:gd name="f165" fmla="+- f161 10800 0"/>
              <a:gd name="f166" fmla="+- f162 10800 0"/>
              <a:gd name="f167" fmla="+- f163 10800 0"/>
              <a:gd name="f168" fmla="+- f164 10800 0"/>
              <a:gd name="f169" fmla="+- f167 0 f41"/>
              <a:gd name="f170" fmla="+- f168 0 f41"/>
              <a:gd name="f171" fmla="+- f165 0 f41"/>
              <a:gd name="f172" fmla="+- f166 0 f41"/>
              <a:gd name="f173" fmla="+- 0 0 f169"/>
              <a:gd name="f174" fmla="+- 0 0 f170"/>
              <a:gd name="f175" fmla="+- 0 0 f171"/>
              <a:gd name="f176" fmla="+- 0 0 f172"/>
              <a:gd name="f177" fmla="+- 0 0 f173"/>
              <a:gd name="f178" fmla="+- 0 0 f174"/>
              <a:gd name="f179" fmla="+- 0 0 f175"/>
              <a:gd name="f180" fmla="+- 0 0 f176"/>
              <a:gd name="f181" fmla="at2 f177 f178"/>
              <a:gd name="f182" fmla="at2 f179 f180"/>
              <a:gd name="f183" fmla="+- f181 f4 0"/>
              <a:gd name="f184" fmla="+- f182 f4 0"/>
              <a:gd name="f185" fmla="*/ f183 f10 1"/>
              <a:gd name="f186" fmla="*/ f184 f10 1"/>
              <a:gd name="f187" fmla="*/ f185 1 f3"/>
              <a:gd name="f188" fmla="*/ f186 1 f3"/>
              <a:gd name="f189" fmla="+- 0 0 f187"/>
              <a:gd name="f190" fmla="+- 0 0 f188"/>
              <a:gd name="f191" fmla="val f189"/>
              <a:gd name="f192" fmla="val f190"/>
              <a:gd name="f193" fmla="+- 0 0 f191"/>
              <a:gd name="f194" fmla="+- 0 0 f192"/>
              <a:gd name="f195" fmla="*/ f193 f3 1"/>
              <a:gd name="f196" fmla="*/ f194 f3 1"/>
              <a:gd name="f197" fmla="*/ f195 1 f10"/>
              <a:gd name="f198" fmla="*/ f196 1 f10"/>
              <a:gd name="f199" fmla="+- f197 0 f4"/>
              <a:gd name="f200" fmla="+- f198 0 f4"/>
              <a:gd name="f201" fmla="+- f199 f4 0"/>
              <a:gd name="f202" fmla="+- f200 0 f199"/>
              <a:gd name="f203" fmla="*/ f201 f10 1"/>
              <a:gd name="f204" fmla="+- f202 f2 0"/>
              <a:gd name="f205" fmla="*/ f203 1 f3"/>
              <a:gd name="f206" fmla="?: f202 f202 f204"/>
              <a:gd name="f207" fmla="+- 0 0 f205"/>
              <a:gd name="f208" fmla="+- 0 0 f207"/>
              <a:gd name="f209" fmla="*/ f208 f3 1"/>
              <a:gd name="f210" fmla="*/ f209 1 f10"/>
              <a:gd name="f211" fmla="+- f210 0 f4"/>
              <a:gd name="f212" fmla="cos 1 f211"/>
              <a:gd name="f213" fmla="sin 1 f211"/>
              <a:gd name="f214" fmla="+- 0 0 f212"/>
              <a:gd name="f215" fmla="+- 0 0 f213"/>
              <a:gd name="f216" fmla="+- 0 0 f214"/>
              <a:gd name="f217" fmla="+- 0 0 f215"/>
              <a:gd name="f218" fmla="val f216"/>
              <a:gd name="f219" fmla="val f217"/>
              <a:gd name="f220" fmla="+- 0 0 f218"/>
              <a:gd name="f221" fmla="+- 0 0 f219"/>
              <a:gd name="f222" fmla="*/ f32 f220 1"/>
              <a:gd name="f223" fmla="*/ f32 f221 1"/>
              <a:gd name="f224" fmla="*/ f222 f222 1"/>
              <a:gd name="f225" fmla="*/ f223 f223 1"/>
              <a:gd name="f226" fmla="+- f224 f225 0"/>
              <a:gd name="f227" fmla="sqrt f226"/>
              <a:gd name="f228" fmla="*/ f42 1 f227"/>
              <a:gd name="f229" fmla="*/ f220 f228 1"/>
              <a:gd name="f230" fmla="*/ f221 f228 1"/>
              <a:gd name="f231" fmla="+- f41 0 f229"/>
              <a:gd name="f232" fmla="+- f41 0 f230"/>
            </a:gdLst>
            <a:ahLst>
              <a:ahXY gdRefX="f0" minX="f14" maxX="f11" gdRefY="f1" minY="f14" maxY="f11">
                <a:pos x="f33" y="f34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3">
                <a:pos x="f68" y="f69"/>
              </a:cxn>
              <a:cxn ang="f44">
                <a:pos x="f68" y="f70"/>
              </a:cxn>
              <a:cxn ang="f44">
                <a:pos x="f71" y="f70"/>
              </a:cxn>
              <a:cxn ang="f43">
                <a:pos x="f71" y="f69"/>
              </a:cxn>
              <a:cxn ang="f45">
                <a:pos x="f139" y="f140"/>
              </a:cxn>
            </a:cxnLst>
            <a:rect l="f64" t="f67" r="f65" b="f66"/>
            <a:pathLst>
              <a:path w="21600" h="21600">
                <a:moveTo>
                  <a:pt x="f231" y="f232"/>
                </a:moveTo>
                <a:arcTo wR="f32" hR="f32" stAng="f199" swAng="f206"/>
                <a:lnTo>
                  <a:pt x="f135" y="f136"/>
                </a:lnTo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Cambria Math" pitchFamily="18"/>
                <a:ea typeface="Cambria Math" pitchFamily="18"/>
              </a:rPr>
              <a:t>Algo B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Cambria Math" pitchFamily="18"/>
              <a:ea typeface="新細明體" pitchFamily="1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4914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C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219071" y="1438278"/>
            <a:ext cx="9772650" cy="4715204"/>
          </a:xfrm>
        </p:spPr>
        <p:txBody>
          <a:bodyPr/>
          <a:lstStyle/>
          <a:p>
            <a:pPr lvl="0"/>
            <a:r>
              <a:rPr lang="en-US"/>
              <a:t>Notation</a:t>
            </a:r>
            <a:r>
              <a:rPr lang="zh-TW">
                <a:latin typeface="Cambria Math" pitchFamily="18"/>
                <a:ea typeface="新細明體" pitchFamily="18"/>
              </a:rPr>
              <a:t> ：</a:t>
            </a:r>
            <a:endParaRPr lang="en-US">
              <a:latin typeface="Cambria Math" pitchFamily="18"/>
              <a:ea typeface="新細明體" pitchFamily="18"/>
            </a:endParaRPr>
          </a:p>
          <a:p>
            <a:pPr lvl="0"/>
            <a:endParaRPr lang="en-US">
              <a:latin typeface="Cambria Math" pitchFamily="18"/>
              <a:ea typeface="新細明體" pitchFamily="18"/>
            </a:endParaRPr>
          </a:p>
          <a:p>
            <a:pPr lvl="0"/>
            <a:r>
              <a:rPr lang="en-US" sz="2600">
                <a:latin typeface="Cambria Math" pitchFamily="18"/>
                <a:ea typeface="Cambria Math" pitchFamily="18"/>
              </a:rPr>
              <a:t>L(i, j) = maximum length of comm subsequences of A</a:t>
            </a:r>
            <a:r>
              <a:rPr lang="en-US" sz="2600" baseline="-25000">
                <a:latin typeface="Cambria Math" pitchFamily="18"/>
                <a:ea typeface="Cambria Math" pitchFamily="18"/>
              </a:rPr>
              <a:t>1i</a:t>
            </a:r>
            <a:r>
              <a:rPr lang="en-US" sz="2600">
                <a:latin typeface="Cambria Math" pitchFamily="18"/>
                <a:ea typeface="Cambria Math" pitchFamily="18"/>
              </a:rPr>
              <a:t> and B</a:t>
            </a:r>
            <a:r>
              <a:rPr lang="en-US" sz="2600" baseline="-25000">
                <a:latin typeface="Cambria Math" pitchFamily="18"/>
                <a:ea typeface="Cambria Math" pitchFamily="18"/>
              </a:rPr>
              <a:t>1j</a:t>
            </a:r>
          </a:p>
          <a:p>
            <a:pPr lvl="0"/>
            <a:endParaRPr lang="en-US" sz="2600" baseline="-25000">
              <a:latin typeface="Cambria Math" pitchFamily="18"/>
              <a:ea typeface="Cambria Math" pitchFamily="18"/>
            </a:endParaRPr>
          </a:p>
          <a:p>
            <a:pPr lvl="0"/>
            <a:r>
              <a:rPr lang="en-US" sz="2600">
                <a:latin typeface="Cambria Math" pitchFamily="18"/>
                <a:ea typeface="Cambria Math" pitchFamily="18"/>
              </a:rPr>
              <a:t>L*(i, j) = maximum length of comm subsequences of A</a:t>
            </a:r>
            <a:r>
              <a:rPr lang="en-US" sz="2600" baseline="-25000">
                <a:latin typeface="Cambria Math" pitchFamily="18"/>
                <a:ea typeface="Cambria Math" pitchFamily="18"/>
              </a:rPr>
              <a:t>i+1,m</a:t>
            </a:r>
            <a:r>
              <a:rPr lang="en-US" sz="2600">
                <a:latin typeface="Cambria Math" pitchFamily="18"/>
                <a:ea typeface="Cambria Math" pitchFamily="18"/>
              </a:rPr>
              <a:t> and B</a:t>
            </a:r>
            <a:r>
              <a:rPr lang="en-US" sz="2600" baseline="-25000">
                <a:latin typeface="Cambria Math" pitchFamily="18"/>
                <a:ea typeface="Cambria Math" pitchFamily="18"/>
              </a:rPr>
              <a:t>j+1,n</a:t>
            </a:r>
            <a:endParaRPr lang="en-US" sz="2600" baseline="-25000">
              <a:latin typeface="Cambria Math" pitchFamily="18"/>
            </a:endParaRPr>
          </a:p>
          <a:p>
            <a:pPr lvl="0"/>
            <a:endParaRPr lang="en-US" sz="2600" baseline="-25000">
              <a:latin typeface="Cambria Math" pitchFamily="1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/>
              <a:t>Algorithm C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998" y="1769043"/>
            <a:ext cx="9071643" cy="5460431"/>
          </a:xfrm>
        </p:spPr>
        <p:txBody>
          <a:bodyPr/>
          <a:lstStyle/>
          <a:p>
            <a:pPr lvl="0"/>
            <a:r>
              <a:rPr lang="en-US">
                <a:latin typeface="Cambria Math" pitchFamily="18"/>
                <a:ea typeface="Cambria Math" pitchFamily="18"/>
              </a:rPr>
              <a:t>Choosing i to be m / 2.   </a:t>
            </a:r>
          </a:p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Define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endParaRPr lang="en-US">
              <a:latin typeface="Cambria Math" pitchFamily="18"/>
              <a:ea typeface="新細明體" pitchFamily="18"/>
            </a:endParaRPr>
          </a:p>
          <a:p>
            <a:pPr lvl="0"/>
            <a:r>
              <a:rPr lang="en-US">
                <a:latin typeface="Cambria Math" pitchFamily="18"/>
                <a:ea typeface="新細明體" pitchFamily="18"/>
              </a:rPr>
              <a:t>              </a:t>
            </a:r>
            <a:r>
              <a:rPr lang="en-US">
                <a:latin typeface="Cambria Math" pitchFamily="18"/>
                <a:ea typeface="Cambria Math" pitchFamily="18"/>
              </a:rPr>
              <a:t>M(i) = max{ L(i, j) + L*(i, j) }, j = 0…n</a:t>
            </a:r>
          </a:p>
          <a:p>
            <a:pPr lvl="0"/>
            <a:endParaRPr lang="en-US">
              <a:latin typeface="Cambria Math" pitchFamily="18"/>
              <a:ea typeface="Cambria Math" pitchFamily="18"/>
            </a:endParaRPr>
          </a:p>
          <a:p>
            <a:pPr lvl="0"/>
            <a:r>
              <a:rPr lang="en-US">
                <a:latin typeface="Cambria Math" pitchFamily="18"/>
                <a:ea typeface="Cambria Math" pitchFamily="18"/>
              </a:rPr>
              <a:t>Theorem</a:t>
            </a:r>
            <a:r>
              <a:rPr lang="zh-TW">
                <a:latin typeface="Cambria Math" pitchFamily="18"/>
                <a:ea typeface="新細明體" pitchFamily="18"/>
              </a:rPr>
              <a:t>：</a:t>
            </a:r>
            <a:endParaRPr lang="en-US">
              <a:latin typeface="Cambria Math" pitchFamily="18"/>
              <a:ea typeface="新細明體" pitchFamily="18"/>
            </a:endParaRPr>
          </a:p>
          <a:p>
            <a:pPr lvl="0"/>
            <a:r>
              <a:rPr lang="en-US">
                <a:latin typeface="Cambria Math" pitchFamily="18"/>
                <a:ea typeface="新細明體" pitchFamily="18"/>
              </a:rPr>
              <a:t>              </a:t>
            </a:r>
            <a:r>
              <a:rPr lang="en-US">
                <a:latin typeface="Cambria Math" pitchFamily="18"/>
                <a:ea typeface="Cambria Math" pitchFamily="18"/>
              </a:rPr>
              <a:t>M(i) = L(m, n), i = 0…m</a:t>
            </a:r>
          </a:p>
          <a:p>
            <a:pPr lvl="0"/>
            <a:r>
              <a:rPr lang="en-US">
                <a:latin typeface="新細明體" pitchFamily="18"/>
                <a:ea typeface="新細明體" pitchFamily="18"/>
              </a:rPr>
              <a:t>                  </a:t>
            </a:r>
            <a:endParaRPr lang="en-US">
              <a:latin typeface="Cambria Math" pitchFamily="18"/>
              <a:ea typeface="Cambria Math" pitchFamily="18"/>
            </a:endParaRPr>
          </a:p>
          <a:p>
            <a:pPr marL="342900" lvl="0" indent="-342900">
              <a:buSzPct val="100000"/>
              <a:buFont typeface="Arial" pitchFamily="34"/>
              <a:buChar char="•"/>
            </a:pPr>
            <a:endParaRPr lang="en-US">
              <a:latin typeface="Cambria Math" pitchFamily="18"/>
              <a:ea typeface="Cambria Math" pitchFamily="18"/>
            </a:endParaRPr>
          </a:p>
          <a:p>
            <a:pPr marL="342900" lvl="0" indent="-342900">
              <a:buSzPct val="100000"/>
              <a:buFont typeface="Arial" pitchFamily="34"/>
              <a:buChar char="•"/>
            </a:pPr>
            <a:endParaRPr lang="en-US">
              <a:latin typeface="Cambria Math" pitchFamily="18"/>
              <a:ea typeface="Cambria Math" pitchFamily="18"/>
            </a:endParaRPr>
          </a:p>
          <a:p>
            <a:pPr marL="342900" lvl="0" indent="-342900">
              <a:buSzPct val="100000"/>
              <a:buFont typeface="Arial" pitchFamily="34"/>
              <a:buChar char="•"/>
            </a:pPr>
            <a:endParaRPr lang="en-US">
              <a:latin typeface="Cambria Math" pitchFamily="18"/>
              <a:ea typeface="Cambria Math" pitchFamily="18"/>
            </a:endParaRPr>
          </a:p>
          <a:p>
            <a:pPr marL="342900" lvl="0" indent="-342900">
              <a:buSzPct val="100000"/>
              <a:buFont typeface="Arial" pitchFamily="34"/>
              <a:buChar char="•"/>
            </a:pPr>
            <a:endParaRPr lang="en-US">
              <a:latin typeface="Cambria Math" pitchFamily="18"/>
              <a:ea typeface="Cambria Math" pitchFamily="18"/>
            </a:endParaRPr>
          </a:p>
          <a:p>
            <a:pPr lvl="0"/>
            <a:endParaRPr lang="en-US" sz="2400">
              <a:latin typeface="Cambria Math" pitchFamily="18"/>
              <a:ea typeface="Cambria Math" pitchFamily="1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1156</TotalTime>
  <Words>2291</Words>
  <Application>Microsoft Office PowerPoint</Application>
  <PresentationFormat>自訂</PresentationFormat>
  <Paragraphs>657</Paragraphs>
  <Slides>34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47" baseType="lpstr">
      <vt:lpstr>Liberation Sans</vt:lpstr>
      <vt:lpstr>Liberation Sans Narrow</vt:lpstr>
      <vt:lpstr>Liberation Serif</vt:lpstr>
      <vt:lpstr>StarSymbol</vt:lpstr>
      <vt:lpstr>微軟正黑體</vt:lpstr>
      <vt:lpstr>新細明體</vt:lpstr>
      <vt:lpstr>Arial</vt:lpstr>
      <vt:lpstr>Calibri</vt:lpstr>
      <vt:lpstr>Calibri Light</vt:lpstr>
      <vt:lpstr>Cambria Math</vt:lpstr>
      <vt:lpstr>Mangal</vt:lpstr>
      <vt:lpstr>Tahoma</vt:lpstr>
      <vt:lpstr>預設</vt:lpstr>
      <vt:lpstr>Communications of the ACM June 1975 Volume 18 Number 6 D.S. Hirschberg Princeton University</vt:lpstr>
      <vt:lpstr>Abstract</vt:lpstr>
      <vt:lpstr>Longest Common Subsequence（LCS）</vt:lpstr>
      <vt:lpstr>Longest Common Subsequence（LCS）</vt:lpstr>
      <vt:lpstr>Longest Common Subsequence（LCS）</vt:lpstr>
      <vt:lpstr>Algorithm A</vt:lpstr>
      <vt:lpstr>Algorithm A</vt:lpstr>
      <vt:lpstr>Time and Space Analysis of Algorithm A</vt:lpstr>
      <vt:lpstr>Algorithm B</vt:lpstr>
      <vt:lpstr>Algorithm B</vt:lpstr>
      <vt:lpstr>Algorithm B</vt:lpstr>
      <vt:lpstr>Algorithm B</vt:lpstr>
      <vt:lpstr>Algorithm B</vt:lpstr>
      <vt:lpstr>Algorithm B</vt:lpstr>
      <vt:lpstr>Algorithm B</vt:lpstr>
      <vt:lpstr>Time and Space Analysis of Algorithm B</vt:lpstr>
      <vt:lpstr>Algorithm C</vt:lpstr>
      <vt:lpstr>Algorithm C</vt:lpstr>
      <vt:lpstr>Algorithm C</vt:lpstr>
      <vt:lpstr>Algorithm C</vt:lpstr>
      <vt:lpstr>Algorithm C</vt:lpstr>
      <vt:lpstr>Algorithm C</vt:lpstr>
      <vt:lpstr>Algorithm C</vt:lpstr>
      <vt:lpstr>Algorithm C</vt:lpstr>
      <vt:lpstr>Algorithm C</vt:lpstr>
      <vt:lpstr>Algorithm C</vt:lpstr>
      <vt:lpstr>Algorithm C</vt:lpstr>
      <vt:lpstr>Algorithm C</vt:lpstr>
      <vt:lpstr>Algorithm C</vt:lpstr>
      <vt:lpstr>Algorithm C</vt:lpstr>
      <vt:lpstr>Time and Space Analysis of Algorithm C</vt:lpstr>
      <vt:lpstr>PowerPoint 簡報</vt:lpstr>
      <vt:lpstr>Algorithm C</vt:lpstr>
      <vt:lpstr>Algorithm C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Communications of the ACM June 1975 Volume 18 Number 6 D.S. Hirschberg Princeton University</dc:title>
  <dc:creator>Shecil</dc:creator>
  <cp:lastModifiedBy>pplab-class</cp:lastModifiedBy>
  <cp:revision>86</cp:revision>
  <dcterms:created xsi:type="dcterms:W3CDTF">2015-10-08T13:19:19Z</dcterms:created>
  <dcterms:modified xsi:type="dcterms:W3CDTF">2015-10-13T11:00:46Z</dcterms:modified>
</cp:coreProperties>
</file>