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74" r:id="rId12"/>
    <p:sldId id="275" r:id="rId13"/>
    <p:sldId id="276" r:id="rId14"/>
    <p:sldId id="277" r:id="rId15"/>
    <p:sldId id="279" r:id="rId16"/>
    <p:sldId id="278" r:id="rId17"/>
    <p:sldId id="280" r:id="rId18"/>
    <p:sldId id="273" r:id="rId19"/>
    <p:sldId id="281" r:id="rId20"/>
    <p:sldId id="272" r:id="rId2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2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5419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4586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0426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137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3026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4685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2015/6/23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621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7314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9685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203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5F7A0-3410-476A-BA62-E4441D196F63}" type="datetimeFigureOut">
              <a:rPr lang="zh-TW" altLang="en-US" smtClean="0"/>
              <a:t>2015/6/23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0580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5F7A0-3410-476A-BA62-E4441D196F63}" type="datetimeFigureOut">
              <a:rPr lang="zh-TW" altLang="en-US" smtClean="0"/>
              <a:t>2015/6/23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87BF1-EBFD-4CDB-85B9-70819A60FDA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9043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608013" y="1571629"/>
            <a:ext cx="7772400" cy="147002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b="1" dirty="0" smtClean="0"/>
              <a:t>Efficient String Matching in The Presence of Errors</a:t>
            </a:r>
            <a:endParaRPr lang="zh-TW" altLang="en-US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406525" y="3019429"/>
            <a:ext cx="6400800" cy="47942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3100" dirty="0"/>
              <a:t>Landau, G.M</a:t>
            </a:r>
            <a:r>
              <a:rPr lang="en-US" altLang="zh-TW" sz="3100" dirty="0" smtClean="0"/>
              <a:t>., </a:t>
            </a:r>
            <a:r>
              <a:rPr lang="en-US" altLang="zh-TW" sz="3100" dirty="0" err="1" smtClean="0"/>
              <a:t>Vishkin</a:t>
            </a:r>
            <a:r>
              <a:rPr lang="en-US" altLang="zh-TW" sz="3100" dirty="0"/>
              <a:t>, U.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970186"/>
              </p:ext>
            </p:extLst>
          </p:nvPr>
        </p:nvGraphicFramePr>
        <p:xfrm>
          <a:off x="2843215" y="3581401"/>
          <a:ext cx="3816351" cy="1540971"/>
        </p:xfrm>
        <a:graphic>
          <a:graphicData uri="http://schemas.openxmlformats.org/drawingml/2006/table">
            <a:tbl>
              <a:tblPr/>
              <a:tblGrid>
                <a:gridCol w="3816351"/>
              </a:tblGrid>
              <a:tr h="567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Foundations of Computer Science, 26th Annual Symposium on</a:t>
                      </a:r>
                      <a:endParaRPr lang="en-US" sz="19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r>
                        <a:rPr lang="en-US" altLang="zh-TW" sz="15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1985, Pages 126-136</a:t>
                      </a:r>
                      <a:endParaRPr lang="en-US" sz="15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3132142" y="5229228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 Huang-Ting Chan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eaLnBrk="1" hangingPunct="1">
                <a:spcBef>
                  <a:spcPct val="0"/>
                </a:spcBef>
                <a:buFontTx/>
                <a:buNone/>
              </a:pPr>
              <a:t>2015/6/23</a:t>
            </a:fld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814006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altLang="zh-TW" dirty="0"/>
                  <a:t>Consider the string matching problem where differences between characters of the pattern and characters of the text are allowed. 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Each </a:t>
                </a:r>
                <a:r>
                  <a:rPr lang="en-US" altLang="zh-TW" dirty="0"/>
                  <a:t>difference is due to either a mismatch between a character of the text and a character of the pattern or a superfluous character in the text or a superfluous character in the pattern. 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Given </a:t>
                </a:r>
                <a:r>
                  <a:rPr lang="en-US" altLang="zh-TW" dirty="0"/>
                  <a:t>a text of length n, a pattern of length m and an integer k, we </a:t>
                </a:r>
                <a:r>
                  <a:rPr lang="en-US" altLang="zh-TW" dirty="0" smtClean="0"/>
                  <a:t>present </a:t>
                </a:r>
                <a:r>
                  <a:rPr lang="en-US" altLang="zh-TW" dirty="0"/>
                  <a:t>an algorithm for finding all occurrences of the pattern in the text, each with at most k mismatches (superfluous characters in either the text or the pattern are not allowed). This algorithm runs in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𝑙𝑜𝑔𝑚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altLang="zh-TW" dirty="0" smtClean="0"/>
                  <a:t>time.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3501" r="-4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4789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42925" y="1825625"/>
                <a:ext cx="6789692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Text:		</a:t>
                </a:r>
                <a:r>
                  <a:rPr lang="en-US" altLang="zh-TW" dirty="0" err="1" smtClean="0"/>
                  <a:t>bcdefghi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Pattern:	</a:t>
                </a:r>
                <a:r>
                  <a:rPr lang="en-US" altLang="zh-TW" dirty="0" err="1" smtClean="0"/>
                  <a:t>bxdyegh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		</a:t>
                </a:r>
                <a:r>
                  <a:rPr lang="en-US" altLang="zh-TW" dirty="0" err="1" smtClean="0">
                    <a:ea typeface="+mj-ea"/>
                  </a:rPr>
                  <a:t>bcd</a:t>
                </a:r>
                <a:r>
                  <a:rPr lang="en-US" altLang="zh-TW" dirty="0" smtClean="0">
                    <a:ea typeface="+mj-ea"/>
                  </a:rPr>
                  <a:t>  </a:t>
                </a:r>
                <a:r>
                  <a:rPr lang="en-US" altLang="zh-TW" dirty="0" err="1" smtClean="0">
                    <a:ea typeface="+mj-ea"/>
                  </a:rPr>
                  <a:t>efghi</a:t>
                </a:r>
                <a:endParaRPr lang="en-US" altLang="zh-TW" dirty="0" smtClean="0">
                  <a:ea typeface="+mj-ea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ea typeface="+mj-ea"/>
                  </a:rPr>
                  <a:t>	</a:t>
                </a:r>
                <a:r>
                  <a:rPr lang="en-US" altLang="zh-TW" dirty="0" smtClean="0">
                    <a:ea typeface="+mj-ea"/>
                  </a:rPr>
                  <a:t>	</a:t>
                </a:r>
                <a:r>
                  <a:rPr lang="en-US" altLang="zh-TW" dirty="0" err="1" smtClean="0">
                    <a:ea typeface="+mj-ea"/>
                  </a:rPr>
                  <a:t>bxdye</a:t>
                </a:r>
                <a:r>
                  <a:rPr lang="en-US" altLang="zh-TW" dirty="0" smtClean="0">
                    <a:ea typeface="+mj-ea"/>
                  </a:rPr>
                  <a:t> </a:t>
                </a:r>
                <a:r>
                  <a:rPr lang="en-US" altLang="zh-TW" dirty="0" err="1" smtClean="0">
                    <a:ea typeface="+mj-ea"/>
                  </a:rPr>
                  <a:t>gh</a:t>
                </a:r>
                <a:endParaRPr lang="en-US" altLang="zh-TW" dirty="0" smtClean="0">
                  <a:ea typeface="+mj-ea"/>
                </a:endParaRPr>
              </a:p>
              <a:p>
                <a:pPr marL="0" indent="0">
                  <a:buNone/>
                </a:pPr>
                <a:endParaRPr lang="en-US" altLang="zh-TW" dirty="0">
                  <a:ea typeface="+mj-ea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ea typeface="+mj-ea"/>
                  </a:rPr>
                  <a:t>c</a:t>
                </a:r>
                <a:r>
                  <a:rPr lang="en-US" altLang="zh-TW" dirty="0" smtClean="0">
                    <a:ea typeface="+mj-ea"/>
                  </a:rPr>
                  <a:t> match to x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ea typeface="+mj-ea"/>
                  </a:rPr>
                  <a:t>y</a:t>
                </a:r>
                <a:r>
                  <a:rPr lang="en-US" altLang="zh-TW" dirty="0" smtClean="0">
                    <a:ea typeface="+mj-ea"/>
                  </a:rPr>
                  <a:t> match to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TW" dirty="0" smtClean="0">
                    <a:ea typeface="+mj-ea"/>
                  </a:rPr>
                  <a:t>  (Pattern deletion)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ea typeface="+mj-ea"/>
                  </a:rPr>
                  <a:t>f</a:t>
                </a:r>
                <a:r>
                  <a:rPr lang="en-US" altLang="zh-TW" dirty="0" smtClean="0">
                    <a:ea typeface="+mj-ea"/>
                  </a:rPr>
                  <a:t> match to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TW" dirty="0" smtClean="0"/>
                  <a:t>   (Text deletion)</a:t>
                </a:r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>
                  <a:ea typeface="+mj-ea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2925" y="1825625"/>
                <a:ext cx="6789692" cy="5032375"/>
              </a:xfrm>
              <a:blipFill rotWithShape="0">
                <a:blip r:embed="rId2"/>
                <a:stretch>
                  <a:fillRect l="-1795" t="-1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675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problem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75144" y="1503566"/>
            <a:ext cx="5137112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String matching with k mismatch</a:t>
            </a:r>
          </a:p>
          <a:p>
            <a:endParaRPr lang="en-US" altLang="zh-TW" sz="2800" dirty="0" smtClean="0"/>
          </a:p>
          <a:p>
            <a:r>
              <a:rPr lang="en-US" altLang="zh-TW" sz="2800" dirty="0" smtClean="0"/>
              <a:t>	Find all occurrences of the</a:t>
            </a:r>
            <a:r>
              <a:rPr lang="en-US" altLang="zh-TW" sz="2800" dirty="0"/>
              <a:t> </a:t>
            </a:r>
            <a:endParaRPr lang="en-US" altLang="zh-TW" sz="2800" dirty="0" smtClean="0"/>
          </a:p>
          <a:p>
            <a:r>
              <a:rPr lang="en-US" altLang="zh-TW" sz="2800" dirty="0"/>
              <a:t>p</a:t>
            </a:r>
            <a:r>
              <a:rPr lang="en-US" altLang="zh-TW" sz="2800" dirty="0" smtClean="0"/>
              <a:t>attern in the text with at most </a:t>
            </a:r>
          </a:p>
          <a:p>
            <a:r>
              <a:rPr lang="en-US" altLang="zh-TW" sz="2800" dirty="0" smtClean="0"/>
              <a:t>k mismatch</a:t>
            </a:r>
          </a:p>
          <a:p>
            <a:endParaRPr lang="en-US" altLang="zh-TW" sz="2800" dirty="0"/>
          </a:p>
          <a:p>
            <a:endParaRPr lang="en-US" altLang="zh-TW" sz="2800" dirty="0"/>
          </a:p>
          <a:p>
            <a:r>
              <a:rPr lang="en-US" altLang="zh-TW" sz="2800" dirty="0" smtClean="0"/>
              <a:t>String matching with k differences</a:t>
            </a:r>
          </a:p>
          <a:p>
            <a:endParaRPr lang="en-US" altLang="zh-TW" sz="2800" dirty="0"/>
          </a:p>
          <a:p>
            <a:r>
              <a:rPr lang="en-US" altLang="zh-TW" sz="2800" dirty="0" smtClean="0"/>
              <a:t>	Find all occurrences of the </a:t>
            </a:r>
          </a:p>
          <a:p>
            <a:r>
              <a:rPr lang="en-US" altLang="zh-TW" sz="2800" dirty="0"/>
              <a:t>p</a:t>
            </a:r>
            <a:r>
              <a:rPr lang="en-US" altLang="zh-TW" sz="2800" dirty="0" smtClean="0"/>
              <a:t>attern in the text with at most</a:t>
            </a:r>
          </a:p>
          <a:p>
            <a:r>
              <a:rPr lang="en-US" altLang="zh-TW" sz="2800" dirty="0"/>
              <a:t>k</a:t>
            </a:r>
            <a:r>
              <a:rPr lang="en-US" altLang="zh-TW" sz="2800" dirty="0" smtClean="0"/>
              <a:t> differences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668736" y="1336286"/>
                <a:ext cx="3747407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n-US" altLang="zh-TW" dirty="0">
                  <a:ea typeface="+mj-ea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ea typeface="+mj-ea"/>
                  </a:rPr>
                  <a:t>c</a:t>
                </a:r>
                <a:r>
                  <a:rPr lang="en-US" altLang="zh-TW" dirty="0" smtClean="0">
                    <a:ea typeface="+mj-ea"/>
                  </a:rPr>
                  <a:t> match to x</a:t>
                </a:r>
              </a:p>
              <a:p>
                <a:pPr marL="0" indent="0">
                  <a:buNone/>
                </a:pPr>
                <a:endParaRPr lang="en-US" altLang="zh-TW" dirty="0" smtClean="0">
                  <a:ea typeface="+mj-ea"/>
                </a:endParaRPr>
              </a:p>
              <a:p>
                <a:pPr marL="0" indent="0">
                  <a:buNone/>
                </a:pPr>
                <a:endParaRPr lang="en-US" altLang="zh-TW" dirty="0">
                  <a:ea typeface="+mj-ea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ea typeface="+mj-ea"/>
                </a:endParaRPr>
              </a:p>
              <a:p>
                <a:pPr marL="0" indent="0">
                  <a:buNone/>
                </a:pPr>
                <a:endParaRPr lang="en-US" altLang="zh-TW" dirty="0">
                  <a:ea typeface="+mj-ea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ea typeface="+mj-ea"/>
                </a:endParaRPr>
              </a:p>
              <a:p>
                <a:pPr marL="0" indent="0">
                  <a:buNone/>
                </a:pPr>
                <a:r>
                  <a:rPr lang="en-US" altLang="zh-TW" dirty="0"/>
                  <a:t>c match to x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y match to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f match to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>
                  <a:ea typeface="+mj-ea"/>
                </a:endParaRPr>
              </a:p>
            </p:txBody>
          </p:sp>
        </mc:Choice>
        <mc:Fallback xmlns=""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68736" y="1336286"/>
                <a:ext cx="3747407" cy="5032375"/>
              </a:xfrm>
              <a:blipFill rotWithShape="0">
                <a:blip r:embed="rId2"/>
                <a:stretch>
                  <a:fillRect l="-34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319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Two parts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Pattern analysis: </a:t>
            </a:r>
          </a:p>
          <a:p>
            <a:pPr marL="0" indent="0">
              <a:buNone/>
            </a:pPr>
            <a:r>
              <a:rPr lang="en-US" altLang="zh-TW" dirty="0"/>
              <a:t>B</a:t>
            </a:r>
            <a:r>
              <a:rPr lang="en-US" altLang="zh-TW" dirty="0" smtClean="0"/>
              <a:t>uild a table which is based on analysis of the pattern.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Text analysis: </a:t>
            </a:r>
          </a:p>
          <a:p>
            <a:pPr marL="0" indent="0">
              <a:buNone/>
            </a:pPr>
            <a:r>
              <a:rPr lang="en-US" altLang="zh-TW" dirty="0"/>
              <a:t>S</a:t>
            </a:r>
            <a:r>
              <a:rPr lang="en-US" altLang="zh-TW" dirty="0" smtClean="0"/>
              <a:t>how how to find efficiently all the occurrences of the pattern in the text with at most k mismatches.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5026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Text Analysis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Input</a:t>
                </a:r>
              </a:p>
              <a:p>
                <a:pPr marL="0" indent="0">
                  <a:buNone/>
                </a:pPr>
                <a:r>
                  <a:rPr lang="en-US" altLang="zh-TW" b="1" dirty="0" smtClean="0"/>
                  <a:t>Pattern</a:t>
                </a:r>
                <a:r>
                  <a:rPr lang="en-US" altLang="zh-TW" dirty="0" smtClean="0"/>
                  <a:t>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 smtClean="0"/>
                  <a:t>  length=m</a:t>
                </a:r>
              </a:p>
              <a:p>
                <a:pPr marL="0" indent="0">
                  <a:buNone/>
                </a:pPr>
                <a:r>
                  <a:rPr lang="en-US" altLang="zh-TW" b="1" dirty="0" smtClean="0"/>
                  <a:t>Text</a:t>
                </a:r>
                <a:r>
                  <a:rPr lang="en-US" altLang="zh-TW" dirty="0" smtClean="0"/>
                  <a:t>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dirty="0" smtClean="0"/>
                  <a:t> length = n</a:t>
                </a:r>
              </a:p>
              <a:p>
                <a:pPr marL="0" indent="0">
                  <a:buNone/>
                </a:pPr>
                <a:r>
                  <a:rPr lang="en-US" altLang="zh-TW" b="1" dirty="0" smtClean="0"/>
                  <a:t>Pattern analysis</a:t>
                </a:r>
                <a:r>
                  <a:rPr lang="en-US" altLang="zh-TW" dirty="0" smtClean="0"/>
                  <a:t>:  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A 2D array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𝑃𝑀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[1,…,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−1;1,…,2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+1]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Output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A 2D array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𝑇𝑀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[1,…,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;1,…,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+1]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5032375"/>
              </a:xfrm>
              <a:blipFill rotWithShape="0">
                <a:blip r:embed="rId2"/>
                <a:stretch>
                  <a:fillRect l="-1546" t="-1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9773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Pattern analysis: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𝑃𝑀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means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the mismatch number is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Text analysis: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𝑇𝑀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means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the mismatch number is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018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Pattern = </a:t>
                </a:r>
                <a:r>
                  <a:rPr lang="en-US" altLang="zh-TW" dirty="0" err="1" smtClean="0"/>
                  <a:t>abaacaa</a:t>
                </a:r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altLang="zh-TW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en-US" altLang="zh-TW" dirty="0" smtClean="0"/>
                  <a:t>		</a:t>
                </a:r>
                <a:r>
                  <a:rPr lang="en-US" altLang="zh-TW" sz="3600" dirty="0" err="1" smtClean="0">
                    <a:latin typeface="+mj-ea"/>
                    <a:ea typeface="+mj-ea"/>
                    <a:cs typeface="Times New Roman" panose="02020603050405020304" pitchFamily="18" charset="0"/>
                  </a:rPr>
                  <a:t>abaacaa</a:t>
                </a:r>
                <a:endParaRPr lang="en-US" altLang="zh-TW" sz="3600" dirty="0" smtClean="0"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3600" dirty="0">
                    <a:latin typeface="+mj-ea"/>
                    <a:ea typeface="+mj-ea"/>
                    <a:cs typeface="Times New Roman" panose="02020603050405020304" pitchFamily="18" charset="0"/>
                  </a:rPr>
                  <a:t>	</a:t>
                </a:r>
                <a:r>
                  <a:rPr lang="en-US" altLang="zh-TW" sz="3600" dirty="0" smtClean="0">
                    <a:latin typeface="+mj-ea"/>
                    <a:ea typeface="+mj-ea"/>
                    <a:cs typeface="Times New Roman" panose="02020603050405020304" pitchFamily="18" charset="0"/>
                  </a:rPr>
                  <a:t>		    | | |</a:t>
                </a:r>
                <a:r>
                  <a:rPr lang="en-US" altLang="zh-TW" sz="3600" dirty="0">
                    <a:latin typeface="+mj-ea"/>
                    <a:ea typeface="+mj-ea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600" dirty="0" smtClean="0">
                    <a:latin typeface="+mj-ea"/>
                    <a:ea typeface="+mj-ea"/>
                    <a:cs typeface="Times New Roman" panose="02020603050405020304" pitchFamily="18" charset="0"/>
                  </a:rPr>
                  <a:t>| |</a:t>
                </a:r>
                <a:endParaRPr lang="en-US" altLang="zh-TW" sz="3600" dirty="0"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3600" dirty="0">
                    <a:latin typeface="+mj-ea"/>
                    <a:ea typeface="+mj-ea"/>
                    <a:cs typeface="Times New Roman" panose="02020603050405020304" pitchFamily="18" charset="0"/>
                  </a:rPr>
                  <a:t>	</a:t>
                </a:r>
                <a:r>
                  <a:rPr lang="en-US" altLang="zh-TW" sz="3600" dirty="0" smtClean="0">
                    <a:latin typeface="+mj-ea"/>
                    <a:ea typeface="+mj-ea"/>
                    <a:cs typeface="Times New Roman" panose="02020603050405020304" pitchFamily="18" charset="0"/>
                  </a:rPr>
                  <a:t>		    </a:t>
                </a:r>
                <a:r>
                  <a:rPr lang="en-US" altLang="zh-TW" sz="3600" dirty="0" err="1" smtClean="0">
                    <a:latin typeface="+mj-ea"/>
                    <a:ea typeface="+mj-ea"/>
                    <a:cs typeface="Times New Roman" panose="02020603050405020304" pitchFamily="18" charset="0"/>
                  </a:rPr>
                  <a:t>abaacaa</a:t>
                </a:r>
                <a:endParaRPr lang="en-US" altLang="zh-TW" sz="3600" dirty="0"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4412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6822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Pattern = </a:t>
                </a:r>
                <a:r>
                  <a:rPr lang="en-US" altLang="zh-TW" dirty="0" err="1" smtClean="0"/>
                  <a:t>abaacaa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Text = </a:t>
                </a:r>
                <a:r>
                  <a:rPr lang="en-US" altLang="zh-TW" dirty="0" err="1" smtClean="0"/>
                  <a:t>aaaabaccaaccaaa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𝑇𝑀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𝑇𝑀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𝑇𝑀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en-US" altLang="zh-TW" dirty="0" smtClean="0"/>
                  <a:t>		</a:t>
                </a:r>
                <a:r>
                  <a:rPr lang="en-US" altLang="zh-TW" sz="3500" dirty="0" err="1" smtClean="0">
                    <a:latin typeface="+mj-ea"/>
                    <a:ea typeface="+mj-ea"/>
                  </a:rPr>
                  <a:t>aaaabaccaaccaaa</a:t>
                </a:r>
                <a:endParaRPr lang="en-US" altLang="zh-TW" sz="3500" dirty="0">
                  <a:latin typeface="+mj-ea"/>
                  <a:ea typeface="+mj-ea"/>
                </a:endParaRPr>
              </a:p>
              <a:p>
                <a:pPr marL="0" indent="0">
                  <a:buNone/>
                </a:pPr>
                <a:r>
                  <a:rPr lang="en-US" altLang="zh-TW" sz="3500" dirty="0" smtClean="0">
                    <a:latin typeface="+mn-ea"/>
                  </a:rPr>
                  <a:t>			    | | | | | | |</a:t>
                </a:r>
              </a:p>
              <a:p>
                <a:pPr marL="0" indent="0">
                  <a:buNone/>
                </a:pPr>
                <a:r>
                  <a:rPr lang="en-US" altLang="zh-TW" sz="3500" dirty="0" smtClean="0">
                    <a:latin typeface="+mn-ea"/>
                  </a:rPr>
                  <a:t>  </a:t>
                </a:r>
                <a:r>
                  <a:rPr lang="en-US" altLang="zh-TW" sz="3500" dirty="0">
                    <a:latin typeface="+mn-ea"/>
                  </a:rPr>
                  <a:t>	</a:t>
                </a:r>
                <a:r>
                  <a:rPr lang="en-US" altLang="zh-TW" sz="3500" dirty="0" smtClean="0">
                    <a:latin typeface="+mn-ea"/>
                  </a:rPr>
                  <a:t>		    </a:t>
                </a:r>
                <a:r>
                  <a:rPr lang="en-US" altLang="zh-TW" sz="3500" dirty="0" err="1" smtClean="0">
                    <a:latin typeface="+mn-ea"/>
                  </a:rPr>
                  <a:t>abaacaa</a:t>
                </a:r>
                <a:endParaRPr lang="en-US" altLang="zh-TW" sz="3500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682267"/>
              </a:xfrm>
              <a:blipFill rotWithShape="0">
                <a:blip r:embed="rId2"/>
                <a:stretch>
                  <a:fillRect l="-1546" t="-2081" b="-2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47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Text analysis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617" y="1873615"/>
            <a:ext cx="6210300" cy="4057650"/>
          </a:xfrm>
        </p:spPr>
      </p:pic>
    </p:spTree>
    <p:extLst>
      <p:ext uri="{BB962C8B-B14F-4D97-AF65-F5344CB8AC3E}">
        <p14:creationId xmlns:p14="http://schemas.microsoft.com/office/powerpoint/2010/main" val="3630459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30659"/>
                <a:ext cx="7886700" cy="594630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dirty="0" smtClean="0"/>
                  <a:t> : current iteration 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TW" dirty="0" smtClean="0"/>
                  <a:t> : prior iteration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TW" dirty="0" smtClean="0"/>
                  <a:t> 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𝑇𝑀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+1]</m:t>
                    </m:r>
                  </m:oMath>
                </a14:m>
                <a:r>
                  <a:rPr lang="en-US" altLang="zh-TW" dirty="0" smtClean="0"/>
                  <a:t> (the rightmost index we arrived)</a:t>
                </a: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Merge : find mismatches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report in b mismatches.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Extend: scan the text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TW" dirty="0" smtClean="0"/>
                  <a:t> on till it either find k+1 mismatches or till it hits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30659"/>
                <a:ext cx="7886700" cy="5946304"/>
              </a:xfrm>
              <a:blipFill rotWithShape="0">
                <a:blip r:embed="rId2"/>
                <a:stretch>
                  <a:fillRect l="-1546" t="-1744" r="-5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2141839" y="2758561"/>
                <a:ext cx="3855307" cy="890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TW" altLang="en-US" sz="2400" dirty="0" smtClean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</m:oMath>
                </a14:m>
                <a:r>
                  <a:rPr lang="zh-TW" altLang="en-US" sz="2400" dirty="0" smtClean="0"/>
                  <a:t> </a:t>
                </a:r>
                <a:r>
                  <a:rPr lang="en-US" altLang="zh-TW" sz="2400" dirty="0" smtClean="0"/>
                  <a:t>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TW" sz="24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sz="2400" dirty="0" smtClean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sz="2400" dirty="0" smtClean="0"/>
                  <a:t>   </a:t>
                </a:r>
                <a:r>
                  <a:rPr lang="en-US" altLang="zh-TW" sz="2400" dirty="0" smtClean="0"/>
                  <a:t>…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839" y="2758561"/>
                <a:ext cx="3855307" cy="890500"/>
              </a:xfrm>
              <a:prstGeom prst="rect">
                <a:avLst/>
              </a:prstGeom>
              <a:blipFill rotWithShape="0">
                <a:blip r:embed="rId3"/>
                <a:stretch>
                  <a:fillRect t="-4795" b="-1164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06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Merge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Input  	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+1]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en-US" altLang="zh-TW" dirty="0" smtClean="0"/>
                  <a:t>	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𝑃𝑀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,1…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err="1" smtClean="0"/>
                  <a:t>Ouput</a:t>
                </a:r>
                <a:r>
                  <a:rPr lang="en-US" altLang="zh-TW" dirty="0" smtClean="0"/>
                  <a:t>	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,1…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014" y="3276040"/>
            <a:ext cx="5668662" cy="177496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254" y="4967665"/>
            <a:ext cx="5280181" cy="189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14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018" y="2097457"/>
            <a:ext cx="6225231" cy="2472327"/>
          </a:xfrm>
        </p:spPr>
      </p:pic>
    </p:spTree>
    <p:extLst>
      <p:ext uri="{BB962C8B-B14F-4D97-AF65-F5344CB8AC3E}">
        <p14:creationId xmlns:p14="http://schemas.microsoft.com/office/powerpoint/2010/main" val="3509232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Procedure of Merge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Set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𝑃𝑀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𝑝𝑖</m:t>
                    </m:r>
                  </m:oMath>
                </a14:m>
                <a:endParaRPr lang="en-US" altLang="zh-TW" b="0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Set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𝑇𝑀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𝑡𝑖</m:t>
                    </m:r>
                  </m:oMath>
                </a14:m>
                <a:endParaRPr lang="en-US" altLang="zh-TW" b="0" dirty="0" smtClean="0"/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𝑇𝑀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𝑡𝑖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−(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If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𝑝𝑖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𝑡𝑖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	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𝑇𝑀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𝑝𝑖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If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𝑝𝑖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𝑡𝑖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	determine whether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𝑡𝑖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 or not </a:t>
                </a:r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552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2" r="23130"/>
          <a:stretch/>
        </p:blipFill>
        <p:spPr>
          <a:xfrm>
            <a:off x="1062683" y="1372544"/>
            <a:ext cx="6837404" cy="5264738"/>
          </a:xfrm>
        </p:spPr>
      </p:pic>
    </p:spTree>
    <p:extLst>
      <p:ext uri="{BB962C8B-B14F-4D97-AF65-F5344CB8AC3E}">
        <p14:creationId xmlns:p14="http://schemas.microsoft.com/office/powerpoint/2010/main" val="1175975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𝑇𝑀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[0,2]=3     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𝑇𝑀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[0,3]=5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𝑃𝑀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[2,1]=3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628650" y="1690689"/>
            <a:ext cx="2765339" cy="17527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3581914" y="1690689"/>
            <a:ext cx="2765339" cy="17527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795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PM[1…m-1,1…2K+1] why 2K+1?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" t="37618"/>
          <a:stretch/>
        </p:blipFill>
        <p:spPr>
          <a:xfrm>
            <a:off x="947350" y="4044778"/>
            <a:ext cx="7116608" cy="1393406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1" t="44244" r="-1"/>
          <a:stretch/>
        </p:blipFill>
        <p:spPr>
          <a:xfrm>
            <a:off x="1138314" y="1935864"/>
            <a:ext cx="7278378" cy="14581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561968" y="1690689"/>
            <a:ext cx="3138616" cy="18845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586681" y="3855308"/>
            <a:ext cx="3410465" cy="19523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4782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Analysis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Partiton the set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dirty="0" smtClean="0"/>
                  <a:t> sets as follows: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[1],[2,3],[4,5,6,7],…[m/2,…,m-1].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The pattern analysis has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𝑙𝑜𝑔𝑚</m:t>
                    </m:r>
                  </m:oMath>
                </a14:m>
                <a:r>
                  <a:rPr lang="en-US" altLang="zh-TW" dirty="0" smtClean="0"/>
                  <a:t> stages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And then use Merge and Extend to compute.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1722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At the last stage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Input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Pattern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endParaRPr lang="en-US" altLang="zh-TW" b="0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Text :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2D array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𝑃𝑀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[1…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/2−1,1…4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+1]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Output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2D array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𝑃𝑀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[1…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,1…2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+1]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2757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	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Text-Analysis is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Merge requires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altLang="zh-TW" b="0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Total Extend requires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Pattern-Analysis is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𝑘𝑚𝑙𝑜𝑔𝑚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One set needs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Total is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𝑚𝑙𝑜𝑔𝑚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205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540</TotalTime>
  <Words>349</Words>
  <Application>Microsoft Office PowerPoint</Application>
  <PresentationFormat>如螢幕大小 (4:3)</PresentationFormat>
  <Paragraphs>137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9" baseType="lpstr">
      <vt:lpstr>Arial Unicode MS</vt:lpstr>
      <vt:lpstr>新細明體</vt:lpstr>
      <vt:lpstr>Arial</vt:lpstr>
      <vt:lpstr>Calibri</vt:lpstr>
      <vt:lpstr>Calibri Light</vt:lpstr>
      <vt:lpstr>Cambria Math</vt:lpstr>
      <vt:lpstr>Times New Roman</vt:lpstr>
      <vt:lpstr>Verdana</vt:lpstr>
      <vt:lpstr>Office 佈景主題</vt:lpstr>
      <vt:lpstr>PowerPoint 簡報</vt:lpstr>
      <vt:lpstr>Abstract</vt:lpstr>
      <vt:lpstr>The problem</vt:lpstr>
      <vt:lpstr>The problem</vt:lpstr>
      <vt:lpstr>Algorithm</vt:lpstr>
      <vt:lpstr>Text Analysis</vt:lpstr>
      <vt:lpstr>PowerPoint 簡報</vt:lpstr>
      <vt:lpstr>Example</vt:lpstr>
      <vt:lpstr>Example</vt:lpstr>
      <vt:lpstr>Text analysis</vt:lpstr>
      <vt:lpstr>PowerPoint 簡報</vt:lpstr>
      <vt:lpstr>Merge </vt:lpstr>
      <vt:lpstr>PowerPoint 簡報</vt:lpstr>
      <vt:lpstr>Procedure of Merge</vt:lpstr>
      <vt:lpstr>Example</vt:lpstr>
      <vt:lpstr>Example</vt:lpstr>
      <vt:lpstr>PM[1…m-1,1…2K+1] why 2K+1?</vt:lpstr>
      <vt:lpstr>Pattern Analysis</vt:lpstr>
      <vt:lpstr>At the last stage</vt:lpstr>
      <vt:lpstr>Time Complexity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HUGO</dc:creator>
  <cp:lastModifiedBy>HUGO</cp:lastModifiedBy>
  <cp:revision>28</cp:revision>
  <dcterms:created xsi:type="dcterms:W3CDTF">2015-06-16T04:48:49Z</dcterms:created>
  <dcterms:modified xsi:type="dcterms:W3CDTF">2015-06-23T10:22:56Z</dcterms:modified>
</cp:coreProperties>
</file>