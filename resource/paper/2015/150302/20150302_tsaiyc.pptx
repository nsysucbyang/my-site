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58" r:id="rId4"/>
    <p:sldId id="273" r:id="rId5"/>
    <p:sldId id="277" r:id="rId6"/>
    <p:sldId id="259" r:id="rId7"/>
    <p:sldId id="260" r:id="rId8"/>
    <p:sldId id="261" r:id="rId9"/>
    <p:sldId id="262" r:id="rId10"/>
    <p:sldId id="274" r:id="rId11"/>
    <p:sldId id="275" r:id="rId12"/>
    <p:sldId id="276" r:id="rId13"/>
    <p:sldId id="265" r:id="rId14"/>
    <p:sldId id="278" r:id="rId15"/>
    <p:sldId id="263" r:id="rId16"/>
    <p:sldId id="264" r:id="rId17"/>
    <p:sldId id="266" r:id="rId18"/>
    <p:sldId id="267" r:id="rId19"/>
    <p:sldId id="272" r:id="rId20"/>
    <p:sldId id="268" r:id="rId21"/>
    <p:sldId id="269" r:id="rId22"/>
    <p:sldId id="270" r:id="rId23"/>
    <p:sldId id="271" r:id="rId2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13" autoAdjust="0"/>
    <p:restoredTop sz="94660"/>
  </p:normalViewPr>
  <p:slideViewPr>
    <p:cSldViewPr snapToGrid="0">
      <p:cViewPr varScale="1">
        <p:scale>
          <a:sx n="73" d="100"/>
          <a:sy n="73" d="100"/>
        </p:scale>
        <p:origin x="-41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74A259-7EA1-4126-AEC7-EBD3CC76B2F7}" type="datetimeFigureOut">
              <a:rPr lang="zh-TW" altLang="en-US" smtClean="0"/>
              <a:t>2015/3/2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D0A858-66DD-4916-B439-588323E8857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3A6B0-2EE9-4851-B220-0249EDC6C166}" type="datetime1">
              <a:rPr lang="zh-TW" altLang="en-US" smtClean="0"/>
              <a:t>2015/3/2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02667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DB384-3719-409C-903B-B6539D39CF62}" type="datetime1">
              <a:rPr lang="zh-TW" altLang="en-US" smtClean="0"/>
              <a:t>2015/3/2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66596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4A1F-9C94-45C7-9C88-4F846C8EA327}" type="datetime1">
              <a:rPr lang="zh-TW" altLang="en-US" smtClean="0"/>
              <a:t>2015/3/2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539550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C0A7-C864-4BA5-A67E-C78C1BA60BEF}" type="datetime1">
              <a:rPr lang="zh-TW" altLang="en-US" smtClean="0"/>
              <a:t>2015/3/2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05762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71EF-20FF-41C6-977B-90D465DBF76F}" type="datetime1">
              <a:rPr lang="zh-TW" altLang="en-US" smtClean="0"/>
              <a:t>2015/3/2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588261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7DCA-05AE-4201-A02F-5DCB234485F4}" type="datetime1">
              <a:rPr lang="zh-TW" altLang="en-US" smtClean="0"/>
              <a:t>2015/3/2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709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0FEB-E36F-415A-B341-0BA66E796EC2}" type="datetime1">
              <a:rPr lang="zh-TW" altLang="en-US" smtClean="0"/>
              <a:t>2015/3/2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79114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8C3DE-2594-4750-BC92-1E25B05866F8}" type="datetime1">
              <a:rPr lang="zh-TW" altLang="en-US" smtClean="0"/>
              <a:t>2015/3/2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636539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7E833-CDF2-49E4-98D6-863FEC130D10}" type="datetime1">
              <a:rPr lang="zh-TW" altLang="en-US" smtClean="0"/>
              <a:t>2015/3/2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686668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6360F-AAA2-4519-81F4-0990773B1F76}" type="datetime1">
              <a:rPr lang="zh-TW" altLang="en-US" smtClean="0"/>
              <a:t>2015/3/2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850291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2382-3778-4FD6-A3FD-AC8272930AA4}" type="datetime1">
              <a:rPr lang="zh-TW" altLang="en-US" smtClean="0"/>
              <a:t>2015/3/2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708410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AC5DA5-F79D-47EB-B916-A4EB13021A51}" type="datetime1">
              <a:rPr lang="zh-TW" altLang="en-US" smtClean="0"/>
              <a:t>2015/3/2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0D7B5-EB39-4BF7-B812-AFD5FAED8EE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54719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122363"/>
            <a:ext cx="9144000" cy="2387600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Breadth First Search on GPU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Clusters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9144000" cy="3006026"/>
          </a:xfrm>
        </p:spPr>
        <p:txBody>
          <a:bodyPr>
            <a:norm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Zhisong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Fu,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Harish Kumar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Dasari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Bradley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Bebee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Martin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Berzins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Bryan Thompson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University of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Utah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2014 IEEE International Conference on Big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Yao-Chou Tsai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 : 2015/3/2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39063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325562"/>
            <a:ext cx="9144000" cy="5532437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Fast, scalable, low-cost, and low-power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of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graph algorithms is important for a wide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variety of commercial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public sector applications. Breadth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 Search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(BFS) imposes an extreme burden on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bandwidth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communications and has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been proposed as a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that may be used to evaluate current and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parallel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computers. Hardware trends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manufacturing limits strongly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imply that many-core devices, such as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NVIDIA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Intel Xeon Phi ,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become central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future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37762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325562"/>
            <a:ext cx="9144000" cy="5532437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GPUs are well known to deliver the highest FLOPS/watt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enjoy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very significant memory bandwidth advantage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 CPU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architectures. Recent work has demonstrated that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GPUs can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 high performance for parallel graph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and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further, that it is possible to encapsulate that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manner that hides the low level details of the GPU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and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CUDA language but preserves the high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 of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GPU. We extend previous research on GPUs and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scalable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processing on supercomputers and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that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high-performance parallel graph machine can be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created using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commodity GPUs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networking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46195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325563"/>
            <a:ext cx="9144000" cy="5532437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MapGraph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High Level API for Fast Development of High Performance Graph Analytics on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GPUs; 2014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Breadth-First Search on Distributed Memory Systems;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2011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Breaking the speed and scalability barriers for graph exploration on distributed-memory machines; 2012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Breadth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Search on GPU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Clusters; 2014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766585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r>
              <a:rPr lang="en-US" altLang="zh-TW" b="1" dirty="0" smtClean="0">
                <a:latin typeface="Times New Roman" pitchFamily="18" charset="0"/>
                <a:cs typeface="Times New Roman" panose="02020603050405020304" pitchFamily="18" charset="0"/>
              </a:rPr>
              <a:t>Conception</a:t>
            </a:r>
            <a:endParaRPr lang="zh-TW" altLang="en-US" b="1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800100" y="1628775"/>
            <a:ext cx="1603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 smtClean="0">
                <a:latin typeface="Times New Roman" pitchFamily="18" charset="0"/>
                <a:cs typeface="Times New Roman" pitchFamily="18" charset="0"/>
              </a:rPr>
              <a:t>Alice</a:t>
            </a:r>
            <a:endParaRPr lang="zh-TW" altLang="en-US" sz="4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1352550" y="3695699"/>
            <a:ext cx="14382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>
                <a:latin typeface="Times New Roman" pitchFamily="18" charset="0"/>
              </a:rPr>
              <a:t>B</a:t>
            </a:r>
            <a:r>
              <a:rPr lang="en-US" altLang="zh-TW" sz="4800" dirty="0" smtClean="0">
                <a:latin typeface="Times New Roman" pitchFamily="18" charset="0"/>
              </a:rPr>
              <a:t>ob</a:t>
            </a:r>
            <a:endParaRPr lang="zh-TW" altLang="en-US" sz="4800" dirty="0">
              <a:latin typeface="Times New Roman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591175" y="4673173"/>
            <a:ext cx="1704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>
                <a:latin typeface="Times New Roman" pitchFamily="18" charset="0"/>
              </a:rPr>
              <a:t>M</a:t>
            </a:r>
            <a:r>
              <a:rPr lang="en-US" altLang="zh-TW" sz="4800" dirty="0" smtClean="0">
                <a:latin typeface="Times New Roman" pitchFamily="18" charset="0"/>
              </a:rPr>
              <a:t>ary</a:t>
            </a:r>
            <a:endParaRPr lang="zh-TW" altLang="en-US" sz="4800" dirty="0">
              <a:latin typeface="Times New Roman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5233987" y="1971675"/>
            <a:ext cx="14382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>
                <a:latin typeface="Times New Roman" pitchFamily="18" charset="0"/>
              </a:rPr>
              <a:t>S</a:t>
            </a:r>
            <a:r>
              <a:rPr lang="en-US" altLang="zh-TW" sz="4800" dirty="0" smtClean="0">
                <a:latin typeface="Times New Roman" pitchFamily="18" charset="0"/>
              </a:rPr>
              <a:t>ue</a:t>
            </a:r>
            <a:endParaRPr lang="zh-TW" altLang="en-US" sz="4800" dirty="0">
              <a:latin typeface="Times New Roman" pitchFamily="18" charset="0"/>
            </a:endParaRPr>
          </a:p>
        </p:txBody>
      </p:sp>
      <p:sp>
        <p:nvSpPr>
          <p:cNvPr id="8" name="向右箭號 7"/>
          <p:cNvSpPr/>
          <p:nvPr/>
        </p:nvSpPr>
        <p:spPr>
          <a:xfrm rot="4682696">
            <a:off x="966459" y="2857925"/>
            <a:ext cx="1446495" cy="594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itchFamily="18" charset="0"/>
            </a:endParaRPr>
          </a:p>
        </p:txBody>
      </p:sp>
      <p:sp>
        <p:nvSpPr>
          <p:cNvPr id="9" name="向右箭號 8"/>
          <p:cNvSpPr/>
          <p:nvPr/>
        </p:nvSpPr>
        <p:spPr>
          <a:xfrm rot="928764">
            <a:off x="2644055" y="4374243"/>
            <a:ext cx="2837183" cy="594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itchFamily="18" charset="0"/>
            </a:endParaRPr>
          </a:p>
        </p:txBody>
      </p:sp>
      <p:sp>
        <p:nvSpPr>
          <p:cNvPr id="10" name="向右箭號 9"/>
          <p:cNvSpPr/>
          <p:nvPr/>
        </p:nvSpPr>
        <p:spPr>
          <a:xfrm rot="4498548">
            <a:off x="5075227" y="3440478"/>
            <a:ext cx="1947204" cy="594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92359" y="5504170"/>
            <a:ext cx="3571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>
                <a:latin typeface="Times New Roman" pitchFamily="18" charset="0"/>
                <a:cs typeface="Times New Roman" panose="02020603050405020304" pitchFamily="18" charset="0"/>
              </a:rPr>
              <a:t>4 vertices, 3 edges</a:t>
            </a:r>
            <a:endParaRPr lang="zh-TW" altLang="en-US" sz="3200" dirty="0">
              <a:latin typeface="Times New Roman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>
                <a:latin typeface="Times New Roman" pitchFamily="18" charset="0"/>
              </a:rPr>
              <a:pPr/>
              <a:t>5</a:t>
            </a:fld>
            <a:endParaRPr lang="zh-TW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01326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325562"/>
            <a:ext cx="9144000" cy="5532437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BFS</a:t>
            </a:r>
          </a:p>
          <a:p>
            <a:pPr marL="971550" lvl="1" indent="-514350">
              <a:lnSpc>
                <a:spcPct val="100000"/>
              </a:lnSpc>
              <a:buAutoNum type="alphaLcPeriod"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Least work per byte</a:t>
            </a:r>
          </a:p>
          <a:p>
            <a:pPr marL="971550" lvl="1" indent="-514350">
              <a:lnSpc>
                <a:spcPct val="100000"/>
              </a:lnSpc>
              <a:buAutoNum type="alphaLcPeriod"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reliance on memory bandwidth within the node while placing a severe stress on the communications network among the nodes.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GPUs</a:t>
            </a:r>
          </a:p>
          <a:p>
            <a:pPr marL="971550" lvl="1" indent="-514350">
              <a:lnSpc>
                <a:spcPct val="100000"/>
              </a:lnSpc>
              <a:buAutoNum type="alphaLcPeriod"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 : NVIDIA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K40 =&gt; 1.43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Tflops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0000"/>
              </a:lnSpc>
              <a:buAutoNum type="alphaLcPeriod"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energy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efficieny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79750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BFS(Breadth first search)(1/3)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83854" y="1991709"/>
            <a:ext cx="5553266" cy="4027968"/>
          </a:xfr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857577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BFS(Breadth first search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)(2/3)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325563"/>
            <a:ext cx="9144000" cy="53800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procedure BFS(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G,v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    let Q be a queue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   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Q.push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     label v as discovered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     while Q is not empty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        v ←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Q.pop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        for all edges from v to w in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G.adjacentEdges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(v) do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            if w is not labeled as discovered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               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Q.push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               label w as discovered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88224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BFS(Breadth first search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)(3/3)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325563"/>
            <a:ext cx="9144000" cy="53800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Explain: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a graph search algorithm that begins at the root vertex and explores all the connected vertices, traversing all vertices of a particular level before traversing the vertices of the next level.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the end of the BFS we can find out the level of a vertex if it is connected to the root element and also its predecessor.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Useful in social media, logistics and supply chains, e-commerce, counter-terrorism, fraud detection etc.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44229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 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abstraction(1/3)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8275" y="2817435"/>
            <a:ext cx="6267450" cy="373380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0" y="1247775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Gather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Gather phase collect information from the 1-hop neighborhood of a vertex using a generalized binary operator to perform a parallel reduction over the 1-hop edges and vertices in that 1-hop neighborhood.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848781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 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abstraction(2/3)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0" y="1247775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 :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phase integrates the information from the Gather phase, updating the state of the vertex. In the picture, the red vertices are the active vertices. Their state may change as a result of the apply operation.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512" y="2817435"/>
            <a:ext cx="6276975" cy="3800475"/>
          </a:xfrm>
          <a:prstGeom prst="rect">
            <a:avLst/>
          </a:prstGeom>
        </p:spPr>
      </p:pic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296640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GAS abstraction(3/3)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0" y="1247775"/>
            <a:ext cx="9144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Scatter :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phase redistributes information to the 1-hop neighborhood of a vertex. Again the red vertices are the active vertices. You can see that their state has changed. This change occurred during the Apply phase (above). The little (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icons show the movement of messages along the edges leading to the 1-hop neighbors of the active vertices.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662" y="2878991"/>
            <a:ext cx="6162675" cy="3629025"/>
          </a:xfrm>
          <a:prstGeom prst="rect">
            <a:avLst/>
          </a:prstGeom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931196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r>
              <a:rPr lang="en-US" altLang="zh-TW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Compressed Sparse Row(CSR)(1/2)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616560624"/>
              </p:ext>
            </p:extLst>
          </p:nvPr>
        </p:nvGraphicFramePr>
        <p:xfrm>
          <a:off x="463296" y="1642555"/>
          <a:ext cx="3998976" cy="28041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99744"/>
                <a:gridCol w="999744"/>
                <a:gridCol w="999744"/>
                <a:gridCol w="999744"/>
              </a:tblGrid>
              <a:tr h="65616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4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4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4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4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65616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4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4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4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4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65616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4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4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4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4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65616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4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4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4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4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4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41937025"/>
              </p:ext>
            </p:extLst>
          </p:nvPr>
        </p:nvGraphicFramePr>
        <p:xfrm>
          <a:off x="4572000" y="3896360"/>
          <a:ext cx="4437890" cy="52933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887578"/>
                <a:gridCol w="887578"/>
                <a:gridCol w="887578"/>
                <a:gridCol w="887578"/>
                <a:gridCol w="887578"/>
              </a:tblGrid>
              <a:tr h="52933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9</a:t>
                      </a:r>
                      <a:endParaRPr lang="zh-TW" altLang="en-US" sz="28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525995671"/>
              </p:ext>
            </p:extLst>
          </p:nvPr>
        </p:nvGraphicFramePr>
        <p:xfrm>
          <a:off x="402336" y="5103368"/>
          <a:ext cx="8436861" cy="5181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37429"/>
                <a:gridCol w="937429"/>
                <a:gridCol w="937429"/>
                <a:gridCol w="937429"/>
                <a:gridCol w="937429"/>
                <a:gridCol w="937429"/>
                <a:gridCol w="937429"/>
                <a:gridCol w="937429"/>
                <a:gridCol w="937429"/>
              </a:tblGrid>
              <a:tr h="5171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64892028"/>
              </p:ext>
            </p:extLst>
          </p:nvPr>
        </p:nvGraphicFramePr>
        <p:xfrm>
          <a:off x="408432" y="6157976"/>
          <a:ext cx="8436861" cy="5181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37429"/>
                <a:gridCol w="937429"/>
                <a:gridCol w="937429"/>
                <a:gridCol w="937429"/>
                <a:gridCol w="937429"/>
                <a:gridCol w="937429"/>
                <a:gridCol w="937429"/>
                <a:gridCol w="937429"/>
                <a:gridCol w="937429"/>
              </a:tblGrid>
              <a:tr h="5171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4572000" y="3243072"/>
            <a:ext cx="2645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Row offsets</a:t>
            </a:r>
            <a:endParaRPr lang="zh-TW" altLang="en-US" sz="28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08432" y="4565904"/>
            <a:ext cx="2645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Column indices</a:t>
            </a:r>
            <a:endParaRPr lang="zh-TW" altLang="en-US" sz="28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08432" y="5638800"/>
            <a:ext cx="2645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Values</a:t>
            </a:r>
            <a:endParaRPr lang="zh-TW" altLang="en-US" sz="28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42529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Compressed Sparse Row(CSR</a:t>
            </a:r>
            <a:r>
              <a:rPr lang="en-US" altLang="zh-TW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)(2/2)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638175" y="1601788"/>
            <a:ext cx="53340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5400" dirty="0" smtClean="0"/>
              <a:t>A</a:t>
            </a:r>
            <a:endParaRPr lang="zh-TW" altLang="en-US" sz="54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638175" y="2525118"/>
            <a:ext cx="53340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5400" dirty="0" smtClean="0"/>
              <a:t>B</a:t>
            </a:r>
            <a:endParaRPr lang="zh-TW" altLang="en-US" sz="54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638175" y="3448448"/>
            <a:ext cx="53340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5400" dirty="0" smtClean="0"/>
              <a:t>C</a:t>
            </a:r>
            <a:endParaRPr lang="zh-TW" altLang="en-US" sz="54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638175" y="4371778"/>
            <a:ext cx="53340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5400" dirty="0" smtClean="0"/>
              <a:t>D</a:t>
            </a:r>
            <a:endParaRPr lang="zh-TW" altLang="en-US" sz="54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1924050" y="1601788"/>
            <a:ext cx="53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 smtClean="0"/>
              <a:t>B</a:t>
            </a:r>
            <a:endParaRPr lang="zh-TW" altLang="en-US" sz="54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3076575" y="1601788"/>
            <a:ext cx="53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 smtClean="0"/>
              <a:t>C</a:t>
            </a:r>
            <a:endParaRPr lang="zh-TW" altLang="en-US" sz="54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1924050" y="2525118"/>
            <a:ext cx="53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 smtClean="0"/>
              <a:t>D</a:t>
            </a:r>
            <a:endParaRPr lang="zh-TW" altLang="en-US" sz="54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1924050" y="3448448"/>
            <a:ext cx="53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dirty="0" smtClean="0"/>
              <a:t>D</a:t>
            </a:r>
            <a:endParaRPr lang="zh-TW" altLang="en-US" sz="5400" dirty="0"/>
          </a:p>
        </p:txBody>
      </p:sp>
      <p:sp>
        <p:nvSpPr>
          <p:cNvPr id="13" name="向右箭號 12"/>
          <p:cNvSpPr/>
          <p:nvPr/>
        </p:nvSpPr>
        <p:spPr>
          <a:xfrm>
            <a:off x="1281112" y="1980754"/>
            <a:ext cx="642938" cy="2681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向右箭號 13"/>
          <p:cNvSpPr/>
          <p:nvPr/>
        </p:nvSpPr>
        <p:spPr>
          <a:xfrm>
            <a:off x="2433637" y="1980753"/>
            <a:ext cx="642938" cy="2681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向右箭號 14"/>
          <p:cNvSpPr/>
          <p:nvPr/>
        </p:nvSpPr>
        <p:spPr>
          <a:xfrm>
            <a:off x="1281112" y="2852713"/>
            <a:ext cx="642938" cy="2681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向右箭號 15"/>
          <p:cNvSpPr/>
          <p:nvPr/>
        </p:nvSpPr>
        <p:spPr>
          <a:xfrm>
            <a:off x="1281112" y="3786275"/>
            <a:ext cx="642938" cy="2681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581145287"/>
              </p:ext>
            </p:extLst>
          </p:nvPr>
        </p:nvGraphicFramePr>
        <p:xfrm>
          <a:off x="4572000" y="2114822"/>
          <a:ext cx="446722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807"/>
                <a:gridCol w="1116807"/>
                <a:gridCol w="1116807"/>
                <a:gridCol w="1116807"/>
              </a:tblGrid>
              <a:tr h="4181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801568"/>
              </p:ext>
            </p:extLst>
          </p:nvPr>
        </p:nvGraphicFramePr>
        <p:xfrm>
          <a:off x="4572000" y="3597214"/>
          <a:ext cx="446722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807"/>
                <a:gridCol w="1116807"/>
                <a:gridCol w="1116807"/>
                <a:gridCol w="1116807"/>
              </a:tblGrid>
              <a:tr h="4181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D</a:t>
                      </a:r>
                      <a:endParaRPr lang="zh-TW" altLang="en-US" sz="24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38185706"/>
              </p:ext>
            </p:extLst>
          </p:nvPr>
        </p:nvGraphicFramePr>
        <p:xfrm>
          <a:off x="4572000" y="4880532"/>
          <a:ext cx="446722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807"/>
                <a:gridCol w="1116807"/>
                <a:gridCol w="1116807"/>
                <a:gridCol w="1116807"/>
              </a:tblGrid>
              <a:tr h="29607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4467225" y="1645578"/>
            <a:ext cx="2645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Row offsets</a:t>
            </a:r>
            <a:endParaRPr lang="zh-TW" altLang="en-US" sz="28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572000" y="4310223"/>
            <a:ext cx="2645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Column indices</a:t>
            </a:r>
            <a:endParaRPr lang="zh-TW" altLang="en-US" sz="28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572000" y="3120852"/>
            <a:ext cx="2645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Values</a:t>
            </a:r>
            <a:endParaRPr lang="zh-TW" altLang="en-US" sz="2800" b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0" y="4833443"/>
            <a:ext cx="1535907" cy="1601420"/>
          </a:xfrm>
          <a:prstGeom prst="rect">
            <a:avLst/>
          </a:prstGeom>
        </p:spPr>
      </p:pic>
      <p:sp>
        <p:nvSpPr>
          <p:cNvPr id="25" name="投影片編號版面配置區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344379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2-D partition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1095" y="1796828"/>
            <a:ext cx="7821810" cy="3860260"/>
          </a:xfr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108136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2-D partition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66825" y="1711293"/>
            <a:ext cx="6667046" cy="4274979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102197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seudo code(1/3)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84960" y="1715897"/>
            <a:ext cx="5974080" cy="4714124"/>
          </a:xfr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93362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seudo code(2/3)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4460" y="1655858"/>
            <a:ext cx="7335080" cy="4562062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27152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seudo code(3/3)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2607" y="1735677"/>
            <a:ext cx="7458785" cy="4616355"/>
          </a:xfr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19157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325563"/>
            <a:ext cx="4450080" cy="53800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nodes and 64 NVIDIA K20c GPUs with 5GB DDR5 memory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Mellanox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InfiniBand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SX6025 cards per node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CUDA 5.5 used for these results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GPUDirect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in MVAPICH2-GDR to avoid explicit copy of messages to host memory 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dirty="0" smtClean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11040" y="1325563"/>
            <a:ext cx="4401312" cy="3672618"/>
          </a:xfrm>
          <a:prstGeom prst="rect">
            <a:avLst/>
          </a:prstGeom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9416554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0" y="1325563"/>
                <a:ext cx="9144000" cy="5380038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AutoNum type="arabicPeriod"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Strong scaling : The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scale of the problem remains the same as we increase the computational resources (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GPUs)</a:t>
                </a: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GTEPS= Giga(Billion) Traversed Edges Per Second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edges per second</a:t>
                </a:r>
              </a:p>
              <a:p>
                <a:pPr marL="514350" indent="-514350">
                  <a:buAutoNum type="arabicPeriod"/>
                </a:pPr>
                <a:endParaRPr lang="en-US" altLang="zh-TW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3"/>
                <a:ext cx="9144000" cy="5380038"/>
              </a:xfrm>
              <a:blipFill rotWithShape="0">
                <a:blip r:embed="rId2"/>
                <a:stretch>
                  <a:fillRect l="-1200" t="-1925" r="-17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987546" y="3349246"/>
            <a:ext cx="4790694" cy="335635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015582"/>
            <a:ext cx="3897440" cy="1792439"/>
          </a:xfrm>
          <a:prstGeom prst="rect">
            <a:avLst/>
          </a:prstGeom>
        </p:spPr>
      </p:pic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2286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325562"/>
            <a:ext cx="9144000" cy="55324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/>
              <a:t>2.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Weak scaling: </a:t>
            </a:r>
            <a:r>
              <a:rPr lang="en-US" altLang="zh-TW" dirty="0" smtClean="0"/>
              <a:t>Problem </a:t>
            </a:r>
            <a:r>
              <a:rPr lang="en-US" altLang="zh-TW" dirty="0"/>
              <a:t>size grows proportional to the growth in computational resources (GPUs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 marL="0" indent="0">
              <a:lnSpc>
                <a:spcPct val="100000"/>
              </a:lnSpc>
              <a:buNone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00192" y="3531521"/>
            <a:ext cx="4943616" cy="332647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47692" y="2145056"/>
            <a:ext cx="6448616" cy="1247017"/>
          </a:xfrm>
          <a:prstGeom prst="rect">
            <a:avLst/>
          </a:prstGeom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881704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8651" y="1633728"/>
            <a:ext cx="7806697" cy="4705953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D7B5-EB39-4BF7-B812-AFD5FAED8EE5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1339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644</TotalTime>
  <Words>833</Words>
  <Application>Microsoft Office PowerPoint</Application>
  <PresentationFormat>如螢幕大小 (4:3)</PresentationFormat>
  <Paragraphs>158</Paragraphs>
  <Slides>23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4" baseType="lpstr">
      <vt:lpstr>Office 佈景主題</vt:lpstr>
      <vt:lpstr>Parallel Breadth First Search on GPU Clusters</vt:lpstr>
      <vt:lpstr>Abstract(1/2)</vt:lpstr>
      <vt:lpstr>Abstract(2/2)</vt:lpstr>
      <vt:lpstr>References</vt:lpstr>
      <vt:lpstr>Conception</vt:lpstr>
      <vt:lpstr>Why?</vt:lpstr>
      <vt:lpstr>BFS(Breadth first search)(1/3)</vt:lpstr>
      <vt:lpstr>BFS(Breadth first search)(2/3)</vt:lpstr>
      <vt:lpstr>BFS(Breadth first search)(3/3)</vt:lpstr>
      <vt:lpstr>GAS abstraction(1/3)</vt:lpstr>
      <vt:lpstr>GAS abstraction(2/3)</vt:lpstr>
      <vt:lpstr>GAS abstraction(3/3)</vt:lpstr>
      <vt:lpstr>Compressed Sparse Row(CSR)(1/2)</vt:lpstr>
      <vt:lpstr>Compressed Sparse Row(CSR)(2/2)</vt:lpstr>
      <vt:lpstr>2-D partition</vt:lpstr>
      <vt:lpstr>2-D partition</vt:lpstr>
      <vt:lpstr>Pseudo code(1/3)</vt:lpstr>
      <vt:lpstr>Pseudo code(2/3)</vt:lpstr>
      <vt:lpstr>Pseudo code(3/3)</vt:lpstr>
      <vt:lpstr>Experimental setup</vt:lpstr>
      <vt:lpstr>Results</vt:lpstr>
      <vt:lpstr>Results</vt:lpstr>
      <vt:lpstr>Results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Breadth First Search on GPU Clusters</dc:title>
  <dc:creator>MONSTER J</dc:creator>
  <cp:lastModifiedBy>admin</cp:lastModifiedBy>
  <cp:revision>41</cp:revision>
  <dcterms:created xsi:type="dcterms:W3CDTF">2015-03-01T11:00:16Z</dcterms:created>
  <dcterms:modified xsi:type="dcterms:W3CDTF">2015-03-02T10:29:16Z</dcterms:modified>
</cp:coreProperties>
</file>