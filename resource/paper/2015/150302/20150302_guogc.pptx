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4" r:id="rId6"/>
    <p:sldId id="265" r:id="rId7"/>
    <p:sldId id="266" r:id="rId8"/>
    <p:sldId id="267" r:id="rId9"/>
    <p:sldId id="260" r:id="rId10"/>
    <p:sldId id="268" r:id="rId11"/>
    <p:sldId id="269" r:id="rId12"/>
    <p:sldId id="270" r:id="rId13"/>
    <p:sldId id="271" r:id="rId14"/>
    <p:sldId id="272" r:id="rId15"/>
    <p:sldId id="273" r:id="rId16"/>
    <p:sldId id="262" r:id="rId17"/>
    <p:sldId id="274" r:id="rId18"/>
    <p:sldId id="263" r:id="rId19"/>
    <p:sldId id="275" r:id="rId20"/>
    <p:sldId id="276" r:id="rId21"/>
    <p:sldId id="277" r:id="rId22"/>
    <p:sldId id="278" r:id="rId23"/>
    <p:sldId id="279" r:id="rId2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FF9900"/>
    <a:srgbClr val="FFCC66"/>
    <a:srgbClr val="800080"/>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96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A75D2D-8B87-4FE2-80AC-38F0F1213511}" type="datetimeFigureOut">
              <a:rPr lang="zh-TW" altLang="en-US" smtClean="0"/>
              <a:t>2015/3/2</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316C7F-6018-48E9-8B5B-151ABAF811BB}" type="slidenum">
              <a:rPr lang="zh-TW" altLang="en-US" smtClean="0"/>
              <a:t>‹#›</a:t>
            </a:fld>
            <a:endParaRPr lang="zh-TW" altLang="en-US"/>
          </a:p>
        </p:txBody>
      </p:sp>
    </p:spTree>
    <p:extLst>
      <p:ext uri="{BB962C8B-B14F-4D97-AF65-F5344CB8AC3E}">
        <p14:creationId xmlns:p14="http://schemas.microsoft.com/office/powerpoint/2010/main" val="3333471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C0316C7F-6018-48E9-8B5B-151ABAF811BB}" type="slidenum">
              <a:rPr lang="zh-TW" altLang="en-US" smtClean="0"/>
              <a:t>4</a:t>
            </a:fld>
            <a:endParaRPr lang="zh-TW" altLang="en-US"/>
          </a:p>
        </p:txBody>
      </p:sp>
    </p:spTree>
    <p:extLst>
      <p:ext uri="{BB962C8B-B14F-4D97-AF65-F5344CB8AC3E}">
        <p14:creationId xmlns:p14="http://schemas.microsoft.com/office/powerpoint/2010/main" val="2582003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C0316C7F-6018-48E9-8B5B-151ABAF811BB}" type="slidenum">
              <a:rPr lang="zh-TW" altLang="en-US" smtClean="0"/>
              <a:t>5</a:t>
            </a:fld>
            <a:endParaRPr lang="zh-TW" altLang="en-US"/>
          </a:p>
        </p:txBody>
      </p:sp>
    </p:spTree>
    <p:extLst>
      <p:ext uri="{BB962C8B-B14F-4D97-AF65-F5344CB8AC3E}">
        <p14:creationId xmlns:p14="http://schemas.microsoft.com/office/powerpoint/2010/main" val="2582003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C0316C7F-6018-48E9-8B5B-151ABAF811BB}" type="slidenum">
              <a:rPr lang="zh-TW" altLang="en-US" smtClean="0"/>
              <a:t>6</a:t>
            </a:fld>
            <a:endParaRPr lang="zh-TW" altLang="en-US"/>
          </a:p>
        </p:txBody>
      </p:sp>
    </p:spTree>
    <p:extLst>
      <p:ext uri="{BB962C8B-B14F-4D97-AF65-F5344CB8AC3E}">
        <p14:creationId xmlns:p14="http://schemas.microsoft.com/office/powerpoint/2010/main" val="2582003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C0316C7F-6018-48E9-8B5B-151ABAF811BB}" type="slidenum">
              <a:rPr lang="zh-TW" altLang="en-US" smtClean="0"/>
              <a:t>7</a:t>
            </a:fld>
            <a:endParaRPr lang="zh-TW" altLang="en-US"/>
          </a:p>
        </p:txBody>
      </p:sp>
    </p:spTree>
    <p:extLst>
      <p:ext uri="{BB962C8B-B14F-4D97-AF65-F5344CB8AC3E}">
        <p14:creationId xmlns:p14="http://schemas.microsoft.com/office/powerpoint/2010/main" val="2582003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C0316C7F-6018-48E9-8B5B-151ABAF811BB}" type="slidenum">
              <a:rPr lang="zh-TW" altLang="en-US" smtClean="0"/>
              <a:t>8</a:t>
            </a:fld>
            <a:endParaRPr lang="zh-TW" altLang="en-US"/>
          </a:p>
        </p:txBody>
      </p:sp>
    </p:spTree>
    <p:extLst>
      <p:ext uri="{BB962C8B-B14F-4D97-AF65-F5344CB8AC3E}">
        <p14:creationId xmlns:p14="http://schemas.microsoft.com/office/powerpoint/2010/main" val="2582003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16B271E8-2A88-4594-ADE9-CFEF7DDFA396}" type="datetimeFigureOut">
              <a:rPr lang="zh-TW" altLang="en-US" smtClean="0"/>
              <a:t>2015/3/2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2643701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6B271E8-2A88-4594-ADE9-CFEF7DDFA396}" type="datetimeFigureOut">
              <a:rPr lang="zh-TW" altLang="en-US" smtClean="0"/>
              <a:t>2015/3/2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2732661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16B271E8-2A88-4594-ADE9-CFEF7DDFA396}" type="datetimeFigureOut">
              <a:rPr lang="zh-TW" altLang="en-US" smtClean="0"/>
              <a:t>2015/3/2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2750798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16B271E8-2A88-4594-ADE9-CFEF7DDFA396}" type="datetimeFigureOut">
              <a:rPr lang="zh-TW" altLang="en-US" smtClean="0"/>
              <a:t>2015/3/2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461422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16B271E8-2A88-4594-ADE9-CFEF7DDFA396}" type="datetimeFigureOut">
              <a:rPr lang="zh-TW" altLang="en-US" smtClean="0"/>
              <a:t>2015/3/2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450386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16B271E8-2A88-4594-ADE9-CFEF7DDFA396}" type="datetimeFigureOut">
              <a:rPr lang="zh-TW" altLang="en-US" smtClean="0"/>
              <a:t>2015/3/2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1450923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16B271E8-2A88-4594-ADE9-CFEF7DDFA396}" type="datetimeFigureOut">
              <a:rPr lang="zh-TW" altLang="en-US" smtClean="0"/>
              <a:t>2015/3/2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140887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16B271E8-2A88-4594-ADE9-CFEF7DDFA396}" type="datetimeFigureOut">
              <a:rPr lang="zh-TW" altLang="en-US" smtClean="0"/>
              <a:t>2015/3/2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312247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16B271E8-2A88-4594-ADE9-CFEF7DDFA396}" type="datetimeFigureOut">
              <a:rPr lang="zh-TW" altLang="en-US" smtClean="0"/>
              <a:t>2015/3/2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1979127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6B271E8-2A88-4594-ADE9-CFEF7DDFA396}" type="datetimeFigureOut">
              <a:rPr lang="zh-TW" altLang="en-US" smtClean="0"/>
              <a:t>2015/3/2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857316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6B271E8-2A88-4594-ADE9-CFEF7DDFA396}" type="datetimeFigureOut">
              <a:rPr lang="zh-TW" altLang="en-US" smtClean="0"/>
              <a:t>2015/3/2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3080567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B271E8-2A88-4594-ADE9-CFEF7DDFA396}" type="datetimeFigureOut">
              <a:rPr lang="zh-TW" altLang="en-US" smtClean="0"/>
              <a:t>2015/3/2</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65633C-C5AC-45C0-8159-27D8C07F7C97}" type="slidenum">
              <a:rPr lang="zh-TW" altLang="en-US" smtClean="0"/>
              <a:t>‹#›</a:t>
            </a:fld>
            <a:endParaRPr lang="zh-TW" altLang="en-US"/>
          </a:p>
        </p:txBody>
      </p:sp>
    </p:spTree>
    <p:extLst>
      <p:ext uri="{BB962C8B-B14F-4D97-AF65-F5344CB8AC3E}">
        <p14:creationId xmlns:p14="http://schemas.microsoft.com/office/powerpoint/2010/main" val="1130696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052736"/>
            <a:ext cx="7772400" cy="1470025"/>
          </a:xfrm>
        </p:spPr>
        <p:txBody>
          <a:bodyPr/>
          <a:lstStyle/>
          <a:p>
            <a:r>
              <a:rPr lang="en-US" altLang="zh-TW" dirty="0" smtClean="0"/>
              <a:t>Time Series </a:t>
            </a:r>
            <a:r>
              <a:rPr lang="en-US" altLang="zh-TW" dirty="0" err="1" smtClean="0"/>
              <a:t>Shapelets</a:t>
            </a:r>
            <a:r>
              <a:rPr lang="en-US" altLang="zh-TW" dirty="0" smtClean="0"/>
              <a:t>: A New Primitive for Data Mining</a:t>
            </a:r>
            <a:endParaRPr lang="zh-TW" altLang="en-US" dirty="0"/>
          </a:p>
        </p:txBody>
      </p:sp>
      <p:sp>
        <p:nvSpPr>
          <p:cNvPr id="3" name="副標題 2"/>
          <p:cNvSpPr>
            <a:spLocks noGrp="1"/>
          </p:cNvSpPr>
          <p:nvPr>
            <p:ph type="subTitle" idx="1"/>
          </p:nvPr>
        </p:nvSpPr>
        <p:spPr>
          <a:xfrm>
            <a:off x="683568" y="3356992"/>
            <a:ext cx="7560840" cy="2016224"/>
          </a:xfrm>
        </p:spPr>
        <p:txBody>
          <a:bodyPr>
            <a:normAutofit fontScale="92500" lnSpcReduction="20000"/>
          </a:bodyPr>
          <a:lstStyle/>
          <a:p>
            <a:r>
              <a:rPr lang="en-US" altLang="zh-TW" dirty="0" err="1" smtClean="0">
                <a:solidFill>
                  <a:schemeClr val="tx1"/>
                </a:solidFill>
              </a:rPr>
              <a:t>Lexiang</a:t>
            </a:r>
            <a:r>
              <a:rPr lang="en-US" altLang="zh-TW" dirty="0" smtClean="0">
                <a:solidFill>
                  <a:schemeClr val="tx1"/>
                </a:solidFill>
              </a:rPr>
              <a:t> Ye, </a:t>
            </a:r>
            <a:r>
              <a:rPr lang="en-US" altLang="zh-TW" dirty="0" err="1" smtClean="0">
                <a:solidFill>
                  <a:schemeClr val="tx1"/>
                </a:solidFill>
              </a:rPr>
              <a:t>Eamonn</a:t>
            </a:r>
            <a:r>
              <a:rPr lang="en-US" altLang="zh-TW" dirty="0" smtClean="0">
                <a:solidFill>
                  <a:schemeClr val="tx1"/>
                </a:solidFill>
              </a:rPr>
              <a:t> Keogh</a:t>
            </a:r>
          </a:p>
          <a:p>
            <a:r>
              <a:rPr lang="en-US" altLang="zh-TW" dirty="0" smtClean="0">
                <a:solidFill>
                  <a:schemeClr val="tx1"/>
                </a:solidFill>
              </a:rPr>
              <a:t>Proceeding KDD '09 Proceedings of the 15th ACM SIGKDD international conference on Knowledge discovery and data mining Pages 947-956 (2009)</a:t>
            </a:r>
            <a:endParaRPr lang="zh-TW" altLang="en-US" dirty="0">
              <a:solidFill>
                <a:schemeClr val="tx1"/>
              </a:solidFill>
            </a:endParaRPr>
          </a:p>
        </p:txBody>
      </p:sp>
      <p:sp>
        <p:nvSpPr>
          <p:cNvPr id="4" name="矩形 3"/>
          <p:cNvSpPr/>
          <p:nvPr/>
        </p:nvSpPr>
        <p:spPr>
          <a:xfrm>
            <a:off x="5580112" y="5589240"/>
            <a:ext cx="2987824" cy="646331"/>
          </a:xfrm>
          <a:prstGeom prst="rect">
            <a:avLst/>
          </a:prstGeom>
        </p:spPr>
        <p:txBody>
          <a:bodyPr wrap="square">
            <a:spAutoFit/>
          </a:bodyPr>
          <a:lstStyle/>
          <a:p>
            <a:r>
              <a:rPr lang="en-US" altLang="zh-TW" dirty="0" smtClean="0"/>
              <a:t>Presenter</a:t>
            </a:r>
            <a:r>
              <a:rPr lang="zh-TW" altLang="en-US" dirty="0" smtClean="0"/>
              <a:t>：</a:t>
            </a:r>
            <a:r>
              <a:rPr lang="en-US" altLang="zh-TW" dirty="0" smtClean="0"/>
              <a:t>Guan-Cheng </a:t>
            </a:r>
            <a:r>
              <a:rPr lang="en-US" altLang="zh-TW" dirty="0" err="1" smtClean="0"/>
              <a:t>Guo</a:t>
            </a:r>
            <a:r>
              <a:rPr lang="en-US" altLang="zh-TW" dirty="0" smtClean="0"/>
              <a:t/>
            </a:r>
            <a:br>
              <a:rPr lang="en-US" altLang="zh-TW" dirty="0" smtClean="0"/>
            </a:br>
            <a:r>
              <a:rPr lang="en-US" altLang="zh-TW" dirty="0" smtClean="0"/>
              <a:t>Date</a:t>
            </a:r>
            <a:r>
              <a:rPr lang="zh-TW" altLang="en-US" dirty="0" smtClean="0"/>
              <a:t>：</a:t>
            </a:r>
            <a:r>
              <a:rPr lang="en-US" altLang="zh-TW" dirty="0" smtClean="0"/>
              <a:t>2015/3/2</a:t>
            </a:r>
            <a:endParaRPr lang="en-US" altLang="zh-TW" dirty="0"/>
          </a:p>
        </p:txBody>
      </p:sp>
    </p:spTree>
    <p:extLst>
      <p:ext uri="{BB962C8B-B14F-4D97-AF65-F5344CB8AC3E}">
        <p14:creationId xmlns:p14="http://schemas.microsoft.com/office/powerpoint/2010/main" val="2005835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323528" y="1340768"/>
            <a:ext cx="8568952" cy="5328592"/>
          </a:xfrm>
        </p:spPr>
        <p:txBody>
          <a:bodyPr>
            <a:normAutofit fontScale="92500" lnSpcReduction="20000"/>
          </a:bodyPr>
          <a:lstStyle/>
          <a:p>
            <a:pPr marL="0" indent="0">
              <a:buNone/>
            </a:pPr>
            <a:r>
              <a:rPr lang="en-US" altLang="zh-TW" dirty="0" smtClean="0"/>
              <a:t>Classification of time series has been attracting great interest over the past decade. Recent empirical evidence has strongly suggested that the simple nearest neighbor algorithm is very difficult to beat for most time series problems. While this may be considered good news, given the simplicity of implementing the nearest neighbor algorithm, there are some negative consequences of this. First, the nearest neighbor algorithm requires storing and searching the entire dataset, resulting in a time and space complexity that limits its applicability, especially on resource-limited sensors. Second, beyond mere classification accuracy, we often wish to gain some insight into the data.</a:t>
            </a:r>
            <a:endParaRPr lang="zh-TW" altLang="en-US" dirty="0"/>
          </a:p>
        </p:txBody>
      </p:sp>
    </p:spTree>
    <p:extLst>
      <p:ext uri="{BB962C8B-B14F-4D97-AF65-F5344CB8AC3E}">
        <p14:creationId xmlns:p14="http://schemas.microsoft.com/office/powerpoint/2010/main" val="3476496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323528" y="1340768"/>
            <a:ext cx="8568952" cy="5328592"/>
          </a:xfrm>
        </p:spPr>
        <p:txBody>
          <a:bodyPr>
            <a:normAutofit/>
          </a:bodyPr>
          <a:lstStyle/>
          <a:p>
            <a:pPr marL="0" indent="0">
              <a:buNone/>
            </a:pPr>
            <a:r>
              <a:rPr lang="en-US" altLang="zh-TW" sz="3000" dirty="0" smtClean="0"/>
              <a:t>In this work we introduce a new time series primitive, time series </a:t>
            </a:r>
            <a:r>
              <a:rPr lang="en-US" altLang="zh-TW" sz="3000" dirty="0" err="1" smtClean="0"/>
              <a:t>shapelets</a:t>
            </a:r>
            <a:r>
              <a:rPr lang="en-US" altLang="zh-TW" sz="3000" dirty="0" smtClean="0"/>
              <a:t>, which addresses these limitations. Informally, </a:t>
            </a:r>
            <a:r>
              <a:rPr lang="en-US" altLang="zh-TW" sz="3000" dirty="0" err="1" smtClean="0"/>
              <a:t>shapelets</a:t>
            </a:r>
            <a:r>
              <a:rPr lang="en-US" altLang="zh-TW" sz="3000" dirty="0" smtClean="0"/>
              <a:t> are time series subsequences which are in some sense maximally representative of a class. As we shall show with extensive empirical evaluations in diverse domains, algorithms based on the time series </a:t>
            </a:r>
            <a:r>
              <a:rPr lang="en-US" altLang="zh-TW" sz="3000" dirty="0" err="1" smtClean="0"/>
              <a:t>shapelet</a:t>
            </a:r>
            <a:r>
              <a:rPr lang="en-US" altLang="zh-TW" sz="3000" dirty="0" smtClean="0"/>
              <a:t> primitives can be interpretable, more accurate and significantly faster than state-of-the-art classifiers.</a:t>
            </a:r>
            <a:endParaRPr lang="zh-TW" altLang="en-US" sz="3000" dirty="0"/>
          </a:p>
        </p:txBody>
      </p:sp>
    </p:spTree>
    <p:extLst>
      <p:ext uri="{BB962C8B-B14F-4D97-AF65-F5344CB8AC3E}">
        <p14:creationId xmlns:p14="http://schemas.microsoft.com/office/powerpoint/2010/main" val="984634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Time Series</a:t>
            </a:r>
            <a:endParaRPr lang="zh-TW" altLang="en-US" dirty="0"/>
          </a:p>
        </p:txBody>
      </p:sp>
      <p:sp>
        <p:nvSpPr>
          <p:cNvPr id="3" name="內容版面配置區 2"/>
          <p:cNvSpPr>
            <a:spLocks noGrp="1"/>
          </p:cNvSpPr>
          <p:nvPr>
            <p:ph idx="1"/>
          </p:nvPr>
        </p:nvSpPr>
        <p:spPr>
          <a:xfrm>
            <a:off x="179512" y="836712"/>
            <a:ext cx="8964488" cy="5472608"/>
          </a:xfrm>
        </p:spPr>
        <p:txBody>
          <a:bodyPr/>
          <a:lstStyle/>
          <a:p>
            <a:r>
              <a:rPr lang="en-US" altLang="zh-TW" dirty="0" smtClean="0"/>
              <a:t>Example of leaves from two classes, </a:t>
            </a:r>
            <a:r>
              <a:rPr lang="en-US" altLang="zh-TW" dirty="0" err="1" smtClean="0"/>
              <a:t>Urtica</a:t>
            </a:r>
            <a:r>
              <a:rPr lang="en-US" altLang="zh-TW" dirty="0" smtClean="0"/>
              <a:t> </a:t>
            </a:r>
            <a:r>
              <a:rPr lang="en-US" altLang="zh-TW" dirty="0" err="1" smtClean="0"/>
              <a:t>dioica</a:t>
            </a:r>
            <a:r>
              <a:rPr lang="en-US" altLang="zh-TW" dirty="0" smtClean="0"/>
              <a:t> (stinging nettles) and Verbena </a:t>
            </a:r>
            <a:r>
              <a:rPr lang="en-US" altLang="zh-TW" dirty="0" err="1" smtClean="0"/>
              <a:t>urticifolia</a:t>
            </a:r>
            <a:r>
              <a:rPr lang="en-US" altLang="zh-TW" dirty="0" smtClean="0"/>
              <a:t>(</a:t>
            </a:r>
            <a:r>
              <a:rPr lang="zh-TW" altLang="en-US" dirty="0" smtClean="0">
                <a:ea typeface="標楷體" panose="03000509000000000000" pitchFamily="65" charset="-120"/>
              </a:rPr>
              <a:t>白馬鞭草</a:t>
            </a:r>
            <a:r>
              <a:rPr lang="en-US" altLang="zh-TW" dirty="0" smtClean="0"/>
              <a:t>). These two plants are commonly confused, hence the colloquial name “false nettle(</a:t>
            </a:r>
            <a:r>
              <a:rPr lang="zh-TW" altLang="en-US" dirty="0" smtClean="0">
                <a:latin typeface="標楷體" panose="03000509000000000000" pitchFamily="65" charset="-120"/>
                <a:ea typeface="標楷體" panose="03000509000000000000" pitchFamily="65" charset="-120"/>
              </a:rPr>
              <a:t>假蕁麻</a:t>
            </a:r>
            <a:r>
              <a:rPr lang="en-US" altLang="zh-TW" dirty="0" smtClean="0"/>
              <a:t>)” for Verbena </a:t>
            </a:r>
            <a:r>
              <a:rPr lang="en-US" altLang="zh-TW" dirty="0" err="1" smtClean="0"/>
              <a:t>urticifolia</a:t>
            </a:r>
            <a:r>
              <a:rPr lang="en-US" altLang="zh-TW" dirty="0" smtClean="0"/>
              <a:t>.</a:t>
            </a:r>
            <a:endParaRPr lang="zh-TW" altLang="en-US" dirty="0"/>
          </a:p>
        </p:txBody>
      </p:sp>
      <p:pic>
        <p:nvPicPr>
          <p:cNvPr id="1027" name="Picture 3" descr="E:\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8" y="3678332"/>
            <a:ext cx="8964488" cy="305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592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Time Series</a:t>
            </a:r>
            <a:endParaRPr lang="zh-TW" altLang="en-US" dirty="0"/>
          </a:p>
        </p:txBody>
      </p:sp>
      <p:sp>
        <p:nvSpPr>
          <p:cNvPr id="3" name="內容版面配置區 2"/>
          <p:cNvSpPr>
            <a:spLocks noGrp="1"/>
          </p:cNvSpPr>
          <p:nvPr>
            <p:ph idx="1"/>
          </p:nvPr>
        </p:nvSpPr>
        <p:spPr>
          <a:xfrm>
            <a:off x="457200" y="1196752"/>
            <a:ext cx="8229600" cy="5256584"/>
          </a:xfrm>
        </p:spPr>
        <p:txBody>
          <a:bodyPr/>
          <a:lstStyle/>
          <a:p>
            <a:r>
              <a:rPr lang="en-US" altLang="zh-TW" dirty="0" smtClean="0"/>
              <a:t>A shape can be converted into a one dimensional “time series” representation.</a:t>
            </a:r>
            <a:br>
              <a:rPr lang="en-US" altLang="zh-TW" dirty="0" smtClean="0"/>
            </a:br>
            <a:endParaRPr lang="zh-TW" altLang="en-US" dirty="0">
              <a:ea typeface="標楷體" panose="03000509000000000000" pitchFamily="65" charset="-120"/>
            </a:endParaRPr>
          </a:p>
        </p:txBody>
      </p:sp>
      <p:pic>
        <p:nvPicPr>
          <p:cNvPr id="1026" name="Picture 2" descr="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653" y="2492896"/>
            <a:ext cx="8113129" cy="3664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291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Time Series</a:t>
            </a:r>
            <a:endParaRPr lang="zh-TW" altLang="en-US" dirty="0"/>
          </a:p>
        </p:txBody>
      </p:sp>
      <p:sp>
        <p:nvSpPr>
          <p:cNvPr id="3" name="內容版面配置區 2"/>
          <p:cNvSpPr>
            <a:spLocks noGrp="1"/>
          </p:cNvSpPr>
          <p:nvPr>
            <p:ph idx="1"/>
          </p:nvPr>
        </p:nvSpPr>
        <p:spPr>
          <a:xfrm>
            <a:off x="179512" y="908720"/>
            <a:ext cx="8964488" cy="5688632"/>
          </a:xfrm>
        </p:spPr>
        <p:txBody>
          <a:bodyPr>
            <a:normAutofit/>
          </a:bodyPr>
          <a:lstStyle/>
          <a:p>
            <a:r>
              <a:rPr lang="en-US" altLang="zh-TW" dirty="0" smtClean="0"/>
              <a:t>Using a nearest neighbor classifier with either the Euclidean distance or Dynamic Time Warping (DTW) distance does not significantly outperform random guessing.</a:t>
            </a:r>
          </a:p>
          <a:p>
            <a:r>
              <a:rPr lang="en-US" altLang="zh-TW" dirty="0"/>
              <a:t>The reason for the poor </a:t>
            </a:r>
            <a:r>
              <a:rPr lang="en-US" altLang="zh-TW" dirty="0" smtClean="0"/>
              <a:t>performance of </a:t>
            </a:r>
            <a:r>
              <a:rPr lang="en-US" altLang="zh-TW" dirty="0"/>
              <a:t>these otherwise very competitive classifiers seems to be due to </a:t>
            </a:r>
            <a:r>
              <a:rPr lang="en-US" altLang="zh-TW" dirty="0" smtClean="0"/>
              <a:t>the fact </a:t>
            </a:r>
            <a:r>
              <a:rPr lang="en-US" altLang="zh-TW" dirty="0"/>
              <a:t>that the data is somewhat noisy (i.e. insect bites, and </a:t>
            </a:r>
            <a:r>
              <a:rPr lang="en-US" altLang="zh-TW" dirty="0" smtClean="0"/>
              <a:t>different stem </a:t>
            </a:r>
            <a:r>
              <a:rPr lang="en-US" altLang="zh-TW" dirty="0"/>
              <a:t>lengths), and this noise is enough to swamp the </a:t>
            </a:r>
            <a:r>
              <a:rPr lang="en-US" altLang="zh-TW" dirty="0" smtClean="0"/>
              <a:t>subtle differences </a:t>
            </a:r>
            <a:r>
              <a:rPr lang="en-US" altLang="zh-TW" dirty="0"/>
              <a:t>in the shapes.</a:t>
            </a:r>
            <a:endParaRPr lang="zh-TW" altLang="en-US" dirty="0"/>
          </a:p>
        </p:txBody>
      </p:sp>
    </p:spTree>
    <p:extLst>
      <p:ext uri="{BB962C8B-B14F-4D97-AF65-F5344CB8AC3E}">
        <p14:creationId xmlns:p14="http://schemas.microsoft.com/office/powerpoint/2010/main" val="3556052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err="1" smtClean="0"/>
              <a:t>Shapelets</a:t>
            </a:r>
            <a:endParaRPr lang="zh-TW" altLang="en-US" dirty="0"/>
          </a:p>
        </p:txBody>
      </p:sp>
      <p:sp>
        <p:nvSpPr>
          <p:cNvPr id="3" name="內容版面配置區 2"/>
          <p:cNvSpPr>
            <a:spLocks noGrp="1"/>
          </p:cNvSpPr>
          <p:nvPr>
            <p:ph idx="1"/>
          </p:nvPr>
        </p:nvSpPr>
        <p:spPr>
          <a:xfrm>
            <a:off x="179512" y="908720"/>
            <a:ext cx="8964488" cy="5688632"/>
          </a:xfrm>
        </p:spPr>
        <p:txBody>
          <a:bodyPr>
            <a:normAutofit/>
          </a:bodyPr>
          <a:lstStyle/>
          <a:p>
            <a:r>
              <a:rPr lang="en-US" altLang="zh-TW" dirty="0" smtClean="0"/>
              <a:t>Instead </a:t>
            </a:r>
            <a:r>
              <a:rPr lang="en-US" altLang="zh-TW" dirty="0"/>
              <a:t>of comparing the entire shapes, </a:t>
            </a:r>
            <a:r>
              <a:rPr lang="en-US" altLang="zh-TW" dirty="0" smtClean="0"/>
              <a:t>we only </a:t>
            </a:r>
            <a:r>
              <a:rPr lang="en-US" altLang="zh-TW" dirty="0"/>
              <a:t>compare a small subsection of the shapes from the two </a:t>
            </a:r>
            <a:r>
              <a:rPr lang="en-US" altLang="zh-TW" dirty="0" smtClean="0"/>
              <a:t>classes that </a:t>
            </a:r>
            <a:r>
              <a:rPr lang="en-US" altLang="zh-TW" dirty="0"/>
              <a:t>is particularly discriminating. We can call such </a:t>
            </a:r>
            <a:r>
              <a:rPr lang="en-US" altLang="zh-TW" dirty="0" smtClean="0"/>
              <a:t>subsections </a:t>
            </a:r>
            <a:r>
              <a:rPr lang="en-US" altLang="zh-TW" dirty="0" err="1" smtClean="0"/>
              <a:t>shapelets</a:t>
            </a:r>
            <a:r>
              <a:rPr lang="en-US" altLang="zh-TW" dirty="0" smtClean="0"/>
              <a:t>.</a:t>
            </a:r>
            <a:endParaRPr lang="zh-TW" altLang="en-US" dirty="0"/>
          </a:p>
        </p:txBody>
      </p:sp>
      <p:pic>
        <p:nvPicPr>
          <p:cNvPr id="2050" name="Picture 2" descr="E:\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3212976"/>
            <a:ext cx="7923808" cy="3441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807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err="1" smtClean="0"/>
              <a:t>Shapelets</a:t>
            </a:r>
            <a:endParaRPr lang="zh-TW" altLang="en-US" dirty="0"/>
          </a:p>
        </p:txBody>
      </p:sp>
      <p:sp>
        <p:nvSpPr>
          <p:cNvPr id="3" name="內容版面配置區 2"/>
          <p:cNvSpPr>
            <a:spLocks noGrp="1"/>
          </p:cNvSpPr>
          <p:nvPr>
            <p:ph idx="1"/>
          </p:nvPr>
        </p:nvSpPr>
        <p:spPr>
          <a:xfrm>
            <a:off x="179512" y="836712"/>
            <a:ext cx="8964488" cy="5688632"/>
          </a:xfrm>
        </p:spPr>
        <p:txBody>
          <a:bodyPr>
            <a:normAutofit/>
          </a:bodyPr>
          <a:lstStyle/>
          <a:p>
            <a:r>
              <a:rPr lang="en-US" altLang="zh-TW" dirty="0"/>
              <a:t>Having found the </a:t>
            </a:r>
            <a:r>
              <a:rPr lang="en-US" altLang="zh-TW" dirty="0" err="1"/>
              <a:t>shapelet</a:t>
            </a:r>
            <a:r>
              <a:rPr lang="en-US" altLang="zh-TW" dirty="0"/>
              <a:t> and recorded its distance to the </a:t>
            </a:r>
            <a:r>
              <a:rPr lang="en-US" altLang="zh-TW" dirty="0" smtClean="0"/>
              <a:t>nearest matching </a:t>
            </a:r>
            <a:r>
              <a:rPr lang="en-US" altLang="zh-TW" dirty="0"/>
              <a:t>subsequence in all objects in the database, we can </a:t>
            </a:r>
            <a:r>
              <a:rPr lang="en-US" altLang="zh-TW" dirty="0" smtClean="0"/>
              <a:t>build the </a:t>
            </a:r>
            <a:r>
              <a:rPr lang="en-US" altLang="zh-TW" dirty="0"/>
              <a:t>simple decision-tree </a:t>
            </a:r>
            <a:r>
              <a:rPr lang="en-US" altLang="zh-TW" dirty="0" smtClean="0"/>
              <a:t>classifier.</a:t>
            </a:r>
            <a:endParaRPr lang="zh-TW" altLang="en-US" dirty="0"/>
          </a:p>
        </p:txBody>
      </p:sp>
      <p:pic>
        <p:nvPicPr>
          <p:cNvPr id="3074" name="Picture 2" descr="E:\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780928"/>
            <a:ext cx="6403157" cy="1889601"/>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E:\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997" y="4802408"/>
            <a:ext cx="7158385" cy="2055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6008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Definitions </a:t>
            </a:r>
            <a:endParaRPr lang="zh-TW" altLang="en-US" dirty="0"/>
          </a:p>
        </p:txBody>
      </p:sp>
      <p:sp>
        <p:nvSpPr>
          <p:cNvPr id="3" name="內容版面配置區 2"/>
          <p:cNvSpPr>
            <a:spLocks noGrp="1"/>
          </p:cNvSpPr>
          <p:nvPr>
            <p:ph idx="1"/>
          </p:nvPr>
        </p:nvSpPr>
        <p:spPr>
          <a:xfrm>
            <a:off x="251520" y="1196752"/>
            <a:ext cx="8640960" cy="5544616"/>
          </a:xfrm>
        </p:spPr>
        <p:txBody>
          <a:bodyPr/>
          <a:lstStyle/>
          <a:p>
            <a:r>
              <a:rPr lang="en-US" altLang="zh-TW" dirty="0" smtClean="0"/>
              <a:t>A time series dataset D consists of two classes, A and B.</a:t>
            </a:r>
          </a:p>
          <a:p>
            <a:endParaRPr lang="en-US" altLang="zh-TW" dirty="0" smtClean="0"/>
          </a:p>
          <a:p>
            <a:r>
              <a:rPr lang="en-US" altLang="zh-TW" dirty="0"/>
              <a:t>Each splitting strategy divides the whole dataset D into two </a:t>
            </a:r>
            <a:r>
              <a:rPr lang="en-US" altLang="zh-TW" dirty="0" smtClean="0"/>
              <a:t>subsets, D1 </a:t>
            </a:r>
            <a:r>
              <a:rPr lang="en-US" altLang="zh-TW" dirty="0"/>
              <a:t>and D2</a:t>
            </a:r>
            <a:r>
              <a:rPr lang="en-US" altLang="zh-TW" dirty="0" smtClean="0"/>
              <a:t>. </a:t>
            </a:r>
          </a:p>
          <a:p>
            <a:endParaRPr lang="en-US" altLang="zh-TW" dirty="0" smtClean="0"/>
          </a:p>
          <a:p>
            <a:r>
              <a:rPr lang="en-US" altLang="zh-TW" dirty="0" smtClean="0"/>
              <a:t>Calculate the Information Gain after splitting D into D1 and D2.</a:t>
            </a:r>
          </a:p>
        </p:txBody>
      </p:sp>
    </p:spTree>
    <p:extLst>
      <p:ext uri="{BB962C8B-B14F-4D97-AF65-F5344CB8AC3E}">
        <p14:creationId xmlns:p14="http://schemas.microsoft.com/office/powerpoint/2010/main" val="3012562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Definitions </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0" y="764704"/>
                <a:ext cx="9144000" cy="5544616"/>
              </a:xfrm>
            </p:spPr>
            <p:txBody>
              <a:bodyPr>
                <a:normAutofit lnSpcReduction="10000"/>
              </a:bodyPr>
              <a:lstStyle/>
              <a:p>
                <a:r>
                  <a:rPr lang="en-US" altLang="zh-TW" dirty="0" smtClean="0"/>
                  <a:t>Information Gain:</a:t>
                </a:r>
                <a:br>
                  <a:rPr lang="en-US" altLang="zh-TW" dirty="0" smtClean="0"/>
                </a:br>
                <a14:m>
                  <m:oMath xmlns:m="http://schemas.openxmlformats.org/officeDocument/2006/math">
                    <m:r>
                      <a:rPr lang="en-US" altLang="zh-TW" sz="2800" b="0" i="1" dirty="0" smtClean="0">
                        <a:latin typeface="Cambria Math"/>
                      </a:rPr>
                      <m:t>𝐺𝑎𝑖𝑛</m:t>
                    </m:r>
                    <m:d>
                      <m:dPr>
                        <m:ctrlPr>
                          <a:rPr lang="en-US" altLang="zh-TW" sz="2800" b="0" i="1" dirty="0" smtClean="0">
                            <a:latin typeface="Cambria Math" panose="02040503050406030204" pitchFamily="18" charset="0"/>
                          </a:rPr>
                        </m:ctrlPr>
                      </m:dPr>
                      <m:e>
                        <m:r>
                          <a:rPr lang="en-US" altLang="zh-TW" sz="2800" b="0" i="1" dirty="0" smtClean="0">
                            <a:latin typeface="Cambria Math"/>
                          </a:rPr>
                          <m:t>𝑠𝑝</m:t>
                        </m:r>
                      </m:e>
                    </m:d>
                    <m:r>
                      <a:rPr lang="en-US" altLang="zh-TW" sz="2800" b="0" i="1" dirty="0" smtClean="0">
                        <a:latin typeface="Cambria Math"/>
                      </a:rPr>
                      <m:t>=</m:t>
                    </m:r>
                    <m:r>
                      <a:rPr lang="en-US" altLang="zh-TW" sz="2800" b="0" i="1" dirty="0" smtClean="0">
                        <a:latin typeface="Cambria Math"/>
                      </a:rPr>
                      <m:t>𝐼</m:t>
                    </m:r>
                    <m:d>
                      <m:dPr>
                        <m:ctrlPr>
                          <a:rPr lang="en-US" altLang="zh-TW" sz="2800" b="0" i="1" dirty="0" smtClean="0">
                            <a:latin typeface="Cambria Math" panose="02040503050406030204" pitchFamily="18" charset="0"/>
                          </a:rPr>
                        </m:ctrlPr>
                      </m:dPr>
                      <m:e>
                        <m:r>
                          <m:rPr>
                            <m:sty m:val="p"/>
                          </m:rPr>
                          <a:rPr lang="en-US" altLang="zh-TW" sz="2800" b="0" i="0" dirty="0" smtClean="0">
                            <a:latin typeface="Cambria Math"/>
                          </a:rPr>
                          <m:t>D</m:t>
                        </m:r>
                      </m:e>
                    </m:d>
                    <m:r>
                      <a:rPr lang="en-US" altLang="zh-TW" sz="2800" b="0" i="1" dirty="0" smtClean="0">
                        <a:latin typeface="Cambria Math"/>
                      </a:rPr>
                      <m:t>−</m:t>
                    </m:r>
                    <m:d>
                      <m:dPr>
                        <m:ctrlPr>
                          <a:rPr lang="en-US" altLang="zh-TW" sz="2800" b="0" i="1" dirty="0" smtClean="0">
                            <a:latin typeface="Cambria Math" panose="02040503050406030204" pitchFamily="18" charset="0"/>
                          </a:rPr>
                        </m:ctrlPr>
                      </m:dPr>
                      <m:e>
                        <m:r>
                          <a:rPr lang="en-US" altLang="zh-TW" sz="2800" b="0" i="1" dirty="0" smtClean="0">
                            <a:latin typeface="Cambria Math"/>
                          </a:rPr>
                          <m:t>𝑓</m:t>
                        </m:r>
                        <m:d>
                          <m:dPr>
                            <m:ctrlPr>
                              <a:rPr lang="en-US" altLang="zh-TW" sz="2800" b="0" i="1" dirty="0" smtClean="0">
                                <a:latin typeface="Cambria Math" panose="02040503050406030204" pitchFamily="18" charset="0"/>
                              </a:rPr>
                            </m:ctrlPr>
                          </m:dPr>
                          <m:e>
                            <m:r>
                              <m:rPr>
                                <m:sty m:val="p"/>
                              </m:rPr>
                              <a:rPr lang="en-US" altLang="zh-TW" sz="2800" b="0" i="0" dirty="0" smtClean="0">
                                <a:latin typeface="Cambria Math"/>
                              </a:rPr>
                              <m:t>D</m:t>
                            </m:r>
                            <m:r>
                              <a:rPr lang="en-US" altLang="zh-TW" sz="2800" b="0" i="0" dirty="0" smtClean="0">
                                <a:latin typeface="Cambria Math"/>
                              </a:rPr>
                              <m:t>1</m:t>
                            </m:r>
                          </m:e>
                        </m:d>
                        <m:r>
                          <a:rPr lang="en-US" altLang="zh-TW" sz="2800" b="0" i="1" dirty="0" smtClean="0">
                            <a:latin typeface="Cambria Math"/>
                          </a:rPr>
                          <m:t>𝐼</m:t>
                        </m:r>
                        <m:d>
                          <m:dPr>
                            <m:ctrlPr>
                              <a:rPr lang="en-US" altLang="zh-TW" sz="2800" b="0" i="1" dirty="0" smtClean="0">
                                <a:latin typeface="Cambria Math" panose="02040503050406030204" pitchFamily="18" charset="0"/>
                              </a:rPr>
                            </m:ctrlPr>
                          </m:dPr>
                          <m:e>
                            <m:r>
                              <m:rPr>
                                <m:sty m:val="p"/>
                              </m:rPr>
                              <a:rPr lang="en-US" altLang="zh-TW" sz="2800" b="0" i="0" dirty="0" smtClean="0">
                                <a:latin typeface="Cambria Math"/>
                              </a:rPr>
                              <m:t>D</m:t>
                            </m:r>
                            <m:r>
                              <a:rPr lang="en-US" altLang="zh-TW" sz="2800" b="0" i="0" dirty="0" smtClean="0">
                                <a:latin typeface="Cambria Math"/>
                              </a:rPr>
                              <m:t>1</m:t>
                            </m:r>
                          </m:e>
                        </m:d>
                        <m:r>
                          <a:rPr lang="en-US" altLang="zh-TW" sz="2800" b="0" i="1" dirty="0" smtClean="0">
                            <a:latin typeface="Cambria Math"/>
                          </a:rPr>
                          <m:t>+</m:t>
                        </m:r>
                        <m:r>
                          <a:rPr lang="en-US" altLang="zh-TW" sz="2800" b="0" i="1" dirty="0" smtClean="0">
                            <a:latin typeface="Cambria Math"/>
                          </a:rPr>
                          <m:t>𝑓</m:t>
                        </m:r>
                        <m:d>
                          <m:dPr>
                            <m:ctrlPr>
                              <a:rPr lang="en-US" altLang="zh-TW" sz="2800" b="0" i="1" dirty="0" smtClean="0">
                                <a:latin typeface="Cambria Math" panose="02040503050406030204" pitchFamily="18" charset="0"/>
                              </a:rPr>
                            </m:ctrlPr>
                          </m:dPr>
                          <m:e>
                            <m:r>
                              <m:rPr>
                                <m:sty m:val="p"/>
                              </m:rPr>
                              <a:rPr lang="en-US" altLang="zh-TW" sz="2800" b="0" i="0" dirty="0" smtClean="0">
                                <a:latin typeface="Cambria Math"/>
                              </a:rPr>
                              <m:t>D</m:t>
                            </m:r>
                            <m:r>
                              <a:rPr lang="en-US" altLang="zh-TW" sz="2800" b="0" i="0" dirty="0" smtClean="0">
                                <a:latin typeface="Cambria Math"/>
                              </a:rPr>
                              <m:t>2</m:t>
                            </m:r>
                          </m:e>
                        </m:d>
                        <m:r>
                          <a:rPr lang="en-US" altLang="zh-TW" sz="2800" b="0" i="1" dirty="0" smtClean="0">
                            <a:latin typeface="Cambria Math"/>
                          </a:rPr>
                          <m:t>𝐼</m:t>
                        </m:r>
                        <m:d>
                          <m:dPr>
                            <m:ctrlPr>
                              <a:rPr lang="en-US" altLang="zh-TW" sz="2800" b="0" i="1" dirty="0" smtClean="0">
                                <a:latin typeface="Cambria Math" panose="02040503050406030204" pitchFamily="18" charset="0"/>
                              </a:rPr>
                            </m:ctrlPr>
                          </m:dPr>
                          <m:e>
                            <m:r>
                              <m:rPr>
                                <m:sty m:val="p"/>
                              </m:rPr>
                              <a:rPr lang="en-US" altLang="zh-TW" sz="2800" b="0" i="0" dirty="0" smtClean="0">
                                <a:latin typeface="Cambria Math"/>
                              </a:rPr>
                              <m:t>D</m:t>
                            </m:r>
                            <m:r>
                              <a:rPr lang="en-US" altLang="zh-TW" sz="2800" b="0" i="0" dirty="0" smtClean="0">
                                <a:latin typeface="Cambria Math"/>
                              </a:rPr>
                              <m:t>2</m:t>
                            </m:r>
                          </m:e>
                        </m:d>
                      </m:e>
                    </m:d>
                  </m:oMath>
                </a14:m>
                <a:endParaRPr lang="en-US" altLang="zh-TW" sz="2800" dirty="0" smtClean="0"/>
              </a:p>
              <a:p>
                <a:pPr marL="0" indent="0">
                  <a:buNone/>
                </a:pPr>
                <a:r>
                  <a:rPr lang="en-US" altLang="zh-TW" sz="2800" dirty="0" smtClean="0"/>
                  <a:t/>
                </a:r>
                <a:br>
                  <a:rPr lang="en-US" altLang="zh-TW" sz="2800" dirty="0" smtClean="0"/>
                </a:br>
                <a:endParaRPr lang="en-US" altLang="zh-TW" sz="2800" dirty="0" smtClean="0"/>
              </a:p>
              <a:p>
                <a14:m>
                  <m:oMath xmlns:m="http://schemas.openxmlformats.org/officeDocument/2006/math">
                    <m:r>
                      <a:rPr lang="en-US" altLang="zh-TW" sz="2800" b="0" i="1" dirty="0" smtClean="0">
                        <a:latin typeface="Cambria Math"/>
                      </a:rPr>
                      <m:t>𝐼</m:t>
                    </m:r>
                    <m:d>
                      <m:dPr>
                        <m:ctrlPr>
                          <a:rPr lang="en-US" altLang="zh-TW" sz="2800" b="0" i="1" dirty="0" smtClean="0">
                            <a:latin typeface="Cambria Math" panose="02040503050406030204" pitchFamily="18" charset="0"/>
                          </a:rPr>
                        </m:ctrlPr>
                      </m:dPr>
                      <m:e>
                        <m:r>
                          <m:rPr>
                            <m:sty m:val="p"/>
                          </m:rPr>
                          <a:rPr lang="en-US" altLang="zh-TW" sz="2800" b="0" i="0" dirty="0" smtClean="0">
                            <a:latin typeface="Cambria Math"/>
                          </a:rPr>
                          <m:t>D</m:t>
                        </m:r>
                      </m:e>
                    </m:d>
                  </m:oMath>
                </a14:m>
                <a:r>
                  <a:rPr lang="en-US" altLang="zh-TW" sz="2800" dirty="0" smtClean="0"/>
                  <a:t> is the entropy of D. </a:t>
                </a:r>
                <a:r>
                  <a:rPr lang="en-US" altLang="zh-TW" sz="2800" dirty="0"/>
                  <a:t>A time series dataset D consists of </a:t>
                </a:r>
                <a:r>
                  <a:rPr lang="en-US" altLang="zh-TW" sz="2800" dirty="0" smtClean="0"/>
                  <a:t>two classes</a:t>
                </a:r>
                <a:r>
                  <a:rPr lang="en-US" altLang="zh-TW" sz="2800" dirty="0"/>
                  <a:t>, A and B</a:t>
                </a:r>
                <a:r>
                  <a:rPr lang="en-US" altLang="zh-TW" sz="2800" dirty="0" smtClean="0"/>
                  <a:t>. </a:t>
                </a:r>
                <a:r>
                  <a:rPr lang="en-US" altLang="zh-TW" sz="2800" dirty="0"/>
                  <a:t>Given that the proportion of objects in class A </a:t>
                </a:r>
                <a:r>
                  <a:rPr lang="en-US" altLang="zh-TW" sz="2800" dirty="0" smtClean="0"/>
                  <a:t>is </a:t>
                </a:r>
                <a:r>
                  <a:rPr lang="en-US" altLang="zh-TW" sz="2800" i="1" dirty="0" smtClean="0"/>
                  <a:t>p(A</a:t>
                </a:r>
                <a:r>
                  <a:rPr lang="en-US" altLang="zh-TW" sz="2800" i="1" dirty="0"/>
                  <a:t>)</a:t>
                </a:r>
                <a:r>
                  <a:rPr lang="en-US" altLang="zh-TW" sz="2800" dirty="0"/>
                  <a:t> and the proportion of objects in class B is p(B), the </a:t>
                </a:r>
                <a:r>
                  <a:rPr lang="en-US" altLang="zh-TW" sz="2800" dirty="0" smtClean="0"/>
                  <a:t>entropy of </a:t>
                </a:r>
                <a:r>
                  <a:rPr lang="en-US" altLang="zh-TW" sz="2800" dirty="0"/>
                  <a:t>D is</a:t>
                </a:r>
                <a:r>
                  <a:rPr lang="en-US" altLang="zh-TW" sz="2800" dirty="0" smtClean="0"/>
                  <a:t>:</a:t>
                </a:r>
                <a:br>
                  <a:rPr lang="en-US" altLang="zh-TW" sz="2800" dirty="0" smtClean="0"/>
                </a:br>
                <a14:m>
                  <m:oMath xmlns:m="http://schemas.openxmlformats.org/officeDocument/2006/math">
                    <m:r>
                      <a:rPr lang="en-US" altLang="zh-TW" sz="2800" b="0" i="1" dirty="0" smtClean="0">
                        <a:latin typeface="Cambria Math"/>
                      </a:rPr>
                      <m:t>𝐼</m:t>
                    </m:r>
                    <m:d>
                      <m:dPr>
                        <m:ctrlPr>
                          <a:rPr lang="en-US" altLang="zh-TW" sz="2800" b="0" i="1" dirty="0" smtClean="0">
                            <a:latin typeface="Cambria Math" panose="02040503050406030204" pitchFamily="18" charset="0"/>
                          </a:rPr>
                        </m:ctrlPr>
                      </m:dPr>
                      <m:e>
                        <m:r>
                          <m:rPr>
                            <m:sty m:val="p"/>
                          </m:rPr>
                          <a:rPr lang="en-US" altLang="zh-TW" sz="2800" b="0" i="0" dirty="0" smtClean="0">
                            <a:latin typeface="Cambria Math"/>
                          </a:rPr>
                          <m:t>D</m:t>
                        </m:r>
                      </m:e>
                    </m:d>
                    <m:r>
                      <a:rPr lang="en-US" altLang="zh-TW" sz="2800" b="0" i="1" dirty="0" smtClean="0">
                        <a:latin typeface="Cambria Math"/>
                      </a:rPr>
                      <m:t>= −</m:t>
                    </m:r>
                    <m:r>
                      <a:rPr lang="en-US" altLang="zh-TW" sz="2800" b="0" i="1" dirty="0" smtClean="0">
                        <a:latin typeface="Cambria Math"/>
                      </a:rPr>
                      <m:t>𝑝</m:t>
                    </m:r>
                    <m:d>
                      <m:dPr>
                        <m:ctrlPr>
                          <a:rPr lang="en-US" altLang="zh-TW" sz="2800" b="0" i="1" dirty="0" smtClean="0">
                            <a:latin typeface="Cambria Math" panose="02040503050406030204" pitchFamily="18" charset="0"/>
                          </a:rPr>
                        </m:ctrlPr>
                      </m:dPr>
                      <m:e>
                        <m:r>
                          <a:rPr lang="en-US" altLang="zh-TW" sz="2800" b="0" i="1" dirty="0" smtClean="0">
                            <a:latin typeface="Cambria Math"/>
                          </a:rPr>
                          <m:t>𝐴</m:t>
                        </m:r>
                      </m:e>
                    </m:d>
                    <m:func>
                      <m:funcPr>
                        <m:ctrlPr>
                          <a:rPr lang="en-US" altLang="zh-TW" sz="2800" b="0" i="1" dirty="0" smtClean="0">
                            <a:latin typeface="Cambria Math" panose="02040503050406030204" pitchFamily="18" charset="0"/>
                          </a:rPr>
                        </m:ctrlPr>
                      </m:funcPr>
                      <m:fName>
                        <m:r>
                          <m:rPr>
                            <m:sty m:val="p"/>
                          </m:rPr>
                          <a:rPr lang="en-US" altLang="zh-TW" sz="2800" b="0" i="0" dirty="0" smtClean="0">
                            <a:latin typeface="Cambria Math"/>
                          </a:rPr>
                          <m:t>log</m:t>
                        </m:r>
                      </m:fName>
                      <m:e>
                        <m:d>
                          <m:dPr>
                            <m:ctrlPr>
                              <a:rPr lang="en-US" altLang="zh-TW" sz="2800" b="0" i="1" dirty="0" smtClean="0">
                                <a:latin typeface="Cambria Math" panose="02040503050406030204" pitchFamily="18" charset="0"/>
                              </a:rPr>
                            </m:ctrlPr>
                          </m:dPr>
                          <m:e>
                            <m:r>
                              <a:rPr lang="en-US" altLang="zh-TW" sz="2800" b="0" i="1" dirty="0" smtClean="0">
                                <a:latin typeface="Cambria Math"/>
                              </a:rPr>
                              <m:t>𝑝</m:t>
                            </m:r>
                            <m:d>
                              <m:dPr>
                                <m:ctrlPr>
                                  <a:rPr lang="en-US" altLang="zh-TW" sz="2800" b="0" i="1" dirty="0" smtClean="0">
                                    <a:latin typeface="Cambria Math" panose="02040503050406030204" pitchFamily="18" charset="0"/>
                                  </a:rPr>
                                </m:ctrlPr>
                              </m:dPr>
                              <m:e>
                                <m:r>
                                  <a:rPr lang="en-US" altLang="zh-TW" sz="2800" b="0" i="1" dirty="0" smtClean="0">
                                    <a:latin typeface="Cambria Math"/>
                                  </a:rPr>
                                  <m:t>𝐴</m:t>
                                </m:r>
                              </m:e>
                            </m:d>
                          </m:e>
                        </m:d>
                      </m:e>
                    </m:func>
                    <m:r>
                      <a:rPr lang="en-US" altLang="zh-TW" sz="2800" b="0" i="1" dirty="0" smtClean="0">
                        <a:latin typeface="Cambria Math"/>
                      </a:rPr>
                      <m:t>−</m:t>
                    </m:r>
                    <m:r>
                      <a:rPr lang="en-US" altLang="zh-TW" sz="2800" b="0" i="1" dirty="0" smtClean="0">
                        <a:latin typeface="Cambria Math"/>
                      </a:rPr>
                      <m:t>𝑝</m:t>
                    </m:r>
                    <m:d>
                      <m:dPr>
                        <m:ctrlPr>
                          <a:rPr lang="en-US" altLang="zh-TW" sz="2800" b="0" i="1" dirty="0" smtClean="0">
                            <a:latin typeface="Cambria Math" panose="02040503050406030204" pitchFamily="18" charset="0"/>
                          </a:rPr>
                        </m:ctrlPr>
                      </m:dPr>
                      <m:e>
                        <m:r>
                          <a:rPr lang="en-US" altLang="zh-TW" sz="2800" b="0" i="1" dirty="0" smtClean="0">
                            <a:latin typeface="Cambria Math"/>
                          </a:rPr>
                          <m:t>𝐵</m:t>
                        </m:r>
                      </m:e>
                    </m:d>
                    <m:r>
                      <m:rPr>
                        <m:sty m:val="p"/>
                      </m:rPr>
                      <a:rPr lang="en-US" altLang="zh-TW" sz="2800" b="0" i="0" dirty="0" smtClean="0">
                        <a:latin typeface="Cambria Math"/>
                      </a:rPr>
                      <m:t>log</m:t>
                    </m:r>
                    <m:r>
                      <a:rPr lang="en-US" altLang="zh-TW" sz="2800" b="0" i="1" dirty="0" smtClean="0">
                        <a:latin typeface="Cambria Math"/>
                      </a:rPr>
                      <m:t>⁡(</m:t>
                    </m:r>
                    <m:r>
                      <a:rPr lang="en-US" altLang="zh-TW" sz="2800" b="0" i="1" dirty="0" smtClean="0">
                        <a:latin typeface="Cambria Math"/>
                      </a:rPr>
                      <m:t>𝑝</m:t>
                    </m:r>
                    <m:r>
                      <a:rPr lang="en-US" altLang="zh-TW" sz="2800" b="0" i="1" dirty="0" smtClean="0">
                        <a:latin typeface="Cambria Math"/>
                      </a:rPr>
                      <m:t>(</m:t>
                    </m:r>
                    <m:r>
                      <a:rPr lang="en-US" altLang="zh-TW" sz="2800" b="0" i="1" dirty="0" smtClean="0">
                        <a:latin typeface="Cambria Math"/>
                      </a:rPr>
                      <m:t>𝐵</m:t>
                    </m:r>
                    <m:r>
                      <a:rPr lang="en-US" altLang="zh-TW" sz="2800" b="0" i="1" dirty="0" smtClean="0">
                        <a:latin typeface="Cambria Math"/>
                      </a:rPr>
                      <m:t>))</m:t>
                    </m:r>
                  </m:oMath>
                </a14:m>
                <a:endParaRPr lang="en-US" altLang="zh-TW" sz="2800" dirty="0" smtClean="0"/>
              </a:p>
              <a:p>
                <a:endParaRPr lang="en-US" altLang="zh-TW" sz="2800" dirty="0" smtClean="0"/>
              </a:p>
              <a:p>
                <a:pPr marL="0" indent="0">
                  <a:buNone/>
                </a:pPr>
                <a:r>
                  <a:rPr lang="en-US" altLang="zh-TW" b="0" dirty="0" smtClean="0"/>
                  <a:t/>
                </a:r>
                <a:br>
                  <a:rPr lang="en-US" altLang="zh-TW" b="0" dirty="0" smtClean="0"/>
                </a:br>
                <a:endParaRPr lang="en-US" altLang="zh-TW" dirty="0" smtClean="0"/>
              </a:p>
              <a:p>
                <a:endParaRPr lang="en-US" altLang="zh-TW" dirty="0" smtClean="0"/>
              </a:p>
              <a:p>
                <a:endParaRPr lang="en-US" altLang="zh-TW" dirty="0"/>
              </a:p>
              <a:p>
                <a:endParaRPr lang="en-US" altLang="zh-TW" dirty="0" smtClean="0"/>
              </a:p>
              <a:p>
                <a:endParaRPr lang="en-US" altLang="zh-TW" dirty="0" smtClean="0"/>
              </a:p>
              <a:p>
                <a:endParaRPr lang="en-US" altLang="zh-TW"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0" y="764704"/>
                <a:ext cx="9144000" cy="5544616"/>
              </a:xfrm>
              <a:blipFill rotWithShape="0">
                <a:blip r:embed="rId2"/>
                <a:stretch>
                  <a:fillRect l="-1533" t="-2308" r="-1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21337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3408"/>
            <a:ext cx="8229600" cy="1143000"/>
          </a:xfrm>
        </p:spPr>
        <p:txBody>
          <a:bodyPr/>
          <a:lstStyle/>
          <a:p>
            <a:r>
              <a:rPr lang="en-US" altLang="zh-TW" dirty="0" smtClean="0"/>
              <a:t>Definitions</a:t>
            </a:r>
            <a:endParaRPr lang="zh-TW" altLang="en-US" dirty="0"/>
          </a:p>
        </p:txBody>
      </p:sp>
      <p:sp>
        <p:nvSpPr>
          <p:cNvPr id="3" name="內容版面配置區 2"/>
          <p:cNvSpPr>
            <a:spLocks noGrp="1"/>
          </p:cNvSpPr>
          <p:nvPr>
            <p:ph idx="1"/>
          </p:nvPr>
        </p:nvSpPr>
        <p:spPr>
          <a:xfrm>
            <a:off x="0" y="548680"/>
            <a:ext cx="9252520" cy="5760640"/>
          </a:xfrm>
        </p:spPr>
        <p:txBody>
          <a:bodyPr>
            <a:normAutofit fontScale="92500" lnSpcReduction="10000"/>
          </a:bodyPr>
          <a:lstStyle/>
          <a:p>
            <a:r>
              <a:rPr lang="en-US" altLang="zh-TW" sz="2800" dirty="0" smtClean="0"/>
              <a:t>Example:</a:t>
            </a:r>
            <a:br>
              <a:rPr lang="en-US" altLang="zh-TW" sz="2800" dirty="0" smtClean="0"/>
            </a:br>
            <a:r>
              <a:rPr lang="en-US" altLang="zh-TW" sz="2600" dirty="0" smtClean="0">
                <a:solidFill>
                  <a:srgbClr val="00B050"/>
                </a:solidFill>
              </a:rPr>
              <a:t>Ten</a:t>
            </a:r>
            <a:r>
              <a:rPr lang="en-US" altLang="zh-TW" sz="2600" dirty="0" smtClean="0"/>
              <a:t> </a:t>
            </a:r>
            <a:r>
              <a:rPr lang="en-US" altLang="zh-TW" sz="2600" dirty="0"/>
              <a:t>time series objects are </a:t>
            </a:r>
            <a:r>
              <a:rPr lang="en-US" altLang="zh-TW" sz="2600" dirty="0" smtClean="0"/>
              <a:t>arranged in </a:t>
            </a:r>
            <a:r>
              <a:rPr lang="en-US" altLang="zh-TW" sz="2600" dirty="0"/>
              <a:t>a one-dimensional representation by measuring their distance </a:t>
            </a:r>
            <a:r>
              <a:rPr lang="en-US" altLang="zh-TW" sz="2600" dirty="0" smtClean="0"/>
              <a:t>to the </a:t>
            </a:r>
            <a:r>
              <a:rPr lang="en-US" altLang="zh-TW" sz="2600" dirty="0"/>
              <a:t>best-so-far candidate. This happens to be a good case, with </a:t>
            </a:r>
            <a:r>
              <a:rPr lang="en-US" altLang="zh-TW" sz="2600" dirty="0" smtClean="0">
                <a:solidFill>
                  <a:srgbClr val="FF00FF"/>
                </a:solidFill>
              </a:rPr>
              <a:t>five</a:t>
            </a:r>
            <a:r>
              <a:rPr lang="en-US" altLang="zh-TW" sz="2600" dirty="0" smtClean="0"/>
              <a:t> of </a:t>
            </a:r>
            <a:r>
              <a:rPr lang="en-US" altLang="zh-TW" sz="2600" dirty="0"/>
              <a:t>the </a:t>
            </a:r>
            <a:r>
              <a:rPr lang="en-US" altLang="zh-TW" sz="2600" dirty="0">
                <a:solidFill>
                  <a:srgbClr val="0000FF"/>
                </a:solidFill>
              </a:rPr>
              <a:t>six</a:t>
            </a:r>
            <a:r>
              <a:rPr lang="en-US" altLang="zh-TW" sz="2600" dirty="0"/>
              <a:t> objects from class A (represented by circles) closer to </a:t>
            </a:r>
            <a:r>
              <a:rPr lang="en-US" altLang="zh-TW" sz="2600" dirty="0" smtClean="0"/>
              <a:t>the candidate </a:t>
            </a:r>
            <a:r>
              <a:rPr lang="en-US" altLang="zh-TW" sz="2600" dirty="0"/>
              <a:t>than any of the </a:t>
            </a:r>
            <a:r>
              <a:rPr lang="en-US" altLang="zh-TW" sz="2600" dirty="0">
                <a:solidFill>
                  <a:srgbClr val="FF0000"/>
                </a:solidFill>
              </a:rPr>
              <a:t>four</a:t>
            </a:r>
            <a:r>
              <a:rPr lang="en-US" altLang="zh-TW" sz="2600" dirty="0"/>
              <a:t> objects from class B </a:t>
            </a:r>
            <a:r>
              <a:rPr lang="en-US" altLang="zh-TW" sz="2600" dirty="0" smtClean="0"/>
              <a:t>(represented by squares</a:t>
            </a:r>
            <a:r>
              <a:rPr lang="en-US" altLang="zh-TW" sz="2600" dirty="0"/>
              <a:t>). In addition, of the</a:t>
            </a:r>
            <a:r>
              <a:rPr lang="en-US" altLang="zh-TW" sz="2600" dirty="0">
                <a:solidFill>
                  <a:schemeClr val="accent2">
                    <a:lumMod val="75000"/>
                  </a:schemeClr>
                </a:solidFill>
              </a:rPr>
              <a:t> </a:t>
            </a:r>
            <a:r>
              <a:rPr lang="en-US" altLang="zh-TW" sz="2600" dirty="0">
                <a:solidFill>
                  <a:srgbClr val="996633"/>
                </a:solidFill>
              </a:rPr>
              <a:t>five</a:t>
            </a:r>
            <a:r>
              <a:rPr lang="en-US" altLang="zh-TW" sz="2600" dirty="0">
                <a:solidFill>
                  <a:schemeClr val="accent2">
                    <a:lumMod val="75000"/>
                  </a:schemeClr>
                </a:solidFill>
              </a:rPr>
              <a:t> </a:t>
            </a:r>
            <a:r>
              <a:rPr lang="en-US" altLang="zh-TW" sz="2600" dirty="0"/>
              <a:t>objects to the right of the </a:t>
            </a:r>
            <a:r>
              <a:rPr lang="en-US" altLang="zh-TW" sz="2600" dirty="0" smtClean="0"/>
              <a:t>split point</a:t>
            </a:r>
            <a:r>
              <a:rPr lang="en-US" altLang="zh-TW" sz="2600" dirty="0"/>
              <a:t>, only </a:t>
            </a:r>
            <a:r>
              <a:rPr lang="en-US" altLang="zh-TW" sz="2600" dirty="0">
                <a:solidFill>
                  <a:srgbClr val="FF9900"/>
                </a:solidFill>
              </a:rPr>
              <a:t>one</a:t>
            </a:r>
            <a:r>
              <a:rPr lang="en-US" altLang="zh-TW" sz="2600" dirty="0"/>
              <a:t> object from class A is mixed up with the class B. </a:t>
            </a:r>
            <a:r>
              <a:rPr lang="en-US" altLang="zh-TW" sz="2600" dirty="0" smtClean="0"/>
              <a:t>The optimal </a:t>
            </a:r>
            <a:r>
              <a:rPr lang="en-US" altLang="zh-TW" sz="2600" dirty="0"/>
              <a:t>split point is represented by a vertical dashed line, and </a:t>
            </a:r>
            <a:r>
              <a:rPr lang="en-US" altLang="zh-TW" sz="2600" dirty="0" smtClean="0"/>
              <a:t>the best-so-far </a:t>
            </a:r>
            <a:r>
              <a:rPr lang="en-US" altLang="zh-TW" sz="2600" dirty="0"/>
              <a:t>information gain is</a:t>
            </a:r>
            <a:r>
              <a:rPr lang="en-US" altLang="zh-TW" sz="2600" dirty="0" smtClean="0"/>
              <a:t>:</a:t>
            </a:r>
            <a:r>
              <a:rPr lang="en-US" altLang="zh-TW" sz="2600" dirty="0"/>
              <a:t> </a:t>
            </a:r>
            <a:r>
              <a:rPr lang="en-US" altLang="zh-TW" sz="2600" dirty="0" smtClean="0"/>
              <a:t/>
            </a:r>
            <a:br>
              <a:rPr lang="en-US" altLang="zh-TW" sz="2600" dirty="0" smtClean="0"/>
            </a:br>
            <a:r>
              <a:rPr lang="en-US" altLang="zh-TW" dirty="0" smtClean="0"/>
              <a:t/>
            </a:r>
            <a:br>
              <a:rPr lang="en-US" altLang="zh-TW" dirty="0" smtClean="0"/>
            </a:br>
            <a:r>
              <a:rPr lang="en-US" altLang="zh-TW" sz="2600" dirty="0" smtClean="0"/>
              <a:t>[-(</a:t>
            </a:r>
            <a:r>
              <a:rPr lang="en-US" altLang="zh-TW" sz="2600" dirty="0">
                <a:solidFill>
                  <a:srgbClr val="0000FF"/>
                </a:solidFill>
              </a:rPr>
              <a:t>6</a:t>
            </a:r>
            <a:r>
              <a:rPr lang="en-US" altLang="zh-TW" sz="2600" dirty="0"/>
              <a:t>/</a:t>
            </a:r>
            <a:r>
              <a:rPr lang="en-US" altLang="zh-TW" sz="2600" dirty="0">
                <a:solidFill>
                  <a:srgbClr val="00B050"/>
                </a:solidFill>
              </a:rPr>
              <a:t>10</a:t>
            </a:r>
            <a:r>
              <a:rPr lang="en-US" altLang="zh-TW" sz="2600" dirty="0"/>
              <a:t>)log(</a:t>
            </a:r>
            <a:r>
              <a:rPr lang="en-US" altLang="zh-TW" sz="2600" dirty="0">
                <a:solidFill>
                  <a:srgbClr val="0000FF"/>
                </a:solidFill>
              </a:rPr>
              <a:t>6</a:t>
            </a:r>
            <a:r>
              <a:rPr lang="en-US" altLang="zh-TW" sz="2600" dirty="0"/>
              <a:t>/</a:t>
            </a:r>
            <a:r>
              <a:rPr lang="en-US" altLang="zh-TW" sz="2600" dirty="0">
                <a:solidFill>
                  <a:srgbClr val="00B050"/>
                </a:solidFill>
              </a:rPr>
              <a:t>10</a:t>
            </a:r>
            <a:r>
              <a:rPr lang="en-US" altLang="zh-TW" sz="2600" dirty="0" smtClean="0"/>
              <a:t>) - (</a:t>
            </a:r>
            <a:r>
              <a:rPr lang="en-US" altLang="zh-TW" sz="2600" dirty="0">
                <a:solidFill>
                  <a:srgbClr val="FF0000"/>
                </a:solidFill>
              </a:rPr>
              <a:t>4</a:t>
            </a:r>
            <a:r>
              <a:rPr lang="en-US" altLang="zh-TW" sz="2600" dirty="0"/>
              <a:t>/</a:t>
            </a:r>
            <a:r>
              <a:rPr lang="en-US" altLang="zh-TW" sz="2600" dirty="0">
                <a:solidFill>
                  <a:srgbClr val="00B050"/>
                </a:solidFill>
              </a:rPr>
              <a:t>10</a:t>
            </a:r>
            <a:r>
              <a:rPr lang="en-US" altLang="zh-TW" sz="2600" dirty="0"/>
              <a:t>)log(</a:t>
            </a:r>
            <a:r>
              <a:rPr lang="en-US" altLang="zh-TW" sz="2600" dirty="0">
                <a:solidFill>
                  <a:srgbClr val="FF0000"/>
                </a:solidFill>
              </a:rPr>
              <a:t>4</a:t>
            </a:r>
            <a:r>
              <a:rPr lang="en-US" altLang="zh-TW" sz="2600" dirty="0"/>
              <a:t>/</a:t>
            </a:r>
            <a:r>
              <a:rPr lang="en-US" altLang="zh-TW" sz="2600" dirty="0">
                <a:solidFill>
                  <a:srgbClr val="00B050"/>
                </a:solidFill>
              </a:rPr>
              <a:t>10</a:t>
            </a:r>
            <a:r>
              <a:rPr lang="en-US" altLang="zh-TW" sz="2600" dirty="0"/>
              <a:t>)] </a:t>
            </a:r>
            <a:r>
              <a:rPr lang="en-US" altLang="zh-TW" sz="2600" dirty="0" smtClean="0"/>
              <a:t>– </a:t>
            </a:r>
            <a:br>
              <a:rPr lang="en-US" altLang="zh-TW" sz="2600" dirty="0" smtClean="0"/>
            </a:br>
            <a:r>
              <a:rPr lang="en-US" altLang="zh-TW" sz="2600" dirty="0" smtClean="0"/>
              <a:t>[(</a:t>
            </a:r>
            <a:r>
              <a:rPr lang="en-US" altLang="zh-TW" sz="2600" dirty="0"/>
              <a:t>5/</a:t>
            </a:r>
            <a:r>
              <a:rPr lang="en-US" altLang="zh-TW" sz="2600" dirty="0">
                <a:solidFill>
                  <a:srgbClr val="00B050"/>
                </a:solidFill>
              </a:rPr>
              <a:t>10</a:t>
            </a:r>
            <a:r>
              <a:rPr lang="en-US" altLang="zh-TW" sz="2600" dirty="0"/>
              <a:t>)[-(</a:t>
            </a:r>
            <a:r>
              <a:rPr lang="en-US" altLang="zh-TW" sz="2600" dirty="0">
                <a:solidFill>
                  <a:srgbClr val="FF00FF"/>
                </a:solidFill>
              </a:rPr>
              <a:t>5</a:t>
            </a:r>
            <a:r>
              <a:rPr lang="en-US" altLang="zh-TW" sz="2600" dirty="0"/>
              <a:t>/5)log(</a:t>
            </a:r>
            <a:r>
              <a:rPr lang="en-US" altLang="zh-TW" sz="2600" dirty="0">
                <a:solidFill>
                  <a:srgbClr val="FF00FF"/>
                </a:solidFill>
              </a:rPr>
              <a:t>5</a:t>
            </a:r>
            <a:r>
              <a:rPr lang="en-US" altLang="zh-TW" sz="2600" dirty="0"/>
              <a:t>/5</a:t>
            </a:r>
            <a:r>
              <a:rPr lang="en-US" altLang="zh-TW" sz="2600" dirty="0" smtClean="0"/>
              <a:t>)] + (</a:t>
            </a:r>
            <a:r>
              <a:rPr lang="en-US" altLang="zh-TW" sz="2600" dirty="0">
                <a:solidFill>
                  <a:srgbClr val="996633"/>
                </a:solidFill>
              </a:rPr>
              <a:t>5</a:t>
            </a:r>
            <a:r>
              <a:rPr lang="en-US" altLang="zh-TW" sz="2600" dirty="0"/>
              <a:t>/</a:t>
            </a:r>
            <a:r>
              <a:rPr lang="en-US" altLang="zh-TW" sz="2600" dirty="0">
                <a:solidFill>
                  <a:srgbClr val="00B050"/>
                </a:solidFill>
              </a:rPr>
              <a:t>10</a:t>
            </a:r>
            <a:r>
              <a:rPr lang="en-US" altLang="zh-TW" sz="2600" dirty="0"/>
              <a:t>)[-(</a:t>
            </a:r>
            <a:r>
              <a:rPr lang="en-US" altLang="zh-TW" sz="2600" dirty="0">
                <a:solidFill>
                  <a:srgbClr val="FF0000"/>
                </a:solidFill>
              </a:rPr>
              <a:t>4</a:t>
            </a:r>
            <a:r>
              <a:rPr lang="en-US" altLang="zh-TW" sz="2600" dirty="0"/>
              <a:t>/</a:t>
            </a:r>
            <a:r>
              <a:rPr lang="en-US" altLang="zh-TW" sz="2600" dirty="0">
                <a:solidFill>
                  <a:srgbClr val="996633"/>
                </a:solidFill>
              </a:rPr>
              <a:t>5</a:t>
            </a:r>
            <a:r>
              <a:rPr lang="en-US" altLang="zh-TW" sz="2600" dirty="0"/>
              <a:t>)log(</a:t>
            </a:r>
            <a:r>
              <a:rPr lang="en-US" altLang="zh-TW" sz="2600" dirty="0">
                <a:solidFill>
                  <a:srgbClr val="FF0000"/>
                </a:solidFill>
              </a:rPr>
              <a:t>4</a:t>
            </a:r>
            <a:r>
              <a:rPr lang="en-US" altLang="zh-TW" sz="2600" dirty="0"/>
              <a:t>/</a:t>
            </a:r>
            <a:r>
              <a:rPr lang="en-US" altLang="zh-TW" sz="2600" dirty="0">
                <a:solidFill>
                  <a:srgbClr val="996633"/>
                </a:solidFill>
              </a:rPr>
              <a:t>5</a:t>
            </a:r>
            <a:r>
              <a:rPr lang="en-US" altLang="zh-TW" sz="2600" dirty="0" smtClean="0"/>
              <a:t>) - (</a:t>
            </a:r>
            <a:r>
              <a:rPr lang="en-US" altLang="zh-TW" sz="2600" dirty="0">
                <a:solidFill>
                  <a:schemeClr val="accent6">
                    <a:lumMod val="75000"/>
                  </a:schemeClr>
                </a:solidFill>
              </a:rPr>
              <a:t>1</a:t>
            </a:r>
            <a:r>
              <a:rPr lang="en-US" altLang="zh-TW" sz="2600" dirty="0"/>
              <a:t>/</a:t>
            </a:r>
            <a:r>
              <a:rPr lang="en-US" altLang="zh-TW" sz="2600" dirty="0">
                <a:solidFill>
                  <a:srgbClr val="996633"/>
                </a:solidFill>
              </a:rPr>
              <a:t>5</a:t>
            </a:r>
            <a:r>
              <a:rPr lang="en-US" altLang="zh-TW" sz="2600" dirty="0"/>
              <a:t>)log(</a:t>
            </a:r>
            <a:r>
              <a:rPr lang="en-US" altLang="zh-TW" sz="2600" dirty="0">
                <a:solidFill>
                  <a:schemeClr val="accent6">
                    <a:lumMod val="75000"/>
                  </a:schemeClr>
                </a:solidFill>
              </a:rPr>
              <a:t>1</a:t>
            </a:r>
            <a:r>
              <a:rPr lang="en-US" altLang="zh-TW" sz="2600" dirty="0"/>
              <a:t>/</a:t>
            </a:r>
            <a:r>
              <a:rPr lang="en-US" altLang="zh-TW" sz="2600" dirty="0">
                <a:solidFill>
                  <a:srgbClr val="996633"/>
                </a:solidFill>
              </a:rPr>
              <a:t>5</a:t>
            </a:r>
            <a:r>
              <a:rPr lang="en-US" altLang="zh-TW" sz="2600" dirty="0" smtClean="0"/>
              <a:t>)]]</a:t>
            </a:r>
            <a:br>
              <a:rPr lang="en-US" altLang="zh-TW" sz="2600" dirty="0" smtClean="0"/>
            </a:br>
            <a:r>
              <a:rPr lang="en-US" altLang="zh-TW" sz="2600" dirty="0" smtClean="0"/>
              <a:t>= 0.4228</a:t>
            </a:r>
            <a:r>
              <a:rPr lang="en-US" altLang="zh-TW" b="0" dirty="0" smtClean="0"/>
              <a:t/>
            </a:r>
            <a:br>
              <a:rPr lang="en-US" altLang="zh-TW" b="0" dirty="0" smtClean="0"/>
            </a:br>
            <a:endParaRPr lang="en-US" altLang="zh-TW" dirty="0" smtClean="0"/>
          </a:p>
          <a:p>
            <a:endParaRPr lang="en-US" altLang="zh-TW" dirty="0" smtClean="0"/>
          </a:p>
          <a:p>
            <a:endParaRPr lang="en-US" altLang="zh-TW" dirty="0"/>
          </a:p>
          <a:p>
            <a:endParaRPr lang="en-US" altLang="zh-TW" dirty="0" smtClean="0"/>
          </a:p>
          <a:p>
            <a:endParaRPr lang="en-US" altLang="zh-TW" dirty="0" smtClean="0"/>
          </a:p>
          <a:p>
            <a:endParaRPr lang="en-US" altLang="zh-TW" dirty="0" smtClean="0"/>
          </a:p>
        </p:txBody>
      </p:sp>
      <p:pic>
        <p:nvPicPr>
          <p:cNvPr id="4099" name="Picture 3" descr="E:\擷取.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610" y="5841669"/>
            <a:ext cx="8864674" cy="669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296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43408"/>
            <a:ext cx="8229600" cy="1143000"/>
          </a:xfrm>
        </p:spPr>
        <p:txBody>
          <a:bodyPr/>
          <a:lstStyle/>
          <a:p>
            <a:r>
              <a:rPr lang="en-US" altLang="zh-TW" dirty="0" smtClean="0"/>
              <a:t>Definitions </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64610" y="692695"/>
                <a:ext cx="8799878" cy="5818005"/>
              </a:xfrm>
            </p:spPr>
            <p:txBody>
              <a:bodyPr>
                <a:normAutofit/>
              </a:bodyPr>
              <a:lstStyle/>
              <a:p>
                <a:r>
                  <a:rPr lang="en-US" altLang="zh-TW" b="0" dirty="0" smtClean="0"/>
                  <a:t>Optimal Split Point(OSP): A time series dataset D consists of two classes, A and B. For a </a:t>
                </a:r>
                <a:r>
                  <a:rPr lang="en-US" altLang="zh-TW" b="0" dirty="0" err="1" smtClean="0"/>
                  <a:t>shapelet</a:t>
                </a:r>
                <a:r>
                  <a:rPr lang="en-US" altLang="zh-TW" b="0" dirty="0" smtClean="0"/>
                  <a:t> candidate S, we choose some distance threshold </a:t>
                </a:r>
                <a:r>
                  <a:rPr lang="en-US" altLang="zh-TW" b="0" dirty="0" err="1" smtClean="0"/>
                  <a:t>d</a:t>
                </a:r>
                <a:r>
                  <a:rPr lang="en-US" altLang="zh-TW" b="0" baseline="-25000" dirty="0" err="1" smtClean="0"/>
                  <a:t>th</a:t>
                </a:r>
                <a:r>
                  <a:rPr lang="en-US" altLang="zh-TW" b="0" dirty="0" smtClean="0"/>
                  <a:t> and split D into D1 and D2. </a:t>
                </a:r>
                <a:r>
                  <a:rPr lang="en-US" altLang="zh-TW" dirty="0"/>
                  <a:t>An Optimal Split Point is </a:t>
                </a:r>
                <a:r>
                  <a:rPr lang="en-US" altLang="zh-TW" dirty="0" smtClean="0"/>
                  <a:t>a distance </a:t>
                </a:r>
                <a:r>
                  <a:rPr lang="en-US" altLang="zh-TW" dirty="0"/>
                  <a:t>threshold </a:t>
                </a:r>
                <a:r>
                  <a:rPr lang="en-US" altLang="zh-TW" dirty="0" smtClean="0"/>
                  <a:t>that</a:t>
                </a:r>
                <a:br>
                  <a:rPr lang="en-US" altLang="zh-TW" dirty="0" smtClean="0"/>
                </a:br>
                <a14:m>
                  <m:oMath xmlns:m="http://schemas.openxmlformats.org/officeDocument/2006/math">
                    <m:r>
                      <a:rPr lang="en-US" altLang="zh-TW" b="0" i="1" smtClean="0">
                        <a:latin typeface="Cambria Math"/>
                      </a:rPr>
                      <m:t>𝐺𝑎𝑖𝑛</m:t>
                    </m:r>
                    <m:d>
                      <m:dPr>
                        <m:ctrlPr>
                          <a:rPr lang="en-US" altLang="zh-TW" b="0" i="1" smtClean="0">
                            <a:latin typeface="Cambria Math" panose="02040503050406030204" pitchFamily="18" charset="0"/>
                          </a:rPr>
                        </m:ctrlPr>
                      </m:dPr>
                      <m:e>
                        <m:r>
                          <a:rPr lang="en-US" altLang="zh-TW" b="0" i="1" smtClean="0">
                            <a:latin typeface="Cambria Math"/>
                          </a:rPr>
                          <m:t>𝑆</m:t>
                        </m:r>
                        <m:r>
                          <a:rPr lang="en-US" altLang="zh-TW" b="0" i="1" smtClean="0">
                            <a:latin typeface="Cambria Math"/>
                          </a:rPr>
                          <m:t>, </m:t>
                        </m:r>
                        <m:sSub>
                          <m:sSubPr>
                            <m:ctrlPr>
                              <a:rPr lang="en-US" altLang="zh-TW" b="0" i="1" smtClean="0">
                                <a:latin typeface="Cambria Math" panose="02040503050406030204" pitchFamily="18" charset="0"/>
                              </a:rPr>
                            </m:ctrlPr>
                          </m:sSubPr>
                          <m:e>
                            <m:r>
                              <a:rPr lang="en-US" altLang="zh-TW" b="0" i="1" smtClean="0">
                                <a:latin typeface="Cambria Math"/>
                              </a:rPr>
                              <m:t>𝑑</m:t>
                            </m:r>
                          </m:e>
                          <m:sub>
                            <m:r>
                              <a:rPr lang="en-US" altLang="zh-TW" b="0" i="1" smtClean="0">
                                <a:latin typeface="Cambria Math"/>
                              </a:rPr>
                              <m:t>𝑂𝑆𝑃</m:t>
                            </m:r>
                            <m:d>
                              <m:dPr>
                                <m:ctrlPr>
                                  <a:rPr lang="en-US" altLang="zh-TW" b="0" i="1" smtClean="0">
                                    <a:latin typeface="Cambria Math" panose="02040503050406030204" pitchFamily="18" charset="0"/>
                                  </a:rPr>
                                </m:ctrlPr>
                              </m:dPr>
                              <m:e>
                                <m:r>
                                  <a:rPr lang="en-US" altLang="zh-TW" b="0" i="1" smtClean="0">
                                    <a:latin typeface="Cambria Math"/>
                                  </a:rPr>
                                  <m:t>𝐷</m:t>
                                </m:r>
                                <m:r>
                                  <a:rPr lang="en-US" altLang="zh-TW" b="0" i="1" smtClean="0">
                                    <a:latin typeface="Cambria Math"/>
                                  </a:rPr>
                                  <m:t>,</m:t>
                                </m:r>
                                <m:r>
                                  <a:rPr lang="en-US" altLang="zh-TW" b="0" i="1" smtClean="0">
                                    <a:latin typeface="Cambria Math"/>
                                  </a:rPr>
                                  <m:t>𝑆</m:t>
                                </m:r>
                              </m:e>
                            </m:d>
                          </m:sub>
                        </m:sSub>
                      </m:e>
                    </m:d>
                    <m:r>
                      <a:rPr lang="en-US" altLang="zh-TW" b="0" i="1" smtClean="0">
                        <a:latin typeface="Cambria Math"/>
                        <a:ea typeface="Cambria Math"/>
                      </a:rPr>
                      <m:t>≥</m:t>
                    </m:r>
                    <m:r>
                      <a:rPr lang="en-US" altLang="zh-TW" b="0" i="1" smtClean="0">
                        <a:latin typeface="Cambria Math"/>
                        <a:ea typeface="Cambria Math"/>
                      </a:rPr>
                      <m:t>𝐺𝑎𝑖𝑛</m:t>
                    </m:r>
                    <m:d>
                      <m:dPr>
                        <m:ctrlPr>
                          <a:rPr lang="en-US" altLang="zh-TW" b="0" i="1" smtClean="0">
                            <a:latin typeface="Cambria Math" panose="02040503050406030204" pitchFamily="18" charset="0"/>
                            <a:ea typeface="Cambria Math"/>
                          </a:rPr>
                        </m:ctrlPr>
                      </m:dPr>
                      <m:e>
                        <m:r>
                          <a:rPr lang="en-US" altLang="zh-TW" b="0" i="1" smtClean="0">
                            <a:latin typeface="Cambria Math"/>
                            <a:ea typeface="Cambria Math"/>
                          </a:rPr>
                          <m:t>𝑆</m:t>
                        </m:r>
                        <m:r>
                          <a:rPr lang="en-US" altLang="zh-TW" b="0" i="1" smtClean="0">
                            <a:latin typeface="Cambria Math"/>
                            <a:ea typeface="Cambria Math"/>
                          </a:rPr>
                          <m:t>,</m:t>
                        </m:r>
                        <m:sSub>
                          <m:sSubPr>
                            <m:ctrlPr>
                              <a:rPr lang="en-US" altLang="zh-TW" b="0" i="1" smtClean="0">
                                <a:latin typeface="Cambria Math" panose="02040503050406030204" pitchFamily="18" charset="0"/>
                                <a:ea typeface="Cambria Math"/>
                              </a:rPr>
                            </m:ctrlPr>
                          </m:sSubPr>
                          <m:e>
                            <m:sSup>
                              <m:sSupPr>
                                <m:ctrlPr>
                                  <a:rPr lang="en-US" altLang="zh-TW" b="0" i="1" smtClean="0">
                                    <a:latin typeface="Cambria Math" panose="02040503050406030204" pitchFamily="18" charset="0"/>
                                    <a:ea typeface="Cambria Math"/>
                                  </a:rPr>
                                </m:ctrlPr>
                              </m:sSupPr>
                              <m:e>
                                <m:r>
                                  <a:rPr lang="en-US" altLang="zh-TW" b="0" i="1" smtClean="0">
                                    <a:latin typeface="Cambria Math"/>
                                    <a:ea typeface="Cambria Math"/>
                                  </a:rPr>
                                  <m:t>𝑑</m:t>
                                </m:r>
                              </m:e>
                              <m:sup>
                                <m:r>
                                  <a:rPr lang="en-US" altLang="zh-TW" b="0" i="1" smtClean="0">
                                    <a:latin typeface="Cambria Math"/>
                                    <a:ea typeface="Cambria Math"/>
                                  </a:rPr>
                                  <m:t>′</m:t>
                                </m:r>
                              </m:sup>
                            </m:sSup>
                          </m:e>
                          <m:sub>
                            <m:r>
                              <a:rPr lang="en-US" altLang="zh-TW" b="0" i="1" smtClean="0">
                                <a:latin typeface="Cambria Math"/>
                                <a:ea typeface="Cambria Math"/>
                              </a:rPr>
                              <m:t>𝑡h</m:t>
                            </m:r>
                          </m:sub>
                        </m:sSub>
                      </m:e>
                    </m:d>
                  </m:oMath>
                </a14:m>
                <a:r>
                  <a:rPr lang="en-US" altLang="zh-TW" b="0" dirty="0" smtClean="0"/>
                  <a:t/>
                </a:r>
                <a:br>
                  <a:rPr lang="en-US" altLang="zh-TW" b="0" dirty="0" smtClean="0"/>
                </a:br>
                <a:r>
                  <a:rPr lang="en-US" altLang="zh-TW" b="0" dirty="0" smtClean="0"/>
                  <a:t>for any other distance threshold </a:t>
                </a:r>
                <a:r>
                  <a:rPr lang="en-US" altLang="zh-TW" b="0" dirty="0" err="1" smtClean="0"/>
                  <a:t>d’</a:t>
                </a:r>
                <a:r>
                  <a:rPr lang="en-US" altLang="zh-TW" b="0" baseline="-25000" dirty="0" err="1" smtClean="0"/>
                  <a:t>th</a:t>
                </a:r>
                <a:r>
                  <a:rPr lang="en-US" altLang="zh-TW" b="0" dirty="0" smtClean="0"/>
                  <a:t/>
                </a:r>
                <a:br>
                  <a:rPr lang="en-US" altLang="zh-TW" b="0" dirty="0" smtClean="0"/>
                </a:br>
                <a:endParaRPr lang="en-US" altLang="zh-TW" dirty="0" smtClean="0"/>
              </a:p>
              <a:p>
                <a:endParaRPr lang="en-US" altLang="zh-TW" dirty="0" smtClean="0"/>
              </a:p>
              <a:p>
                <a:endParaRPr lang="en-US" altLang="zh-TW" dirty="0"/>
              </a:p>
              <a:p>
                <a:endParaRPr lang="en-US" altLang="zh-TW" dirty="0" smtClean="0"/>
              </a:p>
              <a:p>
                <a:endParaRPr lang="en-US" altLang="zh-TW" dirty="0" smtClean="0"/>
              </a:p>
              <a:p>
                <a:endParaRPr lang="en-US" altLang="zh-TW" dirty="0" smtClean="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64610" y="692695"/>
                <a:ext cx="8799878" cy="5818005"/>
              </a:xfrm>
              <a:blipFill rotWithShape="1">
                <a:blip r:embed="rId2"/>
                <a:stretch>
                  <a:fillRect l="-1524" t="-1363"/>
                </a:stretch>
              </a:blipFill>
            </p:spPr>
            <p:txBody>
              <a:bodyPr/>
              <a:lstStyle/>
              <a:p>
                <a:r>
                  <a:rPr lang="zh-TW" altLang="en-US">
                    <a:noFill/>
                  </a:rPr>
                  <a:t> </a:t>
                </a:r>
              </a:p>
            </p:txBody>
          </p:sp>
        </mc:Fallback>
      </mc:AlternateContent>
      <p:pic>
        <p:nvPicPr>
          <p:cNvPr id="4099" name="Picture 3" descr="E:\擷取.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610" y="5841669"/>
            <a:ext cx="8864674" cy="669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1275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43408"/>
            <a:ext cx="8229600" cy="1143000"/>
          </a:xfrm>
        </p:spPr>
        <p:txBody>
          <a:bodyPr/>
          <a:lstStyle/>
          <a:p>
            <a:r>
              <a:rPr lang="en-US" altLang="zh-TW" dirty="0" smtClean="0"/>
              <a:t>Definitions</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164610" y="692695"/>
                <a:ext cx="8799878" cy="5818005"/>
              </a:xfrm>
            </p:spPr>
            <p:txBody>
              <a:bodyPr>
                <a:normAutofit/>
              </a:bodyPr>
              <a:lstStyle/>
              <a:p>
                <a:r>
                  <a:rPr lang="en-US" altLang="zh-TW" b="0" dirty="0" smtClean="0"/>
                  <a:t>Shapelet: Given a time series dataset D which consists of two classes, A and B, </a:t>
                </a:r>
                <a:r>
                  <a:rPr lang="en-US" altLang="zh-TW" b="0" dirty="0" err="1" smtClean="0"/>
                  <a:t>shapelet</a:t>
                </a:r>
                <a:r>
                  <a:rPr lang="en-US" altLang="zh-TW" b="0" dirty="0" smtClean="0"/>
                  <a:t>(D) is a subsequence that, with its corresponding optimal split point,</a:t>
                </a:r>
                <a:r>
                  <a:rPr lang="en-US" altLang="zh-TW" dirty="0" smtClean="0"/>
                  <a:t/>
                </a:r>
                <a:br>
                  <a:rPr lang="en-US" altLang="zh-TW" dirty="0" smtClean="0"/>
                </a:br>
                <a14:m>
                  <m:oMath xmlns:m="http://schemas.openxmlformats.org/officeDocument/2006/math">
                    <m:r>
                      <a:rPr lang="en-US" altLang="zh-TW" b="0" i="1" smtClean="0">
                        <a:latin typeface="Cambria Math"/>
                      </a:rPr>
                      <m:t>𝐺𝑎𝑖𝑛</m:t>
                    </m:r>
                    <m:d>
                      <m:dPr>
                        <m:ctrlPr>
                          <a:rPr lang="en-US" altLang="zh-TW" b="0" i="1" smtClean="0">
                            <a:latin typeface="Cambria Math" panose="02040503050406030204" pitchFamily="18" charset="0"/>
                          </a:rPr>
                        </m:ctrlPr>
                      </m:dPr>
                      <m:e>
                        <m:r>
                          <a:rPr lang="en-US" altLang="zh-TW" b="0" i="1" smtClean="0">
                            <a:latin typeface="Cambria Math"/>
                          </a:rPr>
                          <m:t>𝑠h𝑎𝑝𝑒𝑙𝑒𝑡</m:t>
                        </m:r>
                        <m:d>
                          <m:dPr>
                            <m:ctrlPr>
                              <a:rPr lang="en-US" altLang="zh-TW" b="0" i="1" smtClean="0">
                                <a:latin typeface="Cambria Math"/>
                              </a:rPr>
                            </m:ctrlPr>
                          </m:dPr>
                          <m:e>
                            <m:r>
                              <a:rPr lang="en-US" altLang="zh-TW" b="0" i="1" smtClean="0">
                                <a:latin typeface="Cambria Math"/>
                              </a:rPr>
                              <m:t>𝐷</m:t>
                            </m:r>
                          </m:e>
                        </m:d>
                        <m:r>
                          <a:rPr lang="en-US" altLang="zh-TW" b="0" i="1" smtClean="0">
                            <a:latin typeface="Cambria Math" panose="02040503050406030204" pitchFamily="18" charset="0"/>
                          </a:rPr>
                          <m:t>,</m:t>
                        </m:r>
                        <m:r>
                          <a:rPr lang="en-US" altLang="zh-TW" b="0" i="1" smtClean="0">
                            <a:latin typeface="Cambria Math"/>
                          </a:rPr>
                          <m:t> </m:t>
                        </m:r>
                        <m:sSub>
                          <m:sSubPr>
                            <m:ctrlPr>
                              <a:rPr lang="en-US" altLang="zh-TW" b="0" i="1" smtClean="0">
                                <a:latin typeface="Cambria Math" panose="02040503050406030204" pitchFamily="18" charset="0"/>
                              </a:rPr>
                            </m:ctrlPr>
                          </m:sSubPr>
                          <m:e>
                            <m:r>
                              <a:rPr lang="en-US" altLang="zh-TW" b="0" i="1" smtClean="0">
                                <a:latin typeface="Cambria Math"/>
                              </a:rPr>
                              <m:t>𝑑</m:t>
                            </m:r>
                          </m:e>
                          <m:sub>
                            <m:r>
                              <a:rPr lang="en-US" altLang="zh-TW" b="0" i="1" smtClean="0">
                                <a:latin typeface="Cambria Math"/>
                              </a:rPr>
                              <m:t>𝑂𝑆𝑃</m:t>
                            </m:r>
                            <m:d>
                              <m:dPr>
                                <m:ctrlPr>
                                  <a:rPr lang="en-US" altLang="zh-TW" b="0" i="1" smtClean="0">
                                    <a:latin typeface="Cambria Math" panose="02040503050406030204" pitchFamily="18" charset="0"/>
                                  </a:rPr>
                                </m:ctrlPr>
                              </m:dPr>
                              <m:e>
                                <m:r>
                                  <a:rPr lang="en-US" altLang="zh-TW" b="0" i="1" smtClean="0">
                                    <a:latin typeface="Cambria Math"/>
                                  </a:rPr>
                                  <m:t>𝐷</m:t>
                                </m:r>
                                <m:r>
                                  <a:rPr lang="en-US" altLang="zh-TW" b="0" i="1" smtClean="0">
                                    <a:latin typeface="Cambria Math"/>
                                  </a:rPr>
                                  <m:t>,</m:t>
                                </m:r>
                                <m:r>
                                  <a:rPr lang="en-US" altLang="zh-TW" b="0" i="1" smtClean="0">
                                    <a:latin typeface="Cambria Math"/>
                                  </a:rPr>
                                  <m:t>𝑠h𝑎𝑝𝑒𝑙𝑒𝑡</m:t>
                                </m:r>
                                <m:r>
                                  <a:rPr lang="en-US" altLang="zh-TW" b="0" i="1" smtClean="0">
                                    <a:latin typeface="Cambria Math"/>
                                  </a:rPr>
                                  <m:t>(</m:t>
                                </m:r>
                                <m:r>
                                  <a:rPr lang="en-US" altLang="zh-TW" b="0" i="1" smtClean="0">
                                    <a:latin typeface="Cambria Math"/>
                                  </a:rPr>
                                  <m:t>𝐷</m:t>
                                </m:r>
                                <m:r>
                                  <a:rPr lang="en-US" altLang="zh-TW" b="0" i="1" smtClean="0">
                                    <a:latin typeface="Cambria Math"/>
                                  </a:rPr>
                                  <m:t>)</m:t>
                                </m:r>
                              </m:e>
                            </m:d>
                          </m:sub>
                        </m:sSub>
                      </m:e>
                    </m:d>
                    <m:r>
                      <a:rPr lang="en-US" altLang="zh-TW" b="0" i="1" smtClean="0">
                        <a:latin typeface="Cambria Math"/>
                        <a:ea typeface="Cambria Math"/>
                      </a:rPr>
                      <m:t>≥</m:t>
                    </m:r>
                    <m:r>
                      <a:rPr lang="en-US" altLang="zh-TW" b="0" i="1" smtClean="0">
                        <a:latin typeface="Cambria Math"/>
                        <a:ea typeface="Cambria Math"/>
                      </a:rPr>
                      <m:t>𝐺𝑎𝑖𝑛</m:t>
                    </m:r>
                    <m:d>
                      <m:dPr>
                        <m:ctrlPr>
                          <a:rPr lang="en-US" altLang="zh-TW" b="0" i="1" smtClean="0">
                            <a:latin typeface="Cambria Math" panose="02040503050406030204" pitchFamily="18" charset="0"/>
                            <a:ea typeface="Cambria Math"/>
                          </a:rPr>
                        </m:ctrlPr>
                      </m:dPr>
                      <m:e>
                        <m:r>
                          <a:rPr lang="en-US" altLang="zh-TW" b="0" i="1" smtClean="0">
                            <a:latin typeface="Cambria Math"/>
                            <a:ea typeface="Cambria Math"/>
                          </a:rPr>
                          <m:t>𝑆</m:t>
                        </m:r>
                        <m:r>
                          <a:rPr lang="en-US" altLang="zh-TW" b="0" i="1" smtClean="0">
                            <a:latin typeface="Cambria Math"/>
                            <a:ea typeface="Cambria Math"/>
                          </a:rPr>
                          <m:t>,</m:t>
                        </m:r>
                        <m:sSub>
                          <m:sSubPr>
                            <m:ctrlPr>
                              <a:rPr lang="en-US" altLang="zh-TW" b="0" i="1" smtClean="0">
                                <a:latin typeface="Cambria Math" panose="02040503050406030204" pitchFamily="18" charset="0"/>
                                <a:ea typeface="Cambria Math"/>
                              </a:rPr>
                            </m:ctrlPr>
                          </m:sSubPr>
                          <m:e>
                            <m:r>
                              <a:rPr lang="en-US" altLang="zh-TW" b="0" i="1" smtClean="0">
                                <a:latin typeface="Cambria Math"/>
                                <a:ea typeface="Cambria Math"/>
                              </a:rPr>
                              <m:t>𝑑</m:t>
                            </m:r>
                          </m:e>
                          <m:sub>
                            <m:r>
                              <a:rPr lang="en-US" altLang="zh-TW" b="0" i="1" smtClean="0">
                                <a:latin typeface="Cambria Math"/>
                                <a:ea typeface="Cambria Math"/>
                              </a:rPr>
                              <m:t>𝑂𝑆𝑃</m:t>
                            </m:r>
                            <m:r>
                              <a:rPr lang="en-US" altLang="zh-TW" b="0" i="1" smtClean="0">
                                <a:latin typeface="Cambria Math"/>
                                <a:ea typeface="Cambria Math"/>
                              </a:rPr>
                              <m:t>(</m:t>
                            </m:r>
                            <m:r>
                              <a:rPr lang="en-US" altLang="zh-TW" b="0" i="1" smtClean="0">
                                <a:latin typeface="Cambria Math"/>
                                <a:ea typeface="Cambria Math"/>
                              </a:rPr>
                              <m:t>𝐷</m:t>
                            </m:r>
                            <m:r>
                              <a:rPr lang="en-US" altLang="zh-TW" b="0" i="1" smtClean="0">
                                <a:latin typeface="Cambria Math"/>
                                <a:ea typeface="Cambria Math"/>
                              </a:rPr>
                              <m:t>,</m:t>
                            </m:r>
                            <m:r>
                              <a:rPr lang="en-US" altLang="zh-TW" b="0" i="1" smtClean="0">
                                <a:latin typeface="Cambria Math"/>
                                <a:ea typeface="Cambria Math"/>
                              </a:rPr>
                              <m:t>𝑆</m:t>
                            </m:r>
                            <m:r>
                              <a:rPr lang="en-US" altLang="zh-TW" b="0" i="1" smtClean="0">
                                <a:latin typeface="Cambria Math"/>
                                <a:ea typeface="Cambria Math"/>
                              </a:rPr>
                              <m:t>)</m:t>
                            </m:r>
                          </m:sub>
                        </m:sSub>
                      </m:e>
                    </m:d>
                  </m:oMath>
                </a14:m>
                <a:r>
                  <a:rPr lang="en-US" altLang="zh-TW" b="0" dirty="0" smtClean="0"/>
                  <a:t/>
                </a:r>
                <a:br>
                  <a:rPr lang="en-US" altLang="zh-TW" b="0" dirty="0" smtClean="0"/>
                </a:br>
                <a:r>
                  <a:rPr lang="en-US" altLang="zh-TW" dirty="0"/>
                  <a:t>for any other subsequence </a:t>
                </a:r>
                <a:r>
                  <a:rPr lang="en-US" altLang="zh-TW" dirty="0" smtClean="0"/>
                  <a:t>S.</a:t>
                </a:r>
                <a:r>
                  <a:rPr lang="en-US" altLang="zh-TW" b="0" dirty="0" smtClean="0"/>
                  <a:t/>
                </a:r>
                <a:br>
                  <a:rPr lang="en-US" altLang="zh-TW" b="0" dirty="0" smtClean="0"/>
                </a:br>
                <a:endParaRPr lang="en-US" altLang="zh-TW" dirty="0" smtClean="0"/>
              </a:p>
              <a:p>
                <a:endParaRPr lang="en-US" altLang="zh-TW" dirty="0" smtClean="0"/>
              </a:p>
              <a:p>
                <a:endParaRPr lang="en-US" altLang="zh-TW" dirty="0"/>
              </a:p>
              <a:p>
                <a:endParaRPr lang="en-US" altLang="zh-TW" dirty="0" smtClean="0"/>
              </a:p>
              <a:p>
                <a:endParaRPr lang="en-US" altLang="zh-TW" dirty="0" smtClean="0"/>
              </a:p>
              <a:p>
                <a:endParaRPr lang="en-US" altLang="zh-TW"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164610" y="692695"/>
                <a:ext cx="8799878" cy="5818005"/>
              </a:xfrm>
              <a:blipFill rotWithShape="0">
                <a:blip r:embed="rId2"/>
                <a:stretch>
                  <a:fillRect l="-1593" t="-1363" r="-166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88172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171400"/>
            <a:ext cx="8229600" cy="1143000"/>
          </a:xfrm>
        </p:spPr>
        <p:txBody>
          <a:bodyPr/>
          <a:lstStyle/>
          <a:p>
            <a:r>
              <a:rPr lang="en-US" altLang="zh-TW" dirty="0" smtClean="0"/>
              <a:t>Algorithm</a:t>
            </a:r>
            <a:endParaRPr lang="zh-TW" altLang="en-US" dirty="0"/>
          </a:p>
        </p:txBody>
      </p:sp>
      <p:sp>
        <p:nvSpPr>
          <p:cNvPr id="3" name="內容版面配置區 2"/>
          <p:cNvSpPr>
            <a:spLocks noGrp="1"/>
          </p:cNvSpPr>
          <p:nvPr>
            <p:ph idx="1"/>
          </p:nvPr>
        </p:nvSpPr>
        <p:spPr>
          <a:xfrm>
            <a:off x="179512" y="764704"/>
            <a:ext cx="8784976" cy="5745996"/>
          </a:xfrm>
        </p:spPr>
        <p:txBody>
          <a:bodyPr>
            <a:normAutofit/>
          </a:bodyPr>
          <a:lstStyle/>
          <a:p>
            <a:r>
              <a:rPr lang="en-US" altLang="zh-TW" b="0" dirty="0" smtClean="0"/>
              <a:t>Given a combined dataset D, in which each time series object is labeled either class A or class B, along with the user-defined maximum and minimum lengths of the </a:t>
            </a:r>
            <a:r>
              <a:rPr lang="en-US" altLang="zh-TW" b="0" dirty="0" err="1" smtClean="0"/>
              <a:t>shapelet</a:t>
            </a:r>
            <a:r>
              <a:rPr lang="en-US" altLang="zh-TW" b="0" dirty="0" smtClean="0"/>
              <a:t>.</a:t>
            </a:r>
            <a:br>
              <a:rPr lang="en-US" altLang="zh-TW" b="0" dirty="0" smtClean="0"/>
            </a:br>
            <a:endParaRPr lang="en-US" altLang="zh-TW" dirty="0" smtClean="0"/>
          </a:p>
          <a:p>
            <a:endParaRPr lang="en-US" altLang="zh-TW" dirty="0" smtClean="0"/>
          </a:p>
          <a:p>
            <a:endParaRPr lang="en-US" altLang="zh-TW" dirty="0"/>
          </a:p>
          <a:p>
            <a:endParaRPr lang="en-US" altLang="zh-TW" dirty="0" smtClean="0"/>
          </a:p>
          <a:p>
            <a:endParaRPr lang="en-US" altLang="zh-TW" dirty="0" smtClean="0"/>
          </a:p>
          <a:p>
            <a:endParaRPr lang="en-US" altLang="zh-TW" dirty="0" smtClean="0"/>
          </a:p>
        </p:txBody>
      </p:sp>
      <p:pic>
        <p:nvPicPr>
          <p:cNvPr id="5122" name="Picture 2" descr="E:\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212976"/>
            <a:ext cx="6688137" cy="280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6186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171400"/>
            <a:ext cx="8229600" cy="1143000"/>
          </a:xfrm>
        </p:spPr>
        <p:txBody>
          <a:bodyPr/>
          <a:lstStyle/>
          <a:p>
            <a:r>
              <a:rPr lang="en-US" altLang="zh-TW" dirty="0" smtClean="0"/>
              <a:t>Algorithm</a:t>
            </a:r>
            <a:endParaRPr lang="zh-TW" altLang="en-US" dirty="0"/>
          </a:p>
        </p:txBody>
      </p:sp>
      <p:sp>
        <p:nvSpPr>
          <p:cNvPr id="3" name="內容版面配置區 2"/>
          <p:cNvSpPr>
            <a:spLocks noGrp="1"/>
          </p:cNvSpPr>
          <p:nvPr>
            <p:ph idx="1"/>
          </p:nvPr>
        </p:nvSpPr>
        <p:spPr>
          <a:xfrm>
            <a:off x="179512" y="836712"/>
            <a:ext cx="8784976" cy="5673988"/>
          </a:xfrm>
        </p:spPr>
        <p:txBody>
          <a:bodyPr>
            <a:normAutofit/>
          </a:bodyPr>
          <a:lstStyle/>
          <a:p>
            <a:r>
              <a:rPr lang="en-US" altLang="zh-TW" dirty="0" smtClean="0"/>
              <a:t>Time complexity:</a:t>
            </a:r>
            <a:br>
              <a:rPr lang="en-US" altLang="zh-TW" dirty="0" smtClean="0"/>
            </a:br>
            <a:r>
              <a:rPr lang="en-US" altLang="zh-TW" dirty="0" smtClean="0"/>
              <a:t>The </a:t>
            </a:r>
            <a:r>
              <a:rPr lang="en-US" altLang="zh-TW" dirty="0"/>
              <a:t>number of the time </a:t>
            </a:r>
            <a:r>
              <a:rPr lang="en-US" altLang="zh-TW" dirty="0" smtClean="0"/>
              <a:t>series objects </a:t>
            </a:r>
            <a:r>
              <a:rPr lang="en-US" altLang="zh-TW" dirty="0"/>
              <a:t>in the dataset is k and the average length of each time </a:t>
            </a:r>
            <a:r>
              <a:rPr lang="en-US" altLang="zh-TW" dirty="0" smtClean="0"/>
              <a:t>series is m. The </a:t>
            </a:r>
            <a:r>
              <a:rPr lang="en-US" altLang="zh-TW" dirty="0"/>
              <a:t>size of the candidate </a:t>
            </a:r>
            <a:r>
              <a:rPr lang="en-US" altLang="zh-TW" dirty="0" smtClean="0"/>
              <a:t>set is O(m</a:t>
            </a:r>
            <a:r>
              <a:rPr lang="en-US" altLang="zh-TW" baseline="30000" dirty="0" smtClean="0"/>
              <a:t>2</a:t>
            </a:r>
            <a:r>
              <a:rPr lang="en-US" altLang="zh-TW" dirty="0" smtClean="0"/>
              <a:t>k). </a:t>
            </a:r>
            <a:r>
              <a:rPr lang="en-US" altLang="zh-TW" dirty="0"/>
              <a:t>Checking the utility of one candidate </a:t>
            </a:r>
            <a:r>
              <a:rPr lang="en-US" altLang="zh-TW" dirty="0" smtClean="0"/>
              <a:t>takes O(</a:t>
            </a:r>
            <a:r>
              <a:rPr lang="en-US" altLang="zh-TW" dirty="0" err="1" smtClean="0"/>
              <a:t>mk</a:t>
            </a:r>
            <a:r>
              <a:rPr lang="en-US" altLang="zh-TW" dirty="0" smtClean="0"/>
              <a:t>). The </a:t>
            </a:r>
            <a:r>
              <a:rPr lang="en-US" altLang="zh-TW" dirty="0"/>
              <a:t>overall time complexity of the algorithm </a:t>
            </a:r>
            <a:r>
              <a:rPr lang="en-US" altLang="zh-TW" dirty="0" smtClean="0"/>
              <a:t>is O(m</a:t>
            </a:r>
            <a:r>
              <a:rPr lang="en-US" altLang="zh-TW" baseline="30000" dirty="0" smtClean="0"/>
              <a:t>3</a:t>
            </a:r>
            <a:r>
              <a:rPr lang="en-US" altLang="zh-TW" dirty="0" smtClean="0"/>
              <a:t>k</a:t>
            </a:r>
            <a:r>
              <a:rPr lang="en-US" altLang="zh-TW" baseline="30000" dirty="0" smtClean="0"/>
              <a:t>2</a:t>
            </a:r>
            <a:r>
              <a:rPr lang="en-US" altLang="zh-TW" dirty="0" smtClean="0"/>
              <a:t>).</a:t>
            </a:r>
            <a:r>
              <a:rPr lang="en-US" altLang="zh-TW" b="0" dirty="0" smtClean="0"/>
              <a:t/>
            </a:r>
            <a:br>
              <a:rPr lang="en-US" altLang="zh-TW" b="0" dirty="0" smtClean="0"/>
            </a:br>
            <a:endParaRPr lang="en-US" altLang="zh-TW" dirty="0" smtClean="0"/>
          </a:p>
          <a:p>
            <a:endParaRPr lang="en-US" altLang="zh-TW" dirty="0" smtClean="0"/>
          </a:p>
          <a:p>
            <a:endParaRPr lang="en-US" altLang="zh-TW" dirty="0"/>
          </a:p>
          <a:p>
            <a:endParaRPr lang="en-US" altLang="zh-TW" dirty="0" smtClean="0"/>
          </a:p>
          <a:p>
            <a:endParaRPr lang="en-US" altLang="zh-TW" dirty="0" smtClean="0"/>
          </a:p>
          <a:p>
            <a:endParaRPr lang="en-US" altLang="zh-TW" dirty="0" smtClean="0"/>
          </a:p>
        </p:txBody>
      </p:sp>
    </p:spTree>
    <p:extLst>
      <p:ext uri="{BB962C8B-B14F-4D97-AF65-F5344CB8AC3E}">
        <p14:creationId xmlns:p14="http://schemas.microsoft.com/office/powerpoint/2010/main" val="4200361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normAutofit fontScale="90000"/>
          </a:bodyPr>
          <a:lstStyle/>
          <a:p>
            <a:r>
              <a:rPr lang="en-US" altLang="zh-TW" dirty="0"/>
              <a:t>Subsequence Distance Early Abandon</a:t>
            </a:r>
            <a:endParaRPr lang="zh-TW" altLang="en-US" dirty="0"/>
          </a:p>
        </p:txBody>
      </p:sp>
      <p:sp>
        <p:nvSpPr>
          <p:cNvPr id="3" name="內容版面配置區 2"/>
          <p:cNvSpPr>
            <a:spLocks noGrp="1"/>
          </p:cNvSpPr>
          <p:nvPr>
            <p:ph idx="1"/>
          </p:nvPr>
        </p:nvSpPr>
        <p:spPr>
          <a:xfrm>
            <a:off x="107504" y="980728"/>
            <a:ext cx="8579296" cy="5145435"/>
          </a:xfrm>
        </p:spPr>
        <p:txBody>
          <a:bodyPr>
            <a:normAutofit/>
          </a:bodyPr>
          <a:lstStyle/>
          <a:p>
            <a:r>
              <a:rPr lang="en-US" altLang="zh-TW" sz="2800" dirty="0" smtClean="0"/>
              <a:t>In the brute force method, the distance from the time series T to the subsequence S is obtained by calculating the Euclidean distance of every subsequence of length |S| in T and S and choosing the minimum. This takes O(|T|) distance calculations between subsequences. We </a:t>
            </a:r>
            <a:r>
              <a:rPr lang="en-US" altLang="zh-TW" sz="2800" dirty="0"/>
              <a:t>need to know is the </a:t>
            </a:r>
            <a:r>
              <a:rPr lang="en-US" altLang="zh-TW" sz="2800" dirty="0" smtClean="0"/>
              <a:t>minimum distance </a:t>
            </a:r>
            <a:r>
              <a:rPr lang="en-US" altLang="zh-TW" sz="2800" dirty="0"/>
              <a:t>rather than all of the </a:t>
            </a:r>
            <a:r>
              <a:rPr lang="en-US" altLang="zh-TW" sz="2800" dirty="0" smtClean="0"/>
              <a:t>distances.</a:t>
            </a:r>
            <a:endParaRPr lang="zh-TW" altLang="en-US" sz="2800" dirty="0"/>
          </a:p>
        </p:txBody>
      </p:sp>
      <p:pic>
        <p:nvPicPr>
          <p:cNvPr id="6146" name="Picture 2" descr="E:\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740" y="4653136"/>
            <a:ext cx="7990977" cy="1728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023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936104"/>
          </a:xfrm>
        </p:spPr>
        <p:txBody>
          <a:bodyPr>
            <a:normAutofit/>
          </a:bodyPr>
          <a:lstStyle/>
          <a:p>
            <a:r>
              <a:rPr lang="en-US" altLang="zh-TW" dirty="0"/>
              <a:t>Admissible Entropy Pruning</a:t>
            </a:r>
            <a:endParaRPr lang="zh-TW" altLang="en-US" dirty="0"/>
          </a:p>
        </p:txBody>
      </p:sp>
      <p:sp>
        <p:nvSpPr>
          <p:cNvPr id="3" name="內容版面配置區 2"/>
          <p:cNvSpPr>
            <a:spLocks noGrp="1"/>
          </p:cNvSpPr>
          <p:nvPr>
            <p:ph idx="1"/>
          </p:nvPr>
        </p:nvSpPr>
        <p:spPr>
          <a:xfrm>
            <a:off x="107504" y="980728"/>
            <a:ext cx="8928992" cy="5145435"/>
          </a:xfrm>
        </p:spPr>
        <p:txBody>
          <a:bodyPr>
            <a:normAutofit/>
          </a:bodyPr>
          <a:lstStyle/>
          <a:p>
            <a:r>
              <a:rPr lang="en-US" altLang="zh-TW" sz="2800" dirty="0" smtClean="0"/>
              <a:t>Ten </a:t>
            </a:r>
            <a:r>
              <a:rPr lang="en-US" altLang="zh-TW" sz="2800" dirty="0"/>
              <a:t>time series objects are </a:t>
            </a:r>
            <a:r>
              <a:rPr lang="en-US" altLang="zh-TW" sz="2800" dirty="0" smtClean="0"/>
              <a:t>arranged in </a:t>
            </a:r>
            <a:r>
              <a:rPr lang="en-US" altLang="zh-TW" sz="2800" dirty="0"/>
              <a:t>a </a:t>
            </a:r>
            <a:r>
              <a:rPr lang="en-US" altLang="zh-TW" sz="2800" dirty="0" smtClean="0"/>
              <a:t>one-dimensional. Six </a:t>
            </a:r>
            <a:r>
              <a:rPr lang="en-US" altLang="zh-TW" sz="2800" dirty="0"/>
              <a:t>objects from class A (represented by circles</a:t>
            </a:r>
            <a:r>
              <a:rPr lang="en-US" altLang="zh-TW" sz="2800" dirty="0" smtClean="0"/>
              <a:t>) and </a:t>
            </a:r>
            <a:r>
              <a:rPr lang="en-US" altLang="zh-TW" sz="2800" dirty="0"/>
              <a:t>four objects from class B (represented </a:t>
            </a:r>
            <a:r>
              <a:rPr lang="en-US" altLang="zh-TW" sz="2800" dirty="0" smtClean="0"/>
              <a:t>by squares</a:t>
            </a:r>
            <a:r>
              <a:rPr lang="en-US" altLang="zh-TW" sz="2800" dirty="0"/>
              <a:t>).</a:t>
            </a:r>
            <a:endParaRPr lang="zh-TW" altLang="en-US" sz="2800" dirty="0"/>
          </a:p>
        </p:txBody>
      </p:sp>
      <p:pic>
        <p:nvPicPr>
          <p:cNvPr id="7170" name="Picture 2" descr="E:\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073" y="4293096"/>
            <a:ext cx="6792913" cy="428625"/>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E:\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4797152"/>
            <a:ext cx="6838426" cy="77429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E:\擷取.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656412" y="2852936"/>
            <a:ext cx="6793574" cy="512722"/>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p:cNvSpPr txBox="1"/>
          <p:nvPr/>
        </p:nvSpPr>
        <p:spPr>
          <a:xfrm>
            <a:off x="899592" y="2448532"/>
            <a:ext cx="6768752" cy="461665"/>
          </a:xfrm>
          <a:prstGeom prst="rect">
            <a:avLst/>
          </a:prstGeom>
          <a:noFill/>
        </p:spPr>
        <p:txBody>
          <a:bodyPr wrap="square" rtlCol="0">
            <a:spAutoFit/>
          </a:bodyPr>
          <a:lstStyle/>
          <a:p>
            <a:r>
              <a:rPr lang="en-US" altLang="zh-TW" sz="2400" dirty="0"/>
              <a:t>best-so-far information gain </a:t>
            </a:r>
            <a:r>
              <a:rPr lang="en-US" altLang="zh-TW" sz="2400" dirty="0" smtClean="0"/>
              <a:t>is 0.4228</a:t>
            </a:r>
            <a:endParaRPr lang="zh-TW" altLang="en-US" sz="2400" dirty="0"/>
          </a:p>
        </p:txBody>
      </p:sp>
      <p:sp>
        <p:nvSpPr>
          <p:cNvPr id="5" name="文字方塊 4"/>
          <p:cNvSpPr txBox="1"/>
          <p:nvPr/>
        </p:nvSpPr>
        <p:spPr>
          <a:xfrm>
            <a:off x="611560" y="3429000"/>
            <a:ext cx="8208912" cy="830997"/>
          </a:xfrm>
          <a:prstGeom prst="rect">
            <a:avLst/>
          </a:prstGeom>
          <a:noFill/>
        </p:spPr>
        <p:txBody>
          <a:bodyPr wrap="square" rtlCol="0">
            <a:spAutoFit/>
          </a:bodyPr>
          <a:lstStyle/>
          <a:p>
            <a:r>
              <a:rPr lang="en-US" altLang="zh-TW" sz="2400" dirty="0"/>
              <a:t>The arrangement of first five distances from the time</a:t>
            </a:r>
          </a:p>
          <a:p>
            <a:r>
              <a:rPr lang="en-US" altLang="zh-TW" sz="2400" dirty="0"/>
              <a:t>series objects to the </a:t>
            </a:r>
            <a:r>
              <a:rPr lang="en-US" altLang="zh-TW" sz="2400" dirty="0" smtClean="0"/>
              <a:t>candidate.</a:t>
            </a:r>
            <a:endParaRPr lang="zh-TW" altLang="en-US" sz="2400" dirty="0"/>
          </a:p>
        </p:txBody>
      </p:sp>
      <p:sp>
        <p:nvSpPr>
          <p:cNvPr id="6" name="文字方塊 5"/>
          <p:cNvSpPr txBox="1"/>
          <p:nvPr/>
        </p:nvSpPr>
        <p:spPr>
          <a:xfrm>
            <a:off x="107504" y="5661248"/>
            <a:ext cx="8856984" cy="1200329"/>
          </a:xfrm>
          <a:prstGeom prst="rect">
            <a:avLst/>
          </a:prstGeom>
          <a:noFill/>
        </p:spPr>
        <p:txBody>
          <a:bodyPr wrap="square" rtlCol="0">
            <a:spAutoFit/>
          </a:bodyPr>
          <a:lstStyle/>
          <a:p>
            <a:r>
              <a:rPr lang="en-US" altLang="zh-TW" sz="2400" dirty="0"/>
              <a:t>The information gain of the better of the two optimistic </a:t>
            </a:r>
            <a:r>
              <a:rPr lang="en-US" altLang="zh-TW" sz="2400" dirty="0" smtClean="0"/>
              <a:t>predictions is</a:t>
            </a:r>
            <a:r>
              <a:rPr lang="en-US" altLang="zh-TW" sz="2400" dirty="0"/>
              <a:t>:</a:t>
            </a:r>
          </a:p>
          <a:p>
            <a:r>
              <a:rPr lang="en-US" altLang="zh-TW" sz="2400" dirty="0"/>
              <a:t>[-(6/10)log(6/10)-(4/10)log(4/10)] - [(4/10)[-(4/4)log(4/4)]+(6/10)[-(4/6)log(4/6)-(2/6)log(2/6)]]=0.2911</a:t>
            </a:r>
            <a:endParaRPr lang="zh-TW" altLang="en-US" sz="2400" dirty="0"/>
          </a:p>
        </p:txBody>
      </p:sp>
    </p:spTree>
    <p:extLst>
      <p:ext uri="{BB962C8B-B14F-4D97-AF65-F5344CB8AC3E}">
        <p14:creationId xmlns:p14="http://schemas.microsoft.com/office/powerpoint/2010/main" val="760170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922114"/>
          </a:xfrm>
        </p:spPr>
        <p:txBody>
          <a:bodyPr/>
          <a:lstStyle/>
          <a:p>
            <a:r>
              <a:rPr lang="en-US" altLang="zh-TW" dirty="0"/>
              <a:t>Performance Comparison</a:t>
            </a:r>
            <a:endParaRPr lang="zh-TW" altLang="en-US" dirty="0"/>
          </a:p>
        </p:txBody>
      </p:sp>
      <p:sp>
        <p:nvSpPr>
          <p:cNvPr id="3" name="內容版面配置區 2"/>
          <p:cNvSpPr>
            <a:spLocks noGrp="1"/>
          </p:cNvSpPr>
          <p:nvPr>
            <p:ph idx="1"/>
          </p:nvPr>
        </p:nvSpPr>
        <p:spPr>
          <a:xfrm>
            <a:off x="457200" y="1052736"/>
            <a:ext cx="8229600" cy="5073427"/>
          </a:xfrm>
        </p:spPr>
        <p:txBody>
          <a:bodyPr/>
          <a:lstStyle/>
          <a:p>
            <a:r>
              <a:rPr lang="en-US" altLang="zh-TW" dirty="0" smtClean="0"/>
              <a:t>We test the scalability of our </a:t>
            </a:r>
            <a:r>
              <a:rPr lang="en-US" altLang="zh-TW" dirty="0" err="1" smtClean="0"/>
              <a:t>shapelet</a:t>
            </a:r>
            <a:r>
              <a:rPr lang="en-US" altLang="zh-TW" dirty="0" smtClean="0"/>
              <a:t> finding algorithm on the Synthetic Lightning EMP Classification, which, with a</a:t>
            </a:r>
            <a:r>
              <a:rPr lang="zh-TW" altLang="en-US" dirty="0" smtClean="0"/>
              <a:t> </a:t>
            </a:r>
            <a:r>
              <a:rPr lang="en-US" altLang="zh-TW" dirty="0" smtClean="0"/>
              <a:t>2,000/18,000 train/test split, is the largest class-labeled time series</a:t>
            </a:r>
            <a:r>
              <a:rPr lang="zh-TW" altLang="en-US" dirty="0" smtClean="0"/>
              <a:t> </a:t>
            </a:r>
            <a:r>
              <a:rPr lang="en-US" altLang="zh-TW" dirty="0" smtClean="0"/>
              <a:t>dataset we are aware of.</a:t>
            </a:r>
            <a:endParaRPr lang="zh-TW" altLang="en-US" dirty="0"/>
          </a:p>
        </p:txBody>
      </p:sp>
    </p:spTree>
    <p:extLst>
      <p:ext uri="{BB962C8B-B14F-4D97-AF65-F5344CB8AC3E}">
        <p14:creationId xmlns:p14="http://schemas.microsoft.com/office/powerpoint/2010/main" val="32040346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922114"/>
          </a:xfrm>
        </p:spPr>
        <p:txBody>
          <a:bodyPr/>
          <a:lstStyle/>
          <a:p>
            <a:r>
              <a:rPr lang="en-US" altLang="zh-TW" dirty="0"/>
              <a:t>Performance Comparison</a:t>
            </a:r>
            <a:endParaRPr lang="zh-TW" altLang="en-US" dirty="0"/>
          </a:p>
        </p:txBody>
      </p:sp>
      <p:sp>
        <p:nvSpPr>
          <p:cNvPr id="3" name="內容版面配置區 2"/>
          <p:cNvSpPr>
            <a:spLocks noGrp="1"/>
          </p:cNvSpPr>
          <p:nvPr>
            <p:ph idx="1"/>
          </p:nvPr>
        </p:nvSpPr>
        <p:spPr>
          <a:xfrm>
            <a:off x="457200" y="764704"/>
            <a:ext cx="8229600" cy="5361459"/>
          </a:xfrm>
        </p:spPr>
        <p:txBody>
          <a:bodyPr/>
          <a:lstStyle/>
          <a:p>
            <a:endParaRPr lang="zh-TW" altLang="en-US" dirty="0"/>
          </a:p>
        </p:txBody>
      </p:sp>
      <p:pic>
        <p:nvPicPr>
          <p:cNvPr id="8194" name="Picture 2" descr="E:\1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628800"/>
            <a:ext cx="8791224" cy="4074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94376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normAutofit fontScale="90000"/>
          </a:bodyPr>
          <a:lstStyle/>
          <a:p>
            <a:r>
              <a:rPr lang="en-US" altLang="zh-TW" dirty="0" smtClean="0"/>
              <a:t>Results - </a:t>
            </a:r>
            <a:r>
              <a:rPr lang="en-US" altLang="zh-TW" dirty="0"/>
              <a:t>Projectile Points (Arrowheads)</a:t>
            </a:r>
            <a:endParaRPr lang="zh-TW" altLang="en-US" dirty="0"/>
          </a:p>
        </p:txBody>
      </p:sp>
      <p:pic>
        <p:nvPicPr>
          <p:cNvPr id="9218" name="Picture 2" descr="E:\1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1916832"/>
            <a:ext cx="7068785" cy="273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58157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normAutofit fontScale="90000"/>
          </a:bodyPr>
          <a:lstStyle/>
          <a:p>
            <a:r>
              <a:rPr lang="en-US" altLang="zh-TW" dirty="0" smtClean="0"/>
              <a:t>Results - </a:t>
            </a:r>
            <a:r>
              <a:rPr lang="en-US" altLang="zh-TW" dirty="0"/>
              <a:t>Projectile Points (Arrowheads)</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5" name="Picture 3" descr="E:\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908720"/>
            <a:ext cx="5376451" cy="5877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0325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normAutofit fontScale="90000"/>
          </a:bodyPr>
          <a:lstStyle/>
          <a:p>
            <a:r>
              <a:rPr lang="en-US" altLang="zh-TW" dirty="0" smtClean="0"/>
              <a:t>Results - </a:t>
            </a:r>
            <a:r>
              <a:rPr lang="en-US" altLang="zh-TW" dirty="0"/>
              <a:t>Mining Historical </a:t>
            </a:r>
            <a:r>
              <a:rPr lang="en-US" altLang="zh-TW" dirty="0" smtClean="0"/>
              <a:t>Documents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0242" name="Picture 2" descr="E:\1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884151"/>
            <a:ext cx="8000070" cy="2838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51520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normAutofit fontScale="90000"/>
          </a:bodyPr>
          <a:lstStyle/>
          <a:p>
            <a:r>
              <a:rPr lang="en-US" altLang="zh-TW" dirty="0" smtClean="0"/>
              <a:t>Results - </a:t>
            </a:r>
            <a:r>
              <a:rPr lang="en-US" altLang="zh-TW" dirty="0"/>
              <a:t>Mining Historical </a:t>
            </a:r>
            <a:r>
              <a:rPr lang="en-US" altLang="zh-TW" dirty="0" smtClean="0"/>
              <a:t>Documents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1266" name="Picture 2" descr="E:\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669" y="1052736"/>
            <a:ext cx="5679635" cy="56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0946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915</TotalTime>
  <Words>822</Words>
  <Application>Microsoft Office PowerPoint</Application>
  <PresentationFormat>如螢幕大小 (4:3)</PresentationFormat>
  <Paragraphs>80</Paragraphs>
  <Slides>23</Slides>
  <Notes>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23</vt:i4>
      </vt:variant>
    </vt:vector>
  </HeadingPairs>
  <TitlesOfParts>
    <vt:vector size="29" baseType="lpstr">
      <vt:lpstr>新細明體</vt:lpstr>
      <vt:lpstr>標楷體</vt:lpstr>
      <vt:lpstr>Arial</vt:lpstr>
      <vt:lpstr>Calibri</vt:lpstr>
      <vt:lpstr>Cambria Math</vt:lpstr>
      <vt:lpstr>Office 佈景主題</vt:lpstr>
      <vt:lpstr>Time Series Shapelets: A New Primitive for Data Mining</vt:lpstr>
      <vt:lpstr>Abstract</vt:lpstr>
      <vt:lpstr>Abstract</vt:lpstr>
      <vt:lpstr>Time Series</vt:lpstr>
      <vt:lpstr>Time Series</vt:lpstr>
      <vt:lpstr>Time Series</vt:lpstr>
      <vt:lpstr>Shapelets</vt:lpstr>
      <vt:lpstr>Shapelets</vt:lpstr>
      <vt:lpstr>Definitions </vt:lpstr>
      <vt:lpstr>Definitions </vt:lpstr>
      <vt:lpstr>Definitions</vt:lpstr>
      <vt:lpstr>Definitions </vt:lpstr>
      <vt:lpstr>Definitions</vt:lpstr>
      <vt:lpstr>Algorithm</vt:lpstr>
      <vt:lpstr>Algorithm</vt:lpstr>
      <vt:lpstr>Subsequence Distance Early Abandon</vt:lpstr>
      <vt:lpstr>Admissible Entropy Pruning</vt:lpstr>
      <vt:lpstr>Performance Comparison</vt:lpstr>
      <vt:lpstr>Performance Comparison</vt:lpstr>
      <vt:lpstr>Results - Projectile Points (Arrowheads)</vt:lpstr>
      <vt:lpstr>Results - Projectile Points (Arrowheads)</vt:lpstr>
      <vt:lpstr>Results - Mining Historical Documents</vt:lpstr>
      <vt:lpstr>Results - Mining Historical Documents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Shapelets: A New Primitive for Data Mining</dc:title>
  <dc:creator>yotsuki</dc:creator>
  <cp:lastModifiedBy>guo</cp:lastModifiedBy>
  <cp:revision>61</cp:revision>
  <dcterms:created xsi:type="dcterms:W3CDTF">2015-03-01T18:18:01Z</dcterms:created>
  <dcterms:modified xsi:type="dcterms:W3CDTF">2015-03-02T09:58:11Z</dcterms:modified>
</cp:coreProperties>
</file>