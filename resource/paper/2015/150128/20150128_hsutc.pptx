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0"/>
  </p:notesMasterIdLst>
  <p:sldIdLst>
    <p:sldId id="259" r:id="rId2"/>
    <p:sldId id="260" r:id="rId3"/>
    <p:sldId id="261" r:id="rId4"/>
    <p:sldId id="257" r:id="rId5"/>
    <p:sldId id="263" r:id="rId6"/>
    <p:sldId id="262" r:id="rId7"/>
    <p:sldId id="265" r:id="rId8"/>
    <p:sldId id="269" r:id="rId9"/>
    <p:sldId id="271" r:id="rId10"/>
    <p:sldId id="272" r:id="rId11"/>
    <p:sldId id="275" r:id="rId12"/>
    <p:sldId id="278" r:id="rId13"/>
    <p:sldId id="279" r:id="rId14"/>
    <p:sldId id="274" r:id="rId15"/>
    <p:sldId id="281" r:id="rId16"/>
    <p:sldId id="285" r:id="rId17"/>
    <p:sldId id="284" r:id="rId18"/>
    <p:sldId id="290" r:id="rId19"/>
    <p:sldId id="307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3" r:id="rId31"/>
    <p:sldId id="302" r:id="rId32"/>
    <p:sldId id="305" r:id="rId33"/>
    <p:sldId id="306" r:id="rId34"/>
    <p:sldId id="308" r:id="rId35"/>
    <p:sldId id="310" r:id="rId36"/>
    <p:sldId id="311" r:id="rId37"/>
    <p:sldId id="312" r:id="rId38"/>
    <p:sldId id="313" r:id="rId39"/>
    <p:sldId id="315" r:id="rId40"/>
    <p:sldId id="289" r:id="rId41"/>
    <p:sldId id="316" r:id="rId42"/>
    <p:sldId id="317" r:id="rId43"/>
    <p:sldId id="314" r:id="rId44"/>
    <p:sldId id="319" r:id="rId45"/>
    <p:sldId id="320" r:id="rId46"/>
    <p:sldId id="322" r:id="rId47"/>
    <p:sldId id="321" r:id="rId48"/>
    <p:sldId id="326" r:id="rId49"/>
    <p:sldId id="335" r:id="rId50"/>
    <p:sldId id="318" r:id="rId51"/>
    <p:sldId id="324" r:id="rId52"/>
    <p:sldId id="334" r:id="rId53"/>
    <p:sldId id="327" r:id="rId54"/>
    <p:sldId id="333" r:id="rId55"/>
    <p:sldId id="328" r:id="rId56"/>
    <p:sldId id="329" r:id="rId57"/>
    <p:sldId id="331" r:id="rId58"/>
    <p:sldId id="332" r:id="rId5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clrMru>
    <a:srgbClr val="FFFFFF"/>
    <a:srgbClr val="FF0000"/>
    <a:srgbClr val="4472C4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148" autoAdjust="0"/>
  </p:normalViewPr>
  <p:slideViewPr>
    <p:cSldViewPr snapToGrid="0">
      <p:cViewPr varScale="1">
        <p:scale>
          <a:sx n="73" d="100"/>
          <a:sy n="73" d="100"/>
        </p:scale>
        <p:origin x="-42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7978D9-DF33-44CA-B695-364B8CA98250}" type="datetimeFigureOut">
              <a:rPr lang="zh-TW" altLang="en-US" smtClean="0"/>
              <a:pPr/>
              <a:t>2015/2/20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CA059-4E8D-4F4B-8C17-FACE11DB076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39335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CA059-4E8D-4F4B-8C17-FACE11DB0767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455934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CA059-4E8D-4F4B-8C17-FACE11DB0767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568444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CA059-4E8D-4F4B-8C17-FACE11DB0767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375544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CA059-4E8D-4F4B-8C17-FACE11DB0767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461715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CA059-4E8D-4F4B-8C17-FACE11DB0767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502073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CA059-4E8D-4F4B-8C17-FACE11DB0767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1751276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9CA059-4E8D-4F4B-8C17-FACE11DB0767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768890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84B9E-14A9-4721-A20E-7555107A2572}" type="datetimeFigureOut">
              <a:rPr lang="zh-TW" altLang="en-US" smtClean="0"/>
              <a:pPr/>
              <a:t>2015/2/20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B133-BDD6-4A28-B6BC-B8AE58BCBF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531207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84B9E-14A9-4721-A20E-7555107A2572}" type="datetimeFigureOut">
              <a:rPr lang="zh-TW" altLang="en-US" smtClean="0"/>
              <a:pPr/>
              <a:t>2015/2/20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B133-BDD6-4A28-B6BC-B8AE58BCBF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764664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84B9E-14A9-4721-A20E-7555107A2572}" type="datetimeFigureOut">
              <a:rPr lang="zh-TW" altLang="en-US" smtClean="0"/>
              <a:pPr/>
              <a:t>2015/2/20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B133-BDD6-4A28-B6BC-B8AE58BCBF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547207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84B9E-14A9-4721-A20E-7555107A2572}" type="datetimeFigureOut">
              <a:rPr lang="zh-TW" altLang="en-US" smtClean="0"/>
              <a:pPr/>
              <a:t>2015/2/20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B133-BDD6-4A28-B6BC-B8AE58BCBF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340477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84B9E-14A9-4721-A20E-7555107A2572}" type="datetimeFigureOut">
              <a:rPr lang="zh-TW" altLang="en-US" smtClean="0"/>
              <a:pPr/>
              <a:t>2015/2/20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B133-BDD6-4A28-B6BC-B8AE58BCBF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269340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84B9E-14A9-4721-A20E-7555107A2572}" type="datetimeFigureOut">
              <a:rPr lang="zh-TW" altLang="en-US" smtClean="0"/>
              <a:pPr/>
              <a:t>2015/2/20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B133-BDD6-4A28-B6BC-B8AE58BCBF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206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84B9E-14A9-4721-A20E-7555107A2572}" type="datetimeFigureOut">
              <a:rPr lang="zh-TW" altLang="en-US" smtClean="0"/>
              <a:pPr/>
              <a:t>2015/2/20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B133-BDD6-4A28-B6BC-B8AE58BCBF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28786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84B9E-14A9-4721-A20E-7555107A2572}" type="datetimeFigureOut">
              <a:rPr lang="zh-TW" altLang="en-US" smtClean="0"/>
              <a:pPr/>
              <a:t>2015/2/20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B133-BDD6-4A28-B6BC-B8AE58BCBF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718433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84B9E-14A9-4721-A20E-7555107A2572}" type="datetimeFigureOut">
              <a:rPr lang="zh-TW" altLang="en-US" smtClean="0"/>
              <a:pPr/>
              <a:t>2015/2/20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B133-BDD6-4A28-B6BC-B8AE58BCBF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272999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84B9E-14A9-4721-A20E-7555107A2572}" type="datetimeFigureOut">
              <a:rPr lang="zh-TW" altLang="en-US" smtClean="0"/>
              <a:pPr/>
              <a:t>2015/2/20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B133-BDD6-4A28-B6BC-B8AE58BCBF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209783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84B9E-14A9-4721-A20E-7555107A2572}" type="datetimeFigureOut">
              <a:rPr lang="zh-TW" altLang="en-US" smtClean="0"/>
              <a:pPr/>
              <a:t>2015/2/20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3B133-BDD6-4A28-B6BC-B8AE58BCBF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13864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084B9E-14A9-4721-A20E-7555107A2572}" type="datetimeFigureOut">
              <a:rPr lang="zh-TW" altLang="en-US" smtClean="0"/>
              <a:pPr/>
              <a:t>2015/2/20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D3B133-BDD6-4A28-B6BC-B8AE58BCBFD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11402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副標題 2"/>
          <p:cNvSpPr>
            <a:spLocks noGrp="1"/>
          </p:cNvSpPr>
          <p:nvPr>
            <p:ph type="subTitle" idx="1"/>
          </p:nvPr>
        </p:nvSpPr>
        <p:spPr>
          <a:xfrm>
            <a:off x="0" y="2880519"/>
            <a:ext cx="9144000" cy="1655762"/>
          </a:xfrm>
        </p:spPr>
        <p:txBody>
          <a:bodyPr>
            <a:noAutofit/>
          </a:bodyPr>
          <a:lstStyle/>
          <a:p>
            <a:endParaRPr lang="en-US" altLang="zh-TW" sz="3200" dirty="0" smtClean="0"/>
          </a:p>
          <a:p>
            <a:pPr fontAlgn="base"/>
            <a:r>
              <a:rPr lang="en-US" altLang="zh-TW" sz="2800" dirty="0" err="1" smtClean="0"/>
              <a:t>Maxime</a:t>
            </a:r>
            <a:r>
              <a:rPr lang="en-US" altLang="zh-TW" sz="2800" dirty="0" smtClean="0"/>
              <a:t> </a:t>
            </a:r>
            <a:r>
              <a:rPr lang="en-US" altLang="zh-TW" sz="2800" dirty="0" err="1" smtClean="0"/>
              <a:t>Crochemore</a:t>
            </a:r>
            <a:r>
              <a:rPr lang="en-US" altLang="zh-TW" sz="2800" dirty="0" smtClean="0"/>
              <a:t>, Gad </a:t>
            </a:r>
            <a:r>
              <a:rPr lang="en-US" altLang="zh-TW" sz="2800" dirty="0"/>
              <a:t>M. </a:t>
            </a:r>
            <a:r>
              <a:rPr lang="en-US" altLang="zh-TW" sz="2800" dirty="0" smtClean="0"/>
              <a:t>Landau, Michal </a:t>
            </a:r>
            <a:r>
              <a:rPr lang="en-US" altLang="zh-TW" sz="2800" dirty="0" err="1" smtClean="0"/>
              <a:t>Ziv-Ukelson</a:t>
            </a:r>
            <a:endParaRPr lang="en-US" altLang="zh-TW" sz="2800" dirty="0" smtClean="0"/>
          </a:p>
          <a:p>
            <a:pPr fontAlgn="base"/>
            <a:endParaRPr lang="en-US" altLang="zh-TW" sz="1100" dirty="0"/>
          </a:p>
          <a:p>
            <a:pPr fontAlgn="base"/>
            <a:r>
              <a:rPr lang="en-US" altLang="zh-TW" sz="3200" dirty="0"/>
              <a:t>String </a:t>
            </a:r>
            <a:r>
              <a:rPr lang="en-US" altLang="zh-TW" sz="3200" dirty="0" err="1" smtClean="0"/>
              <a:t>Algorithmics</a:t>
            </a:r>
            <a:r>
              <a:rPr lang="en-US" altLang="zh-TW" sz="3200" dirty="0" smtClean="0"/>
              <a:t>, pp. 19-59 (2005)</a:t>
            </a:r>
            <a:endParaRPr lang="zh-TW" altLang="en-US" sz="32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666749" y="5029200"/>
            <a:ext cx="6508185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/>
              <a:t>Presenter: Tzu-Chiang Hsu 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(</a:t>
            </a:r>
            <a:r>
              <a:rPr lang="zh-TW" altLang="en-US" sz="4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徐子強</a:t>
            </a:r>
            <a:r>
              <a:rPr lang="en-US" altLang="zh-TW" sz="3200" dirty="0" smtClean="0"/>
              <a:t>)</a:t>
            </a:r>
          </a:p>
          <a:p>
            <a:r>
              <a:rPr lang="en-US" altLang="zh-TW" sz="2500" dirty="0" smtClean="0"/>
              <a:t>2015/01/28</a:t>
            </a:r>
            <a:endParaRPr lang="zh-TW" altLang="en-US" sz="2500" dirty="0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685800" y="492919"/>
            <a:ext cx="7772400" cy="2387600"/>
          </a:xfrm>
        </p:spPr>
        <p:txBody>
          <a:bodyPr>
            <a:normAutofit/>
          </a:bodyPr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Re-Use Dynamic Programming for Sequence Alignment: An Algorithmic Toolkit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959172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Abstract (1/2)</a:t>
            </a:r>
            <a:endParaRPr lang="zh-TW" altLang="en-US" dirty="0">
              <a:latin typeface="Georgia" panose="02040502050405020303" pitchFamily="18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of comparing two sequences S and T to determine their similarity is one of the fundamental problems in pattern matching. In this manuscript we will be </a:t>
            </a:r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primarily concerned </a:t>
            </a:r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sequences as our </a:t>
            </a:r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objects </a:t>
            </a:r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with various string comparison metrics. Our goal is to survey a methodology for utilizing repetitions in sequences in order to speed up the comparison </a:t>
            </a:r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process.</a:t>
            </a:r>
            <a:endParaRPr lang="en-US" altLang="zh-TW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6906956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Abstract (</a:t>
            </a:r>
            <a:r>
              <a:rPr lang="en-US" altLang="zh-TW" dirty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2</a:t>
            </a:r>
            <a:r>
              <a:rPr lang="en-US" altLang="zh-TW" dirty="0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/2)</a:t>
            </a:r>
            <a:endParaRPr lang="zh-TW" altLang="en-US" dirty="0">
              <a:latin typeface="Georgia" panose="02040502050405020303" pitchFamily="18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altLang="zh-TW" sz="3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Within </a:t>
            </a:r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framework we consider various methods of parsing the sequences in order to frame their repetitions, and present a toolkit of various solutions whose time complexity depends both on the chosen parsing method as well as on the string-comparison metric used for the alignment.</a:t>
            </a:r>
          </a:p>
        </p:txBody>
      </p:sp>
    </p:spTree>
    <p:extLst>
      <p:ext uri="{BB962C8B-B14F-4D97-AF65-F5344CB8AC3E}">
        <p14:creationId xmlns:p14="http://schemas.microsoft.com/office/powerpoint/2010/main" xmlns="" val="106329385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39096" y="335330"/>
            <a:ext cx="4227952" cy="138499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800" dirty="0" smtClean="0">
                <a:ln w="0"/>
              </a:rPr>
              <a:t>O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n the Common </a:t>
            </a:r>
            <a:r>
              <a:rPr lang="en-US" altLang="zh-TW" sz="2800" dirty="0" smtClean="0">
                <a:ln w="0"/>
              </a:rPr>
              <a:t>S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ubstring </a:t>
            </a:r>
          </a:p>
          <a:p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Alignment </a:t>
            </a:r>
            <a:r>
              <a:rPr lang="en-US" altLang="zh-TW" sz="2800" dirty="0" smtClean="0">
                <a:ln w="0"/>
              </a:rPr>
              <a:t>P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roblem, Journal</a:t>
            </a:r>
            <a:endParaRPr lang="en-US" altLang="zh-TW" sz="2800" dirty="0" smtClean="0">
              <a:ln w="0"/>
            </a:endParaRPr>
          </a:p>
          <a:p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of Algorithms, 2001</a:t>
            </a:r>
            <a:endParaRPr lang="zh-TW" altLang="en-US" sz="2800" b="0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82547" y="4247548"/>
            <a:ext cx="8098820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800" dirty="0" smtClean="0">
                <a:ln w="0"/>
              </a:rPr>
              <a:t>A Sub-quadratic Sequence Alignment Algorithm for </a:t>
            </a:r>
          </a:p>
          <a:p>
            <a:r>
              <a:rPr lang="en-US" altLang="zh-TW" sz="2800" dirty="0" smtClean="0">
                <a:ln w="0"/>
              </a:rPr>
              <a:t>Unrestricted Scoring Matrices, SIAM J. COMPUT., 2003</a:t>
            </a:r>
          </a:p>
        </p:txBody>
      </p:sp>
      <p:sp>
        <p:nvSpPr>
          <p:cNvPr id="10" name="矩形 9"/>
          <p:cNvSpPr/>
          <p:nvPr/>
        </p:nvSpPr>
        <p:spPr>
          <a:xfrm>
            <a:off x="829546" y="1630566"/>
            <a:ext cx="965329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3200" b="0" cap="none" spc="0" dirty="0" smtClean="0">
                <a:ln w="0"/>
                <a:solidFill>
                  <a:schemeClr val="tx1"/>
                </a:solidFill>
              </a:rPr>
              <a:t>①</a:t>
            </a:r>
            <a:r>
              <a:rPr lang="zh-TW" altLang="en-US" sz="3600" b="0" cap="none" spc="0" dirty="0" smtClean="0">
                <a:ln w="0"/>
                <a:solidFill>
                  <a:schemeClr val="tx1"/>
                </a:solidFill>
              </a:rPr>
              <a:t> </a:t>
            </a:r>
            <a:r>
              <a:rPr lang="en-US" altLang="zh-TW" sz="6600" b="0" cap="none" spc="0" dirty="0" smtClean="0">
                <a:ln w="0"/>
                <a:solidFill>
                  <a:schemeClr val="tx1"/>
                </a:solidFill>
              </a:rPr>
              <a:t>{</a:t>
            </a:r>
            <a:endParaRPr lang="zh-TW" altLang="en-US" sz="3600" b="0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29547" y="2556267"/>
            <a:ext cx="965328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3200" b="0" cap="none" spc="0" dirty="0" smtClean="0">
                <a:ln w="0"/>
                <a:solidFill>
                  <a:schemeClr val="tx1"/>
                </a:solidFill>
              </a:rPr>
              <a:t>②</a:t>
            </a:r>
            <a:r>
              <a:rPr lang="zh-TW" altLang="en-US" sz="3600" b="0" cap="none" spc="0" dirty="0" smtClean="0">
                <a:ln w="0"/>
                <a:solidFill>
                  <a:schemeClr val="tx1"/>
                </a:solidFill>
              </a:rPr>
              <a:t> </a:t>
            </a:r>
            <a:r>
              <a:rPr lang="en-US" altLang="zh-TW" sz="6600" b="0" cap="none" spc="0" dirty="0" smtClean="0">
                <a:ln w="0"/>
                <a:solidFill>
                  <a:schemeClr val="tx1"/>
                </a:solidFill>
              </a:rPr>
              <a:t>{</a:t>
            </a:r>
            <a:endParaRPr lang="zh-TW" altLang="en-US" sz="3600" b="0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852974" y="1307015"/>
            <a:ext cx="2354555" cy="107721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lgDash"/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200" b="0" cap="none" spc="0" dirty="0" smtClean="0">
                <a:ln w="0"/>
                <a:solidFill>
                  <a:schemeClr val="tx1"/>
                </a:solidFill>
              </a:rPr>
              <a:t>Lempel–</a:t>
            </a:r>
            <a:r>
              <a:rPr lang="en-US" altLang="zh-TW" sz="3200" b="0" cap="none" spc="0" dirty="0" err="1" smtClean="0">
                <a:ln w="0"/>
                <a:solidFill>
                  <a:schemeClr val="tx1"/>
                </a:solidFill>
              </a:rPr>
              <a:t>Ziv</a:t>
            </a:r>
            <a:endParaRPr lang="en-US" altLang="zh-TW" sz="3200" dirty="0">
              <a:ln w="0"/>
            </a:endParaRPr>
          </a:p>
          <a:p>
            <a:r>
              <a:rPr lang="en-US" altLang="zh-TW" sz="3200" b="0" cap="none" spc="0" dirty="0" smtClean="0">
                <a:ln w="0"/>
                <a:solidFill>
                  <a:schemeClr val="tx1"/>
                </a:solidFill>
              </a:rPr>
              <a:t>Compression</a:t>
            </a:r>
          </a:p>
        </p:txBody>
      </p:sp>
      <p:sp>
        <p:nvSpPr>
          <p:cNvPr id="15" name="矩形 14"/>
          <p:cNvSpPr/>
          <p:nvPr/>
        </p:nvSpPr>
        <p:spPr>
          <a:xfrm>
            <a:off x="582547" y="5223443"/>
            <a:ext cx="8258992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① + LZ	O(hn</a:t>
            </a:r>
            <a:r>
              <a:rPr lang="en-US" altLang="zh-TW" sz="2800" baseline="30000" dirty="0" smtClean="0">
                <a:ln w="0"/>
              </a:rPr>
              <a:t>2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/log n) </a:t>
            </a:r>
            <a:r>
              <a:rPr lang="en-US" altLang="zh-TW" sz="2800" dirty="0">
                <a:ln w="0"/>
              </a:rPr>
              <a:t>T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ime and Space</a:t>
            </a:r>
          </a:p>
          <a:p>
            <a:r>
              <a:rPr lang="zh-TW" altLang="en-US" sz="2800" b="0" cap="none" spc="0" dirty="0" smtClean="0">
                <a:ln w="0"/>
                <a:solidFill>
                  <a:schemeClr val="tx1"/>
                </a:solidFill>
              </a:rPr>
              <a:t>② 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+ LZ	O(hn</a:t>
            </a:r>
            <a:r>
              <a:rPr lang="en-US" altLang="zh-TW" sz="2800" baseline="30000" dirty="0" smtClean="0">
                <a:ln w="0"/>
              </a:rPr>
              <a:t>2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/log n) </a:t>
            </a:r>
            <a:r>
              <a:rPr lang="en-US" altLang="zh-TW" sz="2800" dirty="0" smtClean="0">
                <a:ln w="0"/>
              </a:rPr>
              <a:t>T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ime, O(h</a:t>
            </a:r>
            <a:r>
              <a:rPr lang="en-US" altLang="zh-TW" sz="2800" b="0" cap="none" spc="0" baseline="30000" dirty="0" smtClean="0">
                <a:ln w="0"/>
                <a:solidFill>
                  <a:schemeClr val="tx1"/>
                </a:solidFill>
              </a:rPr>
              <a:t>2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n</a:t>
            </a:r>
            <a:r>
              <a:rPr lang="en-US" altLang="zh-TW" sz="2800" baseline="30000" dirty="0" smtClean="0">
                <a:ln w="0"/>
              </a:rPr>
              <a:t>2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/(log n)</a:t>
            </a:r>
            <a:r>
              <a:rPr lang="en-US" altLang="zh-TW" sz="2800" b="0" cap="none" spc="0" baseline="30000" dirty="0" smtClean="0">
                <a:ln w="0"/>
                <a:solidFill>
                  <a:schemeClr val="tx1"/>
                </a:solidFill>
              </a:rPr>
              <a:t>2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) Space</a:t>
            </a:r>
          </a:p>
        </p:txBody>
      </p:sp>
      <p:sp>
        <p:nvSpPr>
          <p:cNvPr id="18" name="矩形 17"/>
          <p:cNvSpPr/>
          <p:nvPr/>
        </p:nvSpPr>
        <p:spPr>
          <a:xfrm>
            <a:off x="1740352" y="1756719"/>
            <a:ext cx="2427524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800" dirty="0" smtClean="0">
                <a:ln w="0"/>
              </a:rPr>
              <a:t>E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ncoding O(n</a:t>
            </a:r>
            <a:r>
              <a:rPr lang="en-US" altLang="zh-TW" sz="2800" b="0" cap="none" spc="0" baseline="30000" dirty="0" smtClean="0">
                <a:ln w="0"/>
                <a:solidFill>
                  <a:schemeClr val="tx1"/>
                </a:solidFill>
              </a:rPr>
              <a:t>2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)</a:t>
            </a:r>
          </a:p>
          <a:p>
            <a:r>
              <a:rPr lang="en-US" altLang="zh-TW" sz="2800" dirty="0">
                <a:ln w="0"/>
              </a:rPr>
              <a:t>A</a:t>
            </a:r>
            <a:r>
              <a:rPr lang="en-US" altLang="zh-TW" sz="2800" dirty="0" smtClean="0">
                <a:ln w="0"/>
              </a:rPr>
              <a:t>lignment O(n)</a:t>
            </a:r>
            <a:endParaRPr lang="zh-TW" altLang="en-US" sz="2800" b="0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740352" y="2710156"/>
            <a:ext cx="2746521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800" dirty="0">
                <a:ln w="0"/>
              </a:rPr>
              <a:t>E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ncoding O(</a:t>
            </a:r>
            <a:r>
              <a:rPr lang="en-US" altLang="zh-TW" sz="2800" b="0" cap="none" spc="0" dirty="0" err="1" smtClean="0">
                <a:ln w="0"/>
                <a:solidFill>
                  <a:schemeClr val="tx1"/>
                </a:solidFill>
              </a:rPr>
              <a:t>n|Y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|)</a:t>
            </a:r>
          </a:p>
          <a:p>
            <a:r>
              <a:rPr lang="en-US" altLang="zh-TW" sz="2800" dirty="0">
                <a:ln w="0"/>
              </a:rPr>
              <a:t>A</a:t>
            </a:r>
            <a:r>
              <a:rPr lang="en-US" altLang="zh-TW" sz="2800" dirty="0" smtClean="0">
                <a:ln w="0"/>
              </a:rPr>
              <a:t>lignment O(n)</a:t>
            </a:r>
            <a:endParaRPr lang="zh-TW" altLang="en-US" sz="2800" b="0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82547" y="335330"/>
            <a:ext cx="4205763" cy="340092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511277" y="4247548"/>
            <a:ext cx="8170090" cy="204241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1" name="直線單箭頭接點 30"/>
          <p:cNvCxnSpPr>
            <a:stCxn id="35" idx="2"/>
          </p:cNvCxnSpPr>
          <p:nvPr/>
        </p:nvCxnSpPr>
        <p:spPr>
          <a:xfrm flipH="1">
            <a:off x="5264184" y="3283527"/>
            <a:ext cx="1416" cy="96402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弧形 33"/>
          <p:cNvSpPr/>
          <p:nvPr/>
        </p:nvSpPr>
        <p:spPr>
          <a:xfrm>
            <a:off x="4316360" y="2384233"/>
            <a:ext cx="947823" cy="2128772"/>
          </a:xfrm>
          <a:prstGeom prst="arc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弧形 34"/>
          <p:cNvSpPr/>
          <p:nvPr/>
        </p:nvSpPr>
        <p:spPr>
          <a:xfrm flipH="1">
            <a:off x="5265600" y="2054048"/>
            <a:ext cx="1173955" cy="2458957"/>
          </a:xfrm>
          <a:prstGeom prst="arc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3780071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4881" y="1113696"/>
            <a:ext cx="8667739" cy="467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2009330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77165" y="186812"/>
            <a:ext cx="4727857" cy="632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7760439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流程圖: 接點 2"/>
          <p:cNvSpPr>
            <a:spLocks noChangeAspect="1"/>
          </p:cNvSpPr>
          <p:nvPr/>
        </p:nvSpPr>
        <p:spPr>
          <a:xfrm>
            <a:off x="2418735" y="2015614"/>
            <a:ext cx="584640" cy="583651"/>
          </a:xfrm>
          <a:prstGeom prst="flowChartConnector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j-lt"/>
            </a:endParaRPr>
          </a:p>
        </p:txBody>
      </p:sp>
      <p:cxnSp>
        <p:nvCxnSpPr>
          <p:cNvPr id="5" name="直線單箭頭接點 4"/>
          <p:cNvCxnSpPr>
            <a:stCxn id="3" idx="6"/>
          </p:cNvCxnSpPr>
          <p:nvPr/>
        </p:nvCxnSpPr>
        <p:spPr>
          <a:xfrm flipV="1">
            <a:off x="3003375" y="2307439"/>
            <a:ext cx="762379" cy="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 rot="5400000" flipV="1">
            <a:off x="2329865" y="2980454"/>
            <a:ext cx="762379" cy="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3" idx="5"/>
          </p:cNvCxnSpPr>
          <p:nvPr/>
        </p:nvCxnSpPr>
        <p:spPr>
          <a:xfrm>
            <a:off x="2917756" y="2513791"/>
            <a:ext cx="933617" cy="933327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流程圖: 接點 26"/>
          <p:cNvSpPr>
            <a:spLocks noChangeAspect="1"/>
          </p:cNvSpPr>
          <p:nvPr/>
        </p:nvSpPr>
        <p:spPr>
          <a:xfrm>
            <a:off x="3765754" y="2015614"/>
            <a:ext cx="584640" cy="583651"/>
          </a:xfrm>
          <a:prstGeom prst="flowChartConnector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j-lt"/>
            </a:endParaRPr>
          </a:p>
        </p:txBody>
      </p:sp>
      <p:cxnSp>
        <p:nvCxnSpPr>
          <p:cNvPr id="28" name="直線單箭頭接點 27"/>
          <p:cNvCxnSpPr>
            <a:stCxn id="27" idx="6"/>
          </p:cNvCxnSpPr>
          <p:nvPr/>
        </p:nvCxnSpPr>
        <p:spPr>
          <a:xfrm flipV="1">
            <a:off x="4350394" y="2307439"/>
            <a:ext cx="762379" cy="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 rot="5400000" flipV="1">
            <a:off x="3676884" y="2980454"/>
            <a:ext cx="762379" cy="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>
            <a:stCxn id="27" idx="5"/>
          </p:cNvCxnSpPr>
          <p:nvPr/>
        </p:nvCxnSpPr>
        <p:spPr>
          <a:xfrm>
            <a:off x="4264775" y="2513791"/>
            <a:ext cx="933617" cy="93332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流程圖: 接點 32"/>
          <p:cNvSpPr>
            <a:spLocks noChangeAspect="1"/>
          </p:cNvSpPr>
          <p:nvPr/>
        </p:nvSpPr>
        <p:spPr>
          <a:xfrm>
            <a:off x="2418735" y="3361644"/>
            <a:ext cx="584640" cy="583651"/>
          </a:xfrm>
          <a:prstGeom prst="flowChartConnector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j-lt"/>
            </a:endParaRPr>
          </a:p>
        </p:txBody>
      </p:sp>
      <p:cxnSp>
        <p:nvCxnSpPr>
          <p:cNvPr id="34" name="直線單箭頭接點 33"/>
          <p:cNvCxnSpPr>
            <a:stCxn id="33" idx="6"/>
          </p:cNvCxnSpPr>
          <p:nvPr/>
        </p:nvCxnSpPr>
        <p:spPr>
          <a:xfrm flipV="1">
            <a:off x="3003375" y="3653469"/>
            <a:ext cx="762379" cy="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 rot="5400000" flipV="1">
            <a:off x="2329865" y="4326484"/>
            <a:ext cx="762379" cy="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>
            <a:stCxn id="33" idx="5"/>
          </p:cNvCxnSpPr>
          <p:nvPr/>
        </p:nvCxnSpPr>
        <p:spPr>
          <a:xfrm>
            <a:off x="2917756" y="3859821"/>
            <a:ext cx="933617" cy="93332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流程圖: 接點 38"/>
          <p:cNvSpPr>
            <a:spLocks noChangeAspect="1"/>
          </p:cNvSpPr>
          <p:nvPr/>
        </p:nvSpPr>
        <p:spPr>
          <a:xfrm>
            <a:off x="3765754" y="3362657"/>
            <a:ext cx="584640" cy="583651"/>
          </a:xfrm>
          <a:prstGeom prst="flowChartConnector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j-lt"/>
            </a:endParaRPr>
          </a:p>
        </p:txBody>
      </p:sp>
      <p:cxnSp>
        <p:nvCxnSpPr>
          <p:cNvPr id="40" name="直線單箭頭接點 39"/>
          <p:cNvCxnSpPr>
            <a:stCxn id="39" idx="6"/>
          </p:cNvCxnSpPr>
          <p:nvPr/>
        </p:nvCxnSpPr>
        <p:spPr>
          <a:xfrm flipV="1">
            <a:off x="4350394" y="3654482"/>
            <a:ext cx="762379" cy="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/>
          <p:nvPr/>
        </p:nvCxnSpPr>
        <p:spPr>
          <a:xfrm rot="5400000" flipV="1">
            <a:off x="3676884" y="4327497"/>
            <a:ext cx="762379" cy="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39" idx="5"/>
          </p:cNvCxnSpPr>
          <p:nvPr/>
        </p:nvCxnSpPr>
        <p:spPr>
          <a:xfrm>
            <a:off x="4264775" y="3860834"/>
            <a:ext cx="933617" cy="93332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流程圖: 接點 44"/>
          <p:cNvSpPr>
            <a:spLocks noChangeAspect="1"/>
          </p:cNvSpPr>
          <p:nvPr/>
        </p:nvSpPr>
        <p:spPr>
          <a:xfrm>
            <a:off x="5112773" y="2016120"/>
            <a:ext cx="584640" cy="583651"/>
          </a:xfrm>
          <a:prstGeom prst="flowChartConnector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j-lt"/>
            </a:endParaRPr>
          </a:p>
        </p:txBody>
      </p:sp>
      <p:cxnSp>
        <p:nvCxnSpPr>
          <p:cNvPr id="46" name="直線單箭頭接點 45"/>
          <p:cNvCxnSpPr>
            <a:stCxn id="45" idx="6"/>
          </p:cNvCxnSpPr>
          <p:nvPr/>
        </p:nvCxnSpPr>
        <p:spPr>
          <a:xfrm flipV="1">
            <a:off x="5697413" y="2307945"/>
            <a:ext cx="762379" cy="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/>
          <p:nvPr/>
        </p:nvCxnSpPr>
        <p:spPr>
          <a:xfrm rot="5400000" flipV="1">
            <a:off x="5023903" y="2980960"/>
            <a:ext cx="762379" cy="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>
            <a:stCxn id="45" idx="5"/>
          </p:cNvCxnSpPr>
          <p:nvPr/>
        </p:nvCxnSpPr>
        <p:spPr>
          <a:xfrm>
            <a:off x="5611794" y="2514297"/>
            <a:ext cx="933617" cy="933327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流程圖: 接點 50"/>
          <p:cNvSpPr>
            <a:spLocks noChangeAspect="1"/>
          </p:cNvSpPr>
          <p:nvPr/>
        </p:nvSpPr>
        <p:spPr>
          <a:xfrm>
            <a:off x="5112773" y="3361644"/>
            <a:ext cx="584640" cy="583651"/>
          </a:xfrm>
          <a:prstGeom prst="flowChartConnector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j-lt"/>
            </a:endParaRPr>
          </a:p>
        </p:txBody>
      </p:sp>
      <p:cxnSp>
        <p:nvCxnSpPr>
          <p:cNvPr id="52" name="直線單箭頭接點 51"/>
          <p:cNvCxnSpPr>
            <a:stCxn id="51" idx="6"/>
          </p:cNvCxnSpPr>
          <p:nvPr/>
        </p:nvCxnSpPr>
        <p:spPr>
          <a:xfrm flipV="1">
            <a:off x="5697413" y="3653469"/>
            <a:ext cx="762379" cy="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/>
          <p:cNvCxnSpPr/>
          <p:nvPr/>
        </p:nvCxnSpPr>
        <p:spPr>
          <a:xfrm rot="5400000" flipV="1">
            <a:off x="5023903" y="4326484"/>
            <a:ext cx="762379" cy="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>
            <a:stCxn id="51" idx="5"/>
          </p:cNvCxnSpPr>
          <p:nvPr/>
        </p:nvCxnSpPr>
        <p:spPr>
          <a:xfrm>
            <a:off x="5611794" y="3859821"/>
            <a:ext cx="933617" cy="933327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流程圖: 接點 56"/>
          <p:cNvSpPr>
            <a:spLocks noChangeAspect="1"/>
          </p:cNvSpPr>
          <p:nvPr/>
        </p:nvSpPr>
        <p:spPr>
          <a:xfrm>
            <a:off x="6459792" y="2015867"/>
            <a:ext cx="584640" cy="583651"/>
          </a:xfrm>
          <a:prstGeom prst="flowChartConnector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j-lt"/>
            </a:endParaRPr>
          </a:p>
        </p:txBody>
      </p:sp>
      <p:cxnSp>
        <p:nvCxnSpPr>
          <p:cNvPr id="59" name="直線單箭頭接點 58"/>
          <p:cNvCxnSpPr/>
          <p:nvPr/>
        </p:nvCxnSpPr>
        <p:spPr>
          <a:xfrm rot="5400000" flipV="1">
            <a:off x="6370922" y="2980707"/>
            <a:ext cx="762379" cy="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流程圖: 接點 62"/>
          <p:cNvSpPr>
            <a:spLocks noChangeAspect="1"/>
          </p:cNvSpPr>
          <p:nvPr/>
        </p:nvSpPr>
        <p:spPr>
          <a:xfrm>
            <a:off x="6459792" y="3361644"/>
            <a:ext cx="584640" cy="583651"/>
          </a:xfrm>
          <a:prstGeom prst="flowChartConnector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j-lt"/>
            </a:endParaRPr>
          </a:p>
        </p:txBody>
      </p:sp>
      <p:cxnSp>
        <p:nvCxnSpPr>
          <p:cNvPr id="65" name="直線單箭頭接點 64"/>
          <p:cNvCxnSpPr/>
          <p:nvPr/>
        </p:nvCxnSpPr>
        <p:spPr>
          <a:xfrm rot="5400000" flipV="1">
            <a:off x="6370922" y="4326484"/>
            <a:ext cx="762379" cy="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流程圖: 接點 68"/>
          <p:cNvSpPr>
            <a:spLocks noChangeAspect="1"/>
          </p:cNvSpPr>
          <p:nvPr/>
        </p:nvSpPr>
        <p:spPr>
          <a:xfrm>
            <a:off x="2418735" y="4707674"/>
            <a:ext cx="584640" cy="583651"/>
          </a:xfrm>
          <a:prstGeom prst="flowChartConnector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j-lt"/>
            </a:endParaRPr>
          </a:p>
        </p:txBody>
      </p:sp>
      <p:cxnSp>
        <p:nvCxnSpPr>
          <p:cNvPr id="70" name="直線單箭頭接點 69"/>
          <p:cNvCxnSpPr>
            <a:stCxn id="69" idx="6"/>
          </p:cNvCxnSpPr>
          <p:nvPr/>
        </p:nvCxnSpPr>
        <p:spPr>
          <a:xfrm flipV="1">
            <a:off x="3003375" y="4999499"/>
            <a:ext cx="762379" cy="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流程圖: 接點 74"/>
          <p:cNvSpPr>
            <a:spLocks noChangeAspect="1"/>
          </p:cNvSpPr>
          <p:nvPr/>
        </p:nvSpPr>
        <p:spPr>
          <a:xfrm>
            <a:off x="3765754" y="4707168"/>
            <a:ext cx="584640" cy="583651"/>
          </a:xfrm>
          <a:prstGeom prst="flowChartConnector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j-lt"/>
            </a:endParaRPr>
          </a:p>
        </p:txBody>
      </p:sp>
      <p:cxnSp>
        <p:nvCxnSpPr>
          <p:cNvPr id="76" name="直線單箭頭接點 75"/>
          <p:cNvCxnSpPr>
            <a:stCxn id="75" idx="6"/>
          </p:cNvCxnSpPr>
          <p:nvPr/>
        </p:nvCxnSpPr>
        <p:spPr>
          <a:xfrm flipV="1">
            <a:off x="4350394" y="4998993"/>
            <a:ext cx="762379" cy="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流程圖: 接點 80"/>
          <p:cNvSpPr>
            <a:spLocks noChangeAspect="1"/>
          </p:cNvSpPr>
          <p:nvPr/>
        </p:nvSpPr>
        <p:spPr>
          <a:xfrm>
            <a:off x="5112773" y="4707168"/>
            <a:ext cx="584640" cy="583651"/>
          </a:xfrm>
          <a:prstGeom prst="flowChartConnector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j-lt"/>
            </a:endParaRPr>
          </a:p>
        </p:txBody>
      </p:sp>
      <p:cxnSp>
        <p:nvCxnSpPr>
          <p:cNvPr id="82" name="直線單箭頭接點 81"/>
          <p:cNvCxnSpPr>
            <a:stCxn id="81" idx="6"/>
          </p:cNvCxnSpPr>
          <p:nvPr/>
        </p:nvCxnSpPr>
        <p:spPr>
          <a:xfrm flipV="1">
            <a:off x="5697413" y="4998993"/>
            <a:ext cx="762379" cy="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流程圖: 接點 86"/>
          <p:cNvSpPr>
            <a:spLocks noChangeAspect="1"/>
          </p:cNvSpPr>
          <p:nvPr/>
        </p:nvSpPr>
        <p:spPr>
          <a:xfrm>
            <a:off x="6459792" y="4707168"/>
            <a:ext cx="584640" cy="583651"/>
          </a:xfrm>
          <a:prstGeom prst="flowChartConnector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+mj-lt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2488879" y="1953496"/>
            <a:ext cx="44435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>
                <a:ln w="0"/>
                <a:latin typeface="+mj-lt"/>
              </a:rPr>
              <a:t>0</a:t>
            </a:r>
            <a:endParaRPr lang="zh-TW" altLang="en-US" sz="4000" b="0" cap="none" spc="0" dirty="0">
              <a:ln w="0"/>
              <a:latin typeface="+mj-lt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3752473" y="1950038"/>
            <a:ext cx="60144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latin typeface="+mj-lt"/>
              </a:rPr>
              <a:t>-1</a:t>
            </a:r>
            <a:endParaRPr lang="zh-TW" altLang="en-US" sz="4000" b="0" cap="none" spc="0" dirty="0">
              <a:ln w="0"/>
              <a:latin typeface="+mj-lt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5099492" y="1950038"/>
            <a:ext cx="60144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latin typeface="+mj-lt"/>
              </a:rPr>
              <a:t>-2</a:t>
            </a:r>
            <a:endParaRPr lang="zh-TW" altLang="en-US" sz="4000" b="0" cap="none" spc="0" dirty="0">
              <a:ln w="0"/>
              <a:latin typeface="+mj-lt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6456267" y="1950038"/>
            <a:ext cx="60144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latin typeface="+mj-lt"/>
              </a:rPr>
              <a:t>-3</a:t>
            </a:r>
            <a:endParaRPr lang="zh-TW" altLang="en-US" sz="4000" b="0" cap="none" spc="0" dirty="0">
              <a:ln w="0"/>
              <a:latin typeface="+mj-lt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2411650" y="3306544"/>
            <a:ext cx="60144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latin typeface="+mj-lt"/>
              </a:rPr>
              <a:t>-1</a:t>
            </a:r>
            <a:endParaRPr lang="zh-TW" altLang="en-US" sz="4000" b="0" cap="none" spc="0" dirty="0">
              <a:ln w="0"/>
              <a:latin typeface="+mj-lt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2407791" y="4645050"/>
            <a:ext cx="60144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latin typeface="+mj-lt"/>
              </a:rPr>
              <a:t>-2</a:t>
            </a:r>
            <a:endParaRPr lang="zh-TW" altLang="en-US" sz="4000" b="0" cap="none" spc="0" dirty="0">
              <a:ln w="0"/>
              <a:latin typeface="+mj-lt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3850267" y="3298767"/>
            <a:ext cx="44435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latin typeface="+mj-lt"/>
              </a:rPr>
              <a:t>1</a:t>
            </a:r>
            <a:endParaRPr lang="zh-TW" altLang="en-US" sz="4000" b="0" cap="none" spc="0" dirty="0">
              <a:ln w="0"/>
              <a:latin typeface="+mj-lt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3850267" y="4642203"/>
            <a:ext cx="44435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>
                <a:ln w="0"/>
                <a:latin typeface="+mj-lt"/>
              </a:rPr>
              <a:t>0</a:t>
            </a:r>
            <a:endParaRPr lang="zh-TW" altLang="en-US" sz="4000" b="0" cap="none" spc="0" dirty="0">
              <a:ln w="0"/>
              <a:latin typeface="+mj-lt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5178039" y="3309355"/>
            <a:ext cx="44435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>
                <a:ln w="0"/>
                <a:latin typeface="+mj-lt"/>
              </a:rPr>
              <a:t>0</a:t>
            </a:r>
            <a:endParaRPr lang="zh-TW" altLang="en-US" sz="4000" b="0" cap="none" spc="0" dirty="0">
              <a:ln w="0"/>
              <a:latin typeface="+mj-lt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5175309" y="4642203"/>
            <a:ext cx="44435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>
                <a:ln w="0"/>
                <a:latin typeface="+mj-lt"/>
              </a:rPr>
              <a:t>0</a:t>
            </a:r>
            <a:endParaRPr lang="zh-TW" altLang="en-US" sz="4000" b="0" cap="none" spc="0" dirty="0">
              <a:ln w="0"/>
              <a:latin typeface="+mj-lt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6458167" y="3298561"/>
            <a:ext cx="60144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latin typeface="+mj-lt"/>
              </a:rPr>
              <a:t>-1</a:t>
            </a:r>
            <a:endParaRPr lang="zh-TW" altLang="en-US" sz="4000" b="0" cap="none" spc="0" dirty="0">
              <a:ln w="0"/>
              <a:latin typeface="+mj-lt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6529936" y="4651218"/>
            <a:ext cx="44435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latin typeface="+mj-lt"/>
              </a:rPr>
              <a:t>1</a:t>
            </a:r>
            <a:endParaRPr lang="zh-TW" altLang="en-US" sz="4000" b="0" cap="none" spc="0" dirty="0">
              <a:ln w="0"/>
              <a:latin typeface="+mj-lt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3134796" y="1020338"/>
            <a:ext cx="5164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+mj-lt"/>
              </a:rPr>
              <a:t>a</a:t>
            </a:r>
            <a:endParaRPr lang="zh-TW" altLang="en-US" sz="54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4421662" y="1014729"/>
            <a:ext cx="47801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dirty="0" smtClean="0">
                <a:ln w="0"/>
                <a:latin typeface="+mj-lt"/>
              </a:rPr>
              <a:t>c</a:t>
            </a:r>
          </a:p>
        </p:txBody>
      </p:sp>
      <p:sp>
        <p:nvSpPr>
          <p:cNvPr id="105" name="矩形 104"/>
          <p:cNvSpPr/>
          <p:nvPr/>
        </p:nvSpPr>
        <p:spPr>
          <a:xfrm>
            <a:off x="5740594" y="1020034"/>
            <a:ext cx="5100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dirty="0">
                <a:ln w="0"/>
                <a:latin typeface="+mj-lt"/>
              </a:rPr>
              <a:t>g</a:t>
            </a:r>
            <a:endParaRPr lang="en-US" altLang="zh-TW" sz="5400" dirty="0" smtClean="0">
              <a:ln w="0"/>
              <a:latin typeface="+mj-lt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1817922" y="2375231"/>
            <a:ext cx="5164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+mj-lt"/>
              </a:rPr>
              <a:t>a</a:t>
            </a:r>
            <a:endParaRPr lang="zh-TW" altLang="en-US" sz="54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1830537" y="3645683"/>
            <a:ext cx="5100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dirty="0">
                <a:ln w="0"/>
                <a:latin typeface="+mj-lt"/>
              </a:rPr>
              <a:t>g</a:t>
            </a:r>
            <a:endParaRPr lang="zh-TW" altLang="en-US" sz="54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2313078" y="2715554"/>
            <a:ext cx="43473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latin typeface="+mj-lt"/>
              </a:rPr>
              <a:t>-1</a:t>
            </a:r>
            <a:endParaRPr lang="zh-TW" altLang="en-US" sz="24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3098313" y="1870255"/>
            <a:ext cx="43473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latin typeface="+mj-lt"/>
              </a:rPr>
              <a:t>-1</a:t>
            </a:r>
            <a:endParaRPr lang="zh-TW" altLang="en-US" sz="24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3235596" y="2432211"/>
            <a:ext cx="34015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latin typeface="+mj-lt"/>
              </a:rPr>
              <a:t>1</a:t>
            </a:r>
            <a:endParaRPr lang="zh-TW" altLang="en-US" sz="24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4452108" y="1869242"/>
            <a:ext cx="43473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latin typeface="+mj-lt"/>
              </a:rPr>
              <a:t>-1</a:t>
            </a:r>
            <a:endParaRPr lang="zh-TW" altLang="en-US" sz="24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3666149" y="2710359"/>
            <a:ext cx="43473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latin typeface="+mj-lt"/>
              </a:rPr>
              <a:t>-1</a:t>
            </a:r>
            <a:endParaRPr lang="zh-TW" altLang="en-US" sz="24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4501841" y="2438175"/>
            <a:ext cx="43473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tx1"/>
                </a:solidFill>
                <a:latin typeface="+mj-lt"/>
              </a:rPr>
              <a:t>-1</a:t>
            </a:r>
            <a:endParaRPr lang="zh-TW" altLang="en-US" sz="24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616932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67985" y="4823594"/>
            <a:ext cx="826380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3600" dirty="0" smtClean="0">
                <a:ln w="0"/>
                <a:latin typeface="標楷體" panose="03000509000000000000" pitchFamily="65" charset="-120"/>
                <a:ea typeface="標楷體" panose="03000509000000000000" pitchFamily="65" charset="-120"/>
              </a:rPr>
              <a:t>左</a:t>
            </a:r>
            <a:r>
              <a:rPr lang="en-US" altLang="zh-TW" sz="3600" dirty="0" smtClean="0">
                <a:ln w="0"/>
                <a:latin typeface="+mj-lt"/>
              </a:rPr>
              <a:t>(</a:t>
            </a:r>
            <a:r>
              <a:rPr lang="en-US" altLang="zh-TW" sz="3600" dirty="0" err="1" smtClean="0">
                <a:ln w="0"/>
                <a:latin typeface="+mj-lt"/>
              </a:rPr>
              <a:t>i</a:t>
            </a:r>
            <a:r>
              <a:rPr lang="en-US" altLang="zh-TW" sz="3600" dirty="0" smtClean="0">
                <a:ln w="0"/>
                <a:latin typeface="+mj-lt"/>
              </a:rPr>
              <a:t>, j) + max(</a:t>
            </a:r>
            <a:r>
              <a:rPr lang="en-US" altLang="zh-TW" sz="3600" dirty="0" err="1" smtClean="0">
                <a:ln w="0"/>
                <a:latin typeface="+mj-lt"/>
              </a:rPr>
              <a:t>i</a:t>
            </a:r>
            <a:r>
              <a:rPr lang="en-US" altLang="zh-TW" sz="3600" dirty="0" smtClean="0">
                <a:ln w="0"/>
                <a:latin typeface="+mj-lt"/>
              </a:rPr>
              <a:t>, j) = 2 * </a:t>
            </a:r>
            <a:r>
              <a:rPr lang="zh-TW" altLang="en-US" sz="3600" dirty="0" smtClean="0">
                <a:ln w="0"/>
                <a:latin typeface="標楷體" panose="03000509000000000000" pitchFamily="65" charset="-120"/>
                <a:ea typeface="標楷體" panose="03000509000000000000" pitchFamily="65" charset="-120"/>
              </a:rPr>
              <a:t>右</a:t>
            </a:r>
            <a:r>
              <a:rPr lang="en-US" altLang="zh-TW" sz="3600" dirty="0" smtClean="0">
                <a:ln w="0"/>
                <a:latin typeface="+mj-lt"/>
              </a:rPr>
              <a:t>(</a:t>
            </a:r>
            <a:r>
              <a:rPr lang="en-US" altLang="zh-TW" sz="3600" dirty="0" err="1" smtClean="0">
                <a:ln w="0"/>
                <a:latin typeface="+mj-lt"/>
              </a:rPr>
              <a:t>i</a:t>
            </a:r>
            <a:r>
              <a:rPr lang="en-US" altLang="zh-TW" sz="3600" dirty="0" smtClean="0">
                <a:ln w="0"/>
                <a:latin typeface="+mj-lt"/>
              </a:rPr>
              <a:t>, j)</a:t>
            </a:r>
            <a:endParaRPr lang="zh-TW" altLang="en-US" sz="36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923" y="1140035"/>
            <a:ext cx="4218188" cy="3527939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0" y="727433"/>
            <a:ext cx="4267814" cy="353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0527754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845948" y="273550"/>
            <a:ext cx="4298052" cy="5753599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28" y="1314869"/>
            <a:ext cx="5275326" cy="398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7058228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41836197"/>
              </p:ext>
            </p:extLst>
          </p:nvPr>
        </p:nvGraphicFramePr>
        <p:xfrm>
          <a:off x="1897625" y="2674375"/>
          <a:ext cx="6744930" cy="39448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4493"/>
                <a:gridCol w="674493"/>
                <a:gridCol w="674493"/>
                <a:gridCol w="674493"/>
                <a:gridCol w="674493"/>
                <a:gridCol w="674493"/>
                <a:gridCol w="674493"/>
                <a:gridCol w="674493"/>
                <a:gridCol w="674493"/>
                <a:gridCol w="674493"/>
              </a:tblGrid>
              <a:tr h="56355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4</a:t>
                      </a:r>
                      <a:endParaRPr lang="zh-TW" altLang="en-US" dirty="0" smtClean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6355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∆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56355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</a:tr>
              <a:tr h="56355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-3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56355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56355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56355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7196630" y="1866122"/>
            <a:ext cx="14366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dirty="0" smtClean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</a:t>
            </a:r>
            <a:endParaRPr lang="zh-TW" altLang="en-US" sz="5400" b="0" cap="none" spc="0" dirty="0">
              <a:ln w="0"/>
              <a:solidFill>
                <a:schemeClr val="accent5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5085"/>
            <a:ext cx="4840887" cy="3656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6182985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xmlns="" val="3804236831"/>
              </p:ext>
            </p:extLst>
          </p:nvPr>
        </p:nvGraphicFramePr>
        <p:xfrm>
          <a:off x="334294" y="384774"/>
          <a:ext cx="7384029" cy="47707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403"/>
                <a:gridCol w="327223"/>
                <a:gridCol w="1149582"/>
                <a:gridCol w="738403"/>
                <a:gridCol w="738403"/>
                <a:gridCol w="738403"/>
                <a:gridCol w="738403"/>
                <a:gridCol w="738403"/>
                <a:gridCol w="738403"/>
                <a:gridCol w="738403"/>
              </a:tblGrid>
              <a:tr h="681539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4</a:t>
                      </a:r>
                      <a:endParaRPr lang="zh-TW" altLang="en-US" sz="2000" dirty="0" smtClean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endParaRPr lang="zh-TW" altLang="en-US" sz="2000" baseline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C00000"/>
                          </a:solidFill>
                        </a:rPr>
                        <a:t>I</a:t>
                      </a:r>
                      <a:r>
                        <a:rPr lang="en-US" altLang="zh-TW" sz="2400" baseline="-25000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r>
                        <a:rPr lang="en-US" altLang="zh-TW" sz="2400" dirty="0" smtClean="0"/>
                        <a:t> =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-3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∆</a:t>
                      </a:r>
                      <a:endParaRPr lang="zh-TW" altLang="en-US" sz="2000" dirty="0"/>
                    </a:p>
                  </a:txBody>
                  <a:tcPr anchor="ctr"/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C00000"/>
                          </a:solidFill>
                        </a:rPr>
                        <a:t>I</a:t>
                      </a:r>
                      <a:r>
                        <a:rPr lang="en-US" altLang="zh-TW" sz="2400" baseline="-25000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en-US" altLang="zh-TW" sz="2400" dirty="0" smtClean="0"/>
                        <a:t> =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-3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/>
                        <a:t>∆</a:t>
                      </a:r>
                    </a:p>
                  </a:txBody>
                  <a:tcPr anchor="ctr"/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C00000"/>
                          </a:solidFill>
                        </a:rPr>
                        <a:t>I</a:t>
                      </a:r>
                      <a:r>
                        <a:rPr lang="en-US" altLang="zh-TW" sz="2400" baseline="-25000" dirty="0" smtClean="0">
                          <a:solidFill>
                            <a:srgbClr val="C00000"/>
                          </a:solidFill>
                        </a:rPr>
                        <a:t>2</a:t>
                      </a:r>
                      <a:r>
                        <a:rPr lang="en-US" altLang="zh-TW" sz="2400" dirty="0" smtClean="0"/>
                        <a:t> =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-3</a:t>
                      </a:r>
                      <a:endParaRPr lang="zh-TW" altLang="en-US" sz="2000" dirty="0"/>
                    </a:p>
                  </a:txBody>
                  <a:tcPr anchor="ctr"/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C00000"/>
                          </a:solidFill>
                        </a:rPr>
                        <a:t>I</a:t>
                      </a:r>
                      <a:r>
                        <a:rPr lang="en-US" altLang="zh-TW" sz="2400" baseline="-25000" dirty="0" smtClean="0">
                          <a:solidFill>
                            <a:srgbClr val="C00000"/>
                          </a:solidFill>
                        </a:rPr>
                        <a:t>3</a:t>
                      </a:r>
                      <a:r>
                        <a:rPr lang="en-US" altLang="zh-TW" sz="2400" dirty="0" smtClean="0"/>
                        <a:t> =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-2</a:t>
                      </a:r>
                      <a:endParaRPr lang="zh-TW" altLang="en-US" sz="2000" dirty="0"/>
                    </a:p>
                  </a:txBody>
                  <a:tcPr anchor="ctr"/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C00000"/>
                          </a:solidFill>
                        </a:rPr>
                        <a:t>I</a:t>
                      </a:r>
                      <a:r>
                        <a:rPr lang="en-US" altLang="zh-TW" sz="2400" baseline="-25000" dirty="0" smtClean="0">
                          <a:solidFill>
                            <a:srgbClr val="C00000"/>
                          </a:solidFill>
                        </a:rPr>
                        <a:t>4</a:t>
                      </a:r>
                      <a:r>
                        <a:rPr lang="en-US" altLang="zh-TW" sz="2400" dirty="0" smtClean="0"/>
                        <a:t> =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endParaRPr lang="zh-TW" altLang="en-US" sz="2000" dirty="0"/>
                    </a:p>
                  </a:txBody>
                  <a:tcPr anchor="ctr"/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C00000"/>
                          </a:solidFill>
                        </a:rPr>
                        <a:t>I</a:t>
                      </a:r>
                      <a:r>
                        <a:rPr lang="en-US" altLang="zh-TW" sz="2400" baseline="-25000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r>
                        <a:rPr lang="en-US" altLang="zh-TW" sz="2400" dirty="0" smtClean="0"/>
                        <a:t> =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6301892" y="5228754"/>
            <a:ext cx="1570813" cy="10095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dirty="0" smtClean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</a:t>
            </a:r>
            <a:endParaRPr lang="zh-TW" altLang="en-US" sz="5400" b="0" cap="none" spc="0" dirty="0">
              <a:ln w="0"/>
              <a:solidFill>
                <a:schemeClr val="accent5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254406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xmlns="" val="1946113612"/>
              </p:ext>
            </p:extLst>
          </p:nvPr>
        </p:nvGraphicFramePr>
        <p:xfrm>
          <a:off x="334294" y="384774"/>
          <a:ext cx="7384029" cy="477077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403"/>
                <a:gridCol w="327223"/>
                <a:gridCol w="1149582"/>
                <a:gridCol w="738403"/>
                <a:gridCol w="738403"/>
                <a:gridCol w="738403"/>
                <a:gridCol w="738403"/>
                <a:gridCol w="738403"/>
                <a:gridCol w="738403"/>
                <a:gridCol w="738403"/>
              </a:tblGrid>
              <a:tr h="681539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4</a:t>
                      </a:r>
                      <a:endParaRPr lang="zh-TW" altLang="en-US" sz="2000" dirty="0" smtClean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endParaRPr lang="zh-TW" altLang="en-US" sz="2000" baseline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C00000"/>
                          </a:solidFill>
                        </a:rPr>
                        <a:t>I</a:t>
                      </a:r>
                      <a:r>
                        <a:rPr lang="en-US" altLang="zh-TW" sz="2400" baseline="-25000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r>
                        <a:rPr lang="en-US" altLang="zh-TW" sz="2400" dirty="0" smtClean="0"/>
                        <a:t> =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+1</a:t>
                      </a:r>
                      <a:endParaRPr lang="zh-TW" altLang="en-US" sz="20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+1</a:t>
                      </a:r>
                      <a:endParaRPr lang="zh-TW" altLang="en-US" sz="20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-2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+1</a:t>
                      </a:r>
                      <a:endParaRPr lang="zh-TW" altLang="en-US" sz="2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-3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+1</a:t>
                      </a:r>
                      <a:endParaRPr lang="zh-TW" altLang="en-US" sz="2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dirty="0" smtClean="0"/>
                        <a:t>∆</a:t>
                      </a:r>
                      <a:endParaRPr lang="zh-TW" altLang="en-US" sz="2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∆</a:t>
                      </a:r>
                      <a:endParaRPr lang="zh-TW" altLang="en-US" sz="2000" dirty="0"/>
                    </a:p>
                  </a:txBody>
                  <a:tcPr anchor="ctr"/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C00000"/>
                          </a:solidFill>
                        </a:rPr>
                        <a:t>I</a:t>
                      </a:r>
                      <a:r>
                        <a:rPr lang="en-US" altLang="zh-TW" sz="2400" baseline="-25000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en-US" altLang="zh-TW" sz="2400" dirty="0" smtClean="0"/>
                        <a:t> =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+2</a:t>
                      </a:r>
                      <a:endParaRPr lang="zh-TW" altLang="en-US" sz="20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+2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-2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+2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+2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-3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+2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/>
                        <a:t>∆</a:t>
                      </a:r>
                    </a:p>
                  </a:txBody>
                  <a:tcPr anchor="ctr"/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C00000"/>
                          </a:solidFill>
                        </a:rPr>
                        <a:t>I</a:t>
                      </a:r>
                      <a:r>
                        <a:rPr lang="en-US" altLang="zh-TW" sz="2400" baseline="-25000" dirty="0" smtClean="0">
                          <a:solidFill>
                            <a:srgbClr val="C00000"/>
                          </a:solidFill>
                        </a:rPr>
                        <a:t>2</a:t>
                      </a:r>
                      <a:r>
                        <a:rPr lang="en-US" altLang="zh-TW" sz="2400" dirty="0" smtClean="0"/>
                        <a:t> =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-2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+3</a:t>
                      </a:r>
                      <a:endParaRPr lang="zh-TW" altLang="en-US" sz="20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+3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+3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+3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+3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-3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+3</a:t>
                      </a:r>
                      <a:endParaRPr lang="zh-TW" altLang="en-US" sz="2000" dirty="0"/>
                    </a:p>
                  </a:txBody>
                  <a:tcPr anchor="ctr"/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C00000"/>
                          </a:solidFill>
                        </a:rPr>
                        <a:t>I</a:t>
                      </a:r>
                      <a:r>
                        <a:rPr lang="en-US" altLang="zh-TW" sz="2400" baseline="-25000" dirty="0" smtClean="0">
                          <a:solidFill>
                            <a:srgbClr val="C00000"/>
                          </a:solidFill>
                        </a:rPr>
                        <a:t>3</a:t>
                      </a:r>
                      <a:r>
                        <a:rPr lang="en-US" altLang="zh-TW" sz="2400" dirty="0" smtClean="0"/>
                        <a:t> =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-2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+2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-2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+2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+2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-2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+2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-2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+2</a:t>
                      </a:r>
                      <a:endParaRPr lang="zh-TW" altLang="en-US" sz="2000" dirty="0"/>
                    </a:p>
                  </a:txBody>
                  <a:tcPr anchor="ctr"/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C00000"/>
                          </a:solidFill>
                        </a:rPr>
                        <a:t>I</a:t>
                      </a:r>
                      <a:r>
                        <a:rPr lang="en-US" altLang="zh-TW" sz="2400" baseline="-25000" dirty="0" smtClean="0">
                          <a:solidFill>
                            <a:srgbClr val="C00000"/>
                          </a:solidFill>
                        </a:rPr>
                        <a:t>4</a:t>
                      </a:r>
                      <a:r>
                        <a:rPr lang="en-US" altLang="zh-TW" sz="2400" dirty="0" smtClean="0"/>
                        <a:t> =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-2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+1</a:t>
                      </a:r>
                      <a:endParaRPr lang="zh-TW" altLang="en-US" sz="20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+1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+1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+1</a:t>
                      </a:r>
                      <a:endParaRPr lang="zh-TW" altLang="en-US" sz="2000" dirty="0"/>
                    </a:p>
                  </a:txBody>
                  <a:tcPr anchor="ctr"/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C00000"/>
                          </a:solidFill>
                        </a:rPr>
                        <a:t>I</a:t>
                      </a:r>
                      <a:r>
                        <a:rPr lang="en-US" altLang="zh-TW" sz="2400" baseline="-25000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r>
                        <a:rPr lang="en-US" altLang="zh-TW" sz="2400" dirty="0" smtClean="0"/>
                        <a:t> =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-2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+3</a:t>
                      </a:r>
                      <a:endParaRPr lang="zh-TW" altLang="en-US" sz="20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+3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+3</a:t>
                      </a:r>
                      <a:endParaRPr lang="zh-TW" altLang="en-US" sz="20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9151102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xmlns="" val="1300278190"/>
              </p:ext>
            </p:extLst>
          </p:nvPr>
        </p:nvGraphicFramePr>
        <p:xfrm>
          <a:off x="334294" y="384774"/>
          <a:ext cx="7384029" cy="61338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403"/>
                <a:gridCol w="327223"/>
                <a:gridCol w="1149582"/>
                <a:gridCol w="738403"/>
                <a:gridCol w="738403"/>
                <a:gridCol w="738403"/>
                <a:gridCol w="738403"/>
                <a:gridCol w="738403"/>
                <a:gridCol w="738403"/>
                <a:gridCol w="738403"/>
              </a:tblGrid>
              <a:tr h="681539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4</a:t>
                      </a:r>
                      <a:endParaRPr lang="zh-TW" altLang="en-US" sz="2000" dirty="0" smtClean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endParaRPr lang="zh-TW" altLang="en-US" sz="2000" baseline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C00000"/>
                          </a:solidFill>
                        </a:rPr>
                        <a:t>I</a:t>
                      </a:r>
                      <a:r>
                        <a:rPr lang="en-US" altLang="zh-TW" sz="2400" baseline="-25000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r>
                        <a:rPr lang="en-US" altLang="zh-TW" sz="2400" dirty="0" smtClean="0"/>
                        <a:t> =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-1</a:t>
                      </a:r>
                      <a:endParaRPr lang="zh-TW" altLang="en-US" sz="2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-2</a:t>
                      </a:r>
                      <a:endParaRPr lang="zh-TW" altLang="en-US" sz="2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-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∞</a:t>
                      </a:r>
                      <a:endParaRPr lang="zh-TW" altLang="en-US" sz="2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-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  <a:latin typeface="新細明體" panose="02020500000000000000" pitchFamily="18" charset="-120"/>
                          <a:ea typeface="+mn-ea"/>
                        </a:rPr>
                        <a:t>∞</a:t>
                      </a:r>
                      <a:endParaRPr lang="zh-TW" altLang="en-US" sz="2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C00000"/>
                          </a:solidFill>
                        </a:rPr>
                        <a:t>I</a:t>
                      </a:r>
                      <a:r>
                        <a:rPr lang="en-US" altLang="zh-TW" sz="2400" baseline="-25000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en-US" altLang="zh-TW" sz="2400" dirty="0" smtClean="0"/>
                        <a:t> =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-</a:t>
                      </a:r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  <a:latin typeface="新細明體" panose="02020500000000000000" pitchFamily="18" charset="-120"/>
                          <a:ea typeface="+mn-ea"/>
                        </a:rPr>
                        <a:t>∞</a:t>
                      </a:r>
                      <a:endParaRPr lang="zh-TW" altLang="en-US" sz="2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C00000"/>
                          </a:solidFill>
                        </a:rPr>
                        <a:t>I</a:t>
                      </a:r>
                      <a:r>
                        <a:rPr lang="en-US" altLang="zh-TW" sz="2400" baseline="-25000" dirty="0" smtClean="0">
                          <a:solidFill>
                            <a:srgbClr val="C00000"/>
                          </a:solidFill>
                        </a:rPr>
                        <a:t>2</a:t>
                      </a:r>
                      <a:r>
                        <a:rPr lang="en-US" altLang="zh-TW" sz="2400" dirty="0" smtClean="0"/>
                        <a:t> =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C00000"/>
                          </a:solidFill>
                        </a:rPr>
                        <a:t>I</a:t>
                      </a:r>
                      <a:r>
                        <a:rPr lang="en-US" altLang="zh-TW" sz="2400" baseline="-25000" dirty="0" smtClean="0">
                          <a:solidFill>
                            <a:srgbClr val="C00000"/>
                          </a:solidFill>
                        </a:rPr>
                        <a:t>3</a:t>
                      </a:r>
                      <a:r>
                        <a:rPr lang="en-US" altLang="zh-TW" sz="2400" dirty="0" smtClean="0"/>
                        <a:t> =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-12</a:t>
                      </a:r>
                      <a:endParaRPr lang="zh-TW" altLang="en-US" sz="2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C00000"/>
                          </a:solidFill>
                        </a:rPr>
                        <a:t>I</a:t>
                      </a:r>
                      <a:r>
                        <a:rPr lang="en-US" altLang="zh-TW" sz="2400" baseline="-25000" dirty="0" smtClean="0">
                          <a:solidFill>
                            <a:srgbClr val="C00000"/>
                          </a:solidFill>
                        </a:rPr>
                        <a:t>4</a:t>
                      </a:r>
                      <a:r>
                        <a:rPr lang="en-US" altLang="zh-TW" sz="2400" dirty="0" smtClean="0"/>
                        <a:t> =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zh-TW" alt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-13</a:t>
                      </a:r>
                      <a:endParaRPr lang="zh-TW" altLang="en-US" sz="2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-13</a:t>
                      </a:r>
                      <a:endParaRPr lang="zh-TW" altLang="en-US" sz="2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endParaRPr lang="zh-TW" altLang="en-US" sz="20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rgbClr val="C00000"/>
                          </a:solidFill>
                        </a:rPr>
                        <a:t>I</a:t>
                      </a:r>
                      <a:r>
                        <a:rPr lang="en-US" altLang="zh-TW" sz="2400" baseline="-25000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r>
                        <a:rPr lang="en-US" altLang="zh-TW" sz="2400" dirty="0" smtClean="0"/>
                        <a:t> =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-14</a:t>
                      </a:r>
                      <a:endParaRPr lang="zh-TW" altLang="en-US" sz="2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-14</a:t>
                      </a:r>
                      <a:endParaRPr lang="zh-TW" altLang="en-US" sz="2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5"/>
                          </a:solidFill>
                        </a:rPr>
                        <a:t>-14</a:t>
                      </a:r>
                      <a:endParaRPr lang="zh-TW" altLang="en-US" sz="2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/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4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2</a:t>
                      </a:r>
                      <a:endParaRPr lang="zh-TW" alt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dirty="0" smtClean="0"/>
                        <a:t>3</a:t>
                      </a:r>
                      <a:endParaRPr lang="zh-TW" altLang="en-US" sz="3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</a:tcPr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2400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O</a:t>
                      </a:r>
                      <a:r>
                        <a:rPr lang="en-US" altLang="zh-TW" sz="2000" baseline="-25000" dirty="0" smtClean="0">
                          <a:solidFill>
                            <a:schemeClr val="accent6"/>
                          </a:solidFill>
                        </a:rPr>
                        <a:t>0</a:t>
                      </a:r>
                      <a:endParaRPr lang="zh-TW" altLang="en-US" sz="2000" baseline="-25000" dirty="0" smtClean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O</a:t>
                      </a:r>
                      <a:r>
                        <a:rPr lang="en-US" altLang="zh-TW" sz="2000" baseline="-25000" dirty="0" smtClean="0">
                          <a:solidFill>
                            <a:schemeClr val="accent6"/>
                          </a:solidFill>
                        </a:rPr>
                        <a:t>1</a:t>
                      </a:r>
                      <a:endParaRPr lang="zh-TW" altLang="en-US" sz="2000" baseline="-25000" dirty="0" smtClean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O</a:t>
                      </a:r>
                      <a:r>
                        <a:rPr lang="en-US" altLang="zh-TW" sz="2000" baseline="-25000" dirty="0" smtClean="0">
                          <a:solidFill>
                            <a:schemeClr val="accent6"/>
                          </a:solidFill>
                        </a:rPr>
                        <a:t>2</a:t>
                      </a:r>
                      <a:endParaRPr lang="zh-TW" altLang="en-US" sz="2000" baseline="-25000" dirty="0" smtClean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O</a:t>
                      </a:r>
                      <a:r>
                        <a:rPr lang="en-US" altLang="zh-TW" sz="2000" baseline="-25000" dirty="0" smtClean="0">
                          <a:solidFill>
                            <a:schemeClr val="accent6"/>
                          </a:solidFill>
                        </a:rPr>
                        <a:t>3</a:t>
                      </a:r>
                      <a:endParaRPr lang="zh-TW" altLang="en-US" sz="2000" baseline="-25000" dirty="0" smtClean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O</a:t>
                      </a:r>
                      <a:r>
                        <a:rPr lang="en-US" altLang="zh-TW" sz="2000" baseline="-25000" dirty="0" smtClean="0">
                          <a:solidFill>
                            <a:schemeClr val="accent6"/>
                          </a:solidFill>
                        </a:rPr>
                        <a:t>4</a:t>
                      </a:r>
                      <a:endParaRPr lang="zh-TW" altLang="en-US" sz="2000" baseline="-25000" dirty="0" smtClean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O</a:t>
                      </a:r>
                      <a:r>
                        <a:rPr lang="en-US" altLang="zh-TW" sz="2000" baseline="-25000" dirty="0" smtClean="0">
                          <a:solidFill>
                            <a:schemeClr val="accent6"/>
                          </a:solidFill>
                        </a:rPr>
                        <a:t>5</a:t>
                      </a:r>
                      <a:endParaRPr lang="zh-TW" altLang="en-US" sz="2000" baseline="-25000" dirty="0" smtClean="0">
                        <a:solidFill>
                          <a:schemeClr val="accent6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15852174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28608810"/>
              </p:ext>
            </p:extLst>
          </p:nvPr>
        </p:nvGraphicFramePr>
        <p:xfrm>
          <a:off x="2549813" y="698789"/>
          <a:ext cx="4430418" cy="40892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403"/>
                <a:gridCol w="738403"/>
                <a:gridCol w="738403"/>
                <a:gridCol w="738403"/>
                <a:gridCol w="738403"/>
                <a:gridCol w="738403"/>
              </a:tblGrid>
              <a:tr h="681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-1</a:t>
                      </a:r>
                      <a:endParaRPr lang="zh-TW" altLang="en-US" sz="2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-2</a:t>
                      </a:r>
                      <a:endParaRPr lang="zh-TW" altLang="en-US" sz="2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∞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新細明體" panose="02020500000000000000" pitchFamily="18" charset="-120"/>
                          <a:ea typeface="+mn-ea"/>
                        </a:rPr>
                        <a:t>∞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新細明體" panose="02020500000000000000" pitchFamily="18" charset="-120"/>
                          <a:ea typeface="+mn-ea"/>
                        </a:rPr>
                        <a:t>∞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-12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-13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-13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-14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-14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-14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484642" y="5128645"/>
            <a:ext cx="648241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+mj-lt"/>
              </a:rPr>
              <a:t>Concave Total Monotonicity</a:t>
            </a:r>
            <a:endParaRPr lang="zh-TW" altLang="en-US" sz="44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871062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928608810"/>
              </p:ext>
            </p:extLst>
          </p:nvPr>
        </p:nvGraphicFramePr>
        <p:xfrm>
          <a:off x="2549813" y="698789"/>
          <a:ext cx="4430418" cy="40892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403"/>
                <a:gridCol w="738403"/>
                <a:gridCol w="738403"/>
                <a:gridCol w="738403"/>
                <a:gridCol w="738403"/>
                <a:gridCol w="738403"/>
              </a:tblGrid>
              <a:tr h="681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-1</a:t>
                      </a:r>
                      <a:endParaRPr lang="zh-TW" altLang="en-US" sz="2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-2</a:t>
                      </a:r>
                      <a:endParaRPr lang="zh-TW" altLang="en-US" sz="2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∞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新細明體" panose="02020500000000000000" pitchFamily="18" charset="-120"/>
                          <a:ea typeface="+mn-ea"/>
                        </a:rPr>
                        <a:t>∞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新細明體" panose="02020500000000000000" pitchFamily="18" charset="-120"/>
                          <a:ea typeface="+mn-ea"/>
                        </a:rPr>
                        <a:t>∞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-12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-13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-13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</a:tr>
              <a:tr h="68153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-14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-14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-14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352752" y="5128645"/>
            <a:ext cx="695575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左上≦左下 → 右上≦右下</a:t>
            </a:r>
            <a:endParaRPr lang="zh-TW" altLang="en-US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矩形 1"/>
          <p:cNvSpPr/>
          <p:nvPr/>
        </p:nvSpPr>
        <p:spPr>
          <a:xfrm flipV="1">
            <a:off x="3823856" y="1043706"/>
            <a:ext cx="1099126" cy="1357745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18945922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735578213"/>
              </p:ext>
            </p:extLst>
          </p:nvPr>
        </p:nvGraphicFramePr>
        <p:xfrm>
          <a:off x="1007926" y="320098"/>
          <a:ext cx="4017240" cy="39476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9540"/>
                <a:gridCol w="669540"/>
                <a:gridCol w="669540"/>
                <a:gridCol w="669540"/>
                <a:gridCol w="669540"/>
                <a:gridCol w="669540"/>
              </a:tblGrid>
              <a:tr h="5639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-1</a:t>
                      </a:r>
                      <a:endParaRPr lang="zh-TW" altLang="en-US" sz="2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/>
                        <a:t>-2</a:t>
                      </a:r>
                      <a:endParaRPr lang="zh-TW" altLang="en-US" sz="2000" dirty="0" smtClean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∞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新細明體" panose="02020500000000000000" pitchFamily="18" charset="-120"/>
                          <a:ea typeface="+mn-ea"/>
                        </a:rPr>
                        <a:t>∞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5639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新細明體" panose="02020500000000000000" pitchFamily="18" charset="-120"/>
                          <a:ea typeface="+mn-ea"/>
                        </a:rPr>
                        <a:t>∞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5639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</a:tr>
              <a:tr h="5639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-12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</a:tr>
              <a:tr h="5639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-13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-13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</a:tr>
              <a:tr h="5639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-14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-14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-14</a:t>
                      </a:r>
                      <a:endParaRPr lang="zh-TW" alt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anchor="ctr"/>
                </a:tc>
              </a:tr>
              <a:tr h="5639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accent6"/>
                          </a:solidFill>
                          <a:effectLst/>
                        </a:rPr>
                        <a:t>1</a:t>
                      </a:r>
                      <a:endParaRPr lang="zh-TW" altLang="en-US" sz="2800" dirty="0" smtClean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accent6"/>
                          </a:solidFill>
                          <a:effectLst/>
                        </a:rPr>
                        <a:t>3</a:t>
                      </a:r>
                      <a:endParaRPr lang="zh-TW" altLang="en-US" sz="2800" dirty="0" smtClean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accent6"/>
                          </a:solidFill>
                          <a:effectLst/>
                        </a:rPr>
                        <a:t>3</a:t>
                      </a:r>
                      <a:endParaRPr lang="zh-TW" altLang="en-US" sz="2800" dirty="0" smtClean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accent6"/>
                          </a:solidFill>
                          <a:effectLst/>
                        </a:rPr>
                        <a:t>4</a:t>
                      </a:r>
                      <a:endParaRPr lang="zh-TW" altLang="en-US" sz="2800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accent6"/>
                          </a:solidFill>
                          <a:effectLst/>
                        </a:rPr>
                        <a:t>2</a:t>
                      </a:r>
                      <a:endParaRPr lang="zh-TW" altLang="en-US" sz="2800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accent6"/>
                          </a:solidFill>
                          <a:effectLst/>
                        </a:rPr>
                        <a:t>3</a:t>
                      </a:r>
                      <a:endParaRPr lang="zh-TW" altLang="en-US" sz="2800" dirty="0">
                        <a:solidFill>
                          <a:schemeClr val="accent6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2092287" y="4214823"/>
            <a:ext cx="7051713" cy="243143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4100" dirty="0" smtClean="0">
                <a:ln w="0"/>
                <a:solidFill>
                  <a:schemeClr val="accent5"/>
                </a:solidFill>
              </a:rPr>
              <a:t>SMWAK</a:t>
            </a:r>
            <a:r>
              <a:rPr lang="en-US" altLang="zh-TW" sz="3600" dirty="0" smtClean="0">
                <a:ln w="0"/>
                <a:latin typeface="+mj-lt"/>
              </a:rPr>
              <a:t> O(# of columns), </a:t>
            </a:r>
          </a:p>
          <a:p>
            <a:pPr algn="ctr"/>
            <a:r>
              <a:rPr lang="en-US" altLang="zh-TW" sz="3600" dirty="0" smtClean="0">
                <a:ln w="0"/>
                <a:latin typeface="+mj-lt"/>
              </a:rPr>
              <a:t>Geometric Applications of a </a:t>
            </a:r>
          </a:p>
          <a:p>
            <a:pPr algn="ctr"/>
            <a:r>
              <a:rPr lang="en-US" altLang="zh-TW" sz="3600" dirty="0" smtClean="0">
                <a:ln w="0"/>
                <a:latin typeface="+mj-lt"/>
              </a:rPr>
              <a:t>Matrix-Searching </a:t>
            </a:r>
            <a:r>
              <a:rPr lang="en-US" altLang="zh-TW" sz="3600" dirty="0">
                <a:ln w="0"/>
                <a:latin typeface="+mj-lt"/>
              </a:rPr>
              <a:t>Algorithm,</a:t>
            </a:r>
          </a:p>
          <a:p>
            <a:pPr algn="ctr"/>
            <a:r>
              <a:rPr lang="en-US" altLang="zh-TW" sz="3600" dirty="0">
                <a:ln w="0"/>
                <a:latin typeface="+mj-lt"/>
              </a:rPr>
              <a:t>      </a:t>
            </a:r>
            <a:r>
              <a:rPr lang="en-US" altLang="zh-TW" sz="3600" dirty="0" err="1" smtClean="0">
                <a:ln w="0"/>
                <a:latin typeface="+mj-lt"/>
              </a:rPr>
              <a:t>Algorithmica</a:t>
            </a:r>
            <a:r>
              <a:rPr lang="en-US" altLang="zh-TW" sz="3600" dirty="0">
                <a:ln w="0"/>
                <a:latin typeface="+mj-lt"/>
              </a:rPr>
              <a:t>, 1987</a:t>
            </a:r>
          </a:p>
        </p:txBody>
      </p:sp>
    </p:spTree>
    <p:extLst>
      <p:ext uri="{BB962C8B-B14F-4D97-AF65-F5344CB8AC3E}">
        <p14:creationId xmlns:p14="http://schemas.microsoft.com/office/powerpoint/2010/main" xmlns="" val="311508355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717829075"/>
              </p:ext>
            </p:extLst>
          </p:nvPr>
        </p:nvGraphicFramePr>
        <p:xfrm>
          <a:off x="2429165" y="2733962"/>
          <a:ext cx="6012872" cy="38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8326"/>
                <a:gridCol w="894892"/>
                <a:gridCol w="751609"/>
                <a:gridCol w="751609"/>
                <a:gridCol w="751609"/>
                <a:gridCol w="751609"/>
                <a:gridCol w="751609"/>
                <a:gridCol w="751609"/>
              </a:tblGrid>
              <a:tr h="48656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 smtClean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8656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</a:rPr>
                        <a:t>I</a:t>
                      </a:r>
                      <a:r>
                        <a:rPr lang="en-US" altLang="zh-TW" sz="2000" baseline="-25000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r>
                        <a:rPr lang="en-US" altLang="zh-TW" sz="2000" dirty="0" smtClean="0"/>
                        <a:t> = 1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-3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∆</a:t>
                      </a:r>
                      <a:endParaRPr lang="zh-TW" altLang="en-US" sz="2000" dirty="0"/>
                    </a:p>
                  </a:txBody>
                  <a:tcPr anchor="ctr"/>
                </a:tc>
              </a:tr>
              <a:tr h="48656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</a:rPr>
                        <a:t>I</a:t>
                      </a:r>
                      <a:r>
                        <a:rPr lang="en-US" altLang="zh-TW" sz="2000" baseline="-25000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en-US" altLang="zh-TW" sz="2000" dirty="0" smtClean="0"/>
                        <a:t> = 2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-3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/>
                        <a:t>∆</a:t>
                      </a:r>
                    </a:p>
                  </a:txBody>
                  <a:tcPr anchor="ctr"/>
                </a:tc>
              </a:tr>
              <a:tr h="48656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</a:rPr>
                        <a:t>I</a:t>
                      </a:r>
                      <a:r>
                        <a:rPr lang="en-US" altLang="zh-TW" sz="2000" baseline="-25000" dirty="0" smtClean="0">
                          <a:solidFill>
                            <a:srgbClr val="C00000"/>
                          </a:solidFill>
                        </a:rPr>
                        <a:t>2</a:t>
                      </a:r>
                      <a:r>
                        <a:rPr lang="en-US" altLang="zh-TW" sz="2000" dirty="0" smtClean="0"/>
                        <a:t> = 3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-3</a:t>
                      </a:r>
                      <a:endParaRPr lang="zh-TW" altLang="en-US" sz="2000" dirty="0"/>
                    </a:p>
                  </a:txBody>
                  <a:tcPr anchor="ctr"/>
                </a:tc>
              </a:tr>
              <a:tr h="48656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</a:rPr>
                        <a:t>I</a:t>
                      </a:r>
                      <a:r>
                        <a:rPr lang="en-US" altLang="zh-TW" sz="2000" baseline="-25000" dirty="0" smtClean="0">
                          <a:solidFill>
                            <a:srgbClr val="C00000"/>
                          </a:solidFill>
                        </a:rPr>
                        <a:t>3</a:t>
                      </a:r>
                      <a:r>
                        <a:rPr lang="en-US" altLang="zh-TW" sz="2000" dirty="0" smtClean="0"/>
                        <a:t> = 2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-2</a:t>
                      </a:r>
                      <a:endParaRPr lang="zh-TW" altLang="en-US" sz="2000" dirty="0"/>
                    </a:p>
                  </a:txBody>
                  <a:tcPr anchor="ctr"/>
                </a:tc>
              </a:tr>
              <a:tr h="48656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</a:rPr>
                        <a:t>I</a:t>
                      </a:r>
                      <a:r>
                        <a:rPr lang="en-US" altLang="zh-TW" sz="2000" baseline="-25000" dirty="0" smtClean="0">
                          <a:solidFill>
                            <a:srgbClr val="C00000"/>
                          </a:solidFill>
                        </a:rPr>
                        <a:t>4</a:t>
                      </a:r>
                      <a:r>
                        <a:rPr lang="en-US" altLang="zh-TW" sz="2000" dirty="0" smtClean="0"/>
                        <a:t> = 1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endParaRPr lang="zh-TW" altLang="en-US" sz="2000" dirty="0"/>
                    </a:p>
                  </a:txBody>
                  <a:tcPr anchor="ctr"/>
                </a:tc>
              </a:tr>
              <a:tr h="48656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</a:rPr>
                        <a:t>I</a:t>
                      </a:r>
                      <a:r>
                        <a:rPr lang="en-US" altLang="zh-TW" sz="2000" baseline="-25000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r>
                        <a:rPr lang="en-US" altLang="zh-TW" sz="2000" dirty="0" smtClean="0"/>
                        <a:t> = 3</a:t>
                      </a:r>
                      <a:endParaRPr lang="zh-TW" alt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-2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-1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0</a:t>
                      </a:r>
                      <a:endParaRPr lang="zh-TW" altLang="en-US" sz="2000" dirty="0"/>
                    </a:p>
                  </a:txBody>
                  <a:tcPr anchor="ctr"/>
                </a:tc>
              </a:tr>
              <a:tr h="48656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O</a:t>
                      </a:r>
                      <a:r>
                        <a:rPr lang="en-US" altLang="zh-TW" sz="2000" baseline="-25000" dirty="0" smtClean="0">
                          <a:solidFill>
                            <a:schemeClr val="accent6"/>
                          </a:solidFill>
                        </a:rPr>
                        <a:t>0</a:t>
                      </a:r>
                      <a:r>
                        <a:rPr lang="en-US" altLang="zh-TW" sz="2000" dirty="0" smtClean="0"/>
                        <a:t>= 1</a:t>
                      </a:r>
                      <a:endParaRPr lang="zh-TW" altLang="en-US" sz="2000" dirty="0" smtClean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O</a:t>
                      </a:r>
                      <a:r>
                        <a:rPr lang="en-US" altLang="zh-TW" sz="2000" baseline="-25000" dirty="0" smtClean="0">
                          <a:solidFill>
                            <a:schemeClr val="accent6"/>
                          </a:solidFill>
                        </a:rPr>
                        <a:t>1</a:t>
                      </a:r>
                      <a:r>
                        <a:rPr lang="en-US" altLang="zh-TW" sz="2000" dirty="0" smtClean="0"/>
                        <a:t>= 3</a:t>
                      </a:r>
                      <a:endParaRPr lang="zh-TW" altLang="en-US" sz="2000" dirty="0" smtClean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O</a:t>
                      </a:r>
                      <a:r>
                        <a:rPr lang="en-US" altLang="zh-TW" sz="2000" baseline="-25000" dirty="0" smtClean="0">
                          <a:solidFill>
                            <a:schemeClr val="accent6"/>
                          </a:solidFill>
                        </a:rPr>
                        <a:t>2</a:t>
                      </a:r>
                      <a:r>
                        <a:rPr lang="en-US" altLang="zh-TW" sz="2000" dirty="0" smtClean="0"/>
                        <a:t>= 3</a:t>
                      </a:r>
                      <a:endParaRPr lang="zh-TW" altLang="en-US" sz="2000" dirty="0" smtClean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O</a:t>
                      </a:r>
                      <a:r>
                        <a:rPr lang="en-US" altLang="zh-TW" sz="2000" baseline="-25000" dirty="0" smtClean="0">
                          <a:solidFill>
                            <a:schemeClr val="accent6"/>
                          </a:solidFill>
                        </a:rPr>
                        <a:t>3</a:t>
                      </a:r>
                      <a:r>
                        <a:rPr lang="en-US" altLang="zh-TW" sz="2000" dirty="0" smtClean="0"/>
                        <a:t>= 4</a:t>
                      </a:r>
                      <a:endParaRPr lang="zh-TW" altLang="en-US" sz="2000" dirty="0" smtClean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O</a:t>
                      </a:r>
                      <a:r>
                        <a:rPr lang="en-US" altLang="zh-TW" sz="2000" baseline="-25000" dirty="0" smtClean="0">
                          <a:solidFill>
                            <a:schemeClr val="accent6"/>
                          </a:solidFill>
                        </a:rPr>
                        <a:t>4</a:t>
                      </a:r>
                      <a:r>
                        <a:rPr lang="en-US" altLang="zh-TW" sz="2000" dirty="0" smtClean="0"/>
                        <a:t>= 2</a:t>
                      </a:r>
                      <a:endParaRPr lang="zh-TW" altLang="en-US" sz="2000" dirty="0" smtClean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 smtClean="0">
                          <a:solidFill>
                            <a:schemeClr val="accent6"/>
                          </a:solidFill>
                        </a:rPr>
                        <a:t>O</a:t>
                      </a:r>
                      <a:r>
                        <a:rPr lang="en-US" altLang="zh-TW" sz="2000" baseline="-25000" dirty="0" smtClean="0">
                          <a:solidFill>
                            <a:schemeClr val="accent6"/>
                          </a:solidFill>
                        </a:rPr>
                        <a:t>5</a:t>
                      </a:r>
                      <a:r>
                        <a:rPr lang="en-US" altLang="zh-TW" sz="2000" dirty="0" smtClean="0"/>
                        <a:t>= 3</a:t>
                      </a:r>
                      <a:endParaRPr lang="zh-TW" altLang="en-US" sz="2000" dirty="0" smtClean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矩形 16"/>
          <p:cNvSpPr/>
          <p:nvPr/>
        </p:nvSpPr>
        <p:spPr>
          <a:xfrm>
            <a:off x="6938012" y="2226340"/>
            <a:ext cx="14366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dirty="0" smtClean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</a:t>
            </a:r>
            <a:endParaRPr lang="zh-TW" altLang="en-US" sz="5400" b="0" cap="none" spc="0" dirty="0">
              <a:ln w="0"/>
              <a:solidFill>
                <a:schemeClr val="accent5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320691" y="595124"/>
            <a:ext cx="4732770" cy="169277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800" dirty="0">
                <a:ln w="0"/>
                <a:latin typeface="+mj-lt"/>
              </a:rPr>
              <a:t>Incremental String </a:t>
            </a:r>
            <a:r>
              <a:rPr lang="en-US" altLang="zh-TW" sz="2800" dirty="0" smtClean="0">
                <a:ln w="0"/>
                <a:latin typeface="+mj-lt"/>
              </a:rPr>
              <a:t>Comparison,</a:t>
            </a:r>
          </a:p>
          <a:p>
            <a:r>
              <a:rPr lang="en-US" altLang="zh-TW" sz="2800" dirty="0" smtClean="0">
                <a:ln w="0"/>
                <a:latin typeface="+mj-lt"/>
              </a:rPr>
              <a:t>SIAM </a:t>
            </a:r>
            <a:r>
              <a:rPr lang="en-US" altLang="zh-TW" sz="2800" dirty="0">
                <a:ln w="0"/>
                <a:latin typeface="+mj-lt"/>
              </a:rPr>
              <a:t>J. COMPUT., </a:t>
            </a:r>
            <a:r>
              <a:rPr lang="en-US" altLang="zh-TW" sz="2800" dirty="0" smtClean="0">
                <a:ln w="0"/>
                <a:latin typeface="+mj-lt"/>
              </a:rPr>
              <a:t>1998</a:t>
            </a:r>
          </a:p>
          <a:p>
            <a:endParaRPr lang="en-US" altLang="zh-TW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  <a:p>
            <a:r>
              <a:rPr lang="en-US" altLang="zh-TW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	</a:t>
            </a:r>
            <a:r>
              <a:rPr lang="en-US" altLang="zh-TW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O(</a:t>
            </a:r>
            <a:r>
              <a:rPr lang="en-US" altLang="zh-TW" sz="3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n|Y</a:t>
            </a:r>
            <a:r>
              <a:rPr lang="en-US" altLang="zh-TW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|)</a:t>
            </a:r>
            <a:endParaRPr lang="zh-TW" alt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grpSp>
        <p:nvGrpSpPr>
          <p:cNvPr id="31" name="群組 30"/>
          <p:cNvGrpSpPr/>
          <p:nvPr/>
        </p:nvGrpSpPr>
        <p:grpSpPr>
          <a:xfrm>
            <a:off x="5975927" y="1884218"/>
            <a:ext cx="1488953" cy="846729"/>
            <a:chOff x="6032330" y="1724077"/>
            <a:chExt cx="1334930" cy="1009215"/>
          </a:xfrm>
        </p:grpSpPr>
        <p:sp>
          <p:nvSpPr>
            <p:cNvPr id="25" name="弧形 24"/>
            <p:cNvSpPr/>
            <p:nvPr/>
          </p:nvSpPr>
          <p:spPr>
            <a:xfrm rot="10871129">
              <a:off x="6032330" y="1724077"/>
              <a:ext cx="1334930" cy="1004526"/>
            </a:xfrm>
            <a:prstGeom prst="arc">
              <a:avLst>
                <a:gd name="adj1" fmla="val 16200000"/>
                <a:gd name="adj2" fmla="val 21386544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7" name="直線單箭頭接點 26"/>
            <p:cNvCxnSpPr/>
            <p:nvPr/>
          </p:nvCxnSpPr>
          <p:spPr>
            <a:xfrm flipV="1">
              <a:off x="6687076" y="2726795"/>
              <a:ext cx="107405" cy="649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圖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05" y="102320"/>
            <a:ext cx="4034073" cy="304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4965279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85289" y="2726714"/>
            <a:ext cx="7721343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6000" b="0" cap="none" spc="0" dirty="0" smtClean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Jokerman" panose="04090605060D06020702" pitchFamily="82" charset="0"/>
              </a:rPr>
              <a:t>L</a:t>
            </a:r>
            <a:r>
              <a:rPr lang="en-US" altLang="zh-TW" sz="6000" b="0" cap="none" spc="0" dirty="0" smtClean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empel-Ziv Compression</a:t>
            </a:r>
          </a:p>
        </p:txBody>
      </p:sp>
      <p:sp>
        <p:nvSpPr>
          <p:cNvPr id="7" name="矩形 6"/>
          <p:cNvSpPr/>
          <p:nvPr/>
        </p:nvSpPr>
        <p:spPr>
          <a:xfrm>
            <a:off x="753843" y="547561"/>
            <a:ext cx="46121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ABAABCABCB</a:t>
            </a:r>
          </a:p>
        </p:txBody>
      </p:sp>
      <p:sp>
        <p:nvSpPr>
          <p:cNvPr id="5" name="矩形 4"/>
          <p:cNvSpPr/>
          <p:nvPr/>
        </p:nvSpPr>
        <p:spPr>
          <a:xfrm>
            <a:off x="885289" y="1757218"/>
            <a:ext cx="1494320" cy="19389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6283797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53843" y="547561"/>
            <a:ext cx="46121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accent4"/>
                </a:solidFill>
                <a:latin typeface="Tempus Sans ITC" panose="04020404030D07020202" pitchFamily="82" charset="0"/>
              </a:rPr>
              <a:t>A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BAABCABCB</a:t>
            </a:r>
          </a:p>
        </p:txBody>
      </p:sp>
      <p:sp>
        <p:nvSpPr>
          <p:cNvPr id="5" name="矩形 4"/>
          <p:cNvSpPr/>
          <p:nvPr/>
        </p:nvSpPr>
        <p:spPr>
          <a:xfrm>
            <a:off x="885289" y="1757218"/>
            <a:ext cx="1494320" cy="19389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17236" y="547561"/>
            <a:ext cx="886691" cy="81942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28903023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53843" y="547561"/>
            <a:ext cx="46121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accent4"/>
                </a:solidFill>
                <a:latin typeface="Tempus Sans ITC" panose="04020404030D07020202" pitchFamily="82" charset="0"/>
              </a:rPr>
              <a:t>A</a:t>
            </a:r>
            <a:r>
              <a:rPr lang="en-US" altLang="zh-TW" sz="5400" b="0" cap="none" spc="0" dirty="0" smtClean="0">
                <a:ln w="0"/>
                <a:solidFill>
                  <a:srgbClr val="0070C0"/>
                </a:solidFill>
                <a:latin typeface="Tempus Sans ITC" panose="04020404030D07020202" pitchFamily="82" charset="0"/>
              </a:rPr>
              <a:t>B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AABCABCB</a:t>
            </a:r>
          </a:p>
        </p:txBody>
      </p:sp>
      <p:sp>
        <p:nvSpPr>
          <p:cNvPr id="2" name="矩形 1"/>
          <p:cNvSpPr/>
          <p:nvPr/>
        </p:nvSpPr>
        <p:spPr>
          <a:xfrm>
            <a:off x="517236" y="547561"/>
            <a:ext cx="1228437" cy="81942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748232" y="1757218"/>
            <a:ext cx="1768433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</a:t>
            </a:r>
            <a:r>
              <a:rPr lang="en-US" altLang="zh-TW" sz="4000" dirty="0" smtClean="0">
                <a:ln w="0"/>
                <a:solidFill>
                  <a:schemeClr val="accent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A</a:t>
            </a:r>
            <a:r>
              <a:rPr lang="en-US" altLang="zh-TW" sz="4000" dirty="0" smtClean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B</a:t>
            </a:r>
            <a:endParaRPr lang="zh-TW" altLang="en-US" sz="4000" b="0" cap="none" spc="0" dirty="0">
              <a:ln w="0"/>
              <a:solidFill>
                <a:schemeClr val="accent5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5862251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53843" y="547561"/>
            <a:ext cx="46121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rgbClr val="FF0000"/>
                </a:solidFill>
                <a:latin typeface="Tempus Sans ITC" panose="04020404030D07020202" pitchFamily="82" charset="0"/>
              </a:rPr>
              <a:t>A</a:t>
            </a:r>
            <a:r>
              <a:rPr lang="en-US" altLang="zh-TW" sz="5400" b="0" cap="none" spc="0" dirty="0" smtClean="0">
                <a:ln w="0"/>
                <a:solidFill>
                  <a:schemeClr val="accent4"/>
                </a:solidFill>
                <a:latin typeface="Tempus Sans ITC" panose="04020404030D07020202" pitchFamily="82" charset="0"/>
              </a:rPr>
              <a:t>B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AABCABCB</a:t>
            </a:r>
          </a:p>
        </p:txBody>
      </p:sp>
      <p:sp>
        <p:nvSpPr>
          <p:cNvPr id="2" name="矩形 1"/>
          <p:cNvSpPr/>
          <p:nvPr/>
        </p:nvSpPr>
        <p:spPr>
          <a:xfrm flipH="1">
            <a:off x="1385455" y="547561"/>
            <a:ext cx="378690" cy="81942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748232" y="1757218"/>
            <a:ext cx="1768433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46846" y="5017807"/>
            <a:ext cx="35846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2 1 4 3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7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2</a:t>
            </a:r>
            <a:endParaRPr lang="zh-TW" altLang="en-US" sz="5400" b="0" cap="none" spc="0" dirty="0">
              <a:ln w="0"/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3" name="群組 12"/>
          <p:cNvGrpSpPr/>
          <p:nvPr/>
        </p:nvGrpSpPr>
        <p:grpSpPr>
          <a:xfrm>
            <a:off x="4295049" y="1080655"/>
            <a:ext cx="2928207" cy="6700821"/>
            <a:chOff x="4313662" y="1371439"/>
            <a:chExt cx="2890981" cy="6373091"/>
          </a:xfrm>
        </p:grpSpPr>
        <p:sp>
          <p:nvSpPr>
            <p:cNvPr id="14" name="弧形 13"/>
            <p:cNvSpPr/>
            <p:nvPr/>
          </p:nvSpPr>
          <p:spPr>
            <a:xfrm>
              <a:off x="4313662" y="1371439"/>
              <a:ext cx="2890981" cy="6373091"/>
            </a:xfrm>
            <a:prstGeom prst="arc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5" name="直線單箭頭接點 14"/>
            <p:cNvCxnSpPr/>
            <p:nvPr/>
          </p:nvCxnSpPr>
          <p:spPr>
            <a:xfrm flipH="1">
              <a:off x="7195407" y="4501190"/>
              <a:ext cx="9236" cy="14778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60992610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53843" y="547561"/>
            <a:ext cx="46121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A</a:t>
            </a:r>
            <a:r>
              <a:rPr lang="en-US" altLang="zh-TW" sz="5400" b="0" cap="none" spc="0" dirty="0" smtClean="0">
                <a:ln w="0"/>
                <a:solidFill>
                  <a:schemeClr val="accent4"/>
                </a:solidFill>
                <a:latin typeface="Tempus Sans ITC" panose="04020404030D07020202" pitchFamily="82" charset="0"/>
              </a:rPr>
              <a:t>B</a:t>
            </a:r>
            <a:r>
              <a:rPr lang="en-US" altLang="zh-TW" sz="5400" b="0" cap="none" spc="0" dirty="0" smtClean="0">
                <a:ln w="0"/>
                <a:solidFill>
                  <a:srgbClr val="0070C0"/>
                </a:solidFill>
                <a:latin typeface="Tempus Sans ITC" panose="04020404030D07020202" pitchFamily="82" charset="0"/>
              </a:rPr>
              <a:t>A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ABCABCB</a:t>
            </a:r>
          </a:p>
        </p:txBody>
      </p:sp>
      <p:sp>
        <p:nvSpPr>
          <p:cNvPr id="2" name="矩形 1"/>
          <p:cNvSpPr/>
          <p:nvPr/>
        </p:nvSpPr>
        <p:spPr>
          <a:xfrm flipH="1">
            <a:off x="1385455" y="547561"/>
            <a:ext cx="877454" cy="81942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748233" y="1757218"/>
            <a:ext cx="1768433" cy="38472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5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</a:t>
            </a:r>
            <a:r>
              <a:rPr lang="en-US" altLang="zh-TW" sz="4000" dirty="0" smtClean="0">
                <a:ln w="0"/>
                <a:solidFill>
                  <a:schemeClr val="accent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B</a:t>
            </a:r>
            <a:r>
              <a:rPr lang="en-US" altLang="zh-TW" sz="4000" dirty="0" smtClean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A</a:t>
            </a:r>
          </a:p>
          <a:p>
            <a:pPr algn="ctr"/>
            <a:endParaRPr lang="zh-TW" altLang="en-US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446846" y="5017807"/>
            <a:ext cx="35846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2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1 4 3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7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2</a:t>
            </a:r>
            <a:endParaRPr lang="zh-TW" altLang="en-US" sz="5400" b="0" cap="none" spc="0" dirty="0">
              <a:ln w="0"/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1" name="群組 10"/>
          <p:cNvGrpSpPr/>
          <p:nvPr/>
        </p:nvGrpSpPr>
        <p:grpSpPr>
          <a:xfrm>
            <a:off x="4295049" y="1080655"/>
            <a:ext cx="2928207" cy="6700821"/>
            <a:chOff x="4313662" y="1371439"/>
            <a:chExt cx="2890981" cy="6373091"/>
          </a:xfrm>
        </p:grpSpPr>
        <p:sp>
          <p:nvSpPr>
            <p:cNvPr id="12" name="弧形 11"/>
            <p:cNvSpPr/>
            <p:nvPr/>
          </p:nvSpPr>
          <p:spPr>
            <a:xfrm>
              <a:off x="4313662" y="1371439"/>
              <a:ext cx="2890981" cy="6373091"/>
            </a:xfrm>
            <a:prstGeom prst="arc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3" name="直線單箭頭接點 12"/>
            <p:cNvCxnSpPr/>
            <p:nvPr/>
          </p:nvCxnSpPr>
          <p:spPr>
            <a:xfrm flipH="1">
              <a:off x="7195407" y="4501190"/>
              <a:ext cx="9236" cy="14778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82885580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53843" y="547561"/>
            <a:ext cx="46121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A</a:t>
            </a:r>
            <a:r>
              <a:rPr lang="en-US" altLang="zh-TW" sz="5400" b="0" cap="none" spc="0" dirty="0" smtClean="0">
                <a:ln w="0"/>
                <a:solidFill>
                  <a:srgbClr val="FF0000"/>
                </a:solidFill>
                <a:latin typeface="Tempus Sans ITC" panose="04020404030D07020202" pitchFamily="82" charset="0"/>
              </a:rPr>
              <a:t>B</a:t>
            </a:r>
            <a:r>
              <a:rPr lang="en-US" altLang="zh-TW" sz="5400" b="0" cap="none" spc="0" dirty="0" smtClean="0">
                <a:ln w="0"/>
                <a:solidFill>
                  <a:schemeClr val="accent4"/>
                </a:solidFill>
                <a:latin typeface="Tempus Sans ITC" panose="04020404030D07020202" pitchFamily="82" charset="0"/>
              </a:rPr>
              <a:t>A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ABCABCB</a:t>
            </a:r>
          </a:p>
        </p:txBody>
      </p:sp>
      <p:sp>
        <p:nvSpPr>
          <p:cNvPr id="2" name="矩形 1"/>
          <p:cNvSpPr/>
          <p:nvPr/>
        </p:nvSpPr>
        <p:spPr>
          <a:xfrm flipH="1">
            <a:off x="1745673" y="547561"/>
            <a:ext cx="535709" cy="81942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748233" y="1757218"/>
            <a:ext cx="1768433" cy="38472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5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BA</a:t>
            </a:r>
          </a:p>
          <a:p>
            <a:pPr algn="ctr"/>
            <a:endParaRPr lang="zh-TW" altLang="en-US" sz="4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446846" y="5017807"/>
            <a:ext cx="35846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 </a:t>
            </a:r>
            <a:r>
              <a:rPr lang="en-US" altLang="zh-TW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1 4 3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7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2</a:t>
            </a:r>
            <a:endParaRPr lang="zh-TW" altLang="en-US" sz="5400" b="0" cap="none" spc="0" dirty="0">
              <a:ln w="0"/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2" name="群組 11"/>
          <p:cNvGrpSpPr/>
          <p:nvPr/>
        </p:nvGrpSpPr>
        <p:grpSpPr>
          <a:xfrm>
            <a:off x="4295049" y="1080655"/>
            <a:ext cx="2928207" cy="6700821"/>
            <a:chOff x="4313662" y="1371439"/>
            <a:chExt cx="2890981" cy="6373091"/>
          </a:xfrm>
        </p:grpSpPr>
        <p:sp>
          <p:nvSpPr>
            <p:cNvPr id="13" name="弧形 12"/>
            <p:cNvSpPr/>
            <p:nvPr/>
          </p:nvSpPr>
          <p:spPr>
            <a:xfrm>
              <a:off x="4313662" y="1371439"/>
              <a:ext cx="2890981" cy="6373091"/>
            </a:xfrm>
            <a:prstGeom prst="arc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" name="直線單箭頭接點 13"/>
            <p:cNvCxnSpPr/>
            <p:nvPr/>
          </p:nvCxnSpPr>
          <p:spPr>
            <a:xfrm flipH="1">
              <a:off x="7195407" y="4501190"/>
              <a:ext cx="9236" cy="14778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325178836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53843" y="547561"/>
            <a:ext cx="46121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AB</a:t>
            </a:r>
            <a:r>
              <a:rPr lang="en-US" altLang="zh-TW" sz="5400" b="0" cap="none" spc="0" dirty="0" smtClean="0">
                <a:ln w="0"/>
                <a:solidFill>
                  <a:schemeClr val="accent4"/>
                </a:solidFill>
                <a:latin typeface="Tempus Sans ITC" panose="04020404030D07020202" pitchFamily="82" charset="0"/>
              </a:rPr>
              <a:t>A</a:t>
            </a:r>
            <a:r>
              <a:rPr lang="en-US" altLang="zh-TW" sz="5400" b="0" cap="none" spc="0" dirty="0" smtClean="0">
                <a:ln w="0"/>
                <a:solidFill>
                  <a:srgbClr val="0070C0"/>
                </a:solidFill>
                <a:latin typeface="Tempus Sans ITC" panose="04020404030D07020202" pitchFamily="82" charset="0"/>
              </a:rPr>
              <a:t>A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BCABCB</a:t>
            </a:r>
          </a:p>
        </p:txBody>
      </p:sp>
      <p:sp>
        <p:nvSpPr>
          <p:cNvPr id="2" name="矩形 1"/>
          <p:cNvSpPr/>
          <p:nvPr/>
        </p:nvSpPr>
        <p:spPr>
          <a:xfrm flipH="1">
            <a:off x="1745672" y="547561"/>
            <a:ext cx="1043709" cy="81942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748232" y="1757218"/>
            <a:ext cx="1768433" cy="31700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5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BA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06805" y="1757218"/>
            <a:ext cx="188064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6</a:t>
            </a:r>
            <a:r>
              <a:rPr lang="en-US" altLang="zh-TW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altLang="zh-TW" sz="4000" b="0" cap="none" spc="0" dirty="0" smtClean="0">
                <a:ln w="0"/>
                <a:solidFill>
                  <a:schemeClr val="accent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A</a:t>
            </a:r>
            <a:r>
              <a:rPr lang="en-US" altLang="zh-TW" sz="4000" b="0" cap="none" spc="0" dirty="0" smtClean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A</a:t>
            </a:r>
            <a:endParaRPr lang="zh-TW" altLang="en-US" sz="4000" b="0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46846" y="5017807"/>
            <a:ext cx="35846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1 2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1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4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3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7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2</a:t>
            </a:r>
            <a:endParaRPr lang="zh-TW" altLang="en-US" sz="5400" b="0" cap="none" spc="0" dirty="0">
              <a:ln w="0"/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3" name="群組 12"/>
          <p:cNvGrpSpPr/>
          <p:nvPr/>
        </p:nvGrpSpPr>
        <p:grpSpPr>
          <a:xfrm>
            <a:off x="4295049" y="1080655"/>
            <a:ext cx="2928207" cy="6700821"/>
            <a:chOff x="4313662" y="1371439"/>
            <a:chExt cx="2890981" cy="6373091"/>
          </a:xfrm>
        </p:grpSpPr>
        <p:sp>
          <p:nvSpPr>
            <p:cNvPr id="14" name="弧形 13"/>
            <p:cNvSpPr/>
            <p:nvPr/>
          </p:nvSpPr>
          <p:spPr>
            <a:xfrm>
              <a:off x="4313662" y="1371439"/>
              <a:ext cx="2890981" cy="6373091"/>
            </a:xfrm>
            <a:prstGeom prst="arc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5" name="直線單箭頭接點 14"/>
            <p:cNvCxnSpPr/>
            <p:nvPr/>
          </p:nvCxnSpPr>
          <p:spPr>
            <a:xfrm flipH="1">
              <a:off x="7195407" y="4501190"/>
              <a:ext cx="9236" cy="14778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85251333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53843" y="547561"/>
            <a:ext cx="46121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AB</a:t>
            </a:r>
            <a:r>
              <a:rPr lang="en-US" altLang="zh-TW" sz="5400" b="0" cap="none" spc="0" dirty="0" smtClean="0">
                <a:ln w="0"/>
                <a:solidFill>
                  <a:srgbClr val="FF0000"/>
                </a:solidFill>
                <a:latin typeface="Tempus Sans ITC" panose="04020404030D07020202" pitchFamily="82" charset="0"/>
              </a:rPr>
              <a:t>A</a:t>
            </a:r>
            <a:r>
              <a:rPr lang="en-US" altLang="zh-TW" sz="5400" b="0" cap="none" spc="0" dirty="0" smtClean="0">
                <a:ln w="0"/>
                <a:solidFill>
                  <a:schemeClr val="accent4"/>
                </a:solidFill>
                <a:latin typeface="Tempus Sans ITC" panose="04020404030D07020202" pitchFamily="82" charset="0"/>
              </a:rPr>
              <a:t>A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BCABCB</a:t>
            </a:r>
          </a:p>
        </p:txBody>
      </p:sp>
      <p:sp>
        <p:nvSpPr>
          <p:cNvPr id="2" name="矩形 1"/>
          <p:cNvSpPr/>
          <p:nvPr/>
        </p:nvSpPr>
        <p:spPr>
          <a:xfrm flipH="1">
            <a:off x="2244435" y="547561"/>
            <a:ext cx="544945" cy="81942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748232" y="1757218"/>
            <a:ext cx="1768433" cy="31700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5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BA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06805" y="1757218"/>
            <a:ext cx="188064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6</a:t>
            </a:r>
            <a:r>
              <a:rPr lang="en-US" altLang="zh-TW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AA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46846" y="5017807"/>
            <a:ext cx="35846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1 2 </a:t>
            </a:r>
            <a:r>
              <a:rPr lang="en-US" altLang="zh-TW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4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3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7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2</a:t>
            </a:r>
            <a:endParaRPr lang="zh-TW" altLang="en-US" sz="5400" b="0" cap="none" spc="0" dirty="0">
              <a:ln w="0"/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3" name="群組 12"/>
          <p:cNvGrpSpPr/>
          <p:nvPr/>
        </p:nvGrpSpPr>
        <p:grpSpPr>
          <a:xfrm>
            <a:off x="4295049" y="1080655"/>
            <a:ext cx="2928207" cy="6700821"/>
            <a:chOff x="4313662" y="1371439"/>
            <a:chExt cx="2890981" cy="6373091"/>
          </a:xfrm>
        </p:grpSpPr>
        <p:sp>
          <p:nvSpPr>
            <p:cNvPr id="14" name="弧形 13"/>
            <p:cNvSpPr/>
            <p:nvPr/>
          </p:nvSpPr>
          <p:spPr>
            <a:xfrm>
              <a:off x="4313662" y="1371439"/>
              <a:ext cx="2890981" cy="6373091"/>
            </a:xfrm>
            <a:prstGeom prst="arc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5" name="直線單箭頭接點 14"/>
            <p:cNvCxnSpPr/>
            <p:nvPr/>
          </p:nvCxnSpPr>
          <p:spPr>
            <a:xfrm flipH="1">
              <a:off x="7195407" y="4501190"/>
              <a:ext cx="9236" cy="14778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08772286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53843" y="547561"/>
            <a:ext cx="46121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ABA</a:t>
            </a:r>
            <a:r>
              <a:rPr lang="en-US" altLang="zh-TW" sz="5400" b="0" cap="none" spc="0" dirty="0" smtClean="0">
                <a:ln w="0"/>
                <a:solidFill>
                  <a:schemeClr val="accent4"/>
                </a:solidFill>
                <a:latin typeface="Tempus Sans ITC" panose="04020404030D07020202" pitchFamily="82" charset="0"/>
              </a:rPr>
              <a:t>AB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CABCB</a:t>
            </a:r>
          </a:p>
        </p:txBody>
      </p:sp>
      <p:sp>
        <p:nvSpPr>
          <p:cNvPr id="2" name="矩形 1"/>
          <p:cNvSpPr/>
          <p:nvPr/>
        </p:nvSpPr>
        <p:spPr>
          <a:xfrm flipH="1">
            <a:off x="2244434" y="547561"/>
            <a:ext cx="923898" cy="81942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748232" y="1757218"/>
            <a:ext cx="1768433" cy="31700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5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BA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06805" y="1757218"/>
            <a:ext cx="188064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6</a:t>
            </a:r>
            <a:r>
              <a:rPr lang="en-US" altLang="zh-TW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AA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46846" y="5017807"/>
            <a:ext cx="35846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1 2 1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4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3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7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2</a:t>
            </a:r>
            <a:endParaRPr lang="zh-TW" altLang="en-US" sz="5400" b="0" cap="none" spc="0" dirty="0">
              <a:ln w="0"/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2" name="群組 11"/>
          <p:cNvGrpSpPr/>
          <p:nvPr/>
        </p:nvGrpSpPr>
        <p:grpSpPr>
          <a:xfrm>
            <a:off x="4295049" y="1080655"/>
            <a:ext cx="2928207" cy="6700821"/>
            <a:chOff x="4313662" y="1371439"/>
            <a:chExt cx="2890981" cy="6373091"/>
          </a:xfrm>
        </p:grpSpPr>
        <p:sp>
          <p:nvSpPr>
            <p:cNvPr id="13" name="弧形 12"/>
            <p:cNvSpPr/>
            <p:nvPr/>
          </p:nvSpPr>
          <p:spPr>
            <a:xfrm>
              <a:off x="4313662" y="1371439"/>
              <a:ext cx="2890981" cy="6373091"/>
            </a:xfrm>
            <a:prstGeom prst="arc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" name="直線單箭頭接點 13"/>
            <p:cNvCxnSpPr/>
            <p:nvPr/>
          </p:nvCxnSpPr>
          <p:spPr>
            <a:xfrm flipH="1">
              <a:off x="7195407" y="4501190"/>
              <a:ext cx="9236" cy="14778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407632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53843" y="547561"/>
            <a:ext cx="46121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ABA</a:t>
            </a:r>
            <a:r>
              <a:rPr lang="en-US" altLang="zh-TW" sz="5400" b="0" cap="none" spc="0" dirty="0" smtClean="0">
                <a:ln w="0"/>
                <a:solidFill>
                  <a:schemeClr val="accent4"/>
                </a:solidFill>
                <a:latin typeface="Tempus Sans ITC" panose="04020404030D07020202" pitchFamily="82" charset="0"/>
              </a:rPr>
              <a:t>AB</a:t>
            </a:r>
            <a:r>
              <a:rPr lang="en-US" altLang="zh-TW" sz="5400" b="0" cap="none" spc="0" dirty="0" smtClean="0">
                <a:ln w="0"/>
                <a:solidFill>
                  <a:srgbClr val="0070C0"/>
                </a:solidFill>
                <a:latin typeface="Tempus Sans ITC" panose="04020404030D07020202" pitchFamily="82" charset="0"/>
              </a:rPr>
              <a:t>C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ABCB</a:t>
            </a:r>
          </a:p>
        </p:txBody>
      </p:sp>
      <p:sp>
        <p:nvSpPr>
          <p:cNvPr id="2" name="矩形 1"/>
          <p:cNvSpPr/>
          <p:nvPr/>
        </p:nvSpPr>
        <p:spPr>
          <a:xfrm flipH="1">
            <a:off x="2244433" y="547561"/>
            <a:ext cx="1348511" cy="81942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748232" y="1757218"/>
            <a:ext cx="1768433" cy="31700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5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BA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59516" y="1757218"/>
            <a:ext cx="1975221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6</a:t>
            </a:r>
            <a:r>
              <a:rPr lang="en-US" altLang="zh-TW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AA</a:t>
            </a:r>
            <a:b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7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</a:t>
            </a:r>
            <a:r>
              <a:rPr lang="en-US" altLang="zh-TW" sz="4000" b="0" cap="none" spc="0" dirty="0" smtClean="0">
                <a:ln w="0"/>
                <a:solidFill>
                  <a:schemeClr val="accent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AB</a:t>
            </a:r>
            <a:r>
              <a:rPr lang="en-US" altLang="zh-TW" sz="4000" b="0" cap="none" spc="0" dirty="0" smtClean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C</a:t>
            </a:r>
            <a:endParaRPr lang="zh-TW" altLang="en-US" sz="4000" b="0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46846" y="5017807"/>
            <a:ext cx="35846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1 2 1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4 3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7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2</a:t>
            </a:r>
            <a:endParaRPr lang="zh-TW" altLang="en-US" sz="5400" b="0" cap="none" spc="0" dirty="0">
              <a:ln w="0"/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2" name="群組 11"/>
          <p:cNvGrpSpPr/>
          <p:nvPr/>
        </p:nvGrpSpPr>
        <p:grpSpPr>
          <a:xfrm>
            <a:off x="4295049" y="1080655"/>
            <a:ext cx="2928207" cy="6700821"/>
            <a:chOff x="4313662" y="1371439"/>
            <a:chExt cx="2890981" cy="6373091"/>
          </a:xfrm>
        </p:grpSpPr>
        <p:sp>
          <p:nvSpPr>
            <p:cNvPr id="13" name="弧形 12"/>
            <p:cNvSpPr/>
            <p:nvPr/>
          </p:nvSpPr>
          <p:spPr>
            <a:xfrm>
              <a:off x="4313662" y="1371439"/>
              <a:ext cx="2890981" cy="6373091"/>
            </a:xfrm>
            <a:prstGeom prst="arc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" name="直線單箭頭接點 13"/>
            <p:cNvCxnSpPr/>
            <p:nvPr/>
          </p:nvCxnSpPr>
          <p:spPr>
            <a:xfrm flipH="1">
              <a:off x="7195407" y="4501190"/>
              <a:ext cx="9236" cy="14778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69613783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53843" y="547561"/>
            <a:ext cx="46121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ABA</a:t>
            </a:r>
            <a:r>
              <a:rPr lang="en-US" altLang="zh-TW" sz="5400" b="0" cap="none" spc="0" dirty="0" smtClean="0">
                <a:ln w="0"/>
                <a:solidFill>
                  <a:srgbClr val="FF0000"/>
                </a:solidFill>
                <a:latin typeface="Tempus Sans ITC" panose="04020404030D07020202" pitchFamily="82" charset="0"/>
              </a:rPr>
              <a:t>AB</a:t>
            </a:r>
            <a:r>
              <a:rPr lang="en-US" altLang="zh-TW" sz="5400" b="0" cap="none" spc="0" dirty="0" smtClean="0">
                <a:ln w="0"/>
                <a:solidFill>
                  <a:schemeClr val="accent4"/>
                </a:solidFill>
                <a:latin typeface="Tempus Sans ITC" panose="04020404030D07020202" pitchFamily="82" charset="0"/>
              </a:rPr>
              <a:t>C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ABCB</a:t>
            </a:r>
          </a:p>
        </p:txBody>
      </p:sp>
      <p:sp>
        <p:nvSpPr>
          <p:cNvPr id="2" name="矩形 1"/>
          <p:cNvSpPr/>
          <p:nvPr/>
        </p:nvSpPr>
        <p:spPr>
          <a:xfrm flipH="1">
            <a:off x="3103417" y="547561"/>
            <a:ext cx="489525" cy="81942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748232" y="1757218"/>
            <a:ext cx="1768433" cy="31700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5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BA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59516" y="1757218"/>
            <a:ext cx="1975221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6</a:t>
            </a:r>
            <a:r>
              <a:rPr lang="en-US" altLang="zh-TW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AA</a:t>
            </a:r>
            <a:b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7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ABC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46846" y="5017807"/>
            <a:ext cx="35846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1 2 1 </a:t>
            </a:r>
            <a:r>
              <a:rPr lang="en-US" altLang="zh-TW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3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7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2</a:t>
            </a:r>
            <a:endParaRPr lang="zh-TW" altLang="en-US" sz="5400" b="0" cap="none" spc="0" dirty="0">
              <a:ln w="0"/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3" name="群組 12"/>
          <p:cNvGrpSpPr/>
          <p:nvPr/>
        </p:nvGrpSpPr>
        <p:grpSpPr>
          <a:xfrm>
            <a:off x="4295049" y="1080655"/>
            <a:ext cx="2928207" cy="6700821"/>
            <a:chOff x="4313662" y="1371439"/>
            <a:chExt cx="2890981" cy="6373091"/>
          </a:xfrm>
        </p:grpSpPr>
        <p:sp>
          <p:nvSpPr>
            <p:cNvPr id="14" name="弧形 13"/>
            <p:cNvSpPr/>
            <p:nvPr/>
          </p:nvSpPr>
          <p:spPr>
            <a:xfrm>
              <a:off x="4313662" y="1371439"/>
              <a:ext cx="2890981" cy="6373091"/>
            </a:xfrm>
            <a:prstGeom prst="arc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5" name="直線單箭頭接點 14"/>
            <p:cNvCxnSpPr/>
            <p:nvPr/>
          </p:nvCxnSpPr>
          <p:spPr>
            <a:xfrm flipH="1">
              <a:off x="7195407" y="4501190"/>
              <a:ext cx="9236" cy="14778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79522454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53843" y="547561"/>
            <a:ext cx="46121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ABAAB</a:t>
            </a:r>
            <a:r>
              <a:rPr lang="en-US" altLang="zh-TW" sz="5400" b="0" cap="none" spc="0" dirty="0" smtClean="0">
                <a:ln w="0"/>
                <a:solidFill>
                  <a:schemeClr val="accent4"/>
                </a:solidFill>
                <a:latin typeface="Tempus Sans ITC" panose="04020404030D07020202" pitchFamily="82" charset="0"/>
              </a:rPr>
              <a:t>C</a:t>
            </a:r>
            <a:r>
              <a:rPr lang="en-US" altLang="zh-TW" sz="5400" b="0" cap="none" spc="0" dirty="0" smtClean="0">
                <a:ln w="0"/>
                <a:solidFill>
                  <a:srgbClr val="0070C0"/>
                </a:solidFill>
                <a:latin typeface="Tempus Sans ITC" panose="04020404030D07020202" pitchFamily="82" charset="0"/>
              </a:rPr>
              <a:t>A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BCB</a:t>
            </a:r>
          </a:p>
        </p:txBody>
      </p:sp>
      <p:sp>
        <p:nvSpPr>
          <p:cNvPr id="2" name="矩形 1"/>
          <p:cNvSpPr/>
          <p:nvPr/>
        </p:nvSpPr>
        <p:spPr>
          <a:xfrm flipH="1">
            <a:off x="3103416" y="547561"/>
            <a:ext cx="1006765" cy="81942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748232" y="1757218"/>
            <a:ext cx="1768433" cy="31700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5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BA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49898" y="1757218"/>
            <a:ext cx="1994457" cy="19389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6</a:t>
            </a:r>
            <a:r>
              <a:rPr lang="en-US" altLang="zh-TW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AA</a:t>
            </a:r>
            <a:b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7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ABC</a:t>
            </a:r>
            <a:b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8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</a:t>
            </a:r>
            <a:r>
              <a:rPr lang="en-US" altLang="zh-TW" sz="4000" b="0" cap="none" spc="0" dirty="0" smtClean="0">
                <a:ln w="0"/>
                <a:solidFill>
                  <a:schemeClr val="accent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C</a:t>
            </a:r>
            <a:r>
              <a:rPr lang="en-US" altLang="zh-TW" sz="4000" b="0" cap="none" spc="0" dirty="0" smtClean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A</a:t>
            </a:r>
            <a:endParaRPr lang="zh-TW" altLang="en-US" sz="4000" b="0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46846" y="5017807"/>
            <a:ext cx="35846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1 2 1 4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3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7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2</a:t>
            </a:r>
            <a:endParaRPr lang="zh-TW" altLang="en-US" sz="5400" b="0" cap="none" spc="0" dirty="0">
              <a:ln w="0"/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2" name="群組 11"/>
          <p:cNvGrpSpPr/>
          <p:nvPr/>
        </p:nvGrpSpPr>
        <p:grpSpPr>
          <a:xfrm>
            <a:off x="4295049" y="1080655"/>
            <a:ext cx="2928207" cy="6700821"/>
            <a:chOff x="4313662" y="1371439"/>
            <a:chExt cx="2890981" cy="6373091"/>
          </a:xfrm>
        </p:grpSpPr>
        <p:sp>
          <p:nvSpPr>
            <p:cNvPr id="13" name="弧形 12"/>
            <p:cNvSpPr/>
            <p:nvPr/>
          </p:nvSpPr>
          <p:spPr>
            <a:xfrm>
              <a:off x="4313662" y="1371439"/>
              <a:ext cx="2890981" cy="6373091"/>
            </a:xfrm>
            <a:prstGeom prst="arc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" name="直線單箭頭接點 13"/>
            <p:cNvCxnSpPr/>
            <p:nvPr/>
          </p:nvCxnSpPr>
          <p:spPr>
            <a:xfrm flipH="1">
              <a:off x="7195407" y="4501190"/>
              <a:ext cx="9236" cy="14778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32314879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53843" y="547561"/>
            <a:ext cx="46121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ABAAB</a:t>
            </a:r>
            <a:r>
              <a:rPr lang="en-US" altLang="zh-TW" sz="5400" b="0" cap="none" spc="0" dirty="0" smtClean="0">
                <a:ln w="0"/>
                <a:solidFill>
                  <a:srgbClr val="FF0000"/>
                </a:solidFill>
                <a:latin typeface="Tempus Sans ITC" panose="04020404030D07020202" pitchFamily="82" charset="0"/>
              </a:rPr>
              <a:t>C</a:t>
            </a:r>
            <a:r>
              <a:rPr lang="en-US" altLang="zh-TW" sz="5400" b="0" cap="none" spc="0" dirty="0" smtClean="0">
                <a:ln w="0"/>
                <a:solidFill>
                  <a:schemeClr val="accent4"/>
                </a:solidFill>
                <a:latin typeface="Tempus Sans ITC" panose="04020404030D07020202" pitchFamily="82" charset="0"/>
              </a:rPr>
              <a:t>A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BCB</a:t>
            </a:r>
          </a:p>
        </p:txBody>
      </p:sp>
      <p:sp>
        <p:nvSpPr>
          <p:cNvPr id="2" name="矩形 1"/>
          <p:cNvSpPr/>
          <p:nvPr/>
        </p:nvSpPr>
        <p:spPr>
          <a:xfrm flipH="1">
            <a:off x="3565235" y="547561"/>
            <a:ext cx="544945" cy="81942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748232" y="1757218"/>
            <a:ext cx="1768433" cy="31700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5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BA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46846" y="5017807"/>
            <a:ext cx="35846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1 2 1 4 </a:t>
            </a:r>
            <a:r>
              <a:rPr lang="en-US" altLang="zh-TW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7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2</a:t>
            </a:r>
            <a:endParaRPr lang="zh-TW" altLang="en-US" sz="5400" b="0" cap="none" spc="0" dirty="0">
              <a:ln w="0"/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3" name="群組 12"/>
          <p:cNvGrpSpPr/>
          <p:nvPr/>
        </p:nvGrpSpPr>
        <p:grpSpPr>
          <a:xfrm>
            <a:off x="4295049" y="1080655"/>
            <a:ext cx="2928207" cy="6700821"/>
            <a:chOff x="4313662" y="1371439"/>
            <a:chExt cx="2890981" cy="6373091"/>
          </a:xfrm>
        </p:grpSpPr>
        <p:sp>
          <p:nvSpPr>
            <p:cNvPr id="14" name="弧形 13"/>
            <p:cNvSpPr/>
            <p:nvPr/>
          </p:nvSpPr>
          <p:spPr>
            <a:xfrm>
              <a:off x="4313662" y="1371439"/>
              <a:ext cx="2890981" cy="6373091"/>
            </a:xfrm>
            <a:prstGeom prst="arc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5" name="直線單箭頭接點 14"/>
            <p:cNvCxnSpPr/>
            <p:nvPr/>
          </p:nvCxnSpPr>
          <p:spPr>
            <a:xfrm flipH="1">
              <a:off x="7195407" y="4501190"/>
              <a:ext cx="9236" cy="14778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矩形 15"/>
          <p:cNvSpPr/>
          <p:nvPr/>
        </p:nvSpPr>
        <p:spPr>
          <a:xfrm>
            <a:off x="3149898" y="1757218"/>
            <a:ext cx="1994457" cy="19389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6</a:t>
            </a:r>
            <a:r>
              <a:rPr lang="en-US" altLang="zh-TW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AA</a:t>
            </a:r>
            <a:b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7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ABC</a:t>
            </a:r>
            <a:b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8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CA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821671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53843" y="547561"/>
            <a:ext cx="46121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ABAABC</a:t>
            </a:r>
            <a:r>
              <a:rPr lang="en-US" altLang="zh-TW" sz="5400" b="0" cap="none" spc="0" dirty="0" smtClean="0">
                <a:ln w="0"/>
                <a:solidFill>
                  <a:schemeClr val="accent4"/>
                </a:solidFill>
                <a:latin typeface="Tempus Sans ITC" panose="04020404030D07020202" pitchFamily="82" charset="0"/>
              </a:rPr>
              <a:t>AB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CB</a:t>
            </a:r>
          </a:p>
        </p:txBody>
      </p:sp>
      <p:sp>
        <p:nvSpPr>
          <p:cNvPr id="2" name="矩形 1"/>
          <p:cNvSpPr/>
          <p:nvPr/>
        </p:nvSpPr>
        <p:spPr>
          <a:xfrm flipH="1">
            <a:off x="3565234" y="547561"/>
            <a:ext cx="886692" cy="81942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748232" y="1757218"/>
            <a:ext cx="1768433" cy="31700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5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BA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49898" y="1757218"/>
            <a:ext cx="1994457" cy="19389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6</a:t>
            </a:r>
            <a:r>
              <a:rPr lang="en-US" altLang="zh-TW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AA</a:t>
            </a:r>
            <a:b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7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ABC</a:t>
            </a:r>
            <a:b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8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CA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46846" y="5017807"/>
            <a:ext cx="35846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1 2 1 4 3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7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2</a:t>
            </a:r>
            <a:endParaRPr lang="zh-TW" altLang="en-US" sz="5400" b="0" cap="none" spc="0" dirty="0">
              <a:ln w="0"/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2" name="群組 11"/>
          <p:cNvGrpSpPr/>
          <p:nvPr/>
        </p:nvGrpSpPr>
        <p:grpSpPr>
          <a:xfrm>
            <a:off x="4295049" y="1080655"/>
            <a:ext cx="2928207" cy="6700821"/>
            <a:chOff x="4313662" y="1371439"/>
            <a:chExt cx="2890981" cy="6373091"/>
          </a:xfrm>
        </p:grpSpPr>
        <p:sp>
          <p:nvSpPr>
            <p:cNvPr id="13" name="弧形 12"/>
            <p:cNvSpPr/>
            <p:nvPr/>
          </p:nvSpPr>
          <p:spPr>
            <a:xfrm>
              <a:off x="4313662" y="1371439"/>
              <a:ext cx="2890981" cy="6373091"/>
            </a:xfrm>
            <a:prstGeom prst="arc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" name="直線單箭頭接點 13"/>
            <p:cNvCxnSpPr/>
            <p:nvPr/>
          </p:nvCxnSpPr>
          <p:spPr>
            <a:xfrm flipH="1">
              <a:off x="7195407" y="4501190"/>
              <a:ext cx="9236" cy="14778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96652926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53843" y="547561"/>
            <a:ext cx="46121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ABAABC</a:t>
            </a:r>
            <a:r>
              <a:rPr lang="en-US" altLang="zh-TW" sz="5400" b="0" cap="none" spc="0" dirty="0" smtClean="0">
                <a:ln w="0"/>
                <a:solidFill>
                  <a:schemeClr val="accent4"/>
                </a:solidFill>
                <a:latin typeface="Tempus Sans ITC" panose="04020404030D07020202" pitchFamily="82" charset="0"/>
              </a:rPr>
              <a:t>ABC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B</a:t>
            </a:r>
          </a:p>
        </p:txBody>
      </p:sp>
      <p:sp>
        <p:nvSpPr>
          <p:cNvPr id="2" name="矩形 1"/>
          <p:cNvSpPr/>
          <p:nvPr/>
        </p:nvSpPr>
        <p:spPr>
          <a:xfrm flipH="1">
            <a:off x="3565233" y="547561"/>
            <a:ext cx="1330039" cy="81942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748232" y="1757218"/>
            <a:ext cx="1768433" cy="31700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5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BA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49898" y="1757218"/>
            <a:ext cx="1994457" cy="19389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6</a:t>
            </a:r>
            <a:r>
              <a:rPr lang="en-US" altLang="zh-TW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AA</a:t>
            </a:r>
            <a:b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7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ABC</a:t>
            </a:r>
            <a:b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8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CA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46846" y="5017807"/>
            <a:ext cx="35846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1 2 1 4 3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7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2</a:t>
            </a:r>
            <a:endParaRPr lang="zh-TW" altLang="en-US" sz="5400" b="0" cap="none" spc="0" dirty="0">
              <a:ln w="0"/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2" name="群組 11"/>
          <p:cNvGrpSpPr/>
          <p:nvPr/>
        </p:nvGrpSpPr>
        <p:grpSpPr>
          <a:xfrm>
            <a:off x="4295049" y="1080655"/>
            <a:ext cx="2928207" cy="6700821"/>
            <a:chOff x="4313662" y="1371439"/>
            <a:chExt cx="2890981" cy="6373091"/>
          </a:xfrm>
        </p:grpSpPr>
        <p:sp>
          <p:nvSpPr>
            <p:cNvPr id="13" name="弧形 12"/>
            <p:cNvSpPr/>
            <p:nvPr/>
          </p:nvSpPr>
          <p:spPr>
            <a:xfrm>
              <a:off x="4313662" y="1371439"/>
              <a:ext cx="2890981" cy="6373091"/>
            </a:xfrm>
            <a:prstGeom prst="arc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" name="直線單箭頭接點 13"/>
            <p:cNvCxnSpPr/>
            <p:nvPr/>
          </p:nvCxnSpPr>
          <p:spPr>
            <a:xfrm flipH="1">
              <a:off x="7195407" y="4501190"/>
              <a:ext cx="9236" cy="14778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399758714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53843" y="547561"/>
            <a:ext cx="46121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ABAABC</a:t>
            </a:r>
            <a:r>
              <a:rPr lang="en-US" altLang="zh-TW" sz="5400" b="0" cap="none" spc="0" dirty="0" smtClean="0">
                <a:ln w="0"/>
                <a:solidFill>
                  <a:schemeClr val="accent4"/>
                </a:solidFill>
                <a:latin typeface="Tempus Sans ITC" panose="04020404030D07020202" pitchFamily="82" charset="0"/>
              </a:rPr>
              <a:t>ABC</a:t>
            </a:r>
            <a:r>
              <a:rPr lang="en-US" altLang="zh-TW" sz="5400" b="0" cap="none" spc="0" dirty="0" smtClean="0">
                <a:ln w="0"/>
                <a:solidFill>
                  <a:srgbClr val="0070C0"/>
                </a:solidFill>
                <a:latin typeface="Tempus Sans ITC" panose="04020404030D07020202" pitchFamily="82" charset="0"/>
              </a:rPr>
              <a:t>B</a:t>
            </a:r>
          </a:p>
        </p:txBody>
      </p:sp>
      <p:sp>
        <p:nvSpPr>
          <p:cNvPr id="2" name="矩形 1"/>
          <p:cNvSpPr/>
          <p:nvPr/>
        </p:nvSpPr>
        <p:spPr>
          <a:xfrm flipH="1">
            <a:off x="3565232" y="547561"/>
            <a:ext cx="1690258" cy="81942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748232" y="1757218"/>
            <a:ext cx="1768433" cy="31700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5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BA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40280" y="1757218"/>
            <a:ext cx="2013693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6</a:t>
            </a:r>
            <a:r>
              <a:rPr lang="en-US" altLang="zh-TW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AA</a:t>
            </a:r>
            <a:b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7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ABC</a:t>
            </a:r>
            <a:b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8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CA</a:t>
            </a:r>
            <a:b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9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</a:t>
            </a:r>
            <a:r>
              <a:rPr lang="en-US" altLang="zh-TW" sz="4000" b="0" cap="none" spc="0" dirty="0" smtClean="0">
                <a:ln w="0"/>
                <a:solidFill>
                  <a:schemeClr val="accent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ABC</a:t>
            </a:r>
            <a:r>
              <a:rPr lang="en-US" altLang="zh-TW" sz="4000" b="0" cap="none" spc="0" dirty="0" smtClean="0">
                <a:ln w="0"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B</a:t>
            </a:r>
            <a:endParaRPr lang="zh-TW" altLang="en-US" sz="4000" b="0" cap="none" spc="0" dirty="0">
              <a:ln w="0"/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46846" y="5017807"/>
            <a:ext cx="35846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1 2 1 4 3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7 2</a:t>
            </a:r>
            <a:endParaRPr lang="zh-TW" altLang="en-US" sz="5400" b="0" cap="none" spc="0" dirty="0">
              <a:ln w="0"/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2" name="群組 11"/>
          <p:cNvGrpSpPr/>
          <p:nvPr/>
        </p:nvGrpSpPr>
        <p:grpSpPr>
          <a:xfrm>
            <a:off x="4295049" y="1080655"/>
            <a:ext cx="2928207" cy="6700821"/>
            <a:chOff x="4313662" y="1371439"/>
            <a:chExt cx="2890981" cy="6373091"/>
          </a:xfrm>
        </p:grpSpPr>
        <p:sp>
          <p:nvSpPr>
            <p:cNvPr id="13" name="弧形 12"/>
            <p:cNvSpPr/>
            <p:nvPr/>
          </p:nvSpPr>
          <p:spPr>
            <a:xfrm>
              <a:off x="4313662" y="1371439"/>
              <a:ext cx="2890981" cy="6373091"/>
            </a:xfrm>
            <a:prstGeom prst="arc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" name="直線單箭頭接點 13"/>
            <p:cNvCxnSpPr/>
            <p:nvPr/>
          </p:nvCxnSpPr>
          <p:spPr>
            <a:xfrm flipH="1">
              <a:off x="7195407" y="4501190"/>
              <a:ext cx="9236" cy="14778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25180416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53843" y="547561"/>
            <a:ext cx="46121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ABAABC</a:t>
            </a:r>
            <a:r>
              <a:rPr lang="en-US" altLang="zh-TW" sz="5400" b="0" cap="none" spc="0" dirty="0" smtClean="0">
                <a:ln w="0"/>
                <a:solidFill>
                  <a:srgbClr val="FF0000"/>
                </a:solidFill>
                <a:latin typeface="Tempus Sans ITC" panose="04020404030D07020202" pitchFamily="82" charset="0"/>
              </a:rPr>
              <a:t>ABC</a:t>
            </a:r>
            <a:r>
              <a:rPr lang="en-US" altLang="zh-TW" sz="5400" b="0" cap="none" spc="0" dirty="0" smtClean="0">
                <a:ln w="0"/>
                <a:solidFill>
                  <a:schemeClr val="accent4"/>
                </a:solidFill>
                <a:latin typeface="Tempus Sans ITC" panose="04020404030D07020202" pitchFamily="82" charset="0"/>
              </a:rPr>
              <a:t>B</a:t>
            </a:r>
          </a:p>
        </p:txBody>
      </p:sp>
      <p:sp>
        <p:nvSpPr>
          <p:cNvPr id="2" name="矩形 1"/>
          <p:cNvSpPr/>
          <p:nvPr/>
        </p:nvSpPr>
        <p:spPr>
          <a:xfrm flipH="1">
            <a:off x="4895272" y="547561"/>
            <a:ext cx="360217" cy="81942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748232" y="1757218"/>
            <a:ext cx="1768433" cy="31700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5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BA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40280" y="1757218"/>
            <a:ext cx="2013693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6</a:t>
            </a:r>
            <a:r>
              <a:rPr lang="en-US" altLang="zh-TW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AA</a:t>
            </a:r>
            <a:b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7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ABC</a:t>
            </a:r>
            <a:b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8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CA</a:t>
            </a:r>
            <a:b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9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ABCB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46846" y="5017807"/>
            <a:ext cx="35846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1 2 1 4 3 </a:t>
            </a:r>
            <a:r>
              <a:rPr lang="en-US" altLang="zh-TW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7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2</a:t>
            </a:r>
            <a:endParaRPr lang="zh-TW" altLang="en-US" sz="5400" b="0" cap="none" spc="0" dirty="0">
              <a:ln w="0"/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12" name="群組 11"/>
          <p:cNvGrpSpPr/>
          <p:nvPr/>
        </p:nvGrpSpPr>
        <p:grpSpPr>
          <a:xfrm>
            <a:off x="4295049" y="1080655"/>
            <a:ext cx="2928207" cy="6700821"/>
            <a:chOff x="4313662" y="1371439"/>
            <a:chExt cx="2890981" cy="6373091"/>
          </a:xfrm>
        </p:grpSpPr>
        <p:sp>
          <p:nvSpPr>
            <p:cNvPr id="13" name="弧形 12"/>
            <p:cNvSpPr/>
            <p:nvPr/>
          </p:nvSpPr>
          <p:spPr>
            <a:xfrm>
              <a:off x="4313662" y="1371439"/>
              <a:ext cx="2890981" cy="6373091"/>
            </a:xfrm>
            <a:prstGeom prst="arc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4" name="直線單箭頭接點 13"/>
            <p:cNvCxnSpPr/>
            <p:nvPr/>
          </p:nvCxnSpPr>
          <p:spPr>
            <a:xfrm flipH="1">
              <a:off x="7195407" y="4501190"/>
              <a:ext cx="9236" cy="14778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381011325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53843" y="547561"/>
            <a:ext cx="46121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ABAABC</a:t>
            </a:r>
            <a:r>
              <a:rPr lang="en-US" altLang="zh-TW" sz="5400" b="0" cap="none" spc="0" dirty="0" smtClean="0">
                <a:ln w="0"/>
                <a:latin typeface="Tempus Sans ITC" panose="04020404030D07020202" pitchFamily="82" charset="0"/>
              </a:rPr>
              <a:t>ABC</a:t>
            </a:r>
            <a:r>
              <a:rPr lang="en-US" altLang="zh-TW" sz="5400" b="0" cap="none" spc="0" dirty="0" smtClean="0">
                <a:ln w="0"/>
                <a:solidFill>
                  <a:schemeClr val="accent4"/>
                </a:solidFill>
                <a:latin typeface="Tempus Sans ITC" panose="04020404030D07020202" pitchFamily="82" charset="0"/>
              </a:rPr>
              <a:t>B</a:t>
            </a:r>
          </a:p>
        </p:txBody>
      </p:sp>
      <p:sp>
        <p:nvSpPr>
          <p:cNvPr id="2" name="矩形 1"/>
          <p:cNvSpPr/>
          <p:nvPr/>
        </p:nvSpPr>
        <p:spPr>
          <a:xfrm flipH="1">
            <a:off x="4895271" y="547561"/>
            <a:ext cx="775855" cy="81942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748232" y="1757218"/>
            <a:ext cx="1768433" cy="31700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5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BA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40280" y="1757218"/>
            <a:ext cx="2013693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6</a:t>
            </a:r>
            <a:r>
              <a:rPr lang="en-US" altLang="zh-TW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AA</a:t>
            </a:r>
            <a:b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7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ABC</a:t>
            </a:r>
            <a:b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8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CA</a:t>
            </a:r>
            <a:b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9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ABCB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46846" y="5017807"/>
            <a:ext cx="35846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1 2 1 4 3 7 </a:t>
            </a:r>
            <a:r>
              <a:rPr lang="en-US" altLang="zh-TW" sz="5400" b="0" cap="none" spc="0" dirty="0" smtClean="0">
                <a:ln w="0"/>
                <a:solidFill>
                  <a:schemeClr val="bg1"/>
                </a:solidFill>
                <a:latin typeface="+mj-lt"/>
              </a:rPr>
              <a:t>2</a:t>
            </a:r>
            <a:endParaRPr lang="zh-TW" altLang="en-US" sz="5400" b="0" cap="none" spc="0" dirty="0">
              <a:ln w="0"/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9" name="群組 8"/>
          <p:cNvGrpSpPr/>
          <p:nvPr/>
        </p:nvGrpSpPr>
        <p:grpSpPr>
          <a:xfrm>
            <a:off x="4295049" y="1080655"/>
            <a:ext cx="2928207" cy="6700821"/>
            <a:chOff x="4313662" y="1371439"/>
            <a:chExt cx="2890981" cy="6373091"/>
          </a:xfrm>
        </p:grpSpPr>
        <p:sp>
          <p:nvSpPr>
            <p:cNvPr id="10" name="弧形 9"/>
            <p:cNvSpPr/>
            <p:nvPr/>
          </p:nvSpPr>
          <p:spPr>
            <a:xfrm>
              <a:off x="4313662" y="1371439"/>
              <a:ext cx="2890981" cy="6373091"/>
            </a:xfrm>
            <a:prstGeom prst="arc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1" name="直線單箭頭接點 10"/>
            <p:cNvCxnSpPr/>
            <p:nvPr/>
          </p:nvCxnSpPr>
          <p:spPr>
            <a:xfrm flipH="1">
              <a:off x="7195407" y="4501190"/>
              <a:ext cx="9236" cy="14778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50244882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53843" y="547561"/>
            <a:ext cx="46121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ABAABC</a:t>
            </a:r>
            <a:r>
              <a:rPr lang="en-US" altLang="zh-TW" sz="5400" b="0" cap="none" spc="0" dirty="0" smtClean="0">
                <a:ln w="0"/>
                <a:latin typeface="Tempus Sans ITC" panose="04020404030D07020202" pitchFamily="82" charset="0"/>
              </a:rPr>
              <a:t>ABC</a:t>
            </a:r>
            <a:r>
              <a:rPr lang="en-US" altLang="zh-TW" sz="5400" b="0" cap="none" spc="0" dirty="0" smtClean="0">
                <a:ln w="0"/>
                <a:solidFill>
                  <a:srgbClr val="FF0000"/>
                </a:solidFill>
                <a:latin typeface="Tempus Sans ITC" panose="04020404030D07020202" pitchFamily="82" charset="0"/>
              </a:rPr>
              <a:t>B</a:t>
            </a:r>
          </a:p>
        </p:txBody>
      </p:sp>
      <p:sp>
        <p:nvSpPr>
          <p:cNvPr id="2" name="矩形 1"/>
          <p:cNvSpPr/>
          <p:nvPr/>
        </p:nvSpPr>
        <p:spPr>
          <a:xfrm flipH="1">
            <a:off x="5292435" y="547561"/>
            <a:ext cx="378690" cy="81942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748232" y="1757218"/>
            <a:ext cx="1768433" cy="31700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5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BA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40280" y="1757218"/>
            <a:ext cx="2013693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6</a:t>
            </a:r>
            <a:r>
              <a:rPr lang="en-US" altLang="zh-TW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AA</a:t>
            </a:r>
            <a:b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7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ABC</a:t>
            </a:r>
            <a:b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8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CA</a:t>
            </a:r>
            <a:b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9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ABCB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46846" y="5017807"/>
            <a:ext cx="35846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1 2 1 4 3 7 </a:t>
            </a:r>
            <a:r>
              <a:rPr lang="en-US" altLang="zh-TW" sz="5400" b="0" cap="none" spc="0" dirty="0" smtClean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2</a:t>
            </a:r>
            <a:endParaRPr lang="zh-TW" altLang="en-US" sz="5400" b="0" cap="none" spc="0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grpSp>
        <p:nvGrpSpPr>
          <p:cNvPr id="9" name="群組 8"/>
          <p:cNvGrpSpPr/>
          <p:nvPr/>
        </p:nvGrpSpPr>
        <p:grpSpPr>
          <a:xfrm>
            <a:off x="4295049" y="1080655"/>
            <a:ext cx="2928207" cy="6700821"/>
            <a:chOff x="4313662" y="1371439"/>
            <a:chExt cx="2890981" cy="6373091"/>
          </a:xfrm>
        </p:grpSpPr>
        <p:sp>
          <p:nvSpPr>
            <p:cNvPr id="10" name="弧形 9"/>
            <p:cNvSpPr/>
            <p:nvPr/>
          </p:nvSpPr>
          <p:spPr>
            <a:xfrm>
              <a:off x="4313662" y="1371439"/>
              <a:ext cx="2890981" cy="6373091"/>
            </a:xfrm>
            <a:prstGeom prst="arc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1" name="直線單箭頭接點 10"/>
            <p:cNvCxnSpPr/>
            <p:nvPr/>
          </p:nvCxnSpPr>
          <p:spPr>
            <a:xfrm flipH="1">
              <a:off x="7195407" y="4501190"/>
              <a:ext cx="9236" cy="14778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830896597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53843" y="547561"/>
            <a:ext cx="46121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A</a:t>
            </a:r>
            <a:r>
              <a:rPr lang="en-US" altLang="zh-TW" sz="5400" b="0" u="sng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B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A</a:t>
            </a:r>
            <a:r>
              <a:rPr lang="en-US" altLang="zh-TW" sz="5400" b="0" u="sng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AB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C</a:t>
            </a:r>
            <a:r>
              <a:rPr lang="en-US" altLang="zh-TW" sz="5400" b="0" u="sng" cap="none" spc="0" dirty="0" smtClean="0">
                <a:ln w="0"/>
                <a:latin typeface="Tempus Sans ITC" panose="04020404030D07020202" pitchFamily="82" charset="0"/>
              </a:rPr>
              <a:t>ABC</a:t>
            </a:r>
            <a:r>
              <a:rPr lang="en-US" altLang="zh-TW" sz="5400" b="0" cap="none" spc="0" dirty="0" smtClean="0">
                <a:ln w="0"/>
                <a:latin typeface="Tempus Sans ITC" panose="04020404030D07020202" pitchFamily="82" charset="0"/>
              </a:rPr>
              <a:t>B</a:t>
            </a:r>
          </a:p>
        </p:txBody>
      </p:sp>
      <p:sp>
        <p:nvSpPr>
          <p:cNvPr id="6" name="矩形 5"/>
          <p:cNvSpPr/>
          <p:nvPr/>
        </p:nvSpPr>
        <p:spPr>
          <a:xfrm>
            <a:off x="748232" y="1757218"/>
            <a:ext cx="1768433" cy="31700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5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BA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40280" y="1757218"/>
            <a:ext cx="2013693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6</a:t>
            </a:r>
            <a:r>
              <a:rPr lang="en-US" altLang="zh-TW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AA</a:t>
            </a:r>
            <a:b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7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ABC</a:t>
            </a:r>
            <a:b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8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CA</a:t>
            </a:r>
            <a:b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9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ABCB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446846" y="5017807"/>
            <a:ext cx="35846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 </a:t>
            </a:r>
            <a:r>
              <a:rPr lang="en-US" altLang="zh-TW" sz="5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1 </a:t>
            </a:r>
            <a:r>
              <a:rPr lang="en-US" altLang="zh-TW" sz="5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3 </a:t>
            </a:r>
            <a:r>
              <a:rPr lang="en-US" altLang="zh-TW" sz="5400" b="0" u="sng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7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</a:t>
            </a:r>
            <a:r>
              <a:rPr lang="en-US" altLang="zh-TW" sz="5400" b="0" cap="none" spc="0" dirty="0" smtClean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2</a:t>
            </a:r>
            <a:endParaRPr lang="zh-TW" altLang="en-US" sz="5400" b="0" cap="none" spc="0" dirty="0">
              <a:ln w="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grpSp>
        <p:nvGrpSpPr>
          <p:cNvPr id="10" name="群組 9"/>
          <p:cNvGrpSpPr/>
          <p:nvPr/>
        </p:nvGrpSpPr>
        <p:grpSpPr>
          <a:xfrm>
            <a:off x="4295049" y="1080655"/>
            <a:ext cx="2928207" cy="6700821"/>
            <a:chOff x="4313662" y="1371439"/>
            <a:chExt cx="2890981" cy="6373091"/>
          </a:xfrm>
        </p:grpSpPr>
        <p:sp>
          <p:nvSpPr>
            <p:cNvPr id="4" name="弧形 3"/>
            <p:cNvSpPr/>
            <p:nvPr/>
          </p:nvSpPr>
          <p:spPr>
            <a:xfrm>
              <a:off x="4313662" y="1371439"/>
              <a:ext cx="2890981" cy="6373091"/>
            </a:xfrm>
            <a:prstGeom prst="arc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" name="直線單箭頭接點 8"/>
            <p:cNvCxnSpPr/>
            <p:nvPr/>
          </p:nvCxnSpPr>
          <p:spPr>
            <a:xfrm flipH="1">
              <a:off x="7195407" y="4501190"/>
              <a:ext cx="9236" cy="14778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94817461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53843" y="547561"/>
            <a:ext cx="46121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A</a:t>
            </a:r>
            <a:r>
              <a:rPr lang="en-US" altLang="zh-TW" sz="5400" b="0" u="sng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B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A</a:t>
            </a:r>
            <a:r>
              <a:rPr lang="en-US" altLang="zh-TW" sz="5400" b="0" u="sng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AB</a:t>
            </a:r>
            <a:r>
              <a:rPr lang="en-US" altLang="zh-TW" sz="54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C</a:t>
            </a:r>
            <a:r>
              <a:rPr lang="en-US" altLang="zh-TW" sz="5400" b="0" u="sng" cap="none" spc="0" dirty="0" smtClean="0">
                <a:ln w="0"/>
                <a:latin typeface="Tempus Sans ITC" panose="04020404030D07020202" pitchFamily="82" charset="0"/>
              </a:rPr>
              <a:t>ABC</a:t>
            </a:r>
            <a:r>
              <a:rPr lang="en-US" altLang="zh-TW" sz="5400" b="0" cap="none" spc="0" dirty="0" smtClean="0">
                <a:ln w="0"/>
                <a:latin typeface="Tempus Sans ITC" panose="04020404030D07020202" pitchFamily="82" charset="0"/>
              </a:rPr>
              <a:t>B</a:t>
            </a:r>
          </a:p>
        </p:txBody>
      </p:sp>
      <p:sp>
        <p:nvSpPr>
          <p:cNvPr id="6" name="矩形 5"/>
          <p:cNvSpPr/>
          <p:nvPr/>
        </p:nvSpPr>
        <p:spPr>
          <a:xfrm>
            <a:off x="825177" y="1757218"/>
            <a:ext cx="1614545" cy="31700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</a:t>
            </a:r>
            <a:b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5</a:t>
            </a:r>
            <a:r>
              <a:rPr lang="en-US" altLang="zh-TW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BA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21044" y="1757218"/>
            <a:ext cx="2052165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6</a:t>
            </a:r>
            <a:r>
              <a:rPr lang="en-US" altLang="zh-TW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AA</a:t>
            </a:r>
            <a:b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7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ABC</a:t>
            </a:r>
            <a:b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8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CA</a:t>
            </a:r>
            <a:b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9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ABCB</a:t>
            </a:r>
            <a:endParaRPr lang="zh-TW" alt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276240" y="4992170"/>
            <a:ext cx="7226338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dirty="0" smtClean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O(n / log n) distinct phrases</a:t>
            </a:r>
            <a:endParaRPr lang="zh-TW" altLang="en-US" sz="4800" cap="none" spc="0" dirty="0">
              <a:ln w="0"/>
              <a:solidFill>
                <a:schemeClr val="accent5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7182961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784260" y="995956"/>
            <a:ext cx="346441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latin typeface="Tempus Sans ITC" panose="04020404030D07020202" pitchFamily="82" charset="0"/>
              </a:rPr>
              <a:t>ABA</a:t>
            </a:r>
            <a:r>
              <a:rPr lang="en-US" altLang="zh-TW" sz="4000" dirty="0">
                <a:ln w="0"/>
                <a:latin typeface="Tempus Sans ITC" panose="04020404030D07020202" pitchFamily="82" charset="0"/>
              </a:rPr>
              <a:t>ABCABC</a:t>
            </a:r>
            <a:r>
              <a:rPr lang="en-US" altLang="zh-TW" sz="4000" b="0" cap="none" spc="0" dirty="0" smtClean="0">
                <a:ln w="0"/>
                <a:latin typeface="Tempus Sans ITC" panose="04020404030D07020202" pitchFamily="82" charset="0"/>
              </a:rPr>
              <a:t>B</a:t>
            </a:r>
          </a:p>
        </p:txBody>
      </p:sp>
      <p:sp>
        <p:nvSpPr>
          <p:cNvPr id="6" name="矩形 5"/>
          <p:cNvSpPr/>
          <p:nvPr/>
        </p:nvSpPr>
        <p:spPr>
          <a:xfrm>
            <a:off x="1597470" y="1928457"/>
            <a:ext cx="1571263" cy="224676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1</a:t>
            </a:r>
            <a:r>
              <a:rPr lang="en-US" altLang="zh-TW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</a:t>
            </a:r>
            <a:br>
              <a:rPr lang="en-US" altLang="zh-TW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2</a:t>
            </a:r>
            <a:r>
              <a:rPr lang="en-US" altLang="zh-TW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</a:t>
            </a:r>
            <a:br>
              <a:rPr lang="en-US" altLang="zh-TW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3</a:t>
            </a:r>
            <a:r>
              <a:rPr lang="en-US" altLang="zh-TW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</a:t>
            </a:r>
            <a:br>
              <a:rPr lang="en-US" altLang="zh-TW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4</a:t>
            </a:r>
            <a:r>
              <a:rPr lang="en-US" altLang="zh-TW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</a:t>
            </a:r>
            <a:br>
              <a:rPr lang="en-US" altLang="zh-TW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5</a:t>
            </a:r>
            <a:r>
              <a:rPr lang="en-US" altLang="zh-TW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BA</a:t>
            </a:r>
            <a:endParaRPr lang="zh-TW" alt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99022" y="4080532"/>
            <a:ext cx="1986441" cy="181588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6</a:t>
            </a:r>
            <a:r>
              <a:rPr lang="en-US" altLang="zh-TW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AA</a:t>
            </a:r>
            <a:br>
              <a:rPr lang="en-US" altLang="zh-TW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7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ABC</a:t>
            </a:r>
            <a:br>
              <a:rPr lang="en-US" altLang="zh-TW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8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CA</a:t>
            </a:r>
            <a:br>
              <a:rPr lang="en-US" altLang="zh-TW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</a:br>
            <a:r>
              <a:rPr lang="en-US" altLang="zh-TW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9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empus Sans ITC" panose="04020404030D07020202" pitchFamily="82" charset="0"/>
              </a:rPr>
              <a:t>	ABCB</a:t>
            </a:r>
            <a:endParaRPr lang="zh-TW" alt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empus Sans ITC" panose="04020404030D07020202" pitchFamily="82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8242581" y="2881151"/>
            <a:ext cx="45557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800" dirty="0">
                <a:ln w="0"/>
                <a:latin typeface="Tempus Sans ITC" panose="04020404030D07020202" pitchFamily="82" charset="0"/>
              </a:rPr>
              <a:t>A</a:t>
            </a:r>
            <a:endParaRPr lang="zh-TW" altLang="en-US" sz="28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流程圖: 接點 7"/>
          <p:cNvSpPr>
            <a:spLocks noChangeAspect="1"/>
          </p:cNvSpPr>
          <p:nvPr/>
        </p:nvSpPr>
        <p:spPr>
          <a:xfrm>
            <a:off x="5798104" y="1098921"/>
            <a:ext cx="709920" cy="708709"/>
          </a:xfrm>
          <a:prstGeom prst="flowChartConnector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流程圖: 接點 9"/>
          <p:cNvSpPr>
            <a:spLocks noChangeAspect="1"/>
          </p:cNvSpPr>
          <p:nvPr/>
        </p:nvSpPr>
        <p:spPr>
          <a:xfrm>
            <a:off x="4495019" y="2185361"/>
            <a:ext cx="709920" cy="708709"/>
          </a:xfrm>
          <a:prstGeom prst="flowChartConnector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流程圖: 接點 10"/>
          <p:cNvSpPr>
            <a:spLocks noChangeAspect="1"/>
          </p:cNvSpPr>
          <p:nvPr/>
        </p:nvSpPr>
        <p:spPr>
          <a:xfrm>
            <a:off x="3904177" y="3291686"/>
            <a:ext cx="709920" cy="708709"/>
          </a:xfrm>
          <a:prstGeom prst="flowChartConnector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流程圖: 接點 11"/>
          <p:cNvSpPr>
            <a:spLocks noChangeAspect="1"/>
          </p:cNvSpPr>
          <p:nvPr/>
        </p:nvSpPr>
        <p:spPr>
          <a:xfrm>
            <a:off x="5798104" y="2185360"/>
            <a:ext cx="709920" cy="708709"/>
          </a:xfrm>
          <a:prstGeom prst="flowChartConnector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流程圖: 接點 12"/>
          <p:cNvSpPr>
            <a:spLocks noChangeAspect="1"/>
          </p:cNvSpPr>
          <p:nvPr/>
        </p:nvSpPr>
        <p:spPr>
          <a:xfrm>
            <a:off x="5255628" y="3285927"/>
            <a:ext cx="709920" cy="708709"/>
          </a:xfrm>
          <a:prstGeom prst="flowChartConnector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流程圖: 接點 13"/>
          <p:cNvSpPr>
            <a:spLocks noChangeAspect="1"/>
          </p:cNvSpPr>
          <p:nvPr/>
        </p:nvSpPr>
        <p:spPr>
          <a:xfrm>
            <a:off x="7101190" y="2172443"/>
            <a:ext cx="709920" cy="708709"/>
          </a:xfrm>
          <a:prstGeom prst="flowChartConnector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流程圖: 接點 14"/>
          <p:cNvSpPr>
            <a:spLocks noChangeAspect="1"/>
          </p:cNvSpPr>
          <p:nvPr/>
        </p:nvSpPr>
        <p:spPr>
          <a:xfrm>
            <a:off x="6554749" y="3288164"/>
            <a:ext cx="709920" cy="708709"/>
          </a:xfrm>
          <a:prstGeom prst="flowChartConnector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流程圖: 接點 15"/>
          <p:cNvSpPr>
            <a:spLocks noChangeAspect="1"/>
          </p:cNvSpPr>
          <p:nvPr/>
        </p:nvSpPr>
        <p:spPr>
          <a:xfrm>
            <a:off x="7806895" y="3281705"/>
            <a:ext cx="709920" cy="708709"/>
          </a:xfrm>
          <a:prstGeom prst="flowChartConnector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流程圖: 接點 16"/>
          <p:cNvSpPr>
            <a:spLocks noChangeAspect="1"/>
          </p:cNvSpPr>
          <p:nvPr/>
        </p:nvSpPr>
        <p:spPr>
          <a:xfrm>
            <a:off x="5798104" y="4341873"/>
            <a:ext cx="709920" cy="708709"/>
          </a:xfrm>
          <a:prstGeom prst="flowChartConnector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流程圖: 接點 17"/>
          <p:cNvSpPr>
            <a:spLocks noChangeAspect="1"/>
          </p:cNvSpPr>
          <p:nvPr/>
        </p:nvSpPr>
        <p:spPr>
          <a:xfrm>
            <a:off x="5302603" y="5428312"/>
            <a:ext cx="709920" cy="708709"/>
          </a:xfrm>
          <a:prstGeom prst="flowChartConnector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接點 20"/>
          <p:cNvCxnSpPr>
            <a:stCxn id="8" idx="4"/>
            <a:endCxn id="12" idx="0"/>
          </p:cNvCxnSpPr>
          <p:nvPr/>
        </p:nvCxnSpPr>
        <p:spPr>
          <a:xfrm>
            <a:off x="6153064" y="1807630"/>
            <a:ext cx="0" cy="37773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8" idx="3"/>
            <a:endCxn id="10" idx="7"/>
          </p:cNvCxnSpPr>
          <p:nvPr/>
        </p:nvCxnSpPr>
        <p:spPr>
          <a:xfrm flipH="1">
            <a:off x="5100974" y="1703842"/>
            <a:ext cx="801095" cy="5853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8" idx="5"/>
            <a:endCxn id="14" idx="1"/>
          </p:cNvCxnSpPr>
          <p:nvPr/>
        </p:nvCxnSpPr>
        <p:spPr>
          <a:xfrm>
            <a:off x="6404059" y="1703842"/>
            <a:ext cx="801096" cy="57238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>
            <a:stCxn id="10" idx="3"/>
            <a:endCxn id="11" idx="0"/>
          </p:cNvCxnSpPr>
          <p:nvPr/>
        </p:nvCxnSpPr>
        <p:spPr>
          <a:xfrm flipH="1">
            <a:off x="4259137" y="2790282"/>
            <a:ext cx="339847" cy="50140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12" idx="3"/>
            <a:endCxn id="13" idx="0"/>
          </p:cNvCxnSpPr>
          <p:nvPr/>
        </p:nvCxnSpPr>
        <p:spPr>
          <a:xfrm flipH="1">
            <a:off x="5610588" y="2790281"/>
            <a:ext cx="291481" cy="49564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14" idx="3"/>
            <a:endCxn id="15" idx="0"/>
          </p:cNvCxnSpPr>
          <p:nvPr/>
        </p:nvCxnSpPr>
        <p:spPr>
          <a:xfrm flipH="1">
            <a:off x="6909709" y="2777364"/>
            <a:ext cx="295446" cy="510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>
            <a:stCxn id="14" idx="5"/>
            <a:endCxn id="16" idx="0"/>
          </p:cNvCxnSpPr>
          <p:nvPr/>
        </p:nvCxnSpPr>
        <p:spPr>
          <a:xfrm>
            <a:off x="7707145" y="2777364"/>
            <a:ext cx="454710" cy="50434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/>
          <p:cNvCxnSpPr>
            <a:stCxn id="15" idx="3"/>
            <a:endCxn id="17" idx="7"/>
          </p:cNvCxnSpPr>
          <p:nvPr/>
        </p:nvCxnSpPr>
        <p:spPr>
          <a:xfrm flipH="1">
            <a:off x="6404059" y="3893085"/>
            <a:ext cx="254655" cy="5525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>
            <a:stCxn id="17" idx="4"/>
            <a:endCxn id="18" idx="7"/>
          </p:cNvCxnSpPr>
          <p:nvPr/>
        </p:nvCxnSpPr>
        <p:spPr>
          <a:xfrm flipH="1">
            <a:off x="5908558" y="5050582"/>
            <a:ext cx="244506" cy="48151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6258696" y="1773124"/>
            <a:ext cx="37702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800" dirty="0">
                <a:ln w="0"/>
                <a:latin typeface="Tempus Sans ITC" panose="04020404030D07020202" pitchFamily="82" charset="0"/>
              </a:rPr>
              <a:t>B</a:t>
            </a:r>
            <a:endParaRPr lang="zh-TW" altLang="en-US" sz="28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463363" y="1753011"/>
            <a:ext cx="45557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800" dirty="0">
                <a:ln w="0"/>
                <a:latin typeface="Tempus Sans ITC" panose="04020404030D07020202" pitchFamily="82" charset="0"/>
              </a:rPr>
              <a:t>A</a:t>
            </a:r>
            <a:endParaRPr lang="zh-TW" altLang="en-US" sz="28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4931642" y="1756111"/>
            <a:ext cx="40748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800" dirty="0" smtClean="0">
                <a:ln w="0"/>
                <a:latin typeface="Tempus Sans ITC" panose="04020404030D07020202" pitchFamily="82" charset="0"/>
              </a:rPr>
              <a:t>C</a:t>
            </a:r>
            <a:endParaRPr lang="zh-TW" altLang="en-US" sz="2800" b="0" cap="none" spc="0" dirty="0">
              <a:ln w="0"/>
              <a:solidFill>
                <a:schemeClr val="tx1"/>
              </a:solidFill>
              <a:latin typeface="Tempus Sans ITC" panose="04020404030D07020202" pitchFamily="82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4438348" y="2872844"/>
            <a:ext cx="45557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800" dirty="0">
                <a:ln w="0"/>
                <a:latin typeface="Tempus Sans ITC" panose="04020404030D07020202" pitchFamily="82" charset="0"/>
              </a:rPr>
              <a:t>A</a:t>
            </a:r>
            <a:endParaRPr lang="zh-TW" altLang="en-US" sz="28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722529" y="2850699"/>
            <a:ext cx="45557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800" dirty="0">
                <a:ln w="0"/>
                <a:latin typeface="Tempus Sans ITC" panose="04020404030D07020202" pitchFamily="82" charset="0"/>
              </a:rPr>
              <a:t>A</a:t>
            </a:r>
            <a:endParaRPr lang="zh-TW" altLang="en-US" sz="28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131792" y="2905341"/>
            <a:ext cx="37702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800" dirty="0">
                <a:ln w="0"/>
                <a:latin typeface="Tempus Sans ITC" panose="04020404030D07020202" pitchFamily="82" charset="0"/>
              </a:rPr>
              <a:t>B</a:t>
            </a:r>
            <a:endParaRPr lang="zh-TW" altLang="en-US" sz="2800" dirty="0">
              <a:ln w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5984026" y="5283723"/>
            <a:ext cx="37702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800" dirty="0">
                <a:ln w="0"/>
                <a:latin typeface="Tempus Sans ITC" panose="04020404030D07020202" pitchFamily="82" charset="0"/>
              </a:rPr>
              <a:t>B</a:t>
            </a:r>
            <a:endParaRPr lang="zh-TW" altLang="en-US" sz="2800" dirty="0">
              <a:ln w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6447209" y="4184051"/>
            <a:ext cx="40748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800" dirty="0">
                <a:ln w="0"/>
                <a:latin typeface="Tempus Sans ITC" panose="04020404030D07020202" pitchFamily="82" charset="0"/>
              </a:rPr>
              <a:t>C</a:t>
            </a:r>
            <a:endParaRPr lang="zh-TW" altLang="en-US" sz="2800" dirty="0">
              <a:ln w="0"/>
              <a:latin typeface="Tempus Sans ITC" panose="04020404030D07020202" pitchFamily="82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908558" y="1064611"/>
            <a:ext cx="47000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+mj-lt"/>
              </a:rPr>
              <a:t>0</a:t>
            </a:r>
            <a:endParaRPr lang="zh-TW" altLang="en-US" sz="44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619488" y="2142076"/>
            <a:ext cx="47000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+mj-lt"/>
              </a:rPr>
              <a:t>3</a:t>
            </a:r>
            <a:endParaRPr lang="zh-TW" altLang="en-US" sz="44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4032001" y="3251338"/>
            <a:ext cx="47000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+mj-lt"/>
              </a:rPr>
              <a:t>8</a:t>
            </a:r>
            <a:endParaRPr lang="zh-TW" altLang="en-US" sz="44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5917229" y="2111710"/>
            <a:ext cx="47000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+mj-lt"/>
              </a:rPr>
              <a:t>2</a:t>
            </a:r>
            <a:endParaRPr lang="zh-TW" altLang="en-US" sz="44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5381971" y="3236458"/>
            <a:ext cx="47000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+mj-lt"/>
              </a:rPr>
              <a:t>5</a:t>
            </a:r>
            <a:endParaRPr lang="zh-TW" altLang="en-US" sz="44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7221150" y="2111711"/>
            <a:ext cx="47000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+mj-lt"/>
              </a:rPr>
              <a:t>1</a:t>
            </a:r>
            <a:endParaRPr lang="zh-TW" altLang="en-US" sz="44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6671335" y="3217192"/>
            <a:ext cx="47000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+mj-lt"/>
              </a:rPr>
              <a:t>4</a:t>
            </a:r>
            <a:endParaRPr lang="zh-TW" altLang="en-US" sz="44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7926855" y="3217191"/>
            <a:ext cx="47000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+mj-lt"/>
              </a:rPr>
              <a:t>6</a:t>
            </a:r>
            <a:endParaRPr lang="zh-TW" altLang="en-US" sz="44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5931556" y="4254700"/>
            <a:ext cx="47000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+mj-lt"/>
              </a:rPr>
              <a:t>7</a:t>
            </a:r>
            <a:endParaRPr lang="zh-TW" altLang="en-US" sz="44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5422563" y="5367580"/>
            <a:ext cx="47000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+mj-lt"/>
              </a:rPr>
              <a:t>9</a:t>
            </a:r>
            <a:endParaRPr lang="zh-TW" altLang="en-US" sz="44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10562615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74032" y="346443"/>
            <a:ext cx="7795936" cy="616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1625830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41836197"/>
              </p:ext>
            </p:extLst>
          </p:nvPr>
        </p:nvGraphicFramePr>
        <p:xfrm>
          <a:off x="1897625" y="2674375"/>
          <a:ext cx="6744930" cy="39448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4493"/>
                <a:gridCol w="674493"/>
                <a:gridCol w="674493"/>
                <a:gridCol w="674493"/>
                <a:gridCol w="674493"/>
                <a:gridCol w="674493"/>
                <a:gridCol w="674493"/>
                <a:gridCol w="674493"/>
                <a:gridCol w="674493"/>
                <a:gridCol w="674493"/>
              </a:tblGrid>
              <a:tr h="56355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4</a:t>
                      </a:r>
                      <a:endParaRPr lang="zh-TW" altLang="en-US" dirty="0" smtClean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6355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∆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56355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</a:tr>
              <a:tr h="563553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-3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56355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56355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563553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7196630" y="1866122"/>
            <a:ext cx="14366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dirty="0" smtClean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</a:t>
            </a:r>
            <a:endParaRPr lang="zh-TW" altLang="en-US" sz="5400" b="0" cap="none" spc="0" dirty="0">
              <a:ln w="0"/>
              <a:solidFill>
                <a:schemeClr val="accent5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5085"/>
            <a:ext cx="4840887" cy="3656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7347206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74032" y="346443"/>
            <a:ext cx="7795936" cy="6165114"/>
          </a:xfrm>
          <a:prstGeom prst="rect">
            <a:avLst/>
          </a:prstGeom>
        </p:spPr>
      </p:pic>
      <p:cxnSp>
        <p:nvCxnSpPr>
          <p:cNvPr id="14" name="直線接點 13"/>
          <p:cNvCxnSpPr/>
          <p:nvPr/>
        </p:nvCxnSpPr>
        <p:spPr>
          <a:xfrm flipV="1">
            <a:off x="3990109" y="2521527"/>
            <a:ext cx="397164" cy="923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4017817" y="2521527"/>
            <a:ext cx="0" cy="58189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/>
          <p:nvPr/>
        </p:nvCxnSpPr>
        <p:spPr>
          <a:xfrm>
            <a:off x="4414981" y="2530764"/>
            <a:ext cx="0" cy="572654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/>
          <p:nvPr/>
        </p:nvCxnSpPr>
        <p:spPr>
          <a:xfrm flipV="1">
            <a:off x="4045526" y="3103418"/>
            <a:ext cx="397164" cy="18472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78397912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>
            <a:off x="952186" y="883699"/>
            <a:ext cx="7397488" cy="5090601"/>
            <a:chOff x="952186" y="883699"/>
            <a:chExt cx="7397488" cy="5090601"/>
          </a:xfrm>
        </p:grpSpPr>
        <p:pic>
          <p:nvPicPr>
            <p:cNvPr id="2" name="圖片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952186" y="883699"/>
              <a:ext cx="7239627" cy="5090601"/>
            </a:xfrm>
            <a:prstGeom prst="rect">
              <a:avLst/>
            </a:prstGeom>
          </p:spPr>
        </p:pic>
        <p:pic>
          <p:nvPicPr>
            <p:cNvPr id="3" name="圖片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5957770" y="4151038"/>
              <a:ext cx="2391904" cy="1823262"/>
            </a:xfrm>
            <a:prstGeom prst="rect">
              <a:avLst/>
            </a:prstGeom>
          </p:spPr>
        </p:pic>
        <p:cxnSp>
          <p:nvCxnSpPr>
            <p:cNvPr id="7" name="直線單箭頭接點 6"/>
            <p:cNvCxnSpPr/>
            <p:nvPr/>
          </p:nvCxnSpPr>
          <p:spPr>
            <a:xfrm flipV="1">
              <a:off x="7028873" y="3611418"/>
              <a:ext cx="0" cy="378691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41503223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群組 11"/>
          <p:cNvGrpSpPr/>
          <p:nvPr/>
        </p:nvGrpSpPr>
        <p:grpSpPr>
          <a:xfrm>
            <a:off x="952186" y="646545"/>
            <a:ext cx="7748469" cy="5327755"/>
            <a:chOff x="952186" y="646545"/>
            <a:chExt cx="7748469" cy="5327755"/>
          </a:xfrm>
        </p:grpSpPr>
        <p:grpSp>
          <p:nvGrpSpPr>
            <p:cNvPr id="8" name="群組 7"/>
            <p:cNvGrpSpPr/>
            <p:nvPr/>
          </p:nvGrpSpPr>
          <p:grpSpPr>
            <a:xfrm>
              <a:off x="952186" y="883699"/>
              <a:ext cx="7397488" cy="5090601"/>
              <a:chOff x="952186" y="883699"/>
              <a:chExt cx="7397488" cy="5090601"/>
            </a:xfrm>
          </p:grpSpPr>
          <p:pic>
            <p:nvPicPr>
              <p:cNvPr id="2" name="圖片 1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tretch>
                <a:fillRect/>
              </a:stretch>
            </p:blipFill>
            <p:spPr>
              <a:xfrm>
                <a:off x="952186" y="883699"/>
                <a:ext cx="7239627" cy="5090601"/>
              </a:xfrm>
              <a:prstGeom prst="rect">
                <a:avLst/>
              </a:prstGeom>
            </p:spPr>
          </p:pic>
          <p:pic>
            <p:nvPicPr>
              <p:cNvPr id="3" name="圖片 2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tretch>
                <a:fillRect/>
              </a:stretch>
            </p:blipFill>
            <p:spPr>
              <a:xfrm>
                <a:off x="5957770" y="4151038"/>
                <a:ext cx="2391904" cy="1823262"/>
              </a:xfrm>
              <a:prstGeom prst="rect">
                <a:avLst/>
              </a:prstGeom>
            </p:spPr>
          </p:pic>
          <p:cxnSp>
            <p:nvCxnSpPr>
              <p:cNvPr id="7" name="直線單箭頭接點 6"/>
              <p:cNvCxnSpPr/>
              <p:nvPr/>
            </p:nvCxnSpPr>
            <p:spPr>
              <a:xfrm flipV="1">
                <a:off x="7028873" y="3611418"/>
                <a:ext cx="0" cy="378691"/>
              </a:xfrm>
              <a:prstGeom prst="straightConnector1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矩形 3"/>
            <p:cNvSpPr/>
            <p:nvPr/>
          </p:nvSpPr>
          <p:spPr>
            <a:xfrm>
              <a:off x="4239491" y="646545"/>
              <a:ext cx="4461164" cy="23829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3269673" y="1634836"/>
              <a:ext cx="1283854" cy="203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385455" y="914400"/>
              <a:ext cx="2854036" cy="2770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1385455" y="914400"/>
              <a:ext cx="424872" cy="25145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3551804" y="1081808"/>
              <a:ext cx="720436" cy="10621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/>
            <p:cNvSpPr/>
            <p:nvPr/>
          </p:nvSpPr>
          <p:spPr>
            <a:xfrm rot="3211046">
              <a:off x="3774392" y="2230221"/>
              <a:ext cx="761160" cy="1851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14" name="圖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9673" y="295654"/>
            <a:ext cx="4657243" cy="273387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3639196" y="537943"/>
            <a:ext cx="101829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dirty="0" smtClean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</a:t>
            </a:r>
            <a:endParaRPr lang="zh-TW" altLang="en-US" sz="3600" b="0" cap="none" spc="0" dirty="0">
              <a:ln w="0"/>
              <a:solidFill>
                <a:schemeClr val="accent5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7218620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94317389"/>
              </p:ext>
            </p:extLst>
          </p:nvPr>
        </p:nvGraphicFramePr>
        <p:xfrm>
          <a:off x="2453474" y="1749466"/>
          <a:ext cx="668055" cy="41520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8055"/>
              </a:tblGrid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-3</a:t>
                      </a:r>
                      <a:endParaRPr lang="zh-TW" altLang="en-US" sz="3200" b="0" dirty="0"/>
                    </a:p>
                  </a:txBody>
                  <a:tcPr anchor="ctr"/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-1</a:t>
                      </a:r>
                      <a:endParaRPr lang="zh-TW" altLang="en-US" sz="3200" b="0" dirty="0"/>
                    </a:p>
                  </a:txBody>
                  <a:tcPr anchor="ctr"/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1</a:t>
                      </a:r>
                      <a:endParaRPr lang="zh-TW" altLang="en-US" sz="3200" b="0" dirty="0"/>
                    </a:p>
                  </a:txBody>
                  <a:tcPr anchor="ctr"/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0</a:t>
                      </a:r>
                      <a:endParaRPr lang="zh-TW" altLang="en-US" sz="3200" b="0" dirty="0"/>
                    </a:p>
                  </a:txBody>
                  <a:tcPr anchor="ctr"/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0</a:t>
                      </a:r>
                      <a:endParaRPr lang="zh-TW" altLang="en-US" sz="3200" b="0" dirty="0"/>
                    </a:p>
                  </a:txBody>
                  <a:tcPr anchor="ctr"/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-2</a:t>
                      </a:r>
                      <a:endParaRPr lang="zh-TW" altLang="en-US" sz="3200" b="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478285670"/>
              </p:ext>
            </p:extLst>
          </p:nvPr>
        </p:nvGraphicFramePr>
        <p:xfrm>
          <a:off x="1903910" y="1754084"/>
          <a:ext cx="668055" cy="41520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8055"/>
              </a:tblGrid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zh-TW" altLang="en-US" sz="2000" b="0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  <a:endParaRPr lang="zh-TW" altLang="en-US" sz="2000" b="0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accent5"/>
                          </a:solidFill>
                        </a:rPr>
                        <a:t>2</a:t>
                      </a:r>
                      <a:endParaRPr lang="zh-TW" altLang="en-US" sz="2000" b="0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accent5"/>
                          </a:solidFill>
                        </a:rPr>
                        <a:t>3</a:t>
                      </a:r>
                      <a:endParaRPr lang="zh-TW" altLang="en-US" sz="2000" b="0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accent5"/>
                          </a:solidFill>
                        </a:rPr>
                        <a:t>4</a:t>
                      </a:r>
                      <a:endParaRPr lang="zh-TW" altLang="en-US" sz="2000" b="0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accent5"/>
                          </a:solidFill>
                        </a:rPr>
                        <a:t>5</a:t>
                      </a:r>
                      <a:endParaRPr lang="zh-TW" altLang="en-US" sz="2000" b="0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pSp>
        <p:nvGrpSpPr>
          <p:cNvPr id="25" name="群組 24"/>
          <p:cNvGrpSpPr/>
          <p:nvPr/>
        </p:nvGrpSpPr>
        <p:grpSpPr>
          <a:xfrm>
            <a:off x="3898646" y="1493298"/>
            <a:ext cx="4314611" cy="3401729"/>
            <a:chOff x="3667737" y="1825807"/>
            <a:chExt cx="4314611" cy="3401729"/>
          </a:xfrm>
        </p:grpSpPr>
        <p:pic>
          <p:nvPicPr>
            <p:cNvPr id="4" name="圖片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4063999" y="2240720"/>
              <a:ext cx="3918349" cy="2986816"/>
            </a:xfrm>
            <a:prstGeom prst="rect">
              <a:avLst/>
            </a:prstGeom>
          </p:spPr>
        </p:pic>
        <p:sp>
          <p:nvSpPr>
            <p:cNvPr id="8" name="五角星形 7"/>
            <p:cNvSpPr>
              <a:spLocks noChangeAspect="1"/>
            </p:cNvSpPr>
            <p:nvPr/>
          </p:nvSpPr>
          <p:spPr>
            <a:xfrm>
              <a:off x="6489326" y="4158441"/>
              <a:ext cx="502919" cy="411480"/>
            </a:xfrm>
            <a:prstGeom prst="star5">
              <a:avLst/>
            </a:prstGeom>
            <a:solidFill>
              <a:srgbClr val="FF00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3667737" y="4102571"/>
              <a:ext cx="396262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2800" b="0" cap="none" spc="0" dirty="0" smtClean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</a:t>
              </a:r>
              <a:r>
                <a:rPr lang="en-US" altLang="zh-TW" sz="2800" b="0" cap="none" spc="0" baseline="-25000" dirty="0" smtClean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zh-TW" altLang="en-US" sz="2800" b="0" cap="none" spc="0" baseline="-250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667737" y="3368280"/>
              <a:ext cx="396262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2800" b="0" cap="none" spc="0" dirty="0" smtClean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</a:t>
              </a:r>
              <a:r>
                <a:rPr lang="en-US" altLang="zh-TW" sz="2800" b="0" cap="none" spc="0" baseline="-25000" dirty="0" smtClean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zh-TW" altLang="en-US" sz="2800" b="0" cap="none" spc="0" baseline="-250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512865" y="1825807"/>
              <a:ext cx="396262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2800" b="0" cap="none" spc="0" dirty="0" smtClean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</a:t>
              </a:r>
              <a:r>
                <a:rPr lang="en-US" altLang="zh-TW" sz="2800" b="0" cap="none" spc="0" baseline="-25000" dirty="0" smtClean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  <a:endParaRPr lang="zh-TW" altLang="en-US" sz="2800" b="0" cap="none" spc="0" baseline="-250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5159862" y="1825807"/>
              <a:ext cx="396262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2800" b="0" cap="none" spc="0" dirty="0" smtClean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</a:t>
              </a:r>
              <a:r>
                <a:rPr lang="en-US" altLang="zh-TW" sz="2800" b="0" cap="none" spc="0" baseline="-25000" dirty="0" smtClean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</a:t>
              </a:r>
              <a:endParaRPr lang="zh-TW" altLang="en-US" sz="2800" b="0" cap="none" spc="0" baseline="-250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5924108" y="1825807"/>
              <a:ext cx="396263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2800" b="0" cap="none" spc="0" dirty="0" smtClean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</a:t>
              </a:r>
              <a:r>
                <a:rPr lang="en-US" altLang="zh-TW" sz="2800" baseline="-25000" dirty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4</a:t>
              </a:r>
              <a:endParaRPr lang="zh-TW" altLang="en-US" sz="2800" b="0" cap="none" spc="0" baseline="-250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6556965" y="1825807"/>
              <a:ext cx="396263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2800" b="0" cap="none" spc="0" dirty="0" smtClean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</a:t>
              </a:r>
              <a:r>
                <a:rPr lang="en-US" altLang="zh-TW" sz="2800" baseline="-25000" dirty="0" smtClean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5</a:t>
              </a:r>
              <a:endParaRPr lang="zh-TW" altLang="en-US" sz="2800" b="0" cap="none" spc="0" baseline="-250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8" name="流程圖: 接點 17"/>
            <p:cNvSpPr>
              <a:spLocks noChangeAspect="1"/>
            </p:cNvSpPr>
            <p:nvPr/>
          </p:nvSpPr>
          <p:spPr>
            <a:xfrm>
              <a:off x="6628166" y="2796443"/>
              <a:ext cx="126930" cy="126713"/>
            </a:xfrm>
            <a:prstGeom prst="flowChartConnector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流程圖: 接點 18"/>
            <p:cNvSpPr>
              <a:spLocks noChangeAspect="1"/>
            </p:cNvSpPr>
            <p:nvPr/>
          </p:nvSpPr>
          <p:spPr>
            <a:xfrm>
              <a:off x="5995309" y="2807416"/>
              <a:ext cx="126930" cy="126713"/>
            </a:xfrm>
            <a:prstGeom prst="flowChartConnector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流程圖: 接點 19"/>
            <p:cNvSpPr>
              <a:spLocks noChangeAspect="1"/>
            </p:cNvSpPr>
            <p:nvPr/>
          </p:nvSpPr>
          <p:spPr>
            <a:xfrm>
              <a:off x="4612484" y="2807416"/>
              <a:ext cx="126930" cy="126713"/>
            </a:xfrm>
            <a:prstGeom prst="flowChartConnector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流程圖: 接點 20"/>
            <p:cNvSpPr>
              <a:spLocks noChangeAspect="1"/>
            </p:cNvSpPr>
            <p:nvPr/>
          </p:nvSpPr>
          <p:spPr>
            <a:xfrm>
              <a:off x="4610844" y="4364181"/>
              <a:ext cx="126930" cy="126713"/>
            </a:xfrm>
            <a:prstGeom prst="flowChartConnector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流程圖: 接點 21"/>
            <p:cNvSpPr>
              <a:spLocks noChangeAspect="1"/>
            </p:cNvSpPr>
            <p:nvPr/>
          </p:nvSpPr>
          <p:spPr>
            <a:xfrm>
              <a:off x="4610844" y="3607415"/>
              <a:ext cx="126930" cy="126713"/>
            </a:xfrm>
            <a:prstGeom prst="flowChartConnector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流程圖: 接點 22"/>
            <p:cNvSpPr>
              <a:spLocks noChangeAspect="1"/>
            </p:cNvSpPr>
            <p:nvPr/>
          </p:nvSpPr>
          <p:spPr>
            <a:xfrm>
              <a:off x="5294528" y="2796444"/>
              <a:ext cx="126930" cy="126713"/>
            </a:xfrm>
            <a:prstGeom prst="flowChartConnector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6" name="矩形 25"/>
          <p:cNvSpPr/>
          <p:nvPr/>
        </p:nvSpPr>
        <p:spPr>
          <a:xfrm>
            <a:off x="1307056" y="983300"/>
            <a:ext cx="31093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dirty="0" err="1" smtClean="0">
                <a:ln w="0"/>
                <a:latin typeface="+mj-lt"/>
              </a:rPr>
              <a:t>BlockTable</a:t>
            </a:r>
            <a:r>
              <a:rPr lang="en-US" altLang="zh-TW" sz="3600" dirty="0" smtClean="0">
                <a:ln w="0"/>
                <a:latin typeface="+mj-lt"/>
              </a:rPr>
              <a:t>(</a:t>
            </a:r>
            <a:r>
              <a:rPr lang="en-US" altLang="zh-TW" sz="3600" dirty="0">
                <a:ln w="0"/>
                <a:latin typeface="+mj-lt"/>
              </a:rPr>
              <a:t>5</a:t>
            </a:r>
            <a:r>
              <a:rPr lang="en-US" altLang="zh-TW" sz="3600" dirty="0" smtClean="0">
                <a:ln w="0"/>
                <a:latin typeface="+mj-lt"/>
              </a:rPr>
              <a:t>, 4)</a:t>
            </a:r>
            <a:endParaRPr lang="zh-TW" altLang="en-US" sz="36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1670686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/>
          <p:cNvGrpSpPr/>
          <p:nvPr/>
        </p:nvGrpSpPr>
        <p:grpSpPr>
          <a:xfrm>
            <a:off x="4646792" y="1576592"/>
            <a:ext cx="2825741" cy="3287505"/>
            <a:chOff x="3667737" y="1825807"/>
            <a:chExt cx="2825741" cy="3287505"/>
          </a:xfrm>
        </p:grpSpPr>
        <p:pic>
          <p:nvPicPr>
            <p:cNvPr id="3" name="圖片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3667737" y="2364695"/>
              <a:ext cx="2825741" cy="2738866"/>
            </a:xfrm>
            <a:prstGeom prst="rect">
              <a:avLst/>
            </a:prstGeom>
          </p:spPr>
        </p:pic>
        <p:sp>
          <p:nvSpPr>
            <p:cNvPr id="8" name="五角星形 7"/>
            <p:cNvSpPr>
              <a:spLocks noChangeAspect="1"/>
            </p:cNvSpPr>
            <p:nvPr/>
          </p:nvSpPr>
          <p:spPr>
            <a:xfrm>
              <a:off x="5743849" y="4158441"/>
              <a:ext cx="502919" cy="411480"/>
            </a:xfrm>
            <a:prstGeom prst="star5">
              <a:avLst/>
            </a:prstGeom>
            <a:solidFill>
              <a:srgbClr val="FF00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3667737" y="4102571"/>
              <a:ext cx="396262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2800" b="0" cap="none" spc="0" dirty="0" smtClean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</a:t>
              </a:r>
              <a:r>
                <a:rPr lang="en-US" altLang="zh-TW" sz="2800" b="0" cap="none" spc="0" baseline="-25000" dirty="0" smtClean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zh-TW" altLang="en-US" sz="2800" b="0" cap="none" spc="0" baseline="-250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667737" y="3368280"/>
              <a:ext cx="396262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2800" b="0" cap="none" spc="0" dirty="0" smtClean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</a:t>
              </a:r>
              <a:r>
                <a:rPr lang="en-US" altLang="zh-TW" sz="2800" b="0" cap="none" spc="0" baseline="-25000" dirty="0" smtClean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zh-TW" altLang="en-US" sz="2800" b="0" cap="none" spc="0" baseline="-250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512865" y="1825807"/>
              <a:ext cx="396262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2800" b="0" cap="none" spc="0" dirty="0" smtClean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</a:t>
              </a:r>
              <a:r>
                <a:rPr lang="en-US" altLang="zh-TW" sz="2800" b="0" cap="none" spc="0" baseline="-25000" dirty="0" smtClean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  <a:endParaRPr lang="zh-TW" altLang="en-US" sz="2800" b="0" cap="none" spc="0" baseline="-250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5159862" y="1825807"/>
              <a:ext cx="396262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2800" b="0" cap="none" spc="0" dirty="0" smtClean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</a:t>
              </a:r>
              <a:r>
                <a:rPr lang="en-US" altLang="zh-TW" sz="2800" b="0" cap="none" spc="0" baseline="-25000" dirty="0" smtClean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</a:t>
              </a:r>
              <a:endParaRPr lang="zh-TW" altLang="en-US" sz="2800" b="0" cap="none" spc="0" baseline="-250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5924108" y="1825807"/>
              <a:ext cx="396263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2800" b="0" cap="none" spc="0" dirty="0" smtClean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</a:t>
              </a:r>
              <a:r>
                <a:rPr lang="en-US" altLang="zh-TW" sz="2800" baseline="-25000" dirty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4</a:t>
              </a:r>
              <a:endParaRPr lang="zh-TW" altLang="en-US" sz="2800" b="0" cap="none" spc="0" baseline="-250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9" name="流程圖: 接點 18"/>
            <p:cNvSpPr>
              <a:spLocks noChangeAspect="1"/>
            </p:cNvSpPr>
            <p:nvPr/>
          </p:nvSpPr>
          <p:spPr>
            <a:xfrm>
              <a:off x="5995309" y="2807416"/>
              <a:ext cx="126930" cy="126713"/>
            </a:xfrm>
            <a:prstGeom prst="flowChartConnector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流程圖: 接點 19"/>
            <p:cNvSpPr>
              <a:spLocks noChangeAspect="1"/>
            </p:cNvSpPr>
            <p:nvPr/>
          </p:nvSpPr>
          <p:spPr>
            <a:xfrm>
              <a:off x="4612484" y="2807416"/>
              <a:ext cx="126930" cy="126713"/>
            </a:xfrm>
            <a:prstGeom prst="flowChartConnector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流程圖: 接點 20"/>
            <p:cNvSpPr>
              <a:spLocks noChangeAspect="1"/>
            </p:cNvSpPr>
            <p:nvPr/>
          </p:nvSpPr>
          <p:spPr>
            <a:xfrm>
              <a:off x="4610844" y="4364181"/>
              <a:ext cx="126930" cy="126713"/>
            </a:xfrm>
            <a:prstGeom prst="flowChartConnector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流程圖: 接點 21"/>
            <p:cNvSpPr>
              <a:spLocks noChangeAspect="1"/>
            </p:cNvSpPr>
            <p:nvPr/>
          </p:nvSpPr>
          <p:spPr>
            <a:xfrm>
              <a:off x="4610844" y="3607415"/>
              <a:ext cx="126930" cy="126713"/>
            </a:xfrm>
            <a:prstGeom prst="flowChartConnector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流程圖: 接點 22"/>
            <p:cNvSpPr>
              <a:spLocks noChangeAspect="1"/>
            </p:cNvSpPr>
            <p:nvPr/>
          </p:nvSpPr>
          <p:spPr>
            <a:xfrm>
              <a:off x="5294528" y="2796444"/>
              <a:ext cx="126930" cy="126713"/>
            </a:xfrm>
            <a:prstGeom prst="flowChartConnector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5556124" y="4528537"/>
              <a:ext cx="566115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TW" sz="3200" b="1" dirty="0" smtClean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(5</a:t>
              </a:r>
              <a:r>
                <a:rPr lang="en-US" altLang="zh-TW" sz="3200" b="1" cap="none" spc="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,</a:t>
              </a:r>
              <a:endParaRPr lang="zh-TW" altLang="en-US" sz="32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843913268"/>
              </p:ext>
            </p:extLst>
          </p:nvPr>
        </p:nvGraphicFramePr>
        <p:xfrm>
          <a:off x="2055839" y="2553012"/>
          <a:ext cx="668055" cy="41520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8055"/>
              </a:tblGrid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-2</a:t>
                      </a:r>
                      <a:endParaRPr lang="zh-TW" altLang="en-US" sz="3200" b="0" dirty="0"/>
                    </a:p>
                  </a:txBody>
                  <a:tcPr anchor="ctr"/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-2</a:t>
                      </a:r>
                      <a:endParaRPr lang="zh-TW" altLang="en-US" sz="3200" b="0" dirty="0"/>
                    </a:p>
                  </a:txBody>
                  <a:tcPr anchor="ctr"/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0</a:t>
                      </a:r>
                      <a:endParaRPr lang="zh-TW" altLang="en-US" sz="3200" b="0" dirty="0"/>
                    </a:p>
                  </a:txBody>
                  <a:tcPr anchor="ctr"/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-2</a:t>
                      </a:r>
                      <a:endParaRPr lang="zh-TW" altLang="en-US" sz="3200" b="0" dirty="0"/>
                    </a:p>
                  </a:txBody>
                  <a:tcPr anchor="ctr"/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-2</a:t>
                      </a:r>
                      <a:endParaRPr lang="zh-TW" altLang="en-US" sz="3200" b="0" dirty="0"/>
                    </a:p>
                  </a:txBody>
                  <a:tcPr anchor="ctr"/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724334709"/>
              </p:ext>
            </p:extLst>
          </p:nvPr>
        </p:nvGraphicFramePr>
        <p:xfrm>
          <a:off x="1506275" y="2557630"/>
          <a:ext cx="668055" cy="41520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8055"/>
              </a:tblGrid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zh-TW" altLang="en-US" sz="2000" b="0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  <a:endParaRPr lang="zh-TW" altLang="en-US" sz="2000" b="0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accent5"/>
                          </a:solidFill>
                        </a:rPr>
                        <a:t>2</a:t>
                      </a:r>
                      <a:endParaRPr lang="zh-TW" altLang="en-US" sz="2000" b="0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accent5"/>
                          </a:solidFill>
                        </a:rPr>
                        <a:t>3</a:t>
                      </a:r>
                      <a:endParaRPr lang="zh-TW" altLang="en-US" sz="2000" b="0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accent5"/>
                          </a:solidFill>
                        </a:rPr>
                        <a:t>4</a:t>
                      </a:r>
                      <a:endParaRPr lang="zh-TW" altLang="en-US" sz="2000" b="0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27" name="矩形 26"/>
          <p:cNvSpPr/>
          <p:nvPr/>
        </p:nvSpPr>
        <p:spPr>
          <a:xfrm>
            <a:off x="904192" y="1702696"/>
            <a:ext cx="310931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dirty="0" err="1" smtClean="0">
                <a:ln w="0"/>
                <a:latin typeface="+mj-lt"/>
              </a:rPr>
              <a:t>BlockTable</a:t>
            </a:r>
            <a:r>
              <a:rPr lang="en-US" altLang="zh-TW" sz="3600" dirty="0">
                <a:ln w="0"/>
                <a:latin typeface="+mj-lt"/>
              </a:rPr>
              <a:t>(</a:t>
            </a:r>
            <a:r>
              <a:rPr lang="en-US" altLang="zh-TW" sz="3600" dirty="0" smtClean="0">
                <a:ln w="0"/>
                <a:latin typeface="+mj-lt"/>
              </a:rPr>
              <a:t>5, 2)</a:t>
            </a:r>
            <a:endParaRPr lang="zh-TW" altLang="en-US" sz="36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2116194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592960271"/>
              </p:ext>
            </p:extLst>
          </p:nvPr>
        </p:nvGraphicFramePr>
        <p:xfrm>
          <a:off x="2055839" y="2553012"/>
          <a:ext cx="668055" cy="41520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8055"/>
              </a:tblGrid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-3</a:t>
                      </a:r>
                      <a:endParaRPr lang="zh-TW" altLang="en-US" sz="3200" b="0" dirty="0"/>
                    </a:p>
                  </a:txBody>
                  <a:tcPr anchor="ctr"/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-1</a:t>
                      </a:r>
                      <a:endParaRPr lang="zh-TW" altLang="en-US" sz="3200" b="0" dirty="0"/>
                    </a:p>
                  </a:txBody>
                  <a:tcPr anchor="ctr"/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-2</a:t>
                      </a:r>
                      <a:endParaRPr lang="zh-TW" altLang="en-US" sz="3200" b="0" dirty="0"/>
                    </a:p>
                  </a:txBody>
                  <a:tcPr anchor="ctr"/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-1</a:t>
                      </a:r>
                      <a:endParaRPr lang="zh-TW" altLang="en-US" sz="3200" b="0" dirty="0"/>
                    </a:p>
                  </a:txBody>
                  <a:tcPr anchor="ctr"/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/>
                        <a:t>-1</a:t>
                      </a:r>
                      <a:endParaRPr lang="zh-TW" altLang="en-US" sz="3200" b="0" dirty="0"/>
                    </a:p>
                  </a:txBody>
                  <a:tcPr anchor="ctr"/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endParaRPr lang="zh-TW" altLang="en-US" sz="32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7" name="群組 6"/>
          <p:cNvGrpSpPr/>
          <p:nvPr/>
        </p:nvGrpSpPr>
        <p:grpSpPr>
          <a:xfrm>
            <a:off x="3917119" y="1465589"/>
            <a:ext cx="3354527" cy="3507191"/>
            <a:chOff x="3667737" y="1825807"/>
            <a:chExt cx="3354527" cy="3507191"/>
          </a:xfrm>
        </p:grpSpPr>
        <p:pic>
          <p:nvPicPr>
            <p:cNvPr id="3" name="圖片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4089986" y="2269950"/>
              <a:ext cx="2932278" cy="3063048"/>
            </a:xfrm>
            <a:prstGeom prst="rect">
              <a:avLst/>
            </a:prstGeom>
          </p:spPr>
        </p:pic>
        <p:sp>
          <p:nvSpPr>
            <p:cNvPr id="8" name="五角星形 7"/>
            <p:cNvSpPr>
              <a:spLocks noChangeAspect="1"/>
            </p:cNvSpPr>
            <p:nvPr/>
          </p:nvSpPr>
          <p:spPr>
            <a:xfrm>
              <a:off x="6450309" y="3465031"/>
              <a:ext cx="502919" cy="411480"/>
            </a:xfrm>
            <a:prstGeom prst="star5">
              <a:avLst/>
            </a:prstGeom>
            <a:solidFill>
              <a:srgbClr val="FF00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3667737" y="3368280"/>
              <a:ext cx="396263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2800" b="0" cap="none" spc="0" dirty="0" smtClean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</a:t>
              </a:r>
              <a:r>
                <a:rPr lang="en-US" altLang="zh-TW" sz="2800" baseline="-25000" dirty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</a:t>
              </a:r>
              <a:endParaRPr lang="zh-TW" altLang="en-US" sz="2800" b="0" cap="none" spc="0" baseline="-250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512865" y="1825807"/>
              <a:ext cx="396262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2800" b="0" cap="none" spc="0" dirty="0" smtClean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</a:t>
              </a:r>
              <a:r>
                <a:rPr lang="en-US" altLang="zh-TW" sz="2800" b="0" cap="none" spc="0" baseline="-25000" dirty="0" smtClean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zh-TW" altLang="en-US" sz="2800" b="0" cap="none" spc="0" baseline="-250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5159862" y="1825807"/>
              <a:ext cx="396263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2800" b="0" cap="none" spc="0" dirty="0" smtClean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</a:t>
              </a:r>
              <a:r>
                <a:rPr lang="en-US" altLang="zh-TW" sz="2800" baseline="-25000" dirty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  <a:endParaRPr lang="zh-TW" altLang="en-US" sz="2800" b="0" cap="none" spc="0" baseline="-250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5924109" y="1825807"/>
              <a:ext cx="396262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2800" b="0" cap="none" spc="0" dirty="0" smtClean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</a:t>
              </a:r>
              <a:r>
                <a:rPr lang="en-US" altLang="zh-TW" sz="2800" baseline="-25000" dirty="0" smtClean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</a:t>
              </a:r>
              <a:endParaRPr lang="zh-TW" altLang="en-US" sz="2800" b="0" cap="none" spc="0" baseline="-250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6556965" y="1825807"/>
              <a:ext cx="396263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2800" b="0" cap="none" spc="0" dirty="0" smtClean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</a:t>
              </a:r>
              <a:r>
                <a:rPr lang="en-US" altLang="zh-TW" sz="2800" baseline="-25000" dirty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4</a:t>
              </a:r>
              <a:endParaRPr lang="zh-TW" altLang="en-US" sz="2800" b="0" cap="none" spc="0" baseline="-250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8" name="流程圖: 接點 17"/>
            <p:cNvSpPr>
              <a:spLocks noChangeAspect="1"/>
            </p:cNvSpPr>
            <p:nvPr/>
          </p:nvSpPr>
          <p:spPr>
            <a:xfrm>
              <a:off x="6628166" y="2796443"/>
              <a:ext cx="126930" cy="126713"/>
            </a:xfrm>
            <a:prstGeom prst="flowChartConnector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流程圖: 接點 18"/>
            <p:cNvSpPr>
              <a:spLocks noChangeAspect="1"/>
            </p:cNvSpPr>
            <p:nvPr/>
          </p:nvSpPr>
          <p:spPr>
            <a:xfrm>
              <a:off x="5995309" y="2807416"/>
              <a:ext cx="126930" cy="126713"/>
            </a:xfrm>
            <a:prstGeom prst="flowChartConnector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流程圖: 接點 19"/>
            <p:cNvSpPr>
              <a:spLocks noChangeAspect="1"/>
            </p:cNvSpPr>
            <p:nvPr/>
          </p:nvSpPr>
          <p:spPr>
            <a:xfrm>
              <a:off x="4612484" y="2807416"/>
              <a:ext cx="126930" cy="126713"/>
            </a:xfrm>
            <a:prstGeom prst="flowChartConnector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流程圖: 接點 21"/>
            <p:cNvSpPr>
              <a:spLocks noChangeAspect="1"/>
            </p:cNvSpPr>
            <p:nvPr/>
          </p:nvSpPr>
          <p:spPr>
            <a:xfrm>
              <a:off x="4610844" y="3607415"/>
              <a:ext cx="126930" cy="126713"/>
            </a:xfrm>
            <a:prstGeom prst="flowChartConnector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流程圖: 接點 22"/>
            <p:cNvSpPr>
              <a:spLocks noChangeAspect="1"/>
            </p:cNvSpPr>
            <p:nvPr/>
          </p:nvSpPr>
          <p:spPr>
            <a:xfrm>
              <a:off x="5294528" y="2796444"/>
              <a:ext cx="126930" cy="126713"/>
            </a:xfrm>
            <a:prstGeom prst="flowChartConnector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aphicFrame>
        <p:nvGraphicFramePr>
          <p:cNvPr id="24" name="表格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61242747"/>
              </p:ext>
            </p:extLst>
          </p:nvPr>
        </p:nvGraphicFramePr>
        <p:xfrm>
          <a:off x="1506275" y="2557630"/>
          <a:ext cx="668055" cy="41520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8055"/>
              </a:tblGrid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accent5"/>
                          </a:solidFill>
                        </a:rPr>
                        <a:t>0</a:t>
                      </a:r>
                      <a:endParaRPr lang="zh-TW" altLang="en-US" sz="2000" b="0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accent5"/>
                          </a:solidFill>
                        </a:rPr>
                        <a:t>1</a:t>
                      </a:r>
                      <a:endParaRPr lang="zh-TW" altLang="en-US" sz="2000" b="0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accent5"/>
                          </a:solidFill>
                        </a:rPr>
                        <a:t>2</a:t>
                      </a:r>
                      <a:endParaRPr lang="zh-TW" altLang="en-US" sz="2000" b="0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accent5"/>
                          </a:solidFill>
                        </a:rPr>
                        <a:t>3</a:t>
                      </a:r>
                      <a:endParaRPr lang="zh-TW" altLang="en-US" sz="2000" b="0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>
                          <a:solidFill>
                            <a:schemeClr val="accent5"/>
                          </a:solidFill>
                        </a:rPr>
                        <a:t>4</a:t>
                      </a:r>
                      <a:endParaRPr lang="zh-TW" altLang="en-US" sz="2000" b="0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92005">
                <a:tc>
                  <a:txBody>
                    <a:bodyPr/>
                    <a:lstStyle/>
                    <a:p>
                      <a:pPr algn="ctr"/>
                      <a:endParaRPr lang="zh-TW" altLang="en-US" sz="2000" b="0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904192" y="1702696"/>
            <a:ext cx="31093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dirty="0" err="1" smtClean="0">
                <a:ln w="0"/>
                <a:latin typeface="+mj-lt"/>
              </a:rPr>
              <a:t>BlockTable</a:t>
            </a:r>
            <a:r>
              <a:rPr lang="en-US" altLang="zh-TW" sz="3600" dirty="0">
                <a:ln w="0"/>
                <a:latin typeface="+mj-lt"/>
              </a:rPr>
              <a:t>(</a:t>
            </a:r>
            <a:r>
              <a:rPr lang="en-US" altLang="zh-TW" sz="3600" dirty="0" smtClean="0">
                <a:ln w="0"/>
                <a:latin typeface="+mj-lt"/>
              </a:rPr>
              <a:t>3, 4)</a:t>
            </a:r>
            <a:endParaRPr lang="zh-TW" altLang="en-US" sz="36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8594065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74032" y="346443"/>
            <a:ext cx="7795936" cy="616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4647634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>
            <a:off x="952186" y="883699"/>
            <a:ext cx="7397488" cy="5090601"/>
            <a:chOff x="952186" y="883699"/>
            <a:chExt cx="7397488" cy="5090601"/>
          </a:xfrm>
        </p:grpSpPr>
        <p:pic>
          <p:nvPicPr>
            <p:cNvPr id="2" name="圖片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952186" y="883699"/>
              <a:ext cx="7239627" cy="5090601"/>
            </a:xfrm>
            <a:prstGeom prst="rect">
              <a:avLst/>
            </a:prstGeom>
          </p:spPr>
        </p:pic>
        <p:pic>
          <p:nvPicPr>
            <p:cNvPr id="3" name="圖片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5957770" y="4151038"/>
              <a:ext cx="2391904" cy="1823262"/>
            </a:xfrm>
            <a:prstGeom prst="rect">
              <a:avLst/>
            </a:prstGeom>
          </p:spPr>
        </p:pic>
        <p:cxnSp>
          <p:nvCxnSpPr>
            <p:cNvPr id="7" name="直線單箭頭接點 6"/>
            <p:cNvCxnSpPr/>
            <p:nvPr/>
          </p:nvCxnSpPr>
          <p:spPr>
            <a:xfrm flipV="1">
              <a:off x="7028873" y="3611418"/>
              <a:ext cx="0" cy="378691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矩形 3"/>
          <p:cNvSpPr/>
          <p:nvPr/>
        </p:nvSpPr>
        <p:spPr>
          <a:xfrm>
            <a:off x="2938949" y="2981182"/>
            <a:ext cx="52289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╳</a:t>
            </a:r>
            <a:endParaRPr lang="zh-TW" altLang="en-US" sz="4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04698181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052290" y="3795108"/>
            <a:ext cx="2548921" cy="1942951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59708" y="1150093"/>
            <a:ext cx="1681019" cy="1824017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904510" y="1018477"/>
            <a:ext cx="1998137" cy="2087247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773382" y="3795108"/>
            <a:ext cx="2096655" cy="2032195"/>
          </a:xfrm>
          <a:prstGeom prst="rect">
            <a:avLst/>
          </a:prstGeom>
        </p:spPr>
      </p:pic>
      <p:sp>
        <p:nvSpPr>
          <p:cNvPr id="15" name="流程圖: 接點 14"/>
          <p:cNvSpPr>
            <a:spLocks noChangeAspect="1"/>
          </p:cNvSpPr>
          <p:nvPr/>
        </p:nvSpPr>
        <p:spPr>
          <a:xfrm>
            <a:off x="3237493" y="1947008"/>
            <a:ext cx="126930" cy="126713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流程圖: 接點 20"/>
          <p:cNvSpPr>
            <a:spLocks noChangeAspect="1"/>
          </p:cNvSpPr>
          <p:nvPr/>
        </p:nvSpPr>
        <p:spPr>
          <a:xfrm>
            <a:off x="3434503" y="5192540"/>
            <a:ext cx="126930" cy="126713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流程圖: 接點 24"/>
          <p:cNvSpPr>
            <a:spLocks noChangeAspect="1"/>
          </p:cNvSpPr>
          <p:nvPr/>
        </p:nvSpPr>
        <p:spPr>
          <a:xfrm>
            <a:off x="6297442" y="4688980"/>
            <a:ext cx="113857" cy="113662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流程圖: 接點 25"/>
          <p:cNvSpPr>
            <a:spLocks noChangeAspect="1"/>
          </p:cNvSpPr>
          <p:nvPr/>
        </p:nvSpPr>
        <p:spPr>
          <a:xfrm>
            <a:off x="6297442" y="5144701"/>
            <a:ext cx="113857" cy="113662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流程圖: 接點 26"/>
          <p:cNvSpPr>
            <a:spLocks noChangeAspect="1"/>
          </p:cNvSpPr>
          <p:nvPr/>
        </p:nvSpPr>
        <p:spPr>
          <a:xfrm>
            <a:off x="6732581" y="4687498"/>
            <a:ext cx="113857" cy="113662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流程圖: 接點 36"/>
          <p:cNvSpPr>
            <a:spLocks noChangeAspect="1"/>
          </p:cNvSpPr>
          <p:nvPr/>
        </p:nvSpPr>
        <p:spPr>
          <a:xfrm>
            <a:off x="6703880" y="5088085"/>
            <a:ext cx="181510" cy="181200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流程圖: 接點 37"/>
          <p:cNvSpPr>
            <a:spLocks noChangeAspect="1"/>
          </p:cNvSpPr>
          <p:nvPr/>
        </p:nvSpPr>
        <p:spPr>
          <a:xfrm>
            <a:off x="6631853" y="1933152"/>
            <a:ext cx="126930" cy="126713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/>
          <p:cNvSpPr/>
          <p:nvPr/>
        </p:nvSpPr>
        <p:spPr>
          <a:xfrm>
            <a:off x="4569918" y="1671542"/>
            <a:ext cx="39626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800" b="0" cap="none" spc="0" dirty="0" smtClean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altLang="zh-TW" sz="2800" b="0" cap="none" spc="0" baseline="-25000" dirty="0" smtClean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zh-TW" altLang="en-US" sz="2800" b="0" cap="none" spc="0" baseline="-25000" dirty="0">
              <a:ln w="0"/>
              <a:solidFill>
                <a:schemeClr val="accent5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4656028" y="4855169"/>
            <a:ext cx="39626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800" b="0" cap="none" spc="0" dirty="0" smtClean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altLang="zh-TW" sz="2800" b="0" cap="none" spc="0" baseline="-25000" dirty="0" smtClean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zh-TW" altLang="en-US" sz="2800" b="0" cap="none" spc="0" baseline="-25000" dirty="0">
              <a:ln w="0"/>
              <a:solidFill>
                <a:schemeClr val="accent5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656025" y="4328705"/>
            <a:ext cx="39626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800" b="0" cap="none" spc="0" dirty="0" smtClean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altLang="zh-TW" sz="2800" b="0" cap="none" spc="0" baseline="-25000" dirty="0" smtClean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endParaRPr lang="zh-TW" altLang="en-US" sz="2800" b="0" cap="none" spc="0" baseline="-25000" dirty="0">
              <a:ln w="0"/>
              <a:solidFill>
                <a:schemeClr val="accent5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194973621"/>
              </p:ext>
            </p:extLst>
          </p:nvPr>
        </p:nvGraphicFramePr>
        <p:xfrm>
          <a:off x="7850909" y="3611420"/>
          <a:ext cx="489528" cy="2410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9528"/>
              </a:tblGrid>
              <a:tr h="4017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-3</a:t>
                      </a:r>
                      <a:endParaRPr lang="zh-TW" altLang="en-US" sz="1600" b="0" dirty="0"/>
                    </a:p>
                  </a:txBody>
                  <a:tcPr anchor="ctr"/>
                </a:tc>
              </a:tr>
              <a:tr h="4017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-1</a:t>
                      </a:r>
                      <a:endParaRPr lang="zh-TW" altLang="en-US" sz="1600" b="0" dirty="0"/>
                    </a:p>
                  </a:txBody>
                  <a:tcPr anchor="ctr"/>
                </a:tc>
              </a:tr>
              <a:tr h="4017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1</a:t>
                      </a:r>
                      <a:endParaRPr lang="zh-TW" altLang="en-US" sz="1600" b="0" dirty="0"/>
                    </a:p>
                  </a:txBody>
                  <a:tcPr anchor="ctr"/>
                </a:tc>
              </a:tr>
              <a:tr h="4017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0</a:t>
                      </a:r>
                      <a:endParaRPr lang="zh-TW" altLang="en-US" sz="1600" b="0" dirty="0"/>
                    </a:p>
                  </a:txBody>
                  <a:tcPr anchor="ctr"/>
                </a:tc>
              </a:tr>
              <a:tr h="4017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0</a:t>
                      </a:r>
                      <a:endParaRPr lang="zh-TW" altLang="en-US" sz="1600" b="0" dirty="0"/>
                    </a:p>
                  </a:txBody>
                  <a:tcPr anchor="ctr"/>
                </a:tc>
              </a:tr>
              <a:tr h="4017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-2</a:t>
                      </a:r>
                      <a:endParaRPr lang="zh-TW" altLang="en-US" sz="1600" b="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793948648"/>
              </p:ext>
            </p:extLst>
          </p:nvPr>
        </p:nvGraphicFramePr>
        <p:xfrm>
          <a:off x="7024254" y="695032"/>
          <a:ext cx="489528" cy="2410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9528"/>
              </a:tblGrid>
              <a:tr h="4017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-3</a:t>
                      </a:r>
                      <a:endParaRPr lang="zh-TW" altLang="en-US" sz="1600" b="0" dirty="0"/>
                    </a:p>
                  </a:txBody>
                  <a:tcPr anchor="ctr"/>
                </a:tc>
              </a:tr>
              <a:tr h="4017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-1</a:t>
                      </a:r>
                      <a:endParaRPr lang="zh-TW" altLang="en-US" sz="1600" b="0" dirty="0"/>
                    </a:p>
                  </a:txBody>
                  <a:tcPr anchor="ctr"/>
                </a:tc>
              </a:tr>
              <a:tr h="4017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-2</a:t>
                      </a:r>
                      <a:endParaRPr lang="zh-TW" altLang="en-US" sz="1600" b="0" dirty="0"/>
                    </a:p>
                  </a:txBody>
                  <a:tcPr anchor="ctr"/>
                </a:tc>
              </a:tr>
              <a:tr h="4017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-1</a:t>
                      </a:r>
                      <a:endParaRPr lang="zh-TW" altLang="en-US" sz="1600" b="0" dirty="0"/>
                    </a:p>
                  </a:txBody>
                  <a:tcPr anchor="ctr"/>
                </a:tc>
              </a:tr>
              <a:tr h="4017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-1</a:t>
                      </a:r>
                      <a:endParaRPr lang="zh-TW" altLang="en-US" sz="1600" b="0" dirty="0"/>
                    </a:p>
                  </a:txBody>
                  <a:tcPr anchor="ctr"/>
                </a:tc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zh-TW" altLang="en-US" sz="16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88601459"/>
              </p:ext>
            </p:extLst>
          </p:nvPr>
        </p:nvGraphicFramePr>
        <p:xfrm>
          <a:off x="1353127" y="727806"/>
          <a:ext cx="489528" cy="2410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9528"/>
              </a:tblGrid>
              <a:tr h="4017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-2</a:t>
                      </a:r>
                      <a:endParaRPr lang="zh-TW" altLang="en-US" sz="1600" b="0" dirty="0"/>
                    </a:p>
                  </a:txBody>
                  <a:tcPr anchor="ctr"/>
                </a:tc>
              </a:tr>
              <a:tr h="4017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0</a:t>
                      </a:r>
                      <a:endParaRPr lang="zh-TW" altLang="en-US" sz="1600" b="0" dirty="0"/>
                    </a:p>
                  </a:txBody>
                  <a:tcPr anchor="ctr"/>
                </a:tc>
              </a:tr>
              <a:tr h="4017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-1</a:t>
                      </a:r>
                      <a:endParaRPr lang="zh-TW" altLang="en-US" sz="1600" b="0" dirty="0"/>
                    </a:p>
                  </a:txBody>
                  <a:tcPr anchor="ctr"/>
                </a:tc>
              </a:tr>
              <a:tr h="4017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-1</a:t>
                      </a:r>
                      <a:endParaRPr lang="zh-TW" altLang="en-US" sz="1600" b="0" dirty="0"/>
                    </a:p>
                  </a:txBody>
                  <a:tcPr anchor="ctr"/>
                </a:tc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zh-TW" altLang="en-US" sz="16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zh-TW" altLang="en-US" sz="16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170062747"/>
              </p:ext>
            </p:extLst>
          </p:nvPr>
        </p:nvGraphicFramePr>
        <p:xfrm>
          <a:off x="1043709" y="3595814"/>
          <a:ext cx="489528" cy="2410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9528"/>
              </a:tblGrid>
              <a:tr h="4017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-2</a:t>
                      </a:r>
                      <a:endParaRPr lang="zh-TW" altLang="en-US" sz="1600" b="0" dirty="0"/>
                    </a:p>
                  </a:txBody>
                  <a:tcPr anchor="ctr"/>
                </a:tc>
              </a:tr>
              <a:tr h="4017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-2</a:t>
                      </a:r>
                      <a:endParaRPr lang="zh-TW" altLang="en-US" sz="1600" b="0" dirty="0"/>
                    </a:p>
                  </a:txBody>
                  <a:tcPr anchor="ctr"/>
                </a:tc>
              </a:tr>
              <a:tr h="4017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0</a:t>
                      </a:r>
                      <a:endParaRPr lang="zh-TW" altLang="en-US" sz="1600" b="0" dirty="0"/>
                    </a:p>
                  </a:txBody>
                  <a:tcPr anchor="ctr"/>
                </a:tc>
              </a:tr>
              <a:tr h="4017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-2</a:t>
                      </a:r>
                      <a:endParaRPr lang="zh-TW" altLang="en-US" sz="1600" b="0" dirty="0"/>
                    </a:p>
                  </a:txBody>
                  <a:tcPr anchor="ctr"/>
                </a:tc>
              </a:tr>
              <a:tr h="4017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-2</a:t>
                      </a:r>
                      <a:endParaRPr lang="zh-TW" altLang="en-US" sz="1600" b="0" dirty="0"/>
                    </a:p>
                  </a:txBody>
                  <a:tcPr anchor="ctr"/>
                </a:tc>
              </a:tr>
              <a:tr h="401782">
                <a:tc>
                  <a:txBody>
                    <a:bodyPr/>
                    <a:lstStyle/>
                    <a:p>
                      <a:pPr algn="ctr"/>
                      <a:endParaRPr lang="zh-TW" altLang="en-US" sz="1600" b="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9723441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57364630"/>
              </p:ext>
            </p:extLst>
          </p:nvPr>
        </p:nvGraphicFramePr>
        <p:xfrm>
          <a:off x="1485896" y="723903"/>
          <a:ext cx="9926496" cy="51999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0812"/>
                <a:gridCol w="1240812"/>
                <a:gridCol w="1240812"/>
                <a:gridCol w="1240812"/>
                <a:gridCol w="1240812"/>
                <a:gridCol w="1240812"/>
                <a:gridCol w="1240812"/>
                <a:gridCol w="1240812"/>
              </a:tblGrid>
              <a:tr h="1338252">
                <a:tc>
                  <a:txBody>
                    <a:bodyPr/>
                    <a:lstStyle/>
                    <a:p>
                      <a:pPr algn="ctr"/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left prefix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diagonal prefix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top prefix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G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436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-2</a:t>
                      </a:r>
                      <a:r>
                        <a:rPr lang="en-US" altLang="zh-TW" sz="2400" dirty="0" smtClean="0">
                          <a:solidFill>
                            <a:schemeClr val="accent5"/>
                          </a:solidFill>
                        </a:rPr>
                        <a:t>-1</a:t>
                      </a:r>
                      <a:endParaRPr lang="zh-TW" altLang="en-US" sz="24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/>
                        <a:t>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/>
                        <a:t>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accent6"/>
                          </a:solidFill>
                        </a:rPr>
                        <a:t>-3</a:t>
                      </a:r>
                      <a:endParaRPr lang="zh-TW" altLang="en-US" sz="24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436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-2</a:t>
                      </a:r>
                      <a:r>
                        <a:rPr lang="en-US" altLang="zh-TW" sz="2400" dirty="0" smtClean="0">
                          <a:solidFill>
                            <a:schemeClr val="accent5"/>
                          </a:solidFill>
                        </a:rPr>
                        <a:t>-1</a:t>
                      </a:r>
                      <a:endParaRPr lang="zh-TW" altLang="en-US" sz="24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-2</a:t>
                      </a:r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+1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-3</a:t>
                      </a:r>
                      <a:r>
                        <a:rPr lang="en-US" altLang="zh-TW" sz="2400" dirty="0" smtClean="0">
                          <a:solidFill>
                            <a:schemeClr val="accent5"/>
                          </a:solidFill>
                        </a:rPr>
                        <a:t>-1</a:t>
                      </a:r>
                      <a:endParaRPr lang="zh-TW" altLang="en-US" sz="24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accent6"/>
                          </a:solidFill>
                        </a:rPr>
                        <a:t>-1</a:t>
                      </a:r>
                      <a:endParaRPr lang="zh-TW" altLang="en-US" sz="24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436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r>
                        <a:rPr lang="en-US" altLang="zh-TW" sz="2400" dirty="0" smtClean="0">
                          <a:solidFill>
                            <a:schemeClr val="accent5"/>
                          </a:solidFill>
                        </a:rPr>
                        <a:t>-1</a:t>
                      </a:r>
                      <a:endParaRPr lang="zh-TW" altLang="en-US" sz="24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+1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-1</a:t>
                      </a:r>
                      <a:r>
                        <a:rPr lang="en-US" altLang="zh-TW" sz="2400" dirty="0" smtClean="0">
                          <a:solidFill>
                            <a:schemeClr val="accent5"/>
                          </a:solidFill>
                        </a:rPr>
                        <a:t>-1</a:t>
                      </a:r>
                      <a:endParaRPr lang="zh-TW" altLang="en-US" sz="24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accent6"/>
                          </a:solidFill>
                        </a:rPr>
                        <a:t>1</a:t>
                      </a:r>
                      <a:endParaRPr lang="zh-TW" altLang="en-US" sz="24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436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-2</a:t>
                      </a:r>
                      <a:r>
                        <a:rPr lang="en-US" altLang="zh-TW" sz="2400" dirty="0" smtClean="0">
                          <a:solidFill>
                            <a:schemeClr val="accent5"/>
                          </a:solidFill>
                        </a:rPr>
                        <a:t>-1</a:t>
                      </a:r>
                      <a:endParaRPr lang="zh-TW" altLang="en-US" sz="24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-1</a:t>
                      </a:r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+1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-2</a:t>
                      </a:r>
                      <a:r>
                        <a:rPr lang="en-US" altLang="zh-TW" sz="2400" dirty="0" smtClean="0">
                          <a:solidFill>
                            <a:schemeClr val="accent5"/>
                          </a:solidFill>
                        </a:rPr>
                        <a:t>-1</a:t>
                      </a:r>
                      <a:endParaRPr lang="zh-TW" altLang="en-US" sz="24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accent6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436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-2</a:t>
                      </a:r>
                      <a:r>
                        <a:rPr lang="en-US" altLang="zh-TW" sz="2400" dirty="0" smtClean="0">
                          <a:solidFill>
                            <a:schemeClr val="accent5"/>
                          </a:solidFill>
                        </a:rPr>
                        <a:t>-1</a:t>
                      </a:r>
                      <a:endParaRPr lang="zh-TW" altLang="en-US" sz="24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-1</a:t>
                      </a:r>
                      <a:r>
                        <a:rPr lang="en-US" altLang="zh-TW" sz="2400" dirty="0" smtClean="0">
                          <a:solidFill>
                            <a:srgbClr val="FF0000"/>
                          </a:solidFill>
                        </a:rPr>
                        <a:t>+1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-1</a:t>
                      </a:r>
                      <a:r>
                        <a:rPr lang="en-US" altLang="zh-TW" sz="2400" dirty="0" smtClean="0">
                          <a:solidFill>
                            <a:schemeClr val="accent5"/>
                          </a:solidFill>
                        </a:rPr>
                        <a:t>-1</a:t>
                      </a:r>
                      <a:endParaRPr lang="zh-TW" altLang="en-US" sz="24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accent6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4362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/>
                        <a:t>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/>
                        <a:t>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-3</a:t>
                      </a:r>
                      <a:r>
                        <a:rPr lang="en-US" altLang="zh-TW" sz="2400" dirty="0" smtClean="0">
                          <a:solidFill>
                            <a:schemeClr val="accent5"/>
                          </a:solidFill>
                        </a:rPr>
                        <a:t>-1</a:t>
                      </a:r>
                      <a:endParaRPr lang="zh-TW" altLang="en-US" sz="2400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solidFill>
                            <a:schemeClr val="accent6"/>
                          </a:solidFill>
                        </a:rPr>
                        <a:t>-2</a:t>
                      </a:r>
                      <a:endParaRPr lang="zh-TW" altLang="en-US" sz="2400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73239311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>
            <a:off x="952186" y="883699"/>
            <a:ext cx="7397488" cy="5090601"/>
            <a:chOff x="952186" y="883699"/>
            <a:chExt cx="7397488" cy="5090601"/>
          </a:xfrm>
        </p:grpSpPr>
        <p:pic>
          <p:nvPicPr>
            <p:cNvPr id="2" name="圖片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952186" y="883699"/>
              <a:ext cx="7239627" cy="5090601"/>
            </a:xfrm>
            <a:prstGeom prst="rect">
              <a:avLst/>
            </a:prstGeom>
          </p:spPr>
        </p:pic>
        <p:pic>
          <p:nvPicPr>
            <p:cNvPr id="3" name="圖片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5957770" y="4151038"/>
              <a:ext cx="2391904" cy="1823262"/>
            </a:xfrm>
            <a:prstGeom prst="rect">
              <a:avLst/>
            </a:prstGeom>
          </p:spPr>
        </p:pic>
        <p:cxnSp>
          <p:nvCxnSpPr>
            <p:cNvPr id="7" name="直線單箭頭接點 6"/>
            <p:cNvCxnSpPr/>
            <p:nvPr/>
          </p:nvCxnSpPr>
          <p:spPr>
            <a:xfrm flipV="1">
              <a:off x="7028873" y="3611418"/>
              <a:ext cx="0" cy="378691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4193654659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568668" y="4923904"/>
            <a:ext cx="811792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200" dirty="0">
                <a:ln w="0"/>
                <a:latin typeface="+mj-lt"/>
              </a:rPr>
              <a:t>O(hn</a:t>
            </a:r>
            <a:r>
              <a:rPr lang="en-US" altLang="zh-TW" sz="3200" baseline="30000" dirty="0">
                <a:ln w="0"/>
                <a:latin typeface="+mj-lt"/>
              </a:rPr>
              <a:t>2</a:t>
            </a:r>
            <a:r>
              <a:rPr lang="en-US" altLang="zh-TW" sz="3200" dirty="0">
                <a:ln w="0"/>
                <a:latin typeface="+mj-lt"/>
              </a:rPr>
              <a:t>/log n) Time and </a:t>
            </a:r>
            <a:r>
              <a:rPr lang="en-US" altLang="zh-TW" sz="3200" dirty="0" smtClean="0">
                <a:ln w="0"/>
                <a:latin typeface="+mj-lt"/>
              </a:rPr>
              <a:t>Space, 0 &lt; h ≦ 1</a:t>
            </a:r>
            <a:endParaRPr lang="zh-TW" altLang="en-US" sz="32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035276148"/>
              </p:ext>
            </p:extLst>
          </p:nvPr>
        </p:nvGraphicFramePr>
        <p:xfrm>
          <a:off x="2318331" y="725504"/>
          <a:ext cx="3860794" cy="3809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8977"/>
                <a:gridCol w="428977"/>
                <a:gridCol w="417278"/>
                <a:gridCol w="440677"/>
                <a:gridCol w="428977"/>
                <a:gridCol w="428977"/>
                <a:gridCol w="428977"/>
                <a:gridCol w="428977"/>
                <a:gridCol w="428977"/>
              </a:tblGrid>
              <a:tr h="410762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345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7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7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7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762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n>
                          <a:solidFill>
                            <a:srgbClr val="FF0000"/>
                          </a:solidFill>
                        </a:ln>
                      </a:endParaRPr>
                    </a:p>
                  </a:txBody>
                  <a:tcPr>
                    <a:lnL w="762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T w="762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762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762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107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762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762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B w="762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762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762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7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107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7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流程圖: 接點 3"/>
          <p:cNvSpPr>
            <a:spLocks noChangeAspect="1"/>
          </p:cNvSpPr>
          <p:nvPr/>
        </p:nvSpPr>
        <p:spPr>
          <a:xfrm>
            <a:off x="3956338" y="3230847"/>
            <a:ext cx="156124" cy="155857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7456758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568668" y="4923904"/>
            <a:ext cx="811792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200" dirty="0">
                <a:ln w="0"/>
                <a:latin typeface="+mj-lt"/>
              </a:rPr>
              <a:t>O(hn</a:t>
            </a:r>
            <a:r>
              <a:rPr lang="en-US" altLang="zh-TW" sz="3200" baseline="30000" dirty="0">
                <a:ln w="0"/>
                <a:latin typeface="+mj-lt"/>
              </a:rPr>
              <a:t>2</a:t>
            </a:r>
            <a:r>
              <a:rPr lang="en-US" altLang="zh-TW" sz="3200" dirty="0">
                <a:ln w="0"/>
                <a:latin typeface="+mj-lt"/>
              </a:rPr>
              <a:t>/log n) Time and </a:t>
            </a:r>
            <a:r>
              <a:rPr lang="en-US" altLang="zh-TW" sz="3200" dirty="0" smtClean="0">
                <a:ln w="0"/>
                <a:latin typeface="+mj-lt"/>
              </a:rPr>
              <a:t>Space, 0 &lt; h ≦ 1</a:t>
            </a:r>
            <a:endParaRPr lang="zh-TW" altLang="en-US" sz="32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264691704"/>
              </p:ext>
            </p:extLst>
          </p:nvPr>
        </p:nvGraphicFramePr>
        <p:xfrm>
          <a:off x="2318331" y="725504"/>
          <a:ext cx="3860794" cy="3809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8977"/>
                <a:gridCol w="428977"/>
                <a:gridCol w="417278"/>
                <a:gridCol w="440677"/>
                <a:gridCol w="428977"/>
                <a:gridCol w="428977"/>
                <a:gridCol w="428977"/>
                <a:gridCol w="428977"/>
                <a:gridCol w="428977"/>
              </a:tblGrid>
              <a:tr h="410762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345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7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7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7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107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7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107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76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50487853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39096" y="335330"/>
            <a:ext cx="4227952" cy="138499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800" dirty="0" smtClean="0">
                <a:ln w="0"/>
              </a:rPr>
              <a:t>O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n the Common </a:t>
            </a:r>
            <a:r>
              <a:rPr lang="en-US" altLang="zh-TW" sz="2800" dirty="0" smtClean="0">
                <a:ln w="0"/>
              </a:rPr>
              <a:t>S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ubstring </a:t>
            </a:r>
          </a:p>
          <a:p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Alignment </a:t>
            </a:r>
            <a:r>
              <a:rPr lang="en-US" altLang="zh-TW" sz="2800" dirty="0" smtClean="0">
                <a:ln w="0"/>
              </a:rPr>
              <a:t>P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roblem, Journal</a:t>
            </a:r>
            <a:endParaRPr lang="en-US" altLang="zh-TW" sz="2800" dirty="0" smtClean="0">
              <a:ln w="0"/>
            </a:endParaRPr>
          </a:p>
          <a:p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of Algorithms, 2001</a:t>
            </a:r>
            <a:endParaRPr lang="zh-TW" altLang="en-US" sz="2800" b="0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82547" y="4247548"/>
            <a:ext cx="8098820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800" dirty="0" smtClean="0">
                <a:ln w="0"/>
              </a:rPr>
              <a:t>A Sub-quadratic Sequence Alignment Algorithm for </a:t>
            </a:r>
          </a:p>
          <a:p>
            <a:r>
              <a:rPr lang="en-US" altLang="zh-TW" sz="2800" dirty="0" smtClean="0">
                <a:ln w="0"/>
              </a:rPr>
              <a:t>Unrestricted Scoring Matrices, SIAM J. COMPUT., 2003</a:t>
            </a:r>
          </a:p>
        </p:txBody>
      </p:sp>
      <p:sp>
        <p:nvSpPr>
          <p:cNvPr id="10" name="矩形 9"/>
          <p:cNvSpPr/>
          <p:nvPr/>
        </p:nvSpPr>
        <p:spPr>
          <a:xfrm>
            <a:off x="829546" y="1630566"/>
            <a:ext cx="965329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3200" b="0" cap="none" spc="0" dirty="0" smtClean="0">
                <a:ln w="0"/>
                <a:solidFill>
                  <a:schemeClr val="bg1">
                    <a:lumMod val="75000"/>
                  </a:schemeClr>
                </a:solidFill>
              </a:rPr>
              <a:t>①</a:t>
            </a:r>
            <a:r>
              <a:rPr lang="zh-TW" altLang="en-US" sz="3600" b="0" cap="none" spc="0" dirty="0" smtClean="0">
                <a:ln w="0"/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TW" sz="6600" b="0" cap="none" spc="0" dirty="0" smtClean="0">
                <a:ln w="0"/>
                <a:solidFill>
                  <a:schemeClr val="bg1">
                    <a:lumMod val="75000"/>
                  </a:schemeClr>
                </a:solidFill>
              </a:rPr>
              <a:t>{</a:t>
            </a:r>
            <a:endParaRPr lang="zh-TW" altLang="en-US" sz="3600" b="0" cap="none" spc="0" dirty="0">
              <a:ln w="0"/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29547" y="2556267"/>
            <a:ext cx="965328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3200" b="0" cap="none" spc="0" dirty="0" smtClean="0">
                <a:ln w="0"/>
                <a:solidFill>
                  <a:schemeClr val="tx1"/>
                </a:solidFill>
              </a:rPr>
              <a:t>②</a:t>
            </a:r>
            <a:r>
              <a:rPr lang="zh-TW" altLang="en-US" sz="3600" b="0" cap="none" spc="0" dirty="0" smtClean="0">
                <a:ln w="0"/>
                <a:solidFill>
                  <a:schemeClr val="tx1"/>
                </a:solidFill>
              </a:rPr>
              <a:t> </a:t>
            </a:r>
            <a:r>
              <a:rPr lang="en-US" altLang="zh-TW" sz="6600" b="0" cap="none" spc="0" dirty="0" smtClean="0">
                <a:ln w="0"/>
                <a:solidFill>
                  <a:schemeClr val="tx1"/>
                </a:solidFill>
              </a:rPr>
              <a:t>{</a:t>
            </a:r>
            <a:endParaRPr lang="zh-TW" altLang="en-US" sz="3600" b="0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852974" y="1307015"/>
            <a:ext cx="2354555" cy="107721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lgDash"/>
          </a:ln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200" b="0" cap="none" spc="0" dirty="0" smtClean="0">
                <a:ln w="0"/>
                <a:solidFill>
                  <a:schemeClr val="tx1"/>
                </a:solidFill>
              </a:rPr>
              <a:t>Lempel–</a:t>
            </a:r>
            <a:r>
              <a:rPr lang="en-US" altLang="zh-TW" sz="3200" b="0" cap="none" spc="0" dirty="0" err="1" smtClean="0">
                <a:ln w="0"/>
                <a:solidFill>
                  <a:schemeClr val="tx1"/>
                </a:solidFill>
              </a:rPr>
              <a:t>Ziv</a:t>
            </a:r>
            <a:endParaRPr lang="en-US" altLang="zh-TW" sz="3200" dirty="0">
              <a:ln w="0"/>
            </a:endParaRPr>
          </a:p>
          <a:p>
            <a:r>
              <a:rPr lang="en-US" altLang="zh-TW" sz="3200" b="0" cap="none" spc="0" dirty="0" smtClean="0">
                <a:ln w="0"/>
                <a:solidFill>
                  <a:schemeClr val="tx1"/>
                </a:solidFill>
              </a:rPr>
              <a:t>Compression</a:t>
            </a:r>
          </a:p>
        </p:txBody>
      </p:sp>
      <p:sp>
        <p:nvSpPr>
          <p:cNvPr id="15" name="矩形 14"/>
          <p:cNvSpPr/>
          <p:nvPr/>
        </p:nvSpPr>
        <p:spPr>
          <a:xfrm>
            <a:off x="582547" y="5223443"/>
            <a:ext cx="8258992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800" b="0" cap="none" spc="0" dirty="0" smtClean="0">
                <a:ln w="0"/>
                <a:solidFill>
                  <a:schemeClr val="bg1">
                    <a:lumMod val="75000"/>
                  </a:schemeClr>
                </a:solidFill>
              </a:rPr>
              <a:t>① + LZ	O(hn</a:t>
            </a:r>
            <a:r>
              <a:rPr lang="en-US" altLang="zh-TW" sz="2800" baseline="30000" dirty="0" smtClean="0">
                <a:ln w="0"/>
                <a:solidFill>
                  <a:schemeClr val="bg1">
                    <a:lumMod val="75000"/>
                  </a:schemeClr>
                </a:solidFill>
              </a:rPr>
              <a:t>2</a:t>
            </a:r>
            <a:r>
              <a:rPr lang="en-US" altLang="zh-TW" sz="2800" b="0" cap="none" spc="0" dirty="0" smtClean="0">
                <a:ln w="0"/>
                <a:solidFill>
                  <a:schemeClr val="bg1">
                    <a:lumMod val="75000"/>
                  </a:schemeClr>
                </a:solidFill>
              </a:rPr>
              <a:t>/log n) </a:t>
            </a:r>
            <a:r>
              <a:rPr lang="en-US" altLang="zh-TW" sz="2800" dirty="0">
                <a:ln w="0"/>
                <a:solidFill>
                  <a:schemeClr val="bg1">
                    <a:lumMod val="75000"/>
                  </a:schemeClr>
                </a:solidFill>
              </a:rPr>
              <a:t>T</a:t>
            </a:r>
            <a:r>
              <a:rPr lang="en-US" altLang="zh-TW" sz="2800" b="0" cap="none" spc="0" dirty="0" smtClean="0">
                <a:ln w="0"/>
                <a:solidFill>
                  <a:schemeClr val="bg1">
                    <a:lumMod val="75000"/>
                  </a:schemeClr>
                </a:solidFill>
              </a:rPr>
              <a:t>ime and Space</a:t>
            </a:r>
          </a:p>
          <a:p>
            <a:r>
              <a:rPr lang="zh-TW" altLang="en-US" sz="2800" b="0" cap="none" spc="0" dirty="0" smtClean="0">
                <a:ln w="0"/>
                <a:solidFill>
                  <a:schemeClr val="tx1"/>
                </a:solidFill>
              </a:rPr>
              <a:t>② 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+ LZ	O(hn</a:t>
            </a:r>
            <a:r>
              <a:rPr lang="en-US" altLang="zh-TW" sz="2800" baseline="30000" dirty="0" smtClean="0">
                <a:ln w="0"/>
              </a:rPr>
              <a:t>2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/log n) </a:t>
            </a:r>
            <a:r>
              <a:rPr lang="en-US" altLang="zh-TW" sz="2800" dirty="0" smtClean="0">
                <a:ln w="0"/>
              </a:rPr>
              <a:t>T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ime, O(h</a:t>
            </a:r>
            <a:r>
              <a:rPr lang="en-US" altLang="zh-TW" sz="2800" b="0" cap="none" spc="0" baseline="30000" dirty="0" smtClean="0">
                <a:ln w="0"/>
                <a:solidFill>
                  <a:schemeClr val="tx1"/>
                </a:solidFill>
              </a:rPr>
              <a:t>2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n</a:t>
            </a:r>
            <a:r>
              <a:rPr lang="en-US" altLang="zh-TW" sz="2800" baseline="30000" dirty="0" smtClean="0">
                <a:ln w="0"/>
              </a:rPr>
              <a:t>2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/(log n)</a:t>
            </a:r>
            <a:r>
              <a:rPr lang="en-US" altLang="zh-TW" sz="2800" b="0" cap="none" spc="0" baseline="30000" dirty="0" smtClean="0">
                <a:ln w="0"/>
                <a:solidFill>
                  <a:schemeClr val="tx1"/>
                </a:solidFill>
              </a:rPr>
              <a:t>2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) Space</a:t>
            </a:r>
          </a:p>
        </p:txBody>
      </p:sp>
      <p:sp>
        <p:nvSpPr>
          <p:cNvPr id="18" name="矩形 17"/>
          <p:cNvSpPr/>
          <p:nvPr/>
        </p:nvSpPr>
        <p:spPr>
          <a:xfrm>
            <a:off x="1740352" y="1756719"/>
            <a:ext cx="2427524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800" dirty="0" smtClean="0">
                <a:ln w="0"/>
                <a:solidFill>
                  <a:schemeClr val="bg1">
                    <a:lumMod val="75000"/>
                  </a:schemeClr>
                </a:solidFill>
              </a:rPr>
              <a:t>E</a:t>
            </a:r>
            <a:r>
              <a:rPr lang="en-US" altLang="zh-TW" sz="2800" b="0" cap="none" spc="0" dirty="0" smtClean="0">
                <a:ln w="0"/>
                <a:solidFill>
                  <a:schemeClr val="bg1">
                    <a:lumMod val="75000"/>
                  </a:schemeClr>
                </a:solidFill>
              </a:rPr>
              <a:t>ncoding O(n</a:t>
            </a:r>
            <a:r>
              <a:rPr lang="en-US" altLang="zh-TW" sz="2800" b="0" cap="none" spc="0" baseline="30000" dirty="0" smtClean="0">
                <a:ln w="0"/>
                <a:solidFill>
                  <a:schemeClr val="bg1">
                    <a:lumMod val="75000"/>
                  </a:schemeClr>
                </a:solidFill>
              </a:rPr>
              <a:t>2</a:t>
            </a:r>
            <a:r>
              <a:rPr lang="en-US" altLang="zh-TW" sz="2800" b="0" cap="none" spc="0" dirty="0" smtClean="0">
                <a:ln w="0"/>
                <a:solidFill>
                  <a:schemeClr val="bg1">
                    <a:lumMod val="75000"/>
                  </a:schemeClr>
                </a:solidFill>
              </a:rPr>
              <a:t>)</a:t>
            </a:r>
          </a:p>
          <a:p>
            <a:r>
              <a:rPr lang="en-US" altLang="zh-TW" sz="2800" dirty="0">
                <a:ln w="0"/>
                <a:solidFill>
                  <a:schemeClr val="bg1">
                    <a:lumMod val="75000"/>
                  </a:schemeClr>
                </a:solidFill>
              </a:rPr>
              <a:t>A</a:t>
            </a:r>
            <a:r>
              <a:rPr lang="en-US" altLang="zh-TW" sz="2800" dirty="0" smtClean="0">
                <a:ln w="0"/>
                <a:solidFill>
                  <a:schemeClr val="bg1">
                    <a:lumMod val="75000"/>
                  </a:schemeClr>
                </a:solidFill>
              </a:rPr>
              <a:t>lignment O(n)</a:t>
            </a:r>
            <a:endParaRPr lang="zh-TW" altLang="en-US" sz="2800" b="0" cap="none" spc="0" dirty="0">
              <a:ln w="0"/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740352" y="2710156"/>
            <a:ext cx="2746521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800" dirty="0">
                <a:ln w="0"/>
              </a:rPr>
              <a:t>E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ncoding O(</a:t>
            </a:r>
            <a:r>
              <a:rPr lang="en-US" altLang="zh-TW" sz="2800" b="0" cap="none" spc="0" dirty="0" err="1" smtClean="0">
                <a:ln w="0"/>
                <a:solidFill>
                  <a:schemeClr val="tx1"/>
                </a:solidFill>
              </a:rPr>
              <a:t>n|Y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|)</a:t>
            </a:r>
          </a:p>
          <a:p>
            <a:r>
              <a:rPr lang="en-US" altLang="zh-TW" sz="2800" dirty="0">
                <a:ln w="0"/>
              </a:rPr>
              <a:t>A</a:t>
            </a:r>
            <a:r>
              <a:rPr lang="en-US" altLang="zh-TW" sz="2800" dirty="0" smtClean="0">
                <a:ln w="0"/>
              </a:rPr>
              <a:t>lignment O(n)</a:t>
            </a:r>
            <a:endParaRPr lang="zh-TW" altLang="en-US" sz="2800" b="0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82547" y="335330"/>
            <a:ext cx="4205763" cy="340092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511277" y="4247548"/>
            <a:ext cx="8170090" cy="204241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1" name="直線單箭頭接點 30"/>
          <p:cNvCxnSpPr>
            <a:stCxn id="35" idx="2"/>
          </p:cNvCxnSpPr>
          <p:nvPr/>
        </p:nvCxnSpPr>
        <p:spPr>
          <a:xfrm flipH="1">
            <a:off x="5264184" y="3283527"/>
            <a:ext cx="1416" cy="964021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弧形 33"/>
          <p:cNvSpPr/>
          <p:nvPr/>
        </p:nvSpPr>
        <p:spPr>
          <a:xfrm>
            <a:off x="4316360" y="2384233"/>
            <a:ext cx="947823" cy="2128772"/>
          </a:xfrm>
          <a:prstGeom prst="arc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弧形 34"/>
          <p:cNvSpPr/>
          <p:nvPr/>
        </p:nvSpPr>
        <p:spPr>
          <a:xfrm flipH="1">
            <a:off x="5265600" y="2054048"/>
            <a:ext cx="1173955" cy="2458957"/>
          </a:xfrm>
          <a:prstGeom prst="arc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06332675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286924724"/>
              </p:ext>
            </p:extLst>
          </p:nvPr>
        </p:nvGraphicFramePr>
        <p:xfrm>
          <a:off x="-1341452" y="913983"/>
          <a:ext cx="5646750" cy="28388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4675"/>
                <a:gridCol w="564675"/>
                <a:gridCol w="564675"/>
                <a:gridCol w="564675"/>
                <a:gridCol w="564675"/>
                <a:gridCol w="564675"/>
                <a:gridCol w="564675"/>
                <a:gridCol w="564675"/>
                <a:gridCol w="564675"/>
                <a:gridCol w="564675"/>
              </a:tblGrid>
              <a:tr h="405552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4</a:t>
                      </a:r>
                      <a:endParaRPr lang="zh-TW" altLang="en-US" dirty="0" smtClean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05552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∆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05552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</a:tr>
              <a:tr h="405552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-3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05552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05552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05552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76559843"/>
              </p:ext>
            </p:extLst>
          </p:nvPr>
        </p:nvGraphicFramePr>
        <p:xfrm>
          <a:off x="2782873" y="894933"/>
          <a:ext cx="5646750" cy="28388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4675"/>
                <a:gridCol w="564675"/>
                <a:gridCol w="564675"/>
                <a:gridCol w="564675"/>
                <a:gridCol w="564675"/>
                <a:gridCol w="564675"/>
                <a:gridCol w="564675"/>
                <a:gridCol w="564675"/>
                <a:gridCol w="564675"/>
                <a:gridCol w="564675"/>
              </a:tblGrid>
              <a:tr h="405552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4</a:t>
                      </a:r>
                      <a:endParaRPr lang="zh-TW" altLang="en-US" dirty="0" smtClean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05552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∆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05552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</a:tr>
              <a:tr h="405552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05552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05552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05552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225349251"/>
              </p:ext>
            </p:extLst>
          </p:nvPr>
        </p:nvGraphicFramePr>
        <p:xfrm>
          <a:off x="2801923" y="4600158"/>
          <a:ext cx="5646750" cy="28388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4675"/>
                <a:gridCol w="564675"/>
                <a:gridCol w="507377"/>
                <a:gridCol w="621973"/>
                <a:gridCol w="564675"/>
                <a:gridCol w="564675"/>
                <a:gridCol w="564675"/>
                <a:gridCol w="564675"/>
                <a:gridCol w="564675"/>
                <a:gridCol w="564675"/>
              </a:tblGrid>
              <a:tr h="405552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4</a:t>
                      </a:r>
                      <a:endParaRPr lang="zh-TW" altLang="en-US" dirty="0" smtClean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accent6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5552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/>
                        <a:t>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5552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/>
                        <a:t>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 smtClean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5552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/>
                        <a:t>∆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5552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5552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05552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 smtClean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1" name="弧形 10"/>
          <p:cNvSpPr/>
          <p:nvPr/>
        </p:nvSpPr>
        <p:spPr>
          <a:xfrm rot="7959840">
            <a:off x="3415736" y="2171158"/>
            <a:ext cx="2998327" cy="2115631"/>
          </a:xfrm>
          <a:prstGeom prst="arc">
            <a:avLst>
              <a:gd name="adj1" fmla="val 16200000"/>
              <a:gd name="adj2" fmla="val 676729"/>
            </a:avLst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單箭頭接點 12"/>
          <p:cNvCxnSpPr>
            <a:stCxn id="11" idx="0"/>
          </p:cNvCxnSpPr>
          <p:nvPr/>
        </p:nvCxnSpPr>
        <p:spPr>
          <a:xfrm>
            <a:off x="5692754" y="3945852"/>
            <a:ext cx="155596" cy="626148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938451" y="4694306"/>
            <a:ext cx="364760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b="0" cap="none" spc="0" dirty="0" err="1" smtClean="0">
                <a:ln w="0"/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BorderlinePoints</a:t>
            </a:r>
            <a:endParaRPr lang="zh-TW" altLang="en-US" sz="4000" b="0" cap="none" spc="0" dirty="0">
              <a:ln w="0"/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矩形 8"/>
          <p:cNvSpPr>
            <a:spLocks noChangeAspect="1"/>
          </p:cNvSpPr>
          <p:nvPr/>
        </p:nvSpPr>
        <p:spPr>
          <a:xfrm>
            <a:off x="501730" y="285279"/>
            <a:ext cx="111248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DIST</a:t>
            </a:r>
            <a:endParaRPr lang="zh-TW" altLang="en-US" sz="4000" b="0" cap="none" spc="0" dirty="0">
              <a:ln w="0"/>
              <a:solidFill>
                <a:schemeClr val="accent5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矩形 11"/>
          <p:cNvSpPr>
            <a:spLocks noChangeAspect="1"/>
          </p:cNvSpPr>
          <p:nvPr/>
        </p:nvSpPr>
        <p:spPr>
          <a:xfrm>
            <a:off x="4697980" y="225563"/>
            <a:ext cx="143590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DELTA</a:t>
            </a:r>
            <a:endParaRPr lang="zh-TW" altLang="en-US" sz="4000" b="0" cap="none" spc="0" dirty="0">
              <a:ln w="0"/>
              <a:solidFill>
                <a:schemeClr val="accent5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02340582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24790" y="2474408"/>
            <a:ext cx="4227952" cy="138499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800" dirty="0" smtClean="0">
                <a:ln w="0"/>
              </a:rPr>
              <a:t>O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n the Common </a:t>
            </a:r>
            <a:r>
              <a:rPr lang="en-US" altLang="zh-TW" sz="2800" dirty="0" smtClean="0">
                <a:ln w="0"/>
              </a:rPr>
              <a:t>S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ubstring </a:t>
            </a:r>
          </a:p>
          <a:p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Alignment </a:t>
            </a:r>
            <a:r>
              <a:rPr lang="en-US" altLang="zh-TW" sz="2800" dirty="0" smtClean="0">
                <a:ln w="0"/>
              </a:rPr>
              <a:t>P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roblem, Journal</a:t>
            </a:r>
            <a:endParaRPr lang="en-US" altLang="zh-TW" sz="2800" dirty="0" smtClean="0">
              <a:ln w="0"/>
            </a:endParaRPr>
          </a:p>
          <a:p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of Algorithms, 2001</a:t>
            </a:r>
            <a:endParaRPr lang="zh-TW" altLang="en-US" sz="2800" b="0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815240" y="3769644"/>
            <a:ext cx="965328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3200" dirty="0">
                <a:ln w="0"/>
              </a:rPr>
              <a:t>②</a:t>
            </a:r>
            <a:r>
              <a:rPr lang="zh-TW" altLang="en-US" sz="3600" b="0" cap="none" spc="0" dirty="0" smtClean="0">
                <a:ln w="0"/>
                <a:solidFill>
                  <a:schemeClr val="tx1"/>
                </a:solidFill>
              </a:rPr>
              <a:t> </a:t>
            </a:r>
            <a:r>
              <a:rPr lang="en-US" altLang="zh-TW" sz="6600" b="0" cap="none" spc="0" dirty="0" smtClean="0">
                <a:ln w="0"/>
                <a:solidFill>
                  <a:schemeClr val="tx1"/>
                </a:solidFill>
              </a:rPr>
              <a:t>{</a:t>
            </a:r>
            <a:endParaRPr lang="zh-TW" altLang="en-US" sz="3600" b="0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2726046" y="3895797"/>
            <a:ext cx="2746521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800" dirty="0" smtClean="0">
                <a:ln w="0"/>
              </a:rPr>
              <a:t>E</a:t>
            </a:r>
            <a:r>
              <a:rPr lang="en-US" altLang="zh-TW" sz="2800" b="0" cap="none" spc="0" dirty="0" smtClean="0">
                <a:ln w="0"/>
                <a:solidFill>
                  <a:schemeClr val="tx1"/>
                </a:solidFill>
              </a:rPr>
              <a:t>ncoding </a:t>
            </a:r>
            <a:r>
              <a:rPr lang="en-US" altLang="zh-TW" sz="2800" dirty="0">
                <a:ln w="0"/>
              </a:rPr>
              <a:t>O(</a:t>
            </a:r>
            <a:r>
              <a:rPr lang="en-US" altLang="zh-TW" sz="2800" dirty="0" err="1">
                <a:ln w="0"/>
              </a:rPr>
              <a:t>n|Y</a:t>
            </a:r>
            <a:r>
              <a:rPr lang="en-US" altLang="zh-TW" sz="2800" dirty="0" smtClean="0">
                <a:ln w="0"/>
              </a:rPr>
              <a:t>|)</a:t>
            </a:r>
            <a:endParaRPr lang="en-US" altLang="zh-TW" sz="2800" b="0" cap="none" spc="0" dirty="0" smtClean="0">
              <a:ln w="0"/>
              <a:solidFill>
                <a:schemeClr val="tx1"/>
              </a:solidFill>
            </a:endParaRPr>
          </a:p>
          <a:p>
            <a:r>
              <a:rPr lang="en-US" altLang="zh-TW" sz="2800" dirty="0">
                <a:ln w="0"/>
              </a:rPr>
              <a:t>A</a:t>
            </a:r>
            <a:r>
              <a:rPr lang="en-US" altLang="zh-TW" sz="2800" dirty="0" smtClean="0">
                <a:ln w="0"/>
              </a:rPr>
              <a:t>lignment O(n)</a:t>
            </a:r>
            <a:endParaRPr lang="zh-TW" altLang="en-US" sz="2800" b="0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2346" y="498488"/>
            <a:ext cx="8122865" cy="178510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200" dirty="0" err="1" smtClean="0">
                <a:ln w="0"/>
                <a:solidFill>
                  <a:schemeClr val="accent5"/>
                </a:solidFill>
                <a:latin typeface="+mj-lt"/>
              </a:rPr>
              <a:t>BorderlinePoints</a:t>
            </a:r>
            <a:r>
              <a:rPr lang="en-US" altLang="zh-TW" sz="3200" dirty="0" smtClean="0">
                <a:ln w="0"/>
                <a:solidFill>
                  <a:schemeClr val="accent5"/>
                </a:solidFill>
                <a:latin typeface="+mj-lt"/>
              </a:rPr>
              <a:t> O</a:t>
            </a:r>
            <a:r>
              <a:rPr lang="en-US" altLang="zh-TW" sz="3200" b="0" cap="none" spc="0" dirty="0" smtClean="0">
                <a:ln w="0"/>
                <a:solidFill>
                  <a:schemeClr val="accent5"/>
                </a:solidFill>
                <a:latin typeface="+mj-lt"/>
              </a:rPr>
              <a:t>(</a:t>
            </a:r>
            <a:r>
              <a:rPr lang="el-GR" altLang="zh-TW" sz="3200" b="0" cap="none" spc="0" dirty="0" smtClean="0">
                <a:ln w="0"/>
                <a:solidFill>
                  <a:schemeClr val="accent5"/>
                </a:solidFill>
                <a:latin typeface="+mj-lt"/>
              </a:rPr>
              <a:t>Ψ</a:t>
            </a:r>
            <a:r>
              <a:rPr lang="en-US" altLang="zh-TW" sz="3200" b="0" cap="none" spc="0" dirty="0" smtClean="0">
                <a:ln w="0"/>
                <a:solidFill>
                  <a:schemeClr val="accent5"/>
                </a:solidFill>
                <a:latin typeface="+mj-lt"/>
              </a:rPr>
              <a:t>n) Space, </a:t>
            </a:r>
            <a:r>
              <a:rPr lang="el-GR" altLang="zh-TW" sz="3200" dirty="0" smtClean="0">
                <a:ln w="0"/>
                <a:solidFill>
                  <a:schemeClr val="accent5"/>
                </a:solidFill>
                <a:latin typeface="+mj-lt"/>
              </a:rPr>
              <a:t>Ψ</a:t>
            </a:r>
            <a:r>
              <a:rPr lang="en-US" altLang="zh-TW" sz="3200" dirty="0" smtClean="0">
                <a:ln w="0"/>
                <a:solidFill>
                  <a:schemeClr val="accent5"/>
                </a:solidFill>
                <a:latin typeface="+mj-lt"/>
              </a:rPr>
              <a:t>:</a:t>
            </a:r>
            <a:r>
              <a:rPr lang="zh-TW" altLang="en-US" sz="3200" dirty="0" smtClean="0">
                <a:ln w="0"/>
                <a:solidFill>
                  <a:schemeClr val="accent5"/>
                </a:solidFill>
                <a:latin typeface="+mj-lt"/>
              </a:rPr>
              <a:t> </a:t>
            </a:r>
            <a:r>
              <a:rPr lang="en-US" altLang="zh-TW" sz="3200" dirty="0" smtClean="0">
                <a:ln w="0"/>
                <a:solidFill>
                  <a:schemeClr val="accent5"/>
                </a:solidFill>
                <a:latin typeface="+mj-lt"/>
              </a:rPr>
              <a:t>const.</a:t>
            </a:r>
          </a:p>
          <a:p>
            <a:r>
              <a:rPr lang="en-US" altLang="zh-TW" sz="2600" dirty="0">
                <a:ln w="0"/>
                <a:latin typeface="+mj-lt"/>
              </a:rPr>
              <a:t>All Highest Scoring Path In Weighted Grid Graphs and Their </a:t>
            </a:r>
            <a:endParaRPr lang="en-US" altLang="zh-TW" sz="2600" dirty="0" smtClean="0">
              <a:ln w="0"/>
              <a:latin typeface="+mj-lt"/>
            </a:endParaRPr>
          </a:p>
          <a:p>
            <a:r>
              <a:rPr lang="en-US" altLang="zh-TW" sz="2600" dirty="0" smtClean="0">
                <a:ln w="0"/>
                <a:latin typeface="+mj-lt"/>
              </a:rPr>
              <a:t>Application </a:t>
            </a:r>
            <a:r>
              <a:rPr lang="en-US" altLang="zh-TW" sz="2600" dirty="0">
                <a:ln w="0"/>
                <a:latin typeface="+mj-lt"/>
              </a:rPr>
              <a:t>To Finding Approximate Repeats In </a:t>
            </a:r>
            <a:r>
              <a:rPr lang="en-US" altLang="zh-TW" sz="2600" dirty="0" smtClean="0">
                <a:ln w="0"/>
                <a:latin typeface="+mj-lt"/>
              </a:rPr>
              <a:t>Strings, </a:t>
            </a:r>
          </a:p>
          <a:p>
            <a:r>
              <a:rPr lang="en-US" altLang="zh-TW" sz="2600" dirty="0" smtClean="0">
                <a:ln w="0"/>
                <a:latin typeface="+mj-lt"/>
              </a:rPr>
              <a:t>SIAM </a:t>
            </a:r>
            <a:r>
              <a:rPr lang="en-US" altLang="zh-TW" sz="2600" dirty="0">
                <a:ln w="0"/>
                <a:latin typeface="+mj-lt"/>
              </a:rPr>
              <a:t>J. COMPUT., </a:t>
            </a:r>
            <a:r>
              <a:rPr lang="en-US" altLang="zh-TW" sz="2600" dirty="0" smtClean="0">
                <a:ln w="0"/>
                <a:latin typeface="+mj-lt"/>
              </a:rPr>
              <a:t>1998</a:t>
            </a:r>
            <a:endParaRPr lang="en-US" altLang="zh-TW" sz="2600" dirty="0">
              <a:ln w="0"/>
              <a:latin typeface="+mj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72346" y="5150444"/>
            <a:ext cx="852028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000" dirty="0">
                <a:ln w="0"/>
                <a:latin typeface="+mj-lt"/>
              </a:rPr>
              <a:t>I</a:t>
            </a:r>
            <a:r>
              <a:rPr lang="en-US" altLang="zh-TW" sz="2000" dirty="0" smtClean="0">
                <a:ln w="0"/>
                <a:latin typeface="+mj-lt"/>
              </a:rPr>
              <a:t>ncremental Tree </a:t>
            </a:r>
            <a:r>
              <a:rPr lang="en-US" altLang="zh-TW" sz="2000" dirty="0">
                <a:ln w="0"/>
                <a:latin typeface="+mj-lt"/>
              </a:rPr>
              <a:t>S</a:t>
            </a:r>
            <a:r>
              <a:rPr lang="en-US" altLang="zh-TW" sz="2000" dirty="0" smtClean="0">
                <a:ln w="0"/>
                <a:latin typeface="+mj-lt"/>
              </a:rPr>
              <a:t>et Union Algorithm,</a:t>
            </a:r>
          </a:p>
          <a:p>
            <a:pPr algn="ctr"/>
            <a:r>
              <a:rPr lang="en-US" altLang="zh-TW" sz="2000" dirty="0" smtClean="0">
                <a:ln w="0"/>
                <a:latin typeface="+mj-lt"/>
              </a:rPr>
              <a:t>A </a:t>
            </a:r>
            <a:r>
              <a:rPr lang="en-US" altLang="zh-TW" sz="2000" dirty="0">
                <a:ln w="0"/>
                <a:latin typeface="+mj-lt"/>
              </a:rPr>
              <a:t>Linear Time Algorithm for a Special Case of Disjoint Set Union,</a:t>
            </a:r>
          </a:p>
          <a:p>
            <a:pPr algn="ctr"/>
            <a:r>
              <a:rPr lang="en-US" altLang="zh-TW" sz="2000" dirty="0">
                <a:ln w="0"/>
                <a:latin typeface="+mj-lt"/>
              </a:rPr>
              <a:t>      J. </a:t>
            </a:r>
            <a:r>
              <a:rPr lang="en-US" altLang="zh-TW" sz="2000" dirty="0" err="1">
                <a:ln w="0"/>
                <a:latin typeface="+mj-lt"/>
              </a:rPr>
              <a:t>Comput</a:t>
            </a:r>
            <a:r>
              <a:rPr lang="en-US" altLang="zh-TW" sz="2000" dirty="0">
                <a:ln w="0"/>
                <a:latin typeface="+mj-lt"/>
              </a:rPr>
              <a:t>. </a:t>
            </a:r>
            <a:r>
              <a:rPr lang="en-US" altLang="zh-TW" sz="2000" dirty="0" err="1">
                <a:ln w="0"/>
                <a:latin typeface="+mj-lt"/>
              </a:rPr>
              <a:t>Syetem</a:t>
            </a:r>
            <a:r>
              <a:rPr lang="en-US" altLang="zh-TW" sz="2000" dirty="0">
                <a:ln w="0"/>
                <a:latin typeface="+mj-lt"/>
              </a:rPr>
              <a:t> Sci., 1985</a:t>
            </a:r>
          </a:p>
        </p:txBody>
      </p:sp>
      <p:sp>
        <p:nvSpPr>
          <p:cNvPr id="7" name="矩形 6"/>
          <p:cNvSpPr/>
          <p:nvPr/>
        </p:nvSpPr>
        <p:spPr>
          <a:xfrm>
            <a:off x="1459345" y="2474408"/>
            <a:ext cx="4618182" cy="2512558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" name="群組 7"/>
          <p:cNvGrpSpPr/>
          <p:nvPr/>
        </p:nvGrpSpPr>
        <p:grpSpPr>
          <a:xfrm rot="10443147">
            <a:off x="5017308" y="4617169"/>
            <a:ext cx="1461244" cy="1009215"/>
            <a:chOff x="6032330" y="1724077"/>
            <a:chExt cx="1334930" cy="1009215"/>
          </a:xfrm>
        </p:grpSpPr>
        <p:sp>
          <p:nvSpPr>
            <p:cNvPr id="9" name="弧形 8"/>
            <p:cNvSpPr/>
            <p:nvPr/>
          </p:nvSpPr>
          <p:spPr>
            <a:xfrm rot="10871129">
              <a:off x="6032330" y="1724077"/>
              <a:ext cx="1334930" cy="1004526"/>
            </a:xfrm>
            <a:prstGeom prst="arc">
              <a:avLst>
                <a:gd name="adj1" fmla="val 16200000"/>
                <a:gd name="adj2" fmla="val 21386544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0" name="直線單箭頭接點 9"/>
            <p:cNvCxnSpPr/>
            <p:nvPr/>
          </p:nvCxnSpPr>
          <p:spPr>
            <a:xfrm flipV="1">
              <a:off x="6687076" y="2726795"/>
              <a:ext cx="107405" cy="649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弧形 11"/>
          <p:cNvSpPr/>
          <p:nvPr/>
        </p:nvSpPr>
        <p:spPr>
          <a:xfrm rot="21060328" flipV="1">
            <a:off x="4403435" y="1083"/>
            <a:ext cx="1933460" cy="4191260"/>
          </a:xfrm>
          <a:prstGeom prst="arc">
            <a:avLst>
              <a:gd name="adj1" fmla="val 16200000"/>
              <a:gd name="adj2" fmla="val 21386544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單箭頭接點 12"/>
          <p:cNvCxnSpPr/>
          <p:nvPr/>
        </p:nvCxnSpPr>
        <p:spPr>
          <a:xfrm rot="10331457">
            <a:off x="5591248" y="4141718"/>
            <a:ext cx="155561" cy="271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354771386"/>
              </p:ext>
            </p:extLst>
          </p:nvPr>
        </p:nvGraphicFramePr>
        <p:xfrm>
          <a:off x="6863196" y="2970484"/>
          <a:ext cx="1715909" cy="2053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8977"/>
                <a:gridCol w="417278"/>
                <a:gridCol w="440677"/>
                <a:gridCol w="428977"/>
              </a:tblGrid>
              <a:tr h="410762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762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762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10762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762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762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10762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流程圖: 接點 14"/>
          <p:cNvSpPr>
            <a:spLocks noChangeAspect="1"/>
          </p:cNvSpPr>
          <p:nvPr/>
        </p:nvSpPr>
        <p:spPr>
          <a:xfrm>
            <a:off x="8057279" y="4117543"/>
            <a:ext cx="156124" cy="155857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7410593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40213" y="4168676"/>
            <a:ext cx="8303876" cy="67710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800" b="0" cap="none" spc="0" dirty="0" smtClean="0">
                <a:ln w="0"/>
                <a:solidFill>
                  <a:schemeClr val="tx1"/>
                </a:solidFill>
              </a:rPr>
              <a:t>O(hn</a:t>
            </a:r>
            <a:r>
              <a:rPr lang="en-US" altLang="zh-TW" sz="3800" baseline="30000" dirty="0" smtClean="0">
                <a:ln w="0"/>
              </a:rPr>
              <a:t>2</a:t>
            </a:r>
            <a:r>
              <a:rPr lang="en-US" altLang="zh-TW" sz="3800" b="0" cap="none" spc="0" dirty="0" smtClean="0">
                <a:ln w="0"/>
                <a:solidFill>
                  <a:schemeClr val="tx1"/>
                </a:solidFill>
              </a:rPr>
              <a:t>/log n) </a:t>
            </a:r>
            <a:r>
              <a:rPr lang="en-US" altLang="zh-TW" sz="3800" dirty="0" smtClean="0">
                <a:ln w="0"/>
              </a:rPr>
              <a:t>T</a:t>
            </a:r>
            <a:r>
              <a:rPr lang="en-US" altLang="zh-TW" sz="3800" b="0" cap="none" spc="0" dirty="0" smtClean="0">
                <a:ln w="0"/>
                <a:solidFill>
                  <a:schemeClr val="tx1"/>
                </a:solidFill>
              </a:rPr>
              <a:t>ime, O(h</a:t>
            </a:r>
            <a:r>
              <a:rPr lang="en-US" altLang="zh-TW" sz="3800" b="0" cap="none" spc="0" baseline="30000" dirty="0" smtClean="0">
                <a:ln w="0"/>
                <a:solidFill>
                  <a:schemeClr val="tx1"/>
                </a:solidFill>
              </a:rPr>
              <a:t>2</a:t>
            </a:r>
            <a:r>
              <a:rPr lang="en-US" altLang="zh-TW" sz="3800" b="0" cap="none" spc="0" dirty="0" smtClean="0">
                <a:ln w="0"/>
                <a:solidFill>
                  <a:schemeClr val="tx1"/>
                </a:solidFill>
              </a:rPr>
              <a:t>n</a:t>
            </a:r>
            <a:r>
              <a:rPr lang="en-US" altLang="zh-TW" sz="3800" baseline="30000" dirty="0" smtClean="0">
                <a:ln w="0"/>
              </a:rPr>
              <a:t>2</a:t>
            </a:r>
            <a:r>
              <a:rPr lang="en-US" altLang="zh-TW" sz="3800" b="0" cap="none" spc="0" dirty="0" smtClean="0">
                <a:ln w="0"/>
                <a:solidFill>
                  <a:schemeClr val="tx1"/>
                </a:solidFill>
              </a:rPr>
              <a:t>/(log n)</a:t>
            </a:r>
            <a:r>
              <a:rPr lang="en-US" altLang="zh-TW" sz="3800" b="0" cap="none" spc="0" baseline="30000" dirty="0" smtClean="0">
                <a:ln w="0"/>
                <a:solidFill>
                  <a:schemeClr val="tx1"/>
                </a:solidFill>
              </a:rPr>
              <a:t>2</a:t>
            </a:r>
            <a:r>
              <a:rPr lang="en-US" altLang="zh-TW" sz="3800" b="0" cap="none" spc="0" dirty="0" smtClean="0">
                <a:ln w="0"/>
                <a:solidFill>
                  <a:schemeClr val="tx1"/>
                </a:solidFill>
              </a:rPr>
              <a:t>) Space</a:t>
            </a:r>
          </a:p>
        </p:txBody>
      </p:sp>
      <p:sp>
        <p:nvSpPr>
          <p:cNvPr id="4" name="流程圖: 接點 3"/>
          <p:cNvSpPr>
            <a:spLocks noChangeAspect="1"/>
          </p:cNvSpPr>
          <p:nvPr/>
        </p:nvSpPr>
        <p:spPr>
          <a:xfrm>
            <a:off x="5675915" y="1556121"/>
            <a:ext cx="333074" cy="380718"/>
          </a:xfrm>
          <a:prstGeom prst="flowChartConnector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流程圖: 接點 4"/>
          <p:cNvSpPr>
            <a:spLocks noChangeAspect="1"/>
          </p:cNvSpPr>
          <p:nvPr/>
        </p:nvSpPr>
        <p:spPr>
          <a:xfrm>
            <a:off x="5064546" y="2139755"/>
            <a:ext cx="333074" cy="380718"/>
          </a:xfrm>
          <a:prstGeom prst="flowChartConnector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流程圖: 接點 5"/>
          <p:cNvSpPr>
            <a:spLocks noChangeAspect="1"/>
          </p:cNvSpPr>
          <p:nvPr/>
        </p:nvSpPr>
        <p:spPr>
          <a:xfrm>
            <a:off x="4787340" y="2734072"/>
            <a:ext cx="333074" cy="380718"/>
          </a:xfrm>
          <a:prstGeom prst="flowChartConnector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流程圖: 接點 6"/>
          <p:cNvSpPr>
            <a:spLocks noChangeAspect="1"/>
          </p:cNvSpPr>
          <p:nvPr/>
        </p:nvSpPr>
        <p:spPr>
          <a:xfrm>
            <a:off x="5675915" y="2139755"/>
            <a:ext cx="333074" cy="380718"/>
          </a:xfrm>
          <a:prstGeom prst="flowChartConnector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流程圖: 接點 7"/>
          <p:cNvSpPr>
            <a:spLocks noChangeAspect="1"/>
          </p:cNvSpPr>
          <p:nvPr/>
        </p:nvSpPr>
        <p:spPr>
          <a:xfrm>
            <a:off x="5421401" y="2730978"/>
            <a:ext cx="333074" cy="380718"/>
          </a:xfrm>
          <a:prstGeom prst="flowChartConnector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流程圖: 接點 8"/>
          <p:cNvSpPr>
            <a:spLocks noChangeAspect="1"/>
          </p:cNvSpPr>
          <p:nvPr/>
        </p:nvSpPr>
        <p:spPr>
          <a:xfrm>
            <a:off x="6287284" y="2132816"/>
            <a:ext cx="333074" cy="380718"/>
          </a:xfrm>
          <a:prstGeom prst="flowChartConnector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流程圖: 接點 9"/>
          <p:cNvSpPr>
            <a:spLocks noChangeAspect="1"/>
          </p:cNvSpPr>
          <p:nvPr/>
        </p:nvSpPr>
        <p:spPr>
          <a:xfrm>
            <a:off x="6030910" y="2732180"/>
            <a:ext cx="333074" cy="380718"/>
          </a:xfrm>
          <a:prstGeom prst="flowChartConnector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流程圖: 接點 10"/>
          <p:cNvSpPr>
            <a:spLocks noChangeAspect="1"/>
          </p:cNvSpPr>
          <p:nvPr/>
        </p:nvSpPr>
        <p:spPr>
          <a:xfrm>
            <a:off x="6618380" y="2728710"/>
            <a:ext cx="333074" cy="380718"/>
          </a:xfrm>
          <a:prstGeom prst="flowChartConnector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流程圖: 接點 11"/>
          <p:cNvSpPr>
            <a:spLocks noChangeAspect="1"/>
          </p:cNvSpPr>
          <p:nvPr/>
        </p:nvSpPr>
        <p:spPr>
          <a:xfrm>
            <a:off x="5675915" y="3298231"/>
            <a:ext cx="333074" cy="380718"/>
          </a:xfrm>
          <a:prstGeom prst="flowChartConnector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接點 13"/>
          <p:cNvCxnSpPr>
            <a:stCxn id="4" idx="4"/>
            <a:endCxn id="7" idx="0"/>
          </p:cNvCxnSpPr>
          <p:nvPr/>
        </p:nvCxnSpPr>
        <p:spPr>
          <a:xfrm>
            <a:off x="5842452" y="1936839"/>
            <a:ext cx="0" cy="202916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/>
          <p:cNvCxnSpPr>
            <a:stCxn id="4" idx="3"/>
            <a:endCxn id="5" idx="7"/>
          </p:cNvCxnSpPr>
          <p:nvPr/>
        </p:nvCxnSpPr>
        <p:spPr>
          <a:xfrm flipH="1">
            <a:off x="5348842" y="1881084"/>
            <a:ext cx="375850" cy="314426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>
            <a:stCxn id="4" idx="5"/>
            <a:endCxn id="9" idx="1"/>
          </p:cNvCxnSpPr>
          <p:nvPr/>
        </p:nvCxnSpPr>
        <p:spPr>
          <a:xfrm>
            <a:off x="5960211" y="1881084"/>
            <a:ext cx="375851" cy="307487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5" idx="3"/>
            <a:endCxn id="6" idx="0"/>
          </p:cNvCxnSpPr>
          <p:nvPr/>
        </p:nvCxnSpPr>
        <p:spPr>
          <a:xfrm flipH="1">
            <a:off x="4953877" y="2464718"/>
            <a:ext cx="159446" cy="26935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7" idx="3"/>
            <a:endCxn id="8" idx="0"/>
          </p:cNvCxnSpPr>
          <p:nvPr/>
        </p:nvCxnSpPr>
        <p:spPr>
          <a:xfrm flipH="1">
            <a:off x="5587938" y="2464717"/>
            <a:ext cx="136754" cy="26626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9" idx="3"/>
            <a:endCxn id="10" idx="0"/>
          </p:cNvCxnSpPr>
          <p:nvPr/>
        </p:nvCxnSpPr>
        <p:spPr>
          <a:xfrm flipH="1">
            <a:off x="6197447" y="2457778"/>
            <a:ext cx="138615" cy="274401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9" idx="5"/>
            <a:endCxn id="11" idx="0"/>
          </p:cNvCxnSpPr>
          <p:nvPr/>
        </p:nvCxnSpPr>
        <p:spPr>
          <a:xfrm>
            <a:off x="6571581" y="2457778"/>
            <a:ext cx="213337" cy="270931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8" idx="4"/>
            <a:endCxn id="12" idx="1"/>
          </p:cNvCxnSpPr>
          <p:nvPr/>
        </p:nvCxnSpPr>
        <p:spPr>
          <a:xfrm>
            <a:off x="5587938" y="3111696"/>
            <a:ext cx="136755" cy="24229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流程圖: 接點 42"/>
          <p:cNvSpPr>
            <a:spLocks noChangeAspect="1"/>
          </p:cNvSpPr>
          <p:nvPr/>
        </p:nvSpPr>
        <p:spPr>
          <a:xfrm>
            <a:off x="2700715" y="1556121"/>
            <a:ext cx="333074" cy="380718"/>
          </a:xfrm>
          <a:prstGeom prst="flowChartConnector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流程圖: 接點 43"/>
          <p:cNvSpPr>
            <a:spLocks noChangeAspect="1"/>
          </p:cNvSpPr>
          <p:nvPr/>
        </p:nvSpPr>
        <p:spPr>
          <a:xfrm>
            <a:off x="2089346" y="2139755"/>
            <a:ext cx="333074" cy="380718"/>
          </a:xfrm>
          <a:prstGeom prst="flowChartConnector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流程圖: 接點 44"/>
          <p:cNvSpPr>
            <a:spLocks noChangeAspect="1"/>
          </p:cNvSpPr>
          <p:nvPr/>
        </p:nvSpPr>
        <p:spPr>
          <a:xfrm>
            <a:off x="1812140" y="2734072"/>
            <a:ext cx="333074" cy="380718"/>
          </a:xfrm>
          <a:prstGeom prst="flowChartConnector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流程圖: 接點 45"/>
          <p:cNvSpPr>
            <a:spLocks noChangeAspect="1"/>
          </p:cNvSpPr>
          <p:nvPr/>
        </p:nvSpPr>
        <p:spPr>
          <a:xfrm>
            <a:off x="2700715" y="2139755"/>
            <a:ext cx="333074" cy="380718"/>
          </a:xfrm>
          <a:prstGeom prst="flowChartConnector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流程圖: 接點 46"/>
          <p:cNvSpPr>
            <a:spLocks noChangeAspect="1"/>
          </p:cNvSpPr>
          <p:nvPr/>
        </p:nvSpPr>
        <p:spPr>
          <a:xfrm>
            <a:off x="2446201" y="2730978"/>
            <a:ext cx="333074" cy="380718"/>
          </a:xfrm>
          <a:prstGeom prst="flowChartConnector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流程圖: 接點 47"/>
          <p:cNvSpPr>
            <a:spLocks noChangeAspect="1"/>
          </p:cNvSpPr>
          <p:nvPr/>
        </p:nvSpPr>
        <p:spPr>
          <a:xfrm>
            <a:off x="3312084" y="2132816"/>
            <a:ext cx="333074" cy="380718"/>
          </a:xfrm>
          <a:prstGeom prst="flowChartConnector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流程圖: 接點 48"/>
          <p:cNvSpPr>
            <a:spLocks noChangeAspect="1"/>
          </p:cNvSpPr>
          <p:nvPr/>
        </p:nvSpPr>
        <p:spPr>
          <a:xfrm>
            <a:off x="3055710" y="2732180"/>
            <a:ext cx="333074" cy="380718"/>
          </a:xfrm>
          <a:prstGeom prst="flowChartConnector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流程圖: 接點 49"/>
          <p:cNvSpPr>
            <a:spLocks noChangeAspect="1"/>
          </p:cNvSpPr>
          <p:nvPr/>
        </p:nvSpPr>
        <p:spPr>
          <a:xfrm>
            <a:off x="3643180" y="2728710"/>
            <a:ext cx="333074" cy="380718"/>
          </a:xfrm>
          <a:prstGeom prst="flowChartConnector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流程圖: 接點 50"/>
          <p:cNvSpPr>
            <a:spLocks noChangeAspect="1"/>
          </p:cNvSpPr>
          <p:nvPr/>
        </p:nvSpPr>
        <p:spPr>
          <a:xfrm>
            <a:off x="2700715" y="3298231"/>
            <a:ext cx="333074" cy="380718"/>
          </a:xfrm>
          <a:prstGeom prst="flowChartConnector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3" name="直線接點 52"/>
          <p:cNvCxnSpPr>
            <a:stCxn id="43" idx="4"/>
            <a:endCxn id="46" idx="0"/>
          </p:cNvCxnSpPr>
          <p:nvPr/>
        </p:nvCxnSpPr>
        <p:spPr>
          <a:xfrm>
            <a:off x="2867252" y="1936839"/>
            <a:ext cx="0" cy="2029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>
            <a:stCxn id="43" idx="3"/>
            <a:endCxn id="44" idx="7"/>
          </p:cNvCxnSpPr>
          <p:nvPr/>
        </p:nvCxnSpPr>
        <p:spPr>
          <a:xfrm flipH="1">
            <a:off x="2373642" y="1881084"/>
            <a:ext cx="375850" cy="31442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/>
          <p:cNvCxnSpPr>
            <a:stCxn id="43" idx="5"/>
            <a:endCxn id="48" idx="1"/>
          </p:cNvCxnSpPr>
          <p:nvPr/>
        </p:nvCxnSpPr>
        <p:spPr>
          <a:xfrm>
            <a:off x="2985011" y="1881084"/>
            <a:ext cx="375851" cy="30748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>
            <a:stCxn id="44" idx="3"/>
            <a:endCxn id="45" idx="0"/>
          </p:cNvCxnSpPr>
          <p:nvPr/>
        </p:nvCxnSpPr>
        <p:spPr>
          <a:xfrm flipH="1">
            <a:off x="1978677" y="2464718"/>
            <a:ext cx="159446" cy="26935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>
            <a:stCxn id="46" idx="3"/>
            <a:endCxn id="47" idx="0"/>
          </p:cNvCxnSpPr>
          <p:nvPr/>
        </p:nvCxnSpPr>
        <p:spPr>
          <a:xfrm flipH="1">
            <a:off x="2612738" y="2464717"/>
            <a:ext cx="136754" cy="2662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/>
          <p:cNvCxnSpPr>
            <a:stCxn id="48" idx="3"/>
            <a:endCxn id="49" idx="0"/>
          </p:cNvCxnSpPr>
          <p:nvPr/>
        </p:nvCxnSpPr>
        <p:spPr>
          <a:xfrm flipH="1">
            <a:off x="3222247" y="2457778"/>
            <a:ext cx="138615" cy="27440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>
            <a:stCxn id="48" idx="5"/>
            <a:endCxn id="50" idx="0"/>
          </p:cNvCxnSpPr>
          <p:nvPr/>
        </p:nvCxnSpPr>
        <p:spPr>
          <a:xfrm>
            <a:off x="3596381" y="2457778"/>
            <a:ext cx="213337" cy="27093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>
            <a:stCxn id="49" idx="3"/>
            <a:endCxn id="51" idx="7"/>
          </p:cNvCxnSpPr>
          <p:nvPr/>
        </p:nvCxnSpPr>
        <p:spPr>
          <a:xfrm flipH="1">
            <a:off x="2985011" y="3057142"/>
            <a:ext cx="119477" cy="29684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655213100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1148</TotalTime>
  <Words>1675</Words>
  <Application>Microsoft Office PowerPoint</Application>
  <PresentationFormat>如螢幕大小 (4:3)</PresentationFormat>
  <Paragraphs>901</Paragraphs>
  <Slides>58</Slides>
  <Notes>7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58</vt:i4>
      </vt:variant>
    </vt:vector>
  </HeadingPairs>
  <TitlesOfParts>
    <vt:vector size="59" baseType="lpstr">
      <vt:lpstr>Office 佈景主題</vt:lpstr>
      <vt:lpstr>Re-Use Dynamic Programming for Sequence Alignment: An Algorithmic Toolkit</vt:lpstr>
      <vt:lpstr>Abstract (1/2)</vt:lpstr>
      <vt:lpstr>Abstract (2/2)</vt:lpstr>
      <vt:lpstr>投影片 4</vt:lpstr>
      <vt:lpstr>投影片 5</vt:lpstr>
      <vt:lpstr>投影片 6</vt:lpstr>
      <vt:lpstr>投影片 7</vt:lpstr>
      <vt:lpstr>投影片 8</vt:lpstr>
      <vt:lpstr>投影片 9</vt:lpstr>
      <vt:lpstr>投影片 10</vt:lpstr>
      <vt:lpstr>投影片 11</vt:lpstr>
      <vt:lpstr>投影片 12</vt:lpstr>
      <vt:lpstr>投影片 13</vt:lpstr>
      <vt:lpstr>投影片 14</vt:lpstr>
      <vt:lpstr>投影片 15</vt:lpstr>
      <vt:lpstr>投影片 16</vt:lpstr>
      <vt:lpstr>投影片 17</vt:lpstr>
      <vt:lpstr>投影片 18</vt:lpstr>
      <vt:lpstr>投影片 19</vt:lpstr>
      <vt:lpstr>投影片 20</vt:lpstr>
      <vt:lpstr>投影片 21</vt:lpstr>
      <vt:lpstr>投影片 22</vt:lpstr>
      <vt:lpstr>投影片 23</vt:lpstr>
      <vt:lpstr>投影片 24</vt:lpstr>
      <vt:lpstr>投影片 25</vt:lpstr>
      <vt:lpstr>投影片 26</vt:lpstr>
      <vt:lpstr>投影片 27</vt:lpstr>
      <vt:lpstr>投影片 28</vt:lpstr>
      <vt:lpstr>投影片 29</vt:lpstr>
      <vt:lpstr>投影片 30</vt:lpstr>
      <vt:lpstr>投影片 31</vt:lpstr>
      <vt:lpstr>投影片 32</vt:lpstr>
      <vt:lpstr>投影片 33</vt:lpstr>
      <vt:lpstr>投影片 34</vt:lpstr>
      <vt:lpstr>投影片 35</vt:lpstr>
      <vt:lpstr>投影片 36</vt:lpstr>
      <vt:lpstr>投影片 37</vt:lpstr>
      <vt:lpstr>投影片 38</vt:lpstr>
      <vt:lpstr>投影片 39</vt:lpstr>
      <vt:lpstr>投影片 40</vt:lpstr>
      <vt:lpstr>投影片 41</vt:lpstr>
      <vt:lpstr>投影片 42</vt:lpstr>
      <vt:lpstr>投影片 43</vt:lpstr>
      <vt:lpstr>投影片 44</vt:lpstr>
      <vt:lpstr>投影片 45</vt:lpstr>
      <vt:lpstr>投影片 46</vt:lpstr>
      <vt:lpstr>投影片 47</vt:lpstr>
      <vt:lpstr>投影片 48</vt:lpstr>
      <vt:lpstr>投影片 49</vt:lpstr>
      <vt:lpstr>投影片 50</vt:lpstr>
      <vt:lpstr>投影片 51</vt:lpstr>
      <vt:lpstr>投影片 52</vt:lpstr>
      <vt:lpstr>投影片 53</vt:lpstr>
      <vt:lpstr>投影片 54</vt:lpstr>
      <vt:lpstr>投影片 55</vt:lpstr>
      <vt:lpstr>投影片 56</vt:lpstr>
      <vt:lpstr>投影片 57</vt:lpstr>
      <vt:lpstr>投影片 58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qiang zi</dc:creator>
  <cp:lastModifiedBy>admin</cp:lastModifiedBy>
  <cp:revision>252</cp:revision>
  <dcterms:created xsi:type="dcterms:W3CDTF">2015-01-26T20:19:46Z</dcterms:created>
  <dcterms:modified xsi:type="dcterms:W3CDTF">2015-02-20T11:17:06Z</dcterms:modified>
</cp:coreProperties>
</file>