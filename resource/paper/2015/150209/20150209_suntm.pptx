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71"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3646340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2527860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905855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1116421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2817589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15321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3842368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2516478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1245278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4138318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AD7741F-11EC-439C-970B-9E9F2BEC3066}" type="datetimeFigureOut">
              <a:rPr lang="zh-TW" altLang="en-US" smtClean="0"/>
              <a:t>2015/2/9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2663696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D7741F-11EC-439C-970B-9E9F2BEC3066}" type="datetimeFigureOut">
              <a:rPr lang="zh-TW" altLang="en-US" smtClean="0"/>
              <a:t>2015/2/9</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E5A790-05A2-4E54-99D9-52E84485B1C3}" type="slidenum">
              <a:rPr lang="zh-TW" altLang="en-US" smtClean="0"/>
              <a:t>‹#›</a:t>
            </a:fld>
            <a:endParaRPr lang="zh-TW" altLang="en-US"/>
          </a:p>
        </p:txBody>
      </p:sp>
    </p:spTree>
    <p:extLst>
      <p:ext uri="{BB962C8B-B14F-4D97-AF65-F5344CB8AC3E}">
        <p14:creationId xmlns:p14="http://schemas.microsoft.com/office/powerpoint/2010/main" val="2453119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0" y="1419230"/>
            <a:ext cx="12191999"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3600" dirty="0"/>
              <a:t>Color-Based Image Salient Region </a:t>
            </a:r>
            <a:r>
              <a:rPr lang="en-US" altLang="zh-TW" sz="3600" dirty="0" smtClean="0"/>
              <a:t>Segmentation Using </a:t>
            </a:r>
            <a:r>
              <a:rPr lang="en-US" altLang="zh-TW" sz="3600" dirty="0"/>
              <a:t>Novel Region Merging Strategy</a:t>
            </a:r>
            <a:endParaRPr lang="en-US" altLang="zh-TW" sz="3600" b="1" dirty="0"/>
          </a:p>
        </p:txBody>
      </p:sp>
      <p:sp>
        <p:nvSpPr>
          <p:cNvPr id="5" name="副標題 2"/>
          <p:cNvSpPr txBox="1">
            <a:spLocks/>
          </p:cNvSpPr>
          <p:nvPr/>
        </p:nvSpPr>
        <p:spPr>
          <a:xfrm>
            <a:off x="2921000" y="3076579"/>
            <a:ext cx="6400800" cy="479425"/>
          </a:xfrm>
          <a:prstGeom prst="rect">
            <a:avLst/>
          </a:prstGeom>
        </p:spPr>
        <p:txBody>
          <a:bodyPr>
            <a:normAutofit fontScale="77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2800" dirty="0"/>
              <a:t>Yu-</a:t>
            </a:r>
            <a:r>
              <a:rPr lang="en-US" altLang="zh-TW" sz="2800" dirty="0" err="1"/>
              <a:t>Hsin</a:t>
            </a:r>
            <a:r>
              <a:rPr lang="en-US" altLang="zh-TW" sz="2800" dirty="0"/>
              <a:t> </a:t>
            </a:r>
            <a:r>
              <a:rPr lang="en-US" altLang="zh-TW" sz="2800" dirty="0" err="1"/>
              <a:t>Kuan</a:t>
            </a:r>
            <a:r>
              <a:rPr lang="en-US" altLang="zh-TW" sz="2800" dirty="0"/>
              <a:t>, Chung-Ming </a:t>
            </a:r>
            <a:r>
              <a:rPr lang="en-US" altLang="zh-TW" sz="2800" dirty="0" err="1"/>
              <a:t>Kuo</a:t>
            </a:r>
            <a:r>
              <a:rPr lang="en-US" altLang="zh-TW" sz="2800" dirty="0"/>
              <a:t>, and </a:t>
            </a:r>
            <a:r>
              <a:rPr lang="en-US" altLang="zh-TW" sz="2800" dirty="0" err="1"/>
              <a:t>Nai</a:t>
            </a:r>
            <a:r>
              <a:rPr lang="en-US" altLang="zh-TW" sz="2800" dirty="0"/>
              <a:t>-Chung Yang</a:t>
            </a:r>
            <a:endParaRPr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val="2057903075"/>
              </p:ext>
            </p:extLst>
          </p:nvPr>
        </p:nvGraphicFramePr>
        <p:xfrm>
          <a:off x="452846" y="3866605"/>
          <a:ext cx="11660777" cy="966207"/>
        </p:xfrm>
        <a:graphic>
          <a:graphicData uri="http://schemas.openxmlformats.org/drawingml/2006/table">
            <a:tbl>
              <a:tblPr/>
              <a:tblGrid>
                <a:gridCol w="11660777"/>
              </a:tblGrid>
              <a:tr h="3129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kern="1200" dirty="0" smtClean="0">
                          <a:solidFill>
                            <a:schemeClr val="tx1"/>
                          </a:solidFill>
                          <a:effectLst/>
                          <a:latin typeface="Verdana" panose="020B0604030504040204" pitchFamily="34" charset="0"/>
                          <a:ea typeface="+mn-ea"/>
                          <a:cs typeface="+mn-cs"/>
                        </a:rPr>
                        <a:t>IEEE TRANSACTIONS ON MULTIMEDIA, VOL. 10, NO. 5, pp. 832-845, AUGUST 2008</a:t>
                      </a:r>
                      <a:endParaRPr lang="en-US" altLang="zh-TW" sz="1900" kern="1200" dirty="0" smtClean="0">
                        <a:solidFill>
                          <a:schemeClr val="tx1"/>
                        </a:solidFill>
                        <a:effectLst/>
                        <a:latin typeface="Verdana" panose="020B0604030504040204" pitchFamily="34" charset="0"/>
                        <a:ea typeface="+mn-ea"/>
                        <a:cs typeface="+mn-cs"/>
                      </a:endParaRPr>
                    </a:p>
                  </a:txBody>
                  <a:tcPr marL="95251" marR="9525" marT="9523" marB="9523">
                    <a:lnL>
                      <a:noFill/>
                    </a:lnL>
                    <a:lnR>
                      <a:noFill/>
                    </a:lnR>
                    <a:lnT>
                      <a:noFill/>
                    </a:lnT>
                    <a:lnB>
                      <a:noFill/>
                    </a:lnB>
                    <a:solidFill>
                      <a:srgbClr val="FFFFFF"/>
                    </a:solidFill>
                  </a:tcPr>
                </a:tc>
              </a:tr>
              <a:tr h="653245">
                <a:tc>
                  <a:txBody>
                    <a:bodyPr/>
                    <a:lstStyle/>
                    <a:p>
                      <a:endParaRPr lang="en-US" sz="1500" kern="1200" dirty="0">
                        <a:solidFill>
                          <a:schemeClr val="tx1"/>
                        </a:solidFill>
                        <a:effectLst/>
                        <a:latin typeface="Verdana" panose="020B0604030504040204" pitchFamily="34" charset="0"/>
                        <a:ea typeface="+mn-ea"/>
                        <a:cs typeface="+mn-cs"/>
                      </a:endParaRPr>
                    </a:p>
                  </a:txBody>
                  <a:tcPr marL="95251"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4656143" y="5229229"/>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dirty="0"/>
              <a:t>Presenter: Tsai-Ming Sun</a:t>
            </a:r>
          </a:p>
          <a:p>
            <a:pPr eaLnBrk="1" hangingPunct="1">
              <a:spcBef>
                <a:spcPct val="0"/>
              </a:spcBef>
              <a:buFontTx/>
              <a:buNone/>
            </a:pPr>
            <a:r>
              <a:rPr lang="en-US" altLang="zh-TW" sz="1800" dirty="0"/>
              <a:t>Date:</a:t>
            </a:r>
            <a:fld id="{F3590F60-3E7B-48AD-979A-345F224951B5}" type="datetime1">
              <a:rPr lang="zh-TW" altLang="en-US" sz="1800"/>
              <a:pPr eaLnBrk="1" hangingPunct="1">
                <a:spcBef>
                  <a:spcPct val="0"/>
                </a:spcBef>
                <a:buFontTx/>
                <a:buNone/>
              </a:pPr>
              <a:t>2015/2/9</a:t>
            </a:fld>
            <a:endParaRPr lang="zh-TW" altLang="en-US" sz="1800" dirty="0"/>
          </a:p>
        </p:txBody>
      </p:sp>
    </p:spTree>
    <p:extLst>
      <p:ext uri="{BB962C8B-B14F-4D97-AF65-F5344CB8AC3E}">
        <p14:creationId xmlns:p14="http://schemas.microsoft.com/office/powerpoint/2010/main" val="22341301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838199" y="1471749"/>
            <a:ext cx="11240589" cy="4705214"/>
          </a:xfrm>
        </p:spPr>
        <p:txBody>
          <a:bodyPr>
            <a:normAutofit/>
          </a:bodyPr>
          <a:lstStyle/>
          <a:p>
            <a:pPr marL="0" indent="0">
              <a:buNone/>
            </a:pPr>
            <a:r>
              <a:rPr lang="en-US" altLang="zh-TW" sz="2400" b="1" dirty="0"/>
              <a:t>In this paper, we propose a novel unsupervised </a:t>
            </a:r>
            <a:r>
              <a:rPr lang="en-US" altLang="zh-TW" sz="2400" b="1" dirty="0" smtClean="0"/>
              <a:t>algorithm for </a:t>
            </a:r>
            <a:r>
              <a:rPr lang="en-US" altLang="zh-TW" sz="2400" b="1" dirty="0"/>
              <a:t>the segmentation of salient regions in color images. </a:t>
            </a:r>
            <a:r>
              <a:rPr lang="en-US" altLang="zh-TW" sz="2400" b="1" dirty="0" smtClean="0"/>
              <a:t>There are </a:t>
            </a:r>
            <a:r>
              <a:rPr lang="en-US" altLang="zh-TW" sz="2400" b="1" dirty="0"/>
              <a:t>three phases in this algorithm. In the first phase, we use </a:t>
            </a:r>
            <a:r>
              <a:rPr lang="en-US" altLang="zh-TW" sz="2400" b="1" dirty="0" smtClean="0"/>
              <a:t>nonparametric density </a:t>
            </a:r>
            <a:r>
              <a:rPr lang="en-US" altLang="zh-TW" sz="2400" b="1" dirty="0"/>
              <a:t>estimation to extract candidates of </a:t>
            </a:r>
            <a:r>
              <a:rPr lang="en-US" altLang="zh-TW" sz="2400" b="1" dirty="0" smtClean="0"/>
              <a:t>dominant colors </a:t>
            </a:r>
            <a:r>
              <a:rPr lang="en-US" altLang="zh-TW" sz="2400" b="1" dirty="0"/>
              <a:t>in an image, which are then used for the quantization </a:t>
            </a:r>
            <a:r>
              <a:rPr lang="en-US" altLang="zh-TW" sz="2400" b="1" dirty="0" smtClean="0"/>
              <a:t>of the </a:t>
            </a:r>
            <a:r>
              <a:rPr lang="en-US" altLang="zh-TW" sz="2400" b="1" dirty="0"/>
              <a:t>image. The label map of the quantized image forms initial </a:t>
            </a:r>
            <a:r>
              <a:rPr lang="en-US" altLang="zh-TW" sz="2400" b="1" dirty="0" smtClean="0"/>
              <a:t>regions of segmentation</a:t>
            </a:r>
            <a:r>
              <a:rPr lang="en-US" altLang="zh-TW" sz="2400" b="1" dirty="0"/>
              <a:t>. In the second phase, we define salient </a:t>
            </a:r>
            <a:r>
              <a:rPr lang="en-US" altLang="zh-TW" sz="2400" b="1" dirty="0" smtClean="0"/>
              <a:t>region with </a:t>
            </a:r>
            <a:r>
              <a:rPr lang="en-US" altLang="zh-TW" sz="2400" b="1" dirty="0"/>
              <a:t>two properties; i.e., conspicuous; compact and complete</a:t>
            </a:r>
            <a:r>
              <a:rPr lang="en-US" altLang="zh-TW" sz="2400" b="1" dirty="0" smtClean="0"/>
              <a:t>.</a:t>
            </a:r>
            <a:r>
              <a:rPr lang="en-US" altLang="zh-TW" sz="2400" b="1" dirty="0"/>
              <a:t> </a:t>
            </a:r>
            <a:r>
              <a:rPr lang="en-US" altLang="zh-TW" sz="2400" b="1" dirty="0" smtClean="0"/>
              <a:t>According to </a:t>
            </a:r>
            <a:r>
              <a:rPr lang="en-US" altLang="zh-TW" sz="2400" b="1" dirty="0"/>
              <a:t>the definition, two new parameters are proposed. </a:t>
            </a:r>
            <a:r>
              <a:rPr lang="en-US" altLang="zh-TW" sz="2400" b="1" dirty="0" smtClean="0"/>
              <a:t>One is called “Importance index”, which is used to measure the importance of a region, and the other is called “Merging likelihood”, which is utilized to measure the suitability of region merging. Initial regions are merged based on the two new parameters. In the third phase, a similarity check is performed to further merge the surviving regions. Experimental results show that the proposed method achieves excellent segmentation performance for most of our test images. In addition, the computation is very efficient.</a:t>
            </a:r>
            <a:endParaRPr lang="zh-TW" altLang="en-US" sz="2400" dirty="0" smtClean="0"/>
          </a:p>
          <a:p>
            <a:pPr marL="0" indent="0">
              <a:buNone/>
            </a:pPr>
            <a:endParaRPr lang="zh-TW" altLang="en-US" sz="2400" dirty="0"/>
          </a:p>
        </p:txBody>
      </p:sp>
    </p:spTree>
    <p:extLst>
      <p:ext uri="{BB962C8B-B14F-4D97-AF65-F5344CB8AC3E}">
        <p14:creationId xmlns:p14="http://schemas.microsoft.com/office/powerpoint/2010/main" val="1066536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nonparametric density function</a:t>
            </a:r>
            <a:endParaRPr lang="zh-TW" altLang="en-US" dirty="0"/>
          </a:p>
        </p:txBody>
      </p:sp>
      <p:sp>
        <p:nvSpPr>
          <p:cNvPr id="4" name="內容版面配置區 3"/>
          <p:cNvSpPr>
            <a:spLocks noGrp="1"/>
          </p:cNvSpPr>
          <p:nvPr>
            <p:ph idx="1"/>
          </p:nvPr>
        </p:nvSpPr>
        <p:spPr/>
        <p:txBody>
          <a:bodyPr/>
          <a:lstStyle/>
          <a:p>
            <a:endParaRPr lang="en-US" altLang="zh-TW" dirty="0" smtClean="0"/>
          </a:p>
          <a:p>
            <a:endParaRPr lang="en-US" altLang="zh-TW" dirty="0" smtClean="0"/>
          </a:p>
          <a:p>
            <a:r>
              <a:rPr lang="en-US" altLang="zh-TW" dirty="0" smtClean="0"/>
              <a:t>Gaussian </a:t>
            </a:r>
            <a:r>
              <a:rPr lang="en-US" altLang="zh-TW" dirty="0"/>
              <a:t>kernel</a:t>
            </a:r>
            <a:endParaRPr lang="zh-TW" altLang="en-US" dirty="0"/>
          </a:p>
        </p:txBody>
      </p:sp>
      <p:pic>
        <p:nvPicPr>
          <p:cNvPr id="6" name="圖片 5"/>
          <p:cNvPicPr>
            <a:picLocks noChangeAspect="1"/>
          </p:cNvPicPr>
          <p:nvPr/>
        </p:nvPicPr>
        <p:blipFill>
          <a:blip r:embed="rId2"/>
          <a:stretch>
            <a:fillRect/>
          </a:stretch>
        </p:blipFill>
        <p:spPr>
          <a:xfrm>
            <a:off x="7059779" y="1445623"/>
            <a:ext cx="5132221" cy="5242197"/>
          </a:xfrm>
          <a:prstGeom prst="rect">
            <a:avLst/>
          </a:prstGeom>
        </p:spPr>
      </p:pic>
      <p:pic>
        <p:nvPicPr>
          <p:cNvPr id="7" name="圖片 6"/>
          <p:cNvPicPr>
            <a:picLocks noChangeAspect="1"/>
          </p:cNvPicPr>
          <p:nvPr/>
        </p:nvPicPr>
        <p:blipFill>
          <a:blip r:embed="rId3"/>
          <a:stretch>
            <a:fillRect/>
          </a:stretch>
        </p:blipFill>
        <p:spPr>
          <a:xfrm>
            <a:off x="1412421" y="1567317"/>
            <a:ext cx="3619500" cy="1200150"/>
          </a:xfrm>
          <a:prstGeom prst="rect">
            <a:avLst/>
          </a:prstGeom>
        </p:spPr>
      </p:pic>
      <p:pic>
        <p:nvPicPr>
          <p:cNvPr id="8" name="圖片 7"/>
          <p:cNvPicPr>
            <a:picLocks noChangeAspect="1"/>
          </p:cNvPicPr>
          <p:nvPr/>
        </p:nvPicPr>
        <p:blipFill>
          <a:blip r:embed="rId4"/>
          <a:stretch>
            <a:fillRect/>
          </a:stretch>
        </p:blipFill>
        <p:spPr>
          <a:xfrm>
            <a:off x="1479096" y="3646849"/>
            <a:ext cx="4095750" cy="1114425"/>
          </a:xfrm>
          <a:prstGeom prst="rect">
            <a:avLst/>
          </a:prstGeom>
        </p:spPr>
      </p:pic>
    </p:spTree>
    <p:extLst>
      <p:ext uri="{BB962C8B-B14F-4D97-AF65-F5344CB8AC3E}">
        <p14:creationId xmlns:p14="http://schemas.microsoft.com/office/powerpoint/2010/main" val="2773845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YUV color space</a:t>
            </a:r>
            <a:endParaRPr lang="zh-TW" altLang="en-US" dirty="0"/>
          </a:p>
        </p:txBody>
      </p:sp>
      <p:sp>
        <p:nvSpPr>
          <p:cNvPr id="3" name="內容版面配置區 2"/>
          <p:cNvSpPr>
            <a:spLocks noGrp="1"/>
          </p:cNvSpPr>
          <p:nvPr>
            <p:ph idx="1"/>
          </p:nvPr>
        </p:nvSpPr>
        <p:spPr/>
        <p:txBody>
          <a:bodyPr/>
          <a:lstStyle/>
          <a:p>
            <a:pPr marL="0" indent="0">
              <a:buNone/>
            </a:pPr>
            <a:r>
              <a:rPr lang="pt-BR" altLang="zh-TW" dirty="0" smtClean="0"/>
              <a:t>Y</a:t>
            </a:r>
            <a:r>
              <a:rPr lang="en-US" altLang="zh-TW" dirty="0" smtClean="0"/>
              <a:t>(</a:t>
            </a:r>
            <a:r>
              <a:rPr lang="en-US" altLang="zh-TW" dirty="0"/>
              <a:t>Luminance</a:t>
            </a:r>
            <a:r>
              <a:rPr lang="en-US" altLang="zh-TW" dirty="0" smtClean="0"/>
              <a:t>)</a:t>
            </a:r>
            <a:r>
              <a:rPr lang="pt-BR" altLang="zh-TW" dirty="0" smtClean="0"/>
              <a:t> </a:t>
            </a:r>
            <a:r>
              <a:rPr lang="pt-BR" altLang="zh-TW" dirty="0"/>
              <a:t>= 0.299R + 0.587G + 0.114B </a:t>
            </a:r>
            <a:r>
              <a:rPr lang="pt-BR" altLang="zh-TW" dirty="0" smtClean="0"/>
              <a:t/>
            </a:r>
            <a:br>
              <a:rPr lang="pt-BR" altLang="zh-TW" dirty="0" smtClean="0"/>
            </a:br>
            <a:r>
              <a:rPr lang="pt-BR" altLang="zh-TW" dirty="0" smtClean="0"/>
              <a:t>U(</a:t>
            </a:r>
            <a:r>
              <a:rPr lang="en-US" altLang="zh-TW" dirty="0"/>
              <a:t>Chrominance</a:t>
            </a:r>
            <a:r>
              <a:rPr lang="pt-BR" altLang="zh-TW" dirty="0" smtClean="0"/>
              <a:t>) </a:t>
            </a:r>
            <a:r>
              <a:rPr lang="pt-BR" altLang="zh-TW" dirty="0"/>
              <a:t>= -0.147R - 0.289G + 0.436B </a:t>
            </a:r>
            <a:r>
              <a:rPr lang="pt-BR" altLang="zh-TW" dirty="0" smtClean="0"/>
              <a:t/>
            </a:r>
            <a:br>
              <a:rPr lang="pt-BR" altLang="zh-TW" dirty="0" smtClean="0"/>
            </a:br>
            <a:r>
              <a:rPr lang="pt-BR" altLang="zh-TW" dirty="0" smtClean="0"/>
              <a:t>V(</a:t>
            </a:r>
            <a:r>
              <a:rPr lang="en-US" altLang="zh-TW" dirty="0" smtClean="0"/>
              <a:t>Chrominance</a:t>
            </a:r>
            <a:r>
              <a:rPr lang="pt-BR" altLang="zh-TW" dirty="0" smtClean="0"/>
              <a:t>) </a:t>
            </a:r>
            <a:r>
              <a:rPr lang="pt-BR" altLang="zh-TW" dirty="0"/>
              <a:t>= 0.615R - 0.515G - 0.100B </a:t>
            </a:r>
            <a:endParaRPr lang="zh-TW" altLang="en-US" dirty="0"/>
          </a:p>
        </p:txBody>
      </p:sp>
      <p:pic>
        <p:nvPicPr>
          <p:cNvPr id="2054" name="Picture 6" descr="http://upload.wikimedia.org/wikipedia/commons/thumb/2/29/Barn-yuv.png/320px-Barn-yuv.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3894" y="365125"/>
            <a:ext cx="2007809" cy="6004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424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dominant color extraction</a:t>
            </a:r>
            <a:endParaRPr lang="zh-TW" altLang="en-US" dirty="0"/>
          </a:p>
        </p:txBody>
      </p:sp>
      <p:pic>
        <p:nvPicPr>
          <p:cNvPr id="6" name="內容版面配置區 5"/>
          <p:cNvPicPr>
            <a:picLocks noGrp="1" noChangeAspect="1"/>
          </p:cNvPicPr>
          <p:nvPr>
            <p:ph idx="1"/>
          </p:nvPr>
        </p:nvPicPr>
        <p:blipFill>
          <a:blip r:embed="rId2"/>
          <a:stretch>
            <a:fillRect/>
          </a:stretch>
        </p:blipFill>
        <p:spPr>
          <a:xfrm>
            <a:off x="1944189" y="1224733"/>
            <a:ext cx="8549640" cy="5564855"/>
          </a:xfrm>
          <a:prstGeom prst="rect">
            <a:avLst/>
          </a:prstGeom>
        </p:spPr>
      </p:pic>
    </p:spTree>
    <p:extLst>
      <p:ext uri="{BB962C8B-B14F-4D97-AF65-F5344CB8AC3E}">
        <p14:creationId xmlns:p14="http://schemas.microsoft.com/office/powerpoint/2010/main" val="104864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Image Pixel Assignments</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718998" y="1436913"/>
            <a:ext cx="10754004" cy="4841951"/>
          </a:xfrm>
          <a:prstGeom prst="rect">
            <a:avLst/>
          </a:prstGeom>
        </p:spPr>
      </p:pic>
    </p:spTree>
    <p:extLst>
      <p:ext uri="{BB962C8B-B14F-4D97-AF65-F5344CB8AC3E}">
        <p14:creationId xmlns:p14="http://schemas.microsoft.com/office/powerpoint/2010/main" val="1410596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Region-Merging Strategy</a:t>
            </a:r>
            <a:endParaRPr lang="zh-TW" altLang="en-US" dirty="0"/>
          </a:p>
        </p:txBody>
      </p:sp>
      <p:sp>
        <p:nvSpPr>
          <p:cNvPr id="3" name="內容版面配置區 2"/>
          <p:cNvSpPr>
            <a:spLocks noGrp="1"/>
          </p:cNvSpPr>
          <p:nvPr>
            <p:ph idx="1"/>
          </p:nvPr>
        </p:nvSpPr>
        <p:spPr/>
        <p:txBody>
          <a:bodyPr/>
          <a:lstStyle/>
          <a:p>
            <a:r>
              <a:rPr lang="en-US" altLang="zh-TW" dirty="0" smtClean="0"/>
              <a:t>Importance index</a:t>
            </a:r>
          </a:p>
          <a:p>
            <a:r>
              <a:rPr lang="en-US" altLang="zh-TW" dirty="0"/>
              <a:t>Merging likelihood</a:t>
            </a:r>
            <a:endParaRPr lang="en-US" altLang="zh-TW" dirty="0" smtClean="0"/>
          </a:p>
          <a:p>
            <a:endParaRPr lang="en-US" altLang="zh-TW" dirty="0"/>
          </a:p>
          <a:p>
            <a:pPr marL="0" indent="0">
              <a:buNone/>
            </a:pPr>
            <a:endParaRPr lang="zh-TW" altLang="en-US" dirty="0"/>
          </a:p>
        </p:txBody>
      </p:sp>
    </p:spTree>
    <p:extLst>
      <p:ext uri="{BB962C8B-B14F-4D97-AF65-F5344CB8AC3E}">
        <p14:creationId xmlns:p14="http://schemas.microsoft.com/office/powerpoint/2010/main" val="769398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Importance index</a:t>
            </a:r>
            <a:endParaRPr lang="zh-TW" altLang="en-US" dirty="0"/>
          </a:p>
        </p:txBody>
      </p:sp>
      <p:sp>
        <p:nvSpPr>
          <p:cNvPr id="5" name="內容版面配置區 4"/>
          <p:cNvSpPr>
            <a:spLocks noGrp="1"/>
          </p:cNvSpPr>
          <p:nvPr>
            <p:ph idx="1"/>
          </p:nvPr>
        </p:nvSpPr>
        <p:spPr>
          <a:xfrm>
            <a:off x="838200" y="1825624"/>
            <a:ext cx="10515600" cy="4784181"/>
          </a:xfrm>
        </p:spPr>
        <p:txBody>
          <a:bodyPr>
            <a:normAutofit fontScale="92500" lnSpcReduction="10000"/>
          </a:bodyPr>
          <a:lstStyle/>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en-US" altLang="zh-TW" dirty="0"/>
          </a:p>
          <a:p>
            <a:r>
              <a:rPr lang="en-US" altLang="zh-TW" dirty="0" smtClean="0"/>
              <a:t>Threshold </a:t>
            </a:r>
            <a:r>
              <a:rPr lang="en-US" altLang="zh-TW" dirty="0" smtClean="0"/>
              <a:t>T</a:t>
            </a:r>
            <a:r>
              <a:rPr lang="en-US" altLang="zh-TW" baseline="-25000" dirty="0" smtClean="0"/>
              <a:t>m</a:t>
            </a:r>
            <a:r>
              <a:rPr lang="en-US" altLang="zh-TW" dirty="0" smtClean="0"/>
              <a:t>:</a:t>
            </a:r>
          </a:p>
          <a:p>
            <a:pPr marL="0" indent="0">
              <a:buNone/>
            </a:pPr>
            <a:r>
              <a:rPr lang="en-US" altLang="zh-TW" dirty="0" smtClean="0"/>
              <a:t>If </a:t>
            </a:r>
            <a:r>
              <a:rPr lang="en-US" altLang="zh-TW" dirty="0"/>
              <a:t>the importance index of a region is less than the </a:t>
            </a:r>
            <a:r>
              <a:rPr lang="en-US" altLang="zh-TW" dirty="0" smtClean="0"/>
              <a:t>merging threshold </a:t>
            </a:r>
            <a:r>
              <a:rPr lang="en-US" altLang="zh-TW" dirty="0" smtClean="0"/>
              <a:t>T</a:t>
            </a:r>
            <a:r>
              <a:rPr lang="en-US" altLang="zh-TW" baseline="-25000" dirty="0" smtClean="0"/>
              <a:t>m</a:t>
            </a:r>
            <a:r>
              <a:rPr lang="en-US" altLang="zh-TW" dirty="0" smtClean="0"/>
              <a:t>, </a:t>
            </a:r>
            <a:r>
              <a:rPr lang="en-US" altLang="zh-TW" dirty="0"/>
              <a:t>then the region is called a less important region</a:t>
            </a:r>
            <a:endParaRPr lang="zh-TW" altLang="en-US" u="sng" baseline="-25000" dirty="0" smtClean="0"/>
          </a:p>
          <a:p>
            <a:endParaRPr lang="zh-TW" altLang="en-US" u="sng" baseline="-25000" dirty="0"/>
          </a:p>
        </p:txBody>
      </p:sp>
      <p:pic>
        <p:nvPicPr>
          <p:cNvPr id="6" name="內容版面配置區 3"/>
          <p:cNvPicPr>
            <a:picLocks noChangeAspect="1"/>
          </p:cNvPicPr>
          <p:nvPr/>
        </p:nvPicPr>
        <p:blipFill>
          <a:blip r:embed="rId2"/>
          <a:stretch>
            <a:fillRect/>
          </a:stretch>
        </p:blipFill>
        <p:spPr>
          <a:xfrm>
            <a:off x="986246" y="1321639"/>
            <a:ext cx="5286375" cy="4105275"/>
          </a:xfrm>
          <a:prstGeom prst="rect">
            <a:avLst/>
          </a:prstGeom>
        </p:spPr>
      </p:pic>
      <p:pic>
        <p:nvPicPr>
          <p:cNvPr id="7" name="圖片 6"/>
          <p:cNvPicPr>
            <a:picLocks noChangeAspect="1"/>
          </p:cNvPicPr>
          <p:nvPr/>
        </p:nvPicPr>
        <p:blipFill>
          <a:blip r:embed="rId3"/>
          <a:stretch>
            <a:fillRect/>
          </a:stretch>
        </p:blipFill>
        <p:spPr>
          <a:xfrm>
            <a:off x="8546998" y="953588"/>
            <a:ext cx="3645002" cy="1933303"/>
          </a:xfrm>
          <a:prstGeom prst="rect">
            <a:avLst/>
          </a:prstGeom>
        </p:spPr>
      </p:pic>
    </p:spTree>
    <p:extLst>
      <p:ext uri="{BB962C8B-B14F-4D97-AF65-F5344CB8AC3E}">
        <p14:creationId xmlns:p14="http://schemas.microsoft.com/office/powerpoint/2010/main" val="837767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Merging Likelihood Computation</a:t>
            </a:r>
            <a:endParaRPr lang="zh-TW" altLang="en-US" dirty="0"/>
          </a:p>
        </p:txBody>
      </p:sp>
      <p:sp>
        <p:nvSpPr>
          <p:cNvPr id="3" name="內容版面配置區 2"/>
          <p:cNvSpPr>
            <a:spLocks noGrp="1"/>
          </p:cNvSpPr>
          <p:nvPr>
            <p:ph idx="1"/>
          </p:nvPr>
        </p:nvSpPr>
        <p:spPr/>
        <p:txBody>
          <a:bodyPr/>
          <a:lstStyle/>
          <a:p>
            <a:r>
              <a:rPr lang="en-US" altLang="zh-TW" i="1" dirty="0"/>
              <a:t>Color distance between </a:t>
            </a:r>
            <a:r>
              <a:rPr lang="en-US" altLang="zh-TW" i="1" dirty="0" smtClean="0"/>
              <a:t>regions</a:t>
            </a:r>
          </a:p>
          <a:p>
            <a:pPr marL="0" indent="0">
              <a:buNone/>
            </a:pPr>
            <a:endParaRPr lang="en-US" altLang="zh-TW" i="1" dirty="0" smtClean="0"/>
          </a:p>
          <a:p>
            <a:r>
              <a:rPr lang="en-US" altLang="zh-TW" i="1" dirty="0"/>
              <a:t>Boundary length between </a:t>
            </a:r>
            <a:r>
              <a:rPr lang="en-US" altLang="zh-TW" i="1" dirty="0" smtClean="0"/>
              <a:t>regions</a:t>
            </a:r>
          </a:p>
          <a:p>
            <a:r>
              <a:rPr lang="en-US" altLang="zh-TW" i="1" dirty="0"/>
              <a:t>Region sizes of neighboring regions</a:t>
            </a:r>
            <a:endParaRPr lang="zh-TW" altLang="en-US" dirty="0"/>
          </a:p>
        </p:txBody>
      </p:sp>
      <p:pic>
        <p:nvPicPr>
          <p:cNvPr id="4" name="圖片 3"/>
          <p:cNvPicPr>
            <a:picLocks noChangeAspect="1"/>
          </p:cNvPicPr>
          <p:nvPr/>
        </p:nvPicPr>
        <p:blipFill>
          <a:blip r:embed="rId2"/>
          <a:stretch>
            <a:fillRect/>
          </a:stretch>
        </p:blipFill>
        <p:spPr>
          <a:xfrm>
            <a:off x="2079988" y="2280285"/>
            <a:ext cx="7143750" cy="590550"/>
          </a:xfrm>
          <a:prstGeom prst="rect">
            <a:avLst/>
          </a:prstGeom>
        </p:spPr>
      </p:pic>
      <p:pic>
        <p:nvPicPr>
          <p:cNvPr id="5" name="圖片 4"/>
          <p:cNvPicPr>
            <a:picLocks noChangeAspect="1"/>
          </p:cNvPicPr>
          <p:nvPr/>
        </p:nvPicPr>
        <p:blipFill>
          <a:blip r:embed="rId3"/>
          <a:stretch>
            <a:fillRect/>
          </a:stretch>
        </p:blipFill>
        <p:spPr>
          <a:xfrm>
            <a:off x="10239375" y="2420144"/>
            <a:ext cx="1952625" cy="1581150"/>
          </a:xfrm>
          <a:prstGeom prst="rect">
            <a:avLst/>
          </a:prstGeom>
        </p:spPr>
      </p:pic>
      <p:pic>
        <p:nvPicPr>
          <p:cNvPr id="6" name="圖片 5"/>
          <p:cNvPicPr>
            <a:picLocks noChangeAspect="1"/>
          </p:cNvPicPr>
          <p:nvPr/>
        </p:nvPicPr>
        <p:blipFill>
          <a:blip r:embed="rId4"/>
          <a:stretch>
            <a:fillRect/>
          </a:stretch>
        </p:blipFill>
        <p:spPr>
          <a:xfrm>
            <a:off x="8499566" y="1252629"/>
            <a:ext cx="3631474" cy="955978"/>
          </a:xfrm>
          <a:prstGeom prst="rect">
            <a:avLst/>
          </a:prstGeom>
        </p:spPr>
      </p:pic>
      <p:pic>
        <p:nvPicPr>
          <p:cNvPr id="8" name="圖片 7"/>
          <p:cNvPicPr>
            <a:picLocks noChangeAspect="1"/>
          </p:cNvPicPr>
          <p:nvPr/>
        </p:nvPicPr>
        <p:blipFill>
          <a:blip r:embed="rId5"/>
          <a:stretch>
            <a:fillRect/>
          </a:stretch>
        </p:blipFill>
        <p:spPr>
          <a:xfrm>
            <a:off x="838200" y="4311150"/>
            <a:ext cx="5486400" cy="1057275"/>
          </a:xfrm>
          <a:prstGeom prst="rect">
            <a:avLst/>
          </a:prstGeom>
        </p:spPr>
      </p:pic>
      <p:pic>
        <p:nvPicPr>
          <p:cNvPr id="9" name="圖片 8"/>
          <p:cNvPicPr>
            <a:picLocks noChangeAspect="1"/>
          </p:cNvPicPr>
          <p:nvPr/>
        </p:nvPicPr>
        <p:blipFill>
          <a:blip r:embed="rId6"/>
          <a:stretch>
            <a:fillRect/>
          </a:stretch>
        </p:blipFill>
        <p:spPr>
          <a:xfrm>
            <a:off x="809625" y="5368425"/>
            <a:ext cx="5514975" cy="1362075"/>
          </a:xfrm>
          <a:prstGeom prst="rect">
            <a:avLst/>
          </a:prstGeom>
        </p:spPr>
      </p:pic>
      <p:pic>
        <p:nvPicPr>
          <p:cNvPr id="10" name="圖片 9"/>
          <p:cNvPicPr>
            <a:picLocks noChangeAspect="1"/>
          </p:cNvPicPr>
          <p:nvPr/>
        </p:nvPicPr>
        <p:blipFill>
          <a:blip r:embed="rId7"/>
          <a:stretch>
            <a:fillRect/>
          </a:stretch>
        </p:blipFill>
        <p:spPr>
          <a:xfrm>
            <a:off x="6976655" y="4491582"/>
            <a:ext cx="4038600" cy="1962150"/>
          </a:xfrm>
          <a:prstGeom prst="rect">
            <a:avLst/>
          </a:prstGeom>
        </p:spPr>
      </p:pic>
    </p:spTree>
    <p:extLst>
      <p:ext uri="{BB962C8B-B14F-4D97-AF65-F5344CB8AC3E}">
        <p14:creationId xmlns:p14="http://schemas.microsoft.com/office/powerpoint/2010/main" val="2262789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Similarity of Important Regions</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t>I</a:t>
            </a:r>
            <a:r>
              <a:rPr lang="en-US" altLang="zh-TW" dirty="0" smtClean="0"/>
              <a:t>mportant </a:t>
            </a:r>
            <a:r>
              <a:rPr lang="en-US" altLang="zh-TW" dirty="0"/>
              <a:t>regions may still be similar </a:t>
            </a:r>
            <a:r>
              <a:rPr lang="en-US" altLang="zh-TW" dirty="0" smtClean="0"/>
              <a:t>to their </a:t>
            </a:r>
            <a:r>
              <a:rPr lang="en-US" altLang="zh-TW" dirty="0"/>
              <a:t>adjacent regions and should be further merged. The </a:t>
            </a:r>
            <a:r>
              <a:rPr lang="en-US" altLang="zh-TW" dirty="0" smtClean="0"/>
              <a:t>further checking </a:t>
            </a:r>
            <a:r>
              <a:rPr lang="en-US" altLang="zh-TW" dirty="0"/>
              <a:t>criterion is to measure the </a:t>
            </a:r>
            <a:r>
              <a:rPr lang="en-US" altLang="zh-TW" dirty="0">
                <a:solidFill>
                  <a:srgbClr val="FF0000"/>
                </a:solidFill>
              </a:rPr>
              <a:t>color similarity</a:t>
            </a:r>
            <a:r>
              <a:rPr lang="en-US" altLang="zh-TW" dirty="0"/>
              <a:t> with </a:t>
            </a:r>
            <a:r>
              <a:rPr lang="en-US" altLang="zh-TW" dirty="0" smtClean="0"/>
              <a:t>an adaptive threshold </a:t>
            </a:r>
            <a:r>
              <a:rPr lang="en-US" altLang="zh-TW" dirty="0" err="1" smtClean="0"/>
              <a:t>T</a:t>
            </a:r>
            <a:r>
              <a:rPr lang="en-US" altLang="zh-TW" baseline="-25000" dirty="0" err="1" smtClean="0"/>
              <a:t>s</a:t>
            </a:r>
            <a:endParaRPr lang="en-US" altLang="zh-TW" baseline="-25000" dirty="0" smtClean="0"/>
          </a:p>
          <a:p>
            <a:endParaRPr lang="en-US" altLang="zh-TW" baseline="-25000" dirty="0"/>
          </a:p>
          <a:p>
            <a:endParaRPr lang="en-US" altLang="zh-TW" baseline="-25000" dirty="0" smtClean="0"/>
          </a:p>
          <a:p>
            <a:endParaRPr lang="en-US" altLang="zh-TW" baseline="-25000" dirty="0"/>
          </a:p>
          <a:p>
            <a:endParaRPr lang="en-US" altLang="zh-TW" baseline="-25000" dirty="0" smtClean="0"/>
          </a:p>
          <a:p>
            <a:endParaRPr lang="en-US" altLang="zh-TW" baseline="-25000" dirty="0"/>
          </a:p>
          <a:p>
            <a:endParaRPr lang="en-US" altLang="zh-TW" baseline="-25000" dirty="0" smtClean="0"/>
          </a:p>
          <a:p>
            <a:r>
              <a:rPr lang="en-US" altLang="zh-TW" dirty="0"/>
              <a:t>If the color distance between two connected important </a:t>
            </a:r>
            <a:r>
              <a:rPr lang="en-US" altLang="zh-TW" dirty="0" smtClean="0"/>
              <a:t>regions is </a:t>
            </a:r>
            <a:r>
              <a:rPr lang="en-US" altLang="zh-TW" dirty="0"/>
              <a:t>less than </a:t>
            </a:r>
            <a:r>
              <a:rPr lang="en-US" altLang="zh-TW" dirty="0" err="1" smtClean="0"/>
              <a:t>T</a:t>
            </a:r>
            <a:r>
              <a:rPr lang="en-US" altLang="zh-TW" baseline="-25000" dirty="0" err="1" smtClean="0"/>
              <a:t>s</a:t>
            </a:r>
            <a:r>
              <a:rPr lang="en-US" altLang="zh-TW" dirty="0" smtClean="0"/>
              <a:t>, </a:t>
            </a:r>
            <a:r>
              <a:rPr lang="en-US" altLang="zh-TW" dirty="0"/>
              <a:t>they are similar and should be merged.</a:t>
            </a:r>
            <a:endParaRPr lang="zh-TW" altLang="en-US" baseline="-25000" dirty="0"/>
          </a:p>
        </p:txBody>
      </p:sp>
      <p:pic>
        <p:nvPicPr>
          <p:cNvPr id="4" name="圖片 3"/>
          <p:cNvPicPr>
            <a:picLocks noChangeAspect="1"/>
          </p:cNvPicPr>
          <p:nvPr/>
        </p:nvPicPr>
        <p:blipFill>
          <a:blip r:embed="rId2"/>
          <a:stretch>
            <a:fillRect/>
          </a:stretch>
        </p:blipFill>
        <p:spPr>
          <a:xfrm>
            <a:off x="1112112" y="3129756"/>
            <a:ext cx="4429125" cy="1743075"/>
          </a:xfrm>
          <a:prstGeom prst="rect">
            <a:avLst/>
          </a:prstGeom>
        </p:spPr>
      </p:pic>
      <p:pic>
        <p:nvPicPr>
          <p:cNvPr id="5" name="圖片 4"/>
          <p:cNvPicPr>
            <a:picLocks noChangeAspect="1"/>
          </p:cNvPicPr>
          <p:nvPr/>
        </p:nvPicPr>
        <p:blipFill>
          <a:blip r:embed="rId3"/>
          <a:stretch>
            <a:fillRect/>
          </a:stretch>
        </p:blipFill>
        <p:spPr>
          <a:xfrm>
            <a:off x="5962650" y="3253581"/>
            <a:ext cx="5391150" cy="1619250"/>
          </a:xfrm>
          <a:prstGeom prst="rect">
            <a:avLst/>
          </a:prstGeom>
        </p:spPr>
      </p:pic>
    </p:spTree>
    <p:extLst>
      <p:ext uri="{BB962C8B-B14F-4D97-AF65-F5344CB8AC3E}">
        <p14:creationId xmlns:p14="http://schemas.microsoft.com/office/powerpoint/2010/main" val="834620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838200" y="121920"/>
            <a:ext cx="10515600" cy="6644640"/>
          </a:xfrm>
        </p:spPr>
        <p:txBody>
          <a:bodyPr>
            <a:normAutofit/>
          </a:bodyPr>
          <a:lstStyle/>
          <a:p>
            <a:r>
              <a:rPr lang="en-US" altLang="zh-TW" sz="1600" dirty="0"/>
              <a:t>Flowchart of the proposed segmentation algorithm. (a) Dominant color extraction. (b) Region merging based on merging likelihood. (c) Region </a:t>
            </a:r>
            <a:r>
              <a:rPr lang="en-US" altLang="zh-TW" sz="1600" dirty="0" smtClean="0"/>
              <a:t>merging based </a:t>
            </a:r>
            <a:r>
              <a:rPr lang="en-US" altLang="zh-TW" sz="1600" dirty="0"/>
              <a:t>on color similarity.</a:t>
            </a:r>
            <a:endParaRPr lang="zh-TW" altLang="en-US" sz="1600" dirty="0"/>
          </a:p>
        </p:txBody>
      </p:sp>
      <p:pic>
        <p:nvPicPr>
          <p:cNvPr id="5" name="圖片 4"/>
          <p:cNvPicPr>
            <a:picLocks noChangeAspect="1"/>
          </p:cNvPicPr>
          <p:nvPr/>
        </p:nvPicPr>
        <p:blipFill>
          <a:blip r:embed="rId2"/>
          <a:stretch>
            <a:fillRect/>
          </a:stretch>
        </p:blipFill>
        <p:spPr>
          <a:xfrm>
            <a:off x="1506583" y="551939"/>
            <a:ext cx="9326880" cy="6306061"/>
          </a:xfrm>
          <a:prstGeom prst="rect">
            <a:avLst/>
          </a:prstGeom>
        </p:spPr>
      </p:pic>
    </p:spTree>
    <p:extLst>
      <p:ext uri="{BB962C8B-B14F-4D97-AF65-F5344CB8AC3E}">
        <p14:creationId xmlns:p14="http://schemas.microsoft.com/office/powerpoint/2010/main" val="641425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929111" y="1851751"/>
            <a:ext cx="4220361" cy="4351338"/>
          </a:xfrm>
          <a:prstGeom prst="rect">
            <a:avLst/>
          </a:prstGeom>
        </p:spPr>
      </p:pic>
      <p:pic>
        <p:nvPicPr>
          <p:cNvPr id="5" name="圖片 4"/>
          <p:cNvPicPr>
            <a:picLocks noChangeAspect="1"/>
          </p:cNvPicPr>
          <p:nvPr/>
        </p:nvPicPr>
        <p:blipFill>
          <a:blip r:embed="rId3"/>
          <a:stretch>
            <a:fillRect/>
          </a:stretch>
        </p:blipFill>
        <p:spPr>
          <a:xfrm>
            <a:off x="5371166" y="674643"/>
            <a:ext cx="6722998" cy="5528446"/>
          </a:xfrm>
          <a:prstGeom prst="rect">
            <a:avLst/>
          </a:prstGeom>
        </p:spPr>
      </p:pic>
    </p:spTree>
    <p:extLst>
      <p:ext uri="{BB962C8B-B14F-4D97-AF65-F5344CB8AC3E}">
        <p14:creationId xmlns:p14="http://schemas.microsoft.com/office/powerpoint/2010/main" val="2941088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6810" y="653142"/>
            <a:ext cx="5925188" cy="5524595"/>
          </a:xfrm>
          <a:prstGeom prst="rect">
            <a:avLst/>
          </a:prstGeom>
        </p:spPr>
      </p:pic>
      <p:pic>
        <p:nvPicPr>
          <p:cNvPr id="5" name="圖片 4"/>
          <p:cNvPicPr>
            <a:picLocks noChangeAspect="1"/>
          </p:cNvPicPr>
          <p:nvPr/>
        </p:nvPicPr>
        <p:blipFill>
          <a:blip r:embed="rId3"/>
          <a:stretch>
            <a:fillRect/>
          </a:stretch>
        </p:blipFill>
        <p:spPr>
          <a:xfrm>
            <a:off x="5918378" y="653142"/>
            <a:ext cx="6273622" cy="5593875"/>
          </a:xfrm>
          <a:prstGeom prst="rect">
            <a:avLst/>
          </a:prstGeom>
        </p:spPr>
      </p:pic>
    </p:spTree>
    <p:extLst>
      <p:ext uri="{BB962C8B-B14F-4D97-AF65-F5344CB8AC3E}">
        <p14:creationId xmlns:p14="http://schemas.microsoft.com/office/powerpoint/2010/main" val="4230641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0" y="474481"/>
            <a:ext cx="12192000" cy="6144478"/>
          </a:xfrm>
          <a:prstGeom prst="rect">
            <a:avLst/>
          </a:prstGeom>
        </p:spPr>
      </p:pic>
    </p:spTree>
    <p:extLst>
      <p:ext uri="{BB962C8B-B14F-4D97-AF65-F5344CB8AC3E}">
        <p14:creationId xmlns:p14="http://schemas.microsoft.com/office/powerpoint/2010/main" val="2895480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2997925" y="-4349"/>
            <a:ext cx="6346371" cy="6862349"/>
          </a:xfrm>
          <a:prstGeom prst="rect">
            <a:avLst/>
          </a:prstGeom>
        </p:spPr>
      </p:pic>
    </p:spTree>
    <p:extLst>
      <p:ext uri="{BB962C8B-B14F-4D97-AF65-F5344CB8AC3E}">
        <p14:creationId xmlns:p14="http://schemas.microsoft.com/office/powerpoint/2010/main" val="250444643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TotalTime>
  <Words>408</Words>
  <Application>Microsoft Office PowerPoint</Application>
  <PresentationFormat>寬螢幕</PresentationFormat>
  <Paragraphs>45</Paragraphs>
  <Slides>15</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新細明體</vt:lpstr>
      <vt:lpstr>Arial</vt:lpstr>
      <vt:lpstr>Calibri</vt:lpstr>
      <vt:lpstr>Calibri Light</vt:lpstr>
      <vt:lpstr>Verdana</vt:lpstr>
      <vt:lpstr>Office 佈景主題</vt:lpstr>
      <vt:lpstr>PowerPoint 簡報</vt:lpstr>
      <vt:lpstr>Abstract</vt:lpstr>
      <vt:lpstr>nonparametric density function</vt:lpstr>
      <vt:lpstr>YUV color space</vt:lpstr>
      <vt:lpstr>dominant color extraction</vt:lpstr>
      <vt:lpstr>Image Pixel Assignments</vt:lpstr>
      <vt:lpstr>Region-Merging Strategy</vt:lpstr>
      <vt:lpstr>Importance index</vt:lpstr>
      <vt:lpstr>Merging Likelihood Computation</vt:lpstr>
      <vt:lpstr>Similarity of Important Regions</vt:lpstr>
      <vt:lpstr>PowerPoint 簡報</vt:lpstr>
      <vt:lpstr>EXPERIMENTS</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Sun</dc:creator>
  <cp:lastModifiedBy>Sun</cp:lastModifiedBy>
  <cp:revision>12</cp:revision>
  <dcterms:created xsi:type="dcterms:W3CDTF">2015-02-08T19:38:20Z</dcterms:created>
  <dcterms:modified xsi:type="dcterms:W3CDTF">2015-02-09T05:29:59Z</dcterms:modified>
</cp:coreProperties>
</file>