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74" r:id="rId5"/>
    <p:sldId id="275" r:id="rId6"/>
    <p:sldId id="276" r:id="rId7"/>
    <p:sldId id="279" r:id="rId8"/>
    <p:sldId id="260" r:id="rId9"/>
    <p:sldId id="280" r:id="rId10"/>
    <p:sldId id="281" r:id="rId11"/>
    <p:sldId id="282" r:id="rId12"/>
    <p:sldId id="261" r:id="rId13"/>
    <p:sldId id="283" r:id="rId14"/>
    <p:sldId id="284" r:id="rId15"/>
    <p:sldId id="285" r:id="rId16"/>
    <p:sldId id="262" r:id="rId17"/>
    <p:sldId id="263" r:id="rId18"/>
    <p:sldId id="278" r:id="rId19"/>
    <p:sldId id="264" r:id="rId20"/>
    <p:sldId id="269" r:id="rId21"/>
    <p:sldId id="271" r:id="rId22"/>
    <p:sldId id="265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1092" autoAdjust="0"/>
  </p:normalViewPr>
  <p:slideViewPr>
    <p:cSldViewPr snapToGrid="0">
      <p:cViewPr varScale="1">
        <p:scale>
          <a:sx n="72" d="100"/>
          <a:sy n="72" d="100"/>
        </p:scale>
        <p:origin x="11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2BB85-892E-4C83-B140-B207861CA860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26AA4-B8D5-4FE3-AFCB-1EED80F648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0128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zh.wikipedia.org/wiki/%E6%94%AF%E6%8C%81%E5%90%91%E9%87%8F%E6%9C%BA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Sequential minimal optimization, SMO</a:t>
            </a:r>
          </a:p>
          <a:p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是一種用於解決</a:t>
            </a:r>
            <a:r>
              <a:rPr lang="zh-TW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支持向量機"/>
              </a:rPr>
              <a:t>支持向量機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訓練過程中所產生優化問題的演算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26AA4-B8D5-4FE3-AFCB-1EED80F648C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93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068AF-0EE9-47C4-8AA9-10FB371C69F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5517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455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570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518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0256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118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1212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62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290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908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5788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BD985-7171-4331-85C6-FE5DB89616BD}" type="datetimeFigureOut">
              <a:rPr lang="zh-TW" altLang="en-US" smtClean="0"/>
              <a:t>2015/2/8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29DAE-A20D-4D1B-8F90-2D3AFDE781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69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48194" y="1136469"/>
            <a:ext cx="8210006" cy="2373494"/>
          </a:xfrm>
        </p:spPr>
        <p:txBody>
          <a:bodyPr>
            <a:noAutofit/>
          </a:bodyPr>
          <a:lstStyle/>
          <a:p>
            <a:r>
              <a:rPr lang="en-US" altLang="zh-TW" sz="3600" dirty="0">
                <a:latin typeface="Arial Rounded MT Bold" panose="020F0704030504030204" pitchFamily="34" charset="0"/>
              </a:rPr>
              <a:t>A multiple-kernel support vector regression approach for stock </a:t>
            </a:r>
            <a:r>
              <a:rPr lang="en-US" altLang="zh-TW" sz="3600" dirty="0" smtClean="0">
                <a:latin typeface="Arial Rounded MT Bold" panose="020F0704030504030204" pitchFamily="34" charset="0"/>
              </a:rPr>
              <a:t>market price </a:t>
            </a:r>
            <a:r>
              <a:rPr lang="en-US" altLang="zh-TW" sz="3600" dirty="0">
                <a:latin typeface="Arial Rounded MT Bold" panose="020F0704030504030204" pitchFamily="34" charset="0"/>
              </a:rPr>
              <a:t>forecasting</a:t>
            </a:r>
            <a:endParaRPr lang="zh-TW" altLang="en-US" sz="3600" dirty="0">
              <a:latin typeface="Arial Rounded MT Bold" panose="020F070403050403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r"/>
            <a:r>
              <a:rPr lang="en-US" altLang="zh-TW" dirty="0"/>
              <a:t>Chi-Yuan </a:t>
            </a:r>
            <a:r>
              <a:rPr lang="en-US" altLang="zh-TW" dirty="0" err="1"/>
              <a:t>Yeh</a:t>
            </a:r>
            <a:r>
              <a:rPr lang="en-US" altLang="zh-TW" dirty="0"/>
              <a:t>, Chi-Wei Huang, </a:t>
            </a:r>
            <a:r>
              <a:rPr lang="en-US" altLang="zh-TW" dirty="0" err="1"/>
              <a:t>Shie-Jue</a:t>
            </a:r>
            <a:r>
              <a:rPr lang="en-US" altLang="zh-TW" dirty="0"/>
              <a:t> </a:t>
            </a:r>
            <a:r>
              <a:rPr lang="en-US" altLang="zh-TW" dirty="0" smtClean="0"/>
              <a:t>Lee</a:t>
            </a:r>
          </a:p>
          <a:p>
            <a:pPr algn="r"/>
            <a:r>
              <a:rPr lang="en-US" altLang="zh-TW" dirty="0"/>
              <a:t>Expert Systems with Applications 38 (2011) </a:t>
            </a:r>
            <a:r>
              <a:rPr lang="en-US" altLang="zh-TW" dirty="0" smtClean="0"/>
              <a:t>2177–2186</a:t>
            </a:r>
          </a:p>
          <a:p>
            <a:pPr algn="r"/>
            <a:r>
              <a:rPr lang="en-US" altLang="zh-TW" dirty="0"/>
              <a:t>Presenter: Ding-Yao Huang </a:t>
            </a:r>
          </a:p>
          <a:p>
            <a:pPr algn="r"/>
            <a:r>
              <a:rPr lang="en-US" altLang="zh-TW" dirty="0" smtClean="0"/>
              <a:t>Date:2015/02/09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4659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Abstract (1/2)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TW" dirty="0"/>
              <a:t>Support vector regression has been applied to stock market forecasting problems. However, it is </a:t>
            </a:r>
            <a:r>
              <a:rPr lang="en-US" altLang="zh-TW" dirty="0" smtClean="0"/>
              <a:t>usually needed </a:t>
            </a:r>
            <a:r>
              <a:rPr lang="en-US" altLang="zh-TW" dirty="0"/>
              <a:t>to tune manually the </a:t>
            </a:r>
            <a:r>
              <a:rPr lang="en-US" altLang="zh-TW" dirty="0" err="1"/>
              <a:t>hyperparameters</a:t>
            </a:r>
            <a:r>
              <a:rPr lang="en-US" altLang="zh-TW" dirty="0"/>
              <a:t> of the kernel functions. 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Multiple-kernel </a:t>
            </a:r>
            <a:r>
              <a:rPr lang="en-US" altLang="zh-TW" dirty="0"/>
              <a:t>learning </a:t>
            </a:r>
            <a:r>
              <a:rPr lang="en-US" altLang="zh-TW" dirty="0" smtClean="0"/>
              <a:t>was developed </a:t>
            </a:r>
            <a:r>
              <a:rPr lang="en-US" altLang="zh-TW" dirty="0"/>
              <a:t>to deal with this problem, by which the kernel matrix weights and Lagrange multipliers </a:t>
            </a:r>
            <a:r>
              <a:rPr lang="en-US" altLang="zh-TW" dirty="0" smtClean="0"/>
              <a:t>can be </a:t>
            </a:r>
            <a:r>
              <a:rPr lang="en-US" altLang="zh-TW" dirty="0"/>
              <a:t>simultaneously derived through </a:t>
            </a:r>
            <a:r>
              <a:rPr lang="en-US" altLang="zh-TW" dirty="0" err="1"/>
              <a:t>semidefinite</a:t>
            </a:r>
            <a:r>
              <a:rPr lang="en-US" altLang="zh-TW" dirty="0"/>
              <a:t> programming. However, the amount of time and </a:t>
            </a:r>
            <a:r>
              <a:rPr lang="en-US" altLang="zh-TW" dirty="0" smtClean="0"/>
              <a:t>space required </a:t>
            </a:r>
            <a:r>
              <a:rPr lang="en-US" altLang="zh-TW" dirty="0"/>
              <a:t>is very demanding. 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We </a:t>
            </a:r>
            <a:r>
              <a:rPr lang="en-US" altLang="zh-TW" dirty="0"/>
              <a:t>develop a </a:t>
            </a:r>
            <a:r>
              <a:rPr lang="en-US" altLang="zh-TW" b="1" dirty="0"/>
              <a:t>two-stage multiple-kernel learning algorithm </a:t>
            </a:r>
            <a:r>
              <a:rPr lang="en-US" altLang="zh-TW" dirty="0"/>
              <a:t>by </a:t>
            </a:r>
            <a:r>
              <a:rPr lang="en-US" altLang="zh-TW" dirty="0" smtClean="0"/>
              <a:t>incorporating sequential </a:t>
            </a:r>
            <a:r>
              <a:rPr lang="en-US" altLang="zh-TW" dirty="0"/>
              <a:t>minimal optimization and the gradient projection method. By this algorithm, advantages </a:t>
            </a:r>
            <a:r>
              <a:rPr lang="en-US" altLang="zh-TW" dirty="0" smtClean="0"/>
              <a:t>from different </a:t>
            </a:r>
            <a:r>
              <a:rPr lang="en-US" altLang="zh-TW" dirty="0" err="1"/>
              <a:t>hyperparameter</a:t>
            </a:r>
            <a:r>
              <a:rPr lang="en-US" altLang="zh-TW" dirty="0"/>
              <a:t> settings can be combined and overall system performance can be improved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4403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Arial Rounded MT Bold" panose="020F0704030504030204" pitchFamily="34" charset="0"/>
              </a:rPr>
              <a:t>Abstract(2/2) </a:t>
            </a:r>
            <a:endParaRPr lang="zh-TW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 smtClean="0"/>
              <a:t>Besides</a:t>
            </a:r>
            <a:r>
              <a:rPr lang="en-US" altLang="zh-TW" sz="2400" dirty="0"/>
              <a:t>, the user need not specify </a:t>
            </a:r>
            <a:r>
              <a:rPr lang="en-US" altLang="zh-TW" sz="2400" dirty="0" smtClean="0"/>
              <a:t>the </a:t>
            </a:r>
            <a:r>
              <a:rPr lang="en-US" altLang="zh-TW" sz="2400" dirty="0" err="1" smtClean="0"/>
              <a:t>hyperparameter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settings in advance, and trial-and-error for </a:t>
            </a:r>
            <a:r>
              <a:rPr lang="en-US" altLang="zh-TW" sz="2400" dirty="0" smtClean="0"/>
              <a:t>determining appropriate </a:t>
            </a:r>
            <a:r>
              <a:rPr lang="en-US" altLang="zh-TW" sz="2400" dirty="0" err="1"/>
              <a:t>hyperparameter</a:t>
            </a:r>
            <a:r>
              <a:rPr lang="en-US" altLang="zh-TW" sz="2400" dirty="0"/>
              <a:t> settings can then be avoided. Experimental results, obtained by </a:t>
            </a:r>
            <a:r>
              <a:rPr lang="en-US" altLang="zh-TW" sz="2400" dirty="0" smtClean="0"/>
              <a:t>running on </a:t>
            </a:r>
            <a:r>
              <a:rPr lang="en-US" altLang="zh-TW" sz="2400" dirty="0"/>
              <a:t>datasets taken from Taiwan Capitalization Weighted Stock Index, show that our </a:t>
            </a:r>
            <a:r>
              <a:rPr lang="en-US" altLang="zh-TW" sz="2400" dirty="0" smtClean="0"/>
              <a:t>method performs </a:t>
            </a:r>
            <a:r>
              <a:rPr lang="en-US" altLang="zh-TW" sz="2400" dirty="0"/>
              <a:t>better than other methods.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3525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Introduction 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(Support Vector Regression)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945" y="2395905"/>
            <a:ext cx="4008870" cy="232092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84" y="3931641"/>
            <a:ext cx="4531261" cy="1416695"/>
          </a:xfrm>
          <a:prstGeom prst="rect">
            <a:avLst/>
          </a:prstGeom>
        </p:spPr>
      </p:pic>
      <p:grpSp>
        <p:nvGrpSpPr>
          <p:cNvPr id="6" name="群組 5"/>
          <p:cNvGrpSpPr/>
          <p:nvPr/>
        </p:nvGrpSpPr>
        <p:grpSpPr>
          <a:xfrm>
            <a:off x="478863" y="5534561"/>
            <a:ext cx="6033407" cy="1323439"/>
            <a:chOff x="454479" y="4829345"/>
            <a:chExt cx="6033407" cy="1323439"/>
          </a:xfrm>
        </p:grpSpPr>
        <p:sp>
          <p:nvSpPr>
            <p:cNvPr id="12" name="文字方塊 11"/>
            <p:cNvSpPr txBox="1"/>
            <p:nvPr/>
          </p:nvSpPr>
          <p:spPr>
            <a:xfrm>
              <a:off x="454479" y="4829345"/>
              <a:ext cx="603340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 smtClean="0">
                  <a:latin typeface="+mj-ea"/>
                  <a:ea typeface="+mj-ea"/>
                </a:rPr>
                <a:t>x</a:t>
              </a:r>
              <a:r>
                <a:rPr lang="en-US" altLang="zh-TW" sz="2000" baseline="-25000" dirty="0" smtClean="0">
                  <a:latin typeface="+mj-ea"/>
                  <a:ea typeface="+mj-ea"/>
                </a:rPr>
                <a:t>i</a:t>
              </a:r>
              <a:r>
                <a:rPr lang="en-US" altLang="zh-TW" sz="2000" dirty="0" smtClean="0">
                  <a:latin typeface="+mj-ea"/>
                  <a:ea typeface="+mj-ea"/>
                </a:rPr>
                <a:t> </a:t>
              </a:r>
              <a:r>
                <a:rPr lang="zh-TW" altLang="en-US" sz="2000" dirty="0" smtClean="0">
                  <a:latin typeface="+mj-ea"/>
                  <a:ea typeface="+mj-ea"/>
                </a:rPr>
                <a:t>是輸入向量，</a:t>
              </a:r>
              <a:r>
                <a:rPr lang="en-US" altLang="zh-TW" sz="2000" dirty="0" err="1" smtClean="0">
                  <a:latin typeface="+mj-ea"/>
                  <a:ea typeface="+mj-ea"/>
                </a:rPr>
                <a:t>y</a:t>
              </a:r>
              <a:r>
                <a:rPr lang="en-US" altLang="zh-TW" sz="2000" baseline="-25000" dirty="0" err="1" smtClean="0">
                  <a:latin typeface="+mj-ea"/>
                  <a:ea typeface="+mj-ea"/>
                </a:rPr>
                <a:t>i</a:t>
              </a:r>
              <a:r>
                <a:rPr lang="en-US" altLang="zh-TW" sz="2000" baseline="-25000" dirty="0" smtClean="0">
                  <a:latin typeface="+mj-ea"/>
                  <a:ea typeface="+mj-ea"/>
                </a:rPr>
                <a:t> </a:t>
              </a:r>
              <a:r>
                <a:rPr lang="zh-TW" altLang="en-US" sz="2000" baseline="-25000" dirty="0" smtClean="0">
                  <a:latin typeface="+mj-ea"/>
                  <a:ea typeface="+mj-ea"/>
                </a:rPr>
                <a:t> </a:t>
              </a:r>
              <a:r>
                <a:rPr lang="zh-TW" altLang="en-US" sz="2000" dirty="0" smtClean="0">
                  <a:latin typeface="+mj-ea"/>
                  <a:ea typeface="+mj-ea"/>
                </a:rPr>
                <a:t>是實際目標值</a:t>
              </a:r>
              <a:endParaRPr lang="en-US" altLang="zh-TW" sz="2000" dirty="0" smtClean="0">
                <a:latin typeface="+mj-ea"/>
                <a:ea typeface="+mj-ea"/>
              </a:endParaRPr>
            </a:p>
            <a:p>
              <a:r>
                <a:rPr lang="en-US" altLang="zh-TW" sz="2000" dirty="0" smtClean="0"/>
                <a:t>                 </a:t>
              </a:r>
            </a:p>
            <a:p>
              <a:r>
                <a:rPr lang="en-US" altLang="zh-TW" sz="2000" dirty="0"/>
                <a:t>	</a:t>
              </a:r>
              <a:r>
                <a:rPr lang="zh-TW" altLang="en-US" sz="2000" dirty="0" smtClean="0"/>
                <a:t>               </a:t>
              </a:r>
              <a:r>
                <a:rPr lang="en-US" altLang="zh-TW" sz="2000" dirty="0" smtClean="0"/>
                <a:t> </a:t>
              </a:r>
              <a:r>
                <a:rPr lang="zh-TW" altLang="en-US" sz="2000" dirty="0"/>
                <a:t>是經驗誤差風險</a:t>
              </a:r>
              <a:r>
                <a:rPr lang="en-US" altLang="zh-TW" sz="2000" dirty="0"/>
                <a:t>(empirical </a:t>
              </a:r>
              <a:r>
                <a:rPr lang="en-US" altLang="zh-TW" sz="2000" dirty="0" smtClean="0"/>
                <a:t>error </a:t>
              </a:r>
              <a:r>
                <a:rPr lang="en-US" altLang="zh-TW" sz="2000" dirty="0"/>
                <a:t>risk) </a:t>
              </a:r>
              <a:endParaRPr lang="en-US" altLang="zh-TW" sz="2000" dirty="0" smtClean="0"/>
            </a:p>
            <a:p>
              <a:endParaRPr lang="en-US" altLang="zh-TW" sz="2000" dirty="0"/>
            </a:p>
          </p:txBody>
        </p:sp>
        <p:pic>
          <p:nvPicPr>
            <p:cNvPr id="15" name="圖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4479" y="5337176"/>
              <a:ext cx="1695450" cy="619125"/>
            </a:xfrm>
            <a:prstGeom prst="rect">
              <a:avLst/>
            </a:prstGeom>
          </p:spPr>
        </p:pic>
      </p:grpSp>
      <p:grpSp>
        <p:nvGrpSpPr>
          <p:cNvPr id="5" name="群組 4"/>
          <p:cNvGrpSpPr/>
          <p:nvPr/>
        </p:nvGrpSpPr>
        <p:grpSpPr>
          <a:xfrm>
            <a:off x="478863" y="2623109"/>
            <a:ext cx="2493612" cy="800701"/>
            <a:chOff x="454479" y="1619592"/>
            <a:chExt cx="2493612" cy="800701"/>
          </a:xfrm>
        </p:grpSpPr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4479" y="1619592"/>
              <a:ext cx="2493612" cy="800701"/>
            </a:xfrm>
            <a:prstGeom prst="rect">
              <a:avLst/>
            </a:prstGeom>
          </p:spPr>
        </p:pic>
        <p:cxnSp>
          <p:nvCxnSpPr>
            <p:cNvPr id="4" name="直線接點 3"/>
            <p:cNvCxnSpPr/>
            <p:nvPr/>
          </p:nvCxnSpPr>
          <p:spPr>
            <a:xfrm flipV="1">
              <a:off x="1231392" y="1926336"/>
              <a:ext cx="195072" cy="12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字方塊 7"/>
          <p:cNvSpPr txBox="1"/>
          <p:nvPr/>
        </p:nvSpPr>
        <p:spPr>
          <a:xfrm>
            <a:off x="280684" y="1533939"/>
            <a:ext cx="7887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Arial Rounded MT Bold" panose="020F0704030504030204" pitchFamily="34" charset="0"/>
              </a:rPr>
              <a:t>Support Vector </a:t>
            </a:r>
            <a:r>
              <a:rPr lang="en-US" altLang="zh-TW" b="1" dirty="0" smtClean="0">
                <a:latin typeface="Arial Rounded MT Bold" panose="020F0704030504030204" pitchFamily="34" charset="0"/>
              </a:rPr>
              <a:t>Regression</a:t>
            </a:r>
            <a:r>
              <a:rPr lang="zh-TW" altLang="en-US" b="1" dirty="0" smtClean="0">
                <a:latin typeface="Arial Rounded MT Bold" panose="020F0704030504030204" pitchFamily="34" charset="0"/>
              </a:rPr>
              <a:t> </a:t>
            </a:r>
            <a:r>
              <a:rPr lang="zh-TW" altLang="en-US" dirty="0" smtClean="0"/>
              <a:t>是</a:t>
            </a:r>
            <a:r>
              <a:rPr lang="zh-TW" altLang="en-US" dirty="0"/>
              <a:t>結構誤差</a:t>
            </a:r>
            <a:r>
              <a:rPr lang="zh-TW" altLang="en-US" dirty="0" smtClean="0"/>
              <a:t>風險最小化原則，</a:t>
            </a:r>
            <a:r>
              <a:rPr lang="zh-TW" altLang="en-US" dirty="0"/>
              <a:t>兼具經驗誤差風險和信賴區間雙方</a:t>
            </a:r>
            <a:r>
              <a:rPr lang="zh-TW" altLang="en-US" dirty="0" smtClean="0"/>
              <a:t>影響，而不是單方面求經驗誤差最小化</a:t>
            </a:r>
            <a:endParaRPr lang="zh-TW" altLang="en-US" baseline="-250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081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>
                <a:latin typeface="Arial Rounded MT Bold" panose="020F0704030504030204" pitchFamily="34" charset="0"/>
              </a:rPr>
              <a:t>Introduction </a:t>
            </a:r>
            <a:r>
              <a:rPr lang="en-US" altLang="zh-TW" sz="2400" b="1" dirty="0" smtClean="0">
                <a:latin typeface="Arial Rounded MT Bold" panose="020F0704030504030204" pitchFamily="34" charset="0"/>
              </a:rPr>
              <a:t>(Support Vector Regression)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3486" y="5298886"/>
            <a:ext cx="7886700" cy="137613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442" y="1626332"/>
            <a:ext cx="2686050" cy="180975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454" y="3718252"/>
            <a:ext cx="3360964" cy="46460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577" y="1656885"/>
            <a:ext cx="4007768" cy="1795028"/>
          </a:xfrm>
          <a:prstGeom prst="rect">
            <a:avLst/>
          </a:prstGeom>
        </p:spPr>
      </p:pic>
      <p:sp>
        <p:nvSpPr>
          <p:cNvPr id="3" name="向下箭號 2"/>
          <p:cNvSpPr/>
          <p:nvPr/>
        </p:nvSpPr>
        <p:spPr>
          <a:xfrm>
            <a:off x="4390345" y="4317452"/>
            <a:ext cx="669335" cy="8524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6961632" y="4985226"/>
            <a:ext cx="1759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對偶最大化</a:t>
            </a:r>
          </a:p>
        </p:txBody>
      </p:sp>
    </p:spTree>
    <p:extLst>
      <p:ext uri="{BB962C8B-B14F-4D97-AF65-F5344CB8AC3E}">
        <p14:creationId xmlns:p14="http://schemas.microsoft.com/office/powerpoint/2010/main" val="86400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>
                <a:latin typeface="Arial Rounded MT Bold" panose="020F0704030504030204" pitchFamily="34" charset="0"/>
              </a:rPr>
              <a:t>Support </a:t>
            </a:r>
            <a:r>
              <a:rPr lang="en-US" altLang="zh-TW" sz="3200" b="1" dirty="0" smtClean="0">
                <a:latin typeface="Arial Rounded MT Bold" panose="020F0704030504030204" pitchFamily="34" charset="0"/>
              </a:rPr>
              <a:t>vector regression </a:t>
            </a:r>
            <a:r>
              <a:rPr lang="en-US" altLang="zh-TW" sz="2000" b="1" dirty="0" smtClean="0">
                <a:latin typeface="Arial Rounded MT Bold" panose="020F0704030504030204" pitchFamily="34" charset="0"/>
              </a:rPr>
              <a:t>(kernel function)</a:t>
            </a:r>
            <a:endParaRPr lang="zh-TW" altLang="en-US" sz="2400" b="1" dirty="0">
              <a:latin typeface="Arial Rounded MT Bold" panose="020F0704030504030204" pitchFamily="34" charset="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679440" y="4106339"/>
            <a:ext cx="5526866" cy="1796815"/>
            <a:chOff x="628650" y="3204131"/>
            <a:chExt cx="5526866" cy="1796815"/>
          </a:xfrm>
        </p:grpSpPr>
        <p:sp>
          <p:nvSpPr>
            <p:cNvPr id="11" name="Rectangle 2"/>
            <p:cNvSpPr>
              <a:spLocks noChangeArrowheads="1"/>
            </p:cNvSpPr>
            <p:nvPr/>
          </p:nvSpPr>
          <p:spPr bwMode="auto">
            <a:xfrm>
              <a:off x="655292" y="3677507"/>
              <a:ext cx="5500224" cy="1323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457200" marR="0" lvl="0" indent="-4572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zh-TW" altLang="zh-TW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 panose="020B0604020202020204" pitchFamily="34" charset="-120"/>
                </a:rPr>
                <a:t>linear: u'*v </a:t>
              </a:r>
              <a:endPara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0"/>
              </a:endParaRPr>
            </a:p>
            <a:p>
              <a:pPr marL="457200" marR="0" lvl="0" indent="-4572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zh-TW" altLang="zh-TW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 panose="020B0604020202020204" pitchFamily="34" charset="-120"/>
                </a:rPr>
                <a:t>polynomial: (gamma*u'*v + coef0)^degree</a:t>
              </a:r>
              <a:endPara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0"/>
              </a:endParaRPr>
            </a:p>
            <a:p>
              <a:pPr marL="457200" marR="0" lvl="0" indent="-4572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zh-TW" altLang="zh-TW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 panose="020B0604020202020204" pitchFamily="34" charset="-120"/>
                </a:rPr>
                <a:t>radial basis function: exp(-gamma*|u-v|^2) </a:t>
              </a:r>
              <a:endParaRPr kumimoji="0" lang="en-US" altLang="zh-TW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0"/>
              </a:endParaRPr>
            </a:p>
            <a:p>
              <a:pPr marL="457200" marR="0" lvl="0" indent="-4572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AutoNum type="arabicPeriod"/>
                <a:tabLst/>
              </a:pPr>
              <a:r>
                <a:rPr kumimoji="0" lang="zh-TW" altLang="zh-TW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 Unicode MS" panose="020B0604020202020204" pitchFamily="34" charset="-120"/>
                </a:rPr>
                <a:t>sigmoid: tanh(gamma*u'*v + coef0)</a:t>
              </a:r>
              <a:r>
                <a:rPr kumimoji="0" lang="zh-TW" altLang="zh-TW" sz="16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rPr>
                <a:t> </a:t>
              </a:r>
              <a:endParaRPr kumimoji="0" lang="zh-TW" altLang="zh-TW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628650" y="3204131"/>
              <a:ext cx="2593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>
                  <a:latin typeface="Arial Rounded MT Bold" panose="020F0704030504030204" pitchFamily="34" charset="0"/>
                </a:rPr>
                <a:t>kernel function</a:t>
              </a:r>
              <a:endParaRPr lang="zh-TW" altLang="en-US" dirty="0"/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526107" y="1419546"/>
            <a:ext cx="7671484" cy="2037211"/>
            <a:chOff x="416379" y="1154258"/>
            <a:chExt cx="7671484" cy="2037211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6379" y="1997129"/>
              <a:ext cx="3545785" cy="812347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2629" y="1997129"/>
              <a:ext cx="3385234" cy="776313"/>
            </a:xfrm>
            <a:prstGeom prst="rect">
              <a:avLst/>
            </a:prstGeom>
          </p:spPr>
        </p:pic>
        <p:sp>
          <p:nvSpPr>
            <p:cNvPr id="9" name="向右箭號 8"/>
            <p:cNvSpPr/>
            <p:nvPr/>
          </p:nvSpPr>
          <p:spPr>
            <a:xfrm>
              <a:off x="3860965" y="2308266"/>
              <a:ext cx="841664" cy="1407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" name="直線單箭頭接點 9"/>
            <p:cNvCxnSpPr/>
            <p:nvPr/>
          </p:nvCxnSpPr>
          <p:spPr>
            <a:xfrm>
              <a:off x="1895707" y="1851102"/>
              <a:ext cx="223025" cy="3456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字方塊 12"/>
            <p:cNvSpPr txBox="1"/>
            <p:nvPr/>
          </p:nvSpPr>
          <p:spPr>
            <a:xfrm>
              <a:off x="518922" y="1154258"/>
              <a:ext cx="72705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 smtClean="0"/>
                <a:t>根據</a:t>
              </a:r>
              <a:r>
                <a:rPr lang="en-US" altLang="zh-TW" dirty="0" err="1" smtClean="0"/>
                <a:t>Karush</a:t>
              </a:r>
              <a:r>
                <a:rPr lang="en-US" altLang="zh-TW" dirty="0" smtClean="0"/>
                <a:t>-Kuhn-Tucker(KKT)</a:t>
              </a:r>
              <a:r>
                <a:rPr lang="zh-TW" altLang="en-US" dirty="0" smtClean="0"/>
                <a:t> </a:t>
              </a:r>
              <a:r>
                <a:rPr lang="en-US" altLang="zh-TW" dirty="0" smtClean="0"/>
                <a:t>conditions </a:t>
              </a:r>
              <a:r>
                <a:rPr lang="zh-TW" altLang="en-US" dirty="0" smtClean="0"/>
                <a:t>解</a:t>
              </a:r>
              <a:r>
                <a:rPr lang="en-US" altLang="zh-TW" dirty="0" smtClean="0"/>
                <a:t>b</a:t>
              </a:r>
            </a:p>
            <a:p>
              <a:r>
                <a:rPr lang="en-US" altLang="zh-TW" dirty="0" smtClean="0"/>
                <a:t>Support </a:t>
              </a:r>
              <a:r>
                <a:rPr lang="en-US" altLang="zh-TW" dirty="0"/>
                <a:t>Vector (</a:t>
              </a:r>
              <a:r>
                <a:rPr lang="el-GR" altLang="zh-TW" dirty="0"/>
                <a:t>α</a:t>
              </a:r>
              <a:r>
                <a:rPr lang="en-US" altLang="zh-TW" baseline="-25000" dirty="0" err="1"/>
                <a:t>i</a:t>
              </a:r>
              <a:r>
                <a:rPr lang="en-US" altLang="zh-TW" dirty="0"/>
                <a:t> − </a:t>
              </a:r>
              <a:r>
                <a:rPr lang="el-GR" altLang="zh-TW" dirty="0"/>
                <a:t>α</a:t>
              </a:r>
              <a:r>
                <a:rPr lang="en-US" altLang="zh-TW" baseline="-25000" dirty="0" err="1"/>
                <a:t>i</a:t>
              </a:r>
              <a:r>
                <a:rPr lang="en-US" altLang="zh-TW" baseline="30000" dirty="0"/>
                <a:t>∗</a:t>
              </a:r>
              <a:r>
                <a:rPr lang="en-US" altLang="zh-TW" dirty="0"/>
                <a:t> </a:t>
              </a:r>
              <a:r>
                <a:rPr lang="zh-TW" altLang="en-US" dirty="0"/>
                <a:t>不為零的 </a:t>
              </a:r>
              <a:r>
                <a:rPr lang="en-US" altLang="zh-TW" dirty="0"/>
                <a:t>instances) </a:t>
              </a:r>
              <a:r>
                <a:rPr lang="zh-TW" altLang="en-US" dirty="0"/>
                <a:t>的個數有關</a:t>
              </a:r>
            </a:p>
          </p:txBody>
        </p:sp>
        <p:sp>
          <p:nvSpPr>
            <p:cNvPr id="3" name="文字方塊 2"/>
            <p:cNvSpPr txBox="1"/>
            <p:nvPr/>
          </p:nvSpPr>
          <p:spPr>
            <a:xfrm>
              <a:off x="655292" y="2822137"/>
              <a:ext cx="5879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 smtClean="0"/>
                <a:t>將線性系統 轉成 非線性系統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6886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Multiple-kernel support vector regression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grpSp>
        <p:nvGrpSpPr>
          <p:cNvPr id="24" name="群組 23"/>
          <p:cNvGrpSpPr/>
          <p:nvPr/>
        </p:nvGrpSpPr>
        <p:grpSpPr>
          <a:xfrm>
            <a:off x="1219200" y="2014874"/>
            <a:ext cx="6406896" cy="3373990"/>
            <a:chOff x="926592" y="1892954"/>
            <a:chExt cx="6406896" cy="3373990"/>
          </a:xfrm>
        </p:grpSpPr>
        <p:cxnSp>
          <p:nvCxnSpPr>
            <p:cNvPr id="7" name="直線接點 6"/>
            <p:cNvCxnSpPr/>
            <p:nvPr/>
          </p:nvCxnSpPr>
          <p:spPr>
            <a:xfrm>
              <a:off x="1926336" y="2804160"/>
              <a:ext cx="1450848" cy="9387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 flipH="1">
              <a:off x="3718560" y="2535936"/>
              <a:ext cx="12192" cy="1207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/>
            <p:nvPr/>
          </p:nvCxnSpPr>
          <p:spPr>
            <a:xfrm flipH="1">
              <a:off x="4114800" y="2535936"/>
              <a:ext cx="719328" cy="12679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 flipH="1">
              <a:off x="4474464" y="2718816"/>
              <a:ext cx="1621536" cy="10241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/>
          </p:nvSpPr>
          <p:spPr>
            <a:xfrm>
              <a:off x="926592" y="2015874"/>
              <a:ext cx="1402080" cy="70294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linear</a:t>
              </a:r>
              <a:endParaRPr lang="zh-TW" altLang="en-US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2712720" y="1895953"/>
              <a:ext cx="1402080" cy="70294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rgbClr val="000000"/>
                  </a:solidFill>
                  <a:latin typeface="Arial Unicode MS" panose="020B0604020202020204" pitchFamily="34" charset="-120"/>
                </a:rPr>
                <a:t>polynomial</a:t>
              </a:r>
              <a:endParaRPr lang="zh-TW" altLang="en-US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4419600" y="1892954"/>
              <a:ext cx="1402080" cy="70294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rgbClr val="000000"/>
                  </a:solidFill>
                  <a:latin typeface="Arial Unicode MS" panose="020B0604020202020204" pitchFamily="34" charset="-120"/>
                </a:rPr>
                <a:t>radial basis function</a:t>
              </a:r>
              <a:endParaRPr lang="zh-TW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5931408" y="2015874"/>
              <a:ext cx="1402080" cy="70294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rgbClr val="000000"/>
                  </a:solidFill>
                  <a:latin typeface="Arial Unicode MS" panose="020B0604020202020204" pitchFamily="34" charset="-120"/>
                </a:rPr>
                <a:t>sigmoid</a:t>
              </a:r>
              <a:endParaRPr lang="zh-TW" altLang="en-US" dirty="0"/>
            </a:p>
          </p:txBody>
        </p:sp>
        <p:sp>
          <p:nvSpPr>
            <p:cNvPr id="23" name="橢圓 22"/>
            <p:cNvSpPr/>
            <p:nvPr/>
          </p:nvSpPr>
          <p:spPr>
            <a:xfrm>
              <a:off x="1712976" y="3828288"/>
              <a:ext cx="4413504" cy="14386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K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0215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Multiple-kernel support vector regression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3074" y="1184843"/>
            <a:ext cx="3876675" cy="24669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" y="3829050"/>
            <a:ext cx="4505325" cy="3028950"/>
          </a:xfrm>
          <a:prstGeom prst="rect">
            <a:avLst/>
          </a:prstGeom>
        </p:spPr>
      </p:pic>
      <p:cxnSp>
        <p:nvCxnSpPr>
          <p:cNvPr id="8" name="直線接點 7"/>
          <p:cNvCxnSpPr/>
          <p:nvPr/>
        </p:nvCxnSpPr>
        <p:spPr>
          <a:xfrm>
            <a:off x="219456" y="3737135"/>
            <a:ext cx="84368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999683"/>
            <a:ext cx="4318825" cy="1907341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325" y="6204110"/>
            <a:ext cx="2733675" cy="609600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658" y="1677518"/>
            <a:ext cx="3219450" cy="533400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937" y="2766136"/>
            <a:ext cx="4895850" cy="581025"/>
          </a:xfrm>
          <a:prstGeom prst="rect">
            <a:avLst/>
          </a:prstGeom>
        </p:spPr>
      </p:pic>
      <p:cxnSp>
        <p:nvCxnSpPr>
          <p:cNvPr id="15" name="直線單箭頭接點 14"/>
          <p:cNvCxnSpPr/>
          <p:nvPr/>
        </p:nvCxnSpPr>
        <p:spPr>
          <a:xfrm>
            <a:off x="1714166" y="2259093"/>
            <a:ext cx="0" cy="424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15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Two-stage multi-kernel learning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90" y="1540574"/>
            <a:ext cx="6308598" cy="4884610"/>
          </a:xfrm>
          <a:prstGeom prst="rect">
            <a:avLst/>
          </a:prstGeom>
        </p:spPr>
      </p:pic>
      <p:sp>
        <p:nvSpPr>
          <p:cNvPr id="3" name="框架 2"/>
          <p:cNvSpPr/>
          <p:nvPr/>
        </p:nvSpPr>
        <p:spPr>
          <a:xfrm>
            <a:off x="816864" y="1402080"/>
            <a:ext cx="2852928" cy="129235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2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Two-stage multi-kernel learning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90" y="1540574"/>
            <a:ext cx="6308598" cy="4884610"/>
          </a:xfrm>
          <a:prstGeom prst="rect">
            <a:avLst/>
          </a:prstGeom>
        </p:spPr>
      </p:pic>
      <p:sp>
        <p:nvSpPr>
          <p:cNvPr id="3" name="框架 2"/>
          <p:cNvSpPr/>
          <p:nvPr/>
        </p:nvSpPr>
        <p:spPr>
          <a:xfrm>
            <a:off x="865632" y="2690527"/>
            <a:ext cx="2852928" cy="129235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6" name="群組 15"/>
          <p:cNvGrpSpPr/>
          <p:nvPr/>
        </p:nvGrpSpPr>
        <p:grpSpPr>
          <a:xfrm>
            <a:off x="4072128" y="1540574"/>
            <a:ext cx="4545139" cy="3877180"/>
            <a:chOff x="4120896" y="1678467"/>
            <a:chExt cx="4545139" cy="3877180"/>
          </a:xfrm>
        </p:grpSpPr>
        <p:grpSp>
          <p:nvGrpSpPr>
            <p:cNvPr id="10" name="群組 9"/>
            <p:cNvGrpSpPr/>
            <p:nvPr/>
          </p:nvGrpSpPr>
          <p:grpSpPr>
            <a:xfrm>
              <a:off x="4321302" y="1909420"/>
              <a:ext cx="4084320" cy="3481169"/>
              <a:chOff x="4321302" y="1909420"/>
              <a:chExt cx="4084320" cy="3481169"/>
            </a:xfrm>
          </p:grpSpPr>
          <p:pic>
            <p:nvPicPr>
              <p:cNvPr id="5" name="圖片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21302" y="2725283"/>
                <a:ext cx="4084320" cy="2665306"/>
              </a:xfrm>
              <a:prstGeom prst="rect">
                <a:avLst/>
              </a:prstGeom>
            </p:spPr>
          </p:pic>
          <p:grpSp>
            <p:nvGrpSpPr>
              <p:cNvPr id="9" name="群組 8"/>
              <p:cNvGrpSpPr/>
              <p:nvPr/>
            </p:nvGrpSpPr>
            <p:grpSpPr>
              <a:xfrm>
                <a:off x="4558665" y="1909420"/>
                <a:ext cx="2856738" cy="369759"/>
                <a:chOff x="4809363" y="1904858"/>
                <a:chExt cx="2414587" cy="295757"/>
              </a:xfrm>
            </p:grpSpPr>
            <p:pic>
              <p:nvPicPr>
                <p:cNvPr id="7" name="圖片 6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19025" y="1924390"/>
                  <a:ext cx="1304925" cy="276225"/>
                </a:xfrm>
                <a:prstGeom prst="rect">
                  <a:avLst/>
                </a:prstGeom>
              </p:spPr>
            </p:pic>
            <p:pic>
              <p:nvPicPr>
                <p:cNvPr id="8" name="圖片 7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09363" y="1904858"/>
                  <a:ext cx="914400" cy="285750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1" name="直線接點 10"/>
            <p:cNvCxnSpPr/>
            <p:nvPr/>
          </p:nvCxnSpPr>
          <p:spPr>
            <a:xfrm>
              <a:off x="4120896" y="5522946"/>
              <a:ext cx="4545139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/>
            <p:nvPr/>
          </p:nvCxnSpPr>
          <p:spPr>
            <a:xfrm>
              <a:off x="4150614" y="1711168"/>
              <a:ext cx="0" cy="3844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>
              <a:off x="8666035" y="1678467"/>
              <a:ext cx="0" cy="3844479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/>
            <p:nvPr/>
          </p:nvCxnSpPr>
          <p:spPr>
            <a:xfrm>
              <a:off x="4120896" y="1711168"/>
              <a:ext cx="4545139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5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Two-stage multi-kernel learning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90" y="1540574"/>
            <a:ext cx="6308598" cy="4884610"/>
          </a:xfrm>
          <a:prstGeom prst="rect">
            <a:avLst/>
          </a:prstGeom>
        </p:spPr>
      </p:pic>
      <p:sp>
        <p:nvSpPr>
          <p:cNvPr id="3" name="框架 2"/>
          <p:cNvSpPr/>
          <p:nvPr/>
        </p:nvSpPr>
        <p:spPr>
          <a:xfrm>
            <a:off x="3730752" y="4059936"/>
            <a:ext cx="3377184" cy="1385983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69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Gradient </a:t>
            </a:r>
            <a:r>
              <a:rPr lang="en-US" altLang="zh-TW" sz="2800" b="1" dirty="0" smtClean="0">
                <a:latin typeface="Arial Rounded MT Bold" panose="020F0704030504030204" pitchFamily="34" charset="0"/>
              </a:rPr>
              <a:t>projection for </a:t>
            </a:r>
            <a:r>
              <a:rPr lang="en-US" altLang="zh-TW" sz="2800" b="1" dirty="0">
                <a:latin typeface="Arial Rounded MT Bold" panose="020F0704030504030204" pitchFamily="34" charset="0"/>
              </a:rPr>
              <a:t>multi-kernel learning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156" y="1246919"/>
            <a:ext cx="5296931" cy="5611081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240" y="2950583"/>
            <a:ext cx="4676775" cy="695325"/>
          </a:xfrm>
          <a:prstGeom prst="rect">
            <a:avLst/>
          </a:prstGeom>
        </p:spPr>
      </p:pic>
      <p:sp>
        <p:nvSpPr>
          <p:cNvPr id="5" name="框架 4"/>
          <p:cNvSpPr/>
          <p:nvPr/>
        </p:nvSpPr>
        <p:spPr>
          <a:xfrm>
            <a:off x="1621536" y="1877157"/>
            <a:ext cx="1987296" cy="8416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7" name="直線接點 6"/>
          <p:cNvCxnSpPr/>
          <p:nvPr/>
        </p:nvCxnSpPr>
        <p:spPr>
          <a:xfrm>
            <a:off x="4243876" y="3645908"/>
            <a:ext cx="45451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147" y="1690116"/>
            <a:ext cx="39814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7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Gradient </a:t>
            </a:r>
            <a:r>
              <a:rPr lang="en-US" altLang="zh-TW" sz="2800" b="1" dirty="0" smtClean="0">
                <a:latin typeface="Arial Rounded MT Bold" panose="020F0704030504030204" pitchFamily="34" charset="0"/>
              </a:rPr>
              <a:t>projection for </a:t>
            </a:r>
            <a:r>
              <a:rPr lang="en-US" altLang="zh-TW" sz="2800" b="1" dirty="0">
                <a:latin typeface="Arial Rounded MT Bold" panose="020F0704030504030204" pitchFamily="34" charset="0"/>
              </a:rPr>
              <a:t>multi-kernel learning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156" y="1246919"/>
            <a:ext cx="5296931" cy="5611081"/>
          </a:xfrm>
          <a:prstGeom prst="rect">
            <a:avLst/>
          </a:prstGeom>
        </p:spPr>
      </p:pic>
      <p:sp>
        <p:nvSpPr>
          <p:cNvPr id="5" name="框架 4"/>
          <p:cNvSpPr/>
          <p:nvPr/>
        </p:nvSpPr>
        <p:spPr>
          <a:xfrm>
            <a:off x="182879" y="2572483"/>
            <a:ext cx="3781997" cy="204828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198" y="2965323"/>
            <a:ext cx="4152900" cy="619125"/>
          </a:xfrm>
          <a:prstGeom prst="rect">
            <a:avLst/>
          </a:prstGeom>
        </p:spPr>
      </p:pic>
      <p:cxnSp>
        <p:nvCxnSpPr>
          <p:cNvPr id="7" name="直線接點 6"/>
          <p:cNvCxnSpPr/>
          <p:nvPr/>
        </p:nvCxnSpPr>
        <p:spPr>
          <a:xfrm>
            <a:off x="4145280" y="3584448"/>
            <a:ext cx="454513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923" y="3823303"/>
            <a:ext cx="2924175" cy="1285875"/>
          </a:xfrm>
          <a:prstGeom prst="rect">
            <a:avLst/>
          </a:prstGeom>
        </p:spPr>
      </p:pic>
      <p:cxnSp>
        <p:nvCxnSpPr>
          <p:cNvPr id="9" name="直線接點 8"/>
          <p:cNvCxnSpPr/>
          <p:nvPr/>
        </p:nvCxnSpPr>
        <p:spPr>
          <a:xfrm>
            <a:off x="5479923" y="5109178"/>
            <a:ext cx="32104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37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Gradient </a:t>
            </a:r>
            <a:r>
              <a:rPr lang="en-US" altLang="zh-TW" sz="2800" b="1" dirty="0" smtClean="0">
                <a:latin typeface="Arial Rounded MT Bold" panose="020F0704030504030204" pitchFamily="34" charset="0"/>
              </a:rPr>
              <a:t>projection for </a:t>
            </a:r>
            <a:r>
              <a:rPr lang="en-US" altLang="zh-TW" sz="2800" b="1" dirty="0">
                <a:latin typeface="Arial Rounded MT Bold" panose="020F0704030504030204" pitchFamily="34" charset="0"/>
              </a:rPr>
              <a:t>multi-kernel learning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156" y="1246919"/>
            <a:ext cx="5296931" cy="5611081"/>
          </a:xfrm>
          <a:prstGeom prst="rect">
            <a:avLst/>
          </a:prstGeom>
        </p:spPr>
      </p:pic>
      <p:sp>
        <p:nvSpPr>
          <p:cNvPr id="5" name="框架 4"/>
          <p:cNvSpPr/>
          <p:nvPr/>
        </p:nvSpPr>
        <p:spPr>
          <a:xfrm>
            <a:off x="1597152" y="4340353"/>
            <a:ext cx="2105406" cy="185318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5498211" y="4160330"/>
            <a:ext cx="3451171" cy="1740931"/>
            <a:chOff x="5400675" y="3916490"/>
            <a:chExt cx="3451171" cy="1740931"/>
          </a:xfrm>
        </p:grpSpPr>
        <p:cxnSp>
          <p:nvCxnSpPr>
            <p:cNvPr id="7" name="直線接點 6"/>
            <p:cNvCxnSpPr/>
            <p:nvPr/>
          </p:nvCxnSpPr>
          <p:spPr>
            <a:xfrm flipV="1">
              <a:off x="5459119" y="4800623"/>
              <a:ext cx="3392727" cy="32624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0675" y="3916490"/>
              <a:ext cx="3114675" cy="847725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9119" y="4977850"/>
              <a:ext cx="2887789" cy="582035"/>
            </a:xfrm>
            <a:prstGeom prst="rect">
              <a:avLst/>
            </a:prstGeom>
          </p:spPr>
        </p:pic>
        <p:cxnSp>
          <p:nvCxnSpPr>
            <p:cNvPr id="9" name="直線接點 8"/>
            <p:cNvCxnSpPr/>
            <p:nvPr/>
          </p:nvCxnSpPr>
          <p:spPr>
            <a:xfrm>
              <a:off x="5574714" y="5657421"/>
              <a:ext cx="2940636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156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Two-stage multi-kernel learning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701" y="1690689"/>
            <a:ext cx="6308598" cy="488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9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Experiment I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738" y="1429338"/>
            <a:ext cx="4552950" cy="12382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996" y="1962912"/>
            <a:ext cx="4555817" cy="307640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012" y="5039313"/>
            <a:ext cx="5755843" cy="1672224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084" y="2901896"/>
            <a:ext cx="3965020" cy="33583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430" y="3935284"/>
            <a:ext cx="3872328" cy="50260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738" y="4817124"/>
            <a:ext cx="2199894" cy="39574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430" y="5397087"/>
            <a:ext cx="2322979" cy="557041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900" y="5954128"/>
            <a:ext cx="2180182" cy="804452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486" y="3398559"/>
            <a:ext cx="873633" cy="43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6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Experiment </a:t>
            </a:r>
            <a:r>
              <a:rPr lang="en-US" altLang="zh-TW" sz="2800" b="1" dirty="0" smtClean="0">
                <a:latin typeface="Arial Rounded MT Bold" panose="020F0704030504030204" pitchFamily="34" charset="0"/>
              </a:rPr>
              <a:t>I</a:t>
            </a:r>
            <a:r>
              <a:rPr lang="en-US" altLang="zh-TW" sz="2800" b="1" dirty="0">
                <a:latin typeface="Arial Rounded MT Bold" panose="020F0704030504030204" pitchFamily="34" charset="0"/>
              </a:rPr>
              <a:t> </a:t>
            </a:r>
            <a:r>
              <a:rPr lang="en-US" altLang="zh-TW" sz="2800" b="1" dirty="0" err="1">
                <a:latin typeface="Arial Rounded MT Bold" panose="020F0704030504030204" pitchFamily="34" charset="0"/>
              </a:rPr>
              <a:t>I</a:t>
            </a:r>
            <a:endParaRPr lang="zh-TW" altLang="en-US" sz="28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1407" y="964669"/>
            <a:ext cx="4743994" cy="145204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72" y="2035542"/>
            <a:ext cx="1485900" cy="466725"/>
          </a:xfrm>
          <a:prstGeom prst="rect">
            <a:avLst/>
          </a:prstGeom>
        </p:spPr>
      </p:pic>
      <p:pic>
        <p:nvPicPr>
          <p:cNvPr id="9" name="內容版面配置區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530" y="2506662"/>
            <a:ext cx="61569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4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latin typeface="Arial Rounded MT Bold" panose="020F0704030504030204" pitchFamily="34" charset="0"/>
              </a:rPr>
              <a:t>Experiment I </a:t>
            </a:r>
            <a:r>
              <a:rPr lang="en-US" altLang="zh-TW" sz="3600" b="1" dirty="0" err="1">
                <a:latin typeface="Arial Rounded MT Bold" panose="020F0704030504030204" pitchFamily="34" charset="0"/>
              </a:rPr>
              <a:t>I</a:t>
            </a:r>
            <a:endParaRPr lang="zh-TW" altLang="en-US" sz="36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72" y="1690689"/>
            <a:ext cx="4886325" cy="1695450"/>
          </a:xfrm>
          <a:prstGeom prst="rect">
            <a:avLst/>
          </a:prstGeom>
        </p:spPr>
      </p:pic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61335" y="3219450"/>
            <a:ext cx="55816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2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sz="28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7683"/>
            <a:ext cx="4445318" cy="3038278"/>
          </a:xfrm>
          <a:prstGeom prst="rect">
            <a:avLst/>
          </a:prstGeom>
        </p:spPr>
      </p:pic>
      <p:pic>
        <p:nvPicPr>
          <p:cNvPr id="6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580" y="844190"/>
            <a:ext cx="4948764" cy="1692998"/>
          </a:xfrm>
          <a:prstGeom prst="rect">
            <a:avLst/>
          </a:prstGeom>
        </p:spPr>
      </p:pic>
      <p:pic>
        <p:nvPicPr>
          <p:cNvPr id="8" name="內容版面配置區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869" y="2789634"/>
            <a:ext cx="6170105" cy="406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9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>
                <a:latin typeface="Arial Rounded MT Bold" panose="020F0704030504030204" pitchFamily="34" charset="0"/>
              </a:rPr>
              <a:t>Experiment I </a:t>
            </a:r>
            <a:r>
              <a:rPr lang="en-US" altLang="zh-TW" sz="3600" b="1" dirty="0" err="1">
                <a:latin typeface="Arial Rounded MT Bold" panose="020F0704030504030204" pitchFamily="34" charset="0"/>
              </a:rPr>
              <a:t>I</a:t>
            </a:r>
            <a:r>
              <a:rPr lang="en-US" altLang="zh-TW" sz="3600" b="1" dirty="0">
                <a:latin typeface="Arial Rounded MT Bold" panose="020F0704030504030204" pitchFamily="34" charset="0"/>
              </a:rPr>
              <a:t> </a:t>
            </a:r>
            <a:r>
              <a:rPr lang="en-US" altLang="zh-TW" sz="3600" b="1" dirty="0" err="1">
                <a:latin typeface="Arial Rounded MT Bold" panose="020F0704030504030204" pitchFamily="34" charset="0"/>
              </a:rPr>
              <a:t>I</a:t>
            </a:r>
            <a:endParaRPr lang="zh-TW" altLang="en-US" sz="3600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3870" y="2049210"/>
            <a:ext cx="4562475" cy="30480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" y="2049210"/>
            <a:ext cx="2028825" cy="71437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" y="3016252"/>
            <a:ext cx="3543300" cy="69532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878" y="3977852"/>
            <a:ext cx="1158050" cy="793013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1830" y="4089148"/>
            <a:ext cx="1252823" cy="719213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682" y="5037140"/>
            <a:ext cx="3918042" cy="159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1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-157321"/>
            <a:ext cx="4371975" cy="2952750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75" y="242094"/>
            <a:ext cx="4695825" cy="1571625"/>
          </a:xfrm>
          <a:prstGeom prst="rect">
            <a:avLst/>
          </a:prstGeom>
        </p:spPr>
      </p:pic>
      <p:pic>
        <p:nvPicPr>
          <p:cNvPr id="6" name="內容版面配置區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595" y="2593721"/>
            <a:ext cx="6279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36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>
                <a:latin typeface="Arial Rounded MT Bold" panose="020F0704030504030204" pitchFamily="34" charset="0"/>
              </a:rPr>
              <a:t>Conclusion</a:t>
            </a:r>
            <a:endParaRPr lang="zh-TW" altLang="en-US" sz="28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TW" dirty="0"/>
              <a:t>We have proposed a multiple-kernel support vector </a:t>
            </a:r>
            <a:r>
              <a:rPr lang="en-US" altLang="zh-TW" dirty="0" smtClean="0"/>
              <a:t>regression approach </a:t>
            </a:r>
            <a:r>
              <a:rPr lang="en-US" altLang="zh-TW" dirty="0"/>
              <a:t>for stock market price forecasting. A two-stage </a:t>
            </a:r>
            <a:r>
              <a:rPr lang="en-US" altLang="zh-TW" dirty="0" smtClean="0"/>
              <a:t>multiple-kernel </a:t>
            </a:r>
            <a:r>
              <a:rPr lang="en-US" altLang="zh-TW" dirty="0"/>
              <a:t>learning algorithm is developed to optimally </a:t>
            </a:r>
            <a:r>
              <a:rPr lang="en-US" altLang="zh-TW" dirty="0" smtClean="0"/>
              <a:t>combine multiple-kernel </a:t>
            </a:r>
            <a:r>
              <a:rPr lang="en-US" altLang="zh-TW" dirty="0"/>
              <a:t>matrices for support vector regression.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The learning algorithm </a:t>
            </a:r>
            <a:r>
              <a:rPr lang="en-US" altLang="zh-TW" dirty="0"/>
              <a:t>applies sequential minimal optimization and </a:t>
            </a:r>
            <a:r>
              <a:rPr lang="en-US" altLang="zh-TW" dirty="0" smtClean="0"/>
              <a:t>gradient projection </a:t>
            </a:r>
            <a:r>
              <a:rPr lang="en-US" altLang="zh-TW" dirty="0"/>
              <a:t>iteratively to obtain Lagrange multipliers </a:t>
            </a:r>
            <a:r>
              <a:rPr lang="en-US" altLang="zh-TW" dirty="0" smtClean="0"/>
              <a:t>and optimal </a:t>
            </a:r>
            <a:r>
              <a:rPr lang="en-US" altLang="zh-TW" dirty="0"/>
              <a:t>kernel weights. By this algorithm, advantages from </a:t>
            </a:r>
            <a:r>
              <a:rPr lang="en-US" altLang="zh-TW" dirty="0" smtClean="0"/>
              <a:t>different </a:t>
            </a:r>
            <a:r>
              <a:rPr lang="en-US" altLang="zh-TW" dirty="0" err="1" smtClean="0"/>
              <a:t>hyperparameter</a:t>
            </a:r>
            <a:r>
              <a:rPr lang="en-US" altLang="zh-TW" dirty="0" smtClean="0"/>
              <a:t> </a:t>
            </a:r>
            <a:r>
              <a:rPr lang="en-US" altLang="zh-TW" dirty="0"/>
              <a:t>settings can be combined and overall </a:t>
            </a:r>
            <a:r>
              <a:rPr lang="en-US" altLang="zh-TW" dirty="0" smtClean="0"/>
              <a:t>system performance </a:t>
            </a:r>
            <a:r>
              <a:rPr lang="en-US" altLang="zh-TW" dirty="0"/>
              <a:t>can be improved.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Besides</a:t>
            </a:r>
            <a:r>
              <a:rPr lang="en-US" altLang="zh-TW" dirty="0"/>
              <a:t>, the user need not </a:t>
            </a:r>
            <a:r>
              <a:rPr lang="en-US" altLang="zh-TW" dirty="0" smtClean="0"/>
              <a:t>specify the </a:t>
            </a:r>
            <a:r>
              <a:rPr lang="en-US" altLang="zh-TW" dirty="0" err="1"/>
              <a:t>hyperparameter</a:t>
            </a:r>
            <a:r>
              <a:rPr lang="en-US" altLang="zh-TW" dirty="0"/>
              <a:t> settings in advance, and trial-and-error </a:t>
            </a:r>
            <a:r>
              <a:rPr lang="en-US" altLang="zh-TW" dirty="0" smtClean="0"/>
              <a:t>for determining </a:t>
            </a:r>
            <a:r>
              <a:rPr lang="en-US" altLang="zh-TW" dirty="0"/>
              <a:t>appropriate </a:t>
            </a:r>
            <a:r>
              <a:rPr lang="en-US" altLang="zh-TW" dirty="0" err="1"/>
              <a:t>hyperparameter</a:t>
            </a:r>
            <a:r>
              <a:rPr lang="en-US" altLang="zh-TW" dirty="0"/>
              <a:t> settings can then </a:t>
            </a:r>
            <a:r>
              <a:rPr lang="en-US" altLang="zh-TW" dirty="0" smtClean="0"/>
              <a:t>be avoided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Experimental </a:t>
            </a:r>
            <a:r>
              <a:rPr lang="en-US" altLang="zh-TW" dirty="0"/>
              <a:t>results, obtained by running on datasets </a:t>
            </a:r>
            <a:r>
              <a:rPr lang="en-US" altLang="zh-TW" dirty="0" smtClean="0"/>
              <a:t>taken from </a:t>
            </a:r>
            <a:r>
              <a:rPr lang="en-US" altLang="zh-TW" dirty="0"/>
              <a:t>Taiwan Capitalization Weighted Stock Index, have </a:t>
            </a:r>
            <a:r>
              <a:rPr lang="en-US" altLang="zh-TW" dirty="0" smtClean="0"/>
              <a:t>shown that </a:t>
            </a:r>
            <a:r>
              <a:rPr lang="en-US" altLang="zh-TW" dirty="0"/>
              <a:t>our method performs better than other methods.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40369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1993</TotalTime>
  <Words>544</Words>
  <Application>Microsoft Office PowerPoint</Application>
  <PresentationFormat>如螢幕大小 (4:3)</PresentationFormat>
  <Paragraphs>56</Paragraphs>
  <Slides>22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9" baseType="lpstr">
      <vt:lpstr>Arial Unicode MS</vt:lpstr>
      <vt:lpstr>新細明體</vt:lpstr>
      <vt:lpstr>Arial</vt:lpstr>
      <vt:lpstr>Arial Rounded MT Bold</vt:lpstr>
      <vt:lpstr>Calibri</vt:lpstr>
      <vt:lpstr>Calibri Light</vt:lpstr>
      <vt:lpstr>Office 佈景主題</vt:lpstr>
      <vt:lpstr>A multiple-kernel support vector regression approach for stock market price forecasting</vt:lpstr>
      <vt:lpstr>Abstract (1/2)</vt:lpstr>
      <vt:lpstr>Abstract(2/2) </vt:lpstr>
      <vt:lpstr>Introduction (Support Vector Regression)</vt:lpstr>
      <vt:lpstr>Introduction (Support Vector Regression)</vt:lpstr>
      <vt:lpstr>Support vector regression (kernel function)</vt:lpstr>
      <vt:lpstr>Multiple-kernel support vector regression</vt:lpstr>
      <vt:lpstr>Multiple-kernel support vector regression</vt:lpstr>
      <vt:lpstr>Two-stage multi-kernel learning</vt:lpstr>
      <vt:lpstr>Two-stage multi-kernel learning</vt:lpstr>
      <vt:lpstr>Two-stage multi-kernel learning</vt:lpstr>
      <vt:lpstr>Gradient projection for multi-kernel learning</vt:lpstr>
      <vt:lpstr>Gradient projection for multi-kernel learning</vt:lpstr>
      <vt:lpstr>Gradient projection for multi-kernel learning</vt:lpstr>
      <vt:lpstr>Two-stage multi-kernel learning</vt:lpstr>
      <vt:lpstr>Experiment I</vt:lpstr>
      <vt:lpstr>Experiment I I</vt:lpstr>
      <vt:lpstr>Experiment I I</vt:lpstr>
      <vt:lpstr>PowerPoint 簡報</vt:lpstr>
      <vt:lpstr>Experiment I I I</vt:lpstr>
      <vt:lpstr>PowerPoint 簡報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Huang</dc:creator>
  <cp:lastModifiedBy>Huang</cp:lastModifiedBy>
  <cp:revision>74</cp:revision>
  <dcterms:created xsi:type="dcterms:W3CDTF">2015-02-03T13:24:03Z</dcterms:created>
  <dcterms:modified xsi:type="dcterms:W3CDTF">2015-02-08T15:21:58Z</dcterms:modified>
</cp:coreProperties>
</file>