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4" r:id="rId21"/>
    <p:sldId id="275" r:id="rId22"/>
    <p:sldId id="276" r:id="rId23"/>
    <p:sldId id="277" r:id="rId24"/>
    <p:sldId id="278" r:id="rId25"/>
    <p:sldId id="279" r:id="rId26"/>
    <p:sldId id="280" r:id="rId27"/>
    <p:sldId id="281" r:id="rId28"/>
    <p:sldId id="283" r:id="rId29"/>
    <p:sldId id="282" r:id="rId3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704" autoAdjust="0"/>
  </p:normalViewPr>
  <p:slideViewPr>
    <p:cSldViewPr>
      <p:cViewPr varScale="1">
        <p:scale>
          <a:sx n="101" d="100"/>
          <a:sy n="101" d="100"/>
        </p:scale>
        <p:origin x="-25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0.wmf"/><Relationship Id="rId4"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0.wmf"/><Relationship Id="rId1" Type="http://schemas.openxmlformats.org/officeDocument/2006/relationships/image" Target="../media/image10.wmf"/><Relationship Id="rId5" Type="http://schemas.openxmlformats.org/officeDocument/2006/relationships/image" Target="../media/image26.wmf"/><Relationship Id="rId4"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1C8C60-BBCD-4421-ACB3-647BECF168EC}" type="datetimeFigureOut">
              <a:rPr lang="zh-TW" altLang="en-US" smtClean="0"/>
              <a:pPr/>
              <a:t>2015/2/9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25288D-75E0-49F6-B688-2D42F3082988}"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9125288D-75E0-49F6-B688-2D42F3082988}" type="slidenum">
              <a:rPr lang="zh-TW" altLang="en-US" smtClean="0"/>
              <a:pPr/>
              <a:t>1</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9125288D-75E0-49F6-B688-2D42F3082988}" type="slidenum">
              <a:rPr lang="zh-TW" altLang="en-US" smtClean="0"/>
              <a:pPr/>
              <a:t>10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4EAB1263-7E04-4615-9399-B3A689EB504E}" type="datetime1">
              <a:rPr lang="zh-TW" altLang="en-US" smtClean="0"/>
              <a:pPr/>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117DAD2-C2D1-4401-9D84-6EE056FEF626}" type="datetime1">
              <a:rPr lang="zh-TW" altLang="en-US" smtClean="0"/>
              <a:pPr/>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3DF9714-59C8-4B01-A823-4AAA72152EE3}" type="datetime1">
              <a:rPr lang="zh-TW" altLang="en-US" smtClean="0"/>
              <a:pPr/>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CAB377B-C94B-49E5-BF7A-05253CF6CF78}" type="datetime1">
              <a:rPr lang="zh-TW" altLang="en-US" smtClean="0"/>
              <a:pPr/>
              <a:t>2015/2/9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71D2A2B-190C-4C1E-9BC1-295D04F7F63D}" type="datetime1">
              <a:rPr lang="zh-TW" altLang="en-US" smtClean="0"/>
              <a:pPr/>
              <a:t>2015/2/9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F02C86A-C131-4864-9808-5813D4F38C80}" type="datetime1">
              <a:rPr lang="zh-TW" altLang="en-US" smtClean="0"/>
              <a:pPr/>
              <a:t>2015/2/9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BEF0044-085B-49E1-8959-3BA60CCA528A}" type="datetime1">
              <a:rPr lang="zh-TW" altLang="en-US" smtClean="0"/>
              <a:pPr/>
              <a:t>2015/2/9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008E2C3-DD4D-4E27-B740-DE9CD33B5F13}" type="datetime1">
              <a:rPr lang="zh-TW" altLang="en-US" smtClean="0"/>
              <a:pPr/>
              <a:t>2015/2/9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C2FB04E-D692-4A55-8D16-743FF7FA4026}" type="datetime1">
              <a:rPr lang="zh-TW" altLang="en-US" smtClean="0"/>
              <a:pPr/>
              <a:t>2015/2/9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430AF16-8F39-4D0D-A734-56AA3FADCBD4}" type="datetime1">
              <a:rPr lang="zh-TW" altLang="en-US" smtClean="0"/>
              <a:pPr/>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61F032F-96F6-4E26-89EC-10F29F4D4629}" type="datetime1">
              <a:rPr lang="zh-TW" altLang="en-US" smtClean="0"/>
              <a:pPr/>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BF6F5D-E674-4364-9E85-C77FB4B88D1E}" type="datetime1">
              <a:rPr lang="zh-TW" altLang="en-US" smtClean="0"/>
              <a:pPr/>
              <a:t>2015/2/9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2.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png"/><Relationship Id="rId5" Type="http://schemas.openxmlformats.org/officeDocument/2006/relationships/oleObject" Target="../embeddings/oleObject7.bin"/><Relationship Id="rId4" Type="http://schemas.openxmlformats.org/officeDocument/2006/relationships/oleObject" Target="../embeddings/oleObject6.bin"/><Relationship Id="rId9"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7.bin"/><Relationship Id="rId5" Type="http://schemas.openxmlformats.org/officeDocument/2006/relationships/image" Target="../media/image12.png"/><Relationship Id="rId4"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19.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21.bin"/><Relationship Id="rId4" Type="http://schemas.openxmlformats.org/officeDocument/2006/relationships/oleObject" Target="../embeddings/oleObject2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3.png"/><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png"/><Relationship Id="rId5" Type="http://schemas.openxmlformats.org/officeDocument/2006/relationships/oleObject" Target="../embeddings/oleObject23.bin"/><Relationship Id="rId4" Type="http://schemas.openxmlformats.org/officeDocument/2006/relationships/oleObject" Target="../embeddings/oleObject22.bin"/><Relationship Id="rId9" Type="http://schemas.openxmlformats.org/officeDocument/2006/relationships/oleObject" Target="../embeddings/oleObject26.bin"/></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27.png"/><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png"/><Relationship Id="rId5" Type="http://schemas.openxmlformats.org/officeDocument/2006/relationships/oleObject" Target="../embeddings/oleObject30.bin"/><Relationship Id="rId4" Type="http://schemas.openxmlformats.org/officeDocument/2006/relationships/oleObject" Target="../embeddings/oleObject29.bin"/><Relationship Id="rId9"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Effective Sparse Dynamic Programming Algorithms for Merged and Block Merged LCS Problems</a:t>
            </a:r>
            <a:endParaRPr lang="zh-TW" altLang="en-US" dirty="0"/>
          </a:p>
        </p:txBody>
      </p:sp>
      <p:sp>
        <p:nvSpPr>
          <p:cNvPr id="3" name="副標題 2"/>
          <p:cNvSpPr>
            <a:spLocks noGrp="1"/>
          </p:cNvSpPr>
          <p:nvPr>
            <p:ph type="subTitle" idx="1"/>
          </p:nvPr>
        </p:nvSpPr>
        <p:spPr>
          <a:xfrm>
            <a:off x="285720" y="3886200"/>
            <a:ext cx="8215370" cy="1752600"/>
          </a:xfrm>
        </p:spPr>
        <p:txBody>
          <a:bodyPr/>
          <a:lstStyle/>
          <a:p>
            <a:r>
              <a:rPr lang="en-US" altLang="zh-TW" dirty="0" smtClean="0"/>
              <a:t>AHM </a:t>
            </a:r>
            <a:r>
              <a:rPr lang="en-US" altLang="zh-TW" dirty="0" err="1" smtClean="0"/>
              <a:t>Mahfuzur</a:t>
            </a:r>
            <a:r>
              <a:rPr lang="en-US" altLang="zh-TW" dirty="0" smtClean="0"/>
              <a:t> </a:t>
            </a:r>
            <a:r>
              <a:rPr lang="en-US" altLang="zh-TW" dirty="0" err="1" smtClean="0"/>
              <a:t>Rahman</a:t>
            </a:r>
            <a:r>
              <a:rPr lang="en-US" altLang="zh-TW" baseline="30000" dirty="0" err="1" smtClean="0"/>
              <a:t>a</a:t>
            </a:r>
            <a:r>
              <a:rPr lang="en-US" altLang="zh-TW" dirty="0" smtClean="0"/>
              <a:t> and M. </a:t>
            </a:r>
            <a:r>
              <a:rPr lang="en-US" altLang="zh-TW" dirty="0" err="1" smtClean="0"/>
              <a:t>Sohel</a:t>
            </a:r>
            <a:r>
              <a:rPr lang="en-US" altLang="zh-TW" dirty="0" smtClean="0"/>
              <a:t> </a:t>
            </a:r>
            <a:r>
              <a:rPr lang="en-US" altLang="zh-TW" dirty="0" err="1" smtClean="0"/>
              <a:t>Rahman</a:t>
            </a:r>
            <a:r>
              <a:rPr lang="en-US" altLang="zh-TW" baseline="30000" dirty="0" err="1" smtClean="0"/>
              <a:t>a</a:t>
            </a:r>
            <a:r>
              <a:rPr lang="en-US" altLang="zh-TW" dirty="0" smtClean="0"/>
              <a:t> JOURNAL OF COMPUTERS, VOL. 9, NO. 8, AUGUST 2014</a:t>
            </a:r>
            <a:endParaRPr lang="en-US" altLang="zh-TW" baseline="30000" dirty="0" smtClean="0"/>
          </a:p>
        </p:txBody>
      </p:sp>
      <p:sp>
        <p:nvSpPr>
          <p:cNvPr id="4" name="文字方塊 3"/>
          <p:cNvSpPr txBox="1"/>
          <p:nvPr/>
        </p:nvSpPr>
        <p:spPr>
          <a:xfrm>
            <a:off x="6357950" y="5500702"/>
            <a:ext cx="2536656" cy="923330"/>
          </a:xfrm>
          <a:prstGeom prst="rect">
            <a:avLst/>
          </a:prstGeom>
          <a:noFill/>
        </p:spPr>
        <p:txBody>
          <a:bodyPr wrap="none" rtlCol="0">
            <a:spAutoFit/>
          </a:bodyPr>
          <a:lstStyle/>
          <a:p>
            <a:r>
              <a:rPr lang="en-US" altLang="zh-TW" dirty="0" err="1" smtClean="0">
                <a:latin typeface="Calibri" pitchFamily="34" charset="0"/>
              </a:rPr>
              <a:t>Presenter:</a:t>
            </a:r>
            <a:r>
              <a:rPr lang="en-US" dirty="0" err="1" smtClean="0"/>
              <a:t>De-Sheng</a:t>
            </a:r>
            <a:r>
              <a:rPr lang="en-US" dirty="0" smtClean="0"/>
              <a:t> </a:t>
            </a:r>
            <a:r>
              <a:rPr lang="en-US" dirty="0" err="1" smtClean="0"/>
              <a:t>Jhan</a:t>
            </a:r>
            <a:endParaRPr lang="en-US" altLang="zh-TW" dirty="0" smtClean="0">
              <a:latin typeface="Calibri" pitchFamily="34" charset="0"/>
            </a:endParaRPr>
          </a:p>
          <a:p>
            <a:r>
              <a:rPr lang="en-US" altLang="zh-TW" smtClean="0">
                <a:latin typeface="Calibri" pitchFamily="34" charset="0"/>
              </a:rPr>
              <a:t>              2015/02/09</a:t>
            </a:r>
            <a:endParaRPr lang="zh-TW" altLang="en-US" dirty="0" smtClean="0">
              <a:latin typeface="Calibri" pitchFamily="34" charset="0"/>
            </a:endParaRPr>
          </a:p>
          <a:p>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1</a:t>
            </a:fld>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Abstract(1/3)</a:t>
            </a:r>
            <a:endParaRPr lang="zh-TW" altLang="en-US" dirty="0"/>
          </a:p>
        </p:txBody>
      </p:sp>
      <p:sp>
        <p:nvSpPr>
          <p:cNvPr id="3" name="內容版面配置區 2"/>
          <p:cNvSpPr>
            <a:spLocks noGrp="1"/>
          </p:cNvSpPr>
          <p:nvPr>
            <p:ph idx="1"/>
          </p:nvPr>
        </p:nvSpPr>
        <p:spPr/>
        <p:txBody>
          <a:bodyPr>
            <a:noAutofit/>
          </a:bodyPr>
          <a:lstStyle/>
          <a:p>
            <a:pPr>
              <a:buNone/>
            </a:pPr>
            <a:r>
              <a:rPr lang="en-US" altLang="zh-TW" sz="2400" dirty="0" smtClean="0"/>
              <a:t>     Abstract—The longest common subsequence problem has been widely studied and used to find out the relationship between sequences. In this paper, we study the interleaving relationship between sequences, that is, we measure the relationship among three sequences, where two of those are interleaved in different ways and then the interleaved sequences are subsequently matched with the third remaining sequence, as </a:t>
            </a:r>
            <a:r>
              <a:rPr lang="en-US" altLang="zh-TW" sz="2400" dirty="0" err="1" smtClean="0"/>
              <a:t>pairwise</a:t>
            </a:r>
            <a:r>
              <a:rPr lang="en-US" altLang="zh-TW" sz="2400" dirty="0" smtClean="0"/>
              <a:t> longest common subsequence problems. Given a target sequence </a:t>
            </a:r>
            <a:r>
              <a:rPr lang="en-US" altLang="zh-TW" sz="2400" i="1" dirty="0" smtClean="0">
                <a:latin typeface="Times New Roman" pitchFamily="18" charset="0"/>
                <a:cs typeface="Times New Roman" pitchFamily="18" charset="0"/>
              </a:rPr>
              <a:t>T</a:t>
            </a:r>
            <a:r>
              <a:rPr lang="en-US" altLang="zh-TW" sz="2400" dirty="0" smtClean="0"/>
              <a:t> and two other sequences </a:t>
            </a:r>
            <a:r>
              <a:rPr lang="en-US" altLang="zh-TW" sz="2400" i="1" dirty="0" smtClean="0">
                <a:latin typeface="Times New Roman" pitchFamily="18" charset="0"/>
                <a:cs typeface="Times New Roman" pitchFamily="18" charset="0"/>
              </a:rPr>
              <a:t>A</a:t>
            </a:r>
            <a:r>
              <a:rPr lang="en-US" altLang="zh-TW" sz="2400" dirty="0" smtClean="0"/>
              <a:t> and </a:t>
            </a:r>
            <a:r>
              <a:rPr lang="en-US" altLang="zh-TW" sz="2400" i="1" dirty="0" smtClean="0">
                <a:latin typeface="Times New Roman" pitchFamily="18" charset="0"/>
                <a:cs typeface="Times New Roman" pitchFamily="18" charset="0"/>
              </a:rPr>
              <a:t>B</a:t>
            </a:r>
            <a:r>
              <a:rPr lang="en-US" altLang="zh-TW" sz="2400" dirty="0" smtClean="0"/>
              <a:t>, we need to find out the LCS between M(</a:t>
            </a:r>
            <a:r>
              <a:rPr lang="en-US" altLang="zh-TW" sz="2400" i="1" dirty="0" smtClean="0">
                <a:latin typeface="Times New Roman" pitchFamily="18" charset="0"/>
                <a:cs typeface="Times New Roman" pitchFamily="18" charset="0"/>
              </a:rPr>
              <a:t>A</a:t>
            </a:r>
            <a:r>
              <a:rPr lang="en-US" altLang="zh-TW" sz="2400" dirty="0" smtClean="0"/>
              <a:t>, </a:t>
            </a:r>
            <a:r>
              <a:rPr lang="en-US" altLang="zh-TW" sz="2400" i="1" dirty="0" smtClean="0">
                <a:latin typeface="Times New Roman" pitchFamily="18" charset="0"/>
                <a:cs typeface="Times New Roman" pitchFamily="18" charset="0"/>
              </a:rPr>
              <a:t>B</a:t>
            </a:r>
            <a:r>
              <a:rPr lang="en-US" altLang="zh-TW" sz="2400" dirty="0" smtClean="0"/>
              <a:t>) and T, where M(A,B) denotes the merged-sequence which consists of </a:t>
            </a:r>
            <a:r>
              <a:rPr lang="en-US" altLang="zh-TW" sz="2400" i="1" dirty="0" smtClean="0">
                <a:latin typeface="Times New Roman" pitchFamily="18" charset="0"/>
                <a:cs typeface="Times New Roman" pitchFamily="18" charset="0"/>
              </a:rPr>
              <a:t>A</a:t>
            </a:r>
            <a:r>
              <a:rPr lang="en-US" altLang="zh-TW" sz="2400" dirty="0" smtClean="0"/>
              <a:t> and </a:t>
            </a:r>
            <a:r>
              <a:rPr lang="en-US" altLang="zh-TW" sz="2400" i="1" dirty="0" smtClean="0">
                <a:latin typeface="Times New Roman" pitchFamily="18" charset="0"/>
                <a:cs typeface="Times New Roman" pitchFamily="18" charset="0"/>
              </a:rPr>
              <a:t>B</a:t>
            </a:r>
            <a:r>
              <a:rPr lang="en-US" altLang="zh-TW" sz="2400" dirty="0" smtClean="0"/>
              <a:t>.</a:t>
            </a:r>
            <a:endParaRPr lang="zh-TW" altLang="en-US" sz="24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Abstract(2/3)</a:t>
            </a:r>
            <a:endParaRPr lang="zh-TW" altLang="en-US" dirty="0"/>
          </a:p>
        </p:txBody>
      </p:sp>
      <p:sp>
        <p:nvSpPr>
          <p:cNvPr id="3" name="內容版面配置區 2"/>
          <p:cNvSpPr>
            <a:spLocks noGrp="1"/>
          </p:cNvSpPr>
          <p:nvPr>
            <p:ph idx="1"/>
          </p:nvPr>
        </p:nvSpPr>
        <p:spPr/>
        <p:txBody>
          <a:bodyPr>
            <a:noAutofit/>
          </a:bodyPr>
          <a:lstStyle/>
          <a:p>
            <a:pPr>
              <a:buNone/>
            </a:pPr>
            <a:r>
              <a:rPr lang="en-US" altLang="zh-TW" sz="2400" dirty="0" smtClean="0"/>
              <a:t>    We first present an improved O((</a:t>
            </a:r>
            <a:r>
              <a:rPr lang="en-US" altLang="zh-TW" sz="2400" i="1" dirty="0" err="1" smtClean="0">
                <a:latin typeface="Times New Roman" pitchFamily="18" charset="0"/>
                <a:cs typeface="Times New Roman" pitchFamily="18" charset="0"/>
              </a:rPr>
              <a:t>Rr</a:t>
            </a:r>
            <a:r>
              <a:rPr lang="en-US" altLang="zh-TW" sz="2400" dirty="0" smtClean="0"/>
              <a:t> + </a:t>
            </a:r>
            <a:r>
              <a:rPr lang="en-US" altLang="zh-TW" sz="2400" i="1" dirty="0" smtClean="0">
                <a:latin typeface="Times New Roman" pitchFamily="18" charset="0"/>
                <a:cs typeface="Times New Roman" pitchFamily="18" charset="0"/>
              </a:rPr>
              <a:t>Pm</a:t>
            </a:r>
            <a:r>
              <a:rPr lang="en-US" altLang="zh-TW" sz="2400" dirty="0" smtClean="0"/>
              <a:t>)</a:t>
            </a:r>
            <a:r>
              <a:rPr lang="en-US" altLang="zh-TW" sz="2400" dirty="0" err="1" smtClean="0"/>
              <a:t>loglog</a:t>
            </a:r>
            <a:r>
              <a:rPr lang="en-US" altLang="zh-TW" sz="2400" i="1" dirty="0" err="1" smtClean="0">
                <a:latin typeface="Times New Roman" pitchFamily="18" charset="0"/>
                <a:cs typeface="Times New Roman" pitchFamily="18" charset="0"/>
              </a:rPr>
              <a:t>r</a:t>
            </a:r>
            <a:r>
              <a:rPr lang="en-US" altLang="zh-TW" sz="2400" dirty="0" smtClean="0"/>
              <a:t>) time algorithm, where we consider only the matches between sequences; here </a:t>
            </a:r>
            <a:r>
              <a:rPr lang="pt-BR" altLang="zh-TW" sz="2400" dirty="0" smtClean="0"/>
              <a:t>|</a:t>
            </a:r>
            <a:r>
              <a:rPr lang="pt-BR" altLang="zh-TW" sz="2400" i="1" dirty="0" smtClean="0">
                <a:latin typeface="Times New Roman" pitchFamily="18" charset="0"/>
                <a:cs typeface="Times New Roman" pitchFamily="18" charset="0"/>
              </a:rPr>
              <a:t>T</a:t>
            </a:r>
            <a:r>
              <a:rPr lang="pt-BR" altLang="zh-TW" sz="2400" dirty="0" smtClean="0"/>
              <a:t>| = </a:t>
            </a:r>
            <a:r>
              <a:rPr lang="pt-BR" altLang="zh-TW" sz="2400" i="1" dirty="0" smtClean="0">
                <a:latin typeface="Times New Roman" pitchFamily="18" charset="0"/>
                <a:cs typeface="Times New Roman" pitchFamily="18" charset="0"/>
              </a:rPr>
              <a:t>n</a:t>
            </a:r>
            <a:r>
              <a:rPr lang="pt-BR" altLang="zh-TW" sz="2400" dirty="0" smtClean="0"/>
              <a:t>, |</a:t>
            </a:r>
            <a:r>
              <a:rPr lang="pt-BR" altLang="zh-TW" sz="2400" i="1" dirty="0" smtClean="0">
                <a:latin typeface="Times New Roman" pitchFamily="18" charset="0"/>
                <a:cs typeface="Times New Roman" pitchFamily="18" charset="0"/>
              </a:rPr>
              <a:t>A</a:t>
            </a:r>
            <a:r>
              <a:rPr lang="pt-BR" altLang="zh-TW" sz="2400" dirty="0" smtClean="0"/>
              <a:t>| = </a:t>
            </a:r>
            <a:r>
              <a:rPr lang="pt-BR" altLang="zh-TW" sz="2400" i="1" dirty="0" smtClean="0">
                <a:latin typeface="Times New Roman" pitchFamily="18" charset="0"/>
                <a:cs typeface="Times New Roman" pitchFamily="18" charset="0"/>
              </a:rPr>
              <a:t>m</a:t>
            </a:r>
            <a:r>
              <a:rPr lang="pt-BR" altLang="zh-TW" sz="2400" dirty="0" smtClean="0"/>
              <a:t> and |</a:t>
            </a:r>
            <a:r>
              <a:rPr lang="pt-BR" altLang="zh-TW" sz="2400" i="1" dirty="0" smtClean="0">
                <a:latin typeface="Times New Roman" pitchFamily="18" charset="0"/>
                <a:cs typeface="Times New Roman" pitchFamily="18" charset="0"/>
              </a:rPr>
              <a:t>B</a:t>
            </a:r>
            <a:r>
              <a:rPr lang="pt-BR" altLang="zh-TW" sz="2400" dirty="0" smtClean="0"/>
              <a:t>| = </a:t>
            </a:r>
            <a:r>
              <a:rPr lang="pt-BR" altLang="zh-TW" sz="2400" i="1" dirty="0" smtClean="0">
                <a:latin typeface="Times New Roman" pitchFamily="18" charset="0"/>
                <a:cs typeface="Times New Roman" pitchFamily="18" charset="0"/>
              </a:rPr>
              <a:t>r</a:t>
            </a:r>
            <a:r>
              <a:rPr lang="pt-BR" altLang="zh-TW" sz="2400" dirty="0" smtClean="0"/>
              <a:t> (</a:t>
            </a:r>
            <a:r>
              <a:rPr lang="pt-BR" altLang="zh-TW" sz="2400" i="1" dirty="0" smtClean="0">
                <a:latin typeface="Times New Roman" pitchFamily="18" charset="0"/>
                <a:cs typeface="Times New Roman" pitchFamily="18" charset="0"/>
              </a:rPr>
              <a:t>m</a:t>
            </a:r>
            <a:r>
              <a:rPr lang="zh-TW" altLang="en-US" sz="2400" dirty="0" smtClean="0"/>
              <a:t>≥</a:t>
            </a:r>
            <a:r>
              <a:rPr lang="pt-BR" altLang="zh-TW" sz="2400" i="1" dirty="0" smtClean="0">
                <a:latin typeface="Times New Roman" pitchFamily="18" charset="0"/>
                <a:cs typeface="Times New Roman" pitchFamily="18" charset="0"/>
              </a:rPr>
              <a:t>r</a:t>
            </a:r>
            <a:r>
              <a:rPr lang="pt-BR" altLang="zh-TW" sz="2400" dirty="0" smtClean="0"/>
              <a:t>); </a:t>
            </a:r>
            <a:r>
              <a:rPr lang="pt-BR" altLang="zh-TW" sz="2400" i="1" dirty="0" smtClean="0">
                <a:latin typeface="Times New Roman" pitchFamily="18" charset="0"/>
                <a:cs typeface="Times New Roman" pitchFamily="18" charset="0"/>
              </a:rPr>
              <a:t>R</a:t>
            </a:r>
            <a:r>
              <a:rPr lang="pt-BR" altLang="zh-TW" sz="2400" dirty="0" smtClean="0"/>
              <a:t> is the total </a:t>
            </a:r>
            <a:r>
              <a:rPr lang="en-US" altLang="zh-TW" sz="2400" dirty="0" smtClean="0"/>
              <a:t>number of ordered pairs of positions at which the two strings </a:t>
            </a:r>
            <a:r>
              <a:rPr lang="en-US" altLang="zh-TW" sz="2400" i="1" dirty="0" smtClean="0">
                <a:latin typeface="Times New Roman" pitchFamily="18" charset="0"/>
                <a:cs typeface="Times New Roman" pitchFamily="18" charset="0"/>
              </a:rPr>
              <a:t>A</a:t>
            </a:r>
            <a:r>
              <a:rPr lang="en-US" altLang="zh-TW" sz="2400" dirty="0" smtClean="0"/>
              <a:t> and </a:t>
            </a:r>
            <a:r>
              <a:rPr lang="en-US" altLang="zh-TW" sz="2400" i="1" dirty="0" smtClean="0">
                <a:latin typeface="Times New Roman" pitchFamily="18" charset="0"/>
                <a:cs typeface="Times New Roman" pitchFamily="18" charset="0"/>
              </a:rPr>
              <a:t>T</a:t>
            </a:r>
            <a:r>
              <a:rPr lang="en-US" altLang="zh-TW" sz="2400" dirty="0" smtClean="0"/>
              <a:t> match and </a:t>
            </a:r>
            <a:r>
              <a:rPr lang="en-US" altLang="zh-TW" sz="2400" i="1" dirty="0" smtClean="0">
                <a:latin typeface="Times New Roman" pitchFamily="18" charset="0"/>
                <a:cs typeface="Times New Roman" pitchFamily="18" charset="0"/>
              </a:rPr>
              <a:t>P</a:t>
            </a:r>
            <a:r>
              <a:rPr lang="en-US" altLang="zh-TW" sz="2400" dirty="0" smtClean="0"/>
              <a:t> denotes the total number of ordered pairs of positions at which the two strings </a:t>
            </a:r>
            <a:r>
              <a:rPr lang="en-US" altLang="zh-TW" sz="2400" i="1" dirty="0" smtClean="0">
                <a:latin typeface="Times New Roman" pitchFamily="18" charset="0"/>
                <a:cs typeface="Times New Roman" pitchFamily="18" charset="0"/>
              </a:rPr>
              <a:t>B</a:t>
            </a:r>
            <a:r>
              <a:rPr lang="en-US" altLang="zh-TW" sz="2400" dirty="0" smtClean="0"/>
              <a:t> and </a:t>
            </a:r>
            <a:r>
              <a:rPr lang="en-US" altLang="zh-TW" sz="2400" i="1" dirty="0" smtClean="0">
                <a:latin typeface="Times New Roman" pitchFamily="18" charset="0"/>
                <a:cs typeface="Times New Roman" pitchFamily="18" charset="0"/>
              </a:rPr>
              <a:t>T</a:t>
            </a:r>
            <a:r>
              <a:rPr lang="en-US" altLang="zh-TW" sz="2400" dirty="0" smtClean="0"/>
              <a:t> match. Basing on the same idea, we also propose an improved algorithm to solve a block constrained variation of the problem. Running time of the blocked version is O(max{</a:t>
            </a:r>
            <a:r>
              <a:rPr lang="en-US" altLang="zh-TW" sz="2400" i="1" dirty="0" smtClean="0">
                <a:latin typeface="Times New Roman" pitchFamily="18" charset="0"/>
                <a:cs typeface="Times New Roman" pitchFamily="18" charset="0"/>
              </a:rPr>
              <a:t>R</a:t>
            </a:r>
            <a:r>
              <a:rPr lang="el-GR" sz="2400" i="1" dirty="0" smtClean="0">
                <a:latin typeface="Times New Roman" pitchFamily="18" charset="0"/>
                <a:cs typeface="Times New Roman" pitchFamily="18" charset="0"/>
              </a:rPr>
              <a:t>α</a:t>
            </a:r>
            <a:r>
              <a:rPr lang="en-US" altLang="zh-TW" sz="2400" dirty="0" err="1" smtClean="0"/>
              <a:t>loglog</a:t>
            </a:r>
            <a:r>
              <a:rPr lang="en-US" altLang="zh-TW" sz="2400" dirty="0" smtClean="0"/>
              <a:t> </a:t>
            </a:r>
            <a:r>
              <a:rPr lang="en-US" altLang="zh-TW" sz="2400" i="1" dirty="0" err="1" smtClean="0">
                <a:latin typeface="Times New Roman" pitchFamily="18" charset="0"/>
                <a:cs typeface="Times New Roman" pitchFamily="18" charset="0"/>
              </a:rPr>
              <a:t>r</a:t>
            </a:r>
            <a:r>
              <a:rPr lang="en-US" altLang="zh-TW" sz="2400" dirty="0" err="1" smtClean="0"/>
              <a:t>,</a:t>
            </a:r>
            <a:r>
              <a:rPr lang="en-US" altLang="zh-TW" sz="2400" i="1" dirty="0" err="1" smtClean="0">
                <a:latin typeface="Times New Roman" pitchFamily="18" charset="0"/>
                <a:cs typeface="Times New Roman" pitchFamily="18" charset="0"/>
              </a:rPr>
              <a:t>P</a:t>
            </a:r>
            <a:r>
              <a:rPr lang="el-GR" sz="2400" i="1" dirty="0" smtClean="0">
                <a:latin typeface="Times New Roman" pitchFamily="18" charset="0"/>
                <a:cs typeface="Times New Roman" pitchFamily="18" charset="0"/>
              </a:rPr>
              <a:t>β</a:t>
            </a:r>
            <a:r>
              <a:rPr lang="en-US" altLang="zh-TW" sz="2400" dirty="0" err="1" smtClean="0"/>
              <a:t>loglog</a:t>
            </a:r>
            <a:r>
              <a:rPr lang="en-US" altLang="zh-TW" sz="2400" i="1" dirty="0" err="1" smtClean="0">
                <a:latin typeface="Times New Roman" pitchFamily="18" charset="0"/>
                <a:cs typeface="Times New Roman" pitchFamily="18" charset="0"/>
              </a:rPr>
              <a:t>r</a:t>
            </a:r>
            <a:r>
              <a:rPr lang="en-US" altLang="zh-TW" sz="2400" dirty="0" smtClean="0"/>
              <a:t>}), where</a:t>
            </a:r>
            <a:r>
              <a:rPr lang="el-GR" sz="2400" i="1" dirty="0" smtClean="0">
                <a:latin typeface="Times New Roman" pitchFamily="18" charset="0"/>
                <a:cs typeface="Times New Roman" pitchFamily="18" charset="0"/>
              </a:rPr>
              <a:t> α </a:t>
            </a:r>
            <a:r>
              <a:rPr lang="en-US" altLang="zh-TW" sz="2400" dirty="0" smtClean="0"/>
              <a:t>denotes the number of blocks in A and</a:t>
            </a:r>
            <a:r>
              <a:rPr lang="el-GR" sz="2400" i="1" dirty="0" smtClean="0">
                <a:latin typeface="Times New Roman" pitchFamily="18" charset="0"/>
                <a:cs typeface="Times New Roman" pitchFamily="18" charset="0"/>
              </a:rPr>
              <a:t> β </a:t>
            </a:r>
            <a:r>
              <a:rPr lang="en-US" altLang="zh-TW" sz="2400" dirty="0" smtClean="0"/>
              <a:t>denotes the number of blocks in B.</a:t>
            </a:r>
            <a:endParaRPr lang="zh-TW" altLang="en-US" sz="24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Abstract(3/3)</a:t>
            </a:r>
            <a:endParaRPr lang="zh-TW" altLang="en-US" dirty="0"/>
          </a:p>
        </p:txBody>
      </p:sp>
      <p:sp>
        <p:nvSpPr>
          <p:cNvPr id="3" name="內容版面配置區 2"/>
          <p:cNvSpPr>
            <a:spLocks noGrp="1"/>
          </p:cNvSpPr>
          <p:nvPr>
            <p:ph idx="1"/>
          </p:nvPr>
        </p:nvSpPr>
        <p:spPr/>
        <p:txBody>
          <a:bodyPr>
            <a:normAutofit/>
          </a:bodyPr>
          <a:lstStyle/>
          <a:p>
            <a:pPr>
              <a:buNone/>
            </a:pPr>
            <a:r>
              <a:rPr lang="en-US" altLang="zh-TW" dirty="0" smtClean="0"/>
              <a:t>    However, these improved algorithms do not provide best output in every cases. Therefore we finally fabricate a hybrid algorithm which utilizes the advantages of our proposed algorithms and previous state of the arts algorithms to provide best output in every possible cases, from both time efficiency and space efficiency.</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Merged LCS</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A</a:t>
            </a:r>
            <a:r>
              <a:rPr lang="en-US" altLang="zh-TW" dirty="0" smtClean="0"/>
              <a:t> =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a</a:t>
            </a:r>
            <a:r>
              <a:rPr lang="en-US" altLang="zh-TW" baseline="-25000" dirty="0" smtClean="0"/>
              <a:t>4</a:t>
            </a:r>
            <a:r>
              <a:rPr lang="en-US" altLang="zh-TW" dirty="0" smtClean="0"/>
              <a:t> = </a:t>
            </a:r>
            <a:r>
              <a:rPr lang="en-US" altLang="zh-TW" i="1" dirty="0" err="1" smtClean="0">
                <a:latin typeface="Times New Roman" pitchFamily="18" charset="0"/>
                <a:cs typeface="Times New Roman" pitchFamily="18" charset="0"/>
              </a:rPr>
              <a:t>actt</a:t>
            </a:r>
            <a:r>
              <a:rPr lang="en-US" altLang="zh-TW" dirty="0" smtClean="0"/>
              <a:t>, |</a:t>
            </a:r>
            <a:r>
              <a:rPr lang="en-US" altLang="zh-TW" i="1" dirty="0" smtClean="0">
                <a:latin typeface="Times New Roman" pitchFamily="18" charset="0"/>
                <a:cs typeface="Times New Roman" pitchFamily="18" charset="0"/>
              </a:rPr>
              <a:t>A</a:t>
            </a:r>
            <a:r>
              <a:rPr lang="en-US" altLang="zh-TW" dirty="0" smtClean="0"/>
              <a:t>| = </a:t>
            </a:r>
            <a:r>
              <a:rPr lang="en-US" altLang="zh-TW" i="1" dirty="0" smtClean="0">
                <a:latin typeface="Times New Roman" pitchFamily="18" charset="0"/>
                <a:cs typeface="Times New Roman" pitchFamily="18" charset="0"/>
              </a:rPr>
              <a:t>m</a:t>
            </a:r>
            <a:r>
              <a:rPr lang="en-US" altLang="zh-TW" dirty="0" smtClean="0"/>
              <a:t> = 4</a:t>
            </a:r>
          </a:p>
          <a:p>
            <a:r>
              <a:rPr lang="en-US" altLang="zh-TW" i="1" dirty="0" smtClean="0">
                <a:latin typeface="Times New Roman" pitchFamily="18" charset="0"/>
                <a:cs typeface="Times New Roman" pitchFamily="18" charset="0"/>
              </a:rPr>
              <a:t>B</a:t>
            </a:r>
            <a:r>
              <a:rPr lang="en-US" altLang="zh-TW" dirty="0" smtClean="0"/>
              <a:t> = b</a:t>
            </a:r>
            <a:r>
              <a:rPr lang="en-US" altLang="zh-TW" baseline="-25000" dirty="0" smtClean="0"/>
              <a:t>1</a:t>
            </a:r>
            <a:r>
              <a:rPr lang="en-US" altLang="zh-TW" dirty="0" smtClean="0"/>
              <a:t>b</a:t>
            </a:r>
            <a:r>
              <a:rPr lang="en-US" altLang="zh-TW" baseline="-25000" dirty="0" smtClean="0"/>
              <a:t>2</a:t>
            </a:r>
            <a:r>
              <a:rPr lang="en-US" altLang="zh-TW" dirty="0" smtClean="0"/>
              <a:t>b</a:t>
            </a:r>
            <a:r>
              <a:rPr lang="en-US" altLang="zh-TW" baseline="-25000" dirty="0" smtClean="0"/>
              <a:t>3</a:t>
            </a:r>
            <a:r>
              <a:rPr lang="en-US" altLang="zh-TW" dirty="0" smtClean="0"/>
              <a:t> = </a:t>
            </a:r>
            <a:r>
              <a:rPr lang="en-US" altLang="zh-TW" i="1" dirty="0" err="1" smtClean="0">
                <a:latin typeface="Times New Roman" pitchFamily="18" charset="0"/>
                <a:cs typeface="Times New Roman" pitchFamily="18" charset="0"/>
              </a:rPr>
              <a:t>ctg</a:t>
            </a:r>
            <a:r>
              <a:rPr lang="en-US" altLang="zh-TW" dirty="0" smtClean="0"/>
              <a:t>,     |</a:t>
            </a:r>
            <a:r>
              <a:rPr lang="en-US" altLang="zh-TW" i="1" dirty="0" smtClean="0">
                <a:latin typeface="Times New Roman" pitchFamily="18" charset="0"/>
                <a:cs typeface="Times New Roman" pitchFamily="18" charset="0"/>
              </a:rPr>
              <a:t>B</a:t>
            </a:r>
            <a:r>
              <a:rPr lang="en-US" altLang="zh-TW" dirty="0" smtClean="0"/>
              <a:t>| = </a:t>
            </a:r>
            <a:r>
              <a:rPr lang="en-US" altLang="zh-TW" i="1" dirty="0" smtClean="0">
                <a:latin typeface="Times New Roman" pitchFamily="18" charset="0"/>
                <a:cs typeface="Times New Roman" pitchFamily="18" charset="0"/>
              </a:rPr>
              <a:t>r</a:t>
            </a:r>
            <a:r>
              <a:rPr lang="en-US" altLang="zh-TW" dirty="0" smtClean="0"/>
              <a:t> = 3</a:t>
            </a:r>
          </a:p>
          <a:p>
            <a:r>
              <a:rPr lang="en-US" altLang="zh-TW" i="1" dirty="0" smtClean="0">
                <a:latin typeface="Times New Roman" pitchFamily="18" charset="0"/>
                <a:cs typeface="Times New Roman" pitchFamily="18" charset="0"/>
              </a:rPr>
              <a:t>T</a:t>
            </a:r>
            <a:r>
              <a:rPr lang="en-US" altLang="zh-TW" dirty="0" smtClean="0"/>
              <a:t> = </a:t>
            </a:r>
            <a:r>
              <a:rPr lang="en-US" altLang="zh-TW" i="1" dirty="0" err="1" smtClean="0">
                <a:latin typeface="Times New Roman" pitchFamily="18" charset="0"/>
                <a:cs typeface="Times New Roman" pitchFamily="18" charset="0"/>
              </a:rPr>
              <a:t>tcatcg</a:t>
            </a:r>
            <a:r>
              <a:rPr lang="en-US" altLang="zh-TW" dirty="0" smtClean="0"/>
              <a:t>,                |</a:t>
            </a:r>
            <a:r>
              <a:rPr lang="en-US" altLang="zh-TW" i="1" dirty="0" smtClean="0">
                <a:latin typeface="Times New Roman" pitchFamily="18" charset="0"/>
                <a:cs typeface="Times New Roman" pitchFamily="18" charset="0"/>
              </a:rPr>
              <a:t>T</a:t>
            </a:r>
            <a:r>
              <a:rPr lang="en-US" altLang="zh-TW" dirty="0" smtClean="0"/>
              <a:t>| = </a:t>
            </a:r>
            <a:r>
              <a:rPr lang="en-US" altLang="zh-TW" i="1" dirty="0" smtClean="0">
                <a:latin typeface="Times New Roman" pitchFamily="18" charset="0"/>
                <a:cs typeface="Times New Roman" pitchFamily="18" charset="0"/>
              </a:rPr>
              <a:t>n</a:t>
            </a:r>
            <a:r>
              <a:rPr lang="en-US" altLang="zh-TW" dirty="0" smtClean="0"/>
              <a:t> = 6</a:t>
            </a:r>
          </a:p>
          <a:p>
            <a:endParaRPr lang="en-US" altLang="zh-TW" dirty="0" smtClean="0"/>
          </a:p>
          <a:p>
            <a:pPr>
              <a:buNone/>
            </a:pPr>
            <a:r>
              <a:rPr lang="en-US" altLang="zh-TW" i="1" dirty="0" smtClean="0">
                <a:latin typeface="Times New Roman" pitchFamily="18" charset="0"/>
                <a:cs typeface="Times New Roman" pitchFamily="18" charset="0"/>
              </a:rPr>
              <a:t>MLCS</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a:t>
            </a:r>
            <a:r>
              <a:rPr lang="en-US" altLang="zh-TW" i="1" dirty="0" smtClean="0">
                <a:latin typeface="Times New Roman" pitchFamily="18" charset="0"/>
                <a:cs typeface="Times New Roman" pitchFamily="18" charset="0"/>
              </a:rPr>
              <a:t>T</a:t>
            </a:r>
            <a:r>
              <a:rPr lang="en-US" altLang="zh-TW" dirty="0" smtClean="0"/>
              <a:t>) = </a:t>
            </a:r>
            <a:r>
              <a:rPr lang="en-US" altLang="zh-TW" i="1" dirty="0" smtClean="0">
                <a:latin typeface="Times New Roman" pitchFamily="18" charset="0"/>
                <a:cs typeface="Times New Roman" pitchFamily="18" charset="0"/>
              </a:rPr>
              <a:t>LCS </a:t>
            </a:r>
            <a:r>
              <a:rPr lang="en-US" altLang="zh-TW" dirty="0" smtClean="0"/>
              <a:t>(</a:t>
            </a:r>
            <a:r>
              <a:rPr lang="en-US" altLang="zh-TW" i="1" dirty="0" smtClean="0">
                <a:latin typeface="Times New Roman" pitchFamily="18" charset="0"/>
                <a:cs typeface="Times New Roman" pitchFamily="18" charset="0"/>
              </a:rPr>
              <a:t>M</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a:t>
            </a:r>
            <a:r>
              <a:rPr lang="en-US" altLang="zh-TW" i="1" dirty="0" smtClean="0">
                <a:latin typeface="Times New Roman" pitchFamily="18" charset="0"/>
                <a:cs typeface="Times New Roman" pitchFamily="18" charset="0"/>
              </a:rPr>
              <a:t>T</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Merged LCS</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A</a:t>
            </a:r>
            <a:r>
              <a:rPr lang="en-US" altLang="zh-TW" dirty="0" smtClean="0"/>
              <a:t> = </a:t>
            </a:r>
            <a:r>
              <a:rPr lang="en-US" altLang="zh-TW" i="1" dirty="0" err="1" smtClean="0">
                <a:solidFill>
                  <a:srgbClr val="FF0000"/>
                </a:solidFill>
                <a:latin typeface="Times New Roman" pitchFamily="18" charset="0"/>
                <a:cs typeface="Times New Roman" pitchFamily="18" charset="0"/>
              </a:rPr>
              <a:t>actt</a:t>
            </a:r>
            <a:r>
              <a:rPr lang="en-US" altLang="zh-TW" i="1" dirty="0" smtClean="0">
                <a:latin typeface="Times New Roman" pitchFamily="18" charset="0"/>
                <a:cs typeface="Times New Roman" pitchFamily="18" charset="0"/>
              </a:rPr>
              <a:t>, B</a:t>
            </a:r>
            <a:r>
              <a:rPr lang="en-US" altLang="zh-TW" dirty="0" smtClean="0"/>
              <a:t> = </a:t>
            </a:r>
            <a:r>
              <a:rPr lang="en-US" altLang="zh-TW" i="1" dirty="0" err="1" smtClean="0">
                <a:solidFill>
                  <a:srgbClr val="0070C0"/>
                </a:solidFill>
                <a:latin typeface="Times New Roman" pitchFamily="18" charset="0"/>
                <a:cs typeface="Times New Roman" pitchFamily="18" charset="0"/>
              </a:rPr>
              <a:t>ctg</a:t>
            </a:r>
            <a:r>
              <a:rPr lang="en-US" altLang="zh-TW" i="1" dirty="0" smtClean="0">
                <a:latin typeface="Times New Roman" pitchFamily="18" charset="0"/>
                <a:cs typeface="Times New Roman" pitchFamily="18" charset="0"/>
              </a:rPr>
              <a:t>, T </a:t>
            </a:r>
            <a:r>
              <a:rPr lang="en-US" altLang="zh-TW" dirty="0" smtClean="0"/>
              <a:t>=</a:t>
            </a:r>
            <a:r>
              <a:rPr lang="en-US" altLang="zh-TW" i="1" dirty="0" smtClean="0">
                <a:latin typeface="Times New Roman" pitchFamily="18" charset="0"/>
                <a:cs typeface="Times New Roman" pitchFamily="18" charset="0"/>
              </a:rPr>
              <a:t> </a:t>
            </a:r>
            <a:r>
              <a:rPr lang="en-US" altLang="zh-TW" i="1" dirty="0" err="1" smtClean="0">
                <a:latin typeface="Times New Roman" pitchFamily="18" charset="0"/>
                <a:cs typeface="Times New Roman" pitchFamily="18" charset="0"/>
              </a:rPr>
              <a:t>tcatcg</a:t>
            </a:r>
            <a:endParaRPr lang="en-US" altLang="zh-TW" dirty="0" smtClean="0"/>
          </a:p>
          <a:p>
            <a:endParaRPr lang="en-US" altLang="zh-TW" dirty="0" smtClean="0"/>
          </a:p>
          <a:p>
            <a:pPr>
              <a:buNone/>
            </a:pPr>
            <a:r>
              <a:rPr lang="en-US" altLang="zh-TW" i="1" dirty="0" smtClean="0">
                <a:latin typeface="Times New Roman" pitchFamily="18" charset="0"/>
                <a:cs typeface="Times New Roman" pitchFamily="18" charset="0"/>
              </a:rPr>
              <a:t>M</a:t>
            </a:r>
            <a:r>
              <a:rPr lang="en-US" altLang="zh-TW" baseline="-25000" dirty="0" smtClean="0"/>
              <a:t>1</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 </a:t>
            </a:r>
            <a:r>
              <a:rPr lang="en-US" altLang="zh-TW" i="1" dirty="0" smtClean="0">
                <a:latin typeface="Times New Roman" pitchFamily="18" charset="0"/>
                <a:cs typeface="Times New Roman" pitchFamily="18" charset="0"/>
              </a:rPr>
              <a:t>a</a:t>
            </a:r>
            <a:r>
              <a:rPr lang="en-US" altLang="zh-TW" baseline="-25000" dirty="0" smtClean="0"/>
              <a:t>1</a:t>
            </a:r>
            <a:r>
              <a:rPr lang="en-US" altLang="zh-TW" i="1" dirty="0" smtClean="0">
                <a:latin typeface="Times New Roman" pitchFamily="18" charset="0"/>
                <a:cs typeface="Times New Roman" pitchFamily="18" charset="0"/>
              </a:rPr>
              <a:t>b</a:t>
            </a:r>
            <a:r>
              <a:rPr lang="en-US" altLang="zh-TW" baseline="-25000" dirty="0" smtClean="0"/>
              <a:t>1</a:t>
            </a:r>
            <a:r>
              <a:rPr lang="en-US" altLang="zh-TW" i="1" dirty="0" smtClean="0">
                <a:latin typeface="Times New Roman" pitchFamily="18" charset="0"/>
                <a:cs typeface="Times New Roman" pitchFamily="18" charset="0"/>
              </a:rPr>
              <a:t>a</a:t>
            </a:r>
            <a:r>
              <a:rPr lang="en-US" altLang="zh-TW" baseline="-25000" dirty="0" smtClean="0"/>
              <a:t>2</a:t>
            </a:r>
            <a:r>
              <a:rPr lang="en-US" altLang="zh-TW" i="1" dirty="0" smtClean="0">
                <a:latin typeface="Times New Roman" pitchFamily="18" charset="0"/>
                <a:cs typeface="Times New Roman" pitchFamily="18" charset="0"/>
              </a:rPr>
              <a:t>b</a:t>
            </a:r>
            <a:r>
              <a:rPr lang="en-US" altLang="zh-TW" baseline="-25000" dirty="0" smtClean="0"/>
              <a:t>2</a:t>
            </a:r>
            <a:r>
              <a:rPr lang="en-US" altLang="zh-TW" i="1" dirty="0" smtClean="0">
                <a:latin typeface="Times New Roman" pitchFamily="18" charset="0"/>
                <a:cs typeface="Times New Roman" pitchFamily="18" charset="0"/>
              </a:rPr>
              <a:t>b</a:t>
            </a:r>
            <a:r>
              <a:rPr lang="en-US" altLang="zh-TW" baseline="-25000" dirty="0" smtClean="0"/>
              <a:t>3</a:t>
            </a:r>
            <a:r>
              <a:rPr lang="en-US" altLang="zh-TW" i="1" dirty="0" smtClean="0">
                <a:latin typeface="Times New Roman" pitchFamily="18" charset="0"/>
                <a:cs typeface="Times New Roman" pitchFamily="18" charset="0"/>
              </a:rPr>
              <a:t>a</a:t>
            </a:r>
            <a:r>
              <a:rPr lang="en-US" altLang="zh-TW" baseline="-25000" dirty="0" smtClean="0"/>
              <a:t>3</a:t>
            </a:r>
            <a:r>
              <a:rPr lang="en-US" altLang="zh-TW" i="1" dirty="0" smtClean="0">
                <a:latin typeface="Times New Roman" pitchFamily="18" charset="0"/>
                <a:cs typeface="Times New Roman" pitchFamily="18" charset="0"/>
              </a:rPr>
              <a:t>a</a:t>
            </a:r>
            <a:r>
              <a:rPr lang="en-US" altLang="zh-TW" baseline="-25000" dirty="0" smtClean="0"/>
              <a:t>4</a:t>
            </a:r>
            <a:r>
              <a:rPr lang="en-US" altLang="zh-TW" dirty="0" smtClean="0"/>
              <a:t> = </a:t>
            </a:r>
            <a:r>
              <a:rPr lang="en-US" altLang="zh-TW" i="1" dirty="0" err="1" smtClean="0">
                <a:solidFill>
                  <a:srgbClr val="FF0000"/>
                </a:solidFill>
                <a:latin typeface="Times New Roman" pitchFamily="18" charset="0"/>
                <a:cs typeface="Times New Roman" pitchFamily="18" charset="0"/>
              </a:rPr>
              <a:t>a</a:t>
            </a:r>
            <a:r>
              <a:rPr lang="en-US" altLang="zh-TW" i="1" dirty="0" err="1" smtClean="0">
                <a:solidFill>
                  <a:srgbClr val="0070C0"/>
                </a:solidFill>
                <a:latin typeface="Times New Roman" pitchFamily="18" charset="0"/>
                <a:cs typeface="Times New Roman" pitchFamily="18" charset="0"/>
              </a:rPr>
              <a:t>c</a:t>
            </a:r>
            <a:r>
              <a:rPr lang="en-US" altLang="zh-TW" i="1" dirty="0" err="1" smtClean="0">
                <a:solidFill>
                  <a:srgbClr val="FF0000"/>
                </a:solidFill>
                <a:latin typeface="Times New Roman" pitchFamily="18" charset="0"/>
                <a:cs typeface="Times New Roman" pitchFamily="18" charset="0"/>
              </a:rPr>
              <a:t>c</a:t>
            </a:r>
            <a:r>
              <a:rPr lang="en-US" altLang="zh-TW" i="1" dirty="0" err="1" smtClean="0">
                <a:solidFill>
                  <a:srgbClr val="0070C0"/>
                </a:solidFill>
                <a:latin typeface="Times New Roman" pitchFamily="18" charset="0"/>
                <a:cs typeface="Times New Roman" pitchFamily="18" charset="0"/>
              </a:rPr>
              <a:t>tg</a:t>
            </a:r>
            <a:r>
              <a:rPr lang="en-US" altLang="zh-TW" i="1" dirty="0" err="1" smtClean="0">
                <a:solidFill>
                  <a:srgbClr val="FF0000"/>
                </a:solidFill>
                <a:latin typeface="Times New Roman" pitchFamily="18" charset="0"/>
                <a:cs typeface="Times New Roman" pitchFamily="18" charset="0"/>
              </a:rPr>
              <a:t>tt</a:t>
            </a:r>
            <a:endParaRPr lang="en-US" altLang="zh-TW" i="1" dirty="0" smtClean="0">
              <a:solidFill>
                <a:srgbClr val="FF0000"/>
              </a:solidFill>
              <a:latin typeface="Times New Roman" pitchFamily="18" charset="0"/>
              <a:cs typeface="Times New Roman" pitchFamily="18" charset="0"/>
            </a:endParaRPr>
          </a:p>
          <a:p>
            <a:pPr>
              <a:buNone/>
            </a:pPr>
            <a:r>
              <a:rPr lang="en-US" altLang="zh-TW" i="1" dirty="0" smtClean="0">
                <a:latin typeface="Times New Roman" pitchFamily="18" charset="0"/>
                <a:cs typeface="Times New Roman" pitchFamily="18" charset="0"/>
              </a:rPr>
              <a:t>M</a:t>
            </a:r>
            <a:r>
              <a:rPr lang="en-US" altLang="zh-TW" baseline="-25000" dirty="0" smtClean="0">
                <a:latin typeface="Times New Roman" pitchFamily="18" charset="0"/>
                <a:cs typeface="Times New Roman" pitchFamily="18" charset="0"/>
              </a:rPr>
              <a:t>2</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 </a:t>
            </a:r>
            <a:r>
              <a:rPr lang="en-US" altLang="zh-TW" i="1" dirty="0" smtClean="0">
                <a:latin typeface="Times New Roman" pitchFamily="18" charset="0"/>
                <a:cs typeface="Times New Roman" pitchFamily="18" charset="0"/>
              </a:rPr>
              <a:t>a</a:t>
            </a:r>
            <a:r>
              <a:rPr lang="en-US" altLang="zh-TW" baseline="-25000" dirty="0" smtClean="0"/>
              <a:t>1</a:t>
            </a:r>
            <a:r>
              <a:rPr lang="en-US" altLang="zh-TW" i="1" dirty="0" smtClean="0">
                <a:latin typeface="Times New Roman" pitchFamily="18" charset="0"/>
                <a:cs typeface="Times New Roman" pitchFamily="18" charset="0"/>
              </a:rPr>
              <a:t>a</a:t>
            </a:r>
            <a:r>
              <a:rPr lang="en-US" altLang="zh-TW" baseline="-25000" dirty="0" smtClean="0"/>
              <a:t>2</a:t>
            </a:r>
            <a:r>
              <a:rPr lang="en-US" altLang="zh-TW" i="1" dirty="0" smtClean="0">
                <a:latin typeface="Times New Roman" pitchFamily="18" charset="0"/>
                <a:cs typeface="Times New Roman" pitchFamily="18" charset="0"/>
              </a:rPr>
              <a:t>a</a:t>
            </a:r>
            <a:r>
              <a:rPr lang="en-US" altLang="zh-TW" baseline="-25000" dirty="0" smtClean="0"/>
              <a:t>3</a:t>
            </a:r>
            <a:r>
              <a:rPr lang="en-US" altLang="zh-TW" i="1" dirty="0" smtClean="0">
                <a:latin typeface="Times New Roman" pitchFamily="18" charset="0"/>
                <a:cs typeface="Times New Roman" pitchFamily="18" charset="0"/>
              </a:rPr>
              <a:t>a</a:t>
            </a:r>
            <a:r>
              <a:rPr lang="en-US" altLang="zh-TW" baseline="-25000" dirty="0" smtClean="0"/>
              <a:t>4</a:t>
            </a:r>
            <a:r>
              <a:rPr lang="en-US" altLang="zh-TW" i="1" dirty="0" smtClean="0">
                <a:latin typeface="Times New Roman" pitchFamily="18" charset="0"/>
                <a:cs typeface="Times New Roman" pitchFamily="18" charset="0"/>
              </a:rPr>
              <a:t>b</a:t>
            </a:r>
            <a:r>
              <a:rPr lang="en-US" altLang="zh-TW" baseline="-25000" dirty="0" smtClean="0"/>
              <a:t>1</a:t>
            </a:r>
            <a:r>
              <a:rPr lang="en-US" altLang="zh-TW" i="1" dirty="0" smtClean="0">
                <a:latin typeface="Times New Roman" pitchFamily="18" charset="0"/>
                <a:cs typeface="Times New Roman" pitchFamily="18" charset="0"/>
              </a:rPr>
              <a:t>b</a:t>
            </a:r>
            <a:r>
              <a:rPr lang="en-US" altLang="zh-TW" baseline="-25000" dirty="0" smtClean="0"/>
              <a:t>2</a:t>
            </a:r>
            <a:r>
              <a:rPr lang="en-US" altLang="zh-TW" i="1" dirty="0" smtClean="0">
                <a:latin typeface="Times New Roman" pitchFamily="18" charset="0"/>
                <a:cs typeface="Times New Roman" pitchFamily="18" charset="0"/>
              </a:rPr>
              <a:t>b</a:t>
            </a:r>
            <a:r>
              <a:rPr lang="en-US" altLang="zh-TW" baseline="-25000" dirty="0" smtClean="0"/>
              <a:t>3</a:t>
            </a:r>
            <a:r>
              <a:rPr lang="en-US" altLang="zh-TW" dirty="0" smtClean="0"/>
              <a:t> = </a:t>
            </a:r>
            <a:r>
              <a:rPr lang="en-US" altLang="zh-TW" i="1" dirty="0" err="1" smtClean="0">
                <a:solidFill>
                  <a:srgbClr val="FF0000"/>
                </a:solidFill>
                <a:latin typeface="Times New Roman" pitchFamily="18" charset="0"/>
                <a:cs typeface="Times New Roman" pitchFamily="18" charset="0"/>
              </a:rPr>
              <a:t>actt</a:t>
            </a:r>
            <a:r>
              <a:rPr lang="en-US" altLang="zh-TW" i="1" dirty="0" err="1" smtClean="0">
                <a:solidFill>
                  <a:srgbClr val="0070C0"/>
                </a:solidFill>
                <a:latin typeface="Times New Roman" pitchFamily="18" charset="0"/>
                <a:cs typeface="Times New Roman" pitchFamily="18" charset="0"/>
              </a:rPr>
              <a:t>ctg</a:t>
            </a:r>
            <a:endParaRPr lang="zh-TW" altLang="en-US" i="1" dirty="0" smtClean="0">
              <a:solidFill>
                <a:srgbClr val="FF0000"/>
              </a:solidFill>
              <a:latin typeface="Times New Roman" pitchFamily="18" charset="0"/>
              <a:cs typeface="Times New Roman" pitchFamily="18" charset="0"/>
            </a:endParaRPr>
          </a:p>
          <a:p>
            <a:pPr>
              <a:buNone/>
            </a:pPr>
            <a:r>
              <a:rPr lang="en-US" altLang="zh-TW" i="1" dirty="0" smtClean="0">
                <a:latin typeface="Times New Roman" pitchFamily="18" charset="0"/>
                <a:cs typeface="Times New Roman" pitchFamily="18" charset="0"/>
              </a:rPr>
              <a:t>M</a:t>
            </a:r>
            <a:r>
              <a:rPr lang="en-US" altLang="zh-TW" baseline="-25000" dirty="0" smtClean="0">
                <a:latin typeface="Times New Roman" pitchFamily="18" charset="0"/>
                <a:cs typeface="Times New Roman" pitchFamily="18" charset="0"/>
              </a:rPr>
              <a:t>3</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 </a:t>
            </a:r>
            <a:r>
              <a:rPr lang="en-US" altLang="zh-TW" i="1" dirty="0" smtClean="0">
                <a:latin typeface="Times New Roman" pitchFamily="18" charset="0"/>
                <a:cs typeface="Times New Roman" pitchFamily="18" charset="0"/>
              </a:rPr>
              <a:t>b</a:t>
            </a:r>
            <a:r>
              <a:rPr lang="en-US" altLang="zh-TW" baseline="-25000" dirty="0" smtClean="0"/>
              <a:t>1</a:t>
            </a:r>
            <a:r>
              <a:rPr lang="en-US" altLang="zh-TW" i="1" dirty="0" smtClean="0">
                <a:latin typeface="Times New Roman" pitchFamily="18" charset="0"/>
                <a:cs typeface="Times New Roman" pitchFamily="18" charset="0"/>
              </a:rPr>
              <a:t>a</a:t>
            </a:r>
            <a:r>
              <a:rPr lang="en-US" altLang="zh-TW" baseline="-25000" dirty="0" smtClean="0"/>
              <a:t>1</a:t>
            </a:r>
            <a:r>
              <a:rPr lang="en-US" altLang="zh-TW" i="1" dirty="0" smtClean="0">
                <a:latin typeface="Times New Roman" pitchFamily="18" charset="0"/>
                <a:cs typeface="Times New Roman" pitchFamily="18" charset="0"/>
              </a:rPr>
              <a:t>b</a:t>
            </a:r>
            <a:r>
              <a:rPr lang="en-US" altLang="zh-TW" baseline="-25000" dirty="0" smtClean="0"/>
              <a:t>2</a:t>
            </a:r>
            <a:r>
              <a:rPr lang="en-US" altLang="zh-TW" i="1" dirty="0" smtClean="0">
                <a:latin typeface="Times New Roman" pitchFamily="18" charset="0"/>
                <a:cs typeface="Times New Roman" pitchFamily="18" charset="0"/>
              </a:rPr>
              <a:t>a</a:t>
            </a:r>
            <a:r>
              <a:rPr lang="en-US" altLang="zh-TW" baseline="-25000" dirty="0" smtClean="0"/>
              <a:t>2</a:t>
            </a:r>
            <a:r>
              <a:rPr lang="en-US" altLang="zh-TW" i="1" dirty="0" smtClean="0">
                <a:latin typeface="Times New Roman" pitchFamily="18" charset="0"/>
                <a:cs typeface="Times New Roman" pitchFamily="18" charset="0"/>
              </a:rPr>
              <a:t>b</a:t>
            </a:r>
            <a:r>
              <a:rPr lang="en-US" altLang="zh-TW" baseline="-25000" dirty="0" smtClean="0"/>
              <a:t>3</a:t>
            </a:r>
            <a:r>
              <a:rPr lang="en-US" altLang="zh-TW" i="1" dirty="0" smtClean="0">
                <a:latin typeface="Times New Roman" pitchFamily="18" charset="0"/>
                <a:cs typeface="Times New Roman" pitchFamily="18" charset="0"/>
              </a:rPr>
              <a:t>a</a:t>
            </a:r>
            <a:r>
              <a:rPr lang="en-US" altLang="zh-TW" baseline="-25000" dirty="0" smtClean="0"/>
              <a:t>3</a:t>
            </a:r>
            <a:r>
              <a:rPr lang="en-US" altLang="zh-TW" i="1" dirty="0" smtClean="0">
                <a:latin typeface="Times New Roman" pitchFamily="18" charset="0"/>
                <a:cs typeface="Times New Roman" pitchFamily="18" charset="0"/>
              </a:rPr>
              <a:t>a</a:t>
            </a:r>
            <a:r>
              <a:rPr lang="en-US" altLang="zh-TW" baseline="-25000" dirty="0" smtClean="0"/>
              <a:t>4</a:t>
            </a:r>
            <a:r>
              <a:rPr lang="en-US" altLang="zh-TW" dirty="0" smtClean="0"/>
              <a:t> = </a:t>
            </a:r>
            <a:r>
              <a:rPr lang="en-US" altLang="zh-TW" i="1" dirty="0" err="1" smtClean="0">
                <a:solidFill>
                  <a:srgbClr val="0070C0"/>
                </a:solidFill>
                <a:latin typeface="Times New Roman" pitchFamily="18" charset="0"/>
                <a:cs typeface="Times New Roman" pitchFamily="18" charset="0"/>
              </a:rPr>
              <a:t>c</a:t>
            </a:r>
            <a:r>
              <a:rPr lang="en-US" altLang="zh-TW" i="1" dirty="0" err="1" smtClean="0">
                <a:solidFill>
                  <a:srgbClr val="FF0000"/>
                </a:solidFill>
                <a:latin typeface="Times New Roman" pitchFamily="18" charset="0"/>
                <a:cs typeface="Times New Roman" pitchFamily="18" charset="0"/>
              </a:rPr>
              <a:t>a</a:t>
            </a:r>
            <a:r>
              <a:rPr lang="en-US" altLang="zh-TW" i="1" dirty="0" err="1" smtClean="0">
                <a:solidFill>
                  <a:srgbClr val="0070C0"/>
                </a:solidFill>
                <a:latin typeface="Times New Roman" pitchFamily="18" charset="0"/>
                <a:cs typeface="Times New Roman" pitchFamily="18" charset="0"/>
              </a:rPr>
              <a:t>t</a:t>
            </a:r>
            <a:r>
              <a:rPr lang="en-US" altLang="zh-TW" i="1" dirty="0" err="1" smtClean="0">
                <a:solidFill>
                  <a:srgbClr val="FF0000"/>
                </a:solidFill>
                <a:latin typeface="Times New Roman" pitchFamily="18" charset="0"/>
                <a:cs typeface="Times New Roman" pitchFamily="18" charset="0"/>
              </a:rPr>
              <a:t>c</a:t>
            </a:r>
            <a:r>
              <a:rPr lang="en-US" altLang="zh-TW" i="1" dirty="0" err="1" smtClean="0">
                <a:solidFill>
                  <a:srgbClr val="0070C0"/>
                </a:solidFill>
                <a:latin typeface="Times New Roman" pitchFamily="18" charset="0"/>
                <a:cs typeface="Times New Roman" pitchFamily="18" charset="0"/>
              </a:rPr>
              <a:t>g</a:t>
            </a:r>
            <a:r>
              <a:rPr lang="en-US" altLang="zh-TW" i="1" dirty="0" err="1" smtClean="0">
                <a:solidFill>
                  <a:srgbClr val="FF0000"/>
                </a:solidFill>
                <a:latin typeface="Times New Roman" pitchFamily="18" charset="0"/>
                <a:cs typeface="Times New Roman" pitchFamily="18" charset="0"/>
              </a:rPr>
              <a:t>tt</a:t>
            </a:r>
            <a:endParaRPr lang="en-US" altLang="zh-TW" i="1" dirty="0" smtClean="0">
              <a:solidFill>
                <a:srgbClr val="FF0000"/>
              </a:solidFill>
              <a:latin typeface="Times New Roman" pitchFamily="18" charset="0"/>
              <a:cs typeface="Times New Roman" pitchFamily="18" charset="0"/>
            </a:endParaRPr>
          </a:p>
          <a:p>
            <a:pPr>
              <a:buNone/>
            </a:pPr>
            <a:endParaRPr lang="en-US" altLang="zh-TW" i="1" dirty="0" smtClean="0">
              <a:solidFill>
                <a:srgbClr val="FF0000"/>
              </a:solidFill>
              <a:latin typeface="Times New Roman" pitchFamily="18" charset="0"/>
              <a:cs typeface="Times New Roman" pitchFamily="18" charset="0"/>
            </a:endParaRPr>
          </a:p>
          <a:p>
            <a:pPr>
              <a:buNone/>
            </a:pPr>
            <a:r>
              <a:rPr lang="en-US" altLang="zh-TW" i="1" dirty="0" smtClean="0">
                <a:latin typeface="Times New Roman" pitchFamily="18" charset="0"/>
                <a:cs typeface="Times New Roman" pitchFamily="18" charset="0"/>
              </a:rPr>
              <a:t>MLCS</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a:t>
            </a:r>
            <a:r>
              <a:rPr lang="en-US" altLang="zh-TW" i="1" dirty="0" smtClean="0">
                <a:latin typeface="Times New Roman" pitchFamily="18" charset="0"/>
                <a:cs typeface="Times New Roman" pitchFamily="18" charset="0"/>
              </a:rPr>
              <a:t>T</a:t>
            </a:r>
            <a:r>
              <a:rPr lang="en-US" altLang="zh-TW" dirty="0" smtClean="0"/>
              <a:t>) = </a:t>
            </a:r>
            <a:r>
              <a:rPr lang="en-US" altLang="zh-TW" i="1" dirty="0" smtClean="0">
                <a:latin typeface="Times New Roman" pitchFamily="18" charset="0"/>
                <a:cs typeface="Times New Roman" pitchFamily="18" charset="0"/>
              </a:rPr>
              <a:t>LCS </a:t>
            </a:r>
            <a:r>
              <a:rPr lang="en-US" altLang="zh-TW" dirty="0" smtClean="0"/>
              <a:t>(</a:t>
            </a:r>
            <a:r>
              <a:rPr lang="en-US" altLang="zh-TW" i="1" dirty="0" smtClean="0">
                <a:latin typeface="Times New Roman" pitchFamily="18" charset="0"/>
                <a:cs typeface="Times New Roman" pitchFamily="18" charset="0"/>
              </a:rPr>
              <a:t>M</a:t>
            </a:r>
            <a:r>
              <a:rPr lang="en-US" altLang="zh-TW" baseline="-25000" dirty="0" smtClean="0">
                <a:latin typeface="Times New Roman" pitchFamily="18" charset="0"/>
                <a:cs typeface="Times New Roman" pitchFamily="18" charset="0"/>
              </a:rPr>
              <a:t>3</a:t>
            </a:r>
            <a:r>
              <a:rPr lang="en-US" altLang="zh-TW" dirty="0" smtClean="0"/>
              <a:t>(</a:t>
            </a:r>
            <a:r>
              <a:rPr lang="en-US" altLang="zh-TW" i="1" dirty="0" smtClean="0">
                <a:latin typeface="Times New Roman" pitchFamily="18" charset="0"/>
                <a:cs typeface="Times New Roman" pitchFamily="18" charset="0"/>
              </a:rPr>
              <a:t>A</a:t>
            </a:r>
            <a:r>
              <a:rPr lang="en-US" altLang="zh-TW" dirty="0" smtClean="0"/>
              <a:t>, </a:t>
            </a:r>
            <a:r>
              <a:rPr lang="en-US" altLang="zh-TW" i="1" dirty="0" smtClean="0">
                <a:latin typeface="Times New Roman" pitchFamily="18" charset="0"/>
                <a:cs typeface="Times New Roman" pitchFamily="18" charset="0"/>
              </a:rPr>
              <a:t>B</a:t>
            </a:r>
            <a:r>
              <a:rPr lang="en-US" altLang="zh-TW" dirty="0" smtClean="0"/>
              <a:t>), </a:t>
            </a:r>
            <a:r>
              <a:rPr lang="en-US" altLang="zh-TW" i="1" dirty="0" smtClean="0">
                <a:latin typeface="Times New Roman" pitchFamily="18" charset="0"/>
                <a:cs typeface="Times New Roman" pitchFamily="18" charset="0"/>
              </a:rPr>
              <a:t>T</a:t>
            </a:r>
            <a:r>
              <a:rPr lang="en-US" altLang="zh-TW" dirty="0" smtClean="0"/>
              <a:t>) = </a:t>
            </a:r>
            <a:r>
              <a:rPr lang="en-US" altLang="zh-TW" i="1" dirty="0" err="1" smtClean="0">
                <a:latin typeface="Times New Roman" pitchFamily="18" charset="0"/>
                <a:cs typeface="Times New Roman" pitchFamily="18" charset="0"/>
              </a:rPr>
              <a:t>catcg</a:t>
            </a:r>
            <a:endParaRPr lang="zh-TW" altLang="en-US" i="1" dirty="0" smtClean="0">
              <a:latin typeface="Times New Roman" pitchFamily="18" charset="0"/>
              <a:cs typeface="Times New Roman" pitchFamily="18" charset="0"/>
            </a:endParaRPr>
          </a:p>
          <a:p>
            <a:pPr>
              <a:buNone/>
            </a:pPr>
            <a:endParaRPr lang="en-US" altLang="zh-TW" i="1" dirty="0" smtClean="0">
              <a:solidFill>
                <a:srgbClr val="FF0000"/>
              </a:solidFill>
              <a:latin typeface="Times New Roman" pitchFamily="18" charset="0"/>
              <a:cs typeface="Times New Roman" pitchFamily="18" charset="0"/>
            </a:endParaRPr>
          </a:p>
          <a:p>
            <a:pPr>
              <a:buNone/>
            </a:pPr>
            <a:endParaRPr lang="en-US" altLang="zh-TW" i="1" dirty="0" smtClean="0">
              <a:solidFill>
                <a:srgbClr val="FF0000"/>
              </a:solidFill>
              <a:latin typeface="Times New Roman" pitchFamily="18" charset="0"/>
              <a:cs typeface="Times New Roman" pitchFamily="18" charset="0"/>
            </a:endParaRPr>
          </a:p>
          <a:p>
            <a:pPr>
              <a:buNone/>
            </a:pPr>
            <a:endParaRPr lang="zh-TW" altLang="en-US" i="1" dirty="0" smtClean="0">
              <a:solidFill>
                <a:srgbClr val="FF0000"/>
              </a:solidFill>
              <a:latin typeface="Times New Roman" pitchFamily="18" charset="0"/>
              <a:cs typeface="Times New Roman" pitchFamily="18" charset="0"/>
            </a:endParaRPr>
          </a:p>
          <a:p>
            <a:pPr>
              <a:buNone/>
            </a:pPr>
            <a:endParaRPr lang="zh-TW" altLang="en-US" i="1" dirty="0">
              <a:solidFill>
                <a:srgbClr val="FF0000"/>
              </a:solidFill>
              <a:latin typeface="Times New Roman" pitchFamily="18" charset="0"/>
              <a:cs typeface="Times New Roman"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Merged LCS</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7</a:t>
            </a:fld>
            <a:endParaRPr lang="zh-TW" altLang="en-US"/>
          </a:p>
        </p:txBody>
      </p:sp>
      <p:pic>
        <p:nvPicPr>
          <p:cNvPr id="1026" name="Picture 2"/>
          <p:cNvPicPr>
            <a:picLocks noChangeAspect="1" noChangeArrowheads="1"/>
          </p:cNvPicPr>
          <p:nvPr/>
        </p:nvPicPr>
        <p:blipFill>
          <a:blip r:embed="rId2"/>
          <a:srcRect/>
          <a:stretch>
            <a:fillRect/>
          </a:stretch>
        </p:blipFill>
        <p:spPr bwMode="auto">
          <a:xfrm>
            <a:off x="1000100" y="1714488"/>
            <a:ext cx="6643702" cy="2714644"/>
          </a:xfrm>
          <a:prstGeom prst="rect">
            <a:avLst/>
          </a:prstGeom>
          <a:noFill/>
          <a:ln w="9525">
            <a:noFill/>
            <a:miter lim="800000"/>
            <a:headEnd/>
            <a:tailEnd/>
          </a:ln>
          <a:effectLst/>
        </p:spPr>
      </p:pic>
      <p:sp>
        <p:nvSpPr>
          <p:cNvPr id="6" name="文字方塊 5"/>
          <p:cNvSpPr txBox="1"/>
          <p:nvPr/>
        </p:nvSpPr>
        <p:spPr>
          <a:xfrm>
            <a:off x="285720" y="4500570"/>
            <a:ext cx="8210902" cy="2062103"/>
          </a:xfrm>
          <a:prstGeom prst="rect">
            <a:avLst/>
          </a:prstGeom>
          <a:noFill/>
        </p:spPr>
        <p:txBody>
          <a:bodyPr wrap="none" rtlCol="0">
            <a:spAutoFit/>
          </a:bodyPr>
          <a:lstStyle/>
          <a:p>
            <a:r>
              <a:rPr lang="en-US" altLang="zh-TW" sz="3200" i="1" dirty="0" smtClean="0">
                <a:latin typeface="Times New Roman" pitchFamily="18" charset="0"/>
                <a:cs typeface="Times New Roman" pitchFamily="18" charset="0"/>
              </a:rPr>
              <a:t>L</a:t>
            </a:r>
            <a:r>
              <a:rPr lang="en-US" altLang="zh-TW" sz="3200" dirty="0" smtClean="0"/>
              <a:t>(</a:t>
            </a:r>
            <a:r>
              <a:rPr lang="en-US" altLang="zh-TW" sz="3200" i="1" dirty="0" err="1" smtClean="0">
                <a:latin typeface="Times New Roman" pitchFamily="18" charset="0"/>
                <a:cs typeface="Times New Roman" pitchFamily="18" charset="0"/>
              </a:rPr>
              <a:t>i</a:t>
            </a:r>
            <a:r>
              <a:rPr lang="en-US" altLang="zh-TW" sz="3200" dirty="0" smtClean="0"/>
              <a:t>, </a:t>
            </a:r>
            <a:r>
              <a:rPr lang="en-US" altLang="zh-TW" sz="3200" i="1" dirty="0" smtClean="0">
                <a:latin typeface="Times New Roman" pitchFamily="18" charset="0"/>
                <a:cs typeface="Times New Roman" pitchFamily="18" charset="0"/>
              </a:rPr>
              <a:t>j</a:t>
            </a:r>
            <a:r>
              <a:rPr lang="en-US" altLang="zh-TW" sz="3200" dirty="0" smtClean="0"/>
              <a:t>, 0) = 0, </a:t>
            </a:r>
            <a:r>
              <a:rPr lang="en-US" altLang="zh-TW" sz="3200" i="1" dirty="0" smtClean="0">
                <a:latin typeface="Times New Roman" pitchFamily="18" charset="0"/>
                <a:cs typeface="Times New Roman" pitchFamily="18" charset="0"/>
              </a:rPr>
              <a:t>L</a:t>
            </a:r>
            <a:r>
              <a:rPr lang="en-US" altLang="zh-TW" sz="3200" dirty="0" smtClean="0"/>
              <a:t>(0, 0, </a:t>
            </a:r>
            <a:r>
              <a:rPr lang="en-US" altLang="zh-TW" sz="3200" i="1" dirty="0" smtClean="0">
                <a:latin typeface="Times New Roman" pitchFamily="18" charset="0"/>
                <a:cs typeface="Times New Roman" pitchFamily="18" charset="0"/>
              </a:rPr>
              <a:t>k</a:t>
            </a:r>
            <a:r>
              <a:rPr lang="en-US" altLang="zh-TW" sz="3200" dirty="0" smtClean="0"/>
              <a:t>) = 0, </a:t>
            </a:r>
          </a:p>
          <a:p>
            <a:r>
              <a:rPr lang="en-US" altLang="zh-TW" sz="3200" i="1" dirty="0" smtClean="0">
                <a:latin typeface="Times New Roman" pitchFamily="18" charset="0"/>
                <a:cs typeface="Times New Roman" pitchFamily="18" charset="0"/>
              </a:rPr>
              <a:t>L</a:t>
            </a:r>
            <a:r>
              <a:rPr lang="en-US" altLang="zh-TW" sz="3200" dirty="0" smtClean="0"/>
              <a:t>(</a:t>
            </a:r>
            <a:r>
              <a:rPr lang="en-US" altLang="zh-TW" sz="3200" i="1" dirty="0" err="1" smtClean="0">
                <a:latin typeface="Times New Roman" pitchFamily="18" charset="0"/>
                <a:cs typeface="Times New Roman" pitchFamily="18" charset="0"/>
              </a:rPr>
              <a:t>i</a:t>
            </a:r>
            <a:r>
              <a:rPr lang="en-US" altLang="zh-TW" sz="3200" dirty="0" smtClean="0"/>
              <a:t>, 0, </a:t>
            </a:r>
            <a:r>
              <a:rPr lang="en-US" altLang="zh-TW" sz="3200" i="1" dirty="0" smtClean="0">
                <a:latin typeface="Times New Roman" pitchFamily="18" charset="0"/>
                <a:cs typeface="Times New Roman" pitchFamily="18" charset="0"/>
              </a:rPr>
              <a:t>k</a:t>
            </a:r>
            <a:r>
              <a:rPr lang="en-US" altLang="zh-TW" sz="3200" dirty="0" smtClean="0"/>
              <a:t>) = </a:t>
            </a:r>
            <a:r>
              <a:rPr lang="en-US" altLang="zh-TW" sz="3200" i="1" dirty="0" smtClean="0">
                <a:latin typeface="Times New Roman" pitchFamily="18" charset="0"/>
                <a:cs typeface="Times New Roman" pitchFamily="18" charset="0"/>
              </a:rPr>
              <a:t>LLCS</a:t>
            </a:r>
            <a:r>
              <a:rPr lang="en-US" altLang="zh-TW" sz="3200" dirty="0" smtClean="0"/>
              <a:t>(</a:t>
            </a:r>
            <a:r>
              <a:rPr lang="en-US" altLang="zh-TW" sz="3200" i="1" dirty="0" smtClean="0">
                <a:latin typeface="Times New Roman" pitchFamily="18" charset="0"/>
                <a:cs typeface="Times New Roman" pitchFamily="18" charset="0"/>
              </a:rPr>
              <a:t>A</a:t>
            </a:r>
            <a:r>
              <a:rPr lang="en-US" altLang="zh-TW" sz="3200" i="1" baseline="-25000" dirty="0" smtClean="0">
                <a:latin typeface="Times New Roman" pitchFamily="18" charset="0"/>
                <a:cs typeface="Times New Roman" pitchFamily="18" charset="0"/>
              </a:rPr>
              <a:t>i</a:t>
            </a:r>
            <a:r>
              <a:rPr lang="en-US" altLang="zh-TW" sz="3200" dirty="0" smtClean="0"/>
              <a:t>, </a:t>
            </a:r>
            <a:r>
              <a:rPr lang="en-US" altLang="zh-TW" sz="3200" i="1" dirty="0" err="1" smtClean="0">
                <a:latin typeface="Times New Roman" pitchFamily="18" charset="0"/>
                <a:cs typeface="Times New Roman" pitchFamily="18" charset="0"/>
              </a:rPr>
              <a:t>T</a:t>
            </a:r>
            <a:r>
              <a:rPr lang="en-US" altLang="zh-TW" sz="3200" i="1" baseline="-25000" dirty="0" err="1" smtClean="0">
                <a:latin typeface="Times New Roman" pitchFamily="18" charset="0"/>
                <a:cs typeface="Times New Roman" pitchFamily="18" charset="0"/>
              </a:rPr>
              <a:t>k</a:t>
            </a:r>
            <a:r>
              <a:rPr lang="en-US" altLang="zh-TW" sz="3200" dirty="0" smtClean="0"/>
              <a:t>), </a:t>
            </a:r>
            <a:r>
              <a:rPr lang="en-US" altLang="zh-TW" sz="3200" i="1" dirty="0" smtClean="0">
                <a:latin typeface="Times New Roman" pitchFamily="18" charset="0"/>
                <a:cs typeface="Times New Roman" pitchFamily="18" charset="0"/>
              </a:rPr>
              <a:t>L</a:t>
            </a:r>
            <a:r>
              <a:rPr lang="en-US" altLang="zh-TW" sz="3200" dirty="0" smtClean="0"/>
              <a:t>(0, j, k) = </a:t>
            </a:r>
            <a:r>
              <a:rPr lang="en-US" altLang="zh-TW" sz="3200" i="1" dirty="0" smtClean="0">
                <a:latin typeface="Times New Roman" pitchFamily="18" charset="0"/>
                <a:cs typeface="Times New Roman" pitchFamily="18" charset="0"/>
              </a:rPr>
              <a:t>LLCS </a:t>
            </a:r>
            <a:r>
              <a:rPr lang="en-US" altLang="zh-TW" sz="3200" dirty="0" smtClean="0"/>
              <a:t>(</a:t>
            </a:r>
            <a:r>
              <a:rPr lang="en-US" altLang="zh-TW" sz="3200" i="1" dirty="0" err="1" smtClean="0">
                <a:latin typeface="Times New Roman" pitchFamily="18" charset="0"/>
                <a:cs typeface="Times New Roman" pitchFamily="18" charset="0"/>
              </a:rPr>
              <a:t>B</a:t>
            </a:r>
            <a:r>
              <a:rPr lang="en-US" altLang="zh-TW" sz="3200" i="1" baseline="-25000" dirty="0" err="1" smtClean="0">
                <a:latin typeface="Times New Roman" pitchFamily="18" charset="0"/>
                <a:cs typeface="Times New Roman" pitchFamily="18" charset="0"/>
              </a:rPr>
              <a:t>j</a:t>
            </a:r>
            <a:r>
              <a:rPr lang="en-US" altLang="zh-TW" sz="3200" dirty="0" smtClean="0"/>
              <a:t>, </a:t>
            </a:r>
            <a:r>
              <a:rPr lang="en-US" altLang="zh-TW" sz="3200" i="1" dirty="0" err="1" smtClean="0">
                <a:latin typeface="Times New Roman" pitchFamily="18" charset="0"/>
                <a:cs typeface="Times New Roman" pitchFamily="18" charset="0"/>
              </a:rPr>
              <a:t>T</a:t>
            </a:r>
            <a:r>
              <a:rPr lang="en-US" altLang="zh-TW" sz="3200" i="1" baseline="-25000" dirty="0" err="1" smtClean="0">
                <a:latin typeface="Times New Roman" pitchFamily="18" charset="0"/>
                <a:cs typeface="Times New Roman" pitchFamily="18" charset="0"/>
              </a:rPr>
              <a:t>k</a:t>
            </a:r>
            <a:r>
              <a:rPr lang="en-US" altLang="zh-TW" sz="3200" dirty="0" smtClean="0"/>
              <a:t>)</a:t>
            </a:r>
          </a:p>
          <a:p>
            <a:endParaRPr lang="en-US" altLang="zh-TW" sz="3200" dirty="0" smtClean="0"/>
          </a:p>
          <a:p>
            <a:r>
              <a:rPr lang="en-US" altLang="zh-TW" sz="3200" dirty="0" smtClean="0"/>
              <a:t> 						             O(</a:t>
            </a:r>
            <a:r>
              <a:rPr lang="en-US" altLang="zh-TW" sz="3200" i="1" dirty="0" err="1" smtClean="0">
                <a:latin typeface="Times New Roman" pitchFamily="18" charset="0"/>
                <a:cs typeface="Times New Roman" pitchFamily="18" charset="0"/>
              </a:rPr>
              <a:t>mnr</a:t>
            </a:r>
            <a:r>
              <a:rPr lang="en-US" altLang="zh-TW" sz="3200" dirty="0" smtClean="0"/>
              <a:t>) </a:t>
            </a:r>
            <a:endParaRPr lang="zh-TW" alt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Block Merged LCS</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A</a:t>
            </a:r>
            <a:r>
              <a:rPr lang="en-US" altLang="zh-TW" dirty="0" smtClean="0"/>
              <a:t> = </a:t>
            </a:r>
            <a:r>
              <a:rPr lang="en-US" altLang="zh-TW" i="1" dirty="0" smtClean="0">
                <a:latin typeface="Times New Roman" pitchFamily="18" charset="0"/>
                <a:cs typeface="Times New Roman" pitchFamily="18" charset="0"/>
              </a:rPr>
              <a:t>A</a:t>
            </a:r>
            <a:r>
              <a:rPr lang="en-US" altLang="zh-TW" baseline="-25000" dirty="0" smtClean="0"/>
              <a:t>1</a:t>
            </a:r>
            <a:r>
              <a:rPr lang="en-US" altLang="zh-TW" i="1" dirty="0" smtClean="0">
                <a:latin typeface="Times New Roman" pitchFamily="18" charset="0"/>
                <a:cs typeface="Times New Roman" pitchFamily="18" charset="0"/>
              </a:rPr>
              <a:t>A</a:t>
            </a:r>
            <a:r>
              <a:rPr lang="en-US" altLang="zh-TW" baseline="-25000" dirty="0" smtClean="0"/>
              <a:t>2</a:t>
            </a:r>
            <a:r>
              <a:rPr lang="en-US" altLang="zh-TW" dirty="0" smtClean="0"/>
              <a:t> = </a:t>
            </a:r>
            <a:r>
              <a:rPr lang="en-US" altLang="zh-TW" i="1" dirty="0" err="1" smtClean="0">
                <a:solidFill>
                  <a:srgbClr val="FF0000"/>
                </a:solidFill>
                <a:latin typeface="Times New Roman" pitchFamily="18" charset="0"/>
                <a:cs typeface="Times New Roman" pitchFamily="18" charset="0"/>
              </a:rPr>
              <a:t>ac</a:t>
            </a:r>
            <a:r>
              <a:rPr lang="en-US" altLang="zh-TW" i="1" dirty="0" err="1" smtClean="0">
                <a:latin typeface="Times New Roman" pitchFamily="18" charset="0"/>
                <a:cs typeface="Times New Roman" pitchFamily="18" charset="0"/>
              </a:rPr>
              <a:t>#</a:t>
            </a:r>
            <a:r>
              <a:rPr lang="en-US" altLang="zh-TW" i="1" dirty="0" err="1" smtClean="0">
                <a:solidFill>
                  <a:srgbClr val="FF0000"/>
                </a:solidFill>
                <a:latin typeface="Times New Roman" pitchFamily="18" charset="0"/>
                <a:cs typeface="Times New Roman" pitchFamily="18" charset="0"/>
              </a:rPr>
              <a:t>tt</a:t>
            </a:r>
            <a:r>
              <a:rPr lang="en-US" altLang="zh-TW" i="1" dirty="0" smtClean="0">
                <a:latin typeface="Times New Roman" pitchFamily="18" charset="0"/>
                <a:cs typeface="Times New Roman" pitchFamily="18" charset="0"/>
              </a:rPr>
              <a:t>#, B </a:t>
            </a:r>
            <a:r>
              <a:rPr lang="en-US" altLang="zh-TW" dirty="0" smtClean="0">
                <a:cs typeface="Times New Roman" pitchFamily="18" charset="0"/>
              </a:rPr>
              <a:t>=</a:t>
            </a:r>
            <a:r>
              <a:rPr lang="en-US" altLang="zh-TW" i="1" dirty="0" smtClean="0">
                <a:cs typeface="Times New Roman" pitchFamily="18" charset="0"/>
              </a:rPr>
              <a:t> </a:t>
            </a:r>
            <a:r>
              <a:rPr lang="en-US" altLang="zh-TW" i="1" dirty="0" smtClean="0">
                <a:latin typeface="Times New Roman" pitchFamily="18" charset="0"/>
                <a:cs typeface="Times New Roman" pitchFamily="18" charset="0"/>
              </a:rPr>
              <a:t>B</a:t>
            </a:r>
            <a:r>
              <a:rPr lang="en-US" altLang="zh-TW" baseline="-25000" dirty="0" smtClean="0">
                <a:cs typeface="Times New Roman" pitchFamily="18" charset="0"/>
              </a:rPr>
              <a:t>1</a:t>
            </a:r>
            <a:r>
              <a:rPr lang="en-US" altLang="zh-TW" i="1" dirty="0" smtClean="0">
                <a:latin typeface="Times New Roman" pitchFamily="18" charset="0"/>
                <a:cs typeface="Times New Roman" pitchFamily="18" charset="0"/>
              </a:rPr>
              <a:t>B</a:t>
            </a:r>
            <a:r>
              <a:rPr lang="en-US" altLang="zh-TW" baseline="-25000" dirty="0" smtClean="0">
                <a:cs typeface="Times New Roman" pitchFamily="18" charset="0"/>
              </a:rPr>
              <a:t>2</a:t>
            </a:r>
            <a:r>
              <a:rPr lang="en-US" altLang="zh-TW" dirty="0" smtClean="0"/>
              <a:t> = </a:t>
            </a:r>
            <a:r>
              <a:rPr lang="en-US" altLang="zh-TW" i="1" dirty="0" err="1" smtClean="0">
                <a:solidFill>
                  <a:srgbClr val="0070C0"/>
                </a:solidFill>
                <a:latin typeface="Times New Roman" pitchFamily="18" charset="0"/>
                <a:cs typeface="Times New Roman" pitchFamily="18" charset="0"/>
              </a:rPr>
              <a:t>ct</a:t>
            </a:r>
            <a:r>
              <a:rPr lang="en-US" altLang="zh-TW" i="1" dirty="0" err="1" smtClean="0">
                <a:latin typeface="Times New Roman" pitchFamily="18" charset="0"/>
                <a:cs typeface="Times New Roman" pitchFamily="18" charset="0"/>
              </a:rPr>
              <a:t>#</a:t>
            </a:r>
            <a:r>
              <a:rPr lang="en-US" altLang="zh-TW" i="1" dirty="0" err="1" smtClean="0">
                <a:solidFill>
                  <a:srgbClr val="0070C0"/>
                </a:solidFill>
                <a:latin typeface="Times New Roman" pitchFamily="18" charset="0"/>
                <a:cs typeface="Times New Roman" pitchFamily="18" charset="0"/>
              </a:rPr>
              <a:t>g</a:t>
            </a:r>
            <a:r>
              <a:rPr lang="en-US" altLang="zh-TW" i="1" dirty="0" smtClean="0">
                <a:latin typeface="Times New Roman" pitchFamily="18" charset="0"/>
                <a:cs typeface="Times New Roman" pitchFamily="18" charset="0"/>
              </a:rPr>
              <a:t>#, T</a:t>
            </a:r>
            <a:r>
              <a:rPr lang="en-US" altLang="zh-TW" dirty="0" smtClean="0"/>
              <a:t> = </a:t>
            </a:r>
            <a:r>
              <a:rPr lang="en-US" altLang="zh-TW" i="1" dirty="0" err="1" smtClean="0">
                <a:latin typeface="Times New Roman" pitchFamily="18" charset="0"/>
                <a:cs typeface="Times New Roman" pitchFamily="18" charset="0"/>
              </a:rPr>
              <a:t>tcatcg</a:t>
            </a:r>
            <a:endParaRPr lang="zh-TW" altLang="en-US" baseline="-25000" dirty="0">
              <a:latin typeface="Times New Roman" pitchFamily="18" charset="0"/>
              <a:cs typeface="Times New Roman"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8</a:t>
            </a:fld>
            <a:endParaRPr lang="zh-TW" altLang="en-US"/>
          </a:p>
        </p:txBody>
      </p:sp>
      <p:graphicFrame>
        <p:nvGraphicFramePr>
          <p:cNvPr id="5" name="物件 4"/>
          <p:cNvGraphicFramePr>
            <a:graphicFrameLocks noChangeAspect="1"/>
          </p:cNvGraphicFramePr>
          <p:nvPr/>
        </p:nvGraphicFramePr>
        <p:xfrm>
          <a:off x="928663" y="2357430"/>
          <a:ext cx="1765032" cy="635008"/>
        </p:xfrm>
        <a:graphic>
          <a:graphicData uri="http://schemas.openxmlformats.org/presentationml/2006/ole">
            <p:oleObj spid="_x0000_s2050" name="Equation" r:id="rId3" imgW="634680" imgH="228600" progId="Equation.3">
              <p:embed/>
            </p:oleObj>
          </a:graphicData>
        </a:graphic>
      </p:graphicFrame>
      <p:sp>
        <p:nvSpPr>
          <p:cNvPr id="6" name="文字方塊 5"/>
          <p:cNvSpPr txBox="1"/>
          <p:nvPr/>
        </p:nvSpPr>
        <p:spPr>
          <a:xfrm>
            <a:off x="2674626" y="2357430"/>
            <a:ext cx="3611886" cy="584775"/>
          </a:xfrm>
          <a:prstGeom prst="rect">
            <a:avLst/>
          </a:prstGeom>
          <a:noFill/>
        </p:spPr>
        <p:txBody>
          <a:bodyPr wrap="none" rtlCol="0">
            <a:spAutoFit/>
          </a:bodyPr>
          <a:lstStyle/>
          <a:p>
            <a:r>
              <a:rPr lang="en-US" altLang="zh-TW" sz="3200" dirty="0" smtClean="0"/>
              <a:t>= </a:t>
            </a:r>
            <a:r>
              <a:rPr lang="en-US" altLang="zh-TW" sz="3200" i="1" dirty="0" smtClean="0">
                <a:latin typeface="Times New Roman" pitchFamily="18" charset="0"/>
                <a:cs typeface="Times New Roman" pitchFamily="18" charset="0"/>
              </a:rPr>
              <a:t>A</a:t>
            </a:r>
            <a:r>
              <a:rPr lang="en-US" altLang="zh-TW" sz="3200" baseline="-25000" dirty="0" smtClean="0"/>
              <a:t>1</a:t>
            </a:r>
            <a:r>
              <a:rPr lang="en-US" altLang="zh-TW" sz="3200" i="1" dirty="0" smtClean="0">
                <a:latin typeface="Times New Roman" pitchFamily="18" charset="0"/>
                <a:cs typeface="Times New Roman" pitchFamily="18" charset="0"/>
              </a:rPr>
              <a:t>B</a:t>
            </a:r>
            <a:r>
              <a:rPr lang="en-US" altLang="zh-TW" sz="3200" baseline="-25000" dirty="0" smtClean="0">
                <a:cs typeface="Times New Roman" pitchFamily="18" charset="0"/>
              </a:rPr>
              <a:t>1</a:t>
            </a:r>
            <a:r>
              <a:rPr lang="en-US" altLang="zh-TW" sz="3200" i="1" dirty="0" smtClean="0">
                <a:latin typeface="Times New Roman" pitchFamily="18" charset="0"/>
                <a:cs typeface="Times New Roman" pitchFamily="18" charset="0"/>
              </a:rPr>
              <a:t>B</a:t>
            </a:r>
            <a:r>
              <a:rPr lang="en-US" altLang="zh-TW" sz="3200" baseline="-25000" dirty="0" smtClean="0">
                <a:cs typeface="Times New Roman" pitchFamily="18" charset="0"/>
              </a:rPr>
              <a:t>2 </a:t>
            </a:r>
            <a:r>
              <a:rPr lang="en-US" altLang="zh-TW" sz="3200" i="1" dirty="0" smtClean="0">
                <a:latin typeface="Times New Roman" pitchFamily="18" charset="0"/>
                <a:cs typeface="Times New Roman" pitchFamily="18" charset="0"/>
              </a:rPr>
              <a:t>A</a:t>
            </a:r>
            <a:r>
              <a:rPr lang="en-US" altLang="zh-TW" sz="3200" baseline="-25000" dirty="0" smtClean="0"/>
              <a:t>2</a:t>
            </a:r>
            <a:r>
              <a:rPr lang="en-US" altLang="zh-TW" sz="3200" dirty="0" smtClean="0"/>
              <a:t> = </a:t>
            </a:r>
            <a:r>
              <a:rPr lang="en-US" altLang="zh-TW" sz="3200" i="1" dirty="0" err="1" smtClean="0">
                <a:solidFill>
                  <a:srgbClr val="FF0000"/>
                </a:solidFill>
                <a:latin typeface="Times New Roman" pitchFamily="18" charset="0"/>
                <a:cs typeface="Times New Roman" pitchFamily="18" charset="0"/>
              </a:rPr>
              <a:t>ac</a:t>
            </a:r>
            <a:r>
              <a:rPr lang="en-US" altLang="zh-TW" sz="3200" i="1" dirty="0" err="1" smtClean="0">
                <a:solidFill>
                  <a:srgbClr val="0070C0"/>
                </a:solidFill>
                <a:latin typeface="Times New Roman" pitchFamily="18" charset="0"/>
                <a:cs typeface="Times New Roman" pitchFamily="18" charset="0"/>
              </a:rPr>
              <a:t>ctg</a:t>
            </a:r>
            <a:r>
              <a:rPr lang="en-US" altLang="zh-TW" sz="3200" i="1" dirty="0" err="1" smtClean="0">
                <a:solidFill>
                  <a:srgbClr val="FF0000"/>
                </a:solidFill>
                <a:latin typeface="Times New Roman" pitchFamily="18" charset="0"/>
                <a:cs typeface="Times New Roman" pitchFamily="18" charset="0"/>
              </a:rPr>
              <a:t>tt</a:t>
            </a:r>
            <a:endParaRPr lang="en-US" altLang="zh-TW" sz="3200" i="1" dirty="0" smtClean="0">
              <a:solidFill>
                <a:srgbClr val="FF0000"/>
              </a:solidFill>
              <a:latin typeface="Times New Roman" pitchFamily="18" charset="0"/>
              <a:cs typeface="Times New Roman" pitchFamily="18" charset="0"/>
            </a:endParaRPr>
          </a:p>
        </p:txBody>
      </p:sp>
      <p:graphicFrame>
        <p:nvGraphicFramePr>
          <p:cNvPr id="2051" name="Object 3"/>
          <p:cNvGraphicFramePr>
            <a:graphicFrameLocks noChangeAspect="1"/>
          </p:cNvGraphicFramePr>
          <p:nvPr/>
        </p:nvGraphicFramePr>
        <p:xfrm>
          <a:off x="928663" y="3286124"/>
          <a:ext cx="1765032" cy="635001"/>
        </p:xfrm>
        <a:graphic>
          <a:graphicData uri="http://schemas.openxmlformats.org/presentationml/2006/ole">
            <p:oleObj spid="_x0000_s2051" name="Equation" r:id="rId4" imgW="634680" imgH="228600" progId="Equation.3">
              <p:embed/>
            </p:oleObj>
          </a:graphicData>
        </a:graphic>
      </p:graphicFrame>
      <p:graphicFrame>
        <p:nvGraphicFramePr>
          <p:cNvPr id="2052" name="Object 4"/>
          <p:cNvGraphicFramePr>
            <a:graphicFrameLocks noChangeAspect="1"/>
          </p:cNvGraphicFramePr>
          <p:nvPr/>
        </p:nvGraphicFramePr>
        <p:xfrm>
          <a:off x="928663" y="4286256"/>
          <a:ext cx="1765032" cy="654044"/>
        </p:xfrm>
        <a:graphic>
          <a:graphicData uri="http://schemas.openxmlformats.org/presentationml/2006/ole">
            <p:oleObj spid="_x0000_s2052" name="Equation" r:id="rId5" imgW="634680" imgH="241200" progId="Equation.3">
              <p:embed/>
            </p:oleObj>
          </a:graphicData>
        </a:graphic>
      </p:graphicFrame>
      <p:sp>
        <p:nvSpPr>
          <p:cNvPr id="9" name="文字方塊 8"/>
          <p:cNvSpPr txBox="1"/>
          <p:nvPr/>
        </p:nvSpPr>
        <p:spPr>
          <a:xfrm>
            <a:off x="2674626" y="3286124"/>
            <a:ext cx="3518912" cy="584775"/>
          </a:xfrm>
          <a:prstGeom prst="rect">
            <a:avLst/>
          </a:prstGeom>
          <a:noFill/>
        </p:spPr>
        <p:txBody>
          <a:bodyPr wrap="none" rtlCol="0">
            <a:spAutoFit/>
          </a:bodyPr>
          <a:lstStyle/>
          <a:p>
            <a:r>
              <a:rPr lang="en-US" altLang="zh-TW" sz="3200" dirty="0" smtClean="0"/>
              <a:t>= </a:t>
            </a:r>
            <a:r>
              <a:rPr lang="en-US" altLang="zh-TW" sz="3200" i="1" dirty="0" smtClean="0">
                <a:latin typeface="Times New Roman" pitchFamily="18" charset="0"/>
                <a:cs typeface="Times New Roman" pitchFamily="18" charset="0"/>
              </a:rPr>
              <a:t>A</a:t>
            </a:r>
            <a:r>
              <a:rPr lang="en-US" altLang="zh-TW" sz="3200" baseline="-25000" dirty="0" smtClean="0"/>
              <a:t>1</a:t>
            </a:r>
            <a:r>
              <a:rPr lang="en-US" altLang="zh-TW" sz="3200" i="1" dirty="0" smtClean="0">
                <a:latin typeface="Times New Roman" pitchFamily="18" charset="0"/>
                <a:cs typeface="Times New Roman" pitchFamily="18" charset="0"/>
              </a:rPr>
              <a:t>A</a:t>
            </a:r>
            <a:r>
              <a:rPr lang="en-US" altLang="zh-TW" sz="3200" baseline="-25000" dirty="0" smtClean="0"/>
              <a:t>2</a:t>
            </a:r>
            <a:r>
              <a:rPr lang="en-US" altLang="zh-TW" sz="3200" i="1" dirty="0" smtClean="0">
                <a:latin typeface="Times New Roman" pitchFamily="18" charset="0"/>
                <a:cs typeface="Times New Roman" pitchFamily="18" charset="0"/>
              </a:rPr>
              <a:t>B</a:t>
            </a:r>
            <a:r>
              <a:rPr lang="en-US" altLang="zh-TW" sz="3200" baseline="-25000" dirty="0" smtClean="0">
                <a:cs typeface="Times New Roman" pitchFamily="18" charset="0"/>
              </a:rPr>
              <a:t>1</a:t>
            </a:r>
            <a:r>
              <a:rPr lang="en-US" altLang="zh-TW" sz="3200" i="1" dirty="0" smtClean="0">
                <a:latin typeface="Times New Roman" pitchFamily="18" charset="0"/>
                <a:cs typeface="Times New Roman" pitchFamily="18" charset="0"/>
              </a:rPr>
              <a:t>B</a:t>
            </a:r>
            <a:r>
              <a:rPr lang="en-US" altLang="zh-TW" sz="3200" baseline="-25000" dirty="0" smtClean="0">
                <a:cs typeface="Times New Roman" pitchFamily="18" charset="0"/>
              </a:rPr>
              <a:t>2 </a:t>
            </a:r>
            <a:r>
              <a:rPr lang="en-US" altLang="zh-TW" sz="3200" dirty="0" smtClean="0"/>
              <a:t>= </a:t>
            </a:r>
            <a:r>
              <a:rPr lang="en-US" altLang="zh-TW" sz="3200" i="1" dirty="0" err="1" smtClean="0">
                <a:solidFill>
                  <a:srgbClr val="FF0000"/>
                </a:solidFill>
                <a:latin typeface="Times New Roman" pitchFamily="18" charset="0"/>
                <a:cs typeface="Times New Roman" pitchFamily="18" charset="0"/>
              </a:rPr>
              <a:t>actt</a:t>
            </a:r>
            <a:r>
              <a:rPr lang="en-US" altLang="zh-TW" sz="3200" i="1" dirty="0" err="1" smtClean="0">
                <a:solidFill>
                  <a:srgbClr val="0070C0"/>
                </a:solidFill>
                <a:latin typeface="Times New Roman" pitchFamily="18" charset="0"/>
                <a:cs typeface="Times New Roman" pitchFamily="18" charset="0"/>
              </a:rPr>
              <a:t>ctg</a:t>
            </a:r>
            <a:endParaRPr lang="en-US" altLang="zh-TW" sz="3200" i="1" dirty="0" smtClean="0">
              <a:solidFill>
                <a:srgbClr val="0070C0"/>
              </a:solidFill>
              <a:latin typeface="Times New Roman" pitchFamily="18" charset="0"/>
              <a:cs typeface="Times New Roman" pitchFamily="18" charset="0"/>
            </a:endParaRPr>
          </a:p>
        </p:txBody>
      </p:sp>
      <p:sp>
        <p:nvSpPr>
          <p:cNvPr id="10" name="文字方塊 9"/>
          <p:cNvSpPr txBox="1"/>
          <p:nvPr/>
        </p:nvSpPr>
        <p:spPr>
          <a:xfrm>
            <a:off x="2656176" y="4286256"/>
            <a:ext cx="3518912" cy="584775"/>
          </a:xfrm>
          <a:prstGeom prst="rect">
            <a:avLst/>
          </a:prstGeom>
          <a:noFill/>
        </p:spPr>
        <p:txBody>
          <a:bodyPr wrap="none" rtlCol="0">
            <a:spAutoFit/>
          </a:bodyPr>
          <a:lstStyle/>
          <a:p>
            <a:r>
              <a:rPr lang="en-US" altLang="zh-TW" sz="3200" dirty="0" smtClean="0"/>
              <a:t>= </a:t>
            </a:r>
            <a:r>
              <a:rPr lang="en-US" altLang="zh-TW" sz="3200" i="1" dirty="0" smtClean="0">
                <a:latin typeface="Times New Roman" pitchFamily="18" charset="0"/>
                <a:cs typeface="Times New Roman" pitchFamily="18" charset="0"/>
              </a:rPr>
              <a:t>B</a:t>
            </a:r>
            <a:r>
              <a:rPr lang="en-US" altLang="zh-TW" sz="3200" baseline="-25000" dirty="0" smtClean="0">
                <a:cs typeface="Times New Roman" pitchFamily="18" charset="0"/>
              </a:rPr>
              <a:t>1</a:t>
            </a:r>
            <a:r>
              <a:rPr lang="en-US" altLang="zh-TW" sz="3200" i="1" dirty="0" smtClean="0">
                <a:latin typeface="Times New Roman" pitchFamily="18" charset="0"/>
                <a:cs typeface="Times New Roman" pitchFamily="18" charset="0"/>
              </a:rPr>
              <a:t>A</a:t>
            </a:r>
            <a:r>
              <a:rPr lang="en-US" altLang="zh-TW" sz="3200" baseline="-25000" dirty="0" smtClean="0"/>
              <a:t>1</a:t>
            </a:r>
            <a:r>
              <a:rPr lang="en-US" altLang="zh-TW" sz="3200" i="1" dirty="0" smtClean="0">
                <a:latin typeface="Times New Roman" pitchFamily="18" charset="0"/>
                <a:cs typeface="Times New Roman" pitchFamily="18" charset="0"/>
              </a:rPr>
              <a:t>A</a:t>
            </a:r>
            <a:r>
              <a:rPr lang="en-US" altLang="zh-TW" sz="3200" baseline="-25000" dirty="0" smtClean="0"/>
              <a:t>2</a:t>
            </a:r>
            <a:r>
              <a:rPr lang="en-US" altLang="zh-TW" sz="3200" i="1" dirty="0" smtClean="0">
                <a:latin typeface="Times New Roman" pitchFamily="18" charset="0"/>
                <a:cs typeface="Times New Roman" pitchFamily="18" charset="0"/>
              </a:rPr>
              <a:t>B</a:t>
            </a:r>
            <a:r>
              <a:rPr lang="en-US" altLang="zh-TW" sz="3200" baseline="-25000" dirty="0" smtClean="0">
                <a:cs typeface="Times New Roman" pitchFamily="18" charset="0"/>
              </a:rPr>
              <a:t>2 </a:t>
            </a:r>
            <a:r>
              <a:rPr lang="en-US" altLang="zh-TW" sz="3200" dirty="0" smtClean="0"/>
              <a:t>=</a:t>
            </a:r>
            <a:r>
              <a:rPr lang="en-US" altLang="zh-TW" sz="3200" dirty="0" smtClean="0">
                <a:solidFill>
                  <a:srgbClr val="FF0000"/>
                </a:solidFill>
              </a:rPr>
              <a:t> </a:t>
            </a:r>
            <a:r>
              <a:rPr lang="en-US" altLang="zh-TW" sz="3200" i="1" dirty="0" err="1" smtClean="0">
                <a:solidFill>
                  <a:srgbClr val="0070C0"/>
                </a:solidFill>
                <a:latin typeface="Times New Roman" pitchFamily="18" charset="0"/>
                <a:cs typeface="Times New Roman" pitchFamily="18" charset="0"/>
              </a:rPr>
              <a:t>ct</a:t>
            </a:r>
            <a:r>
              <a:rPr lang="en-US" altLang="zh-TW" sz="3200" i="1" dirty="0" err="1" smtClean="0">
                <a:solidFill>
                  <a:srgbClr val="FF0000"/>
                </a:solidFill>
                <a:latin typeface="Times New Roman" pitchFamily="18" charset="0"/>
                <a:cs typeface="Times New Roman" pitchFamily="18" charset="0"/>
              </a:rPr>
              <a:t>actt</a:t>
            </a:r>
            <a:r>
              <a:rPr lang="en-US" altLang="zh-TW" sz="3200" i="1" dirty="0" err="1" smtClean="0">
                <a:solidFill>
                  <a:srgbClr val="0070C0"/>
                </a:solidFill>
                <a:latin typeface="Times New Roman" pitchFamily="18" charset="0"/>
                <a:cs typeface="Times New Roman" pitchFamily="18" charset="0"/>
              </a:rPr>
              <a:t>g</a:t>
            </a:r>
            <a:endParaRPr lang="en-US" altLang="zh-TW" sz="3200" i="1" dirty="0" smtClean="0">
              <a:solidFill>
                <a:srgbClr val="0070C0"/>
              </a:solidFill>
              <a:latin typeface="Times New Roman" pitchFamily="18" charset="0"/>
              <a:cs typeface="Times New Roman" pitchFamily="18" charset="0"/>
            </a:endParaRPr>
          </a:p>
        </p:txBody>
      </p:sp>
      <p:sp>
        <p:nvSpPr>
          <p:cNvPr id="11" name="文字方塊 10"/>
          <p:cNvSpPr txBox="1"/>
          <p:nvPr/>
        </p:nvSpPr>
        <p:spPr>
          <a:xfrm>
            <a:off x="428596" y="5500702"/>
            <a:ext cx="8081443" cy="584775"/>
          </a:xfrm>
          <a:prstGeom prst="rect">
            <a:avLst/>
          </a:prstGeom>
          <a:noFill/>
        </p:spPr>
        <p:txBody>
          <a:bodyPr wrap="none" rtlCol="0">
            <a:spAutoFit/>
          </a:bodyPr>
          <a:lstStyle/>
          <a:p>
            <a:r>
              <a:rPr lang="en-US" altLang="zh-TW" sz="3200" i="1" dirty="0" smtClean="0">
                <a:latin typeface="Times New Roman" pitchFamily="18" charset="0"/>
                <a:cs typeface="Times New Roman" pitchFamily="18" charset="0"/>
              </a:rPr>
              <a:t>BMLCS</a:t>
            </a:r>
            <a:r>
              <a:rPr lang="en-US" altLang="zh-TW" sz="3200" dirty="0" smtClean="0"/>
              <a:t>(</a:t>
            </a:r>
            <a:r>
              <a:rPr lang="en-US" altLang="zh-TW" sz="3200" i="1" dirty="0" smtClean="0">
                <a:latin typeface="Times New Roman" pitchFamily="18" charset="0"/>
                <a:cs typeface="Times New Roman" pitchFamily="18" charset="0"/>
              </a:rPr>
              <a:t>A</a:t>
            </a:r>
            <a:r>
              <a:rPr lang="en-US" altLang="zh-TW" sz="3200" dirty="0" smtClean="0"/>
              <a:t>, </a:t>
            </a:r>
            <a:r>
              <a:rPr lang="en-US" altLang="zh-TW" sz="3200" i="1" dirty="0" smtClean="0">
                <a:latin typeface="Times New Roman" pitchFamily="18" charset="0"/>
                <a:cs typeface="Times New Roman" pitchFamily="18" charset="0"/>
              </a:rPr>
              <a:t>B</a:t>
            </a:r>
            <a:r>
              <a:rPr lang="en-US" altLang="zh-TW" sz="3200" dirty="0" smtClean="0"/>
              <a:t>, </a:t>
            </a:r>
            <a:r>
              <a:rPr lang="en-US" altLang="zh-TW" sz="3200" i="1" dirty="0" smtClean="0">
                <a:latin typeface="Times New Roman" pitchFamily="18" charset="0"/>
                <a:cs typeface="Times New Roman" pitchFamily="18" charset="0"/>
              </a:rPr>
              <a:t>T</a:t>
            </a:r>
            <a:r>
              <a:rPr lang="en-US" altLang="zh-TW" sz="3200" dirty="0" smtClean="0"/>
              <a:t>) = LCS(                 , </a:t>
            </a:r>
            <a:r>
              <a:rPr lang="en-US" altLang="zh-TW" sz="3200" i="1" dirty="0" smtClean="0">
                <a:latin typeface="Times New Roman" pitchFamily="18" charset="0"/>
                <a:cs typeface="Times New Roman" pitchFamily="18" charset="0"/>
              </a:rPr>
              <a:t>T</a:t>
            </a:r>
            <a:r>
              <a:rPr lang="en-US" altLang="zh-TW" sz="3200" dirty="0" smtClean="0"/>
              <a:t>) = </a:t>
            </a:r>
            <a:r>
              <a:rPr lang="en-US" altLang="zh-TW" sz="3200" i="1" dirty="0" err="1" smtClean="0">
                <a:latin typeface="Times New Roman" pitchFamily="18" charset="0"/>
                <a:cs typeface="Times New Roman" pitchFamily="18" charset="0"/>
              </a:rPr>
              <a:t>actg</a:t>
            </a:r>
            <a:r>
              <a:rPr lang="en-US" altLang="zh-TW" sz="3200" dirty="0" smtClean="0"/>
              <a:t>  and </a:t>
            </a:r>
            <a:endParaRPr lang="zh-TW" altLang="en-US" sz="3200" dirty="0"/>
          </a:p>
        </p:txBody>
      </p:sp>
      <p:graphicFrame>
        <p:nvGraphicFramePr>
          <p:cNvPr id="2053" name="Object 5"/>
          <p:cNvGraphicFramePr>
            <a:graphicFrameLocks noChangeAspect="1"/>
          </p:cNvGraphicFramePr>
          <p:nvPr/>
        </p:nvGraphicFramePr>
        <p:xfrm>
          <a:off x="4164022" y="5463378"/>
          <a:ext cx="1765300" cy="635000"/>
        </p:xfrm>
        <a:graphic>
          <a:graphicData uri="http://schemas.openxmlformats.org/presentationml/2006/ole">
            <p:oleObj spid="_x0000_s2053" name="Equation" r:id="rId6" imgW="634680" imgH="228600" progId="Equation.3">
              <p:embed/>
            </p:oleObj>
          </a:graphicData>
        </a:graphic>
      </p:graphicFrame>
      <p:sp>
        <p:nvSpPr>
          <p:cNvPr id="13" name="文字方塊 12"/>
          <p:cNvSpPr txBox="1"/>
          <p:nvPr/>
        </p:nvSpPr>
        <p:spPr>
          <a:xfrm>
            <a:off x="423830" y="6058935"/>
            <a:ext cx="7429021" cy="584775"/>
          </a:xfrm>
          <a:prstGeom prst="rect">
            <a:avLst/>
          </a:prstGeom>
          <a:noFill/>
        </p:spPr>
        <p:txBody>
          <a:bodyPr wrap="none" rtlCol="0">
            <a:spAutoFit/>
          </a:bodyPr>
          <a:lstStyle/>
          <a:p>
            <a:r>
              <a:rPr lang="en-US" altLang="zh-TW" sz="3200" i="1" dirty="0" smtClean="0">
                <a:latin typeface="Times New Roman" pitchFamily="18" charset="0"/>
                <a:cs typeface="Times New Roman" pitchFamily="18" charset="0"/>
              </a:rPr>
              <a:t>BMLCS</a:t>
            </a:r>
            <a:r>
              <a:rPr lang="en-US" altLang="zh-TW" sz="3200" dirty="0" smtClean="0"/>
              <a:t>(</a:t>
            </a:r>
            <a:r>
              <a:rPr lang="en-US" altLang="zh-TW" sz="3200" i="1" dirty="0" smtClean="0">
                <a:latin typeface="Times New Roman" pitchFamily="18" charset="0"/>
                <a:cs typeface="Times New Roman" pitchFamily="18" charset="0"/>
              </a:rPr>
              <a:t>A</a:t>
            </a:r>
            <a:r>
              <a:rPr lang="en-US" altLang="zh-TW" sz="3200" dirty="0" smtClean="0"/>
              <a:t>, </a:t>
            </a:r>
            <a:r>
              <a:rPr lang="en-US" altLang="zh-TW" sz="3200" i="1" dirty="0" smtClean="0">
                <a:latin typeface="Times New Roman" pitchFamily="18" charset="0"/>
                <a:cs typeface="Times New Roman" pitchFamily="18" charset="0"/>
              </a:rPr>
              <a:t>B</a:t>
            </a:r>
            <a:r>
              <a:rPr lang="en-US" altLang="zh-TW" sz="3200" dirty="0" smtClean="0"/>
              <a:t>, </a:t>
            </a:r>
            <a:r>
              <a:rPr lang="en-US" altLang="zh-TW" sz="3200" i="1" dirty="0" smtClean="0">
                <a:latin typeface="Times New Roman" pitchFamily="18" charset="0"/>
                <a:cs typeface="Times New Roman" pitchFamily="18" charset="0"/>
              </a:rPr>
              <a:t>T</a:t>
            </a:r>
            <a:r>
              <a:rPr lang="en-US" altLang="zh-TW" sz="3200" dirty="0" smtClean="0"/>
              <a:t>) = LCS(                 , </a:t>
            </a:r>
            <a:r>
              <a:rPr lang="en-US" altLang="zh-TW" sz="3200" i="1" dirty="0" smtClean="0">
                <a:latin typeface="Times New Roman" pitchFamily="18" charset="0"/>
                <a:cs typeface="Times New Roman" pitchFamily="18" charset="0"/>
              </a:rPr>
              <a:t>T</a:t>
            </a:r>
            <a:r>
              <a:rPr lang="en-US" altLang="zh-TW" sz="3200" dirty="0" smtClean="0"/>
              <a:t>) = </a:t>
            </a:r>
            <a:r>
              <a:rPr lang="en-US" altLang="zh-TW" sz="3200" i="1" dirty="0" err="1" smtClean="0">
                <a:latin typeface="Times New Roman" pitchFamily="18" charset="0"/>
                <a:cs typeface="Times New Roman" pitchFamily="18" charset="0"/>
              </a:rPr>
              <a:t>ctcg</a:t>
            </a:r>
            <a:r>
              <a:rPr lang="en-US" altLang="zh-TW" sz="3200" dirty="0" smtClean="0"/>
              <a:t>   </a:t>
            </a:r>
            <a:endParaRPr lang="zh-TW" altLang="en-US" sz="3200" dirty="0"/>
          </a:p>
        </p:txBody>
      </p:sp>
      <p:graphicFrame>
        <p:nvGraphicFramePr>
          <p:cNvPr id="2054" name="Object 6"/>
          <p:cNvGraphicFramePr>
            <a:graphicFrameLocks noChangeAspect="1"/>
          </p:cNvGraphicFramePr>
          <p:nvPr/>
        </p:nvGraphicFramePr>
        <p:xfrm>
          <a:off x="4143375" y="5991225"/>
          <a:ext cx="1765300" cy="671513"/>
        </p:xfrm>
        <a:graphic>
          <a:graphicData uri="http://schemas.openxmlformats.org/presentationml/2006/ole">
            <p:oleObj spid="_x0000_s2054" name="Equation" r:id="rId7" imgW="634680" imgH="241200" progId="Equation.3">
              <p:embed/>
            </p:oleObj>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Block Merged LCS</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9</a:t>
            </a:fld>
            <a:endParaRPr lang="zh-TW" altLang="en-US"/>
          </a:p>
        </p:txBody>
      </p:sp>
      <p:pic>
        <p:nvPicPr>
          <p:cNvPr id="3075" name="Picture 3"/>
          <p:cNvPicPr>
            <a:picLocks noChangeAspect="1" noChangeArrowheads="1"/>
          </p:cNvPicPr>
          <p:nvPr/>
        </p:nvPicPr>
        <p:blipFill>
          <a:blip r:embed="rId2"/>
          <a:srcRect/>
          <a:stretch>
            <a:fillRect/>
          </a:stretch>
        </p:blipFill>
        <p:spPr bwMode="auto">
          <a:xfrm>
            <a:off x="285720" y="1214422"/>
            <a:ext cx="8001024" cy="3733800"/>
          </a:xfrm>
          <a:prstGeom prst="rect">
            <a:avLst/>
          </a:prstGeom>
          <a:noFill/>
          <a:ln w="9525">
            <a:noFill/>
            <a:miter lim="800000"/>
            <a:headEnd/>
            <a:tailEnd/>
          </a:ln>
          <a:effectLst/>
        </p:spPr>
      </p:pic>
      <p:sp>
        <p:nvSpPr>
          <p:cNvPr id="7" name="文字方塊 6"/>
          <p:cNvSpPr txBox="1"/>
          <p:nvPr/>
        </p:nvSpPr>
        <p:spPr>
          <a:xfrm>
            <a:off x="6715140" y="5572140"/>
            <a:ext cx="1212191" cy="584775"/>
          </a:xfrm>
          <a:prstGeom prst="rect">
            <a:avLst/>
          </a:prstGeom>
          <a:noFill/>
        </p:spPr>
        <p:txBody>
          <a:bodyPr wrap="none" rtlCol="0">
            <a:spAutoFit/>
          </a:bodyPr>
          <a:lstStyle/>
          <a:p>
            <a:r>
              <a:rPr lang="en-US" altLang="zh-TW" sz="3200" dirty="0" smtClean="0"/>
              <a:t>O(</a:t>
            </a:r>
            <a:r>
              <a:rPr lang="en-US" altLang="zh-TW" sz="3200" i="1" dirty="0" smtClean="0">
                <a:latin typeface="Times New Roman" pitchFamily="18" charset="0"/>
                <a:cs typeface="Times New Roman" pitchFamily="18" charset="0"/>
              </a:rPr>
              <a:t>n</a:t>
            </a:r>
            <a:r>
              <a:rPr lang="en-US" altLang="zh-TW" sz="3200" baseline="30000" dirty="0" smtClean="0"/>
              <a:t>2</a:t>
            </a:r>
            <a:r>
              <a:rPr lang="en-US" altLang="zh-TW" sz="3200" i="1" dirty="0" smtClean="0">
                <a:latin typeface="Times New Roman" pitchFamily="18" charset="0"/>
                <a:cs typeface="Times New Roman" pitchFamily="18" charset="0"/>
              </a:rPr>
              <a:t>r</a:t>
            </a:r>
            <a:r>
              <a:rPr lang="en-US" altLang="zh-TW" sz="3200" dirty="0" smtClean="0"/>
              <a:t>)</a:t>
            </a:r>
            <a:endParaRPr lang="zh-TW" alt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Algorithm for Merged LCS Problem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10</a:t>
            </a:fld>
            <a:endParaRPr lang="zh-TW" altLang="en-US"/>
          </a:p>
        </p:txBody>
      </p:sp>
      <p:graphicFrame>
        <p:nvGraphicFramePr>
          <p:cNvPr id="4098" name="Object 2"/>
          <p:cNvGraphicFramePr>
            <a:graphicFrameLocks noChangeAspect="1"/>
          </p:cNvGraphicFramePr>
          <p:nvPr/>
        </p:nvGraphicFramePr>
        <p:xfrm>
          <a:off x="500034" y="1473200"/>
          <a:ext cx="741362" cy="669925"/>
        </p:xfrm>
        <a:graphic>
          <a:graphicData uri="http://schemas.openxmlformats.org/presentationml/2006/ole">
            <p:oleObj spid="_x0000_s4098" name="Equation" r:id="rId4" imgW="266400" imgH="241200" progId="Equation.3">
              <p:embed/>
            </p:oleObj>
          </a:graphicData>
        </a:graphic>
      </p:graphicFrame>
      <p:sp>
        <p:nvSpPr>
          <p:cNvPr id="7" name="文字方塊 6"/>
          <p:cNvSpPr txBox="1"/>
          <p:nvPr/>
        </p:nvSpPr>
        <p:spPr>
          <a:xfrm>
            <a:off x="1200101" y="1500174"/>
            <a:ext cx="6429965" cy="584775"/>
          </a:xfrm>
          <a:prstGeom prst="rect">
            <a:avLst/>
          </a:prstGeom>
          <a:noFill/>
        </p:spPr>
        <p:txBody>
          <a:bodyPr wrap="none" rtlCol="0">
            <a:spAutoFit/>
          </a:bodyPr>
          <a:lstStyle/>
          <a:p>
            <a:r>
              <a:rPr lang="en-US" altLang="zh-TW" sz="3200" dirty="0" smtClean="0"/>
              <a:t>= {(</a:t>
            </a:r>
            <a:r>
              <a:rPr lang="en-US" altLang="zh-TW" sz="3200" i="1" dirty="0" err="1" smtClean="0">
                <a:latin typeface="Times New Roman" pitchFamily="18" charset="0"/>
                <a:cs typeface="Times New Roman" pitchFamily="18" charset="0"/>
              </a:rPr>
              <a:t>i</a:t>
            </a:r>
            <a:r>
              <a:rPr lang="en-US" altLang="zh-TW" sz="3200" dirty="0" smtClean="0"/>
              <a:t>, </a:t>
            </a:r>
            <a:r>
              <a:rPr lang="en-US" altLang="zh-TW" sz="3200" i="1" dirty="0" smtClean="0">
                <a:latin typeface="Times New Roman" pitchFamily="18" charset="0"/>
                <a:cs typeface="Times New Roman" pitchFamily="18" charset="0"/>
              </a:rPr>
              <a:t>k</a:t>
            </a:r>
            <a:r>
              <a:rPr lang="en-US" altLang="zh-TW" sz="3200" dirty="0" smtClean="0"/>
              <a:t>)|</a:t>
            </a:r>
            <a:r>
              <a:rPr lang="en-US" altLang="zh-TW" sz="3200" i="1" dirty="0" err="1" smtClean="0">
                <a:latin typeface="Times New Roman" pitchFamily="18" charset="0"/>
                <a:cs typeface="Times New Roman" pitchFamily="18" charset="0"/>
              </a:rPr>
              <a:t>a</a:t>
            </a:r>
            <a:r>
              <a:rPr lang="en-US" altLang="zh-TW" sz="3200" baseline="-25000" dirty="0" err="1" smtClean="0"/>
              <a:t>i</a:t>
            </a:r>
            <a:r>
              <a:rPr lang="en-US" altLang="zh-TW" sz="3200" dirty="0" smtClean="0"/>
              <a:t>=</a:t>
            </a:r>
            <a:r>
              <a:rPr lang="en-US" altLang="zh-TW" sz="3200" i="1" dirty="0" err="1" smtClean="0">
                <a:latin typeface="Times New Roman" pitchFamily="18" charset="0"/>
                <a:cs typeface="Times New Roman" pitchFamily="18" charset="0"/>
              </a:rPr>
              <a:t>t</a:t>
            </a:r>
            <a:r>
              <a:rPr lang="en-US" altLang="zh-TW" sz="3200" baseline="-25000" dirty="0" err="1" smtClean="0"/>
              <a:t>k</a:t>
            </a:r>
            <a:r>
              <a:rPr lang="en-US" altLang="zh-TW" sz="3200" dirty="0" smtClean="0"/>
              <a:t>, 1</a:t>
            </a:r>
            <a:r>
              <a:rPr lang="zh-TW" altLang="en-US" sz="3200" dirty="0" smtClean="0"/>
              <a:t>≦</a:t>
            </a:r>
            <a:r>
              <a:rPr lang="en-US" altLang="zh-TW" sz="3200" i="1" dirty="0" err="1" smtClean="0">
                <a:latin typeface="Times New Roman" pitchFamily="18" charset="0"/>
                <a:cs typeface="Times New Roman" pitchFamily="18" charset="0"/>
              </a:rPr>
              <a:t>i</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A</a:t>
            </a:r>
            <a:r>
              <a:rPr lang="en-US" altLang="zh-TW" sz="3200" dirty="0" smtClean="0"/>
              <a:t>|, 1</a:t>
            </a:r>
            <a:r>
              <a:rPr lang="zh-TW" altLang="en-US" sz="3200" dirty="0" smtClean="0"/>
              <a:t>≦</a:t>
            </a:r>
            <a:r>
              <a:rPr lang="en-US" altLang="zh-TW" sz="3200" i="1" dirty="0" smtClean="0">
                <a:latin typeface="Times New Roman" pitchFamily="18" charset="0"/>
                <a:cs typeface="Times New Roman" pitchFamily="18" charset="0"/>
              </a:rPr>
              <a:t>k</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T</a:t>
            </a:r>
            <a:r>
              <a:rPr lang="en-US" altLang="zh-TW" sz="3200" dirty="0" smtClean="0"/>
              <a:t>|}</a:t>
            </a:r>
            <a:endParaRPr lang="zh-TW" altLang="en-US" sz="3200" dirty="0"/>
          </a:p>
        </p:txBody>
      </p:sp>
      <p:graphicFrame>
        <p:nvGraphicFramePr>
          <p:cNvPr id="8" name="Object 2"/>
          <p:cNvGraphicFramePr>
            <a:graphicFrameLocks noChangeAspect="1"/>
          </p:cNvGraphicFramePr>
          <p:nvPr/>
        </p:nvGraphicFramePr>
        <p:xfrm>
          <a:off x="514321" y="2071688"/>
          <a:ext cx="741363" cy="669925"/>
        </p:xfrm>
        <a:graphic>
          <a:graphicData uri="http://schemas.openxmlformats.org/presentationml/2006/ole">
            <p:oleObj spid="_x0000_s4099" name="Equation" r:id="rId5" imgW="266400" imgH="241200" progId="Equation.3">
              <p:embed/>
            </p:oleObj>
          </a:graphicData>
        </a:graphic>
      </p:graphicFrame>
      <p:sp>
        <p:nvSpPr>
          <p:cNvPr id="9" name="文字方塊 8"/>
          <p:cNvSpPr txBox="1"/>
          <p:nvPr/>
        </p:nvSpPr>
        <p:spPr>
          <a:xfrm>
            <a:off x="1200101" y="2098661"/>
            <a:ext cx="6429965" cy="584775"/>
          </a:xfrm>
          <a:prstGeom prst="rect">
            <a:avLst/>
          </a:prstGeom>
          <a:noFill/>
        </p:spPr>
        <p:txBody>
          <a:bodyPr wrap="none" rtlCol="0">
            <a:spAutoFit/>
          </a:bodyPr>
          <a:lstStyle/>
          <a:p>
            <a:r>
              <a:rPr lang="en-US" altLang="zh-TW" sz="3200" dirty="0" smtClean="0"/>
              <a:t>= {(</a:t>
            </a:r>
            <a:r>
              <a:rPr lang="en-US" altLang="zh-TW" sz="3200" i="1" dirty="0" smtClean="0">
                <a:latin typeface="Times New Roman" pitchFamily="18" charset="0"/>
                <a:cs typeface="Times New Roman" pitchFamily="18" charset="0"/>
              </a:rPr>
              <a:t>j</a:t>
            </a:r>
            <a:r>
              <a:rPr lang="en-US" altLang="zh-TW" sz="3200" dirty="0" smtClean="0"/>
              <a:t>, </a:t>
            </a:r>
            <a:r>
              <a:rPr lang="en-US" altLang="zh-TW" sz="3200" i="1" dirty="0" smtClean="0">
                <a:latin typeface="Times New Roman" pitchFamily="18" charset="0"/>
                <a:cs typeface="Times New Roman" pitchFamily="18" charset="0"/>
              </a:rPr>
              <a:t>k</a:t>
            </a:r>
            <a:r>
              <a:rPr lang="en-US" altLang="zh-TW" sz="3200" dirty="0" smtClean="0"/>
              <a:t>)|</a:t>
            </a:r>
            <a:r>
              <a:rPr lang="en-US" altLang="zh-TW" sz="3200" i="1" dirty="0" err="1" smtClean="0">
                <a:latin typeface="Times New Roman" pitchFamily="18" charset="0"/>
                <a:cs typeface="Times New Roman" pitchFamily="18" charset="0"/>
              </a:rPr>
              <a:t>b</a:t>
            </a:r>
            <a:r>
              <a:rPr lang="en-US" altLang="zh-TW" sz="3200" baseline="-25000" dirty="0" err="1" smtClean="0"/>
              <a:t>j</a:t>
            </a:r>
            <a:r>
              <a:rPr lang="en-US" altLang="zh-TW" sz="3200" dirty="0" smtClean="0"/>
              <a:t>=</a:t>
            </a:r>
            <a:r>
              <a:rPr lang="en-US" altLang="zh-TW" sz="3200" i="1" dirty="0" err="1" smtClean="0">
                <a:latin typeface="Times New Roman" pitchFamily="18" charset="0"/>
                <a:cs typeface="Times New Roman" pitchFamily="18" charset="0"/>
              </a:rPr>
              <a:t>t</a:t>
            </a:r>
            <a:r>
              <a:rPr lang="en-US" altLang="zh-TW" sz="3200" baseline="-25000" dirty="0" err="1" smtClean="0"/>
              <a:t>k</a:t>
            </a:r>
            <a:r>
              <a:rPr lang="en-US" altLang="zh-TW" sz="3200" dirty="0" smtClean="0"/>
              <a:t>, 1</a:t>
            </a:r>
            <a:r>
              <a:rPr lang="zh-TW" altLang="en-US" sz="3200" dirty="0" smtClean="0"/>
              <a:t>≦</a:t>
            </a:r>
            <a:r>
              <a:rPr lang="en-US" altLang="zh-TW" sz="3200" i="1" dirty="0" smtClean="0">
                <a:latin typeface="Times New Roman" pitchFamily="18" charset="0"/>
                <a:cs typeface="Times New Roman" pitchFamily="18" charset="0"/>
              </a:rPr>
              <a:t>j</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B</a:t>
            </a:r>
            <a:r>
              <a:rPr lang="en-US" altLang="zh-TW" sz="3200" dirty="0" smtClean="0"/>
              <a:t>|, 1</a:t>
            </a:r>
            <a:r>
              <a:rPr lang="zh-TW" altLang="en-US" sz="3200" dirty="0" smtClean="0"/>
              <a:t>≦</a:t>
            </a:r>
            <a:r>
              <a:rPr lang="en-US" altLang="zh-TW" sz="3200" i="1" dirty="0" smtClean="0">
                <a:latin typeface="Times New Roman" pitchFamily="18" charset="0"/>
                <a:cs typeface="Times New Roman" pitchFamily="18" charset="0"/>
              </a:rPr>
              <a:t>k</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T</a:t>
            </a:r>
            <a:r>
              <a:rPr lang="en-US" altLang="zh-TW" sz="3200" dirty="0" smtClean="0"/>
              <a:t>|}</a:t>
            </a:r>
            <a:endParaRPr lang="zh-TW" altLang="en-US" sz="3200" dirty="0"/>
          </a:p>
        </p:txBody>
      </p:sp>
      <p:pic>
        <p:nvPicPr>
          <p:cNvPr id="4100" name="Picture 4"/>
          <p:cNvPicPr>
            <a:picLocks noChangeAspect="1" noChangeArrowheads="1"/>
          </p:cNvPicPr>
          <p:nvPr/>
        </p:nvPicPr>
        <p:blipFill>
          <a:blip r:embed="rId6"/>
          <a:srcRect/>
          <a:stretch>
            <a:fillRect/>
          </a:stretch>
        </p:blipFill>
        <p:spPr bwMode="auto">
          <a:xfrm>
            <a:off x="285721" y="2786058"/>
            <a:ext cx="4143403" cy="3290892"/>
          </a:xfrm>
          <a:prstGeom prst="rect">
            <a:avLst/>
          </a:prstGeom>
          <a:noFill/>
          <a:ln w="9525">
            <a:noFill/>
            <a:miter lim="800000"/>
            <a:headEnd/>
            <a:tailEnd/>
          </a:ln>
          <a:effectLst/>
        </p:spPr>
      </p:pic>
      <p:pic>
        <p:nvPicPr>
          <p:cNvPr id="4102" name="Picture 6"/>
          <p:cNvPicPr>
            <a:picLocks noChangeAspect="1" noChangeArrowheads="1"/>
          </p:cNvPicPr>
          <p:nvPr/>
        </p:nvPicPr>
        <p:blipFill>
          <a:blip r:embed="rId7"/>
          <a:srcRect/>
          <a:stretch>
            <a:fillRect/>
          </a:stretch>
        </p:blipFill>
        <p:spPr bwMode="auto">
          <a:xfrm>
            <a:off x="4500562" y="2857496"/>
            <a:ext cx="4286280" cy="3214710"/>
          </a:xfrm>
          <a:prstGeom prst="rect">
            <a:avLst/>
          </a:prstGeom>
          <a:noFill/>
          <a:ln w="9525">
            <a:noFill/>
            <a:miter lim="800000"/>
            <a:headEnd/>
            <a:tailEnd/>
          </a:ln>
          <a:effectLst/>
        </p:spPr>
      </p:pic>
      <p:sp>
        <p:nvSpPr>
          <p:cNvPr id="13" name="文字方塊 12"/>
          <p:cNvSpPr txBox="1"/>
          <p:nvPr/>
        </p:nvSpPr>
        <p:spPr>
          <a:xfrm>
            <a:off x="4643438" y="4857760"/>
            <a:ext cx="372218" cy="461665"/>
          </a:xfrm>
          <a:prstGeom prst="rect">
            <a:avLst/>
          </a:prstGeom>
          <a:noFill/>
        </p:spPr>
        <p:txBody>
          <a:bodyPr wrap="none" rtlCol="0">
            <a:spAutoFit/>
          </a:bodyPr>
          <a:lstStyle/>
          <a:p>
            <a:r>
              <a:rPr lang="en-US" altLang="zh-TW" sz="2400" i="1" dirty="0" smtClean="0">
                <a:latin typeface="Times New Roman" pitchFamily="18" charset="0"/>
                <a:cs typeface="Times New Roman" pitchFamily="18" charset="0"/>
              </a:rPr>
              <a:t>B</a:t>
            </a:r>
            <a:endParaRPr lang="zh-TW" altLang="en-US" sz="2400" i="1" dirty="0">
              <a:latin typeface="Times New Roman" pitchFamily="18" charset="0"/>
              <a:cs typeface="Times New Roman" pitchFamily="18" charset="0"/>
            </a:endParaRPr>
          </a:p>
        </p:txBody>
      </p:sp>
      <p:graphicFrame>
        <p:nvGraphicFramePr>
          <p:cNvPr id="4103" name="Object 7"/>
          <p:cNvGraphicFramePr>
            <a:graphicFrameLocks noChangeAspect="1"/>
          </p:cNvGraphicFramePr>
          <p:nvPr/>
        </p:nvGraphicFramePr>
        <p:xfrm>
          <a:off x="214282" y="6072206"/>
          <a:ext cx="741362" cy="669925"/>
        </p:xfrm>
        <a:graphic>
          <a:graphicData uri="http://schemas.openxmlformats.org/presentationml/2006/ole">
            <p:oleObj spid="_x0000_s4103" name="Equation" r:id="rId8" imgW="266400" imgH="241200" progId="Equation.3">
              <p:embed/>
            </p:oleObj>
          </a:graphicData>
        </a:graphic>
      </p:graphicFrame>
      <p:sp>
        <p:nvSpPr>
          <p:cNvPr id="15" name="文字方塊 14"/>
          <p:cNvSpPr txBox="1"/>
          <p:nvPr/>
        </p:nvSpPr>
        <p:spPr>
          <a:xfrm>
            <a:off x="857224" y="6215082"/>
            <a:ext cx="3539752" cy="461665"/>
          </a:xfrm>
          <a:prstGeom prst="rect">
            <a:avLst/>
          </a:prstGeom>
          <a:noFill/>
        </p:spPr>
        <p:txBody>
          <a:bodyPr wrap="none" rtlCol="0">
            <a:spAutoFit/>
          </a:bodyPr>
          <a:lstStyle/>
          <a:p>
            <a:r>
              <a:rPr lang="en-US" altLang="zh-TW" sz="2400" dirty="0" smtClean="0"/>
              <a:t>={(1, 3), (2, 2), (3, 1), (3, 4)}</a:t>
            </a:r>
            <a:endParaRPr lang="zh-TW" altLang="en-US" sz="2400" dirty="0"/>
          </a:p>
        </p:txBody>
      </p:sp>
      <p:graphicFrame>
        <p:nvGraphicFramePr>
          <p:cNvPr id="16" name="Object 7"/>
          <p:cNvGraphicFramePr>
            <a:graphicFrameLocks noChangeAspect="1"/>
          </p:cNvGraphicFramePr>
          <p:nvPr/>
        </p:nvGraphicFramePr>
        <p:xfrm>
          <a:off x="4616456" y="6072188"/>
          <a:ext cx="812800" cy="669925"/>
        </p:xfrm>
        <a:graphic>
          <a:graphicData uri="http://schemas.openxmlformats.org/presentationml/2006/ole">
            <p:oleObj spid="_x0000_s4104" name="Equation" r:id="rId9" imgW="291960" imgH="241200" progId="Equation.3">
              <p:embed/>
            </p:oleObj>
          </a:graphicData>
        </a:graphic>
      </p:graphicFrame>
      <p:sp>
        <p:nvSpPr>
          <p:cNvPr id="17" name="文字方塊 16"/>
          <p:cNvSpPr txBox="1"/>
          <p:nvPr/>
        </p:nvSpPr>
        <p:spPr>
          <a:xfrm>
            <a:off x="5286380" y="6215082"/>
            <a:ext cx="3539752" cy="461665"/>
          </a:xfrm>
          <a:prstGeom prst="rect">
            <a:avLst/>
          </a:prstGeom>
          <a:noFill/>
        </p:spPr>
        <p:txBody>
          <a:bodyPr wrap="none" rtlCol="0">
            <a:spAutoFit/>
          </a:bodyPr>
          <a:lstStyle/>
          <a:p>
            <a:r>
              <a:rPr lang="en-US" altLang="zh-TW" sz="2400" dirty="0" smtClean="0"/>
              <a:t>={(1, 2), (2, 1), (2, 4), (3, 5)}</a:t>
            </a:r>
            <a:endParaRPr lang="zh-TW"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for Merged LCS Problem</a:t>
            </a:r>
            <a:endParaRPr lang="zh-TW" altLang="en-US" dirty="0"/>
          </a:p>
        </p:txBody>
      </p:sp>
      <p:sp>
        <p:nvSpPr>
          <p:cNvPr id="3" name="內容版面配置區 2"/>
          <p:cNvSpPr>
            <a:spLocks noGrp="1"/>
          </p:cNvSpPr>
          <p:nvPr>
            <p:ph idx="1"/>
          </p:nvPr>
        </p:nvSpPr>
        <p:spPr>
          <a:xfrm>
            <a:off x="457200" y="1600200"/>
            <a:ext cx="8229600" cy="4757758"/>
          </a:xfrm>
        </p:spPr>
        <p:txBody>
          <a:bodyPr>
            <a:normAutofit/>
          </a:bodyPr>
          <a:lstStyle/>
          <a:p>
            <a:r>
              <a:rPr lang="en-US" altLang="zh-TW" i="1" dirty="0" smtClean="0">
                <a:latin typeface="Times New Roman" pitchFamily="18" charset="0"/>
                <a:cs typeface="Times New Roman" pitchFamily="18" charset="0"/>
              </a:rPr>
              <a:t>M</a:t>
            </a:r>
            <a:r>
              <a:rPr lang="en-US" altLang="zh-TW" dirty="0" smtClean="0"/>
              <a:t> =         U</a:t>
            </a:r>
          </a:p>
          <a:p>
            <a:r>
              <a:rPr lang="en-US" altLang="zh-TW" i="1" dirty="0" smtClean="0">
                <a:latin typeface="Times New Roman" pitchFamily="18" charset="0"/>
                <a:cs typeface="Times New Roman" pitchFamily="18" charset="0"/>
              </a:rPr>
              <a:t>|M| </a:t>
            </a:r>
            <a:r>
              <a:rPr lang="en-US" altLang="zh-TW" dirty="0" smtClean="0"/>
              <a:t>=</a:t>
            </a:r>
            <a:r>
              <a:rPr lang="en-US" altLang="zh-TW" i="1" dirty="0" smtClean="0">
                <a:latin typeface="Times New Roman" pitchFamily="18" charset="0"/>
                <a:cs typeface="Times New Roman" pitchFamily="18" charset="0"/>
              </a:rPr>
              <a:t> R + P</a:t>
            </a:r>
            <a:r>
              <a:rPr lang="en-US" altLang="zh-TW" dirty="0" smtClean="0"/>
              <a:t> , where </a:t>
            </a:r>
            <a:r>
              <a:rPr lang="en-US" altLang="zh-TW" i="1" dirty="0" smtClean="0">
                <a:latin typeface="Times New Roman" pitchFamily="18" charset="0"/>
                <a:cs typeface="Times New Roman" pitchFamily="18" charset="0"/>
              </a:rPr>
              <a:t>R </a:t>
            </a:r>
            <a:r>
              <a:rPr lang="en-US" altLang="zh-TW" dirty="0" smtClean="0"/>
              <a:t>=|     | and </a:t>
            </a:r>
            <a:r>
              <a:rPr lang="en-US" altLang="zh-TW" i="1" dirty="0" smtClean="0">
                <a:latin typeface="Times New Roman" pitchFamily="18" charset="0"/>
                <a:cs typeface="Times New Roman" pitchFamily="18" charset="0"/>
              </a:rPr>
              <a:t>P </a:t>
            </a:r>
            <a:r>
              <a:rPr lang="en-US" altLang="zh-TW" dirty="0" smtClean="0"/>
              <a:t>= |      |</a:t>
            </a:r>
          </a:p>
          <a:p>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11</a:t>
            </a:fld>
            <a:endParaRPr lang="zh-TW" altLang="en-US"/>
          </a:p>
        </p:txBody>
      </p:sp>
      <p:graphicFrame>
        <p:nvGraphicFramePr>
          <p:cNvPr id="5123" name="Object 3"/>
          <p:cNvGraphicFramePr>
            <a:graphicFrameLocks noChangeAspect="1"/>
          </p:cNvGraphicFramePr>
          <p:nvPr/>
        </p:nvGraphicFramePr>
        <p:xfrm>
          <a:off x="1687498" y="1571612"/>
          <a:ext cx="669924" cy="669925"/>
        </p:xfrm>
        <a:graphic>
          <a:graphicData uri="http://schemas.openxmlformats.org/presentationml/2006/ole">
            <p:oleObj spid="_x0000_s5123" name="Equation" r:id="rId3" imgW="266400" imgH="241200" progId="Equation.3">
              <p:embed/>
            </p:oleObj>
          </a:graphicData>
        </a:graphic>
      </p:graphicFrame>
      <p:graphicFrame>
        <p:nvGraphicFramePr>
          <p:cNvPr id="5124" name="Object 4"/>
          <p:cNvGraphicFramePr>
            <a:graphicFrameLocks noChangeAspect="1"/>
          </p:cNvGraphicFramePr>
          <p:nvPr/>
        </p:nvGraphicFramePr>
        <p:xfrm>
          <a:off x="2544748" y="1616085"/>
          <a:ext cx="669930" cy="669907"/>
        </p:xfrm>
        <a:graphic>
          <a:graphicData uri="http://schemas.openxmlformats.org/presentationml/2006/ole">
            <p:oleObj spid="_x0000_s5124" name="Equation" r:id="rId4" imgW="291960" imgH="241200" progId="Equation.3">
              <p:embed/>
            </p:oleObj>
          </a:graphicData>
        </a:graphic>
      </p:graphicFrame>
      <p:graphicFrame>
        <p:nvGraphicFramePr>
          <p:cNvPr id="5126" name="Object 6"/>
          <p:cNvGraphicFramePr>
            <a:graphicFrameLocks noChangeAspect="1"/>
          </p:cNvGraphicFramePr>
          <p:nvPr/>
        </p:nvGraphicFramePr>
        <p:xfrm>
          <a:off x="4857752" y="2187571"/>
          <a:ext cx="669925" cy="669925"/>
        </p:xfrm>
        <a:graphic>
          <a:graphicData uri="http://schemas.openxmlformats.org/presentationml/2006/ole">
            <p:oleObj spid="_x0000_s5126" name="Equation" r:id="rId5" imgW="266400" imgH="241200" progId="Equation.3">
              <p:embed/>
            </p:oleObj>
          </a:graphicData>
        </a:graphic>
      </p:graphicFrame>
      <p:graphicFrame>
        <p:nvGraphicFramePr>
          <p:cNvPr id="5127" name="Object 7"/>
          <p:cNvGraphicFramePr>
            <a:graphicFrameLocks noChangeAspect="1"/>
          </p:cNvGraphicFramePr>
          <p:nvPr/>
        </p:nvGraphicFramePr>
        <p:xfrm>
          <a:off x="7188223" y="2143116"/>
          <a:ext cx="669925" cy="669925"/>
        </p:xfrm>
        <a:graphic>
          <a:graphicData uri="http://schemas.openxmlformats.org/presentationml/2006/ole">
            <p:oleObj spid="_x0000_s5127" name="Equation" r:id="rId6" imgW="291960" imgH="241200" progId="Equation.3">
              <p:embed/>
            </p:oleObj>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for Merged LCS Problem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12</a:t>
            </a:fld>
            <a:endParaRPr lang="zh-TW" altLang="en-US"/>
          </a:p>
        </p:txBody>
      </p:sp>
      <p:pic>
        <p:nvPicPr>
          <p:cNvPr id="5" name="Picture 2"/>
          <p:cNvPicPr>
            <a:picLocks noChangeAspect="1" noChangeArrowheads="1"/>
          </p:cNvPicPr>
          <p:nvPr/>
        </p:nvPicPr>
        <p:blipFill>
          <a:blip r:embed="rId2"/>
          <a:srcRect/>
          <a:stretch>
            <a:fillRect/>
          </a:stretch>
        </p:blipFill>
        <p:spPr bwMode="auto">
          <a:xfrm>
            <a:off x="0" y="2214554"/>
            <a:ext cx="3929090" cy="2714644"/>
          </a:xfrm>
          <a:prstGeom prst="rect">
            <a:avLst/>
          </a:prstGeom>
          <a:noFill/>
          <a:ln w="9525">
            <a:noFill/>
            <a:miter lim="800000"/>
            <a:headEnd/>
            <a:tailEnd/>
          </a:ln>
          <a:effectLst/>
        </p:spPr>
      </p:pic>
      <p:pic>
        <p:nvPicPr>
          <p:cNvPr id="6146" name="Picture 2"/>
          <p:cNvPicPr>
            <a:picLocks noChangeAspect="1" noChangeArrowheads="1"/>
          </p:cNvPicPr>
          <p:nvPr/>
        </p:nvPicPr>
        <p:blipFill>
          <a:blip r:embed="rId3"/>
          <a:srcRect/>
          <a:stretch>
            <a:fillRect/>
          </a:stretch>
        </p:blipFill>
        <p:spPr bwMode="auto">
          <a:xfrm>
            <a:off x="4429124" y="1214422"/>
            <a:ext cx="4714876" cy="5143536"/>
          </a:xfrm>
          <a:prstGeom prst="rect">
            <a:avLst/>
          </a:prstGeom>
          <a:noFill/>
          <a:ln w="9525">
            <a:noFill/>
            <a:miter lim="800000"/>
            <a:headEnd/>
            <a:tailEnd/>
          </a:ln>
          <a:effectLst/>
        </p:spPr>
      </p:pic>
      <p:cxnSp>
        <p:nvCxnSpPr>
          <p:cNvPr id="8" name="直線單箭頭接點 7"/>
          <p:cNvCxnSpPr/>
          <p:nvPr/>
        </p:nvCxnSpPr>
        <p:spPr>
          <a:xfrm>
            <a:off x="3929058" y="3857628"/>
            <a:ext cx="698926" cy="5245"/>
          </a:xfrm>
          <a:prstGeom prst="straightConnector1">
            <a:avLst/>
          </a:prstGeom>
          <a:ln w="76200" cmpd="dbl">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Fact</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L</a:t>
            </a:r>
            <a:r>
              <a:rPr lang="en-US" altLang="zh-TW" dirty="0" smtClean="0"/>
              <a:t>(</a:t>
            </a:r>
            <a:r>
              <a:rPr lang="en-US" altLang="zh-TW" i="1" dirty="0" err="1" smtClean="0">
                <a:latin typeface="Times New Roman" pitchFamily="18" charset="0"/>
                <a:cs typeface="Times New Roman" pitchFamily="18" charset="0"/>
              </a:rPr>
              <a:t>i</a:t>
            </a:r>
            <a:r>
              <a:rPr lang="en-US" altLang="zh-TW" dirty="0" smtClean="0"/>
              <a:t>,</a:t>
            </a:r>
            <a:r>
              <a:rPr lang="en-US" altLang="zh-TW" i="1" dirty="0" smtClean="0">
                <a:latin typeface="Times New Roman" pitchFamily="18" charset="0"/>
                <a:cs typeface="Times New Roman" pitchFamily="18" charset="0"/>
              </a:rPr>
              <a:t> j</a:t>
            </a:r>
            <a:r>
              <a:rPr lang="en-US" altLang="zh-TW" dirty="0" smtClean="0"/>
              <a:t>, </a:t>
            </a:r>
            <a:r>
              <a:rPr lang="en-US" altLang="zh-TW" i="1" dirty="0" smtClean="0">
                <a:latin typeface="Times New Roman" pitchFamily="18" charset="0"/>
                <a:cs typeface="Times New Roman" pitchFamily="18" charset="0"/>
              </a:rPr>
              <a:t>k</a:t>
            </a:r>
            <a:r>
              <a:rPr lang="en-US" altLang="zh-TW" dirty="0" smtClean="0"/>
              <a:t>) = </a:t>
            </a:r>
            <a:r>
              <a:rPr lang="en-US" altLang="zh-TW" i="1" dirty="0" err="1" smtClean="0">
                <a:latin typeface="Times New Roman" pitchFamily="18" charset="0"/>
                <a:cs typeface="Times New Roman" pitchFamily="18" charset="0"/>
              </a:rPr>
              <a:t>L</a:t>
            </a:r>
            <a:r>
              <a:rPr lang="en-US" altLang="zh-TW" i="1" baseline="-25000" dirty="0" err="1" smtClean="0">
                <a:latin typeface="Times New Roman" pitchFamily="18" charset="0"/>
                <a:cs typeface="Times New Roman" pitchFamily="18" charset="0"/>
              </a:rPr>
              <a:t>k</a:t>
            </a:r>
            <a:r>
              <a:rPr lang="en-US" altLang="zh-TW" dirty="0" smtClean="0"/>
              <a:t>(</a:t>
            </a:r>
            <a:r>
              <a:rPr lang="en-US" altLang="zh-TW" i="1" dirty="0" err="1" smtClean="0">
                <a:latin typeface="Times New Roman" pitchFamily="18" charset="0"/>
                <a:cs typeface="Times New Roman" pitchFamily="18" charset="0"/>
              </a:rPr>
              <a:t>i</a:t>
            </a:r>
            <a:r>
              <a:rPr lang="en-US" altLang="zh-TW" dirty="0" smtClean="0"/>
              <a:t>, </a:t>
            </a:r>
            <a:r>
              <a:rPr lang="en-US" altLang="zh-TW" i="1" dirty="0" smtClean="0">
                <a:latin typeface="Times New Roman" pitchFamily="18" charset="0"/>
                <a:cs typeface="Times New Roman" pitchFamily="18" charset="0"/>
              </a:rPr>
              <a:t>j</a:t>
            </a:r>
            <a:r>
              <a:rPr lang="en-US" altLang="zh-TW" dirty="0" smtClean="0"/>
              <a:t>), 0</a:t>
            </a:r>
            <a:r>
              <a:rPr lang="zh-TW" altLang="en-US" dirty="0" smtClean="0"/>
              <a:t>≦</a:t>
            </a:r>
            <a:r>
              <a:rPr lang="en-US" altLang="zh-TW" i="1" dirty="0" smtClean="0">
                <a:latin typeface="Times New Roman" pitchFamily="18" charset="0"/>
                <a:cs typeface="Times New Roman" pitchFamily="18" charset="0"/>
              </a:rPr>
              <a:t>k</a:t>
            </a:r>
            <a:r>
              <a:rPr lang="zh-TW" altLang="en-US" dirty="0" smtClean="0"/>
              <a:t>≦</a:t>
            </a:r>
            <a:r>
              <a:rPr lang="en-US" altLang="zh-TW" dirty="0" smtClean="0"/>
              <a:t>n</a:t>
            </a: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13</a:t>
            </a:fld>
            <a:endParaRPr lang="zh-TW" altLang="en-US"/>
          </a:p>
        </p:txBody>
      </p:sp>
      <p:pic>
        <p:nvPicPr>
          <p:cNvPr id="7170" name="Picture 2"/>
          <p:cNvPicPr>
            <a:picLocks noChangeAspect="1" noChangeArrowheads="1"/>
          </p:cNvPicPr>
          <p:nvPr/>
        </p:nvPicPr>
        <p:blipFill>
          <a:blip r:embed="rId2"/>
          <a:srcRect/>
          <a:stretch>
            <a:fillRect/>
          </a:stretch>
        </p:blipFill>
        <p:spPr bwMode="auto">
          <a:xfrm>
            <a:off x="1071538" y="2285992"/>
            <a:ext cx="6143636" cy="3357562"/>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14</a:t>
            </a:fld>
            <a:endParaRPr lang="zh-TW" altLang="en-US"/>
          </a:p>
        </p:txBody>
      </p:sp>
      <p:pic>
        <p:nvPicPr>
          <p:cNvPr id="8194" name="Picture 2"/>
          <p:cNvPicPr>
            <a:picLocks noChangeAspect="1" noChangeArrowheads="1"/>
          </p:cNvPicPr>
          <p:nvPr/>
        </p:nvPicPr>
        <p:blipFill>
          <a:blip r:embed="rId2"/>
          <a:srcRect/>
          <a:stretch>
            <a:fillRect/>
          </a:stretch>
        </p:blipFill>
        <p:spPr bwMode="auto">
          <a:xfrm>
            <a:off x="428596" y="214290"/>
            <a:ext cx="8143900" cy="3848100"/>
          </a:xfrm>
          <a:prstGeom prst="rect">
            <a:avLst/>
          </a:prstGeom>
          <a:noFill/>
          <a:ln w="9525">
            <a:noFill/>
            <a:miter lim="800000"/>
            <a:headEnd/>
            <a:tailEnd/>
          </a:ln>
          <a:effectLst/>
        </p:spPr>
      </p:pic>
      <p:pic>
        <p:nvPicPr>
          <p:cNvPr id="6" name="Picture 2"/>
          <p:cNvPicPr>
            <a:picLocks noChangeAspect="1" noChangeArrowheads="1"/>
          </p:cNvPicPr>
          <p:nvPr/>
        </p:nvPicPr>
        <p:blipFill>
          <a:blip r:embed="rId3"/>
          <a:srcRect/>
          <a:stretch>
            <a:fillRect/>
          </a:stretch>
        </p:blipFill>
        <p:spPr bwMode="auto">
          <a:xfrm>
            <a:off x="-32" y="4143356"/>
            <a:ext cx="3929090" cy="2714644"/>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Bounded Heap data structure</a:t>
            </a:r>
            <a:endParaRPr lang="zh-TW" altLang="en-US" dirty="0"/>
          </a:p>
        </p:txBody>
      </p:sp>
      <p:sp>
        <p:nvSpPr>
          <p:cNvPr id="3" name="內容版面配置區 2"/>
          <p:cNvSpPr>
            <a:spLocks noGrp="1"/>
          </p:cNvSpPr>
          <p:nvPr>
            <p:ph idx="1"/>
          </p:nvPr>
        </p:nvSpPr>
        <p:spPr/>
        <p:txBody>
          <a:bodyPr/>
          <a:lstStyle/>
          <a:p>
            <a:r>
              <a:rPr lang="en-US" altLang="zh-TW" dirty="0" smtClean="0"/>
              <a:t>Using van </a:t>
            </a:r>
            <a:r>
              <a:rPr lang="en-US" altLang="zh-TW" dirty="0" err="1" smtClean="0"/>
              <a:t>Emde</a:t>
            </a:r>
            <a:r>
              <a:rPr lang="en-US" altLang="zh-TW" dirty="0" smtClean="0"/>
              <a:t> Boas trees.</a:t>
            </a:r>
          </a:p>
          <a:p>
            <a:endParaRPr lang="en-US" altLang="zh-TW" dirty="0" smtClean="0"/>
          </a:p>
          <a:p>
            <a:pPr>
              <a:buNone/>
            </a:pPr>
            <a:r>
              <a:rPr lang="en-US" altLang="zh-TW" dirty="0" smtClean="0"/>
              <a:t>Insert(H, pos, </a:t>
            </a:r>
            <a:r>
              <a:rPr lang="en-US" altLang="zh-TW" dirty="0" err="1" smtClean="0"/>
              <a:t>val</a:t>
            </a:r>
            <a:r>
              <a:rPr lang="en-US" altLang="zh-TW" dirty="0" smtClean="0"/>
              <a:t>, data)</a:t>
            </a:r>
          </a:p>
          <a:p>
            <a:pPr>
              <a:buNone/>
            </a:pPr>
            <a:r>
              <a:rPr lang="en-US" altLang="zh-TW" dirty="0" err="1" smtClean="0"/>
              <a:t>IncVal</a:t>
            </a:r>
            <a:r>
              <a:rPr lang="en-US" altLang="zh-TW" dirty="0" smtClean="0"/>
              <a:t>(H, pos, </a:t>
            </a:r>
            <a:r>
              <a:rPr lang="en-US" altLang="zh-TW" dirty="0" err="1" smtClean="0"/>
              <a:t>val</a:t>
            </a:r>
            <a:r>
              <a:rPr lang="en-US" altLang="zh-TW" dirty="0" smtClean="0"/>
              <a:t>, data)</a:t>
            </a:r>
          </a:p>
          <a:p>
            <a:pPr>
              <a:buNone/>
            </a:pPr>
            <a:r>
              <a:rPr lang="en-US" altLang="zh-TW" dirty="0" err="1" smtClean="0"/>
              <a:t>BoundedMax</a:t>
            </a:r>
            <a:r>
              <a:rPr lang="en-US" altLang="zh-TW" dirty="0" smtClean="0"/>
              <a:t>(H, pos)</a:t>
            </a:r>
          </a:p>
          <a:p>
            <a:endParaRPr lang="en-US" altLang="zh-TW" dirty="0" smtClean="0"/>
          </a:p>
          <a:p>
            <a:pPr>
              <a:buNone/>
            </a:pPr>
            <a:r>
              <a:rPr lang="en-US" altLang="zh-TW" dirty="0" smtClean="0"/>
              <a:t>above operations in O(</a:t>
            </a:r>
            <a:r>
              <a:rPr lang="en-US" altLang="zh-TW" dirty="0" err="1" smtClean="0"/>
              <a:t>loglog</a:t>
            </a:r>
            <a:r>
              <a:rPr lang="en-US" altLang="zh-TW" i="1" dirty="0" err="1" smtClean="0">
                <a:latin typeface="Times New Roman" pitchFamily="18" charset="0"/>
                <a:cs typeface="Times New Roman" pitchFamily="18" charset="0"/>
              </a:rPr>
              <a:t>n</a:t>
            </a:r>
            <a:r>
              <a:rPr lang="en-US" altLang="zh-TW" dirty="0" smtClean="0"/>
              <a:t>) amortized time.</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Bounded Heap data structure</a:t>
            </a:r>
            <a:endParaRPr lang="zh-TW" altLang="en-US" dirty="0"/>
          </a:p>
        </p:txBody>
      </p:sp>
      <p:sp>
        <p:nvSpPr>
          <p:cNvPr id="3" name="內容版面配置區 2"/>
          <p:cNvSpPr>
            <a:spLocks noGrp="1"/>
          </p:cNvSpPr>
          <p:nvPr>
            <p:ph idx="1"/>
          </p:nvPr>
        </p:nvSpPr>
        <p:spPr>
          <a:xfrm>
            <a:off x="457200" y="1600200"/>
            <a:ext cx="8229600" cy="4686320"/>
          </a:xfrm>
        </p:spPr>
        <p:txBody>
          <a:bodyPr>
            <a:normAutofit/>
          </a:bodyPr>
          <a:lstStyle/>
          <a:p>
            <a:r>
              <a:rPr lang="en-US" altLang="zh-TW" dirty="0" smtClean="0"/>
              <a:t>Each of the bounded heap,       , contains values for </a:t>
            </a:r>
          </a:p>
          <a:p>
            <a:pPr>
              <a:buNone/>
            </a:pPr>
            <a:r>
              <a:rPr lang="en-US" altLang="zh-TW" dirty="0" smtClean="0"/>
              <a:t>    LCS(M(a</a:t>
            </a:r>
            <a:r>
              <a:rPr lang="en-US" altLang="zh-TW" baseline="-25000" dirty="0" smtClean="0"/>
              <a:t>1</a:t>
            </a:r>
            <a:r>
              <a:rPr lang="en-US" altLang="zh-TW" dirty="0" smtClean="0"/>
              <a:t>a</a:t>
            </a:r>
            <a:r>
              <a:rPr lang="en-US" altLang="zh-TW" baseline="-25000" dirty="0" smtClean="0"/>
              <a:t>2</a:t>
            </a:r>
            <a:r>
              <a:rPr lang="en-US" altLang="zh-TW" dirty="0" smtClean="0"/>
              <a:t>…</a:t>
            </a:r>
            <a:r>
              <a:rPr lang="en-US" altLang="zh-TW" dirty="0" err="1" smtClean="0"/>
              <a:t>a</a:t>
            </a:r>
            <a:r>
              <a:rPr lang="en-US" altLang="zh-TW" baseline="-25000" dirty="0" err="1" smtClean="0"/>
              <a:t>i</a:t>
            </a:r>
            <a:r>
              <a:rPr lang="en-US" altLang="zh-TW" dirty="0" smtClean="0"/>
              <a:t>, b</a:t>
            </a:r>
            <a:r>
              <a:rPr lang="en-US" altLang="zh-TW" baseline="-25000" dirty="0" smtClean="0"/>
              <a:t>0</a:t>
            </a:r>
            <a:r>
              <a:rPr lang="en-US" altLang="zh-TW" dirty="0" smtClean="0"/>
              <a:t>), t</a:t>
            </a:r>
            <a:r>
              <a:rPr lang="en-US" altLang="zh-TW" baseline="-25000" dirty="0" smtClean="0"/>
              <a:t>1</a:t>
            </a:r>
            <a:r>
              <a:rPr lang="en-US" altLang="zh-TW" dirty="0" smtClean="0"/>
              <a:t>t</a:t>
            </a:r>
            <a:r>
              <a:rPr lang="en-US" altLang="zh-TW" baseline="-25000" dirty="0" smtClean="0"/>
              <a:t>2</a:t>
            </a:r>
            <a:r>
              <a:rPr lang="en-US" altLang="zh-TW" dirty="0" smtClean="0"/>
              <a:t>…</a:t>
            </a:r>
            <a:r>
              <a:rPr lang="en-US" altLang="zh-TW" dirty="0" err="1" smtClean="0"/>
              <a:t>t</a:t>
            </a:r>
            <a:r>
              <a:rPr lang="en-US" altLang="zh-TW" baseline="-25000" dirty="0" err="1" smtClean="0"/>
              <a:t>k</a:t>
            </a:r>
            <a:r>
              <a:rPr lang="en-US" altLang="zh-TW" dirty="0" smtClean="0"/>
              <a:t>), </a:t>
            </a:r>
          </a:p>
          <a:p>
            <a:pPr>
              <a:buNone/>
            </a:pPr>
            <a:r>
              <a:rPr lang="en-US" altLang="zh-TW" dirty="0" smtClean="0"/>
              <a:t>    LCS(M(a</a:t>
            </a:r>
            <a:r>
              <a:rPr lang="en-US" altLang="zh-TW" baseline="-25000" dirty="0" smtClean="0"/>
              <a:t>1</a:t>
            </a:r>
            <a:r>
              <a:rPr lang="en-US" altLang="zh-TW" dirty="0" smtClean="0"/>
              <a:t>a</a:t>
            </a:r>
            <a:r>
              <a:rPr lang="en-US" altLang="zh-TW" baseline="-25000" dirty="0" smtClean="0"/>
              <a:t>2</a:t>
            </a:r>
            <a:r>
              <a:rPr lang="en-US" altLang="zh-TW" dirty="0" smtClean="0"/>
              <a:t>…</a:t>
            </a:r>
            <a:r>
              <a:rPr lang="en-US" altLang="zh-TW" dirty="0" err="1" smtClean="0"/>
              <a:t>a</a:t>
            </a:r>
            <a:r>
              <a:rPr lang="en-US" altLang="zh-TW" baseline="-25000" dirty="0" err="1" smtClean="0"/>
              <a:t>i</a:t>
            </a:r>
            <a:r>
              <a:rPr lang="en-US" altLang="zh-TW" dirty="0" smtClean="0"/>
              <a:t>, b</a:t>
            </a:r>
            <a:r>
              <a:rPr lang="en-US" altLang="zh-TW" baseline="-25000" dirty="0" smtClean="0"/>
              <a:t>0</a:t>
            </a:r>
            <a:r>
              <a:rPr lang="en-US" altLang="zh-TW" dirty="0" smtClean="0"/>
              <a:t> b</a:t>
            </a:r>
            <a:r>
              <a:rPr lang="en-US" altLang="zh-TW" baseline="-25000" dirty="0" smtClean="0"/>
              <a:t>1</a:t>
            </a:r>
            <a:r>
              <a:rPr lang="en-US" altLang="zh-TW" dirty="0" smtClean="0"/>
              <a:t>), t</a:t>
            </a:r>
            <a:r>
              <a:rPr lang="en-US" altLang="zh-TW" baseline="-25000" dirty="0" smtClean="0"/>
              <a:t>1</a:t>
            </a:r>
            <a:r>
              <a:rPr lang="en-US" altLang="zh-TW" dirty="0" smtClean="0"/>
              <a:t>t</a:t>
            </a:r>
            <a:r>
              <a:rPr lang="en-US" altLang="zh-TW" baseline="-25000" dirty="0" smtClean="0"/>
              <a:t>2</a:t>
            </a:r>
            <a:r>
              <a:rPr lang="en-US" altLang="zh-TW" dirty="0" smtClean="0"/>
              <a:t>…</a:t>
            </a:r>
            <a:r>
              <a:rPr lang="en-US" altLang="zh-TW" dirty="0" err="1" smtClean="0"/>
              <a:t>t</a:t>
            </a:r>
            <a:r>
              <a:rPr lang="en-US" altLang="zh-TW" baseline="-25000" dirty="0" err="1" smtClean="0"/>
              <a:t>k</a:t>
            </a:r>
            <a:r>
              <a:rPr lang="en-US" altLang="zh-TW" dirty="0" smtClean="0"/>
              <a:t>),</a:t>
            </a:r>
          </a:p>
          <a:p>
            <a:pPr>
              <a:buNone/>
            </a:pPr>
            <a:r>
              <a:rPr lang="en-US" altLang="zh-TW" dirty="0" smtClean="0"/>
              <a:t>    </a:t>
            </a:r>
          </a:p>
          <a:p>
            <a:pPr>
              <a:buNone/>
            </a:pPr>
            <a:endParaRPr lang="en-US" altLang="zh-TW" dirty="0" smtClean="0"/>
          </a:p>
          <a:p>
            <a:pPr>
              <a:buNone/>
            </a:pPr>
            <a:r>
              <a:rPr lang="en-US" altLang="zh-TW" dirty="0" smtClean="0"/>
              <a:t>LCS(M(a</a:t>
            </a:r>
            <a:r>
              <a:rPr lang="en-US" altLang="zh-TW" baseline="-25000" dirty="0" smtClean="0"/>
              <a:t>1</a:t>
            </a:r>
            <a:r>
              <a:rPr lang="en-US" altLang="zh-TW" dirty="0" smtClean="0"/>
              <a:t>a</a:t>
            </a:r>
            <a:r>
              <a:rPr lang="en-US" altLang="zh-TW" baseline="-25000" dirty="0" smtClean="0"/>
              <a:t>2</a:t>
            </a:r>
            <a:r>
              <a:rPr lang="en-US" altLang="zh-TW" dirty="0" smtClean="0"/>
              <a:t>…</a:t>
            </a:r>
            <a:r>
              <a:rPr lang="en-US" altLang="zh-TW" dirty="0" err="1" smtClean="0"/>
              <a:t>a</a:t>
            </a:r>
            <a:r>
              <a:rPr lang="en-US" altLang="zh-TW" baseline="-25000" dirty="0" err="1" smtClean="0"/>
              <a:t>i</a:t>
            </a:r>
            <a:r>
              <a:rPr lang="en-US" altLang="zh-TW" dirty="0" smtClean="0"/>
              <a:t>, b</a:t>
            </a:r>
            <a:r>
              <a:rPr lang="en-US" altLang="zh-TW" baseline="-25000" dirty="0" smtClean="0"/>
              <a:t>0</a:t>
            </a:r>
            <a:r>
              <a:rPr lang="en-US" altLang="zh-TW" dirty="0" smtClean="0"/>
              <a:t> b</a:t>
            </a:r>
            <a:r>
              <a:rPr lang="en-US" altLang="zh-TW" baseline="-25000" dirty="0" smtClean="0"/>
              <a:t>1</a:t>
            </a:r>
            <a:r>
              <a:rPr lang="en-US" altLang="zh-TW" dirty="0" smtClean="0"/>
              <a:t>…</a:t>
            </a:r>
            <a:r>
              <a:rPr lang="en-US" altLang="zh-TW" dirty="0" err="1" smtClean="0"/>
              <a:t>b</a:t>
            </a:r>
            <a:r>
              <a:rPr lang="en-US" altLang="zh-TW" baseline="-25000" dirty="0" err="1" smtClean="0"/>
              <a:t>j</a:t>
            </a:r>
            <a:r>
              <a:rPr lang="en-US" altLang="zh-TW" dirty="0" smtClean="0"/>
              <a:t>), t</a:t>
            </a:r>
            <a:r>
              <a:rPr lang="en-US" altLang="zh-TW" baseline="-25000" dirty="0" smtClean="0"/>
              <a:t>1</a:t>
            </a:r>
            <a:r>
              <a:rPr lang="en-US" altLang="zh-TW" dirty="0" smtClean="0"/>
              <a:t>t</a:t>
            </a:r>
            <a:r>
              <a:rPr lang="en-US" altLang="zh-TW" baseline="-25000" dirty="0" smtClean="0"/>
              <a:t>2</a:t>
            </a:r>
            <a:r>
              <a:rPr lang="en-US" altLang="zh-TW" dirty="0" smtClean="0"/>
              <a:t>…</a:t>
            </a:r>
            <a:r>
              <a:rPr lang="en-US" altLang="zh-TW" dirty="0" err="1" smtClean="0"/>
              <a:t>t</a:t>
            </a:r>
            <a:r>
              <a:rPr lang="en-US" altLang="zh-TW" baseline="-25000" dirty="0" err="1" smtClean="0"/>
              <a:t>k</a:t>
            </a:r>
            <a:r>
              <a:rPr lang="en-US" altLang="zh-TW" dirty="0" smtClean="0"/>
              <a:t>)</a:t>
            </a:r>
          </a:p>
          <a:p>
            <a:pPr>
              <a:buNone/>
            </a:pPr>
            <a:r>
              <a:rPr lang="en-US" altLang="zh-TW" dirty="0" smtClean="0"/>
              <a:t>0</a:t>
            </a:r>
            <a:r>
              <a:rPr lang="zh-TW" altLang="en-US" dirty="0" smtClean="0"/>
              <a:t> ≦</a:t>
            </a:r>
            <a:r>
              <a:rPr lang="en-US" altLang="zh-TW" dirty="0" smtClean="0"/>
              <a:t>j</a:t>
            </a:r>
            <a:r>
              <a:rPr lang="zh-TW" altLang="en-US" dirty="0" smtClean="0"/>
              <a:t> ≦</a:t>
            </a:r>
            <a:r>
              <a:rPr lang="en-US" altLang="zh-TW" dirty="0" smtClean="0"/>
              <a:t>r</a:t>
            </a:r>
          </a:p>
          <a:p>
            <a:pPr>
              <a:buNone/>
            </a:pP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16</a:t>
            </a:fld>
            <a:endParaRPr lang="zh-TW" altLang="en-US"/>
          </a:p>
        </p:txBody>
      </p:sp>
      <p:graphicFrame>
        <p:nvGraphicFramePr>
          <p:cNvPr id="9218" name="Object 2"/>
          <p:cNvGraphicFramePr>
            <a:graphicFrameLocks noChangeAspect="1"/>
          </p:cNvGraphicFramePr>
          <p:nvPr/>
        </p:nvGraphicFramePr>
        <p:xfrm>
          <a:off x="5429256" y="1616067"/>
          <a:ext cx="606425" cy="669925"/>
        </p:xfrm>
        <a:graphic>
          <a:graphicData uri="http://schemas.openxmlformats.org/presentationml/2006/ole">
            <p:oleObj spid="_x0000_s9218" name="Equation" r:id="rId3" imgW="241200" imgH="241200" progId="Equation.3">
              <p:embed/>
            </p:oleObj>
          </a:graphicData>
        </a:graphic>
      </p:graphicFrame>
      <p:sp>
        <p:nvSpPr>
          <p:cNvPr id="6" name="流程圖: 接點 5"/>
          <p:cNvSpPr/>
          <p:nvPr/>
        </p:nvSpPr>
        <p:spPr>
          <a:xfrm>
            <a:off x="2786050" y="4071942"/>
            <a:ext cx="142876" cy="14287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流程圖: 接點 6"/>
          <p:cNvSpPr/>
          <p:nvPr/>
        </p:nvSpPr>
        <p:spPr>
          <a:xfrm>
            <a:off x="2786050" y="4357694"/>
            <a:ext cx="142876" cy="14287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流程圖: 接點 7"/>
          <p:cNvSpPr/>
          <p:nvPr/>
        </p:nvSpPr>
        <p:spPr>
          <a:xfrm>
            <a:off x="2786050" y="4643446"/>
            <a:ext cx="142876" cy="14287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17</a:t>
            </a:fld>
            <a:endParaRPr lang="zh-TW" altLang="en-US"/>
          </a:p>
        </p:txBody>
      </p:sp>
      <p:pic>
        <p:nvPicPr>
          <p:cNvPr id="10242" name="Picture 2"/>
          <p:cNvPicPr>
            <a:picLocks noChangeAspect="1" noChangeArrowheads="1"/>
          </p:cNvPicPr>
          <p:nvPr/>
        </p:nvPicPr>
        <p:blipFill>
          <a:blip r:embed="rId2"/>
          <a:srcRect/>
          <a:stretch>
            <a:fillRect/>
          </a:stretch>
        </p:blipFill>
        <p:spPr bwMode="auto">
          <a:xfrm>
            <a:off x="0" y="0"/>
            <a:ext cx="4514850" cy="6858000"/>
          </a:xfrm>
          <a:prstGeom prst="rect">
            <a:avLst/>
          </a:prstGeom>
          <a:noFill/>
          <a:ln w="9525">
            <a:noFill/>
            <a:miter lim="800000"/>
            <a:headEnd/>
            <a:tailEnd/>
          </a:ln>
          <a:effectLst/>
        </p:spPr>
      </p:pic>
      <p:sp>
        <p:nvSpPr>
          <p:cNvPr id="6" name="文字方塊 5"/>
          <p:cNvSpPr txBox="1"/>
          <p:nvPr/>
        </p:nvSpPr>
        <p:spPr>
          <a:xfrm>
            <a:off x="4643438" y="285728"/>
            <a:ext cx="4164666" cy="584775"/>
          </a:xfrm>
          <a:prstGeom prst="rect">
            <a:avLst/>
          </a:prstGeom>
          <a:noFill/>
        </p:spPr>
        <p:txBody>
          <a:bodyPr wrap="none" rtlCol="0">
            <a:spAutoFit/>
          </a:bodyPr>
          <a:lstStyle/>
          <a:p>
            <a:r>
              <a:rPr lang="en-US" altLang="zh-TW" sz="3200" dirty="0" smtClean="0"/>
              <a:t>Algorithm MLCS(A, B, T)</a:t>
            </a:r>
            <a:endParaRPr lang="zh-TW" alt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Construct the set 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18</a:t>
            </a:fld>
            <a:endParaRPr lang="zh-TW" altLang="en-US"/>
          </a:p>
        </p:txBody>
      </p:sp>
      <p:graphicFrame>
        <p:nvGraphicFramePr>
          <p:cNvPr id="5" name="Object 2"/>
          <p:cNvGraphicFramePr>
            <a:graphicFrameLocks noChangeAspect="1"/>
          </p:cNvGraphicFramePr>
          <p:nvPr/>
        </p:nvGraphicFramePr>
        <p:xfrm>
          <a:off x="500034" y="1473200"/>
          <a:ext cx="741362" cy="669925"/>
        </p:xfrm>
        <a:graphic>
          <a:graphicData uri="http://schemas.openxmlformats.org/presentationml/2006/ole">
            <p:oleObj spid="_x0000_s11266" name="Equation" r:id="rId3" imgW="266400" imgH="241200" progId="Equation.3">
              <p:embed/>
            </p:oleObj>
          </a:graphicData>
        </a:graphic>
      </p:graphicFrame>
      <p:sp>
        <p:nvSpPr>
          <p:cNvPr id="6" name="文字方塊 5"/>
          <p:cNvSpPr txBox="1"/>
          <p:nvPr/>
        </p:nvSpPr>
        <p:spPr>
          <a:xfrm>
            <a:off x="1200101" y="1500174"/>
            <a:ext cx="6429965" cy="584775"/>
          </a:xfrm>
          <a:prstGeom prst="rect">
            <a:avLst/>
          </a:prstGeom>
          <a:noFill/>
        </p:spPr>
        <p:txBody>
          <a:bodyPr wrap="none" rtlCol="0">
            <a:spAutoFit/>
          </a:bodyPr>
          <a:lstStyle/>
          <a:p>
            <a:r>
              <a:rPr lang="en-US" altLang="zh-TW" sz="3200" dirty="0" smtClean="0"/>
              <a:t>= {(</a:t>
            </a:r>
            <a:r>
              <a:rPr lang="en-US" altLang="zh-TW" sz="3200" i="1" dirty="0" err="1" smtClean="0">
                <a:latin typeface="Times New Roman" pitchFamily="18" charset="0"/>
                <a:cs typeface="Times New Roman" pitchFamily="18" charset="0"/>
              </a:rPr>
              <a:t>i</a:t>
            </a:r>
            <a:r>
              <a:rPr lang="en-US" altLang="zh-TW" sz="3200" dirty="0" smtClean="0"/>
              <a:t>, </a:t>
            </a:r>
            <a:r>
              <a:rPr lang="en-US" altLang="zh-TW" sz="3200" i="1" dirty="0" smtClean="0">
                <a:latin typeface="Times New Roman" pitchFamily="18" charset="0"/>
                <a:cs typeface="Times New Roman" pitchFamily="18" charset="0"/>
              </a:rPr>
              <a:t>k</a:t>
            </a:r>
            <a:r>
              <a:rPr lang="en-US" altLang="zh-TW" sz="3200" dirty="0" smtClean="0"/>
              <a:t>)|</a:t>
            </a:r>
            <a:r>
              <a:rPr lang="en-US" altLang="zh-TW" sz="3200" i="1" dirty="0" err="1" smtClean="0">
                <a:latin typeface="Times New Roman" pitchFamily="18" charset="0"/>
                <a:cs typeface="Times New Roman" pitchFamily="18" charset="0"/>
              </a:rPr>
              <a:t>a</a:t>
            </a:r>
            <a:r>
              <a:rPr lang="en-US" altLang="zh-TW" sz="3200" baseline="-25000" dirty="0" err="1" smtClean="0"/>
              <a:t>i</a:t>
            </a:r>
            <a:r>
              <a:rPr lang="en-US" altLang="zh-TW" sz="3200" dirty="0" smtClean="0"/>
              <a:t>=</a:t>
            </a:r>
            <a:r>
              <a:rPr lang="en-US" altLang="zh-TW" sz="3200" i="1" dirty="0" err="1" smtClean="0">
                <a:latin typeface="Times New Roman" pitchFamily="18" charset="0"/>
                <a:cs typeface="Times New Roman" pitchFamily="18" charset="0"/>
              </a:rPr>
              <a:t>t</a:t>
            </a:r>
            <a:r>
              <a:rPr lang="en-US" altLang="zh-TW" sz="3200" baseline="-25000" dirty="0" err="1" smtClean="0"/>
              <a:t>k</a:t>
            </a:r>
            <a:r>
              <a:rPr lang="en-US" altLang="zh-TW" sz="3200" dirty="0" smtClean="0"/>
              <a:t>, 1</a:t>
            </a:r>
            <a:r>
              <a:rPr lang="zh-TW" altLang="en-US" sz="3200" dirty="0" smtClean="0"/>
              <a:t>≦</a:t>
            </a:r>
            <a:r>
              <a:rPr lang="en-US" altLang="zh-TW" sz="3200" i="1" dirty="0" err="1" smtClean="0">
                <a:latin typeface="Times New Roman" pitchFamily="18" charset="0"/>
                <a:cs typeface="Times New Roman" pitchFamily="18" charset="0"/>
              </a:rPr>
              <a:t>i</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A</a:t>
            </a:r>
            <a:r>
              <a:rPr lang="en-US" altLang="zh-TW" sz="3200" dirty="0" smtClean="0"/>
              <a:t>|, 1</a:t>
            </a:r>
            <a:r>
              <a:rPr lang="zh-TW" altLang="en-US" sz="3200" dirty="0" smtClean="0"/>
              <a:t>≦</a:t>
            </a:r>
            <a:r>
              <a:rPr lang="en-US" altLang="zh-TW" sz="3200" i="1" dirty="0" smtClean="0">
                <a:latin typeface="Times New Roman" pitchFamily="18" charset="0"/>
                <a:cs typeface="Times New Roman" pitchFamily="18" charset="0"/>
              </a:rPr>
              <a:t>k</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T</a:t>
            </a:r>
            <a:r>
              <a:rPr lang="en-US" altLang="zh-TW" sz="3200" dirty="0" smtClean="0"/>
              <a:t>|}</a:t>
            </a:r>
            <a:endParaRPr lang="zh-TW" altLang="en-US" sz="3200" dirty="0"/>
          </a:p>
        </p:txBody>
      </p:sp>
      <p:graphicFrame>
        <p:nvGraphicFramePr>
          <p:cNvPr id="7" name="Object 2"/>
          <p:cNvGraphicFramePr>
            <a:graphicFrameLocks noChangeAspect="1"/>
          </p:cNvGraphicFramePr>
          <p:nvPr/>
        </p:nvGraphicFramePr>
        <p:xfrm>
          <a:off x="514321" y="2071688"/>
          <a:ext cx="741363" cy="669925"/>
        </p:xfrm>
        <a:graphic>
          <a:graphicData uri="http://schemas.openxmlformats.org/presentationml/2006/ole">
            <p:oleObj spid="_x0000_s11267" name="Equation" r:id="rId4" imgW="266400" imgH="241200" progId="Equation.3">
              <p:embed/>
            </p:oleObj>
          </a:graphicData>
        </a:graphic>
      </p:graphicFrame>
      <p:sp>
        <p:nvSpPr>
          <p:cNvPr id="8" name="文字方塊 7"/>
          <p:cNvSpPr txBox="1"/>
          <p:nvPr/>
        </p:nvSpPr>
        <p:spPr>
          <a:xfrm>
            <a:off x="1200101" y="2098661"/>
            <a:ext cx="6429965" cy="584775"/>
          </a:xfrm>
          <a:prstGeom prst="rect">
            <a:avLst/>
          </a:prstGeom>
          <a:noFill/>
        </p:spPr>
        <p:txBody>
          <a:bodyPr wrap="none" rtlCol="0">
            <a:spAutoFit/>
          </a:bodyPr>
          <a:lstStyle/>
          <a:p>
            <a:r>
              <a:rPr lang="en-US" altLang="zh-TW" sz="3200" dirty="0" smtClean="0"/>
              <a:t>= {(</a:t>
            </a:r>
            <a:r>
              <a:rPr lang="en-US" altLang="zh-TW" sz="3200" i="1" dirty="0" smtClean="0">
                <a:latin typeface="Times New Roman" pitchFamily="18" charset="0"/>
                <a:cs typeface="Times New Roman" pitchFamily="18" charset="0"/>
              </a:rPr>
              <a:t>j</a:t>
            </a:r>
            <a:r>
              <a:rPr lang="en-US" altLang="zh-TW" sz="3200" dirty="0" smtClean="0"/>
              <a:t>, </a:t>
            </a:r>
            <a:r>
              <a:rPr lang="en-US" altLang="zh-TW" sz="3200" i="1" dirty="0" smtClean="0">
                <a:latin typeface="Times New Roman" pitchFamily="18" charset="0"/>
                <a:cs typeface="Times New Roman" pitchFamily="18" charset="0"/>
              </a:rPr>
              <a:t>k</a:t>
            </a:r>
            <a:r>
              <a:rPr lang="en-US" altLang="zh-TW" sz="3200" dirty="0" smtClean="0"/>
              <a:t>)|</a:t>
            </a:r>
            <a:r>
              <a:rPr lang="en-US" altLang="zh-TW" sz="3200" i="1" dirty="0" err="1" smtClean="0">
                <a:latin typeface="Times New Roman" pitchFamily="18" charset="0"/>
                <a:cs typeface="Times New Roman" pitchFamily="18" charset="0"/>
              </a:rPr>
              <a:t>b</a:t>
            </a:r>
            <a:r>
              <a:rPr lang="en-US" altLang="zh-TW" sz="3200" baseline="-25000" dirty="0" err="1" smtClean="0"/>
              <a:t>j</a:t>
            </a:r>
            <a:r>
              <a:rPr lang="en-US" altLang="zh-TW" sz="3200" dirty="0" smtClean="0"/>
              <a:t>=</a:t>
            </a:r>
            <a:r>
              <a:rPr lang="en-US" altLang="zh-TW" sz="3200" i="1" dirty="0" err="1" smtClean="0">
                <a:latin typeface="Times New Roman" pitchFamily="18" charset="0"/>
                <a:cs typeface="Times New Roman" pitchFamily="18" charset="0"/>
              </a:rPr>
              <a:t>t</a:t>
            </a:r>
            <a:r>
              <a:rPr lang="en-US" altLang="zh-TW" sz="3200" baseline="-25000" dirty="0" err="1" smtClean="0"/>
              <a:t>k</a:t>
            </a:r>
            <a:r>
              <a:rPr lang="en-US" altLang="zh-TW" sz="3200" dirty="0" smtClean="0"/>
              <a:t>, 1</a:t>
            </a:r>
            <a:r>
              <a:rPr lang="zh-TW" altLang="en-US" sz="3200" dirty="0" smtClean="0"/>
              <a:t>≦</a:t>
            </a:r>
            <a:r>
              <a:rPr lang="en-US" altLang="zh-TW" sz="3200" i="1" dirty="0" smtClean="0">
                <a:latin typeface="Times New Roman" pitchFamily="18" charset="0"/>
                <a:cs typeface="Times New Roman" pitchFamily="18" charset="0"/>
              </a:rPr>
              <a:t>j</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B</a:t>
            </a:r>
            <a:r>
              <a:rPr lang="en-US" altLang="zh-TW" sz="3200" dirty="0" smtClean="0"/>
              <a:t>|, 1</a:t>
            </a:r>
            <a:r>
              <a:rPr lang="zh-TW" altLang="en-US" sz="3200" dirty="0" smtClean="0"/>
              <a:t>≦</a:t>
            </a:r>
            <a:r>
              <a:rPr lang="en-US" altLang="zh-TW" sz="3200" i="1" dirty="0" smtClean="0">
                <a:latin typeface="Times New Roman" pitchFamily="18" charset="0"/>
                <a:cs typeface="Times New Roman" pitchFamily="18" charset="0"/>
              </a:rPr>
              <a:t>k</a:t>
            </a:r>
            <a:r>
              <a:rPr lang="zh-TW" altLang="en-US" sz="3200" dirty="0" smtClean="0"/>
              <a:t>≦</a:t>
            </a:r>
            <a:r>
              <a:rPr lang="en-US" altLang="zh-TW" sz="3200" dirty="0" smtClean="0"/>
              <a:t>|</a:t>
            </a:r>
            <a:r>
              <a:rPr lang="en-US" altLang="zh-TW" sz="3200" i="1" dirty="0" smtClean="0">
                <a:latin typeface="Times New Roman" pitchFamily="18" charset="0"/>
                <a:cs typeface="Times New Roman" pitchFamily="18" charset="0"/>
              </a:rPr>
              <a:t>T</a:t>
            </a:r>
            <a:r>
              <a:rPr lang="en-US" altLang="zh-TW" sz="3200" dirty="0" smtClean="0"/>
              <a:t>|}</a:t>
            </a:r>
            <a:endParaRPr lang="zh-TW" altLang="en-US" sz="3200" dirty="0"/>
          </a:p>
        </p:txBody>
      </p:sp>
      <p:sp>
        <p:nvSpPr>
          <p:cNvPr id="9" name="矩形 8"/>
          <p:cNvSpPr/>
          <p:nvPr/>
        </p:nvSpPr>
        <p:spPr>
          <a:xfrm>
            <a:off x="1500166" y="2786058"/>
            <a:ext cx="3280642" cy="584775"/>
          </a:xfrm>
          <a:prstGeom prst="rect">
            <a:avLst/>
          </a:prstGeom>
        </p:spPr>
        <p:txBody>
          <a:bodyPr wrap="none">
            <a:spAutoFit/>
          </a:bodyPr>
          <a:lstStyle/>
          <a:p>
            <a:r>
              <a:rPr lang="en-US" altLang="zh-TW" sz="3200" i="1" dirty="0" smtClean="0">
                <a:latin typeface="Times New Roman" pitchFamily="18" charset="0"/>
                <a:cs typeface="Times New Roman" pitchFamily="18" charset="0"/>
              </a:rPr>
              <a:t>A</a:t>
            </a:r>
            <a:r>
              <a:rPr lang="en-US" altLang="zh-TW" sz="3200" dirty="0" smtClean="0"/>
              <a:t> = </a:t>
            </a:r>
            <a:r>
              <a:rPr lang="en-US" altLang="zh-TW" sz="3200" i="1" dirty="0" err="1" smtClean="0">
                <a:latin typeface="Times New Roman" pitchFamily="18" charset="0"/>
                <a:cs typeface="Times New Roman" pitchFamily="18" charset="0"/>
              </a:rPr>
              <a:t>actt,T</a:t>
            </a:r>
            <a:r>
              <a:rPr lang="en-US" altLang="zh-TW" sz="3200" i="1" dirty="0" smtClean="0">
                <a:latin typeface="Times New Roman" pitchFamily="18" charset="0"/>
                <a:cs typeface="Times New Roman" pitchFamily="18" charset="0"/>
              </a:rPr>
              <a:t> </a:t>
            </a:r>
            <a:r>
              <a:rPr lang="en-US" altLang="zh-TW" sz="3200" dirty="0" smtClean="0"/>
              <a:t>=</a:t>
            </a:r>
            <a:r>
              <a:rPr lang="en-US" altLang="zh-TW" sz="3200" i="1" dirty="0" smtClean="0">
                <a:latin typeface="Times New Roman" pitchFamily="18" charset="0"/>
                <a:cs typeface="Times New Roman" pitchFamily="18" charset="0"/>
              </a:rPr>
              <a:t> </a:t>
            </a:r>
            <a:r>
              <a:rPr lang="en-US" altLang="zh-TW" sz="3200" i="1" dirty="0" err="1" smtClean="0">
                <a:latin typeface="Times New Roman" pitchFamily="18" charset="0"/>
                <a:cs typeface="Times New Roman" pitchFamily="18" charset="0"/>
              </a:rPr>
              <a:t>tcatcg</a:t>
            </a:r>
            <a:endParaRPr lang="en-US" altLang="zh-TW" sz="3200" i="1" dirty="0" smtClean="0">
              <a:latin typeface="Times New Roman" pitchFamily="18" charset="0"/>
              <a:cs typeface="Times New Roman" pitchFamily="18" charset="0"/>
            </a:endParaRPr>
          </a:p>
        </p:txBody>
      </p:sp>
      <p:pic>
        <p:nvPicPr>
          <p:cNvPr id="10" name="Picture 4"/>
          <p:cNvPicPr>
            <a:picLocks noChangeAspect="1" noChangeArrowheads="1"/>
          </p:cNvPicPr>
          <p:nvPr/>
        </p:nvPicPr>
        <p:blipFill>
          <a:blip r:embed="rId5"/>
          <a:srcRect/>
          <a:stretch>
            <a:fillRect/>
          </a:stretch>
        </p:blipFill>
        <p:spPr bwMode="auto">
          <a:xfrm>
            <a:off x="571472" y="3357562"/>
            <a:ext cx="4143403" cy="3290892"/>
          </a:xfrm>
          <a:prstGeom prst="rect">
            <a:avLst/>
          </a:prstGeom>
          <a:noFill/>
          <a:ln w="9525">
            <a:noFill/>
            <a:miter lim="800000"/>
            <a:headEnd/>
            <a:tailEnd/>
          </a:ln>
          <a:effectLst/>
        </p:spPr>
      </p:pic>
      <p:graphicFrame>
        <p:nvGraphicFramePr>
          <p:cNvPr id="11" name="Object 7"/>
          <p:cNvGraphicFramePr>
            <a:graphicFrameLocks noChangeAspect="1"/>
          </p:cNvGraphicFramePr>
          <p:nvPr/>
        </p:nvGraphicFramePr>
        <p:xfrm>
          <a:off x="4961306" y="4643446"/>
          <a:ext cx="741362" cy="669925"/>
        </p:xfrm>
        <a:graphic>
          <a:graphicData uri="http://schemas.openxmlformats.org/presentationml/2006/ole">
            <p:oleObj spid="_x0000_s11268" name="Equation" r:id="rId6" imgW="266400" imgH="241200" progId="Equation.3">
              <p:embed/>
            </p:oleObj>
          </a:graphicData>
        </a:graphic>
      </p:graphicFrame>
      <p:sp>
        <p:nvSpPr>
          <p:cNvPr id="12" name="文字方塊 11"/>
          <p:cNvSpPr txBox="1"/>
          <p:nvPr/>
        </p:nvSpPr>
        <p:spPr>
          <a:xfrm>
            <a:off x="5604248" y="4786322"/>
            <a:ext cx="3539752" cy="461665"/>
          </a:xfrm>
          <a:prstGeom prst="rect">
            <a:avLst/>
          </a:prstGeom>
          <a:noFill/>
        </p:spPr>
        <p:txBody>
          <a:bodyPr wrap="none" rtlCol="0">
            <a:spAutoFit/>
          </a:bodyPr>
          <a:lstStyle/>
          <a:p>
            <a:r>
              <a:rPr lang="en-US" altLang="zh-TW" sz="2400" dirty="0" smtClean="0"/>
              <a:t>={(1, 3), (2, 2), (3, 1), (3, 4)}</a:t>
            </a:r>
            <a:endParaRPr lang="zh-TW" altLang="en-US" sz="2400" dirty="0"/>
          </a:p>
        </p:txBody>
      </p:sp>
      <p:sp>
        <p:nvSpPr>
          <p:cNvPr id="13" name="文字方塊 12"/>
          <p:cNvSpPr txBox="1"/>
          <p:nvPr/>
        </p:nvSpPr>
        <p:spPr>
          <a:xfrm>
            <a:off x="5786446" y="5857892"/>
            <a:ext cx="1901483" cy="584775"/>
          </a:xfrm>
          <a:prstGeom prst="rect">
            <a:avLst/>
          </a:prstGeom>
          <a:noFill/>
        </p:spPr>
        <p:txBody>
          <a:bodyPr wrap="none" rtlCol="0">
            <a:spAutoFit/>
          </a:bodyPr>
          <a:lstStyle/>
          <a:p>
            <a:r>
              <a:rPr lang="en-US" altLang="zh-TW" sz="3200" dirty="0" smtClean="0"/>
              <a:t>O(|A||T|)</a:t>
            </a:r>
            <a:endParaRPr lang="zh-TW" alt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Construct the set M</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A</a:t>
            </a:r>
            <a:r>
              <a:rPr lang="en-US" altLang="zh-TW" dirty="0" smtClean="0"/>
              <a:t> = </a:t>
            </a:r>
            <a:r>
              <a:rPr lang="en-US" altLang="zh-TW" i="1" dirty="0" err="1" smtClean="0">
                <a:latin typeface="Times New Roman" pitchFamily="18" charset="0"/>
                <a:cs typeface="Times New Roman" pitchFamily="18" charset="0"/>
              </a:rPr>
              <a:t>actt,T</a:t>
            </a:r>
            <a:r>
              <a:rPr lang="en-US" altLang="zh-TW" i="1" dirty="0" smtClean="0">
                <a:latin typeface="Times New Roman" pitchFamily="18" charset="0"/>
                <a:cs typeface="Times New Roman" pitchFamily="18" charset="0"/>
              </a:rPr>
              <a:t> </a:t>
            </a:r>
            <a:r>
              <a:rPr lang="en-US" altLang="zh-TW" dirty="0" smtClean="0"/>
              <a:t>=</a:t>
            </a:r>
            <a:r>
              <a:rPr lang="en-US" altLang="zh-TW" i="1" dirty="0" smtClean="0">
                <a:latin typeface="Times New Roman" pitchFamily="18" charset="0"/>
                <a:cs typeface="Times New Roman" pitchFamily="18" charset="0"/>
              </a:rPr>
              <a:t> </a:t>
            </a:r>
            <a:r>
              <a:rPr lang="en-US" altLang="zh-TW" i="1" dirty="0" err="1" smtClean="0">
                <a:latin typeface="Times New Roman" pitchFamily="18" charset="0"/>
                <a:cs typeface="Times New Roman" pitchFamily="18" charset="0"/>
              </a:rPr>
              <a:t>tcatcg</a:t>
            </a:r>
            <a:endParaRPr lang="en-US" altLang="zh-TW" i="1" dirty="0" smtClean="0">
              <a:latin typeface="Times New Roman" pitchFamily="18" charset="0"/>
              <a:cs typeface="Times New Roman" pitchFamily="18" charset="0"/>
            </a:endParaRPr>
          </a:p>
          <a:p>
            <a:pPr>
              <a:buNone/>
            </a:pPr>
            <a:r>
              <a:rPr lang="en-US" altLang="zh-TW" dirty="0" smtClean="0"/>
              <a:t>L</a:t>
            </a:r>
            <a:r>
              <a:rPr lang="en-US" altLang="zh-TW" baseline="-25000" dirty="0" smtClean="0"/>
              <a:t>A</a:t>
            </a:r>
            <a:r>
              <a:rPr lang="en-US" altLang="zh-TW" dirty="0" smtClean="0"/>
              <a:t>[</a:t>
            </a:r>
            <a:r>
              <a:rPr lang="en-US" altLang="zh-TW" i="1" dirty="0" smtClean="0">
                <a:latin typeface="Times New Roman" pitchFamily="18" charset="0"/>
                <a:cs typeface="Times New Roman" pitchFamily="18" charset="0"/>
              </a:rPr>
              <a:t>a</a:t>
            </a:r>
            <a:r>
              <a:rPr lang="en-US" altLang="zh-TW" dirty="0" smtClean="0"/>
              <a:t>] = {1},     L</a:t>
            </a:r>
            <a:r>
              <a:rPr lang="en-US" altLang="zh-TW" baseline="-25000" dirty="0" smtClean="0"/>
              <a:t>T</a:t>
            </a:r>
            <a:r>
              <a:rPr lang="en-US" altLang="zh-TW" dirty="0" smtClean="0"/>
              <a:t>[</a:t>
            </a:r>
            <a:r>
              <a:rPr lang="en-US" altLang="zh-TW" i="1" dirty="0" smtClean="0">
                <a:latin typeface="Times New Roman" pitchFamily="18" charset="0"/>
                <a:cs typeface="Times New Roman" pitchFamily="18" charset="0"/>
              </a:rPr>
              <a:t>a</a:t>
            </a:r>
            <a:r>
              <a:rPr lang="en-US" altLang="zh-TW" dirty="0" smtClean="0"/>
              <a:t>] = {3}</a:t>
            </a:r>
          </a:p>
          <a:p>
            <a:pPr>
              <a:buNone/>
            </a:pPr>
            <a:r>
              <a:rPr lang="en-US" altLang="zh-TW" dirty="0" smtClean="0"/>
              <a:t>L</a:t>
            </a:r>
            <a:r>
              <a:rPr lang="en-US" altLang="zh-TW" baseline="-25000" dirty="0" smtClean="0"/>
              <a:t>A</a:t>
            </a:r>
            <a:r>
              <a:rPr lang="en-US" altLang="zh-TW" dirty="0" smtClean="0"/>
              <a:t>[</a:t>
            </a:r>
            <a:r>
              <a:rPr lang="en-US" altLang="zh-TW" i="1" dirty="0" smtClean="0">
                <a:latin typeface="Times New Roman" pitchFamily="18" charset="0"/>
                <a:cs typeface="Times New Roman" pitchFamily="18" charset="0"/>
              </a:rPr>
              <a:t>c</a:t>
            </a:r>
            <a:r>
              <a:rPr lang="en-US" altLang="zh-TW" dirty="0" smtClean="0"/>
              <a:t>] = {2},     L</a:t>
            </a:r>
            <a:r>
              <a:rPr lang="en-US" altLang="zh-TW" baseline="-25000" dirty="0" smtClean="0"/>
              <a:t>T</a:t>
            </a:r>
            <a:r>
              <a:rPr lang="en-US" altLang="zh-TW" dirty="0" smtClean="0"/>
              <a:t>[</a:t>
            </a:r>
            <a:r>
              <a:rPr lang="en-US" altLang="zh-TW" i="1" dirty="0" smtClean="0">
                <a:latin typeface="Times New Roman" pitchFamily="18" charset="0"/>
                <a:cs typeface="Times New Roman" pitchFamily="18" charset="0"/>
              </a:rPr>
              <a:t>c</a:t>
            </a:r>
            <a:r>
              <a:rPr lang="en-US" altLang="zh-TW" dirty="0" smtClean="0"/>
              <a:t>] = {2, 5}</a:t>
            </a:r>
            <a:endParaRPr lang="zh-TW" altLang="en-US" dirty="0" smtClean="0"/>
          </a:p>
          <a:p>
            <a:pPr>
              <a:buNone/>
            </a:pPr>
            <a:r>
              <a:rPr lang="en-US" altLang="zh-TW" dirty="0" smtClean="0"/>
              <a:t>L</a:t>
            </a:r>
            <a:r>
              <a:rPr lang="en-US" altLang="zh-TW" baseline="-25000" dirty="0" smtClean="0"/>
              <a:t>A</a:t>
            </a:r>
            <a:r>
              <a:rPr lang="en-US" altLang="zh-TW" dirty="0" smtClean="0"/>
              <a:t>[</a:t>
            </a:r>
            <a:r>
              <a:rPr lang="en-US" altLang="zh-TW" i="1" dirty="0" smtClean="0">
                <a:latin typeface="Times New Roman" pitchFamily="18" charset="0"/>
                <a:cs typeface="Times New Roman" pitchFamily="18" charset="0"/>
              </a:rPr>
              <a:t>g</a:t>
            </a:r>
            <a:r>
              <a:rPr lang="en-US" altLang="zh-TW" dirty="0" smtClean="0"/>
              <a:t>] = {},       L</a:t>
            </a:r>
            <a:r>
              <a:rPr lang="en-US" altLang="zh-TW" baseline="-25000" dirty="0" smtClean="0"/>
              <a:t>T</a:t>
            </a:r>
            <a:r>
              <a:rPr lang="en-US" altLang="zh-TW" dirty="0" smtClean="0"/>
              <a:t>[</a:t>
            </a:r>
            <a:r>
              <a:rPr lang="en-US" altLang="zh-TW" i="1" dirty="0" smtClean="0">
                <a:latin typeface="Times New Roman" pitchFamily="18" charset="0"/>
                <a:cs typeface="Times New Roman" pitchFamily="18" charset="0"/>
              </a:rPr>
              <a:t>g</a:t>
            </a:r>
            <a:r>
              <a:rPr lang="en-US" altLang="zh-TW" dirty="0" smtClean="0"/>
              <a:t>] = {6}</a:t>
            </a:r>
            <a:endParaRPr lang="zh-TW" altLang="en-US" dirty="0" smtClean="0"/>
          </a:p>
          <a:p>
            <a:pPr>
              <a:buNone/>
            </a:pPr>
            <a:r>
              <a:rPr lang="en-US" altLang="zh-TW" dirty="0" smtClean="0"/>
              <a:t>L</a:t>
            </a:r>
            <a:r>
              <a:rPr lang="en-US" altLang="zh-TW" baseline="-25000" dirty="0" smtClean="0"/>
              <a:t>A</a:t>
            </a:r>
            <a:r>
              <a:rPr lang="en-US" altLang="zh-TW" dirty="0" smtClean="0"/>
              <a:t>[</a:t>
            </a:r>
            <a:r>
              <a:rPr lang="en-US" altLang="zh-TW" i="1" dirty="0" smtClean="0">
                <a:latin typeface="Times New Roman" pitchFamily="18" charset="0"/>
                <a:cs typeface="Times New Roman" pitchFamily="18" charset="0"/>
              </a:rPr>
              <a:t>t</a:t>
            </a:r>
            <a:r>
              <a:rPr lang="en-US" altLang="zh-TW" dirty="0" smtClean="0"/>
              <a:t>] = {3, 4}, L</a:t>
            </a:r>
            <a:r>
              <a:rPr lang="en-US" altLang="zh-TW" baseline="-25000" dirty="0" smtClean="0"/>
              <a:t>T</a:t>
            </a:r>
            <a:r>
              <a:rPr lang="en-US" altLang="zh-TW" dirty="0" smtClean="0"/>
              <a:t>[</a:t>
            </a:r>
            <a:r>
              <a:rPr lang="en-US" altLang="zh-TW" i="1" dirty="0" smtClean="0">
                <a:latin typeface="Times New Roman" pitchFamily="18" charset="0"/>
                <a:cs typeface="Times New Roman" pitchFamily="18" charset="0"/>
              </a:rPr>
              <a:t>t</a:t>
            </a:r>
            <a:r>
              <a:rPr lang="en-US" altLang="zh-TW" dirty="0" smtClean="0"/>
              <a:t>] = {1, 4}</a:t>
            </a:r>
            <a:endParaRPr lang="zh-TW" altLang="en-US" dirty="0" smtClean="0"/>
          </a:p>
          <a:p>
            <a:pPr>
              <a:buNone/>
            </a:pP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19</a:t>
            </a:fld>
            <a:endParaRPr lang="zh-TW" altLang="en-US"/>
          </a:p>
        </p:txBody>
      </p:sp>
      <p:sp>
        <p:nvSpPr>
          <p:cNvPr id="5" name="文字方塊 4"/>
          <p:cNvSpPr txBox="1"/>
          <p:nvPr/>
        </p:nvSpPr>
        <p:spPr>
          <a:xfrm>
            <a:off x="285720" y="4857760"/>
            <a:ext cx="7607660" cy="954107"/>
          </a:xfrm>
          <a:prstGeom prst="rect">
            <a:avLst/>
          </a:prstGeom>
          <a:noFill/>
        </p:spPr>
        <p:txBody>
          <a:bodyPr wrap="none" rtlCol="0">
            <a:spAutoFit/>
          </a:bodyPr>
          <a:lstStyle/>
          <a:p>
            <a:r>
              <a:rPr lang="en-US" altLang="zh-TW" sz="2800" dirty="0" smtClean="0"/>
              <a:t>We construct an </a:t>
            </a:r>
            <a:r>
              <a:rPr lang="en-US" altLang="zh-TW" sz="2800" dirty="0" err="1" smtClean="0"/>
              <a:t>Emde</a:t>
            </a:r>
            <a:r>
              <a:rPr lang="en-US" altLang="zh-TW" sz="2800" dirty="0" smtClean="0"/>
              <a:t> Boas data structure </a:t>
            </a:r>
            <a:r>
              <a:rPr lang="en-US" altLang="zh-TW" sz="2800" dirty="0" err="1" smtClean="0"/>
              <a:t>Ep</a:t>
            </a:r>
            <a:r>
              <a:rPr lang="en-US" altLang="zh-TW" sz="2800" dirty="0" smtClean="0"/>
              <a:t> </a:t>
            </a:r>
          </a:p>
          <a:p>
            <a:r>
              <a:rPr lang="en-US" altLang="zh-TW" sz="2800" dirty="0" smtClean="0"/>
              <a:t>where we insert each pair(</a:t>
            </a:r>
            <a:r>
              <a:rPr lang="en-US" altLang="zh-TW" sz="2800" i="1" dirty="0" err="1" smtClean="0">
                <a:latin typeface="Times New Roman" pitchFamily="18" charset="0"/>
                <a:cs typeface="Times New Roman" pitchFamily="18" charset="0"/>
              </a:rPr>
              <a:t>i</a:t>
            </a:r>
            <a:r>
              <a:rPr lang="en-US" altLang="zh-TW" sz="2800" dirty="0" err="1" smtClean="0"/>
              <a:t>,</a:t>
            </a:r>
            <a:r>
              <a:rPr lang="en-US" altLang="zh-TW" sz="2800" i="1" dirty="0" err="1" smtClean="0">
                <a:latin typeface="Times New Roman" pitchFamily="18" charset="0"/>
                <a:cs typeface="Times New Roman" pitchFamily="18" charset="0"/>
              </a:rPr>
              <a:t>j</a:t>
            </a:r>
            <a:r>
              <a:rPr lang="en-US" altLang="zh-TW" sz="2800" dirty="0" smtClean="0"/>
              <a:t>), </a:t>
            </a:r>
            <a:r>
              <a:rPr lang="en-US" altLang="zh-TW" sz="2800" i="1" dirty="0" err="1" smtClean="0">
                <a:latin typeface="Times New Roman" pitchFamily="18" charset="0"/>
                <a:cs typeface="Times New Roman" pitchFamily="18" charset="0"/>
              </a:rPr>
              <a:t>i</a:t>
            </a:r>
            <a:r>
              <a:rPr lang="zh-TW" altLang="en-US" sz="2800" dirty="0" smtClean="0"/>
              <a:t>∈</a:t>
            </a:r>
            <a:r>
              <a:rPr lang="en-US" altLang="zh-TW" sz="2800" dirty="0" smtClean="0"/>
              <a:t>L</a:t>
            </a:r>
            <a:r>
              <a:rPr lang="en-US" altLang="zh-TW" sz="2800" baseline="-25000" dirty="0" smtClean="0"/>
              <a:t>A</a:t>
            </a:r>
            <a:r>
              <a:rPr lang="en-US" altLang="zh-TW" sz="2800" dirty="0" smtClean="0"/>
              <a:t>[a], </a:t>
            </a:r>
            <a:r>
              <a:rPr lang="en-US" altLang="zh-TW" sz="2800" i="1" dirty="0" smtClean="0">
                <a:latin typeface="Times New Roman" pitchFamily="18" charset="0"/>
                <a:cs typeface="Times New Roman" pitchFamily="18" charset="0"/>
              </a:rPr>
              <a:t>j</a:t>
            </a:r>
            <a:r>
              <a:rPr lang="zh-TW" altLang="en-US" sz="2800" dirty="0" smtClean="0"/>
              <a:t>∈</a:t>
            </a:r>
            <a:r>
              <a:rPr lang="en-US" altLang="zh-TW" sz="2800" dirty="0" smtClean="0"/>
              <a:t>L</a:t>
            </a:r>
            <a:r>
              <a:rPr lang="en-US" altLang="zh-TW" sz="2800" baseline="-25000" dirty="0" smtClean="0"/>
              <a:t>T</a:t>
            </a:r>
            <a:r>
              <a:rPr lang="en-US" altLang="zh-TW" sz="2800" dirty="0" smtClean="0"/>
              <a:t>[a], a</a:t>
            </a:r>
            <a:r>
              <a:rPr lang="zh-TW" altLang="en-US" sz="2800" dirty="0" smtClean="0"/>
              <a:t>∈∑</a:t>
            </a:r>
            <a:endParaRPr lang="zh-TW" altLang="en-US" sz="2800" dirty="0"/>
          </a:p>
        </p:txBody>
      </p:sp>
      <p:sp>
        <p:nvSpPr>
          <p:cNvPr id="6" name="文字方塊 5"/>
          <p:cNvSpPr txBox="1"/>
          <p:nvPr/>
        </p:nvSpPr>
        <p:spPr>
          <a:xfrm>
            <a:off x="571472" y="5857892"/>
            <a:ext cx="4846198" cy="461665"/>
          </a:xfrm>
          <a:prstGeom prst="rect">
            <a:avLst/>
          </a:prstGeom>
          <a:noFill/>
        </p:spPr>
        <p:txBody>
          <a:bodyPr wrap="none" rtlCol="0">
            <a:spAutoFit/>
          </a:bodyPr>
          <a:lstStyle/>
          <a:p>
            <a:r>
              <a:rPr lang="en-US" altLang="zh-TW" sz="2400" dirty="0" smtClean="0"/>
              <a:t>O(loglog</a:t>
            </a:r>
            <a:r>
              <a:rPr lang="en-US" altLang="zh-TW" sz="2400" i="1" dirty="0" smtClean="0">
                <a:latin typeface="Times New Roman" pitchFamily="18" charset="0"/>
                <a:cs typeface="Times New Roman" pitchFamily="18" charset="0"/>
              </a:rPr>
              <a:t>n</a:t>
            </a:r>
            <a:r>
              <a:rPr lang="en-US" altLang="zh-TW" sz="2400" baseline="30000" dirty="0" smtClean="0"/>
              <a:t>2</a:t>
            </a:r>
            <a:r>
              <a:rPr lang="en-US" altLang="zh-TW" sz="2400" dirty="0" smtClean="0"/>
              <a:t>) = O(</a:t>
            </a:r>
            <a:r>
              <a:rPr lang="en-US" altLang="zh-TW" sz="2400" dirty="0" err="1" smtClean="0"/>
              <a:t>loglog</a:t>
            </a:r>
            <a:r>
              <a:rPr lang="en-US" altLang="zh-TW" sz="2400" i="1" dirty="0" err="1" smtClean="0">
                <a:latin typeface="Times New Roman" pitchFamily="18" charset="0"/>
                <a:cs typeface="Times New Roman" pitchFamily="18" charset="0"/>
              </a:rPr>
              <a:t>n</a:t>
            </a:r>
            <a:r>
              <a:rPr lang="en-US" altLang="zh-TW" sz="2400" dirty="0" smtClean="0"/>
              <a:t>) per insertion</a:t>
            </a:r>
            <a:endParaRPr lang="zh-TW" altLang="en-US" sz="2400" dirty="0"/>
          </a:p>
        </p:txBody>
      </p:sp>
      <p:graphicFrame>
        <p:nvGraphicFramePr>
          <p:cNvPr id="7" name="Object 7"/>
          <p:cNvGraphicFramePr>
            <a:graphicFrameLocks noChangeAspect="1"/>
          </p:cNvGraphicFramePr>
          <p:nvPr/>
        </p:nvGraphicFramePr>
        <p:xfrm>
          <a:off x="4961306" y="2714620"/>
          <a:ext cx="741362" cy="669925"/>
        </p:xfrm>
        <a:graphic>
          <a:graphicData uri="http://schemas.openxmlformats.org/presentationml/2006/ole">
            <p:oleObj spid="_x0000_s12290" name="Equation" r:id="rId3" imgW="266400" imgH="241200" progId="Equation.3">
              <p:embed/>
            </p:oleObj>
          </a:graphicData>
        </a:graphic>
      </p:graphicFrame>
      <p:sp>
        <p:nvSpPr>
          <p:cNvPr id="8" name="文字方塊 7"/>
          <p:cNvSpPr txBox="1"/>
          <p:nvPr/>
        </p:nvSpPr>
        <p:spPr>
          <a:xfrm>
            <a:off x="5604248" y="2857496"/>
            <a:ext cx="3589444" cy="830997"/>
          </a:xfrm>
          <a:prstGeom prst="rect">
            <a:avLst/>
          </a:prstGeom>
          <a:noFill/>
        </p:spPr>
        <p:txBody>
          <a:bodyPr wrap="none" rtlCol="0">
            <a:spAutoFit/>
          </a:bodyPr>
          <a:lstStyle/>
          <a:p>
            <a:r>
              <a:rPr lang="en-US" altLang="zh-TW" sz="2400" dirty="0" smtClean="0"/>
              <a:t>={(1, 3), (2, 2), (2,5),</a:t>
            </a:r>
          </a:p>
          <a:p>
            <a:r>
              <a:rPr lang="en-US" altLang="zh-TW" sz="2400" dirty="0" smtClean="0"/>
              <a:t>    (3, 1), (3, 4), (4,1), (4, 4))}</a:t>
            </a:r>
            <a:endParaRPr lang="zh-TW" altLang="en-US" sz="2400" dirty="0"/>
          </a:p>
        </p:txBody>
      </p:sp>
      <p:sp>
        <p:nvSpPr>
          <p:cNvPr id="9" name="文字方塊 8"/>
          <p:cNvSpPr txBox="1"/>
          <p:nvPr/>
        </p:nvSpPr>
        <p:spPr>
          <a:xfrm>
            <a:off x="571472" y="6253483"/>
            <a:ext cx="6315127" cy="461665"/>
          </a:xfrm>
          <a:prstGeom prst="rect">
            <a:avLst/>
          </a:prstGeom>
          <a:noFill/>
        </p:spPr>
        <p:txBody>
          <a:bodyPr wrap="none" rtlCol="0">
            <a:spAutoFit/>
          </a:bodyPr>
          <a:lstStyle/>
          <a:p>
            <a:r>
              <a:rPr lang="en-US" altLang="zh-TW" sz="2400" dirty="0" smtClean="0"/>
              <a:t>require O(</a:t>
            </a:r>
            <a:r>
              <a:rPr lang="en-US" altLang="zh-TW" sz="2400" i="1" dirty="0" err="1" smtClean="0">
                <a:latin typeface="Times New Roman" pitchFamily="18" charset="0"/>
                <a:cs typeface="Times New Roman" pitchFamily="18" charset="0"/>
              </a:rPr>
              <a:t>R</a:t>
            </a:r>
            <a:r>
              <a:rPr lang="en-US" altLang="zh-TW" sz="2400" dirty="0" err="1" smtClean="0"/>
              <a:t>loglog</a:t>
            </a:r>
            <a:r>
              <a:rPr lang="en-US" altLang="zh-TW" sz="2400" i="1" dirty="0" err="1" smtClean="0">
                <a:latin typeface="Times New Roman" pitchFamily="18" charset="0"/>
                <a:cs typeface="Times New Roman" pitchFamily="18" charset="0"/>
              </a:rPr>
              <a:t>n</a:t>
            </a:r>
            <a:r>
              <a:rPr lang="en-US" altLang="zh-TW" sz="2400" i="1" dirty="0" smtClean="0">
                <a:latin typeface="Times New Roman" pitchFamily="18" charset="0"/>
                <a:cs typeface="Times New Roman" pitchFamily="18" charset="0"/>
              </a:rPr>
              <a:t> + n</a:t>
            </a:r>
            <a:r>
              <a:rPr lang="en-US" altLang="zh-TW" sz="2400" dirty="0" smtClean="0"/>
              <a:t>) time to compute the set </a:t>
            </a:r>
            <a:endParaRPr lang="zh-TW" altLang="en-US" sz="2400" dirty="0"/>
          </a:p>
        </p:txBody>
      </p:sp>
      <p:graphicFrame>
        <p:nvGraphicFramePr>
          <p:cNvPr id="12291" name="Object 3"/>
          <p:cNvGraphicFramePr>
            <a:graphicFrameLocks noChangeAspect="1"/>
          </p:cNvGraphicFramePr>
          <p:nvPr/>
        </p:nvGraphicFramePr>
        <p:xfrm>
          <a:off x="6715140" y="6143644"/>
          <a:ext cx="571504" cy="614368"/>
        </p:xfrm>
        <a:graphic>
          <a:graphicData uri="http://schemas.openxmlformats.org/presentationml/2006/ole">
            <p:oleObj spid="_x0000_s12291" name="Equation" r:id="rId4" imgW="266400" imgH="241200" progId="Equation.3">
              <p:embed/>
            </p:oleObj>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Construct the set M</a:t>
            </a:r>
            <a:endParaRPr lang="zh-TW" altLang="en-US" dirty="0"/>
          </a:p>
        </p:txBody>
      </p:sp>
      <p:sp>
        <p:nvSpPr>
          <p:cNvPr id="3" name="內容版面配置區 2"/>
          <p:cNvSpPr>
            <a:spLocks noGrp="1"/>
          </p:cNvSpPr>
          <p:nvPr>
            <p:ph idx="1"/>
          </p:nvPr>
        </p:nvSpPr>
        <p:spPr/>
        <p:txBody>
          <a:bodyPr>
            <a:normAutofit/>
          </a:bodyPr>
          <a:lstStyle/>
          <a:p>
            <a:pPr>
              <a:buNone/>
            </a:pPr>
            <a:r>
              <a:rPr lang="en-US" altLang="zh-TW" i="1" dirty="0" smtClean="0">
                <a:latin typeface="Times New Roman" pitchFamily="18" charset="0"/>
                <a:cs typeface="Times New Roman" pitchFamily="18" charset="0"/>
              </a:rPr>
              <a:t>A</a:t>
            </a:r>
            <a:r>
              <a:rPr lang="en-US" altLang="zh-TW" dirty="0" smtClean="0"/>
              <a:t> = </a:t>
            </a:r>
            <a:r>
              <a:rPr lang="en-US" altLang="zh-TW" i="1" dirty="0" err="1" smtClean="0">
                <a:latin typeface="Times New Roman" pitchFamily="18" charset="0"/>
                <a:cs typeface="Times New Roman" pitchFamily="18" charset="0"/>
              </a:rPr>
              <a:t>aaa</a:t>
            </a:r>
            <a:r>
              <a:rPr lang="en-US" altLang="zh-TW" i="1" dirty="0" smtClean="0">
                <a:latin typeface="Times New Roman" pitchFamily="18" charset="0"/>
                <a:cs typeface="Times New Roman" pitchFamily="18" charset="0"/>
              </a:rPr>
              <a:t>, B</a:t>
            </a:r>
            <a:r>
              <a:rPr lang="en-US" altLang="zh-TW" dirty="0" smtClean="0"/>
              <a:t> = </a:t>
            </a:r>
            <a:r>
              <a:rPr lang="en-US" altLang="zh-TW" i="1" dirty="0" err="1" smtClean="0">
                <a:latin typeface="Times New Roman" pitchFamily="18" charset="0"/>
                <a:cs typeface="Times New Roman" pitchFamily="18" charset="0"/>
              </a:rPr>
              <a:t>aaa</a:t>
            </a:r>
            <a:r>
              <a:rPr lang="en-US" altLang="zh-TW" i="1" dirty="0" smtClean="0">
                <a:latin typeface="Times New Roman" pitchFamily="18" charset="0"/>
                <a:cs typeface="Times New Roman" pitchFamily="18" charset="0"/>
              </a:rPr>
              <a:t>, T </a:t>
            </a:r>
            <a:r>
              <a:rPr lang="en-US" altLang="zh-TW" dirty="0" smtClean="0"/>
              <a:t>=</a:t>
            </a:r>
            <a:r>
              <a:rPr lang="en-US" altLang="zh-TW" i="1" dirty="0" smtClean="0">
                <a:latin typeface="Times New Roman" pitchFamily="18" charset="0"/>
                <a:cs typeface="Times New Roman" pitchFamily="18" charset="0"/>
              </a:rPr>
              <a:t> </a:t>
            </a:r>
            <a:r>
              <a:rPr lang="en-US" altLang="zh-TW" i="1" dirty="0" err="1" smtClean="0">
                <a:latin typeface="Times New Roman" pitchFamily="18" charset="0"/>
                <a:cs typeface="Times New Roman" pitchFamily="18" charset="0"/>
              </a:rPr>
              <a:t>aaaaaa</a:t>
            </a:r>
            <a:endParaRPr lang="en-US" altLang="zh-TW" i="1" dirty="0" smtClean="0">
              <a:latin typeface="Times New Roman" pitchFamily="18" charset="0"/>
              <a:cs typeface="Times New Roman" pitchFamily="18" charset="0"/>
            </a:endParaRPr>
          </a:p>
          <a:p>
            <a:pPr>
              <a:buNone/>
            </a:pPr>
            <a:r>
              <a:rPr lang="en-US" altLang="zh-TW" dirty="0" smtClean="0"/>
              <a:t>L</a:t>
            </a:r>
            <a:r>
              <a:rPr lang="en-US" altLang="zh-TW" baseline="-25000" dirty="0" smtClean="0"/>
              <a:t>A</a:t>
            </a:r>
            <a:r>
              <a:rPr lang="en-US" altLang="zh-TW" dirty="0" smtClean="0"/>
              <a:t>[</a:t>
            </a:r>
            <a:r>
              <a:rPr lang="en-US" altLang="zh-TW" i="1" dirty="0" smtClean="0">
                <a:latin typeface="Times New Roman" pitchFamily="18" charset="0"/>
                <a:cs typeface="Times New Roman" pitchFamily="18" charset="0"/>
              </a:rPr>
              <a:t>a</a:t>
            </a:r>
            <a:r>
              <a:rPr lang="en-US" altLang="zh-TW" dirty="0" smtClean="0"/>
              <a:t>] = {</a:t>
            </a:r>
            <a:r>
              <a:rPr lang="en-US" altLang="zh-TW" dirty="0" smtClean="0"/>
              <a:t>1, 2, 3},     </a:t>
            </a:r>
            <a:r>
              <a:rPr lang="en-US" altLang="zh-TW" dirty="0" smtClean="0"/>
              <a:t>L</a:t>
            </a:r>
            <a:r>
              <a:rPr lang="en-US" altLang="zh-TW" baseline="-25000" dirty="0" smtClean="0"/>
              <a:t>T</a:t>
            </a:r>
            <a:r>
              <a:rPr lang="en-US" altLang="zh-TW" dirty="0" smtClean="0"/>
              <a:t>[</a:t>
            </a:r>
            <a:r>
              <a:rPr lang="en-US" altLang="zh-TW" i="1" dirty="0" smtClean="0">
                <a:latin typeface="Times New Roman" pitchFamily="18" charset="0"/>
                <a:cs typeface="Times New Roman" pitchFamily="18" charset="0"/>
              </a:rPr>
              <a:t>a</a:t>
            </a:r>
            <a:r>
              <a:rPr lang="en-US" altLang="zh-TW" dirty="0" smtClean="0"/>
              <a:t>] = </a:t>
            </a:r>
            <a:r>
              <a:rPr lang="en-US" altLang="zh-TW" dirty="0" smtClean="0"/>
              <a:t>{1, 2, 3, 4, 5, 6}</a:t>
            </a:r>
            <a:endParaRPr lang="en-US" altLang="zh-TW" dirty="0" smtClean="0"/>
          </a:p>
          <a:p>
            <a:pPr>
              <a:buNone/>
            </a:pPr>
            <a:r>
              <a:rPr lang="en-US" altLang="zh-TW" dirty="0" smtClean="0"/>
              <a:t>O(</a:t>
            </a:r>
            <a:r>
              <a:rPr lang="en-US" altLang="zh-TW" dirty="0" err="1" smtClean="0"/>
              <a:t>loglog</a:t>
            </a:r>
            <a:r>
              <a:rPr lang="en-US" altLang="zh-TW" i="1" dirty="0" err="1" smtClean="0">
                <a:latin typeface="Times New Roman" pitchFamily="18" charset="0"/>
                <a:cs typeface="Times New Roman" pitchFamily="18" charset="0"/>
              </a:rPr>
              <a:t>n</a:t>
            </a:r>
            <a:r>
              <a:rPr lang="en-US" altLang="zh-TW" dirty="0" smtClean="0"/>
              <a:t>) per insertion</a:t>
            </a:r>
            <a:endParaRPr lang="en-US" altLang="zh-TW" dirty="0" smtClean="0"/>
          </a:p>
          <a:p>
            <a:endParaRPr lang="en-US" altLang="zh-TW" dirty="0" smtClean="0"/>
          </a:p>
          <a:p>
            <a:r>
              <a:rPr lang="en-US" altLang="zh-TW" dirty="0" smtClean="0"/>
              <a:t>O(</a:t>
            </a:r>
            <a:r>
              <a:rPr lang="en-US" altLang="zh-TW" i="1" dirty="0" smtClean="0">
                <a:latin typeface="Times New Roman" pitchFamily="18" charset="0"/>
                <a:cs typeface="Times New Roman" pitchFamily="18" charset="0"/>
              </a:rPr>
              <a:t>R</a:t>
            </a:r>
            <a:r>
              <a:rPr lang="en-US" altLang="zh-TW" dirty="0" smtClean="0">
                <a:cs typeface="Times New Roman" pitchFamily="18" charset="0"/>
              </a:rPr>
              <a:t>) = O(|</a:t>
            </a:r>
            <a:r>
              <a:rPr lang="en-US" altLang="zh-TW" i="1" dirty="0" smtClean="0">
                <a:latin typeface="Times New Roman" pitchFamily="18" charset="0"/>
                <a:cs typeface="Times New Roman" pitchFamily="18" charset="0"/>
              </a:rPr>
              <a:t>A</a:t>
            </a:r>
            <a:r>
              <a:rPr lang="en-US" altLang="zh-TW" dirty="0" smtClean="0">
                <a:cs typeface="Times New Roman" pitchFamily="18" charset="0"/>
              </a:rPr>
              <a:t>||</a:t>
            </a:r>
            <a:r>
              <a:rPr lang="en-US" altLang="zh-TW" i="1" dirty="0" smtClean="0">
                <a:latin typeface="Times New Roman" pitchFamily="18" charset="0"/>
                <a:cs typeface="Times New Roman" pitchFamily="18" charset="0"/>
              </a:rPr>
              <a:t>T</a:t>
            </a:r>
            <a:r>
              <a:rPr lang="en-US" altLang="zh-TW" dirty="0" smtClean="0">
                <a:cs typeface="Times New Roman" pitchFamily="18" charset="0"/>
              </a:rPr>
              <a:t>|) and </a:t>
            </a:r>
            <a:r>
              <a:rPr lang="en-US" altLang="zh-TW" dirty="0" smtClean="0"/>
              <a:t>O(</a:t>
            </a:r>
            <a:r>
              <a:rPr lang="en-US" altLang="zh-TW" i="1" dirty="0" smtClean="0">
                <a:latin typeface="Times New Roman" pitchFamily="18" charset="0"/>
                <a:cs typeface="Times New Roman" pitchFamily="18" charset="0"/>
              </a:rPr>
              <a:t>P</a:t>
            </a:r>
            <a:r>
              <a:rPr lang="en-US" altLang="zh-TW" dirty="0" smtClean="0">
                <a:cs typeface="Times New Roman" pitchFamily="18" charset="0"/>
              </a:rPr>
              <a:t>) </a:t>
            </a:r>
            <a:r>
              <a:rPr lang="en-US" altLang="zh-TW" dirty="0" smtClean="0">
                <a:cs typeface="Times New Roman" pitchFamily="18" charset="0"/>
              </a:rPr>
              <a:t>= O</a:t>
            </a:r>
            <a:r>
              <a:rPr lang="en-US" altLang="zh-TW" dirty="0" smtClean="0">
                <a:cs typeface="Times New Roman" pitchFamily="18" charset="0"/>
              </a:rPr>
              <a:t>(|</a:t>
            </a:r>
            <a:r>
              <a:rPr lang="en-US" altLang="zh-TW" i="1" dirty="0" smtClean="0">
                <a:latin typeface="Times New Roman" pitchFamily="18" charset="0"/>
                <a:cs typeface="Times New Roman" pitchFamily="18" charset="0"/>
              </a:rPr>
              <a:t>B</a:t>
            </a:r>
            <a:r>
              <a:rPr lang="en-US" altLang="zh-TW" dirty="0" smtClean="0">
                <a:cs typeface="Times New Roman" pitchFamily="18" charset="0"/>
              </a:rPr>
              <a:t>||</a:t>
            </a:r>
            <a:r>
              <a:rPr lang="en-US" altLang="zh-TW" i="1" dirty="0" smtClean="0">
                <a:latin typeface="Times New Roman" pitchFamily="18" charset="0"/>
                <a:cs typeface="Times New Roman" pitchFamily="18" charset="0"/>
              </a:rPr>
              <a:t>T</a:t>
            </a:r>
            <a:r>
              <a:rPr lang="en-US" altLang="zh-TW" dirty="0" smtClean="0">
                <a:cs typeface="Times New Roman" pitchFamily="18" charset="0"/>
              </a:rPr>
              <a:t>|) </a:t>
            </a:r>
            <a:r>
              <a:rPr lang="en-US" altLang="zh-TW" dirty="0" smtClean="0"/>
              <a:t>in </a:t>
            </a:r>
            <a:r>
              <a:rPr lang="en-US" altLang="zh-TW" dirty="0" smtClean="0"/>
              <a:t>the worst case.</a:t>
            </a:r>
            <a:endParaRPr lang="en-US" altLang="zh-TW" i="1" dirty="0" smtClean="0">
              <a:latin typeface="Times New Roman" pitchFamily="18" charset="0"/>
              <a:cs typeface="Times New Roman" pitchFamily="18" charset="0"/>
            </a:endParaRP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21</a:t>
            </a:fld>
            <a:endParaRPr lang="zh-TW" altLang="en-US"/>
          </a:p>
        </p:txBody>
      </p:sp>
      <p:sp>
        <p:nvSpPr>
          <p:cNvPr id="5" name="投影片編號版面配置區 3"/>
          <p:cNvSpPr txBox="1">
            <a:spLocks/>
          </p:cNvSpPr>
          <p:nvPr/>
        </p:nvSpPr>
        <p:spPr>
          <a:xfrm>
            <a:off x="6553200" y="63563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73DA0BB7-265A-403C-9275-D587AB510EDC}" type="slidenum">
              <a:rPr kumimoji="0" lang="zh-TW" altLang="en-US" sz="12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TW"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6" name="Picture 2"/>
          <p:cNvPicPr>
            <a:picLocks noChangeAspect="1" noChangeArrowheads="1"/>
          </p:cNvPicPr>
          <p:nvPr/>
        </p:nvPicPr>
        <p:blipFill>
          <a:blip r:embed="rId3"/>
          <a:srcRect/>
          <a:stretch>
            <a:fillRect/>
          </a:stretch>
        </p:blipFill>
        <p:spPr bwMode="auto">
          <a:xfrm>
            <a:off x="0" y="0"/>
            <a:ext cx="4514850" cy="6858000"/>
          </a:xfrm>
          <a:prstGeom prst="rect">
            <a:avLst/>
          </a:prstGeom>
          <a:noFill/>
          <a:ln w="9525">
            <a:noFill/>
            <a:miter lim="800000"/>
            <a:headEnd/>
            <a:tailEnd/>
          </a:ln>
          <a:effectLst/>
        </p:spPr>
      </p:pic>
      <p:sp>
        <p:nvSpPr>
          <p:cNvPr id="7" name="文字方塊 6"/>
          <p:cNvSpPr txBox="1"/>
          <p:nvPr/>
        </p:nvSpPr>
        <p:spPr>
          <a:xfrm>
            <a:off x="4643438" y="285728"/>
            <a:ext cx="4164666" cy="584775"/>
          </a:xfrm>
          <a:prstGeom prst="rect">
            <a:avLst/>
          </a:prstGeom>
          <a:noFill/>
        </p:spPr>
        <p:txBody>
          <a:bodyPr wrap="none" rtlCol="0">
            <a:spAutoFit/>
          </a:bodyPr>
          <a:lstStyle/>
          <a:p>
            <a:r>
              <a:rPr lang="en-US" altLang="zh-TW" sz="3200" dirty="0" smtClean="0"/>
              <a:t>Algorithm MLCS(A, B, T)</a:t>
            </a:r>
            <a:endParaRPr lang="zh-TW" altLang="en-US" sz="3200" dirty="0"/>
          </a:p>
        </p:txBody>
      </p:sp>
      <p:sp>
        <p:nvSpPr>
          <p:cNvPr id="8" name="矩形 7"/>
          <p:cNvSpPr/>
          <p:nvPr/>
        </p:nvSpPr>
        <p:spPr>
          <a:xfrm>
            <a:off x="5072066" y="2500306"/>
            <a:ext cx="4071934" cy="1077218"/>
          </a:xfrm>
          <a:prstGeom prst="rect">
            <a:avLst/>
          </a:prstGeom>
        </p:spPr>
        <p:txBody>
          <a:bodyPr wrap="square">
            <a:spAutoFit/>
          </a:bodyPr>
          <a:lstStyle/>
          <a:p>
            <a:r>
              <a:rPr lang="en-US" altLang="zh-TW" sz="3200" dirty="0" smtClean="0"/>
              <a:t>O((</a:t>
            </a:r>
            <a:r>
              <a:rPr lang="en-US" altLang="zh-TW" sz="3200" i="1" dirty="0" err="1" smtClean="0">
                <a:latin typeface="Times New Roman" pitchFamily="18" charset="0"/>
                <a:cs typeface="Times New Roman" pitchFamily="18" charset="0"/>
              </a:rPr>
              <a:t>Rr</a:t>
            </a:r>
            <a:r>
              <a:rPr lang="en-US" altLang="zh-TW" sz="3200" dirty="0" smtClean="0"/>
              <a:t> + </a:t>
            </a:r>
            <a:r>
              <a:rPr lang="en-US" altLang="zh-TW" sz="3200" i="1" dirty="0" smtClean="0">
                <a:latin typeface="Times New Roman" pitchFamily="18" charset="0"/>
                <a:cs typeface="Times New Roman" pitchFamily="18" charset="0"/>
              </a:rPr>
              <a:t>Pm</a:t>
            </a:r>
            <a:r>
              <a:rPr lang="en-US" altLang="zh-TW" sz="3200" dirty="0" smtClean="0"/>
              <a:t>)</a:t>
            </a:r>
            <a:r>
              <a:rPr lang="en-US" altLang="zh-TW" sz="3200" dirty="0" err="1" smtClean="0"/>
              <a:t>loglog</a:t>
            </a:r>
            <a:r>
              <a:rPr lang="en-US" altLang="zh-TW" sz="3200" i="1" dirty="0" err="1" smtClean="0">
                <a:latin typeface="Times New Roman" pitchFamily="18" charset="0"/>
                <a:cs typeface="Times New Roman" pitchFamily="18" charset="0"/>
              </a:rPr>
              <a:t>r</a:t>
            </a:r>
            <a:r>
              <a:rPr lang="en-US" altLang="zh-TW" sz="3200" dirty="0" smtClean="0"/>
              <a:t>)</a:t>
            </a:r>
          </a:p>
          <a:p>
            <a:r>
              <a:rPr lang="en-US" altLang="zh-TW" sz="3200" dirty="0" smtClean="0"/>
              <a:t>  |     |=</a:t>
            </a:r>
            <a:r>
              <a:rPr lang="en-US" altLang="zh-TW" sz="3200" i="1" dirty="0" smtClean="0">
                <a:latin typeface="Times New Roman" pitchFamily="18" charset="0"/>
                <a:cs typeface="Times New Roman" pitchFamily="18" charset="0"/>
              </a:rPr>
              <a:t>R, </a:t>
            </a:r>
            <a:r>
              <a:rPr lang="en-US" altLang="zh-TW" sz="3200" dirty="0" smtClean="0"/>
              <a:t>|     |=</a:t>
            </a:r>
            <a:r>
              <a:rPr lang="en-US" altLang="zh-TW" sz="3200" i="1" dirty="0" smtClean="0">
                <a:latin typeface="Times New Roman" pitchFamily="18" charset="0"/>
                <a:cs typeface="Times New Roman" pitchFamily="18" charset="0"/>
              </a:rPr>
              <a:t>P </a:t>
            </a:r>
            <a:endParaRPr lang="zh-TW" altLang="en-US" sz="3200" i="1" dirty="0">
              <a:latin typeface="Times New Roman" pitchFamily="18" charset="0"/>
              <a:cs typeface="Times New Roman" pitchFamily="18" charset="0"/>
            </a:endParaRPr>
          </a:p>
        </p:txBody>
      </p:sp>
      <p:graphicFrame>
        <p:nvGraphicFramePr>
          <p:cNvPr id="13314" name="Object 2"/>
          <p:cNvGraphicFramePr>
            <a:graphicFrameLocks noChangeAspect="1"/>
          </p:cNvGraphicFramePr>
          <p:nvPr/>
        </p:nvGraphicFramePr>
        <p:xfrm>
          <a:off x="5429256" y="3000372"/>
          <a:ext cx="669925" cy="669925"/>
        </p:xfrm>
        <a:graphic>
          <a:graphicData uri="http://schemas.openxmlformats.org/presentationml/2006/ole">
            <p:oleObj spid="_x0000_s13314" name="Equation" r:id="rId4" imgW="266400" imgH="241200" progId="Equation.3">
              <p:embed/>
            </p:oleObj>
          </a:graphicData>
        </a:graphic>
      </p:graphicFrame>
      <p:graphicFrame>
        <p:nvGraphicFramePr>
          <p:cNvPr id="13315" name="Object 3"/>
          <p:cNvGraphicFramePr>
            <a:graphicFrameLocks noChangeAspect="1"/>
          </p:cNvGraphicFramePr>
          <p:nvPr/>
        </p:nvGraphicFramePr>
        <p:xfrm>
          <a:off x="6929438" y="2982913"/>
          <a:ext cx="669925" cy="706437"/>
        </p:xfrm>
        <a:graphic>
          <a:graphicData uri="http://schemas.openxmlformats.org/presentationml/2006/ole">
            <p:oleObj spid="_x0000_s13315" name="Equation" r:id="rId5" imgW="266400" imgH="253800" progId="Equation.3">
              <p:embed/>
            </p:oleObj>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p:cNvPicPr>
            <a:picLocks noChangeAspect="1" noChangeArrowheads="1"/>
          </p:cNvPicPr>
          <p:nvPr/>
        </p:nvPicPr>
        <p:blipFill>
          <a:blip r:embed="rId3"/>
          <a:srcRect/>
          <a:stretch>
            <a:fillRect/>
          </a:stretch>
        </p:blipFill>
        <p:spPr bwMode="auto">
          <a:xfrm>
            <a:off x="5929323" y="71414"/>
            <a:ext cx="3214678" cy="2647492"/>
          </a:xfrm>
          <a:prstGeom prst="rect">
            <a:avLst/>
          </a:prstGeom>
          <a:noFill/>
          <a:ln w="9525">
            <a:noFill/>
            <a:miter lim="800000"/>
            <a:headEnd/>
            <a:tailEnd/>
          </a:ln>
          <a:effectLst/>
        </p:spPr>
      </p:pic>
      <p:sp>
        <p:nvSpPr>
          <p:cNvPr id="3" name="內容版面配置區 2"/>
          <p:cNvSpPr>
            <a:spLocks noGrp="1"/>
          </p:cNvSpPr>
          <p:nvPr>
            <p:ph idx="1"/>
          </p:nvPr>
        </p:nvSpPr>
        <p:spPr>
          <a:xfrm>
            <a:off x="457200" y="142852"/>
            <a:ext cx="8229600" cy="5983311"/>
          </a:xfrm>
        </p:spPr>
        <p:txBody>
          <a:bodyPr/>
          <a:lstStyle/>
          <a:p>
            <a:pPr>
              <a:buNone/>
            </a:pPr>
            <a:r>
              <a:rPr lang="en-US" altLang="zh-TW" i="1" dirty="0" smtClean="0">
                <a:latin typeface="Times New Roman" pitchFamily="18" charset="0"/>
                <a:cs typeface="Times New Roman" pitchFamily="18" charset="0"/>
              </a:rPr>
              <a:t>A</a:t>
            </a:r>
            <a:r>
              <a:rPr lang="en-US" altLang="zh-TW" dirty="0" smtClean="0"/>
              <a:t> = </a:t>
            </a:r>
            <a:r>
              <a:rPr lang="en-US" altLang="zh-TW" i="1" dirty="0" err="1" smtClean="0">
                <a:latin typeface="Times New Roman" pitchFamily="18" charset="0"/>
                <a:cs typeface="Times New Roman" pitchFamily="18" charset="0"/>
              </a:rPr>
              <a:t>actt</a:t>
            </a:r>
            <a:r>
              <a:rPr lang="en-US" altLang="zh-TW" i="1" dirty="0" smtClean="0">
                <a:latin typeface="Times New Roman" pitchFamily="18" charset="0"/>
                <a:cs typeface="Times New Roman" pitchFamily="18" charset="0"/>
              </a:rPr>
              <a:t>, B</a:t>
            </a:r>
            <a:r>
              <a:rPr lang="en-US" altLang="zh-TW" dirty="0" smtClean="0"/>
              <a:t> = </a:t>
            </a:r>
            <a:r>
              <a:rPr lang="en-US" altLang="zh-TW" i="1" dirty="0" err="1" smtClean="0">
                <a:latin typeface="Times New Roman" pitchFamily="18" charset="0"/>
                <a:cs typeface="Times New Roman" pitchFamily="18" charset="0"/>
              </a:rPr>
              <a:t>ctg</a:t>
            </a:r>
            <a:r>
              <a:rPr lang="en-US" altLang="zh-TW" i="1" dirty="0" smtClean="0">
                <a:latin typeface="Times New Roman" pitchFamily="18" charset="0"/>
                <a:cs typeface="Times New Roman" pitchFamily="18" charset="0"/>
              </a:rPr>
              <a:t>, T </a:t>
            </a:r>
            <a:r>
              <a:rPr lang="en-US" altLang="zh-TW" dirty="0" smtClean="0"/>
              <a:t>=</a:t>
            </a:r>
            <a:r>
              <a:rPr lang="en-US" altLang="zh-TW" i="1" dirty="0" smtClean="0">
                <a:latin typeface="Times New Roman" pitchFamily="18" charset="0"/>
                <a:cs typeface="Times New Roman" pitchFamily="18" charset="0"/>
              </a:rPr>
              <a:t> </a:t>
            </a:r>
            <a:r>
              <a:rPr lang="en-US" altLang="zh-TW" i="1" dirty="0" err="1" smtClean="0">
                <a:latin typeface="Times New Roman" pitchFamily="18" charset="0"/>
                <a:cs typeface="Times New Roman" pitchFamily="18" charset="0"/>
              </a:rPr>
              <a:t>tcatcg</a:t>
            </a:r>
            <a:endParaRPr lang="en-US" altLang="zh-TW" i="1" dirty="0" smtClean="0">
              <a:latin typeface="Times New Roman" pitchFamily="18" charset="0"/>
              <a:cs typeface="Times New Roman" pitchFamily="18" charset="0"/>
            </a:endParaRPr>
          </a:p>
          <a:p>
            <a:pPr>
              <a:buNone/>
            </a:pPr>
            <a:r>
              <a:rPr lang="en-US" altLang="zh-TW" sz="2400" dirty="0" smtClean="0"/>
              <a:t>={(1, 3), (2, 2), (2, 5), (3, 1), (3, 4), (4, 1), (4, 4)}</a:t>
            </a:r>
          </a:p>
          <a:p>
            <a:pPr>
              <a:buNone/>
            </a:pPr>
            <a:r>
              <a:rPr lang="en-US" altLang="zh-TW" sz="2400" dirty="0" smtClean="0"/>
              <a:t>={(1, 2), (1, 5), (2, 1), (2, 4), (3, 6)}</a:t>
            </a:r>
          </a:p>
          <a:p>
            <a:pPr>
              <a:buNone/>
            </a:pPr>
            <a:endParaRPr lang="en-US" altLang="zh-TW" sz="2400" dirty="0" smtClean="0"/>
          </a:p>
          <a:p>
            <a:pPr>
              <a:buNone/>
            </a:pPr>
            <a:r>
              <a:rPr lang="en-US" altLang="zh-TW" dirty="0" smtClean="0"/>
              <a:t>k = 1, (2, 1)</a:t>
            </a:r>
            <a:r>
              <a:rPr lang="zh-TW" altLang="en-US" dirty="0" smtClean="0"/>
              <a:t> ∈ </a:t>
            </a:r>
            <a:endParaRPr lang="en-US" altLang="zh-TW" dirty="0" smtClean="0"/>
          </a:p>
          <a:p>
            <a:pPr>
              <a:buNone/>
            </a:pPr>
            <a:r>
              <a:rPr lang="en-US" altLang="zh-TW" dirty="0" smtClean="0"/>
              <a:t>max = </a:t>
            </a:r>
            <a:r>
              <a:rPr lang="en-US" altLang="zh-TW" dirty="0" err="1" smtClean="0"/>
              <a:t>BoundMax</a:t>
            </a:r>
            <a:r>
              <a:rPr lang="en-US" altLang="zh-TW" dirty="0" smtClean="0"/>
              <a:t>(      , 2) = 0</a:t>
            </a:r>
          </a:p>
          <a:p>
            <a:pPr>
              <a:buNone/>
            </a:pPr>
            <a:r>
              <a:rPr lang="en-US" altLang="zh-TW" dirty="0" smtClean="0"/>
              <a:t>L</a:t>
            </a:r>
            <a:r>
              <a:rPr lang="en-US" altLang="zh-TW" baseline="-25000" dirty="0" smtClean="0"/>
              <a:t>1</a:t>
            </a:r>
            <a:r>
              <a:rPr lang="en-US" altLang="zh-TW" dirty="0" smtClean="0"/>
              <a:t>(0 ,2) = 1</a:t>
            </a:r>
          </a:p>
          <a:p>
            <a:pPr>
              <a:buNone/>
            </a:pPr>
            <a:endParaRPr lang="en-US" altLang="zh-TW" dirty="0" smtClean="0"/>
          </a:p>
          <a:p>
            <a:pPr>
              <a:buNone/>
            </a:pPr>
            <a:r>
              <a:rPr lang="en-US" altLang="zh-TW" dirty="0" smtClean="0"/>
              <a:t>      = </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22</a:t>
            </a:fld>
            <a:endParaRPr lang="zh-TW" altLang="en-US"/>
          </a:p>
        </p:txBody>
      </p:sp>
      <p:graphicFrame>
        <p:nvGraphicFramePr>
          <p:cNvPr id="14338" name="Object 2"/>
          <p:cNvGraphicFramePr>
            <a:graphicFrameLocks noChangeAspect="1"/>
          </p:cNvGraphicFramePr>
          <p:nvPr/>
        </p:nvGraphicFramePr>
        <p:xfrm>
          <a:off x="71406" y="687373"/>
          <a:ext cx="527049" cy="527049"/>
        </p:xfrm>
        <a:graphic>
          <a:graphicData uri="http://schemas.openxmlformats.org/presentationml/2006/ole">
            <p:oleObj spid="_x0000_s14338" name="Equation" r:id="rId4" imgW="266400" imgH="241200" progId="Equation.3">
              <p:embed/>
            </p:oleObj>
          </a:graphicData>
        </a:graphic>
      </p:graphicFrame>
      <p:graphicFrame>
        <p:nvGraphicFramePr>
          <p:cNvPr id="14339" name="Object 3"/>
          <p:cNvGraphicFramePr>
            <a:graphicFrameLocks noChangeAspect="1"/>
          </p:cNvGraphicFramePr>
          <p:nvPr/>
        </p:nvGraphicFramePr>
        <p:xfrm>
          <a:off x="-32" y="1071546"/>
          <a:ext cx="527050" cy="554038"/>
        </p:xfrm>
        <a:graphic>
          <a:graphicData uri="http://schemas.openxmlformats.org/presentationml/2006/ole">
            <p:oleObj spid="_x0000_s14339" name="Equation" r:id="rId5" imgW="266400" imgH="253800" progId="Equation.3">
              <p:embed/>
            </p:oleObj>
          </a:graphicData>
        </a:graphic>
      </p:graphicFrame>
      <p:pic>
        <p:nvPicPr>
          <p:cNvPr id="9" name="Picture 2"/>
          <p:cNvPicPr>
            <a:picLocks noChangeAspect="1" noChangeArrowheads="1"/>
          </p:cNvPicPr>
          <p:nvPr/>
        </p:nvPicPr>
        <p:blipFill>
          <a:blip r:embed="rId6"/>
          <a:srcRect/>
          <a:stretch>
            <a:fillRect/>
          </a:stretch>
        </p:blipFill>
        <p:spPr bwMode="auto">
          <a:xfrm>
            <a:off x="5786446" y="3286124"/>
            <a:ext cx="3205311" cy="2214578"/>
          </a:xfrm>
          <a:prstGeom prst="rect">
            <a:avLst/>
          </a:prstGeom>
          <a:noFill/>
          <a:ln w="9525">
            <a:noFill/>
            <a:miter lim="800000"/>
            <a:headEnd/>
            <a:tailEnd/>
          </a:ln>
          <a:effectLst/>
        </p:spPr>
      </p:pic>
      <p:graphicFrame>
        <p:nvGraphicFramePr>
          <p:cNvPr id="14342" name="Object 6"/>
          <p:cNvGraphicFramePr>
            <a:graphicFrameLocks noChangeAspect="1"/>
          </p:cNvGraphicFramePr>
          <p:nvPr/>
        </p:nvGraphicFramePr>
        <p:xfrm>
          <a:off x="2714612" y="2071678"/>
          <a:ext cx="611624" cy="642942"/>
        </p:xfrm>
        <a:graphic>
          <a:graphicData uri="http://schemas.openxmlformats.org/presentationml/2006/ole">
            <p:oleObj spid="_x0000_s14342" name="Equation" r:id="rId7" imgW="266400" imgH="253800" progId="Equation.3">
              <p:embed/>
            </p:oleObj>
          </a:graphicData>
        </a:graphic>
      </p:graphicFrame>
      <p:graphicFrame>
        <p:nvGraphicFramePr>
          <p:cNvPr id="14343" name="Object 7"/>
          <p:cNvGraphicFramePr>
            <a:graphicFrameLocks noChangeAspect="1"/>
          </p:cNvGraphicFramePr>
          <p:nvPr/>
        </p:nvGraphicFramePr>
        <p:xfrm>
          <a:off x="3575050" y="2659063"/>
          <a:ext cx="523875" cy="611187"/>
        </p:xfrm>
        <a:graphic>
          <a:graphicData uri="http://schemas.openxmlformats.org/presentationml/2006/ole">
            <p:oleObj spid="_x0000_s14343" name="Equation" r:id="rId8" imgW="228600" imgH="241200" progId="Equation.3">
              <p:embed/>
            </p:oleObj>
          </a:graphicData>
        </a:graphic>
      </p:graphicFrame>
      <p:graphicFrame>
        <p:nvGraphicFramePr>
          <p:cNvPr id="14344" name="Object 8"/>
          <p:cNvGraphicFramePr>
            <a:graphicFrameLocks noChangeAspect="1"/>
          </p:cNvGraphicFramePr>
          <p:nvPr/>
        </p:nvGraphicFramePr>
        <p:xfrm>
          <a:off x="514350" y="4357688"/>
          <a:ext cx="493713" cy="611187"/>
        </p:xfrm>
        <a:graphic>
          <a:graphicData uri="http://schemas.openxmlformats.org/presentationml/2006/ole">
            <p:oleObj spid="_x0000_s14344" name="Equation" r:id="rId9" imgW="215640" imgH="241200" progId="Equation.3">
              <p:embed/>
            </p:oleObj>
          </a:graphicData>
        </a:graphic>
      </p:graphicFrame>
      <p:graphicFrame>
        <p:nvGraphicFramePr>
          <p:cNvPr id="13" name="表格 12"/>
          <p:cNvGraphicFramePr>
            <a:graphicFrameLocks noGrp="1"/>
          </p:cNvGraphicFramePr>
          <p:nvPr/>
        </p:nvGraphicFramePr>
        <p:xfrm>
          <a:off x="1285852" y="4357694"/>
          <a:ext cx="2000264" cy="731520"/>
        </p:xfrm>
        <a:graphic>
          <a:graphicData uri="http://schemas.openxmlformats.org/drawingml/2006/table">
            <a:tbl>
              <a:tblPr firstRow="1" bandRow="1">
                <a:tableStyleId>{5940675A-B579-460E-94D1-54222C63F5DA}</a:tableStyleId>
              </a:tblPr>
              <a:tblGrid>
                <a:gridCol w="500066"/>
                <a:gridCol w="500066"/>
                <a:gridCol w="500066"/>
                <a:gridCol w="500066"/>
              </a:tblGrid>
              <a:tr h="357190">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57190">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0</a:t>
                      </a:r>
                      <a:endParaRPr lang="zh-TW" altLang="en-US" dirty="0"/>
                    </a:p>
                  </a:txBody>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23</a:t>
            </a:fld>
            <a:endParaRPr lang="zh-TW" altLang="en-US"/>
          </a:p>
        </p:txBody>
      </p:sp>
      <p:pic>
        <p:nvPicPr>
          <p:cNvPr id="5" name="Picture 2"/>
          <p:cNvPicPr>
            <a:picLocks noChangeAspect="1" noChangeArrowheads="1"/>
          </p:cNvPicPr>
          <p:nvPr/>
        </p:nvPicPr>
        <p:blipFill>
          <a:blip r:embed="rId3"/>
          <a:srcRect/>
          <a:stretch>
            <a:fillRect/>
          </a:stretch>
        </p:blipFill>
        <p:spPr bwMode="auto">
          <a:xfrm>
            <a:off x="0" y="0"/>
            <a:ext cx="4514850" cy="6858000"/>
          </a:xfrm>
          <a:prstGeom prst="rect">
            <a:avLst/>
          </a:prstGeom>
          <a:noFill/>
          <a:ln w="9525">
            <a:noFill/>
            <a:miter lim="800000"/>
            <a:headEnd/>
            <a:tailEnd/>
          </a:ln>
          <a:effectLst/>
        </p:spPr>
      </p:pic>
      <p:sp>
        <p:nvSpPr>
          <p:cNvPr id="6" name="文字方塊 5"/>
          <p:cNvSpPr txBox="1"/>
          <p:nvPr/>
        </p:nvSpPr>
        <p:spPr>
          <a:xfrm>
            <a:off x="4643438" y="285728"/>
            <a:ext cx="4164666" cy="584775"/>
          </a:xfrm>
          <a:prstGeom prst="rect">
            <a:avLst/>
          </a:prstGeom>
          <a:noFill/>
        </p:spPr>
        <p:txBody>
          <a:bodyPr wrap="none" rtlCol="0">
            <a:spAutoFit/>
          </a:bodyPr>
          <a:lstStyle/>
          <a:p>
            <a:r>
              <a:rPr lang="en-US" altLang="zh-TW" sz="3200" dirty="0" smtClean="0"/>
              <a:t>Algorithm MLCS(A, B, T)</a:t>
            </a:r>
            <a:endParaRPr lang="zh-TW" altLang="en-US" sz="3200" dirty="0"/>
          </a:p>
        </p:txBody>
      </p:sp>
      <p:sp>
        <p:nvSpPr>
          <p:cNvPr id="7" name="矩形 6"/>
          <p:cNvSpPr/>
          <p:nvPr/>
        </p:nvSpPr>
        <p:spPr>
          <a:xfrm>
            <a:off x="5072066" y="2500306"/>
            <a:ext cx="4071934" cy="1077218"/>
          </a:xfrm>
          <a:prstGeom prst="rect">
            <a:avLst/>
          </a:prstGeom>
        </p:spPr>
        <p:txBody>
          <a:bodyPr wrap="square">
            <a:spAutoFit/>
          </a:bodyPr>
          <a:lstStyle/>
          <a:p>
            <a:r>
              <a:rPr lang="en-US" altLang="zh-TW" sz="3200" dirty="0" smtClean="0"/>
              <a:t>O((</a:t>
            </a:r>
            <a:r>
              <a:rPr lang="en-US" altLang="zh-TW" sz="3200" i="1" dirty="0" err="1" smtClean="0">
                <a:latin typeface="Times New Roman" pitchFamily="18" charset="0"/>
                <a:cs typeface="Times New Roman" pitchFamily="18" charset="0"/>
              </a:rPr>
              <a:t>Rr</a:t>
            </a:r>
            <a:r>
              <a:rPr lang="en-US" altLang="zh-TW" sz="3200" dirty="0" smtClean="0"/>
              <a:t> + </a:t>
            </a:r>
            <a:r>
              <a:rPr lang="en-US" altLang="zh-TW" sz="3200" i="1" dirty="0" smtClean="0">
                <a:latin typeface="Times New Roman" pitchFamily="18" charset="0"/>
                <a:cs typeface="Times New Roman" pitchFamily="18" charset="0"/>
              </a:rPr>
              <a:t>Pm</a:t>
            </a:r>
            <a:r>
              <a:rPr lang="en-US" altLang="zh-TW" sz="3200" dirty="0" smtClean="0"/>
              <a:t>)</a:t>
            </a:r>
            <a:r>
              <a:rPr lang="en-US" altLang="zh-TW" sz="3200" dirty="0" err="1" smtClean="0"/>
              <a:t>loglog</a:t>
            </a:r>
            <a:r>
              <a:rPr lang="en-US" altLang="zh-TW" sz="3200" i="1" dirty="0" err="1" smtClean="0">
                <a:latin typeface="Times New Roman" pitchFamily="18" charset="0"/>
                <a:cs typeface="Times New Roman" pitchFamily="18" charset="0"/>
              </a:rPr>
              <a:t>r</a:t>
            </a:r>
            <a:r>
              <a:rPr lang="en-US" altLang="zh-TW" sz="3200" dirty="0" smtClean="0"/>
              <a:t>)</a:t>
            </a:r>
          </a:p>
          <a:p>
            <a:r>
              <a:rPr lang="en-US" altLang="zh-TW" sz="3200" dirty="0" smtClean="0"/>
              <a:t>  |     |=</a:t>
            </a:r>
            <a:r>
              <a:rPr lang="en-US" altLang="zh-TW" sz="3200" i="1" dirty="0" smtClean="0">
                <a:latin typeface="Times New Roman" pitchFamily="18" charset="0"/>
                <a:cs typeface="Times New Roman" pitchFamily="18" charset="0"/>
              </a:rPr>
              <a:t>R, </a:t>
            </a:r>
            <a:r>
              <a:rPr lang="en-US" altLang="zh-TW" sz="3200" dirty="0" smtClean="0"/>
              <a:t>|     |=</a:t>
            </a:r>
            <a:r>
              <a:rPr lang="en-US" altLang="zh-TW" sz="3200" i="1" dirty="0" smtClean="0">
                <a:latin typeface="Times New Roman" pitchFamily="18" charset="0"/>
                <a:cs typeface="Times New Roman" pitchFamily="18" charset="0"/>
              </a:rPr>
              <a:t>P </a:t>
            </a:r>
            <a:endParaRPr lang="zh-TW" altLang="en-US" sz="3200" i="1" dirty="0">
              <a:latin typeface="Times New Roman" pitchFamily="18" charset="0"/>
              <a:cs typeface="Times New Roman" pitchFamily="18" charset="0"/>
            </a:endParaRPr>
          </a:p>
        </p:txBody>
      </p:sp>
      <p:graphicFrame>
        <p:nvGraphicFramePr>
          <p:cNvPr id="8" name="Object 2"/>
          <p:cNvGraphicFramePr>
            <a:graphicFrameLocks noChangeAspect="1"/>
          </p:cNvGraphicFramePr>
          <p:nvPr/>
        </p:nvGraphicFramePr>
        <p:xfrm>
          <a:off x="5429256" y="3000372"/>
          <a:ext cx="669925" cy="669925"/>
        </p:xfrm>
        <a:graphic>
          <a:graphicData uri="http://schemas.openxmlformats.org/presentationml/2006/ole">
            <p:oleObj spid="_x0000_s16386" name="Equation" r:id="rId4" imgW="266400" imgH="241200" progId="Equation.3">
              <p:embed/>
            </p:oleObj>
          </a:graphicData>
        </a:graphic>
      </p:graphicFrame>
      <p:graphicFrame>
        <p:nvGraphicFramePr>
          <p:cNvPr id="9" name="Object 3"/>
          <p:cNvGraphicFramePr>
            <a:graphicFrameLocks noChangeAspect="1"/>
          </p:cNvGraphicFramePr>
          <p:nvPr/>
        </p:nvGraphicFramePr>
        <p:xfrm>
          <a:off x="6929438" y="2982913"/>
          <a:ext cx="669925" cy="706437"/>
        </p:xfrm>
        <a:graphic>
          <a:graphicData uri="http://schemas.openxmlformats.org/presentationml/2006/ole">
            <p:oleObj spid="_x0000_s16387" name="Equation" r:id="rId5" imgW="266400" imgH="253800" progId="Equation.3">
              <p:embed/>
            </p:oleObj>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5" name="Picture 7"/>
          <p:cNvPicPr>
            <a:picLocks noChangeAspect="1" noChangeArrowheads="1"/>
          </p:cNvPicPr>
          <p:nvPr/>
        </p:nvPicPr>
        <p:blipFill>
          <a:blip r:embed="rId3"/>
          <a:srcRect/>
          <a:stretch>
            <a:fillRect/>
          </a:stretch>
        </p:blipFill>
        <p:spPr bwMode="auto">
          <a:xfrm>
            <a:off x="6000760" y="0"/>
            <a:ext cx="3143240" cy="2752648"/>
          </a:xfrm>
          <a:prstGeom prst="rect">
            <a:avLst/>
          </a:prstGeom>
          <a:noFill/>
          <a:ln w="9525">
            <a:noFill/>
            <a:miter lim="800000"/>
            <a:headEnd/>
            <a:tailEnd/>
          </a:ln>
          <a:effectLst/>
        </p:spPr>
      </p:pic>
      <p:sp>
        <p:nvSpPr>
          <p:cNvPr id="4" name="投影片編號版面配置區 3"/>
          <p:cNvSpPr>
            <a:spLocks noGrp="1"/>
          </p:cNvSpPr>
          <p:nvPr>
            <p:ph type="sldNum" sz="quarter" idx="12"/>
          </p:nvPr>
        </p:nvSpPr>
        <p:spPr/>
        <p:txBody>
          <a:bodyPr/>
          <a:lstStyle/>
          <a:p>
            <a:fld id="{73DA0BB7-265A-403C-9275-D587AB510EDC}" type="slidenum">
              <a:rPr lang="zh-TW" altLang="en-US" smtClean="0"/>
              <a:pPr/>
              <a:t>24</a:t>
            </a:fld>
            <a:endParaRPr lang="zh-TW" altLang="en-US"/>
          </a:p>
        </p:txBody>
      </p:sp>
      <p:sp>
        <p:nvSpPr>
          <p:cNvPr id="6" name="內容版面配置區 2"/>
          <p:cNvSpPr>
            <a:spLocks noGrp="1"/>
          </p:cNvSpPr>
          <p:nvPr>
            <p:ph idx="1"/>
          </p:nvPr>
        </p:nvSpPr>
        <p:spPr>
          <a:xfrm>
            <a:off x="457200" y="142852"/>
            <a:ext cx="8229600" cy="5983311"/>
          </a:xfrm>
        </p:spPr>
        <p:txBody>
          <a:bodyPr/>
          <a:lstStyle/>
          <a:p>
            <a:pPr>
              <a:buNone/>
            </a:pPr>
            <a:r>
              <a:rPr lang="en-US" altLang="zh-TW" i="1" dirty="0" smtClean="0">
                <a:latin typeface="Times New Roman" pitchFamily="18" charset="0"/>
                <a:cs typeface="Times New Roman" pitchFamily="18" charset="0"/>
              </a:rPr>
              <a:t>A</a:t>
            </a:r>
            <a:r>
              <a:rPr lang="en-US" altLang="zh-TW" dirty="0" smtClean="0"/>
              <a:t> = </a:t>
            </a:r>
            <a:r>
              <a:rPr lang="en-US" altLang="zh-TW" i="1" dirty="0" err="1" smtClean="0">
                <a:latin typeface="Times New Roman" pitchFamily="18" charset="0"/>
                <a:cs typeface="Times New Roman" pitchFamily="18" charset="0"/>
              </a:rPr>
              <a:t>actt</a:t>
            </a:r>
            <a:r>
              <a:rPr lang="en-US" altLang="zh-TW" i="1" dirty="0" smtClean="0">
                <a:latin typeface="Times New Roman" pitchFamily="18" charset="0"/>
                <a:cs typeface="Times New Roman" pitchFamily="18" charset="0"/>
              </a:rPr>
              <a:t>, B</a:t>
            </a:r>
            <a:r>
              <a:rPr lang="en-US" altLang="zh-TW" dirty="0" smtClean="0"/>
              <a:t> = </a:t>
            </a:r>
            <a:r>
              <a:rPr lang="en-US" altLang="zh-TW" i="1" dirty="0" err="1" smtClean="0">
                <a:latin typeface="Times New Roman" pitchFamily="18" charset="0"/>
                <a:cs typeface="Times New Roman" pitchFamily="18" charset="0"/>
              </a:rPr>
              <a:t>ctg</a:t>
            </a:r>
            <a:r>
              <a:rPr lang="en-US" altLang="zh-TW" i="1" dirty="0" smtClean="0">
                <a:latin typeface="Times New Roman" pitchFamily="18" charset="0"/>
                <a:cs typeface="Times New Roman" pitchFamily="18" charset="0"/>
              </a:rPr>
              <a:t>, T </a:t>
            </a:r>
            <a:r>
              <a:rPr lang="en-US" altLang="zh-TW" dirty="0" smtClean="0"/>
              <a:t>=</a:t>
            </a:r>
            <a:r>
              <a:rPr lang="en-US" altLang="zh-TW" i="1" dirty="0" smtClean="0">
                <a:latin typeface="Times New Roman" pitchFamily="18" charset="0"/>
                <a:cs typeface="Times New Roman" pitchFamily="18" charset="0"/>
              </a:rPr>
              <a:t> </a:t>
            </a:r>
            <a:r>
              <a:rPr lang="en-US" altLang="zh-TW" i="1" dirty="0" err="1" smtClean="0">
                <a:latin typeface="Times New Roman" pitchFamily="18" charset="0"/>
                <a:cs typeface="Times New Roman" pitchFamily="18" charset="0"/>
              </a:rPr>
              <a:t>tcatcg</a:t>
            </a:r>
            <a:endParaRPr lang="en-US" altLang="zh-TW" i="1" dirty="0" smtClean="0">
              <a:latin typeface="Times New Roman" pitchFamily="18" charset="0"/>
              <a:cs typeface="Times New Roman" pitchFamily="18" charset="0"/>
            </a:endParaRPr>
          </a:p>
          <a:p>
            <a:pPr>
              <a:buNone/>
            </a:pPr>
            <a:r>
              <a:rPr lang="en-US" altLang="zh-TW" sz="2400" dirty="0" smtClean="0"/>
              <a:t>={(1, 3), (2, 2), (2, 5), (3, 1), (3, 4), (4, 1), (4, 4)}</a:t>
            </a:r>
          </a:p>
          <a:p>
            <a:pPr>
              <a:buNone/>
            </a:pPr>
            <a:r>
              <a:rPr lang="en-US" altLang="zh-TW" sz="2400" dirty="0" smtClean="0"/>
              <a:t>={(1, 2), (1, 5), (2, 1), (2, 4), (3, 6)}</a:t>
            </a:r>
          </a:p>
          <a:p>
            <a:pPr>
              <a:buNone/>
            </a:pPr>
            <a:endParaRPr lang="en-US" altLang="zh-TW" sz="2400" dirty="0" smtClean="0"/>
          </a:p>
          <a:p>
            <a:pPr>
              <a:buNone/>
            </a:pPr>
            <a:r>
              <a:rPr lang="en-US" altLang="zh-TW" dirty="0" err="1" smtClean="0"/>
              <a:t>i</a:t>
            </a:r>
            <a:r>
              <a:rPr lang="en-US" altLang="zh-TW" dirty="0" smtClean="0"/>
              <a:t> = 1, k = 3, (1, 3)</a:t>
            </a:r>
            <a:r>
              <a:rPr lang="zh-TW" altLang="en-US" dirty="0" smtClean="0"/>
              <a:t> ∈ </a:t>
            </a:r>
            <a:endParaRPr lang="en-US" altLang="zh-TW" dirty="0" smtClean="0"/>
          </a:p>
          <a:p>
            <a:pPr>
              <a:buNone/>
            </a:pPr>
            <a:r>
              <a:rPr lang="en-US" altLang="zh-TW" dirty="0" smtClean="0"/>
              <a:t>max = </a:t>
            </a:r>
            <a:r>
              <a:rPr lang="en-US" altLang="zh-TW" dirty="0" err="1" smtClean="0"/>
              <a:t>BoundMax</a:t>
            </a:r>
            <a:r>
              <a:rPr lang="en-US" altLang="zh-TW" dirty="0" smtClean="0"/>
              <a:t>(      , 1) = 0</a:t>
            </a:r>
          </a:p>
          <a:p>
            <a:pPr>
              <a:buNone/>
            </a:pPr>
            <a:r>
              <a:rPr lang="en-US" altLang="zh-TW" dirty="0" smtClean="0"/>
              <a:t>L</a:t>
            </a:r>
            <a:r>
              <a:rPr lang="en-US" altLang="zh-TW" baseline="-25000" dirty="0" smtClean="0"/>
              <a:t>3</a:t>
            </a:r>
            <a:r>
              <a:rPr lang="en-US" altLang="zh-TW" dirty="0" smtClean="0"/>
              <a:t>(1 ,0) = 1</a:t>
            </a:r>
          </a:p>
          <a:p>
            <a:pPr>
              <a:buNone/>
            </a:pPr>
            <a:endParaRPr lang="en-US" altLang="zh-TW" dirty="0" smtClean="0"/>
          </a:p>
          <a:p>
            <a:pPr>
              <a:buNone/>
            </a:pPr>
            <a:r>
              <a:rPr lang="en-US" altLang="zh-TW" dirty="0" smtClean="0"/>
              <a:t>      = </a:t>
            </a:r>
          </a:p>
        </p:txBody>
      </p:sp>
      <p:graphicFrame>
        <p:nvGraphicFramePr>
          <p:cNvPr id="7" name="Object 2"/>
          <p:cNvGraphicFramePr>
            <a:graphicFrameLocks noChangeAspect="1"/>
          </p:cNvGraphicFramePr>
          <p:nvPr/>
        </p:nvGraphicFramePr>
        <p:xfrm>
          <a:off x="71406" y="687373"/>
          <a:ext cx="527049" cy="527049"/>
        </p:xfrm>
        <a:graphic>
          <a:graphicData uri="http://schemas.openxmlformats.org/presentationml/2006/ole">
            <p:oleObj spid="_x0000_s17410" name="Equation" r:id="rId4" imgW="266400" imgH="241200" progId="Equation.3">
              <p:embed/>
            </p:oleObj>
          </a:graphicData>
        </a:graphic>
      </p:graphicFrame>
      <p:graphicFrame>
        <p:nvGraphicFramePr>
          <p:cNvPr id="8" name="Object 3"/>
          <p:cNvGraphicFramePr>
            <a:graphicFrameLocks noChangeAspect="1"/>
          </p:cNvGraphicFramePr>
          <p:nvPr/>
        </p:nvGraphicFramePr>
        <p:xfrm>
          <a:off x="-32" y="1071546"/>
          <a:ext cx="527050" cy="554038"/>
        </p:xfrm>
        <a:graphic>
          <a:graphicData uri="http://schemas.openxmlformats.org/presentationml/2006/ole">
            <p:oleObj spid="_x0000_s17411" name="Equation" r:id="rId5" imgW="266400" imgH="253800" progId="Equation.3">
              <p:embed/>
            </p:oleObj>
          </a:graphicData>
        </a:graphic>
      </p:graphicFrame>
      <p:pic>
        <p:nvPicPr>
          <p:cNvPr id="9" name="Picture 2"/>
          <p:cNvPicPr>
            <a:picLocks noChangeAspect="1" noChangeArrowheads="1"/>
          </p:cNvPicPr>
          <p:nvPr/>
        </p:nvPicPr>
        <p:blipFill>
          <a:blip r:embed="rId6"/>
          <a:srcRect/>
          <a:stretch>
            <a:fillRect/>
          </a:stretch>
        </p:blipFill>
        <p:spPr bwMode="auto">
          <a:xfrm>
            <a:off x="5715008" y="3357562"/>
            <a:ext cx="3214710" cy="2221072"/>
          </a:xfrm>
          <a:prstGeom prst="rect">
            <a:avLst/>
          </a:prstGeom>
          <a:noFill/>
          <a:ln w="9525">
            <a:noFill/>
            <a:miter lim="800000"/>
            <a:headEnd/>
            <a:tailEnd/>
          </a:ln>
          <a:effectLst/>
        </p:spPr>
      </p:pic>
      <p:graphicFrame>
        <p:nvGraphicFramePr>
          <p:cNvPr id="10" name="Object 6"/>
          <p:cNvGraphicFramePr>
            <a:graphicFrameLocks noChangeAspect="1"/>
          </p:cNvGraphicFramePr>
          <p:nvPr/>
        </p:nvGraphicFramePr>
        <p:xfrm>
          <a:off x="3643313" y="2087563"/>
          <a:ext cx="611187" cy="611187"/>
        </p:xfrm>
        <a:graphic>
          <a:graphicData uri="http://schemas.openxmlformats.org/presentationml/2006/ole">
            <p:oleObj spid="_x0000_s17412" name="Equation" r:id="rId7" imgW="266400" imgH="241200" progId="Equation.3">
              <p:embed/>
            </p:oleObj>
          </a:graphicData>
        </a:graphic>
      </p:graphicFrame>
      <p:graphicFrame>
        <p:nvGraphicFramePr>
          <p:cNvPr id="11" name="Object 7"/>
          <p:cNvGraphicFramePr>
            <a:graphicFrameLocks noChangeAspect="1"/>
          </p:cNvGraphicFramePr>
          <p:nvPr/>
        </p:nvGraphicFramePr>
        <p:xfrm>
          <a:off x="3560763" y="2659063"/>
          <a:ext cx="552450" cy="611187"/>
        </p:xfrm>
        <a:graphic>
          <a:graphicData uri="http://schemas.openxmlformats.org/presentationml/2006/ole">
            <p:oleObj spid="_x0000_s17413" name="Equation" r:id="rId8" imgW="241200" imgH="241200" progId="Equation.3">
              <p:embed/>
            </p:oleObj>
          </a:graphicData>
        </a:graphic>
      </p:graphicFrame>
      <p:graphicFrame>
        <p:nvGraphicFramePr>
          <p:cNvPr id="12" name="Object 8"/>
          <p:cNvGraphicFramePr>
            <a:graphicFrameLocks noChangeAspect="1"/>
          </p:cNvGraphicFramePr>
          <p:nvPr/>
        </p:nvGraphicFramePr>
        <p:xfrm>
          <a:off x="500063" y="4373563"/>
          <a:ext cx="522287" cy="577850"/>
        </p:xfrm>
        <a:graphic>
          <a:graphicData uri="http://schemas.openxmlformats.org/presentationml/2006/ole">
            <p:oleObj spid="_x0000_s17414" name="Equation" r:id="rId9" imgW="228600" imgH="228600" progId="Equation.3">
              <p:embed/>
            </p:oleObj>
          </a:graphicData>
        </a:graphic>
      </p:graphicFrame>
      <p:graphicFrame>
        <p:nvGraphicFramePr>
          <p:cNvPr id="13" name="表格 12"/>
          <p:cNvGraphicFramePr>
            <a:graphicFrameLocks noGrp="1"/>
          </p:cNvGraphicFramePr>
          <p:nvPr/>
        </p:nvGraphicFramePr>
        <p:xfrm>
          <a:off x="1285852" y="4357694"/>
          <a:ext cx="2000264" cy="731520"/>
        </p:xfrm>
        <a:graphic>
          <a:graphicData uri="http://schemas.openxmlformats.org/drawingml/2006/table">
            <a:tbl>
              <a:tblPr firstRow="1" bandRow="1">
                <a:tableStyleId>{5940675A-B579-460E-94D1-54222C63F5DA}</a:tableStyleId>
              </a:tblPr>
              <a:tblGrid>
                <a:gridCol w="500066"/>
                <a:gridCol w="500066"/>
                <a:gridCol w="500066"/>
                <a:gridCol w="500066"/>
              </a:tblGrid>
              <a:tr h="357190">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5719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t>0</a:t>
                      </a:r>
                      <a:endParaRPr lang="zh-TW" altLang="en-US" dirty="0"/>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25</a:t>
            </a:fld>
            <a:endParaRPr lang="zh-TW" altLang="en-US"/>
          </a:p>
        </p:txBody>
      </p:sp>
      <p:pic>
        <p:nvPicPr>
          <p:cNvPr id="5" name="Picture 2"/>
          <p:cNvPicPr>
            <a:picLocks noChangeAspect="1" noChangeArrowheads="1"/>
          </p:cNvPicPr>
          <p:nvPr/>
        </p:nvPicPr>
        <p:blipFill>
          <a:blip r:embed="rId3"/>
          <a:srcRect/>
          <a:stretch>
            <a:fillRect/>
          </a:stretch>
        </p:blipFill>
        <p:spPr bwMode="auto">
          <a:xfrm>
            <a:off x="0" y="0"/>
            <a:ext cx="4514850" cy="6858000"/>
          </a:xfrm>
          <a:prstGeom prst="rect">
            <a:avLst/>
          </a:prstGeom>
          <a:noFill/>
          <a:ln w="9525">
            <a:noFill/>
            <a:miter lim="800000"/>
            <a:headEnd/>
            <a:tailEnd/>
          </a:ln>
          <a:effectLst/>
        </p:spPr>
      </p:pic>
      <p:sp>
        <p:nvSpPr>
          <p:cNvPr id="6" name="文字方塊 5"/>
          <p:cNvSpPr txBox="1"/>
          <p:nvPr/>
        </p:nvSpPr>
        <p:spPr>
          <a:xfrm>
            <a:off x="4643438" y="285728"/>
            <a:ext cx="4164666" cy="584775"/>
          </a:xfrm>
          <a:prstGeom prst="rect">
            <a:avLst/>
          </a:prstGeom>
          <a:noFill/>
        </p:spPr>
        <p:txBody>
          <a:bodyPr wrap="none" rtlCol="0">
            <a:spAutoFit/>
          </a:bodyPr>
          <a:lstStyle/>
          <a:p>
            <a:r>
              <a:rPr lang="en-US" altLang="zh-TW" sz="3200" dirty="0" smtClean="0"/>
              <a:t>Algorithm MLCS(A, B, T)</a:t>
            </a:r>
            <a:endParaRPr lang="zh-TW" altLang="en-US" sz="3200" dirty="0"/>
          </a:p>
        </p:txBody>
      </p:sp>
      <p:sp>
        <p:nvSpPr>
          <p:cNvPr id="7" name="矩形 6"/>
          <p:cNvSpPr/>
          <p:nvPr/>
        </p:nvSpPr>
        <p:spPr>
          <a:xfrm>
            <a:off x="5072066" y="2500306"/>
            <a:ext cx="4071934" cy="1077218"/>
          </a:xfrm>
          <a:prstGeom prst="rect">
            <a:avLst/>
          </a:prstGeom>
        </p:spPr>
        <p:txBody>
          <a:bodyPr wrap="square">
            <a:spAutoFit/>
          </a:bodyPr>
          <a:lstStyle/>
          <a:p>
            <a:r>
              <a:rPr lang="en-US" altLang="zh-TW" sz="3200" dirty="0" smtClean="0"/>
              <a:t>O((</a:t>
            </a:r>
            <a:r>
              <a:rPr lang="en-US" altLang="zh-TW" sz="3200" i="1" dirty="0" err="1" smtClean="0">
                <a:latin typeface="Times New Roman" pitchFamily="18" charset="0"/>
                <a:cs typeface="Times New Roman" pitchFamily="18" charset="0"/>
              </a:rPr>
              <a:t>Rr</a:t>
            </a:r>
            <a:r>
              <a:rPr lang="en-US" altLang="zh-TW" sz="3200" dirty="0" smtClean="0"/>
              <a:t> + </a:t>
            </a:r>
            <a:r>
              <a:rPr lang="en-US" altLang="zh-TW" sz="3200" i="1" dirty="0" smtClean="0">
                <a:latin typeface="Times New Roman" pitchFamily="18" charset="0"/>
                <a:cs typeface="Times New Roman" pitchFamily="18" charset="0"/>
              </a:rPr>
              <a:t>Pm</a:t>
            </a:r>
            <a:r>
              <a:rPr lang="en-US" altLang="zh-TW" sz="3200" dirty="0" smtClean="0"/>
              <a:t>)</a:t>
            </a:r>
            <a:r>
              <a:rPr lang="en-US" altLang="zh-TW" sz="3200" dirty="0" err="1" smtClean="0"/>
              <a:t>loglog</a:t>
            </a:r>
            <a:r>
              <a:rPr lang="en-US" altLang="zh-TW" sz="3200" i="1" dirty="0" err="1" smtClean="0">
                <a:latin typeface="Times New Roman" pitchFamily="18" charset="0"/>
                <a:cs typeface="Times New Roman" pitchFamily="18" charset="0"/>
              </a:rPr>
              <a:t>r</a:t>
            </a:r>
            <a:r>
              <a:rPr lang="en-US" altLang="zh-TW" sz="3200" dirty="0" smtClean="0"/>
              <a:t>)</a:t>
            </a:r>
          </a:p>
          <a:p>
            <a:r>
              <a:rPr lang="en-US" altLang="zh-TW" sz="3200" dirty="0" smtClean="0"/>
              <a:t>  |     |=</a:t>
            </a:r>
            <a:r>
              <a:rPr lang="en-US" altLang="zh-TW" sz="3200" i="1" dirty="0" smtClean="0">
                <a:latin typeface="Times New Roman" pitchFamily="18" charset="0"/>
                <a:cs typeface="Times New Roman" pitchFamily="18" charset="0"/>
              </a:rPr>
              <a:t>R, </a:t>
            </a:r>
            <a:r>
              <a:rPr lang="en-US" altLang="zh-TW" sz="3200" dirty="0" smtClean="0"/>
              <a:t>|     |=</a:t>
            </a:r>
            <a:r>
              <a:rPr lang="en-US" altLang="zh-TW" sz="3200" i="1" dirty="0" smtClean="0">
                <a:latin typeface="Times New Roman" pitchFamily="18" charset="0"/>
                <a:cs typeface="Times New Roman" pitchFamily="18" charset="0"/>
              </a:rPr>
              <a:t>P </a:t>
            </a:r>
            <a:endParaRPr lang="zh-TW" altLang="en-US" sz="3200" i="1" dirty="0">
              <a:latin typeface="Times New Roman" pitchFamily="18" charset="0"/>
              <a:cs typeface="Times New Roman" pitchFamily="18" charset="0"/>
            </a:endParaRPr>
          </a:p>
        </p:txBody>
      </p:sp>
      <p:graphicFrame>
        <p:nvGraphicFramePr>
          <p:cNvPr id="8" name="Object 2"/>
          <p:cNvGraphicFramePr>
            <a:graphicFrameLocks noChangeAspect="1"/>
          </p:cNvGraphicFramePr>
          <p:nvPr/>
        </p:nvGraphicFramePr>
        <p:xfrm>
          <a:off x="5429256" y="3000372"/>
          <a:ext cx="669925" cy="669925"/>
        </p:xfrm>
        <a:graphic>
          <a:graphicData uri="http://schemas.openxmlformats.org/presentationml/2006/ole">
            <p:oleObj spid="_x0000_s18434" name="Equation" r:id="rId4" imgW="266400" imgH="241200" progId="Equation.3">
              <p:embed/>
            </p:oleObj>
          </a:graphicData>
        </a:graphic>
      </p:graphicFrame>
      <p:graphicFrame>
        <p:nvGraphicFramePr>
          <p:cNvPr id="9" name="Object 3"/>
          <p:cNvGraphicFramePr>
            <a:graphicFrameLocks noChangeAspect="1"/>
          </p:cNvGraphicFramePr>
          <p:nvPr/>
        </p:nvGraphicFramePr>
        <p:xfrm>
          <a:off x="6929438" y="2982913"/>
          <a:ext cx="669925" cy="706437"/>
        </p:xfrm>
        <a:graphic>
          <a:graphicData uri="http://schemas.openxmlformats.org/presentationml/2006/ole">
            <p:oleObj spid="_x0000_s18435" name="Equation" r:id="rId5" imgW="266400" imgH="253800" progId="Equation.3">
              <p:embed/>
            </p:oleObj>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Block Merged LCS</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26</a:t>
            </a:fld>
            <a:endParaRPr lang="zh-TW" altLang="en-US"/>
          </a:p>
        </p:txBody>
      </p:sp>
      <p:pic>
        <p:nvPicPr>
          <p:cNvPr id="19458" name="Picture 2"/>
          <p:cNvPicPr>
            <a:picLocks noChangeAspect="1" noChangeArrowheads="1"/>
          </p:cNvPicPr>
          <p:nvPr/>
        </p:nvPicPr>
        <p:blipFill>
          <a:blip r:embed="rId2"/>
          <a:srcRect/>
          <a:stretch>
            <a:fillRect/>
          </a:stretch>
        </p:blipFill>
        <p:spPr bwMode="auto">
          <a:xfrm>
            <a:off x="0" y="1928802"/>
            <a:ext cx="4857784" cy="3943350"/>
          </a:xfrm>
          <a:prstGeom prst="rect">
            <a:avLst/>
          </a:prstGeom>
          <a:noFill/>
          <a:ln w="9525">
            <a:noFill/>
            <a:miter lim="800000"/>
            <a:headEnd/>
            <a:tailEnd/>
          </a:ln>
          <a:effectLst/>
        </p:spPr>
      </p:pic>
      <p:cxnSp>
        <p:nvCxnSpPr>
          <p:cNvPr id="6" name="直線單箭頭接點 5"/>
          <p:cNvCxnSpPr/>
          <p:nvPr/>
        </p:nvCxnSpPr>
        <p:spPr>
          <a:xfrm>
            <a:off x="4857752" y="3857628"/>
            <a:ext cx="698926" cy="5245"/>
          </a:xfrm>
          <a:prstGeom prst="straightConnector1">
            <a:avLst/>
          </a:prstGeom>
          <a:ln w="76200" cmpd="dbl">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pic>
        <p:nvPicPr>
          <p:cNvPr id="19459" name="Picture 3"/>
          <p:cNvPicPr>
            <a:picLocks noChangeAspect="1" noChangeArrowheads="1"/>
          </p:cNvPicPr>
          <p:nvPr/>
        </p:nvPicPr>
        <p:blipFill>
          <a:blip r:embed="rId3"/>
          <a:srcRect/>
          <a:stretch>
            <a:fillRect/>
          </a:stretch>
        </p:blipFill>
        <p:spPr bwMode="auto">
          <a:xfrm>
            <a:off x="5572100" y="3071810"/>
            <a:ext cx="3571900" cy="147637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27</a:t>
            </a:fld>
            <a:endParaRPr lang="zh-TW" altLang="en-US"/>
          </a:p>
        </p:txBody>
      </p:sp>
      <p:pic>
        <p:nvPicPr>
          <p:cNvPr id="20482" name="Picture 2"/>
          <p:cNvPicPr>
            <a:picLocks noChangeAspect="1" noChangeArrowheads="1"/>
          </p:cNvPicPr>
          <p:nvPr/>
        </p:nvPicPr>
        <p:blipFill>
          <a:blip r:embed="rId2"/>
          <a:srcRect/>
          <a:stretch>
            <a:fillRect/>
          </a:stretch>
        </p:blipFill>
        <p:spPr bwMode="auto">
          <a:xfrm>
            <a:off x="0" y="0"/>
            <a:ext cx="3962400" cy="6858000"/>
          </a:xfrm>
          <a:prstGeom prst="rect">
            <a:avLst/>
          </a:prstGeom>
          <a:noFill/>
          <a:ln w="9525">
            <a:noFill/>
            <a:miter lim="800000"/>
            <a:headEnd/>
            <a:tailEnd/>
          </a:ln>
          <a:effectLst/>
        </p:spPr>
      </p:pic>
      <p:sp>
        <p:nvSpPr>
          <p:cNvPr id="7" name="矩形 6"/>
          <p:cNvSpPr/>
          <p:nvPr/>
        </p:nvSpPr>
        <p:spPr>
          <a:xfrm>
            <a:off x="4357686" y="1928802"/>
            <a:ext cx="4572000" cy="2677656"/>
          </a:xfrm>
          <a:prstGeom prst="rect">
            <a:avLst/>
          </a:prstGeom>
        </p:spPr>
        <p:txBody>
          <a:bodyPr wrap="square">
            <a:spAutoFit/>
          </a:bodyPr>
          <a:lstStyle/>
          <a:p>
            <a:r>
              <a:rPr lang="en-US" altLang="zh-TW" sz="2800" dirty="0" smtClean="0"/>
              <a:t>O(max{</a:t>
            </a:r>
            <a:r>
              <a:rPr lang="en-US" altLang="zh-TW" sz="2800" i="1" dirty="0" smtClean="0">
                <a:latin typeface="Times New Roman" pitchFamily="18" charset="0"/>
                <a:cs typeface="Times New Roman" pitchFamily="18" charset="0"/>
              </a:rPr>
              <a:t>R</a:t>
            </a:r>
            <a:r>
              <a:rPr lang="el-GR" sz="2800" i="1" dirty="0" smtClean="0">
                <a:latin typeface="Times New Roman" pitchFamily="18" charset="0"/>
                <a:cs typeface="Times New Roman" pitchFamily="18" charset="0"/>
              </a:rPr>
              <a:t>α</a:t>
            </a:r>
            <a:r>
              <a:rPr lang="en-US" altLang="zh-TW" sz="2800" dirty="0" err="1" smtClean="0"/>
              <a:t>loglog</a:t>
            </a:r>
            <a:r>
              <a:rPr lang="en-US" altLang="zh-TW" sz="2800" dirty="0" smtClean="0"/>
              <a:t> </a:t>
            </a:r>
            <a:r>
              <a:rPr lang="en-US" altLang="zh-TW" sz="2800" i="1" dirty="0" err="1" smtClean="0">
                <a:latin typeface="Times New Roman" pitchFamily="18" charset="0"/>
                <a:cs typeface="Times New Roman" pitchFamily="18" charset="0"/>
              </a:rPr>
              <a:t>r</a:t>
            </a:r>
            <a:r>
              <a:rPr lang="en-US" altLang="zh-TW" sz="2800" dirty="0" err="1" smtClean="0"/>
              <a:t>,</a:t>
            </a:r>
            <a:r>
              <a:rPr lang="en-US" altLang="zh-TW" sz="2800" i="1" dirty="0" err="1" smtClean="0">
                <a:latin typeface="Times New Roman" pitchFamily="18" charset="0"/>
                <a:cs typeface="Times New Roman" pitchFamily="18" charset="0"/>
              </a:rPr>
              <a:t>P</a:t>
            </a:r>
            <a:r>
              <a:rPr lang="el-GR" sz="2800" i="1" dirty="0" smtClean="0">
                <a:latin typeface="Times New Roman" pitchFamily="18" charset="0"/>
                <a:cs typeface="Times New Roman" pitchFamily="18" charset="0"/>
              </a:rPr>
              <a:t>β</a:t>
            </a:r>
            <a:r>
              <a:rPr lang="en-US" altLang="zh-TW" sz="2800" dirty="0" err="1" smtClean="0"/>
              <a:t>loglog</a:t>
            </a:r>
            <a:r>
              <a:rPr lang="en-US" altLang="zh-TW" sz="2800" i="1" dirty="0" err="1" smtClean="0">
                <a:latin typeface="Times New Roman" pitchFamily="18" charset="0"/>
                <a:cs typeface="Times New Roman" pitchFamily="18" charset="0"/>
              </a:rPr>
              <a:t>r</a:t>
            </a:r>
            <a:r>
              <a:rPr lang="en-US" altLang="zh-TW" sz="2800" dirty="0" smtClean="0"/>
              <a:t>}) </a:t>
            </a:r>
          </a:p>
          <a:p>
            <a:endParaRPr lang="en-US" sz="2800" i="1" dirty="0" smtClean="0">
              <a:latin typeface="Times New Roman" pitchFamily="18" charset="0"/>
              <a:cs typeface="Times New Roman" pitchFamily="18" charset="0"/>
            </a:endParaRPr>
          </a:p>
          <a:p>
            <a:r>
              <a:rPr lang="el-GR" sz="2800" i="1" dirty="0" smtClean="0">
                <a:latin typeface="Times New Roman" pitchFamily="18" charset="0"/>
                <a:cs typeface="Times New Roman" pitchFamily="18" charset="0"/>
              </a:rPr>
              <a:t>α </a:t>
            </a:r>
            <a:r>
              <a:rPr lang="en-US" altLang="zh-TW" sz="2800" dirty="0" smtClean="0"/>
              <a:t>denotes the number of blocks in A </a:t>
            </a:r>
          </a:p>
          <a:p>
            <a:r>
              <a:rPr lang="el-GR" sz="2800" i="1" dirty="0" smtClean="0">
                <a:latin typeface="Times New Roman" pitchFamily="18" charset="0"/>
                <a:cs typeface="Times New Roman" pitchFamily="18" charset="0"/>
              </a:rPr>
              <a:t>β </a:t>
            </a:r>
            <a:r>
              <a:rPr lang="en-US" altLang="zh-TW" sz="2800" dirty="0" smtClean="0"/>
              <a:t>denotes the number of blocks in B</a:t>
            </a:r>
            <a:endParaRPr lang="zh-TW"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Hybrid-Algorithm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28</a:t>
            </a:fld>
            <a:endParaRPr lang="zh-TW" altLang="en-US"/>
          </a:p>
        </p:txBody>
      </p:sp>
      <p:pic>
        <p:nvPicPr>
          <p:cNvPr id="41986" name="Picture 2"/>
          <p:cNvPicPr>
            <a:picLocks noChangeAspect="1" noChangeArrowheads="1"/>
          </p:cNvPicPr>
          <p:nvPr/>
        </p:nvPicPr>
        <p:blipFill>
          <a:blip r:embed="rId3"/>
          <a:srcRect/>
          <a:stretch>
            <a:fillRect/>
          </a:stretch>
        </p:blipFill>
        <p:spPr bwMode="auto">
          <a:xfrm>
            <a:off x="214283" y="1285860"/>
            <a:ext cx="5000660" cy="3952880"/>
          </a:xfrm>
          <a:prstGeom prst="rect">
            <a:avLst/>
          </a:prstGeom>
          <a:noFill/>
          <a:ln w="9525">
            <a:noFill/>
            <a:miter lim="800000"/>
            <a:headEnd/>
            <a:tailEnd/>
          </a:ln>
          <a:effectLst/>
        </p:spPr>
      </p:pic>
      <p:pic>
        <p:nvPicPr>
          <p:cNvPr id="41987" name="Picture 3"/>
          <p:cNvPicPr>
            <a:picLocks noChangeAspect="1" noChangeArrowheads="1"/>
          </p:cNvPicPr>
          <p:nvPr/>
        </p:nvPicPr>
        <p:blipFill>
          <a:blip r:embed="rId4"/>
          <a:srcRect/>
          <a:stretch>
            <a:fillRect/>
          </a:stretch>
        </p:blipFill>
        <p:spPr bwMode="auto">
          <a:xfrm>
            <a:off x="5214942" y="1357298"/>
            <a:ext cx="3929058" cy="3786214"/>
          </a:xfrm>
          <a:prstGeom prst="rect">
            <a:avLst/>
          </a:prstGeom>
          <a:noFill/>
          <a:ln w="9525">
            <a:noFill/>
            <a:miter lim="800000"/>
            <a:headEnd/>
            <a:tailEnd/>
          </a:ln>
          <a:effectLst/>
        </p:spPr>
      </p:pic>
      <p:sp>
        <p:nvSpPr>
          <p:cNvPr id="9" name="矩形 8"/>
          <p:cNvSpPr/>
          <p:nvPr/>
        </p:nvSpPr>
        <p:spPr>
          <a:xfrm>
            <a:off x="214282" y="5572140"/>
            <a:ext cx="4071934" cy="1077218"/>
          </a:xfrm>
          <a:prstGeom prst="rect">
            <a:avLst/>
          </a:prstGeom>
        </p:spPr>
        <p:txBody>
          <a:bodyPr wrap="square">
            <a:spAutoFit/>
          </a:bodyPr>
          <a:lstStyle/>
          <a:p>
            <a:r>
              <a:rPr lang="en-US" altLang="zh-TW" sz="3200" dirty="0" smtClean="0"/>
              <a:t>O((</a:t>
            </a:r>
            <a:r>
              <a:rPr lang="en-US" altLang="zh-TW" sz="3200" i="1" dirty="0" err="1" smtClean="0">
                <a:latin typeface="Times New Roman" pitchFamily="18" charset="0"/>
                <a:cs typeface="Times New Roman" pitchFamily="18" charset="0"/>
              </a:rPr>
              <a:t>Rr</a:t>
            </a:r>
            <a:r>
              <a:rPr lang="en-US" altLang="zh-TW" sz="3200" dirty="0" smtClean="0"/>
              <a:t> + </a:t>
            </a:r>
            <a:r>
              <a:rPr lang="en-US" altLang="zh-TW" sz="3200" i="1" dirty="0" smtClean="0">
                <a:latin typeface="Times New Roman" pitchFamily="18" charset="0"/>
                <a:cs typeface="Times New Roman" pitchFamily="18" charset="0"/>
              </a:rPr>
              <a:t>Pm</a:t>
            </a:r>
            <a:r>
              <a:rPr lang="en-US" altLang="zh-TW" sz="3200" dirty="0" smtClean="0"/>
              <a:t>)</a:t>
            </a:r>
            <a:r>
              <a:rPr lang="en-US" altLang="zh-TW" sz="3200" dirty="0" err="1" smtClean="0"/>
              <a:t>loglog</a:t>
            </a:r>
            <a:r>
              <a:rPr lang="en-US" altLang="zh-TW" sz="3200" i="1" dirty="0" err="1" smtClean="0">
                <a:latin typeface="Times New Roman" pitchFamily="18" charset="0"/>
                <a:cs typeface="Times New Roman" pitchFamily="18" charset="0"/>
              </a:rPr>
              <a:t>r</a:t>
            </a:r>
            <a:r>
              <a:rPr lang="en-US" altLang="zh-TW" sz="3200" dirty="0" smtClean="0"/>
              <a:t>)</a:t>
            </a:r>
          </a:p>
          <a:p>
            <a:r>
              <a:rPr lang="en-US" altLang="zh-TW" sz="3200" dirty="0" smtClean="0"/>
              <a:t>  |     |=</a:t>
            </a:r>
            <a:r>
              <a:rPr lang="en-US" altLang="zh-TW" sz="3200" i="1" dirty="0" smtClean="0">
                <a:latin typeface="Times New Roman" pitchFamily="18" charset="0"/>
                <a:cs typeface="Times New Roman" pitchFamily="18" charset="0"/>
              </a:rPr>
              <a:t>R, </a:t>
            </a:r>
            <a:r>
              <a:rPr lang="en-US" altLang="zh-TW" sz="3200" dirty="0" smtClean="0"/>
              <a:t>|     |=</a:t>
            </a:r>
            <a:r>
              <a:rPr lang="en-US" altLang="zh-TW" sz="3200" i="1" dirty="0" smtClean="0">
                <a:latin typeface="Times New Roman" pitchFamily="18" charset="0"/>
                <a:cs typeface="Times New Roman" pitchFamily="18" charset="0"/>
              </a:rPr>
              <a:t>P </a:t>
            </a:r>
            <a:endParaRPr lang="zh-TW" altLang="en-US" sz="3200" i="1" dirty="0">
              <a:latin typeface="Times New Roman" pitchFamily="18" charset="0"/>
              <a:cs typeface="Times New Roman" pitchFamily="18" charset="0"/>
            </a:endParaRPr>
          </a:p>
        </p:txBody>
      </p:sp>
      <p:graphicFrame>
        <p:nvGraphicFramePr>
          <p:cNvPr id="10" name="Object 2"/>
          <p:cNvGraphicFramePr>
            <a:graphicFrameLocks noChangeAspect="1"/>
          </p:cNvGraphicFramePr>
          <p:nvPr/>
        </p:nvGraphicFramePr>
        <p:xfrm>
          <a:off x="571472" y="6045223"/>
          <a:ext cx="669925" cy="669925"/>
        </p:xfrm>
        <a:graphic>
          <a:graphicData uri="http://schemas.openxmlformats.org/presentationml/2006/ole">
            <p:oleObj spid="_x0000_s41988" name="Equation" r:id="rId5" imgW="266400" imgH="241200" progId="Equation.3">
              <p:embed/>
            </p:oleObj>
          </a:graphicData>
        </a:graphic>
      </p:graphicFrame>
      <p:graphicFrame>
        <p:nvGraphicFramePr>
          <p:cNvPr id="11" name="Object 3"/>
          <p:cNvGraphicFramePr>
            <a:graphicFrameLocks noChangeAspect="1"/>
          </p:cNvGraphicFramePr>
          <p:nvPr/>
        </p:nvGraphicFramePr>
        <p:xfrm>
          <a:off x="2044687" y="6072206"/>
          <a:ext cx="669925" cy="706437"/>
        </p:xfrm>
        <a:graphic>
          <a:graphicData uri="http://schemas.openxmlformats.org/presentationml/2006/ole">
            <p:oleObj spid="_x0000_s41989" name="Equation" r:id="rId6" imgW="266400" imgH="253800" progId="Equation.3">
              <p:embed/>
            </p:oleObj>
          </a:graphicData>
        </a:graphic>
      </p:graphicFrame>
      <p:cxnSp>
        <p:nvCxnSpPr>
          <p:cNvPr id="12" name="直線單箭頭接點 11"/>
          <p:cNvCxnSpPr/>
          <p:nvPr/>
        </p:nvCxnSpPr>
        <p:spPr>
          <a:xfrm>
            <a:off x="4429124" y="6143644"/>
            <a:ext cx="698926" cy="5245"/>
          </a:xfrm>
          <a:prstGeom prst="straightConnector1">
            <a:avLst/>
          </a:prstGeom>
          <a:ln w="76200" cmpd="dbl">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214942" y="5773183"/>
            <a:ext cx="4071934" cy="584775"/>
          </a:xfrm>
          <a:prstGeom prst="rect">
            <a:avLst/>
          </a:prstGeom>
        </p:spPr>
        <p:txBody>
          <a:bodyPr wrap="square">
            <a:spAutoFit/>
          </a:bodyPr>
          <a:lstStyle/>
          <a:p>
            <a:r>
              <a:rPr lang="en-US" altLang="zh-TW" sz="3200" dirty="0" smtClean="0"/>
              <a:t>O(</a:t>
            </a:r>
            <a:r>
              <a:rPr lang="en-US" altLang="zh-TW" sz="3200" i="1" dirty="0" err="1" smtClean="0">
                <a:latin typeface="Times New Roman" pitchFamily="18" charset="0"/>
                <a:cs typeface="Times New Roman" pitchFamily="18" charset="0"/>
              </a:rPr>
              <a:t>nm</a:t>
            </a:r>
            <a:r>
              <a:rPr lang="en-US" altLang="zh-TW" sz="3200" dirty="0" err="1" smtClean="0"/>
              <a:t>loglog</a:t>
            </a:r>
            <a:r>
              <a:rPr lang="en-US" altLang="zh-TW" sz="3200" i="1" dirty="0" err="1" smtClean="0">
                <a:latin typeface="Times New Roman" pitchFamily="18" charset="0"/>
                <a:cs typeface="Times New Roman" pitchFamily="18" charset="0"/>
              </a:rPr>
              <a:t>r</a:t>
            </a:r>
            <a:r>
              <a:rPr lang="en-US" altLang="zh-TW" sz="3200" dirty="0" smtClean="0"/>
              <a:t>)</a:t>
            </a:r>
            <a:endParaRPr lang="en-US" altLang="zh-TW" sz="32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29</a:t>
            </a:fld>
            <a:endParaRPr lang="zh-TW" altLang="en-US"/>
          </a:p>
        </p:txBody>
      </p:sp>
      <p:sp>
        <p:nvSpPr>
          <p:cNvPr id="5" name="內容版面配置區 2"/>
          <p:cNvSpPr>
            <a:spLocks noGrp="1"/>
          </p:cNvSpPr>
          <p:nvPr>
            <p:ph idx="1"/>
          </p:nvPr>
        </p:nvSpPr>
        <p:spPr>
          <a:xfrm>
            <a:off x="457200" y="1600200"/>
            <a:ext cx="8229600" cy="4525963"/>
          </a:xfrm>
        </p:spPr>
        <p:txBody>
          <a:bodyPr/>
          <a:lstStyle/>
          <a:p>
            <a:endParaRPr lang="en-US" altLang="zh-TW" dirty="0" smtClean="0"/>
          </a:p>
          <a:p>
            <a:endParaRPr lang="en-US" altLang="zh-TW" dirty="0" smtClean="0"/>
          </a:p>
          <a:p>
            <a:endParaRPr lang="en-US" altLang="zh-TW" dirty="0" smtClean="0"/>
          </a:p>
          <a:p>
            <a:pPr algn="ctr">
              <a:buNone/>
            </a:pPr>
            <a:r>
              <a:rPr lang="en-US" altLang="zh-TW" dirty="0" smtClean="0"/>
              <a:t>Thanks for listening</a:t>
            </a:r>
            <a:endParaRPr lang="zh-TW" altLang="en-US"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1686</TotalTime>
  <Words>1427</Words>
  <PresentationFormat>如螢幕大小 (4:3)</PresentationFormat>
  <Paragraphs>181</Paragraphs>
  <Slides>29</Slides>
  <Notes>2</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29</vt:i4>
      </vt:variant>
    </vt:vector>
  </HeadingPairs>
  <TitlesOfParts>
    <vt:vector size="31" baseType="lpstr">
      <vt:lpstr>Office 佈景主題</vt:lpstr>
      <vt:lpstr>Equation</vt:lpstr>
      <vt:lpstr>Effective Sparse Dynamic Programming Algorithms for Merged and Block Merged LCS Problems</vt:lpstr>
      <vt:lpstr>Abstract(1/3)</vt:lpstr>
      <vt:lpstr>Abstract(2/3)</vt:lpstr>
      <vt:lpstr>Abstract(3/3)</vt:lpstr>
      <vt:lpstr>Merged LCS</vt:lpstr>
      <vt:lpstr>Merged LCS</vt:lpstr>
      <vt:lpstr>Merged LCS</vt:lpstr>
      <vt:lpstr>Block Merged LCS</vt:lpstr>
      <vt:lpstr>Block Merged LCS</vt:lpstr>
      <vt:lpstr>Algorithm for Merged LCS Problem</vt:lpstr>
      <vt:lpstr>Algorithm for Merged LCS Problem</vt:lpstr>
      <vt:lpstr>Algorithm for Merged LCS Problem</vt:lpstr>
      <vt:lpstr>Fact</vt:lpstr>
      <vt:lpstr>投影片 14</vt:lpstr>
      <vt:lpstr>Bounded Heap data structure</vt:lpstr>
      <vt:lpstr>Bounded Heap data structure</vt:lpstr>
      <vt:lpstr>投影片 17</vt:lpstr>
      <vt:lpstr>Construct the set M</vt:lpstr>
      <vt:lpstr>Construct the set M</vt:lpstr>
      <vt:lpstr>Construct the set M</vt:lpstr>
      <vt:lpstr>投影片 21</vt:lpstr>
      <vt:lpstr>投影片 22</vt:lpstr>
      <vt:lpstr>投影片 23</vt:lpstr>
      <vt:lpstr>投影片 24</vt:lpstr>
      <vt:lpstr>投影片 25</vt:lpstr>
      <vt:lpstr>Block Merged LCS</vt:lpstr>
      <vt:lpstr>投影片 27</vt:lpstr>
      <vt:lpstr>Hybrid-Algorithm</vt:lpstr>
      <vt:lpstr>投影片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Sparse Dynamic Programming Algorithms for Merged and Block Merged LCS Problems</dc:title>
  <cp:lastModifiedBy>user</cp:lastModifiedBy>
  <cp:revision>71</cp:revision>
  <dcterms:modified xsi:type="dcterms:W3CDTF">2015-02-09T06:00:07Z</dcterms:modified>
</cp:coreProperties>
</file>