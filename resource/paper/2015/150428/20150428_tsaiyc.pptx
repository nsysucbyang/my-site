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277" r:id="rId4"/>
    <p:sldId id="259" r:id="rId5"/>
    <p:sldId id="260" r:id="rId6"/>
    <p:sldId id="261" r:id="rId7"/>
    <p:sldId id="262" r:id="rId8"/>
    <p:sldId id="263" r:id="rId9"/>
    <p:sldId id="264" r:id="rId10"/>
    <p:sldId id="265" r:id="rId11"/>
    <p:sldId id="266" r:id="rId12"/>
    <p:sldId id="267" r:id="rId13"/>
    <p:sldId id="268" r:id="rId14"/>
    <p:sldId id="270" r:id="rId15"/>
    <p:sldId id="269" r:id="rId16"/>
    <p:sldId id="278" r:id="rId17"/>
    <p:sldId id="275" r:id="rId18"/>
    <p:sldId id="271" r:id="rId19"/>
    <p:sldId id="272" r:id="rId20"/>
    <p:sldId id="273" r:id="rId21"/>
    <p:sldId id="274" r:id="rId2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182" autoAdjust="0"/>
  </p:normalViewPr>
  <p:slideViewPr>
    <p:cSldViewPr snapToGrid="0">
      <p:cViewPr varScale="1">
        <p:scale>
          <a:sx n="45" d="100"/>
          <a:sy n="45" d="100"/>
        </p:scale>
        <p:origin x="-437" y="-82"/>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249536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364875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328847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1196957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557338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3469556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1091233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588517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1091054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784802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F85D4420-89F7-4076-BA79-917105864AB7}" type="datetimeFigureOut">
              <a:rPr lang="zh-TW" altLang="en-US" smtClean="0"/>
              <a:pPr/>
              <a:t>2015/4/28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964044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5D4420-89F7-4076-BA79-917105864AB7}" type="datetimeFigureOut">
              <a:rPr lang="zh-TW" altLang="en-US" smtClean="0"/>
              <a:pPr/>
              <a:t>2015/4/28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3998CA-DE35-4682-92D3-6736764582CE}" type="slidenum">
              <a:rPr lang="zh-TW" altLang="en-US" smtClean="0"/>
              <a:pPr/>
              <a:t>‹#›</a:t>
            </a:fld>
            <a:endParaRPr lang="zh-TW" altLang="en-US"/>
          </a:p>
        </p:txBody>
      </p:sp>
    </p:spTree>
    <p:extLst>
      <p:ext uri="{BB962C8B-B14F-4D97-AF65-F5344CB8AC3E}">
        <p14:creationId xmlns:p14="http://schemas.microsoft.com/office/powerpoint/2010/main" xmlns="" val="756952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090" y="0"/>
            <a:ext cx="8905103" cy="3402871"/>
          </a:xfrm>
        </p:spPr>
        <p:txBody>
          <a:bodyPr>
            <a:normAutofit/>
          </a:bodyPr>
          <a:lstStyle/>
          <a:p>
            <a:r>
              <a:rPr lang="en-US" altLang="zh-TW" sz="5400" dirty="0" smtClean="0">
                <a:latin typeface="Times New Roman" panose="02020603050405020304" pitchFamily="18" charset="0"/>
                <a:cs typeface="Times New Roman" panose="02020603050405020304" pitchFamily="18" charset="0"/>
              </a:rPr>
              <a:t>Detecting and Identifying System Changes in the Cloud via Discovery by Example</a:t>
            </a:r>
            <a:endParaRPr lang="zh-TW" altLang="en-US" sz="5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07091" y="3602037"/>
            <a:ext cx="8905103" cy="3255963"/>
          </a:xfrm>
        </p:spPr>
        <p:txBody>
          <a:bodyPr>
            <a:normAutofit lnSpcReduction="10000"/>
          </a:bodyPr>
          <a:lstStyle/>
          <a:p>
            <a:r>
              <a:rPr lang="en-US" altLang="zh-TW" dirty="0" err="1">
                <a:latin typeface="Times New Roman" panose="02020603050405020304" pitchFamily="18" charset="0"/>
                <a:cs typeface="Times New Roman" panose="02020603050405020304" pitchFamily="18" charset="0"/>
              </a:rPr>
              <a:t>Hao</a:t>
            </a:r>
            <a:r>
              <a:rPr lang="en-US" altLang="zh-TW" dirty="0">
                <a:latin typeface="Times New Roman" panose="02020603050405020304" pitchFamily="18" charset="0"/>
                <a:cs typeface="Times New Roman" panose="02020603050405020304" pitchFamily="18" charset="0"/>
              </a:rPr>
              <a:t> Chen, </a:t>
            </a:r>
            <a:r>
              <a:rPr lang="en-US" altLang="zh-TW" dirty="0" err="1">
                <a:latin typeface="Times New Roman" panose="02020603050405020304" pitchFamily="18" charset="0"/>
                <a:cs typeface="Times New Roman" panose="02020603050405020304" pitchFamily="18" charset="0"/>
              </a:rPr>
              <a:t>Sastry</a:t>
            </a:r>
            <a:r>
              <a:rPr lang="en-US" altLang="zh-TW" dirty="0">
                <a:latin typeface="Times New Roman" panose="02020603050405020304" pitchFamily="18" charset="0"/>
                <a:cs typeface="Times New Roman" panose="02020603050405020304" pitchFamily="18" charset="0"/>
              </a:rPr>
              <a:t> S. </a:t>
            </a:r>
            <a:r>
              <a:rPr lang="en-US" altLang="zh-TW" dirty="0" err="1">
                <a:latin typeface="Times New Roman" panose="02020603050405020304" pitchFamily="18" charset="0"/>
                <a:cs typeface="Times New Roman" panose="02020603050405020304" pitchFamily="18" charset="0"/>
              </a:rPr>
              <a:t>Duriy</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Vasanth</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Balay</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Nilton</a:t>
            </a:r>
            <a:r>
              <a:rPr lang="en-US" altLang="zh-TW" dirty="0">
                <a:latin typeface="Times New Roman" panose="02020603050405020304" pitchFamily="18" charset="0"/>
                <a:cs typeface="Times New Roman" panose="02020603050405020304" pitchFamily="18" charset="0"/>
              </a:rPr>
              <a:t> T. </a:t>
            </a:r>
            <a:r>
              <a:rPr lang="en-US" altLang="zh-TW" dirty="0" err="1">
                <a:latin typeface="Times New Roman" panose="02020603050405020304" pitchFamily="18" charset="0"/>
                <a:cs typeface="Times New Roman" panose="02020603050405020304" pitchFamily="18" charset="0"/>
              </a:rPr>
              <a:t>Bilay</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Canturk</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Isciy</a:t>
            </a:r>
            <a:r>
              <a:rPr lang="en-US" altLang="zh-TW" dirty="0">
                <a:latin typeface="Times New Roman" panose="02020603050405020304" pitchFamily="18" charset="0"/>
                <a:cs typeface="Times New Roman" panose="02020603050405020304" pitchFamily="18" charset="0"/>
              </a:rPr>
              <a:t> and </a:t>
            </a:r>
            <a:r>
              <a:rPr lang="en-US" altLang="zh-TW" dirty="0" err="1">
                <a:latin typeface="Times New Roman" panose="02020603050405020304" pitchFamily="18" charset="0"/>
                <a:cs typeface="Times New Roman" panose="02020603050405020304" pitchFamily="18" charset="0"/>
              </a:rPr>
              <a:t>Ayse</a:t>
            </a:r>
            <a:r>
              <a:rPr lang="en-US" altLang="zh-TW" dirty="0">
                <a:latin typeface="Times New Roman" panose="02020603050405020304" pitchFamily="18" charset="0"/>
                <a:cs typeface="Times New Roman" panose="02020603050405020304" pitchFamily="18" charset="0"/>
              </a:rPr>
              <a:t> K</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Coskun</a:t>
            </a: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Boston University</a:t>
            </a:r>
          </a:p>
          <a:p>
            <a:r>
              <a:rPr lang="en-US" altLang="zh-TW" dirty="0" smtClean="0">
                <a:latin typeface="Times New Roman" panose="02020603050405020304" pitchFamily="18" charset="0"/>
                <a:cs typeface="Times New Roman" panose="02020603050405020304" pitchFamily="18" charset="0"/>
              </a:rPr>
              <a:t>2014 IEEE International Conference on Big Data, </a:t>
            </a:r>
            <a:r>
              <a:rPr lang="en-US" altLang="zh-TW" dirty="0">
                <a:latin typeface="Times New Roman" panose="02020603050405020304" pitchFamily="18" charset="0"/>
                <a:cs typeface="Times New Roman" panose="02020603050405020304" pitchFamily="18" charset="0"/>
              </a:rPr>
              <a:t>Washington, DC</a:t>
            </a:r>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27-30 Oct</a:t>
            </a:r>
            <a:r>
              <a:rPr lang="en-US" altLang="zh-TW" dirty="0" smtClean="0">
                <a:latin typeface="Times New Roman" panose="02020603050405020304" pitchFamily="18" charset="0"/>
                <a:cs typeface="Times New Roman" panose="02020603050405020304" pitchFamily="18" charset="0"/>
              </a:rPr>
              <a:t>.</a:t>
            </a:r>
          </a:p>
          <a:p>
            <a:r>
              <a:rPr lang="en-US" altLang="zh-TW" dirty="0" smtClean="0">
                <a:latin typeface="Times New Roman" panose="02020603050405020304" pitchFamily="18" charset="0"/>
                <a:cs typeface="Times New Roman" panose="02020603050405020304" pitchFamily="18" charset="0"/>
              </a:rPr>
              <a:t>pp.90 </a:t>
            </a:r>
            <a:r>
              <a:rPr lang="en-US" altLang="zh-TW" dirty="0">
                <a:latin typeface="Times New Roman" panose="02020603050405020304" pitchFamily="18" charset="0"/>
                <a:cs typeface="Times New Roman" panose="02020603050405020304" pitchFamily="18" charset="0"/>
              </a:rPr>
              <a:t>- 99</a:t>
            </a: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Presenter : Yao-</a:t>
            </a:r>
            <a:r>
              <a:rPr lang="en-US" altLang="zh-TW" dirty="0">
                <a:latin typeface="Times New Roman" panose="02020603050405020304" pitchFamily="18" charset="0"/>
                <a:cs typeface="Times New Roman" panose="02020603050405020304" pitchFamily="18" charset="0"/>
              </a:rPr>
              <a:t>C</a:t>
            </a:r>
            <a:r>
              <a:rPr lang="en-US" altLang="zh-TW" dirty="0" smtClean="0">
                <a:latin typeface="Times New Roman" panose="02020603050405020304" pitchFamily="18" charset="0"/>
                <a:cs typeface="Times New Roman" panose="02020603050405020304" pitchFamily="18" charset="0"/>
              </a:rPr>
              <a:t>hou </a:t>
            </a:r>
            <a:r>
              <a:rPr lang="en-US" altLang="zh-TW" dirty="0" smtClean="0">
                <a:latin typeface="Times New Roman" panose="02020603050405020304" pitchFamily="18" charset="0"/>
                <a:cs typeface="Times New Roman" panose="02020603050405020304" pitchFamily="18" charset="0"/>
              </a:rPr>
              <a:t>Tsai</a:t>
            </a:r>
          </a:p>
          <a:p>
            <a:r>
              <a:rPr lang="en-US" altLang="zh-TW" dirty="0" smtClean="0">
                <a:latin typeface="Times New Roman" panose="02020603050405020304" pitchFamily="18" charset="0"/>
                <a:cs typeface="Times New Roman" panose="02020603050405020304" pitchFamily="18" charset="0"/>
              </a:rPr>
              <a:t>Date:2015/04/28</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74398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1"/>
            <a:ext cx="9144000" cy="778598"/>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Abstract(1/2)</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0" y="869133"/>
            <a:ext cx="9144000" cy="5979814"/>
          </a:xfrm>
        </p:spPr>
        <p:txBody>
          <a:bodyPr>
            <a:normAutofit fontScale="92500" lnSpcReduction="20000"/>
          </a:bodyPr>
          <a:lstStyle/>
          <a:p>
            <a:pPr marL="0" indent="0">
              <a:lnSpc>
                <a:spcPct val="150000"/>
              </a:lnSpc>
              <a:buNone/>
            </a:pPr>
            <a:r>
              <a:rPr lang="en-US" altLang="zh-TW" dirty="0">
                <a:latin typeface="Times New Roman" panose="02020603050405020304" pitchFamily="18" charset="0"/>
                <a:cs typeface="Times New Roman" panose="02020603050405020304" pitchFamily="18" charset="0"/>
              </a:rPr>
              <a:t>Discovering and identifying system changes caused by events such as software installation and updates, configuration changes, and security patches are important functionalities for change management, security, compliance and problem diagnosis in emerging cloud platforms. Currently, most discovery tools use manually written rules, which require specific knowledge of software and systems. Approaches based on manually written rules are often fragile and require constant maintenance in this era of continuous integration. In this paper, we propose a novel “discovery by example” approach to autonomously search for and identify system changes.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880504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1"/>
            <a:ext cx="9144000" cy="778598"/>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Abstract(2/2)</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0" y="869132"/>
            <a:ext cx="9144000" cy="5988867"/>
          </a:xfrm>
        </p:spPr>
        <p:txBody>
          <a:bodyPr>
            <a:normAutofit fontScale="77500" lnSpcReduction="20000"/>
          </a:bodyPr>
          <a:lstStyle/>
          <a:p>
            <a:pPr marL="0" indent="0">
              <a:lnSpc>
                <a:spcPct val="150000"/>
              </a:lnSpc>
              <a:buNone/>
            </a:pPr>
            <a:r>
              <a:rPr lang="en-US" altLang="zh-TW" dirty="0">
                <a:latin typeface="Times New Roman" panose="02020603050405020304" pitchFamily="18" charset="0"/>
                <a:cs typeface="Times New Roman" panose="02020603050405020304" pitchFamily="18" charset="0"/>
              </a:rPr>
              <a:t>Our approach learns characteristic features of system changes automatically, without requiring any explicit rule definitions or specific knowledge of the underlying software or systems. In this approach, given a system change, our method searches a repository that contains previous stored system changes and returns those that are similar to it. We further explore the use of various forms of “fingerprints” to represent system changes efficiently and faithfully in a compact manner. We propose and evaluate two types of fingerprints: the “</a:t>
            </a:r>
            <a:r>
              <a:rPr lang="en-US" altLang="zh-TW" dirty="0" err="1">
                <a:latin typeface="Times New Roman" panose="02020603050405020304" pitchFamily="18" charset="0"/>
                <a:cs typeface="Times New Roman" panose="02020603050405020304" pitchFamily="18" charset="0"/>
              </a:rPr>
              <a:t>basename</a:t>
            </a:r>
            <a:r>
              <a:rPr lang="en-US" altLang="zh-TW" dirty="0">
                <a:latin typeface="Times New Roman" panose="02020603050405020304" pitchFamily="18" charset="0"/>
                <a:cs typeface="Times New Roman" panose="02020603050405020304" pitchFamily="18" charset="0"/>
              </a:rPr>
              <a:t> fingerprint” and the “1-D histogram fingerprint”. We show that both fingerprints exhibit different efficiency and accuracy trade-offs, and they can be effectively employed in different </a:t>
            </a:r>
            <a:r>
              <a:rPr lang="en-US" altLang="zh-TW" dirty="0" smtClean="0">
                <a:latin typeface="Times New Roman" panose="02020603050405020304" pitchFamily="18" charset="0"/>
                <a:cs typeface="Times New Roman" panose="02020603050405020304" pitchFamily="18" charset="0"/>
              </a:rPr>
              <a:t>use cases. </a:t>
            </a:r>
            <a:r>
              <a:rPr lang="en-US" altLang="zh-TW" dirty="0">
                <a:latin typeface="Times New Roman" panose="02020603050405020304" pitchFamily="18" charset="0"/>
                <a:cs typeface="Times New Roman" panose="02020603050405020304" pitchFamily="18" charset="0"/>
              </a:rPr>
              <a:t>We evaluate the performance of our approach with both techniques and </a:t>
            </a:r>
            <a:r>
              <a:rPr lang="en-US" altLang="zh-TW" dirty="0" smtClean="0">
                <a:latin typeface="Times New Roman" panose="02020603050405020304" pitchFamily="18" charset="0"/>
                <a:cs typeface="Times New Roman" panose="02020603050405020304" pitchFamily="18" charset="0"/>
              </a:rPr>
              <a:t>further </a:t>
            </a:r>
            <a:r>
              <a:rPr lang="en-US" altLang="zh-TW" dirty="0">
                <a:latin typeface="Times New Roman" panose="02020603050405020304" pitchFamily="18" charset="0"/>
                <a:cs typeface="Times New Roman" panose="02020603050405020304" pitchFamily="18" charset="0"/>
              </a:rPr>
              <a:t>present an application of it in system real-time streaming monitoring.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84335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Change set(1/3)</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3195" y="1690689"/>
            <a:ext cx="4601102" cy="4954588"/>
          </a:xfrm>
        </p:spPr>
      </p:pic>
      <p:sp>
        <p:nvSpPr>
          <p:cNvPr id="5" name="文字方塊 4"/>
          <p:cNvSpPr txBox="1"/>
          <p:nvPr/>
        </p:nvSpPr>
        <p:spPr>
          <a:xfrm>
            <a:off x="5082747" y="2300287"/>
            <a:ext cx="3888260" cy="4247317"/>
          </a:xfrm>
          <a:prstGeom prst="rect">
            <a:avLst/>
          </a:prstGeom>
          <a:noFill/>
        </p:spPr>
        <p:txBody>
          <a:bodyPr wrap="square" rtlCol="0">
            <a:spAutoFit/>
          </a:bodyPr>
          <a:lstStyle/>
          <a:p>
            <a:pPr>
              <a:lnSpc>
                <a:spcPct val="150000"/>
              </a:lnSpc>
            </a:pPr>
            <a:r>
              <a:rPr lang="en-US" altLang="zh-TW" dirty="0" smtClean="0">
                <a:latin typeface="Times New Roman" panose="02020603050405020304" pitchFamily="18" charset="0"/>
                <a:cs typeface="Times New Roman" panose="02020603050405020304" pitchFamily="18" charset="0"/>
              </a:rPr>
              <a:t>(1) If </a:t>
            </a:r>
            <a:r>
              <a:rPr lang="en-US" altLang="zh-TW" dirty="0">
                <a:latin typeface="Times New Roman" panose="02020603050405020304" pitchFamily="18" charset="0"/>
                <a:cs typeface="Times New Roman" panose="02020603050405020304" pitchFamily="18" charset="0"/>
              </a:rPr>
              <a:t>a feature is in frame2 but not in frame1, then it </a:t>
            </a:r>
            <a:r>
              <a:rPr lang="en-US" altLang="zh-TW" dirty="0" smtClean="0">
                <a:latin typeface="Times New Roman" panose="02020603050405020304" pitchFamily="18" charset="0"/>
                <a:cs typeface="Times New Roman" panose="02020603050405020304" pitchFamily="18" charset="0"/>
              </a:rPr>
              <a:t>is added </a:t>
            </a:r>
            <a:r>
              <a:rPr lang="en-US" altLang="zh-TW" dirty="0">
                <a:latin typeface="Times New Roman" panose="02020603050405020304" pitchFamily="18" charset="0"/>
                <a:cs typeface="Times New Roman" panose="02020603050405020304" pitchFamily="18" charset="0"/>
              </a:rPr>
              <a:t>to </a:t>
            </a:r>
            <a:r>
              <a:rPr lang="en-US" altLang="zh-TW" i="1" dirty="0" smtClean="0">
                <a:latin typeface="Times New Roman" panose="02020603050405020304" pitchFamily="18" charset="0"/>
                <a:cs typeface="Times New Roman" panose="02020603050405020304" pitchFamily="18" charset="0"/>
              </a:rPr>
              <a:t>additions</a:t>
            </a:r>
            <a:r>
              <a:rPr lang="en-US" altLang="zh-TW" dirty="0" smtClean="0">
                <a:latin typeface="Times New Roman" panose="02020603050405020304" pitchFamily="18" charset="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(2) If a feature is in both frames, but their attributes differ, then it is added to </a:t>
            </a:r>
            <a:r>
              <a:rPr lang="en-US" altLang="zh-TW" i="1" dirty="0" smtClean="0">
                <a:latin typeface="Times New Roman" panose="02020603050405020304" pitchFamily="18" charset="0"/>
                <a:cs typeface="Times New Roman" panose="02020603050405020304" pitchFamily="18" charset="0"/>
              </a:rPr>
              <a:t>modification</a:t>
            </a:r>
            <a:r>
              <a:rPr lang="en-US" altLang="zh-TW" dirty="0" smtClean="0">
                <a:latin typeface="Times New Roman" panose="02020603050405020304" pitchFamily="18" charset="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(3) If </a:t>
            </a:r>
            <a:r>
              <a:rPr lang="en-US" altLang="zh-TW" dirty="0">
                <a:latin typeface="Times New Roman" panose="02020603050405020304" pitchFamily="18" charset="0"/>
                <a:cs typeface="Times New Roman" panose="02020603050405020304" pitchFamily="18" charset="0"/>
              </a:rPr>
              <a:t>a feature is in both frames, and attributes match, then </a:t>
            </a:r>
            <a:r>
              <a:rPr lang="en-US" altLang="zh-TW" dirty="0" smtClean="0">
                <a:latin typeface="Times New Roman" panose="02020603050405020304" pitchFamily="18" charset="0"/>
                <a:cs typeface="Times New Roman" panose="02020603050405020304" pitchFamily="18" charset="0"/>
              </a:rPr>
              <a:t>it is </a:t>
            </a:r>
            <a:r>
              <a:rPr lang="en-US" altLang="zh-TW" dirty="0">
                <a:latin typeface="Times New Roman" panose="02020603050405020304" pitchFamily="18" charset="0"/>
                <a:cs typeface="Times New Roman" panose="02020603050405020304" pitchFamily="18" charset="0"/>
              </a:rPr>
              <a:t>added to </a:t>
            </a:r>
            <a:r>
              <a:rPr lang="en-US" altLang="zh-TW" i="1" dirty="0" smtClean="0">
                <a:latin typeface="Times New Roman" panose="02020603050405020304" pitchFamily="18" charset="0"/>
                <a:cs typeface="Times New Roman" panose="02020603050405020304" pitchFamily="18" charset="0"/>
              </a:rPr>
              <a:t>common</a:t>
            </a:r>
            <a:r>
              <a:rPr lang="en-US" altLang="zh-TW" dirty="0" smtClean="0">
                <a:latin typeface="Times New Roman" panose="02020603050405020304" pitchFamily="18" charset="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If </a:t>
            </a:r>
            <a:r>
              <a:rPr lang="en-US" altLang="zh-TW" dirty="0">
                <a:latin typeface="Times New Roman" panose="02020603050405020304" pitchFamily="18" charset="0"/>
                <a:cs typeface="Times New Roman" panose="02020603050405020304" pitchFamily="18" charset="0"/>
              </a:rPr>
              <a:t>a feature is not in frame2 but is in frame1, then it </a:t>
            </a:r>
            <a:r>
              <a:rPr lang="en-US" altLang="zh-TW" dirty="0" smtClean="0">
                <a:latin typeface="Times New Roman" panose="02020603050405020304" pitchFamily="18" charset="0"/>
                <a:cs typeface="Times New Roman" panose="02020603050405020304" pitchFamily="18" charset="0"/>
              </a:rPr>
              <a:t>is added </a:t>
            </a:r>
            <a:r>
              <a:rPr lang="en-US" altLang="zh-TW" dirty="0">
                <a:latin typeface="Times New Roman" panose="02020603050405020304" pitchFamily="18" charset="0"/>
                <a:cs typeface="Times New Roman" panose="02020603050405020304" pitchFamily="18" charset="0"/>
              </a:rPr>
              <a:t>to </a:t>
            </a:r>
            <a:r>
              <a:rPr lang="en-US" altLang="zh-TW" i="1" dirty="0">
                <a:latin typeface="Times New Roman" panose="02020603050405020304" pitchFamily="18" charset="0"/>
                <a:cs typeface="Times New Roman" panose="02020603050405020304" pitchFamily="18" charset="0"/>
              </a:rPr>
              <a:t>deletions</a:t>
            </a:r>
            <a:r>
              <a:rPr lang="en-US" altLang="zh-TW" dirty="0">
                <a:latin typeface="Times New Roman" panose="02020603050405020304" pitchFamily="18" charset="0"/>
                <a:cs typeface="Times New Roman" panose="02020603050405020304" pitchFamily="18" charset="0"/>
              </a:rPr>
              <a:t>.</a:t>
            </a:r>
            <a:endParaRPr lang="en-US" altLang="zh-TW" dirty="0" smtClean="0">
              <a:latin typeface="Times New Roman" panose="02020603050405020304" pitchFamily="18" charset="0"/>
              <a:cs typeface="Times New Roman" panose="02020603050405020304" pitchFamily="18" charset="0"/>
            </a:endParaRPr>
          </a:p>
        </p:txBody>
      </p:sp>
      <p:sp>
        <p:nvSpPr>
          <p:cNvPr id="3" name="文字方塊 2"/>
          <p:cNvSpPr txBox="1"/>
          <p:nvPr/>
        </p:nvSpPr>
        <p:spPr>
          <a:xfrm>
            <a:off x="5082747" y="1542473"/>
            <a:ext cx="3888260" cy="707886"/>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The state of the system is collected into a frame</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9797204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Change set(2/3)</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628650" y="1690689"/>
            <a:ext cx="7886700" cy="3990860"/>
          </a:xfrm>
        </p:spPr>
      </p:pic>
      <p:sp>
        <p:nvSpPr>
          <p:cNvPr id="5" name="文字方塊 4"/>
          <p:cNvSpPr txBox="1"/>
          <p:nvPr/>
        </p:nvSpPr>
        <p:spPr>
          <a:xfrm>
            <a:off x="628649" y="5799438"/>
            <a:ext cx="532730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smtClean="0">
                <a:latin typeface="Times New Roman" panose="02020603050405020304" pitchFamily="18" charset="0"/>
                <a:cs typeface="Times New Roman" panose="02020603050405020304" pitchFamily="18" charset="0"/>
              </a:rPr>
              <a:t>An example of the system state recorded in a frame.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924518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Change set(3/3)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smtClean="0"/>
              <a:t>The file feature is the most significant one for identifying system changes, and especially for software installations.</a:t>
            </a:r>
          </a:p>
        </p:txBody>
      </p:sp>
    </p:spTree>
    <p:extLst>
      <p:ext uri="{BB962C8B-B14F-4D97-AF65-F5344CB8AC3E}">
        <p14:creationId xmlns:p14="http://schemas.microsoft.com/office/powerpoint/2010/main" xmlns="" val="2460553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Framework</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19386" y="1690689"/>
            <a:ext cx="5144465" cy="4351338"/>
          </a:xfrm>
        </p:spPr>
      </p:pic>
      <p:sp>
        <p:nvSpPr>
          <p:cNvPr id="5" name="文字方塊 4"/>
          <p:cNvSpPr txBox="1"/>
          <p:nvPr/>
        </p:nvSpPr>
        <p:spPr>
          <a:xfrm>
            <a:off x="5494638" y="1690689"/>
            <a:ext cx="3517557" cy="4708981"/>
          </a:xfrm>
          <a:prstGeom prst="rect">
            <a:avLst/>
          </a:prstGeom>
          <a:noFill/>
        </p:spPr>
        <p:txBody>
          <a:bodyPr wrap="square" rtlCol="0">
            <a:spAutoFit/>
          </a:bodyPr>
          <a:lstStyle/>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Take an uncategorized change set C.</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Find change sets in the cloud similar to C.</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Extract two types of instance fingerprints from the change set.(</a:t>
            </a:r>
            <a:r>
              <a:rPr lang="en-US" altLang="zh-TW" sz="2000" i="1" dirty="0" smtClean="0">
                <a:latin typeface="Times New Roman" panose="02020603050405020304" pitchFamily="18" charset="0"/>
                <a:cs typeface="Times New Roman" panose="02020603050405020304" pitchFamily="18" charset="0"/>
              </a:rPr>
              <a:t>type1</a:t>
            </a:r>
            <a:r>
              <a:rPr lang="en-US" altLang="zh-TW" sz="2000" dirty="0" smtClean="0">
                <a:latin typeface="Times New Roman" panose="02020603050405020304" pitchFamily="18" charset="0"/>
                <a:cs typeface="Times New Roman" panose="02020603050405020304" pitchFamily="18" charset="0"/>
              </a:rPr>
              <a:t> and </a:t>
            </a:r>
            <a:r>
              <a:rPr lang="en-US" altLang="zh-TW" sz="2000" i="1" dirty="0" smtClean="0">
                <a:latin typeface="Times New Roman" panose="02020603050405020304" pitchFamily="18" charset="0"/>
                <a:cs typeface="Times New Roman" panose="02020603050405020304" pitchFamily="18" charset="0"/>
              </a:rPr>
              <a:t>type2</a:t>
            </a:r>
            <a:r>
              <a:rPr lang="en-US" altLang="zh-TW" sz="2000" dirty="0" smtClean="0">
                <a:latin typeface="Times New Roman" panose="02020603050405020304" pitchFamily="18" charset="0"/>
                <a:cs typeface="Times New Roman" panose="02020603050405020304" pitchFamily="18" charset="0"/>
              </a:rPr>
              <a:t>)</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First filter examines the </a:t>
            </a:r>
            <a:r>
              <a:rPr lang="en-US" altLang="zh-TW" sz="2000" i="1" dirty="0" smtClean="0">
                <a:latin typeface="Times New Roman" panose="02020603050405020304" pitchFamily="18" charset="0"/>
                <a:cs typeface="Times New Roman" panose="02020603050405020304" pitchFamily="18" charset="0"/>
              </a:rPr>
              <a:t>type1</a:t>
            </a:r>
            <a:r>
              <a:rPr lang="en-US" altLang="zh-TW" sz="2000" dirty="0" smtClean="0">
                <a:latin typeface="Times New Roman" panose="02020603050405020304" pitchFamily="18" charset="0"/>
                <a:cs typeface="Times New Roman" panose="02020603050405020304" pitchFamily="18" charset="0"/>
              </a:rPr>
              <a:t> fingerprints for all the change sets in the repository.</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Send change sets to second filter which similar to </a:t>
            </a:r>
            <a:r>
              <a:rPr lang="en-US" altLang="zh-TW" sz="2000" i="1" dirty="0" smtClean="0">
                <a:latin typeface="Times New Roman" panose="02020603050405020304" pitchFamily="18" charset="0"/>
                <a:cs typeface="Times New Roman" panose="02020603050405020304" pitchFamily="18" charset="0"/>
              </a:rPr>
              <a:t>type1 </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Examines </a:t>
            </a:r>
            <a:r>
              <a:rPr lang="en-US" altLang="zh-TW" sz="2000" i="1" dirty="0" smtClean="0">
                <a:latin typeface="Times New Roman" panose="02020603050405020304" pitchFamily="18" charset="0"/>
                <a:cs typeface="Times New Roman" panose="02020603050405020304" pitchFamily="18" charset="0"/>
              </a:rPr>
              <a:t>type2</a:t>
            </a:r>
            <a:r>
              <a:rPr lang="en-US" altLang="zh-TW" sz="2000" dirty="0" smtClean="0">
                <a:latin typeface="Times New Roman" panose="02020603050405020304" pitchFamily="18" charset="0"/>
                <a:cs typeface="Times New Roman" panose="02020603050405020304" pitchFamily="18" charset="0"/>
              </a:rPr>
              <a:t>.</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Output the change sets that meet the similarity criterion.</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7583756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Repository &amp; fingerprint</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0" y="2291052"/>
            <a:ext cx="5302519" cy="3703347"/>
          </a:xfrm>
        </p:spPr>
      </p:pic>
      <p:sp>
        <p:nvSpPr>
          <p:cNvPr id="3" name="文字方塊 2"/>
          <p:cNvSpPr txBox="1"/>
          <p:nvPr/>
        </p:nvSpPr>
        <p:spPr>
          <a:xfrm>
            <a:off x="5430982" y="1690689"/>
            <a:ext cx="3713018" cy="3785652"/>
          </a:xfrm>
          <a:prstGeom prst="rect">
            <a:avLst/>
          </a:prstGeom>
          <a:noFill/>
        </p:spPr>
        <p:txBody>
          <a:bodyPr wrap="square" rtlCol="0">
            <a:spAutoFit/>
          </a:bodyPr>
          <a:lstStyle/>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Group the fingerprint together as a family.</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Label the family by the name of event.</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The repository is automatically maintained and updated in some fixed periods, e.g., in mid-night.</a:t>
            </a:r>
          </a:p>
          <a:p>
            <a:pPr marL="342900" indent="-342900">
              <a:buAutoNum type="arabicPeriod"/>
            </a:pPr>
            <a:r>
              <a:rPr lang="en-US" altLang="zh-TW" sz="2000" dirty="0" smtClean="0">
                <a:latin typeface="Times New Roman" panose="02020603050405020304" pitchFamily="18" charset="0"/>
                <a:cs typeface="Times New Roman" panose="02020603050405020304" pitchFamily="18" charset="0"/>
              </a:rPr>
              <a:t>One can manually update the repository if necessary.</a:t>
            </a:r>
          </a:p>
          <a:p>
            <a:pPr marL="342900" indent="-342900">
              <a:buAutoNum type="arabicPeriod"/>
            </a:pPr>
            <a:r>
              <a:rPr lang="en-US" altLang="zh-TW" sz="2000" dirty="0">
                <a:latin typeface="Times New Roman" panose="02020603050405020304" pitchFamily="18" charset="0"/>
                <a:cs typeface="Times New Roman" panose="02020603050405020304" pitchFamily="18" charset="0"/>
              </a:rPr>
              <a:t>A fingerprint is a subset of a change set</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78908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2435" y="365126"/>
            <a:ext cx="8902606" cy="1325563"/>
          </a:xfrm>
        </p:spPr>
        <p:txBody>
          <a:bodyPr/>
          <a:lstStyle/>
          <a:p>
            <a:r>
              <a:rPr lang="en-US" altLang="zh-TW" dirty="0" smtClean="0">
                <a:latin typeface="Times New Roman" panose="02020603050405020304" pitchFamily="18" charset="0"/>
                <a:cs typeface="Times New Roman" panose="02020603050405020304" pitchFamily="18" charset="0"/>
              </a:rPr>
              <a:t>Base-name Instance Fingerprint(1/2)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65903" y="1825625"/>
                <a:ext cx="9012194" cy="4945878"/>
              </a:xfrm>
            </p:spPr>
            <p:txBody>
              <a:bodyPr/>
              <a:lstStyle/>
              <a:p>
                <a:r>
                  <a:rPr lang="en-US" altLang="zh-TW" dirty="0" smtClean="0">
                    <a:latin typeface="Times New Roman" panose="02020603050405020304" pitchFamily="18" charset="0"/>
                    <a:cs typeface="Times New Roman" panose="02020603050405020304" pitchFamily="18" charset="0"/>
                  </a:rPr>
                  <a:t>Base-name is the name of the file, without its directory information.</a:t>
                </a:r>
              </a:p>
              <a:p>
                <a:r>
                  <a:rPr lang="en-US" altLang="zh-TW" dirty="0" smtClean="0">
                    <a:latin typeface="Times New Roman" panose="02020603050405020304" pitchFamily="18" charset="0"/>
                    <a:cs typeface="Times New Roman" panose="02020603050405020304" pitchFamily="18" charset="0"/>
                  </a:rPr>
                  <a:t>A list of the base-names of all added and modified file features in a change set.</a:t>
                </a:r>
              </a:p>
              <a:p>
                <a:r>
                  <a:rPr lang="en-US" altLang="zh-TW" dirty="0" smtClean="0">
                    <a:latin typeface="Times New Roman" panose="02020603050405020304" pitchFamily="18" charset="0"/>
                    <a:cs typeface="Times New Roman" panose="02020603050405020304" pitchFamily="18" charset="0"/>
                  </a:rPr>
                  <a:t>Base-name instance fingerprint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𝑓</m:t>
                        </m:r>
                      </m:e>
                      <m:sup>
                        <m:r>
                          <a:rPr lang="en-US" altLang="zh-TW" b="0" i="1" smtClean="0">
                            <a:latin typeface="Cambria Math" panose="02040503050406030204" pitchFamily="18" charset="0"/>
                          </a:rPr>
                          <m:t>𝑏𝑛</m:t>
                        </m:r>
                      </m:sup>
                    </m:sSup>
                  </m:oMath>
                </a14:m>
                <a:r>
                  <a:rPr lang="en-US" altLang="zh-TW" dirty="0" smtClean="0">
                    <a:latin typeface="Times New Roman" panose="02020603050405020304" pitchFamily="18" charset="0"/>
                    <a:cs typeface="Times New Roman" panose="02020603050405020304" pitchFamily="18" charset="0"/>
                  </a:rPr>
                  <a:t>.</a:t>
                </a:r>
              </a:p>
              <a:p>
                <a:r>
                  <a:rPr lang="en-US" altLang="zh-TW" dirty="0" smtClean="0">
                    <a:latin typeface="Times New Roman" panose="02020603050405020304" pitchFamily="18" charset="0"/>
                    <a:cs typeface="Times New Roman" panose="02020603050405020304" pitchFamily="18" charset="0"/>
                  </a:rPr>
                  <a:t>Length of instance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𝐿</m:t>
                        </m:r>
                      </m:e>
                      <m:sub>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𝑓</m:t>
                            </m:r>
                          </m:e>
                          <m:sup>
                            <m:r>
                              <a:rPr lang="en-US" altLang="zh-TW" b="0" i="1" smtClean="0">
                                <a:latin typeface="Cambria Math" panose="02040503050406030204" pitchFamily="18" charset="0"/>
                              </a:rPr>
                              <m:t>𝑏𝑛</m:t>
                            </m:r>
                          </m:sup>
                        </m:sSup>
                      </m:sub>
                    </m:sSub>
                  </m:oMath>
                </a14:m>
                <a:r>
                  <a:rPr lang="en-US" altLang="zh-TW" dirty="0" smtClean="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𝑐𝑜𝑚</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number of common base-names in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𝑏𝑛</m:t>
                        </m:r>
                      </m:sup>
                    </m:sSubSup>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𝑏𝑛</m:t>
                        </m:r>
                      </m:sup>
                    </m:sSubSup>
                  </m:oMath>
                </a14:m>
                <a:r>
                  <a:rPr lang="en-US" altLang="zh-TW" dirty="0" smtClean="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𝛼</m:t>
                        </m:r>
                      </m:e>
                      <m:sub>
                        <m:r>
                          <a:rPr lang="en-US" altLang="zh-TW" b="0" i="1" smtClean="0">
                            <a:latin typeface="Cambria Math" panose="02040503050406030204" pitchFamily="18" charset="0"/>
                          </a:rPr>
                          <m:t>1</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𝑐𝑜𝑚</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𝐿</m:t>
                        </m:r>
                      </m:e>
                      <m:sub>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𝑏𝑛</m:t>
                            </m:r>
                          </m:sup>
                        </m:sSubSup>
                      </m:sub>
                    </m:sSub>
                    <m:r>
                      <a:rPr lang="en-US" altLang="zh-TW" b="0" i="0" smtClean="0">
                        <a:latin typeface="Cambria Math" panose="02040503050406030204" pitchFamily="18" charset="0"/>
                      </a:rPr>
                      <m:t>.</m:t>
                    </m:r>
                  </m:oMath>
                </a14:m>
                <a:endParaRPr lang="en-US" altLang="zh-TW" b="0"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Similarity score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1</m:t>
                        </m:r>
                      </m:sub>
                    </m:sSub>
                  </m:oMath>
                </a14:m>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2</m:t>
                        </m:r>
                      </m:sub>
                    </m:sSub>
                  </m:oMath>
                </a14:m>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903" y="1825625"/>
                <a:ext cx="9012194" cy="4945878"/>
              </a:xfrm>
              <a:blipFill rotWithShape="0">
                <a:blip r:embed="rId2" cstate="print"/>
                <a:stretch>
                  <a:fillRect l="-1218" t="-20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40315369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2436" y="365126"/>
            <a:ext cx="8737600" cy="1325563"/>
          </a:xfrm>
        </p:spPr>
        <p:txBody>
          <a:bodyPr/>
          <a:lstStyle/>
          <a:p>
            <a:r>
              <a:rPr lang="en-US" altLang="zh-TW" dirty="0" smtClean="0">
                <a:latin typeface="Times New Roman" panose="02020603050405020304" pitchFamily="18" charset="0"/>
                <a:cs typeface="Times New Roman" panose="02020603050405020304" pitchFamily="18" charset="0"/>
              </a:rPr>
              <a:t>Base-name Instance Fingerprint(2/2)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65903" y="1825625"/>
                <a:ext cx="9012194" cy="4945878"/>
              </a:xfrm>
            </p:spPr>
            <p:txBody>
              <a:bodyPr/>
              <a:lstStyle/>
              <a:p>
                <a:pPr marL="514350" indent="-514350">
                  <a:lnSpc>
                    <a:spcPct val="150000"/>
                  </a:lnSpc>
                  <a:buAutoNum type="arabicPeriod"/>
                </a:pPr>
                <a:r>
                  <a:rPr lang="en-US" altLang="zh-TW" dirty="0" smtClean="0">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1</m:t>
                        </m:r>
                      </m:sub>
                    </m:sSub>
                  </m:oMath>
                </a14:m>
                <a:r>
                  <a:rPr lang="zh-TW" alt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zh-TW" altLang="en-US" i="1" dirty="0" smtClean="0">
                        <a:latin typeface="Cambria Math" panose="02040503050406030204" pitchFamily="18" charset="0"/>
                      </a:rPr>
                      <m:t>≈</m:t>
                    </m:r>
                  </m:oMath>
                </a14:m>
                <a:r>
                  <a:rPr lang="zh-TW" altLang="en-US"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2</m:t>
                        </m:r>
                      </m:sub>
                    </m:sSub>
                  </m:oMath>
                </a14:m>
                <a:r>
                  <a:rPr lang="zh-TW" alt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zh-TW" altLang="en-US" i="1" dirty="0">
                        <a:latin typeface="Cambria Math" panose="02040503050406030204" pitchFamily="18" charset="0"/>
                      </a:rPr>
                      <m:t>≈</m:t>
                    </m:r>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1, 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1</m:t>
                        </m:r>
                      </m:sub>
                      <m:sup>
                        <m:r>
                          <a:rPr lang="en-US" altLang="zh-TW" i="1">
                            <a:latin typeface="Cambria Math" panose="02040503050406030204" pitchFamily="18" charset="0"/>
                          </a:rPr>
                          <m:t>𝑏𝑛</m:t>
                        </m:r>
                      </m:sup>
                    </m:sSubSup>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is similar to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2</m:t>
                        </m:r>
                      </m:sub>
                      <m:sup>
                        <m:r>
                          <a:rPr lang="en-US" altLang="zh-TW" i="1">
                            <a:latin typeface="Cambria Math" panose="02040503050406030204" pitchFamily="18" charset="0"/>
                          </a:rPr>
                          <m:t>𝑏𝑛</m:t>
                        </m:r>
                      </m:sup>
                    </m:sSubSup>
                  </m:oMath>
                </a14:m>
                <a:endParaRPr lang="en-US" altLang="zh-TW"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1</m:t>
                        </m:r>
                      </m:sub>
                    </m:sSub>
                  </m:oMath>
                </a14:m>
                <a:r>
                  <a:rPr lang="zh-TW" altLang="en-US" i="1" dirty="0" smtClean="0">
                    <a:latin typeface="Times New Roman" panose="02020603050405020304" pitchFamily="18" charset="0"/>
                    <a:cs typeface="Times New Roman" panose="02020603050405020304" pitchFamily="18" charset="0"/>
                  </a:rPr>
                  <a:t> </a:t>
                </a:r>
                <a14:m>
                  <m:oMath xmlns:m="http://schemas.openxmlformats.org/officeDocument/2006/math">
                    <m:r>
                      <a:rPr lang="zh-TW" altLang="en-US" i="1" dirty="0">
                        <a:latin typeface="Cambria Math" panose="02040503050406030204" pitchFamily="18" charset="0"/>
                      </a:rPr>
                      <m:t>≈</m:t>
                    </m:r>
                  </m:oMath>
                </a14:m>
                <a:r>
                  <a:rPr lang="zh-TW" altLang="en-US" i="1"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1</a:t>
                </a:r>
                <a:r>
                  <a:rPr lang="en-US" altLang="zh-TW" i="1"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oMath>
                </a14:m>
                <a:r>
                  <a:rPr lang="zh-TW" altLang="en-US" i="1"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2</m:t>
                        </m:r>
                      </m:sub>
                    </m:sSub>
                  </m:oMath>
                </a14:m>
                <a:r>
                  <a:rPr lang="zh-TW" altLang="en-US" i="1" dirty="0" smtClean="0">
                    <a:latin typeface="Times New Roman" panose="02020603050405020304" pitchFamily="18" charset="0"/>
                    <a:cs typeface="Times New Roman" panose="02020603050405020304" pitchFamily="18" charset="0"/>
                  </a:rPr>
                  <a:t> </a:t>
                </a:r>
                <a:r>
                  <a:rPr lang="en-US" altLang="zh-TW" i="1"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1</m:t>
                        </m:r>
                      </m:sub>
                      <m:sup>
                        <m:r>
                          <a:rPr lang="en-US" altLang="zh-TW" i="1">
                            <a:latin typeface="Cambria Math" panose="02040503050406030204" pitchFamily="18" charset="0"/>
                          </a:rPr>
                          <m:t>𝑏𝑛</m:t>
                        </m:r>
                      </m:sup>
                    </m:sSubSup>
                  </m:oMath>
                </a14:m>
                <a:r>
                  <a:rPr lang="zh-TW" altLang="en-US" i="1"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is contained by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2</m:t>
                        </m:r>
                      </m:sub>
                      <m:sup>
                        <m:r>
                          <a:rPr lang="en-US" altLang="zh-TW" i="1">
                            <a:latin typeface="Cambria Math" panose="02040503050406030204" pitchFamily="18" charset="0"/>
                          </a:rPr>
                          <m:t>𝑏𝑛</m:t>
                        </m:r>
                      </m:sup>
                    </m:sSubSup>
                  </m:oMath>
                </a14:m>
                <a:endParaRPr lang="en-US" altLang="zh-TW" i="1"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2</m:t>
                        </m:r>
                      </m:sub>
                    </m:sSub>
                  </m:oMath>
                </a14:m>
                <a:r>
                  <a:rPr lang="zh-TW" alt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zh-TW" altLang="en-US" i="1" dirty="0">
                        <a:latin typeface="Cambria Math" panose="02040503050406030204" pitchFamily="18" charset="0"/>
                      </a:rPr>
                      <m:t>≈</m:t>
                    </m:r>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1 and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2</m:t>
                        </m:r>
                      </m:sub>
                    </m:sSub>
                  </m:oMath>
                </a14:m>
                <a:r>
                  <a:rPr lang="en-US" altLang="zh-TW"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r>
                  <a:rPr lang="zh-TW" altLang="en-US"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1</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2</m:t>
                        </m:r>
                      </m:sub>
                      <m:sup>
                        <m:r>
                          <a:rPr lang="en-US" altLang="zh-TW" i="1">
                            <a:latin typeface="Cambria Math" panose="02040503050406030204" pitchFamily="18" charset="0"/>
                          </a:rPr>
                          <m:t>𝑏𝑛</m:t>
                        </m:r>
                      </m:sup>
                    </m:sSubSup>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is contained by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1</m:t>
                        </m:r>
                      </m:sub>
                      <m:sup>
                        <m:r>
                          <a:rPr lang="en-US" altLang="zh-TW" i="1">
                            <a:latin typeface="Cambria Math" panose="02040503050406030204" pitchFamily="18" charset="0"/>
                          </a:rPr>
                          <m:t>𝑏𝑛</m:t>
                        </m:r>
                      </m:sup>
                    </m:sSubSup>
                  </m:oMath>
                </a14:m>
                <a:endParaRPr lang="en-US" altLang="zh-TW"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zh-TW" dirty="0" smtClean="0">
                    <a:latin typeface="Times New Roman" panose="02020603050405020304" pitchFamily="18" charset="0"/>
                    <a:cs typeface="Times New Roman" panose="02020603050405020304" pitchFamily="18" charset="0"/>
                  </a:rPr>
                  <a:t>Neither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1</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nor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2</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is close to 1, 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1</m:t>
                        </m:r>
                      </m:sub>
                      <m:sup>
                        <m:r>
                          <a:rPr lang="en-US" altLang="zh-TW" i="1">
                            <a:latin typeface="Cambria Math" panose="02040503050406030204" pitchFamily="18" charset="0"/>
                          </a:rPr>
                          <m:t>𝑏𝑛</m:t>
                        </m:r>
                      </m:sup>
                    </m:sSubSup>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2</m:t>
                        </m:r>
                      </m:sub>
                      <m:sup>
                        <m:r>
                          <a:rPr lang="en-US" altLang="zh-TW" i="1">
                            <a:latin typeface="Cambria Math" panose="02040503050406030204" pitchFamily="18" charset="0"/>
                          </a:rPr>
                          <m:t>𝑏𝑛</m:t>
                        </m:r>
                      </m:sup>
                    </m:sSubSup>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are not similar.</a:t>
                </a:r>
                <a:endParaRPr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903" y="1825625"/>
                <a:ext cx="9012194" cy="4945878"/>
              </a:xfrm>
              <a:blipFill rotWithShape="0">
                <a:blip r:embed="rId2" cstate="print"/>
                <a:stretch>
                  <a:fillRect l="-12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8674429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365126"/>
            <a:ext cx="9078097" cy="1325563"/>
          </a:xfrm>
        </p:spPr>
        <p:txBody>
          <a:bodyPr>
            <a:normAutofit/>
          </a:bodyPr>
          <a:lstStyle/>
          <a:p>
            <a:r>
              <a:rPr lang="en-US" altLang="zh-TW" sz="4200" dirty="0" smtClean="0">
                <a:latin typeface="Times New Roman" panose="02020603050405020304" pitchFamily="18" charset="0"/>
                <a:cs typeface="Times New Roman" panose="02020603050405020304" pitchFamily="18" charset="0"/>
              </a:rPr>
              <a:t>1-D Histogram Instance Fingerprint(1/4)</a:t>
            </a:r>
            <a:endParaRPr lang="zh-TW" altLang="en-US" sz="4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65903" y="1825625"/>
                <a:ext cx="9012194" cy="4954116"/>
              </a:xfrm>
            </p:spPr>
            <p:txBody>
              <a:bodyPr/>
              <a:lstStyle/>
              <a:p>
                <a:r>
                  <a:rPr lang="en-US" altLang="zh-TW" dirty="0" smtClean="0">
                    <a:latin typeface="Times New Roman" panose="02020603050405020304" pitchFamily="18" charset="0"/>
                    <a:cs typeface="Times New Roman" panose="02020603050405020304" pitchFamily="18" charset="0"/>
                  </a:rPr>
                  <a:t>Base-name </a:t>
                </a:r>
                <a:r>
                  <a:rPr lang="en-US" altLang="zh-TW" dirty="0">
                    <a:latin typeface="Times New Roman" panose="02020603050405020304" pitchFamily="18" charset="0"/>
                    <a:cs typeface="Times New Roman" panose="02020603050405020304" pitchFamily="18" charset="0"/>
                  </a:rPr>
                  <a:t>s</a:t>
                </a:r>
                <a:r>
                  <a:rPr lang="en-US" altLang="zh-TW" dirty="0" smtClean="0">
                    <a:latin typeface="Times New Roman" panose="02020603050405020304" pitchFamily="18" charset="0"/>
                    <a:cs typeface="Times New Roman" panose="02020603050405020304" pitchFamily="18" charset="0"/>
                  </a:rPr>
                  <a:t>till </a:t>
                </a:r>
                <a:r>
                  <a:rPr lang="en-US" altLang="zh-TW" dirty="0" smtClean="0">
                    <a:latin typeface="Times New Roman" panose="02020603050405020304" pitchFamily="18" charset="0"/>
                    <a:cs typeface="Times New Roman" panose="02020603050405020304" pitchFamily="18" charset="0"/>
                  </a:rPr>
                  <a:t>not sufficiently compact for early discard.</a:t>
                </a:r>
              </a:p>
              <a:p>
                <a:r>
                  <a:rPr lang="en-US" altLang="zh-TW" dirty="0" smtClean="0">
                    <a:latin typeface="Times New Roman" panose="02020603050405020304" pitchFamily="18" charset="0"/>
                    <a:cs typeface="Times New Roman" panose="02020603050405020304" pitchFamily="18" charset="0"/>
                  </a:rPr>
                  <a:t>Inspired by the image processing technique.</a:t>
                </a: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For each base-name in </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𝑓</m:t>
                        </m:r>
                      </m:e>
                      <m:sup>
                        <m:r>
                          <a:rPr lang="en-US" altLang="zh-TW" i="1">
                            <a:latin typeface="Cambria Math" panose="02040503050406030204" pitchFamily="18" charset="0"/>
                          </a:rPr>
                          <m:t>𝑏𝑛</m:t>
                        </m:r>
                      </m:sup>
                    </m:sSup>
                  </m:oMath>
                </a14:m>
                <a:r>
                  <a:rPr lang="en-US" altLang="zh-TW" dirty="0" smtClean="0">
                    <a:latin typeface="Times New Roman" panose="02020603050405020304" pitchFamily="18" charset="0"/>
                    <a:cs typeface="Times New Roman" panose="02020603050405020304" pitchFamily="18" charset="0"/>
                  </a:rPr>
                  <a:t>, calculate the ASCII sum of its characters.</a:t>
                </a: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Generate a counting histogram of these integers. Most of these ASCII sum integers are ranged in [200, 2000].</a:t>
                </a:r>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𝑏𝑖𝑛𝑠</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number of bins in histogram</a:t>
                </a:r>
              </a:p>
              <a:p>
                <a:pPr marL="0" indent="0">
                  <a:buNone/>
                </a:pPr>
                <a:r>
                  <a:rPr lang="en-US" altLang="zh-TW" dirty="0" smtClean="0">
                    <a:latin typeface="Times New Roman" panose="02020603050405020304" pitchFamily="18" charset="0"/>
                    <a:cs typeface="Times New Roman" panose="02020603050405020304" pitchFamily="18" charset="0"/>
                  </a:rPr>
                  <a:t>(0, 200, 200+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2000−200</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𝑏𝑖𝑛𝑠</m:t>
                            </m:r>
                          </m:sub>
                        </m:sSub>
                        <m:r>
                          <a:rPr lang="en-US" altLang="zh-TW" b="0" i="1" smtClean="0">
                            <a:latin typeface="Cambria Math" panose="02040503050406030204" pitchFamily="18" charset="0"/>
                          </a:rPr>
                          <m:t>−1</m:t>
                        </m:r>
                      </m:den>
                    </m:f>
                  </m:oMath>
                </a14:m>
                <a:r>
                  <a:rPr lang="en-US" altLang="zh-TW" dirty="0" smtClean="0">
                    <a:latin typeface="Times New Roman" panose="02020603050405020304" pitchFamily="18" charset="0"/>
                    <a:cs typeface="Times New Roman" panose="02020603050405020304" pitchFamily="18" charset="0"/>
                  </a:rPr>
                  <a:t>, 200+2* </a:t>
                </a:r>
                <a14:m>
                  <m:oMath xmlns:m="http://schemas.openxmlformats.org/officeDocument/2006/math">
                    <m:f>
                      <m:fPr>
                        <m:ctrlPr>
                          <a:rPr lang="en-US" altLang="zh-TW" i="1">
                            <a:latin typeface="Cambria Math" panose="02040503050406030204" pitchFamily="18" charset="0"/>
                          </a:rPr>
                        </m:ctrlPr>
                      </m:fPr>
                      <m:num>
                        <m:r>
                          <a:rPr lang="en-US" altLang="zh-TW" i="1">
                            <a:latin typeface="Cambria Math" panose="02040503050406030204" pitchFamily="18" charset="0"/>
                          </a:rPr>
                          <m:t>2000−200</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𝑏𝑖𝑛𝑠</m:t>
                            </m:r>
                          </m:sub>
                        </m:sSub>
                        <m:r>
                          <a:rPr lang="en-US" altLang="zh-TW" i="1">
                            <a:latin typeface="Cambria Math" panose="02040503050406030204" pitchFamily="18" charset="0"/>
                          </a:rPr>
                          <m:t>−1</m:t>
                        </m:r>
                      </m:den>
                    </m:f>
                  </m:oMath>
                </a14:m>
                <a:r>
                  <a:rPr lang="en-US" altLang="zh-TW" dirty="0" smtClean="0">
                    <a:latin typeface="Times New Roman" panose="02020603050405020304" pitchFamily="18" charset="0"/>
                    <a:cs typeface="Times New Roman" panose="02020603050405020304" pitchFamily="18" charset="0"/>
                  </a:rPr>
                  <a:t>, …, 2000- </a:t>
                </a:r>
                <a14:m>
                  <m:oMath xmlns:m="http://schemas.openxmlformats.org/officeDocument/2006/math">
                    <m:f>
                      <m:fPr>
                        <m:ctrlPr>
                          <a:rPr lang="en-US" altLang="zh-TW" i="1">
                            <a:latin typeface="Cambria Math" panose="02040503050406030204" pitchFamily="18" charset="0"/>
                          </a:rPr>
                        </m:ctrlPr>
                      </m:fPr>
                      <m:num>
                        <m:r>
                          <a:rPr lang="en-US" altLang="zh-TW" i="1">
                            <a:latin typeface="Cambria Math" panose="02040503050406030204" pitchFamily="18" charset="0"/>
                          </a:rPr>
                          <m:t>2000−200</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𝑏𝑖𝑛𝑠</m:t>
                            </m:r>
                          </m:sub>
                        </m:sSub>
                        <m:r>
                          <a:rPr lang="en-US" altLang="zh-TW" i="1">
                            <a:latin typeface="Cambria Math" panose="02040503050406030204" pitchFamily="18" charset="0"/>
                          </a:rPr>
                          <m:t>−1</m:t>
                        </m:r>
                      </m:den>
                    </m:f>
                  </m:oMath>
                </a14:m>
                <a:r>
                  <a:rPr lang="en-US" altLang="zh-TW" dirty="0" smtClean="0">
                    <a:latin typeface="Times New Roman" panose="02020603050405020304" pitchFamily="18" charset="0"/>
                    <a:cs typeface="Times New Roman" panose="02020603050405020304" pitchFamily="18" charset="0"/>
                  </a:rPr>
                  <a:t>, 2000,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903" y="1825625"/>
                <a:ext cx="9012194" cy="4954116"/>
              </a:xfrm>
              <a:blipFill rotWithShape="0">
                <a:blip r:embed="rId2" cstate="print"/>
                <a:stretch>
                  <a:fillRect l="-1421" t="-2091" r="-22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3880445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65903" y="1825625"/>
                <a:ext cx="9012194" cy="4954116"/>
              </a:xfrm>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3. Normalize the histogram by calculating</a:t>
                </a:r>
              </a:p>
              <a:p>
                <a:pPr marL="0" indent="0">
                  <a:buNone/>
                </a:pP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𝑛𝑜𝑟𝑚</m:t>
                        </m:r>
                      </m:sup>
                    </m:sSubSup>
                  </m:oMath>
                </a14:m>
                <a:r>
                  <a:rPr lang="en-US" altLang="zh-TW" dirty="0" smtClean="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oMath>
                </a14:m>
                <a:r>
                  <a:rPr lang="en-US" altLang="zh-TW" dirty="0" smtClean="0">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𝑏𝑖𝑛𝑠</m:t>
                            </m:r>
                          </m:sub>
                        </m:sSub>
                      </m:sup>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e>
                    </m:nary>
                  </m:oMath>
                </a14:m>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 = 1, 2,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𝑏𝑖𝑛𝑠</m:t>
                        </m:r>
                      </m:sub>
                    </m:sSub>
                  </m:oMath>
                </a14:m>
                <a:endParaRPr lang="en-US" altLang="zh-TW"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𝑏𝑖𝑛𝑠</m:t>
                            </m:r>
                          </m:sub>
                        </m:sSub>
                      </m:sup>
                      <m:e>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𝑛𝑜𝑟𝑚</m:t>
                            </m:r>
                          </m:sup>
                        </m:sSubSup>
                      </m:e>
                    </m:nary>
                  </m:oMath>
                </a14:m>
                <a:r>
                  <a:rPr lang="en-US" altLang="zh-TW" dirty="0" smtClean="0">
                    <a:latin typeface="Times New Roman" panose="02020603050405020304" pitchFamily="18" charset="0"/>
                    <a:cs typeface="Times New Roman" panose="02020603050405020304" pitchFamily="18" charset="0"/>
                  </a:rPr>
                  <a:t> = </a:t>
                </a:r>
                <a:r>
                  <a:rPr lang="en-US" altLang="zh-TW" dirty="0" smtClean="0">
                    <a:latin typeface="Times New Roman" panose="02020603050405020304" pitchFamily="18" charset="0"/>
                    <a:cs typeface="Times New Roman" panose="02020603050405020304" pitchFamily="18" charset="0"/>
                  </a:rPr>
                  <a:t>1</a:t>
                </a:r>
              </a:p>
              <a:p>
                <a:pPr marL="0" indent="0">
                  <a:buNone/>
                </a:pP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The length of the base-name list will not affect </a:t>
                </a:r>
                <a:r>
                  <a:rPr lang="en-US" altLang="zh-TW" dirty="0" smtClean="0">
                    <a:latin typeface="Times New Roman" panose="02020603050405020304" pitchFamily="18" charset="0"/>
                    <a:cs typeface="Times New Roman" panose="02020603050405020304" pitchFamily="18" charset="0"/>
                  </a:rPr>
                  <a:t>the discovery </a:t>
                </a:r>
                <a:r>
                  <a:rPr lang="en-US" altLang="zh-TW" dirty="0" smtClean="0">
                    <a:latin typeface="Times New Roman" panose="02020603050405020304" pitchFamily="18" charset="0"/>
                    <a:cs typeface="Times New Roman" panose="02020603050405020304" pitchFamily="18" charset="0"/>
                  </a:rPr>
                  <a:t>result.</a:t>
                </a:r>
              </a:p>
              <a:p>
                <a:r>
                  <a:rPr lang="en-US" altLang="zh-TW" dirty="0" smtClean="0">
                    <a:latin typeface="Times New Roman" panose="02020603050405020304" pitchFamily="18" charset="0"/>
                    <a:cs typeface="Times New Roman" panose="02020603050405020304" pitchFamily="18" charset="0"/>
                  </a:rPr>
                  <a:t>The similarity of two 1-D histogram instance fingerprints can be measured by a distance metric.</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903" y="1825625"/>
                <a:ext cx="9012194" cy="4954116"/>
              </a:xfrm>
              <a:blipFill rotWithShape="0">
                <a:blip r:embed="rId2" cstate="print"/>
                <a:stretch>
                  <a:fillRect l="-1421" t="-2091"/>
                </a:stretch>
              </a:blipFill>
            </p:spPr>
            <p:txBody>
              <a:bodyPr/>
              <a:lstStyle/>
              <a:p>
                <a:r>
                  <a:rPr lang="zh-TW" altLang="en-US">
                    <a:noFill/>
                  </a:rPr>
                  <a:t> </a:t>
                </a:r>
              </a:p>
            </p:txBody>
          </p:sp>
        </mc:Fallback>
      </mc:AlternateContent>
      <p:sp>
        <p:nvSpPr>
          <p:cNvPr id="5" name="標題 1"/>
          <p:cNvSpPr>
            <a:spLocks noGrp="1"/>
          </p:cNvSpPr>
          <p:nvPr>
            <p:ph type="title"/>
          </p:nvPr>
        </p:nvSpPr>
        <p:spPr>
          <a:xfrm>
            <a:off x="0" y="365126"/>
            <a:ext cx="9078097" cy="1325563"/>
          </a:xfrm>
        </p:spPr>
        <p:txBody>
          <a:bodyPr>
            <a:normAutofit/>
          </a:bodyPr>
          <a:lstStyle/>
          <a:p>
            <a:r>
              <a:rPr lang="en-US" altLang="zh-TW" sz="4200" dirty="0" smtClean="0">
                <a:latin typeface="Times New Roman" panose="02020603050405020304" pitchFamily="18" charset="0"/>
                <a:cs typeface="Times New Roman" panose="02020603050405020304" pitchFamily="18" charset="0"/>
              </a:rPr>
              <a:t>1-D Histogram Instance Fingerprint(2/4)</a:t>
            </a:r>
            <a:endParaRPr lang="zh-TW" altLang="en-US" sz="4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57532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65903" y="1825625"/>
                <a:ext cx="9012194" cy="4954116"/>
              </a:xfrm>
            </p:spPr>
            <p:txBody>
              <a:bodyPr/>
              <a:lstStyle/>
              <a:p>
                <a:pPr marL="514350" indent="-514350">
                  <a:buAutoNum type="arabicPeriod"/>
                </a:pPr>
                <a:r>
                  <a:rPr lang="en-US" altLang="zh-TW" dirty="0" smtClean="0">
                    <a:latin typeface="Times New Roman" panose="02020603050405020304" pitchFamily="18" charset="0"/>
                    <a:cs typeface="Times New Roman" panose="02020603050405020304" pitchFamily="18" charset="0"/>
                  </a:rPr>
                  <a:t>Two 1-D histogram instance fingerprints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r>
                          <a:rPr lang="en-US" altLang="zh-TW" b="0" i="1" smtClean="0">
                            <a:latin typeface="Cambria Math" panose="02040503050406030204" pitchFamily="18" charset="0"/>
                          </a:rPr>
                          <m:t>𝐷</m:t>
                        </m:r>
                      </m:sup>
                    </m:sSubSup>
                  </m:oMath>
                </a14:m>
                <a:r>
                  <a:rPr lang="en-US" altLang="zh-TW" dirty="0" smtClean="0">
                    <a:latin typeface="Times New Roman" panose="02020603050405020304" pitchFamily="18" charset="0"/>
                    <a:cs typeface="Times New Roman" panose="02020603050405020304" pitchFamily="18" charset="0"/>
                  </a:rPr>
                  <a:t> and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1</m:t>
                        </m:r>
                        <m:r>
                          <a:rPr lang="en-US" altLang="zh-TW" i="1">
                            <a:latin typeface="Cambria Math" panose="02040503050406030204" pitchFamily="18" charset="0"/>
                          </a:rPr>
                          <m:t>𝐷</m:t>
                        </m:r>
                      </m:sup>
                    </m:sSubSup>
                  </m:oMath>
                </a14:m>
                <a:endParaRPr lang="en-US" altLang="zh-TW" dirty="0" smtClean="0">
                  <a:latin typeface="Times New Roman" panose="02020603050405020304" pitchFamily="18" charset="0"/>
                  <a:cs typeface="Times New Roman" panose="02020603050405020304" pitchFamily="18" charset="0"/>
                </a:endParaRP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The distance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1,2</m:t>
                        </m:r>
                      </m:sub>
                    </m:sSub>
                  </m:oMath>
                </a14:m>
                <a:r>
                  <a:rPr lang="en-US" altLang="zh-TW" dirty="0" smtClean="0">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altLang="zh-TW" i="1" smtClean="0">
                            <a:latin typeface="Cambria Math" panose="02040503050406030204" pitchFamily="18" charset="0"/>
                          </a:rPr>
                        </m:ctrlPr>
                      </m:dPr>
                      <m:e>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r>
                              <a:rPr lang="en-US" altLang="zh-TW" b="0" i="1" smtClean="0">
                                <a:latin typeface="Cambria Math" panose="02040503050406030204" pitchFamily="18" charset="0"/>
                              </a:rPr>
                              <m:t>𝐷</m:t>
                            </m:r>
                          </m:sup>
                        </m:sSubSup>
                      </m:e>
                    </m:d>
                  </m:oMath>
                </a14:m>
                <a:r>
                  <a:rPr lang="en-US" altLang="zh-TW" dirty="0" smtClean="0">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altLang="zh-TW" i="1" smtClean="0">
                            <a:latin typeface="Cambria Math" panose="02040503050406030204" pitchFamily="18" charset="0"/>
                          </a:rPr>
                        </m:ctrlPr>
                      </m:dP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2</m:t>
                            </m:r>
                          </m:sub>
                          <m:sup>
                            <m:r>
                              <a:rPr lang="en-US" altLang="zh-TW" i="1">
                                <a:latin typeface="Cambria Math" panose="02040503050406030204" pitchFamily="18" charset="0"/>
                              </a:rPr>
                              <m:t>1</m:t>
                            </m:r>
                            <m:r>
                              <a:rPr lang="en-US" altLang="zh-TW" i="1">
                                <a:latin typeface="Cambria Math" panose="02040503050406030204" pitchFamily="18" charset="0"/>
                              </a:rPr>
                              <m:t>𝐷</m:t>
                            </m:r>
                          </m:sup>
                        </m:sSubSup>
                      </m:e>
                    </m:d>
                  </m:oMath>
                </a14:m>
                <a:r>
                  <a:rPr lang="en-US" altLang="zh-TW" dirty="0" smtClean="0">
                    <a:latin typeface="Times New Roman" panose="02020603050405020304" pitchFamily="18" charset="0"/>
                    <a:cs typeface="Times New Roman" panose="02020603050405020304" pitchFamily="18" charset="0"/>
                  </a:rPr>
                  <a:t> </a:t>
                </a:r>
              </a:p>
              <a:p>
                <a:pPr marL="514350" indent="-514350">
                  <a:buAutoNum type="arabicPeriod"/>
                </a:pPr>
                <a:endParaRPr lang="en-US" altLang="zh-TW" dirty="0" smtClean="0">
                  <a:latin typeface="Times New Roman" panose="02020603050405020304" pitchFamily="18" charset="0"/>
                  <a:cs typeface="Times New Roman" panose="02020603050405020304" pitchFamily="18" charset="0"/>
                </a:endParaRP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For normalized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𝑑</m:t>
                        </m:r>
                      </m:e>
                      <m:sub>
                        <m:r>
                          <a:rPr lang="en-US" altLang="zh-TW" i="1">
                            <a:latin typeface="Cambria Math" panose="02040503050406030204" pitchFamily="18" charset="0"/>
                          </a:rPr>
                          <m:t>1,2</m:t>
                        </m:r>
                      </m:sub>
                    </m:sSub>
                  </m:oMath>
                </a14:m>
                <a:r>
                  <a:rPr lang="en-US" altLang="zh-TW" dirty="0" smtClean="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i="1" smtClean="0">
                            <a:latin typeface="Cambria Math" panose="02040503050406030204" pitchFamily="18" charset="0"/>
                          </a:rPr>
                        </m:ctrlPr>
                      </m:fPr>
                      <m:num>
                        <m:d>
                          <m:dPr>
                            <m:begChr m:val="‖"/>
                            <m:endChr m:val=""/>
                            <m:ctrlPr>
                              <a:rPr lang="en-US" altLang="zh-TW" i="1">
                                <a:latin typeface="Cambria Math" panose="02040503050406030204" pitchFamily="18" charset="0"/>
                              </a:rPr>
                            </m:ctrlPr>
                          </m:dP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1</m:t>
                                </m:r>
                              </m:sub>
                              <m:sup>
                                <m:r>
                                  <a:rPr lang="en-US" altLang="zh-TW" i="1">
                                    <a:latin typeface="Cambria Math" panose="02040503050406030204" pitchFamily="18" charset="0"/>
                                  </a:rPr>
                                  <m:t>1</m:t>
                                </m:r>
                                <m:r>
                                  <a:rPr lang="en-US" altLang="zh-TW" i="1">
                                    <a:latin typeface="Cambria Math" panose="02040503050406030204" pitchFamily="18" charset="0"/>
                                  </a:rPr>
                                  <m:t>𝐷</m:t>
                                </m:r>
                              </m:sup>
                            </m:sSubSup>
                          </m:e>
                        </m:d>
                        <m:r>
                          <m:rPr>
                            <m:nor/>
                          </m:rPr>
                          <a:rPr lang="en-US" altLang="zh-TW" dirty="0">
                            <a:latin typeface="Times New Roman" panose="02020603050405020304" pitchFamily="18" charset="0"/>
                            <a:cs typeface="Times New Roman" panose="02020603050405020304" pitchFamily="18" charset="0"/>
                          </a:rPr>
                          <m:t> − </m:t>
                        </m:r>
                        <m:d>
                          <m:dPr>
                            <m:begChr m:val=""/>
                            <m:endChr m:val="‖"/>
                            <m:ctrlPr>
                              <a:rPr lang="en-US" altLang="zh-TW" i="1">
                                <a:latin typeface="Cambria Math" panose="02040503050406030204" pitchFamily="18" charset="0"/>
                              </a:rPr>
                            </m:ctrlPr>
                          </m:dP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2</m:t>
                                </m:r>
                              </m:sub>
                              <m:sup>
                                <m:r>
                                  <a:rPr lang="en-US" altLang="zh-TW" i="1">
                                    <a:latin typeface="Cambria Math" panose="02040503050406030204" pitchFamily="18" charset="0"/>
                                  </a:rPr>
                                  <m:t>1</m:t>
                                </m:r>
                                <m:r>
                                  <a:rPr lang="en-US" altLang="zh-TW" i="1">
                                    <a:latin typeface="Cambria Math" panose="02040503050406030204" pitchFamily="18" charset="0"/>
                                  </a:rPr>
                                  <m:t>𝐷</m:t>
                                </m:r>
                              </m:sup>
                            </m:sSubSup>
                          </m:e>
                        </m:d>
                        <m:r>
                          <m:rPr>
                            <m:nor/>
                          </m:rPr>
                          <a:rPr lang="en-US" altLang="zh-TW" dirty="0">
                            <a:latin typeface="Times New Roman" panose="02020603050405020304" pitchFamily="18" charset="0"/>
                            <a:cs typeface="Times New Roman" panose="02020603050405020304" pitchFamily="18" charset="0"/>
                          </a:rPr>
                          <m:t>  </m:t>
                        </m:r>
                      </m:num>
                      <m:den>
                        <m:rad>
                          <m:radPr>
                            <m:degHide m:val="on"/>
                            <m:ctrlPr>
                              <a:rPr lang="en-US" altLang="zh-TW" i="1" smtClean="0">
                                <a:latin typeface="Cambria Math" panose="02040503050406030204" pitchFamily="18" charset="0"/>
                              </a:rPr>
                            </m:ctrlPr>
                          </m:radPr>
                          <m:deg/>
                          <m:e>
                            <m:r>
                              <a:rPr lang="en-US" altLang="zh-TW" b="0" i="1" smtClean="0">
                                <a:latin typeface="Cambria Math" panose="02040503050406030204" pitchFamily="18" charset="0"/>
                              </a:rPr>
                              <m:t>2</m:t>
                            </m:r>
                          </m:e>
                        </m:rad>
                      </m:den>
                    </m:f>
                  </m:oMath>
                </a14:m>
                <a:endParaRPr lang="en-US" altLang="zh-TW" dirty="0" smtClean="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903" y="1825625"/>
                <a:ext cx="9012194" cy="4954116"/>
              </a:xfrm>
              <a:blipFill rotWithShape="0">
                <a:blip r:embed="rId2" cstate="print"/>
                <a:stretch>
                  <a:fillRect l="-1218" t="-1968"/>
                </a:stretch>
              </a:blipFill>
            </p:spPr>
            <p:txBody>
              <a:bodyPr/>
              <a:lstStyle/>
              <a:p>
                <a:r>
                  <a:rPr lang="zh-TW" altLang="en-US">
                    <a:noFill/>
                  </a:rPr>
                  <a:t> </a:t>
                </a:r>
              </a:p>
            </p:txBody>
          </p:sp>
        </mc:Fallback>
      </mc:AlternateContent>
      <p:sp>
        <p:nvSpPr>
          <p:cNvPr id="5" name="標題 1"/>
          <p:cNvSpPr>
            <a:spLocks noGrp="1"/>
          </p:cNvSpPr>
          <p:nvPr>
            <p:ph type="title"/>
          </p:nvPr>
        </p:nvSpPr>
        <p:spPr>
          <a:xfrm>
            <a:off x="0" y="365126"/>
            <a:ext cx="9078097" cy="1325563"/>
          </a:xfrm>
        </p:spPr>
        <p:txBody>
          <a:bodyPr>
            <a:normAutofit/>
          </a:bodyPr>
          <a:lstStyle/>
          <a:p>
            <a:r>
              <a:rPr lang="en-US" altLang="zh-TW" sz="4200" dirty="0" smtClean="0">
                <a:latin typeface="Times New Roman" panose="02020603050405020304" pitchFamily="18" charset="0"/>
                <a:cs typeface="Times New Roman" panose="02020603050405020304" pitchFamily="18" charset="0"/>
              </a:rPr>
              <a:t>1-D Histogram Instance Fingerprint(3/4)</a:t>
            </a:r>
            <a:endParaRPr lang="zh-TW" altLang="en-US" sz="4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72167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15691" y="1895567"/>
            <a:ext cx="8712617" cy="4652488"/>
          </a:xfrm>
        </p:spPr>
      </p:pic>
      <p:sp>
        <p:nvSpPr>
          <p:cNvPr id="5" name="標題 1"/>
          <p:cNvSpPr>
            <a:spLocks noGrp="1"/>
          </p:cNvSpPr>
          <p:nvPr>
            <p:ph type="title"/>
          </p:nvPr>
        </p:nvSpPr>
        <p:spPr>
          <a:xfrm>
            <a:off x="0" y="365126"/>
            <a:ext cx="9078097" cy="1325563"/>
          </a:xfrm>
        </p:spPr>
        <p:txBody>
          <a:bodyPr>
            <a:normAutofit/>
          </a:bodyPr>
          <a:lstStyle/>
          <a:p>
            <a:r>
              <a:rPr lang="en-US" altLang="zh-TW" sz="4200" dirty="0" smtClean="0">
                <a:latin typeface="Times New Roman" panose="02020603050405020304" pitchFamily="18" charset="0"/>
                <a:cs typeface="Times New Roman" panose="02020603050405020304" pitchFamily="18" charset="0"/>
              </a:rPr>
              <a:t>1-D Histogram Instance Fingerprint(4/4)</a:t>
            </a:r>
            <a:endParaRPr lang="zh-TW" altLang="en-US" sz="4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52745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365126"/>
            <a:ext cx="9078097" cy="1325563"/>
          </a:xfrm>
        </p:spPr>
        <p:txBody>
          <a:bodyPr/>
          <a:lstStyle/>
          <a:p>
            <a:pPr algn="ctr"/>
            <a:r>
              <a:rPr lang="en-US" altLang="zh-TW" dirty="0" smtClean="0">
                <a:latin typeface="Times New Roman" panose="02020603050405020304" pitchFamily="18" charset="0"/>
                <a:cs typeface="Times New Roman" panose="02020603050405020304" pitchFamily="18" charset="0"/>
              </a:rPr>
              <a:t>Discovery process with fingerprints(1/3)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65903" y="1825625"/>
                <a:ext cx="9012194" cy="4954116"/>
              </a:xfrm>
            </p:spPr>
            <p:txBody>
              <a:bodyPr/>
              <a:lstStyle/>
              <a:p>
                <a:pPr marL="514350" indent="-514350">
                  <a:buAutoNum type="arabicPeriod"/>
                </a:pPr>
                <a:r>
                  <a:rPr lang="en-US" altLang="zh-TW" dirty="0" smtClean="0">
                    <a:latin typeface="Times New Roman" panose="02020603050405020304" pitchFamily="18" charset="0"/>
                    <a:cs typeface="Times New Roman" panose="02020603050405020304" pitchFamily="18" charset="0"/>
                  </a:rPr>
                  <a:t>All families divided into two </a:t>
                </a:r>
                <a:r>
                  <a:rPr lang="en-US" altLang="zh-TW" dirty="0" smtClean="0">
                    <a:latin typeface="Times New Roman" panose="02020603050405020304" pitchFamily="18" charset="0"/>
                    <a:cs typeface="Times New Roman" panose="02020603050405020304" pitchFamily="18" charset="0"/>
                  </a:rPr>
                  <a:t>sets, </a:t>
                </a:r>
                <a:r>
                  <a:rPr lang="en-US" altLang="zh-TW" i="1" dirty="0" smtClean="0">
                    <a:latin typeface="Times New Roman" panose="02020603050405020304" pitchFamily="18" charset="0"/>
                    <a:cs typeface="Times New Roman" panose="02020603050405020304" pitchFamily="18" charset="0"/>
                  </a:rPr>
                  <a:t>candidate set</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and </a:t>
                </a:r>
                <a:r>
                  <a:rPr lang="en-US" altLang="zh-TW" i="1" dirty="0" smtClean="0">
                    <a:latin typeface="Times New Roman" panose="02020603050405020304" pitchFamily="18" charset="0"/>
                    <a:cs typeface="Times New Roman" panose="02020603050405020304" pitchFamily="18" charset="0"/>
                  </a:rPr>
                  <a:t>discard </a:t>
                </a:r>
                <a:r>
                  <a:rPr lang="en-US" altLang="zh-TW" i="1" dirty="0" smtClean="0">
                    <a:latin typeface="Times New Roman" panose="02020603050405020304" pitchFamily="18" charset="0"/>
                    <a:cs typeface="Times New Roman" panose="02020603050405020304" pitchFamily="18" charset="0"/>
                  </a:rPr>
                  <a:t>set</a:t>
                </a:r>
                <a:r>
                  <a:rPr lang="en-US" altLang="zh-TW" dirty="0" smtClean="0">
                    <a:latin typeface="Times New Roman" panose="02020603050405020304" pitchFamily="18" charset="0"/>
                    <a:cs typeface="Times New Roman" panose="02020603050405020304" pitchFamily="18" charset="0"/>
                  </a:rPr>
                  <a:t>.</a:t>
                </a:r>
              </a:p>
              <a:p>
                <a:pPr marL="514350" indent="-514350">
                  <a:buAutoNum type="arabicPeriod"/>
                </a:pPr>
                <a:r>
                  <a:rPr lang="en-US" altLang="zh-TW" dirty="0" smtClean="0">
                    <a:latin typeface="Times New Roman" panose="02020603050405020304" pitchFamily="18" charset="0"/>
                    <a:cs typeface="Times New Roman" panose="02020603050405020304" pitchFamily="18" charset="0"/>
                  </a:rPr>
                  <a:t>Candidate set that have at least one instance fingerprint passed the filter.</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For </a:t>
                </a:r>
                <a:r>
                  <a:rPr lang="en-US" altLang="zh-TW" dirty="0" smtClean="0">
                    <a:latin typeface="Times New Roman" panose="02020603050405020304" pitchFamily="18" charset="0"/>
                    <a:cs typeface="Times New Roman" panose="02020603050405020304" pitchFamily="18" charset="0"/>
                  </a:rPr>
                  <a:t>base-name fingerprint, set a similarity threshold </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𝑏𝑛</m:t>
                        </m:r>
                      </m:sup>
                    </m:sSup>
                    <m:r>
                      <a:rPr lang="en-US" altLang="zh-TW" b="0" i="1" smtClean="0">
                        <a:latin typeface="Cambria Math" panose="02040503050406030204" pitchFamily="18" charset="0"/>
                      </a:rPr>
                      <m:t>≤1</m:t>
                    </m:r>
                  </m:oMath>
                </a14:m>
                <a:endParaRPr lang="en-US" altLang="zh-TW" dirty="0" smtClean="0">
                  <a:latin typeface="Times New Roman" panose="02020603050405020304" pitchFamily="18" charset="0"/>
                  <a:cs typeface="Times New Roman" panose="02020603050405020304" pitchFamily="18" charset="0"/>
                </a:endParaRPr>
              </a:p>
              <a:p>
                <a:pPr marL="514350" indent="-514350">
                  <a:buAutoNum type="alphaLcPeriod"/>
                </a:pPr>
                <a:r>
                  <a:rPr lang="en-US" altLang="zh-TW" dirty="0" smtClean="0">
                    <a:latin typeface="Times New Roman" panose="02020603050405020304" pitchFamily="18" charset="0"/>
                    <a:cs typeface="Times New Roman" panose="02020603050405020304" pitchFamily="18" charset="0"/>
                  </a:rPr>
                  <a:t>Each pair(</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𝑞</m:t>
                        </m:r>
                      </m:sub>
                    </m:sSub>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𝑖</m:t>
                        </m:r>
                      </m:sub>
                    </m:sSub>
                  </m:oMath>
                </a14:m>
                <a:r>
                  <a:rPr lang="en-US" altLang="zh-TW" dirty="0" smtClean="0">
                    <a:latin typeface="Times New Roman" panose="02020603050405020304" pitchFamily="18" charset="0"/>
                    <a:cs typeface="Times New Roman" panose="02020603050405020304" pitchFamily="18" charset="0"/>
                  </a:rPr>
                  <a:t>) , if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𝑞</m:t>
                        </m:r>
                      </m:sub>
                    </m:sSub>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𝜃</m:t>
                        </m:r>
                      </m:e>
                      <m:sup>
                        <m:r>
                          <a:rPr lang="en-US" altLang="zh-TW" b="0" i="1" smtClean="0">
                            <a:latin typeface="Cambria Math" panose="02040503050406030204" pitchFamily="18" charset="0"/>
                          </a:rPr>
                          <m:t>𝑏𝑛</m:t>
                        </m:r>
                      </m:sup>
                    </m:sSup>
                  </m:oMath>
                </a14:m>
                <a:r>
                  <a:rPr lang="en-US" altLang="zh-TW" dirty="0" smtClean="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𝑖</m:t>
                        </m:r>
                      </m:sub>
                    </m:sSub>
                    <m:r>
                      <a:rPr lang="en-US" altLang="zh-TW" b="0" i="0" smtClean="0">
                        <a:latin typeface="Cambria Math" panose="02040503050406030204" pitchFamily="18" charset="0"/>
                      </a:rPr>
                      <m:t>≥ </m:t>
                    </m:r>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𝑏𝑛</m:t>
                        </m:r>
                      </m:sup>
                    </m:sSup>
                  </m:oMath>
                </a14:m>
                <a:r>
                  <a:rPr lang="en-US" altLang="zh-TW" dirty="0" smtClean="0">
                    <a:latin typeface="Times New Roman" panose="02020603050405020304" pitchFamily="18" charset="0"/>
                    <a:cs typeface="Times New Roman" panose="02020603050405020304" pitchFamily="18" charset="0"/>
                  </a:rPr>
                  <a:t> 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b="0" i="1" smtClean="0">
                            <a:latin typeface="Cambria Math" panose="02040503050406030204" pitchFamily="18" charset="0"/>
                          </a:rPr>
                          <m:t>𝑖</m:t>
                        </m:r>
                      </m:sub>
                      <m:sup>
                        <m:r>
                          <a:rPr lang="en-US" altLang="zh-TW" i="1">
                            <a:latin typeface="Cambria Math" panose="02040503050406030204" pitchFamily="18" charset="0"/>
                          </a:rPr>
                          <m:t>𝑏𝑛</m:t>
                        </m:r>
                      </m:sup>
                    </m:sSubSup>
                    <m:r>
                      <a:rPr lang="en-US" altLang="zh-TW" b="0" i="0" smtClean="0">
                        <a:latin typeface="Cambria Math" panose="02040503050406030204" pitchFamily="18" charset="0"/>
                      </a:rPr>
                      <m:t> </m:t>
                    </m:r>
                  </m:oMath>
                </a14:m>
                <a:r>
                  <a:rPr lang="en-US" altLang="zh-TW" dirty="0" smtClean="0">
                    <a:latin typeface="Times New Roman" panose="02020603050405020304" pitchFamily="18" charset="0"/>
                    <a:cs typeface="Times New Roman" panose="02020603050405020304" pitchFamily="18" charset="0"/>
                  </a:rPr>
                  <a:t> is similar to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b="0" i="1" smtClean="0">
                            <a:latin typeface="Cambria Math" panose="02040503050406030204" pitchFamily="18" charset="0"/>
                          </a:rPr>
                          <m:t>𝑞</m:t>
                        </m:r>
                      </m:sub>
                      <m:sup>
                        <m:r>
                          <a:rPr lang="en-US" altLang="zh-TW" i="1">
                            <a:latin typeface="Cambria Math" panose="02040503050406030204" pitchFamily="18" charset="0"/>
                          </a:rPr>
                          <m:t>𝑏𝑛</m:t>
                        </m:r>
                      </m:sup>
                    </m:sSubSup>
                  </m:oMath>
                </a14:m>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𝑖</m:t>
                        </m:r>
                      </m:sub>
                      <m:sup>
                        <m:r>
                          <a:rPr lang="en-US" altLang="zh-TW" i="1">
                            <a:latin typeface="Cambria Math" panose="02040503050406030204" pitchFamily="18" charset="0"/>
                          </a:rPr>
                          <m:t>𝑏𝑛</m:t>
                        </m:r>
                      </m:sup>
                    </m:sSubSup>
                  </m:oMath>
                </a14:m>
                <a:r>
                  <a:rPr lang="en-US" altLang="zh-TW" dirty="0" smtClean="0">
                    <a:latin typeface="Times New Roman" panose="02020603050405020304" pitchFamily="18" charset="0"/>
                    <a:cs typeface="Times New Roman" panose="02020603050405020304" pitchFamily="18" charset="0"/>
                  </a:rPr>
                  <a:t> passes the filter.</a:t>
                </a:r>
              </a:p>
              <a:p>
                <a:pPr marL="0" indent="0">
                  <a:buNone/>
                </a:pPr>
                <a:r>
                  <a:rPr lang="en-US" altLang="zh-TW" dirty="0" smtClean="0">
                    <a:latin typeface="Times New Roman" panose="02020603050405020304" pitchFamily="18" charset="0"/>
                    <a:cs typeface="Times New Roman" panose="02020603050405020304" pitchFamily="18" charset="0"/>
                  </a:rPr>
                  <a:t>For 1-D histogram instance fingerprint.</a:t>
                </a:r>
              </a:p>
              <a:p>
                <a:pPr marL="514350" indent="-514350">
                  <a:buAutoNum type="alphaLcPeriod"/>
                </a:pPr>
                <a:r>
                  <a:rPr lang="en-US" altLang="zh-TW" dirty="0" smtClean="0">
                    <a:latin typeface="Times New Roman" panose="02020603050405020304" pitchFamily="18" charset="0"/>
                    <a:cs typeface="Times New Roman" panose="02020603050405020304" pitchFamily="18" charset="0"/>
                  </a:rPr>
                  <a:t>A distance threshold </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b="0" i="1" smtClean="0">
                            <a:latin typeface="Cambria Math" panose="02040503050406030204" pitchFamily="18" charset="0"/>
                          </a:rPr>
                          <m:t>1</m:t>
                        </m:r>
                        <m:r>
                          <a:rPr lang="en-US" altLang="zh-TW" b="0" i="1" smtClean="0">
                            <a:latin typeface="Cambria Math" panose="02040503050406030204" pitchFamily="18" charset="0"/>
                          </a:rPr>
                          <m:t>𝐷</m:t>
                        </m:r>
                      </m:sup>
                    </m:sSup>
                    <m:r>
                      <a:rPr lang="en-US" altLang="zh-TW" b="0" i="1" smtClean="0">
                        <a:latin typeface="Cambria Math" panose="02040503050406030204" pitchFamily="18" charset="0"/>
                      </a:rPr>
                      <m:t>≤1</m:t>
                    </m:r>
                  </m:oMath>
                </a14:m>
                <a:endParaRPr lang="en-US" altLang="zh-TW" dirty="0" smtClean="0">
                  <a:latin typeface="Times New Roman" panose="02020603050405020304" pitchFamily="18" charset="0"/>
                  <a:cs typeface="Times New Roman" panose="02020603050405020304" pitchFamily="18" charset="0"/>
                </a:endParaRPr>
              </a:p>
              <a:p>
                <a:pPr marL="514350" indent="-514350">
                  <a:buAutoNum type="alphaLcPeriod"/>
                </a:pPr>
                <a:r>
                  <a:rPr lang="en-US" altLang="zh-TW" dirty="0" smtClean="0">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𝑑</m:t>
                        </m:r>
                      </m:e>
                      <m:sub>
                        <m:r>
                          <a:rPr lang="en-US" altLang="zh-TW" b="0" i="1" smtClean="0">
                            <a:latin typeface="Cambria Math" panose="02040503050406030204" pitchFamily="18" charset="0"/>
                          </a:rPr>
                          <m:t>𝑞</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&lt; </m:t>
                    </m:r>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1</m:t>
                        </m:r>
                        <m:r>
                          <a:rPr lang="en-US" altLang="zh-TW" i="1">
                            <a:latin typeface="Cambria Math" panose="02040503050406030204" pitchFamily="18" charset="0"/>
                          </a:rPr>
                          <m:t>𝐷</m:t>
                        </m:r>
                      </m:sup>
                    </m:sSup>
                    <m:r>
                      <a:rPr lang="en-US" altLang="zh-TW" b="0" i="0" smtClean="0">
                        <a:latin typeface="Cambria Math" panose="02040503050406030204" pitchFamily="18" charset="0"/>
                      </a:rPr>
                      <m:t>, </m:t>
                    </m:r>
                  </m:oMath>
                </a14:m>
                <a:r>
                  <a:rPr lang="en-US" altLang="zh-TW" dirty="0" smtClean="0">
                    <a:latin typeface="Times New Roman" panose="02020603050405020304" pitchFamily="18" charset="0"/>
                    <a:cs typeface="Times New Roman" panose="02020603050405020304" pitchFamily="18" charset="0"/>
                  </a:rPr>
                  <a:t>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i="1">
                            <a:latin typeface="Cambria Math" panose="02040503050406030204" pitchFamily="18" charset="0"/>
                          </a:rPr>
                          <m:t>𝑖</m:t>
                        </m:r>
                      </m:sub>
                      <m:sup>
                        <m:r>
                          <a:rPr lang="en-US" altLang="zh-TW" b="0" i="1" smtClean="0">
                            <a:latin typeface="Cambria Math" panose="02040503050406030204" pitchFamily="18" charset="0"/>
                          </a:rPr>
                          <m:t>1</m:t>
                        </m:r>
                        <m:r>
                          <a:rPr lang="en-US" altLang="zh-TW" b="0" i="1" smtClean="0">
                            <a:latin typeface="Cambria Math" panose="02040503050406030204" pitchFamily="18" charset="0"/>
                          </a:rPr>
                          <m:t>𝐷</m:t>
                        </m:r>
                      </m:sup>
                    </m:sSubSup>
                  </m:oMath>
                </a14:m>
                <a:r>
                  <a:rPr lang="en-US" altLang="zh-TW" dirty="0" smtClean="0">
                    <a:latin typeface="Times New Roman" panose="02020603050405020304" pitchFamily="18" charset="0"/>
                    <a:cs typeface="Times New Roman" panose="02020603050405020304" pitchFamily="18" charset="0"/>
                  </a:rPr>
                  <a:t> is similar to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𝑓</m:t>
                        </m:r>
                      </m:e>
                      <m:sub>
                        <m:r>
                          <a:rPr lang="en-US" altLang="zh-TW" b="0" i="1" smtClean="0">
                            <a:latin typeface="Cambria Math" panose="02040503050406030204" pitchFamily="18" charset="0"/>
                          </a:rPr>
                          <m:t>𝑞</m:t>
                        </m:r>
                      </m:sub>
                      <m:sup>
                        <m:r>
                          <a:rPr lang="en-US" altLang="zh-TW" b="0" i="1" smtClean="0">
                            <a:latin typeface="Cambria Math" panose="02040503050406030204" pitchFamily="18" charset="0"/>
                          </a:rPr>
                          <m:t>1</m:t>
                        </m:r>
                        <m:r>
                          <a:rPr lang="en-US" altLang="zh-TW" b="0" i="1" smtClean="0">
                            <a:latin typeface="Cambria Math" panose="02040503050406030204" pitchFamily="18" charset="0"/>
                          </a:rPr>
                          <m:t>𝐷</m:t>
                        </m:r>
                      </m:sup>
                    </m:sSubSup>
                  </m:oMath>
                </a14:m>
                <a:endParaRPr lang="en-US" altLang="zh-TW" dirty="0" smtClean="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903" y="1825625"/>
                <a:ext cx="9012194" cy="4954116"/>
              </a:xfrm>
              <a:blipFill rotWithShape="0">
                <a:blip r:embed="rId2" cstate="print"/>
                <a:stretch>
                  <a:fillRect l="-1421" t="-2091" b="-492"/>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301815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5903" y="1825625"/>
            <a:ext cx="9012194" cy="4954116"/>
          </a:xfrm>
        </p:spPr>
        <p:txBody>
          <a:bodyPr/>
          <a:lstStyle/>
          <a:p>
            <a:r>
              <a:rPr lang="en-US" altLang="zh-TW" dirty="0" smtClean="0">
                <a:latin typeface="Times New Roman" panose="02020603050405020304" pitchFamily="18" charset="0"/>
                <a:cs typeface="Times New Roman" panose="02020603050405020304" pitchFamily="18" charset="0"/>
              </a:rPr>
              <a:t>Families in the candidate set are considered similar to the query sample.</a:t>
            </a:r>
          </a:p>
          <a:p>
            <a:r>
              <a:rPr lang="en-US" altLang="zh-TW" dirty="0" smtClean="0">
                <a:latin typeface="Times New Roman" panose="02020603050405020304" pitchFamily="18" charset="0"/>
                <a:cs typeface="Times New Roman" panose="02020603050405020304" pitchFamily="18" charset="0"/>
              </a:rPr>
              <a:t>For example, if the “Tomcat installation” family is an candidate set, then the query sample may be change caused by Tomcat installation.</a:t>
            </a:r>
          </a:p>
        </p:txBody>
      </p:sp>
      <p:sp>
        <p:nvSpPr>
          <p:cNvPr id="6" name="標題 1"/>
          <p:cNvSpPr txBox="1">
            <a:spLocks/>
          </p:cNvSpPr>
          <p:nvPr/>
        </p:nvSpPr>
        <p:spPr>
          <a:xfrm>
            <a:off x="0" y="365126"/>
            <a:ext cx="907809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smtClean="0">
                <a:latin typeface="Times New Roman" panose="02020603050405020304" pitchFamily="18" charset="0"/>
                <a:cs typeface="Times New Roman" panose="02020603050405020304" pitchFamily="18" charset="0"/>
              </a:rPr>
              <a:t>Discovery process with fingerprints(2/3)</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35976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977892" y="1798730"/>
            <a:ext cx="5120818" cy="4897905"/>
          </a:xfrm>
        </p:spPr>
      </p:pic>
      <p:sp>
        <p:nvSpPr>
          <p:cNvPr id="5" name="標題 1"/>
          <p:cNvSpPr>
            <a:spLocks noGrp="1"/>
          </p:cNvSpPr>
          <p:nvPr>
            <p:ph type="title"/>
          </p:nvPr>
        </p:nvSpPr>
        <p:spPr>
          <a:xfrm>
            <a:off x="0" y="365126"/>
            <a:ext cx="9078097" cy="1325563"/>
          </a:xfrm>
        </p:spPr>
        <p:txBody>
          <a:bodyPr/>
          <a:lstStyle/>
          <a:p>
            <a:pPr algn="ctr"/>
            <a:r>
              <a:rPr lang="en-US" altLang="zh-TW" dirty="0" smtClean="0">
                <a:latin typeface="Times New Roman" panose="02020603050405020304" pitchFamily="18" charset="0"/>
                <a:cs typeface="Times New Roman" panose="02020603050405020304" pitchFamily="18" charset="0"/>
              </a:rPr>
              <a:t>Discovery process with fingerprints(3/3)</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41122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30659" y="2262230"/>
            <a:ext cx="4481383" cy="3732131"/>
          </a:xfrm>
        </p:spPr>
      </p:pic>
      <p:pic>
        <p:nvPicPr>
          <p:cNvPr id="5" name="圖片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802660" y="2262231"/>
            <a:ext cx="4283018" cy="3738165"/>
          </a:xfrm>
          <a:prstGeom prst="rect">
            <a:avLst/>
          </a:prstGeom>
        </p:spPr>
      </p:pic>
    </p:spTree>
    <p:extLst>
      <p:ext uri="{BB962C8B-B14F-4D97-AF65-F5344CB8AC3E}">
        <p14:creationId xmlns:p14="http://schemas.microsoft.com/office/powerpoint/2010/main" xmlns="" val="3329988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998510" y="1825625"/>
            <a:ext cx="5146979" cy="4351338"/>
          </a:xfrm>
        </p:spPr>
      </p:pic>
    </p:spTree>
    <p:extLst>
      <p:ext uri="{BB962C8B-B14F-4D97-AF65-F5344CB8AC3E}">
        <p14:creationId xmlns:p14="http://schemas.microsoft.com/office/powerpoint/2010/main" xmlns="" val="3562428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50161" y="2286944"/>
            <a:ext cx="4342045" cy="3701964"/>
          </a:xfrm>
        </p:spPr>
      </p:pic>
      <p:pic>
        <p:nvPicPr>
          <p:cNvPr id="5" name="圖片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492206" y="2176835"/>
            <a:ext cx="4495275" cy="3812073"/>
          </a:xfrm>
          <a:prstGeom prst="rect">
            <a:avLst/>
          </a:prstGeom>
        </p:spPr>
      </p:pic>
    </p:spTree>
    <p:extLst>
      <p:ext uri="{BB962C8B-B14F-4D97-AF65-F5344CB8AC3E}">
        <p14:creationId xmlns:p14="http://schemas.microsoft.com/office/powerpoint/2010/main" xmlns="" val="2987623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048558" y="1825625"/>
            <a:ext cx="5046884" cy="4351338"/>
          </a:xfrm>
        </p:spPr>
      </p:pic>
    </p:spTree>
    <p:extLst>
      <p:ext uri="{BB962C8B-B14F-4D97-AF65-F5344CB8AC3E}">
        <p14:creationId xmlns:p14="http://schemas.microsoft.com/office/powerpoint/2010/main" xmlns="" val="414461634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1015</TotalTime>
  <Words>665</Words>
  <Application>Microsoft Office PowerPoint</Application>
  <PresentationFormat>如螢幕大小 (4:3)</PresentationFormat>
  <Paragraphs>56</Paragraphs>
  <Slides>21</Slides>
  <Notes>0</Notes>
  <HiddenSlides>0</HiddenSlides>
  <MMClips>0</MMClips>
  <ScaleCrop>false</ScaleCrop>
  <HeadingPairs>
    <vt:vector size="4" baseType="variant">
      <vt:variant>
        <vt:lpstr>佈景主題</vt:lpstr>
      </vt:variant>
      <vt:variant>
        <vt:i4>1</vt:i4>
      </vt:variant>
      <vt:variant>
        <vt:lpstr>投影片標題</vt:lpstr>
      </vt:variant>
      <vt:variant>
        <vt:i4>21</vt:i4>
      </vt:variant>
    </vt:vector>
  </HeadingPairs>
  <TitlesOfParts>
    <vt:vector size="22" baseType="lpstr">
      <vt:lpstr>Office 佈景主題</vt:lpstr>
      <vt:lpstr>Detecting and Identifying System Changes in the Cloud via Discovery by Example</vt:lpstr>
      <vt:lpstr>Abstract(1/2)</vt:lpstr>
      <vt:lpstr>Abstract(2/2)</vt:lpstr>
      <vt:lpstr>Change set(1/3)</vt:lpstr>
      <vt:lpstr>Change set(2/3)</vt:lpstr>
      <vt:lpstr>Change set(3/3)</vt:lpstr>
      <vt:lpstr>Framework</vt:lpstr>
      <vt:lpstr>Repository &amp; fingerprint</vt:lpstr>
      <vt:lpstr>Base-name Instance Fingerprint(1/2)</vt:lpstr>
      <vt:lpstr>Base-name Instance Fingerprint(2/2)</vt:lpstr>
      <vt:lpstr>1-D Histogram Instance Fingerprint(1/4)</vt:lpstr>
      <vt:lpstr>1-D Histogram Instance Fingerprint(2/4)</vt:lpstr>
      <vt:lpstr>1-D Histogram Instance Fingerprint(3/4)</vt:lpstr>
      <vt:lpstr>1-D Histogram Instance Fingerprint(4/4)</vt:lpstr>
      <vt:lpstr>Discovery process with fingerprints(1/3)</vt:lpstr>
      <vt:lpstr>投影片 16</vt:lpstr>
      <vt:lpstr>Discovery process with fingerprints(3/3)</vt:lpstr>
      <vt:lpstr>Experimental results</vt:lpstr>
      <vt:lpstr>Experimental results</vt:lpstr>
      <vt:lpstr>Experimental results</vt:lpstr>
      <vt:lpstr>Experimental results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and Identifying System Changes in the Cloud via Discovery by Example</dc:title>
  <dc:creator>MONSTER J</dc:creator>
  <cp:lastModifiedBy>cse</cp:lastModifiedBy>
  <cp:revision>47</cp:revision>
  <dcterms:created xsi:type="dcterms:W3CDTF">2015-02-10T14:23:50Z</dcterms:created>
  <dcterms:modified xsi:type="dcterms:W3CDTF">2015-04-28T12:34:32Z</dcterms:modified>
</cp:coreProperties>
</file>