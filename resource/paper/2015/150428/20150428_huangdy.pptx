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olors1.xml" ContentType="application/vnd.ms-office.chartcolorstyle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charts/style1.xml" ContentType="application/vnd.ms-office.chart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9" r:id="rId4"/>
    <p:sldId id="277" r:id="rId5"/>
    <p:sldId id="278" r:id="rId6"/>
    <p:sldId id="279" r:id="rId7"/>
    <p:sldId id="280" r:id="rId8"/>
    <p:sldId id="281" r:id="rId9"/>
    <p:sldId id="261" r:id="rId10"/>
    <p:sldId id="272" r:id="rId11"/>
    <p:sldId id="273" r:id="rId12"/>
    <p:sldId id="274" r:id="rId13"/>
    <p:sldId id="275" r:id="rId14"/>
    <p:sldId id="288" r:id="rId15"/>
    <p:sldId id="283" r:id="rId16"/>
    <p:sldId id="276" r:id="rId17"/>
    <p:sldId id="284" r:id="rId18"/>
    <p:sldId id="285" r:id="rId19"/>
    <p:sldId id="265" r:id="rId20"/>
    <p:sldId id="287" r:id="rId21"/>
    <p:sldId id="286" r:id="rId22"/>
    <p:sldId id="266" r:id="rId23"/>
    <p:sldId id="264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7" autoAdjust="0"/>
    <p:restoredTop sz="94660"/>
  </p:normalViewPr>
  <p:slideViewPr>
    <p:cSldViewPr snapToGrid="0">
      <p:cViewPr>
        <p:scale>
          <a:sx n="90" d="100"/>
          <a:sy n="90" d="100"/>
        </p:scale>
        <p:origin x="269" y="3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Office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autoTitleDeleted val="1"/>
    <c:plotArea>
      <c:layout/>
      <c:pie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1</c:v>
                </c:pt>
              </c:strCache>
            </c:strRef>
          </c:tx>
          <c:dPt>
            <c:idx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numRef>
              <c:f>工作表1!$A$2:$A$5</c:f>
              <c:numCache>
                <c:formatCode>General</c:formatCode>
                <c:ptCount val="4"/>
              </c:numCache>
            </c:num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zero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1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F0E5A-5C88-44E5-9B88-2012A2AC7FCC}" type="datetimeFigureOut">
              <a:rPr lang="zh-TW" altLang="en-US" smtClean="0"/>
              <a:pPr/>
              <a:t>2015/4/28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78E8EF-6049-45AD-963A-669E4F87996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548988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068AF-0EE9-47C4-8AA9-10FB371C69F4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112038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068AF-0EE9-47C4-8AA9-10FB371C69F4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951745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39B03-18F1-49B7-9AF4-02587DA43DAE}" type="datetimeFigureOut">
              <a:rPr lang="zh-TW" altLang="en-US" smtClean="0"/>
              <a:pPr/>
              <a:t>2015/4/28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459D-8418-4214-9255-951AB8EF3A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6623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39B03-18F1-49B7-9AF4-02587DA43DAE}" type="datetimeFigureOut">
              <a:rPr lang="zh-TW" altLang="en-US" smtClean="0"/>
              <a:pPr/>
              <a:t>2015/4/28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459D-8418-4214-9255-951AB8EF3A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382781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39B03-18F1-49B7-9AF4-02587DA43DAE}" type="datetimeFigureOut">
              <a:rPr lang="zh-TW" altLang="en-US" smtClean="0"/>
              <a:pPr/>
              <a:t>2015/4/28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459D-8418-4214-9255-951AB8EF3A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561803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39B03-18F1-49B7-9AF4-02587DA43DAE}" type="datetimeFigureOut">
              <a:rPr lang="zh-TW" altLang="en-US" smtClean="0"/>
              <a:pPr/>
              <a:t>2015/4/28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459D-8418-4214-9255-951AB8EF3A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566112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39B03-18F1-49B7-9AF4-02587DA43DAE}" type="datetimeFigureOut">
              <a:rPr lang="zh-TW" altLang="en-US" smtClean="0"/>
              <a:pPr/>
              <a:t>2015/4/28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459D-8418-4214-9255-951AB8EF3A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683827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39B03-18F1-49B7-9AF4-02587DA43DAE}" type="datetimeFigureOut">
              <a:rPr lang="zh-TW" altLang="en-US" smtClean="0"/>
              <a:pPr/>
              <a:t>2015/4/28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459D-8418-4214-9255-951AB8EF3A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365306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39B03-18F1-49B7-9AF4-02587DA43DAE}" type="datetimeFigureOut">
              <a:rPr lang="zh-TW" altLang="en-US" smtClean="0"/>
              <a:pPr/>
              <a:t>2015/4/28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459D-8418-4214-9255-951AB8EF3A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838002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39B03-18F1-49B7-9AF4-02587DA43DAE}" type="datetimeFigureOut">
              <a:rPr lang="zh-TW" altLang="en-US" smtClean="0"/>
              <a:pPr/>
              <a:t>2015/4/28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459D-8418-4214-9255-951AB8EF3A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78383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39B03-18F1-49B7-9AF4-02587DA43DAE}" type="datetimeFigureOut">
              <a:rPr lang="zh-TW" altLang="en-US" smtClean="0"/>
              <a:pPr/>
              <a:t>2015/4/28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459D-8418-4214-9255-951AB8EF3A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414742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39B03-18F1-49B7-9AF4-02587DA43DAE}" type="datetimeFigureOut">
              <a:rPr lang="zh-TW" altLang="en-US" smtClean="0"/>
              <a:pPr/>
              <a:t>2015/4/28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459D-8418-4214-9255-951AB8EF3A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961943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39B03-18F1-49B7-9AF4-02587DA43DAE}" type="datetimeFigureOut">
              <a:rPr lang="zh-TW" altLang="en-US" smtClean="0"/>
              <a:pPr/>
              <a:t>2015/4/28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459D-8418-4214-9255-951AB8EF3A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857775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39B03-18F1-49B7-9AF4-02587DA43DAE}" type="datetimeFigureOut">
              <a:rPr lang="zh-TW" altLang="en-US" smtClean="0"/>
              <a:pPr/>
              <a:t>2015/4/28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1459D-8418-4214-9255-951AB8EF3A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99330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Parameters Tuning in Support Vector Regression </a:t>
            </a:r>
            <a:r>
              <a:rPr lang="en-US" altLang="zh-TW" sz="4000" b="1" dirty="0" smtClean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for Reliability </a:t>
            </a:r>
            <a:r>
              <a:rPr lang="en-US" altLang="zh-TW" sz="4000" b="1" dirty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Forecasting</a:t>
            </a:r>
            <a:endParaRPr lang="zh-TW" altLang="en-US" sz="4000" b="1" dirty="0">
              <a:latin typeface="Arial Rounded MT Bold" panose="020F0704030504030204" pitchFamily="34" charset="0"/>
              <a:cs typeface="Ebrima" panose="02000000000000000000" pitchFamily="2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sz="1400" b="1" dirty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Wei </a:t>
            </a:r>
            <a:r>
              <a:rPr lang="en-US" altLang="zh-TW" sz="1400" b="1" dirty="0" smtClean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Zhao, Tao Tao, </a:t>
            </a:r>
            <a:r>
              <a:rPr lang="en-US" altLang="zh-TW" sz="1400" b="1" dirty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Enrico </a:t>
            </a:r>
            <a:r>
              <a:rPr lang="en-US" altLang="zh-TW" sz="1400" b="1" dirty="0" smtClean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Zio</a:t>
            </a:r>
          </a:p>
          <a:p>
            <a:pPr algn="r"/>
            <a:r>
              <a:rPr lang="en-US" altLang="zh-TW" sz="1400" b="1" dirty="0">
                <a:latin typeface="Arial Rounded MT Bold" panose="020F0704030504030204" pitchFamily="34" charset="0"/>
              </a:rPr>
              <a:t>CHEMICAL ENGINEERING </a:t>
            </a:r>
            <a:r>
              <a:rPr lang="en-US" altLang="zh-TW" sz="1400" b="1" dirty="0" smtClean="0">
                <a:latin typeface="Arial Rounded MT Bold" panose="020F0704030504030204" pitchFamily="34" charset="0"/>
              </a:rPr>
              <a:t>TRANSACTIONS VOL</a:t>
            </a:r>
            <a:r>
              <a:rPr lang="en-US" altLang="zh-TW" sz="1400" b="1" dirty="0">
                <a:latin typeface="Arial Rounded MT Bold" panose="020F0704030504030204" pitchFamily="34" charset="0"/>
              </a:rPr>
              <a:t>. 33, </a:t>
            </a:r>
            <a:r>
              <a:rPr lang="en-US" altLang="zh-TW" sz="1400" b="1" dirty="0" smtClean="0">
                <a:latin typeface="Arial Rounded MT Bold" panose="020F0704030504030204" pitchFamily="34" charset="0"/>
              </a:rPr>
              <a:t>2013</a:t>
            </a:r>
          </a:p>
          <a:p>
            <a:pPr algn="r"/>
            <a:r>
              <a:rPr lang="en-US" altLang="zh-TW" sz="1400" b="1" dirty="0" smtClean="0">
                <a:latin typeface="Arial Rounded MT Bold" panose="020F0704030504030204" pitchFamily="34" charset="0"/>
                <a:cs typeface="Ebrima" panose="02000000000000000000" pitchFamily="2" charset="0"/>
              </a:rPr>
              <a:t>Presenter: Ding- Yao Huang</a:t>
            </a:r>
          </a:p>
          <a:p>
            <a:pPr algn="r"/>
            <a:r>
              <a:rPr lang="en-US" altLang="zh-TW" sz="1400" b="1" smtClean="0">
                <a:latin typeface="Arial Rounded MT Bold" panose="020F0704030504030204" pitchFamily="34" charset="0"/>
                <a:cs typeface="Ebrima" panose="02000000000000000000" pitchFamily="2" charset="0"/>
              </a:rPr>
              <a:t>Date:2015/04/28</a:t>
            </a:r>
            <a:endParaRPr lang="zh-TW" altLang="en-US" sz="1400" b="1" dirty="0">
              <a:latin typeface="Arial Rounded MT Bold" panose="020F0704030504030204" pitchFamily="34" charset="0"/>
              <a:cs typeface="Ebrima" panose="02000000000000000000" pitchFamily="2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9497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Abstract</a:t>
            </a:r>
            <a:endParaRPr lang="zh-TW" altLang="en-US" b="1" dirty="0">
              <a:latin typeface="Arial Rounded MT Bold" panose="020F0704030504030204" pitchFamily="34" charset="0"/>
              <a:ea typeface="Gungsuh" panose="02030600000101010101" pitchFamily="18" charset="-127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200" dirty="0" smtClean="0"/>
              <a:t>The recent and promising machine learning technique called support vector machine (SVM) has become a hot research subject in time series forecasting, since proposed from Statistic Learning Theory by </a:t>
            </a:r>
            <a:r>
              <a:rPr lang="en-US" altLang="zh-TW" sz="2200" dirty="0" err="1" smtClean="0"/>
              <a:t>Vapnik</a:t>
            </a:r>
            <a:r>
              <a:rPr lang="en-US" altLang="zh-TW" sz="2200" dirty="0" smtClean="0"/>
              <a:t>. </a:t>
            </a:r>
          </a:p>
          <a:p>
            <a:pPr marL="0" indent="0">
              <a:buNone/>
            </a:pPr>
            <a:endParaRPr lang="en-US" altLang="zh-TW" sz="2200" dirty="0"/>
          </a:p>
          <a:p>
            <a:pPr marL="0" indent="0">
              <a:buNone/>
            </a:pPr>
            <a:r>
              <a:rPr lang="en-US" altLang="zh-TW" sz="2200" dirty="0" smtClean="0"/>
              <a:t>As an important application of time series forecasting, reliability prediction by analyzing the historical time series data of system condition to predict the future system behavior and/or diagnose the possible system fault, has been solved successfully by SVM with high forecasting accuracy. For this, the critical problem is the selection of SVM parameters. </a:t>
            </a:r>
          </a:p>
        </p:txBody>
      </p:sp>
    </p:spTree>
    <p:extLst>
      <p:ext uri="{BB962C8B-B14F-4D97-AF65-F5344CB8AC3E}">
        <p14:creationId xmlns="" xmlns:p14="http://schemas.microsoft.com/office/powerpoint/2010/main" val="408562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Abstract</a:t>
            </a:r>
            <a:endParaRPr lang="zh-TW" altLang="en-US" b="1" dirty="0">
              <a:latin typeface="Arial Rounded MT Bold" panose="020F0704030504030204" pitchFamily="34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TW" sz="2400" dirty="0" smtClean="0"/>
              <a:t>Many </a:t>
            </a:r>
            <a:r>
              <a:rPr lang="en-US" altLang="zh-TW" sz="2400" dirty="0"/>
              <a:t>methods have been proposed, such as </a:t>
            </a:r>
            <a:r>
              <a:rPr lang="en-US" altLang="zh-TW" sz="2400" dirty="0" smtClean="0"/>
              <a:t>genetic algorithm</a:t>
            </a:r>
            <a:r>
              <a:rPr lang="en-US" altLang="zh-TW" sz="2400" dirty="0"/>
              <a:t>, particle swarm optimization and analytic selection; but there is no generally structured way, </a:t>
            </a:r>
            <a:r>
              <a:rPr lang="en-US" altLang="zh-TW" sz="2400" dirty="0" smtClean="0"/>
              <a:t>yet. </a:t>
            </a:r>
          </a:p>
          <a:p>
            <a:pPr marL="0" indent="0">
              <a:buNone/>
            </a:pP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 smtClean="0"/>
              <a:t>In </a:t>
            </a:r>
            <a:r>
              <a:rPr lang="en-US" altLang="zh-TW" sz="2400" dirty="0"/>
              <a:t>this paper, the capability of SVM to perform function fitting and reliability forecasting based on </a:t>
            </a:r>
            <a:r>
              <a:rPr lang="en-US" altLang="zh-TW" sz="2400" dirty="0" smtClean="0"/>
              <a:t>different methods </a:t>
            </a:r>
            <a:r>
              <a:rPr lang="en-US" altLang="zh-TW" sz="2400" dirty="0"/>
              <a:t>is investigated by experimenting on both artificial and real-world data. </a:t>
            </a:r>
            <a:endParaRPr lang="en-US" altLang="zh-TW" sz="2400" dirty="0" smtClean="0"/>
          </a:p>
          <a:p>
            <a:pPr marL="0" indent="0">
              <a:buNone/>
            </a:pP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 smtClean="0"/>
              <a:t>A </a:t>
            </a:r>
            <a:r>
              <a:rPr lang="en-US" altLang="zh-TW" sz="2400" dirty="0"/>
              <a:t>comparison of </a:t>
            </a:r>
            <a:r>
              <a:rPr lang="en-US" altLang="zh-TW" sz="2400" dirty="0" smtClean="0"/>
              <a:t>the methods </a:t>
            </a:r>
            <a:r>
              <a:rPr lang="en-US" altLang="zh-TW" sz="2400" dirty="0"/>
              <a:t>is offered on criteria of prediction accuracy and robustness. Finally, an attempt is made to </a:t>
            </a:r>
            <a:r>
              <a:rPr lang="en-US" altLang="zh-TW" sz="2400" dirty="0" smtClean="0"/>
              <a:t>obtain a </a:t>
            </a:r>
            <a:r>
              <a:rPr lang="en-US" altLang="zh-TW" sz="2400" dirty="0"/>
              <a:t>comparative optimal parameter selection method</a:t>
            </a:r>
            <a:endParaRPr lang="zh-TW" alt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31049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latin typeface="Arial Rounded MT Bold" panose="020F0704030504030204" pitchFamily="34" charset="0"/>
              </a:rPr>
              <a:t>Introduction </a:t>
            </a:r>
            <a:r>
              <a:rPr lang="en-US" altLang="zh-TW" sz="2400" b="1" dirty="0" smtClean="0">
                <a:latin typeface="Arial Rounded MT Bold" panose="020F0704030504030204" pitchFamily="34" charset="0"/>
              </a:rPr>
              <a:t>(Support Vector Regression)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11945" y="2395905"/>
            <a:ext cx="4008870" cy="2320925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0684" y="3931641"/>
            <a:ext cx="4531261" cy="1416695"/>
          </a:xfrm>
          <a:prstGeom prst="rect">
            <a:avLst/>
          </a:prstGeom>
        </p:spPr>
      </p:pic>
      <p:grpSp>
        <p:nvGrpSpPr>
          <p:cNvPr id="6" name="群組 5"/>
          <p:cNvGrpSpPr/>
          <p:nvPr/>
        </p:nvGrpSpPr>
        <p:grpSpPr>
          <a:xfrm>
            <a:off x="478863" y="5534561"/>
            <a:ext cx="6033407" cy="1323439"/>
            <a:chOff x="454479" y="4829345"/>
            <a:chExt cx="6033407" cy="1323439"/>
          </a:xfrm>
        </p:grpSpPr>
        <p:sp>
          <p:nvSpPr>
            <p:cNvPr id="12" name="文字方塊 11"/>
            <p:cNvSpPr txBox="1"/>
            <p:nvPr/>
          </p:nvSpPr>
          <p:spPr>
            <a:xfrm>
              <a:off x="454479" y="4829345"/>
              <a:ext cx="603340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 smtClean="0">
                  <a:latin typeface="+mj-ea"/>
                  <a:ea typeface="+mj-ea"/>
                </a:rPr>
                <a:t>x</a:t>
              </a:r>
              <a:r>
                <a:rPr lang="en-US" altLang="zh-TW" sz="2000" baseline="-25000" dirty="0" smtClean="0">
                  <a:latin typeface="+mj-ea"/>
                  <a:ea typeface="+mj-ea"/>
                </a:rPr>
                <a:t>i</a:t>
              </a:r>
              <a:r>
                <a:rPr lang="en-US" altLang="zh-TW" sz="2000" dirty="0" smtClean="0">
                  <a:latin typeface="+mj-ea"/>
                  <a:ea typeface="+mj-ea"/>
                </a:rPr>
                <a:t> </a:t>
              </a:r>
              <a:r>
                <a:rPr lang="zh-TW" altLang="en-US" sz="2000" dirty="0" smtClean="0">
                  <a:latin typeface="+mj-ea"/>
                  <a:ea typeface="+mj-ea"/>
                </a:rPr>
                <a:t>是輸入向量，</a:t>
              </a:r>
              <a:r>
                <a:rPr lang="en-US" altLang="zh-TW" sz="2000" dirty="0" err="1" smtClean="0">
                  <a:latin typeface="+mj-ea"/>
                  <a:ea typeface="+mj-ea"/>
                </a:rPr>
                <a:t>y</a:t>
              </a:r>
              <a:r>
                <a:rPr lang="en-US" altLang="zh-TW" sz="2000" baseline="-25000" dirty="0" err="1" smtClean="0">
                  <a:latin typeface="+mj-ea"/>
                  <a:ea typeface="+mj-ea"/>
                </a:rPr>
                <a:t>i</a:t>
              </a:r>
              <a:r>
                <a:rPr lang="en-US" altLang="zh-TW" sz="2000" baseline="-25000" dirty="0" smtClean="0">
                  <a:latin typeface="+mj-ea"/>
                  <a:ea typeface="+mj-ea"/>
                </a:rPr>
                <a:t> </a:t>
              </a:r>
              <a:r>
                <a:rPr lang="zh-TW" altLang="en-US" sz="2000" baseline="-25000" dirty="0" smtClean="0">
                  <a:latin typeface="+mj-ea"/>
                  <a:ea typeface="+mj-ea"/>
                </a:rPr>
                <a:t> </a:t>
              </a:r>
              <a:r>
                <a:rPr lang="zh-TW" altLang="en-US" sz="2000" dirty="0" smtClean="0">
                  <a:latin typeface="+mj-ea"/>
                  <a:ea typeface="+mj-ea"/>
                </a:rPr>
                <a:t>是實際目標值</a:t>
              </a:r>
              <a:endParaRPr lang="en-US" altLang="zh-TW" sz="2000" dirty="0" smtClean="0">
                <a:latin typeface="+mj-ea"/>
                <a:ea typeface="+mj-ea"/>
              </a:endParaRPr>
            </a:p>
            <a:p>
              <a:r>
                <a:rPr lang="en-US" altLang="zh-TW" sz="2000" dirty="0" smtClean="0"/>
                <a:t>                 </a:t>
              </a:r>
            </a:p>
            <a:p>
              <a:r>
                <a:rPr lang="en-US" altLang="zh-TW" sz="2000" dirty="0"/>
                <a:t>	</a:t>
              </a:r>
              <a:r>
                <a:rPr lang="zh-TW" altLang="en-US" sz="2000" dirty="0" smtClean="0"/>
                <a:t>               </a:t>
              </a:r>
              <a:r>
                <a:rPr lang="en-US" altLang="zh-TW" sz="2000" dirty="0" smtClean="0"/>
                <a:t> </a:t>
              </a:r>
              <a:r>
                <a:rPr lang="zh-TW" altLang="en-US" sz="2000" dirty="0"/>
                <a:t>是經驗誤差風險</a:t>
              </a:r>
              <a:r>
                <a:rPr lang="en-US" altLang="zh-TW" sz="2000" dirty="0"/>
                <a:t>(empirical </a:t>
              </a:r>
              <a:r>
                <a:rPr lang="en-US" altLang="zh-TW" sz="2000" dirty="0" smtClean="0"/>
                <a:t>error </a:t>
              </a:r>
              <a:r>
                <a:rPr lang="en-US" altLang="zh-TW" sz="2000" dirty="0"/>
                <a:t>risk) </a:t>
              </a:r>
              <a:endParaRPr lang="en-US" altLang="zh-TW" sz="2000" dirty="0" smtClean="0"/>
            </a:p>
            <a:p>
              <a:endParaRPr lang="en-US" altLang="zh-TW" sz="2000" dirty="0"/>
            </a:p>
          </p:txBody>
        </p:sp>
        <p:pic>
          <p:nvPicPr>
            <p:cNvPr id="15" name="圖片 1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4479" y="5337176"/>
              <a:ext cx="1695450" cy="619125"/>
            </a:xfrm>
            <a:prstGeom prst="rect">
              <a:avLst/>
            </a:prstGeom>
          </p:spPr>
        </p:pic>
      </p:grpSp>
      <p:pic>
        <p:nvPicPr>
          <p:cNvPr id="13" name="圖片 12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8863" y="2623109"/>
            <a:ext cx="2493612" cy="800701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280684" y="1533939"/>
            <a:ext cx="7887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Arial Rounded MT Bold" panose="020F0704030504030204" pitchFamily="34" charset="0"/>
              </a:rPr>
              <a:t>Support Vector </a:t>
            </a:r>
            <a:r>
              <a:rPr lang="en-US" altLang="zh-TW" b="1" dirty="0" smtClean="0">
                <a:latin typeface="Arial Rounded MT Bold" panose="020F0704030504030204" pitchFamily="34" charset="0"/>
              </a:rPr>
              <a:t>Regression</a:t>
            </a:r>
            <a:r>
              <a:rPr lang="zh-TW" altLang="en-US" b="1" dirty="0" smtClean="0">
                <a:latin typeface="Arial Rounded MT Bold" panose="020F0704030504030204" pitchFamily="34" charset="0"/>
              </a:rPr>
              <a:t> </a:t>
            </a:r>
            <a:r>
              <a:rPr lang="zh-TW" altLang="en-US" dirty="0" smtClean="0"/>
              <a:t>是</a:t>
            </a:r>
            <a:r>
              <a:rPr lang="zh-TW" altLang="en-US" dirty="0"/>
              <a:t>結構誤差</a:t>
            </a:r>
            <a:r>
              <a:rPr lang="zh-TW" altLang="en-US" dirty="0" smtClean="0"/>
              <a:t>風險最小化原則，</a:t>
            </a:r>
            <a:r>
              <a:rPr lang="zh-TW" altLang="en-US" dirty="0"/>
              <a:t>兼具經驗誤差風險和信賴區間雙方</a:t>
            </a:r>
            <a:r>
              <a:rPr lang="zh-TW" altLang="en-US" dirty="0" smtClean="0"/>
              <a:t>影響，而不是單方面求經驗誤差最小化</a:t>
            </a:r>
            <a:endParaRPr lang="zh-TW" altLang="en-US" baseline="-250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23624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latin typeface="Arial Rounded MT Bold" panose="020F0704030504030204" pitchFamily="34" charset="0"/>
              </a:rPr>
              <a:t>Introduction </a:t>
            </a:r>
            <a:r>
              <a:rPr lang="en-US" altLang="zh-TW" sz="2400" b="1" dirty="0" smtClean="0">
                <a:latin typeface="Arial Rounded MT Bold" panose="020F0704030504030204" pitchFamily="34" charset="0"/>
              </a:rPr>
              <a:t>(Support Vector Regression)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33696" y="6112783"/>
            <a:ext cx="3360964" cy="46460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80199" y="4019888"/>
            <a:ext cx="4007768" cy="1795028"/>
          </a:xfrm>
          <a:prstGeom prst="rect">
            <a:avLst/>
          </a:prstGeom>
        </p:spPr>
      </p:pic>
      <p:sp>
        <p:nvSpPr>
          <p:cNvPr id="3" name="向下箭號 2"/>
          <p:cNvSpPr/>
          <p:nvPr/>
        </p:nvSpPr>
        <p:spPr>
          <a:xfrm rot="19800831">
            <a:off x="3645532" y="3515548"/>
            <a:ext cx="669335" cy="8524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30689" y="1479944"/>
            <a:ext cx="3429000" cy="2009775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4261728" y="3305053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利用 </a:t>
            </a:r>
            <a:r>
              <a:rPr lang="en-US" altLang="zh-TW" dirty="0"/>
              <a:t>Lagrange multiplier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326739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latin typeface="Arial Rounded MT Bold" panose="020F0704030504030204" pitchFamily="34" charset="0"/>
              </a:rPr>
              <a:t>Introduction </a:t>
            </a:r>
            <a:r>
              <a:rPr lang="en-US" altLang="zh-TW" sz="2400" b="1" dirty="0" smtClean="0">
                <a:latin typeface="Arial Rounded MT Bold" panose="020F0704030504030204" pitchFamily="34" charset="0"/>
              </a:rPr>
              <a:t>(Support Vector Regression)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493486" y="5298886"/>
            <a:ext cx="7886700" cy="137613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25912" y="2026246"/>
            <a:ext cx="2686050" cy="180975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43454" y="3718252"/>
            <a:ext cx="3360964" cy="46460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82577" y="1656885"/>
            <a:ext cx="4007768" cy="1795028"/>
          </a:xfrm>
          <a:prstGeom prst="rect">
            <a:avLst/>
          </a:prstGeom>
        </p:spPr>
      </p:pic>
      <p:sp>
        <p:nvSpPr>
          <p:cNvPr id="3" name="向下箭號 2"/>
          <p:cNvSpPr/>
          <p:nvPr/>
        </p:nvSpPr>
        <p:spPr>
          <a:xfrm>
            <a:off x="4390345" y="4317452"/>
            <a:ext cx="669335" cy="8524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6961632" y="4985226"/>
            <a:ext cx="1759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對偶最大化</a:t>
            </a:r>
          </a:p>
        </p:txBody>
      </p:sp>
    </p:spTree>
    <p:extLst>
      <p:ext uri="{BB962C8B-B14F-4D97-AF65-F5344CB8AC3E}">
        <p14:creationId xmlns="" xmlns:p14="http://schemas.microsoft.com/office/powerpoint/2010/main" val="312556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latin typeface="Arial Rounded MT Bold" panose="020F0704030504030204" pitchFamily="34" charset="0"/>
              </a:rPr>
              <a:t>Introduction</a:t>
            </a:r>
            <a:r>
              <a:rPr lang="en-US" altLang="zh-TW" sz="3200" b="1" dirty="0" smtClean="0">
                <a:latin typeface="Arial Rounded MT Bold" panose="020F0704030504030204" pitchFamily="34" charset="0"/>
              </a:rPr>
              <a:t> </a:t>
            </a:r>
            <a:r>
              <a:rPr lang="en-US" altLang="zh-TW" sz="2000" b="1" dirty="0" smtClean="0">
                <a:latin typeface="Arial Rounded MT Bold" panose="020F0704030504030204" pitchFamily="34" charset="0"/>
              </a:rPr>
              <a:t>(</a:t>
            </a:r>
            <a:r>
              <a:rPr lang="en-US" altLang="zh-TW" sz="2400" b="1" dirty="0" smtClean="0">
                <a:latin typeface="Arial Rounded MT Bold" panose="020F0704030504030204" pitchFamily="34" charset="0"/>
              </a:rPr>
              <a:t>kernel function</a:t>
            </a:r>
            <a:r>
              <a:rPr lang="en-US" altLang="zh-TW" sz="2000" b="1" dirty="0" smtClean="0">
                <a:latin typeface="Arial Rounded MT Bold" panose="020F0704030504030204" pitchFamily="34" charset="0"/>
              </a:rPr>
              <a:t>)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679440" y="4106339"/>
            <a:ext cx="5526866" cy="1796815"/>
            <a:chOff x="628650" y="3204131"/>
            <a:chExt cx="5526866" cy="1796815"/>
          </a:xfrm>
        </p:grpSpPr>
        <p:sp>
          <p:nvSpPr>
            <p:cNvPr id="11" name="Rectangle 2"/>
            <p:cNvSpPr>
              <a:spLocks noChangeArrowheads="1"/>
            </p:cNvSpPr>
            <p:nvPr/>
          </p:nvSpPr>
          <p:spPr bwMode="auto">
            <a:xfrm>
              <a:off x="655292" y="3677507"/>
              <a:ext cx="5500224" cy="1323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457200" marR="0" lvl="0" indent="-4572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zh-TW" altLang="zh-TW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 Unicode MS" panose="020B0604020202020204" pitchFamily="34" charset="-120"/>
                </a:rPr>
                <a:t>linear: u'*v </a:t>
              </a:r>
              <a:endPara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0"/>
              </a:endParaRPr>
            </a:p>
            <a:p>
              <a:pPr marL="457200" marR="0" lvl="0" indent="-4572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zh-TW" altLang="zh-TW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 Unicode MS" panose="020B0604020202020204" pitchFamily="34" charset="-120"/>
                </a:rPr>
                <a:t>polynomial: (gamma*u'*v + coef0)^degree</a:t>
              </a:r>
              <a:endPara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0"/>
              </a:endParaRPr>
            </a:p>
            <a:p>
              <a:pPr marL="457200" marR="0" lvl="0" indent="-4572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zh-TW" altLang="zh-TW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 Unicode MS" panose="020B0604020202020204" pitchFamily="34" charset="-120"/>
                </a:rPr>
                <a:t>radial basis function: exp(-gamma*|u-v|^2) </a:t>
              </a:r>
              <a:endPara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0"/>
              </a:endParaRPr>
            </a:p>
            <a:p>
              <a:pPr marL="457200" marR="0" lvl="0" indent="-4572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zh-TW" altLang="zh-TW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 Unicode MS" panose="020B0604020202020204" pitchFamily="34" charset="-120"/>
                </a:rPr>
                <a:t>sigmoid: tanh(gamma*u'*v + coef0)</a:t>
              </a:r>
              <a:r>
                <a:rPr kumimoji="0" lang="zh-TW" altLang="zh-TW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zh-TW" altLang="zh-TW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628650" y="3204131"/>
              <a:ext cx="2593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>
                  <a:latin typeface="Arial Rounded MT Bold" panose="020F0704030504030204" pitchFamily="34" charset="0"/>
                </a:rPr>
                <a:t>kernel function</a:t>
              </a:r>
              <a:endParaRPr lang="zh-TW" altLang="en-US" dirty="0"/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628650" y="1289044"/>
            <a:ext cx="7671484" cy="2258236"/>
            <a:chOff x="416379" y="933233"/>
            <a:chExt cx="7671484" cy="2258236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6379" y="1997129"/>
              <a:ext cx="3545785" cy="812347"/>
            </a:xfrm>
            <a:prstGeom prst="rect">
              <a:avLst/>
            </a:prstGeom>
          </p:spPr>
        </p:pic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2629" y="1997129"/>
              <a:ext cx="3385234" cy="776313"/>
            </a:xfrm>
            <a:prstGeom prst="rect">
              <a:avLst/>
            </a:prstGeom>
          </p:spPr>
        </p:pic>
        <p:sp>
          <p:nvSpPr>
            <p:cNvPr id="9" name="向右箭號 8"/>
            <p:cNvSpPr/>
            <p:nvPr/>
          </p:nvSpPr>
          <p:spPr>
            <a:xfrm>
              <a:off x="3860965" y="2308266"/>
              <a:ext cx="841664" cy="14075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" name="直線單箭頭接點 9"/>
            <p:cNvCxnSpPr/>
            <p:nvPr/>
          </p:nvCxnSpPr>
          <p:spPr>
            <a:xfrm>
              <a:off x="1966246" y="1846482"/>
              <a:ext cx="223025" cy="3456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466607" y="933233"/>
              <a:ext cx="727059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 smtClean="0"/>
                <a:t>根據</a:t>
              </a:r>
              <a:r>
                <a:rPr lang="en-US" altLang="zh-TW" dirty="0" err="1" smtClean="0"/>
                <a:t>Karush</a:t>
              </a:r>
              <a:r>
                <a:rPr lang="en-US" altLang="zh-TW" dirty="0" smtClean="0"/>
                <a:t>-Kuhn-Tucker(KKT)</a:t>
              </a:r>
              <a:r>
                <a:rPr lang="zh-TW" altLang="en-US" dirty="0" smtClean="0"/>
                <a:t> </a:t>
              </a:r>
              <a:r>
                <a:rPr lang="en-US" altLang="zh-TW" dirty="0" smtClean="0"/>
                <a:t>conditions </a:t>
              </a:r>
              <a:r>
                <a:rPr lang="zh-TW" altLang="en-US" dirty="0" smtClean="0"/>
                <a:t>解</a:t>
              </a:r>
              <a:r>
                <a:rPr lang="en-US" altLang="zh-TW" dirty="0" smtClean="0"/>
                <a:t>b</a:t>
              </a:r>
            </a:p>
            <a:p>
              <a:r>
                <a:rPr lang="zh-TW" altLang="en-US" dirty="0"/>
                <a:t>可發現計算 </a:t>
              </a:r>
              <a:r>
                <a:rPr lang="en-US" altLang="zh-TW" dirty="0"/>
                <a:t>f(x) </a:t>
              </a:r>
              <a:r>
                <a:rPr lang="zh-TW" altLang="en-US" dirty="0"/>
                <a:t>的複雜度和 </a:t>
              </a:r>
              <a:r>
                <a:rPr lang="en-US" altLang="zh-TW" dirty="0"/>
                <a:t>x </a:t>
              </a:r>
              <a:r>
                <a:rPr lang="zh-TW" altLang="en-US" dirty="0"/>
                <a:t>的維度 </a:t>
              </a:r>
              <a:r>
                <a:rPr lang="zh-TW" altLang="en-US" dirty="0" smtClean="0"/>
                <a:t>無關，</a:t>
              </a:r>
              <a:r>
                <a:rPr lang="en-US" altLang="zh-TW" dirty="0" smtClean="0"/>
                <a:t>Support </a:t>
              </a:r>
              <a:r>
                <a:rPr lang="en-US" altLang="zh-TW" dirty="0"/>
                <a:t>Vector (</a:t>
              </a:r>
              <a:r>
                <a:rPr lang="el-GR" altLang="zh-TW" dirty="0"/>
                <a:t>α</a:t>
              </a:r>
              <a:r>
                <a:rPr lang="en-US" altLang="zh-TW" baseline="-25000" dirty="0" err="1"/>
                <a:t>i</a:t>
              </a:r>
              <a:r>
                <a:rPr lang="en-US" altLang="zh-TW" dirty="0"/>
                <a:t> − </a:t>
              </a:r>
              <a:r>
                <a:rPr lang="el-GR" altLang="zh-TW" dirty="0"/>
                <a:t>α</a:t>
              </a:r>
              <a:r>
                <a:rPr lang="en-US" altLang="zh-TW" baseline="-25000" dirty="0" err="1"/>
                <a:t>i</a:t>
              </a:r>
              <a:r>
                <a:rPr lang="en-US" altLang="zh-TW" baseline="30000" dirty="0"/>
                <a:t>∗</a:t>
              </a:r>
              <a:r>
                <a:rPr lang="en-US" altLang="zh-TW" dirty="0"/>
                <a:t> </a:t>
              </a:r>
              <a:r>
                <a:rPr lang="zh-TW" altLang="en-US" dirty="0"/>
                <a:t>不為零的 </a:t>
              </a:r>
              <a:r>
                <a:rPr lang="en-US" altLang="zh-TW" dirty="0"/>
                <a:t>instances) </a:t>
              </a:r>
              <a:r>
                <a:rPr lang="zh-TW" altLang="en-US" dirty="0"/>
                <a:t>的個數有關</a:t>
              </a:r>
            </a:p>
          </p:txBody>
        </p:sp>
        <p:sp>
          <p:nvSpPr>
            <p:cNvPr id="3" name="文字方塊 2"/>
            <p:cNvSpPr txBox="1"/>
            <p:nvPr/>
          </p:nvSpPr>
          <p:spPr>
            <a:xfrm>
              <a:off x="655292" y="2822137"/>
              <a:ext cx="5879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 smtClean="0"/>
                <a:t>將線性系統 轉成 非線性系統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42031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Analytic selection (AS)</a:t>
            </a:r>
            <a:endParaRPr lang="zh-TW" altLang="en-US" sz="4000" dirty="0">
              <a:latin typeface="Arial Rounded MT Bold" panose="020F0704030504030204" pitchFamily="34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80987" y="6368761"/>
            <a:ext cx="8541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V. </a:t>
            </a:r>
            <a:r>
              <a:rPr lang="en-US" altLang="zh-TW" sz="1200" dirty="0" err="1"/>
              <a:t>Cherkassky</a:t>
            </a:r>
            <a:r>
              <a:rPr lang="en-US" altLang="zh-TW" sz="1200" dirty="0"/>
              <a:t>, </a:t>
            </a:r>
            <a:r>
              <a:rPr lang="en-US" altLang="zh-TW" sz="1200" dirty="0" err="1"/>
              <a:t>Y.Ma</a:t>
            </a:r>
            <a:r>
              <a:rPr lang="en-US" altLang="zh-TW" sz="1200" dirty="0"/>
              <a:t>, Practical selection of </a:t>
            </a:r>
            <a:r>
              <a:rPr lang="en-US" altLang="zh-TW" sz="1200" dirty="0" smtClean="0"/>
              <a:t>SVM parameters </a:t>
            </a:r>
            <a:r>
              <a:rPr lang="en-US" altLang="zh-TW" sz="1200" dirty="0"/>
              <a:t>and noise estimation </a:t>
            </a:r>
            <a:r>
              <a:rPr lang="en-US" altLang="zh-TW" sz="1200" dirty="0" smtClean="0"/>
              <a:t>for </a:t>
            </a:r>
            <a:r>
              <a:rPr lang="fr-FR" altLang="zh-TW" sz="1200" dirty="0" smtClean="0"/>
              <a:t>SVM </a:t>
            </a:r>
            <a:r>
              <a:rPr lang="fr-FR" altLang="zh-TW" sz="1200" dirty="0"/>
              <a:t>regression, Neural Netw. 17 (2004) </a:t>
            </a:r>
            <a:r>
              <a:rPr lang="fr-FR" altLang="zh-TW" sz="1200" dirty="0" smtClean="0"/>
              <a:t>113–126</a:t>
            </a:r>
            <a:endParaRPr lang="zh-TW" altLang="en-US" sz="1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628650" y="1579555"/>
            <a:ext cx="605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Analytical selection C directly from the training data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628649" y="2171178"/>
                <a:ext cx="40316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 smtClean="0"/>
                  <a:t>C = max(|</a:t>
                </a:r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000" dirty="0" smtClean="0"/>
                  <a:t>+ 3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b="0" i="1" baseline="-25000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sz="2000" dirty="0" smtClean="0"/>
                  <a:t>|,|</a:t>
                </a:r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000" baseline="-25000" dirty="0"/>
                  <a:t> </a:t>
                </a:r>
                <a:r>
                  <a:rPr lang="en-US" altLang="zh-TW" sz="2000" baseline="-25000" dirty="0" smtClean="0"/>
                  <a:t> </a:t>
                </a:r>
                <a:r>
                  <a:rPr lang="en-US" altLang="zh-TW" sz="2000" dirty="0" smtClean="0"/>
                  <a:t>- 3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sz="2000" baseline="-25000" dirty="0" smtClean="0"/>
                  <a:t>y </a:t>
                </a:r>
                <a:r>
                  <a:rPr lang="en-US" altLang="zh-TW" sz="2000" dirty="0" smtClean="0"/>
                  <a:t>|)</a:t>
                </a:r>
                <a:endParaRPr lang="zh-TW" altLang="en-US" sz="2000" dirty="0"/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2171178"/>
                <a:ext cx="4031673" cy="400110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1513" t="-7576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628648" y="2844428"/>
                <a:ext cx="4031673" cy="958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altLang="zh-TW" sz="2400" dirty="0" smtClean="0"/>
                  <a:t>ε</a:t>
                </a:r>
                <a:r>
                  <a:rPr lang="en-US" altLang="zh-TW" sz="2400" dirty="0" smtClean="0"/>
                  <a:t> = 3</a:t>
                </a:r>
                <a14:m>
                  <m:oMath xmlns:m="http://schemas.openxmlformats.org/officeDocument/2006/math">
                    <m:r>
                      <a:rPr lang="zh-TW" altLang="en-US" sz="2400" i="1" dirty="0">
                        <a:latin typeface="Cambria Math" panose="02040503050406030204" pitchFamily="18" charset="0"/>
                      </a:rPr>
                      <m:t>𝜎</m:t>
                    </m:r>
                    <m:rad>
                      <m:radPr>
                        <m:degHide m:val="on"/>
                        <m:ctrlPr>
                          <a:rPr lang="el-GR" altLang="zh-TW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8" y="2844428"/>
                <a:ext cx="4031673" cy="958339"/>
              </a:xfrm>
              <a:prstGeom prst="rect">
                <a:avLst/>
              </a:prstGeom>
              <a:blipFill rotWithShape="0">
                <a:blip r:embed="rId3" cstate="print"/>
                <a:stretch>
                  <a:fillRect l="-22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5517573" y="2103532"/>
                <a:ext cx="3179618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dirty="0" smtClean="0"/>
                  <a:t> is the average of y  </a:t>
                </a:r>
              </a:p>
              <a:p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baseline="-25000" dirty="0" err="1" smtClean="0"/>
                  <a:t>y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is the standard deviation of y</a:t>
                </a:r>
                <a:endParaRPr lang="zh-TW" altLang="en-US" baseline="-25000" dirty="0"/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573" y="2103532"/>
                <a:ext cx="3179618" cy="669992"/>
              </a:xfrm>
              <a:prstGeom prst="rect">
                <a:avLst/>
              </a:prstGeom>
              <a:blipFill rotWithShape="0">
                <a:blip r:embed="rId4" cstate="print"/>
                <a:stretch>
                  <a:fillRect t="-4545" r="-192"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/>
          <p:cNvSpPr txBox="1"/>
          <p:nvPr/>
        </p:nvSpPr>
        <p:spPr>
          <a:xfrm>
            <a:off x="5517573" y="2823175"/>
            <a:ext cx="3179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dirty="0" smtClean="0"/>
          </a:p>
          <a:p>
            <a:r>
              <a:rPr lang="en-US" altLang="zh-TW" dirty="0" smtClean="0"/>
              <a:t>n is the number of training data</a:t>
            </a:r>
          </a:p>
          <a:p>
            <a:r>
              <a:rPr lang="en-US" altLang="zh-TW" dirty="0" smtClean="0"/>
              <a:t>k is recommended to be 3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628647" y="3789877"/>
                <a:ext cx="4031673" cy="737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400" i="1" dirty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sz="2400" baseline="30000" dirty="0" smtClean="0"/>
                  <a:t>2</a:t>
                </a:r>
                <a:r>
                  <a:rPr lang="en-US" altLang="zh-TW" sz="2400" dirty="0"/>
                  <a:t> </a:t>
                </a:r>
                <a:r>
                  <a:rPr lang="en-US" altLang="zh-TW" sz="2400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g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ad>
                          <m:ra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g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2400" b="0" i="1" baseline="-2500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TW" sz="2400" b="0" i="1" baseline="-2500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e>
                        </m:d>
                        <m:r>
                          <a:rPr lang="en-US" altLang="zh-TW" sz="24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</m:oMath>
                </a14:m>
                <a:endParaRPr lang="en-US" altLang="zh-TW" sz="2400" baseline="-25000" dirty="0" smtClean="0"/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7" y="3789877"/>
                <a:ext cx="4031673" cy="737894"/>
              </a:xfrm>
              <a:prstGeom prst="rect">
                <a:avLst/>
              </a:prstGeom>
              <a:blipFill rotWithShape="0">
                <a:blip r:embed="rId5" cstate="print"/>
                <a:stretch>
                  <a:fillRect b="-16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628647" y="4982547"/>
                <a:ext cx="25720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~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0.1−0.5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𝑟𝑎𝑛𝑔𝑒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7" y="4982547"/>
                <a:ext cx="2572051" cy="276999"/>
              </a:xfrm>
              <a:prstGeom prst="rect">
                <a:avLst/>
              </a:prstGeom>
              <a:blipFill rotWithShape="0">
                <a:blip r:embed="rId6" cstate="print"/>
                <a:stretch>
                  <a:fillRect l="-1659" t="-2174" r="-2844" b="-326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單箭頭接點 6"/>
          <p:cNvCxnSpPr/>
          <p:nvPr/>
        </p:nvCxnSpPr>
        <p:spPr>
          <a:xfrm flipH="1" flipV="1">
            <a:off x="4042700" y="4256683"/>
            <a:ext cx="1235242" cy="667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517573" y="4748463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KNN for regression  </a:t>
            </a:r>
            <a:endParaRPr lang="zh-TW" altLang="en-US" dirty="0"/>
          </a:p>
        </p:txBody>
      </p:sp>
      <p:cxnSp>
        <p:nvCxnSpPr>
          <p:cNvPr id="16" name="直線單箭頭接點 15"/>
          <p:cNvCxnSpPr/>
          <p:nvPr/>
        </p:nvCxnSpPr>
        <p:spPr>
          <a:xfrm flipH="1" flipV="1">
            <a:off x="3039979" y="5224089"/>
            <a:ext cx="1235242" cy="667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4306849" y="5760704"/>
            <a:ext cx="3008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range(s)=|max(s)-min(s)|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284006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ial Rounded MT Bold" panose="020F0704030504030204" pitchFamily="34" charset="0"/>
              </a:rPr>
              <a:t>Introduction</a:t>
            </a:r>
            <a:r>
              <a:rPr lang="en-US" altLang="zh-TW" sz="3600" b="1" dirty="0">
                <a:latin typeface="Arial Rounded MT Bold" panose="020F0704030504030204" pitchFamily="34" charset="0"/>
              </a:rPr>
              <a:t> </a:t>
            </a:r>
            <a:r>
              <a:rPr lang="en-US" altLang="zh-TW" sz="2400" b="1" dirty="0" smtClean="0">
                <a:latin typeface="Arial Rounded MT Bold" panose="020F0704030504030204" pitchFamily="34" charset="0"/>
              </a:rPr>
              <a:t>(</a:t>
            </a:r>
            <a:r>
              <a:rPr lang="en-US" altLang="zh-TW" sz="2400" b="1" dirty="0" smtClean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Genetic algorithms)</a:t>
            </a:r>
            <a:endParaRPr lang="zh-TW" altLang="en-US" sz="2400" b="1" dirty="0">
              <a:latin typeface="Arial Rounded MT Bold" panose="020F0704030504030204" pitchFamily="34" charset="0"/>
              <a:cs typeface="Ebrima" panose="02000000000000000000" pitchFamily="2" charset="0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1067213" y="1777865"/>
            <a:ext cx="7009573" cy="4810952"/>
            <a:chOff x="954985" y="1690689"/>
            <a:chExt cx="7009573" cy="4810952"/>
          </a:xfrm>
        </p:grpSpPr>
        <p:sp>
          <p:nvSpPr>
            <p:cNvPr id="5" name="流程圖: 程序 4"/>
            <p:cNvSpPr/>
            <p:nvPr/>
          </p:nvSpPr>
          <p:spPr>
            <a:xfrm>
              <a:off x="980660" y="1690689"/>
              <a:ext cx="3193774" cy="649357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Choose a randomly generated population</a:t>
              </a:r>
              <a:endParaRPr lang="zh-TW" altLang="en-US" b="1" dirty="0"/>
            </a:p>
          </p:txBody>
        </p:sp>
        <p:sp>
          <p:nvSpPr>
            <p:cNvPr id="6" name="流程圖: 程序 5"/>
            <p:cNvSpPr/>
            <p:nvPr/>
          </p:nvSpPr>
          <p:spPr>
            <a:xfrm>
              <a:off x="980660" y="2691573"/>
              <a:ext cx="3193774" cy="649357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Calculate the fitness of each chromosome in the population</a:t>
              </a:r>
              <a:endParaRPr lang="zh-TW" altLang="en-US" b="1" dirty="0"/>
            </a:p>
          </p:txBody>
        </p:sp>
        <p:sp>
          <p:nvSpPr>
            <p:cNvPr id="7" name="流程圖: 程序 6"/>
            <p:cNvSpPr/>
            <p:nvPr/>
          </p:nvSpPr>
          <p:spPr>
            <a:xfrm>
              <a:off x="5048460" y="3188504"/>
              <a:ext cx="1878082" cy="649357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selection</a:t>
              </a:r>
              <a:endParaRPr lang="zh-TW" altLang="en-US" b="1" dirty="0"/>
            </a:p>
          </p:txBody>
        </p:sp>
        <p:sp>
          <p:nvSpPr>
            <p:cNvPr id="8" name="流程圖: 程序 7"/>
            <p:cNvSpPr/>
            <p:nvPr/>
          </p:nvSpPr>
          <p:spPr>
            <a:xfrm>
              <a:off x="5048460" y="4101239"/>
              <a:ext cx="1878082" cy="649357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crossover</a:t>
              </a:r>
              <a:endParaRPr lang="zh-TW" altLang="en-US" b="1" dirty="0"/>
            </a:p>
          </p:txBody>
        </p:sp>
        <p:sp>
          <p:nvSpPr>
            <p:cNvPr id="9" name="流程圖: 程序 8"/>
            <p:cNvSpPr/>
            <p:nvPr/>
          </p:nvSpPr>
          <p:spPr>
            <a:xfrm>
              <a:off x="5048460" y="5021317"/>
              <a:ext cx="1878082" cy="649357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mutation</a:t>
              </a:r>
              <a:endParaRPr lang="zh-TW" altLang="en-US" b="1" dirty="0"/>
            </a:p>
          </p:txBody>
        </p:sp>
        <p:sp>
          <p:nvSpPr>
            <p:cNvPr id="10" name="流程圖: 決策 9"/>
            <p:cNvSpPr/>
            <p:nvPr/>
          </p:nvSpPr>
          <p:spPr>
            <a:xfrm>
              <a:off x="954985" y="3776664"/>
              <a:ext cx="3366051" cy="1416811"/>
            </a:xfrm>
            <a:prstGeom prst="flowChartDecision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Judge the stopping criteria</a:t>
              </a:r>
              <a:endParaRPr lang="zh-TW" altLang="en-US" b="1" dirty="0"/>
            </a:p>
          </p:txBody>
        </p:sp>
        <p:sp>
          <p:nvSpPr>
            <p:cNvPr id="11" name="流程圖: 程序 10"/>
            <p:cNvSpPr/>
            <p:nvPr/>
          </p:nvSpPr>
          <p:spPr>
            <a:xfrm>
              <a:off x="1041123" y="5852284"/>
              <a:ext cx="3193774" cy="649357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 smtClean="0"/>
                <a:t>Get the answer</a:t>
              </a:r>
              <a:endParaRPr lang="zh-TW" altLang="en-US" b="1" dirty="0"/>
            </a:p>
          </p:txBody>
        </p:sp>
        <p:grpSp>
          <p:nvGrpSpPr>
            <p:cNvPr id="12" name="群組 11"/>
            <p:cNvGrpSpPr/>
            <p:nvPr/>
          </p:nvGrpSpPr>
          <p:grpSpPr>
            <a:xfrm>
              <a:off x="4321036" y="3439284"/>
              <a:ext cx="250964" cy="1045786"/>
              <a:chOff x="4321036" y="3439284"/>
              <a:chExt cx="250964" cy="1045786"/>
            </a:xfrm>
          </p:grpSpPr>
          <p:cxnSp>
            <p:nvCxnSpPr>
              <p:cNvPr id="22" name="直線接點 21"/>
              <p:cNvCxnSpPr>
                <a:stCxn id="10" idx="3"/>
              </p:cNvCxnSpPr>
              <p:nvPr/>
            </p:nvCxnSpPr>
            <p:spPr>
              <a:xfrm flipV="1">
                <a:off x="4321036" y="4485069"/>
                <a:ext cx="250964" cy="1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23" name="直線接點 22"/>
              <p:cNvCxnSpPr/>
              <p:nvPr/>
            </p:nvCxnSpPr>
            <p:spPr>
              <a:xfrm>
                <a:off x="4572000" y="3439284"/>
                <a:ext cx="0" cy="1045785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</p:grpSp>
        <p:cxnSp>
          <p:nvCxnSpPr>
            <p:cNvPr id="13" name="直線單箭頭接點 12"/>
            <p:cNvCxnSpPr/>
            <p:nvPr/>
          </p:nvCxnSpPr>
          <p:spPr>
            <a:xfrm>
              <a:off x="5889387" y="3892860"/>
              <a:ext cx="8077" cy="188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4" name="直線單箭頭接點 13"/>
            <p:cNvCxnSpPr/>
            <p:nvPr/>
          </p:nvCxnSpPr>
          <p:spPr>
            <a:xfrm>
              <a:off x="5897464" y="4787259"/>
              <a:ext cx="8077" cy="1973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5" name="直線接點 14"/>
            <p:cNvCxnSpPr/>
            <p:nvPr/>
          </p:nvCxnSpPr>
          <p:spPr>
            <a:xfrm flipV="1">
              <a:off x="6926542" y="5359247"/>
              <a:ext cx="1038015" cy="1"/>
            </a:xfrm>
            <a:prstGeom prst="lin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6" name="直線接點 15"/>
            <p:cNvCxnSpPr/>
            <p:nvPr/>
          </p:nvCxnSpPr>
          <p:spPr>
            <a:xfrm flipH="1" flipV="1">
              <a:off x="7964557" y="2877078"/>
              <a:ext cx="1" cy="2482169"/>
            </a:xfrm>
            <a:prstGeom prst="lin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7" name="直線單箭頭接點 16"/>
            <p:cNvCxnSpPr/>
            <p:nvPr/>
          </p:nvCxnSpPr>
          <p:spPr>
            <a:xfrm flipV="1">
              <a:off x="4572000" y="3429000"/>
              <a:ext cx="476460" cy="102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8" name="直線單箭頭接點 17"/>
            <p:cNvCxnSpPr/>
            <p:nvPr/>
          </p:nvCxnSpPr>
          <p:spPr>
            <a:xfrm flipH="1">
              <a:off x="4284594" y="2877078"/>
              <a:ext cx="3666710" cy="115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9" name="直線單箭頭接點 18"/>
            <p:cNvCxnSpPr>
              <a:stCxn id="5" idx="2"/>
              <a:endCxn id="6" idx="0"/>
            </p:cNvCxnSpPr>
            <p:nvPr/>
          </p:nvCxnSpPr>
          <p:spPr>
            <a:xfrm>
              <a:off x="2577547" y="2340046"/>
              <a:ext cx="0" cy="3515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0" name="直線單箭頭接點 19"/>
            <p:cNvCxnSpPr/>
            <p:nvPr/>
          </p:nvCxnSpPr>
          <p:spPr>
            <a:xfrm>
              <a:off x="2577547" y="3425137"/>
              <a:ext cx="0" cy="3515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1" name="直線單箭頭接點 20"/>
            <p:cNvCxnSpPr>
              <a:endCxn id="11" idx="0"/>
            </p:cNvCxnSpPr>
            <p:nvPr/>
          </p:nvCxnSpPr>
          <p:spPr>
            <a:xfrm>
              <a:off x="2638010" y="5319147"/>
              <a:ext cx="0" cy="5331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257922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ial Rounded MT Bold" panose="020F0704030504030204" pitchFamily="34" charset="0"/>
              </a:rPr>
              <a:t>Genetic Algorithms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28650" y="1690689"/>
            <a:ext cx="7775121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/>
              <a:t>Step1:  </a:t>
            </a:r>
            <a:r>
              <a:rPr lang="en-US" altLang="zh-TW" sz="2000" b="1" dirty="0"/>
              <a:t>Choose a randomly generated population</a:t>
            </a:r>
            <a:endParaRPr lang="zh-TW" altLang="en-US" sz="2000" b="1" dirty="0"/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  1. Binary encoding 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            2. Real value encoding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            3. symbol encoding</a:t>
            </a:r>
          </a:p>
          <a:p>
            <a:endParaRPr lang="en-US" altLang="zh-TW" dirty="0"/>
          </a:p>
          <a:p>
            <a:r>
              <a:rPr lang="en-US" altLang="zh-TW" sz="2000" b="1" dirty="0" smtClean="0"/>
              <a:t>Step2: Calculate </a:t>
            </a:r>
            <a:r>
              <a:rPr lang="en-US" altLang="zh-TW" sz="2000" b="1" dirty="0"/>
              <a:t>the fitness of each chromosome in the </a:t>
            </a:r>
            <a:r>
              <a:rPr lang="en-US" altLang="zh-TW" sz="2000" b="1" dirty="0" smtClean="0"/>
              <a:t>population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  1.</a:t>
            </a:r>
            <a:r>
              <a:rPr lang="en-US" altLang="zh-TW" dirty="0"/>
              <a:t> </a:t>
            </a:r>
            <a:r>
              <a:rPr lang="en-US" altLang="zh-TW" dirty="0" smtClean="0"/>
              <a:t>f(x)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x+1</a:t>
            </a:r>
            <a:r>
              <a:rPr lang="zh-TW" altLang="en-US" dirty="0" smtClean="0"/>
              <a:t>     </a:t>
            </a:r>
            <a:r>
              <a:rPr lang="zh-TW" altLang="en-US" sz="1600" dirty="0" smtClean="0"/>
              <a:t>適合</a:t>
            </a:r>
            <a:r>
              <a:rPr lang="zh-TW" altLang="en-US" sz="1600" dirty="0"/>
              <a:t>度越好、競爭力越強</a:t>
            </a:r>
            <a:endParaRPr lang="en-US" altLang="zh-TW" sz="1600" dirty="0" smtClean="0"/>
          </a:p>
          <a:p>
            <a:endParaRPr lang="en-US" altLang="zh-TW" dirty="0" smtClean="0"/>
          </a:p>
          <a:p>
            <a:r>
              <a:rPr lang="en-US" altLang="zh-TW" sz="2000" b="1" dirty="0" smtClean="0"/>
              <a:t>Step3: </a:t>
            </a:r>
          </a:p>
          <a:p>
            <a:r>
              <a:rPr lang="en-US" altLang="zh-TW" dirty="0" smtClean="0"/>
              <a:t>            1. selection</a:t>
            </a:r>
            <a:endParaRPr lang="zh-TW" altLang="en-US" dirty="0"/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  2. crossover</a:t>
            </a:r>
          </a:p>
          <a:p>
            <a:r>
              <a:rPr lang="en-US" altLang="zh-TW" dirty="0" smtClean="0"/>
              <a:t>            3. mutation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5109031" y="2050143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5116287" y="2565401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24840"/>
                <a:gridCol w="624840"/>
                <a:gridCol w="624840"/>
                <a:gridCol w="624840"/>
                <a:gridCol w="624840"/>
                <a:gridCol w="6248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85.3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1.9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68.5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5123545" y="3058160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24840"/>
                <a:gridCol w="624840"/>
                <a:gridCol w="624840"/>
                <a:gridCol w="624840"/>
                <a:gridCol w="624840"/>
                <a:gridCol w="6248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14448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latin typeface="Arial Rounded MT Bold" panose="020F0704030504030204" pitchFamily="34" charset="0"/>
              </a:rPr>
              <a:t>Genetic Algorithms </a:t>
            </a:r>
            <a:r>
              <a:rPr lang="en-US" altLang="zh-TW" sz="2800" b="1" dirty="0" smtClean="0">
                <a:latin typeface="Arial Rounded MT Bold" panose="020F0704030504030204" pitchFamily="34" charset="0"/>
              </a:rPr>
              <a:t>(selection)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28650" y="1690689"/>
            <a:ext cx="777512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 smtClean="0"/>
              <a:t>Step3-1: selection</a:t>
            </a:r>
          </a:p>
          <a:p>
            <a:endParaRPr lang="en-US" altLang="zh-TW" sz="2000" dirty="0" smtClean="0"/>
          </a:p>
          <a:p>
            <a:endParaRPr lang="en-US" altLang="zh-TW" sz="2000" dirty="0" smtClean="0"/>
          </a:p>
          <a:p>
            <a:r>
              <a:rPr lang="en-US" altLang="zh-TW" sz="2400" b="1" dirty="0" smtClean="0"/>
              <a:t>1.roulette wheel selection</a:t>
            </a:r>
          </a:p>
          <a:p>
            <a:r>
              <a:rPr lang="en-US" altLang="zh-TW" dirty="0" smtClean="0">
                <a:latin typeface="+mj-ea"/>
                <a:ea typeface="+mj-ea"/>
              </a:rPr>
              <a:t>    </a:t>
            </a:r>
            <a:r>
              <a:rPr lang="zh-TW" altLang="en-US" dirty="0" smtClean="0">
                <a:latin typeface="+mj-ea"/>
                <a:ea typeface="+mj-ea"/>
              </a:rPr>
              <a:t>依照</a:t>
            </a:r>
            <a:r>
              <a:rPr lang="zh-TW" altLang="en-US" dirty="0">
                <a:latin typeface="+mj-ea"/>
                <a:ea typeface="+mj-ea"/>
              </a:rPr>
              <a:t>適</a:t>
            </a:r>
            <a:r>
              <a:rPr lang="zh-TW" altLang="en-US" dirty="0" smtClean="0">
                <a:latin typeface="+mj-ea"/>
                <a:ea typeface="+mj-ea"/>
              </a:rPr>
              <a:t>應函數分割輪盤位置，</a:t>
            </a:r>
            <a:endParaRPr lang="en-US" altLang="zh-TW" dirty="0" smtClean="0">
              <a:latin typeface="+mj-ea"/>
              <a:ea typeface="+mj-ea"/>
            </a:endParaRPr>
          </a:p>
          <a:p>
            <a:r>
              <a:rPr lang="en-US" altLang="zh-TW" dirty="0" smtClean="0">
                <a:latin typeface="+mj-ea"/>
                <a:ea typeface="+mj-ea"/>
              </a:rPr>
              <a:t>    </a:t>
            </a:r>
            <a:r>
              <a:rPr lang="zh-TW" altLang="en-US" dirty="0" smtClean="0">
                <a:latin typeface="+mj-ea"/>
                <a:ea typeface="+mj-ea"/>
              </a:rPr>
              <a:t>適合</a:t>
            </a:r>
            <a:r>
              <a:rPr lang="zh-TW" altLang="en-US" dirty="0">
                <a:latin typeface="+mj-ea"/>
                <a:ea typeface="+mj-ea"/>
              </a:rPr>
              <a:t>度函數值越大的話</a:t>
            </a:r>
            <a:r>
              <a:rPr lang="zh-TW" altLang="en-US" dirty="0" smtClean="0">
                <a:latin typeface="+mj-ea"/>
                <a:ea typeface="+mj-ea"/>
              </a:rPr>
              <a:t>，</a:t>
            </a:r>
            <a:endParaRPr lang="en-US" altLang="zh-TW" dirty="0" smtClean="0">
              <a:latin typeface="+mj-ea"/>
              <a:ea typeface="+mj-ea"/>
            </a:endParaRPr>
          </a:p>
          <a:p>
            <a:r>
              <a:rPr lang="en-US" altLang="zh-TW" dirty="0" smtClean="0">
                <a:latin typeface="+mj-ea"/>
                <a:ea typeface="+mj-ea"/>
              </a:rPr>
              <a:t>    </a:t>
            </a:r>
            <a:r>
              <a:rPr lang="zh-TW" altLang="en-US" dirty="0" smtClean="0">
                <a:latin typeface="+mj-ea"/>
                <a:ea typeface="+mj-ea"/>
              </a:rPr>
              <a:t>則</a:t>
            </a:r>
            <a:r>
              <a:rPr lang="zh-TW" altLang="en-US" dirty="0">
                <a:latin typeface="+mj-ea"/>
                <a:ea typeface="+mj-ea"/>
              </a:rPr>
              <a:t>在輪盤上佔有的</a:t>
            </a:r>
            <a:r>
              <a:rPr lang="zh-TW" altLang="en-US" b="1" dirty="0">
                <a:latin typeface="+mj-ea"/>
                <a:ea typeface="+mj-ea"/>
              </a:rPr>
              <a:t>面積</a:t>
            </a:r>
            <a:r>
              <a:rPr lang="zh-TW" altLang="en-US" b="1" dirty="0" smtClean="0">
                <a:latin typeface="+mj-ea"/>
                <a:ea typeface="+mj-ea"/>
              </a:rPr>
              <a:t>比例就</a:t>
            </a:r>
            <a:r>
              <a:rPr lang="zh-TW" altLang="en-US" b="1" dirty="0">
                <a:latin typeface="+mj-ea"/>
                <a:ea typeface="+mj-ea"/>
              </a:rPr>
              <a:t>越大 </a:t>
            </a:r>
            <a:endParaRPr lang="en-US" altLang="zh-TW" b="1" i="1" dirty="0">
              <a:solidFill>
                <a:schemeClr val="hlink"/>
              </a:solidFill>
              <a:latin typeface="+mj-ea"/>
              <a:ea typeface="+mj-ea"/>
            </a:endParaRPr>
          </a:p>
          <a:p>
            <a:endParaRPr lang="en-US" altLang="zh-TW" sz="2000" dirty="0" smtClean="0"/>
          </a:p>
          <a:p>
            <a:r>
              <a:rPr lang="en-US" altLang="zh-TW" sz="2400" b="1" dirty="0" smtClean="0"/>
              <a:t>2.tournament selection</a:t>
            </a:r>
          </a:p>
          <a:p>
            <a:r>
              <a:rPr lang="en-US" altLang="zh-TW" sz="2400" dirty="0">
                <a:latin typeface="+mn-ea"/>
              </a:rPr>
              <a:t> </a:t>
            </a:r>
            <a:r>
              <a:rPr lang="en-US" altLang="zh-TW" sz="2400" dirty="0" smtClean="0">
                <a:latin typeface="+mn-ea"/>
              </a:rPr>
              <a:t>  </a:t>
            </a:r>
            <a:r>
              <a:rPr lang="zh-TW" altLang="en-US" dirty="0" smtClean="0">
                <a:latin typeface="+mn-ea"/>
              </a:rPr>
              <a:t>每</a:t>
            </a:r>
            <a:r>
              <a:rPr lang="zh-TW" altLang="en-US" dirty="0">
                <a:latin typeface="+mn-ea"/>
              </a:rPr>
              <a:t>一代的演化過程中首先隨機地選取兩個或更多的染色體個體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 smtClean="0">
                <a:latin typeface="+mn-ea"/>
              </a:rPr>
              <a:t>字串）    </a:t>
            </a:r>
            <a:endParaRPr lang="en-US" altLang="zh-TW" dirty="0" smtClean="0">
              <a:latin typeface="+mn-ea"/>
            </a:endParaRPr>
          </a:p>
          <a:p>
            <a:r>
              <a:rPr lang="en-US" altLang="zh-TW" dirty="0">
                <a:latin typeface="+mn-ea"/>
              </a:rPr>
              <a:t> </a:t>
            </a:r>
            <a:r>
              <a:rPr lang="en-US" altLang="zh-TW" dirty="0" smtClean="0">
                <a:latin typeface="+mn-ea"/>
              </a:rPr>
              <a:t>   </a:t>
            </a:r>
            <a:r>
              <a:rPr lang="zh-TW" altLang="en-US" dirty="0" smtClean="0">
                <a:latin typeface="+mn-ea"/>
              </a:rPr>
              <a:t>具有最大</a:t>
            </a:r>
            <a:r>
              <a:rPr lang="zh-TW" altLang="en-US" dirty="0">
                <a:latin typeface="+mn-ea"/>
              </a:rPr>
              <a:t>適合度函數值的物種即被選中送至交配池中 </a:t>
            </a:r>
            <a:endParaRPr lang="en-US" altLang="zh-TW" dirty="0" smtClean="0">
              <a:latin typeface="+mn-ea"/>
            </a:endParaRPr>
          </a:p>
          <a:p>
            <a:r>
              <a:rPr lang="en-US" altLang="zh-TW" b="1" dirty="0">
                <a:latin typeface="+mn-ea"/>
              </a:rPr>
              <a:t> </a:t>
            </a:r>
            <a:r>
              <a:rPr lang="en-US" altLang="zh-TW" b="1" dirty="0" smtClean="0">
                <a:latin typeface="+mn-ea"/>
              </a:rPr>
              <a:t>   </a:t>
            </a:r>
            <a:r>
              <a:rPr lang="zh-TW" altLang="en-US" b="1" dirty="0" smtClean="0">
                <a:latin typeface="+mn-ea"/>
              </a:rPr>
              <a:t>適合度函數值越高</a:t>
            </a:r>
            <a:r>
              <a:rPr lang="zh-TW" altLang="en-US" dirty="0" smtClean="0">
                <a:latin typeface="+mn-ea"/>
              </a:rPr>
              <a:t>的個體就越容易被選中 </a:t>
            </a:r>
            <a:endParaRPr lang="zh-TW" altLang="en-US" sz="2000" dirty="0"/>
          </a:p>
          <a:p>
            <a:endParaRPr lang="en-US" altLang="zh-TW" sz="2000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10" name="圖表 9"/>
          <p:cNvGraphicFramePr/>
          <p:nvPr>
            <p:extLst/>
          </p:nvPr>
        </p:nvGraphicFramePr>
        <p:xfrm>
          <a:off x="5879935" y="1959429"/>
          <a:ext cx="2523836" cy="2122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="" xmlns:p14="http://schemas.microsoft.com/office/powerpoint/2010/main" val="420234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 smtClean="0">
                <a:latin typeface="Arial Rounded MT Bold" panose="020F0704030504030204" pitchFamily="34" charset="0"/>
              </a:rPr>
              <a:t>Genetic Algorithms </a:t>
            </a:r>
            <a:r>
              <a:rPr lang="en-US" altLang="zh-TW" sz="2800" b="1" dirty="0" smtClean="0"/>
              <a:t>(Crossover)</a:t>
            </a:r>
            <a:endParaRPr lang="zh-TW" altLang="en-US" sz="28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578881"/>
            <a:ext cx="7886700" cy="4879975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400" b="1" dirty="0"/>
              <a:t>Step3-2. </a:t>
            </a:r>
            <a:r>
              <a:rPr lang="en-US" altLang="zh-TW" sz="2400" b="1" dirty="0" smtClean="0"/>
              <a:t>Crossover</a:t>
            </a:r>
            <a:endParaRPr lang="en-US" altLang="zh-TW" sz="2400" b="1" dirty="0"/>
          </a:p>
          <a:p>
            <a:endParaRPr lang="zh-TW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990600" y="1989138"/>
            <a:ext cx="739775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依據交配方式的不同，又可分為</a:t>
            </a:r>
            <a:r>
              <a:rPr lang="zh-TW" altLang="en-US" sz="2000" b="1" dirty="0" smtClean="0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單點、兩點</a:t>
            </a:r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以及</a:t>
            </a:r>
            <a:r>
              <a:rPr lang="zh-TW" altLang="en-US" sz="2000" b="1" dirty="0" smtClean="0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均勻</a:t>
            </a:r>
            <a:endParaRPr lang="zh-TW" altLang="en-US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341886492"/>
              </p:ext>
            </p:extLst>
          </p:nvPr>
        </p:nvGraphicFramePr>
        <p:xfrm>
          <a:off x="1704109" y="2494415"/>
          <a:ext cx="5329238" cy="3997325"/>
        </p:xfrm>
        <a:graphic>
          <a:graphicData uri="http://schemas.openxmlformats.org/presentationml/2006/ole">
            <p:oleObj spid="_x0000_s1101" name="投影片" r:id="rId3" imgW="4572139" imgH="3429123" progId="PowerPoint.Slide.8">
              <p:embed/>
            </p:oleObj>
          </a:graphicData>
        </a:graphic>
      </p:graphicFrame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3647209" y="3078958"/>
            <a:ext cx="936625" cy="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3070947" y="4160045"/>
            <a:ext cx="217487" cy="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H="1">
            <a:off x="3864697" y="4160045"/>
            <a:ext cx="430212" cy="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462752" y="4308412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zh-TW" altLang="en-US" sz="1800" dirty="0">
                <a:solidFill>
                  <a:schemeClr val="folHlin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兩點</a:t>
            </a:r>
            <a:r>
              <a:rPr lang="zh-TW" altLang="en-US" sz="1800" dirty="0" smtClean="0">
                <a:solidFill>
                  <a:schemeClr val="folHlin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間</a:t>
            </a:r>
            <a:endParaRPr lang="zh-TW" altLang="en-US" sz="1800" dirty="0">
              <a:solidFill>
                <a:schemeClr val="folHlink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5558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b="1" dirty="0">
                <a:latin typeface="Arial Rounded MT Bold" panose="020F0704030504030204" pitchFamily="34" charset="0"/>
              </a:rPr>
              <a:t>Genetic Algorithms </a:t>
            </a:r>
            <a:r>
              <a:rPr lang="en-US" altLang="zh-TW" sz="2800" b="1" dirty="0" smtClean="0"/>
              <a:t>(mutation)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400" b="1" dirty="0"/>
              <a:t>Step3-3. mutation</a:t>
            </a:r>
            <a:endParaRPr lang="zh-TW" altLang="en-US" sz="2400" b="1" dirty="0"/>
          </a:p>
          <a:p>
            <a:pPr marL="457200" lvl="1" indent="0">
              <a:buNone/>
            </a:pPr>
            <a:r>
              <a:rPr lang="zh-TW" altLang="en-US" sz="2000" dirty="0">
                <a:latin typeface="+mn-ea"/>
              </a:rPr>
              <a:t>利用隨機改變基因，以創造</a:t>
            </a:r>
            <a:r>
              <a:rPr lang="zh-TW" altLang="en-US" sz="2000" dirty="0" smtClean="0">
                <a:latin typeface="+mn-ea"/>
              </a:rPr>
              <a:t>出父母</a:t>
            </a:r>
            <a:r>
              <a:rPr lang="zh-TW" altLang="en-US" sz="2000" dirty="0">
                <a:latin typeface="+mn-ea"/>
              </a:rPr>
              <a:t>代所未具備的新特徵。過程是將交配後產生的子代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381907" y="3733800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381907" y="4386942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4946650" y="3712028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4946650" y="4365170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向右箭號 7"/>
          <p:cNvSpPr/>
          <p:nvPr/>
        </p:nvSpPr>
        <p:spPr>
          <a:xfrm>
            <a:off x="4310743" y="4122057"/>
            <a:ext cx="493486" cy="174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25933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latin typeface="Arial Rounded MT Bold" panose="020F0704030504030204" pitchFamily="34" charset="0"/>
              </a:rPr>
              <a:t>Genetic Algorithms</a:t>
            </a:r>
            <a:endParaRPr lang="zh-TW" altLang="en-US" sz="3600" b="1" dirty="0">
              <a:latin typeface="Arial Rounded MT Bold" panose="020F0704030504030204" pitchFamily="34" charset="0"/>
              <a:cs typeface="Ebrima" panose="02000000000000000000" pitchFamily="2" charset="0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1067213" y="1777865"/>
            <a:ext cx="7009573" cy="4810952"/>
            <a:chOff x="954985" y="1690689"/>
            <a:chExt cx="7009573" cy="4810952"/>
          </a:xfrm>
        </p:grpSpPr>
        <p:sp>
          <p:nvSpPr>
            <p:cNvPr id="5" name="流程圖: 程序 4"/>
            <p:cNvSpPr/>
            <p:nvPr/>
          </p:nvSpPr>
          <p:spPr>
            <a:xfrm>
              <a:off x="980660" y="1690689"/>
              <a:ext cx="3193774" cy="649357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Choose a randomly generated population</a:t>
              </a:r>
              <a:endParaRPr lang="zh-TW" altLang="en-US" b="1" dirty="0"/>
            </a:p>
          </p:txBody>
        </p:sp>
        <p:sp>
          <p:nvSpPr>
            <p:cNvPr id="6" name="流程圖: 程序 5"/>
            <p:cNvSpPr/>
            <p:nvPr/>
          </p:nvSpPr>
          <p:spPr>
            <a:xfrm>
              <a:off x="980660" y="2691573"/>
              <a:ext cx="3193774" cy="649357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Calculate the fitness of each chromosome in the population</a:t>
              </a:r>
              <a:endParaRPr lang="zh-TW" altLang="en-US" b="1" dirty="0"/>
            </a:p>
          </p:txBody>
        </p:sp>
        <p:sp>
          <p:nvSpPr>
            <p:cNvPr id="7" name="流程圖: 程序 6"/>
            <p:cNvSpPr/>
            <p:nvPr/>
          </p:nvSpPr>
          <p:spPr>
            <a:xfrm>
              <a:off x="5048460" y="3188504"/>
              <a:ext cx="1878082" cy="649357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selection</a:t>
              </a:r>
              <a:endParaRPr lang="zh-TW" altLang="en-US" b="1" dirty="0"/>
            </a:p>
          </p:txBody>
        </p:sp>
        <p:sp>
          <p:nvSpPr>
            <p:cNvPr id="8" name="流程圖: 程序 7"/>
            <p:cNvSpPr/>
            <p:nvPr/>
          </p:nvSpPr>
          <p:spPr>
            <a:xfrm>
              <a:off x="5048460" y="4101239"/>
              <a:ext cx="1878082" cy="649357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crossover</a:t>
              </a:r>
              <a:endParaRPr lang="zh-TW" altLang="en-US" b="1" dirty="0"/>
            </a:p>
          </p:txBody>
        </p:sp>
        <p:sp>
          <p:nvSpPr>
            <p:cNvPr id="9" name="流程圖: 程序 8"/>
            <p:cNvSpPr/>
            <p:nvPr/>
          </p:nvSpPr>
          <p:spPr>
            <a:xfrm>
              <a:off x="5048460" y="5021317"/>
              <a:ext cx="1878082" cy="649357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mutation</a:t>
              </a:r>
              <a:endParaRPr lang="zh-TW" altLang="en-US" b="1" dirty="0"/>
            </a:p>
          </p:txBody>
        </p:sp>
        <p:sp>
          <p:nvSpPr>
            <p:cNvPr id="10" name="流程圖: 決策 9"/>
            <p:cNvSpPr/>
            <p:nvPr/>
          </p:nvSpPr>
          <p:spPr>
            <a:xfrm>
              <a:off x="954985" y="3776664"/>
              <a:ext cx="3366051" cy="1416811"/>
            </a:xfrm>
            <a:prstGeom prst="flowChartDecision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Judge the stopping criteria</a:t>
              </a:r>
              <a:endParaRPr lang="zh-TW" altLang="en-US" b="1" dirty="0"/>
            </a:p>
          </p:txBody>
        </p:sp>
        <p:sp>
          <p:nvSpPr>
            <p:cNvPr id="11" name="流程圖: 程序 10"/>
            <p:cNvSpPr/>
            <p:nvPr/>
          </p:nvSpPr>
          <p:spPr>
            <a:xfrm>
              <a:off x="1041123" y="5852284"/>
              <a:ext cx="3193774" cy="649357"/>
            </a:xfrm>
            <a:prstGeom prst="flowChart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 smtClean="0"/>
                <a:t>Get the answer</a:t>
              </a:r>
              <a:endParaRPr lang="zh-TW" altLang="en-US" b="1" dirty="0"/>
            </a:p>
          </p:txBody>
        </p:sp>
        <p:grpSp>
          <p:nvGrpSpPr>
            <p:cNvPr id="12" name="群組 11"/>
            <p:cNvGrpSpPr/>
            <p:nvPr/>
          </p:nvGrpSpPr>
          <p:grpSpPr>
            <a:xfrm>
              <a:off x="4321036" y="3439284"/>
              <a:ext cx="250964" cy="1045786"/>
              <a:chOff x="4321036" y="3439284"/>
              <a:chExt cx="250964" cy="1045786"/>
            </a:xfrm>
          </p:grpSpPr>
          <p:cxnSp>
            <p:nvCxnSpPr>
              <p:cNvPr id="22" name="直線接點 21"/>
              <p:cNvCxnSpPr>
                <a:stCxn id="10" idx="3"/>
              </p:cNvCxnSpPr>
              <p:nvPr/>
            </p:nvCxnSpPr>
            <p:spPr>
              <a:xfrm flipV="1">
                <a:off x="4321036" y="4485069"/>
                <a:ext cx="250964" cy="1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23" name="直線接點 22"/>
              <p:cNvCxnSpPr/>
              <p:nvPr/>
            </p:nvCxnSpPr>
            <p:spPr>
              <a:xfrm>
                <a:off x="4572000" y="3439284"/>
                <a:ext cx="0" cy="1045785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</p:grpSp>
        <p:cxnSp>
          <p:nvCxnSpPr>
            <p:cNvPr id="13" name="直線單箭頭接點 12"/>
            <p:cNvCxnSpPr/>
            <p:nvPr/>
          </p:nvCxnSpPr>
          <p:spPr>
            <a:xfrm>
              <a:off x="5889387" y="3892860"/>
              <a:ext cx="8077" cy="188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4" name="直線單箭頭接點 13"/>
            <p:cNvCxnSpPr/>
            <p:nvPr/>
          </p:nvCxnSpPr>
          <p:spPr>
            <a:xfrm>
              <a:off x="5897464" y="4787259"/>
              <a:ext cx="8077" cy="1973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5" name="直線接點 14"/>
            <p:cNvCxnSpPr/>
            <p:nvPr/>
          </p:nvCxnSpPr>
          <p:spPr>
            <a:xfrm flipV="1">
              <a:off x="6926542" y="5359247"/>
              <a:ext cx="1038015" cy="1"/>
            </a:xfrm>
            <a:prstGeom prst="lin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6" name="直線接點 15"/>
            <p:cNvCxnSpPr/>
            <p:nvPr/>
          </p:nvCxnSpPr>
          <p:spPr>
            <a:xfrm flipH="1" flipV="1">
              <a:off x="7964557" y="2877078"/>
              <a:ext cx="1" cy="2482169"/>
            </a:xfrm>
            <a:prstGeom prst="lin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7" name="直線單箭頭接點 16"/>
            <p:cNvCxnSpPr/>
            <p:nvPr/>
          </p:nvCxnSpPr>
          <p:spPr>
            <a:xfrm flipV="1">
              <a:off x="4572000" y="3429000"/>
              <a:ext cx="476460" cy="102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8" name="直線單箭頭接點 17"/>
            <p:cNvCxnSpPr/>
            <p:nvPr/>
          </p:nvCxnSpPr>
          <p:spPr>
            <a:xfrm flipH="1">
              <a:off x="4284594" y="2877078"/>
              <a:ext cx="3666710" cy="115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9" name="直線單箭頭接點 18"/>
            <p:cNvCxnSpPr>
              <a:stCxn id="5" idx="2"/>
              <a:endCxn id="6" idx="0"/>
            </p:cNvCxnSpPr>
            <p:nvPr/>
          </p:nvCxnSpPr>
          <p:spPr>
            <a:xfrm>
              <a:off x="2577547" y="2340046"/>
              <a:ext cx="0" cy="3515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0" name="直線單箭頭接點 19"/>
            <p:cNvCxnSpPr/>
            <p:nvPr/>
          </p:nvCxnSpPr>
          <p:spPr>
            <a:xfrm>
              <a:off x="2577547" y="3425137"/>
              <a:ext cx="0" cy="3515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1" name="直線單箭頭接點 20"/>
            <p:cNvCxnSpPr>
              <a:endCxn id="11" idx="0"/>
            </p:cNvCxnSpPr>
            <p:nvPr/>
          </p:nvCxnSpPr>
          <p:spPr>
            <a:xfrm>
              <a:off x="2638010" y="5319147"/>
              <a:ext cx="0" cy="5331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</p:grp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文字方塊 2"/>
              <p:cNvSpPr txBox="1"/>
              <p:nvPr/>
            </p:nvSpPr>
            <p:spPr>
              <a:xfrm>
                <a:off x="4286662" y="1860225"/>
                <a:ext cx="11372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X=[C,</a:t>
                </a:r>
                <a:r>
                  <a:rPr lang="el-GR" altLang="zh-TW" dirty="0"/>
                  <a:t> </a:t>
                </a:r>
                <a:r>
                  <a:rPr lang="el-GR" altLang="zh-TW" dirty="0" smtClean="0"/>
                  <a:t>ε</a:t>
                </a:r>
                <a:r>
                  <a:rPr lang="en-US" altLang="zh-TW" dirty="0" smtClean="0"/>
                  <a:t>,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TW" dirty="0" smtClean="0"/>
                  <a:t>]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662" y="1860225"/>
                <a:ext cx="1137234" cy="369332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4278" t="-8197" r="-3743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/>
          <p:cNvSpPr txBox="1"/>
          <p:nvPr/>
        </p:nvSpPr>
        <p:spPr>
          <a:xfrm>
            <a:off x="3289284" y="3368836"/>
            <a:ext cx="1213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F(X)=</a:t>
            </a:r>
            <a:r>
              <a:rPr lang="en-US" altLang="zh-TW" dirty="0" err="1" smtClean="0"/>
              <a:t>MSE</a:t>
            </a:r>
            <a:r>
              <a:rPr lang="en-US" altLang="zh-TW" baseline="-25000" dirty="0" err="1" smtClean="0"/>
              <a:t>cv</a:t>
            </a:r>
            <a:endParaRPr lang="zh-TW" altLang="en-US" baseline="-25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7128536" y="4387579"/>
            <a:ext cx="58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0.8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7128536" y="5531927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0.05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574264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Particle swarm optimization (PSO)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algorithm of PSO</a:t>
            </a:r>
          </a:p>
          <a:p>
            <a:pPr marL="849313" lvl="1" indent="-457200">
              <a:buFont typeface="Lucida Sans Unicode" panose="020B0602030504020204" pitchFamily="34" charset="0"/>
              <a:buAutoNum type="arabicPeriod"/>
            </a:pP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swarm form the solution space</a:t>
            </a:r>
          </a:p>
          <a:p>
            <a:pPr marL="849313" lvl="1" indent="-457200">
              <a:buFont typeface="Lucida Sans Unicode" panose="020B0602030504020204" pitchFamily="34" charset="0"/>
              <a:buAutoNum type="arabicPeriod"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fitness of each particle</a:t>
            </a:r>
          </a:p>
          <a:p>
            <a:pPr marL="849313" lvl="1" indent="-457200">
              <a:buFont typeface="Lucida Sans Unicode" panose="020B0602030504020204" pitchFamily="34" charset="0"/>
              <a:buAutoNum type="arabicPeriod"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individual and global bests</a:t>
            </a:r>
          </a:p>
          <a:p>
            <a:pPr marL="849313" lvl="1" indent="-457200">
              <a:buFont typeface="Lucida Sans Unicode" panose="020B0602030504020204" pitchFamily="34" charset="0"/>
              <a:buAutoNum type="arabicPeriod"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velocity and position of each particle</a:t>
            </a:r>
          </a:p>
          <a:p>
            <a:pPr marL="849313" lvl="1" indent="-457200">
              <a:buFont typeface="Lucida Sans Unicode" panose="020B0602030504020204" pitchFamily="34" charset="0"/>
              <a:buAutoNum type="arabicPeriod"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step2, and repeat until termination condition</a:t>
            </a:r>
            <a:endParaRPr lang="zh-TW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24734097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群組 119"/>
          <p:cNvGrpSpPr/>
          <p:nvPr/>
        </p:nvGrpSpPr>
        <p:grpSpPr>
          <a:xfrm>
            <a:off x="350868" y="370456"/>
            <a:ext cx="7586619" cy="6487544"/>
            <a:chOff x="431079" y="370456"/>
            <a:chExt cx="7586619" cy="6487544"/>
          </a:xfrm>
        </p:grpSpPr>
        <p:grpSp>
          <p:nvGrpSpPr>
            <p:cNvPr id="118" name="群組 117"/>
            <p:cNvGrpSpPr/>
            <p:nvPr/>
          </p:nvGrpSpPr>
          <p:grpSpPr>
            <a:xfrm>
              <a:off x="431079" y="370456"/>
              <a:ext cx="7586619" cy="6487544"/>
              <a:chOff x="206490" y="370456"/>
              <a:chExt cx="7586619" cy="6487544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2841654" y="370456"/>
                <a:ext cx="2501785" cy="73107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Calculate fitness values for each particle</a:t>
                </a:r>
              </a:p>
            </p:txBody>
          </p:sp>
          <p:sp>
            <p:nvSpPr>
              <p:cNvPr id="6" name="菱形 5"/>
              <p:cNvSpPr/>
              <p:nvPr/>
            </p:nvSpPr>
            <p:spPr>
              <a:xfrm>
                <a:off x="1559406" y="1273883"/>
                <a:ext cx="5066280" cy="894780"/>
              </a:xfrm>
              <a:prstGeom prst="diamond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Is current fitness value better than </a:t>
                </a:r>
                <a:r>
                  <a:rPr lang="en-US" altLang="zh-TW" dirty="0" err="1" smtClean="0"/>
                  <a:t>pBest</a:t>
                </a:r>
                <a:r>
                  <a:rPr lang="en-US" altLang="zh-TW" dirty="0" smtClean="0"/>
                  <a:t>?</a:t>
                </a:r>
                <a:endParaRPr lang="zh-TW" altLang="en-US" dirty="0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206490" y="2007203"/>
                <a:ext cx="2665191" cy="56272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Assign current fitness as new </a:t>
                </a:r>
                <a:r>
                  <a:rPr lang="en-US" altLang="zh-TW" dirty="0" err="1" smtClean="0"/>
                  <a:t>pBest</a:t>
                </a:r>
                <a:endParaRPr lang="zh-TW" altLang="en-US" dirty="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5543251" y="2015616"/>
                <a:ext cx="2249858" cy="55431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Keep previous </a:t>
                </a:r>
                <a:r>
                  <a:rPr lang="en-US" altLang="zh-TW" dirty="0" err="1" smtClean="0"/>
                  <a:t>pBest</a:t>
                </a:r>
                <a:endParaRPr lang="zh-TW" altLang="en-US" dirty="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2520993" y="2899689"/>
                <a:ext cx="3300883" cy="56362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Assign best </a:t>
                </a:r>
                <a:r>
                  <a:rPr lang="en-US" altLang="zh-TW" dirty="0" err="1" smtClean="0"/>
                  <a:t>pBest</a:t>
                </a:r>
                <a:r>
                  <a:rPr lang="en-US" altLang="zh-TW" dirty="0" smtClean="0"/>
                  <a:t> value to </a:t>
                </a:r>
                <a:r>
                  <a:rPr lang="en-US" altLang="zh-TW" dirty="0" err="1" smtClean="0"/>
                  <a:t>gBest</a:t>
                </a:r>
                <a:endParaRPr lang="zh-TW" altLang="en-US" dirty="0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2520993" y="3663156"/>
                <a:ext cx="3300883" cy="57196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Calculate velocity for each particle</a:t>
                </a:r>
                <a:endParaRPr lang="zh-TW" altLang="en-US" dirty="0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2539892" y="4434956"/>
                <a:ext cx="3281984" cy="87429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Use each particle’s velocity value to update its data values</a:t>
                </a:r>
                <a:endParaRPr lang="zh-TW" altLang="en-US" dirty="0"/>
              </a:p>
            </p:txBody>
          </p:sp>
          <p:sp>
            <p:nvSpPr>
              <p:cNvPr id="13" name="菱形 12"/>
              <p:cNvSpPr/>
              <p:nvPr/>
            </p:nvSpPr>
            <p:spPr>
              <a:xfrm>
                <a:off x="2192372" y="5509090"/>
                <a:ext cx="3977024" cy="978568"/>
              </a:xfrm>
              <a:prstGeom prst="diamond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Target or maximum epochs reached?</a:t>
                </a:r>
                <a:endParaRPr lang="zh-TW" altLang="en-US" dirty="0"/>
              </a:p>
            </p:txBody>
          </p:sp>
          <p:cxnSp>
            <p:nvCxnSpPr>
              <p:cNvPr id="15" name="直線單箭頭接點 14"/>
              <p:cNvCxnSpPr>
                <a:stCxn id="5" idx="2"/>
                <a:endCxn id="6" idx="0"/>
              </p:cNvCxnSpPr>
              <p:nvPr/>
            </p:nvCxnSpPr>
            <p:spPr>
              <a:xfrm flipH="1">
                <a:off x="4092546" y="1101530"/>
                <a:ext cx="1" cy="1723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</p:cxnSp>
          <p:cxnSp>
            <p:nvCxnSpPr>
              <p:cNvPr id="17" name="肘形接點 16"/>
              <p:cNvCxnSpPr>
                <a:stCxn id="6" idx="1"/>
                <a:endCxn id="8" idx="0"/>
              </p:cNvCxnSpPr>
              <p:nvPr/>
            </p:nvCxnSpPr>
            <p:spPr>
              <a:xfrm rot="10800000" flipV="1">
                <a:off x="1539086" y="1721273"/>
                <a:ext cx="20320" cy="285930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</p:cxnSp>
          <p:cxnSp>
            <p:nvCxnSpPr>
              <p:cNvPr id="19" name="肘形接點 18"/>
              <p:cNvCxnSpPr>
                <a:stCxn id="6" idx="3"/>
                <a:endCxn id="9" idx="0"/>
              </p:cNvCxnSpPr>
              <p:nvPr/>
            </p:nvCxnSpPr>
            <p:spPr>
              <a:xfrm>
                <a:off x="6625686" y="1721273"/>
                <a:ext cx="42494" cy="294343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</p:cxnSp>
          <p:cxnSp>
            <p:nvCxnSpPr>
              <p:cNvPr id="21" name="肘形接點 20"/>
              <p:cNvCxnSpPr>
                <a:stCxn id="8" idx="2"/>
                <a:endCxn id="10" idx="0"/>
              </p:cNvCxnSpPr>
              <p:nvPr/>
            </p:nvCxnSpPr>
            <p:spPr>
              <a:xfrm rot="16200000" flipH="1">
                <a:off x="2690381" y="1418634"/>
                <a:ext cx="329759" cy="2632349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</p:cxnSp>
          <p:cxnSp>
            <p:nvCxnSpPr>
              <p:cNvPr id="23" name="肘形接點 22"/>
              <p:cNvCxnSpPr>
                <a:stCxn id="9" idx="2"/>
                <a:endCxn id="10" idx="0"/>
              </p:cNvCxnSpPr>
              <p:nvPr/>
            </p:nvCxnSpPr>
            <p:spPr>
              <a:xfrm rot="5400000">
                <a:off x="5254928" y="1486437"/>
                <a:ext cx="329760" cy="2496745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</p:cxnSp>
          <p:cxnSp>
            <p:nvCxnSpPr>
              <p:cNvPr id="72" name="直線單箭頭接點 71"/>
              <p:cNvCxnSpPr>
                <a:stCxn id="10" idx="2"/>
                <a:endCxn id="11" idx="0"/>
              </p:cNvCxnSpPr>
              <p:nvPr/>
            </p:nvCxnSpPr>
            <p:spPr>
              <a:xfrm>
                <a:off x="4171435" y="3463317"/>
                <a:ext cx="0" cy="1998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</p:cxnSp>
          <p:cxnSp>
            <p:nvCxnSpPr>
              <p:cNvPr id="76" name="直線單箭頭接點 75"/>
              <p:cNvCxnSpPr>
                <a:stCxn id="11" idx="2"/>
                <a:endCxn id="12" idx="0"/>
              </p:cNvCxnSpPr>
              <p:nvPr/>
            </p:nvCxnSpPr>
            <p:spPr>
              <a:xfrm>
                <a:off x="4171435" y="4235117"/>
                <a:ext cx="9449" cy="1998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</p:cxnSp>
          <p:cxnSp>
            <p:nvCxnSpPr>
              <p:cNvPr id="106" name="直線單箭頭接點 105"/>
              <p:cNvCxnSpPr>
                <a:stCxn id="12" idx="2"/>
                <a:endCxn id="13" idx="0"/>
              </p:cNvCxnSpPr>
              <p:nvPr/>
            </p:nvCxnSpPr>
            <p:spPr>
              <a:xfrm>
                <a:off x="4180884" y="5309251"/>
                <a:ext cx="0" cy="1998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</p:cxnSp>
          <p:cxnSp>
            <p:nvCxnSpPr>
              <p:cNvPr id="108" name="肘形接點 107"/>
              <p:cNvCxnSpPr>
                <a:stCxn id="13" idx="3"/>
                <a:endCxn id="5" idx="3"/>
              </p:cNvCxnSpPr>
              <p:nvPr/>
            </p:nvCxnSpPr>
            <p:spPr>
              <a:xfrm flipH="1" flipV="1">
                <a:off x="5343439" y="735993"/>
                <a:ext cx="825957" cy="5262381"/>
              </a:xfrm>
              <a:prstGeom prst="bentConnector3">
                <a:avLst>
                  <a:gd name="adj1" fmla="val -282111"/>
                </a:avLst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</p:cxnSp>
          <p:cxnSp>
            <p:nvCxnSpPr>
              <p:cNvPr id="111" name="直線單箭頭接點 110"/>
              <p:cNvCxnSpPr>
                <a:stCxn id="13" idx="2"/>
              </p:cNvCxnSpPr>
              <p:nvPr/>
            </p:nvCxnSpPr>
            <p:spPr>
              <a:xfrm>
                <a:off x="4180884" y="6487658"/>
                <a:ext cx="0" cy="3703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</p:cxnSp>
        </p:grpSp>
        <p:grpSp>
          <p:nvGrpSpPr>
            <p:cNvPr id="117" name="群組 116"/>
            <p:cNvGrpSpPr/>
            <p:nvPr/>
          </p:nvGrpSpPr>
          <p:grpSpPr>
            <a:xfrm>
              <a:off x="1143118" y="1585288"/>
              <a:ext cx="6874580" cy="5272712"/>
              <a:chOff x="918529" y="1545253"/>
              <a:chExt cx="6874580" cy="5272712"/>
            </a:xfrm>
          </p:grpSpPr>
          <p:sp>
            <p:nvSpPr>
              <p:cNvPr id="112" name="文字方塊 111"/>
              <p:cNvSpPr txBox="1"/>
              <p:nvPr/>
            </p:nvSpPr>
            <p:spPr>
              <a:xfrm>
                <a:off x="6978316" y="5509090"/>
                <a:ext cx="8147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no</a:t>
                </a:r>
                <a:endParaRPr lang="zh-TW" altLang="en-US" dirty="0"/>
              </a:p>
            </p:txBody>
          </p:sp>
          <p:sp>
            <p:nvSpPr>
              <p:cNvPr id="113" name="文字方塊 112"/>
              <p:cNvSpPr txBox="1"/>
              <p:nvPr/>
            </p:nvSpPr>
            <p:spPr>
              <a:xfrm>
                <a:off x="4517974" y="6448633"/>
                <a:ext cx="8254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yes</a:t>
                </a:r>
                <a:endParaRPr lang="zh-TW" altLang="en-US" dirty="0"/>
              </a:p>
            </p:txBody>
          </p:sp>
          <p:sp>
            <p:nvSpPr>
              <p:cNvPr id="114" name="文字方塊 113"/>
              <p:cNvSpPr txBox="1"/>
              <p:nvPr/>
            </p:nvSpPr>
            <p:spPr>
              <a:xfrm>
                <a:off x="918529" y="1545253"/>
                <a:ext cx="8254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yes</a:t>
                </a:r>
                <a:endParaRPr lang="zh-TW" altLang="en-US" dirty="0"/>
              </a:p>
            </p:txBody>
          </p:sp>
          <p:sp>
            <p:nvSpPr>
              <p:cNvPr id="115" name="文字方塊 114"/>
              <p:cNvSpPr txBox="1"/>
              <p:nvPr/>
            </p:nvSpPr>
            <p:spPr>
              <a:xfrm>
                <a:off x="6728994" y="1668764"/>
                <a:ext cx="8147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no</a:t>
                </a:r>
                <a:endParaRPr lang="zh-TW" altLang="en-US" dirty="0"/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0" y="8404"/>
            <a:ext cx="39911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Particle swarm optimization (PSO)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84159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 smtClean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Particle swarm optimization (PSO)</a:t>
            </a:r>
            <a:endParaRPr lang="zh-TW" altLang="en-US" sz="3600" b="1" dirty="0">
              <a:latin typeface="Arial Rounded MT Bold" panose="020F0704030504030204" pitchFamily="34" charset="0"/>
              <a:cs typeface="Ebrima" panose="02000000000000000000" pitchFamily="2" charset="0"/>
            </a:endParaRPr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96838" y="1514043"/>
            <a:ext cx="6400800" cy="370899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428417"/>
            <a:ext cx="9015846" cy="57752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3909" y="6029009"/>
            <a:ext cx="5111461" cy="685883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6871615" y="4265070"/>
            <a:ext cx="2178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c1,c2 =2</a:t>
            </a:r>
          </a:p>
          <a:p>
            <a:r>
              <a:rPr lang="en-US" altLang="zh-TW" dirty="0" smtClean="0"/>
              <a:t>r1,r2 random(0,1)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81641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Experiments results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47725" y="2261621"/>
            <a:ext cx="7448550" cy="391477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6763" y="1540618"/>
            <a:ext cx="4283220" cy="5235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6219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Experiments results</a:t>
            </a:r>
            <a:endParaRPr lang="zh-TW" altLang="en-US" dirty="0">
              <a:latin typeface="Arial Rounded MT Bold" panose="020F0704030504030204" pitchFamily="34" charset="0"/>
              <a:cs typeface="Ebrima" panose="02000000000000000000" pitchFamily="2" charset="0"/>
            </a:endParaRPr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28650" y="1690689"/>
            <a:ext cx="7607941" cy="435133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2498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Experiments results</a:t>
            </a:r>
            <a:endParaRPr lang="zh-TW" altLang="en-US" dirty="0">
              <a:latin typeface="Arial Rounded MT Bold" panose="020F0704030504030204" pitchFamily="34" charset="0"/>
              <a:cs typeface="Ebrima" panose="02000000000000000000" pitchFamily="2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96017" y="1825625"/>
            <a:ext cx="7351965" cy="435133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3329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Experiments results</a:t>
            </a:r>
            <a:endParaRPr lang="zh-TW" altLang="en-US" dirty="0">
              <a:latin typeface="Arial Rounded MT Bold" panose="020F0704030504030204" pitchFamily="34" charset="0"/>
              <a:cs typeface="Ebrima" panose="02000000000000000000" pitchFamily="2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9103" y="1810666"/>
            <a:ext cx="7668544" cy="39644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3060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Experiments results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28650" y="3410495"/>
            <a:ext cx="7886700" cy="11815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2746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ial Rounded MT Bold" panose="020F0704030504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Conclusion</a:t>
            </a:r>
            <a:endParaRPr lang="zh-TW" altLang="en-US" dirty="0">
              <a:latin typeface="Arial Rounded MT Bold" panose="020F0704030504030204" pitchFamily="34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dirty="0"/>
              <a:t>In this work, we have investigated the AS, GA and PSO parameter methods for selecting the </a:t>
            </a:r>
            <a:r>
              <a:rPr lang="en-US" altLang="zh-TW" dirty="0" smtClean="0"/>
              <a:t>parameters of </a:t>
            </a:r>
            <a:r>
              <a:rPr lang="en-US" altLang="zh-TW" dirty="0"/>
              <a:t>SVM in regression and prediction tasks. Our experiments results suggest that PSO gives </a:t>
            </a:r>
            <a:r>
              <a:rPr lang="en-US" altLang="zh-TW" dirty="0" smtClean="0"/>
              <a:t>superior performances</a:t>
            </a:r>
            <a:r>
              <a:rPr lang="en-US" altLang="zh-TW" dirty="0"/>
              <a:t>, whereas AS gives comparatively low accuracy and GA is somewhat unstable.</a:t>
            </a:r>
          </a:p>
          <a:p>
            <a:pPr marL="0" indent="0">
              <a:buNone/>
            </a:pPr>
            <a:r>
              <a:rPr lang="en-US" altLang="zh-TW" dirty="0"/>
              <a:t>Although the </a:t>
            </a:r>
            <a:r>
              <a:rPr lang="en-US" altLang="zh-TW" dirty="0" smtClean="0"/>
              <a:t>performance of AS is not comparatively satisfactory, its extremely low computational burden makes it attractive for initializing the parameter values for the GA and PSO methods and </a:t>
            </a:r>
            <a:r>
              <a:rPr lang="en-US" altLang="zh-TW" dirty="0"/>
              <a:t>optimizing </a:t>
            </a:r>
            <a:r>
              <a:rPr lang="en-US" altLang="zh-TW" dirty="0" smtClean="0"/>
              <a:t>their search </a:t>
            </a:r>
            <a:r>
              <a:rPr lang="en-US" altLang="zh-TW" dirty="0"/>
              <a:t>evolution process to </a:t>
            </a:r>
            <a:r>
              <a:rPr lang="en-US" altLang="zh-TW" dirty="0" smtClean="0"/>
              <a:t>accelerate </a:t>
            </a:r>
            <a:r>
              <a:rPr lang="en-US" altLang="zh-TW" dirty="0"/>
              <a:t>it and stabilize it: how to embed this into a dynamic online </a:t>
            </a:r>
            <a:r>
              <a:rPr lang="en-US" altLang="zh-TW" dirty="0" smtClean="0"/>
              <a:t>method is </a:t>
            </a:r>
            <a:r>
              <a:rPr lang="en-US" altLang="zh-TW" dirty="0"/>
              <a:t>a future research issue.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73283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1696</TotalTime>
  <Words>1056</Words>
  <Application>Microsoft Office PowerPoint</Application>
  <PresentationFormat>如螢幕大小 (4:3)</PresentationFormat>
  <Paragraphs>238</Paragraphs>
  <Slides>23</Slides>
  <Notes>2</Notes>
  <HiddenSlides>1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5" baseType="lpstr">
      <vt:lpstr>Office 佈景主題</vt:lpstr>
      <vt:lpstr>投影片</vt:lpstr>
      <vt:lpstr>Parameters Tuning in Support Vector Regression for Reliability Forecasting</vt:lpstr>
      <vt:lpstr>Abstract</vt:lpstr>
      <vt:lpstr>Abstract</vt:lpstr>
      <vt:lpstr>Introduction (Support Vector Regression)</vt:lpstr>
      <vt:lpstr>Introduction (Support Vector Regression)</vt:lpstr>
      <vt:lpstr>Introduction (Support Vector Regression)</vt:lpstr>
      <vt:lpstr>Introduction (kernel function)</vt:lpstr>
      <vt:lpstr>Analytic selection (AS)</vt:lpstr>
      <vt:lpstr>Introduction (Genetic algorithms)</vt:lpstr>
      <vt:lpstr>Genetic Algorithms</vt:lpstr>
      <vt:lpstr>Genetic Algorithms (selection)</vt:lpstr>
      <vt:lpstr>Genetic Algorithms (Crossover)</vt:lpstr>
      <vt:lpstr>Genetic Algorithms (mutation)</vt:lpstr>
      <vt:lpstr>Genetic Algorithms</vt:lpstr>
      <vt:lpstr>Particle swarm optimization (PSO)</vt:lpstr>
      <vt:lpstr>投影片 16</vt:lpstr>
      <vt:lpstr>Particle swarm optimization (PSO)</vt:lpstr>
      <vt:lpstr>Experiments results</vt:lpstr>
      <vt:lpstr>Experiments results</vt:lpstr>
      <vt:lpstr>Experiments results</vt:lpstr>
      <vt:lpstr>Experiments results</vt:lpstr>
      <vt:lpstr>Experiments results</vt:lpstr>
      <vt:lpstr>Conclusion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Parameters Tuning in Support Vector Regression for Reliability Forecasting</dc:title>
  <dc:creator>Huang</dc:creator>
  <cp:lastModifiedBy>cse</cp:lastModifiedBy>
  <cp:revision>81</cp:revision>
  <dcterms:created xsi:type="dcterms:W3CDTF">2015-04-18T12:53:29Z</dcterms:created>
  <dcterms:modified xsi:type="dcterms:W3CDTF">2015-04-28T10:29:57Z</dcterms:modified>
</cp:coreProperties>
</file>