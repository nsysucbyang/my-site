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2015/4/28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2015/4/28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2015/4/28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2015/4/28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2015/4/28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2015/4/28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2015/4/28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The Greedy Algorithm for Edit Distance with Moves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Haim </a:t>
            </a:r>
            <a:r>
              <a:rPr lang="en-US" altLang="zh-TW" dirty="0" smtClean="0"/>
              <a:t>Kaplan, </a:t>
            </a:r>
            <a:r>
              <a:rPr lang="en-US" altLang="zh-TW" dirty="0" err="1"/>
              <a:t>Nira</a:t>
            </a:r>
            <a:r>
              <a:rPr lang="en-US" altLang="zh-TW" dirty="0"/>
              <a:t> </a:t>
            </a:r>
            <a:r>
              <a:rPr lang="en-US" altLang="zh-TW" dirty="0" err="1" smtClean="0"/>
              <a:t>Shafrir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Information Processing Letters 97 (2006) 23–27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372200" y="6093296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Presenter: Chan-Yi </a:t>
            </a:r>
            <a:r>
              <a:rPr lang="en-US" altLang="zh-TW" sz="1200" dirty="0"/>
              <a:t>Chou</a:t>
            </a:r>
            <a:endParaRPr lang="en-US" altLang="zh-TW" sz="1200" dirty="0" smtClean="0"/>
          </a:p>
          <a:p>
            <a:r>
              <a:rPr lang="en-US" altLang="zh-TW" sz="1200" dirty="0" smtClean="0"/>
              <a:t>Date:</a:t>
            </a:r>
            <a:r>
              <a:rPr lang="zh-TW" altLang="en-US" sz="1200" dirty="0" smtClean="0"/>
              <a:t> </a:t>
            </a:r>
            <a:r>
              <a:rPr lang="en-US" altLang="zh-TW" sz="1200" smtClean="0"/>
              <a:t>2015/04/28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8219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 this paper we give a tighter lower bound on </a:t>
            </a:r>
            <a:r>
              <a:rPr lang="en-US" altLang="zh-TW" dirty="0" smtClean="0"/>
              <a:t>performance of </a:t>
            </a:r>
            <a:r>
              <a:rPr lang="en-US" altLang="zh-TW" dirty="0"/>
              <a:t>GREEDY, that uses a smaller </a:t>
            </a:r>
            <a:r>
              <a:rPr lang="en-US" altLang="zh-TW" dirty="0" smtClean="0"/>
              <a:t>alphabet size</a:t>
            </a:r>
            <a:r>
              <a:rPr lang="en-US" altLang="zh-TW" dirty="0"/>
              <a:t>. We show an infinite family of strings for </a:t>
            </a:r>
            <a:r>
              <a:rPr lang="en-US" altLang="zh-TW" dirty="0" smtClean="0"/>
              <a:t>which GREEDY </a:t>
            </a:r>
            <a:r>
              <a:rPr lang="en-US" altLang="zh-TW" dirty="0"/>
              <a:t>finds a block partition of size </a:t>
            </a:r>
            <a:r>
              <a:rPr lang="el-GR" altLang="zh-TW" dirty="0"/>
              <a:t>Ω</a:t>
            </a:r>
            <a:r>
              <a:rPr lang="en-US" altLang="zh-TW" i="1" dirty="0" smtClean="0"/>
              <a:t>(n</a:t>
            </a:r>
            <a:r>
              <a:rPr lang="en-US" altLang="zh-TW" baseline="30000" dirty="0" smtClean="0"/>
              <a:t>0</a:t>
            </a:r>
            <a:r>
              <a:rPr lang="en-US" altLang="zh-TW" i="1" baseline="30000" dirty="0" smtClean="0"/>
              <a:t>.</a:t>
            </a:r>
            <a:r>
              <a:rPr lang="en-US" altLang="zh-TW" baseline="30000" dirty="0" smtClean="0"/>
              <a:t>46</a:t>
            </a:r>
            <a:r>
              <a:rPr lang="en-US" altLang="zh-TW" i="1" dirty="0" smtClean="0"/>
              <a:t>OPT)</a:t>
            </a:r>
            <a:r>
              <a:rPr lang="en-US" altLang="zh-TW" dirty="0" smtClean="0"/>
              <a:t>. The </a:t>
            </a:r>
            <a:r>
              <a:rPr lang="en-US" altLang="zh-TW" dirty="0"/>
              <a:t>alphabet size of the strings in our family is O</a:t>
            </a:r>
            <a:r>
              <a:rPr lang="en-US" altLang="zh-TW" i="1" dirty="0"/>
              <a:t>(</a:t>
            </a:r>
            <a:r>
              <a:rPr lang="en-US" altLang="zh-TW" dirty="0"/>
              <a:t>log </a:t>
            </a:r>
            <a:r>
              <a:rPr lang="en-US" altLang="zh-TW" i="1" dirty="0"/>
              <a:t>n)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828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Edit Distance with Moves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zh-TW" altLang="en-US" sz="3200" dirty="0" smtClean="0"/>
              <a:t>兩字串</a:t>
            </a:r>
            <a:r>
              <a:rPr lang="en-US" altLang="zh-TW" sz="3200" dirty="0" smtClean="0"/>
              <a:t>S</a:t>
            </a:r>
            <a:r>
              <a:rPr lang="zh-TW" altLang="en-US" sz="3200" dirty="0" smtClean="0"/>
              <a:t>與</a:t>
            </a:r>
            <a:r>
              <a:rPr lang="en-US" altLang="zh-TW" sz="3200" dirty="0" smtClean="0"/>
              <a:t>T</a:t>
            </a:r>
            <a:r>
              <a:rPr lang="zh-TW" altLang="en-US" sz="3200" dirty="0" smtClean="0"/>
              <a:t>，透過</a:t>
            </a:r>
            <a:r>
              <a:rPr lang="en-US" altLang="zh-TW" sz="3200" dirty="0" smtClean="0"/>
              <a:t>insert</a:t>
            </a:r>
            <a:r>
              <a:rPr lang="zh-TW" altLang="en-US" sz="3200" dirty="0" smtClean="0"/>
              <a:t>、</a:t>
            </a:r>
            <a:r>
              <a:rPr lang="en-US" altLang="zh-TW" sz="3200" dirty="0" smtClean="0"/>
              <a:t>delete</a:t>
            </a:r>
            <a:r>
              <a:rPr lang="zh-TW" altLang="en-US" sz="3200" dirty="0" smtClean="0"/>
              <a:t>與</a:t>
            </a:r>
            <a:r>
              <a:rPr lang="en-US" altLang="zh-TW" sz="3200" dirty="0"/>
              <a:t>s</a:t>
            </a:r>
            <a:r>
              <a:rPr lang="en-US" altLang="zh-TW" sz="3200" dirty="0" smtClean="0"/>
              <a:t>ubstitution</a:t>
            </a:r>
            <a:r>
              <a:rPr lang="zh-TW" altLang="en-US" sz="3200" dirty="0" smtClean="0"/>
              <a:t>的操作將</a:t>
            </a:r>
            <a:r>
              <a:rPr lang="en-US" altLang="zh-TW" sz="3200" dirty="0" smtClean="0"/>
              <a:t>S</a:t>
            </a:r>
            <a:r>
              <a:rPr lang="zh-TW" altLang="en-US" sz="3200" dirty="0" smtClean="0"/>
              <a:t>變成</a:t>
            </a:r>
            <a:r>
              <a:rPr lang="en-US" altLang="zh-TW" sz="3200" dirty="0" smtClean="0"/>
              <a:t>T</a:t>
            </a:r>
            <a:r>
              <a:rPr lang="zh-TW" altLang="en-US" sz="3200" dirty="0" smtClean="0"/>
              <a:t>。</a:t>
            </a:r>
            <a:endParaRPr lang="en-US" altLang="zh-TW" sz="3200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TW" sz="3200" dirty="0" smtClean="0"/>
              <a:t>Move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operation</a:t>
            </a:r>
            <a:r>
              <a:rPr lang="zh-TW" altLang="en-US" sz="3200" dirty="0" smtClean="0"/>
              <a:t>，移動字串中的子字串的編輯操作。</a:t>
            </a:r>
            <a:endParaRPr lang="en-US" altLang="zh-TW" sz="3200" dirty="0" smtClean="0"/>
          </a:p>
          <a:p>
            <a:r>
              <a:rPr lang="en-US" altLang="zh-TW" dirty="0" smtClean="0"/>
              <a:t>S = </a:t>
            </a:r>
            <a:r>
              <a:rPr lang="en-US" altLang="zh-TW" dirty="0" err="1" smtClean="0">
                <a:solidFill>
                  <a:srgbClr val="FF0000"/>
                </a:solidFill>
              </a:rPr>
              <a:t>bacab</a:t>
            </a:r>
            <a:r>
              <a:rPr lang="en-US" altLang="zh-TW" dirty="0" err="1" smtClean="0"/>
              <a:t>acdca</a:t>
            </a:r>
            <a:r>
              <a:rPr lang="zh-TW" altLang="en-US" dirty="0" smtClean="0"/>
              <a:t> → </a:t>
            </a:r>
            <a:r>
              <a:rPr lang="en-US" altLang="zh-TW" dirty="0" err="1" smtClean="0"/>
              <a:t>acdca</a:t>
            </a:r>
            <a:r>
              <a:rPr lang="en-US" altLang="zh-TW" dirty="0" err="1">
                <a:solidFill>
                  <a:srgbClr val="FF0000"/>
                </a:solidFill>
              </a:rPr>
              <a:t>bacab</a:t>
            </a:r>
            <a:endParaRPr lang="en-US" altLang="zh-TW" dirty="0" smtClean="0"/>
          </a:p>
          <a:p>
            <a:r>
              <a:rPr lang="en-US" altLang="zh-TW" dirty="0" smtClean="0"/>
              <a:t>T </a:t>
            </a:r>
            <a:r>
              <a:rPr lang="en-US" altLang="zh-TW" dirty="0"/>
              <a:t>= </a:t>
            </a:r>
            <a:r>
              <a:rPr lang="en-US" altLang="zh-TW" dirty="0" err="1" smtClean="0"/>
              <a:t>acdcabacab</a:t>
            </a:r>
            <a:endParaRPr lang="en-US" altLang="zh-TW" dirty="0" smtClean="0"/>
          </a:p>
          <a:p>
            <a:r>
              <a:rPr lang="en-US" altLang="zh-TW" dirty="0" smtClean="0"/>
              <a:t>NP-hard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8395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Block Permutation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|S| = |T|</a:t>
            </a:r>
            <a:r>
              <a:rPr lang="zh-TW" altLang="en-US" dirty="0" smtClean="0"/>
              <a:t>，</a:t>
            </a:r>
            <a:r>
              <a:rPr lang="en-US" altLang="zh-TW" dirty="0" smtClean="0"/>
              <a:t>|</a:t>
            </a:r>
            <a:r>
              <a:rPr lang="el-GR" altLang="zh-TW" dirty="0" smtClean="0"/>
              <a:t>Σ</a:t>
            </a:r>
            <a:r>
              <a:rPr lang="en-US" altLang="zh-TW" baseline="-25000" dirty="0" smtClean="0"/>
              <a:t>S</a:t>
            </a:r>
            <a:r>
              <a:rPr lang="en-US" altLang="zh-TW" dirty="0" smtClean="0"/>
              <a:t>|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|</a:t>
            </a:r>
            <a:r>
              <a:rPr lang="el-GR" altLang="zh-TW" dirty="0" smtClean="0"/>
              <a:t>Σ</a:t>
            </a:r>
            <a:r>
              <a:rPr lang="en-US" altLang="zh-TW" baseline="-25000" dirty="0" smtClean="0"/>
              <a:t>T</a:t>
            </a:r>
            <a:r>
              <a:rPr lang="en-US" altLang="zh-TW" dirty="0" smtClean="0"/>
              <a:t>|</a:t>
            </a:r>
          </a:p>
          <a:p>
            <a:r>
              <a:rPr lang="en-US" altLang="zh-TW" dirty="0" smtClean="0"/>
              <a:t>S</a:t>
            </a:r>
            <a:r>
              <a:rPr lang="zh-TW" altLang="en-US" dirty="0" smtClean="0"/>
              <a:t>中字元的出現次數與</a:t>
            </a:r>
            <a:r>
              <a:rPr lang="en-US" altLang="zh-TW" dirty="0" smtClean="0"/>
              <a:t>T</a:t>
            </a:r>
            <a:r>
              <a:rPr lang="zh-TW" altLang="en-US" dirty="0" smtClean="0"/>
              <a:t>相同</a:t>
            </a:r>
            <a:endParaRPr lang="en-US" altLang="zh-TW" dirty="0" smtClean="0"/>
          </a:p>
          <a:p>
            <a:r>
              <a:rPr lang="zh-TW" altLang="en-US" dirty="0" smtClean="0"/>
              <a:t>分割使</a:t>
            </a:r>
            <a:r>
              <a:rPr lang="en-US" altLang="zh-TW" dirty="0" smtClean="0"/>
              <a:t>S</a:t>
            </a:r>
            <a:r>
              <a:rPr lang="zh-TW" altLang="en-US" dirty="0" smtClean="0"/>
              <a:t>與</a:t>
            </a:r>
            <a:r>
              <a:rPr lang="en-US" altLang="zh-TW" dirty="0" smtClean="0"/>
              <a:t>T</a:t>
            </a:r>
            <a:r>
              <a:rPr lang="zh-TW" altLang="en-US" dirty="0" smtClean="0"/>
              <a:t>被分成一些</a:t>
            </a:r>
            <a:r>
              <a:rPr lang="en-US" altLang="zh-TW" dirty="0" smtClean="0"/>
              <a:t>blocks(substring)</a:t>
            </a:r>
            <a:r>
              <a:rPr lang="zh-TW" altLang="en-US" dirty="0" smtClean="0"/>
              <a:t>，這些</a:t>
            </a:r>
            <a:r>
              <a:rPr lang="en-US" altLang="zh-TW" dirty="0" smtClean="0"/>
              <a:t>blocks</a:t>
            </a:r>
            <a:r>
              <a:rPr lang="zh-TW" altLang="en-US" dirty="0" smtClean="0"/>
              <a:t>在</a:t>
            </a:r>
            <a:r>
              <a:rPr lang="en-US" altLang="zh-TW" dirty="0" smtClean="0"/>
              <a:t>S</a:t>
            </a:r>
            <a:r>
              <a:rPr lang="zh-TW" altLang="en-US" dirty="0" smtClean="0"/>
              <a:t>中出現的次數與</a:t>
            </a:r>
            <a:r>
              <a:rPr lang="zh-TW" altLang="en-US" dirty="0"/>
              <a:t>在</a:t>
            </a:r>
            <a:r>
              <a:rPr lang="en-US" altLang="zh-TW" dirty="0"/>
              <a:t>T</a:t>
            </a:r>
            <a:r>
              <a:rPr lang="zh-TW" altLang="en-US" dirty="0"/>
              <a:t>中出現的次數相同。</a:t>
            </a:r>
            <a:endParaRPr lang="en-US" altLang="zh-TW" dirty="0" smtClean="0"/>
          </a:p>
          <a:p>
            <a:r>
              <a:rPr lang="en-US" altLang="zh-TW" dirty="0" smtClean="0"/>
              <a:t>S = </a:t>
            </a:r>
            <a:r>
              <a:rPr lang="en-US" altLang="zh-TW" dirty="0" err="1" smtClean="0">
                <a:solidFill>
                  <a:srgbClr val="FF0000"/>
                </a:solidFill>
              </a:rPr>
              <a:t>bacab</a:t>
            </a:r>
            <a:r>
              <a:rPr lang="en-US" altLang="zh-TW" dirty="0" err="1" smtClean="0">
                <a:solidFill>
                  <a:srgbClr val="00B0F0"/>
                </a:solidFill>
              </a:rPr>
              <a:t>acdca</a:t>
            </a:r>
            <a:endParaRPr lang="en-US" altLang="zh-TW" dirty="0" smtClean="0">
              <a:solidFill>
                <a:srgbClr val="00B0F0"/>
              </a:solidFill>
            </a:endParaRPr>
          </a:p>
          <a:p>
            <a:r>
              <a:rPr lang="en-US" altLang="zh-TW" dirty="0" smtClean="0"/>
              <a:t>T = </a:t>
            </a:r>
            <a:r>
              <a:rPr lang="en-US" altLang="zh-TW" dirty="0" err="1" smtClean="0">
                <a:solidFill>
                  <a:srgbClr val="00B0F0"/>
                </a:solidFill>
              </a:rPr>
              <a:t>acdca</a:t>
            </a:r>
            <a:r>
              <a:rPr lang="en-US" altLang="zh-TW" dirty="0" err="1" smtClean="0">
                <a:solidFill>
                  <a:srgbClr val="FF0000"/>
                </a:solidFill>
              </a:rPr>
              <a:t>bacab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en-US" altLang="zh-TW" dirty="0" smtClean="0"/>
              <a:t>OPT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2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/>
              <a:t>最佳解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363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Greedy Method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此處</a:t>
            </a:r>
            <a:r>
              <a:rPr lang="zh-TW" altLang="en-US" dirty="0" smtClean="0"/>
              <a:t>的</a:t>
            </a:r>
            <a:r>
              <a:rPr lang="en-US" altLang="zh-TW" dirty="0" smtClean="0"/>
              <a:t>LCS(S, T)</a:t>
            </a:r>
            <a:r>
              <a:rPr lang="zh-TW" altLang="en-US" dirty="0" smtClean="0"/>
              <a:t>是</a:t>
            </a:r>
            <a:r>
              <a:rPr lang="en-US" altLang="zh-TW" dirty="0" smtClean="0"/>
              <a:t>Longest Common Substring</a:t>
            </a:r>
          </a:p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12" y="2636912"/>
            <a:ext cx="659130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80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Bad Example for GREEDY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= 0</a:t>
                </a:r>
                <a:r>
                  <a:rPr lang="zh-TW" altLang="en-US" dirty="0" smtClean="0"/>
                  <a:t>時，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0</a:t>
                </a:r>
                <a:r>
                  <a:rPr lang="zh-TW" altLang="en-US" baseline="-25000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B</a:t>
                </a:r>
                <a:r>
                  <a:rPr lang="en-US" altLang="zh-TW" baseline="-25000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b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c</a:t>
                </a:r>
                <a:r>
                  <a:rPr lang="zh-TW" altLang="en-US" dirty="0" smtClean="0"/>
                  <a:t> </a:t>
                </a:r>
                <a:endParaRPr lang="en-US" altLang="zh-TW" baseline="-25000" dirty="0"/>
              </a:p>
              <a:p>
                <a:r>
                  <a:rPr lang="en-US" altLang="zh-TW" dirty="0" smtClean="0"/>
                  <a:t>S</a:t>
                </a:r>
                <a:r>
                  <a:rPr lang="en-US" altLang="zh-TW" baseline="-25000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0</a:t>
                </a:r>
                <a:r>
                  <a:rPr lang="en-US" altLang="zh-TW" dirty="0" smtClean="0"/>
                  <a:t>B</a:t>
                </a:r>
                <a:r>
                  <a:rPr lang="en-US" altLang="zh-TW" baseline="-25000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ab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T</a:t>
                </a:r>
                <a:r>
                  <a:rPr lang="en-US" altLang="zh-TW" baseline="-25000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B</a:t>
                </a:r>
                <a:r>
                  <a:rPr lang="en-US" altLang="zh-TW" baseline="-25000" dirty="0" smtClean="0"/>
                  <a:t>0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0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err="1" smtClean="0"/>
                  <a:t>ba</a:t>
                </a:r>
                <a:endParaRPr lang="en-US" altLang="zh-TW" dirty="0" smtClean="0"/>
              </a:p>
              <a:p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altLang="zh-TW" dirty="0" smtClean="0"/>
                  <a:t> 1</a:t>
                </a:r>
                <a:r>
                  <a:rPr lang="zh-TW" altLang="en-US" dirty="0" smtClean="0"/>
                  <a:t>時</a:t>
                </a:r>
                <a:endParaRPr lang="en-US" altLang="zh-TW" dirty="0" smtClean="0"/>
              </a:p>
              <a:p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= B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B</a:t>
                </a:r>
                <a:r>
                  <a:rPr lang="en-US" altLang="zh-TW" baseline="-25000" dirty="0" smtClean="0"/>
                  <a:t>i-1</a:t>
                </a:r>
              </a:p>
              <a:p>
                <a:r>
                  <a:rPr lang="en-US" altLang="zh-TW" dirty="0" smtClean="0"/>
                  <a:t>B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= 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d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</a:p>
              <a:p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= 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e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</a:p>
              <a:p>
                <a:r>
                  <a:rPr lang="en-US" altLang="zh-TW" dirty="0" smtClean="0"/>
                  <a:t>S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= </a:t>
                </a:r>
                <a:r>
                  <a:rPr lang="en-US" altLang="zh-TW" dirty="0" err="1" smtClean="0"/>
                  <a:t>A</a:t>
                </a:r>
                <a:r>
                  <a:rPr lang="en-US" altLang="zh-TW" baseline="-25000" dirty="0" err="1" smtClean="0"/>
                  <a:t>i</a:t>
                </a:r>
                <a:r>
                  <a:rPr lang="en-US" altLang="zh-TW" dirty="0" err="1" smtClean="0"/>
                  <a:t>B</a:t>
                </a:r>
                <a:r>
                  <a:rPr lang="en-US" altLang="zh-TW" baseline="-25000" dirty="0" err="1" smtClean="0"/>
                  <a:t>i</a:t>
                </a:r>
                <a:r>
                  <a:rPr lang="en-US" altLang="zh-TW" dirty="0" smtClean="0"/>
                  <a:t> = B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B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/>
                  <a:t>A</a:t>
                </a:r>
                <a:r>
                  <a:rPr lang="en-US" altLang="zh-TW" baseline="-25000" dirty="0"/>
                  <a:t>i-1</a:t>
                </a:r>
                <a:r>
                  <a:rPr lang="en-US" altLang="zh-TW" dirty="0"/>
                  <a:t>C</a:t>
                </a:r>
                <a:r>
                  <a:rPr lang="en-US" altLang="zh-TW" baseline="-25000" dirty="0"/>
                  <a:t>i-1</a:t>
                </a:r>
                <a:r>
                  <a:rPr lang="en-US" altLang="zh-TW" dirty="0"/>
                  <a:t>d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C</a:t>
                </a:r>
                <a:r>
                  <a:rPr lang="en-US" altLang="zh-TW" baseline="-25000" dirty="0"/>
                  <a:t>i-1</a:t>
                </a:r>
                <a:r>
                  <a:rPr lang="en-US" altLang="zh-TW" dirty="0"/>
                  <a:t>A</a:t>
                </a:r>
                <a:r>
                  <a:rPr lang="en-US" altLang="zh-TW" baseline="-25000" dirty="0"/>
                  <a:t>i-1</a:t>
                </a:r>
              </a:p>
              <a:p>
                <a:r>
                  <a:rPr lang="en-US" altLang="zh-TW" dirty="0" err="1" smtClean="0"/>
                  <a:t>T</a:t>
                </a:r>
                <a:r>
                  <a:rPr lang="en-US" altLang="zh-TW" baseline="-25000" dirty="0" err="1" smtClean="0"/>
                  <a:t>i</a:t>
                </a:r>
                <a:r>
                  <a:rPr lang="en-US" altLang="zh-TW" dirty="0" smtClean="0"/>
                  <a:t> = </a:t>
                </a:r>
                <a:r>
                  <a:rPr lang="en-US" altLang="zh-TW" dirty="0" err="1" smtClean="0"/>
                  <a:t>B</a:t>
                </a:r>
                <a:r>
                  <a:rPr lang="en-US" altLang="zh-TW" baseline="-25000" dirty="0" err="1" smtClean="0"/>
                  <a:t>i</a:t>
                </a:r>
                <a:r>
                  <a:rPr lang="en-US" altLang="zh-TW" dirty="0" err="1" smtClean="0"/>
                  <a:t>A</a:t>
                </a:r>
                <a:r>
                  <a:rPr lang="en-US" altLang="zh-TW" baseline="-25000" dirty="0" err="1" smtClean="0"/>
                  <a:t>i</a:t>
                </a:r>
                <a:r>
                  <a:rPr lang="en-US" altLang="zh-TW" dirty="0" smtClean="0"/>
                  <a:t> = 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d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B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B</a:t>
                </a:r>
                <a:r>
                  <a:rPr lang="en-US" altLang="zh-TW" baseline="-25000" dirty="0" smtClean="0"/>
                  <a:t>i-1</a:t>
                </a:r>
              </a:p>
              <a:p>
                <a:r>
                  <a:rPr lang="en-US" altLang="zh-TW" dirty="0" smtClean="0"/>
                  <a:t>|</a:t>
                </a:r>
                <a:r>
                  <a:rPr lang="el-GR" altLang="zh-TW" dirty="0" smtClean="0"/>
                  <a:t>Σ</a:t>
                </a:r>
                <a:r>
                  <a:rPr lang="en-US" altLang="zh-TW" baseline="-25000" dirty="0" err="1" smtClean="0"/>
                  <a:t>i</a:t>
                </a:r>
                <a:r>
                  <a:rPr lang="en-US" altLang="zh-TW" dirty="0" smtClean="0"/>
                  <a:t>| = |</a:t>
                </a:r>
                <a:r>
                  <a:rPr lang="el-GR" altLang="zh-TW" dirty="0" smtClean="0"/>
                  <a:t>Σ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| + 2 </a:t>
                </a:r>
                <a:r>
                  <a:rPr lang="zh-TW" altLang="en-US" dirty="0" smtClean="0"/>
                  <a:t>→</a:t>
                </a:r>
                <a:r>
                  <a:rPr lang="en-US" altLang="zh-TW" dirty="0"/>
                  <a:t> |</a:t>
                </a:r>
                <a:r>
                  <a:rPr lang="el-GR" altLang="zh-TW" dirty="0"/>
                  <a:t>Σ</a:t>
                </a:r>
                <a:r>
                  <a:rPr lang="en-US" altLang="zh-TW" baseline="-25000" dirty="0" err="1"/>
                  <a:t>i</a:t>
                </a:r>
                <a:r>
                  <a:rPr lang="en-US" altLang="zh-TW" dirty="0" smtClean="0"/>
                  <a:t>|</a:t>
                </a:r>
                <a:r>
                  <a:rPr lang="zh-TW" altLang="en-US" dirty="0"/>
                  <a:t> </a:t>
                </a:r>
                <a:r>
                  <a:rPr lang="en-US" altLang="zh-TW" dirty="0" smtClean="0"/>
                  <a:t>= O(</a:t>
                </a:r>
                <a:r>
                  <a:rPr lang="en-US" altLang="zh-TW" dirty="0" err="1" smtClean="0"/>
                  <a:t>log|S</a:t>
                </a:r>
                <a:r>
                  <a:rPr lang="en-US" altLang="zh-TW" baseline="-25000" dirty="0" err="1" smtClean="0"/>
                  <a:t>i</a:t>
                </a:r>
                <a:r>
                  <a:rPr lang="en-US" altLang="zh-TW" dirty="0" smtClean="0"/>
                  <a:t>|)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 rotWithShape="1">
                <a:blip r:embed="rId2"/>
                <a:stretch>
                  <a:fillRect l="-1630" t="-25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80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Bad Example for GREEDY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A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bacab</a:t>
            </a:r>
            <a:r>
              <a:rPr lang="zh-TW" altLang="en-US" dirty="0" smtClean="0"/>
              <a:t>，</a:t>
            </a:r>
            <a:r>
              <a:rPr lang="en-US" altLang="zh-TW" dirty="0" smtClean="0"/>
              <a:t>B</a:t>
            </a:r>
            <a:r>
              <a:rPr lang="en-US" altLang="zh-TW" baseline="-25000" dirty="0" smtClean="0"/>
              <a:t>1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acdca</a:t>
            </a:r>
            <a:r>
              <a:rPr lang="zh-TW" altLang="en-US" dirty="0" smtClean="0"/>
              <a:t>，</a:t>
            </a:r>
            <a:r>
              <a:rPr lang="en-US" altLang="zh-TW" dirty="0" smtClean="0"/>
              <a:t>C</a:t>
            </a:r>
            <a:r>
              <a:rPr lang="en-US" altLang="zh-TW" baseline="-25000" dirty="0" smtClean="0"/>
              <a:t>1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aceca</a:t>
            </a:r>
            <a:endParaRPr lang="en-US" altLang="zh-TW" dirty="0" smtClean="0"/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</a:t>
            </a:r>
            <a:r>
              <a:rPr lang="en-US" altLang="zh-TW" dirty="0"/>
              <a:t>= </a:t>
            </a:r>
            <a:r>
              <a:rPr lang="en-US" altLang="zh-TW" dirty="0" err="1"/>
              <a:t>ba</a:t>
            </a:r>
            <a:r>
              <a:rPr lang="en-US" altLang="zh-TW" dirty="0" err="1">
                <a:solidFill>
                  <a:srgbClr val="FF0000"/>
                </a:solidFill>
              </a:rPr>
              <a:t>cabac</a:t>
            </a:r>
            <a:r>
              <a:rPr lang="en-US" altLang="zh-TW" dirty="0" err="1"/>
              <a:t>dca</a:t>
            </a:r>
            <a:endParaRPr lang="en-US" altLang="zh-TW" dirty="0"/>
          </a:p>
          <a:p>
            <a:r>
              <a:rPr lang="en-US" altLang="zh-TW" dirty="0" smtClean="0"/>
              <a:t>T</a:t>
            </a:r>
            <a:r>
              <a:rPr lang="en-US" altLang="zh-TW" baseline="-25000" dirty="0" smtClean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acd</a:t>
            </a:r>
            <a:r>
              <a:rPr lang="en-US" altLang="zh-TW" dirty="0" err="1" smtClean="0">
                <a:solidFill>
                  <a:srgbClr val="FF0000"/>
                </a:solidFill>
              </a:rPr>
              <a:t>cabac</a:t>
            </a:r>
            <a:r>
              <a:rPr lang="en-US" altLang="zh-TW" dirty="0" err="1" smtClean="0"/>
              <a:t>ab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zh-TW" altLang="en-US" dirty="0" smtClean="0"/>
              <a:t>以</a:t>
            </a:r>
            <a:r>
              <a:rPr lang="en-US" altLang="zh-TW" dirty="0"/>
              <a:t>x</a:t>
            </a:r>
            <a:r>
              <a:rPr lang="zh-TW" altLang="en-US" dirty="0"/>
              <a:t>做</a:t>
            </a:r>
            <a:r>
              <a:rPr lang="zh-TW" altLang="en-US" dirty="0" smtClean="0"/>
              <a:t>替換後</a:t>
            </a:r>
            <a:endParaRPr lang="en-US" altLang="zh-TW" dirty="0" smtClean="0"/>
          </a:p>
          <a:p>
            <a:r>
              <a:rPr lang="en-US" altLang="zh-TW" dirty="0" smtClean="0"/>
              <a:t>S’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ba</a:t>
            </a:r>
            <a:r>
              <a:rPr lang="en-US" altLang="zh-TW" dirty="0" err="1" smtClean="0">
                <a:solidFill>
                  <a:srgbClr val="FF0000"/>
                </a:solidFill>
              </a:rPr>
              <a:t>x</a:t>
            </a:r>
            <a:r>
              <a:rPr lang="en-US" altLang="zh-TW" dirty="0" err="1" smtClean="0"/>
              <a:t>dca</a:t>
            </a:r>
            <a:endParaRPr lang="en-US" altLang="zh-TW" dirty="0" smtClean="0"/>
          </a:p>
          <a:p>
            <a:r>
              <a:rPr lang="en-US" altLang="zh-TW" dirty="0" smtClean="0"/>
              <a:t>T’</a:t>
            </a:r>
            <a:r>
              <a:rPr lang="en-US" altLang="zh-TW" baseline="-25000" dirty="0" smtClean="0"/>
              <a:t>1 </a:t>
            </a:r>
            <a:r>
              <a:rPr lang="en-US" altLang="zh-TW" dirty="0" smtClean="0"/>
              <a:t>= </a:t>
            </a:r>
            <a:r>
              <a:rPr lang="en-US" altLang="zh-TW" dirty="0" err="1" smtClean="0"/>
              <a:t>acd</a:t>
            </a:r>
            <a:r>
              <a:rPr lang="en-US" altLang="zh-TW" dirty="0" err="1" smtClean="0">
                <a:solidFill>
                  <a:srgbClr val="FF0000"/>
                </a:solidFill>
              </a:rPr>
              <a:t>x</a:t>
            </a:r>
            <a:r>
              <a:rPr lang="en-US" altLang="zh-TW" dirty="0" err="1" smtClean="0"/>
              <a:t>ab</a:t>
            </a:r>
            <a:endParaRPr lang="en-US" altLang="zh-TW" dirty="0" smtClean="0"/>
          </a:p>
          <a:p>
            <a:r>
              <a:rPr lang="en-US" altLang="zh-TW" dirty="0" smtClean="0"/>
              <a:t>GREEDY</a:t>
            </a:r>
            <a:r>
              <a:rPr lang="zh-TW" altLang="en-US" dirty="0" smtClean="0"/>
              <a:t>下一個</a:t>
            </a:r>
            <a:r>
              <a:rPr lang="en-US" altLang="zh-TW" dirty="0" smtClean="0"/>
              <a:t>iteration</a:t>
            </a:r>
            <a:r>
              <a:rPr lang="zh-TW" altLang="en-US" dirty="0" smtClean="0"/>
              <a:t>會觀察</a:t>
            </a:r>
            <a:r>
              <a:rPr lang="en-US" altLang="zh-TW" dirty="0" err="1" smtClean="0"/>
              <a:t>ba</a:t>
            </a:r>
            <a:r>
              <a:rPr lang="zh-TW" altLang="en-US" dirty="0"/>
              <a:t>與</a:t>
            </a:r>
            <a:r>
              <a:rPr lang="en-US" altLang="zh-TW" dirty="0" smtClean="0"/>
              <a:t>ab</a:t>
            </a:r>
            <a:r>
              <a:rPr lang="zh-TW" altLang="en-US" dirty="0" smtClean="0"/>
              <a:t>有沒有</a:t>
            </a:r>
            <a:r>
              <a:rPr lang="en-US" altLang="zh-TW" dirty="0" smtClean="0"/>
              <a:t>LCS</a:t>
            </a:r>
            <a:r>
              <a:rPr lang="zh-TW" altLang="en-US" dirty="0" smtClean="0"/>
              <a:t>，再下一個</a:t>
            </a:r>
            <a:r>
              <a:rPr lang="en-US" altLang="zh-TW" dirty="0" smtClean="0"/>
              <a:t>iteration</a:t>
            </a:r>
            <a:r>
              <a:rPr lang="zh-TW" altLang="en-US" dirty="0" smtClean="0"/>
              <a:t>會觀察</a:t>
            </a:r>
            <a:r>
              <a:rPr lang="en-US" altLang="zh-TW" dirty="0" err="1"/>
              <a:t>d</a:t>
            </a:r>
            <a:r>
              <a:rPr lang="en-US" altLang="zh-TW" dirty="0" err="1" smtClean="0"/>
              <a:t>ca</a:t>
            </a:r>
            <a:r>
              <a:rPr lang="zh-TW" altLang="en-US" dirty="0" smtClean="0"/>
              <a:t>與</a:t>
            </a:r>
            <a:r>
              <a:rPr lang="en-US" altLang="zh-TW" dirty="0" err="1" smtClean="0"/>
              <a:t>acd</a:t>
            </a:r>
            <a:r>
              <a:rPr lang="zh-TW" altLang="en-US" dirty="0" smtClean="0"/>
              <a:t>之間有沒有</a:t>
            </a:r>
            <a:r>
              <a:rPr lang="en-US" altLang="zh-TW" dirty="0" smtClean="0"/>
              <a:t>LCS</a:t>
            </a:r>
            <a:r>
              <a:rPr lang="zh-TW" altLang="en-US" dirty="0" smtClean="0"/>
              <a:t>，沒有，結束。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12185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Bad Example for GREEDY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4116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zh-TW" altLang="en-US" dirty="0" smtClean="0"/>
                  <a:t>將上述的例子中的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換成</a:t>
                </a:r>
                <a:r>
                  <a:rPr lang="en-US" altLang="zh-TW" dirty="0" err="1" smtClean="0"/>
                  <a:t>i</a:t>
                </a:r>
                <a:endParaRPr lang="en-US" altLang="zh-TW" dirty="0" smtClean="0"/>
              </a:p>
              <a:p>
                <a:r>
                  <a:rPr lang="en-US" altLang="zh-TW" dirty="0" err="1" smtClean="0"/>
                  <a:t>S’</a:t>
                </a:r>
                <a:r>
                  <a:rPr lang="en-US" altLang="zh-TW" baseline="-25000" dirty="0" err="1" smtClean="0"/>
                  <a:t>i</a:t>
                </a:r>
                <a:r>
                  <a:rPr lang="en-US" altLang="zh-TW" dirty="0" smtClean="0"/>
                  <a:t> = </a:t>
                </a:r>
                <a:r>
                  <a:rPr lang="en-US" altLang="zh-TW" dirty="0" err="1"/>
                  <a:t>A</a:t>
                </a:r>
                <a:r>
                  <a:rPr lang="en-US" altLang="zh-TW" baseline="-25000" dirty="0" err="1"/>
                  <a:t>i</a:t>
                </a:r>
                <a:r>
                  <a:rPr lang="en-US" altLang="zh-TW" dirty="0" err="1"/>
                  <a:t>B</a:t>
                </a:r>
                <a:r>
                  <a:rPr lang="en-US" altLang="zh-TW" baseline="-25000" dirty="0" err="1"/>
                  <a:t>i</a:t>
                </a:r>
                <a:r>
                  <a:rPr lang="en-US" altLang="zh-TW" dirty="0" smtClean="0"/>
                  <a:t> = </a:t>
                </a:r>
                <a:r>
                  <a:rPr lang="en-US" altLang="zh-TW" dirty="0" smtClean="0">
                    <a:solidFill>
                      <a:srgbClr val="00B0F0"/>
                    </a:solidFill>
                  </a:rPr>
                  <a:t>B</a:t>
                </a:r>
                <a:r>
                  <a:rPr lang="en-US" altLang="zh-TW" baseline="-25000" dirty="0" smtClean="0">
                    <a:solidFill>
                      <a:srgbClr val="00B0F0"/>
                    </a:solidFill>
                  </a:rPr>
                  <a:t>i-1</a:t>
                </a:r>
                <a:r>
                  <a:rPr lang="en-US" altLang="zh-TW" dirty="0" smtClean="0">
                    <a:solidFill>
                      <a:srgbClr val="00B0F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B0F0"/>
                    </a:solidFill>
                  </a:rPr>
                  <a:t>i-1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x</a:t>
                </a:r>
                <a:r>
                  <a:rPr lang="en-US" altLang="zh-TW" dirty="0" smtClean="0"/>
                  <a:t>d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>
                    <a:solidFill>
                      <a:srgbClr val="00B050"/>
                    </a:solidFill>
                  </a:rPr>
                  <a:t>C</a:t>
                </a:r>
                <a:r>
                  <a:rPr lang="en-US" altLang="zh-TW" baseline="-25000" dirty="0" smtClean="0">
                    <a:solidFill>
                      <a:srgbClr val="00B050"/>
                    </a:solidFill>
                  </a:rPr>
                  <a:t>i-1</a:t>
                </a:r>
                <a:r>
                  <a:rPr lang="en-US" altLang="zh-TW" dirty="0" smtClean="0">
                    <a:solidFill>
                      <a:srgbClr val="00B05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B050"/>
                    </a:solidFill>
                  </a:rPr>
                  <a:t>i-1</a:t>
                </a:r>
                <a:endParaRPr lang="en-US" altLang="zh-TW" baseline="-25000" dirty="0">
                  <a:solidFill>
                    <a:srgbClr val="00B050"/>
                  </a:solidFill>
                </a:endParaRPr>
              </a:p>
              <a:p>
                <a:r>
                  <a:rPr lang="en-US" altLang="zh-TW" dirty="0" err="1" smtClean="0"/>
                  <a:t>T’</a:t>
                </a:r>
                <a:r>
                  <a:rPr lang="en-US" altLang="zh-TW" baseline="-25000" dirty="0" err="1" smtClean="0"/>
                  <a:t>i</a:t>
                </a:r>
                <a:r>
                  <a:rPr lang="en-US" altLang="zh-TW" baseline="-25000" dirty="0" smtClean="0"/>
                  <a:t> </a:t>
                </a:r>
                <a:r>
                  <a:rPr lang="en-US" altLang="zh-TW" dirty="0" smtClean="0"/>
                  <a:t>= </a:t>
                </a:r>
                <a:r>
                  <a:rPr lang="en-US" altLang="zh-TW" dirty="0" err="1"/>
                  <a:t>B</a:t>
                </a:r>
                <a:r>
                  <a:rPr lang="en-US" altLang="zh-TW" baseline="-25000" dirty="0" err="1"/>
                  <a:t>i</a:t>
                </a:r>
                <a:r>
                  <a:rPr lang="en-US" altLang="zh-TW" dirty="0" err="1"/>
                  <a:t>A</a:t>
                </a:r>
                <a:r>
                  <a:rPr lang="en-US" altLang="zh-TW" baseline="-25000" dirty="0" err="1"/>
                  <a:t>i</a:t>
                </a:r>
                <a:r>
                  <a:rPr lang="en-US" altLang="zh-TW" dirty="0" smtClean="0"/>
                  <a:t> = </a:t>
                </a:r>
                <a:r>
                  <a:rPr lang="en-US" altLang="zh-TW" dirty="0" smtClean="0">
                    <a:solidFill>
                      <a:srgbClr val="00B05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B050"/>
                    </a:solidFill>
                  </a:rPr>
                  <a:t>i-1</a:t>
                </a:r>
                <a:r>
                  <a:rPr lang="en-US" altLang="zh-TW" dirty="0" smtClean="0">
                    <a:solidFill>
                      <a:srgbClr val="00B050"/>
                    </a:solidFill>
                  </a:rPr>
                  <a:t>C</a:t>
                </a:r>
                <a:r>
                  <a:rPr lang="en-US" altLang="zh-TW" baseline="-25000" dirty="0" smtClean="0">
                    <a:solidFill>
                      <a:srgbClr val="00B050"/>
                    </a:solidFill>
                  </a:rPr>
                  <a:t>i-1</a:t>
                </a:r>
                <a:r>
                  <a:rPr lang="en-US" altLang="zh-TW" dirty="0" smtClean="0"/>
                  <a:t>d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x</a:t>
                </a:r>
                <a:r>
                  <a:rPr lang="en-US" altLang="zh-TW" dirty="0" smtClean="0">
                    <a:solidFill>
                      <a:srgbClr val="00B0F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B0F0"/>
                    </a:solidFill>
                  </a:rPr>
                  <a:t>i-1</a:t>
                </a:r>
                <a:r>
                  <a:rPr lang="en-US" altLang="zh-TW" dirty="0" smtClean="0">
                    <a:solidFill>
                      <a:srgbClr val="00B0F0"/>
                    </a:solidFill>
                  </a:rPr>
                  <a:t>B</a:t>
                </a:r>
                <a:r>
                  <a:rPr lang="en-US" altLang="zh-TW" baseline="-25000" dirty="0" smtClean="0">
                    <a:solidFill>
                      <a:srgbClr val="00B0F0"/>
                    </a:solidFill>
                  </a:rPr>
                  <a:t>i-1</a:t>
                </a:r>
              </a:p>
              <a:p>
                <a:r>
                  <a:rPr lang="en-US" altLang="zh-TW" dirty="0"/>
                  <a:t>GREEDY</a:t>
                </a:r>
                <a:r>
                  <a:rPr lang="zh-TW" altLang="en-US" dirty="0" smtClean="0"/>
                  <a:t>下一個</a:t>
                </a:r>
                <a:r>
                  <a:rPr lang="en-US" altLang="zh-TW" dirty="0" smtClean="0"/>
                  <a:t>iteration</a:t>
                </a:r>
                <a:r>
                  <a:rPr lang="zh-TW" altLang="en-US" dirty="0" smtClean="0"/>
                  <a:t>會觀察</a:t>
                </a:r>
                <a:r>
                  <a:rPr lang="en-US" altLang="zh-TW" dirty="0"/>
                  <a:t>B</a:t>
                </a:r>
                <a:r>
                  <a:rPr lang="en-US" altLang="zh-TW" baseline="-25000" dirty="0"/>
                  <a:t>i-1</a:t>
                </a:r>
                <a:r>
                  <a:rPr lang="en-US" altLang="zh-TW" dirty="0"/>
                  <a:t>A</a:t>
                </a:r>
                <a:r>
                  <a:rPr lang="en-US" altLang="zh-TW" baseline="-25000" dirty="0"/>
                  <a:t>i-1</a:t>
                </a:r>
                <a:r>
                  <a:rPr lang="zh-TW" altLang="en-US" dirty="0" smtClean="0"/>
                  <a:t>與</a:t>
                </a:r>
                <a:r>
                  <a:rPr lang="en-US" altLang="zh-TW" dirty="0"/>
                  <a:t>A</a:t>
                </a:r>
                <a:r>
                  <a:rPr lang="en-US" altLang="zh-TW" baseline="-25000" dirty="0"/>
                  <a:t>i-1</a:t>
                </a:r>
                <a:r>
                  <a:rPr lang="en-US" altLang="zh-TW" dirty="0"/>
                  <a:t>B</a:t>
                </a:r>
                <a:r>
                  <a:rPr lang="en-US" altLang="zh-TW" baseline="-25000" dirty="0"/>
                  <a:t>i-1</a:t>
                </a:r>
                <a:r>
                  <a:rPr lang="zh-TW" altLang="en-US" dirty="0" smtClean="0"/>
                  <a:t>有</a:t>
                </a:r>
                <a:r>
                  <a:rPr lang="zh-TW" altLang="en-US" dirty="0"/>
                  <a:t>沒有</a:t>
                </a:r>
                <a:r>
                  <a:rPr lang="en-US" altLang="zh-TW" dirty="0"/>
                  <a:t>LCS</a:t>
                </a:r>
                <a:r>
                  <a:rPr lang="zh-TW" altLang="en-US" dirty="0"/>
                  <a:t>，再</a:t>
                </a:r>
                <a:r>
                  <a:rPr lang="zh-TW" altLang="en-US" dirty="0" smtClean="0"/>
                  <a:t>下一個</a:t>
                </a:r>
                <a:r>
                  <a:rPr lang="en-US" altLang="zh-TW" dirty="0" smtClean="0"/>
                  <a:t>iteration</a:t>
                </a:r>
                <a:r>
                  <a:rPr lang="zh-TW" altLang="en-US" dirty="0" smtClean="0"/>
                  <a:t>會觀察</a:t>
                </a:r>
                <a:r>
                  <a:rPr lang="en-US" altLang="zh-TW" dirty="0"/>
                  <a:t>C</a:t>
                </a:r>
                <a:r>
                  <a:rPr lang="en-US" altLang="zh-TW" baseline="-25000" dirty="0"/>
                  <a:t>i-1</a:t>
                </a:r>
                <a:r>
                  <a:rPr lang="en-US" altLang="zh-TW" dirty="0"/>
                  <a:t>A</a:t>
                </a:r>
                <a:r>
                  <a:rPr lang="en-US" altLang="zh-TW" baseline="-25000" dirty="0"/>
                  <a:t>i-1</a:t>
                </a:r>
                <a:r>
                  <a:rPr lang="zh-TW" altLang="en-US" dirty="0" smtClean="0"/>
                  <a:t>與</a:t>
                </a:r>
                <a:r>
                  <a:rPr lang="en-US" altLang="zh-TW" dirty="0"/>
                  <a:t>A</a:t>
                </a:r>
                <a:r>
                  <a:rPr lang="en-US" altLang="zh-TW" baseline="-25000" dirty="0"/>
                  <a:t>i-1</a:t>
                </a:r>
                <a:r>
                  <a:rPr lang="en-US" altLang="zh-TW" dirty="0"/>
                  <a:t>C</a:t>
                </a:r>
                <a:r>
                  <a:rPr lang="en-US" altLang="zh-TW" baseline="-25000" dirty="0"/>
                  <a:t>i-1</a:t>
                </a:r>
                <a:r>
                  <a:rPr lang="zh-TW" altLang="en-US" dirty="0" smtClean="0"/>
                  <a:t>之間</a:t>
                </a:r>
                <a:r>
                  <a:rPr lang="zh-TW" altLang="en-US" dirty="0"/>
                  <a:t>有沒有</a:t>
                </a:r>
                <a:r>
                  <a:rPr lang="en-US" altLang="zh-TW" dirty="0" smtClean="0"/>
                  <a:t>LCS</a:t>
                </a:r>
                <a:r>
                  <a:rPr lang="zh-TW" altLang="en-US" dirty="0" smtClean="0"/>
                  <a:t>，於是整理出下列情況：</a:t>
                </a:r>
                <a:endParaRPr lang="en-US" altLang="zh-TW" dirty="0" smtClean="0"/>
              </a:p>
              <a:p>
                <a:r>
                  <a:rPr lang="zh-TW" altLang="en-US" dirty="0" smtClean="0"/>
                  <a:t>在</a:t>
                </a:r>
                <a:r>
                  <a:rPr lang="en-US" altLang="zh-TW" dirty="0" smtClean="0"/>
                  <a:t>iteration 2k+1</a:t>
                </a:r>
                <a:r>
                  <a:rPr lang="zh-TW" altLang="en-US" dirty="0" smtClean="0"/>
                  <a:t>時，</a:t>
                </a:r>
                <a:r>
                  <a:rPr lang="en-US" altLang="zh-TW" dirty="0" smtClean="0"/>
                  <a:t>GREEDY</a:t>
                </a:r>
                <a:r>
                  <a:rPr lang="zh-TW" altLang="en-US" dirty="0" smtClean="0"/>
                  <a:t>會尋找</a:t>
                </a:r>
                <a:r>
                  <a:rPr lang="en-US" altLang="zh-TW" dirty="0"/>
                  <a:t>B</a:t>
                </a:r>
                <a:r>
                  <a:rPr lang="en-US" altLang="zh-TW" baseline="-25000" dirty="0"/>
                  <a:t>i-1</a:t>
                </a:r>
                <a:r>
                  <a:rPr lang="en-US" altLang="zh-TW" dirty="0"/>
                  <a:t>A</a:t>
                </a:r>
                <a:r>
                  <a:rPr lang="en-US" altLang="zh-TW" baseline="-25000" dirty="0"/>
                  <a:t>i-1</a:t>
                </a:r>
                <a:r>
                  <a:rPr lang="zh-TW" altLang="en-US" dirty="0"/>
                  <a:t>與</a:t>
                </a:r>
                <a:r>
                  <a:rPr lang="en-US" altLang="zh-TW" dirty="0"/>
                  <a:t>A</a:t>
                </a:r>
                <a:r>
                  <a:rPr lang="en-US" altLang="zh-TW" baseline="-25000" dirty="0"/>
                  <a:t>i-1</a:t>
                </a:r>
                <a:r>
                  <a:rPr lang="en-US" altLang="zh-TW" dirty="0"/>
                  <a:t>B</a:t>
                </a:r>
                <a:r>
                  <a:rPr lang="en-US" altLang="zh-TW" baseline="-25000" dirty="0"/>
                  <a:t>i-1</a:t>
                </a:r>
                <a:r>
                  <a:rPr lang="zh-TW" altLang="en-US" dirty="0"/>
                  <a:t>有沒有</a:t>
                </a:r>
                <a:r>
                  <a:rPr lang="en-US" altLang="zh-TW" dirty="0" smtClean="0"/>
                  <a:t>LCS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iteration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2k+2</a:t>
                </a:r>
                <a:r>
                  <a:rPr lang="zh-TW" altLang="en-US" dirty="0" smtClean="0"/>
                  <a:t>時，</a:t>
                </a:r>
                <a:r>
                  <a:rPr lang="en-US" altLang="zh-TW" dirty="0" smtClean="0"/>
                  <a:t>GREEDY</a:t>
                </a:r>
                <a:r>
                  <a:rPr lang="zh-TW" altLang="en-US" dirty="0" smtClean="0"/>
                  <a:t>會尋找</a:t>
                </a:r>
                <a:r>
                  <a:rPr lang="en-US" altLang="zh-TW" dirty="0"/>
                  <a:t>C</a:t>
                </a:r>
                <a:r>
                  <a:rPr lang="en-US" altLang="zh-TW" baseline="-25000" dirty="0"/>
                  <a:t>i-1</a:t>
                </a:r>
                <a:r>
                  <a:rPr lang="en-US" altLang="zh-TW" dirty="0"/>
                  <a:t>A</a:t>
                </a:r>
                <a:r>
                  <a:rPr lang="en-US" altLang="zh-TW" baseline="-25000" dirty="0"/>
                  <a:t>i-1</a:t>
                </a:r>
                <a:r>
                  <a:rPr lang="zh-TW" altLang="en-US" dirty="0"/>
                  <a:t>與</a:t>
                </a:r>
                <a:r>
                  <a:rPr lang="en-US" altLang="zh-TW" dirty="0"/>
                  <a:t>A</a:t>
                </a:r>
                <a:r>
                  <a:rPr lang="en-US" altLang="zh-TW" baseline="-25000" dirty="0"/>
                  <a:t>i-1</a:t>
                </a:r>
                <a:r>
                  <a:rPr lang="en-US" altLang="zh-TW" dirty="0"/>
                  <a:t>C</a:t>
                </a:r>
                <a:r>
                  <a:rPr lang="en-US" altLang="zh-TW" baseline="-25000" dirty="0"/>
                  <a:t>i-1</a:t>
                </a:r>
                <a:r>
                  <a:rPr lang="zh-TW" altLang="en-US" dirty="0"/>
                  <a:t>之間有沒有</a:t>
                </a:r>
                <a:r>
                  <a:rPr lang="en-US" altLang="zh-TW" dirty="0" smtClean="0"/>
                  <a:t>LCS</a:t>
                </a:r>
                <a:r>
                  <a:rPr lang="zh-TW" altLang="en-US" dirty="0"/>
                  <a:t>。</a:t>
                </a:r>
                <a:endParaRPr lang="en-US" altLang="zh-TW" dirty="0" smtClean="0"/>
              </a:p>
              <a:p>
                <a:r>
                  <a:rPr lang="zh-TW" altLang="en-US" dirty="0" smtClean="0"/>
                  <a:t>令</a:t>
                </a:r>
                <a:r>
                  <a:rPr lang="en-US" altLang="zh-TW" dirty="0" smtClean="0"/>
                  <a:t>R(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為</a:t>
                </a:r>
                <a:r>
                  <a:rPr lang="en-US" altLang="zh-TW" dirty="0" smtClean="0"/>
                  <a:t>GREEDY</a:t>
                </a:r>
                <a:r>
                  <a:rPr lang="zh-TW" altLang="en-US" dirty="0" smtClean="0"/>
                  <a:t>在</a:t>
                </a:r>
                <a:r>
                  <a:rPr lang="en-US" altLang="zh-TW" dirty="0" smtClean="0"/>
                  <a:t>S</a:t>
                </a:r>
                <a:r>
                  <a:rPr lang="en-US" altLang="zh-TW" baseline="-25000" dirty="0" smtClean="0"/>
                  <a:t>i</a:t>
                </a:r>
                <a:r>
                  <a:rPr lang="zh-TW" altLang="en-US" dirty="0" smtClean="0"/>
                  <a:t>與</a:t>
                </a:r>
                <a:r>
                  <a:rPr lang="en-US" altLang="zh-TW" dirty="0" err="1" smtClean="0"/>
                  <a:t>T</a:t>
                </a:r>
                <a:r>
                  <a:rPr lang="en-US" altLang="zh-TW" baseline="-25000" dirty="0" err="1" smtClean="0"/>
                  <a:t>i</a:t>
                </a:r>
                <a:r>
                  <a:rPr lang="zh-TW" altLang="en-US" dirty="0" smtClean="0"/>
                  <a:t>中找到的</a:t>
                </a:r>
                <a:r>
                  <a:rPr lang="en-US" altLang="zh-TW" dirty="0" smtClean="0"/>
                  <a:t>block</a:t>
                </a:r>
                <a:r>
                  <a:rPr lang="zh-TW" altLang="en-US" dirty="0" smtClean="0"/>
                  <a:t>數</a:t>
                </a:r>
                <a:endParaRPr lang="en-US" altLang="zh-TW" dirty="0" smtClean="0"/>
              </a:p>
              <a:p>
                <a:r>
                  <a:rPr lang="en-US" altLang="zh-TW" dirty="0" smtClean="0"/>
                  <a:t>R(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2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+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2R(i-1)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≅</m:t>
                    </m:r>
                  </m:oMath>
                </a14:m>
                <a:r>
                  <a:rPr lang="en-US" altLang="zh-TW" dirty="0" smtClean="0"/>
                  <a:t> 2</a:t>
                </a:r>
                <a:r>
                  <a:rPr lang="en-US" altLang="zh-TW" baseline="30000" dirty="0" smtClean="0"/>
                  <a:t>i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41168"/>
              </a:xfrm>
              <a:blipFill rotWithShape="1">
                <a:blip r:embed="rId2"/>
                <a:stretch>
                  <a:fillRect l="-1481" t="-3321" r="-3852" b="-14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797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Lower Bound of GREEDY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altLang="zh-TW" dirty="0" smtClean="0"/>
                  <a:t>S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 = </a:t>
                </a:r>
                <a:r>
                  <a:rPr lang="en-US" altLang="zh-TW" dirty="0" err="1"/>
                  <a:t>A</a:t>
                </a:r>
                <a:r>
                  <a:rPr lang="en-US" altLang="zh-TW" baseline="-25000" dirty="0" err="1"/>
                  <a:t>i</a:t>
                </a:r>
                <a:r>
                  <a:rPr lang="en-US" altLang="zh-TW" dirty="0" err="1"/>
                  <a:t>B</a:t>
                </a:r>
                <a:r>
                  <a:rPr lang="en-US" altLang="zh-TW" baseline="-25000" dirty="0" err="1"/>
                  <a:t>i</a:t>
                </a:r>
                <a:r>
                  <a:rPr lang="en-US" altLang="zh-TW" dirty="0"/>
                  <a:t> = </a:t>
                </a:r>
                <a:r>
                  <a:rPr lang="en-US" altLang="zh-TW" dirty="0" smtClean="0"/>
                  <a:t>B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B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d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i-1</a:t>
                </a:r>
              </a:p>
              <a:p>
                <a:r>
                  <a:rPr lang="en-US" altLang="zh-TW" dirty="0" smtClean="0"/>
                  <a:t>|B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| </a:t>
                </a:r>
                <a:r>
                  <a:rPr lang="en-US" altLang="zh-TW" dirty="0"/>
                  <a:t>= |</a:t>
                </a:r>
                <a:r>
                  <a:rPr lang="en-US" altLang="zh-TW" dirty="0" smtClean="0"/>
                  <a:t>C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|</a:t>
                </a:r>
              </a:p>
              <a:p>
                <a:r>
                  <a:rPr lang="en-US" altLang="zh-TW" dirty="0" smtClean="0"/>
                  <a:t>|S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| = 4|A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| + 5|B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| + 1(d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)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      = 4(|A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| + |B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|)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+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|B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| + 1</a:t>
                </a:r>
                <a:r>
                  <a:rPr lang="en-US" altLang="zh-TW" dirty="0"/>
                  <a:t/>
                </a:r>
                <a:br>
                  <a:rPr lang="en-US" altLang="zh-TW" dirty="0"/>
                </a:br>
                <a:r>
                  <a:rPr lang="en-US" altLang="zh-TW" dirty="0" smtClean="0"/>
                  <a:t>      = 4|S</a:t>
                </a:r>
                <a:r>
                  <a:rPr lang="en-US" altLang="zh-TW" baseline="-25000" dirty="0" smtClean="0"/>
                  <a:t>i=1</a:t>
                </a:r>
                <a:r>
                  <a:rPr lang="en-US" altLang="zh-TW" dirty="0" smtClean="0"/>
                  <a:t>| + |B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| + 1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/>
                  <a:t> 4.5|S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|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+1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/>
                      </a:rPr>
                      <m:t>≅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2(4.5)</a:t>
                </a:r>
                <a:r>
                  <a:rPr lang="en-US" altLang="zh-TW" baseline="30000" dirty="0" smtClean="0"/>
                  <a:t>i</a:t>
                </a:r>
              </a:p>
              <a:p>
                <a:r>
                  <a:rPr lang="en-US" altLang="zh-TW" dirty="0" smtClean="0"/>
                  <a:t>|S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| = O((4.5)</a:t>
                </a:r>
                <a:r>
                  <a:rPr lang="en-US" altLang="zh-TW" baseline="30000" dirty="0" err="1" smtClean="0"/>
                  <a:t>i</a:t>
                </a:r>
                <a:r>
                  <a:rPr lang="en-US" altLang="zh-TW" dirty="0" smtClean="0"/>
                  <a:t>) for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altLang="zh-TW" dirty="0" smtClean="0"/>
                  <a:t> 1</a:t>
                </a:r>
              </a:p>
              <a:p>
                <a:r>
                  <a:rPr lang="zh-TW" altLang="en-US" dirty="0"/>
                  <a:t>帶入</a:t>
                </a:r>
                <a:r>
                  <a:rPr lang="en-US" altLang="zh-TW" dirty="0" smtClean="0"/>
                  <a:t>R(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：</a:t>
                </a:r>
                <a:r>
                  <a:rPr lang="en-US" altLang="zh-TW" dirty="0" smtClean="0"/>
                  <a:t>R(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)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</a:rPr>
                      <m:t>≅</m:t>
                    </m:r>
                  </m:oMath>
                </a14:m>
                <a:r>
                  <a:rPr lang="en-US" altLang="zh-TW" dirty="0" smtClean="0"/>
                  <a:t> 2</a:t>
                </a:r>
                <a:r>
                  <a:rPr lang="en-US" altLang="zh-TW" baseline="30000" dirty="0" smtClean="0"/>
                  <a:t>i </a:t>
                </a:r>
                <a:r>
                  <a:rPr lang="en-US" altLang="zh-TW" dirty="0" smtClean="0"/>
                  <a:t> = 4.5^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funcPr>
                      <m:fName>
                        <m:r>
                          <a:rPr lang="en-US" altLang="zh-TW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4.5</m:t>
                            </m:r>
                          </m:sub>
                        </m:sSub>
                      </m:fName>
                      <m:e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e>
                    </m:func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  <m:r>
                      <a:rPr lang="en-US" altLang="zh-TW" b="0" i="1" baseline="3000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altLang="zh-TW" baseline="30000" dirty="0" smtClean="0"/>
                  <a:t> </a:t>
                </a:r>
                <a:br>
                  <a:rPr lang="en-US" altLang="zh-TW" baseline="30000" dirty="0" smtClean="0"/>
                </a:br>
                <a:r>
                  <a:rPr lang="en-US" altLang="zh-TW" baseline="30000" dirty="0" smtClean="0"/>
                  <a:t>                                     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</a:rPr>
                      <m:t>≅</m:t>
                    </m:r>
                  </m:oMath>
                </a14:m>
                <a:r>
                  <a:rPr lang="en-US" altLang="zh-TW" baseline="30000" dirty="0" smtClean="0"/>
                  <a:t> </a:t>
                </a:r>
                <a:r>
                  <a:rPr lang="en-US" altLang="zh-TW" dirty="0" smtClean="0"/>
                  <a:t>|S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|^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>
                            <a:latin typeface="Cambria Math"/>
                          </a:rPr>
                        </m:ctrlPr>
                      </m:funcPr>
                      <m:fName>
                        <m:r>
                          <a:rPr lang="en-US" altLang="zh-TW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4.5</m:t>
                            </m:r>
                          </m:sub>
                        </m:sSub>
                      </m:fName>
                      <m:e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e>
                    </m:func>
                    <m:r>
                      <a:rPr lang="en-US" altLang="zh-TW" i="1">
                        <a:latin typeface="Cambria Math"/>
                      </a:rPr>
                      <m:t>)</m:t>
                    </m:r>
                    <m:r>
                      <a:rPr lang="en-US" altLang="zh-TW" i="1" baseline="30000">
                        <a:latin typeface="Cambria Math"/>
                      </a:rPr>
                      <m:t>𝑖</m:t>
                    </m:r>
                  </m:oMath>
                </a14:m>
                <a:r>
                  <a:rPr lang="en-US" altLang="zh-TW" baseline="30000" dirty="0"/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</a:rPr>
                      <m:t>≅</m:t>
                    </m:r>
                  </m:oMath>
                </a14:m>
                <a:r>
                  <a:rPr lang="en-US" altLang="zh-TW" dirty="0" smtClean="0"/>
                  <a:t> |S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|</a:t>
                </a:r>
                <a:r>
                  <a:rPr lang="en-US" altLang="zh-TW" baseline="30000" dirty="0" smtClean="0"/>
                  <a:t>0.46</a:t>
                </a:r>
              </a:p>
              <a:p>
                <a:r>
                  <a:rPr lang="en-US" altLang="zh-TW" dirty="0"/>
                  <a:t>We recall that </a:t>
                </a:r>
                <a:r>
                  <a:rPr lang="en-US" altLang="zh-TW" i="1" dirty="0"/>
                  <a:t>OPT </a:t>
                </a:r>
                <a:r>
                  <a:rPr lang="en-US" altLang="zh-TW" dirty="0"/>
                  <a:t>= 2 so this show that the </a:t>
                </a:r>
                <a:r>
                  <a:rPr lang="en-US" altLang="zh-TW" dirty="0" smtClean="0"/>
                  <a:t>approximation guarantee </a:t>
                </a:r>
                <a:r>
                  <a:rPr lang="en-US" altLang="zh-TW" dirty="0"/>
                  <a:t>of GREEDY is </a:t>
                </a:r>
                <a:r>
                  <a:rPr lang="el-GR" altLang="zh-TW" dirty="0" smtClean="0"/>
                  <a:t>Ω</a:t>
                </a:r>
                <a:r>
                  <a:rPr lang="en-US" altLang="zh-TW" i="1" dirty="0" smtClean="0"/>
                  <a:t>(n</a:t>
                </a:r>
                <a:r>
                  <a:rPr lang="en-US" altLang="zh-TW" baseline="30000" dirty="0" smtClean="0"/>
                  <a:t>0</a:t>
                </a:r>
                <a:r>
                  <a:rPr lang="en-US" altLang="zh-TW" i="1" baseline="30000" dirty="0" smtClean="0"/>
                  <a:t>.</a:t>
                </a:r>
                <a:r>
                  <a:rPr lang="en-US" altLang="zh-TW" baseline="30000" dirty="0" smtClean="0"/>
                  <a:t>46</a:t>
                </a:r>
                <a:r>
                  <a:rPr lang="en-US" altLang="zh-TW" i="1" dirty="0"/>
                  <a:t>)</a:t>
                </a:r>
                <a:r>
                  <a:rPr lang="en-US" altLang="zh-TW" dirty="0"/>
                  <a:t>.</a:t>
                </a:r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3774" r="-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61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471</Words>
  <Application>Microsoft Office PowerPoint</Application>
  <PresentationFormat>如螢幕大小 (4:3)</PresentationFormat>
  <Paragraphs>54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The Greedy Algorithm for Edit Distance with Moves</vt:lpstr>
      <vt:lpstr>Introduction</vt:lpstr>
      <vt:lpstr>Edit Distance with Moves</vt:lpstr>
      <vt:lpstr>Block Permutation Problem</vt:lpstr>
      <vt:lpstr>Greedy Method</vt:lpstr>
      <vt:lpstr>Bad Example for GREEDY</vt:lpstr>
      <vt:lpstr>Bad Example for GREEDY</vt:lpstr>
      <vt:lpstr>Bad Example for GREEDY</vt:lpstr>
      <vt:lpstr>Lower Bound of GREEDY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Greedy Algorithm for Edit Distance with Moves</dc:title>
  <dc:creator>Sena</dc:creator>
  <cp:lastModifiedBy>Sena</cp:lastModifiedBy>
  <cp:revision>23</cp:revision>
  <dcterms:created xsi:type="dcterms:W3CDTF">2015-03-23T06:24:09Z</dcterms:created>
  <dcterms:modified xsi:type="dcterms:W3CDTF">2015-04-28T05:25:21Z</dcterms:modified>
</cp:coreProperties>
</file>