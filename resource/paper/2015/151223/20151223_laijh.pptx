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7" r:id="rId2"/>
    <p:sldId id="259" r:id="rId3"/>
    <p:sldId id="261" r:id="rId4"/>
    <p:sldId id="262" r:id="rId5"/>
    <p:sldId id="263" r:id="rId6"/>
    <p:sldId id="264" r:id="rId7"/>
    <p:sldId id="265" r:id="rId8"/>
    <p:sldId id="281"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2" r:id="rId24"/>
    <p:sldId id="283"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3453812D-B4E9-4B1F-A8F0-7BC4D24DC729}">
          <p14:sldIdLst>
            <p14:sldId id="257"/>
            <p14:sldId id="259"/>
            <p14:sldId id="261"/>
            <p14:sldId id="262"/>
            <p14:sldId id="263"/>
            <p14:sldId id="264"/>
            <p14:sldId id="265"/>
            <p14:sldId id="281"/>
            <p14:sldId id="266"/>
            <p14:sldId id="268"/>
            <p14:sldId id="269"/>
            <p14:sldId id="270"/>
            <p14:sldId id="271"/>
            <p14:sldId id="272"/>
            <p14:sldId id="273"/>
            <p14:sldId id="274"/>
            <p14:sldId id="275"/>
            <p14:sldId id="276"/>
            <p14:sldId id="277"/>
            <p14:sldId id="278"/>
            <p14:sldId id="279"/>
            <p14:sldId id="280"/>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8"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A4E4B-8244-4429-865D-F898E782FDAE}" type="datetimeFigureOut">
              <a:rPr lang="zh-TW" altLang="en-US" smtClean="0"/>
              <a:t>2015/12/23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E7F35-6538-4101-9126-C36158C75F4B}" type="slidenum">
              <a:rPr lang="zh-TW" altLang="en-US" smtClean="0"/>
              <a:t>‹#›</a:t>
            </a:fld>
            <a:endParaRPr lang="zh-TW" altLang="en-US"/>
          </a:p>
        </p:txBody>
      </p:sp>
    </p:spTree>
    <p:extLst>
      <p:ext uri="{BB962C8B-B14F-4D97-AF65-F5344CB8AC3E}">
        <p14:creationId xmlns:p14="http://schemas.microsoft.com/office/powerpoint/2010/main" val="3906758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044E8A48-0BB3-4429-A23E-981E055DBE4D}" type="slidenum">
              <a:rPr kern="0">
                <a:solidFill>
                  <a:srgbClr val="000000"/>
                </a:solidFill>
              </a:rPr>
              <a:pPr algn="r" hangingPunct="0">
                <a:defRPr sz="1800" b="0" i="0" u="none" strike="noStrike" kern="0" cap="none" spc="0" baseline="0">
                  <a:solidFill>
                    <a:srgbClr val="000000"/>
                  </a:solidFill>
                  <a:uFillTx/>
                </a:defRPr>
              </a:pPr>
              <a:t>1</a:t>
            </a:fld>
            <a:endParaRPr lang="en-US" sz="1400" kern="0">
              <a:solidFill>
                <a:srgbClr val="000000"/>
              </a:solidFill>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2687552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D09E7F35-6538-4101-9126-C36158C75F4B}" type="slidenum">
              <a:rPr lang="zh-TW" altLang="en-US" smtClean="0"/>
              <a:t>7</a:t>
            </a:fld>
            <a:endParaRPr lang="zh-TW" altLang="en-US"/>
          </a:p>
        </p:txBody>
      </p:sp>
    </p:spTree>
    <p:extLst>
      <p:ext uri="{BB962C8B-B14F-4D97-AF65-F5344CB8AC3E}">
        <p14:creationId xmlns:p14="http://schemas.microsoft.com/office/powerpoint/2010/main" val="307429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D09E7F35-6538-4101-9126-C36158C75F4B}" type="slidenum">
              <a:rPr lang="zh-TW" altLang="en-US" smtClean="0"/>
              <a:t>9</a:t>
            </a:fld>
            <a:endParaRPr lang="zh-TW" altLang="en-US"/>
          </a:p>
        </p:txBody>
      </p:sp>
    </p:spTree>
    <p:extLst>
      <p:ext uri="{BB962C8B-B14F-4D97-AF65-F5344CB8AC3E}">
        <p14:creationId xmlns:p14="http://schemas.microsoft.com/office/powerpoint/2010/main" val="1615038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524477" y="1121876"/>
            <a:ext cx="9143038" cy="2387768"/>
          </a:xfrm>
        </p:spPr>
        <p:txBody>
          <a:bodyPr anchor="b"/>
          <a:lstStyle>
            <a:lvl1pPr>
              <a:defRPr lang="zh-TW" sz="5443"/>
            </a:lvl1pPr>
          </a:lstStyle>
          <a:p>
            <a:pPr lvl="0"/>
            <a:r>
              <a:rPr lang="zh-TW"/>
              <a:t>按一下以編輯母片標題樣式</a:t>
            </a:r>
            <a:endParaRPr lang="en-US"/>
          </a:p>
        </p:txBody>
      </p:sp>
      <p:sp>
        <p:nvSpPr>
          <p:cNvPr id="3" name="副標題 2"/>
          <p:cNvSpPr txBox="1">
            <a:spLocks noGrp="1"/>
          </p:cNvSpPr>
          <p:nvPr>
            <p:ph type="subTitle" idx="1"/>
          </p:nvPr>
        </p:nvSpPr>
        <p:spPr>
          <a:xfrm>
            <a:off x="1524477" y="3601814"/>
            <a:ext cx="9143038" cy="1656176"/>
          </a:xfrm>
        </p:spPr>
        <p:txBody>
          <a:bodyPr anchorCtr="1"/>
          <a:lstStyle>
            <a:lvl1pPr algn="ctr">
              <a:defRPr sz="2177"/>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endParaRPr/>
          </a:p>
        </p:txBody>
      </p:sp>
      <p:sp>
        <p:nvSpPr>
          <p:cNvPr id="5" name="頁尾版面配置區 4"/>
          <p:cNvSpPr txBox="1">
            <a:spLocks noGrp="1"/>
          </p:cNvSpPr>
          <p:nvPr>
            <p:ph type="ftr" sz="quarter" idx="9"/>
          </p:nvPr>
        </p:nvSpPr>
        <p:spPr/>
        <p:txBody>
          <a:bodyPr/>
          <a:lstStyle>
            <a:lvl1pPr>
              <a:defRPr/>
            </a:lvl1pPr>
          </a:lstStyle>
          <a:p>
            <a:endParaRPr/>
          </a:p>
        </p:txBody>
      </p:sp>
      <p:sp>
        <p:nvSpPr>
          <p:cNvPr id="6" name="投影片編號版面配置區 5"/>
          <p:cNvSpPr txBox="1">
            <a:spLocks noGrp="1"/>
          </p:cNvSpPr>
          <p:nvPr>
            <p:ph type="sldNum" sz="quarter" idx="8"/>
          </p:nvPr>
        </p:nvSpPr>
        <p:spPr/>
        <p:txBody>
          <a:bodyPr/>
          <a:lstStyle>
            <a:lvl1pPr>
              <a:defRPr/>
            </a:lvl1pPr>
          </a:lstStyle>
          <a:p>
            <a:fld id="{AE6BFC27-068B-4B72-92F7-9C821F0A3E7B}" type="slidenum">
              <a:rPr/>
              <a:pPr/>
              <a:t>‹#›</a:t>
            </a:fld>
            <a:endParaRPr/>
          </a:p>
        </p:txBody>
      </p:sp>
    </p:spTree>
    <p:extLst>
      <p:ext uri="{BB962C8B-B14F-4D97-AF65-F5344CB8AC3E}">
        <p14:creationId xmlns:p14="http://schemas.microsoft.com/office/powerpoint/2010/main" val="6499188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endParaRPr/>
          </a:p>
        </p:txBody>
      </p:sp>
      <p:sp>
        <p:nvSpPr>
          <p:cNvPr id="5" name="頁尾版面配置區 4"/>
          <p:cNvSpPr txBox="1">
            <a:spLocks noGrp="1"/>
          </p:cNvSpPr>
          <p:nvPr>
            <p:ph type="ftr" sz="quarter" idx="9"/>
          </p:nvPr>
        </p:nvSpPr>
        <p:spPr/>
        <p:txBody>
          <a:bodyPr/>
          <a:lstStyle>
            <a:lvl1pPr>
              <a:defRPr/>
            </a:lvl1pPr>
          </a:lstStyle>
          <a:p>
            <a:endParaRPr/>
          </a:p>
        </p:txBody>
      </p:sp>
      <p:sp>
        <p:nvSpPr>
          <p:cNvPr id="6" name="投影片編號版面配置區 5"/>
          <p:cNvSpPr txBox="1">
            <a:spLocks noGrp="1"/>
          </p:cNvSpPr>
          <p:nvPr>
            <p:ph type="sldNum" sz="quarter" idx="8"/>
          </p:nvPr>
        </p:nvSpPr>
        <p:spPr/>
        <p:txBody>
          <a:bodyPr/>
          <a:lstStyle>
            <a:lvl1pPr>
              <a:defRPr/>
            </a:lvl1pPr>
          </a:lstStyle>
          <a:p>
            <a:fld id="{68842836-F473-4F88-8FC5-E6506225DA8A}" type="slidenum">
              <a:rPr/>
              <a:pPr/>
              <a:t>‹#›</a:t>
            </a:fld>
            <a:endParaRPr/>
          </a:p>
        </p:txBody>
      </p:sp>
    </p:spTree>
    <p:extLst>
      <p:ext uri="{BB962C8B-B14F-4D97-AF65-F5344CB8AC3E}">
        <p14:creationId xmlns:p14="http://schemas.microsoft.com/office/powerpoint/2010/main" val="3872661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831364" y="1709456"/>
            <a:ext cx="10515838" cy="2852943"/>
          </a:xfrm>
        </p:spPr>
        <p:txBody>
          <a:bodyPr anchor="b"/>
          <a:lstStyle>
            <a:lvl1pPr>
              <a:defRPr lang="zh-TW" sz="5443"/>
            </a:lvl1pPr>
          </a:lstStyle>
          <a:p>
            <a:pPr lvl="0"/>
            <a:r>
              <a:rPr lang="zh-TW"/>
              <a:t>按一下以編輯母片標題樣式</a:t>
            </a:r>
            <a:endParaRPr lang="en-US"/>
          </a:p>
        </p:txBody>
      </p:sp>
      <p:sp>
        <p:nvSpPr>
          <p:cNvPr id="3" name="文字版面配置區 2"/>
          <p:cNvSpPr txBox="1">
            <a:spLocks noGrp="1"/>
          </p:cNvSpPr>
          <p:nvPr>
            <p:ph type="body" idx="1"/>
          </p:nvPr>
        </p:nvSpPr>
        <p:spPr>
          <a:xfrm>
            <a:off x="831364" y="4589766"/>
            <a:ext cx="10515838" cy="1499195"/>
          </a:xfrm>
        </p:spPr>
        <p:txBody>
          <a:bodyPr/>
          <a:lstStyle>
            <a:lvl1pPr>
              <a:defRPr sz="2177">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endParaRPr/>
          </a:p>
        </p:txBody>
      </p:sp>
      <p:sp>
        <p:nvSpPr>
          <p:cNvPr id="5" name="頁尾版面配置區 4"/>
          <p:cNvSpPr txBox="1">
            <a:spLocks noGrp="1"/>
          </p:cNvSpPr>
          <p:nvPr>
            <p:ph type="ftr" sz="quarter" idx="9"/>
          </p:nvPr>
        </p:nvSpPr>
        <p:spPr/>
        <p:txBody>
          <a:bodyPr/>
          <a:lstStyle>
            <a:lvl1pPr>
              <a:defRPr/>
            </a:lvl1pPr>
          </a:lstStyle>
          <a:p>
            <a:endParaRPr/>
          </a:p>
        </p:txBody>
      </p:sp>
      <p:sp>
        <p:nvSpPr>
          <p:cNvPr id="6" name="投影片編號版面配置區 5"/>
          <p:cNvSpPr txBox="1">
            <a:spLocks noGrp="1"/>
          </p:cNvSpPr>
          <p:nvPr>
            <p:ph type="sldNum" sz="quarter" idx="8"/>
          </p:nvPr>
        </p:nvSpPr>
        <p:spPr/>
        <p:txBody>
          <a:bodyPr/>
          <a:lstStyle>
            <a:lvl1pPr>
              <a:defRPr/>
            </a:lvl1pPr>
          </a:lstStyle>
          <a:p>
            <a:fld id="{F06D477E-DD58-4DE2-94A6-FBA23A92454D}" type="slidenum">
              <a:rPr/>
              <a:pPr/>
              <a:t>‹#›</a:t>
            </a:fld>
            <a:endParaRPr/>
          </a:p>
        </p:txBody>
      </p:sp>
    </p:spTree>
    <p:extLst>
      <p:ext uri="{BB962C8B-B14F-4D97-AF65-F5344CB8AC3E}">
        <p14:creationId xmlns:p14="http://schemas.microsoft.com/office/powerpoint/2010/main" val="1705437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608644" y="1604330"/>
            <a:ext cx="5393284" cy="3977699"/>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6186240" y="1604330"/>
            <a:ext cx="5395196" cy="3977699"/>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endParaRPr/>
          </a:p>
        </p:txBody>
      </p:sp>
      <p:sp>
        <p:nvSpPr>
          <p:cNvPr id="6" name="頁尾版面配置區 5"/>
          <p:cNvSpPr txBox="1">
            <a:spLocks noGrp="1"/>
          </p:cNvSpPr>
          <p:nvPr>
            <p:ph type="ftr" sz="quarter" idx="9"/>
          </p:nvPr>
        </p:nvSpPr>
        <p:spPr/>
        <p:txBody>
          <a:bodyPr/>
          <a:lstStyle>
            <a:lvl1pPr>
              <a:defRPr/>
            </a:lvl1pPr>
          </a:lstStyle>
          <a:p>
            <a:endParaRPr/>
          </a:p>
        </p:txBody>
      </p:sp>
      <p:sp>
        <p:nvSpPr>
          <p:cNvPr id="7" name="投影片編號版面配置區 6"/>
          <p:cNvSpPr txBox="1">
            <a:spLocks noGrp="1"/>
          </p:cNvSpPr>
          <p:nvPr>
            <p:ph type="sldNum" sz="quarter" idx="8"/>
          </p:nvPr>
        </p:nvSpPr>
        <p:spPr/>
        <p:txBody>
          <a:bodyPr/>
          <a:lstStyle>
            <a:lvl1pPr>
              <a:defRPr/>
            </a:lvl1pPr>
          </a:lstStyle>
          <a:p>
            <a:fld id="{A72D141D-6966-43C1-8EB1-BB4818DFA3BC}" type="slidenum">
              <a:rPr/>
              <a:pPr/>
              <a:t>‹#›</a:t>
            </a:fld>
            <a:endParaRPr/>
          </a:p>
        </p:txBody>
      </p:sp>
    </p:spTree>
    <p:extLst>
      <p:ext uri="{BB962C8B-B14F-4D97-AF65-F5344CB8AC3E}">
        <p14:creationId xmlns:p14="http://schemas.microsoft.com/office/powerpoint/2010/main" val="5400927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839038" y="365796"/>
            <a:ext cx="10515838" cy="1324936"/>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839039" y="1680654"/>
            <a:ext cx="5159038" cy="823770"/>
          </a:xfrm>
        </p:spPr>
        <p:txBody>
          <a:bodyPr anchor="b"/>
          <a:lstStyle>
            <a:lvl1pPr>
              <a:defRPr sz="2177" b="1"/>
            </a:lvl1pPr>
          </a:lstStyle>
          <a:p>
            <a:pPr lvl="0"/>
            <a:r>
              <a:rPr lang="zh-TW"/>
              <a:t>按一下以編輯母片文字樣式</a:t>
            </a:r>
          </a:p>
        </p:txBody>
      </p:sp>
      <p:sp>
        <p:nvSpPr>
          <p:cNvPr id="4" name="內容版面配置區 3"/>
          <p:cNvSpPr txBox="1">
            <a:spLocks noGrp="1"/>
          </p:cNvSpPr>
          <p:nvPr>
            <p:ph idx="2"/>
          </p:nvPr>
        </p:nvSpPr>
        <p:spPr>
          <a:xfrm>
            <a:off x="839039" y="2504425"/>
            <a:ext cx="5159038" cy="3685348"/>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6172803" y="1680654"/>
            <a:ext cx="5182075" cy="823770"/>
          </a:xfrm>
        </p:spPr>
        <p:txBody>
          <a:bodyPr anchor="b"/>
          <a:lstStyle>
            <a:lvl1pPr>
              <a:defRPr sz="2177" b="1"/>
            </a:lvl1pPr>
          </a:lstStyle>
          <a:p>
            <a:pPr lvl="0"/>
            <a:r>
              <a:rPr lang="zh-TW"/>
              <a:t>按一下以編輯母片文字樣式</a:t>
            </a:r>
          </a:p>
        </p:txBody>
      </p:sp>
      <p:sp>
        <p:nvSpPr>
          <p:cNvPr id="6" name="內容版面配置區 5"/>
          <p:cNvSpPr txBox="1">
            <a:spLocks noGrp="1"/>
          </p:cNvSpPr>
          <p:nvPr>
            <p:ph idx="4"/>
          </p:nvPr>
        </p:nvSpPr>
        <p:spPr>
          <a:xfrm>
            <a:off x="6172803" y="2504425"/>
            <a:ext cx="5182075" cy="3685348"/>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endParaRPr/>
          </a:p>
        </p:txBody>
      </p:sp>
      <p:sp>
        <p:nvSpPr>
          <p:cNvPr id="8" name="頁尾版面配置區 7"/>
          <p:cNvSpPr txBox="1">
            <a:spLocks noGrp="1"/>
          </p:cNvSpPr>
          <p:nvPr>
            <p:ph type="ftr" sz="quarter" idx="9"/>
          </p:nvPr>
        </p:nvSpPr>
        <p:spPr/>
        <p:txBody>
          <a:bodyPr/>
          <a:lstStyle>
            <a:lvl1pPr>
              <a:defRPr/>
            </a:lvl1pPr>
          </a:lstStyle>
          <a:p>
            <a:endParaRPr/>
          </a:p>
        </p:txBody>
      </p:sp>
      <p:sp>
        <p:nvSpPr>
          <p:cNvPr id="9" name="投影片編號版面配置區 8"/>
          <p:cNvSpPr txBox="1">
            <a:spLocks noGrp="1"/>
          </p:cNvSpPr>
          <p:nvPr>
            <p:ph type="sldNum" sz="quarter" idx="8"/>
          </p:nvPr>
        </p:nvSpPr>
        <p:spPr/>
        <p:txBody>
          <a:bodyPr/>
          <a:lstStyle>
            <a:lvl1pPr>
              <a:defRPr/>
            </a:lvl1pPr>
          </a:lstStyle>
          <a:p>
            <a:fld id="{4D382990-A4FF-4906-9C3D-CE47CFC3DCA5}" type="slidenum">
              <a:rPr/>
              <a:pPr/>
              <a:t>‹#›</a:t>
            </a:fld>
            <a:endParaRPr/>
          </a:p>
        </p:txBody>
      </p:sp>
    </p:spTree>
    <p:extLst>
      <p:ext uri="{BB962C8B-B14F-4D97-AF65-F5344CB8AC3E}">
        <p14:creationId xmlns:p14="http://schemas.microsoft.com/office/powerpoint/2010/main" val="33816198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endParaRPr/>
          </a:p>
        </p:txBody>
      </p:sp>
      <p:sp>
        <p:nvSpPr>
          <p:cNvPr id="4" name="頁尾版面配置區 3"/>
          <p:cNvSpPr txBox="1">
            <a:spLocks noGrp="1"/>
          </p:cNvSpPr>
          <p:nvPr>
            <p:ph type="ftr" sz="quarter" idx="9"/>
          </p:nvPr>
        </p:nvSpPr>
        <p:spPr/>
        <p:txBody>
          <a:bodyPr/>
          <a:lstStyle>
            <a:lvl1pPr>
              <a:defRPr/>
            </a:lvl1pPr>
          </a:lstStyle>
          <a:p>
            <a:endParaRPr/>
          </a:p>
        </p:txBody>
      </p:sp>
      <p:sp>
        <p:nvSpPr>
          <p:cNvPr id="5" name="投影片編號版面配置區 4"/>
          <p:cNvSpPr txBox="1">
            <a:spLocks noGrp="1"/>
          </p:cNvSpPr>
          <p:nvPr>
            <p:ph type="sldNum" sz="quarter" idx="8"/>
          </p:nvPr>
        </p:nvSpPr>
        <p:spPr/>
        <p:txBody>
          <a:bodyPr/>
          <a:lstStyle>
            <a:lvl1pPr>
              <a:defRPr/>
            </a:lvl1pPr>
          </a:lstStyle>
          <a:p>
            <a:fld id="{C73CCA10-4506-4689-B9C6-7A25C650BAFF}" type="slidenum">
              <a:rPr/>
              <a:pPr/>
              <a:t>‹#›</a:t>
            </a:fld>
            <a:endParaRPr/>
          </a:p>
        </p:txBody>
      </p:sp>
    </p:spTree>
    <p:extLst>
      <p:ext uri="{BB962C8B-B14F-4D97-AF65-F5344CB8AC3E}">
        <p14:creationId xmlns:p14="http://schemas.microsoft.com/office/powerpoint/2010/main" val="4034216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endParaRPr/>
          </a:p>
        </p:txBody>
      </p:sp>
      <p:sp>
        <p:nvSpPr>
          <p:cNvPr id="3" name="頁尾版面配置區 2"/>
          <p:cNvSpPr txBox="1">
            <a:spLocks noGrp="1"/>
          </p:cNvSpPr>
          <p:nvPr>
            <p:ph type="ftr" sz="quarter" idx="9"/>
          </p:nvPr>
        </p:nvSpPr>
        <p:spPr/>
        <p:txBody>
          <a:bodyPr/>
          <a:lstStyle>
            <a:lvl1pPr>
              <a:defRPr/>
            </a:lvl1pPr>
          </a:lstStyle>
          <a:p>
            <a:endParaRPr/>
          </a:p>
        </p:txBody>
      </p:sp>
      <p:sp>
        <p:nvSpPr>
          <p:cNvPr id="4" name="投影片編號版面配置區 3"/>
          <p:cNvSpPr txBox="1">
            <a:spLocks noGrp="1"/>
          </p:cNvSpPr>
          <p:nvPr>
            <p:ph type="sldNum" sz="quarter" idx="8"/>
          </p:nvPr>
        </p:nvSpPr>
        <p:spPr/>
        <p:txBody>
          <a:bodyPr/>
          <a:lstStyle>
            <a:lvl1pPr>
              <a:defRPr/>
            </a:lvl1pPr>
          </a:lstStyle>
          <a:p>
            <a:fld id="{DA413963-2284-408C-A1F3-BA9C90A14B4D}" type="slidenum">
              <a:rPr/>
              <a:pPr/>
              <a:t>‹#›</a:t>
            </a:fld>
            <a:endParaRPr/>
          </a:p>
        </p:txBody>
      </p:sp>
    </p:spTree>
    <p:extLst>
      <p:ext uri="{BB962C8B-B14F-4D97-AF65-F5344CB8AC3E}">
        <p14:creationId xmlns:p14="http://schemas.microsoft.com/office/powerpoint/2010/main" val="39122798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839038" y="456530"/>
            <a:ext cx="3932165" cy="1601452"/>
          </a:xfrm>
        </p:spPr>
        <p:txBody>
          <a:bodyPr anchor="b"/>
          <a:lstStyle>
            <a:lvl1pPr>
              <a:defRPr lang="zh-TW" sz="2903"/>
            </a:lvl1pPr>
          </a:lstStyle>
          <a:p>
            <a:pPr lvl="0"/>
            <a:r>
              <a:rPr lang="zh-TW"/>
              <a:t>按一下以編輯母片標題樣式</a:t>
            </a:r>
            <a:endParaRPr lang="en-US"/>
          </a:p>
        </p:txBody>
      </p:sp>
      <p:sp>
        <p:nvSpPr>
          <p:cNvPr id="3" name="內容版面配置區 2"/>
          <p:cNvSpPr txBox="1">
            <a:spLocks noGrp="1"/>
          </p:cNvSpPr>
          <p:nvPr>
            <p:ph idx="1"/>
          </p:nvPr>
        </p:nvSpPr>
        <p:spPr>
          <a:xfrm>
            <a:off x="5183999" y="987941"/>
            <a:ext cx="6170878" cy="4873472"/>
          </a:xfrm>
        </p:spPr>
        <p:txBody>
          <a:bodyPr/>
          <a:lstStyle>
            <a:lvl1pPr>
              <a:defRPr/>
            </a:lvl1pPr>
            <a:lvl2pPr>
              <a:defRPr sz="2540"/>
            </a:lvl2pPr>
            <a:lvl3pPr>
              <a:defRPr sz="2177"/>
            </a:lvl3pPr>
            <a:lvl4pPr>
              <a:defRPr sz="1814"/>
            </a:lvl4pPr>
            <a:lvl5pPr>
              <a:defRPr sz="1814"/>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839038" y="2057973"/>
            <a:ext cx="3932165" cy="3810640"/>
          </a:xfrm>
        </p:spPr>
        <p:txBody>
          <a:bodyPr/>
          <a:lstStyle>
            <a:lvl1pPr>
              <a:defRPr sz="1452"/>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endParaRPr/>
          </a:p>
        </p:txBody>
      </p:sp>
      <p:sp>
        <p:nvSpPr>
          <p:cNvPr id="6" name="頁尾版面配置區 5"/>
          <p:cNvSpPr txBox="1">
            <a:spLocks noGrp="1"/>
          </p:cNvSpPr>
          <p:nvPr>
            <p:ph type="ftr" sz="quarter" idx="9"/>
          </p:nvPr>
        </p:nvSpPr>
        <p:spPr/>
        <p:txBody>
          <a:bodyPr/>
          <a:lstStyle>
            <a:lvl1pPr>
              <a:defRPr/>
            </a:lvl1pPr>
          </a:lstStyle>
          <a:p>
            <a:endParaRPr/>
          </a:p>
        </p:txBody>
      </p:sp>
      <p:sp>
        <p:nvSpPr>
          <p:cNvPr id="7" name="投影片編號版面配置區 6"/>
          <p:cNvSpPr txBox="1">
            <a:spLocks noGrp="1"/>
          </p:cNvSpPr>
          <p:nvPr>
            <p:ph type="sldNum" sz="quarter" idx="8"/>
          </p:nvPr>
        </p:nvSpPr>
        <p:spPr/>
        <p:txBody>
          <a:bodyPr/>
          <a:lstStyle>
            <a:lvl1pPr>
              <a:defRPr/>
            </a:lvl1pPr>
          </a:lstStyle>
          <a:p>
            <a:fld id="{8059FB30-6DA3-498A-B3E4-39789FBB385A}" type="slidenum">
              <a:rPr/>
              <a:pPr/>
              <a:t>‹#›</a:t>
            </a:fld>
            <a:endParaRPr/>
          </a:p>
        </p:txBody>
      </p:sp>
    </p:spTree>
    <p:extLst>
      <p:ext uri="{BB962C8B-B14F-4D97-AF65-F5344CB8AC3E}">
        <p14:creationId xmlns:p14="http://schemas.microsoft.com/office/powerpoint/2010/main" val="77939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839038" y="456530"/>
            <a:ext cx="3932165" cy="1601452"/>
          </a:xfrm>
        </p:spPr>
        <p:txBody>
          <a:bodyPr anchor="b"/>
          <a:lstStyle>
            <a:lvl1pPr>
              <a:defRPr lang="zh-TW" sz="2903"/>
            </a:lvl1pPr>
          </a:lstStyle>
          <a:p>
            <a:pPr lvl="0"/>
            <a:r>
              <a:rPr lang="zh-TW"/>
              <a:t>按一下以編輯母片標題樣式</a:t>
            </a:r>
            <a:endParaRPr lang="en-US"/>
          </a:p>
        </p:txBody>
      </p:sp>
      <p:sp>
        <p:nvSpPr>
          <p:cNvPr id="3" name="圖片版面配置區 2"/>
          <p:cNvSpPr txBox="1">
            <a:spLocks noGrp="1"/>
          </p:cNvSpPr>
          <p:nvPr>
            <p:ph type="pic" idx="1"/>
          </p:nvPr>
        </p:nvSpPr>
        <p:spPr>
          <a:xfrm>
            <a:off x="5183999" y="987941"/>
            <a:ext cx="6170878" cy="4873472"/>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839038" y="2057973"/>
            <a:ext cx="3932165" cy="3810640"/>
          </a:xfrm>
        </p:spPr>
        <p:txBody>
          <a:bodyPr/>
          <a:lstStyle>
            <a:lvl1pPr>
              <a:defRPr sz="1452"/>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endParaRPr/>
          </a:p>
        </p:txBody>
      </p:sp>
      <p:sp>
        <p:nvSpPr>
          <p:cNvPr id="6" name="頁尾版面配置區 5"/>
          <p:cNvSpPr txBox="1">
            <a:spLocks noGrp="1"/>
          </p:cNvSpPr>
          <p:nvPr>
            <p:ph type="ftr" sz="quarter" idx="9"/>
          </p:nvPr>
        </p:nvSpPr>
        <p:spPr/>
        <p:txBody>
          <a:bodyPr/>
          <a:lstStyle>
            <a:lvl1pPr>
              <a:defRPr/>
            </a:lvl1pPr>
          </a:lstStyle>
          <a:p>
            <a:endParaRPr/>
          </a:p>
        </p:txBody>
      </p:sp>
      <p:sp>
        <p:nvSpPr>
          <p:cNvPr id="7" name="投影片編號版面配置區 6"/>
          <p:cNvSpPr txBox="1">
            <a:spLocks noGrp="1"/>
          </p:cNvSpPr>
          <p:nvPr>
            <p:ph type="sldNum" sz="quarter" idx="8"/>
          </p:nvPr>
        </p:nvSpPr>
        <p:spPr/>
        <p:txBody>
          <a:bodyPr/>
          <a:lstStyle>
            <a:lvl1pPr>
              <a:defRPr/>
            </a:lvl1pPr>
          </a:lstStyle>
          <a:p>
            <a:fld id="{62DDE591-0FAF-4F51-A0C1-3BEDC4250AEC}" type="slidenum">
              <a:rPr/>
              <a:pPr/>
              <a:t>‹#›</a:t>
            </a:fld>
            <a:endParaRPr/>
          </a:p>
        </p:txBody>
      </p:sp>
    </p:spTree>
    <p:extLst>
      <p:ext uri="{BB962C8B-B14F-4D97-AF65-F5344CB8AC3E}">
        <p14:creationId xmlns:p14="http://schemas.microsoft.com/office/powerpoint/2010/main" val="1749661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endParaRPr/>
          </a:p>
        </p:txBody>
      </p:sp>
      <p:sp>
        <p:nvSpPr>
          <p:cNvPr id="5" name="頁尾版面配置區 4"/>
          <p:cNvSpPr txBox="1">
            <a:spLocks noGrp="1"/>
          </p:cNvSpPr>
          <p:nvPr>
            <p:ph type="ftr" sz="quarter" idx="9"/>
          </p:nvPr>
        </p:nvSpPr>
        <p:spPr/>
        <p:txBody>
          <a:bodyPr/>
          <a:lstStyle>
            <a:lvl1pPr>
              <a:defRPr/>
            </a:lvl1pPr>
          </a:lstStyle>
          <a:p>
            <a:endParaRPr/>
          </a:p>
        </p:txBody>
      </p:sp>
      <p:sp>
        <p:nvSpPr>
          <p:cNvPr id="6" name="投影片編號版面配置區 5"/>
          <p:cNvSpPr txBox="1">
            <a:spLocks noGrp="1"/>
          </p:cNvSpPr>
          <p:nvPr>
            <p:ph type="sldNum" sz="quarter" idx="8"/>
          </p:nvPr>
        </p:nvSpPr>
        <p:spPr/>
        <p:txBody>
          <a:bodyPr/>
          <a:lstStyle>
            <a:lvl1pPr>
              <a:defRPr/>
            </a:lvl1pPr>
          </a:lstStyle>
          <a:p>
            <a:fld id="{30523178-8C3C-4D5B-987E-9C6DE9B05220}" type="slidenum">
              <a:rPr/>
              <a:pPr/>
              <a:t>‹#›</a:t>
            </a:fld>
            <a:endParaRPr/>
          </a:p>
        </p:txBody>
      </p:sp>
    </p:spTree>
    <p:extLst>
      <p:ext uri="{BB962C8B-B14F-4D97-AF65-F5344CB8AC3E}">
        <p14:creationId xmlns:p14="http://schemas.microsoft.com/office/powerpoint/2010/main" val="567393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8839685" y="273627"/>
            <a:ext cx="2741764" cy="5308401"/>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608643" y="273627"/>
            <a:ext cx="8046717" cy="5308401"/>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endParaRPr/>
          </a:p>
        </p:txBody>
      </p:sp>
      <p:sp>
        <p:nvSpPr>
          <p:cNvPr id="5" name="頁尾版面配置區 4"/>
          <p:cNvSpPr txBox="1">
            <a:spLocks noGrp="1"/>
          </p:cNvSpPr>
          <p:nvPr>
            <p:ph type="ftr" sz="quarter" idx="9"/>
          </p:nvPr>
        </p:nvSpPr>
        <p:spPr/>
        <p:txBody>
          <a:bodyPr/>
          <a:lstStyle>
            <a:lvl1pPr>
              <a:defRPr/>
            </a:lvl1pPr>
          </a:lstStyle>
          <a:p>
            <a:endParaRPr/>
          </a:p>
        </p:txBody>
      </p:sp>
      <p:sp>
        <p:nvSpPr>
          <p:cNvPr id="6" name="投影片編號版面配置區 5"/>
          <p:cNvSpPr txBox="1">
            <a:spLocks noGrp="1"/>
          </p:cNvSpPr>
          <p:nvPr>
            <p:ph type="sldNum" sz="quarter" idx="8"/>
          </p:nvPr>
        </p:nvSpPr>
        <p:spPr/>
        <p:txBody>
          <a:bodyPr/>
          <a:lstStyle>
            <a:lvl1pPr>
              <a:defRPr/>
            </a:lvl1pPr>
          </a:lstStyle>
          <a:p>
            <a:fld id="{0683D96B-BEA4-46BB-A345-50D7E40AC1BE}" type="slidenum">
              <a:rPr/>
              <a:pPr/>
              <a:t>‹#›</a:t>
            </a:fld>
            <a:endParaRPr/>
          </a:p>
        </p:txBody>
      </p:sp>
    </p:spTree>
    <p:extLst>
      <p:ext uri="{BB962C8B-B14F-4D97-AF65-F5344CB8AC3E}">
        <p14:creationId xmlns:p14="http://schemas.microsoft.com/office/powerpoint/2010/main" val="461724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609560" y="273354"/>
            <a:ext cx="10971688" cy="1145004"/>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609560" y="1604844"/>
            <a:ext cx="10971688" cy="3977483"/>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609561" y="6247907"/>
            <a:ext cx="2840123" cy="472897"/>
          </a:xfrm>
          <a:prstGeom prst="rect">
            <a:avLst/>
          </a:prstGeom>
          <a:noFill/>
          <a:ln>
            <a:noFill/>
          </a:ln>
        </p:spPr>
        <p:txBody>
          <a:bodyPr vert="horz" wrap="square" lIns="0" tIns="0" rIns="0" bIns="0" anchor="t" anchorCtr="0" compatLnSpc="1">
            <a:noAutofit/>
          </a:bodyPr>
          <a:lstStyle>
            <a:lvl1pPr marL="0" marR="0" lvl="0" indent="0" algn="l" defTabSz="829544" rtl="0" fontAlgn="auto" hangingPunct="0">
              <a:lnSpc>
                <a:spcPct val="100000"/>
              </a:lnSpc>
              <a:spcBef>
                <a:spcPts val="0"/>
              </a:spcBef>
              <a:spcAft>
                <a:spcPts val="0"/>
              </a:spcAft>
              <a:buNone/>
              <a:tabLst/>
              <a:defRPr lang="en-US" sz="1270" b="0" i="0" u="none" strike="noStrike" kern="1200" cap="none" spc="0" baseline="0">
                <a:solidFill>
                  <a:srgbClr val="000000"/>
                </a:solidFill>
                <a:uFillTx/>
                <a:latin typeface="Liberation Serif" pitchFamily="18"/>
                <a:ea typeface="新細明體" pitchFamily="2"/>
                <a:cs typeface="Tahoma" pitchFamily="2"/>
              </a:defRPr>
            </a:lvl1pPr>
          </a:lstStyle>
          <a:p>
            <a:endParaRPr/>
          </a:p>
        </p:txBody>
      </p:sp>
      <p:sp>
        <p:nvSpPr>
          <p:cNvPr id="5" name="頁尾版面配置區 4"/>
          <p:cNvSpPr txBox="1">
            <a:spLocks noGrp="1"/>
          </p:cNvSpPr>
          <p:nvPr>
            <p:ph type="ftr" sz="quarter" idx="3"/>
          </p:nvPr>
        </p:nvSpPr>
        <p:spPr>
          <a:xfrm>
            <a:off x="4169407" y="6247907"/>
            <a:ext cx="3864183" cy="472897"/>
          </a:xfrm>
          <a:prstGeom prst="rect">
            <a:avLst/>
          </a:prstGeom>
          <a:noFill/>
          <a:ln>
            <a:noFill/>
          </a:ln>
        </p:spPr>
        <p:txBody>
          <a:bodyPr vert="horz" wrap="square" lIns="0" tIns="0" rIns="0" bIns="0" anchor="t" anchorCtr="1" compatLnSpc="1">
            <a:noAutofit/>
          </a:bodyPr>
          <a:lstStyle>
            <a:lvl1pPr marL="0" marR="0" lvl="0" indent="0" algn="ctr" defTabSz="829544" rtl="0" fontAlgn="auto" hangingPunct="0">
              <a:lnSpc>
                <a:spcPct val="100000"/>
              </a:lnSpc>
              <a:spcBef>
                <a:spcPts val="0"/>
              </a:spcBef>
              <a:spcAft>
                <a:spcPts val="0"/>
              </a:spcAft>
              <a:buNone/>
              <a:tabLst/>
              <a:defRPr lang="en-US" sz="1270" b="0" i="0" u="none" strike="noStrike" kern="1200" cap="none" spc="0" baseline="0">
                <a:solidFill>
                  <a:srgbClr val="000000"/>
                </a:solidFill>
                <a:uFillTx/>
                <a:latin typeface="Liberation Serif" pitchFamily="18"/>
                <a:ea typeface="新細明體" pitchFamily="2"/>
                <a:cs typeface="Tahoma" pitchFamily="2"/>
              </a:defRPr>
            </a:lvl1pPr>
          </a:lstStyle>
          <a:p>
            <a:endParaRPr/>
          </a:p>
        </p:txBody>
      </p:sp>
      <p:sp>
        <p:nvSpPr>
          <p:cNvPr id="6" name="投影片編號版面配置區 5"/>
          <p:cNvSpPr txBox="1">
            <a:spLocks noGrp="1"/>
          </p:cNvSpPr>
          <p:nvPr>
            <p:ph type="sldNum" sz="quarter" idx="4"/>
          </p:nvPr>
        </p:nvSpPr>
        <p:spPr>
          <a:xfrm>
            <a:off x="8741125" y="6247907"/>
            <a:ext cx="2840123" cy="472897"/>
          </a:xfrm>
          <a:prstGeom prst="rect">
            <a:avLst/>
          </a:prstGeom>
          <a:noFill/>
          <a:ln>
            <a:noFill/>
          </a:ln>
        </p:spPr>
        <p:txBody>
          <a:bodyPr vert="horz" wrap="square" lIns="0" tIns="0" rIns="0" bIns="0" anchor="t" anchorCtr="0" compatLnSpc="1">
            <a:noAutofit/>
          </a:bodyPr>
          <a:lstStyle>
            <a:lvl1pPr marL="0" marR="0" lvl="0" indent="0" algn="r" defTabSz="829544" rtl="0" fontAlgn="auto" hangingPunct="0">
              <a:lnSpc>
                <a:spcPct val="100000"/>
              </a:lnSpc>
              <a:spcBef>
                <a:spcPts val="0"/>
              </a:spcBef>
              <a:spcAft>
                <a:spcPts val="0"/>
              </a:spcAft>
              <a:buNone/>
              <a:tabLst/>
              <a:defRPr lang="en-US" sz="1270" b="0" i="0" u="none" strike="noStrike" kern="1200" cap="none" spc="0" baseline="0">
                <a:solidFill>
                  <a:srgbClr val="000000"/>
                </a:solidFill>
                <a:uFillTx/>
                <a:latin typeface="Liberation Serif" pitchFamily="18"/>
                <a:ea typeface="新細明體" pitchFamily="2"/>
                <a:cs typeface="Tahoma" pitchFamily="2"/>
              </a:defRPr>
            </a:lvl1pPr>
          </a:lstStyle>
          <a:p>
            <a:fld id="{FA3188D1-A64F-4C0D-9118-94DC8B17CC66}" type="slidenum">
              <a:rPr/>
              <a:pPr/>
              <a:t>‹#›</a:t>
            </a:fld>
            <a:endParaRPr/>
          </a:p>
        </p:txBody>
      </p:sp>
    </p:spTree>
    <p:extLst>
      <p:ext uri="{BB962C8B-B14F-4D97-AF65-F5344CB8AC3E}">
        <p14:creationId xmlns:p14="http://schemas.microsoft.com/office/powerpoint/2010/main" val="31183651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ctr" defTabSz="829544" rtl="0" fontAlgn="auto" hangingPunct="0">
        <a:lnSpc>
          <a:spcPct val="100000"/>
        </a:lnSpc>
        <a:spcBef>
          <a:spcPts val="0"/>
        </a:spcBef>
        <a:spcAft>
          <a:spcPts val="0"/>
        </a:spcAft>
        <a:buNone/>
        <a:tabLst/>
        <a:defRPr lang="en-US" sz="3992"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829544" rtl="0" fontAlgn="auto" hangingPunct="0">
        <a:lnSpc>
          <a:spcPct val="100000"/>
        </a:lnSpc>
        <a:spcBef>
          <a:spcPts val="1284"/>
        </a:spcBef>
        <a:spcAft>
          <a:spcPts val="0"/>
        </a:spcAft>
        <a:buNone/>
        <a:tabLst/>
        <a:defRPr lang="zh-TW" sz="2903"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22158" marR="0" lvl="1" indent="-207386" algn="l" defTabSz="829544" rtl="0" fontAlgn="auto" hangingPunct="1">
        <a:lnSpc>
          <a:spcPct val="90000"/>
        </a:lnSpc>
        <a:spcBef>
          <a:spcPts val="454"/>
        </a:spcBef>
        <a:spcAft>
          <a:spcPts val="0"/>
        </a:spcAft>
        <a:buSzPct val="100000"/>
        <a:buFont typeface="Arial" pitchFamily="34"/>
        <a:buChar char="•"/>
        <a:tabLst/>
        <a:defRPr lang="zh-TW" sz="2177" b="0" i="0" u="none" strike="noStrike" kern="1200" cap="none" spc="0" baseline="0">
          <a:solidFill>
            <a:srgbClr val="000000"/>
          </a:solidFill>
          <a:uFillTx/>
          <a:latin typeface="Calibri"/>
          <a:ea typeface="新細明體" pitchFamily="18"/>
        </a:defRPr>
      </a:lvl2pPr>
      <a:lvl3pPr marL="1036930" marR="0" lvl="2" indent="-207386" algn="l" defTabSz="829544" rtl="0" fontAlgn="auto" hangingPunct="1">
        <a:lnSpc>
          <a:spcPct val="90000"/>
        </a:lnSpc>
        <a:spcBef>
          <a:spcPts val="454"/>
        </a:spcBef>
        <a:spcAft>
          <a:spcPts val="0"/>
        </a:spcAft>
        <a:buSzPct val="100000"/>
        <a:buFont typeface="Arial" pitchFamily="34"/>
        <a:buChar char="•"/>
        <a:tabLst/>
        <a:defRPr lang="zh-TW" sz="1814" b="0" i="0" u="none" strike="noStrike" kern="1200" cap="none" spc="0" baseline="0">
          <a:solidFill>
            <a:srgbClr val="000000"/>
          </a:solidFill>
          <a:uFillTx/>
          <a:latin typeface="Calibri"/>
          <a:ea typeface="新細明體" pitchFamily="18"/>
        </a:defRPr>
      </a:lvl3pPr>
      <a:lvl4pPr marL="1451701" marR="0" lvl="3" indent="-207386" algn="l" defTabSz="829544" rtl="0" fontAlgn="auto" hangingPunct="1">
        <a:lnSpc>
          <a:spcPct val="90000"/>
        </a:lnSpc>
        <a:spcBef>
          <a:spcPts val="454"/>
        </a:spcBef>
        <a:spcAft>
          <a:spcPts val="0"/>
        </a:spcAft>
        <a:buSzPct val="100000"/>
        <a:buFont typeface="Arial" pitchFamily="34"/>
        <a:buChar char="•"/>
        <a:tabLst/>
        <a:defRPr lang="zh-TW" sz="1633" b="0" i="0" u="none" strike="noStrike" kern="1200" cap="none" spc="0" baseline="0">
          <a:solidFill>
            <a:srgbClr val="000000"/>
          </a:solidFill>
          <a:uFillTx/>
          <a:latin typeface="Calibri"/>
          <a:ea typeface="新細明體" pitchFamily="18"/>
        </a:defRPr>
      </a:lvl4pPr>
      <a:lvl5pPr marL="1866473" marR="0" lvl="4" indent="-207386" algn="l" defTabSz="829544" rtl="0" fontAlgn="auto" hangingPunct="1">
        <a:lnSpc>
          <a:spcPct val="90000"/>
        </a:lnSpc>
        <a:spcBef>
          <a:spcPts val="454"/>
        </a:spcBef>
        <a:spcAft>
          <a:spcPts val="0"/>
        </a:spcAft>
        <a:buSzPct val="100000"/>
        <a:buFont typeface="Arial" pitchFamily="34"/>
        <a:buChar char="•"/>
        <a:tabLst/>
        <a:defRPr lang="zh-TW" sz="1633" b="0" i="0" u="none" strike="noStrike" kern="1200" cap="none" spc="0" baseline="0">
          <a:solidFill>
            <a:srgbClr val="000000"/>
          </a:solidFill>
          <a:uFillTx/>
          <a:latin typeface="Calibri"/>
          <a:ea typeface="新細明體" pitchFamily="18"/>
        </a:defRPr>
      </a:lvl5pPr>
      <a:lvl6pPr marL="2281245"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6017"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789"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561" indent="-207386" algn="l" defTabSz="829544"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zh-TW"/>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2046380" y="3259417"/>
            <a:ext cx="8229630" cy="1600438"/>
          </a:xfrm>
        </p:spPr>
        <p:txBody>
          <a:bodyPr>
            <a:spAutoFit/>
          </a:bodyPr>
          <a:lstStyle/>
          <a:p>
            <a:pPr lvl="0"/>
            <a:r>
              <a:rPr lang="en-US" altLang="zh-TW" sz="3200" b="1" dirty="0" err="1">
                <a:solidFill>
                  <a:srgbClr val="898989"/>
                </a:solidFill>
                <a:latin typeface="Liberation Sans Narrow" pitchFamily="34"/>
                <a:ea typeface="新細明體" pitchFamily="2"/>
              </a:rPr>
              <a:t>Esko</a:t>
            </a:r>
            <a:r>
              <a:rPr lang="en-US" altLang="zh-TW" sz="3200" b="1" dirty="0">
                <a:solidFill>
                  <a:srgbClr val="898989"/>
                </a:solidFill>
                <a:latin typeface="Liberation Sans Narrow" pitchFamily="34"/>
                <a:ea typeface="新細明體" pitchFamily="2"/>
              </a:rPr>
              <a:t> </a:t>
            </a:r>
            <a:r>
              <a:rPr lang="en-US" altLang="zh-TW" sz="3200" b="1" dirty="0" err="1">
                <a:solidFill>
                  <a:srgbClr val="898989"/>
                </a:solidFill>
                <a:latin typeface="Liberation Sans Narrow" pitchFamily="34"/>
                <a:ea typeface="新細明體" pitchFamily="2"/>
              </a:rPr>
              <a:t>Ukkonen</a:t>
            </a:r>
            <a:r>
              <a:rPr lang="en-US" altLang="zh-TW" sz="2400" b="1" dirty="0" smtClean="0">
                <a:solidFill>
                  <a:srgbClr val="898989"/>
                </a:solidFill>
                <a:latin typeface="Liberation Sans Narrow" pitchFamily="34"/>
                <a:ea typeface="新細明體" pitchFamily="2"/>
              </a:rPr>
              <a:t/>
            </a:r>
            <a:br>
              <a:rPr lang="en-US" altLang="zh-TW" sz="2400" b="1" dirty="0" smtClean="0">
                <a:solidFill>
                  <a:srgbClr val="898989"/>
                </a:solidFill>
                <a:latin typeface="Liberation Sans Narrow" pitchFamily="34"/>
                <a:ea typeface="新細明體" pitchFamily="2"/>
              </a:rPr>
            </a:br>
            <a:r>
              <a:rPr lang="en-US" altLang="zh-TW" sz="2400" b="1" dirty="0" smtClean="0">
                <a:solidFill>
                  <a:srgbClr val="898989"/>
                </a:solidFill>
                <a:latin typeface="Liberation Sans Narrow" pitchFamily="34"/>
                <a:ea typeface="新細明體" pitchFamily="2"/>
              </a:rPr>
              <a:t/>
            </a:r>
            <a:br>
              <a:rPr lang="en-US" altLang="zh-TW" sz="2400" b="1" dirty="0" smtClean="0">
                <a:solidFill>
                  <a:srgbClr val="898989"/>
                </a:solidFill>
                <a:latin typeface="Liberation Sans Narrow" pitchFamily="34"/>
                <a:ea typeface="新細明體" pitchFamily="2"/>
              </a:rPr>
            </a:br>
            <a:r>
              <a:rPr lang="en-US" altLang="zh-TW" sz="2400" b="1" dirty="0" smtClean="0">
                <a:solidFill>
                  <a:srgbClr val="898989"/>
                </a:solidFill>
                <a:latin typeface="Liberation Sans Narrow" pitchFamily="34"/>
                <a:ea typeface="新細明體" pitchFamily="2"/>
              </a:rPr>
              <a:t> </a:t>
            </a:r>
            <a:r>
              <a:rPr lang="en-US" altLang="zh-TW" sz="2400" b="1" dirty="0" err="1" smtClean="0">
                <a:solidFill>
                  <a:srgbClr val="898989"/>
                </a:solidFill>
                <a:latin typeface="Liberation Sans Narrow" pitchFamily="34"/>
                <a:ea typeface="新細明體" pitchFamily="2"/>
              </a:rPr>
              <a:t>Algorithmica</a:t>
            </a:r>
            <a:r>
              <a:rPr lang="en-US" altLang="zh-TW" sz="2400" b="1" dirty="0" smtClean="0">
                <a:solidFill>
                  <a:srgbClr val="898989"/>
                </a:solidFill>
                <a:latin typeface="Liberation Sans Narrow" pitchFamily="34"/>
                <a:ea typeface="新細明體" pitchFamily="2"/>
              </a:rPr>
              <a:t>, </a:t>
            </a:r>
            <a:r>
              <a:rPr lang="en-US" altLang="zh-TW" sz="2400" b="1" dirty="0">
                <a:solidFill>
                  <a:srgbClr val="898989"/>
                </a:solidFill>
                <a:latin typeface="Liberation Sans Narrow" pitchFamily="34"/>
                <a:ea typeface="新細明體" pitchFamily="2"/>
              </a:rPr>
              <a:t>Vol. </a:t>
            </a:r>
            <a:r>
              <a:rPr lang="en-US" altLang="zh-TW" sz="2400" b="1" dirty="0" smtClean="0">
                <a:solidFill>
                  <a:srgbClr val="898989"/>
                </a:solidFill>
                <a:latin typeface="Liberation Sans Narrow" pitchFamily="34"/>
                <a:ea typeface="新細明體" pitchFamily="2"/>
              </a:rPr>
              <a:t>14, </a:t>
            </a:r>
            <a:r>
              <a:rPr lang="en-US" altLang="zh-TW" sz="2400" b="1" dirty="0">
                <a:solidFill>
                  <a:srgbClr val="898989"/>
                </a:solidFill>
                <a:latin typeface="Liberation Sans Narrow" pitchFamily="34"/>
                <a:ea typeface="新細明體" pitchFamily="2"/>
              </a:rPr>
              <a:t>No. </a:t>
            </a:r>
            <a:r>
              <a:rPr lang="en-US" altLang="zh-TW" sz="2400" b="1" dirty="0" smtClean="0">
                <a:solidFill>
                  <a:srgbClr val="898989"/>
                </a:solidFill>
                <a:latin typeface="Liberation Sans Narrow" pitchFamily="34"/>
                <a:ea typeface="新細明體" pitchFamily="2"/>
              </a:rPr>
              <a:t>3, pp</a:t>
            </a:r>
            <a:r>
              <a:rPr lang="en-US" altLang="zh-TW" sz="2400" b="1" dirty="0">
                <a:solidFill>
                  <a:srgbClr val="898989"/>
                </a:solidFill>
                <a:latin typeface="Liberation Sans Narrow" pitchFamily="34"/>
                <a:ea typeface="新細明體" pitchFamily="2"/>
              </a:rPr>
              <a:t>. </a:t>
            </a:r>
            <a:r>
              <a:rPr lang="en-US" altLang="zh-TW" sz="2400" b="1" dirty="0" smtClean="0">
                <a:solidFill>
                  <a:srgbClr val="898989"/>
                </a:solidFill>
                <a:latin typeface="Liberation Sans Narrow" pitchFamily="34"/>
                <a:ea typeface="新細明體" pitchFamily="2"/>
              </a:rPr>
              <a:t>249-260, (1995)</a:t>
            </a:r>
            <a:r>
              <a:rPr lang="en-US" altLang="zh-TW" sz="2400" b="1" dirty="0">
                <a:solidFill>
                  <a:srgbClr val="898989"/>
                </a:solidFill>
                <a:latin typeface="Liberation Sans Narrow" pitchFamily="34"/>
                <a:ea typeface="新細明體" pitchFamily="2"/>
              </a:rPr>
              <a:t/>
            </a:r>
            <a:br>
              <a:rPr lang="en-US" altLang="zh-TW" sz="2400" b="1" dirty="0">
                <a:solidFill>
                  <a:srgbClr val="898989"/>
                </a:solidFill>
                <a:latin typeface="Liberation Sans Narrow" pitchFamily="34"/>
                <a:ea typeface="新細明體" pitchFamily="2"/>
              </a:rPr>
            </a:br>
            <a:endParaRPr lang="en-US" sz="2400" b="1" dirty="0">
              <a:solidFill>
                <a:srgbClr val="898989"/>
              </a:solidFill>
              <a:latin typeface="Liberation Sans Narrow" pitchFamily="34"/>
              <a:ea typeface="新細明體" pitchFamily="2"/>
            </a:endParaRPr>
          </a:p>
        </p:txBody>
      </p:sp>
      <p:sp>
        <p:nvSpPr>
          <p:cNvPr id="3" name="文字版面配置區 2"/>
          <p:cNvSpPr txBox="1">
            <a:spLocks noGrp="1"/>
          </p:cNvSpPr>
          <p:nvPr>
            <p:ph type="body" idx="4294967295"/>
          </p:nvPr>
        </p:nvSpPr>
        <p:spPr>
          <a:xfrm>
            <a:off x="2046380" y="849121"/>
            <a:ext cx="8229630" cy="1897136"/>
          </a:xfrm>
        </p:spPr>
        <p:txBody>
          <a:bodyPr anchorCtr="1"/>
          <a:lstStyle/>
          <a:p>
            <a:pPr lvl="0" algn="ctr"/>
            <a:r>
              <a:rPr lang="en-US" altLang="zh-TW" sz="6000" dirty="0" smtClean="0">
                <a:latin typeface="Cambria Math" panose="02040503050406030204" pitchFamily="18" charset="0"/>
                <a:ea typeface="Cambria Math" panose="02040503050406030204" pitchFamily="18" charset="0"/>
              </a:rPr>
              <a:t>On-line construction of suffix trees</a:t>
            </a:r>
            <a:endParaRPr lang="en-US" sz="6000" b="1" dirty="0"/>
          </a:p>
        </p:txBody>
      </p:sp>
      <p:sp>
        <p:nvSpPr>
          <p:cNvPr id="4" name="文字版面配置區 3"/>
          <p:cNvSpPr txBox="1">
            <a:spLocks noGrp="1"/>
          </p:cNvSpPr>
          <p:nvPr>
            <p:ph type="body" idx="4294967295"/>
          </p:nvPr>
        </p:nvSpPr>
        <p:spPr>
          <a:xfrm>
            <a:off x="2162522" y="4515041"/>
            <a:ext cx="8229630" cy="1897136"/>
          </a:xfrm>
        </p:spPr>
        <p:txBody>
          <a:bodyPr/>
          <a:lstStyle/>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dirty="0" err="1">
                <a:highlight>
                  <a:scrgbClr r="0" g="0" b="0">
                    <a:alpha val="0"/>
                  </a:scrgbClr>
                </a:highlight>
                <a:latin typeface="Liberation Sans Narrow" pitchFamily="34"/>
                <a:ea typeface="微軟正黑體" pitchFamily="34"/>
                <a:cs typeface="Mangal" pitchFamily="2"/>
              </a:rPr>
              <a:t>Jyun-Hao</a:t>
            </a:r>
            <a:r>
              <a:rPr lang="en-US" dirty="0">
                <a:highlight>
                  <a:scrgbClr r="0" g="0" b="0">
                    <a:alpha val="0"/>
                  </a:scrgbClr>
                </a:highlight>
                <a:latin typeface="Liberation Sans Narrow" pitchFamily="34"/>
                <a:ea typeface="微軟正黑體" pitchFamily="34"/>
                <a:cs typeface="Mangal" pitchFamily="2"/>
              </a:rPr>
              <a:t> Lai</a:t>
            </a: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dirty="0">
                <a:highlight>
                  <a:scrgbClr r="0" g="0" b="0">
                    <a:alpha val="0"/>
                  </a:scrgbClr>
                </a:highlight>
                <a:latin typeface="Liberation Sans Narrow" pitchFamily="34"/>
                <a:ea typeface="微軟正黑體" pitchFamily="34"/>
                <a:cs typeface="Mangal" pitchFamily="2"/>
              </a:rPr>
              <a:t>104 / </a:t>
            </a:r>
            <a:r>
              <a:rPr lang="en-US" dirty="0" smtClean="0">
                <a:highlight>
                  <a:scrgbClr r="0" g="0" b="0">
                    <a:alpha val="0"/>
                  </a:scrgbClr>
                </a:highlight>
                <a:latin typeface="Liberation Sans Narrow" pitchFamily="34"/>
                <a:ea typeface="微軟正黑體" pitchFamily="34"/>
                <a:cs typeface="Mangal" pitchFamily="2"/>
              </a:rPr>
              <a:t>12 </a:t>
            </a:r>
            <a:r>
              <a:rPr lang="en-US" dirty="0">
                <a:highlight>
                  <a:scrgbClr r="0" g="0" b="0">
                    <a:alpha val="0"/>
                  </a:scrgbClr>
                </a:highlight>
                <a:latin typeface="Liberation Sans Narrow" pitchFamily="34"/>
                <a:ea typeface="微軟正黑體" pitchFamily="34"/>
                <a:cs typeface="Mangal" pitchFamily="2"/>
              </a:rPr>
              <a:t>/ </a:t>
            </a:r>
            <a:r>
              <a:rPr lang="en-US" dirty="0" smtClean="0">
                <a:highlight>
                  <a:scrgbClr r="0" g="0" b="0">
                    <a:alpha val="0"/>
                  </a:scrgbClr>
                </a:highlight>
                <a:latin typeface="Liberation Sans Narrow" pitchFamily="34"/>
                <a:ea typeface="微軟正黑體" pitchFamily="34"/>
                <a:cs typeface="Mangal" pitchFamily="2"/>
              </a:rPr>
              <a:t>23</a:t>
            </a:r>
            <a:endParaRPr lang="en-US" dirty="0">
              <a:highlight>
                <a:scrgbClr r="0" g="0" b="0">
                  <a:alpha val="0"/>
                </a:scrgbClr>
              </a:highlight>
              <a:latin typeface="Liberation Sans Narrow" pitchFamily="34"/>
              <a:ea typeface="微軟正黑體" pitchFamily="34"/>
              <a:cs typeface="Mangal" pitchFamily="2"/>
            </a:endParaRPr>
          </a:p>
        </p:txBody>
      </p:sp>
    </p:spTree>
    <p:extLst>
      <p:ext uri="{BB962C8B-B14F-4D97-AF65-F5344CB8AC3E}">
        <p14:creationId xmlns:p14="http://schemas.microsoft.com/office/powerpoint/2010/main" val="3822806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a:xfrm>
            <a:off x="609560" y="1228166"/>
            <a:ext cx="10971688" cy="5535100"/>
          </a:xfrm>
        </p:spPr>
        <p:txBody>
          <a:bodyPr/>
          <a:lstStyle/>
          <a:p>
            <a:pPr algn="just"/>
            <a:r>
              <a:rPr lang="en-US" altLang="zh-TW" sz="2800" dirty="0">
                <a:latin typeface="Cambria Math" panose="02040503050406030204" pitchFamily="18" charset="0"/>
                <a:ea typeface="Cambria Math" panose="02040503050406030204" pitchFamily="18" charset="0"/>
              </a:rPr>
              <a:t> </a:t>
            </a:r>
            <a:r>
              <a:rPr lang="en-US" altLang="zh-TW" sz="2800" dirty="0" smtClean="0">
                <a:latin typeface="Cambria Math" panose="02040503050406030204" pitchFamily="18" charset="0"/>
                <a:ea typeface="Cambria Math" panose="02040503050406030204" pitchFamily="18" charset="0"/>
              </a:rPr>
              <a:t>      </a:t>
            </a:r>
            <a:r>
              <a:rPr lang="en-US" altLang="zh-TW" sz="3000" dirty="0">
                <a:latin typeface="Cambria Math" panose="02040503050406030204" pitchFamily="18" charset="0"/>
                <a:ea typeface="Cambria Math" panose="02040503050406030204" pitchFamily="18" charset="0"/>
              </a:rPr>
              <a:t>An on–line algorithm is presented for constructing the suffix tree for a given string in time linear in the length of the string. The new algorithm has the desirable property of processing the string symbol by symbol from left to right. It has always the suffix tree for the scanned part of the string ready. The method is developed as a linear–time version of a very simple algorithm for (quadratic size) suffix tries. Regardless of its quadratic worst-case this latter algorithm can be a good practical method when the string is not too long. Another variation of this method is shown to give in a natural way the well–known algorithms for constructing suffix automata (DAWGs).</a:t>
            </a:r>
            <a:endParaRPr lang="zh-TW" altLang="en-US" sz="3000" dirty="0">
              <a:latin typeface="Cambria Math" panose="02040503050406030204" pitchFamily="18" charset="0"/>
            </a:endParaRPr>
          </a:p>
        </p:txBody>
      </p:sp>
    </p:spTree>
    <p:extLst>
      <p:ext uri="{BB962C8B-B14F-4D97-AF65-F5344CB8AC3E}">
        <p14:creationId xmlns:p14="http://schemas.microsoft.com/office/powerpoint/2010/main" val="2973164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Suffix Tree</a:t>
            </a:r>
            <a:endParaRPr lang="zh-TW" altLang="en-US" dirty="0"/>
          </a:p>
        </p:txBody>
      </p:sp>
      <p:sp>
        <p:nvSpPr>
          <p:cNvPr id="5" name="內容版面配置區 4"/>
          <p:cNvSpPr>
            <a:spLocks noGrp="1"/>
          </p:cNvSpPr>
          <p:nvPr>
            <p:ph idx="1"/>
          </p:nvPr>
        </p:nvSpPr>
        <p:spPr/>
        <p:txBody>
          <a:bodyPr/>
          <a:lstStyle/>
          <a:p>
            <a:pPr algn="l"/>
            <a:r>
              <a:rPr lang="en-US" altLang="zh-TW" sz="4000" dirty="0" smtClean="0"/>
              <a:t>S = </a:t>
            </a:r>
            <a:r>
              <a:rPr lang="en-US" altLang="zh-TW" sz="4000" dirty="0" err="1" smtClean="0"/>
              <a:t>xabxa</a:t>
            </a:r>
            <a:r>
              <a:rPr lang="en-US" altLang="zh-TW" sz="4000" dirty="0" smtClean="0"/>
              <a:t>$</a:t>
            </a:r>
          </a:p>
          <a:p>
            <a:endParaRPr lang="en-US" altLang="zh-TW" dirty="0" smtClean="0"/>
          </a:p>
          <a:p>
            <a:endParaRPr lang="en-US" altLang="zh-TW" dirty="0" smtClean="0"/>
          </a:p>
          <a:p>
            <a:endParaRPr lang="en-US" altLang="zh-TW" dirty="0" smtClean="0">
              <a:latin typeface="Cambria Math" panose="02040503050406030204" pitchFamily="18" charset="0"/>
              <a:ea typeface="Cambria Math" panose="02040503050406030204" pitchFamily="18" charset="0"/>
            </a:endParaRPr>
          </a:p>
        </p:txBody>
      </p:sp>
      <p:graphicFrame>
        <p:nvGraphicFramePr>
          <p:cNvPr id="34" name="表格 33"/>
          <p:cNvGraphicFramePr>
            <a:graphicFrameLocks noGrp="1"/>
          </p:cNvGraphicFramePr>
          <p:nvPr>
            <p:extLst/>
          </p:nvPr>
        </p:nvGraphicFramePr>
        <p:xfrm>
          <a:off x="8885583" y="1930106"/>
          <a:ext cx="2596838" cy="4206240"/>
        </p:xfrm>
        <a:graphic>
          <a:graphicData uri="http://schemas.openxmlformats.org/drawingml/2006/table">
            <a:tbl>
              <a:tblPr firstRow="1" bandRow="1">
                <a:tableStyleId>{5940675A-B579-460E-94D1-54222C63F5DA}</a:tableStyleId>
              </a:tblPr>
              <a:tblGrid>
                <a:gridCol w="1979000"/>
                <a:gridCol w="617838"/>
              </a:tblGrid>
              <a:tr h="0">
                <a:tc>
                  <a:txBody>
                    <a:bodyPr/>
                    <a:lstStyle/>
                    <a:p>
                      <a:pPr algn="r"/>
                      <a:r>
                        <a:rPr lang="en-US" altLang="zh-TW" sz="4000" dirty="0" err="1" smtClean="0"/>
                        <a:t>xabxa</a:t>
                      </a:r>
                      <a:r>
                        <a:rPr lang="en-US" altLang="zh-TW" sz="4000" dirty="0" smtClean="0"/>
                        <a:t>$</a:t>
                      </a:r>
                      <a:endParaRPr lang="zh-TW" altLang="en-US" sz="4000" dirty="0"/>
                    </a:p>
                  </a:txBody>
                  <a:tcPr/>
                </a:tc>
                <a:tc>
                  <a:txBody>
                    <a:bodyPr/>
                    <a:lstStyle/>
                    <a:p>
                      <a:pPr algn="r"/>
                      <a:r>
                        <a:rPr lang="en-US" altLang="zh-TW" sz="2800" dirty="0" smtClean="0"/>
                        <a:t>S1</a:t>
                      </a:r>
                      <a:endParaRPr lang="zh-TW" altLang="en-US" sz="2800" dirty="0"/>
                    </a:p>
                  </a:txBody>
                  <a:tcPr/>
                </a:tc>
              </a:tr>
              <a:tr h="370840">
                <a:tc>
                  <a:txBody>
                    <a:bodyPr/>
                    <a:lstStyle/>
                    <a:p>
                      <a:pPr algn="r"/>
                      <a:r>
                        <a:rPr lang="en-US" altLang="zh-TW" sz="4000" dirty="0" err="1" smtClean="0"/>
                        <a:t>abxa</a:t>
                      </a:r>
                      <a:r>
                        <a:rPr lang="en-US" altLang="zh-TW" sz="4000" dirty="0" smtClean="0"/>
                        <a:t>$</a:t>
                      </a:r>
                      <a:endParaRPr lang="zh-TW" altLang="en-US" sz="4000" dirty="0"/>
                    </a:p>
                  </a:txBody>
                  <a:tcPr/>
                </a:tc>
                <a:tc>
                  <a:txBody>
                    <a:bodyPr/>
                    <a:lstStyle/>
                    <a:p>
                      <a:pPr algn="r"/>
                      <a:r>
                        <a:rPr lang="en-US" altLang="zh-TW" sz="2800" dirty="0" smtClean="0"/>
                        <a:t>S2</a:t>
                      </a:r>
                      <a:endParaRPr lang="zh-TW" altLang="en-US" sz="2800" dirty="0"/>
                    </a:p>
                  </a:txBody>
                  <a:tcPr/>
                </a:tc>
              </a:tr>
              <a:tr h="370840">
                <a:tc>
                  <a:txBody>
                    <a:bodyPr/>
                    <a:lstStyle/>
                    <a:p>
                      <a:pPr algn="r"/>
                      <a:r>
                        <a:rPr lang="en-US" altLang="zh-TW" sz="4000" dirty="0" err="1" smtClean="0"/>
                        <a:t>bxa</a:t>
                      </a:r>
                      <a:r>
                        <a:rPr lang="en-US" altLang="zh-TW" sz="4000" dirty="0" smtClean="0"/>
                        <a:t>$</a:t>
                      </a:r>
                      <a:endParaRPr lang="zh-TW" altLang="en-US" sz="4000" dirty="0"/>
                    </a:p>
                  </a:txBody>
                  <a:tcPr/>
                </a:tc>
                <a:tc>
                  <a:txBody>
                    <a:bodyPr/>
                    <a:lstStyle/>
                    <a:p>
                      <a:pPr algn="r"/>
                      <a:r>
                        <a:rPr lang="en-US" altLang="zh-TW" sz="2800" dirty="0" smtClean="0"/>
                        <a:t>S3</a:t>
                      </a:r>
                      <a:endParaRPr lang="zh-TW" altLang="en-US" sz="2800" dirty="0"/>
                    </a:p>
                  </a:txBody>
                  <a:tcPr/>
                </a:tc>
              </a:tr>
              <a:tr h="370840">
                <a:tc>
                  <a:txBody>
                    <a:bodyPr/>
                    <a:lstStyle/>
                    <a:p>
                      <a:pPr algn="r"/>
                      <a:r>
                        <a:rPr lang="en-US" altLang="zh-TW" sz="4000" dirty="0" err="1" smtClean="0"/>
                        <a:t>xa</a:t>
                      </a:r>
                      <a:r>
                        <a:rPr lang="en-US" altLang="zh-TW" sz="4000" dirty="0" smtClean="0"/>
                        <a:t>$</a:t>
                      </a:r>
                      <a:endParaRPr lang="zh-TW" altLang="en-US" sz="4000" dirty="0"/>
                    </a:p>
                  </a:txBody>
                  <a:tcPr/>
                </a:tc>
                <a:tc>
                  <a:txBody>
                    <a:bodyPr/>
                    <a:lstStyle/>
                    <a:p>
                      <a:pPr algn="r"/>
                      <a:r>
                        <a:rPr lang="en-US" altLang="zh-TW" sz="2800" dirty="0" smtClean="0"/>
                        <a:t>S4</a:t>
                      </a:r>
                      <a:endParaRPr lang="zh-TW" altLang="en-US" sz="2800" dirty="0"/>
                    </a:p>
                  </a:txBody>
                  <a:tcPr/>
                </a:tc>
              </a:tr>
              <a:tr h="370840">
                <a:tc>
                  <a:txBody>
                    <a:bodyPr/>
                    <a:lstStyle/>
                    <a:p>
                      <a:pPr algn="r"/>
                      <a:r>
                        <a:rPr lang="en-US" altLang="zh-TW" sz="4000" dirty="0" smtClean="0"/>
                        <a:t>a$</a:t>
                      </a:r>
                      <a:endParaRPr lang="zh-TW" altLang="en-US" sz="4000" dirty="0"/>
                    </a:p>
                  </a:txBody>
                  <a:tcPr/>
                </a:tc>
                <a:tc>
                  <a:txBody>
                    <a:bodyPr/>
                    <a:lstStyle/>
                    <a:p>
                      <a:pPr algn="r"/>
                      <a:r>
                        <a:rPr lang="en-US" altLang="zh-TW" sz="2800" dirty="0" smtClean="0"/>
                        <a:t>S5</a:t>
                      </a:r>
                      <a:endParaRPr lang="zh-TW" altLang="en-US" sz="2800" dirty="0"/>
                    </a:p>
                  </a:txBody>
                  <a:tcPr/>
                </a:tc>
              </a:tr>
              <a:tr h="370840">
                <a:tc>
                  <a:txBody>
                    <a:bodyPr/>
                    <a:lstStyle/>
                    <a:p>
                      <a:pPr algn="r"/>
                      <a:r>
                        <a:rPr lang="en-US" altLang="zh-TW" sz="4000" dirty="0" smtClean="0"/>
                        <a:t>$</a:t>
                      </a:r>
                      <a:endParaRPr lang="zh-TW" altLang="en-US" sz="4000" dirty="0"/>
                    </a:p>
                  </a:txBody>
                  <a:tcPr/>
                </a:tc>
                <a:tc>
                  <a:txBody>
                    <a:bodyPr/>
                    <a:lstStyle/>
                    <a:p>
                      <a:pPr algn="r"/>
                      <a:r>
                        <a:rPr lang="en-US" altLang="zh-TW" sz="2800" dirty="0" smtClean="0"/>
                        <a:t>S6</a:t>
                      </a:r>
                      <a:endParaRPr lang="zh-TW" altLang="en-US" sz="2800" dirty="0"/>
                    </a:p>
                  </a:txBody>
                  <a:tcPr/>
                </a:tc>
              </a:tr>
            </a:tbl>
          </a:graphicData>
        </a:graphic>
      </p:graphicFrame>
      <p:grpSp>
        <p:nvGrpSpPr>
          <p:cNvPr id="3" name="群組 2"/>
          <p:cNvGrpSpPr/>
          <p:nvPr/>
        </p:nvGrpSpPr>
        <p:grpSpPr>
          <a:xfrm>
            <a:off x="1745613" y="2346648"/>
            <a:ext cx="6766903" cy="3815427"/>
            <a:chOff x="1745613" y="2346648"/>
            <a:chExt cx="6766903" cy="3815427"/>
          </a:xfrm>
        </p:grpSpPr>
        <p:sp>
          <p:nvSpPr>
            <p:cNvPr id="33" name="橢圓 32"/>
            <p:cNvSpPr/>
            <p:nvPr/>
          </p:nvSpPr>
          <p:spPr>
            <a:xfrm>
              <a:off x="4077730" y="2356021"/>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6" name="直線接點 35"/>
            <p:cNvCxnSpPr/>
            <p:nvPr/>
          </p:nvCxnSpPr>
          <p:spPr>
            <a:xfrm flipH="1">
              <a:off x="1960605" y="2479589"/>
              <a:ext cx="2113006" cy="1524000"/>
            </a:xfrm>
            <a:prstGeom prst="line">
              <a:avLst/>
            </a:prstGeom>
          </p:spPr>
          <p:style>
            <a:lnRef idx="1">
              <a:schemeClr val="accent1"/>
            </a:lnRef>
            <a:fillRef idx="0">
              <a:schemeClr val="accent1"/>
            </a:fillRef>
            <a:effectRef idx="0">
              <a:schemeClr val="accent1"/>
            </a:effectRef>
            <a:fontRef idx="minor">
              <a:schemeClr val="tx1"/>
            </a:fontRef>
          </p:style>
        </p:cxnSp>
        <p:sp>
          <p:nvSpPr>
            <p:cNvPr id="37" name="橢圓 36"/>
            <p:cNvSpPr/>
            <p:nvPr/>
          </p:nvSpPr>
          <p:spPr>
            <a:xfrm>
              <a:off x="1745613" y="3942939"/>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3</a:t>
              </a:r>
              <a:endParaRPr lang="zh-TW" altLang="en-US" dirty="0"/>
            </a:p>
          </p:txBody>
        </p:sp>
        <p:cxnSp>
          <p:nvCxnSpPr>
            <p:cNvPr id="39" name="直線接點 38"/>
            <p:cNvCxnSpPr/>
            <p:nvPr/>
          </p:nvCxnSpPr>
          <p:spPr>
            <a:xfrm flipH="1">
              <a:off x="2863899" y="2479589"/>
              <a:ext cx="1349755" cy="2750677"/>
            </a:xfrm>
            <a:prstGeom prst="line">
              <a:avLst/>
            </a:prstGeom>
          </p:spPr>
          <p:style>
            <a:lnRef idx="1">
              <a:schemeClr val="accent1"/>
            </a:lnRef>
            <a:fillRef idx="0">
              <a:schemeClr val="accent1"/>
            </a:fillRef>
            <a:effectRef idx="0">
              <a:schemeClr val="accent1"/>
            </a:effectRef>
            <a:fontRef idx="minor">
              <a:schemeClr val="tx1"/>
            </a:fontRef>
          </p:style>
        </p:cxnSp>
        <p:sp>
          <p:nvSpPr>
            <p:cNvPr id="40" name="橢圓 39"/>
            <p:cNvSpPr/>
            <p:nvPr/>
          </p:nvSpPr>
          <p:spPr>
            <a:xfrm>
              <a:off x="2727975" y="5198427"/>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6</a:t>
              </a:r>
              <a:endParaRPr lang="zh-TW" altLang="en-US" dirty="0"/>
            </a:p>
          </p:txBody>
        </p:sp>
        <p:cxnSp>
          <p:nvCxnSpPr>
            <p:cNvPr id="48" name="直線接點 47"/>
            <p:cNvCxnSpPr>
              <a:stCxn id="33" idx="5"/>
            </p:cNvCxnSpPr>
            <p:nvPr/>
          </p:nvCxnSpPr>
          <p:spPr>
            <a:xfrm>
              <a:off x="4309767" y="2573995"/>
              <a:ext cx="610282" cy="1280932"/>
            </a:xfrm>
            <a:prstGeom prst="line">
              <a:avLst/>
            </a:prstGeom>
          </p:spPr>
          <p:style>
            <a:lnRef idx="1">
              <a:schemeClr val="accent1"/>
            </a:lnRef>
            <a:fillRef idx="0">
              <a:schemeClr val="accent1"/>
            </a:fillRef>
            <a:effectRef idx="0">
              <a:schemeClr val="accent1"/>
            </a:effectRef>
            <a:fontRef idx="minor">
              <a:schemeClr val="tx1"/>
            </a:fontRef>
          </p:style>
        </p:cxnSp>
        <p:sp>
          <p:nvSpPr>
            <p:cNvPr id="49" name="橢圓 48"/>
            <p:cNvSpPr/>
            <p:nvPr/>
          </p:nvSpPr>
          <p:spPr>
            <a:xfrm>
              <a:off x="4860729" y="381525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1" name="直線接點 50"/>
            <p:cNvCxnSpPr>
              <a:stCxn id="49" idx="3"/>
            </p:cNvCxnSpPr>
            <p:nvPr/>
          </p:nvCxnSpPr>
          <p:spPr>
            <a:xfrm flipH="1">
              <a:off x="4768557" y="4033226"/>
              <a:ext cx="131983" cy="1873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線接點 54"/>
            <p:cNvCxnSpPr>
              <a:stCxn id="49" idx="5"/>
            </p:cNvCxnSpPr>
            <p:nvPr/>
          </p:nvCxnSpPr>
          <p:spPr>
            <a:xfrm>
              <a:off x="5092766" y="4033226"/>
              <a:ext cx="1951394" cy="1549101"/>
            </a:xfrm>
            <a:prstGeom prst="line">
              <a:avLst/>
            </a:prstGeom>
          </p:spPr>
          <p:style>
            <a:lnRef idx="1">
              <a:schemeClr val="accent1"/>
            </a:lnRef>
            <a:fillRef idx="0">
              <a:schemeClr val="accent1"/>
            </a:fillRef>
            <a:effectRef idx="0">
              <a:schemeClr val="accent1"/>
            </a:effectRef>
            <a:fontRef idx="minor">
              <a:schemeClr val="tx1"/>
            </a:fontRef>
          </p:style>
        </p:cxnSp>
        <p:sp>
          <p:nvSpPr>
            <p:cNvPr id="56" name="橢圓 55"/>
            <p:cNvSpPr/>
            <p:nvPr/>
          </p:nvSpPr>
          <p:spPr>
            <a:xfrm>
              <a:off x="4614908" y="590670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57" name="橢圓 56"/>
            <p:cNvSpPr/>
            <p:nvPr/>
          </p:nvSpPr>
          <p:spPr>
            <a:xfrm>
              <a:off x="7044160" y="5513440"/>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cxnSp>
          <p:nvCxnSpPr>
            <p:cNvPr id="59" name="直線接點 58"/>
            <p:cNvCxnSpPr>
              <a:stCxn id="33" idx="6"/>
            </p:cNvCxnSpPr>
            <p:nvPr/>
          </p:nvCxnSpPr>
          <p:spPr>
            <a:xfrm>
              <a:off x="4349578" y="2483708"/>
              <a:ext cx="2084173" cy="757881"/>
            </a:xfrm>
            <a:prstGeom prst="line">
              <a:avLst/>
            </a:prstGeom>
          </p:spPr>
          <p:style>
            <a:lnRef idx="1">
              <a:schemeClr val="accent1"/>
            </a:lnRef>
            <a:fillRef idx="0">
              <a:schemeClr val="accent1"/>
            </a:fillRef>
            <a:effectRef idx="0">
              <a:schemeClr val="accent1"/>
            </a:effectRef>
            <a:fontRef idx="minor">
              <a:schemeClr val="tx1"/>
            </a:fontRef>
          </p:style>
        </p:cxnSp>
        <p:sp>
          <p:nvSpPr>
            <p:cNvPr id="60" name="橢圓 59"/>
            <p:cNvSpPr/>
            <p:nvPr/>
          </p:nvSpPr>
          <p:spPr>
            <a:xfrm>
              <a:off x="6405323" y="317270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2" name="直線接點 61"/>
            <p:cNvCxnSpPr>
              <a:stCxn id="60" idx="4"/>
            </p:cNvCxnSpPr>
            <p:nvPr/>
          </p:nvCxnSpPr>
          <p:spPr>
            <a:xfrm>
              <a:off x="6541247" y="3428075"/>
              <a:ext cx="638837" cy="955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p:cNvCxnSpPr>
              <a:stCxn id="60" idx="6"/>
            </p:cNvCxnSpPr>
            <p:nvPr/>
          </p:nvCxnSpPr>
          <p:spPr>
            <a:xfrm flipV="1">
              <a:off x="6677171" y="3300388"/>
              <a:ext cx="1555437" cy="1"/>
            </a:xfrm>
            <a:prstGeom prst="line">
              <a:avLst/>
            </a:prstGeom>
          </p:spPr>
          <p:style>
            <a:lnRef idx="1">
              <a:schemeClr val="accent1"/>
            </a:lnRef>
            <a:fillRef idx="0">
              <a:schemeClr val="accent1"/>
            </a:fillRef>
            <a:effectRef idx="0">
              <a:schemeClr val="accent1"/>
            </a:effectRef>
            <a:fontRef idx="minor">
              <a:schemeClr val="tx1"/>
            </a:fontRef>
          </p:style>
        </p:cxnSp>
        <p:sp>
          <p:nvSpPr>
            <p:cNvPr id="65" name="橢圓 64"/>
            <p:cNvSpPr/>
            <p:nvPr/>
          </p:nvSpPr>
          <p:spPr>
            <a:xfrm>
              <a:off x="7134850" y="4353943"/>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66" name="橢圓 65"/>
            <p:cNvSpPr/>
            <p:nvPr/>
          </p:nvSpPr>
          <p:spPr>
            <a:xfrm>
              <a:off x="8240668" y="3196550"/>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68" name="文字方塊 67"/>
            <p:cNvSpPr txBox="1"/>
            <p:nvPr/>
          </p:nvSpPr>
          <p:spPr>
            <a:xfrm>
              <a:off x="2113153" y="2843300"/>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69" name="文字方塊 68"/>
            <p:cNvSpPr txBox="1"/>
            <p:nvPr/>
          </p:nvSpPr>
          <p:spPr>
            <a:xfrm>
              <a:off x="3032344" y="3650961"/>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70" name="文字方塊 69"/>
            <p:cNvSpPr txBox="1"/>
            <p:nvPr/>
          </p:nvSpPr>
          <p:spPr>
            <a:xfrm>
              <a:off x="4709622" y="2810918"/>
              <a:ext cx="381836" cy="584775"/>
            </a:xfrm>
            <a:prstGeom prst="rect">
              <a:avLst/>
            </a:prstGeom>
            <a:noFill/>
          </p:spPr>
          <p:txBody>
            <a:bodyPr wrap="none" rtlCol="0">
              <a:spAutoFit/>
            </a:bodyPr>
            <a:lstStyle/>
            <a:p>
              <a:r>
                <a:rPr lang="en-US" altLang="zh-TW" sz="3200" dirty="0"/>
                <a:t>a</a:t>
              </a:r>
              <a:endParaRPr lang="zh-TW" altLang="en-US" sz="3200" dirty="0"/>
            </a:p>
          </p:txBody>
        </p:sp>
        <p:sp>
          <p:nvSpPr>
            <p:cNvPr id="71" name="文字方塊 70"/>
            <p:cNvSpPr txBox="1"/>
            <p:nvPr/>
          </p:nvSpPr>
          <p:spPr>
            <a:xfrm>
              <a:off x="4418380" y="4681049"/>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72" name="文字方塊 71"/>
            <p:cNvSpPr txBox="1"/>
            <p:nvPr/>
          </p:nvSpPr>
          <p:spPr>
            <a:xfrm>
              <a:off x="5613760" y="4033226"/>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73" name="文字方塊 72"/>
            <p:cNvSpPr txBox="1"/>
            <p:nvPr/>
          </p:nvSpPr>
          <p:spPr>
            <a:xfrm>
              <a:off x="6890772" y="3522864"/>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74" name="文字方塊 73"/>
            <p:cNvSpPr txBox="1"/>
            <p:nvPr/>
          </p:nvSpPr>
          <p:spPr>
            <a:xfrm>
              <a:off x="7009364" y="2769034"/>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75" name="文字方塊 74"/>
            <p:cNvSpPr txBox="1"/>
            <p:nvPr/>
          </p:nvSpPr>
          <p:spPr>
            <a:xfrm>
              <a:off x="5462529" y="2346648"/>
              <a:ext cx="552331" cy="584775"/>
            </a:xfrm>
            <a:prstGeom prst="rect">
              <a:avLst/>
            </a:prstGeom>
            <a:noFill/>
          </p:spPr>
          <p:txBody>
            <a:bodyPr wrap="none" rtlCol="0">
              <a:spAutoFit/>
            </a:bodyPr>
            <a:lstStyle/>
            <a:p>
              <a:r>
                <a:rPr lang="en-US" altLang="zh-TW" sz="3200" dirty="0" err="1" smtClean="0"/>
                <a:t>xa</a:t>
              </a:r>
              <a:endParaRPr lang="zh-TW" altLang="en-US" sz="3200" dirty="0"/>
            </a:p>
          </p:txBody>
        </p:sp>
      </p:grpSp>
    </p:spTree>
    <p:extLst>
      <p:ext uri="{BB962C8B-B14F-4D97-AF65-F5344CB8AC3E}">
        <p14:creationId xmlns:p14="http://schemas.microsoft.com/office/powerpoint/2010/main" val="3193741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Suffix Tree</a:t>
            </a:r>
            <a:endParaRPr lang="zh-TW" altLang="en-US" dirty="0"/>
          </a:p>
        </p:txBody>
      </p:sp>
      <p:sp>
        <p:nvSpPr>
          <p:cNvPr id="3" name="內容版面配置區 2"/>
          <p:cNvSpPr>
            <a:spLocks noGrp="1"/>
          </p:cNvSpPr>
          <p:nvPr>
            <p:ph idx="1"/>
          </p:nvPr>
        </p:nvSpPr>
        <p:spPr/>
        <p:txBody>
          <a:bodyPr/>
          <a:lstStyle/>
          <a:p>
            <a:r>
              <a:rPr lang="en-US" altLang="zh-TW" sz="3200" dirty="0">
                <a:latin typeface="Cambria Math" panose="02040503050406030204" pitchFamily="18" charset="0"/>
                <a:ea typeface="Cambria Math" panose="02040503050406030204" pitchFamily="18" charset="0"/>
              </a:rPr>
              <a:t>Properties of a Suffix </a:t>
            </a:r>
            <a:r>
              <a:rPr lang="en-US" altLang="zh-TW" sz="3200" dirty="0" smtClean="0">
                <a:latin typeface="Cambria Math" panose="02040503050406030204" pitchFamily="18" charset="0"/>
                <a:ea typeface="Cambria Math" panose="02040503050406030204" pitchFamily="18" charset="0"/>
              </a:rPr>
              <a:t>Tree</a:t>
            </a:r>
          </a:p>
          <a:p>
            <a:pPr marL="457200" indent="-457200">
              <a:lnSpc>
                <a:spcPct val="150000"/>
              </a:lnSpc>
              <a:buFont typeface="Arial" panose="020B0604020202020204" pitchFamily="34" charset="0"/>
              <a:buChar char="•"/>
            </a:pPr>
            <a:r>
              <a:rPr lang="en-US" altLang="zh-TW" sz="2400" dirty="0">
                <a:solidFill>
                  <a:schemeClr val="tx1"/>
                </a:solidFill>
                <a:latin typeface="Times New Roman" panose="02020603050405020304" pitchFamily="18" charset="0"/>
              </a:rPr>
              <a:t>Each tree edge is labeled by a substring of </a:t>
            </a:r>
            <a:r>
              <a:rPr lang="en-US" altLang="zh-TW" sz="2400" i="1" dirty="0">
                <a:solidFill>
                  <a:schemeClr val="tx1"/>
                </a:solidFill>
                <a:latin typeface="Times New Roman" panose="02020603050405020304" pitchFamily="18" charset="0"/>
              </a:rPr>
              <a:t>S</a:t>
            </a:r>
            <a:r>
              <a:rPr lang="en-US" altLang="zh-TW" sz="2400" dirty="0">
                <a:solidFill>
                  <a:schemeClr val="tx1"/>
                </a:solidFill>
                <a:latin typeface="Times New Roman" panose="02020603050405020304" pitchFamily="18" charset="0"/>
              </a:rPr>
              <a:t>.</a:t>
            </a:r>
          </a:p>
          <a:p>
            <a:pPr marL="457200" indent="-457200">
              <a:lnSpc>
                <a:spcPct val="150000"/>
              </a:lnSpc>
              <a:buFont typeface="Arial" panose="020B0604020202020204" pitchFamily="34" charset="0"/>
              <a:buChar char="•"/>
            </a:pPr>
            <a:r>
              <a:rPr lang="en-US" altLang="zh-TW" sz="2400" dirty="0">
                <a:solidFill>
                  <a:schemeClr val="tx1"/>
                </a:solidFill>
                <a:latin typeface="Times New Roman" panose="02020603050405020304" pitchFamily="18" charset="0"/>
              </a:rPr>
              <a:t>Each internal node has at least 2 children</a:t>
            </a:r>
            <a:r>
              <a:rPr lang="en-US" altLang="zh-TW" sz="2400" dirty="0" smtClean="0">
                <a:solidFill>
                  <a:schemeClr val="tx1"/>
                </a:solidFill>
                <a:latin typeface="Times New Roman" panose="02020603050405020304" pitchFamily="18" charset="0"/>
              </a:rPr>
              <a:t>.</a:t>
            </a:r>
          </a:p>
          <a:p>
            <a:pPr marL="457200" indent="-457200">
              <a:lnSpc>
                <a:spcPct val="150000"/>
              </a:lnSpc>
              <a:buFont typeface="Arial" panose="020B0604020202020204" pitchFamily="34" charset="0"/>
              <a:buChar char="•"/>
            </a:pPr>
            <a:r>
              <a:rPr lang="en-US" altLang="zh-TW" sz="2400" dirty="0">
                <a:solidFill>
                  <a:schemeClr val="tx1"/>
                </a:solidFill>
                <a:latin typeface="Times New Roman" panose="02020603050405020304" pitchFamily="18" charset="0"/>
              </a:rPr>
              <a:t>There are </a:t>
            </a:r>
            <a:r>
              <a:rPr lang="en-US" altLang="zh-TW" sz="2400" i="1" dirty="0">
                <a:solidFill>
                  <a:schemeClr val="tx1"/>
                </a:solidFill>
                <a:latin typeface="Times New Roman" panose="02020603050405020304" pitchFamily="18" charset="0"/>
              </a:rPr>
              <a:t>n</a:t>
            </a:r>
            <a:r>
              <a:rPr lang="en-US" altLang="zh-TW" sz="2400" dirty="0">
                <a:solidFill>
                  <a:schemeClr val="tx1"/>
                </a:solidFill>
                <a:latin typeface="Times New Roman" panose="02020603050405020304" pitchFamily="18" charset="0"/>
              </a:rPr>
              <a:t> leaves</a:t>
            </a:r>
            <a:r>
              <a:rPr lang="en-US" altLang="zh-TW" sz="2400" dirty="0" smtClean="0">
                <a:solidFill>
                  <a:schemeClr val="tx1"/>
                </a:solidFill>
                <a:latin typeface="Times New Roman" panose="02020603050405020304" pitchFamily="18" charset="0"/>
              </a:rPr>
              <a:t>.</a:t>
            </a:r>
          </a:p>
          <a:p>
            <a:pPr marL="457200" lvl="1" indent="-457200" hangingPunct="0">
              <a:lnSpc>
                <a:spcPct val="150000"/>
              </a:lnSpc>
              <a:spcBef>
                <a:spcPts val="1284"/>
              </a:spcBef>
              <a:buSzTx/>
            </a:pPr>
            <a:r>
              <a:rPr lang="en-US" altLang="zh-TW" sz="2400" dirty="0" smtClean="0">
                <a:solidFill>
                  <a:schemeClr val="tx1"/>
                </a:solidFill>
                <a:highlight>
                  <a:scrgbClr r="0" g="0" b="0">
                    <a:alpha val="0"/>
                  </a:scrgbClr>
                </a:highlight>
                <a:latin typeface="Times New Roman" panose="02020603050405020304" pitchFamily="18" charset="0"/>
                <a:ea typeface="微軟正黑體" pitchFamily="2"/>
                <a:cs typeface="Mangal" pitchFamily="2"/>
              </a:rPr>
              <a:t>Sibling edges </a:t>
            </a:r>
            <a:r>
              <a:rPr lang="en-US" altLang="zh-TW" sz="2400" dirty="0">
                <a:solidFill>
                  <a:schemeClr val="tx1"/>
                </a:solidFill>
                <a:highlight>
                  <a:scrgbClr r="0" g="0" b="0">
                    <a:alpha val="0"/>
                  </a:scrgbClr>
                </a:highlight>
                <a:latin typeface="Times New Roman" panose="02020603050405020304" pitchFamily="18" charset="0"/>
                <a:ea typeface="微軟正黑體" pitchFamily="2"/>
                <a:cs typeface="Mangal" pitchFamily="2"/>
              </a:rPr>
              <a:t>begin with different characters</a:t>
            </a:r>
          </a:p>
          <a:p>
            <a:pPr>
              <a:lnSpc>
                <a:spcPct val="90000"/>
              </a:lnSpc>
            </a:pPr>
            <a:endParaRPr lang="en-US" altLang="zh-TW" sz="2400" dirty="0">
              <a:latin typeface="Times New Roman" panose="02020603050405020304" pitchFamily="18" charset="0"/>
            </a:endParaRPr>
          </a:p>
          <a:p>
            <a:pPr>
              <a:lnSpc>
                <a:spcPct val="90000"/>
              </a:lnSpc>
            </a:pPr>
            <a:endParaRPr lang="en-US" altLang="zh-TW" dirty="0">
              <a:latin typeface="Times New Roman" panose="02020603050405020304" pitchFamily="18" charset="0"/>
            </a:endParaRPr>
          </a:p>
          <a:p>
            <a:endParaRPr lang="zh-TW" altLang="en-US" dirty="0">
              <a:latin typeface="Cambria Math" panose="02040503050406030204" pitchFamily="18" charset="0"/>
            </a:endParaRPr>
          </a:p>
          <a:p>
            <a:endParaRPr lang="zh-TW" altLang="en-US" dirty="0"/>
          </a:p>
        </p:txBody>
      </p:sp>
      <p:grpSp>
        <p:nvGrpSpPr>
          <p:cNvPr id="57" name="群組 56"/>
          <p:cNvGrpSpPr/>
          <p:nvPr/>
        </p:nvGrpSpPr>
        <p:grpSpPr>
          <a:xfrm>
            <a:off x="6763189" y="1900898"/>
            <a:ext cx="5214626" cy="3385373"/>
            <a:chOff x="1745613" y="2346648"/>
            <a:chExt cx="6766903" cy="3815427"/>
          </a:xfrm>
        </p:grpSpPr>
        <p:sp>
          <p:nvSpPr>
            <p:cNvPr id="58" name="橢圓 57"/>
            <p:cNvSpPr/>
            <p:nvPr/>
          </p:nvSpPr>
          <p:spPr>
            <a:xfrm>
              <a:off x="4077730" y="2356021"/>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直線接點 58"/>
            <p:cNvCxnSpPr/>
            <p:nvPr/>
          </p:nvCxnSpPr>
          <p:spPr>
            <a:xfrm flipH="1">
              <a:off x="1960605" y="2479589"/>
              <a:ext cx="2113006" cy="1524000"/>
            </a:xfrm>
            <a:prstGeom prst="line">
              <a:avLst/>
            </a:prstGeom>
          </p:spPr>
          <p:style>
            <a:lnRef idx="1">
              <a:schemeClr val="accent1"/>
            </a:lnRef>
            <a:fillRef idx="0">
              <a:schemeClr val="accent1"/>
            </a:fillRef>
            <a:effectRef idx="0">
              <a:schemeClr val="accent1"/>
            </a:effectRef>
            <a:fontRef idx="minor">
              <a:schemeClr val="tx1"/>
            </a:fontRef>
          </p:style>
        </p:cxnSp>
        <p:sp>
          <p:nvSpPr>
            <p:cNvPr id="60" name="橢圓 59"/>
            <p:cNvSpPr/>
            <p:nvPr/>
          </p:nvSpPr>
          <p:spPr>
            <a:xfrm>
              <a:off x="1745613" y="3942939"/>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3</a:t>
              </a:r>
              <a:endParaRPr lang="zh-TW" altLang="en-US" dirty="0"/>
            </a:p>
          </p:txBody>
        </p:sp>
        <p:cxnSp>
          <p:nvCxnSpPr>
            <p:cNvPr id="61" name="直線接點 60"/>
            <p:cNvCxnSpPr/>
            <p:nvPr/>
          </p:nvCxnSpPr>
          <p:spPr>
            <a:xfrm flipH="1">
              <a:off x="2863899" y="2479589"/>
              <a:ext cx="1349755" cy="2750677"/>
            </a:xfrm>
            <a:prstGeom prst="line">
              <a:avLst/>
            </a:prstGeom>
          </p:spPr>
          <p:style>
            <a:lnRef idx="1">
              <a:schemeClr val="accent1"/>
            </a:lnRef>
            <a:fillRef idx="0">
              <a:schemeClr val="accent1"/>
            </a:fillRef>
            <a:effectRef idx="0">
              <a:schemeClr val="accent1"/>
            </a:effectRef>
            <a:fontRef idx="minor">
              <a:schemeClr val="tx1"/>
            </a:fontRef>
          </p:style>
        </p:cxnSp>
        <p:sp>
          <p:nvSpPr>
            <p:cNvPr id="62" name="橢圓 61"/>
            <p:cNvSpPr/>
            <p:nvPr/>
          </p:nvSpPr>
          <p:spPr>
            <a:xfrm>
              <a:off x="2727975" y="5198427"/>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6</a:t>
              </a:r>
              <a:endParaRPr lang="zh-TW" altLang="en-US" dirty="0"/>
            </a:p>
          </p:txBody>
        </p:sp>
        <p:cxnSp>
          <p:nvCxnSpPr>
            <p:cNvPr id="63" name="直線接點 62"/>
            <p:cNvCxnSpPr>
              <a:stCxn id="58" idx="5"/>
            </p:cNvCxnSpPr>
            <p:nvPr/>
          </p:nvCxnSpPr>
          <p:spPr>
            <a:xfrm>
              <a:off x="4309767" y="2573995"/>
              <a:ext cx="610282" cy="1280932"/>
            </a:xfrm>
            <a:prstGeom prst="line">
              <a:avLst/>
            </a:prstGeom>
          </p:spPr>
          <p:style>
            <a:lnRef idx="1">
              <a:schemeClr val="accent1"/>
            </a:lnRef>
            <a:fillRef idx="0">
              <a:schemeClr val="accent1"/>
            </a:fillRef>
            <a:effectRef idx="0">
              <a:schemeClr val="accent1"/>
            </a:effectRef>
            <a:fontRef idx="minor">
              <a:schemeClr val="tx1"/>
            </a:fontRef>
          </p:style>
        </p:cxnSp>
        <p:sp>
          <p:nvSpPr>
            <p:cNvPr id="64" name="橢圓 63"/>
            <p:cNvSpPr/>
            <p:nvPr/>
          </p:nvSpPr>
          <p:spPr>
            <a:xfrm>
              <a:off x="4860729" y="381525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5" name="直線接點 64"/>
            <p:cNvCxnSpPr>
              <a:stCxn id="64" idx="3"/>
            </p:cNvCxnSpPr>
            <p:nvPr/>
          </p:nvCxnSpPr>
          <p:spPr>
            <a:xfrm flipH="1">
              <a:off x="4768557" y="4033226"/>
              <a:ext cx="131983" cy="1873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p:cNvCxnSpPr>
              <a:stCxn id="64" idx="5"/>
            </p:cNvCxnSpPr>
            <p:nvPr/>
          </p:nvCxnSpPr>
          <p:spPr>
            <a:xfrm>
              <a:off x="5092766" y="4033226"/>
              <a:ext cx="1951394" cy="1549101"/>
            </a:xfrm>
            <a:prstGeom prst="line">
              <a:avLst/>
            </a:prstGeom>
          </p:spPr>
          <p:style>
            <a:lnRef idx="1">
              <a:schemeClr val="accent1"/>
            </a:lnRef>
            <a:fillRef idx="0">
              <a:schemeClr val="accent1"/>
            </a:fillRef>
            <a:effectRef idx="0">
              <a:schemeClr val="accent1"/>
            </a:effectRef>
            <a:fontRef idx="minor">
              <a:schemeClr val="tx1"/>
            </a:fontRef>
          </p:style>
        </p:cxnSp>
        <p:sp>
          <p:nvSpPr>
            <p:cNvPr id="67" name="橢圓 66"/>
            <p:cNvSpPr/>
            <p:nvPr/>
          </p:nvSpPr>
          <p:spPr>
            <a:xfrm>
              <a:off x="4614908" y="590670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68" name="橢圓 67"/>
            <p:cNvSpPr/>
            <p:nvPr/>
          </p:nvSpPr>
          <p:spPr>
            <a:xfrm>
              <a:off x="7044160" y="5513440"/>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cxnSp>
          <p:nvCxnSpPr>
            <p:cNvPr id="69" name="直線接點 68"/>
            <p:cNvCxnSpPr>
              <a:stCxn id="58" idx="6"/>
            </p:cNvCxnSpPr>
            <p:nvPr/>
          </p:nvCxnSpPr>
          <p:spPr>
            <a:xfrm>
              <a:off x="4349578" y="2483708"/>
              <a:ext cx="2084173" cy="757881"/>
            </a:xfrm>
            <a:prstGeom prst="line">
              <a:avLst/>
            </a:prstGeom>
          </p:spPr>
          <p:style>
            <a:lnRef idx="1">
              <a:schemeClr val="accent1"/>
            </a:lnRef>
            <a:fillRef idx="0">
              <a:schemeClr val="accent1"/>
            </a:fillRef>
            <a:effectRef idx="0">
              <a:schemeClr val="accent1"/>
            </a:effectRef>
            <a:fontRef idx="minor">
              <a:schemeClr val="tx1"/>
            </a:fontRef>
          </p:style>
        </p:cxnSp>
        <p:sp>
          <p:nvSpPr>
            <p:cNvPr id="70" name="橢圓 69"/>
            <p:cNvSpPr/>
            <p:nvPr/>
          </p:nvSpPr>
          <p:spPr>
            <a:xfrm>
              <a:off x="6405323" y="3172702"/>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1" name="直線接點 70"/>
            <p:cNvCxnSpPr>
              <a:stCxn id="70" idx="4"/>
            </p:cNvCxnSpPr>
            <p:nvPr/>
          </p:nvCxnSpPr>
          <p:spPr>
            <a:xfrm>
              <a:off x="6541247" y="3428075"/>
              <a:ext cx="638837" cy="955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線接點 71"/>
            <p:cNvCxnSpPr>
              <a:stCxn id="70" idx="6"/>
            </p:cNvCxnSpPr>
            <p:nvPr/>
          </p:nvCxnSpPr>
          <p:spPr>
            <a:xfrm flipV="1">
              <a:off x="6677171" y="3300388"/>
              <a:ext cx="1555437" cy="1"/>
            </a:xfrm>
            <a:prstGeom prst="line">
              <a:avLst/>
            </a:prstGeom>
          </p:spPr>
          <p:style>
            <a:lnRef idx="1">
              <a:schemeClr val="accent1"/>
            </a:lnRef>
            <a:fillRef idx="0">
              <a:schemeClr val="accent1"/>
            </a:fillRef>
            <a:effectRef idx="0">
              <a:schemeClr val="accent1"/>
            </a:effectRef>
            <a:fontRef idx="minor">
              <a:schemeClr val="tx1"/>
            </a:fontRef>
          </p:style>
        </p:cxnSp>
        <p:sp>
          <p:nvSpPr>
            <p:cNvPr id="73" name="橢圓 72"/>
            <p:cNvSpPr/>
            <p:nvPr/>
          </p:nvSpPr>
          <p:spPr>
            <a:xfrm>
              <a:off x="7134850" y="4353943"/>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74" name="橢圓 73"/>
            <p:cNvSpPr/>
            <p:nvPr/>
          </p:nvSpPr>
          <p:spPr>
            <a:xfrm>
              <a:off x="8240668" y="3196550"/>
              <a:ext cx="271848" cy="2553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75" name="文字方塊 74"/>
            <p:cNvSpPr txBox="1"/>
            <p:nvPr/>
          </p:nvSpPr>
          <p:spPr>
            <a:xfrm>
              <a:off x="2113153" y="2843300"/>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76" name="文字方塊 75"/>
            <p:cNvSpPr txBox="1"/>
            <p:nvPr/>
          </p:nvSpPr>
          <p:spPr>
            <a:xfrm>
              <a:off x="3032344" y="3650961"/>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77" name="文字方塊 76"/>
            <p:cNvSpPr txBox="1"/>
            <p:nvPr/>
          </p:nvSpPr>
          <p:spPr>
            <a:xfrm>
              <a:off x="4709622" y="2810918"/>
              <a:ext cx="381836" cy="584775"/>
            </a:xfrm>
            <a:prstGeom prst="rect">
              <a:avLst/>
            </a:prstGeom>
            <a:noFill/>
          </p:spPr>
          <p:txBody>
            <a:bodyPr wrap="none" rtlCol="0">
              <a:spAutoFit/>
            </a:bodyPr>
            <a:lstStyle/>
            <a:p>
              <a:r>
                <a:rPr lang="en-US" altLang="zh-TW" sz="3200" dirty="0"/>
                <a:t>a</a:t>
              </a:r>
              <a:endParaRPr lang="zh-TW" altLang="en-US" sz="3200" dirty="0"/>
            </a:p>
          </p:txBody>
        </p:sp>
        <p:sp>
          <p:nvSpPr>
            <p:cNvPr id="78" name="文字方塊 77"/>
            <p:cNvSpPr txBox="1"/>
            <p:nvPr/>
          </p:nvSpPr>
          <p:spPr>
            <a:xfrm>
              <a:off x="4418380" y="4681049"/>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79" name="文字方塊 78"/>
            <p:cNvSpPr txBox="1"/>
            <p:nvPr/>
          </p:nvSpPr>
          <p:spPr>
            <a:xfrm>
              <a:off x="5613760" y="4033226"/>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80" name="文字方塊 79"/>
            <p:cNvSpPr txBox="1"/>
            <p:nvPr/>
          </p:nvSpPr>
          <p:spPr>
            <a:xfrm>
              <a:off x="6890772" y="3522864"/>
              <a:ext cx="393056" cy="584775"/>
            </a:xfrm>
            <a:prstGeom prst="rect">
              <a:avLst/>
            </a:prstGeom>
            <a:noFill/>
          </p:spPr>
          <p:txBody>
            <a:bodyPr wrap="none" rtlCol="0">
              <a:spAutoFit/>
            </a:bodyPr>
            <a:lstStyle/>
            <a:p>
              <a:r>
                <a:rPr lang="en-US" altLang="zh-TW" sz="3200" dirty="0" smtClean="0"/>
                <a:t>$</a:t>
              </a:r>
              <a:endParaRPr lang="zh-TW" altLang="en-US" sz="3200" dirty="0"/>
            </a:p>
          </p:txBody>
        </p:sp>
        <p:sp>
          <p:nvSpPr>
            <p:cNvPr id="81" name="文字方塊 80"/>
            <p:cNvSpPr txBox="1"/>
            <p:nvPr/>
          </p:nvSpPr>
          <p:spPr>
            <a:xfrm>
              <a:off x="7009364" y="2769034"/>
              <a:ext cx="968920" cy="584775"/>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82" name="文字方塊 81"/>
            <p:cNvSpPr txBox="1"/>
            <p:nvPr/>
          </p:nvSpPr>
          <p:spPr>
            <a:xfrm>
              <a:off x="5462529" y="2346648"/>
              <a:ext cx="552331" cy="584775"/>
            </a:xfrm>
            <a:prstGeom prst="rect">
              <a:avLst/>
            </a:prstGeom>
            <a:noFill/>
          </p:spPr>
          <p:txBody>
            <a:bodyPr wrap="none" rtlCol="0">
              <a:spAutoFit/>
            </a:bodyPr>
            <a:lstStyle/>
            <a:p>
              <a:r>
                <a:rPr lang="en-US" altLang="zh-TW" sz="3200" dirty="0" err="1" smtClean="0"/>
                <a:t>xa</a:t>
              </a:r>
              <a:endParaRPr lang="zh-TW" altLang="en-US" sz="3200" dirty="0"/>
            </a:p>
          </p:txBody>
        </p:sp>
      </p:grpSp>
    </p:spTree>
    <p:extLst>
      <p:ext uri="{BB962C8B-B14F-4D97-AF65-F5344CB8AC3E}">
        <p14:creationId xmlns:p14="http://schemas.microsoft.com/office/powerpoint/2010/main" val="17947099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Cambria Math" panose="02040503050406030204" pitchFamily="18" charset="0"/>
                <a:ea typeface="Cambria Math" panose="02040503050406030204" pitchFamily="18" charset="0"/>
              </a:rPr>
              <a:t>Implicit suffix tree and </a:t>
            </a:r>
            <a:r>
              <a:rPr lang="en-US" altLang="zh-TW" dirty="0">
                <a:latin typeface="Cambria Math" panose="02040503050406030204" pitchFamily="18" charset="0"/>
                <a:ea typeface="Cambria Math" panose="02040503050406030204" pitchFamily="18" charset="0"/>
              </a:rPr>
              <a:t>Explicit Suffix Tree</a:t>
            </a:r>
            <a:endParaRPr lang="zh-TW" altLang="en-US" dirty="0">
              <a:latin typeface="Cambria Math" panose="02040503050406030204" pitchFamily="18" charset="0"/>
            </a:endParaRPr>
          </a:p>
        </p:txBody>
      </p:sp>
      <p:sp>
        <p:nvSpPr>
          <p:cNvPr id="3" name="內容版面配置區 2"/>
          <p:cNvSpPr>
            <a:spLocks noGrp="1"/>
          </p:cNvSpPr>
          <p:nvPr>
            <p:ph idx="1"/>
          </p:nvPr>
        </p:nvSpPr>
        <p:spPr/>
        <p:txBody>
          <a:bodyPr/>
          <a:lstStyle/>
          <a:p>
            <a:endParaRPr lang="zh-TW" altLang="en-US" dirty="0"/>
          </a:p>
        </p:txBody>
      </p:sp>
      <p:sp>
        <p:nvSpPr>
          <p:cNvPr id="5" name="橢圓 4"/>
          <p:cNvSpPr/>
          <p:nvPr/>
        </p:nvSpPr>
        <p:spPr>
          <a:xfrm>
            <a:off x="8634476" y="2205271"/>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接點 5"/>
          <p:cNvCxnSpPr/>
          <p:nvPr/>
        </p:nvCxnSpPr>
        <p:spPr>
          <a:xfrm flipH="1">
            <a:off x="7003003" y="2314911"/>
            <a:ext cx="1628298" cy="1352223"/>
          </a:xfrm>
          <a:prstGeom prst="line">
            <a:avLst/>
          </a:prstGeom>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6837329" y="3613320"/>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3</a:t>
            </a:r>
            <a:endParaRPr lang="zh-TW" altLang="en-US" dirty="0"/>
          </a:p>
        </p:txBody>
      </p:sp>
      <p:cxnSp>
        <p:nvCxnSpPr>
          <p:cNvPr id="8" name="直線接點 7"/>
          <p:cNvCxnSpPr/>
          <p:nvPr/>
        </p:nvCxnSpPr>
        <p:spPr>
          <a:xfrm flipH="1">
            <a:off x="7699089" y="2314911"/>
            <a:ext cx="1040131" cy="2440636"/>
          </a:xfrm>
          <a:prstGeom prst="line">
            <a:avLst/>
          </a:prstGeom>
        </p:spPr>
        <p:style>
          <a:lnRef idx="1">
            <a:schemeClr val="accent1"/>
          </a:lnRef>
          <a:fillRef idx="0">
            <a:schemeClr val="accent1"/>
          </a:fillRef>
          <a:effectRef idx="0">
            <a:schemeClr val="accent1"/>
          </a:effectRef>
          <a:fontRef idx="minor">
            <a:schemeClr val="tx1"/>
          </a:fontRef>
        </p:style>
      </p:cxnSp>
      <p:sp>
        <p:nvSpPr>
          <p:cNvPr id="9" name="橢圓 8"/>
          <p:cNvSpPr/>
          <p:nvPr/>
        </p:nvSpPr>
        <p:spPr>
          <a:xfrm>
            <a:off x="7594344" y="4727296"/>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6</a:t>
            </a:r>
            <a:endParaRPr lang="zh-TW" altLang="en-US" dirty="0"/>
          </a:p>
        </p:txBody>
      </p:sp>
      <p:cxnSp>
        <p:nvCxnSpPr>
          <p:cNvPr id="10" name="直線接點 9"/>
          <p:cNvCxnSpPr>
            <a:stCxn id="5" idx="5"/>
          </p:cNvCxnSpPr>
          <p:nvPr/>
        </p:nvCxnSpPr>
        <p:spPr>
          <a:xfrm>
            <a:off x="8813285" y="2398676"/>
            <a:ext cx="470288" cy="1136552"/>
          </a:xfrm>
          <a:prstGeom prst="line">
            <a:avLst/>
          </a:prstGeom>
        </p:spPr>
        <p:style>
          <a:lnRef idx="1">
            <a:schemeClr val="accent1"/>
          </a:lnRef>
          <a:fillRef idx="0">
            <a:schemeClr val="accent1"/>
          </a:fillRef>
          <a:effectRef idx="0">
            <a:schemeClr val="accent1"/>
          </a:effectRef>
          <a:fontRef idx="minor">
            <a:schemeClr val="tx1"/>
          </a:fontRef>
        </p:style>
      </p:cxnSp>
      <p:sp>
        <p:nvSpPr>
          <p:cNvPr id="11" name="橢圓 10"/>
          <p:cNvSpPr/>
          <p:nvPr/>
        </p:nvSpPr>
        <p:spPr>
          <a:xfrm>
            <a:off x="9237861" y="3500025"/>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接點 11"/>
          <p:cNvCxnSpPr>
            <a:stCxn id="11" idx="3"/>
          </p:cNvCxnSpPr>
          <p:nvPr/>
        </p:nvCxnSpPr>
        <p:spPr>
          <a:xfrm flipH="1">
            <a:off x="9166832" y="3693430"/>
            <a:ext cx="101707" cy="1662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11" idx="5"/>
          </p:cNvCxnSpPr>
          <p:nvPr/>
        </p:nvCxnSpPr>
        <p:spPr>
          <a:xfrm>
            <a:off x="9416670" y="3693430"/>
            <a:ext cx="1503759" cy="13744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橢圓 13"/>
          <p:cNvSpPr/>
          <p:nvPr/>
        </p:nvSpPr>
        <p:spPr>
          <a:xfrm>
            <a:off x="9048429" y="5355738"/>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15" name="橢圓 14"/>
          <p:cNvSpPr/>
          <p:nvPr/>
        </p:nvSpPr>
        <p:spPr>
          <a:xfrm>
            <a:off x="10920429" y="5006803"/>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cxnSp>
        <p:nvCxnSpPr>
          <p:cNvPr id="16" name="直線接點 15"/>
          <p:cNvCxnSpPr>
            <a:stCxn id="5" idx="6"/>
          </p:cNvCxnSpPr>
          <p:nvPr/>
        </p:nvCxnSpPr>
        <p:spPr>
          <a:xfrm>
            <a:off x="8843964" y="2318565"/>
            <a:ext cx="1606079" cy="672457"/>
          </a:xfrm>
          <a:prstGeom prst="line">
            <a:avLst/>
          </a:prstGeom>
        </p:spPr>
        <p:style>
          <a:lnRef idx="1">
            <a:schemeClr val="accent1"/>
          </a:lnRef>
          <a:fillRef idx="0">
            <a:schemeClr val="accent1"/>
          </a:fillRef>
          <a:effectRef idx="0">
            <a:schemeClr val="accent1"/>
          </a:effectRef>
          <a:fontRef idx="minor">
            <a:schemeClr val="tx1"/>
          </a:fontRef>
        </p:style>
      </p:cxnSp>
      <p:sp>
        <p:nvSpPr>
          <p:cNvPr id="17" name="橢圓 16"/>
          <p:cNvSpPr/>
          <p:nvPr/>
        </p:nvSpPr>
        <p:spPr>
          <a:xfrm>
            <a:off x="10428136" y="2929900"/>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p:cNvCxnSpPr>
            <a:stCxn id="17" idx="4"/>
          </p:cNvCxnSpPr>
          <p:nvPr/>
        </p:nvCxnSpPr>
        <p:spPr>
          <a:xfrm>
            <a:off x="10532880" y="3156488"/>
            <a:ext cx="492293" cy="8475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17" idx="6"/>
          </p:cNvCxnSpPr>
          <p:nvPr/>
        </p:nvCxnSpPr>
        <p:spPr>
          <a:xfrm flipV="1">
            <a:off x="10637624" y="3043194"/>
            <a:ext cx="1198631" cy="1"/>
          </a:xfrm>
          <a:prstGeom prst="line">
            <a:avLst/>
          </a:prstGeom>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10990315" y="3977998"/>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21" name="橢圓 20"/>
          <p:cNvSpPr/>
          <p:nvPr/>
        </p:nvSpPr>
        <p:spPr>
          <a:xfrm>
            <a:off x="11842467" y="2951060"/>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22" name="文字方塊 21"/>
          <p:cNvSpPr txBox="1"/>
          <p:nvPr/>
        </p:nvSpPr>
        <p:spPr>
          <a:xfrm>
            <a:off x="7120558" y="2637626"/>
            <a:ext cx="746657" cy="518862"/>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23" name="文字方塊 22"/>
          <p:cNvSpPr txBox="1"/>
          <p:nvPr/>
        </p:nvSpPr>
        <p:spPr>
          <a:xfrm>
            <a:off x="7828894" y="3354252"/>
            <a:ext cx="302892" cy="518862"/>
          </a:xfrm>
          <a:prstGeom prst="rect">
            <a:avLst/>
          </a:prstGeom>
          <a:noFill/>
        </p:spPr>
        <p:txBody>
          <a:bodyPr wrap="none" rtlCol="0">
            <a:spAutoFit/>
          </a:bodyPr>
          <a:lstStyle/>
          <a:p>
            <a:r>
              <a:rPr lang="en-US" altLang="zh-TW" sz="3200" dirty="0" smtClean="0"/>
              <a:t>$</a:t>
            </a:r>
            <a:endParaRPr lang="zh-TW" altLang="en-US" sz="3200" dirty="0"/>
          </a:p>
        </p:txBody>
      </p:sp>
      <p:sp>
        <p:nvSpPr>
          <p:cNvPr id="24" name="文字方塊 23"/>
          <p:cNvSpPr txBox="1"/>
          <p:nvPr/>
        </p:nvSpPr>
        <p:spPr>
          <a:xfrm>
            <a:off x="9121416" y="2608894"/>
            <a:ext cx="294246" cy="518862"/>
          </a:xfrm>
          <a:prstGeom prst="rect">
            <a:avLst/>
          </a:prstGeom>
          <a:noFill/>
        </p:spPr>
        <p:txBody>
          <a:bodyPr wrap="none" rtlCol="0">
            <a:spAutoFit/>
          </a:bodyPr>
          <a:lstStyle/>
          <a:p>
            <a:r>
              <a:rPr lang="en-US" altLang="zh-TW" sz="3200" dirty="0"/>
              <a:t>a</a:t>
            </a:r>
            <a:endParaRPr lang="zh-TW" altLang="en-US" sz="3200" dirty="0"/>
          </a:p>
        </p:txBody>
      </p:sp>
      <p:sp>
        <p:nvSpPr>
          <p:cNvPr id="25" name="文字方塊 24"/>
          <p:cNvSpPr txBox="1"/>
          <p:nvPr/>
        </p:nvSpPr>
        <p:spPr>
          <a:xfrm>
            <a:off x="8896983" y="4268234"/>
            <a:ext cx="302892" cy="518862"/>
          </a:xfrm>
          <a:prstGeom prst="rect">
            <a:avLst/>
          </a:prstGeom>
          <a:noFill/>
        </p:spPr>
        <p:txBody>
          <a:bodyPr wrap="none" rtlCol="0">
            <a:spAutoFit/>
          </a:bodyPr>
          <a:lstStyle/>
          <a:p>
            <a:r>
              <a:rPr lang="en-US" altLang="zh-TW" sz="3200" dirty="0" smtClean="0"/>
              <a:t>$</a:t>
            </a:r>
            <a:endParaRPr lang="zh-TW" altLang="en-US" sz="3200" dirty="0"/>
          </a:p>
        </p:txBody>
      </p:sp>
      <p:sp>
        <p:nvSpPr>
          <p:cNvPr id="26" name="文字方塊 25"/>
          <p:cNvSpPr txBox="1"/>
          <p:nvPr/>
        </p:nvSpPr>
        <p:spPr>
          <a:xfrm>
            <a:off x="9818152" y="3693430"/>
            <a:ext cx="746657" cy="518862"/>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27" name="文字方塊 26"/>
          <p:cNvSpPr txBox="1"/>
          <p:nvPr/>
        </p:nvSpPr>
        <p:spPr>
          <a:xfrm>
            <a:off x="10802227" y="3240593"/>
            <a:ext cx="302892" cy="518862"/>
          </a:xfrm>
          <a:prstGeom prst="rect">
            <a:avLst/>
          </a:prstGeom>
          <a:noFill/>
        </p:spPr>
        <p:txBody>
          <a:bodyPr wrap="none" rtlCol="0">
            <a:spAutoFit/>
          </a:bodyPr>
          <a:lstStyle/>
          <a:p>
            <a:r>
              <a:rPr lang="en-US" altLang="zh-TW" sz="3200" dirty="0" smtClean="0"/>
              <a:t>$</a:t>
            </a:r>
            <a:endParaRPr lang="zh-TW" altLang="en-US" sz="3200" dirty="0"/>
          </a:p>
        </p:txBody>
      </p:sp>
      <p:sp>
        <p:nvSpPr>
          <p:cNvPr id="28" name="文字方塊 27"/>
          <p:cNvSpPr txBox="1"/>
          <p:nvPr/>
        </p:nvSpPr>
        <p:spPr>
          <a:xfrm>
            <a:off x="10893615" y="2571731"/>
            <a:ext cx="746657" cy="518862"/>
          </a:xfrm>
          <a:prstGeom prst="rect">
            <a:avLst/>
          </a:prstGeom>
          <a:noFill/>
        </p:spPr>
        <p:txBody>
          <a:bodyPr wrap="none" rtlCol="0">
            <a:spAutoFit/>
          </a:bodyPr>
          <a:lstStyle/>
          <a:p>
            <a:r>
              <a:rPr lang="en-US" altLang="zh-TW" sz="3200" dirty="0" err="1" smtClean="0"/>
              <a:t>bxa</a:t>
            </a:r>
            <a:r>
              <a:rPr lang="en-US" altLang="zh-TW" sz="3200" dirty="0" smtClean="0"/>
              <a:t>$</a:t>
            </a:r>
            <a:endParaRPr lang="zh-TW" altLang="en-US" sz="3200" dirty="0"/>
          </a:p>
        </p:txBody>
      </p:sp>
      <p:sp>
        <p:nvSpPr>
          <p:cNvPr id="29" name="文字方塊 28"/>
          <p:cNvSpPr txBox="1"/>
          <p:nvPr/>
        </p:nvSpPr>
        <p:spPr>
          <a:xfrm>
            <a:off x="9701612" y="2196954"/>
            <a:ext cx="425630" cy="518862"/>
          </a:xfrm>
          <a:prstGeom prst="rect">
            <a:avLst/>
          </a:prstGeom>
          <a:noFill/>
        </p:spPr>
        <p:txBody>
          <a:bodyPr wrap="none" rtlCol="0">
            <a:spAutoFit/>
          </a:bodyPr>
          <a:lstStyle/>
          <a:p>
            <a:r>
              <a:rPr lang="en-US" altLang="zh-TW" sz="3200" dirty="0" err="1" smtClean="0"/>
              <a:t>xa</a:t>
            </a:r>
            <a:endParaRPr lang="zh-TW" altLang="en-US" sz="3200" dirty="0"/>
          </a:p>
        </p:txBody>
      </p:sp>
      <p:sp>
        <p:nvSpPr>
          <p:cNvPr id="31" name="橢圓 30"/>
          <p:cNvSpPr/>
          <p:nvPr/>
        </p:nvSpPr>
        <p:spPr>
          <a:xfrm>
            <a:off x="2676313" y="2258009"/>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3" name="直線接點 32"/>
          <p:cNvCxnSpPr>
            <a:stCxn id="31" idx="3"/>
          </p:cNvCxnSpPr>
          <p:nvPr/>
        </p:nvCxnSpPr>
        <p:spPr>
          <a:xfrm flipH="1">
            <a:off x="1655805" y="2451415"/>
            <a:ext cx="1051187" cy="2389175"/>
          </a:xfrm>
          <a:prstGeom prst="line">
            <a:avLst/>
          </a:prstGeom>
        </p:spPr>
        <p:style>
          <a:lnRef idx="1">
            <a:schemeClr val="accent1"/>
          </a:lnRef>
          <a:fillRef idx="0">
            <a:schemeClr val="accent1"/>
          </a:fillRef>
          <a:effectRef idx="0">
            <a:schemeClr val="accent1"/>
          </a:effectRef>
          <a:fontRef idx="minor">
            <a:schemeClr val="tx1"/>
          </a:fontRef>
        </p:style>
      </p:cxnSp>
      <p:sp>
        <p:nvSpPr>
          <p:cNvPr id="35" name="橢圓 34"/>
          <p:cNvSpPr/>
          <p:nvPr/>
        </p:nvSpPr>
        <p:spPr>
          <a:xfrm>
            <a:off x="1507674" y="4833856"/>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38" name="橢圓 37"/>
          <p:cNvSpPr/>
          <p:nvPr/>
        </p:nvSpPr>
        <p:spPr>
          <a:xfrm>
            <a:off x="3264308" y="4840590"/>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42" name="橢圓 41"/>
          <p:cNvSpPr/>
          <p:nvPr/>
        </p:nvSpPr>
        <p:spPr>
          <a:xfrm>
            <a:off x="4852955" y="3977997"/>
            <a:ext cx="209488" cy="226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48" name="文字方塊 47"/>
          <p:cNvSpPr txBox="1"/>
          <p:nvPr/>
        </p:nvSpPr>
        <p:spPr>
          <a:xfrm>
            <a:off x="1110483" y="3240593"/>
            <a:ext cx="760529" cy="584775"/>
          </a:xfrm>
          <a:prstGeom prst="rect">
            <a:avLst/>
          </a:prstGeom>
          <a:noFill/>
        </p:spPr>
        <p:txBody>
          <a:bodyPr wrap="none" rtlCol="0">
            <a:spAutoFit/>
          </a:bodyPr>
          <a:lstStyle/>
          <a:p>
            <a:r>
              <a:rPr lang="en-US" altLang="zh-TW" sz="3200" dirty="0" err="1" smtClean="0"/>
              <a:t>bxa</a:t>
            </a:r>
            <a:endParaRPr lang="zh-TW" altLang="en-US" sz="3200" dirty="0"/>
          </a:p>
        </p:txBody>
      </p:sp>
      <p:cxnSp>
        <p:nvCxnSpPr>
          <p:cNvPr id="50" name="直線接點 49"/>
          <p:cNvCxnSpPr>
            <a:stCxn id="31" idx="6"/>
          </p:cNvCxnSpPr>
          <p:nvPr/>
        </p:nvCxnSpPr>
        <p:spPr>
          <a:xfrm>
            <a:off x="2885801" y="2371304"/>
            <a:ext cx="1990999" cy="1632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線接點 51"/>
          <p:cNvCxnSpPr>
            <a:stCxn id="31" idx="4"/>
          </p:cNvCxnSpPr>
          <p:nvPr/>
        </p:nvCxnSpPr>
        <p:spPr>
          <a:xfrm>
            <a:off x="2781057" y="2484598"/>
            <a:ext cx="530554" cy="2355992"/>
          </a:xfrm>
          <a:prstGeom prst="line">
            <a:avLst/>
          </a:prstGeom>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3816014" y="2573680"/>
            <a:ext cx="1128194" cy="584775"/>
          </a:xfrm>
          <a:prstGeom prst="rect">
            <a:avLst/>
          </a:prstGeom>
          <a:noFill/>
        </p:spPr>
        <p:txBody>
          <a:bodyPr wrap="none" rtlCol="0">
            <a:spAutoFit/>
          </a:bodyPr>
          <a:lstStyle/>
          <a:p>
            <a:r>
              <a:rPr lang="en-US" altLang="zh-TW" sz="3200" dirty="0" err="1" smtClean="0"/>
              <a:t>xabxa</a:t>
            </a:r>
            <a:endParaRPr lang="zh-TW" altLang="en-US" sz="3200" dirty="0"/>
          </a:p>
        </p:txBody>
      </p:sp>
      <p:sp>
        <p:nvSpPr>
          <p:cNvPr id="54" name="文字方塊 53"/>
          <p:cNvSpPr txBox="1"/>
          <p:nvPr/>
        </p:nvSpPr>
        <p:spPr>
          <a:xfrm>
            <a:off x="3119440" y="3434226"/>
            <a:ext cx="957698" cy="584775"/>
          </a:xfrm>
          <a:prstGeom prst="rect">
            <a:avLst/>
          </a:prstGeom>
          <a:noFill/>
        </p:spPr>
        <p:txBody>
          <a:bodyPr wrap="none" rtlCol="0">
            <a:spAutoFit/>
          </a:bodyPr>
          <a:lstStyle/>
          <a:p>
            <a:r>
              <a:rPr lang="en-US" altLang="zh-TW" sz="3200" dirty="0" err="1" smtClean="0"/>
              <a:t>abxa</a:t>
            </a:r>
            <a:endParaRPr lang="zh-TW" altLang="en-US" sz="3200" dirty="0"/>
          </a:p>
        </p:txBody>
      </p:sp>
      <p:sp>
        <p:nvSpPr>
          <p:cNvPr id="56" name="文字方塊 55"/>
          <p:cNvSpPr txBox="1"/>
          <p:nvPr/>
        </p:nvSpPr>
        <p:spPr>
          <a:xfrm>
            <a:off x="2112192" y="5738840"/>
            <a:ext cx="1547218" cy="584775"/>
          </a:xfrm>
          <a:prstGeom prst="rect">
            <a:avLst/>
          </a:prstGeom>
          <a:noFill/>
        </p:spPr>
        <p:txBody>
          <a:bodyPr wrap="none" rtlCol="0">
            <a:spAutoFit/>
          </a:bodyPr>
          <a:lstStyle/>
          <a:p>
            <a:r>
              <a:rPr lang="en-US" altLang="zh-TW" sz="3200" dirty="0" smtClean="0">
                <a:latin typeface="Cambria Math" panose="02040503050406030204" pitchFamily="18" charset="0"/>
                <a:ea typeface="Cambria Math" panose="02040503050406030204" pitchFamily="18" charset="0"/>
              </a:rPr>
              <a:t>Implicit</a:t>
            </a:r>
            <a:endParaRPr lang="zh-TW" altLang="en-US" sz="3200" dirty="0"/>
          </a:p>
        </p:txBody>
      </p:sp>
      <p:sp>
        <p:nvSpPr>
          <p:cNvPr id="57" name="文字方塊 56"/>
          <p:cNvSpPr txBox="1"/>
          <p:nvPr/>
        </p:nvSpPr>
        <p:spPr>
          <a:xfrm>
            <a:off x="8589033" y="5738840"/>
            <a:ext cx="1507144" cy="584775"/>
          </a:xfrm>
          <a:prstGeom prst="rect">
            <a:avLst/>
          </a:prstGeom>
          <a:noFill/>
        </p:spPr>
        <p:txBody>
          <a:bodyPr wrap="none" rtlCol="0">
            <a:spAutoFit/>
          </a:bodyPr>
          <a:lstStyle/>
          <a:p>
            <a:r>
              <a:rPr lang="en-US" altLang="zh-TW" sz="3200" dirty="0" smtClean="0">
                <a:latin typeface="Cambria Math" panose="02040503050406030204" pitchFamily="18" charset="0"/>
                <a:ea typeface="Cambria Math" panose="02040503050406030204" pitchFamily="18" charset="0"/>
              </a:rPr>
              <a:t>Explicit</a:t>
            </a:r>
            <a:endParaRPr lang="zh-TW" altLang="en-US" sz="3200" dirty="0"/>
          </a:p>
        </p:txBody>
      </p:sp>
    </p:spTree>
    <p:extLst>
      <p:ext uri="{BB962C8B-B14F-4D97-AF65-F5344CB8AC3E}">
        <p14:creationId xmlns:p14="http://schemas.microsoft.com/office/powerpoint/2010/main" val="2441549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t>
            </a:r>
            <a:r>
              <a:rPr lang="en-US" altLang="zh-TW" dirty="0" smtClean="0">
                <a:latin typeface="Cambria Math" panose="02040503050406030204" pitchFamily="18" charset="0"/>
                <a:ea typeface="Cambria Math" panose="02040503050406030204" pitchFamily="18" charset="0"/>
              </a:rPr>
              <a:t>algorithm</a:t>
            </a:r>
            <a:endParaRPr lang="zh-TW" altLang="en-US" dirty="0">
              <a:latin typeface="Cambria Math" panose="02040503050406030204" pitchFamily="18" charset="0"/>
            </a:endParaRPr>
          </a:p>
        </p:txBody>
      </p:sp>
      <p:sp>
        <p:nvSpPr>
          <p:cNvPr id="3" name="內容版面配置區 2"/>
          <p:cNvSpPr>
            <a:spLocks noGrp="1"/>
          </p:cNvSpPr>
          <p:nvPr>
            <p:ph idx="1"/>
          </p:nvPr>
        </p:nvSpPr>
        <p:spPr>
          <a:xfrm>
            <a:off x="609560" y="1604844"/>
            <a:ext cx="6886872" cy="5092518"/>
          </a:xfrm>
        </p:spPr>
        <p:txBody>
          <a:bodyPr/>
          <a:lstStyle/>
          <a:p>
            <a:pPr marL="457200" indent="-457200">
              <a:buFont typeface="Arial" panose="020B0604020202020204" pitchFamily="34" charset="0"/>
              <a:buChar char="•"/>
            </a:pPr>
            <a:r>
              <a:rPr lang="en-US" altLang="zh-TW" dirty="0">
                <a:solidFill>
                  <a:schemeClr val="tx1"/>
                </a:solidFill>
                <a:latin typeface="Cambria Math" panose="02040503050406030204" pitchFamily="18" charset="0"/>
                <a:ea typeface="Cambria Math" panose="02040503050406030204" pitchFamily="18" charset="0"/>
              </a:rPr>
              <a:t>In computer science, </a:t>
            </a:r>
            <a:r>
              <a:rPr lang="en-US" altLang="zh-TW" dirty="0" err="1">
                <a:solidFill>
                  <a:schemeClr val="tx1"/>
                </a:solidFill>
                <a:latin typeface="Cambria Math" panose="02040503050406030204" pitchFamily="18" charset="0"/>
                <a:ea typeface="Cambria Math" panose="02040503050406030204" pitchFamily="18" charset="0"/>
              </a:rPr>
              <a:t>Ukkonen's</a:t>
            </a:r>
            <a:r>
              <a:rPr lang="en-US" altLang="zh-TW" dirty="0">
                <a:solidFill>
                  <a:schemeClr val="tx1"/>
                </a:solidFill>
                <a:latin typeface="Cambria Math" panose="02040503050406030204" pitchFamily="18" charset="0"/>
                <a:ea typeface="Cambria Math" panose="02040503050406030204" pitchFamily="18" charset="0"/>
              </a:rPr>
              <a:t> algorithm is a linear-time, online algorithm for constructing suffix trees, proposed by </a:t>
            </a:r>
            <a:r>
              <a:rPr lang="en-US" altLang="zh-TW" dirty="0" err="1">
                <a:solidFill>
                  <a:schemeClr val="tx1"/>
                </a:solidFill>
                <a:latin typeface="Cambria Math" panose="02040503050406030204" pitchFamily="18" charset="0"/>
                <a:ea typeface="Cambria Math" panose="02040503050406030204" pitchFamily="18" charset="0"/>
              </a:rPr>
              <a:t>Esko</a:t>
            </a:r>
            <a:r>
              <a:rPr lang="en-US" altLang="zh-TW" dirty="0">
                <a:solidFill>
                  <a:schemeClr val="tx1"/>
                </a:solidFill>
                <a:latin typeface="Cambria Math" panose="02040503050406030204" pitchFamily="18" charset="0"/>
                <a:ea typeface="Cambria Math" panose="02040503050406030204" pitchFamily="18" charset="0"/>
              </a:rPr>
              <a:t> </a:t>
            </a:r>
            <a:r>
              <a:rPr lang="en-US" altLang="zh-TW" dirty="0" err="1">
                <a:solidFill>
                  <a:schemeClr val="tx1"/>
                </a:solidFill>
                <a:latin typeface="Cambria Math" panose="02040503050406030204" pitchFamily="18" charset="0"/>
                <a:ea typeface="Cambria Math" panose="02040503050406030204" pitchFamily="18" charset="0"/>
              </a:rPr>
              <a:t>Ukkonen</a:t>
            </a:r>
            <a:r>
              <a:rPr lang="en-US" altLang="zh-TW" dirty="0">
                <a:solidFill>
                  <a:schemeClr val="tx1"/>
                </a:solidFill>
                <a:latin typeface="Cambria Math" panose="02040503050406030204" pitchFamily="18" charset="0"/>
                <a:ea typeface="Cambria Math" panose="02040503050406030204" pitchFamily="18" charset="0"/>
              </a:rPr>
              <a:t> in 1995</a:t>
            </a:r>
            <a:r>
              <a:rPr lang="en-US" altLang="zh-TW" dirty="0" smtClean="0">
                <a:solidFill>
                  <a:schemeClr val="tx1"/>
                </a:solidFill>
                <a:latin typeface="Cambria Math" panose="02040503050406030204" pitchFamily="18" charset="0"/>
                <a:ea typeface="Cambria Math" panose="02040503050406030204" pitchFamily="18" charset="0"/>
              </a:rPr>
              <a:t>.</a:t>
            </a:r>
          </a:p>
          <a:p>
            <a:pPr marL="457200" indent="-457200">
              <a:buFont typeface="Arial" panose="020B0604020202020204" pitchFamily="34" charset="0"/>
              <a:buChar char="•"/>
            </a:pPr>
            <a:endParaRPr lang="en-US" altLang="zh-TW" dirty="0" smtClean="0">
              <a:solidFill>
                <a:schemeClr val="tx1"/>
              </a:solidFill>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The algorithm begins with an implicit suffix tree containing the first character of the string.</a:t>
            </a:r>
            <a:endParaRPr lang="zh-TW" altLang="en-US" dirty="0">
              <a:solidFill>
                <a:schemeClr val="tx1"/>
              </a:solidFill>
              <a:latin typeface="Cambria Math" panose="02040503050406030204" pitchFamily="18" charset="0"/>
            </a:endParaRPr>
          </a:p>
        </p:txBody>
      </p:sp>
      <p:pic>
        <p:nvPicPr>
          <p:cNvPr id="4" name="圖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4409" y="2305060"/>
            <a:ext cx="4165744" cy="28847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960566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Cambria Math" panose="02040503050406030204" pitchFamily="18" charset="0"/>
                <a:ea typeface="Cambria Math" panose="02040503050406030204" pitchFamily="18" charset="0"/>
              </a:rPr>
              <a:t>Ukkonen's</a:t>
            </a:r>
            <a:r>
              <a:rPr lang="en-US" altLang="zh-TW" dirty="0" smtClean="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zh-TW" altLang="en-US" sz="2000" dirty="0" smtClean="0">
                <a:latin typeface="Cambria Math" panose="02040503050406030204" pitchFamily="18" charset="0"/>
              </a:rPr>
              <a:t>首先，我們從一個簡單的字串開始建立</a:t>
            </a:r>
            <a:r>
              <a:rPr lang="en-US" altLang="zh-TW" sz="2000" dirty="0" smtClean="0">
                <a:latin typeface="Cambria Math" panose="02040503050406030204" pitchFamily="18" charset="0"/>
                <a:ea typeface="Cambria Math" panose="02040503050406030204" pitchFamily="18" charset="0"/>
              </a:rPr>
              <a:t>suffix</a:t>
            </a:r>
            <a:r>
              <a:rPr lang="zh-TW" altLang="en-US" sz="2000" dirty="0" smtClean="0">
                <a:latin typeface="Cambria Math" panose="02040503050406030204" pitchFamily="18" charset="0"/>
              </a:rPr>
              <a:t> </a:t>
            </a:r>
            <a:r>
              <a:rPr lang="en-US" altLang="zh-TW" sz="2000" dirty="0" smtClean="0">
                <a:latin typeface="Cambria Math" panose="02040503050406030204" pitchFamily="18" charset="0"/>
                <a:ea typeface="Cambria Math" panose="02040503050406030204" pitchFamily="18" charset="0"/>
              </a:rPr>
              <a:t>tree</a:t>
            </a:r>
            <a:r>
              <a:rPr lang="zh-TW" altLang="en-US" sz="2000" dirty="0" smtClean="0">
                <a:latin typeface="Cambria Math" panose="02040503050406030204" pitchFamily="18" charset="0"/>
              </a:rPr>
              <a:t>，步驟是由左到右，逐一走訪每個字母。並且我們使用一對指標來代表該字串在本文中的位置。</a:t>
            </a:r>
            <a:r>
              <a:rPr lang="en-US" altLang="zh-TW" sz="2000" dirty="0" smtClean="0">
                <a:latin typeface="Cambria Math" panose="02040503050406030204" pitchFamily="18" charset="0"/>
              </a:rPr>
              <a:t>(#</a:t>
            </a:r>
            <a:r>
              <a:rPr lang="zh-TW" altLang="en-US" sz="2000" dirty="0" smtClean="0">
                <a:latin typeface="Cambria Math" panose="02040503050406030204" pitchFamily="18" charset="0"/>
              </a:rPr>
              <a:t>指向當前的下一個字</a:t>
            </a:r>
            <a:r>
              <a:rPr lang="zh-TW" altLang="en-US" sz="2000" dirty="0">
                <a:latin typeface="Cambria Math" panose="02040503050406030204" pitchFamily="18" charset="0"/>
              </a:rPr>
              <a:t>母</a:t>
            </a:r>
            <a:r>
              <a:rPr lang="en-US" altLang="zh-TW" sz="2000" dirty="0" smtClean="0">
                <a:latin typeface="Cambria Math" panose="02040503050406030204" pitchFamily="18" charset="0"/>
              </a:rPr>
              <a:t>)</a:t>
            </a:r>
            <a:endParaRPr lang="en-US" altLang="zh-TW" sz="2000" dirty="0" smtClean="0">
              <a:latin typeface="Cambria Math" panose="02040503050406030204" pitchFamily="18" charset="0"/>
              <a:ea typeface="Cambria Math" panose="02040503050406030204" pitchFamily="18" charset="0"/>
            </a:endParaRPr>
          </a:p>
          <a:p>
            <a:r>
              <a:rPr lang="en-US" altLang="zh-TW" dirty="0" smtClean="0"/>
              <a:t>S = </a:t>
            </a:r>
            <a:r>
              <a:rPr lang="en-US" altLang="zh-TW" dirty="0" err="1" smtClean="0">
                <a:solidFill>
                  <a:srgbClr val="FF0000"/>
                </a:solidFill>
              </a:rPr>
              <a:t>x</a:t>
            </a:r>
            <a:r>
              <a:rPr lang="en-US" altLang="zh-TW" dirty="0" err="1" smtClean="0"/>
              <a:t>ab</a:t>
            </a:r>
            <a:r>
              <a:rPr lang="en-US" altLang="zh-TW" dirty="0" smtClean="0"/>
              <a:t> </a:t>
            </a:r>
            <a:endParaRPr lang="zh-TW" altLang="en-US" dirty="0"/>
          </a:p>
        </p:txBody>
      </p:sp>
      <p:sp>
        <p:nvSpPr>
          <p:cNvPr id="4" name="橢圓 3"/>
          <p:cNvSpPr/>
          <p:nvPr/>
        </p:nvSpPr>
        <p:spPr>
          <a:xfrm>
            <a:off x="757881" y="4044778"/>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2265405" y="4044778"/>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5690063" y="4260849"/>
            <a:ext cx="381836" cy="584775"/>
          </a:xfrm>
          <a:prstGeom prst="rect">
            <a:avLst/>
          </a:prstGeom>
          <a:noFill/>
        </p:spPr>
        <p:txBody>
          <a:bodyPr wrap="none" rtlCol="0">
            <a:spAutoFit/>
          </a:bodyPr>
          <a:lstStyle/>
          <a:p>
            <a:r>
              <a:rPr lang="en-US" altLang="zh-TW" sz="3200" dirty="0"/>
              <a:t>a</a:t>
            </a:r>
            <a:endParaRPr lang="zh-TW" altLang="en-US" sz="3200" dirty="0"/>
          </a:p>
        </p:txBody>
      </p:sp>
      <p:sp>
        <p:nvSpPr>
          <p:cNvPr id="10" name="向右箭號 9"/>
          <p:cNvSpPr/>
          <p:nvPr/>
        </p:nvSpPr>
        <p:spPr>
          <a:xfrm>
            <a:off x="3116079" y="4845624"/>
            <a:ext cx="576649" cy="4118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4699657" y="4044778"/>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弧形接點 13"/>
          <p:cNvCxnSpPr>
            <a:stCxn id="11" idx="7"/>
          </p:cNvCxnSpPr>
          <p:nvPr/>
        </p:nvCxnSpPr>
        <p:spPr>
          <a:xfrm rot="5400000" flipH="1" flipV="1">
            <a:off x="5612677" y="3149184"/>
            <a:ext cx="219059" cy="163727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a:off x="996777" y="4155988"/>
            <a:ext cx="12686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弧形接點 21"/>
          <p:cNvCxnSpPr>
            <a:stCxn id="11" idx="5"/>
          </p:cNvCxnSpPr>
          <p:nvPr/>
        </p:nvCxnSpPr>
        <p:spPr>
          <a:xfrm rot="16200000" flipH="1">
            <a:off x="5664729" y="3473464"/>
            <a:ext cx="114952" cy="16372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5605780" y="3352911"/>
            <a:ext cx="552331" cy="584775"/>
          </a:xfrm>
          <a:prstGeom prst="rect">
            <a:avLst/>
          </a:prstGeom>
          <a:noFill/>
        </p:spPr>
        <p:txBody>
          <a:bodyPr wrap="none" rtlCol="0">
            <a:spAutoFit/>
          </a:bodyPr>
          <a:lstStyle/>
          <a:p>
            <a:r>
              <a:rPr lang="en-US" altLang="zh-TW" sz="3200" dirty="0" err="1" smtClean="0"/>
              <a:t>xa</a:t>
            </a:r>
            <a:endParaRPr lang="zh-TW" altLang="en-US" sz="3200" dirty="0"/>
          </a:p>
        </p:txBody>
      </p:sp>
      <p:sp>
        <p:nvSpPr>
          <p:cNvPr id="26" name="文字方塊 25"/>
          <p:cNvSpPr txBox="1"/>
          <p:nvPr/>
        </p:nvSpPr>
        <p:spPr>
          <a:xfrm>
            <a:off x="1483371" y="3645297"/>
            <a:ext cx="362600" cy="584775"/>
          </a:xfrm>
          <a:prstGeom prst="rect">
            <a:avLst/>
          </a:prstGeom>
          <a:noFill/>
        </p:spPr>
        <p:txBody>
          <a:bodyPr wrap="none" rtlCol="0">
            <a:spAutoFit/>
          </a:bodyPr>
          <a:lstStyle/>
          <a:p>
            <a:r>
              <a:rPr lang="en-US" altLang="zh-TW" sz="3200" dirty="0" smtClean="0"/>
              <a:t>x</a:t>
            </a:r>
            <a:endParaRPr lang="zh-TW" altLang="en-US" sz="3200" dirty="0"/>
          </a:p>
        </p:txBody>
      </p:sp>
      <p:sp>
        <p:nvSpPr>
          <p:cNvPr id="27" name="向右箭號 26"/>
          <p:cNvSpPr/>
          <p:nvPr/>
        </p:nvSpPr>
        <p:spPr>
          <a:xfrm>
            <a:off x="7387166" y="4845624"/>
            <a:ext cx="576649" cy="4118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8240299" y="4047413"/>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 name="弧形接點 29"/>
          <p:cNvCxnSpPr>
            <a:stCxn id="28" idx="0"/>
          </p:cNvCxnSpPr>
          <p:nvPr/>
        </p:nvCxnSpPr>
        <p:spPr>
          <a:xfrm rot="5400000" flipH="1" flipV="1">
            <a:off x="9028611" y="2976436"/>
            <a:ext cx="402115"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弧形接點 35"/>
          <p:cNvCxnSpPr>
            <a:stCxn id="28" idx="4"/>
          </p:cNvCxnSpPr>
          <p:nvPr/>
        </p:nvCxnSpPr>
        <p:spPr>
          <a:xfrm rot="16200000" flipH="1">
            <a:off x="9075237" y="3554344"/>
            <a:ext cx="308862"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弧形接點 43"/>
          <p:cNvCxnSpPr>
            <a:stCxn id="28" idx="6"/>
          </p:cNvCxnSpPr>
          <p:nvPr/>
        </p:nvCxnSpPr>
        <p:spPr>
          <a:xfrm flipV="1">
            <a:off x="8479196" y="4143632"/>
            <a:ext cx="1686296" cy="1499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9095250" y="3166425"/>
            <a:ext cx="768737" cy="584775"/>
          </a:xfrm>
          <a:prstGeom prst="rect">
            <a:avLst/>
          </a:prstGeom>
          <a:noFill/>
        </p:spPr>
        <p:txBody>
          <a:bodyPr wrap="none" rtlCol="0">
            <a:spAutoFit/>
          </a:bodyPr>
          <a:lstStyle/>
          <a:p>
            <a:r>
              <a:rPr lang="en-US" altLang="zh-TW" sz="3200" dirty="0" err="1" smtClean="0"/>
              <a:t>xab</a:t>
            </a:r>
            <a:endParaRPr lang="zh-TW" altLang="en-US" sz="3200" dirty="0"/>
          </a:p>
        </p:txBody>
      </p:sp>
      <p:sp>
        <p:nvSpPr>
          <p:cNvPr id="47" name="文字方塊 46"/>
          <p:cNvSpPr txBox="1"/>
          <p:nvPr/>
        </p:nvSpPr>
        <p:spPr>
          <a:xfrm>
            <a:off x="9279083" y="4106943"/>
            <a:ext cx="401072" cy="584775"/>
          </a:xfrm>
          <a:prstGeom prst="rect">
            <a:avLst/>
          </a:prstGeom>
          <a:noFill/>
        </p:spPr>
        <p:txBody>
          <a:bodyPr wrap="none" rtlCol="0">
            <a:spAutoFit/>
          </a:bodyPr>
          <a:lstStyle/>
          <a:p>
            <a:r>
              <a:rPr lang="en-US" altLang="zh-TW" sz="3200" dirty="0" smtClean="0"/>
              <a:t>b</a:t>
            </a:r>
            <a:endParaRPr lang="zh-TW" altLang="en-US" sz="3200" dirty="0"/>
          </a:p>
        </p:txBody>
      </p:sp>
      <p:sp>
        <p:nvSpPr>
          <p:cNvPr id="48" name="文字方塊 47"/>
          <p:cNvSpPr txBox="1"/>
          <p:nvPr/>
        </p:nvSpPr>
        <p:spPr>
          <a:xfrm>
            <a:off x="9180499" y="3645298"/>
            <a:ext cx="598241" cy="584775"/>
          </a:xfrm>
          <a:prstGeom prst="rect">
            <a:avLst/>
          </a:prstGeom>
          <a:noFill/>
        </p:spPr>
        <p:txBody>
          <a:bodyPr wrap="none" rtlCol="0">
            <a:spAutoFit/>
          </a:bodyPr>
          <a:lstStyle/>
          <a:p>
            <a:r>
              <a:rPr lang="en-US" altLang="zh-TW" sz="3200" dirty="0" smtClean="0"/>
              <a:t>ab</a:t>
            </a:r>
            <a:endParaRPr lang="zh-TW" altLang="en-US" sz="3200" dirty="0"/>
          </a:p>
        </p:txBody>
      </p:sp>
      <p:sp>
        <p:nvSpPr>
          <p:cNvPr id="49" name="橢圓 48"/>
          <p:cNvSpPr/>
          <p:nvPr/>
        </p:nvSpPr>
        <p:spPr>
          <a:xfrm>
            <a:off x="757903" y="5880656"/>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橢圓 49"/>
          <p:cNvSpPr/>
          <p:nvPr/>
        </p:nvSpPr>
        <p:spPr>
          <a:xfrm>
            <a:off x="2265427" y="5880656"/>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1" name="直線單箭頭接點 50"/>
          <p:cNvCxnSpPr/>
          <p:nvPr/>
        </p:nvCxnSpPr>
        <p:spPr>
          <a:xfrm>
            <a:off x="996799" y="5991866"/>
            <a:ext cx="12686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字方塊 51"/>
          <p:cNvSpPr txBox="1"/>
          <p:nvPr/>
        </p:nvSpPr>
        <p:spPr>
          <a:xfrm>
            <a:off x="1107572" y="5460526"/>
            <a:ext cx="1047082" cy="584775"/>
          </a:xfrm>
          <a:prstGeom prst="rect">
            <a:avLst/>
          </a:prstGeom>
          <a:noFill/>
        </p:spPr>
        <p:txBody>
          <a:bodyPr wrap="none" rtlCol="0">
            <a:spAutoFit/>
          </a:bodyPr>
          <a:lstStyle/>
          <a:p>
            <a:r>
              <a:rPr lang="en-US" altLang="zh-TW" sz="3200" dirty="0" smtClean="0"/>
              <a:t>[0, #]</a:t>
            </a:r>
            <a:endParaRPr lang="zh-TW" altLang="en-US" sz="3200" dirty="0"/>
          </a:p>
        </p:txBody>
      </p:sp>
      <p:sp>
        <p:nvSpPr>
          <p:cNvPr id="53" name="文字方塊 52"/>
          <p:cNvSpPr txBox="1"/>
          <p:nvPr/>
        </p:nvSpPr>
        <p:spPr>
          <a:xfrm>
            <a:off x="5403927" y="6014339"/>
            <a:ext cx="1047082" cy="584775"/>
          </a:xfrm>
          <a:prstGeom prst="rect">
            <a:avLst/>
          </a:prstGeom>
          <a:noFill/>
        </p:spPr>
        <p:txBody>
          <a:bodyPr wrap="none" rtlCol="0">
            <a:spAutoFit/>
          </a:bodyPr>
          <a:lstStyle/>
          <a:p>
            <a:r>
              <a:rPr lang="en-US" altLang="zh-TW" sz="3200" dirty="0" smtClean="0"/>
              <a:t>[1, #]</a:t>
            </a:r>
            <a:endParaRPr lang="zh-TW" altLang="en-US" sz="3200" dirty="0"/>
          </a:p>
        </p:txBody>
      </p:sp>
      <p:sp>
        <p:nvSpPr>
          <p:cNvPr id="54" name="橢圓 53"/>
          <p:cNvSpPr/>
          <p:nvPr/>
        </p:nvSpPr>
        <p:spPr>
          <a:xfrm>
            <a:off x="4699656" y="5740492"/>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5" name="弧形接點 54"/>
          <p:cNvCxnSpPr>
            <a:stCxn id="54" idx="7"/>
          </p:cNvCxnSpPr>
          <p:nvPr/>
        </p:nvCxnSpPr>
        <p:spPr>
          <a:xfrm rot="5400000" flipH="1" flipV="1">
            <a:off x="5612676" y="4844898"/>
            <a:ext cx="219059" cy="163727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弧形接點 55"/>
          <p:cNvCxnSpPr>
            <a:stCxn id="54" idx="5"/>
          </p:cNvCxnSpPr>
          <p:nvPr/>
        </p:nvCxnSpPr>
        <p:spPr>
          <a:xfrm rot="16200000" flipH="1">
            <a:off x="5664728" y="5169178"/>
            <a:ext cx="114952" cy="16372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5403927" y="4989393"/>
            <a:ext cx="1047082" cy="584775"/>
          </a:xfrm>
          <a:prstGeom prst="rect">
            <a:avLst/>
          </a:prstGeom>
          <a:noFill/>
        </p:spPr>
        <p:txBody>
          <a:bodyPr wrap="none" rtlCol="0">
            <a:spAutoFit/>
          </a:bodyPr>
          <a:lstStyle/>
          <a:p>
            <a:r>
              <a:rPr lang="en-US" altLang="zh-TW" sz="3200" dirty="0" smtClean="0"/>
              <a:t>[0, #]</a:t>
            </a:r>
            <a:endParaRPr lang="zh-TW" altLang="en-US" sz="3200" dirty="0"/>
          </a:p>
        </p:txBody>
      </p:sp>
      <p:sp>
        <p:nvSpPr>
          <p:cNvPr id="58" name="橢圓 57"/>
          <p:cNvSpPr/>
          <p:nvPr/>
        </p:nvSpPr>
        <p:spPr>
          <a:xfrm>
            <a:off x="8245225" y="5908939"/>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弧形接點 58"/>
          <p:cNvCxnSpPr>
            <a:stCxn id="58" idx="0"/>
          </p:cNvCxnSpPr>
          <p:nvPr/>
        </p:nvCxnSpPr>
        <p:spPr>
          <a:xfrm rot="5400000" flipH="1" flipV="1">
            <a:off x="9033537" y="4837962"/>
            <a:ext cx="402115"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弧形接點 59"/>
          <p:cNvCxnSpPr>
            <a:stCxn id="58" idx="4"/>
          </p:cNvCxnSpPr>
          <p:nvPr/>
        </p:nvCxnSpPr>
        <p:spPr>
          <a:xfrm rot="16200000" flipH="1">
            <a:off x="9080163" y="5415870"/>
            <a:ext cx="308862"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弧形接點 60"/>
          <p:cNvCxnSpPr>
            <a:stCxn id="58" idx="6"/>
          </p:cNvCxnSpPr>
          <p:nvPr/>
        </p:nvCxnSpPr>
        <p:spPr>
          <a:xfrm flipV="1">
            <a:off x="8484122" y="6005158"/>
            <a:ext cx="1686296" cy="1499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p:cNvSpPr txBox="1"/>
          <p:nvPr/>
        </p:nvSpPr>
        <p:spPr>
          <a:xfrm>
            <a:off x="9100176" y="5027951"/>
            <a:ext cx="939681" cy="523220"/>
          </a:xfrm>
          <a:prstGeom prst="rect">
            <a:avLst/>
          </a:prstGeom>
          <a:noFill/>
        </p:spPr>
        <p:txBody>
          <a:bodyPr wrap="none" rtlCol="0">
            <a:spAutoFit/>
          </a:bodyPr>
          <a:lstStyle/>
          <a:p>
            <a:r>
              <a:rPr lang="en-US" altLang="zh-TW" sz="2800" dirty="0" smtClean="0"/>
              <a:t>[0, #]</a:t>
            </a:r>
            <a:endParaRPr lang="zh-TW" altLang="en-US" sz="2800" dirty="0"/>
          </a:p>
        </p:txBody>
      </p:sp>
      <p:sp>
        <p:nvSpPr>
          <p:cNvPr id="63" name="文字方塊 62"/>
          <p:cNvSpPr txBox="1"/>
          <p:nvPr/>
        </p:nvSpPr>
        <p:spPr>
          <a:xfrm>
            <a:off x="9087012" y="5962913"/>
            <a:ext cx="939681" cy="523220"/>
          </a:xfrm>
          <a:prstGeom prst="rect">
            <a:avLst/>
          </a:prstGeom>
          <a:noFill/>
        </p:spPr>
        <p:txBody>
          <a:bodyPr wrap="none" rtlCol="0">
            <a:spAutoFit/>
          </a:bodyPr>
          <a:lstStyle/>
          <a:p>
            <a:r>
              <a:rPr lang="en-US" altLang="zh-TW" sz="2800" dirty="0" smtClean="0"/>
              <a:t>[2, #]</a:t>
            </a:r>
            <a:endParaRPr lang="zh-TW" altLang="en-US" sz="2800" dirty="0"/>
          </a:p>
        </p:txBody>
      </p:sp>
      <p:sp>
        <p:nvSpPr>
          <p:cNvPr id="64" name="文字方塊 63"/>
          <p:cNvSpPr txBox="1"/>
          <p:nvPr/>
        </p:nvSpPr>
        <p:spPr>
          <a:xfrm>
            <a:off x="9095250" y="5516819"/>
            <a:ext cx="939681" cy="523220"/>
          </a:xfrm>
          <a:prstGeom prst="rect">
            <a:avLst/>
          </a:prstGeom>
          <a:noFill/>
        </p:spPr>
        <p:txBody>
          <a:bodyPr wrap="none" rtlCol="0">
            <a:spAutoFit/>
          </a:bodyPr>
          <a:lstStyle/>
          <a:p>
            <a:r>
              <a:rPr lang="en-US" altLang="zh-TW" sz="2800" dirty="0" smtClean="0"/>
              <a:t>[1, #]</a:t>
            </a:r>
            <a:endParaRPr lang="zh-TW" altLang="en-US" sz="2800" dirty="0"/>
          </a:p>
        </p:txBody>
      </p:sp>
      <p:sp>
        <p:nvSpPr>
          <p:cNvPr id="67" name="文字方塊 66"/>
          <p:cNvSpPr txBox="1"/>
          <p:nvPr/>
        </p:nvSpPr>
        <p:spPr>
          <a:xfrm>
            <a:off x="5098844" y="2433749"/>
            <a:ext cx="1441998" cy="584775"/>
          </a:xfrm>
          <a:prstGeom prst="rect">
            <a:avLst/>
          </a:prstGeom>
          <a:noFill/>
        </p:spPr>
        <p:txBody>
          <a:bodyPr wrap="none" rtlCol="0">
            <a:spAutoFit/>
          </a:bodyPr>
          <a:lstStyle/>
          <a:p>
            <a:r>
              <a:rPr lang="en-US" altLang="zh-TW" sz="3200" dirty="0" smtClean="0"/>
              <a:t>S = </a:t>
            </a:r>
            <a:r>
              <a:rPr lang="en-US" altLang="zh-TW" sz="3200" dirty="0" err="1" smtClean="0"/>
              <a:t>x</a:t>
            </a:r>
            <a:r>
              <a:rPr lang="en-US" altLang="zh-TW" sz="3200" dirty="0" err="1" smtClean="0">
                <a:solidFill>
                  <a:srgbClr val="FF0000"/>
                </a:solidFill>
              </a:rPr>
              <a:t>a</a:t>
            </a:r>
            <a:r>
              <a:rPr lang="en-US" altLang="zh-TW" sz="3200" dirty="0" err="1" smtClean="0"/>
              <a:t>b</a:t>
            </a:r>
            <a:r>
              <a:rPr lang="en-US" altLang="zh-TW" sz="3200" dirty="0" smtClean="0"/>
              <a:t> </a:t>
            </a:r>
            <a:endParaRPr lang="zh-TW" altLang="en-US" sz="3200" dirty="0"/>
          </a:p>
        </p:txBody>
      </p:sp>
      <p:sp>
        <p:nvSpPr>
          <p:cNvPr id="68" name="矩形 67"/>
          <p:cNvSpPr/>
          <p:nvPr/>
        </p:nvSpPr>
        <p:spPr>
          <a:xfrm>
            <a:off x="8905454" y="2459437"/>
            <a:ext cx="1319272" cy="538609"/>
          </a:xfrm>
          <a:prstGeom prst="rect">
            <a:avLst/>
          </a:prstGeom>
        </p:spPr>
        <p:txBody>
          <a:bodyPr wrap="none">
            <a:spAutoFit/>
          </a:bodyPr>
          <a:lstStyle/>
          <a:p>
            <a:r>
              <a:rPr lang="en-US" altLang="zh-TW" sz="2900" dirty="0" smtClean="0"/>
              <a:t>S = </a:t>
            </a:r>
            <a:r>
              <a:rPr lang="en-US" altLang="zh-TW" sz="2900" dirty="0" err="1" smtClean="0"/>
              <a:t>xa</a:t>
            </a:r>
            <a:r>
              <a:rPr lang="en-US" altLang="zh-TW" sz="2900" dirty="0" err="1" smtClean="0">
                <a:solidFill>
                  <a:srgbClr val="FF0000"/>
                </a:solidFill>
              </a:rPr>
              <a:t>b</a:t>
            </a:r>
            <a:r>
              <a:rPr lang="en-US" altLang="zh-TW" sz="2900" dirty="0" smtClean="0"/>
              <a:t> </a:t>
            </a:r>
            <a:endParaRPr lang="zh-TW" altLang="en-US" sz="2900" dirty="0"/>
          </a:p>
        </p:txBody>
      </p:sp>
    </p:spTree>
    <p:extLst>
      <p:ext uri="{BB962C8B-B14F-4D97-AF65-F5344CB8AC3E}">
        <p14:creationId xmlns:p14="http://schemas.microsoft.com/office/powerpoint/2010/main" val="2663221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ppt_x"/>
                                          </p:val>
                                        </p:tav>
                                        <p:tav tm="100000">
                                          <p:val>
                                            <p:strVal val="#ppt_x"/>
                                          </p:val>
                                        </p:tav>
                                      </p:tavLst>
                                    </p:anim>
                                    <p:anim calcmode="lin" valueType="num">
                                      <p:cBhvr additive="base">
                                        <p:cTn id="8" dur="500" fill="hold"/>
                                        <p:tgtEl>
                                          <p:spTgt spid="6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500" fill="hold"/>
                                        <p:tgtEl>
                                          <p:spTgt spid="57"/>
                                        </p:tgtEl>
                                        <p:attrNameLst>
                                          <p:attrName>ppt_x</p:attrName>
                                        </p:attrNameLst>
                                      </p:cBhvr>
                                      <p:tavLst>
                                        <p:tav tm="0">
                                          <p:val>
                                            <p:strVal val="#ppt_x"/>
                                          </p:val>
                                        </p:tav>
                                        <p:tav tm="100000">
                                          <p:val>
                                            <p:strVal val="#ppt_x"/>
                                          </p:val>
                                        </p:tav>
                                      </p:tavLst>
                                    </p:anim>
                                    <p:anim calcmode="lin" valueType="num">
                                      <p:cBhvr additive="base">
                                        <p:cTn id="32" dur="500" fill="hold"/>
                                        <p:tgtEl>
                                          <p:spTgt spid="5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500" fill="hold"/>
                                        <p:tgtEl>
                                          <p:spTgt spid="54"/>
                                        </p:tgtEl>
                                        <p:attrNameLst>
                                          <p:attrName>ppt_x</p:attrName>
                                        </p:attrNameLst>
                                      </p:cBhvr>
                                      <p:tavLst>
                                        <p:tav tm="0">
                                          <p:val>
                                            <p:strVal val="#ppt_x"/>
                                          </p:val>
                                        </p:tav>
                                        <p:tav tm="100000">
                                          <p:val>
                                            <p:strVal val="#ppt_x"/>
                                          </p:val>
                                        </p:tav>
                                      </p:tavLst>
                                    </p:anim>
                                    <p:anim calcmode="lin" valueType="num">
                                      <p:cBhvr additive="base">
                                        <p:cTn id="36" dur="500" fill="hold"/>
                                        <p:tgtEl>
                                          <p:spTgt spid="5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ppt_x"/>
                                          </p:val>
                                        </p:tav>
                                        <p:tav tm="100000">
                                          <p:val>
                                            <p:strVal val="#ppt_x"/>
                                          </p:val>
                                        </p:tav>
                                      </p:tavLst>
                                    </p:anim>
                                    <p:anim calcmode="lin" valueType="num">
                                      <p:cBhvr additive="base">
                                        <p:cTn id="40" dur="500" fill="hold"/>
                                        <p:tgtEl>
                                          <p:spTgt spid="5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ppt_x"/>
                                          </p:val>
                                        </p:tav>
                                        <p:tav tm="100000">
                                          <p:val>
                                            <p:strVal val="#ppt_x"/>
                                          </p:val>
                                        </p:tav>
                                      </p:tavLst>
                                    </p:anim>
                                    <p:anim calcmode="lin" valueType="num">
                                      <p:cBhvr additive="base">
                                        <p:cTn id="44" dur="500" fill="hold"/>
                                        <p:tgtEl>
                                          <p:spTgt spid="5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anim calcmode="lin" valueType="num">
                                      <p:cBhvr additive="base">
                                        <p:cTn id="47" dur="500" fill="hold"/>
                                        <p:tgtEl>
                                          <p:spTgt spid="53"/>
                                        </p:tgtEl>
                                        <p:attrNameLst>
                                          <p:attrName>ppt_x</p:attrName>
                                        </p:attrNameLst>
                                      </p:cBhvr>
                                      <p:tavLst>
                                        <p:tav tm="0">
                                          <p:val>
                                            <p:strVal val="#ppt_x"/>
                                          </p:val>
                                        </p:tav>
                                        <p:tav tm="100000">
                                          <p:val>
                                            <p:strVal val="#ppt_x"/>
                                          </p:val>
                                        </p:tav>
                                      </p:tavLst>
                                    </p:anim>
                                    <p:anim calcmode="lin" valueType="num">
                                      <p:cBhvr additive="base">
                                        <p:cTn id="48" dur="500" fill="hold"/>
                                        <p:tgtEl>
                                          <p:spTgt spid="5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500" fill="hold"/>
                                        <p:tgtEl>
                                          <p:spTgt spid="27"/>
                                        </p:tgtEl>
                                        <p:attrNameLst>
                                          <p:attrName>ppt_x</p:attrName>
                                        </p:attrNameLst>
                                      </p:cBhvr>
                                      <p:tavLst>
                                        <p:tav tm="0">
                                          <p:val>
                                            <p:strVal val="#ppt_x"/>
                                          </p:val>
                                        </p:tav>
                                        <p:tav tm="100000">
                                          <p:val>
                                            <p:strVal val="#ppt_x"/>
                                          </p:val>
                                        </p:tav>
                                      </p:tavLst>
                                    </p:anim>
                                    <p:anim calcmode="lin" valueType="num">
                                      <p:cBhvr additive="base">
                                        <p:cTn id="58" dur="500" fill="hold"/>
                                        <p:tgtEl>
                                          <p:spTgt spid="2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68"/>
                                        </p:tgtEl>
                                        <p:attrNameLst>
                                          <p:attrName>style.visibility</p:attrName>
                                        </p:attrNameLst>
                                      </p:cBhvr>
                                      <p:to>
                                        <p:strVal val="visible"/>
                                      </p:to>
                                    </p:set>
                                    <p:anim calcmode="lin" valueType="num">
                                      <p:cBhvr additive="base">
                                        <p:cTn id="65" dur="500" fill="hold"/>
                                        <p:tgtEl>
                                          <p:spTgt spid="68"/>
                                        </p:tgtEl>
                                        <p:attrNameLst>
                                          <p:attrName>ppt_x</p:attrName>
                                        </p:attrNameLst>
                                      </p:cBhvr>
                                      <p:tavLst>
                                        <p:tav tm="0">
                                          <p:val>
                                            <p:strVal val="#ppt_x"/>
                                          </p:val>
                                        </p:tav>
                                        <p:tav tm="100000">
                                          <p:val>
                                            <p:strVal val="#ppt_x"/>
                                          </p:val>
                                        </p:tav>
                                      </p:tavLst>
                                    </p:anim>
                                    <p:anim calcmode="lin" valueType="num">
                                      <p:cBhvr additive="base">
                                        <p:cTn id="66" dur="500" fill="hold"/>
                                        <p:tgtEl>
                                          <p:spTgt spid="6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 calcmode="lin" valueType="num">
                                      <p:cBhvr additive="base">
                                        <p:cTn id="69" dur="500" fill="hold"/>
                                        <p:tgtEl>
                                          <p:spTgt spid="46"/>
                                        </p:tgtEl>
                                        <p:attrNameLst>
                                          <p:attrName>ppt_x</p:attrName>
                                        </p:attrNameLst>
                                      </p:cBhvr>
                                      <p:tavLst>
                                        <p:tav tm="0">
                                          <p:val>
                                            <p:strVal val="#ppt_x"/>
                                          </p:val>
                                        </p:tav>
                                        <p:tav tm="100000">
                                          <p:val>
                                            <p:strVal val="#ppt_x"/>
                                          </p:val>
                                        </p:tav>
                                      </p:tavLst>
                                    </p:anim>
                                    <p:anim calcmode="lin" valueType="num">
                                      <p:cBhvr additive="base">
                                        <p:cTn id="70" dur="500" fill="hold"/>
                                        <p:tgtEl>
                                          <p:spTgt spid="46"/>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fill="hold"/>
                                        <p:tgtEl>
                                          <p:spTgt spid="30"/>
                                        </p:tgtEl>
                                        <p:attrNameLst>
                                          <p:attrName>ppt_x</p:attrName>
                                        </p:attrNameLst>
                                      </p:cBhvr>
                                      <p:tavLst>
                                        <p:tav tm="0">
                                          <p:val>
                                            <p:strVal val="#ppt_x"/>
                                          </p:val>
                                        </p:tav>
                                        <p:tav tm="100000">
                                          <p:val>
                                            <p:strVal val="#ppt_x"/>
                                          </p:val>
                                        </p:tav>
                                      </p:tavLst>
                                    </p:anim>
                                    <p:anim calcmode="lin" valueType="num">
                                      <p:cBhvr additive="base">
                                        <p:cTn id="74" dur="500" fill="hold"/>
                                        <p:tgtEl>
                                          <p:spTgt spid="3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 calcmode="lin" valueType="num">
                                      <p:cBhvr additive="base">
                                        <p:cTn id="77" dur="500" fill="hold"/>
                                        <p:tgtEl>
                                          <p:spTgt spid="48"/>
                                        </p:tgtEl>
                                        <p:attrNameLst>
                                          <p:attrName>ppt_x</p:attrName>
                                        </p:attrNameLst>
                                      </p:cBhvr>
                                      <p:tavLst>
                                        <p:tav tm="0">
                                          <p:val>
                                            <p:strVal val="#ppt_x"/>
                                          </p:val>
                                        </p:tav>
                                        <p:tav tm="100000">
                                          <p:val>
                                            <p:strVal val="#ppt_x"/>
                                          </p:val>
                                        </p:tav>
                                      </p:tavLst>
                                    </p:anim>
                                    <p:anim calcmode="lin" valueType="num">
                                      <p:cBhvr additive="base">
                                        <p:cTn id="78" dur="500" fill="hold"/>
                                        <p:tgtEl>
                                          <p:spTgt spid="48"/>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anim calcmode="lin" valueType="num">
                                      <p:cBhvr additive="base">
                                        <p:cTn id="81" dur="500" fill="hold"/>
                                        <p:tgtEl>
                                          <p:spTgt spid="44"/>
                                        </p:tgtEl>
                                        <p:attrNameLst>
                                          <p:attrName>ppt_x</p:attrName>
                                        </p:attrNameLst>
                                      </p:cBhvr>
                                      <p:tavLst>
                                        <p:tav tm="0">
                                          <p:val>
                                            <p:strVal val="#ppt_x"/>
                                          </p:val>
                                        </p:tav>
                                        <p:tav tm="100000">
                                          <p:val>
                                            <p:strVal val="#ppt_x"/>
                                          </p:val>
                                        </p:tav>
                                      </p:tavLst>
                                    </p:anim>
                                    <p:anim calcmode="lin" valueType="num">
                                      <p:cBhvr additive="base">
                                        <p:cTn id="82" dur="500" fill="hold"/>
                                        <p:tgtEl>
                                          <p:spTgt spid="44"/>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 calcmode="lin" valueType="num">
                                      <p:cBhvr additive="base">
                                        <p:cTn id="85" dur="500" fill="hold"/>
                                        <p:tgtEl>
                                          <p:spTgt spid="47"/>
                                        </p:tgtEl>
                                        <p:attrNameLst>
                                          <p:attrName>ppt_x</p:attrName>
                                        </p:attrNameLst>
                                      </p:cBhvr>
                                      <p:tavLst>
                                        <p:tav tm="0">
                                          <p:val>
                                            <p:strVal val="#ppt_x"/>
                                          </p:val>
                                        </p:tav>
                                        <p:tav tm="100000">
                                          <p:val>
                                            <p:strVal val="#ppt_x"/>
                                          </p:val>
                                        </p:tav>
                                      </p:tavLst>
                                    </p:anim>
                                    <p:anim calcmode="lin" valueType="num">
                                      <p:cBhvr additive="base">
                                        <p:cTn id="86" dur="500" fill="hold"/>
                                        <p:tgtEl>
                                          <p:spTgt spid="47"/>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anim calcmode="lin" valueType="num">
                                      <p:cBhvr additive="base">
                                        <p:cTn id="89" dur="500" fill="hold"/>
                                        <p:tgtEl>
                                          <p:spTgt spid="36"/>
                                        </p:tgtEl>
                                        <p:attrNameLst>
                                          <p:attrName>ppt_x</p:attrName>
                                        </p:attrNameLst>
                                      </p:cBhvr>
                                      <p:tavLst>
                                        <p:tav tm="0">
                                          <p:val>
                                            <p:strVal val="#ppt_x"/>
                                          </p:val>
                                        </p:tav>
                                        <p:tav tm="100000">
                                          <p:val>
                                            <p:strVal val="#ppt_x"/>
                                          </p:val>
                                        </p:tav>
                                      </p:tavLst>
                                    </p:anim>
                                    <p:anim calcmode="lin" valueType="num">
                                      <p:cBhvr additive="base">
                                        <p:cTn id="90" dur="500" fill="hold"/>
                                        <p:tgtEl>
                                          <p:spTgt spid="3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58"/>
                                        </p:tgtEl>
                                        <p:attrNameLst>
                                          <p:attrName>style.visibility</p:attrName>
                                        </p:attrNameLst>
                                      </p:cBhvr>
                                      <p:to>
                                        <p:strVal val="visible"/>
                                      </p:to>
                                    </p:set>
                                    <p:anim calcmode="lin" valueType="num">
                                      <p:cBhvr additive="base">
                                        <p:cTn id="93" dur="500" fill="hold"/>
                                        <p:tgtEl>
                                          <p:spTgt spid="58"/>
                                        </p:tgtEl>
                                        <p:attrNameLst>
                                          <p:attrName>ppt_x</p:attrName>
                                        </p:attrNameLst>
                                      </p:cBhvr>
                                      <p:tavLst>
                                        <p:tav tm="0">
                                          <p:val>
                                            <p:strVal val="#ppt_x"/>
                                          </p:val>
                                        </p:tav>
                                        <p:tav tm="100000">
                                          <p:val>
                                            <p:strVal val="#ppt_x"/>
                                          </p:val>
                                        </p:tav>
                                      </p:tavLst>
                                    </p:anim>
                                    <p:anim calcmode="lin" valueType="num">
                                      <p:cBhvr additive="base">
                                        <p:cTn id="94" dur="500" fill="hold"/>
                                        <p:tgtEl>
                                          <p:spTgt spid="58"/>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62"/>
                                        </p:tgtEl>
                                        <p:attrNameLst>
                                          <p:attrName>style.visibility</p:attrName>
                                        </p:attrNameLst>
                                      </p:cBhvr>
                                      <p:to>
                                        <p:strVal val="visible"/>
                                      </p:to>
                                    </p:set>
                                    <p:anim calcmode="lin" valueType="num">
                                      <p:cBhvr additive="base">
                                        <p:cTn id="97" dur="500" fill="hold"/>
                                        <p:tgtEl>
                                          <p:spTgt spid="62"/>
                                        </p:tgtEl>
                                        <p:attrNameLst>
                                          <p:attrName>ppt_x</p:attrName>
                                        </p:attrNameLst>
                                      </p:cBhvr>
                                      <p:tavLst>
                                        <p:tav tm="0">
                                          <p:val>
                                            <p:strVal val="#ppt_x"/>
                                          </p:val>
                                        </p:tav>
                                        <p:tav tm="100000">
                                          <p:val>
                                            <p:strVal val="#ppt_x"/>
                                          </p:val>
                                        </p:tav>
                                      </p:tavLst>
                                    </p:anim>
                                    <p:anim calcmode="lin" valueType="num">
                                      <p:cBhvr additive="base">
                                        <p:cTn id="98" dur="500" fill="hold"/>
                                        <p:tgtEl>
                                          <p:spTgt spid="62"/>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 calcmode="lin" valueType="num">
                                      <p:cBhvr additive="base">
                                        <p:cTn id="101" dur="500" fill="hold"/>
                                        <p:tgtEl>
                                          <p:spTgt spid="59"/>
                                        </p:tgtEl>
                                        <p:attrNameLst>
                                          <p:attrName>ppt_x</p:attrName>
                                        </p:attrNameLst>
                                      </p:cBhvr>
                                      <p:tavLst>
                                        <p:tav tm="0">
                                          <p:val>
                                            <p:strVal val="#ppt_x"/>
                                          </p:val>
                                        </p:tav>
                                        <p:tav tm="100000">
                                          <p:val>
                                            <p:strVal val="#ppt_x"/>
                                          </p:val>
                                        </p:tav>
                                      </p:tavLst>
                                    </p:anim>
                                    <p:anim calcmode="lin" valueType="num">
                                      <p:cBhvr additive="base">
                                        <p:cTn id="102" dur="500" fill="hold"/>
                                        <p:tgtEl>
                                          <p:spTgt spid="59"/>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 calcmode="lin" valueType="num">
                                      <p:cBhvr additive="base">
                                        <p:cTn id="105" dur="500" fill="hold"/>
                                        <p:tgtEl>
                                          <p:spTgt spid="64"/>
                                        </p:tgtEl>
                                        <p:attrNameLst>
                                          <p:attrName>ppt_x</p:attrName>
                                        </p:attrNameLst>
                                      </p:cBhvr>
                                      <p:tavLst>
                                        <p:tav tm="0">
                                          <p:val>
                                            <p:strVal val="#ppt_x"/>
                                          </p:val>
                                        </p:tav>
                                        <p:tav tm="100000">
                                          <p:val>
                                            <p:strVal val="#ppt_x"/>
                                          </p:val>
                                        </p:tav>
                                      </p:tavLst>
                                    </p:anim>
                                    <p:anim calcmode="lin" valueType="num">
                                      <p:cBhvr additive="base">
                                        <p:cTn id="106" dur="500" fill="hold"/>
                                        <p:tgtEl>
                                          <p:spTgt spid="64"/>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61"/>
                                        </p:tgtEl>
                                        <p:attrNameLst>
                                          <p:attrName>style.visibility</p:attrName>
                                        </p:attrNameLst>
                                      </p:cBhvr>
                                      <p:to>
                                        <p:strVal val="visible"/>
                                      </p:to>
                                    </p:set>
                                    <p:anim calcmode="lin" valueType="num">
                                      <p:cBhvr additive="base">
                                        <p:cTn id="109" dur="500" fill="hold"/>
                                        <p:tgtEl>
                                          <p:spTgt spid="61"/>
                                        </p:tgtEl>
                                        <p:attrNameLst>
                                          <p:attrName>ppt_x</p:attrName>
                                        </p:attrNameLst>
                                      </p:cBhvr>
                                      <p:tavLst>
                                        <p:tav tm="0">
                                          <p:val>
                                            <p:strVal val="#ppt_x"/>
                                          </p:val>
                                        </p:tav>
                                        <p:tav tm="100000">
                                          <p:val>
                                            <p:strVal val="#ppt_x"/>
                                          </p:val>
                                        </p:tav>
                                      </p:tavLst>
                                    </p:anim>
                                    <p:anim calcmode="lin" valueType="num">
                                      <p:cBhvr additive="base">
                                        <p:cTn id="110" dur="500" fill="hold"/>
                                        <p:tgtEl>
                                          <p:spTgt spid="61"/>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63"/>
                                        </p:tgtEl>
                                        <p:attrNameLst>
                                          <p:attrName>style.visibility</p:attrName>
                                        </p:attrNameLst>
                                      </p:cBhvr>
                                      <p:to>
                                        <p:strVal val="visible"/>
                                      </p:to>
                                    </p:set>
                                    <p:anim calcmode="lin" valueType="num">
                                      <p:cBhvr additive="base">
                                        <p:cTn id="113" dur="500" fill="hold"/>
                                        <p:tgtEl>
                                          <p:spTgt spid="63"/>
                                        </p:tgtEl>
                                        <p:attrNameLst>
                                          <p:attrName>ppt_x</p:attrName>
                                        </p:attrNameLst>
                                      </p:cBhvr>
                                      <p:tavLst>
                                        <p:tav tm="0">
                                          <p:val>
                                            <p:strVal val="#ppt_x"/>
                                          </p:val>
                                        </p:tav>
                                        <p:tav tm="100000">
                                          <p:val>
                                            <p:strVal val="#ppt_x"/>
                                          </p:val>
                                        </p:tav>
                                      </p:tavLst>
                                    </p:anim>
                                    <p:anim calcmode="lin" valueType="num">
                                      <p:cBhvr additive="base">
                                        <p:cTn id="114" dur="500" fill="hold"/>
                                        <p:tgtEl>
                                          <p:spTgt spid="63"/>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anim calcmode="lin" valueType="num">
                                      <p:cBhvr additive="base">
                                        <p:cTn id="117" dur="500" fill="hold"/>
                                        <p:tgtEl>
                                          <p:spTgt spid="60"/>
                                        </p:tgtEl>
                                        <p:attrNameLst>
                                          <p:attrName>ppt_x</p:attrName>
                                        </p:attrNameLst>
                                      </p:cBhvr>
                                      <p:tavLst>
                                        <p:tav tm="0">
                                          <p:val>
                                            <p:strVal val="#ppt_x"/>
                                          </p:val>
                                        </p:tav>
                                        <p:tav tm="100000">
                                          <p:val>
                                            <p:strVal val="#ppt_x"/>
                                          </p:val>
                                        </p:tav>
                                      </p:tavLst>
                                    </p:anim>
                                    <p:anim calcmode="lin" valueType="num">
                                      <p:cBhvr additive="base">
                                        <p:cTn id="11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25" grpId="0"/>
      <p:bldP spid="27" grpId="0" animBg="1"/>
      <p:bldP spid="28" grpId="0" animBg="1"/>
      <p:bldP spid="46" grpId="0"/>
      <p:bldP spid="47" grpId="0"/>
      <p:bldP spid="48" grpId="0"/>
      <p:bldP spid="53" grpId="0"/>
      <p:bldP spid="54" grpId="0" animBg="1"/>
      <p:bldP spid="57" grpId="0"/>
      <p:bldP spid="58" grpId="0" animBg="1"/>
      <p:bldP spid="62" grpId="0"/>
      <p:bldP spid="63" grpId="0"/>
      <p:bldP spid="64" grpId="0"/>
      <p:bldP spid="67" grpId="0"/>
      <p:bldP spid="6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a:xfrm>
            <a:off x="609560" y="1604844"/>
            <a:ext cx="10971688" cy="4905013"/>
          </a:xfrm>
        </p:spPr>
        <p:txBody>
          <a:bodyPr/>
          <a:lstStyle/>
          <a:p>
            <a:r>
              <a:rPr lang="en-US" altLang="zh-TW" dirty="0" smtClean="0"/>
              <a:t>We </a:t>
            </a:r>
            <a:r>
              <a:rPr lang="en-US" altLang="zh-TW" dirty="0"/>
              <a:t>observe two things</a:t>
            </a:r>
            <a:r>
              <a:rPr lang="en-US" altLang="zh-TW" dirty="0" smtClean="0"/>
              <a:t>:</a:t>
            </a:r>
            <a:endParaRPr lang="en-US" altLang="zh-TW" dirty="0"/>
          </a:p>
          <a:p>
            <a:pPr marL="457200" indent="-457200">
              <a:buFont typeface="Arial" panose="020B0604020202020204" pitchFamily="34" charset="0"/>
              <a:buChar char="•"/>
            </a:pPr>
            <a:r>
              <a:rPr lang="en-US" altLang="zh-TW" dirty="0"/>
              <a:t>The edge representation for ab is the same as it used to be in the initial tree: [0,#]. Its meaning has automatically changed because </a:t>
            </a:r>
            <a:r>
              <a:rPr lang="en-US" altLang="zh-TW" dirty="0">
                <a:solidFill>
                  <a:srgbClr val="FF0000"/>
                </a:solidFill>
              </a:rPr>
              <a:t>we updated the current position # from 1 to 2</a:t>
            </a:r>
            <a:r>
              <a:rPr lang="en-US" altLang="zh-TW" dirty="0" smtClean="0">
                <a:solidFill>
                  <a:srgbClr val="FF0000"/>
                </a:solidFill>
              </a:rPr>
              <a:t>.</a:t>
            </a:r>
          </a:p>
          <a:p>
            <a:pPr marL="457200" indent="-457200">
              <a:buFont typeface="Arial" panose="020B0604020202020204" pitchFamily="34" charset="0"/>
              <a:buChar char="•"/>
            </a:pPr>
            <a:endParaRPr lang="en-US" altLang="zh-TW" dirty="0">
              <a:solidFill>
                <a:srgbClr val="FF0000"/>
              </a:solidFill>
            </a:endParaRPr>
          </a:p>
          <a:p>
            <a:pPr marL="457200" indent="-457200">
              <a:buFont typeface="Arial" panose="020B0604020202020204" pitchFamily="34" charset="0"/>
              <a:buChar char="•"/>
            </a:pPr>
            <a:r>
              <a:rPr lang="en-US" altLang="zh-TW" dirty="0">
                <a:solidFill>
                  <a:srgbClr val="FF0000"/>
                </a:solidFill>
              </a:rPr>
              <a:t>Each edge consumes O(1) space</a:t>
            </a:r>
            <a:r>
              <a:rPr lang="en-US" altLang="zh-TW" dirty="0"/>
              <a:t>, because it consists of only two pointers into the text, regardless of how many characters it represents.</a:t>
            </a:r>
            <a:endParaRPr lang="zh-TW" altLang="en-US" dirty="0"/>
          </a:p>
        </p:txBody>
      </p:sp>
    </p:spTree>
    <p:extLst>
      <p:ext uri="{BB962C8B-B14F-4D97-AF65-F5344CB8AC3E}">
        <p14:creationId xmlns:p14="http://schemas.microsoft.com/office/powerpoint/2010/main" val="2543274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zh-TW" altLang="en-US" dirty="0" smtClean="0"/>
              <a:t>現在我們來看更複雜一點的字串</a:t>
            </a:r>
            <a:r>
              <a:rPr lang="zh-TW" altLang="en-US" dirty="0"/>
              <a:t>：</a:t>
            </a:r>
            <a:r>
              <a:rPr lang="en-US" altLang="zh-TW" dirty="0"/>
              <a:t>S = </a:t>
            </a:r>
            <a:r>
              <a:rPr lang="en-US" altLang="zh-TW" dirty="0" err="1"/>
              <a:t>xab</a:t>
            </a:r>
            <a:r>
              <a:rPr lang="en-US" altLang="zh-TW" dirty="0" err="1">
                <a:solidFill>
                  <a:srgbClr val="FF0000"/>
                </a:solidFill>
              </a:rPr>
              <a:t>x</a:t>
            </a:r>
            <a:r>
              <a:rPr lang="en-US" altLang="zh-TW" dirty="0" err="1"/>
              <a:t>awxabc</a:t>
            </a:r>
            <a:r>
              <a:rPr lang="en-US" altLang="zh-TW" dirty="0"/>
              <a:t> </a:t>
            </a:r>
            <a:endParaRPr lang="en-US" altLang="zh-TW" dirty="0" smtClean="0"/>
          </a:p>
          <a:p>
            <a:r>
              <a:rPr lang="zh-TW" altLang="en-US" dirty="0" smtClean="0"/>
              <a:t>前面三個字母與上例相同，因此我們省略先前的步驟，進而得到下面這顆樹。</a:t>
            </a:r>
            <a:endParaRPr lang="en-US" altLang="zh-TW" dirty="0" smtClean="0"/>
          </a:p>
          <a:p>
            <a:endParaRPr lang="zh-TW" altLang="en-US" dirty="0"/>
          </a:p>
        </p:txBody>
      </p:sp>
      <p:sp>
        <p:nvSpPr>
          <p:cNvPr id="28" name="橢圓 27"/>
          <p:cNvSpPr/>
          <p:nvPr/>
        </p:nvSpPr>
        <p:spPr>
          <a:xfrm>
            <a:off x="4884998" y="4498433"/>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 name="弧形接點 29"/>
          <p:cNvCxnSpPr>
            <a:stCxn id="28" idx="0"/>
          </p:cNvCxnSpPr>
          <p:nvPr/>
        </p:nvCxnSpPr>
        <p:spPr>
          <a:xfrm rot="5400000" flipH="1" flipV="1">
            <a:off x="5673310" y="3427456"/>
            <a:ext cx="402115"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弧形接點 35"/>
          <p:cNvCxnSpPr>
            <a:stCxn id="28" idx="4"/>
          </p:cNvCxnSpPr>
          <p:nvPr/>
        </p:nvCxnSpPr>
        <p:spPr>
          <a:xfrm rot="16200000" flipH="1">
            <a:off x="5719936" y="4005364"/>
            <a:ext cx="308862"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弧形接點 43"/>
          <p:cNvCxnSpPr>
            <a:stCxn id="28" idx="6"/>
          </p:cNvCxnSpPr>
          <p:nvPr/>
        </p:nvCxnSpPr>
        <p:spPr>
          <a:xfrm flipV="1">
            <a:off x="5123895" y="4594652"/>
            <a:ext cx="1686296" cy="1499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5739949" y="3617445"/>
            <a:ext cx="938462" cy="584775"/>
          </a:xfrm>
          <a:prstGeom prst="rect">
            <a:avLst/>
          </a:prstGeom>
          <a:noFill/>
        </p:spPr>
        <p:txBody>
          <a:bodyPr wrap="none" rtlCol="0">
            <a:spAutoFit/>
          </a:bodyPr>
          <a:lstStyle/>
          <a:p>
            <a:r>
              <a:rPr lang="en-US" altLang="zh-TW" sz="3200" dirty="0" err="1" smtClean="0"/>
              <a:t>xab</a:t>
            </a:r>
            <a:r>
              <a:rPr lang="en-US" altLang="zh-TW" sz="3200" dirty="0" err="1" smtClean="0">
                <a:solidFill>
                  <a:srgbClr val="FF0000"/>
                </a:solidFill>
              </a:rPr>
              <a:t>x</a:t>
            </a:r>
            <a:endParaRPr lang="zh-TW" altLang="en-US" sz="3200" dirty="0">
              <a:solidFill>
                <a:srgbClr val="FF0000"/>
              </a:solidFill>
            </a:endParaRPr>
          </a:p>
        </p:txBody>
      </p:sp>
      <p:sp>
        <p:nvSpPr>
          <p:cNvPr id="47" name="文字方塊 46"/>
          <p:cNvSpPr txBox="1"/>
          <p:nvPr/>
        </p:nvSpPr>
        <p:spPr>
          <a:xfrm>
            <a:off x="5923782" y="4557963"/>
            <a:ext cx="570797" cy="584775"/>
          </a:xfrm>
          <a:prstGeom prst="rect">
            <a:avLst/>
          </a:prstGeom>
          <a:noFill/>
        </p:spPr>
        <p:txBody>
          <a:bodyPr wrap="none" rtlCol="0">
            <a:spAutoFit/>
          </a:bodyPr>
          <a:lstStyle/>
          <a:p>
            <a:r>
              <a:rPr lang="en-US" altLang="zh-TW" sz="3200" dirty="0" err="1" smtClean="0"/>
              <a:t>b</a:t>
            </a:r>
            <a:r>
              <a:rPr lang="en-US" altLang="zh-TW" sz="3200" dirty="0" err="1" smtClean="0">
                <a:solidFill>
                  <a:srgbClr val="FF0000"/>
                </a:solidFill>
              </a:rPr>
              <a:t>x</a:t>
            </a:r>
            <a:endParaRPr lang="zh-TW" altLang="en-US" sz="3200" dirty="0">
              <a:solidFill>
                <a:srgbClr val="FF0000"/>
              </a:solidFill>
            </a:endParaRPr>
          </a:p>
        </p:txBody>
      </p:sp>
      <p:sp>
        <p:nvSpPr>
          <p:cNvPr id="48" name="文字方塊 47"/>
          <p:cNvSpPr txBox="1"/>
          <p:nvPr/>
        </p:nvSpPr>
        <p:spPr>
          <a:xfrm>
            <a:off x="5825198" y="4096318"/>
            <a:ext cx="767967" cy="584775"/>
          </a:xfrm>
          <a:prstGeom prst="rect">
            <a:avLst/>
          </a:prstGeom>
          <a:noFill/>
        </p:spPr>
        <p:txBody>
          <a:bodyPr wrap="none" rtlCol="0">
            <a:spAutoFit/>
          </a:bodyPr>
          <a:lstStyle/>
          <a:p>
            <a:r>
              <a:rPr lang="en-US" altLang="zh-TW" sz="3200" dirty="0" err="1" smtClean="0"/>
              <a:t>ab</a:t>
            </a:r>
            <a:r>
              <a:rPr lang="en-US" altLang="zh-TW" sz="3200" dirty="0" err="1" smtClean="0">
                <a:solidFill>
                  <a:srgbClr val="FF0000"/>
                </a:solidFill>
              </a:rPr>
              <a:t>x</a:t>
            </a:r>
            <a:endParaRPr lang="zh-TW" altLang="en-US" sz="3200" dirty="0">
              <a:solidFill>
                <a:srgbClr val="FF0000"/>
              </a:solidFill>
            </a:endParaRPr>
          </a:p>
        </p:txBody>
      </p:sp>
    </p:spTree>
    <p:extLst>
      <p:ext uri="{BB962C8B-B14F-4D97-AF65-F5344CB8AC3E}">
        <p14:creationId xmlns:p14="http://schemas.microsoft.com/office/powerpoint/2010/main" val="2240144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dirty="0">
                <a:solidFill>
                  <a:srgbClr val="C00000"/>
                </a:solidFill>
              </a:rPr>
              <a:t>The active </a:t>
            </a:r>
            <a:r>
              <a:rPr lang="en-US" altLang="zh-TW" dirty="0" smtClean="0">
                <a:solidFill>
                  <a:srgbClr val="C00000"/>
                </a:solidFill>
              </a:rPr>
              <a:t>point (</a:t>
            </a:r>
            <a:r>
              <a:rPr lang="zh-TW" altLang="en-US" dirty="0" smtClean="0">
                <a:solidFill>
                  <a:srgbClr val="C00000"/>
                </a:solidFill>
              </a:rPr>
              <a:t>活動點</a:t>
            </a:r>
            <a:r>
              <a:rPr lang="en-US" altLang="zh-TW" dirty="0" smtClean="0">
                <a:solidFill>
                  <a:srgbClr val="C00000"/>
                </a:solidFill>
              </a:rPr>
              <a:t>)</a:t>
            </a:r>
            <a:r>
              <a:rPr lang="zh-TW" altLang="en-US" dirty="0" smtClean="0"/>
              <a:t>：</a:t>
            </a:r>
            <a:r>
              <a:rPr lang="en-US" altLang="zh-TW" dirty="0" smtClean="0"/>
              <a:t>(</a:t>
            </a:r>
            <a:r>
              <a:rPr lang="en-US" altLang="zh-TW" dirty="0" err="1"/>
              <a:t>active_node,active_edge,active_length</a:t>
            </a:r>
            <a:r>
              <a:rPr lang="en-US" altLang="zh-TW" dirty="0" smtClean="0"/>
              <a:t>)</a:t>
            </a:r>
            <a:endParaRPr lang="en-US" altLang="zh-TW" dirty="0"/>
          </a:p>
          <a:p>
            <a:pPr marL="457200" indent="-457200">
              <a:buFont typeface="Arial" panose="020B0604020202020204" pitchFamily="34" charset="0"/>
              <a:buChar char="•"/>
            </a:pPr>
            <a:r>
              <a:rPr lang="en-US" altLang="zh-TW" dirty="0">
                <a:solidFill>
                  <a:srgbClr val="C00000"/>
                </a:solidFill>
              </a:rPr>
              <a:t>The </a:t>
            </a:r>
            <a:r>
              <a:rPr lang="en-US" altLang="zh-TW" dirty="0" smtClean="0">
                <a:solidFill>
                  <a:srgbClr val="C00000"/>
                </a:solidFill>
              </a:rPr>
              <a:t>remainder</a:t>
            </a:r>
            <a:r>
              <a:rPr lang="zh-TW" altLang="en-US" dirty="0"/>
              <a:t> ：</a:t>
            </a:r>
            <a:r>
              <a:rPr lang="en-US" altLang="zh-TW" dirty="0" smtClean="0"/>
              <a:t> </a:t>
            </a:r>
            <a:r>
              <a:rPr lang="en-US" altLang="zh-TW" dirty="0"/>
              <a:t>which is an integer indicating how many new suffixes we need to insert</a:t>
            </a:r>
            <a:endParaRPr lang="zh-TW" altLang="en-US" dirty="0"/>
          </a:p>
        </p:txBody>
      </p:sp>
      <p:sp>
        <p:nvSpPr>
          <p:cNvPr id="4" name="橢圓 3"/>
          <p:cNvSpPr/>
          <p:nvPr/>
        </p:nvSpPr>
        <p:spPr>
          <a:xfrm>
            <a:off x="3608133" y="5471116"/>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弧形接點 4"/>
          <p:cNvCxnSpPr>
            <a:stCxn id="4" idx="0"/>
          </p:cNvCxnSpPr>
          <p:nvPr/>
        </p:nvCxnSpPr>
        <p:spPr>
          <a:xfrm rot="5400000" flipH="1" flipV="1">
            <a:off x="4396445" y="4400139"/>
            <a:ext cx="402115"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弧形接點 5"/>
          <p:cNvCxnSpPr>
            <a:stCxn id="4" idx="4"/>
          </p:cNvCxnSpPr>
          <p:nvPr/>
        </p:nvCxnSpPr>
        <p:spPr>
          <a:xfrm rot="16200000" flipH="1">
            <a:off x="4443071" y="4978047"/>
            <a:ext cx="308862" cy="17398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弧形接點 6"/>
          <p:cNvCxnSpPr>
            <a:stCxn id="4" idx="6"/>
          </p:cNvCxnSpPr>
          <p:nvPr/>
        </p:nvCxnSpPr>
        <p:spPr>
          <a:xfrm flipV="1">
            <a:off x="3847030" y="5567335"/>
            <a:ext cx="1686296" cy="1499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4463084" y="4590128"/>
            <a:ext cx="938462" cy="584775"/>
          </a:xfrm>
          <a:prstGeom prst="rect">
            <a:avLst/>
          </a:prstGeom>
          <a:noFill/>
        </p:spPr>
        <p:txBody>
          <a:bodyPr wrap="none" rtlCol="0">
            <a:spAutoFit/>
          </a:bodyPr>
          <a:lstStyle/>
          <a:p>
            <a:r>
              <a:rPr lang="en-US" altLang="zh-TW" sz="3200" dirty="0" err="1" smtClean="0"/>
              <a:t>xabx</a:t>
            </a:r>
            <a:endParaRPr lang="zh-TW" altLang="en-US" sz="3200" dirty="0"/>
          </a:p>
        </p:txBody>
      </p:sp>
      <p:sp>
        <p:nvSpPr>
          <p:cNvPr id="9" name="文字方塊 8"/>
          <p:cNvSpPr txBox="1"/>
          <p:nvPr/>
        </p:nvSpPr>
        <p:spPr>
          <a:xfrm>
            <a:off x="4646917" y="5530646"/>
            <a:ext cx="570797" cy="584775"/>
          </a:xfrm>
          <a:prstGeom prst="rect">
            <a:avLst/>
          </a:prstGeom>
          <a:noFill/>
        </p:spPr>
        <p:txBody>
          <a:bodyPr wrap="none" rtlCol="0">
            <a:spAutoFit/>
          </a:bodyPr>
          <a:lstStyle/>
          <a:p>
            <a:r>
              <a:rPr lang="en-US" altLang="zh-TW" sz="3200" dirty="0" err="1" smtClean="0"/>
              <a:t>bx</a:t>
            </a:r>
            <a:endParaRPr lang="zh-TW" altLang="en-US" sz="3200" dirty="0"/>
          </a:p>
        </p:txBody>
      </p:sp>
      <p:sp>
        <p:nvSpPr>
          <p:cNvPr id="10" name="文字方塊 9"/>
          <p:cNvSpPr txBox="1"/>
          <p:nvPr/>
        </p:nvSpPr>
        <p:spPr>
          <a:xfrm>
            <a:off x="4548333" y="5069001"/>
            <a:ext cx="767967" cy="584775"/>
          </a:xfrm>
          <a:prstGeom prst="rect">
            <a:avLst/>
          </a:prstGeom>
          <a:noFill/>
        </p:spPr>
        <p:txBody>
          <a:bodyPr wrap="none" rtlCol="0">
            <a:spAutoFit/>
          </a:bodyPr>
          <a:lstStyle/>
          <a:p>
            <a:r>
              <a:rPr lang="en-US" altLang="zh-TW" sz="3200" dirty="0" err="1" smtClean="0"/>
              <a:t>abx</a:t>
            </a:r>
            <a:endParaRPr lang="zh-TW" altLang="en-US" sz="3200" dirty="0"/>
          </a:p>
        </p:txBody>
      </p:sp>
      <p:sp>
        <p:nvSpPr>
          <p:cNvPr id="14" name="文字方塊 13"/>
          <p:cNvSpPr txBox="1"/>
          <p:nvPr/>
        </p:nvSpPr>
        <p:spPr>
          <a:xfrm>
            <a:off x="6488259" y="4882515"/>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(root,’x’,1)</a:t>
            </a:r>
            <a:endParaRPr lang="zh-TW" altLang="en-US" dirty="0"/>
          </a:p>
        </p:txBody>
      </p:sp>
      <p:sp>
        <p:nvSpPr>
          <p:cNvPr id="16" name="文字方塊 15"/>
          <p:cNvSpPr txBox="1"/>
          <p:nvPr/>
        </p:nvSpPr>
        <p:spPr>
          <a:xfrm>
            <a:off x="6488259" y="5508870"/>
            <a:ext cx="1512145"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2</a:t>
            </a:r>
            <a:endParaRPr lang="zh-TW" altLang="en-US" dirty="0"/>
          </a:p>
        </p:txBody>
      </p:sp>
      <p:sp>
        <p:nvSpPr>
          <p:cNvPr id="17" name="矩形 16"/>
          <p:cNvSpPr/>
          <p:nvPr/>
        </p:nvSpPr>
        <p:spPr>
          <a:xfrm>
            <a:off x="527931" y="4005353"/>
            <a:ext cx="3080202" cy="584775"/>
          </a:xfrm>
          <a:prstGeom prst="rect">
            <a:avLst/>
          </a:prstGeom>
        </p:spPr>
        <p:txBody>
          <a:bodyPr wrap="none">
            <a:spAutoFit/>
          </a:bodyPr>
          <a:lstStyle/>
          <a:p>
            <a:r>
              <a:rPr lang="en-US" altLang="zh-TW" sz="3200" dirty="0" smtClean="0">
                <a:latin typeface="Cambria Math" panose="02040503050406030204" pitchFamily="18" charset="0"/>
                <a:ea typeface="Cambria Math" panose="02040503050406030204" pitchFamily="18" charset="0"/>
              </a:rPr>
              <a:t>S = </a:t>
            </a:r>
            <a:r>
              <a:rPr lang="en-US" altLang="zh-TW" sz="3200" dirty="0" err="1" smtClean="0">
                <a:latin typeface="Cambria Math" panose="02040503050406030204" pitchFamily="18" charset="0"/>
                <a:ea typeface="Cambria Math" panose="02040503050406030204" pitchFamily="18" charset="0"/>
              </a:rPr>
              <a:t>xab</a:t>
            </a:r>
            <a:r>
              <a:rPr lang="en-US" altLang="zh-TW" sz="3200" dirty="0" err="1" smtClean="0">
                <a:solidFill>
                  <a:srgbClr val="FF0000"/>
                </a:solidFill>
                <a:latin typeface="Cambria Math" panose="02040503050406030204" pitchFamily="18" charset="0"/>
                <a:ea typeface="Cambria Math" panose="02040503050406030204" pitchFamily="18" charset="0"/>
              </a:rPr>
              <a:t>x</a:t>
            </a:r>
            <a:r>
              <a:rPr lang="en-US" altLang="zh-TW" sz="3200" dirty="0" err="1" smtClean="0">
                <a:latin typeface="Cambria Math" panose="02040503050406030204" pitchFamily="18" charset="0"/>
                <a:ea typeface="Cambria Math" panose="02040503050406030204" pitchFamily="18" charset="0"/>
              </a:rPr>
              <a:t>awxabc</a:t>
            </a:r>
            <a:r>
              <a:rPr lang="en-US" altLang="zh-TW" sz="3200" dirty="0" smtClean="0">
                <a:latin typeface="Cambria Math" panose="02040503050406030204" pitchFamily="18" charset="0"/>
                <a:ea typeface="Cambria Math" panose="02040503050406030204" pitchFamily="18" charset="0"/>
              </a:rPr>
              <a:t> </a:t>
            </a:r>
            <a:endParaRPr lang="zh-TW" altLang="en-US" sz="3200" dirty="0">
              <a:latin typeface="Cambria Math" panose="02040503050406030204" pitchFamily="18" charset="0"/>
            </a:endParaRPr>
          </a:p>
        </p:txBody>
      </p:sp>
    </p:spTree>
    <p:extLst>
      <p:ext uri="{BB962C8B-B14F-4D97-AF65-F5344CB8AC3E}">
        <p14:creationId xmlns:p14="http://schemas.microsoft.com/office/powerpoint/2010/main" val="1048076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dirty="0"/>
              <a:t>We update the current position # to 5. This automatically updates the tree to </a:t>
            </a:r>
            <a:r>
              <a:rPr lang="en-US" altLang="zh-TW" dirty="0" smtClean="0"/>
              <a:t>this</a:t>
            </a:r>
            <a:r>
              <a:rPr lang="zh-TW" altLang="en-US" dirty="0"/>
              <a:t> ：</a:t>
            </a:r>
            <a:endParaRPr lang="en-US" altLang="zh-TW" dirty="0"/>
          </a:p>
          <a:p>
            <a:endParaRPr lang="zh-TW" altLang="en-US" dirty="0"/>
          </a:p>
        </p:txBody>
      </p:sp>
      <p:sp>
        <p:nvSpPr>
          <p:cNvPr id="12" name="矩形 11"/>
          <p:cNvSpPr/>
          <p:nvPr/>
        </p:nvSpPr>
        <p:spPr>
          <a:xfrm>
            <a:off x="609560" y="2758302"/>
            <a:ext cx="3080202" cy="584775"/>
          </a:xfrm>
          <a:prstGeom prst="rect">
            <a:avLst/>
          </a:prstGeom>
        </p:spPr>
        <p:txBody>
          <a:bodyPr wrap="none">
            <a:spAutoFit/>
          </a:bodyPr>
          <a:lstStyle/>
          <a:p>
            <a:r>
              <a:rPr lang="en-US" altLang="zh-TW" sz="3200" dirty="0" smtClean="0">
                <a:latin typeface="Cambria Math" panose="02040503050406030204" pitchFamily="18" charset="0"/>
                <a:ea typeface="Cambria Math" panose="02040503050406030204" pitchFamily="18" charset="0"/>
              </a:rPr>
              <a:t>S = </a:t>
            </a:r>
            <a:r>
              <a:rPr lang="en-US" altLang="zh-TW" sz="3200" dirty="0" err="1" smtClean="0">
                <a:latin typeface="Cambria Math" panose="02040503050406030204" pitchFamily="18" charset="0"/>
                <a:ea typeface="Cambria Math" panose="02040503050406030204" pitchFamily="18" charset="0"/>
              </a:rPr>
              <a:t>xabx</a:t>
            </a:r>
            <a:r>
              <a:rPr lang="en-US" altLang="zh-TW" sz="3200" dirty="0" err="1" smtClean="0">
                <a:solidFill>
                  <a:srgbClr val="FF0000"/>
                </a:solidFill>
                <a:latin typeface="Cambria Math" panose="02040503050406030204" pitchFamily="18" charset="0"/>
                <a:ea typeface="Cambria Math" panose="02040503050406030204" pitchFamily="18" charset="0"/>
              </a:rPr>
              <a:t>a</a:t>
            </a:r>
            <a:r>
              <a:rPr lang="en-US" altLang="zh-TW" sz="3200" dirty="0" err="1" smtClean="0">
                <a:latin typeface="Cambria Math" panose="02040503050406030204" pitchFamily="18" charset="0"/>
                <a:ea typeface="Cambria Math" panose="02040503050406030204" pitchFamily="18" charset="0"/>
              </a:rPr>
              <a:t>wxabc</a:t>
            </a:r>
            <a:r>
              <a:rPr lang="en-US" altLang="zh-TW" sz="3200" dirty="0" smtClean="0">
                <a:latin typeface="Cambria Math" panose="02040503050406030204" pitchFamily="18" charset="0"/>
                <a:ea typeface="Cambria Math" panose="02040503050406030204" pitchFamily="18" charset="0"/>
              </a:rPr>
              <a:t> </a:t>
            </a:r>
            <a:endParaRPr lang="zh-TW" altLang="en-US" sz="3200" dirty="0">
              <a:latin typeface="Cambria Math" panose="02040503050406030204" pitchFamily="18" charset="0"/>
            </a:endParaRPr>
          </a:p>
        </p:txBody>
      </p:sp>
      <p:grpSp>
        <p:nvGrpSpPr>
          <p:cNvPr id="28" name="群組 27"/>
          <p:cNvGrpSpPr/>
          <p:nvPr/>
        </p:nvGrpSpPr>
        <p:grpSpPr>
          <a:xfrm>
            <a:off x="4744954" y="3313782"/>
            <a:ext cx="3080992" cy="2897547"/>
            <a:chOff x="4744954" y="3313782"/>
            <a:chExt cx="3080992" cy="2897547"/>
          </a:xfrm>
        </p:grpSpPr>
        <p:sp>
          <p:nvSpPr>
            <p:cNvPr id="4" name="橢圓 3"/>
            <p:cNvSpPr/>
            <p:nvPr/>
          </p:nvSpPr>
          <p:spPr>
            <a:xfrm>
              <a:off x="4744954" y="4951514"/>
              <a:ext cx="238897" cy="2224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5926049" y="3313782"/>
              <a:ext cx="1128194" cy="584775"/>
            </a:xfrm>
            <a:prstGeom prst="rect">
              <a:avLst/>
            </a:prstGeom>
            <a:noFill/>
          </p:spPr>
          <p:txBody>
            <a:bodyPr wrap="none" rtlCol="0">
              <a:spAutoFit/>
            </a:bodyPr>
            <a:lstStyle/>
            <a:p>
              <a:r>
                <a:rPr lang="en-US" altLang="zh-TW" sz="3200" dirty="0" err="1" smtClean="0"/>
                <a:t>xabx</a:t>
              </a:r>
              <a:r>
                <a:rPr lang="en-US" altLang="zh-TW" sz="3200" dirty="0" err="1" smtClean="0">
                  <a:solidFill>
                    <a:srgbClr val="FF0000"/>
                  </a:solidFill>
                </a:rPr>
                <a:t>a</a:t>
              </a:r>
              <a:endParaRPr lang="zh-TW" altLang="en-US" sz="3200" dirty="0">
                <a:solidFill>
                  <a:srgbClr val="FF0000"/>
                </a:solidFill>
              </a:endParaRPr>
            </a:p>
          </p:txBody>
        </p:sp>
        <p:sp>
          <p:nvSpPr>
            <p:cNvPr id="9" name="文字方塊 8"/>
            <p:cNvSpPr txBox="1"/>
            <p:nvPr/>
          </p:nvSpPr>
          <p:spPr>
            <a:xfrm>
              <a:off x="5926049" y="4366739"/>
              <a:ext cx="957698" cy="584775"/>
            </a:xfrm>
            <a:prstGeom prst="rect">
              <a:avLst/>
            </a:prstGeom>
            <a:noFill/>
          </p:spPr>
          <p:txBody>
            <a:bodyPr wrap="none" rtlCol="0">
              <a:spAutoFit/>
            </a:bodyPr>
            <a:lstStyle/>
            <a:p>
              <a:r>
                <a:rPr lang="en-US" altLang="zh-TW" sz="3200" dirty="0" err="1" smtClean="0"/>
                <a:t>abx</a:t>
              </a:r>
              <a:r>
                <a:rPr lang="en-US" altLang="zh-TW" sz="3200" dirty="0" err="1" smtClean="0">
                  <a:solidFill>
                    <a:srgbClr val="FF0000"/>
                  </a:solidFill>
                </a:rPr>
                <a:t>a</a:t>
              </a:r>
              <a:endParaRPr lang="zh-TW" altLang="en-US" sz="3200" dirty="0">
                <a:solidFill>
                  <a:srgbClr val="FF0000"/>
                </a:solidFill>
              </a:endParaRPr>
            </a:p>
          </p:txBody>
        </p:sp>
        <p:sp>
          <p:nvSpPr>
            <p:cNvPr id="11" name="文字方塊 10"/>
            <p:cNvSpPr txBox="1"/>
            <p:nvPr/>
          </p:nvSpPr>
          <p:spPr>
            <a:xfrm>
              <a:off x="6024633" y="5358949"/>
              <a:ext cx="760529" cy="584775"/>
            </a:xfrm>
            <a:prstGeom prst="rect">
              <a:avLst/>
            </a:prstGeom>
            <a:noFill/>
          </p:spPr>
          <p:txBody>
            <a:bodyPr wrap="none" rtlCol="0">
              <a:spAutoFit/>
            </a:bodyPr>
            <a:lstStyle/>
            <a:p>
              <a:r>
                <a:rPr lang="en-US" altLang="zh-TW" sz="3200" dirty="0" err="1" smtClean="0"/>
                <a:t>bx</a:t>
              </a:r>
              <a:r>
                <a:rPr lang="en-US" altLang="zh-TW" sz="3200" dirty="0" err="1" smtClean="0">
                  <a:solidFill>
                    <a:srgbClr val="FF0000"/>
                  </a:solidFill>
                </a:rPr>
                <a:t>a</a:t>
              </a:r>
              <a:endParaRPr lang="zh-TW" altLang="en-US" sz="3200" dirty="0">
                <a:solidFill>
                  <a:srgbClr val="FF0000"/>
                </a:solidFill>
              </a:endParaRPr>
            </a:p>
          </p:txBody>
        </p:sp>
        <p:cxnSp>
          <p:nvCxnSpPr>
            <p:cNvPr id="14" name="弧形接點 13"/>
            <p:cNvCxnSpPr>
              <a:stCxn id="4" idx="0"/>
            </p:cNvCxnSpPr>
            <p:nvPr/>
          </p:nvCxnSpPr>
          <p:spPr>
            <a:xfrm rot="5400000" flipH="1" flipV="1">
              <a:off x="5805309" y="3013256"/>
              <a:ext cx="997352" cy="28791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弧形接點 17"/>
            <p:cNvCxnSpPr>
              <a:stCxn id="4" idx="4"/>
            </p:cNvCxnSpPr>
            <p:nvPr/>
          </p:nvCxnSpPr>
          <p:spPr>
            <a:xfrm rot="16200000" flipH="1">
              <a:off x="5826477" y="4211860"/>
              <a:ext cx="1037395" cy="296154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弧形接點 23"/>
            <p:cNvCxnSpPr>
              <a:stCxn id="4" idx="6"/>
            </p:cNvCxnSpPr>
            <p:nvPr/>
          </p:nvCxnSpPr>
          <p:spPr>
            <a:xfrm flipV="1">
              <a:off x="4983851" y="5062724"/>
              <a:ext cx="2842095" cy="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5" name="文字方塊 24"/>
          <p:cNvSpPr txBox="1"/>
          <p:nvPr/>
        </p:nvSpPr>
        <p:spPr>
          <a:xfrm>
            <a:off x="8661735" y="3766703"/>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(root,’x’,2)</a:t>
            </a:r>
            <a:endParaRPr lang="zh-TW" altLang="en-US" dirty="0"/>
          </a:p>
        </p:txBody>
      </p:sp>
      <p:sp>
        <p:nvSpPr>
          <p:cNvPr id="26" name="文字方塊 25"/>
          <p:cNvSpPr txBox="1"/>
          <p:nvPr/>
        </p:nvSpPr>
        <p:spPr>
          <a:xfrm>
            <a:off x="8661735" y="4366739"/>
            <a:ext cx="1512145"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3</a:t>
            </a:r>
            <a:endParaRPr lang="zh-TW" altLang="en-US" dirty="0"/>
          </a:p>
        </p:txBody>
      </p:sp>
      <p:sp>
        <p:nvSpPr>
          <p:cNvPr id="27" name="文字方塊 26"/>
          <p:cNvSpPr txBox="1"/>
          <p:nvPr/>
        </p:nvSpPr>
        <p:spPr>
          <a:xfrm>
            <a:off x="420870" y="3366464"/>
            <a:ext cx="3897687" cy="2585323"/>
          </a:xfrm>
          <a:prstGeom prst="rect">
            <a:avLst/>
          </a:prstGeom>
          <a:noFill/>
        </p:spPr>
        <p:txBody>
          <a:bodyPr wrap="square" rtlCol="0">
            <a:spAutoFit/>
          </a:bodyPr>
          <a:lstStyle/>
          <a:p>
            <a:endParaRPr lang="en-US" altLang="zh-TW" dirty="0" smtClean="0"/>
          </a:p>
          <a:p>
            <a:pPr marL="285750" indent="-285750">
              <a:buFont typeface="Arial" panose="020B0604020202020204" pitchFamily="34" charset="0"/>
              <a:buChar char="•"/>
            </a:pPr>
            <a:r>
              <a:rPr lang="en-US" altLang="zh-TW" dirty="0" smtClean="0"/>
              <a:t>The a suffix from the previous step has never been properly inserted. So it has remained, and since we have progressed one step, it has now grown from </a:t>
            </a:r>
            <a:r>
              <a:rPr lang="en-US" altLang="zh-TW" dirty="0">
                <a:solidFill>
                  <a:srgbClr val="FF0000"/>
                </a:solidFill>
              </a:rPr>
              <a:t>x</a:t>
            </a:r>
            <a:r>
              <a:rPr lang="en-US" altLang="zh-TW" dirty="0" smtClean="0">
                <a:solidFill>
                  <a:srgbClr val="FF0000"/>
                </a:solidFill>
              </a:rPr>
              <a:t> to </a:t>
            </a:r>
            <a:r>
              <a:rPr lang="en-US" altLang="zh-TW" dirty="0" err="1" smtClean="0">
                <a:solidFill>
                  <a:srgbClr val="FF0000"/>
                </a:solidFill>
              </a:rPr>
              <a:t>xa</a:t>
            </a:r>
            <a:r>
              <a:rPr lang="en-US" altLang="zh-TW" dirty="0" smtClean="0"/>
              <a:t>.</a:t>
            </a:r>
          </a:p>
          <a:p>
            <a:pPr marL="285750" indent="-285750">
              <a:buFont typeface="Arial" panose="020B0604020202020204" pitchFamily="34" charset="0"/>
              <a:buChar char="•"/>
            </a:pPr>
            <a:endParaRPr lang="en-US" altLang="zh-TW" dirty="0" smtClean="0"/>
          </a:p>
          <a:p>
            <a:pPr marL="285750" indent="-285750">
              <a:buFont typeface="Arial" panose="020B0604020202020204" pitchFamily="34" charset="0"/>
              <a:buChar char="•"/>
            </a:pPr>
            <a:r>
              <a:rPr lang="en-US" altLang="zh-TW" dirty="0" smtClean="0"/>
              <a:t>And we need to </a:t>
            </a:r>
            <a:r>
              <a:rPr lang="en-US" altLang="zh-TW" dirty="0" smtClean="0">
                <a:solidFill>
                  <a:srgbClr val="FF0000"/>
                </a:solidFill>
              </a:rPr>
              <a:t>insert the new final edge a</a:t>
            </a:r>
            <a:r>
              <a:rPr lang="en-US" altLang="zh-TW" dirty="0" smtClean="0"/>
              <a:t>.</a:t>
            </a:r>
            <a:endParaRPr lang="zh-TW" altLang="en-US" dirty="0"/>
          </a:p>
        </p:txBody>
      </p:sp>
    </p:spTree>
    <p:extLst>
      <p:ext uri="{BB962C8B-B14F-4D97-AF65-F5344CB8AC3E}">
        <p14:creationId xmlns:p14="http://schemas.microsoft.com/office/powerpoint/2010/main" val="2165395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dirty="0"/>
              <a:t>We proceed to step 6 by incrementing #. The tree is automatically updated </a:t>
            </a:r>
            <a:r>
              <a:rPr lang="en-US" altLang="zh-TW" dirty="0" smtClean="0"/>
              <a:t>to</a:t>
            </a:r>
            <a:r>
              <a:rPr lang="zh-TW" altLang="en-US" dirty="0"/>
              <a:t> ：</a:t>
            </a:r>
          </a:p>
        </p:txBody>
      </p:sp>
      <p:sp>
        <p:nvSpPr>
          <p:cNvPr id="5" name="矩形 4"/>
          <p:cNvSpPr/>
          <p:nvPr/>
        </p:nvSpPr>
        <p:spPr>
          <a:xfrm>
            <a:off x="510706" y="2544119"/>
            <a:ext cx="3080202" cy="584775"/>
          </a:xfrm>
          <a:prstGeom prst="rect">
            <a:avLst/>
          </a:prstGeom>
        </p:spPr>
        <p:txBody>
          <a:bodyPr wrap="none">
            <a:spAutoFit/>
          </a:bodyPr>
          <a:lstStyle/>
          <a:p>
            <a:r>
              <a:rPr lang="en-US" altLang="zh-TW" sz="3200" dirty="0" smtClean="0">
                <a:latin typeface="Cambria Math" panose="02040503050406030204" pitchFamily="18" charset="0"/>
                <a:ea typeface="Cambria Math" panose="02040503050406030204" pitchFamily="18" charset="0"/>
              </a:rPr>
              <a:t>S = </a:t>
            </a:r>
            <a:r>
              <a:rPr lang="en-US" altLang="zh-TW" sz="3200" dirty="0" err="1" smtClean="0">
                <a:latin typeface="Cambria Math" panose="02040503050406030204" pitchFamily="18" charset="0"/>
                <a:ea typeface="Cambria Math" panose="02040503050406030204" pitchFamily="18" charset="0"/>
              </a:rPr>
              <a:t>xabxa</a:t>
            </a:r>
            <a:r>
              <a:rPr lang="en-US" altLang="zh-TW" sz="3200" dirty="0" err="1" smtClean="0">
                <a:solidFill>
                  <a:srgbClr val="FF0000"/>
                </a:solidFill>
                <a:latin typeface="Cambria Math" panose="02040503050406030204" pitchFamily="18" charset="0"/>
                <a:ea typeface="Cambria Math" panose="02040503050406030204" pitchFamily="18" charset="0"/>
              </a:rPr>
              <a:t>w</a:t>
            </a:r>
            <a:r>
              <a:rPr lang="en-US" altLang="zh-TW" sz="3200" dirty="0" err="1" smtClean="0">
                <a:latin typeface="Cambria Math" panose="02040503050406030204" pitchFamily="18" charset="0"/>
                <a:ea typeface="Cambria Math" panose="02040503050406030204" pitchFamily="18" charset="0"/>
              </a:rPr>
              <a:t>xabc</a:t>
            </a:r>
            <a:r>
              <a:rPr lang="en-US" altLang="zh-TW" sz="3200" dirty="0" smtClean="0">
                <a:latin typeface="Cambria Math" panose="02040503050406030204" pitchFamily="18" charset="0"/>
                <a:ea typeface="Cambria Math" panose="02040503050406030204" pitchFamily="18" charset="0"/>
              </a:rPr>
              <a:t> </a:t>
            </a:r>
            <a:endParaRPr lang="zh-TW" altLang="en-US" sz="3200" dirty="0">
              <a:latin typeface="Cambria Math" panose="02040503050406030204" pitchFamily="18" charset="0"/>
            </a:endParaRPr>
          </a:p>
        </p:txBody>
      </p:sp>
      <p:sp>
        <p:nvSpPr>
          <p:cNvPr id="6" name="文字方塊 5"/>
          <p:cNvSpPr txBox="1"/>
          <p:nvPr/>
        </p:nvSpPr>
        <p:spPr>
          <a:xfrm>
            <a:off x="560133" y="3302674"/>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(root,’x’,2)</a:t>
            </a:r>
            <a:endParaRPr lang="zh-TW" altLang="en-US" dirty="0"/>
          </a:p>
        </p:txBody>
      </p:sp>
      <p:sp>
        <p:nvSpPr>
          <p:cNvPr id="7" name="文字方塊 6"/>
          <p:cNvSpPr txBox="1"/>
          <p:nvPr/>
        </p:nvSpPr>
        <p:spPr>
          <a:xfrm>
            <a:off x="560133" y="3845786"/>
            <a:ext cx="3348161"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3 (</a:t>
            </a:r>
            <a:r>
              <a:rPr lang="en-US" altLang="zh-TW" dirty="0" smtClean="0">
                <a:solidFill>
                  <a:srgbClr val="FF0000"/>
                </a:solidFill>
              </a:rPr>
              <a:t>“</a:t>
            </a:r>
            <a:r>
              <a:rPr lang="en-US" altLang="zh-TW" dirty="0" err="1" smtClean="0">
                <a:solidFill>
                  <a:srgbClr val="FF0000"/>
                </a:solidFill>
              </a:rPr>
              <a:t>xaw</a:t>
            </a:r>
            <a:r>
              <a:rPr lang="en-US" altLang="zh-TW" dirty="0" smtClean="0">
                <a:solidFill>
                  <a:srgbClr val="FF0000"/>
                </a:solidFill>
              </a:rPr>
              <a:t>”, </a:t>
            </a:r>
            <a:r>
              <a:rPr lang="en-US" altLang="zh-TW" dirty="0" smtClean="0"/>
              <a:t>“aw” , “w”)</a:t>
            </a:r>
            <a:endParaRPr lang="zh-TW" altLang="en-US" dirty="0"/>
          </a:p>
        </p:txBody>
      </p:sp>
      <p:sp>
        <p:nvSpPr>
          <p:cNvPr id="8" name="橢圓 7"/>
          <p:cNvSpPr/>
          <p:nvPr/>
        </p:nvSpPr>
        <p:spPr>
          <a:xfrm>
            <a:off x="4497859" y="430838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弧形接點 9"/>
          <p:cNvCxnSpPr>
            <a:stCxn id="8" idx="0"/>
          </p:cNvCxnSpPr>
          <p:nvPr/>
        </p:nvCxnSpPr>
        <p:spPr>
          <a:xfrm rot="5400000" flipH="1" flipV="1">
            <a:off x="4740527" y="3200051"/>
            <a:ext cx="1005715" cy="121096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橢圓 10"/>
          <p:cNvSpPr/>
          <p:nvPr/>
        </p:nvSpPr>
        <p:spPr>
          <a:xfrm>
            <a:off x="5848866" y="316674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弧形接點 12"/>
          <p:cNvCxnSpPr>
            <a:stCxn id="11" idx="0"/>
          </p:cNvCxnSpPr>
          <p:nvPr/>
        </p:nvCxnSpPr>
        <p:spPr>
          <a:xfrm rot="5400000" flipH="1" flipV="1">
            <a:off x="6654464" y="2242403"/>
            <a:ext cx="258792" cy="158990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弧形接點 14"/>
          <p:cNvCxnSpPr>
            <a:stCxn id="11" idx="4"/>
          </p:cNvCxnSpPr>
          <p:nvPr/>
        </p:nvCxnSpPr>
        <p:spPr>
          <a:xfrm rot="16200000" flipH="1">
            <a:off x="6759489" y="2668018"/>
            <a:ext cx="48742" cy="158990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弧形接點 16"/>
          <p:cNvCxnSpPr>
            <a:stCxn id="8" idx="4"/>
          </p:cNvCxnSpPr>
          <p:nvPr/>
        </p:nvCxnSpPr>
        <p:spPr>
          <a:xfrm rot="16200000" flipH="1">
            <a:off x="5417843" y="3800298"/>
            <a:ext cx="1273936" cy="283381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弧形接點 20"/>
          <p:cNvCxnSpPr/>
          <p:nvPr/>
        </p:nvCxnSpPr>
        <p:spPr>
          <a:xfrm>
            <a:off x="4637902" y="4444313"/>
            <a:ext cx="2940909"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6258331" y="2289588"/>
            <a:ext cx="1051057" cy="584775"/>
          </a:xfrm>
          <a:prstGeom prst="rect">
            <a:avLst/>
          </a:prstGeom>
          <a:noFill/>
        </p:spPr>
        <p:txBody>
          <a:bodyPr wrap="none" rtlCol="0">
            <a:spAutoFit/>
          </a:bodyPr>
          <a:lstStyle/>
          <a:p>
            <a:r>
              <a:rPr lang="en-US" altLang="zh-TW" sz="3200" dirty="0" err="1" smtClean="0"/>
              <a:t>bxaw</a:t>
            </a:r>
            <a:endParaRPr lang="zh-TW" altLang="en-US" sz="3200" dirty="0"/>
          </a:p>
        </p:txBody>
      </p:sp>
      <p:sp>
        <p:nvSpPr>
          <p:cNvPr id="24" name="文字方塊 23"/>
          <p:cNvSpPr txBox="1"/>
          <p:nvPr/>
        </p:nvSpPr>
        <p:spPr>
          <a:xfrm>
            <a:off x="4414888" y="3267604"/>
            <a:ext cx="552331" cy="584775"/>
          </a:xfrm>
          <a:prstGeom prst="rect">
            <a:avLst/>
          </a:prstGeom>
          <a:noFill/>
        </p:spPr>
        <p:txBody>
          <a:bodyPr wrap="none" rtlCol="0">
            <a:spAutoFit/>
          </a:bodyPr>
          <a:lstStyle/>
          <a:p>
            <a:r>
              <a:rPr lang="en-US" altLang="zh-TW" sz="3200" dirty="0" err="1" smtClean="0"/>
              <a:t>xa</a:t>
            </a:r>
            <a:endParaRPr lang="zh-TW" altLang="en-US" sz="3200" dirty="0"/>
          </a:p>
        </p:txBody>
      </p:sp>
      <p:sp>
        <p:nvSpPr>
          <p:cNvPr id="25" name="文字方塊 24"/>
          <p:cNvSpPr txBox="1"/>
          <p:nvPr/>
        </p:nvSpPr>
        <p:spPr>
          <a:xfrm>
            <a:off x="6544851" y="2977637"/>
            <a:ext cx="478016" cy="584775"/>
          </a:xfrm>
          <a:prstGeom prst="rect">
            <a:avLst/>
          </a:prstGeom>
          <a:noFill/>
        </p:spPr>
        <p:txBody>
          <a:bodyPr wrap="none" rtlCol="0">
            <a:spAutoFit/>
          </a:bodyPr>
          <a:lstStyle/>
          <a:p>
            <a:r>
              <a:rPr lang="en-US" altLang="zh-TW" sz="3200" dirty="0" smtClean="0">
                <a:solidFill>
                  <a:srgbClr val="FF0000"/>
                </a:solidFill>
              </a:rPr>
              <a:t>w</a:t>
            </a:r>
            <a:endParaRPr lang="zh-TW" altLang="en-US" sz="3200" dirty="0">
              <a:solidFill>
                <a:srgbClr val="FF0000"/>
              </a:solidFill>
            </a:endParaRPr>
          </a:p>
        </p:txBody>
      </p:sp>
      <p:sp>
        <p:nvSpPr>
          <p:cNvPr id="26" name="文字方塊 25"/>
          <p:cNvSpPr txBox="1"/>
          <p:nvPr/>
        </p:nvSpPr>
        <p:spPr>
          <a:xfrm>
            <a:off x="5848866" y="3732593"/>
            <a:ext cx="1248227" cy="584775"/>
          </a:xfrm>
          <a:prstGeom prst="rect">
            <a:avLst/>
          </a:prstGeom>
          <a:noFill/>
        </p:spPr>
        <p:txBody>
          <a:bodyPr wrap="none" rtlCol="0">
            <a:spAutoFit/>
          </a:bodyPr>
          <a:lstStyle/>
          <a:p>
            <a:r>
              <a:rPr lang="en-US" altLang="zh-TW" sz="3200" dirty="0" err="1" smtClean="0"/>
              <a:t>abxaw</a:t>
            </a:r>
            <a:endParaRPr lang="zh-TW" altLang="en-US" sz="3200" dirty="0"/>
          </a:p>
        </p:txBody>
      </p:sp>
      <p:sp>
        <p:nvSpPr>
          <p:cNvPr id="27" name="文字方塊 26"/>
          <p:cNvSpPr txBox="1"/>
          <p:nvPr/>
        </p:nvSpPr>
        <p:spPr>
          <a:xfrm>
            <a:off x="5947450" y="4852162"/>
            <a:ext cx="1051057" cy="584775"/>
          </a:xfrm>
          <a:prstGeom prst="rect">
            <a:avLst/>
          </a:prstGeom>
          <a:noFill/>
        </p:spPr>
        <p:txBody>
          <a:bodyPr wrap="none" rtlCol="0">
            <a:spAutoFit/>
          </a:bodyPr>
          <a:lstStyle/>
          <a:p>
            <a:r>
              <a:rPr lang="en-US" altLang="zh-TW" sz="3200" dirty="0" err="1" smtClean="0"/>
              <a:t>bxaw</a:t>
            </a:r>
            <a:endParaRPr lang="zh-TW" altLang="en-US" sz="3200" dirty="0"/>
          </a:p>
        </p:txBody>
      </p:sp>
      <p:sp>
        <p:nvSpPr>
          <p:cNvPr id="28" name="文字方塊 27"/>
          <p:cNvSpPr txBox="1"/>
          <p:nvPr/>
        </p:nvSpPr>
        <p:spPr>
          <a:xfrm>
            <a:off x="9019910" y="3302673"/>
            <a:ext cx="2701381"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2</a:t>
            </a:r>
            <a:r>
              <a:rPr lang="en-US" altLang="zh-TW" dirty="0" smtClean="0"/>
              <a:t> (“aw” , “w”)</a:t>
            </a:r>
            <a:endParaRPr lang="zh-TW" altLang="en-US" dirty="0"/>
          </a:p>
        </p:txBody>
      </p:sp>
    </p:spTree>
    <p:extLst>
      <p:ext uri="{BB962C8B-B14F-4D97-AF65-F5344CB8AC3E}">
        <p14:creationId xmlns:p14="http://schemas.microsoft.com/office/powerpoint/2010/main" val="2727944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5" name="文字方塊 4"/>
          <p:cNvSpPr txBox="1"/>
          <p:nvPr/>
        </p:nvSpPr>
        <p:spPr>
          <a:xfrm>
            <a:off x="277642" y="1418358"/>
            <a:ext cx="11799029" cy="5047536"/>
          </a:xfrm>
          <a:prstGeom prst="rect">
            <a:avLst/>
          </a:prstGeom>
          <a:noFill/>
        </p:spPr>
        <p:txBody>
          <a:bodyPr wrap="square" rtlCol="0">
            <a:spAutoFit/>
          </a:bodyPr>
          <a:lstStyle/>
          <a:p>
            <a:r>
              <a:rPr lang="en-US" altLang="zh-TW" sz="2800" dirty="0" smtClean="0"/>
              <a:t>Rule1</a:t>
            </a:r>
            <a:r>
              <a:rPr lang="zh-TW" altLang="en-US" sz="2800" dirty="0" smtClean="0">
                <a:latin typeface="新細明體" panose="02020500000000000000" pitchFamily="18" charset="-120"/>
                <a:ea typeface="新細明體" panose="02020500000000000000" pitchFamily="18" charset="-120"/>
              </a:rPr>
              <a:t>：當活動點為</a:t>
            </a:r>
            <a:r>
              <a:rPr lang="en-US" altLang="zh-TW" sz="2800" dirty="0" smtClean="0">
                <a:latin typeface="新細明體" panose="02020500000000000000" pitchFamily="18" charset="-120"/>
                <a:ea typeface="新細明體" panose="02020500000000000000" pitchFamily="18" charset="-120"/>
              </a:rPr>
              <a:t>root</a:t>
            </a:r>
            <a:r>
              <a:rPr lang="zh-TW" altLang="en-US" sz="2800" dirty="0" smtClean="0">
                <a:latin typeface="新細明體" panose="02020500000000000000" pitchFamily="18" charset="-120"/>
                <a:ea typeface="新細明體" panose="02020500000000000000" pitchFamily="18" charset="-120"/>
              </a:rPr>
              <a:t>時遵</a:t>
            </a:r>
            <a:r>
              <a:rPr lang="zh-TW" altLang="en-US" sz="2800" dirty="0">
                <a:latin typeface="新細明體" panose="02020500000000000000" pitchFamily="18" charset="-120"/>
                <a:ea typeface="新細明體" panose="02020500000000000000" pitchFamily="18" charset="-120"/>
              </a:rPr>
              <a:t>守</a:t>
            </a:r>
            <a:endParaRPr lang="en-US" altLang="zh-TW" sz="2800" dirty="0" smtClean="0">
              <a:latin typeface="新細明體" panose="02020500000000000000" pitchFamily="18" charset="-120"/>
              <a:ea typeface="新細明體" panose="02020500000000000000" pitchFamily="18" charset="-120"/>
            </a:endParaRPr>
          </a:p>
          <a:p>
            <a:endParaRPr lang="en-US" altLang="zh-TW" sz="2800" dirty="0" smtClean="0">
              <a:solidFill>
                <a:srgbClr val="FF0000"/>
              </a:solidFill>
              <a:latin typeface="新細明體" panose="02020500000000000000" pitchFamily="18" charset="-120"/>
              <a:ea typeface="新細明體" panose="02020500000000000000" pitchFamily="18" charset="-120"/>
            </a:endParaRPr>
          </a:p>
          <a:p>
            <a:pPr marL="457200" indent="-457200">
              <a:buFont typeface="Arial" panose="020B0604020202020204" pitchFamily="34" charset="0"/>
              <a:buChar char="•"/>
            </a:pPr>
            <a:r>
              <a:rPr lang="en-US" altLang="zh-TW" sz="2800" dirty="0" err="1">
                <a:latin typeface="Cambria Math" panose="02040503050406030204" pitchFamily="18" charset="0"/>
                <a:ea typeface="Cambria Math" panose="02040503050406030204" pitchFamily="18" charset="0"/>
              </a:rPr>
              <a:t>active_node</a:t>
            </a:r>
            <a:r>
              <a:rPr lang="en-US" altLang="zh-TW" sz="2800" dirty="0">
                <a:latin typeface="Cambria Math" panose="02040503050406030204" pitchFamily="18" charset="0"/>
                <a:ea typeface="Cambria Math" panose="02040503050406030204" pitchFamily="18" charset="0"/>
              </a:rPr>
              <a:t> </a:t>
            </a:r>
            <a:r>
              <a:rPr lang="zh-TW" altLang="en-US" sz="2800" dirty="0" smtClean="0">
                <a:latin typeface="新細明體" panose="02020500000000000000" pitchFamily="18" charset="-120"/>
                <a:ea typeface="新細明體" panose="02020500000000000000" pitchFamily="18" charset="-120"/>
              </a:rPr>
              <a:t>：</a:t>
            </a:r>
            <a:r>
              <a:rPr lang="zh-TW" altLang="en-US" sz="2800" dirty="0" smtClean="0">
                <a:latin typeface="Cambria Math" panose="02040503050406030204" pitchFamily="18" charset="0"/>
                <a:ea typeface="Cambria Math" panose="02040503050406030204" pitchFamily="18" charset="0"/>
              </a:rPr>
              <a:t>保持為</a:t>
            </a:r>
            <a:r>
              <a:rPr lang="en-US" altLang="zh-TW" sz="2800" dirty="0" smtClean="0">
                <a:latin typeface="Cambria Math" panose="02040503050406030204" pitchFamily="18" charset="0"/>
                <a:ea typeface="Cambria Math" panose="02040503050406030204" pitchFamily="18" charset="0"/>
              </a:rPr>
              <a:t>root.</a:t>
            </a:r>
          </a:p>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altLang="zh-TW" sz="2800" dirty="0" err="1" smtClean="0">
                <a:latin typeface="Cambria Math" panose="02040503050406030204" pitchFamily="18" charset="0"/>
                <a:ea typeface="Cambria Math" panose="02040503050406030204" pitchFamily="18" charset="0"/>
              </a:rPr>
              <a:t>active_edge</a:t>
            </a:r>
            <a:r>
              <a:rPr lang="zh-TW" altLang="en-US" sz="2800" dirty="0">
                <a:latin typeface="新細明體" panose="02020500000000000000" pitchFamily="18" charset="-120"/>
              </a:rPr>
              <a:t> ：</a:t>
            </a:r>
            <a:r>
              <a:rPr lang="en-US" altLang="zh-TW" sz="2800" dirty="0" smtClean="0">
                <a:latin typeface="Cambria Math" panose="02040503050406030204" pitchFamily="18" charset="0"/>
                <a:ea typeface="Cambria Math" panose="02040503050406030204" pitchFamily="18" charset="0"/>
              </a:rPr>
              <a:t> </a:t>
            </a:r>
            <a:r>
              <a:rPr lang="zh-TW" altLang="en-US" sz="2800" dirty="0" smtClean="0">
                <a:latin typeface="Cambria Math" panose="02040503050406030204" pitchFamily="18" charset="0"/>
                <a:ea typeface="Cambria Math" panose="02040503050406030204" pitchFamily="18" charset="0"/>
              </a:rPr>
              <a:t>改成下一個</a:t>
            </a:r>
            <a:r>
              <a:rPr lang="en-US" altLang="zh-TW" sz="2800" dirty="0" smtClean="0">
                <a:latin typeface="Cambria Math" panose="02040503050406030204" pitchFamily="18" charset="0"/>
                <a:ea typeface="Cambria Math" panose="02040503050406030204" pitchFamily="18" charset="0"/>
              </a:rPr>
              <a:t>suffix</a:t>
            </a:r>
            <a:r>
              <a:rPr lang="zh-TW" altLang="en-US" sz="2800" dirty="0" smtClean="0">
                <a:latin typeface="Cambria Math" panose="02040503050406030204" pitchFamily="18" charset="0"/>
                <a:ea typeface="Cambria Math" panose="02040503050406030204" pitchFamily="18" charset="0"/>
              </a:rPr>
              <a:t>的第一個字母</a:t>
            </a:r>
            <a:r>
              <a:rPr lang="en-US" altLang="zh-TW" sz="2800" dirty="0" smtClean="0">
                <a:latin typeface="Cambria Math" panose="02040503050406030204" pitchFamily="18" charset="0"/>
                <a:ea typeface="Cambria Math" panose="02040503050406030204" pitchFamily="18" charset="0"/>
              </a:rPr>
              <a:t> </a:t>
            </a:r>
          </a:p>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altLang="zh-TW" sz="2800" dirty="0" err="1" smtClean="0">
                <a:latin typeface="Cambria Math" panose="02040503050406030204" pitchFamily="18" charset="0"/>
                <a:ea typeface="Cambria Math" panose="02040503050406030204" pitchFamily="18" charset="0"/>
              </a:rPr>
              <a:t>active_length</a:t>
            </a:r>
            <a:r>
              <a:rPr lang="zh-TW" altLang="en-US" sz="2800" dirty="0" smtClean="0">
                <a:latin typeface="新細明體" panose="02020500000000000000" pitchFamily="18" charset="-120"/>
              </a:rPr>
              <a:t> ：減 </a:t>
            </a:r>
            <a:r>
              <a:rPr lang="en-US" altLang="zh-TW" sz="2800" dirty="0" smtClean="0">
                <a:latin typeface="新細明體" panose="02020500000000000000" pitchFamily="18" charset="-120"/>
              </a:rPr>
              <a:t>1</a:t>
            </a:r>
            <a:endParaRPr lang="en-US" altLang="zh-TW" sz="2800" dirty="0" smtClean="0">
              <a:latin typeface="Cambria Math" panose="02040503050406030204" pitchFamily="18" charset="0"/>
              <a:ea typeface="Cambria Math" panose="02040503050406030204" pitchFamily="18" charset="0"/>
            </a:endParaRPr>
          </a:p>
          <a:p>
            <a:endParaRPr lang="en-US" altLang="zh-TW" dirty="0">
              <a:latin typeface="新細明體" panose="02020500000000000000" pitchFamily="18" charset="-120"/>
              <a:ea typeface="新細明體" panose="02020500000000000000" pitchFamily="18" charset="-120"/>
            </a:endParaRPr>
          </a:p>
          <a:p>
            <a:endParaRPr lang="en-US" altLang="zh-TW" dirty="0" smtClean="0">
              <a:latin typeface="新細明體" panose="02020500000000000000" pitchFamily="18" charset="-120"/>
              <a:ea typeface="新細明體" panose="02020500000000000000" pitchFamily="18" charset="-120"/>
            </a:endParaRPr>
          </a:p>
          <a:p>
            <a:endParaRPr lang="en-US" altLang="zh-TW" dirty="0">
              <a:latin typeface="新細明體" panose="02020500000000000000" pitchFamily="18" charset="-120"/>
              <a:ea typeface="新細明體" panose="02020500000000000000" pitchFamily="18" charset="-120"/>
            </a:endParaRPr>
          </a:p>
          <a:p>
            <a:endParaRPr lang="en-US" altLang="zh-TW" dirty="0" smtClean="0">
              <a:latin typeface="新細明體" panose="02020500000000000000" pitchFamily="18" charset="-120"/>
              <a:ea typeface="新細明體" panose="02020500000000000000" pitchFamily="18" charset="-120"/>
            </a:endParaRPr>
          </a:p>
          <a:p>
            <a:endParaRPr lang="en-US" altLang="zh-TW" dirty="0">
              <a:latin typeface="新細明體" panose="02020500000000000000" pitchFamily="18" charset="-120"/>
              <a:ea typeface="新細明體" panose="02020500000000000000" pitchFamily="18" charset="-120"/>
            </a:endParaRPr>
          </a:p>
          <a:p>
            <a:endParaRPr lang="en-US" altLang="zh-TW" dirty="0" smtClean="0">
              <a:latin typeface="新細明體" panose="02020500000000000000" pitchFamily="18" charset="-120"/>
              <a:ea typeface="新細明體" panose="02020500000000000000" pitchFamily="18" charset="-120"/>
            </a:endParaRPr>
          </a:p>
          <a:p>
            <a:endParaRPr lang="zh-TW" altLang="en-US" dirty="0"/>
          </a:p>
        </p:txBody>
      </p:sp>
      <p:sp>
        <p:nvSpPr>
          <p:cNvPr id="6" name="文字方塊 5"/>
          <p:cNvSpPr txBox="1"/>
          <p:nvPr/>
        </p:nvSpPr>
        <p:spPr>
          <a:xfrm>
            <a:off x="691938" y="5139712"/>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(root,’x’,2)</a:t>
            </a:r>
            <a:endParaRPr lang="zh-TW" altLang="en-US" dirty="0"/>
          </a:p>
        </p:txBody>
      </p:sp>
      <p:sp>
        <p:nvSpPr>
          <p:cNvPr id="7" name="文字方塊 6"/>
          <p:cNvSpPr txBox="1"/>
          <p:nvPr/>
        </p:nvSpPr>
        <p:spPr>
          <a:xfrm>
            <a:off x="691938" y="5880532"/>
            <a:ext cx="3348161"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3 (“</a:t>
            </a:r>
            <a:r>
              <a:rPr lang="en-US" altLang="zh-TW" dirty="0" err="1" smtClean="0"/>
              <a:t>xaw</a:t>
            </a:r>
            <a:r>
              <a:rPr lang="en-US" altLang="zh-TW" dirty="0" smtClean="0"/>
              <a:t>”, “aw” , “w”)</a:t>
            </a:r>
            <a:endParaRPr lang="zh-TW" altLang="en-US" dirty="0"/>
          </a:p>
        </p:txBody>
      </p:sp>
      <p:sp>
        <p:nvSpPr>
          <p:cNvPr id="8" name="向右箭號 7"/>
          <p:cNvSpPr/>
          <p:nvPr/>
        </p:nvSpPr>
        <p:spPr>
          <a:xfrm>
            <a:off x="5173362" y="5509044"/>
            <a:ext cx="757881" cy="3974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6738511" y="5880532"/>
            <a:ext cx="2754280"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2  (“aw” , “w”)</a:t>
            </a:r>
            <a:endParaRPr lang="zh-TW" altLang="en-US" dirty="0"/>
          </a:p>
        </p:txBody>
      </p:sp>
      <p:sp>
        <p:nvSpPr>
          <p:cNvPr id="10" name="文字方塊 9"/>
          <p:cNvSpPr txBox="1"/>
          <p:nvPr/>
        </p:nvSpPr>
        <p:spPr>
          <a:xfrm>
            <a:off x="6738511" y="5139712"/>
            <a:ext cx="2511778"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(root,’a’,</a:t>
            </a:r>
            <a:r>
              <a:rPr lang="en-US" altLang="zh-TW" dirty="0"/>
              <a:t>1</a:t>
            </a:r>
            <a:r>
              <a:rPr lang="en-US" altLang="zh-TW" dirty="0" smtClean="0"/>
              <a:t>)</a:t>
            </a:r>
            <a:endParaRPr lang="zh-TW" altLang="en-US" dirty="0"/>
          </a:p>
        </p:txBody>
      </p:sp>
    </p:spTree>
    <p:extLst>
      <p:ext uri="{BB962C8B-B14F-4D97-AF65-F5344CB8AC3E}">
        <p14:creationId xmlns:p14="http://schemas.microsoft.com/office/powerpoint/2010/main" val="1470394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sz="2800" dirty="0">
                <a:latin typeface="Cambria Math" panose="02040503050406030204" pitchFamily="18" charset="0"/>
                <a:ea typeface="Cambria Math" panose="02040503050406030204" pitchFamily="18" charset="0"/>
              </a:rPr>
              <a:t>S = </a:t>
            </a:r>
            <a:r>
              <a:rPr lang="en-US" altLang="zh-TW" sz="2800" dirty="0" err="1">
                <a:latin typeface="Cambria Math" panose="02040503050406030204" pitchFamily="18" charset="0"/>
                <a:ea typeface="Cambria Math" panose="02040503050406030204" pitchFamily="18" charset="0"/>
              </a:rPr>
              <a:t>xabxa</a:t>
            </a:r>
            <a:r>
              <a:rPr lang="en-US" altLang="zh-TW" sz="2800" dirty="0" err="1">
                <a:solidFill>
                  <a:srgbClr val="FF0000"/>
                </a:solidFill>
                <a:latin typeface="Cambria Math" panose="02040503050406030204" pitchFamily="18" charset="0"/>
                <a:ea typeface="Cambria Math" panose="02040503050406030204" pitchFamily="18" charset="0"/>
              </a:rPr>
              <a:t>w</a:t>
            </a:r>
            <a:r>
              <a:rPr lang="en-US" altLang="zh-TW" sz="2800" dirty="0" err="1">
                <a:latin typeface="Cambria Math" panose="02040503050406030204" pitchFamily="18" charset="0"/>
                <a:ea typeface="Cambria Math" panose="02040503050406030204" pitchFamily="18" charset="0"/>
              </a:rPr>
              <a:t>xabc</a:t>
            </a:r>
            <a:r>
              <a:rPr lang="en-US" altLang="zh-TW" sz="2800" dirty="0">
                <a:latin typeface="Cambria Math" panose="02040503050406030204" pitchFamily="18" charset="0"/>
                <a:ea typeface="Cambria Math" panose="02040503050406030204" pitchFamily="18" charset="0"/>
              </a:rPr>
              <a:t> </a:t>
            </a:r>
            <a:endParaRPr lang="zh-TW" altLang="en-US" sz="2800" dirty="0">
              <a:latin typeface="Cambria Math" panose="02040503050406030204" pitchFamily="18" charset="0"/>
            </a:endParaRPr>
          </a:p>
          <a:p>
            <a:endParaRPr lang="zh-TW" altLang="en-US" dirty="0"/>
          </a:p>
        </p:txBody>
      </p:sp>
      <p:sp>
        <p:nvSpPr>
          <p:cNvPr id="4" name="橢圓 3"/>
          <p:cNvSpPr/>
          <p:nvPr/>
        </p:nvSpPr>
        <p:spPr>
          <a:xfrm>
            <a:off x="4497859" y="430838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弧形接點 4"/>
          <p:cNvCxnSpPr>
            <a:stCxn id="4" idx="0"/>
          </p:cNvCxnSpPr>
          <p:nvPr/>
        </p:nvCxnSpPr>
        <p:spPr>
          <a:xfrm rot="5400000" flipH="1" flipV="1">
            <a:off x="4740527" y="320005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橢圓 5"/>
          <p:cNvSpPr/>
          <p:nvPr/>
        </p:nvSpPr>
        <p:spPr>
          <a:xfrm>
            <a:off x="5848866" y="316674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6654465" y="224240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弧形接點 7"/>
          <p:cNvCxnSpPr>
            <a:stCxn id="6" idx="4"/>
          </p:cNvCxnSpPr>
          <p:nvPr/>
        </p:nvCxnSpPr>
        <p:spPr>
          <a:xfrm rot="16200000" flipH="1">
            <a:off x="6759489" y="266801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弧形接點 8"/>
          <p:cNvCxnSpPr>
            <a:stCxn id="4" idx="4"/>
          </p:cNvCxnSpPr>
          <p:nvPr/>
        </p:nvCxnSpPr>
        <p:spPr>
          <a:xfrm rot="16200000" flipH="1">
            <a:off x="5417843" y="3800298"/>
            <a:ext cx="1273936" cy="283381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弧形接點 9"/>
          <p:cNvCxnSpPr/>
          <p:nvPr/>
        </p:nvCxnSpPr>
        <p:spPr>
          <a:xfrm>
            <a:off x="4637902" y="444431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6258331" y="2289588"/>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12" name="文字方塊 11"/>
          <p:cNvSpPr txBox="1"/>
          <p:nvPr/>
        </p:nvSpPr>
        <p:spPr>
          <a:xfrm>
            <a:off x="4414888" y="3267604"/>
            <a:ext cx="552331" cy="584775"/>
          </a:xfrm>
          <a:prstGeom prst="rect">
            <a:avLst/>
          </a:prstGeom>
          <a:noFill/>
        </p:spPr>
        <p:txBody>
          <a:bodyPr wrap="square" rtlCol="0">
            <a:spAutoFit/>
          </a:bodyPr>
          <a:lstStyle/>
          <a:p>
            <a:r>
              <a:rPr lang="en-US" altLang="zh-TW" sz="3200" dirty="0" err="1" smtClean="0"/>
              <a:t>xa</a:t>
            </a:r>
            <a:endParaRPr lang="zh-TW" altLang="en-US" sz="3200" dirty="0"/>
          </a:p>
        </p:txBody>
      </p:sp>
      <p:sp>
        <p:nvSpPr>
          <p:cNvPr id="13" name="文字方塊 12"/>
          <p:cNvSpPr txBox="1"/>
          <p:nvPr/>
        </p:nvSpPr>
        <p:spPr>
          <a:xfrm>
            <a:off x="6544851" y="2977637"/>
            <a:ext cx="478016" cy="584775"/>
          </a:xfrm>
          <a:prstGeom prst="rect">
            <a:avLst/>
          </a:prstGeom>
          <a:noFill/>
        </p:spPr>
        <p:txBody>
          <a:bodyPr wrap="square" rtlCol="0">
            <a:spAutoFit/>
          </a:bodyPr>
          <a:lstStyle/>
          <a:p>
            <a:r>
              <a:rPr lang="en-US" altLang="zh-TW" sz="3200" dirty="0" smtClean="0"/>
              <a:t>w</a:t>
            </a:r>
            <a:endParaRPr lang="zh-TW" altLang="en-US" sz="3200" dirty="0"/>
          </a:p>
        </p:txBody>
      </p:sp>
      <p:sp>
        <p:nvSpPr>
          <p:cNvPr id="14" name="文字方塊 13"/>
          <p:cNvSpPr txBox="1"/>
          <p:nvPr/>
        </p:nvSpPr>
        <p:spPr>
          <a:xfrm>
            <a:off x="7453974" y="4151925"/>
            <a:ext cx="1248227" cy="584775"/>
          </a:xfrm>
          <a:prstGeom prst="rect">
            <a:avLst/>
          </a:prstGeom>
          <a:noFill/>
        </p:spPr>
        <p:txBody>
          <a:bodyPr wrap="square" rtlCol="0">
            <a:spAutoFit/>
          </a:bodyPr>
          <a:lstStyle/>
          <a:p>
            <a:r>
              <a:rPr lang="en-US" altLang="zh-TW" sz="3200" dirty="0" smtClean="0">
                <a:solidFill>
                  <a:srgbClr val="FF0000"/>
                </a:solidFill>
              </a:rPr>
              <a:t>w</a:t>
            </a:r>
            <a:endParaRPr lang="zh-TW" altLang="en-US" sz="3200" dirty="0">
              <a:solidFill>
                <a:srgbClr val="FF0000"/>
              </a:solidFill>
            </a:endParaRPr>
          </a:p>
        </p:txBody>
      </p:sp>
      <p:sp>
        <p:nvSpPr>
          <p:cNvPr id="15" name="文字方塊 14"/>
          <p:cNvSpPr txBox="1"/>
          <p:nvPr/>
        </p:nvSpPr>
        <p:spPr>
          <a:xfrm>
            <a:off x="5947450" y="4852162"/>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19" name="橢圓 18"/>
          <p:cNvSpPr/>
          <p:nvPr/>
        </p:nvSpPr>
        <p:spPr>
          <a:xfrm>
            <a:off x="6376086" y="433393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弧形接點 20"/>
          <p:cNvCxnSpPr>
            <a:stCxn id="19" idx="0"/>
          </p:cNvCxnSpPr>
          <p:nvPr/>
        </p:nvCxnSpPr>
        <p:spPr>
          <a:xfrm rot="5400000" flipH="1" flipV="1">
            <a:off x="7733223" y="275016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5365487" y="3804351"/>
            <a:ext cx="423057" cy="584775"/>
          </a:xfrm>
          <a:prstGeom prst="rect">
            <a:avLst/>
          </a:prstGeom>
          <a:noFill/>
        </p:spPr>
        <p:txBody>
          <a:bodyPr wrap="square" rtlCol="0">
            <a:spAutoFit/>
          </a:bodyPr>
          <a:lstStyle/>
          <a:p>
            <a:r>
              <a:rPr lang="en-US" altLang="zh-TW" sz="3200" dirty="0" smtClean="0"/>
              <a:t>a</a:t>
            </a:r>
            <a:endParaRPr lang="zh-TW" altLang="en-US" sz="3200" dirty="0">
              <a:solidFill>
                <a:srgbClr val="FF0000"/>
              </a:solidFill>
            </a:endParaRPr>
          </a:p>
        </p:txBody>
      </p:sp>
      <p:sp>
        <p:nvSpPr>
          <p:cNvPr id="25" name="文字方塊 24"/>
          <p:cNvSpPr txBox="1"/>
          <p:nvPr/>
        </p:nvSpPr>
        <p:spPr>
          <a:xfrm>
            <a:off x="7366705" y="3476067"/>
            <a:ext cx="1101792" cy="584775"/>
          </a:xfrm>
          <a:prstGeom prst="rect">
            <a:avLst/>
          </a:prstGeom>
          <a:noFill/>
        </p:spPr>
        <p:txBody>
          <a:bodyPr wrap="square" rtlCol="0">
            <a:spAutoFit/>
          </a:bodyPr>
          <a:lstStyle/>
          <a:p>
            <a:r>
              <a:rPr lang="en-US" altLang="zh-TW" sz="3200" dirty="0" err="1" smtClean="0"/>
              <a:t>bxaw</a:t>
            </a:r>
            <a:endParaRPr lang="zh-TW" altLang="en-US" sz="3200" dirty="0">
              <a:solidFill>
                <a:srgbClr val="FF0000"/>
              </a:solidFill>
            </a:endParaRPr>
          </a:p>
        </p:txBody>
      </p:sp>
      <p:cxnSp>
        <p:nvCxnSpPr>
          <p:cNvPr id="27" name="弧形接點 26"/>
          <p:cNvCxnSpPr>
            <a:stCxn id="19" idx="4"/>
          </p:cNvCxnSpPr>
          <p:nvPr/>
        </p:nvCxnSpPr>
        <p:spPr>
          <a:xfrm rot="16200000" flipH="1">
            <a:off x="7793375" y="332854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609560" y="2397309"/>
            <a:ext cx="2511778"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(root,’a’,</a:t>
            </a:r>
            <a:r>
              <a:rPr lang="en-US" altLang="zh-TW" dirty="0"/>
              <a:t>1</a:t>
            </a:r>
            <a:r>
              <a:rPr lang="en-US" altLang="zh-TW" dirty="0" smtClean="0"/>
              <a:t>)</a:t>
            </a:r>
            <a:endParaRPr lang="zh-TW" altLang="en-US" dirty="0"/>
          </a:p>
        </p:txBody>
      </p:sp>
      <p:sp>
        <p:nvSpPr>
          <p:cNvPr id="29" name="文字方塊 28"/>
          <p:cNvSpPr txBox="1"/>
          <p:nvPr/>
        </p:nvSpPr>
        <p:spPr>
          <a:xfrm>
            <a:off x="609560" y="3049861"/>
            <a:ext cx="2754280"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2  </a:t>
            </a:r>
            <a:r>
              <a:rPr lang="en-US" altLang="zh-TW" dirty="0" smtClean="0">
                <a:solidFill>
                  <a:srgbClr val="FF0000"/>
                </a:solidFill>
              </a:rPr>
              <a:t>(“aw” </a:t>
            </a:r>
            <a:r>
              <a:rPr lang="en-US" altLang="zh-TW" dirty="0" smtClean="0"/>
              <a:t>, “w”)</a:t>
            </a:r>
            <a:endParaRPr lang="zh-TW" altLang="en-US" dirty="0"/>
          </a:p>
        </p:txBody>
      </p:sp>
      <p:sp>
        <p:nvSpPr>
          <p:cNvPr id="30" name="向下箭號 29"/>
          <p:cNvSpPr/>
          <p:nvPr/>
        </p:nvSpPr>
        <p:spPr>
          <a:xfrm>
            <a:off x="1663622" y="3726722"/>
            <a:ext cx="403654" cy="6590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609560" y="4592242"/>
            <a:ext cx="2586798"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(root,’w’,0)</a:t>
            </a:r>
            <a:endParaRPr lang="zh-TW" altLang="en-US" dirty="0"/>
          </a:p>
        </p:txBody>
      </p:sp>
      <p:sp>
        <p:nvSpPr>
          <p:cNvPr id="32" name="文字方塊 31"/>
          <p:cNvSpPr txBox="1"/>
          <p:nvPr/>
        </p:nvSpPr>
        <p:spPr>
          <a:xfrm>
            <a:off x="609560" y="5316242"/>
            <a:ext cx="2176109"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1</a:t>
            </a:r>
            <a:r>
              <a:rPr lang="en-US" altLang="zh-TW" dirty="0" smtClean="0"/>
              <a:t>  ( “w”)</a:t>
            </a:r>
            <a:endParaRPr lang="zh-TW" altLang="en-US" dirty="0"/>
          </a:p>
        </p:txBody>
      </p:sp>
    </p:spTree>
    <p:extLst>
      <p:ext uri="{BB962C8B-B14F-4D97-AF65-F5344CB8AC3E}">
        <p14:creationId xmlns:p14="http://schemas.microsoft.com/office/powerpoint/2010/main" val="416665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arn(inVertic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arn(inVertical)">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sz="3200" dirty="0" smtClean="0"/>
              <a:t>Rule2</a:t>
            </a:r>
            <a:r>
              <a:rPr lang="zh-TW" altLang="en-US" sz="3200" dirty="0" smtClean="0">
                <a:latin typeface="新細明體" panose="02020500000000000000" pitchFamily="18" charset="-120"/>
                <a:ea typeface="新細明體" panose="02020500000000000000" pitchFamily="18" charset="-120"/>
              </a:rPr>
              <a:t>：</a:t>
            </a:r>
            <a:endParaRPr lang="en-US" altLang="zh-TW" sz="3200" dirty="0" smtClean="0">
              <a:latin typeface="新細明體" panose="02020500000000000000" pitchFamily="18" charset="-120"/>
              <a:ea typeface="新細明體" panose="02020500000000000000" pitchFamily="18" charset="-120"/>
            </a:endParaRPr>
          </a:p>
          <a:p>
            <a:r>
              <a:rPr lang="zh-TW" altLang="en-US" dirty="0" smtClean="0"/>
              <a:t>如果我們插入一個新的內部結點，則把先前插入的內部結點與現在的內部結點，用一個指標連接，該指標稱為</a:t>
            </a:r>
            <a:r>
              <a:rPr lang="en-US" altLang="zh-TW" dirty="0" smtClean="0">
                <a:solidFill>
                  <a:srgbClr val="FF0000"/>
                </a:solidFill>
              </a:rPr>
              <a:t>Suffix</a:t>
            </a:r>
            <a:r>
              <a:rPr lang="zh-TW" altLang="en-US" dirty="0" smtClean="0">
                <a:solidFill>
                  <a:srgbClr val="FF0000"/>
                </a:solidFill>
              </a:rPr>
              <a:t> </a:t>
            </a:r>
            <a:r>
              <a:rPr lang="en-US" altLang="zh-TW" dirty="0" smtClean="0">
                <a:solidFill>
                  <a:srgbClr val="FF0000"/>
                </a:solidFill>
              </a:rPr>
              <a:t>Link</a:t>
            </a:r>
            <a:endParaRPr lang="zh-TW" altLang="en-US" dirty="0">
              <a:solidFill>
                <a:srgbClr val="FF0000"/>
              </a:solidFill>
            </a:endParaRPr>
          </a:p>
        </p:txBody>
      </p:sp>
      <p:sp>
        <p:nvSpPr>
          <p:cNvPr id="4" name="橢圓 3"/>
          <p:cNvSpPr/>
          <p:nvPr/>
        </p:nvSpPr>
        <p:spPr>
          <a:xfrm>
            <a:off x="3764692" y="5132173"/>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弧形接點 4"/>
          <p:cNvCxnSpPr>
            <a:stCxn id="4" idx="0"/>
          </p:cNvCxnSpPr>
          <p:nvPr/>
        </p:nvCxnSpPr>
        <p:spPr>
          <a:xfrm rot="5400000" flipH="1" flipV="1">
            <a:off x="4007360" y="4023835"/>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橢圓 5"/>
          <p:cNvSpPr/>
          <p:nvPr/>
        </p:nvSpPr>
        <p:spPr>
          <a:xfrm>
            <a:off x="5115699" y="3990533"/>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5921298" y="3066188"/>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弧形接點 7"/>
          <p:cNvCxnSpPr>
            <a:stCxn id="6" idx="4"/>
          </p:cNvCxnSpPr>
          <p:nvPr/>
        </p:nvCxnSpPr>
        <p:spPr>
          <a:xfrm rot="16200000" flipH="1">
            <a:off x="6026322" y="3491803"/>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弧形接點 8"/>
          <p:cNvCxnSpPr>
            <a:stCxn id="4" idx="4"/>
          </p:cNvCxnSpPr>
          <p:nvPr/>
        </p:nvCxnSpPr>
        <p:spPr>
          <a:xfrm rot="16200000" flipH="1">
            <a:off x="4684676" y="4624082"/>
            <a:ext cx="1273936" cy="283381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弧形接點 9"/>
          <p:cNvCxnSpPr/>
          <p:nvPr/>
        </p:nvCxnSpPr>
        <p:spPr>
          <a:xfrm>
            <a:off x="3904735" y="5268097"/>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5525164" y="3113372"/>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12" name="文字方塊 11"/>
          <p:cNvSpPr txBox="1"/>
          <p:nvPr/>
        </p:nvSpPr>
        <p:spPr>
          <a:xfrm>
            <a:off x="3681721" y="4091388"/>
            <a:ext cx="552331" cy="584775"/>
          </a:xfrm>
          <a:prstGeom prst="rect">
            <a:avLst/>
          </a:prstGeom>
          <a:noFill/>
        </p:spPr>
        <p:txBody>
          <a:bodyPr wrap="square" rtlCol="0">
            <a:spAutoFit/>
          </a:bodyPr>
          <a:lstStyle/>
          <a:p>
            <a:r>
              <a:rPr lang="en-US" altLang="zh-TW" sz="3200" dirty="0" err="1" smtClean="0"/>
              <a:t>xa</a:t>
            </a:r>
            <a:endParaRPr lang="zh-TW" altLang="en-US" sz="3200" dirty="0"/>
          </a:p>
        </p:txBody>
      </p:sp>
      <p:sp>
        <p:nvSpPr>
          <p:cNvPr id="13" name="文字方塊 12"/>
          <p:cNvSpPr txBox="1"/>
          <p:nvPr/>
        </p:nvSpPr>
        <p:spPr>
          <a:xfrm>
            <a:off x="5811684" y="3801421"/>
            <a:ext cx="478016" cy="584775"/>
          </a:xfrm>
          <a:prstGeom prst="rect">
            <a:avLst/>
          </a:prstGeom>
          <a:noFill/>
        </p:spPr>
        <p:txBody>
          <a:bodyPr wrap="square" rtlCol="0">
            <a:spAutoFit/>
          </a:bodyPr>
          <a:lstStyle/>
          <a:p>
            <a:r>
              <a:rPr lang="en-US" altLang="zh-TW" sz="3200" dirty="0" smtClean="0"/>
              <a:t>w</a:t>
            </a:r>
            <a:endParaRPr lang="zh-TW" altLang="en-US" sz="3200" dirty="0"/>
          </a:p>
        </p:txBody>
      </p:sp>
      <p:sp>
        <p:nvSpPr>
          <p:cNvPr id="14" name="文字方塊 13"/>
          <p:cNvSpPr txBox="1"/>
          <p:nvPr/>
        </p:nvSpPr>
        <p:spPr>
          <a:xfrm>
            <a:off x="6720807" y="4975709"/>
            <a:ext cx="416013" cy="584775"/>
          </a:xfrm>
          <a:prstGeom prst="rect">
            <a:avLst/>
          </a:prstGeom>
          <a:noFill/>
        </p:spPr>
        <p:txBody>
          <a:bodyPr wrap="square" rtlCol="0">
            <a:spAutoFit/>
          </a:bodyPr>
          <a:lstStyle/>
          <a:p>
            <a:r>
              <a:rPr lang="en-US" altLang="zh-TW" sz="3200" dirty="0" smtClean="0"/>
              <a:t>w</a:t>
            </a:r>
            <a:endParaRPr lang="zh-TW" altLang="en-US" sz="3200" dirty="0"/>
          </a:p>
        </p:txBody>
      </p:sp>
      <p:sp>
        <p:nvSpPr>
          <p:cNvPr id="15" name="文字方塊 14"/>
          <p:cNvSpPr txBox="1"/>
          <p:nvPr/>
        </p:nvSpPr>
        <p:spPr>
          <a:xfrm>
            <a:off x="5214283" y="5675946"/>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16" name="橢圓 15"/>
          <p:cNvSpPr/>
          <p:nvPr/>
        </p:nvSpPr>
        <p:spPr>
          <a:xfrm>
            <a:off x="5642919" y="5157723"/>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弧形接點 16"/>
          <p:cNvCxnSpPr>
            <a:stCxn id="16" idx="0"/>
          </p:cNvCxnSpPr>
          <p:nvPr/>
        </p:nvCxnSpPr>
        <p:spPr>
          <a:xfrm rot="5400000" flipH="1" flipV="1">
            <a:off x="7000056" y="3573952"/>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4632320" y="4628135"/>
            <a:ext cx="423057" cy="584775"/>
          </a:xfrm>
          <a:prstGeom prst="rect">
            <a:avLst/>
          </a:prstGeom>
          <a:noFill/>
        </p:spPr>
        <p:txBody>
          <a:bodyPr wrap="square" rtlCol="0">
            <a:spAutoFit/>
          </a:bodyPr>
          <a:lstStyle/>
          <a:p>
            <a:r>
              <a:rPr lang="en-US" altLang="zh-TW" sz="3200" dirty="0" smtClean="0"/>
              <a:t>a</a:t>
            </a:r>
            <a:endParaRPr lang="zh-TW" altLang="en-US" sz="3200" dirty="0">
              <a:solidFill>
                <a:srgbClr val="FF0000"/>
              </a:solidFill>
            </a:endParaRPr>
          </a:p>
        </p:txBody>
      </p:sp>
      <p:sp>
        <p:nvSpPr>
          <p:cNvPr id="19" name="文字方塊 18"/>
          <p:cNvSpPr txBox="1"/>
          <p:nvPr/>
        </p:nvSpPr>
        <p:spPr>
          <a:xfrm>
            <a:off x="6633538" y="4299851"/>
            <a:ext cx="1101792" cy="584775"/>
          </a:xfrm>
          <a:prstGeom prst="rect">
            <a:avLst/>
          </a:prstGeom>
          <a:noFill/>
        </p:spPr>
        <p:txBody>
          <a:bodyPr wrap="square" rtlCol="0">
            <a:spAutoFit/>
          </a:bodyPr>
          <a:lstStyle/>
          <a:p>
            <a:r>
              <a:rPr lang="en-US" altLang="zh-TW" sz="3200" dirty="0" err="1" smtClean="0"/>
              <a:t>bxaw</a:t>
            </a:r>
            <a:endParaRPr lang="zh-TW" altLang="en-US" sz="3200" dirty="0">
              <a:solidFill>
                <a:srgbClr val="FF0000"/>
              </a:solidFill>
            </a:endParaRPr>
          </a:p>
        </p:txBody>
      </p:sp>
      <p:cxnSp>
        <p:nvCxnSpPr>
          <p:cNvPr id="20" name="弧形接點 19"/>
          <p:cNvCxnSpPr>
            <a:stCxn id="16" idx="4"/>
          </p:cNvCxnSpPr>
          <p:nvPr/>
        </p:nvCxnSpPr>
        <p:spPr>
          <a:xfrm rot="16200000" flipH="1">
            <a:off x="7060208" y="4152326"/>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弧形接點 22"/>
          <p:cNvCxnSpPr>
            <a:stCxn id="6" idx="4"/>
            <a:endCxn id="16" idx="0"/>
          </p:cNvCxnSpPr>
          <p:nvPr/>
        </p:nvCxnSpPr>
        <p:spPr>
          <a:xfrm rot="16200000" flipH="1">
            <a:off x="5071683" y="4446442"/>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向右箭號 23"/>
          <p:cNvSpPr/>
          <p:nvPr/>
        </p:nvSpPr>
        <p:spPr>
          <a:xfrm rot="7983105">
            <a:off x="5642353" y="4548696"/>
            <a:ext cx="265689" cy="156339"/>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948992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4" name="橢圓 3"/>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弧形接點 4"/>
          <p:cNvCxnSpPr>
            <a:stCxn id="4"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橢圓 5"/>
          <p:cNvSpPr/>
          <p:nvPr/>
        </p:nvSpPr>
        <p:spPr>
          <a:xfrm>
            <a:off x="6895072" y="229551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弧形接點 7"/>
          <p:cNvCxnSpPr>
            <a:stCxn id="6"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弧形接點 8"/>
          <p:cNvCxnSpPr>
            <a:stCxn id="4"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弧形接點 9"/>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5461094" y="2396374"/>
            <a:ext cx="552331" cy="584775"/>
          </a:xfrm>
          <a:prstGeom prst="rect">
            <a:avLst/>
          </a:prstGeom>
          <a:noFill/>
        </p:spPr>
        <p:txBody>
          <a:bodyPr wrap="square" rtlCol="0">
            <a:spAutoFit/>
          </a:bodyPr>
          <a:lstStyle/>
          <a:p>
            <a:r>
              <a:rPr lang="en-US" altLang="zh-TW" sz="3200" dirty="0" err="1" smtClean="0"/>
              <a:t>xa</a:t>
            </a:r>
            <a:endParaRPr lang="zh-TW" altLang="en-US" sz="3200" dirty="0"/>
          </a:p>
        </p:txBody>
      </p:sp>
      <p:sp>
        <p:nvSpPr>
          <p:cNvPr id="12" name="文字方塊 11"/>
          <p:cNvSpPr txBox="1"/>
          <p:nvPr/>
        </p:nvSpPr>
        <p:spPr>
          <a:xfrm>
            <a:off x="7591057" y="2106407"/>
            <a:ext cx="478016" cy="584775"/>
          </a:xfrm>
          <a:prstGeom prst="rect">
            <a:avLst/>
          </a:prstGeom>
          <a:noFill/>
        </p:spPr>
        <p:txBody>
          <a:bodyPr wrap="square" rtlCol="0">
            <a:spAutoFit/>
          </a:bodyPr>
          <a:lstStyle/>
          <a:p>
            <a:r>
              <a:rPr lang="en-US" altLang="zh-TW" sz="3200" dirty="0" smtClean="0"/>
              <a:t>w</a:t>
            </a:r>
            <a:endParaRPr lang="zh-TW" altLang="en-US" sz="3200" dirty="0"/>
          </a:p>
        </p:txBody>
      </p:sp>
      <p:sp>
        <p:nvSpPr>
          <p:cNvPr id="13" name="文字方塊 12"/>
          <p:cNvSpPr txBox="1"/>
          <p:nvPr/>
        </p:nvSpPr>
        <p:spPr>
          <a:xfrm>
            <a:off x="8500180" y="3280695"/>
            <a:ext cx="416013" cy="584775"/>
          </a:xfrm>
          <a:prstGeom prst="rect">
            <a:avLst/>
          </a:prstGeom>
          <a:noFill/>
        </p:spPr>
        <p:txBody>
          <a:bodyPr wrap="square" rtlCol="0">
            <a:spAutoFit/>
          </a:bodyPr>
          <a:lstStyle/>
          <a:p>
            <a:r>
              <a:rPr lang="en-US" altLang="zh-TW" sz="3200" dirty="0" smtClean="0"/>
              <a:t>w</a:t>
            </a:r>
            <a:endParaRPr lang="zh-TW" altLang="en-US" sz="3200" dirty="0"/>
          </a:p>
        </p:txBody>
      </p:sp>
      <p:sp>
        <p:nvSpPr>
          <p:cNvPr id="14" name="文字方塊 13"/>
          <p:cNvSpPr txBox="1"/>
          <p:nvPr/>
        </p:nvSpPr>
        <p:spPr>
          <a:xfrm>
            <a:off x="7657129" y="3980855"/>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15" name="橢圓 14"/>
          <p:cNvSpPr/>
          <p:nvPr/>
        </p:nvSpPr>
        <p:spPr>
          <a:xfrm>
            <a:off x="7422292" y="346270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弧形接點 15"/>
          <p:cNvCxnSpPr>
            <a:stCxn id="15"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6411693" y="2933121"/>
            <a:ext cx="423057" cy="584775"/>
          </a:xfrm>
          <a:prstGeom prst="rect">
            <a:avLst/>
          </a:prstGeom>
          <a:noFill/>
        </p:spPr>
        <p:txBody>
          <a:bodyPr wrap="square" rtlCol="0">
            <a:spAutoFit/>
          </a:bodyPr>
          <a:lstStyle/>
          <a:p>
            <a:r>
              <a:rPr lang="en-US" altLang="zh-TW" sz="3200" dirty="0" smtClean="0"/>
              <a:t>a</a:t>
            </a:r>
            <a:endParaRPr lang="zh-TW" altLang="en-US" sz="3200" dirty="0">
              <a:solidFill>
                <a:srgbClr val="FF0000"/>
              </a:solidFill>
            </a:endParaRPr>
          </a:p>
        </p:txBody>
      </p:sp>
      <p:sp>
        <p:nvSpPr>
          <p:cNvPr id="18" name="文字方塊 17"/>
          <p:cNvSpPr txBox="1"/>
          <p:nvPr/>
        </p:nvSpPr>
        <p:spPr>
          <a:xfrm>
            <a:off x="8412911" y="2604837"/>
            <a:ext cx="1101792" cy="584775"/>
          </a:xfrm>
          <a:prstGeom prst="rect">
            <a:avLst/>
          </a:prstGeom>
          <a:noFill/>
        </p:spPr>
        <p:txBody>
          <a:bodyPr wrap="square" rtlCol="0">
            <a:spAutoFit/>
          </a:bodyPr>
          <a:lstStyle/>
          <a:p>
            <a:r>
              <a:rPr lang="en-US" altLang="zh-TW" sz="3200" dirty="0" err="1" smtClean="0"/>
              <a:t>bxaw</a:t>
            </a:r>
            <a:endParaRPr lang="zh-TW" altLang="en-US" sz="3200" dirty="0">
              <a:solidFill>
                <a:srgbClr val="FF0000"/>
              </a:solidFill>
            </a:endParaRPr>
          </a:p>
        </p:txBody>
      </p:sp>
      <p:cxnSp>
        <p:nvCxnSpPr>
          <p:cNvPr id="19" name="弧形接點 18"/>
          <p:cNvCxnSpPr>
            <a:stCxn id="15"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弧形接點 19"/>
          <p:cNvCxnSpPr>
            <a:stCxn id="6" idx="4"/>
            <a:endCxn id="15"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7304537" y="1418358"/>
            <a:ext cx="1051057" cy="584775"/>
          </a:xfrm>
          <a:prstGeom prst="rect">
            <a:avLst/>
          </a:prstGeom>
          <a:noFill/>
        </p:spPr>
        <p:txBody>
          <a:bodyPr wrap="square" rtlCol="0">
            <a:spAutoFit/>
          </a:bodyPr>
          <a:lstStyle/>
          <a:p>
            <a:r>
              <a:rPr lang="en-US" altLang="zh-TW" sz="3200" dirty="0" err="1" smtClean="0"/>
              <a:t>bxaw</a:t>
            </a:r>
            <a:endParaRPr lang="zh-TW" altLang="en-US" sz="3200" dirty="0"/>
          </a:p>
        </p:txBody>
      </p:sp>
      <p:sp>
        <p:nvSpPr>
          <p:cNvPr id="24" name="文字方塊 23"/>
          <p:cNvSpPr txBox="1"/>
          <p:nvPr/>
        </p:nvSpPr>
        <p:spPr>
          <a:xfrm>
            <a:off x="716652" y="2726699"/>
            <a:ext cx="2586798"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(root,’w’,0)</a:t>
            </a:r>
            <a:endParaRPr lang="zh-TW" altLang="en-US" dirty="0"/>
          </a:p>
        </p:txBody>
      </p:sp>
      <p:sp>
        <p:nvSpPr>
          <p:cNvPr id="25" name="文字方塊 24"/>
          <p:cNvSpPr txBox="1"/>
          <p:nvPr/>
        </p:nvSpPr>
        <p:spPr>
          <a:xfrm>
            <a:off x="716652" y="3279370"/>
            <a:ext cx="2176109"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1</a:t>
            </a:r>
            <a:r>
              <a:rPr lang="en-US" altLang="zh-TW" dirty="0" smtClean="0"/>
              <a:t>  ( “w”)</a:t>
            </a:r>
            <a:endParaRPr lang="zh-TW" altLang="en-US" dirty="0"/>
          </a:p>
        </p:txBody>
      </p:sp>
      <p:cxnSp>
        <p:nvCxnSpPr>
          <p:cNvPr id="27" name="弧形接點 26"/>
          <p:cNvCxnSpPr>
            <a:stCxn id="4"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796107" y="4896146"/>
            <a:ext cx="478016" cy="584775"/>
          </a:xfrm>
          <a:prstGeom prst="rect">
            <a:avLst/>
          </a:prstGeom>
          <a:noFill/>
        </p:spPr>
        <p:txBody>
          <a:bodyPr wrap="none" rtlCol="0">
            <a:spAutoFit/>
          </a:bodyPr>
          <a:lstStyle/>
          <a:p>
            <a:r>
              <a:rPr lang="en-US" altLang="zh-TW" sz="3200" dirty="0" smtClean="0">
                <a:solidFill>
                  <a:srgbClr val="FF0000"/>
                </a:solidFill>
              </a:rPr>
              <a:t>w</a:t>
            </a:r>
            <a:endParaRPr lang="zh-TW" altLang="en-US" sz="3200" dirty="0">
              <a:solidFill>
                <a:srgbClr val="FF0000"/>
              </a:solidFill>
            </a:endParaRPr>
          </a:p>
        </p:txBody>
      </p:sp>
      <p:sp>
        <p:nvSpPr>
          <p:cNvPr id="31" name="文字方塊 30"/>
          <p:cNvSpPr txBox="1"/>
          <p:nvPr/>
        </p:nvSpPr>
        <p:spPr>
          <a:xfrm>
            <a:off x="609560" y="1534600"/>
            <a:ext cx="3080202" cy="861774"/>
          </a:xfrm>
          <a:prstGeom prst="rect">
            <a:avLst/>
          </a:prstGeom>
          <a:noFill/>
        </p:spPr>
        <p:txBody>
          <a:bodyPr wrap="none" rtlCol="0">
            <a:spAutoFit/>
          </a:bodyPr>
          <a:lstStyle/>
          <a:p>
            <a:r>
              <a:rPr lang="en-US" altLang="zh-TW" sz="3200" dirty="0" smtClean="0">
                <a:latin typeface="Cambria Math" panose="02040503050406030204" pitchFamily="18" charset="0"/>
                <a:ea typeface="Cambria Math" panose="02040503050406030204" pitchFamily="18" charset="0"/>
              </a:rPr>
              <a:t>S = </a:t>
            </a:r>
            <a:r>
              <a:rPr lang="en-US" altLang="zh-TW" sz="3200" dirty="0" err="1" smtClean="0">
                <a:latin typeface="Cambria Math" panose="02040503050406030204" pitchFamily="18" charset="0"/>
                <a:ea typeface="Cambria Math" panose="02040503050406030204" pitchFamily="18" charset="0"/>
              </a:rPr>
              <a:t>xabxa</a:t>
            </a:r>
            <a:r>
              <a:rPr lang="en-US" altLang="zh-TW" sz="3200" dirty="0" err="1" smtClean="0">
                <a:solidFill>
                  <a:srgbClr val="FF0000"/>
                </a:solidFill>
                <a:latin typeface="Cambria Math" panose="02040503050406030204" pitchFamily="18" charset="0"/>
                <a:ea typeface="Cambria Math" panose="02040503050406030204" pitchFamily="18" charset="0"/>
              </a:rPr>
              <a:t>w</a:t>
            </a:r>
            <a:r>
              <a:rPr lang="en-US" altLang="zh-TW" sz="3200" dirty="0" err="1" smtClean="0">
                <a:latin typeface="Cambria Math" panose="02040503050406030204" pitchFamily="18" charset="0"/>
                <a:ea typeface="Cambria Math" panose="02040503050406030204" pitchFamily="18" charset="0"/>
              </a:rPr>
              <a:t>xabc</a:t>
            </a:r>
            <a:r>
              <a:rPr lang="en-US" altLang="zh-TW" sz="3200" dirty="0" smtClean="0">
                <a:latin typeface="Cambria Math" panose="02040503050406030204" pitchFamily="18" charset="0"/>
                <a:ea typeface="Cambria Math" panose="02040503050406030204" pitchFamily="18" charset="0"/>
              </a:rPr>
              <a:t> </a:t>
            </a:r>
            <a:endParaRPr lang="zh-TW" altLang="en-US" sz="3200" dirty="0" smtClean="0">
              <a:latin typeface="Cambria Math" panose="02040503050406030204" pitchFamily="18" charset="0"/>
            </a:endParaRPr>
          </a:p>
          <a:p>
            <a:endParaRPr lang="zh-TW" altLang="en-US" dirty="0"/>
          </a:p>
        </p:txBody>
      </p:sp>
    </p:spTree>
    <p:extLst>
      <p:ext uri="{BB962C8B-B14F-4D97-AF65-F5344CB8AC3E}">
        <p14:creationId xmlns:p14="http://schemas.microsoft.com/office/powerpoint/2010/main" val="2638955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sz="2800" dirty="0">
                <a:latin typeface="Cambria Math" panose="02040503050406030204" pitchFamily="18" charset="0"/>
                <a:ea typeface="Cambria Math" panose="02040503050406030204" pitchFamily="18" charset="0"/>
              </a:rPr>
              <a:t>S = </a:t>
            </a:r>
            <a:r>
              <a:rPr lang="en-US" altLang="zh-TW" sz="2800" dirty="0" err="1" smtClean="0">
                <a:latin typeface="Cambria Math" panose="02040503050406030204" pitchFamily="18" charset="0"/>
                <a:ea typeface="Cambria Math" panose="02040503050406030204" pitchFamily="18" charset="0"/>
              </a:rPr>
              <a:t>xabxa</a:t>
            </a:r>
            <a:r>
              <a:rPr lang="en-US" altLang="zh-TW" sz="2800" dirty="0" err="1" smtClean="0">
                <a:solidFill>
                  <a:schemeClr val="tx1"/>
                </a:solidFill>
                <a:latin typeface="Cambria Math" panose="02040503050406030204" pitchFamily="18" charset="0"/>
                <a:ea typeface="Cambria Math" panose="02040503050406030204" pitchFamily="18" charset="0"/>
              </a:rPr>
              <a:t>w</a:t>
            </a:r>
            <a:r>
              <a:rPr lang="en-US" altLang="zh-TW" sz="2800" dirty="0" err="1" smtClean="0">
                <a:solidFill>
                  <a:srgbClr val="FF0000"/>
                </a:solidFill>
                <a:latin typeface="Cambria Math" panose="02040503050406030204" pitchFamily="18" charset="0"/>
                <a:ea typeface="Cambria Math" panose="02040503050406030204" pitchFamily="18" charset="0"/>
              </a:rPr>
              <a:t>x</a:t>
            </a:r>
            <a:r>
              <a:rPr lang="en-US" altLang="zh-TW" sz="2800" dirty="0" err="1" smtClean="0">
                <a:latin typeface="Cambria Math" panose="02040503050406030204" pitchFamily="18" charset="0"/>
                <a:ea typeface="Cambria Math" panose="02040503050406030204" pitchFamily="18" charset="0"/>
              </a:rPr>
              <a:t>abc</a:t>
            </a:r>
            <a:r>
              <a:rPr lang="en-US" altLang="zh-TW" sz="2800" dirty="0" smtClean="0">
                <a:latin typeface="Cambria Math" panose="02040503050406030204" pitchFamily="18" charset="0"/>
                <a:ea typeface="Cambria Math" panose="02040503050406030204" pitchFamily="18" charset="0"/>
              </a:rPr>
              <a:t> </a:t>
            </a:r>
          </a:p>
          <a:p>
            <a:endParaRPr lang="zh-TW" altLang="en-US" sz="2800" dirty="0">
              <a:latin typeface="Cambria Math" panose="02040503050406030204" pitchFamily="18" charset="0"/>
            </a:endParaRPr>
          </a:p>
          <a:p>
            <a:endParaRPr lang="zh-TW" altLang="en-US" dirty="0"/>
          </a:p>
        </p:txBody>
      </p:sp>
      <p:sp>
        <p:nvSpPr>
          <p:cNvPr id="4" name="文字方塊 3"/>
          <p:cNvSpPr txBox="1"/>
          <p:nvPr/>
        </p:nvSpPr>
        <p:spPr>
          <a:xfrm>
            <a:off x="609560" y="2246500"/>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a:t>
            </a:r>
            <a:r>
              <a:rPr lang="en-US" altLang="zh-TW" dirty="0"/>
              <a:t>1</a:t>
            </a:r>
            <a:r>
              <a:rPr lang="en-US" altLang="zh-TW" dirty="0" smtClean="0"/>
              <a:t>)</a:t>
            </a:r>
            <a:endParaRPr lang="zh-TW" altLang="en-US" dirty="0"/>
          </a:p>
        </p:txBody>
      </p:sp>
      <p:sp>
        <p:nvSpPr>
          <p:cNvPr id="5" name="文字方塊 4"/>
          <p:cNvSpPr txBox="1"/>
          <p:nvPr/>
        </p:nvSpPr>
        <p:spPr>
          <a:xfrm>
            <a:off x="609560" y="2716939"/>
            <a:ext cx="1617943"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2</a:t>
            </a:r>
            <a:r>
              <a:rPr lang="en-US" altLang="zh-TW" dirty="0" smtClean="0"/>
              <a:t>  </a:t>
            </a:r>
            <a:endParaRPr lang="zh-TW" altLang="en-US" dirty="0"/>
          </a:p>
        </p:txBody>
      </p:sp>
      <p:sp>
        <p:nvSpPr>
          <p:cNvPr id="7" name="向右箭號 6"/>
          <p:cNvSpPr/>
          <p:nvPr/>
        </p:nvSpPr>
        <p:spPr>
          <a:xfrm>
            <a:off x="3016210" y="2591068"/>
            <a:ext cx="387178" cy="285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8" name="群組 27"/>
          <p:cNvGrpSpPr/>
          <p:nvPr/>
        </p:nvGrpSpPr>
        <p:grpSpPr>
          <a:xfrm>
            <a:off x="7052001" y="3264444"/>
            <a:ext cx="4674616" cy="3463694"/>
            <a:chOff x="5544064" y="1418752"/>
            <a:chExt cx="5206316" cy="4300288"/>
          </a:xfrm>
        </p:grpSpPr>
        <p:sp>
          <p:nvSpPr>
            <p:cNvPr id="8" name="橢圓 7"/>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弧形接點 8"/>
            <p:cNvCxnSpPr>
              <a:stCxn id="8"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橢圓 9"/>
            <p:cNvSpPr/>
            <p:nvPr/>
          </p:nvSpPr>
          <p:spPr>
            <a:xfrm>
              <a:off x="6895072" y="229551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弧形接點 10"/>
            <p:cNvCxnSpPr>
              <a:stCxn id="10"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弧形接點 11"/>
            <p:cNvCxnSpPr>
              <a:stCxn id="10"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弧形接點 12"/>
            <p:cNvCxnSpPr>
              <a:stCxn id="8"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弧形接點 13"/>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16" name="文字方塊 15"/>
            <p:cNvSpPr txBox="1"/>
            <p:nvPr/>
          </p:nvSpPr>
          <p:spPr>
            <a:xfrm>
              <a:off x="7451794" y="2024886"/>
              <a:ext cx="1484856" cy="649595"/>
            </a:xfrm>
            <a:prstGeom prst="rect">
              <a:avLst/>
            </a:prstGeom>
            <a:noFill/>
          </p:spPr>
          <p:txBody>
            <a:bodyPr wrap="square" rtlCol="0">
              <a:spAutoFit/>
            </a:bodyPr>
            <a:lstStyle/>
            <a:p>
              <a:r>
                <a:rPr lang="en-US" altLang="zh-TW" sz="2800" dirty="0" err="1" smtClean="0"/>
                <a:t>w</a:t>
              </a:r>
              <a:r>
                <a:rPr lang="en-US" altLang="zh-TW" sz="2800" dirty="0" err="1" smtClean="0">
                  <a:solidFill>
                    <a:srgbClr val="FF0000"/>
                  </a:solidFill>
                </a:rPr>
                <a:t>xabc</a:t>
              </a:r>
              <a:endParaRPr lang="zh-TW" altLang="en-US" sz="2800" dirty="0">
                <a:solidFill>
                  <a:srgbClr val="FF0000"/>
                </a:solidFill>
              </a:endParaRPr>
            </a:p>
          </p:txBody>
        </p:sp>
        <p:sp>
          <p:nvSpPr>
            <p:cNvPr id="17" name="文字方塊 16"/>
            <p:cNvSpPr txBox="1"/>
            <p:nvPr/>
          </p:nvSpPr>
          <p:spPr>
            <a:xfrm>
              <a:off x="8500180" y="3280695"/>
              <a:ext cx="1624761" cy="649595"/>
            </a:xfrm>
            <a:prstGeom prst="rect">
              <a:avLst/>
            </a:prstGeom>
            <a:noFill/>
          </p:spPr>
          <p:txBody>
            <a:bodyPr wrap="square" rtlCol="0">
              <a:spAutoFit/>
            </a:bodyPr>
            <a:lstStyle/>
            <a:p>
              <a:r>
                <a:rPr lang="en-US" altLang="zh-TW" sz="2800" dirty="0" err="1" smtClean="0"/>
                <a:t>w</a:t>
              </a:r>
              <a:r>
                <a:rPr lang="en-US" altLang="zh-TW" sz="2800" dirty="0" err="1" smtClean="0">
                  <a:solidFill>
                    <a:srgbClr val="FF0000"/>
                  </a:solidFill>
                </a:rPr>
                <a:t>xabc</a:t>
              </a:r>
              <a:endParaRPr lang="zh-TW" altLang="en-US" sz="2800" dirty="0">
                <a:solidFill>
                  <a:srgbClr val="FF0000"/>
                </a:solidFill>
              </a:endParaRPr>
            </a:p>
          </p:txBody>
        </p:sp>
        <p:sp>
          <p:nvSpPr>
            <p:cNvPr id="18" name="文字方塊 17"/>
            <p:cNvSpPr txBox="1"/>
            <p:nvPr/>
          </p:nvSpPr>
          <p:spPr>
            <a:xfrm>
              <a:off x="7657129" y="3980855"/>
              <a:ext cx="2198645" cy="649595"/>
            </a:xfrm>
            <a:prstGeom prst="rect">
              <a:avLst/>
            </a:prstGeom>
            <a:noFill/>
          </p:spPr>
          <p:txBody>
            <a:bodyPr wrap="square" rtlCol="0">
              <a:spAutoFit/>
            </a:bodyPr>
            <a:lstStyle/>
            <a:p>
              <a:r>
                <a:rPr lang="en-US" altLang="zh-TW" sz="2800" dirty="0" err="1" smtClean="0"/>
                <a:t>bxaw</a:t>
              </a:r>
              <a:r>
                <a:rPr lang="en-US" altLang="zh-TW" sz="2800" dirty="0" err="1" smtClean="0">
                  <a:solidFill>
                    <a:srgbClr val="FF0000"/>
                  </a:solidFill>
                </a:rPr>
                <a:t>xabc</a:t>
              </a:r>
              <a:endParaRPr lang="zh-TW" altLang="en-US" sz="2800" dirty="0">
                <a:solidFill>
                  <a:srgbClr val="FF0000"/>
                </a:solidFill>
              </a:endParaRPr>
            </a:p>
          </p:txBody>
        </p:sp>
        <p:sp>
          <p:nvSpPr>
            <p:cNvPr id="19" name="橢圓 18"/>
            <p:cNvSpPr/>
            <p:nvPr/>
          </p:nvSpPr>
          <p:spPr>
            <a:xfrm>
              <a:off x="7422292" y="346270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弧形接點 19"/>
            <p:cNvCxnSpPr>
              <a:stCxn id="19"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22" name="文字方塊 21"/>
            <p:cNvSpPr txBox="1"/>
            <p:nvPr/>
          </p:nvSpPr>
          <p:spPr>
            <a:xfrm>
              <a:off x="8412911" y="2604837"/>
              <a:ext cx="1810245" cy="649595"/>
            </a:xfrm>
            <a:prstGeom prst="rect">
              <a:avLst/>
            </a:prstGeom>
            <a:noFill/>
          </p:spPr>
          <p:txBody>
            <a:bodyPr wrap="square" rtlCol="0">
              <a:spAutoFit/>
            </a:bodyPr>
            <a:lstStyle/>
            <a:p>
              <a:r>
                <a:rPr lang="en-US" altLang="zh-TW" sz="2800" dirty="0" err="1" smtClean="0"/>
                <a:t>bxaw</a:t>
              </a:r>
              <a:r>
                <a:rPr lang="en-US" altLang="zh-TW" sz="2800" dirty="0" err="1" smtClean="0">
                  <a:solidFill>
                    <a:srgbClr val="FF0000"/>
                  </a:solidFill>
                </a:rPr>
                <a:t>xabc</a:t>
              </a:r>
              <a:endParaRPr lang="zh-TW" altLang="en-US" sz="2800" dirty="0">
                <a:solidFill>
                  <a:srgbClr val="FF0000"/>
                </a:solidFill>
              </a:endParaRPr>
            </a:p>
          </p:txBody>
        </p:sp>
        <p:cxnSp>
          <p:nvCxnSpPr>
            <p:cNvPr id="23" name="弧形接點 22"/>
            <p:cNvCxnSpPr>
              <a:stCxn id="19"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弧形接點 23"/>
            <p:cNvCxnSpPr>
              <a:stCxn id="10" idx="4"/>
              <a:endCxn id="19"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6001227" y="1418752"/>
              <a:ext cx="2192995" cy="649595"/>
            </a:xfrm>
            <a:prstGeom prst="rect">
              <a:avLst/>
            </a:prstGeom>
            <a:noFill/>
          </p:spPr>
          <p:txBody>
            <a:bodyPr wrap="square" rtlCol="0">
              <a:spAutoFit/>
            </a:bodyPr>
            <a:lstStyle/>
            <a:p>
              <a:r>
                <a:rPr lang="en-US" altLang="zh-TW" sz="2800" dirty="0" err="1" smtClean="0"/>
                <a:t>bxaw</a:t>
              </a:r>
              <a:r>
                <a:rPr lang="en-US" altLang="zh-TW" sz="2800" dirty="0" err="1" smtClean="0">
                  <a:solidFill>
                    <a:srgbClr val="FF0000"/>
                  </a:solidFill>
                </a:rPr>
                <a:t>xabc</a:t>
              </a:r>
              <a:endParaRPr lang="zh-TW" altLang="en-US" sz="2800" dirty="0">
                <a:solidFill>
                  <a:srgbClr val="FF0000"/>
                </a:solidFill>
              </a:endParaRPr>
            </a:p>
          </p:txBody>
        </p:sp>
        <p:cxnSp>
          <p:nvCxnSpPr>
            <p:cNvPr id="26" name="弧形接點 25"/>
            <p:cNvCxnSpPr>
              <a:stCxn id="8"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6796107" y="4896146"/>
              <a:ext cx="1616804" cy="649595"/>
            </a:xfrm>
            <a:prstGeom prst="rect">
              <a:avLst/>
            </a:prstGeom>
            <a:noFill/>
          </p:spPr>
          <p:txBody>
            <a:bodyPr wrap="square" rtlCol="0">
              <a:spAutoFit/>
            </a:bodyPr>
            <a:lstStyle/>
            <a:p>
              <a:r>
                <a:rPr lang="en-US" altLang="zh-TW" sz="2800" dirty="0" err="1" smtClean="0"/>
                <a:t>w</a:t>
              </a:r>
              <a:r>
                <a:rPr lang="en-US" altLang="zh-TW" sz="2800" dirty="0" err="1" smtClean="0">
                  <a:solidFill>
                    <a:srgbClr val="FF0000"/>
                  </a:solidFill>
                </a:rPr>
                <a:t>xabc</a:t>
              </a:r>
              <a:endParaRPr lang="zh-TW" altLang="en-US" sz="2800" dirty="0">
                <a:solidFill>
                  <a:srgbClr val="FF0000"/>
                </a:solidFill>
              </a:endParaRPr>
            </a:p>
          </p:txBody>
        </p:sp>
      </p:grpSp>
      <p:sp>
        <p:nvSpPr>
          <p:cNvPr id="29" name="文字方塊 28"/>
          <p:cNvSpPr txBox="1"/>
          <p:nvPr/>
        </p:nvSpPr>
        <p:spPr>
          <a:xfrm>
            <a:off x="3552025" y="2246500"/>
            <a:ext cx="2517805"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(root,’x’,2)</a:t>
            </a:r>
            <a:endParaRPr lang="zh-TW" altLang="en-US" dirty="0"/>
          </a:p>
        </p:txBody>
      </p:sp>
      <p:sp>
        <p:nvSpPr>
          <p:cNvPr id="30" name="文字方塊 29"/>
          <p:cNvSpPr txBox="1"/>
          <p:nvPr/>
        </p:nvSpPr>
        <p:spPr>
          <a:xfrm>
            <a:off x="3584021" y="2760089"/>
            <a:ext cx="1565044"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3</a:t>
            </a:r>
            <a:r>
              <a:rPr lang="en-US" altLang="zh-TW" dirty="0" smtClean="0"/>
              <a:t> </a:t>
            </a:r>
            <a:endParaRPr lang="zh-TW" altLang="en-US" dirty="0"/>
          </a:p>
        </p:txBody>
      </p:sp>
      <p:sp>
        <p:nvSpPr>
          <p:cNvPr id="31" name="向右箭號 30"/>
          <p:cNvSpPr/>
          <p:nvPr/>
        </p:nvSpPr>
        <p:spPr>
          <a:xfrm>
            <a:off x="5969511" y="2617855"/>
            <a:ext cx="387178" cy="2857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p:cNvSpPr txBox="1"/>
          <p:nvPr/>
        </p:nvSpPr>
        <p:spPr>
          <a:xfrm>
            <a:off x="6442773" y="2206572"/>
            <a:ext cx="2740687" cy="369332"/>
          </a:xfrm>
          <a:prstGeom prst="rect">
            <a:avLst/>
          </a:prstGeom>
          <a:noFill/>
        </p:spPr>
        <p:txBody>
          <a:bodyPr wrap="none" rtlCol="0">
            <a:spAutoFit/>
          </a:bodyPr>
          <a:lstStyle/>
          <a:p>
            <a:r>
              <a:rPr lang="en-US" altLang="zh-TW" dirty="0" smtClean="0">
                <a:solidFill>
                  <a:srgbClr val="C00000"/>
                </a:solidFill>
              </a:rPr>
              <a:t>active point</a:t>
            </a:r>
            <a:r>
              <a:rPr lang="zh-TW" altLang="en-US" dirty="0" smtClean="0"/>
              <a:t>：</a:t>
            </a:r>
            <a:r>
              <a:rPr lang="en-US" altLang="zh-TW" dirty="0" smtClean="0"/>
              <a:t> (node1,’b’,</a:t>
            </a:r>
            <a:r>
              <a:rPr lang="en-US" altLang="zh-TW" dirty="0"/>
              <a:t>1</a:t>
            </a:r>
            <a:r>
              <a:rPr lang="en-US" altLang="zh-TW" dirty="0" smtClean="0"/>
              <a:t>)</a:t>
            </a:r>
            <a:endParaRPr lang="zh-TW" altLang="en-US" dirty="0"/>
          </a:p>
        </p:txBody>
      </p:sp>
      <p:sp>
        <p:nvSpPr>
          <p:cNvPr id="33" name="文字方塊 32"/>
          <p:cNvSpPr txBox="1"/>
          <p:nvPr/>
        </p:nvSpPr>
        <p:spPr>
          <a:xfrm>
            <a:off x="6478434" y="2700215"/>
            <a:ext cx="1617943" cy="369332"/>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4</a:t>
            </a:r>
            <a:r>
              <a:rPr lang="en-US" altLang="zh-TW" dirty="0" smtClean="0"/>
              <a:t>  </a:t>
            </a:r>
            <a:endParaRPr lang="zh-TW" altLang="en-US" dirty="0"/>
          </a:p>
        </p:txBody>
      </p:sp>
      <p:sp>
        <p:nvSpPr>
          <p:cNvPr id="38" name="向右箭號 37"/>
          <p:cNvSpPr/>
          <p:nvPr/>
        </p:nvSpPr>
        <p:spPr>
          <a:xfrm>
            <a:off x="5835980" y="4770622"/>
            <a:ext cx="557251" cy="400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9" name="群組 38"/>
          <p:cNvGrpSpPr/>
          <p:nvPr/>
        </p:nvGrpSpPr>
        <p:grpSpPr>
          <a:xfrm>
            <a:off x="712594" y="3267657"/>
            <a:ext cx="4674616" cy="3464011"/>
            <a:chOff x="5544064" y="1418358"/>
            <a:chExt cx="5206316" cy="4300682"/>
          </a:xfrm>
        </p:grpSpPr>
        <p:sp>
          <p:nvSpPr>
            <p:cNvPr id="40" name="橢圓 39"/>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弧形接點 40"/>
            <p:cNvCxnSpPr>
              <a:stCxn id="40"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橢圓 41"/>
            <p:cNvSpPr/>
            <p:nvPr/>
          </p:nvSpPr>
          <p:spPr>
            <a:xfrm>
              <a:off x="6895072" y="229551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3" name="弧形接點 42"/>
            <p:cNvCxnSpPr>
              <a:stCxn id="42"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弧形接點 43"/>
            <p:cNvCxnSpPr>
              <a:stCxn id="42"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弧形接點 44"/>
            <p:cNvCxnSpPr>
              <a:stCxn id="40"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弧形接點 45"/>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文字方塊 46"/>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48" name="文字方塊 47"/>
            <p:cNvSpPr txBox="1"/>
            <p:nvPr/>
          </p:nvSpPr>
          <p:spPr>
            <a:xfrm>
              <a:off x="7591057" y="2106407"/>
              <a:ext cx="478016" cy="584775"/>
            </a:xfrm>
            <a:prstGeom prst="rect">
              <a:avLst/>
            </a:prstGeom>
            <a:noFill/>
          </p:spPr>
          <p:txBody>
            <a:bodyPr wrap="square" rtlCol="0">
              <a:spAutoFit/>
            </a:bodyPr>
            <a:lstStyle/>
            <a:p>
              <a:r>
                <a:rPr lang="en-US" altLang="zh-TW" sz="2800" dirty="0" smtClean="0"/>
                <a:t>w</a:t>
              </a:r>
              <a:endParaRPr lang="zh-TW" altLang="en-US" sz="2800" dirty="0"/>
            </a:p>
          </p:txBody>
        </p:sp>
        <p:sp>
          <p:nvSpPr>
            <p:cNvPr id="49" name="文字方塊 48"/>
            <p:cNvSpPr txBox="1"/>
            <p:nvPr/>
          </p:nvSpPr>
          <p:spPr>
            <a:xfrm>
              <a:off x="8500180" y="3280695"/>
              <a:ext cx="416013" cy="584775"/>
            </a:xfrm>
            <a:prstGeom prst="rect">
              <a:avLst/>
            </a:prstGeom>
            <a:noFill/>
          </p:spPr>
          <p:txBody>
            <a:bodyPr wrap="square" rtlCol="0">
              <a:spAutoFit/>
            </a:bodyPr>
            <a:lstStyle/>
            <a:p>
              <a:r>
                <a:rPr lang="en-US" altLang="zh-TW" sz="2800" dirty="0" smtClean="0"/>
                <a:t>w</a:t>
              </a:r>
              <a:endParaRPr lang="zh-TW" altLang="en-US" sz="2800" dirty="0"/>
            </a:p>
          </p:txBody>
        </p:sp>
        <p:sp>
          <p:nvSpPr>
            <p:cNvPr id="50" name="文字方塊 49"/>
            <p:cNvSpPr txBox="1"/>
            <p:nvPr/>
          </p:nvSpPr>
          <p:spPr>
            <a:xfrm>
              <a:off x="7657129" y="3980855"/>
              <a:ext cx="1051057" cy="584775"/>
            </a:xfrm>
            <a:prstGeom prst="rect">
              <a:avLst/>
            </a:prstGeom>
            <a:noFill/>
          </p:spPr>
          <p:txBody>
            <a:bodyPr wrap="square" rtlCol="0">
              <a:spAutoFit/>
            </a:bodyPr>
            <a:lstStyle/>
            <a:p>
              <a:r>
                <a:rPr lang="en-US" altLang="zh-TW" sz="2800" dirty="0" err="1" smtClean="0"/>
                <a:t>bxaw</a:t>
              </a:r>
              <a:endParaRPr lang="zh-TW" altLang="en-US" sz="2800" dirty="0"/>
            </a:p>
          </p:txBody>
        </p:sp>
        <p:sp>
          <p:nvSpPr>
            <p:cNvPr id="51" name="橢圓 50"/>
            <p:cNvSpPr/>
            <p:nvPr/>
          </p:nvSpPr>
          <p:spPr>
            <a:xfrm>
              <a:off x="7422292" y="346270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2" name="弧形接點 51"/>
            <p:cNvCxnSpPr>
              <a:stCxn id="51"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54" name="文字方塊 53"/>
            <p:cNvSpPr txBox="1"/>
            <p:nvPr/>
          </p:nvSpPr>
          <p:spPr>
            <a:xfrm>
              <a:off x="8412911" y="2604837"/>
              <a:ext cx="1101792" cy="584775"/>
            </a:xfrm>
            <a:prstGeom prst="rect">
              <a:avLst/>
            </a:prstGeom>
            <a:noFill/>
          </p:spPr>
          <p:txBody>
            <a:bodyPr wrap="square" rtlCol="0">
              <a:spAutoFit/>
            </a:bodyPr>
            <a:lstStyle/>
            <a:p>
              <a:r>
                <a:rPr lang="en-US" altLang="zh-TW" sz="2800" dirty="0" err="1" smtClean="0"/>
                <a:t>bxaw</a:t>
              </a:r>
              <a:endParaRPr lang="zh-TW" altLang="en-US" sz="2800" dirty="0">
                <a:solidFill>
                  <a:srgbClr val="FF0000"/>
                </a:solidFill>
              </a:endParaRPr>
            </a:p>
          </p:txBody>
        </p:sp>
        <p:cxnSp>
          <p:nvCxnSpPr>
            <p:cNvPr id="55" name="弧形接點 54"/>
            <p:cNvCxnSpPr>
              <a:stCxn id="51"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弧形接點 55"/>
            <p:cNvCxnSpPr>
              <a:stCxn id="42" idx="4"/>
              <a:endCxn id="51"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7304537" y="1418358"/>
              <a:ext cx="1051057" cy="574940"/>
            </a:xfrm>
            <a:prstGeom prst="rect">
              <a:avLst/>
            </a:prstGeom>
            <a:noFill/>
          </p:spPr>
          <p:txBody>
            <a:bodyPr wrap="square" rtlCol="0">
              <a:spAutoFit/>
            </a:bodyPr>
            <a:lstStyle/>
            <a:p>
              <a:r>
                <a:rPr lang="en-US" altLang="zh-TW" sz="2800" dirty="0" err="1" smtClean="0"/>
                <a:t>bxaw</a:t>
              </a:r>
              <a:endParaRPr lang="zh-TW" altLang="en-US" sz="2800" dirty="0"/>
            </a:p>
          </p:txBody>
        </p:sp>
        <p:cxnSp>
          <p:nvCxnSpPr>
            <p:cNvPr id="58" name="弧形接點 57"/>
            <p:cNvCxnSpPr>
              <a:stCxn id="40"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文字方塊 58"/>
            <p:cNvSpPr txBox="1"/>
            <p:nvPr/>
          </p:nvSpPr>
          <p:spPr>
            <a:xfrm>
              <a:off x="6796107" y="4896146"/>
              <a:ext cx="441196" cy="574940"/>
            </a:xfrm>
            <a:prstGeom prst="rect">
              <a:avLst/>
            </a:prstGeom>
            <a:noFill/>
          </p:spPr>
          <p:txBody>
            <a:bodyPr wrap="none" rtlCol="0">
              <a:spAutoFit/>
            </a:bodyPr>
            <a:lstStyle/>
            <a:p>
              <a:r>
                <a:rPr lang="en-US" altLang="zh-TW" sz="2800" dirty="0" smtClean="0"/>
                <a:t>w</a:t>
              </a:r>
              <a:endParaRPr lang="zh-TW" altLang="en-US" sz="2800" dirty="0"/>
            </a:p>
          </p:txBody>
        </p:sp>
      </p:grpSp>
      <p:sp>
        <p:nvSpPr>
          <p:cNvPr id="60" name="文字方塊 59"/>
          <p:cNvSpPr txBox="1"/>
          <p:nvPr/>
        </p:nvSpPr>
        <p:spPr>
          <a:xfrm>
            <a:off x="3478901" y="1554971"/>
            <a:ext cx="2715039" cy="523220"/>
          </a:xfrm>
          <a:prstGeom prst="rect">
            <a:avLst/>
          </a:prstGeom>
          <a:noFill/>
        </p:spPr>
        <p:txBody>
          <a:bodyPr wrap="none" rtlCol="0">
            <a:spAutoFit/>
          </a:bodyPr>
          <a:lstStyle/>
          <a:p>
            <a:r>
              <a:rPr lang="en-US" altLang="zh-TW" sz="2800" dirty="0" smtClean="0">
                <a:latin typeface="Cambria Math" panose="02040503050406030204" pitchFamily="18" charset="0"/>
                <a:ea typeface="Cambria Math" panose="02040503050406030204" pitchFamily="18" charset="0"/>
              </a:rPr>
              <a:t>S = </a:t>
            </a:r>
            <a:r>
              <a:rPr lang="en-US" altLang="zh-TW" sz="2800" dirty="0" err="1" smtClean="0">
                <a:latin typeface="Cambria Math" panose="02040503050406030204" pitchFamily="18" charset="0"/>
                <a:ea typeface="Cambria Math" panose="02040503050406030204" pitchFamily="18" charset="0"/>
              </a:rPr>
              <a:t>xabxa</a:t>
            </a:r>
            <a:r>
              <a:rPr lang="en-US" altLang="zh-TW" sz="2800" dirty="0" err="1" smtClean="0">
                <a:solidFill>
                  <a:schemeClr val="tx1"/>
                </a:solidFill>
                <a:latin typeface="Cambria Math" panose="02040503050406030204" pitchFamily="18" charset="0"/>
                <a:ea typeface="Cambria Math" panose="02040503050406030204" pitchFamily="18" charset="0"/>
              </a:rPr>
              <a:t>w</a:t>
            </a:r>
            <a:r>
              <a:rPr lang="en-US" altLang="zh-TW" sz="2800" dirty="0" err="1" smtClean="0">
                <a:latin typeface="Cambria Math" panose="02040503050406030204" pitchFamily="18" charset="0"/>
                <a:ea typeface="Cambria Math" panose="02040503050406030204" pitchFamily="18" charset="0"/>
              </a:rPr>
              <a:t>x</a:t>
            </a:r>
            <a:r>
              <a:rPr lang="en-US" altLang="zh-TW" sz="2800" dirty="0" err="1" smtClean="0">
                <a:solidFill>
                  <a:srgbClr val="FF0000"/>
                </a:solidFill>
                <a:latin typeface="Cambria Math" panose="02040503050406030204" pitchFamily="18" charset="0"/>
                <a:ea typeface="Cambria Math" panose="02040503050406030204" pitchFamily="18" charset="0"/>
              </a:rPr>
              <a:t>a</a:t>
            </a:r>
            <a:r>
              <a:rPr lang="en-US" altLang="zh-TW" sz="2800" dirty="0" err="1" smtClean="0">
                <a:latin typeface="Cambria Math" panose="02040503050406030204" pitchFamily="18" charset="0"/>
                <a:ea typeface="Cambria Math" panose="02040503050406030204" pitchFamily="18" charset="0"/>
              </a:rPr>
              <a:t>bc</a:t>
            </a:r>
            <a:r>
              <a:rPr lang="en-US" altLang="zh-TW" sz="2800" dirty="0" smtClean="0">
                <a:latin typeface="Cambria Math" panose="02040503050406030204" pitchFamily="18" charset="0"/>
                <a:ea typeface="Cambria Math" panose="02040503050406030204" pitchFamily="18" charset="0"/>
              </a:rPr>
              <a:t> </a:t>
            </a:r>
          </a:p>
        </p:txBody>
      </p:sp>
      <p:sp>
        <p:nvSpPr>
          <p:cNvPr id="61" name="文字方塊 60"/>
          <p:cNvSpPr txBox="1"/>
          <p:nvPr/>
        </p:nvSpPr>
        <p:spPr>
          <a:xfrm>
            <a:off x="6393231" y="1566722"/>
            <a:ext cx="2715039" cy="523220"/>
          </a:xfrm>
          <a:prstGeom prst="rect">
            <a:avLst/>
          </a:prstGeom>
          <a:noFill/>
        </p:spPr>
        <p:txBody>
          <a:bodyPr wrap="none" rtlCol="0">
            <a:spAutoFit/>
          </a:bodyPr>
          <a:lstStyle/>
          <a:p>
            <a:r>
              <a:rPr lang="en-US" altLang="zh-TW" sz="2800" dirty="0" smtClean="0">
                <a:latin typeface="Cambria Math" panose="02040503050406030204" pitchFamily="18" charset="0"/>
                <a:ea typeface="Cambria Math" panose="02040503050406030204" pitchFamily="18" charset="0"/>
              </a:rPr>
              <a:t>S = </a:t>
            </a:r>
            <a:r>
              <a:rPr lang="en-US" altLang="zh-TW" sz="2800" dirty="0" err="1" smtClean="0">
                <a:latin typeface="Cambria Math" panose="02040503050406030204" pitchFamily="18" charset="0"/>
                <a:ea typeface="Cambria Math" panose="02040503050406030204" pitchFamily="18" charset="0"/>
              </a:rPr>
              <a:t>xabxa</a:t>
            </a:r>
            <a:r>
              <a:rPr lang="en-US" altLang="zh-TW" sz="2800" dirty="0" err="1" smtClean="0">
                <a:solidFill>
                  <a:schemeClr val="tx1"/>
                </a:solidFill>
                <a:latin typeface="Cambria Math" panose="02040503050406030204" pitchFamily="18" charset="0"/>
                <a:ea typeface="Cambria Math" panose="02040503050406030204" pitchFamily="18" charset="0"/>
              </a:rPr>
              <a:t>w</a:t>
            </a:r>
            <a:r>
              <a:rPr lang="en-US" altLang="zh-TW" sz="2800" dirty="0" err="1" smtClean="0">
                <a:latin typeface="Cambria Math" panose="02040503050406030204" pitchFamily="18" charset="0"/>
                <a:ea typeface="Cambria Math" panose="02040503050406030204" pitchFamily="18" charset="0"/>
              </a:rPr>
              <a:t>xa</a:t>
            </a:r>
            <a:r>
              <a:rPr lang="en-US" altLang="zh-TW" sz="2800" dirty="0" err="1" smtClean="0">
                <a:solidFill>
                  <a:srgbClr val="FF0000"/>
                </a:solidFill>
                <a:latin typeface="Cambria Math" panose="02040503050406030204" pitchFamily="18" charset="0"/>
                <a:ea typeface="Cambria Math" panose="02040503050406030204" pitchFamily="18" charset="0"/>
              </a:rPr>
              <a:t>b</a:t>
            </a:r>
            <a:r>
              <a:rPr lang="en-US" altLang="zh-TW" sz="2800" dirty="0" err="1" smtClean="0">
                <a:latin typeface="Cambria Math" panose="02040503050406030204" pitchFamily="18" charset="0"/>
                <a:ea typeface="Cambria Math" panose="02040503050406030204" pitchFamily="18" charset="0"/>
              </a:rPr>
              <a:t>c</a:t>
            </a:r>
            <a:r>
              <a:rPr lang="en-US" altLang="zh-TW" sz="2800" dirty="0" smtClean="0">
                <a:latin typeface="Cambria Math" panose="02040503050406030204" pitchFamily="18" charset="0"/>
                <a:ea typeface="Cambria Math" panose="02040503050406030204" pitchFamily="18" charset="0"/>
              </a:rPr>
              <a:t> </a:t>
            </a:r>
          </a:p>
        </p:txBody>
      </p:sp>
      <p:sp>
        <p:nvSpPr>
          <p:cNvPr id="64" name="文字方塊 63"/>
          <p:cNvSpPr txBox="1"/>
          <p:nvPr/>
        </p:nvSpPr>
        <p:spPr>
          <a:xfrm>
            <a:off x="9624758" y="2375471"/>
            <a:ext cx="2715039" cy="523220"/>
          </a:xfrm>
          <a:prstGeom prst="rect">
            <a:avLst/>
          </a:prstGeom>
          <a:noFill/>
        </p:spPr>
        <p:txBody>
          <a:bodyPr wrap="none" rtlCol="0">
            <a:spAutoFit/>
          </a:bodyPr>
          <a:lstStyle/>
          <a:p>
            <a:r>
              <a:rPr lang="en-US" altLang="zh-TW" sz="2800" dirty="0" smtClean="0">
                <a:latin typeface="Cambria Math" panose="02040503050406030204" pitchFamily="18" charset="0"/>
                <a:ea typeface="Cambria Math" panose="02040503050406030204" pitchFamily="18" charset="0"/>
              </a:rPr>
              <a:t>S = </a:t>
            </a:r>
            <a:r>
              <a:rPr lang="en-US" altLang="zh-TW" sz="2800" dirty="0" err="1" smtClean="0">
                <a:latin typeface="Cambria Math" panose="02040503050406030204" pitchFamily="18" charset="0"/>
                <a:ea typeface="Cambria Math" panose="02040503050406030204" pitchFamily="18" charset="0"/>
              </a:rPr>
              <a:t>xabxa</a:t>
            </a:r>
            <a:r>
              <a:rPr lang="en-US" altLang="zh-TW" sz="2800" dirty="0" err="1" smtClean="0">
                <a:solidFill>
                  <a:schemeClr val="tx1"/>
                </a:solidFill>
                <a:latin typeface="Cambria Math" panose="02040503050406030204" pitchFamily="18" charset="0"/>
                <a:ea typeface="Cambria Math" panose="02040503050406030204" pitchFamily="18" charset="0"/>
              </a:rPr>
              <a:t>w</a:t>
            </a:r>
            <a:r>
              <a:rPr lang="en-US" altLang="zh-TW" sz="2800" dirty="0" err="1" smtClean="0">
                <a:latin typeface="Cambria Math" panose="02040503050406030204" pitchFamily="18" charset="0"/>
                <a:ea typeface="Cambria Math" panose="02040503050406030204" pitchFamily="18" charset="0"/>
              </a:rPr>
              <a:t>xab</a:t>
            </a:r>
            <a:r>
              <a:rPr lang="en-US" altLang="zh-TW" sz="2800" dirty="0" err="1" smtClean="0">
                <a:solidFill>
                  <a:srgbClr val="FF0000"/>
                </a:solidFill>
                <a:latin typeface="Cambria Math" panose="02040503050406030204" pitchFamily="18" charset="0"/>
                <a:ea typeface="Cambria Math" panose="02040503050406030204" pitchFamily="18" charset="0"/>
              </a:rPr>
              <a:t>c</a:t>
            </a:r>
            <a:r>
              <a:rPr lang="en-US" altLang="zh-TW" sz="2800" dirty="0" smtClean="0">
                <a:latin typeface="Cambria Math" panose="02040503050406030204" pitchFamily="18" charset="0"/>
                <a:ea typeface="Cambria Math" panose="02040503050406030204" pitchFamily="18" charset="0"/>
              </a:rPr>
              <a:t> </a:t>
            </a:r>
          </a:p>
        </p:txBody>
      </p:sp>
      <p:sp>
        <p:nvSpPr>
          <p:cNvPr id="65" name="文字方塊 64"/>
          <p:cNvSpPr txBox="1"/>
          <p:nvPr/>
        </p:nvSpPr>
        <p:spPr>
          <a:xfrm>
            <a:off x="9634508" y="3001100"/>
            <a:ext cx="2367473" cy="400110"/>
          </a:xfrm>
          <a:prstGeom prst="rect">
            <a:avLst/>
          </a:prstGeom>
          <a:noFill/>
        </p:spPr>
        <p:txBody>
          <a:bodyPr wrap="square" rtlCol="0">
            <a:spAutoFit/>
          </a:bodyPr>
          <a:lstStyle/>
          <a:p>
            <a:r>
              <a:rPr lang="en-US" altLang="zh-TW" sz="2000" dirty="0" smtClean="0"/>
              <a:t>“</a:t>
            </a:r>
            <a:r>
              <a:rPr lang="en-US" altLang="zh-TW" sz="2000" dirty="0" err="1" smtClean="0"/>
              <a:t>xabc</a:t>
            </a:r>
            <a:r>
              <a:rPr lang="en-US" altLang="zh-TW" sz="2000" dirty="0" smtClean="0"/>
              <a:t>”, ”</a:t>
            </a:r>
            <a:r>
              <a:rPr lang="en-US" altLang="zh-TW" sz="2000" dirty="0" err="1" smtClean="0"/>
              <a:t>abc</a:t>
            </a:r>
            <a:r>
              <a:rPr lang="en-US" altLang="zh-TW" sz="2000" dirty="0" smtClean="0"/>
              <a:t>”, ”</a:t>
            </a:r>
            <a:r>
              <a:rPr lang="en-US" altLang="zh-TW" sz="2000" dirty="0" err="1" smtClean="0"/>
              <a:t>bc</a:t>
            </a:r>
            <a:r>
              <a:rPr lang="en-US" altLang="zh-TW" sz="2000" dirty="0" smtClean="0"/>
              <a:t>”, “c”</a:t>
            </a:r>
            <a:endParaRPr lang="zh-TW" altLang="en-US" sz="2000" dirty="0"/>
          </a:p>
        </p:txBody>
      </p:sp>
    </p:spTree>
    <p:extLst>
      <p:ext uri="{BB962C8B-B14F-4D97-AF65-F5344CB8AC3E}">
        <p14:creationId xmlns:p14="http://schemas.microsoft.com/office/powerpoint/2010/main" val="3482407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1000"/>
                                        <p:tgtEl>
                                          <p:spTgt spid="64"/>
                                        </p:tgtEl>
                                      </p:cBhvr>
                                    </p:animEffect>
                                    <p:anim calcmode="lin" valueType="num">
                                      <p:cBhvr>
                                        <p:cTn id="38" dur="1000" fill="hold"/>
                                        <p:tgtEl>
                                          <p:spTgt spid="64"/>
                                        </p:tgtEl>
                                        <p:attrNameLst>
                                          <p:attrName>ppt_x</p:attrName>
                                        </p:attrNameLst>
                                      </p:cBhvr>
                                      <p:tavLst>
                                        <p:tav tm="0">
                                          <p:val>
                                            <p:strVal val="#ppt_x"/>
                                          </p:val>
                                        </p:tav>
                                        <p:tav tm="100000">
                                          <p:val>
                                            <p:strVal val="#ppt_x"/>
                                          </p:val>
                                        </p:tav>
                                      </p:tavLst>
                                    </p:anim>
                                    <p:anim calcmode="lin" valueType="num">
                                      <p:cBhvr>
                                        <p:cTn id="39" dur="1000" fill="hold"/>
                                        <p:tgtEl>
                                          <p:spTgt spid="6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1000"/>
                                        <p:tgtEl>
                                          <p:spTgt spid="65"/>
                                        </p:tgtEl>
                                      </p:cBhvr>
                                    </p:animEffect>
                                    <p:anim calcmode="lin" valueType="num">
                                      <p:cBhvr>
                                        <p:cTn id="43" dur="1000" fill="hold"/>
                                        <p:tgtEl>
                                          <p:spTgt spid="65"/>
                                        </p:tgtEl>
                                        <p:attrNameLst>
                                          <p:attrName>ppt_x</p:attrName>
                                        </p:attrNameLst>
                                      </p:cBhvr>
                                      <p:tavLst>
                                        <p:tav tm="0">
                                          <p:val>
                                            <p:strVal val="#ppt_x"/>
                                          </p:val>
                                        </p:tav>
                                        <p:tav tm="100000">
                                          <p:val>
                                            <p:strVal val="#ppt_x"/>
                                          </p:val>
                                        </p:tav>
                                      </p:tavLst>
                                    </p:anim>
                                    <p:anim calcmode="lin" valueType="num">
                                      <p:cBhvr>
                                        <p:cTn id="44"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9" grpId="0"/>
      <p:bldP spid="30" grpId="0"/>
      <p:bldP spid="31" grpId="0" animBg="1"/>
      <p:bldP spid="32" grpId="0"/>
      <p:bldP spid="33" grpId="0"/>
      <p:bldP spid="38" grpId="0" animBg="1"/>
      <p:bldP spid="60" grpId="0"/>
      <p:bldP spid="61" grpId="0"/>
      <p:bldP spid="64" grpId="0"/>
      <p:bldP spid="6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Cambria Math" panose="02040503050406030204" pitchFamily="18" charset="0"/>
                <a:ea typeface="Cambria Math" panose="02040503050406030204" pitchFamily="18" charset="0"/>
              </a:rPr>
              <a:t>Ukkonen's</a:t>
            </a:r>
            <a:r>
              <a:rPr lang="en-US" altLang="zh-TW" dirty="0">
                <a:latin typeface="Cambria Math" panose="02040503050406030204" pitchFamily="18" charset="0"/>
                <a:ea typeface="Cambria Math" panose="02040503050406030204" pitchFamily="18" charset="0"/>
              </a:rPr>
              <a:t> algorithm</a:t>
            </a:r>
            <a:endParaRPr lang="zh-TW" altLang="en-US" dirty="0"/>
          </a:p>
        </p:txBody>
      </p:sp>
      <p:sp>
        <p:nvSpPr>
          <p:cNvPr id="3" name="內容版面配置區 2"/>
          <p:cNvSpPr>
            <a:spLocks noGrp="1"/>
          </p:cNvSpPr>
          <p:nvPr>
            <p:ph idx="1"/>
          </p:nvPr>
        </p:nvSpPr>
        <p:spPr/>
        <p:txBody>
          <a:bodyPr/>
          <a:lstStyle/>
          <a:p>
            <a:r>
              <a:rPr lang="en-US" altLang="zh-TW" sz="2400" dirty="0">
                <a:latin typeface="Cambria Math" panose="02040503050406030204" pitchFamily="18" charset="0"/>
                <a:ea typeface="Cambria Math" panose="02040503050406030204" pitchFamily="18" charset="0"/>
              </a:rPr>
              <a:t>S = </a:t>
            </a:r>
            <a:r>
              <a:rPr lang="en-US" altLang="zh-TW" sz="2400" dirty="0" err="1">
                <a:latin typeface="Cambria Math" panose="02040503050406030204" pitchFamily="18" charset="0"/>
                <a:ea typeface="Cambria Math" panose="02040503050406030204" pitchFamily="18" charset="0"/>
              </a:rPr>
              <a:t>xabxa</a:t>
            </a:r>
            <a:r>
              <a:rPr lang="en-US" altLang="zh-TW" sz="2400" dirty="0" err="1">
                <a:solidFill>
                  <a:schemeClr val="tx1"/>
                </a:solidFill>
                <a:latin typeface="Cambria Math" panose="02040503050406030204" pitchFamily="18" charset="0"/>
                <a:ea typeface="Cambria Math" panose="02040503050406030204" pitchFamily="18" charset="0"/>
              </a:rPr>
              <a:t>w</a:t>
            </a:r>
            <a:r>
              <a:rPr lang="en-US" altLang="zh-TW" sz="2400" dirty="0" err="1">
                <a:latin typeface="Cambria Math" panose="02040503050406030204" pitchFamily="18" charset="0"/>
                <a:ea typeface="Cambria Math" panose="02040503050406030204" pitchFamily="18" charset="0"/>
              </a:rPr>
              <a:t>xab</a:t>
            </a:r>
            <a:r>
              <a:rPr lang="en-US" altLang="zh-TW" sz="2400" dirty="0" err="1">
                <a:solidFill>
                  <a:schemeClr val="tx1"/>
                </a:solidFill>
                <a:latin typeface="Cambria Math" panose="02040503050406030204" pitchFamily="18" charset="0"/>
                <a:ea typeface="Cambria Math" panose="02040503050406030204" pitchFamily="18" charset="0"/>
              </a:rPr>
              <a:t>c</a:t>
            </a:r>
            <a:endParaRPr lang="en-US" altLang="zh-TW" sz="2400" dirty="0" smtClean="0">
              <a:solidFill>
                <a:schemeClr val="tx1"/>
              </a:solidFill>
              <a:latin typeface="Cambria Math" panose="02040503050406030204" pitchFamily="18" charset="0"/>
              <a:ea typeface="Cambria Math" panose="02040503050406030204" pitchFamily="18" charset="0"/>
            </a:endParaRPr>
          </a:p>
          <a:p>
            <a:r>
              <a:rPr lang="en-US" altLang="zh-TW" sz="2400" dirty="0" smtClean="0">
                <a:solidFill>
                  <a:srgbClr val="C00000"/>
                </a:solidFill>
                <a:latin typeface="Cambria Math" panose="02040503050406030204" pitchFamily="18" charset="0"/>
                <a:ea typeface="Cambria Math" panose="02040503050406030204" pitchFamily="18" charset="0"/>
              </a:rPr>
              <a:t>active point</a:t>
            </a:r>
            <a:r>
              <a:rPr lang="zh-TW" altLang="en-US" sz="2400" dirty="0" smtClean="0">
                <a:latin typeface="Cambria Math" panose="02040503050406030204" pitchFamily="18" charset="0"/>
              </a:rPr>
              <a:t>：</a:t>
            </a:r>
            <a:r>
              <a:rPr lang="en-US" altLang="zh-TW" sz="2400" dirty="0" smtClean="0">
                <a:latin typeface="Cambria Math" panose="02040503050406030204" pitchFamily="18" charset="0"/>
                <a:ea typeface="Cambria Math" panose="02040503050406030204" pitchFamily="18" charset="0"/>
              </a:rPr>
              <a:t> (node1,’b’,1)</a:t>
            </a:r>
          </a:p>
          <a:p>
            <a:r>
              <a:rPr lang="en-US" altLang="zh-TW" sz="2400" dirty="0" smtClean="0">
                <a:solidFill>
                  <a:srgbClr val="C00000"/>
                </a:solidFill>
                <a:latin typeface="Cambria Math" panose="02040503050406030204" pitchFamily="18" charset="0"/>
                <a:ea typeface="Cambria Math" panose="02040503050406030204" pitchFamily="18" charset="0"/>
              </a:rPr>
              <a:t>remainder</a:t>
            </a:r>
            <a:r>
              <a:rPr lang="zh-TW" altLang="en-US" sz="2400" dirty="0" smtClean="0">
                <a:latin typeface="Cambria Math" panose="02040503050406030204" pitchFamily="18" charset="0"/>
              </a:rPr>
              <a:t>：</a:t>
            </a:r>
            <a:r>
              <a:rPr lang="en-US" altLang="zh-TW" sz="2400" dirty="0" smtClean="0">
                <a:latin typeface="Cambria Math" panose="02040503050406030204" pitchFamily="18" charset="0"/>
                <a:ea typeface="Cambria Math" panose="02040503050406030204" pitchFamily="18" charset="0"/>
              </a:rPr>
              <a:t>4  (“</a:t>
            </a:r>
            <a:r>
              <a:rPr lang="en-US" altLang="zh-TW" sz="2400" dirty="0" err="1" smtClean="0">
                <a:latin typeface="Cambria Math" panose="02040503050406030204" pitchFamily="18" charset="0"/>
                <a:ea typeface="Cambria Math" panose="02040503050406030204" pitchFamily="18" charset="0"/>
              </a:rPr>
              <a:t>xabc</a:t>
            </a:r>
            <a:r>
              <a:rPr lang="en-US" altLang="zh-TW" sz="2400" dirty="0" smtClean="0">
                <a:latin typeface="Cambria Math" panose="02040503050406030204" pitchFamily="18" charset="0"/>
                <a:ea typeface="Cambria Math" panose="02040503050406030204" pitchFamily="18" charset="0"/>
              </a:rPr>
              <a:t>”, ”</a:t>
            </a:r>
            <a:r>
              <a:rPr lang="en-US" altLang="zh-TW" sz="2400" dirty="0" err="1" smtClean="0">
                <a:latin typeface="Cambria Math" panose="02040503050406030204" pitchFamily="18" charset="0"/>
                <a:ea typeface="Cambria Math" panose="02040503050406030204" pitchFamily="18" charset="0"/>
              </a:rPr>
              <a:t>abc</a:t>
            </a:r>
            <a:r>
              <a:rPr lang="en-US" altLang="zh-TW" sz="2400" dirty="0" smtClean="0">
                <a:latin typeface="Cambria Math" panose="02040503050406030204" pitchFamily="18" charset="0"/>
                <a:ea typeface="Cambria Math" panose="02040503050406030204" pitchFamily="18" charset="0"/>
              </a:rPr>
              <a:t>”, ”</a:t>
            </a:r>
            <a:r>
              <a:rPr lang="en-US" altLang="zh-TW" sz="2400" dirty="0" err="1" smtClean="0">
                <a:latin typeface="Cambria Math" panose="02040503050406030204" pitchFamily="18" charset="0"/>
                <a:ea typeface="Cambria Math" panose="02040503050406030204" pitchFamily="18" charset="0"/>
              </a:rPr>
              <a:t>bc</a:t>
            </a:r>
            <a:r>
              <a:rPr lang="en-US" altLang="zh-TW" sz="2400" dirty="0" smtClean="0">
                <a:latin typeface="Cambria Math" panose="02040503050406030204" pitchFamily="18" charset="0"/>
                <a:ea typeface="Cambria Math" panose="02040503050406030204" pitchFamily="18" charset="0"/>
              </a:rPr>
              <a:t>”, “c”)</a:t>
            </a:r>
            <a:endParaRPr lang="zh-TW" altLang="en-US" sz="2400" dirty="0" smtClean="0">
              <a:latin typeface="Cambria Math" panose="02040503050406030204" pitchFamily="18" charset="0"/>
            </a:endParaRPr>
          </a:p>
          <a:p>
            <a:endParaRPr lang="zh-TW" altLang="en-US" dirty="0"/>
          </a:p>
          <a:p>
            <a:endParaRPr lang="zh-TW" altLang="en-US" dirty="0"/>
          </a:p>
        </p:txBody>
      </p:sp>
      <p:grpSp>
        <p:nvGrpSpPr>
          <p:cNvPr id="55" name="群組 54"/>
          <p:cNvGrpSpPr/>
          <p:nvPr/>
        </p:nvGrpSpPr>
        <p:grpSpPr>
          <a:xfrm>
            <a:off x="6277644" y="2447633"/>
            <a:ext cx="4967005" cy="3860375"/>
            <a:chOff x="6277644" y="2447633"/>
            <a:chExt cx="4967005" cy="3860375"/>
          </a:xfrm>
        </p:grpSpPr>
        <p:grpSp>
          <p:nvGrpSpPr>
            <p:cNvPr id="5" name="群組 4"/>
            <p:cNvGrpSpPr/>
            <p:nvPr/>
          </p:nvGrpSpPr>
          <p:grpSpPr>
            <a:xfrm>
              <a:off x="6277644" y="2849327"/>
              <a:ext cx="4674616" cy="3458681"/>
              <a:chOff x="5544064" y="1424976"/>
              <a:chExt cx="5206316" cy="4294064"/>
            </a:xfrm>
          </p:grpSpPr>
          <p:sp>
            <p:nvSpPr>
              <p:cNvPr id="6" name="橢圓 5"/>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橢圓 7"/>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弧形接點 8"/>
              <p:cNvCxnSpPr>
                <a:stCxn id="8"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弧形接點 9"/>
              <p:cNvCxnSpPr>
                <a:stCxn id="8"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弧形接點 10"/>
              <p:cNvCxnSpPr>
                <a:stCxn id="6"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弧形接點 11"/>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14" name="文字方塊 13"/>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15" name="文字方塊 14"/>
              <p:cNvSpPr txBox="1"/>
              <p:nvPr/>
            </p:nvSpPr>
            <p:spPr>
              <a:xfrm>
                <a:off x="8500180" y="3280695"/>
                <a:ext cx="1624761"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16" name="文字方塊 15"/>
              <p:cNvSpPr txBox="1"/>
              <p:nvPr/>
            </p:nvSpPr>
            <p:spPr>
              <a:xfrm>
                <a:off x="7657129" y="3980855"/>
                <a:ext cx="2198645" cy="649595"/>
              </a:xfrm>
              <a:prstGeom prst="rect">
                <a:avLst/>
              </a:prstGeom>
              <a:noFill/>
            </p:spPr>
            <p:txBody>
              <a:bodyPr wrap="square" rtlCol="0">
                <a:spAutoFit/>
              </a:bodyPr>
              <a:lstStyle/>
              <a:p>
                <a:r>
                  <a:rPr lang="en-US" altLang="zh-TW" sz="2800" dirty="0" err="1" smtClean="0"/>
                  <a:t>bxawxabc</a:t>
                </a:r>
                <a:endParaRPr lang="zh-TW" altLang="en-US" sz="2800" dirty="0"/>
              </a:p>
            </p:txBody>
          </p:sp>
          <p:sp>
            <p:nvSpPr>
              <p:cNvPr id="17" name="橢圓 16"/>
              <p:cNvSpPr/>
              <p:nvPr/>
            </p:nvSpPr>
            <p:spPr>
              <a:xfrm>
                <a:off x="7422292" y="346270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弧形接點 17"/>
              <p:cNvCxnSpPr>
                <a:stCxn id="17"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20" name="文字方塊 19"/>
              <p:cNvSpPr txBox="1"/>
              <p:nvPr/>
            </p:nvSpPr>
            <p:spPr>
              <a:xfrm>
                <a:off x="8412911" y="2604837"/>
                <a:ext cx="1810245" cy="649595"/>
              </a:xfrm>
              <a:prstGeom prst="rect">
                <a:avLst/>
              </a:prstGeom>
              <a:noFill/>
            </p:spPr>
            <p:txBody>
              <a:bodyPr wrap="square" rtlCol="0">
                <a:spAutoFit/>
              </a:bodyPr>
              <a:lstStyle/>
              <a:p>
                <a:r>
                  <a:rPr lang="en-US" altLang="zh-TW" sz="2800" dirty="0" err="1" smtClean="0"/>
                  <a:t>bxawxabc</a:t>
                </a:r>
                <a:endParaRPr lang="zh-TW" altLang="en-US" sz="2800" dirty="0"/>
              </a:p>
            </p:txBody>
          </p:sp>
          <p:cxnSp>
            <p:nvCxnSpPr>
              <p:cNvPr id="21" name="弧形接點 20"/>
              <p:cNvCxnSpPr>
                <a:stCxn id="17"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弧形接點 21"/>
              <p:cNvCxnSpPr>
                <a:stCxn id="8" idx="4"/>
                <a:endCxn id="17"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24" name="弧形接點 23"/>
              <p:cNvCxnSpPr>
                <a:stCxn id="6"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6796107" y="4896146"/>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26" name="橢圓 25"/>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弧形接點 27"/>
            <p:cNvCxnSpPr>
              <a:stCxn id="26" idx="0"/>
            </p:cNvCxnSpPr>
            <p:nvPr/>
          </p:nvCxnSpPr>
          <p:spPr>
            <a:xfrm rot="5400000" flipH="1" flipV="1">
              <a:off x="10103304" y="2080541"/>
              <a:ext cx="221896"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弧形接點 29"/>
            <p:cNvCxnSpPr>
              <a:stCxn id="26"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文字方塊 31"/>
            <p:cNvSpPr txBox="1"/>
            <p:nvPr/>
          </p:nvSpPr>
          <p:spPr>
            <a:xfrm>
              <a:off x="9476254" y="2447633"/>
              <a:ext cx="1476006" cy="523220"/>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33" name="文字方塊 32"/>
            <p:cNvSpPr txBox="1"/>
            <p:nvPr/>
          </p:nvSpPr>
          <p:spPr>
            <a:xfrm>
              <a:off x="9969875" y="3038207"/>
              <a:ext cx="399684" cy="523220"/>
            </a:xfrm>
            <a:prstGeom prst="rect">
              <a:avLst/>
            </a:prstGeom>
            <a:noFill/>
          </p:spPr>
          <p:txBody>
            <a:bodyPr wrap="square" rtlCol="0">
              <a:spAutoFit/>
            </a:bodyPr>
            <a:lstStyle/>
            <a:p>
              <a:r>
                <a:rPr lang="en-US" altLang="zh-TW" sz="2800" dirty="0" smtClean="0">
                  <a:solidFill>
                    <a:srgbClr val="FF0000"/>
                  </a:solidFill>
                </a:rPr>
                <a:t>c</a:t>
              </a:r>
              <a:endParaRPr lang="zh-TW" altLang="en-US" sz="2800" dirty="0">
                <a:solidFill>
                  <a:srgbClr val="FF0000"/>
                </a:solidFill>
              </a:endParaRPr>
            </a:p>
          </p:txBody>
        </p:sp>
      </p:grpSp>
      <p:grpSp>
        <p:nvGrpSpPr>
          <p:cNvPr id="34" name="群組 33"/>
          <p:cNvGrpSpPr/>
          <p:nvPr/>
        </p:nvGrpSpPr>
        <p:grpSpPr>
          <a:xfrm>
            <a:off x="839337" y="3344165"/>
            <a:ext cx="4277439" cy="3127622"/>
            <a:chOff x="5544064" y="1418752"/>
            <a:chExt cx="5206316" cy="4300288"/>
          </a:xfrm>
        </p:grpSpPr>
        <p:sp>
          <p:nvSpPr>
            <p:cNvPr id="35" name="橢圓 34"/>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6" name="弧形接點 35"/>
            <p:cNvCxnSpPr>
              <a:stCxn id="35"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橢圓 36"/>
            <p:cNvSpPr/>
            <p:nvPr/>
          </p:nvSpPr>
          <p:spPr>
            <a:xfrm>
              <a:off x="6895072" y="229551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弧形接點 37"/>
            <p:cNvCxnSpPr>
              <a:stCxn id="37"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弧形接點 38"/>
            <p:cNvCxnSpPr>
              <a:stCxn id="37"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弧形接點 39"/>
            <p:cNvCxnSpPr>
              <a:stCxn id="35"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弧形接點 40"/>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文字方塊 41"/>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43" name="文字方塊 42"/>
            <p:cNvSpPr txBox="1"/>
            <p:nvPr/>
          </p:nvSpPr>
          <p:spPr>
            <a:xfrm>
              <a:off x="7451794" y="2024885"/>
              <a:ext cx="1484856" cy="7193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44" name="文字方塊 43"/>
            <p:cNvSpPr txBox="1"/>
            <p:nvPr/>
          </p:nvSpPr>
          <p:spPr>
            <a:xfrm>
              <a:off x="8500180" y="3280695"/>
              <a:ext cx="1624761" cy="7193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45" name="文字方塊 44"/>
            <p:cNvSpPr txBox="1"/>
            <p:nvPr/>
          </p:nvSpPr>
          <p:spPr>
            <a:xfrm>
              <a:off x="7657129" y="3980855"/>
              <a:ext cx="2198645" cy="719395"/>
            </a:xfrm>
            <a:prstGeom prst="rect">
              <a:avLst/>
            </a:prstGeom>
            <a:noFill/>
          </p:spPr>
          <p:txBody>
            <a:bodyPr wrap="square" rtlCol="0">
              <a:spAutoFit/>
            </a:bodyPr>
            <a:lstStyle/>
            <a:p>
              <a:r>
                <a:rPr lang="en-US" altLang="zh-TW" sz="2800" dirty="0" err="1" smtClean="0"/>
                <a:t>bxawxabc</a:t>
              </a:r>
              <a:endParaRPr lang="zh-TW" altLang="en-US" sz="2800" dirty="0"/>
            </a:p>
          </p:txBody>
        </p:sp>
        <p:sp>
          <p:nvSpPr>
            <p:cNvPr id="46" name="橢圓 45"/>
            <p:cNvSpPr/>
            <p:nvPr/>
          </p:nvSpPr>
          <p:spPr>
            <a:xfrm>
              <a:off x="7422292" y="346270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7" name="弧形接點 46"/>
            <p:cNvCxnSpPr>
              <a:stCxn id="46"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字方塊 47"/>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49" name="文字方塊 48"/>
            <p:cNvSpPr txBox="1"/>
            <p:nvPr/>
          </p:nvSpPr>
          <p:spPr>
            <a:xfrm>
              <a:off x="8412911" y="2604837"/>
              <a:ext cx="2003895" cy="719395"/>
            </a:xfrm>
            <a:prstGeom prst="rect">
              <a:avLst/>
            </a:prstGeom>
            <a:noFill/>
          </p:spPr>
          <p:txBody>
            <a:bodyPr wrap="square" rtlCol="0">
              <a:spAutoFit/>
            </a:bodyPr>
            <a:lstStyle/>
            <a:p>
              <a:r>
                <a:rPr lang="en-US" altLang="zh-TW" sz="2800" dirty="0" err="1" smtClean="0"/>
                <a:t>bxawxabc</a:t>
              </a:r>
              <a:endParaRPr lang="zh-TW" altLang="en-US" sz="2800" dirty="0"/>
            </a:p>
          </p:txBody>
        </p:sp>
        <p:cxnSp>
          <p:nvCxnSpPr>
            <p:cNvPr id="50" name="弧形接點 49"/>
            <p:cNvCxnSpPr>
              <a:stCxn id="46"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弧形接點 50"/>
            <p:cNvCxnSpPr>
              <a:stCxn id="37" idx="4"/>
              <a:endCxn id="46"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p:cNvSpPr txBox="1"/>
            <p:nvPr/>
          </p:nvSpPr>
          <p:spPr>
            <a:xfrm>
              <a:off x="6001227" y="1418752"/>
              <a:ext cx="2192995" cy="719395"/>
            </a:xfrm>
            <a:prstGeom prst="rect">
              <a:avLst/>
            </a:prstGeom>
            <a:noFill/>
          </p:spPr>
          <p:txBody>
            <a:bodyPr wrap="square" rtlCol="0">
              <a:spAutoFit/>
            </a:bodyPr>
            <a:lstStyle/>
            <a:p>
              <a:r>
                <a:rPr lang="en-US" altLang="zh-TW" sz="2800" dirty="0" err="1" smtClean="0">
                  <a:solidFill>
                    <a:srgbClr val="FF0000"/>
                  </a:solidFill>
                </a:rPr>
                <a:t>bxawxabc</a:t>
              </a:r>
              <a:endParaRPr lang="zh-TW" altLang="en-US" sz="2800" dirty="0">
                <a:solidFill>
                  <a:srgbClr val="FF0000"/>
                </a:solidFill>
              </a:endParaRPr>
            </a:p>
          </p:txBody>
        </p:sp>
        <p:cxnSp>
          <p:nvCxnSpPr>
            <p:cNvPr id="53" name="弧形接點 52"/>
            <p:cNvCxnSpPr>
              <a:stCxn id="35"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字方塊 53"/>
            <p:cNvSpPr txBox="1"/>
            <p:nvPr/>
          </p:nvSpPr>
          <p:spPr>
            <a:xfrm>
              <a:off x="6796107" y="4896146"/>
              <a:ext cx="1616804" cy="7193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56" name="向右箭號 55"/>
          <p:cNvSpPr/>
          <p:nvPr/>
        </p:nvSpPr>
        <p:spPr>
          <a:xfrm>
            <a:off x="5353205" y="4802893"/>
            <a:ext cx="345989" cy="3586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p:nvSpPr>
        <p:spPr>
          <a:xfrm>
            <a:off x="8599531" y="1334633"/>
            <a:ext cx="2740687" cy="369332"/>
          </a:xfrm>
          <a:prstGeom prst="rect">
            <a:avLst/>
          </a:prstGeom>
        </p:spPr>
        <p:txBody>
          <a:bodyPr wrap="none">
            <a:spAutoFit/>
          </a:bodyPr>
          <a:lstStyle/>
          <a:p>
            <a:r>
              <a:rPr lang="en-US" altLang="zh-TW" dirty="0" smtClean="0">
                <a:solidFill>
                  <a:srgbClr val="C00000"/>
                </a:solidFill>
              </a:rPr>
              <a:t>active point</a:t>
            </a:r>
            <a:r>
              <a:rPr lang="zh-TW" altLang="en-US" dirty="0" smtClean="0"/>
              <a:t>：</a:t>
            </a:r>
            <a:r>
              <a:rPr lang="en-US" altLang="zh-TW" dirty="0" smtClean="0"/>
              <a:t> (node2,’b’,1)</a:t>
            </a:r>
          </a:p>
        </p:txBody>
      </p:sp>
      <p:sp>
        <p:nvSpPr>
          <p:cNvPr id="59" name="文字方塊 58"/>
          <p:cNvSpPr txBox="1"/>
          <p:nvPr/>
        </p:nvSpPr>
        <p:spPr>
          <a:xfrm>
            <a:off x="8621412" y="1849872"/>
            <a:ext cx="3185680" cy="646331"/>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3  ( ”</a:t>
            </a:r>
            <a:r>
              <a:rPr lang="en-US" altLang="zh-TW" dirty="0" err="1" smtClean="0"/>
              <a:t>abc</a:t>
            </a:r>
            <a:r>
              <a:rPr lang="en-US" altLang="zh-TW" dirty="0" smtClean="0"/>
              <a:t>”, ”</a:t>
            </a:r>
            <a:r>
              <a:rPr lang="en-US" altLang="zh-TW" dirty="0" err="1" smtClean="0"/>
              <a:t>bc</a:t>
            </a:r>
            <a:r>
              <a:rPr lang="en-US" altLang="zh-TW" dirty="0" smtClean="0"/>
              <a:t>”, “c”)</a:t>
            </a:r>
            <a:endParaRPr lang="zh-TW" altLang="en-US" dirty="0" smtClean="0"/>
          </a:p>
          <a:p>
            <a:endParaRPr lang="zh-TW" altLang="en-US" dirty="0"/>
          </a:p>
        </p:txBody>
      </p:sp>
      <p:sp>
        <p:nvSpPr>
          <p:cNvPr id="60" name="向右箭號 59"/>
          <p:cNvSpPr/>
          <p:nvPr/>
        </p:nvSpPr>
        <p:spPr>
          <a:xfrm rot="1510442">
            <a:off x="7707683" y="4281898"/>
            <a:ext cx="236690" cy="18811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93286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anim calcmode="lin" valueType="num">
                                      <p:cBhvr additive="base">
                                        <p:cTn id="15" dur="500" fill="hold"/>
                                        <p:tgtEl>
                                          <p:spTgt spid="60"/>
                                        </p:tgtEl>
                                        <p:attrNameLst>
                                          <p:attrName>ppt_x</p:attrName>
                                        </p:attrNameLst>
                                      </p:cBhvr>
                                      <p:tavLst>
                                        <p:tav tm="0">
                                          <p:val>
                                            <p:strVal val="#ppt_x"/>
                                          </p:val>
                                        </p:tav>
                                        <p:tav tm="100000">
                                          <p:val>
                                            <p:strVal val="#ppt_x"/>
                                          </p:val>
                                        </p:tav>
                                      </p:tavLst>
                                    </p:anim>
                                    <p:anim calcmode="lin" valueType="num">
                                      <p:cBhvr additive="base">
                                        <p:cTn id="16" dur="500" fill="hold"/>
                                        <p:tgtEl>
                                          <p:spTgt spid="6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ppt_x"/>
                                          </p:val>
                                        </p:tav>
                                        <p:tav tm="100000">
                                          <p:val>
                                            <p:strVal val="#ppt_x"/>
                                          </p:val>
                                        </p:tav>
                                      </p:tavLst>
                                    </p:anim>
                                    <p:anim calcmode="lin" valueType="num">
                                      <p:cBhvr additive="base">
                                        <p:cTn id="20" dur="500" fill="hold"/>
                                        <p:tgtEl>
                                          <p:spTgt spid="5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 calcmode="lin" valueType="num">
                                      <p:cBhvr additive="base">
                                        <p:cTn id="23" dur="500" fill="hold"/>
                                        <p:tgtEl>
                                          <p:spTgt spid="59"/>
                                        </p:tgtEl>
                                        <p:attrNameLst>
                                          <p:attrName>ppt_x</p:attrName>
                                        </p:attrNameLst>
                                      </p:cBhvr>
                                      <p:tavLst>
                                        <p:tav tm="0">
                                          <p:val>
                                            <p:strVal val="#ppt_x"/>
                                          </p:val>
                                        </p:tav>
                                        <p:tav tm="100000">
                                          <p:val>
                                            <p:strVal val="#ppt_x"/>
                                          </p:val>
                                        </p:tav>
                                      </p:tavLst>
                                    </p:anim>
                                    <p:anim calcmode="lin" valueType="num">
                                      <p:cBhvr additive="base">
                                        <p:cTn id="2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8" grpId="0"/>
      <p:bldP spid="59" grpId="0"/>
      <p:bldP spid="6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8020" y="196591"/>
            <a:ext cx="10971688" cy="1788792"/>
          </a:xfrm>
        </p:spPr>
        <p:txBody>
          <a:bodyPr/>
          <a:lstStyle/>
          <a:p>
            <a:r>
              <a:rPr lang="en-US" altLang="zh-TW" sz="2400" dirty="0">
                <a:latin typeface="Cambria Math" panose="02040503050406030204" pitchFamily="18" charset="0"/>
                <a:ea typeface="Cambria Math" panose="02040503050406030204" pitchFamily="18" charset="0"/>
              </a:rPr>
              <a:t>S = </a:t>
            </a:r>
            <a:r>
              <a:rPr lang="en-US" altLang="zh-TW" sz="2400" dirty="0" err="1">
                <a:latin typeface="Cambria Math" panose="02040503050406030204" pitchFamily="18" charset="0"/>
                <a:ea typeface="Cambria Math" panose="02040503050406030204" pitchFamily="18" charset="0"/>
              </a:rPr>
              <a:t>xabxa</a:t>
            </a:r>
            <a:r>
              <a:rPr lang="en-US" altLang="zh-TW" sz="2400" dirty="0" err="1">
                <a:solidFill>
                  <a:schemeClr val="tx1"/>
                </a:solidFill>
                <a:latin typeface="Cambria Math" panose="02040503050406030204" pitchFamily="18" charset="0"/>
                <a:ea typeface="Cambria Math" panose="02040503050406030204" pitchFamily="18" charset="0"/>
              </a:rPr>
              <a:t>w</a:t>
            </a:r>
            <a:r>
              <a:rPr lang="en-US" altLang="zh-TW" sz="2400" dirty="0" err="1">
                <a:latin typeface="Cambria Math" panose="02040503050406030204" pitchFamily="18" charset="0"/>
                <a:ea typeface="Cambria Math" panose="02040503050406030204" pitchFamily="18" charset="0"/>
              </a:rPr>
              <a:t>xab</a:t>
            </a:r>
            <a:r>
              <a:rPr lang="en-US" altLang="zh-TW" sz="2400" dirty="0" err="1">
                <a:solidFill>
                  <a:schemeClr val="tx1"/>
                </a:solidFill>
                <a:latin typeface="Cambria Math" panose="02040503050406030204" pitchFamily="18" charset="0"/>
                <a:ea typeface="Cambria Math" panose="02040503050406030204" pitchFamily="18" charset="0"/>
              </a:rPr>
              <a:t>c</a:t>
            </a:r>
            <a:endParaRPr lang="en-US" altLang="zh-TW" sz="2400" dirty="0">
              <a:solidFill>
                <a:schemeClr val="tx1"/>
              </a:solidFill>
              <a:latin typeface="Cambria Math" panose="02040503050406030204" pitchFamily="18" charset="0"/>
              <a:ea typeface="Cambria Math" panose="02040503050406030204" pitchFamily="18" charset="0"/>
            </a:endParaRPr>
          </a:p>
          <a:p>
            <a:r>
              <a:rPr lang="en-US" altLang="zh-TW" sz="2400" dirty="0">
                <a:solidFill>
                  <a:srgbClr val="C00000"/>
                </a:solidFill>
                <a:latin typeface="Cambria Math" panose="02040503050406030204" pitchFamily="18" charset="0"/>
                <a:ea typeface="Cambria Math" panose="02040503050406030204" pitchFamily="18" charset="0"/>
              </a:rPr>
              <a:t>active point</a:t>
            </a:r>
            <a:r>
              <a:rPr lang="zh-TW" altLang="en-US" sz="2400" dirty="0">
                <a:latin typeface="Cambria Math" panose="02040503050406030204" pitchFamily="18" charset="0"/>
              </a:rPr>
              <a:t>：</a:t>
            </a:r>
            <a:r>
              <a:rPr lang="en-US" altLang="zh-TW" sz="2400" dirty="0">
                <a:latin typeface="Cambria Math" panose="02040503050406030204" pitchFamily="18" charset="0"/>
                <a:ea typeface="Cambria Math" panose="02040503050406030204" pitchFamily="18" charset="0"/>
              </a:rPr>
              <a:t> (</a:t>
            </a:r>
            <a:r>
              <a:rPr lang="en-US" altLang="zh-TW" sz="2400" dirty="0" smtClean="0">
                <a:latin typeface="Cambria Math" panose="02040503050406030204" pitchFamily="18" charset="0"/>
                <a:ea typeface="Cambria Math" panose="02040503050406030204" pitchFamily="18" charset="0"/>
              </a:rPr>
              <a:t>node2,</a:t>
            </a:r>
            <a:r>
              <a:rPr lang="en-US" altLang="zh-TW" sz="2400" dirty="0">
                <a:latin typeface="Cambria Math" panose="02040503050406030204" pitchFamily="18" charset="0"/>
                <a:ea typeface="Cambria Math" panose="02040503050406030204" pitchFamily="18" charset="0"/>
              </a:rPr>
              <a:t>’b’,1)</a:t>
            </a:r>
          </a:p>
          <a:p>
            <a:r>
              <a:rPr lang="en-US" altLang="zh-TW" sz="2400" dirty="0">
                <a:solidFill>
                  <a:srgbClr val="C00000"/>
                </a:solidFill>
                <a:latin typeface="Cambria Math" panose="02040503050406030204" pitchFamily="18" charset="0"/>
                <a:ea typeface="Cambria Math" panose="02040503050406030204" pitchFamily="18" charset="0"/>
              </a:rPr>
              <a:t>remainder</a:t>
            </a:r>
            <a:r>
              <a:rPr lang="zh-TW" altLang="en-US" sz="2400" dirty="0" smtClean="0">
                <a:latin typeface="Cambria Math" panose="02040503050406030204" pitchFamily="18" charset="0"/>
              </a:rPr>
              <a:t>：</a:t>
            </a:r>
            <a:r>
              <a:rPr lang="en-US" altLang="zh-TW" sz="2400" dirty="0" smtClean="0">
                <a:latin typeface="Cambria Math" panose="02040503050406030204" pitchFamily="18" charset="0"/>
                <a:ea typeface="Cambria Math" panose="02040503050406030204" pitchFamily="18" charset="0"/>
              </a:rPr>
              <a:t>3  (”</a:t>
            </a:r>
            <a:r>
              <a:rPr lang="en-US" altLang="zh-TW" sz="2400" dirty="0" err="1" smtClean="0">
                <a:latin typeface="Cambria Math" panose="02040503050406030204" pitchFamily="18" charset="0"/>
                <a:ea typeface="Cambria Math" panose="02040503050406030204" pitchFamily="18" charset="0"/>
              </a:rPr>
              <a:t>abc</a:t>
            </a:r>
            <a:r>
              <a:rPr lang="en-US" altLang="zh-TW" sz="2400" dirty="0">
                <a:latin typeface="Cambria Math" panose="02040503050406030204" pitchFamily="18" charset="0"/>
                <a:ea typeface="Cambria Math" panose="02040503050406030204" pitchFamily="18" charset="0"/>
              </a:rPr>
              <a:t>”, ”</a:t>
            </a:r>
            <a:r>
              <a:rPr lang="en-US" altLang="zh-TW" sz="2400" dirty="0" err="1">
                <a:latin typeface="Cambria Math" panose="02040503050406030204" pitchFamily="18" charset="0"/>
                <a:ea typeface="Cambria Math" panose="02040503050406030204" pitchFamily="18" charset="0"/>
              </a:rPr>
              <a:t>bc</a:t>
            </a:r>
            <a:r>
              <a:rPr lang="en-US" altLang="zh-TW" sz="2400" dirty="0">
                <a:latin typeface="Cambria Math" panose="02040503050406030204" pitchFamily="18" charset="0"/>
                <a:ea typeface="Cambria Math" panose="02040503050406030204" pitchFamily="18" charset="0"/>
              </a:rPr>
              <a:t>”, “c”)</a:t>
            </a:r>
            <a:endParaRPr lang="zh-TW" altLang="en-US" sz="2400" dirty="0">
              <a:latin typeface="Cambria Math" panose="02040503050406030204" pitchFamily="18" charset="0"/>
            </a:endParaRPr>
          </a:p>
          <a:p>
            <a:endParaRPr lang="zh-TW" altLang="en-US" dirty="0"/>
          </a:p>
        </p:txBody>
      </p:sp>
      <p:grpSp>
        <p:nvGrpSpPr>
          <p:cNvPr id="4" name="群組 3"/>
          <p:cNvGrpSpPr/>
          <p:nvPr/>
        </p:nvGrpSpPr>
        <p:grpSpPr>
          <a:xfrm>
            <a:off x="439107" y="2348779"/>
            <a:ext cx="4907249" cy="3681319"/>
            <a:chOff x="6277644" y="2447633"/>
            <a:chExt cx="4967005" cy="3860375"/>
          </a:xfrm>
        </p:grpSpPr>
        <p:grpSp>
          <p:nvGrpSpPr>
            <p:cNvPr id="5" name="群組 4"/>
            <p:cNvGrpSpPr/>
            <p:nvPr/>
          </p:nvGrpSpPr>
          <p:grpSpPr>
            <a:xfrm>
              <a:off x="6277644" y="2849327"/>
              <a:ext cx="4674616" cy="3458681"/>
              <a:chOff x="5544064" y="1424976"/>
              <a:chExt cx="5206316" cy="4294064"/>
            </a:xfrm>
          </p:grpSpPr>
          <p:sp>
            <p:nvSpPr>
              <p:cNvPr id="11" name="橢圓 10"/>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弧形接點 11"/>
              <p:cNvCxnSpPr>
                <a:stCxn id="11"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橢圓 12"/>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弧形接點 13"/>
              <p:cNvCxnSpPr>
                <a:stCxn id="13"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弧形接點 14"/>
              <p:cNvCxnSpPr>
                <a:stCxn id="13"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弧形接點 15"/>
              <p:cNvCxnSpPr>
                <a:stCxn id="11" idx="4"/>
              </p:cNvCxnSpPr>
              <p:nvPr/>
            </p:nvCxnSpPr>
            <p:spPr>
              <a:xfrm rot="16200000" flipH="1">
                <a:off x="7701612" y="1691505"/>
                <a:ext cx="1031265" cy="5066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弧形接點 16"/>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19" name="文字方塊 18"/>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20" name="文字方塊 19"/>
              <p:cNvSpPr txBox="1"/>
              <p:nvPr/>
            </p:nvSpPr>
            <p:spPr>
              <a:xfrm>
                <a:off x="8500180" y="3280695"/>
                <a:ext cx="1624761"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21" name="文字方塊 20"/>
              <p:cNvSpPr txBox="1"/>
              <p:nvPr/>
            </p:nvSpPr>
            <p:spPr>
              <a:xfrm>
                <a:off x="7657129" y="3980855"/>
                <a:ext cx="2198645" cy="649595"/>
              </a:xfrm>
              <a:prstGeom prst="rect">
                <a:avLst/>
              </a:prstGeom>
              <a:noFill/>
            </p:spPr>
            <p:txBody>
              <a:bodyPr wrap="square" rtlCol="0">
                <a:spAutoFit/>
              </a:bodyPr>
              <a:lstStyle/>
              <a:p>
                <a:r>
                  <a:rPr lang="en-US" altLang="zh-TW" sz="2800" dirty="0" err="1" smtClean="0"/>
                  <a:t>bxawxabc</a:t>
                </a:r>
                <a:endParaRPr lang="zh-TW" altLang="en-US" sz="2800" dirty="0"/>
              </a:p>
            </p:txBody>
          </p:sp>
          <p:sp>
            <p:nvSpPr>
              <p:cNvPr id="22" name="橢圓 21"/>
              <p:cNvSpPr/>
              <p:nvPr/>
            </p:nvSpPr>
            <p:spPr>
              <a:xfrm>
                <a:off x="7422292" y="346270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 name="弧形接點 22"/>
              <p:cNvCxnSpPr>
                <a:stCxn id="22" idx="0"/>
              </p:cNvCxnSpPr>
              <p:nvPr/>
            </p:nvCxnSpPr>
            <p:spPr>
              <a:xfrm rot="5400000" flipH="1" flipV="1">
                <a:off x="8779429" y="1878938"/>
                <a:ext cx="366679"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25" name="文字方塊 24"/>
              <p:cNvSpPr txBox="1"/>
              <p:nvPr/>
            </p:nvSpPr>
            <p:spPr>
              <a:xfrm>
                <a:off x="8412911" y="2604838"/>
                <a:ext cx="1810245" cy="681190"/>
              </a:xfrm>
              <a:prstGeom prst="rect">
                <a:avLst/>
              </a:prstGeom>
              <a:noFill/>
            </p:spPr>
            <p:txBody>
              <a:bodyPr wrap="square" rtlCol="0">
                <a:spAutoFit/>
              </a:bodyPr>
              <a:lstStyle/>
              <a:p>
                <a:r>
                  <a:rPr lang="en-US" altLang="zh-TW" sz="2800" dirty="0" err="1" smtClean="0">
                    <a:solidFill>
                      <a:srgbClr val="FF0000"/>
                    </a:solidFill>
                  </a:rPr>
                  <a:t>bxawxabc</a:t>
                </a:r>
                <a:endParaRPr lang="zh-TW" altLang="en-US" sz="2800" dirty="0">
                  <a:solidFill>
                    <a:srgbClr val="FF0000"/>
                  </a:solidFill>
                </a:endParaRPr>
              </a:p>
            </p:txBody>
          </p:sp>
          <p:cxnSp>
            <p:nvCxnSpPr>
              <p:cNvPr id="26" name="弧形接點 25"/>
              <p:cNvCxnSpPr>
                <a:stCxn id="22" idx="4"/>
              </p:cNvCxnSpPr>
              <p:nvPr/>
            </p:nvCxnSpPr>
            <p:spPr>
              <a:xfrm rot="16200000" flipH="1">
                <a:off x="8839581" y="2457312"/>
                <a:ext cx="246374" cy="28008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弧形接點 26"/>
              <p:cNvCxnSpPr>
                <a:stCxn id="13" idx="4"/>
                <a:endCxn id="22"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29" name="弧形接點 28"/>
              <p:cNvCxnSpPr>
                <a:stCxn id="11" idx="2"/>
              </p:cNvCxnSpPr>
              <p:nvPr/>
            </p:nvCxnSpPr>
            <p:spPr>
              <a:xfrm rot="10800000" flipH="1" flipV="1">
                <a:off x="5544064" y="3573084"/>
                <a:ext cx="3227427" cy="2145956"/>
              </a:xfrm>
              <a:prstGeom prst="curvedConnector3">
                <a:avLst>
                  <a:gd name="adj1" fmla="val -7083"/>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6796107" y="4896146"/>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6" name="橢圓 5"/>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10103304" y="2080541"/>
              <a:ext cx="221896"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弧形接點 7"/>
            <p:cNvCxnSpPr>
              <a:stCxn id="6"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9476254" y="2447633"/>
              <a:ext cx="1476006" cy="523220"/>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10" name="文字方塊 9"/>
            <p:cNvSpPr txBox="1"/>
            <p:nvPr/>
          </p:nvSpPr>
          <p:spPr>
            <a:xfrm>
              <a:off x="9969875" y="3038207"/>
              <a:ext cx="399684" cy="548669"/>
            </a:xfrm>
            <a:prstGeom prst="rect">
              <a:avLst/>
            </a:prstGeom>
            <a:noFill/>
          </p:spPr>
          <p:txBody>
            <a:bodyPr wrap="square" rtlCol="0">
              <a:spAutoFit/>
            </a:bodyPr>
            <a:lstStyle/>
            <a:p>
              <a:r>
                <a:rPr lang="en-US" altLang="zh-TW" sz="2800" dirty="0" smtClean="0"/>
                <a:t>c</a:t>
              </a:r>
              <a:endParaRPr lang="zh-TW" altLang="en-US" sz="2800" dirty="0"/>
            </a:p>
          </p:txBody>
        </p:sp>
      </p:grpSp>
      <p:sp>
        <p:nvSpPr>
          <p:cNvPr id="78" name="矩形 77"/>
          <p:cNvSpPr/>
          <p:nvPr/>
        </p:nvSpPr>
        <p:spPr>
          <a:xfrm>
            <a:off x="8861085" y="120372"/>
            <a:ext cx="2539798" cy="369332"/>
          </a:xfrm>
          <a:prstGeom prst="rect">
            <a:avLst/>
          </a:prstGeom>
        </p:spPr>
        <p:txBody>
          <a:bodyPr wrap="none">
            <a:spAutoFit/>
          </a:bodyPr>
          <a:lstStyle/>
          <a:p>
            <a:r>
              <a:rPr lang="en-US" altLang="zh-TW" dirty="0" smtClean="0">
                <a:solidFill>
                  <a:srgbClr val="C00000"/>
                </a:solidFill>
              </a:rPr>
              <a:t>active point</a:t>
            </a:r>
            <a:r>
              <a:rPr lang="zh-TW" altLang="en-US" dirty="0" smtClean="0"/>
              <a:t>：</a:t>
            </a:r>
            <a:r>
              <a:rPr lang="en-US" altLang="zh-TW" dirty="0" smtClean="0"/>
              <a:t> (root,’b’,1)</a:t>
            </a:r>
          </a:p>
        </p:txBody>
      </p:sp>
      <p:sp>
        <p:nvSpPr>
          <p:cNvPr id="79" name="文字方塊 78"/>
          <p:cNvSpPr txBox="1"/>
          <p:nvPr/>
        </p:nvSpPr>
        <p:spPr>
          <a:xfrm>
            <a:off x="8854641" y="607041"/>
            <a:ext cx="2538708" cy="646331"/>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a:t>2</a:t>
            </a:r>
            <a:r>
              <a:rPr lang="en-US" altLang="zh-TW" dirty="0" smtClean="0"/>
              <a:t>  (”</a:t>
            </a:r>
            <a:r>
              <a:rPr lang="en-US" altLang="zh-TW" dirty="0" err="1" smtClean="0"/>
              <a:t>bc</a:t>
            </a:r>
            <a:r>
              <a:rPr lang="en-US" altLang="zh-TW" dirty="0" smtClean="0"/>
              <a:t>”, “c”)</a:t>
            </a:r>
            <a:endParaRPr lang="zh-TW" altLang="en-US" dirty="0" smtClean="0"/>
          </a:p>
          <a:p>
            <a:endParaRPr lang="zh-TW" altLang="en-US" dirty="0"/>
          </a:p>
        </p:txBody>
      </p:sp>
      <p:grpSp>
        <p:nvGrpSpPr>
          <p:cNvPr id="82" name="群組 81"/>
          <p:cNvGrpSpPr/>
          <p:nvPr/>
        </p:nvGrpSpPr>
        <p:grpSpPr>
          <a:xfrm>
            <a:off x="6599379" y="1370709"/>
            <a:ext cx="5856729" cy="5301608"/>
            <a:chOff x="6121615" y="1445182"/>
            <a:chExt cx="5856729" cy="5301608"/>
          </a:xfrm>
        </p:grpSpPr>
        <p:sp>
          <p:nvSpPr>
            <p:cNvPr id="83" name="橢圓 82"/>
            <p:cNvSpPr/>
            <p:nvPr/>
          </p:nvSpPr>
          <p:spPr>
            <a:xfrm>
              <a:off x="9575376" y="3628028"/>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 name="弧形接點 83"/>
            <p:cNvCxnSpPr>
              <a:stCxn id="83" idx="0"/>
            </p:cNvCxnSpPr>
            <p:nvPr/>
          </p:nvCxnSpPr>
          <p:spPr>
            <a:xfrm rot="5400000" flipH="1" flipV="1">
              <a:off x="10670149" y="2625162"/>
              <a:ext cx="32323" cy="197341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弧形接點 84"/>
            <p:cNvCxnSpPr>
              <a:stCxn id="83" idx="4"/>
            </p:cNvCxnSpPr>
            <p:nvPr/>
          </p:nvCxnSpPr>
          <p:spPr>
            <a:xfrm rot="16200000" flipH="1">
              <a:off x="10380793" y="3155646"/>
              <a:ext cx="858170" cy="222054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p:cNvSpPr txBox="1"/>
            <p:nvPr/>
          </p:nvSpPr>
          <p:spPr>
            <a:xfrm>
              <a:off x="10837939" y="4035407"/>
              <a:ext cx="381847" cy="523220"/>
            </a:xfrm>
            <a:prstGeom prst="rect">
              <a:avLst/>
            </a:prstGeom>
            <a:noFill/>
          </p:spPr>
          <p:txBody>
            <a:bodyPr wrap="square" rtlCol="0">
              <a:spAutoFit/>
            </a:bodyPr>
            <a:lstStyle/>
            <a:p>
              <a:r>
                <a:rPr lang="en-US" altLang="zh-TW" sz="2800" dirty="0" smtClean="0">
                  <a:solidFill>
                    <a:srgbClr val="FF0000"/>
                  </a:solidFill>
                </a:rPr>
                <a:t>c</a:t>
              </a:r>
              <a:endParaRPr lang="zh-TW" altLang="en-US" sz="2800" dirty="0">
                <a:solidFill>
                  <a:srgbClr val="FF0000"/>
                </a:solidFill>
              </a:endParaRPr>
            </a:p>
          </p:txBody>
        </p:sp>
        <p:sp>
          <p:nvSpPr>
            <p:cNvPr id="87" name="文字方塊 86"/>
            <p:cNvSpPr txBox="1"/>
            <p:nvPr/>
          </p:nvSpPr>
          <p:spPr>
            <a:xfrm>
              <a:off x="10036066" y="3121803"/>
              <a:ext cx="1605818" cy="52322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88" name="弧形接點 87"/>
            <p:cNvCxnSpPr>
              <a:endCxn id="83" idx="1"/>
            </p:cNvCxnSpPr>
            <p:nvPr/>
          </p:nvCxnSpPr>
          <p:spPr>
            <a:xfrm rot="16200000" flipH="1">
              <a:off x="8987045" y="3033889"/>
              <a:ext cx="630535" cy="61890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9" name="群組 88"/>
            <p:cNvGrpSpPr/>
            <p:nvPr/>
          </p:nvGrpSpPr>
          <p:grpSpPr>
            <a:xfrm>
              <a:off x="6121615" y="1445182"/>
              <a:ext cx="5856729" cy="5301608"/>
              <a:chOff x="6121615" y="1445182"/>
              <a:chExt cx="5856729" cy="5301608"/>
            </a:xfrm>
          </p:grpSpPr>
          <p:grpSp>
            <p:nvGrpSpPr>
              <p:cNvPr id="90" name="群組 89"/>
              <p:cNvGrpSpPr/>
              <p:nvPr/>
            </p:nvGrpSpPr>
            <p:grpSpPr>
              <a:xfrm>
                <a:off x="6121615" y="1445182"/>
                <a:ext cx="5520270" cy="5301608"/>
                <a:chOff x="6277645" y="1816643"/>
                <a:chExt cx="5587491" cy="5559473"/>
              </a:xfrm>
            </p:grpSpPr>
            <p:grpSp>
              <p:nvGrpSpPr>
                <p:cNvPr id="92" name="群組 91"/>
                <p:cNvGrpSpPr/>
                <p:nvPr/>
              </p:nvGrpSpPr>
              <p:grpSpPr>
                <a:xfrm>
                  <a:off x="6277645" y="2849327"/>
                  <a:ext cx="5360517" cy="4526789"/>
                  <a:chOff x="5544065" y="1424976"/>
                  <a:chExt cx="5970233" cy="5620154"/>
                </a:xfrm>
              </p:grpSpPr>
              <p:sp>
                <p:nvSpPr>
                  <p:cNvPr id="98" name="橢圓 97"/>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9" name="弧形接點 98"/>
                  <p:cNvCxnSpPr>
                    <a:stCxn id="98"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橢圓 99"/>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1" name="弧形接點 100"/>
                  <p:cNvCxnSpPr>
                    <a:stCxn id="100"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弧形接點 101"/>
                  <p:cNvCxnSpPr>
                    <a:stCxn id="100"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弧形接點 102"/>
                  <p:cNvCxnSpPr>
                    <a:stCxn id="98" idx="4"/>
                  </p:cNvCxnSpPr>
                  <p:nvPr/>
                </p:nvCxnSpPr>
                <p:spPr>
                  <a:xfrm rot="16200000" flipH="1">
                    <a:off x="7346278" y="2046838"/>
                    <a:ext cx="2505850" cy="583019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弧形接點 103"/>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文字方塊 104"/>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106" name="文字方塊 105"/>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107" name="文字方塊 106"/>
                  <p:cNvSpPr txBox="1"/>
                  <p:nvPr/>
                </p:nvSpPr>
                <p:spPr>
                  <a:xfrm>
                    <a:off x="9125466" y="4266461"/>
                    <a:ext cx="1624761"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108" name="文字方塊 107"/>
                  <p:cNvSpPr txBox="1"/>
                  <p:nvPr/>
                </p:nvSpPr>
                <p:spPr>
                  <a:xfrm>
                    <a:off x="7745831" y="4883029"/>
                    <a:ext cx="2198645" cy="649595"/>
                  </a:xfrm>
                  <a:prstGeom prst="rect">
                    <a:avLst/>
                  </a:prstGeom>
                  <a:noFill/>
                </p:spPr>
                <p:txBody>
                  <a:bodyPr wrap="square" rtlCol="0">
                    <a:spAutoFit/>
                  </a:bodyPr>
                  <a:lstStyle/>
                  <a:p>
                    <a:r>
                      <a:rPr lang="en-US" altLang="zh-TW" sz="2800" dirty="0" err="1" smtClean="0"/>
                      <a:t>bxawxabc</a:t>
                    </a:r>
                    <a:endParaRPr lang="zh-TW" altLang="en-US" sz="2800" dirty="0"/>
                  </a:p>
                </p:txBody>
              </p:sp>
              <p:sp>
                <p:nvSpPr>
                  <p:cNvPr id="109" name="橢圓 108"/>
                  <p:cNvSpPr/>
                  <p:nvPr/>
                </p:nvSpPr>
                <p:spPr>
                  <a:xfrm>
                    <a:off x="7422292" y="346270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0" name="弧形接點 109"/>
                  <p:cNvCxnSpPr>
                    <a:stCxn id="109" idx="0"/>
                  </p:cNvCxnSpPr>
                  <p:nvPr/>
                </p:nvCxnSpPr>
                <p:spPr>
                  <a:xfrm rot="5400000" flipH="1" flipV="1">
                    <a:off x="8343374" y="2365521"/>
                    <a:ext cx="316152" cy="18782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文字方塊 110"/>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112" name="文字方塊 111"/>
                  <p:cNvSpPr txBox="1"/>
                  <p:nvPr/>
                </p:nvSpPr>
                <p:spPr>
                  <a:xfrm>
                    <a:off x="8274533" y="2592526"/>
                    <a:ext cx="450774" cy="681190"/>
                  </a:xfrm>
                  <a:prstGeom prst="rect">
                    <a:avLst/>
                  </a:prstGeom>
                  <a:noFill/>
                </p:spPr>
                <p:txBody>
                  <a:bodyPr wrap="square" rtlCol="0">
                    <a:spAutoFit/>
                  </a:bodyPr>
                  <a:lstStyle/>
                  <a:p>
                    <a:r>
                      <a:rPr lang="en-US" altLang="zh-TW" sz="2800" dirty="0" smtClean="0"/>
                      <a:t>b</a:t>
                    </a:r>
                    <a:endParaRPr lang="zh-TW" altLang="en-US" sz="2800" dirty="0"/>
                  </a:p>
                </p:txBody>
              </p:sp>
              <p:cxnSp>
                <p:nvCxnSpPr>
                  <p:cNvPr id="113" name="弧形接點 112"/>
                  <p:cNvCxnSpPr>
                    <a:stCxn id="100" idx="4"/>
                    <a:endCxn id="109"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4" name="文字方塊 113"/>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115" name="弧形接點 114"/>
                  <p:cNvCxnSpPr>
                    <a:stCxn id="98" idx="2"/>
                  </p:cNvCxnSpPr>
                  <p:nvPr/>
                </p:nvCxnSpPr>
                <p:spPr>
                  <a:xfrm rot="10800000" flipH="1" flipV="1">
                    <a:off x="5544065" y="3573083"/>
                    <a:ext cx="4451753" cy="3472047"/>
                  </a:xfrm>
                  <a:prstGeom prst="curvedConnector3">
                    <a:avLst>
                      <a:gd name="adj1" fmla="val -5789"/>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文字方塊 115"/>
                  <p:cNvSpPr txBox="1"/>
                  <p:nvPr/>
                </p:nvSpPr>
                <p:spPr>
                  <a:xfrm>
                    <a:off x="6617133" y="5932155"/>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93" name="橢圓 92"/>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 name="弧形接點 93"/>
                <p:cNvCxnSpPr>
                  <a:stCxn id="93" idx="0"/>
                </p:cNvCxnSpPr>
                <p:nvPr/>
              </p:nvCxnSpPr>
              <p:spPr>
                <a:xfrm rot="5400000" flipH="1" flipV="1">
                  <a:off x="9973800" y="1330548"/>
                  <a:ext cx="1101392" cy="268128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弧形接點 94"/>
                <p:cNvCxnSpPr>
                  <a:stCxn id="93"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文字方塊 95"/>
                <p:cNvSpPr txBox="1"/>
                <p:nvPr/>
              </p:nvSpPr>
              <p:spPr>
                <a:xfrm>
                  <a:off x="9241606" y="1816643"/>
                  <a:ext cx="1476006" cy="523220"/>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97" name="文字方塊 96"/>
                <p:cNvSpPr txBox="1"/>
                <p:nvPr/>
              </p:nvSpPr>
              <p:spPr>
                <a:xfrm>
                  <a:off x="9969875" y="3038207"/>
                  <a:ext cx="399684" cy="548669"/>
                </a:xfrm>
                <a:prstGeom prst="rect">
                  <a:avLst/>
                </a:prstGeom>
                <a:noFill/>
              </p:spPr>
              <p:txBody>
                <a:bodyPr wrap="square" rtlCol="0">
                  <a:spAutoFit/>
                </a:bodyPr>
                <a:lstStyle/>
                <a:p>
                  <a:r>
                    <a:rPr lang="en-US" altLang="zh-TW" sz="2800" dirty="0" smtClean="0"/>
                    <a:t>c</a:t>
                  </a:r>
                  <a:endParaRPr lang="zh-TW" altLang="en-US" sz="2800" dirty="0"/>
                </a:p>
              </p:txBody>
            </p:sp>
          </p:grpSp>
          <p:cxnSp>
            <p:nvCxnSpPr>
              <p:cNvPr id="91" name="弧形接點 90"/>
              <p:cNvCxnSpPr>
                <a:stCxn id="109" idx="3"/>
              </p:cNvCxnSpPr>
              <p:nvPr/>
            </p:nvCxnSpPr>
            <p:spPr>
              <a:xfrm rot="16200000" flipH="1">
                <a:off x="9288901" y="2708592"/>
                <a:ext cx="1224666" cy="415422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30362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ppt_x"/>
                                          </p:val>
                                        </p:tav>
                                        <p:tav tm="100000">
                                          <p:val>
                                            <p:strVal val="#ppt_x"/>
                                          </p:val>
                                        </p:tav>
                                      </p:tavLst>
                                    </p:anim>
                                    <p:anim calcmode="lin" valueType="num">
                                      <p:cBhvr additive="base">
                                        <p:cTn id="8" dur="500" fill="hold"/>
                                        <p:tgtEl>
                                          <p:spTgt spid="8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anim calcmode="lin" valueType="num">
                                      <p:cBhvr additive="base">
                                        <p:cTn id="15" dur="500" fill="hold"/>
                                        <p:tgtEl>
                                          <p:spTgt spid="79"/>
                                        </p:tgtEl>
                                        <p:attrNameLst>
                                          <p:attrName>ppt_x</p:attrName>
                                        </p:attrNameLst>
                                      </p:cBhvr>
                                      <p:tavLst>
                                        <p:tav tm="0">
                                          <p:val>
                                            <p:strVal val="#ppt_x"/>
                                          </p:val>
                                        </p:tav>
                                        <p:tav tm="100000">
                                          <p:val>
                                            <p:strVal val="#ppt_x"/>
                                          </p:val>
                                        </p:tav>
                                      </p:tavLst>
                                    </p:anim>
                                    <p:anim calcmode="lin" valueType="num">
                                      <p:cBhvr additive="base">
                                        <p:cTn id="16"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23528" y="105558"/>
            <a:ext cx="10971688" cy="1538061"/>
          </a:xfrm>
        </p:spPr>
        <p:txBody>
          <a:bodyPr/>
          <a:lstStyle/>
          <a:p>
            <a:r>
              <a:rPr lang="en-US" altLang="zh-TW" sz="2400" dirty="0">
                <a:latin typeface="Cambria Math" panose="02040503050406030204" pitchFamily="18" charset="0"/>
                <a:ea typeface="Cambria Math" panose="02040503050406030204" pitchFamily="18" charset="0"/>
              </a:rPr>
              <a:t>S = </a:t>
            </a:r>
            <a:r>
              <a:rPr lang="en-US" altLang="zh-TW" sz="2400" dirty="0" err="1">
                <a:latin typeface="Cambria Math" panose="02040503050406030204" pitchFamily="18" charset="0"/>
                <a:ea typeface="Cambria Math" panose="02040503050406030204" pitchFamily="18" charset="0"/>
              </a:rPr>
              <a:t>xabxa</a:t>
            </a:r>
            <a:r>
              <a:rPr lang="en-US" altLang="zh-TW" sz="2400" dirty="0" err="1">
                <a:solidFill>
                  <a:schemeClr val="tx1"/>
                </a:solidFill>
                <a:latin typeface="Cambria Math" panose="02040503050406030204" pitchFamily="18" charset="0"/>
                <a:ea typeface="Cambria Math" panose="02040503050406030204" pitchFamily="18" charset="0"/>
              </a:rPr>
              <a:t>w</a:t>
            </a:r>
            <a:r>
              <a:rPr lang="en-US" altLang="zh-TW" sz="2400" dirty="0" err="1">
                <a:latin typeface="Cambria Math" panose="02040503050406030204" pitchFamily="18" charset="0"/>
                <a:ea typeface="Cambria Math" panose="02040503050406030204" pitchFamily="18" charset="0"/>
              </a:rPr>
              <a:t>xab</a:t>
            </a:r>
            <a:r>
              <a:rPr lang="en-US" altLang="zh-TW" sz="2400" dirty="0" err="1">
                <a:solidFill>
                  <a:schemeClr val="tx1"/>
                </a:solidFill>
                <a:latin typeface="Cambria Math" panose="02040503050406030204" pitchFamily="18" charset="0"/>
                <a:ea typeface="Cambria Math" panose="02040503050406030204" pitchFamily="18" charset="0"/>
              </a:rPr>
              <a:t>c</a:t>
            </a:r>
            <a:endParaRPr lang="en-US" altLang="zh-TW" sz="2400" dirty="0">
              <a:solidFill>
                <a:schemeClr val="tx1"/>
              </a:solidFill>
              <a:latin typeface="Cambria Math" panose="02040503050406030204" pitchFamily="18" charset="0"/>
              <a:ea typeface="Cambria Math" panose="02040503050406030204" pitchFamily="18" charset="0"/>
            </a:endParaRPr>
          </a:p>
          <a:p>
            <a:r>
              <a:rPr lang="en-US" altLang="zh-TW" sz="2400" dirty="0">
                <a:solidFill>
                  <a:srgbClr val="C00000"/>
                </a:solidFill>
                <a:latin typeface="Cambria Math" panose="02040503050406030204" pitchFamily="18" charset="0"/>
                <a:ea typeface="Cambria Math" panose="02040503050406030204" pitchFamily="18" charset="0"/>
              </a:rPr>
              <a:t>active point</a:t>
            </a:r>
            <a:r>
              <a:rPr lang="zh-TW" altLang="en-US" sz="2400" dirty="0">
                <a:latin typeface="Cambria Math" panose="02040503050406030204" pitchFamily="18" charset="0"/>
              </a:rPr>
              <a:t>：</a:t>
            </a:r>
            <a:r>
              <a:rPr lang="en-US" altLang="zh-TW" sz="2400" dirty="0">
                <a:latin typeface="Cambria Math" panose="02040503050406030204" pitchFamily="18" charset="0"/>
                <a:ea typeface="Cambria Math" panose="02040503050406030204" pitchFamily="18" charset="0"/>
              </a:rPr>
              <a:t> </a:t>
            </a:r>
            <a:r>
              <a:rPr lang="en-US" altLang="zh-TW" sz="2400" dirty="0" smtClean="0">
                <a:latin typeface="Cambria Math" panose="02040503050406030204" pitchFamily="18" charset="0"/>
                <a:ea typeface="Cambria Math" panose="02040503050406030204" pitchFamily="18" charset="0"/>
              </a:rPr>
              <a:t>(root,</a:t>
            </a:r>
            <a:r>
              <a:rPr lang="en-US" altLang="zh-TW" sz="2400" dirty="0">
                <a:latin typeface="Cambria Math" panose="02040503050406030204" pitchFamily="18" charset="0"/>
                <a:ea typeface="Cambria Math" panose="02040503050406030204" pitchFamily="18" charset="0"/>
              </a:rPr>
              <a:t>’b’,1)</a:t>
            </a:r>
          </a:p>
          <a:p>
            <a:r>
              <a:rPr lang="en-US" altLang="zh-TW" sz="2400" dirty="0">
                <a:solidFill>
                  <a:srgbClr val="C00000"/>
                </a:solidFill>
                <a:latin typeface="Cambria Math" panose="02040503050406030204" pitchFamily="18" charset="0"/>
                <a:ea typeface="Cambria Math" panose="02040503050406030204" pitchFamily="18" charset="0"/>
              </a:rPr>
              <a:t>remainder</a:t>
            </a:r>
            <a:r>
              <a:rPr lang="zh-TW" altLang="en-US" sz="2400" dirty="0" smtClean="0">
                <a:latin typeface="Cambria Math" panose="02040503050406030204" pitchFamily="18" charset="0"/>
              </a:rPr>
              <a:t>：</a:t>
            </a:r>
            <a:r>
              <a:rPr lang="en-US" altLang="zh-TW" sz="2400" dirty="0" smtClean="0">
                <a:latin typeface="Cambria Math" panose="02040503050406030204" pitchFamily="18" charset="0"/>
              </a:rPr>
              <a:t>2</a:t>
            </a:r>
            <a:r>
              <a:rPr lang="en-US" altLang="zh-TW" sz="2400" dirty="0" smtClean="0">
                <a:latin typeface="Cambria Math" panose="02040503050406030204" pitchFamily="18" charset="0"/>
                <a:ea typeface="Cambria Math" panose="02040503050406030204" pitchFamily="18" charset="0"/>
              </a:rPr>
              <a:t>  (”</a:t>
            </a:r>
            <a:r>
              <a:rPr lang="en-US" altLang="zh-TW" sz="2400" dirty="0" err="1">
                <a:latin typeface="Cambria Math" panose="02040503050406030204" pitchFamily="18" charset="0"/>
                <a:ea typeface="Cambria Math" panose="02040503050406030204" pitchFamily="18" charset="0"/>
              </a:rPr>
              <a:t>bc</a:t>
            </a:r>
            <a:r>
              <a:rPr lang="en-US" altLang="zh-TW" sz="2400" dirty="0">
                <a:latin typeface="Cambria Math" panose="02040503050406030204" pitchFamily="18" charset="0"/>
                <a:ea typeface="Cambria Math" panose="02040503050406030204" pitchFamily="18" charset="0"/>
              </a:rPr>
              <a:t>”, “c”)</a:t>
            </a:r>
            <a:endParaRPr lang="zh-TW" altLang="en-US" sz="2400" dirty="0">
              <a:latin typeface="Cambria Math" panose="02040503050406030204" pitchFamily="18" charset="0"/>
            </a:endParaRPr>
          </a:p>
          <a:p>
            <a:endParaRPr lang="zh-TW" altLang="en-US" dirty="0"/>
          </a:p>
        </p:txBody>
      </p:sp>
      <p:grpSp>
        <p:nvGrpSpPr>
          <p:cNvPr id="63" name="群組 62"/>
          <p:cNvGrpSpPr/>
          <p:nvPr/>
        </p:nvGrpSpPr>
        <p:grpSpPr>
          <a:xfrm>
            <a:off x="6023586" y="1805617"/>
            <a:ext cx="6157284" cy="4806613"/>
            <a:chOff x="3732643" y="1643619"/>
            <a:chExt cx="6157284" cy="4806613"/>
          </a:xfrm>
        </p:grpSpPr>
        <p:grpSp>
          <p:nvGrpSpPr>
            <p:cNvPr id="50" name="群組 49"/>
            <p:cNvGrpSpPr/>
            <p:nvPr/>
          </p:nvGrpSpPr>
          <p:grpSpPr>
            <a:xfrm>
              <a:off x="3732643" y="1643619"/>
              <a:ext cx="5551400" cy="4806613"/>
              <a:chOff x="725832" y="1651853"/>
              <a:chExt cx="5551400" cy="4806613"/>
            </a:xfrm>
          </p:grpSpPr>
          <p:grpSp>
            <p:nvGrpSpPr>
              <p:cNvPr id="5" name="群組 4"/>
              <p:cNvGrpSpPr/>
              <p:nvPr/>
            </p:nvGrpSpPr>
            <p:grpSpPr>
              <a:xfrm>
                <a:off x="725832" y="1651853"/>
                <a:ext cx="5551400" cy="4806613"/>
                <a:chOff x="6121616" y="1940177"/>
                <a:chExt cx="5551400" cy="4806613"/>
              </a:xfrm>
            </p:grpSpPr>
            <p:sp>
              <p:nvSpPr>
                <p:cNvPr id="6" name="橢圓 5"/>
                <p:cNvSpPr/>
                <p:nvPr/>
              </p:nvSpPr>
              <p:spPr>
                <a:xfrm>
                  <a:off x="9575376" y="3628028"/>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弧形接點 6"/>
                <p:cNvCxnSpPr>
                  <a:stCxn id="6" idx="0"/>
                </p:cNvCxnSpPr>
                <p:nvPr/>
              </p:nvCxnSpPr>
              <p:spPr>
                <a:xfrm rot="5400000" flipH="1" flipV="1">
                  <a:off x="10670149" y="2625162"/>
                  <a:ext cx="32323" cy="197341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弧形接點 7"/>
                <p:cNvCxnSpPr>
                  <a:stCxn id="6" idx="4"/>
                </p:cNvCxnSpPr>
                <p:nvPr/>
              </p:nvCxnSpPr>
              <p:spPr>
                <a:xfrm rot="16200000" flipH="1">
                  <a:off x="10441461" y="3094978"/>
                  <a:ext cx="226093" cy="17098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10686310" y="3574030"/>
                  <a:ext cx="381847" cy="523220"/>
                </a:xfrm>
                <a:prstGeom prst="rect">
                  <a:avLst/>
                </a:prstGeom>
                <a:noFill/>
              </p:spPr>
              <p:txBody>
                <a:bodyPr wrap="square" rtlCol="0">
                  <a:spAutoFit/>
                </a:bodyPr>
                <a:lstStyle/>
                <a:p>
                  <a:r>
                    <a:rPr lang="en-US" altLang="zh-TW" sz="2800" dirty="0" smtClean="0"/>
                    <a:t>c</a:t>
                  </a:r>
                  <a:endParaRPr lang="zh-TW" altLang="en-US" sz="2800" dirty="0"/>
                </a:p>
              </p:txBody>
            </p:sp>
            <p:sp>
              <p:nvSpPr>
                <p:cNvPr id="10" name="文字方塊 9"/>
                <p:cNvSpPr txBox="1"/>
                <p:nvPr/>
              </p:nvSpPr>
              <p:spPr>
                <a:xfrm>
                  <a:off x="10036066" y="3121803"/>
                  <a:ext cx="1605818" cy="52322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11" name="弧形接點 10"/>
                <p:cNvCxnSpPr>
                  <a:endCxn id="6" idx="1"/>
                </p:cNvCxnSpPr>
                <p:nvPr/>
              </p:nvCxnSpPr>
              <p:spPr>
                <a:xfrm rot="16200000" flipH="1">
                  <a:off x="8987045" y="3033889"/>
                  <a:ext cx="630535" cy="61890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3" name="群組 12"/>
                <p:cNvGrpSpPr/>
                <p:nvPr/>
              </p:nvGrpSpPr>
              <p:grpSpPr>
                <a:xfrm>
                  <a:off x="6121616" y="1940177"/>
                  <a:ext cx="4907247" cy="4806613"/>
                  <a:chOff x="6277646" y="2335714"/>
                  <a:chExt cx="4967003" cy="5040402"/>
                </a:xfrm>
              </p:grpSpPr>
              <p:grpSp>
                <p:nvGrpSpPr>
                  <p:cNvPr id="15" name="群組 14"/>
                  <p:cNvGrpSpPr/>
                  <p:nvPr/>
                </p:nvGrpSpPr>
                <p:grpSpPr>
                  <a:xfrm>
                    <a:off x="6277646" y="2849327"/>
                    <a:ext cx="4037293" cy="4526789"/>
                    <a:chOff x="5544065" y="1424976"/>
                    <a:chExt cx="4496502" cy="5620154"/>
                  </a:xfrm>
                </p:grpSpPr>
                <p:sp>
                  <p:nvSpPr>
                    <p:cNvPr id="21" name="橢圓 20"/>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弧形接點 21"/>
                    <p:cNvCxnSpPr>
                      <a:stCxn id="21"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橢圓 22"/>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弧形接點 23"/>
                    <p:cNvCxnSpPr>
                      <a:stCxn id="23"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弧形接點 24"/>
                    <p:cNvCxnSpPr>
                      <a:stCxn id="23"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弧形接點 25"/>
                    <p:cNvCxnSpPr>
                      <a:stCxn id="21" idx="4"/>
                      <a:endCxn id="52" idx="2"/>
                    </p:cNvCxnSpPr>
                    <p:nvPr/>
                  </p:nvCxnSpPr>
                  <p:spPr>
                    <a:xfrm rot="16200000" flipH="1">
                      <a:off x="7229269" y="2163847"/>
                      <a:ext cx="1266138" cy="435645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弧形接點 26"/>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29" name="文字方塊 28"/>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30" name="文字方塊 29"/>
                    <p:cNvSpPr txBox="1"/>
                    <p:nvPr/>
                  </p:nvSpPr>
                  <p:spPr>
                    <a:xfrm>
                      <a:off x="7835598" y="3246393"/>
                      <a:ext cx="1624761"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31" name="文字方塊 30"/>
                    <p:cNvSpPr txBox="1"/>
                    <p:nvPr/>
                  </p:nvSpPr>
                  <p:spPr>
                    <a:xfrm>
                      <a:off x="7379755" y="4159130"/>
                      <a:ext cx="645247" cy="681190"/>
                    </a:xfrm>
                    <a:prstGeom prst="rect">
                      <a:avLst/>
                    </a:prstGeom>
                    <a:noFill/>
                  </p:spPr>
                  <p:txBody>
                    <a:bodyPr wrap="square" rtlCol="0">
                      <a:spAutoFit/>
                    </a:bodyPr>
                    <a:lstStyle/>
                    <a:p>
                      <a:r>
                        <a:rPr lang="en-US" altLang="zh-TW" sz="2800" dirty="0" smtClean="0"/>
                        <a:t>b</a:t>
                      </a:r>
                      <a:endParaRPr lang="zh-TW" altLang="en-US" sz="2800" dirty="0"/>
                    </a:p>
                  </p:txBody>
                </p:sp>
                <p:sp>
                  <p:nvSpPr>
                    <p:cNvPr id="32" name="橢圓 31"/>
                    <p:cNvSpPr/>
                    <p:nvPr/>
                  </p:nvSpPr>
                  <p:spPr>
                    <a:xfrm>
                      <a:off x="7422292" y="346270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3" name="弧形接點 32"/>
                    <p:cNvCxnSpPr>
                      <a:stCxn id="32" idx="0"/>
                    </p:cNvCxnSpPr>
                    <p:nvPr/>
                  </p:nvCxnSpPr>
                  <p:spPr>
                    <a:xfrm rot="5400000" flipH="1" flipV="1">
                      <a:off x="8343374" y="2365521"/>
                      <a:ext cx="316152" cy="18782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35" name="文字方塊 34"/>
                    <p:cNvSpPr txBox="1"/>
                    <p:nvPr/>
                  </p:nvSpPr>
                  <p:spPr>
                    <a:xfrm>
                      <a:off x="8274533" y="2592526"/>
                      <a:ext cx="450774" cy="681190"/>
                    </a:xfrm>
                    <a:prstGeom prst="rect">
                      <a:avLst/>
                    </a:prstGeom>
                    <a:noFill/>
                  </p:spPr>
                  <p:txBody>
                    <a:bodyPr wrap="square" rtlCol="0">
                      <a:spAutoFit/>
                    </a:bodyPr>
                    <a:lstStyle/>
                    <a:p>
                      <a:r>
                        <a:rPr lang="en-US" altLang="zh-TW" sz="2800" dirty="0" smtClean="0"/>
                        <a:t>b</a:t>
                      </a:r>
                      <a:endParaRPr lang="zh-TW" altLang="en-US" sz="2800" dirty="0"/>
                    </a:p>
                  </p:txBody>
                </p:sp>
                <p:cxnSp>
                  <p:nvCxnSpPr>
                    <p:cNvPr id="36" name="弧形接點 35"/>
                    <p:cNvCxnSpPr>
                      <a:stCxn id="23" idx="4"/>
                      <a:endCxn id="32"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36"/>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38" name="弧形接點 37"/>
                    <p:cNvCxnSpPr>
                      <a:stCxn id="21" idx="2"/>
                    </p:cNvCxnSpPr>
                    <p:nvPr/>
                  </p:nvCxnSpPr>
                  <p:spPr>
                    <a:xfrm rot="10800000" flipH="1" flipV="1">
                      <a:off x="5544065" y="3573083"/>
                      <a:ext cx="4451753" cy="3472047"/>
                    </a:xfrm>
                    <a:prstGeom prst="curvedConnector3">
                      <a:avLst>
                        <a:gd name="adj1" fmla="val -5789"/>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字方塊 38"/>
                    <p:cNvSpPr txBox="1"/>
                    <p:nvPr/>
                  </p:nvSpPr>
                  <p:spPr>
                    <a:xfrm>
                      <a:off x="6617133" y="5932155"/>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16" name="橢圓 15"/>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弧形接點 16"/>
                  <p:cNvCxnSpPr>
                    <a:stCxn id="16" idx="0"/>
                  </p:cNvCxnSpPr>
                  <p:nvPr/>
                </p:nvCxnSpPr>
                <p:spPr>
                  <a:xfrm rot="5400000" flipH="1" flipV="1">
                    <a:off x="10052470" y="2064994"/>
                    <a:ext cx="288277" cy="202550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弧形接點 17"/>
                  <p:cNvCxnSpPr>
                    <a:stCxn id="16"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9407098" y="2335714"/>
                    <a:ext cx="1476006" cy="523220"/>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20" name="文字方塊 19"/>
                  <p:cNvSpPr txBox="1"/>
                  <p:nvPr/>
                </p:nvSpPr>
                <p:spPr>
                  <a:xfrm>
                    <a:off x="9969875" y="3038207"/>
                    <a:ext cx="399684" cy="548669"/>
                  </a:xfrm>
                  <a:prstGeom prst="rect">
                    <a:avLst/>
                  </a:prstGeom>
                  <a:noFill/>
                </p:spPr>
                <p:txBody>
                  <a:bodyPr wrap="square" rtlCol="0">
                    <a:spAutoFit/>
                  </a:bodyPr>
                  <a:lstStyle/>
                  <a:p>
                    <a:r>
                      <a:rPr lang="en-US" altLang="zh-TW" sz="2800" dirty="0" smtClean="0"/>
                      <a:t>c</a:t>
                    </a:r>
                    <a:endParaRPr lang="zh-TW" altLang="en-US" sz="2800" dirty="0"/>
                  </a:p>
                </p:txBody>
              </p:sp>
            </p:grpSp>
          </p:grpSp>
          <p:cxnSp>
            <p:nvCxnSpPr>
              <p:cNvPr id="44" name="弧形接點 43"/>
              <p:cNvCxnSpPr>
                <a:stCxn id="32" idx="3"/>
              </p:cNvCxnSpPr>
              <p:nvPr/>
            </p:nvCxnSpPr>
            <p:spPr>
              <a:xfrm rot="16200000" flipH="1">
                <a:off x="3100492" y="3212894"/>
                <a:ext cx="197995" cy="154229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2" name="橢圓 51"/>
            <p:cNvSpPr/>
            <p:nvPr/>
          </p:nvSpPr>
          <p:spPr>
            <a:xfrm>
              <a:off x="7721365" y="4755881"/>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4" name="弧形接點 53"/>
            <p:cNvCxnSpPr/>
            <p:nvPr/>
          </p:nvCxnSpPr>
          <p:spPr>
            <a:xfrm rot="5400000" flipH="1" flipV="1">
              <a:off x="8791531" y="3742869"/>
              <a:ext cx="142729" cy="195520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弧形接點 55"/>
            <p:cNvCxnSpPr/>
            <p:nvPr/>
          </p:nvCxnSpPr>
          <p:spPr>
            <a:xfrm rot="16200000" flipH="1">
              <a:off x="8835409" y="4001677"/>
              <a:ext cx="104402" cy="200463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8720234" y="4081245"/>
              <a:ext cx="381847" cy="523220"/>
            </a:xfrm>
            <a:prstGeom prst="rect">
              <a:avLst/>
            </a:prstGeom>
            <a:noFill/>
          </p:spPr>
          <p:txBody>
            <a:bodyPr wrap="square" rtlCol="0">
              <a:spAutoFit/>
            </a:bodyPr>
            <a:lstStyle/>
            <a:p>
              <a:r>
                <a:rPr lang="en-US" altLang="zh-TW" sz="2800" dirty="0" smtClean="0"/>
                <a:t>c</a:t>
              </a:r>
              <a:endParaRPr lang="zh-TW" altLang="en-US" sz="2800" dirty="0"/>
            </a:p>
          </p:txBody>
        </p:sp>
        <p:sp>
          <p:nvSpPr>
            <p:cNvPr id="58" name="文字方塊 57"/>
            <p:cNvSpPr txBox="1"/>
            <p:nvPr/>
          </p:nvSpPr>
          <p:spPr>
            <a:xfrm>
              <a:off x="8313040" y="4592406"/>
              <a:ext cx="1571087" cy="52322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60" name="弧形接點 59"/>
            <p:cNvCxnSpPr>
              <a:stCxn id="6" idx="4"/>
              <a:endCxn id="52" idx="0"/>
            </p:cNvCxnSpPr>
            <p:nvPr/>
          </p:nvCxnSpPr>
          <p:spPr>
            <a:xfrm rot="16200000" flipH="1">
              <a:off x="6970311" y="3880597"/>
              <a:ext cx="1215605" cy="534962"/>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4" name="群組 63"/>
          <p:cNvGrpSpPr/>
          <p:nvPr/>
        </p:nvGrpSpPr>
        <p:grpSpPr>
          <a:xfrm>
            <a:off x="298305" y="2076644"/>
            <a:ext cx="4813567" cy="4321955"/>
            <a:chOff x="6121616" y="1736089"/>
            <a:chExt cx="5798535" cy="5010701"/>
          </a:xfrm>
        </p:grpSpPr>
        <p:sp>
          <p:nvSpPr>
            <p:cNvPr id="65" name="橢圓 64"/>
            <p:cNvSpPr/>
            <p:nvPr/>
          </p:nvSpPr>
          <p:spPr>
            <a:xfrm>
              <a:off x="9575376" y="3628028"/>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6" name="弧形接點 65"/>
            <p:cNvCxnSpPr>
              <a:stCxn id="65" idx="0"/>
            </p:cNvCxnSpPr>
            <p:nvPr/>
          </p:nvCxnSpPr>
          <p:spPr>
            <a:xfrm rot="5400000" flipH="1" flipV="1">
              <a:off x="10670149" y="2625162"/>
              <a:ext cx="32323" cy="197341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弧形接點 66"/>
            <p:cNvCxnSpPr/>
            <p:nvPr/>
          </p:nvCxnSpPr>
          <p:spPr>
            <a:xfrm rot="16200000" flipH="1">
              <a:off x="10380793" y="3094198"/>
              <a:ext cx="858170" cy="222054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字方塊 67"/>
            <p:cNvSpPr txBox="1"/>
            <p:nvPr/>
          </p:nvSpPr>
          <p:spPr>
            <a:xfrm>
              <a:off x="10530554" y="3873725"/>
              <a:ext cx="381848" cy="606600"/>
            </a:xfrm>
            <a:prstGeom prst="rect">
              <a:avLst/>
            </a:prstGeom>
            <a:noFill/>
          </p:spPr>
          <p:txBody>
            <a:bodyPr wrap="square" rtlCol="0">
              <a:spAutoFit/>
            </a:bodyPr>
            <a:lstStyle/>
            <a:p>
              <a:r>
                <a:rPr lang="en-US" altLang="zh-TW" sz="2800" dirty="0" smtClean="0"/>
                <a:t>c</a:t>
              </a:r>
              <a:endParaRPr lang="zh-TW" altLang="en-US" sz="2800" dirty="0"/>
            </a:p>
          </p:txBody>
        </p:sp>
        <p:sp>
          <p:nvSpPr>
            <p:cNvPr id="69" name="文字方塊 68"/>
            <p:cNvSpPr txBox="1"/>
            <p:nvPr/>
          </p:nvSpPr>
          <p:spPr>
            <a:xfrm>
              <a:off x="9957866" y="3103147"/>
              <a:ext cx="1771127" cy="60660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70" name="弧形接點 69"/>
            <p:cNvCxnSpPr>
              <a:endCxn id="65" idx="1"/>
            </p:cNvCxnSpPr>
            <p:nvPr/>
          </p:nvCxnSpPr>
          <p:spPr>
            <a:xfrm rot="16200000" flipH="1">
              <a:off x="8987045" y="3033889"/>
              <a:ext cx="630535" cy="61890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1" name="群組 70"/>
            <p:cNvGrpSpPr/>
            <p:nvPr/>
          </p:nvGrpSpPr>
          <p:grpSpPr>
            <a:xfrm>
              <a:off x="6121616" y="1736089"/>
              <a:ext cx="5466448" cy="5010701"/>
              <a:chOff x="6121616" y="1736089"/>
              <a:chExt cx="5466448" cy="5010701"/>
            </a:xfrm>
          </p:grpSpPr>
          <p:grpSp>
            <p:nvGrpSpPr>
              <p:cNvPr id="72" name="群組 71"/>
              <p:cNvGrpSpPr/>
              <p:nvPr/>
            </p:nvGrpSpPr>
            <p:grpSpPr>
              <a:xfrm>
                <a:off x="6121616" y="1736089"/>
                <a:ext cx="5466448" cy="5010701"/>
                <a:chOff x="6277646" y="2121699"/>
                <a:chExt cx="5533014" cy="5254417"/>
              </a:xfrm>
            </p:grpSpPr>
            <p:grpSp>
              <p:nvGrpSpPr>
                <p:cNvPr id="74" name="群組 73"/>
                <p:cNvGrpSpPr/>
                <p:nvPr/>
              </p:nvGrpSpPr>
              <p:grpSpPr>
                <a:xfrm>
                  <a:off x="6277646" y="2849327"/>
                  <a:ext cx="3997114" cy="4526789"/>
                  <a:chOff x="5544065" y="1424976"/>
                  <a:chExt cx="4451753" cy="5620154"/>
                </a:xfrm>
              </p:grpSpPr>
              <p:sp>
                <p:nvSpPr>
                  <p:cNvPr id="80" name="橢圓 79"/>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1" name="弧形接點 80"/>
                  <p:cNvCxnSpPr>
                    <a:stCxn id="80"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橢圓 81"/>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3" name="弧形接點 82"/>
                  <p:cNvCxnSpPr>
                    <a:stCxn id="82"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弧形接點 83"/>
                  <p:cNvCxnSpPr>
                    <a:stCxn id="82"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弧形接點 84"/>
                  <p:cNvCxnSpPr>
                    <a:stCxn id="80" idx="4"/>
                  </p:cNvCxnSpPr>
                  <p:nvPr/>
                </p:nvCxnSpPr>
                <p:spPr>
                  <a:xfrm rot="16200000" flipH="1">
                    <a:off x="5969978" y="3423138"/>
                    <a:ext cx="2146678" cy="271841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弧形接點 85"/>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文字方塊 86"/>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88" name="文字方塊 87"/>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89" name="文字方塊 88"/>
                  <p:cNvSpPr txBox="1"/>
                  <p:nvPr/>
                </p:nvSpPr>
                <p:spPr>
                  <a:xfrm>
                    <a:off x="8154834" y="3671043"/>
                    <a:ext cx="1624761" cy="649594"/>
                  </a:xfrm>
                  <a:prstGeom prst="rect">
                    <a:avLst/>
                  </a:prstGeom>
                  <a:noFill/>
                </p:spPr>
                <p:txBody>
                  <a:bodyPr wrap="square" rtlCol="0">
                    <a:spAutoFit/>
                  </a:bodyPr>
                  <a:lstStyle/>
                  <a:p>
                    <a:r>
                      <a:rPr lang="en-US" altLang="zh-TW" sz="2800" dirty="0" err="1" smtClean="0"/>
                      <a:t>wxabc</a:t>
                    </a:r>
                    <a:endParaRPr lang="zh-TW" altLang="en-US" sz="2800" dirty="0"/>
                  </a:p>
                </p:txBody>
              </p:sp>
              <p:sp>
                <p:nvSpPr>
                  <p:cNvPr id="90" name="文字方塊 89"/>
                  <p:cNvSpPr txBox="1"/>
                  <p:nvPr/>
                </p:nvSpPr>
                <p:spPr>
                  <a:xfrm>
                    <a:off x="6340862" y="4366997"/>
                    <a:ext cx="2198644" cy="789744"/>
                  </a:xfrm>
                  <a:prstGeom prst="rect">
                    <a:avLst/>
                  </a:prstGeom>
                  <a:noFill/>
                </p:spPr>
                <p:txBody>
                  <a:bodyPr wrap="square" rtlCol="0">
                    <a:spAutoFit/>
                  </a:bodyPr>
                  <a:lstStyle/>
                  <a:p>
                    <a:r>
                      <a:rPr lang="en-US" altLang="zh-TW" sz="2800" dirty="0" err="1" smtClean="0">
                        <a:solidFill>
                          <a:srgbClr val="FF0000"/>
                        </a:solidFill>
                      </a:rPr>
                      <a:t>bxawxabc</a:t>
                    </a:r>
                    <a:endParaRPr lang="zh-TW" altLang="en-US" sz="2800" dirty="0">
                      <a:solidFill>
                        <a:srgbClr val="FF0000"/>
                      </a:solidFill>
                    </a:endParaRPr>
                  </a:p>
                </p:txBody>
              </p:sp>
              <p:sp>
                <p:nvSpPr>
                  <p:cNvPr id="91" name="橢圓 90"/>
                  <p:cNvSpPr/>
                  <p:nvPr/>
                </p:nvSpPr>
                <p:spPr>
                  <a:xfrm>
                    <a:off x="7422292" y="3462709"/>
                    <a:ext cx="280087" cy="27184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弧形接點 91"/>
                  <p:cNvCxnSpPr>
                    <a:stCxn id="91" idx="0"/>
                  </p:cNvCxnSpPr>
                  <p:nvPr/>
                </p:nvCxnSpPr>
                <p:spPr>
                  <a:xfrm rot="5400000" flipH="1" flipV="1">
                    <a:off x="8343374" y="2365521"/>
                    <a:ext cx="316152" cy="18782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文字方塊 92"/>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94" name="文字方塊 93"/>
                  <p:cNvSpPr txBox="1"/>
                  <p:nvPr/>
                </p:nvSpPr>
                <p:spPr>
                  <a:xfrm>
                    <a:off x="8274533" y="2592526"/>
                    <a:ext cx="450774" cy="681190"/>
                  </a:xfrm>
                  <a:prstGeom prst="rect">
                    <a:avLst/>
                  </a:prstGeom>
                  <a:noFill/>
                </p:spPr>
                <p:txBody>
                  <a:bodyPr wrap="square" rtlCol="0">
                    <a:spAutoFit/>
                  </a:bodyPr>
                  <a:lstStyle/>
                  <a:p>
                    <a:r>
                      <a:rPr lang="en-US" altLang="zh-TW" sz="2800" dirty="0" smtClean="0"/>
                      <a:t>b</a:t>
                    </a:r>
                    <a:endParaRPr lang="zh-TW" altLang="en-US" sz="2800" dirty="0"/>
                  </a:p>
                </p:txBody>
              </p:sp>
              <p:cxnSp>
                <p:nvCxnSpPr>
                  <p:cNvPr id="95" name="弧形接點 94"/>
                  <p:cNvCxnSpPr>
                    <a:stCxn id="82" idx="4"/>
                    <a:endCxn id="91"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6" name="文字方塊 95"/>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97" name="弧形接點 96"/>
                  <p:cNvCxnSpPr>
                    <a:stCxn id="80" idx="2"/>
                  </p:cNvCxnSpPr>
                  <p:nvPr/>
                </p:nvCxnSpPr>
                <p:spPr>
                  <a:xfrm rot="10800000" flipH="1" flipV="1">
                    <a:off x="5544065" y="3573083"/>
                    <a:ext cx="4451753" cy="3472047"/>
                  </a:xfrm>
                  <a:prstGeom prst="curvedConnector3">
                    <a:avLst>
                      <a:gd name="adj1" fmla="val -5789"/>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文字方塊 97"/>
                  <p:cNvSpPr txBox="1"/>
                  <p:nvPr/>
                </p:nvSpPr>
                <p:spPr>
                  <a:xfrm>
                    <a:off x="6617133" y="5932155"/>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75" name="橢圓 74"/>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6" name="弧形接點 75"/>
                <p:cNvCxnSpPr>
                  <a:stCxn id="75" idx="0"/>
                </p:cNvCxnSpPr>
                <p:nvPr/>
              </p:nvCxnSpPr>
              <p:spPr>
                <a:xfrm rot="5400000" flipH="1" flipV="1">
                  <a:off x="10277964" y="1689190"/>
                  <a:ext cx="438587" cy="26268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弧形接點 76"/>
                <p:cNvCxnSpPr>
                  <a:stCxn id="75"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文字方塊 77"/>
                <p:cNvSpPr txBox="1"/>
                <p:nvPr/>
              </p:nvSpPr>
              <p:spPr>
                <a:xfrm>
                  <a:off x="9434856" y="2121699"/>
                  <a:ext cx="1809794" cy="636105"/>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79" name="文字方塊 78"/>
                <p:cNvSpPr txBox="1"/>
                <p:nvPr/>
              </p:nvSpPr>
              <p:spPr>
                <a:xfrm>
                  <a:off x="9969875" y="3038207"/>
                  <a:ext cx="399684" cy="548669"/>
                </a:xfrm>
                <a:prstGeom prst="rect">
                  <a:avLst/>
                </a:prstGeom>
                <a:noFill/>
              </p:spPr>
              <p:txBody>
                <a:bodyPr wrap="square" rtlCol="0">
                  <a:spAutoFit/>
                </a:bodyPr>
                <a:lstStyle/>
                <a:p>
                  <a:r>
                    <a:rPr lang="en-US" altLang="zh-TW" sz="2800" dirty="0" smtClean="0"/>
                    <a:t>c</a:t>
                  </a:r>
                  <a:endParaRPr lang="zh-TW" altLang="en-US" sz="2800" dirty="0"/>
                </a:p>
              </p:txBody>
            </p:sp>
          </p:grpSp>
          <p:cxnSp>
            <p:nvCxnSpPr>
              <p:cNvPr id="73" name="弧形接點 72"/>
              <p:cNvCxnSpPr>
                <a:stCxn id="91" idx="3"/>
              </p:cNvCxnSpPr>
              <p:nvPr/>
            </p:nvCxnSpPr>
            <p:spPr>
              <a:xfrm rot="16200000" flipH="1">
                <a:off x="8405194" y="3592302"/>
                <a:ext cx="861883" cy="202402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102" name="矩形 101"/>
          <p:cNvSpPr/>
          <p:nvPr/>
        </p:nvSpPr>
        <p:spPr>
          <a:xfrm>
            <a:off x="8861085" y="120372"/>
            <a:ext cx="2499082" cy="369332"/>
          </a:xfrm>
          <a:prstGeom prst="rect">
            <a:avLst/>
          </a:prstGeom>
        </p:spPr>
        <p:txBody>
          <a:bodyPr wrap="none">
            <a:spAutoFit/>
          </a:bodyPr>
          <a:lstStyle/>
          <a:p>
            <a:r>
              <a:rPr lang="en-US" altLang="zh-TW" dirty="0" smtClean="0">
                <a:solidFill>
                  <a:srgbClr val="C00000"/>
                </a:solidFill>
              </a:rPr>
              <a:t>active point</a:t>
            </a:r>
            <a:r>
              <a:rPr lang="zh-TW" altLang="en-US" dirty="0" smtClean="0"/>
              <a:t>：</a:t>
            </a:r>
            <a:r>
              <a:rPr lang="en-US" altLang="zh-TW" dirty="0" smtClean="0"/>
              <a:t> (root,’c’,</a:t>
            </a:r>
            <a:r>
              <a:rPr lang="en-US" altLang="zh-TW" dirty="0"/>
              <a:t>0</a:t>
            </a:r>
            <a:r>
              <a:rPr lang="en-US" altLang="zh-TW" dirty="0" smtClean="0"/>
              <a:t>)</a:t>
            </a:r>
          </a:p>
        </p:txBody>
      </p:sp>
      <p:sp>
        <p:nvSpPr>
          <p:cNvPr id="104" name="文字方塊 103"/>
          <p:cNvSpPr txBox="1"/>
          <p:nvPr/>
        </p:nvSpPr>
        <p:spPr>
          <a:xfrm>
            <a:off x="8854641" y="607041"/>
            <a:ext cx="2038443" cy="646331"/>
          </a:xfrm>
          <a:prstGeom prst="rect">
            <a:avLst/>
          </a:prstGeom>
          <a:noFill/>
        </p:spPr>
        <p:txBody>
          <a:bodyPr wrap="none" rtlCol="0">
            <a:spAutoFit/>
          </a:bodyPr>
          <a:lstStyle/>
          <a:p>
            <a:r>
              <a:rPr lang="en-US" altLang="zh-TW" dirty="0" smtClean="0">
                <a:solidFill>
                  <a:srgbClr val="C00000"/>
                </a:solidFill>
              </a:rPr>
              <a:t>remainder</a:t>
            </a:r>
            <a:r>
              <a:rPr lang="zh-TW" altLang="en-US" dirty="0" smtClean="0"/>
              <a:t>：</a:t>
            </a:r>
            <a:r>
              <a:rPr lang="en-US" altLang="zh-TW" dirty="0" smtClean="0"/>
              <a:t>1  (“c”)</a:t>
            </a:r>
            <a:endParaRPr lang="zh-TW" altLang="en-US" dirty="0" smtClean="0"/>
          </a:p>
          <a:p>
            <a:endParaRPr lang="zh-TW" altLang="en-US" dirty="0"/>
          </a:p>
        </p:txBody>
      </p:sp>
    </p:spTree>
    <p:extLst>
      <p:ext uri="{BB962C8B-B14F-4D97-AF65-F5344CB8AC3E}">
        <p14:creationId xmlns:p14="http://schemas.microsoft.com/office/powerpoint/2010/main" val="3679339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fill="hold"/>
                                        <p:tgtEl>
                                          <p:spTgt spid="63"/>
                                        </p:tgtEl>
                                        <p:attrNameLst>
                                          <p:attrName>ppt_x</p:attrName>
                                        </p:attrNameLst>
                                      </p:cBhvr>
                                      <p:tavLst>
                                        <p:tav tm="0">
                                          <p:val>
                                            <p:strVal val="#ppt_x"/>
                                          </p:val>
                                        </p:tav>
                                        <p:tav tm="100000">
                                          <p:val>
                                            <p:strVal val="#ppt_x"/>
                                          </p:val>
                                        </p:tav>
                                      </p:tavLst>
                                    </p:anim>
                                    <p:anim calcmode="lin" valueType="num">
                                      <p:cBhvr additive="base">
                                        <p:cTn id="8" dur="500" fill="hold"/>
                                        <p:tgtEl>
                                          <p:spTgt spid="6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anim calcmode="lin" valueType="num">
                                      <p:cBhvr additive="base">
                                        <p:cTn id="11" dur="500" fill="hold"/>
                                        <p:tgtEl>
                                          <p:spTgt spid="102"/>
                                        </p:tgtEl>
                                        <p:attrNameLst>
                                          <p:attrName>ppt_x</p:attrName>
                                        </p:attrNameLst>
                                      </p:cBhvr>
                                      <p:tavLst>
                                        <p:tav tm="0">
                                          <p:val>
                                            <p:strVal val="#ppt_x"/>
                                          </p:val>
                                        </p:tav>
                                        <p:tav tm="100000">
                                          <p:val>
                                            <p:strVal val="#ppt_x"/>
                                          </p:val>
                                        </p:tav>
                                      </p:tavLst>
                                    </p:anim>
                                    <p:anim calcmode="lin" valueType="num">
                                      <p:cBhvr additive="base">
                                        <p:cTn id="12" dur="500" fill="hold"/>
                                        <p:tgtEl>
                                          <p:spTgt spid="10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anim calcmode="lin" valueType="num">
                                      <p:cBhvr additive="base">
                                        <p:cTn id="15" dur="500" fill="hold"/>
                                        <p:tgtEl>
                                          <p:spTgt spid="104"/>
                                        </p:tgtEl>
                                        <p:attrNameLst>
                                          <p:attrName>ppt_x</p:attrName>
                                        </p:attrNameLst>
                                      </p:cBhvr>
                                      <p:tavLst>
                                        <p:tav tm="0">
                                          <p:val>
                                            <p:strVal val="#ppt_x"/>
                                          </p:val>
                                        </p:tav>
                                        <p:tav tm="100000">
                                          <p:val>
                                            <p:strVal val="#ppt_x"/>
                                          </p:val>
                                        </p:tav>
                                      </p:tavLst>
                                    </p:anim>
                                    <p:anim calcmode="lin" valueType="num">
                                      <p:cBhvr additive="base">
                                        <p:cTn id="16"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40003" y="122033"/>
            <a:ext cx="10971688" cy="1995091"/>
          </a:xfrm>
        </p:spPr>
        <p:txBody>
          <a:bodyPr/>
          <a:lstStyle/>
          <a:p>
            <a:r>
              <a:rPr lang="en-US" altLang="zh-TW" sz="3200" dirty="0">
                <a:latin typeface="Cambria Math" panose="02040503050406030204" pitchFamily="18" charset="0"/>
                <a:ea typeface="Cambria Math" panose="02040503050406030204" pitchFamily="18" charset="0"/>
              </a:rPr>
              <a:t>S = </a:t>
            </a:r>
            <a:r>
              <a:rPr lang="en-US" altLang="zh-TW" sz="3200" dirty="0" err="1">
                <a:latin typeface="Cambria Math" panose="02040503050406030204" pitchFamily="18" charset="0"/>
                <a:ea typeface="Cambria Math" panose="02040503050406030204" pitchFamily="18" charset="0"/>
              </a:rPr>
              <a:t>xabxa</a:t>
            </a:r>
            <a:r>
              <a:rPr lang="en-US" altLang="zh-TW" sz="3200" dirty="0" err="1">
                <a:solidFill>
                  <a:schemeClr val="tx1"/>
                </a:solidFill>
                <a:latin typeface="Cambria Math" panose="02040503050406030204" pitchFamily="18" charset="0"/>
                <a:ea typeface="Cambria Math" panose="02040503050406030204" pitchFamily="18" charset="0"/>
              </a:rPr>
              <a:t>w</a:t>
            </a:r>
            <a:r>
              <a:rPr lang="en-US" altLang="zh-TW" sz="3200" dirty="0" err="1">
                <a:latin typeface="Cambria Math" panose="02040503050406030204" pitchFamily="18" charset="0"/>
                <a:ea typeface="Cambria Math" panose="02040503050406030204" pitchFamily="18" charset="0"/>
              </a:rPr>
              <a:t>xab</a:t>
            </a:r>
            <a:r>
              <a:rPr lang="en-US" altLang="zh-TW" sz="3200" dirty="0" err="1">
                <a:solidFill>
                  <a:schemeClr val="tx1"/>
                </a:solidFill>
                <a:latin typeface="Cambria Math" panose="02040503050406030204" pitchFamily="18" charset="0"/>
                <a:ea typeface="Cambria Math" panose="02040503050406030204" pitchFamily="18" charset="0"/>
              </a:rPr>
              <a:t>c</a:t>
            </a:r>
            <a:endParaRPr lang="en-US" altLang="zh-TW" sz="3200" dirty="0">
              <a:solidFill>
                <a:schemeClr val="tx1"/>
              </a:solidFill>
              <a:latin typeface="Cambria Math" panose="02040503050406030204" pitchFamily="18" charset="0"/>
              <a:ea typeface="Cambria Math" panose="02040503050406030204" pitchFamily="18" charset="0"/>
            </a:endParaRPr>
          </a:p>
          <a:p>
            <a:r>
              <a:rPr lang="en-US" altLang="zh-TW" sz="3200" dirty="0">
                <a:solidFill>
                  <a:srgbClr val="C00000"/>
                </a:solidFill>
                <a:latin typeface="Cambria Math" panose="02040503050406030204" pitchFamily="18" charset="0"/>
                <a:ea typeface="Cambria Math" panose="02040503050406030204" pitchFamily="18" charset="0"/>
              </a:rPr>
              <a:t>active point</a:t>
            </a:r>
            <a:r>
              <a:rPr lang="zh-TW" altLang="en-US" sz="3200" dirty="0">
                <a:latin typeface="Cambria Math" panose="02040503050406030204" pitchFamily="18" charset="0"/>
              </a:rPr>
              <a:t>：</a:t>
            </a:r>
            <a:r>
              <a:rPr lang="en-US" altLang="zh-TW" sz="3200" dirty="0">
                <a:latin typeface="Cambria Math" panose="02040503050406030204" pitchFamily="18" charset="0"/>
                <a:ea typeface="Cambria Math" panose="02040503050406030204" pitchFamily="18" charset="0"/>
              </a:rPr>
              <a:t> (root</a:t>
            </a:r>
            <a:r>
              <a:rPr lang="en-US" altLang="zh-TW" sz="3200" dirty="0" smtClean="0">
                <a:latin typeface="Cambria Math" panose="02040503050406030204" pitchFamily="18" charset="0"/>
                <a:ea typeface="Cambria Math" panose="02040503050406030204" pitchFamily="18" charset="0"/>
              </a:rPr>
              <a:t>,’c’,0)</a:t>
            </a:r>
            <a:endParaRPr lang="en-US" altLang="zh-TW" sz="3200" dirty="0">
              <a:latin typeface="Cambria Math" panose="02040503050406030204" pitchFamily="18" charset="0"/>
              <a:ea typeface="Cambria Math" panose="02040503050406030204" pitchFamily="18" charset="0"/>
            </a:endParaRPr>
          </a:p>
          <a:p>
            <a:r>
              <a:rPr lang="en-US" altLang="zh-TW" sz="3200" dirty="0">
                <a:solidFill>
                  <a:srgbClr val="C00000"/>
                </a:solidFill>
                <a:latin typeface="Cambria Math" panose="02040503050406030204" pitchFamily="18" charset="0"/>
                <a:ea typeface="Cambria Math" panose="02040503050406030204" pitchFamily="18" charset="0"/>
              </a:rPr>
              <a:t>remainder</a:t>
            </a:r>
            <a:r>
              <a:rPr lang="zh-TW" altLang="en-US" sz="3200" dirty="0" smtClean="0">
                <a:latin typeface="Cambria Math" panose="02040503050406030204" pitchFamily="18" charset="0"/>
              </a:rPr>
              <a:t>：</a:t>
            </a:r>
            <a:r>
              <a:rPr lang="en-US" altLang="zh-TW" sz="3200" dirty="0" smtClean="0">
                <a:latin typeface="Cambria Math" panose="02040503050406030204" pitchFamily="18" charset="0"/>
              </a:rPr>
              <a:t>1</a:t>
            </a:r>
            <a:r>
              <a:rPr lang="en-US" altLang="zh-TW" sz="3200" dirty="0" smtClean="0">
                <a:latin typeface="Cambria Math" panose="02040503050406030204" pitchFamily="18" charset="0"/>
                <a:ea typeface="Cambria Math" panose="02040503050406030204" pitchFamily="18" charset="0"/>
              </a:rPr>
              <a:t>  (“c</a:t>
            </a:r>
            <a:r>
              <a:rPr lang="en-US" altLang="zh-TW" sz="3200" dirty="0">
                <a:latin typeface="Cambria Math" panose="02040503050406030204" pitchFamily="18" charset="0"/>
                <a:ea typeface="Cambria Math" panose="02040503050406030204" pitchFamily="18" charset="0"/>
              </a:rPr>
              <a:t>”)</a:t>
            </a:r>
            <a:endParaRPr lang="zh-TW" altLang="en-US" sz="3200" dirty="0">
              <a:latin typeface="Cambria Math" panose="02040503050406030204" pitchFamily="18" charset="0"/>
            </a:endParaRPr>
          </a:p>
          <a:p>
            <a:endParaRPr lang="zh-TW" altLang="en-US" dirty="0"/>
          </a:p>
        </p:txBody>
      </p:sp>
      <p:grpSp>
        <p:nvGrpSpPr>
          <p:cNvPr id="40" name="群組 39"/>
          <p:cNvGrpSpPr/>
          <p:nvPr/>
        </p:nvGrpSpPr>
        <p:grpSpPr>
          <a:xfrm>
            <a:off x="4954407" y="1119578"/>
            <a:ext cx="6157284" cy="4806613"/>
            <a:chOff x="3732643" y="1643619"/>
            <a:chExt cx="6157284" cy="4806613"/>
          </a:xfrm>
        </p:grpSpPr>
        <p:grpSp>
          <p:nvGrpSpPr>
            <p:cNvPr id="41" name="群組 40"/>
            <p:cNvGrpSpPr/>
            <p:nvPr/>
          </p:nvGrpSpPr>
          <p:grpSpPr>
            <a:xfrm>
              <a:off x="3732643" y="1643619"/>
              <a:ext cx="5551400" cy="4806613"/>
              <a:chOff x="725832" y="1651853"/>
              <a:chExt cx="5551400" cy="4806613"/>
            </a:xfrm>
          </p:grpSpPr>
          <p:grpSp>
            <p:nvGrpSpPr>
              <p:cNvPr id="48" name="群組 47"/>
              <p:cNvGrpSpPr/>
              <p:nvPr/>
            </p:nvGrpSpPr>
            <p:grpSpPr>
              <a:xfrm>
                <a:off x="725832" y="1651853"/>
                <a:ext cx="5551400" cy="4806613"/>
                <a:chOff x="6121616" y="1940177"/>
                <a:chExt cx="5551400" cy="4806613"/>
              </a:xfrm>
            </p:grpSpPr>
            <p:sp>
              <p:nvSpPr>
                <p:cNvPr id="50" name="橢圓 49"/>
                <p:cNvSpPr/>
                <p:nvPr/>
              </p:nvSpPr>
              <p:spPr>
                <a:xfrm>
                  <a:off x="9575376" y="3628028"/>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1" name="弧形接點 50"/>
                <p:cNvCxnSpPr>
                  <a:stCxn id="50" idx="0"/>
                </p:cNvCxnSpPr>
                <p:nvPr/>
              </p:nvCxnSpPr>
              <p:spPr>
                <a:xfrm rot="5400000" flipH="1" flipV="1">
                  <a:off x="10670149" y="2625162"/>
                  <a:ext cx="32323" cy="197341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弧形接點 51"/>
                <p:cNvCxnSpPr>
                  <a:stCxn id="50" idx="4"/>
                </p:cNvCxnSpPr>
                <p:nvPr/>
              </p:nvCxnSpPr>
              <p:spPr>
                <a:xfrm rot="16200000" flipH="1">
                  <a:off x="10441461" y="3094978"/>
                  <a:ext cx="226093" cy="17098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10686310" y="3574030"/>
                  <a:ext cx="381847" cy="523220"/>
                </a:xfrm>
                <a:prstGeom prst="rect">
                  <a:avLst/>
                </a:prstGeom>
                <a:noFill/>
              </p:spPr>
              <p:txBody>
                <a:bodyPr wrap="square" rtlCol="0">
                  <a:spAutoFit/>
                </a:bodyPr>
                <a:lstStyle/>
                <a:p>
                  <a:r>
                    <a:rPr lang="en-US" altLang="zh-TW" sz="2800" dirty="0" smtClean="0"/>
                    <a:t>c</a:t>
                  </a:r>
                  <a:endParaRPr lang="zh-TW" altLang="en-US" sz="2800" dirty="0"/>
                </a:p>
              </p:txBody>
            </p:sp>
            <p:sp>
              <p:nvSpPr>
                <p:cNvPr id="54" name="文字方塊 53"/>
                <p:cNvSpPr txBox="1"/>
                <p:nvPr/>
              </p:nvSpPr>
              <p:spPr>
                <a:xfrm>
                  <a:off x="10036066" y="3121803"/>
                  <a:ext cx="1605818" cy="52322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55" name="弧形接點 54"/>
                <p:cNvCxnSpPr>
                  <a:endCxn id="50" idx="1"/>
                </p:cNvCxnSpPr>
                <p:nvPr/>
              </p:nvCxnSpPr>
              <p:spPr>
                <a:xfrm rot="16200000" flipH="1">
                  <a:off x="8987045" y="3033889"/>
                  <a:ext cx="630535" cy="61890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6" name="群組 55"/>
                <p:cNvGrpSpPr/>
                <p:nvPr/>
              </p:nvGrpSpPr>
              <p:grpSpPr>
                <a:xfrm>
                  <a:off x="6121616" y="1940177"/>
                  <a:ext cx="4907247" cy="4806613"/>
                  <a:chOff x="6277646" y="2335714"/>
                  <a:chExt cx="4967003" cy="5040402"/>
                </a:xfrm>
              </p:grpSpPr>
              <p:grpSp>
                <p:nvGrpSpPr>
                  <p:cNvPr id="57" name="群組 56"/>
                  <p:cNvGrpSpPr/>
                  <p:nvPr/>
                </p:nvGrpSpPr>
                <p:grpSpPr>
                  <a:xfrm>
                    <a:off x="6277646" y="2849327"/>
                    <a:ext cx="4037293" cy="4526789"/>
                    <a:chOff x="5544065" y="1424976"/>
                    <a:chExt cx="4496502" cy="5620154"/>
                  </a:xfrm>
                </p:grpSpPr>
                <p:sp>
                  <p:nvSpPr>
                    <p:cNvPr id="63" name="橢圓 62"/>
                    <p:cNvSpPr/>
                    <p:nvPr/>
                  </p:nvSpPr>
                  <p:spPr>
                    <a:xfrm>
                      <a:off x="5544065" y="3437159"/>
                      <a:ext cx="280087" cy="2718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4" name="弧形接點 63"/>
                    <p:cNvCxnSpPr>
                      <a:stCxn id="63" idx="0"/>
                    </p:cNvCxnSpPr>
                    <p:nvPr/>
                  </p:nvCxnSpPr>
                  <p:spPr>
                    <a:xfrm rot="5400000" flipH="1" flipV="1">
                      <a:off x="5786733" y="2328821"/>
                      <a:ext cx="1005714" cy="1210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橢圓 64"/>
                    <p:cNvSpPr/>
                    <p:nvPr/>
                  </p:nvSpPr>
                  <p:spPr>
                    <a:xfrm>
                      <a:off x="6895072" y="229551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6" name="弧形接點 65"/>
                    <p:cNvCxnSpPr>
                      <a:stCxn id="65" idx="0"/>
                    </p:cNvCxnSpPr>
                    <p:nvPr/>
                  </p:nvCxnSpPr>
                  <p:spPr>
                    <a:xfrm rot="5400000" flipH="1" flipV="1">
                      <a:off x="7700671" y="1371174"/>
                      <a:ext cx="258791"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弧形接點 66"/>
                    <p:cNvCxnSpPr>
                      <a:stCxn id="65" idx="4"/>
                    </p:cNvCxnSpPr>
                    <p:nvPr/>
                  </p:nvCxnSpPr>
                  <p:spPr>
                    <a:xfrm rot="16200000" flipH="1">
                      <a:off x="7805695" y="1796789"/>
                      <a:ext cx="48742" cy="158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弧形接點 67"/>
                    <p:cNvCxnSpPr>
                      <a:stCxn id="63" idx="4"/>
                      <a:endCxn id="42" idx="2"/>
                    </p:cNvCxnSpPr>
                    <p:nvPr/>
                  </p:nvCxnSpPr>
                  <p:spPr>
                    <a:xfrm rot="16200000" flipH="1">
                      <a:off x="7229269" y="2163847"/>
                      <a:ext cx="1266138" cy="435645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弧形接點 68"/>
                    <p:cNvCxnSpPr/>
                    <p:nvPr/>
                  </p:nvCxnSpPr>
                  <p:spPr>
                    <a:xfrm>
                      <a:off x="5684108" y="3573083"/>
                      <a:ext cx="1738184" cy="41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文字方塊 69"/>
                    <p:cNvSpPr txBox="1"/>
                    <p:nvPr/>
                  </p:nvSpPr>
                  <p:spPr>
                    <a:xfrm>
                      <a:off x="5583327" y="2159367"/>
                      <a:ext cx="684335" cy="649595"/>
                    </a:xfrm>
                    <a:prstGeom prst="rect">
                      <a:avLst/>
                    </a:prstGeom>
                    <a:noFill/>
                  </p:spPr>
                  <p:txBody>
                    <a:bodyPr wrap="square" rtlCol="0">
                      <a:spAutoFit/>
                    </a:bodyPr>
                    <a:lstStyle/>
                    <a:p>
                      <a:r>
                        <a:rPr lang="en-US" altLang="zh-TW" sz="2800" dirty="0" err="1" smtClean="0"/>
                        <a:t>xa</a:t>
                      </a:r>
                      <a:endParaRPr lang="zh-TW" altLang="en-US" sz="2800" dirty="0"/>
                    </a:p>
                  </p:txBody>
                </p:sp>
                <p:sp>
                  <p:nvSpPr>
                    <p:cNvPr id="71" name="文字方塊 70"/>
                    <p:cNvSpPr txBox="1"/>
                    <p:nvPr/>
                  </p:nvSpPr>
                  <p:spPr>
                    <a:xfrm>
                      <a:off x="7451794" y="2024886"/>
                      <a:ext cx="1484856"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72" name="文字方塊 71"/>
                    <p:cNvSpPr txBox="1"/>
                    <p:nvPr/>
                  </p:nvSpPr>
                  <p:spPr>
                    <a:xfrm>
                      <a:off x="7835598" y="3246393"/>
                      <a:ext cx="1624761" cy="649595"/>
                    </a:xfrm>
                    <a:prstGeom prst="rect">
                      <a:avLst/>
                    </a:prstGeom>
                    <a:noFill/>
                  </p:spPr>
                  <p:txBody>
                    <a:bodyPr wrap="square" rtlCol="0">
                      <a:spAutoFit/>
                    </a:bodyPr>
                    <a:lstStyle/>
                    <a:p>
                      <a:r>
                        <a:rPr lang="en-US" altLang="zh-TW" sz="2800" dirty="0" err="1" smtClean="0"/>
                        <a:t>wxabc</a:t>
                      </a:r>
                      <a:endParaRPr lang="zh-TW" altLang="en-US" sz="2800" dirty="0"/>
                    </a:p>
                  </p:txBody>
                </p:sp>
                <p:sp>
                  <p:nvSpPr>
                    <p:cNvPr id="73" name="文字方塊 72"/>
                    <p:cNvSpPr txBox="1"/>
                    <p:nvPr/>
                  </p:nvSpPr>
                  <p:spPr>
                    <a:xfrm>
                      <a:off x="7379755" y="4159130"/>
                      <a:ext cx="645247" cy="681190"/>
                    </a:xfrm>
                    <a:prstGeom prst="rect">
                      <a:avLst/>
                    </a:prstGeom>
                    <a:noFill/>
                  </p:spPr>
                  <p:txBody>
                    <a:bodyPr wrap="square" rtlCol="0">
                      <a:spAutoFit/>
                    </a:bodyPr>
                    <a:lstStyle/>
                    <a:p>
                      <a:r>
                        <a:rPr lang="en-US" altLang="zh-TW" sz="2800" dirty="0" smtClean="0"/>
                        <a:t>b</a:t>
                      </a:r>
                      <a:endParaRPr lang="zh-TW" altLang="en-US" sz="2800" dirty="0"/>
                    </a:p>
                  </p:txBody>
                </p:sp>
                <p:sp>
                  <p:nvSpPr>
                    <p:cNvPr id="74" name="橢圓 73"/>
                    <p:cNvSpPr/>
                    <p:nvPr/>
                  </p:nvSpPr>
                  <p:spPr>
                    <a:xfrm>
                      <a:off x="7422292" y="3462709"/>
                      <a:ext cx="280087" cy="271849"/>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5" name="弧形接點 74"/>
                    <p:cNvCxnSpPr>
                      <a:stCxn id="74" idx="0"/>
                    </p:cNvCxnSpPr>
                    <p:nvPr/>
                  </p:nvCxnSpPr>
                  <p:spPr>
                    <a:xfrm rot="5400000" flipH="1" flipV="1">
                      <a:off x="8343374" y="2365521"/>
                      <a:ext cx="316152" cy="187822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字方塊 75"/>
                    <p:cNvSpPr txBox="1"/>
                    <p:nvPr/>
                  </p:nvSpPr>
                  <p:spPr>
                    <a:xfrm>
                      <a:off x="6411693" y="2933121"/>
                      <a:ext cx="423057" cy="584775"/>
                    </a:xfrm>
                    <a:prstGeom prst="rect">
                      <a:avLst/>
                    </a:prstGeom>
                    <a:noFill/>
                  </p:spPr>
                  <p:txBody>
                    <a:bodyPr wrap="square" rtlCol="0">
                      <a:spAutoFit/>
                    </a:bodyPr>
                    <a:lstStyle/>
                    <a:p>
                      <a:r>
                        <a:rPr lang="en-US" altLang="zh-TW" sz="2800" dirty="0" smtClean="0"/>
                        <a:t>a</a:t>
                      </a:r>
                      <a:endParaRPr lang="zh-TW" altLang="en-US" sz="2800" dirty="0">
                        <a:solidFill>
                          <a:srgbClr val="FF0000"/>
                        </a:solidFill>
                      </a:endParaRPr>
                    </a:p>
                  </p:txBody>
                </p:sp>
                <p:sp>
                  <p:nvSpPr>
                    <p:cNvPr id="77" name="文字方塊 76"/>
                    <p:cNvSpPr txBox="1"/>
                    <p:nvPr/>
                  </p:nvSpPr>
                  <p:spPr>
                    <a:xfrm>
                      <a:off x="8274533" y="2592526"/>
                      <a:ext cx="450774" cy="681190"/>
                    </a:xfrm>
                    <a:prstGeom prst="rect">
                      <a:avLst/>
                    </a:prstGeom>
                    <a:noFill/>
                  </p:spPr>
                  <p:txBody>
                    <a:bodyPr wrap="square" rtlCol="0">
                      <a:spAutoFit/>
                    </a:bodyPr>
                    <a:lstStyle/>
                    <a:p>
                      <a:r>
                        <a:rPr lang="en-US" altLang="zh-TW" sz="2800" dirty="0" smtClean="0"/>
                        <a:t>b</a:t>
                      </a:r>
                      <a:endParaRPr lang="zh-TW" altLang="en-US" sz="2800" dirty="0"/>
                    </a:p>
                  </p:txBody>
                </p:sp>
                <p:cxnSp>
                  <p:nvCxnSpPr>
                    <p:cNvPr id="78" name="弧形接點 77"/>
                    <p:cNvCxnSpPr>
                      <a:stCxn id="65" idx="4"/>
                      <a:endCxn id="74" idx="0"/>
                    </p:cNvCxnSpPr>
                    <p:nvPr/>
                  </p:nvCxnSpPr>
                  <p:spPr>
                    <a:xfrm rot="16200000" flipH="1">
                      <a:off x="6851056" y="2751428"/>
                      <a:ext cx="895341" cy="527220"/>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9" name="文字方塊 78"/>
                    <p:cNvSpPr txBox="1"/>
                    <p:nvPr/>
                  </p:nvSpPr>
                  <p:spPr>
                    <a:xfrm>
                      <a:off x="7566683" y="1424976"/>
                      <a:ext cx="526765" cy="649594"/>
                    </a:xfrm>
                    <a:prstGeom prst="rect">
                      <a:avLst/>
                    </a:prstGeom>
                    <a:noFill/>
                  </p:spPr>
                  <p:txBody>
                    <a:bodyPr wrap="square" rtlCol="0">
                      <a:spAutoFit/>
                    </a:bodyPr>
                    <a:lstStyle/>
                    <a:p>
                      <a:r>
                        <a:rPr lang="en-US" altLang="zh-TW" sz="2800" dirty="0" smtClean="0"/>
                        <a:t>b</a:t>
                      </a:r>
                      <a:endParaRPr lang="zh-TW" altLang="en-US" sz="2800" dirty="0"/>
                    </a:p>
                  </p:txBody>
                </p:sp>
                <p:cxnSp>
                  <p:nvCxnSpPr>
                    <p:cNvPr id="80" name="弧形接點 79"/>
                    <p:cNvCxnSpPr>
                      <a:stCxn id="63" idx="2"/>
                    </p:cNvCxnSpPr>
                    <p:nvPr/>
                  </p:nvCxnSpPr>
                  <p:spPr>
                    <a:xfrm rot="10800000" flipH="1" flipV="1">
                      <a:off x="5544065" y="3573083"/>
                      <a:ext cx="4451753" cy="3472047"/>
                    </a:xfrm>
                    <a:prstGeom prst="curvedConnector3">
                      <a:avLst>
                        <a:gd name="adj1" fmla="val -5789"/>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文字方塊 80"/>
                    <p:cNvSpPr txBox="1"/>
                    <p:nvPr/>
                  </p:nvSpPr>
                  <p:spPr>
                    <a:xfrm>
                      <a:off x="6617133" y="5932155"/>
                      <a:ext cx="1616804" cy="649595"/>
                    </a:xfrm>
                    <a:prstGeom prst="rect">
                      <a:avLst/>
                    </a:prstGeom>
                    <a:noFill/>
                  </p:spPr>
                  <p:txBody>
                    <a:bodyPr wrap="square" rtlCol="0">
                      <a:spAutoFit/>
                    </a:bodyPr>
                    <a:lstStyle/>
                    <a:p>
                      <a:r>
                        <a:rPr lang="en-US" altLang="zh-TW" sz="2800" dirty="0" err="1" smtClean="0"/>
                        <a:t>wxabc</a:t>
                      </a:r>
                      <a:endParaRPr lang="zh-TW" altLang="en-US" sz="2800" dirty="0"/>
                    </a:p>
                  </p:txBody>
                </p:sp>
              </p:grpSp>
              <p:sp>
                <p:nvSpPr>
                  <p:cNvPr id="58" name="橢圓 57"/>
                  <p:cNvSpPr/>
                  <p:nvPr/>
                </p:nvSpPr>
                <p:spPr>
                  <a:xfrm>
                    <a:off x="9058114" y="3221885"/>
                    <a:ext cx="251483" cy="218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弧形接點 58"/>
                  <p:cNvCxnSpPr>
                    <a:stCxn id="58" idx="0"/>
                  </p:cNvCxnSpPr>
                  <p:nvPr/>
                </p:nvCxnSpPr>
                <p:spPr>
                  <a:xfrm rot="5400000" flipH="1" flipV="1">
                    <a:off x="10052470" y="2064994"/>
                    <a:ext cx="288277" cy="202550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弧形接點 59"/>
                  <p:cNvCxnSpPr>
                    <a:stCxn id="58" idx="4"/>
                  </p:cNvCxnSpPr>
                  <p:nvPr/>
                </p:nvCxnSpPr>
                <p:spPr>
                  <a:xfrm rot="16200000" flipH="1">
                    <a:off x="10178575" y="2446127"/>
                    <a:ext cx="71355" cy="206079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文字方塊 60"/>
                  <p:cNvSpPr txBox="1"/>
                  <p:nvPr/>
                </p:nvSpPr>
                <p:spPr>
                  <a:xfrm>
                    <a:off x="9407098" y="2335714"/>
                    <a:ext cx="1476006" cy="523220"/>
                  </a:xfrm>
                  <a:prstGeom prst="rect">
                    <a:avLst/>
                  </a:prstGeom>
                  <a:noFill/>
                </p:spPr>
                <p:txBody>
                  <a:bodyPr wrap="square" rtlCol="0">
                    <a:spAutoFit/>
                  </a:bodyPr>
                  <a:lstStyle/>
                  <a:p>
                    <a:r>
                      <a:rPr lang="en-US" altLang="zh-TW" sz="2800" dirty="0" err="1" smtClean="0"/>
                      <a:t>xawxabc</a:t>
                    </a:r>
                    <a:endParaRPr lang="zh-TW" altLang="en-US" sz="2800" dirty="0"/>
                  </a:p>
                </p:txBody>
              </p:sp>
              <p:sp>
                <p:nvSpPr>
                  <p:cNvPr id="62" name="文字方塊 61"/>
                  <p:cNvSpPr txBox="1"/>
                  <p:nvPr/>
                </p:nvSpPr>
                <p:spPr>
                  <a:xfrm>
                    <a:off x="9969875" y="3038207"/>
                    <a:ext cx="399684" cy="548669"/>
                  </a:xfrm>
                  <a:prstGeom prst="rect">
                    <a:avLst/>
                  </a:prstGeom>
                  <a:noFill/>
                </p:spPr>
                <p:txBody>
                  <a:bodyPr wrap="square" rtlCol="0">
                    <a:spAutoFit/>
                  </a:bodyPr>
                  <a:lstStyle/>
                  <a:p>
                    <a:r>
                      <a:rPr lang="en-US" altLang="zh-TW" sz="2800" dirty="0" smtClean="0"/>
                      <a:t>c</a:t>
                    </a:r>
                    <a:endParaRPr lang="zh-TW" altLang="en-US" sz="2800" dirty="0"/>
                  </a:p>
                </p:txBody>
              </p:sp>
            </p:grpSp>
          </p:grpSp>
          <p:cxnSp>
            <p:nvCxnSpPr>
              <p:cNvPr id="49" name="弧形接點 48"/>
              <p:cNvCxnSpPr>
                <a:stCxn id="74" idx="3"/>
              </p:cNvCxnSpPr>
              <p:nvPr/>
            </p:nvCxnSpPr>
            <p:spPr>
              <a:xfrm rot="16200000" flipH="1">
                <a:off x="3100492" y="3212894"/>
                <a:ext cx="197995" cy="154229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2" name="橢圓 41"/>
            <p:cNvSpPr/>
            <p:nvPr/>
          </p:nvSpPr>
          <p:spPr>
            <a:xfrm>
              <a:off x="7721365" y="4755881"/>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3" name="弧形接點 42"/>
            <p:cNvCxnSpPr/>
            <p:nvPr/>
          </p:nvCxnSpPr>
          <p:spPr>
            <a:xfrm rot="5400000" flipH="1" flipV="1">
              <a:off x="8791531" y="3742869"/>
              <a:ext cx="142729" cy="195520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弧形接點 43"/>
            <p:cNvCxnSpPr/>
            <p:nvPr/>
          </p:nvCxnSpPr>
          <p:spPr>
            <a:xfrm rot="16200000" flipH="1">
              <a:off x="8835409" y="4001677"/>
              <a:ext cx="104402" cy="200463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字方塊 44"/>
            <p:cNvSpPr txBox="1"/>
            <p:nvPr/>
          </p:nvSpPr>
          <p:spPr>
            <a:xfrm>
              <a:off x="8720234" y="4081245"/>
              <a:ext cx="381847" cy="523220"/>
            </a:xfrm>
            <a:prstGeom prst="rect">
              <a:avLst/>
            </a:prstGeom>
            <a:noFill/>
          </p:spPr>
          <p:txBody>
            <a:bodyPr wrap="square" rtlCol="0">
              <a:spAutoFit/>
            </a:bodyPr>
            <a:lstStyle/>
            <a:p>
              <a:r>
                <a:rPr lang="en-US" altLang="zh-TW" sz="2800" dirty="0" smtClean="0"/>
                <a:t>c</a:t>
              </a:r>
              <a:endParaRPr lang="zh-TW" altLang="en-US" sz="2800" dirty="0"/>
            </a:p>
          </p:txBody>
        </p:sp>
        <p:sp>
          <p:nvSpPr>
            <p:cNvPr id="46" name="文字方塊 45"/>
            <p:cNvSpPr txBox="1"/>
            <p:nvPr/>
          </p:nvSpPr>
          <p:spPr>
            <a:xfrm>
              <a:off x="8313040" y="4592406"/>
              <a:ext cx="1571087" cy="523220"/>
            </a:xfrm>
            <a:prstGeom prst="rect">
              <a:avLst/>
            </a:prstGeom>
            <a:noFill/>
          </p:spPr>
          <p:txBody>
            <a:bodyPr wrap="square" rtlCol="0">
              <a:spAutoFit/>
            </a:bodyPr>
            <a:lstStyle/>
            <a:p>
              <a:r>
                <a:rPr lang="en-US" altLang="zh-TW" sz="2800" dirty="0" err="1" smtClean="0"/>
                <a:t>xawxabc</a:t>
              </a:r>
              <a:endParaRPr lang="zh-TW" altLang="en-US" sz="2800" dirty="0"/>
            </a:p>
          </p:txBody>
        </p:sp>
        <p:cxnSp>
          <p:nvCxnSpPr>
            <p:cNvPr id="47" name="弧形接點 46"/>
            <p:cNvCxnSpPr>
              <a:stCxn id="50" idx="4"/>
              <a:endCxn id="42" idx="0"/>
            </p:cNvCxnSpPr>
            <p:nvPr/>
          </p:nvCxnSpPr>
          <p:spPr>
            <a:xfrm rot="16200000" flipH="1">
              <a:off x="6970311" y="3880597"/>
              <a:ext cx="1215605" cy="534962"/>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5" name="弧形接點 84"/>
          <p:cNvCxnSpPr>
            <a:stCxn id="63" idx="3"/>
          </p:cNvCxnSpPr>
          <p:nvPr/>
        </p:nvCxnSpPr>
        <p:spPr>
          <a:xfrm rot="16200000" flipH="1">
            <a:off x="5793062" y="2530878"/>
            <a:ext cx="1889642" cy="349418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橢圓 85"/>
          <p:cNvSpPr/>
          <p:nvPr/>
        </p:nvSpPr>
        <p:spPr>
          <a:xfrm>
            <a:off x="8484973" y="5129342"/>
            <a:ext cx="248457" cy="20880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文字方塊 86"/>
          <p:cNvSpPr txBox="1"/>
          <p:nvPr/>
        </p:nvSpPr>
        <p:spPr>
          <a:xfrm>
            <a:off x="6582797" y="4337085"/>
            <a:ext cx="336952" cy="523220"/>
          </a:xfrm>
          <a:prstGeom prst="rect">
            <a:avLst/>
          </a:prstGeom>
          <a:noFill/>
        </p:spPr>
        <p:txBody>
          <a:bodyPr wrap="none" rtlCol="0">
            <a:spAutoFit/>
          </a:bodyPr>
          <a:lstStyle/>
          <a:p>
            <a:r>
              <a:rPr lang="en-US" altLang="zh-TW" sz="2800" dirty="0" smtClean="0">
                <a:solidFill>
                  <a:srgbClr val="FF0000"/>
                </a:solidFill>
              </a:rPr>
              <a:t>c</a:t>
            </a:r>
            <a:endParaRPr lang="zh-TW" altLang="en-US" sz="2800" dirty="0">
              <a:solidFill>
                <a:srgbClr val="FF0000"/>
              </a:solidFill>
            </a:endParaRPr>
          </a:p>
        </p:txBody>
      </p:sp>
    </p:spTree>
    <p:extLst>
      <p:ext uri="{BB962C8B-B14F-4D97-AF65-F5344CB8AC3E}">
        <p14:creationId xmlns:p14="http://schemas.microsoft.com/office/powerpoint/2010/main" val="1979607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複雜度分</a:t>
            </a:r>
            <a:r>
              <a:rPr lang="zh-TW" altLang="en-US" dirty="0"/>
              <a:t>析</a:t>
            </a:r>
          </a:p>
        </p:txBody>
      </p:sp>
      <p:sp>
        <p:nvSpPr>
          <p:cNvPr id="3" name="內容版面配置區 2"/>
          <p:cNvSpPr>
            <a:spLocks noGrp="1"/>
          </p:cNvSpPr>
          <p:nvPr>
            <p:ph idx="1"/>
          </p:nvPr>
        </p:nvSpPr>
        <p:spPr/>
        <p:txBody>
          <a:bodyPr/>
          <a:lstStyle/>
          <a:p>
            <a:r>
              <a:rPr lang="zh-TW" altLang="en-US" dirty="0" smtClean="0">
                <a:latin typeface="Cambria Math" panose="02040503050406030204" pitchFamily="18" charset="0"/>
              </a:rPr>
              <a:t>     如果</a:t>
            </a:r>
            <a:r>
              <a:rPr lang="en-US" altLang="zh-TW" dirty="0" smtClean="0">
                <a:latin typeface="Cambria Math" panose="02040503050406030204" pitchFamily="18" charset="0"/>
                <a:ea typeface="Cambria Math" panose="02040503050406030204" pitchFamily="18" charset="0"/>
              </a:rPr>
              <a:t>Text</a:t>
            </a:r>
            <a:r>
              <a:rPr lang="zh-TW" altLang="en-US" dirty="0" smtClean="0">
                <a:latin typeface="Cambria Math" panose="02040503050406030204" pitchFamily="18" charset="0"/>
              </a:rPr>
              <a:t>的長度為</a:t>
            </a:r>
            <a:r>
              <a:rPr lang="en-US" altLang="zh-TW" dirty="0" smtClean="0">
                <a:latin typeface="Cambria Math" panose="02040503050406030204" pitchFamily="18" charset="0"/>
                <a:ea typeface="Cambria Math" panose="02040503050406030204" pitchFamily="18" charset="0"/>
              </a:rPr>
              <a:t>n</a:t>
            </a:r>
            <a:r>
              <a:rPr lang="zh-TW" altLang="en-US" dirty="0" smtClean="0">
                <a:latin typeface="Cambria Math" panose="02040503050406030204" pitchFamily="18" charset="0"/>
              </a:rPr>
              <a:t>，則有</a:t>
            </a:r>
            <a:r>
              <a:rPr lang="en-US" altLang="zh-TW" dirty="0" smtClean="0">
                <a:latin typeface="Cambria Math" panose="02040503050406030204" pitchFamily="18" charset="0"/>
                <a:ea typeface="Cambria Math" panose="02040503050406030204" pitchFamily="18" charset="0"/>
              </a:rPr>
              <a:t>n</a:t>
            </a:r>
            <a:r>
              <a:rPr lang="zh-TW" altLang="en-US" dirty="0" smtClean="0">
                <a:latin typeface="Cambria Math" panose="02040503050406030204" pitchFamily="18" charset="0"/>
              </a:rPr>
              <a:t>步需要執行。在每一個步驟當中要麼甚麼也不做，只更新活動點以及</a:t>
            </a:r>
            <a:r>
              <a:rPr lang="en-US" altLang="zh-TW" dirty="0">
                <a:latin typeface="Cambria Math" panose="02040503050406030204" pitchFamily="18" charset="0"/>
                <a:ea typeface="Cambria Math" panose="02040503050406030204" pitchFamily="18" charset="0"/>
              </a:rPr>
              <a:t>remainder </a:t>
            </a:r>
            <a:r>
              <a:rPr lang="zh-TW" altLang="en-US" dirty="0" smtClean="0">
                <a:latin typeface="Cambria Math" panose="02040503050406030204" pitchFamily="18" charset="0"/>
              </a:rPr>
              <a:t>加一，要麼則</a:t>
            </a:r>
            <a:r>
              <a:rPr lang="en-US" altLang="zh-TW" dirty="0" smtClean="0">
                <a:latin typeface="Cambria Math" panose="02040503050406030204" pitchFamily="18" charset="0"/>
                <a:ea typeface="Cambria Math" panose="02040503050406030204" pitchFamily="18" charset="0"/>
              </a:rPr>
              <a:t>remainder</a:t>
            </a:r>
            <a:r>
              <a:rPr lang="zh-TW" altLang="en-US" dirty="0" smtClean="0">
                <a:latin typeface="Cambria Math" panose="02040503050406030204" pitchFamily="18" charset="0"/>
              </a:rPr>
              <a:t>執行插入操作，每次插入操作消耗</a:t>
            </a:r>
            <a:r>
              <a:rPr lang="en-US" altLang="zh-TW" dirty="0" smtClean="0">
                <a:latin typeface="Cambria Math" panose="02040503050406030204" pitchFamily="18" charset="0"/>
                <a:ea typeface="Cambria Math" panose="02040503050406030204" pitchFamily="18" charset="0"/>
              </a:rPr>
              <a:t>O(1)</a:t>
            </a:r>
            <a:r>
              <a:rPr lang="zh-TW" altLang="en-US" dirty="0" smtClean="0">
                <a:latin typeface="Cambria Math" panose="02040503050406030204" pitchFamily="18" charset="0"/>
              </a:rPr>
              <a:t>。</a:t>
            </a:r>
            <a:endParaRPr lang="en-US" altLang="zh-TW" dirty="0" smtClean="0">
              <a:latin typeface="Cambria Math" panose="02040503050406030204" pitchFamily="18" charset="0"/>
            </a:endParaRPr>
          </a:p>
          <a:p>
            <a:endParaRPr lang="en-US" altLang="zh-TW" dirty="0" smtClean="0">
              <a:latin typeface="Cambria Math" panose="02040503050406030204" pitchFamily="18" charset="0"/>
            </a:endParaRPr>
          </a:p>
          <a:p>
            <a:r>
              <a:rPr lang="en-US" altLang="zh-TW" dirty="0">
                <a:latin typeface="Cambria Math" panose="02040503050406030204" pitchFamily="18" charset="0"/>
              </a:rPr>
              <a:t> </a:t>
            </a:r>
            <a:r>
              <a:rPr lang="en-US" altLang="zh-TW" dirty="0" smtClean="0">
                <a:latin typeface="Cambria Math" panose="02040503050406030204" pitchFamily="18" charset="0"/>
              </a:rPr>
              <a:t>    </a:t>
            </a:r>
            <a:r>
              <a:rPr lang="zh-TW" altLang="en-US" dirty="0" smtClean="0">
                <a:latin typeface="Cambria Math" panose="02040503050406030204" pitchFamily="18" charset="0"/>
              </a:rPr>
              <a:t>當走訪完整個</a:t>
            </a:r>
            <a:r>
              <a:rPr lang="en-US" altLang="zh-TW" dirty="0" smtClean="0">
                <a:latin typeface="Cambria Math" panose="02040503050406030204" pitchFamily="18" charset="0"/>
              </a:rPr>
              <a:t>Text</a:t>
            </a:r>
            <a:r>
              <a:rPr lang="zh-TW" altLang="en-US" dirty="0" smtClean="0">
                <a:latin typeface="Cambria Math" panose="02040503050406030204" pitchFamily="18" charset="0"/>
              </a:rPr>
              <a:t>，則</a:t>
            </a:r>
            <a:r>
              <a:rPr lang="en-US" altLang="zh-TW" dirty="0" smtClean="0">
                <a:latin typeface="Cambria Math" panose="02040503050406030204" pitchFamily="18" charset="0"/>
              </a:rPr>
              <a:t>suffix</a:t>
            </a:r>
            <a:r>
              <a:rPr lang="zh-TW" altLang="en-US" dirty="0" smtClean="0">
                <a:latin typeface="Cambria Math" panose="02040503050406030204" pitchFamily="18" charset="0"/>
              </a:rPr>
              <a:t>也建立完畢，因此總體的複雜度為</a:t>
            </a:r>
            <a:r>
              <a:rPr lang="en-US" altLang="zh-TW" dirty="0" smtClean="0">
                <a:latin typeface="Cambria Math" panose="02040503050406030204" pitchFamily="18" charset="0"/>
              </a:rPr>
              <a:t>O(n)</a:t>
            </a:r>
            <a:r>
              <a:rPr lang="zh-TW" altLang="en-US" dirty="0" smtClean="0">
                <a:latin typeface="Cambria Math" panose="02040503050406030204" pitchFamily="18" charset="0"/>
              </a:rPr>
              <a:t>。</a:t>
            </a:r>
            <a:endParaRPr lang="en-US" altLang="zh-TW" dirty="0" smtClean="0">
              <a:latin typeface="Cambria Math" panose="02040503050406030204" pitchFamily="18" charset="0"/>
            </a:endParaRPr>
          </a:p>
          <a:p>
            <a:endParaRPr lang="zh-TW" altLang="en-US" dirty="0">
              <a:latin typeface="Cambria Math" panose="02040503050406030204" pitchFamily="18" charset="0"/>
            </a:endParaRPr>
          </a:p>
        </p:txBody>
      </p:sp>
    </p:spTree>
    <p:extLst>
      <p:ext uri="{BB962C8B-B14F-4D97-AF65-F5344CB8AC3E}">
        <p14:creationId xmlns:p14="http://schemas.microsoft.com/office/powerpoint/2010/main" val="621772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just"/>
            <a:r>
              <a:rPr lang="en-US" altLang="zh-TW" dirty="0" smtClean="0"/>
              <a:t>History</a:t>
            </a:r>
            <a:endParaRPr lang="zh-TW" altLang="en-US" dirty="0"/>
          </a:p>
        </p:txBody>
      </p:sp>
      <p:sp>
        <p:nvSpPr>
          <p:cNvPr id="3" name="內容版面配置區 2"/>
          <p:cNvSpPr>
            <a:spLocks noGrp="1"/>
          </p:cNvSpPr>
          <p:nvPr>
            <p:ph idx="1"/>
          </p:nvPr>
        </p:nvSpPr>
        <p:spPr>
          <a:xfrm>
            <a:off x="609560" y="1604844"/>
            <a:ext cx="10971688" cy="4853621"/>
          </a:xfrm>
        </p:spPr>
        <p:txBody>
          <a:bodyPr/>
          <a:lstStyle/>
          <a:p>
            <a:pPr>
              <a:lnSpc>
                <a:spcPct val="90000"/>
              </a:lnSpc>
            </a:pPr>
            <a:r>
              <a:rPr lang="en-US" altLang="zh-TW" dirty="0">
                <a:solidFill>
                  <a:schemeClr val="tx1"/>
                </a:solidFill>
                <a:latin typeface="Cambria Math" panose="02040503050406030204" pitchFamily="18" charset="0"/>
                <a:ea typeface="Cambria Math" panose="02040503050406030204" pitchFamily="18" charset="0"/>
              </a:rPr>
              <a:t>[Weiner, </a:t>
            </a:r>
            <a:r>
              <a:rPr lang="en-US" altLang="zh-TW" i="1" dirty="0">
                <a:solidFill>
                  <a:schemeClr val="tx1"/>
                </a:solidFill>
                <a:latin typeface="Cambria Math" panose="02040503050406030204" pitchFamily="18" charset="0"/>
                <a:ea typeface="Cambria Math" panose="02040503050406030204" pitchFamily="18" charset="0"/>
              </a:rPr>
              <a:t>IEEE FOCS</a:t>
            </a:r>
            <a:r>
              <a:rPr lang="en-US" altLang="zh-TW" dirty="0">
                <a:solidFill>
                  <a:schemeClr val="tx1"/>
                </a:solidFill>
                <a:latin typeface="Cambria Math" panose="02040503050406030204" pitchFamily="18" charset="0"/>
                <a:ea typeface="Cambria Math" panose="02040503050406030204" pitchFamily="18" charset="0"/>
              </a:rPr>
              <a:t> 1973]</a:t>
            </a:r>
          </a:p>
          <a:p>
            <a:pPr lvl="1"/>
            <a:r>
              <a:rPr lang="en-US" altLang="zh-TW" dirty="0">
                <a:solidFill>
                  <a:schemeClr val="tx1"/>
                </a:solidFill>
                <a:latin typeface="Cambria Math" panose="02040503050406030204" pitchFamily="18" charset="0"/>
                <a:ea typeface="Cambria Math" panose="02040503050406030204" pitchFamily="18" charset="0"/>
              </a:rPr>
              <a:t>Linear time but expensive in space.</a:t>
            </a:r>
          </a:p>
          <a:p>
            <a:pPr lvl="1"/>
            <a:r>
              <a:rPr lang="en-US" altLang="zh-TW" dirty="0">
                <a:solidFill>
                  <a:schemeClr val="tx1"/>
                </a:solidFill>
                <a:latin typeface="Cambria Math" panose="02040503050406030204" pitchFamily="18" charset="0"/>
                <a:ea typeface="Cambria Math" panose="02040503050406030204" pitchFamily="18" charset="0"/>
              </a:rPr>
              <a:t>D. E. Knuth: “the algorithm of 1973</a:t>
            </a:r>
            <a:r>
              <a:rPr lang="en-US" altLang="zh-TW" dirty="0" smtClean="0">
                <a:solidFill>
                  <a:schemeClr val="tx1"/>
                </a:solidFill>
                <a:latin typeface="Cambria Math" panose="02040503050406030204" pitchFamily="18" charset="0"/>
                <a:ea typeface="Cambria Math" panose="02040503050406030204" pitchFamily="18" charset="0"/>
              </a:rPr>
              <a:t>”.</a:t>
            </a:r>
          </a:p>
          <a:p>
            <a:pPr lvl="1"/>
            <a:endParaRPr lang="en-US" altLang="zh-TW" dirty="0">
              <a:solidFill>
                <a:schemeClr val="tx1"/>
              </a:solidFill>
              <a:latin typeface="Cambria Math" panose="02040503050406030204" pitchFamily="18" charset="0"/>
              <a:ea typeface="Cambria Math" panose="02040503050406030204" pitchFamily="18" charset="0"/>
            </a:endParaRPr>
          </a:p>
          <a:p>
            <a:pPr>
              <a:lnSpc>
                <a:spcPct val="90000"/>
              </a:lnSpc>
            </a:pPr>
            <a:r>
              <a:rPr lang="en-US" altLang="zh-TW" dirty="0" smtClean="0">
                <a:solidFill>
                  <a:schemeClr val="tx1"/>
                </a:solidFill>
                <a:latin typeface="Cambria Math" panose="02040503050406030204" pitchFamily="18" charset="0"/>
                <a:ea typeface="Cambria Math" panose="02040503050406030204" pitchFamily="18" charset="0"/>
              </a:rPr>
              <a:t>[</a:t>
            </a:r>
            <a:r>
              <a:rPr lang="en-US" altLang="zh-TW" dirty="0" err="1" smtClean="0">
                <a:solidFill>
                  <a:schemeClr val="tx1"/>
                </a:solidFill>
                <a:latin typeface="Cambria Math" panose="02040503050406030204" pitchFamily="18" charset="0"/>
                <a:ea typeface="Cambria Math" panose="02040503050406030204" pitchFamily="18" charset="0"/>
              </a:rPr>
              <a:t>McCreight</a:t>
            </a:r>
            <a:r>
              <a:rPr lang="en-US" altLang="zh-TW" dirty="0" smtClean="0">
                <a:solidFill>
                  <a:schemeClr val="tx1"/>
                </a:solidFill>
                <a:latin typeface="Cambria Math" panose="02040503050406030204" pitchFamily="18" charset="0"/>
                <a:ea typeface="Cambria Math" panose="02040503050406030204" pitchFamily="18" charset="0"/>
              </a:rPr>
              <a:t>, </a:t>
            </a:r>
            <a:r>
              <a:rPr lang="en-US" altLang="zh-TW" i="1" dirty="0" smtClean="0">
                <a:solidFill>
                  <a:schemeClr val="tx1"/>
                </a:solidFill>
                <a:latin typeface="Cambria Math" panose="02040503050406030204" pitchFamily="18" charset="0"/>
                <a:ea typeface="Cambria Math" panose="02040503050406030204" pitchFamily="18" charset="0"/>
              </a:rPr>
              <a:t>J. ACM</a:t>
            </a:r>
            <a:r>
              <a:rPr lang="en-US" altLang="zh-TW" dirty="0" smtClean="0">
                <a:solidFill>
                  <a:schemeClr val="tx1"/>
                </a:solidFill>
                <a:latin typeface="Cambria Math" panose="02040503050406030204" pitchFamily="18" charset="0"/>
                <a:ea typeface="Cambria Math" panose="02040503050406030204" pitchFamily="18" charset="0"/>
              </a:rPr>
              <a:t> 1976]</a:t>
            </a:r>
          </a:p>
          <a:p>
            <a:pPr lvl="1"/>
            <a:r>
              <a:rPr lang="en-US" altLang="zh-TW" dirty="0" smtClean="0">
                <a:solidFill>
                  <a:schemeClr val="tx1"/>
                </a:solidFill>
                <a:latin typeface="Cambria Math" panose="02040503050406030204" pitchFamily="18" charset="0"/>
                <a:ea typeface="Cambria Math" panose="02040503050406030204" pitchFamily="18" charset="0"/>
              </a:rPr>
              <a:t>Linear time and quadratic space.</a:t>
            </a:r>
          </a:p>
          <a:p>
            <a:pPr lvl="1"/>
            <a:endParaRPr lang="en-US" altLang="zh-TW" dirty="0" smtClean="0">
              <a:solidFill>
                <a:schemeClr val="tx1"/>
              </a:solidFill>
              <a:latin typeface="Cambria Math" panose="02040503050406030204" pitchFamily="18" charset="0"/>
              <a:ea typeface="Cambria Math" panose="02040503050406030204" pitchFamily="18" charset="0"/>
            </a:endParaRPr>
          </a:p>
          <a:p>
            <a:pPr>
              <a:lnSpc>
                <a:spcPct val="90000"/>
              </a:lnSpc>
            </a:pPr>
            <a:r>
              <a:rPr lang="en-US" altLang="zh-TW" dirty="0" smtClean="0">
                <a:solidFill>
                  <a:schemeClr val="tx1"/>
                </a:solidFill>
                <a:latin typeface="Cambria Math" panose="02040503050406030204" pitchFamily="18" charset="0"/>
                <a:ea typeface="Cambria Math" panose="02040503050406030204" pitchFamily="18" charset="0"/>
              </a:rPr>
              <a:t>[</a:t>
            </a:r>
            <a:r>
              <a:rPr lang="en-US" altLang="zh-TW" dirty="0" err="1" smtClean="0">
                <a:solidFill>
                  <a:schemeClr val="tx1"/>
                </a:solidFill>
                <a:latin typeface="Cambria Math" panose="02040503050406030204" pitchFamily="18" charset="0"/>
                <a:ea typeface="Cambria Math" panose="02040503050406030204" pitchFamily="18" charset="0"/>
              </a:rPr>
              <a:t>Ukkonen</a:t>
            </a:r>
            <a:r>
              <a:rPr lang="en-US" altLang="zh-TW" dirty="0" smtClean="0">
                <a:solidFill>
                  <a:schemeClr val="tx1"/>
                </a:solidFill>
                <a:latin typeface="Cambria Math" panose="02040503050406030204" pitchFamily="18" charset="0"/>
                <a:ea typeface="Cambria Math" panose="02040503050406030204" pitchFamily="18" charset="0"/>
              </a:rPr>
              <a:t>, </a:t>
            </a:r>
            <a:r>
              <a:rPr lang="en-US" altLang="zh-TW" i="1" dirty="0" err="1" smtClean="0">
                <a:solidFill>
                  <a:schemeClr val="tx1"/>
                </a:solidFill>
                <a:latin typeface="Cambria Math" panose="02040503050406030204" pitchFamily="18" charset="0"/>
                <a:ea typeface="Cambria Math" panose="02040503050406030204" pitchFamily="18" charset="0"/>
              </a:rPr>
              <a:t>Algorithmica</a:t>
            </a:r>
            <a:r>
              <a:rPr lang="en-US" altLang="zh-TW" dirty="0" smtClean="0">
                <a:solidFill>
                  <a:schemeClr val="tx1"/>
                </a:solidFill>
                <a:latin typeface="Cambria Math" panose="02040503050406030204" pitchFamily="18" charset="0"/>
                <a:ea typeface="Cambria Math" panose="02040503050406030204" pitchFamily="18" charset="0"/>
              </a:rPr>
              <a:t> 1995]</a:t>
            </a:r>
          </a:p>
          <a:p>
            <a:pPr lvl="1"/>
            <a:r>
              <a:rPr lang="en-US" altLang="zh-TW" dirty="0" smtClean="0">
                <a:solidFill>
                  <a:schemeClr val="tx1"/>
                </a:solidFill>
                <a:latin typeface="Cambria Math" panose="02040503050406030204" pitchFamily="18" charset="0"/>
                <a:ea typeface="Cambria Math" panose="02040503050406030204" pitchFamily="18" charset="0"/>
              </a:rPr>
              <a:t>Linear time and linear space.</a:t>
            </a:r>
          </a:p>
          <a:p>
            <a:pPr lvl="1"/>
            <a:r>
              <a:rPr lang="en-US" altLang="zh-TW" dirty="0" smtClean="0">
                <a:solidFill>
                  <a:schemeClr val="tx1"/>
                </a:solidFill>
                <a:latin typeface="Cambria Math" panose="02040503050406030204" pitchFamily="18" charset="0"/>
                <a:ea typeface="Cambria Math" panose="02040503050406030204" pitchFamily="18" charset="0"/>
              </a:rPr>
              <a:t>Much better readability.</a:t>
            </a:r>
            <a:endParaRPr lang="en-US" altLang="zh-TW"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191634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40th Anniversary of the Suffix Tree</a:t>
            </a:r>
          </a:p>
        </p:txBody>
      </p:sp>
      <p:sp>
        <p:nvSpPr>
          <p:cNvPr id="3" name="內容版面配置區 2"/>
          <p:cNvSpPr>
            <a:spLocks noGrp="1"/>
          </p:cNvSpPr>
          <p:nvPr>
            <p:ph idx="1"/>
          </p:nvPr>
        </p:nvSpPr>
        <p:spPr/>
        <p:txBody>
          <a:bodyPr/>
          <a:lstStyle/>
          <a:p>
            <a:r>
              <a:rPr lang="en-US" altLang="zh-TW" sz="1800" dirty="0">
                <a:latin typeface="Cambria Math" panose="02040503050406030204" pitchFamily="18" charset="0"/>
                <a:ea typeface="Cambria Math" panose="02040503050406030204" pitchFamily="18" charset="0"/>
              </a:rPr>
              <a:t>2013 marks the 40th anniversary of P. Weiner's foundational paper on suffix trees. CPM 2013 celebrates this event with a special session, organized by Martin </a:t>
            </a:r>
            <a:r>
              <a:rPr lang="en-US" altLang="zh-TW" sz="1800" dirty="0" err="1">
                <a:latin typeface="Cambria Math" panose="02040503050406030204" pitchFamily="18" charset="0"/>
                <a:ea typeface="Cambria Math" panose="02040503050406030204" pitchFamily="18" charset="0"/>
              </a:rPr>
              <a:t>Farach</a:t>
            </a:r>
            <a:r>
              <a:rPr lang="en-US" altLang="zh-TW" sz="1800" dirty="0">
                <a:latin typeface="Cambria Math" panose="02040503050406030204" pitchFamily="18" charset="0"/>
                <a:ea typeface="Cambria Math" panose="02040503050406030204" pitchFamily="18" charset="0"/>
              </a:rPr>
              <a:t>-Colton and S. </a:t>
            </a:r>
            <a:r>
              <a:rPr lang="en-US" altLang="zh-TW" sz="1800" dirty="0" err="1">
                <a:latin typeface="Cambria Math" panose="02040503050406030204" pitchFamily="18" charset="0"/>
                <a:ea typeface="Cambria Math" panose="02040503050406030204" pitchFamily="18" charset="0"/>
              </a:rPr>
              <a:t>Muthukrishnan</a:t>
            </a:r>
            <a:r>
              <a:rPr lang="en-US" altLang="zh-TW" sz="1800" dirty="0">
                <a:latin typeface="Cambria Math" panose="02040503050406030204" pitchFamily="18" charset="0"/>
                <a:ea typeface="Cambria Math" panose="02040503050406030204" pitchFamily="18" charset="0"/>
              </a:rPr>
              <a:t>. It includes talks by the following speakers</a:t>
            </a:r>
            <a:r>
              <a:rPr lang="en-US" altLang="zh-TW" sz="1800" dirty="0" smtClean="0">
                <a:latin typeface="Cambria Math" panose="02040503050406030204" pitchFamily="18" charset="0"/>
                <a:ea typeface="Cambria Math" panose="02040503050406030204" pitchFamily="18" charset="0"/>
              </a:rPr>
              <a:t>:</a:t>
            </a:r>
            <a:endParaRPr lang="en-US" altLang="zh-TW" sz="1800"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ltLang="zh-TW" sz="1800" dirty="0" smtClean="0">
                <a:latin typeface="Cambria Math" panose="02040503050406030204" pitchFamily="18" charset="0"/>
                <a:ea typeface="Cambria Math" panose="02040503050406030204" pitchFamily="18" charset="0"/>
              </a:rPr>
              <a:t>Edward </a:t>
            </a:r>
            <a:r>
              <a:rPr lang="en-US" altLang="zh-TW" sz="1800" dirty="0">
                <a:latin typeface="Cambria Math" panose="02040503050406030204" pitchFamily="18" charset="0"/>
                <a:ea typeface="Cambria Math" panose="02040503050406030204" pitchFamily="18" charset="0"/>
              </a:rPr>
              <a:t>M. </a:t>
            </a:r>
            <a:r>
              <a:rPr lang="en-US" altLang="zh-TW" sz="1800" dirty="0" err="1">
                <a:latin typeface="Cambria Math" panose="02040503050406030204" pitchFamily="18" charset="0"/>
                <a:ea typeface="Cambria Math" panose="02040503050406030204" pitchFamily="18" charset="0"/>
              </a:rPr>
              <a:t>McCreight</a:t>
            </a:r>
            <a:endParaRPr lang="en-US" altLang="zh-TW" sz="1800"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altLang="zh-TW" sz="1800" dirty="0">
                <a:latin typeface="Cambria Math" panose="02040503050406030204" pitchFamily="18" charset="0"/>
                <a:ea typeface="Cambria Math" panose="02040503050406030204" pitchFamily="18" charset="0"/>
              </a:rPr>
              <a:t>Vaughan R. Pratt</a:t>
            </a:r>
          </a:p>
          <a:p>
            <a:pPr marL="285750" indent="-285750">
              <a:buFont typeface="Arial" panose="020B0604020202020204" pitchFamily="34" charset="0"/>
              <a:buChar char="•"/>
            </a:pPr>
            <a:r>
              <a:rPr lang="en-US" altLang="zh-TW" sz="1800" dirty="0">
                <a:latin typeface="Cambria Math" panose="02040503050406030204" pitchFamily="18" charset="0"/>
                <a:ea typeface="Cambria Math" panose="02040503050406030204" pitchFamily="18" charset="0"/>
              </a:rPr>
              <a:t>Peter Weiner</a:t>
            </a:r>
          </a:p>
          <a:p>
            <a:pPr marL="285750" indent="-285750">
              <a:buFont typeface="Arial" panose="020B0604020202020204" pitchFamily="34" charset="0"/>
              <a:buChar char="•"/>
            </a:pPr>
            <a:r>
              <a:rPr lang="en-US" altLang="zh-TW" sz="1800" dirty="0">
                <a:latin typeface="Cambria Math" panose="02040503050406030204" pitchFamily="18" charset="0"/>
                <a:ea typeface="Cambria Math" panose="02040503050406030204" pitchFamily="18" charset="0"/>
              </a:rPr>
              <a:t>Jacob </a:t>
            </a:r>
            <a:r>
              <a:rPr lang="en-US" altLang="zh-TW" sz="1800" dirty="0" err="1">
                <a:latin typeface="Cambria Math" panose="02040503050406030204" pitchFamily="18" charset="0"/>
                <a:ea typeface="Cambria Math" panose="02040503050406030204" pitchFamily="18" charset="0"/>
              </a:rPr>
              <a:t>Ziv</a:t>
            </a:r>
            <a:endParaRPr lang="zh-TW" altLang="en-US" sz="1800" dirty="0">
              <a:latin typeface="Cambria Math" panose="02040503050406030204" pitchFamily="18" charset="0"/>
            </a:endParaRPr>
          </a:p>
        </p:txBody>
      </p:sp>
      <p:pic>
        <p:nvPicPr>
          <p:cNvPr id="4" name="圖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7558" y="2467490"/>
            <a:ext cx="7924799" cy="38463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文字方塊 4"/>
          <p:cNvSpPr txBox="1"/>
          <p:nvPr/>
        </p:nvSpPr>
        <p:spPr>
          <a:xfrm>
            <a:off x="4563762" y="6444973"/>
            <a:ext cx="6353855" cy="369332"/>
          </a:xfrm>
          <a:prstGeom prst="rect">
            <a:avLst/>
          </a:prstGeom>
          <a:noFill/>
        </p:spPr>
        <p:txBody>
          <a:bodyPr wrap="none" rtlCol="0">
            <a:spAutoFit/>
          </a:bodyPr>
          <a:lstStyle/>
          <a:p>
            <a:r>
              <a:rPr lang="en-US" altLang="zh-TW" dirty="0"/>
              <a:t>left to right: Vaughan Pratt, Peter Weiner, Ed </a:t>
            </a:r>
            <a:r>
              <a:rPr lang="en-US" altLang="zh-TW" dirty="0" err="1"/>
              <a:t>McCreight</a:t>
            </a:r>
            <a:r>
              <a:rPr lang="en-US" altLang="zh-TW" dirty="0"/>
              <a:t>, Jacob </a:t>
            </a:r>
            <a:r>
              <a:rPr lang="en-US" altLang="zh-TW" dirty="0" err="1"/>
              <a:t>Ziv</a:t>
            </a:r>
            <a:r>
              <a:rPr lang="en-US" altLang="zh-TW" dirty="0"/>
              <a:t>.</a:t>
            </a:r>
            <a:endParaRPr lang="zh-TW" altLang="en-US" dirty="0"/>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933" y="4605485"/>
            <a:ext cx="1708323" cy="1708323"/>
          </a:xfrm>
          <a:prstGeom prst="rect">
            <a:avLst/>
          </a:prstGeom>
          <a:ln>
            <a:noFill/>
          </a:ln>
          <a:effectLst>
            <a:outerShdw blurRad="292100" dist="139700" dir="2700000" algn="tl" rotWithShape="0">
              <a:srgbClr val="333333">
                <a:alpha val="65000"/>
              </a:srgbClr>
            </a:outerShdw>
          </a:effectLst>
        </p:spPr>
      </p:pic>
      <p:sp>
        <p:nvSpPr>
          <p:cNvPr id="7" name="文字方塊 6"/>
          <p:cNvSpPr txBox="1"/>
          <p:nvPr/>
        </p:nvSpPr>
        <p:spPr>
          <a:xfrm>
            <a:off x="864933" y="6488668"/>
            <a:ext cx="1761380" cy="369332"/>
          </a:xfrm>
          <a:prstGeom prst="rect">
            <a:avLst/>
          </a:prstGeom>
          <a:noFill/>
        </p:spPr>
        <p:txBody>
          <a:bodyPr wrap="none" rtlCol="0">
            <a:spAutoFit/>
          </a:bodyPr>
          <a:lstStyle/>
          <a:p>
            <a:pPr marL="285750" indent="-285750">
              <a:buFont typeface="Arial" panose="020B0604020202020204" pitchFamily="34" charset="0"/>
              <a:buChar char="•"/>
            </a:pPr>
            <a:r>
              <a:rPr lang="en-US" altLang="zh-TW">
                <a:latin typeface="Cambria Math" panose="02040503050406030204" pitchFamily="18" charset="0"/>
                <a:ea typeface="Cambria Math" panose="02040503050406030204" pitchFamily="18" charset="0"/>
              </a:rPr>
              <a:t>Peter Weiner</a:t>
            </a:r>
            <a:endParaRPr lang="en-US" altLang="zh-TW"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672336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1423</Words>
  <Application>Microsoft Office PowerPoint</Application>
  <PresentationFormat>寬螢幕</PresentationFormat>
  <Paragraphs>352</Paragraphs>
  <Slides>24</Slides>
  <Notes>3</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24</vt:i4>
      </vt:variant>
    </vt:vector>
  </HeadingPairs>
  <TitlesOfParts>
    <vt:vector size="36" baseType="lpstr">
      <vt:lpstr>Liberation Sans</vt:lpstr>
      <vt:lpstr>Liberation Sans Narrow</vt:lpstr>
      <vt:lpstr>Liberation Serif</vt:lpstr>
      <vt:lpstr>微軟正黑體</vt:lpstr>
      <vt:lpstr>新細明體</vt:lpstr>
      <vt:lpstr>Arial</vt:lpstr>
      <vt:lpstr>Calibri</vt:lpstr>
      <vt:lpstr>Cambria Math</vt:lpstr>
      <vt:lpstr>Mangal</vt:lpstr>
      <vt:lpstr>Tahoma</vt:lpstr>
      <vt:lpstr>Times New Roman</vt:lpstr>
      <vt:lpstr>預設</vt:lpstr>
      <vt:lpstr>Esko Ukkonen   Algorithmica, Vol. 14, No. 3, pp. 249-260, (1995) </vt:lpstr>
      <vt:lpstr>Abstract</vt:lpstr>
      <vt:lpstr>Suffix Tree</vt:lpstr>
      <vt:lpstr>Suffix Tree</vt:lpstr>
      <vt:lpstr>Implicit suffix tree and Explicit Suffix Tree</vt:lpstr>
      <vt:lpstr>Ukkonen's algorithm</vt:lpstr>
      <vt:lpstr>Ukkonen's algorithm</vt:lpstr>
      <vt:lpstr>Ukkonen's algorithm</vt:lpstr>
      <vt:lpstr>Ukkonen's algorithm</vt:lpstr>
      <vt:lpstr>Ukkonen's algorithm</vt:lpstr>
      <vt:lpstr>Ukkonen's algorithm</vt:lpstr>
      <vt:lpstr>Ukkonen's algorithm</vt:lpstr>
      <vt:lpstr>Ukkonen's algorithm</vt:lpstr>
      <vt:lpstr>Ukkonen's algorithm</vt:lpstr>
      <vt:lpstr>Ukkonen's algorithm</vt:lpstr>
      <vt:lpstr>Ukkonen's algorithm</vt:lpstr>
      <vt:lpstr>Ukkonen's algorithm</vt:lpstr>
      <vt:lpstr>Ukkonen's algorithm</vt:lpstr>
      <vt:lpstr>PowerPoint 簡報</vt:lpstr>
      <vt:lpstr>PowerPoint 簡報</vt:lpstr>
      <vt:lpstr>PowerPoint 簡報</vt:lpstr>
      <vt:lpstr>複雜度分析</vt:lpstr>
      <vt:lpstr>History</vt:lpstr>
      <vt:lpstr>40th Anniversary of the Suffix Tree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On-line construction of suffix trees </dc:title>
  <dc:creator>賴駿豪</dc:creator>
  <cp:lastModifiedBy>pplab-class</cp:lastModifiedBy>
  <cp:revision>43</cp:revision>
  <dcterms:created xsi:type="dcterms:W3CDTF">2015-12-23T03:54:43Z</dcterms:created>
  <dcterms:modified xsi:type="dcterms:W3CDTF">2015-12-23T11:16:41Z</dcterms:modified>
</cp:coreProperties>
</file>