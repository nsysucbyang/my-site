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336" r:id="rId6"/>
    <p:sldId id="337" r:id="rId7"/>
    <p:sldId id="338" r:id="rId8"/>
    <p:sldId id="339" r:id="rId9"/>
    <p:sldId id="340" r:id="rId10"/>
    <p:sldId id="342" r:id="rId11"/>
    <p:sldId id="343" r:id="rId12"/>
    <p:sldId id="341" r:id="rId13"/>
    <p:sldId id="344" r:id="rId14"/>
    <p:sldId id="345" r:id="rId15"/>
    <p:sldId id="350" r:id="rId16"/>
    <p:sldId id="347" r:id="rId17"/>
    <p:sldId id="346" r:id="rId18"/>
    <p:sldId id="351" r:id="rId19"/>
    <p:sldId id="352" r:id="rId20"/>
    <p:sldId id="353" r:id="rId2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99CC"/>
    <a:srgbClr val="C5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89" autoAdjust="0"/>
    <p:restoredTop sz="94660"/>
  </p:normalViewPr>
  <p:slideViewPr>
    <p:cSldViewPr snapToGrid="0">
      <p:cViewPr varScale="1">
        <p:scale>
          <a:sx n="84" d="100"/>
          <a:sy n="84" d="100"/>
        </p:scale>
        <p:origin x="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2015/12/23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67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2015/12/23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08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2015/12/23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904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2015/12/23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35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2015/12/23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187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2015/12/23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0125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2015/12/23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649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2015/12/23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9419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2015/12/23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180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2015/12/23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352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2015/12/23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009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65F44-F807-4518-89E2-C811281CE334}" type="datetimeFigureOut">
              <a:rPr lang="zh-TW" altLang="en-US" smtClean="0"/>
              <a:t>2015/12/23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30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598488" y="1286632"/>
            <a:ext cx="7772400" cy="147002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and Parallel Algorithms for the All-Substrings Longest Common Subsequence Problem</a:t>
            </a:r>
            <a:endParaRPr lang="zh-TW" altLang="en-US" sz="3200" dirty="0"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406525" y="3019431"/>
            <a:ext cx="6400800" cy="479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2000" dirty="0" smtClean="0"/>
              <a:t>C. E. R. Alves, E. N</a:t>
            </a:r>
            <a:r>
              <a:rPr lang="en-US" altLang="zh-TW" sz="2000" dirty="0"/>
              <a:t>. </a:t>
            </a:r>
            <a:r>
              <a:rPr lang="en-US" altLang="zh-TW" sz="2000" dirty="0" err="1" smtClean="0"/>
              <a:t>C´aceres</a:t>
            </a:r>
            <a:r>
              <a:rPr lang="en-US" altLang="zh-TW" sz="2000" dirty="0" smtClean="0"/>
              <a:t>, </a:t>
            </a:r>
            <a:r>
              <a:rPr lang="en-US" altLang="zh-TW" sz="2000" dirty="0"/>
              <a:t>S. W. Song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518640"/>
              </p:ext>
            </p:extLst>
          </p:nvPr>
        </p:nvGraphicFramePr>
        <p:xfrm>
          <a:off x="2698748" y="3848099"/>
          <a:ext cx="3816351" cy="1769571"/>
        </p:xfrm>
        <a:graphic>
          <a:graphicData uri="http://schemas.openxmlformats.org/drawingml/2006/table">
            <a:tbl>
              <a:tblPr/>
              <a:tblGrid>
                <a:gridCol w="3816351"/>
              </a:tblGrid>
              <a:tr h="84686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Technical Report RT-MAC-2003-03, Department of Computer Science, Institute of Mathematics and Statistics, University </a:t>
                      </a:r>
                      <a:r>
                        <a:rPr lang="en-US" altLang="zh-TW" smtClean="0"/>
                        <a:t>of </a:t>
                      </a:r>
                      <a:r>
                        <a:rPr lang="en-US" altLang="zh-TW" sz="18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São Paulo </a:t>
                      </a:r>
                      <a:r>
                        <a:rPr lang="en-US" altLang="zh-TW" smtClean="0"/>
                        <a:t>(</a:t>
                      </a:r>
                      <a:r>
                        <a:rPr lang="en-US" altLang="zh-TW" dirty="0" smtClean="0"/>
                        <a:t>2003)</a:t>
                      </a:r>
                      <a:endParaRPr lang="en-US" altLang="zh-TW" sz="180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2982910" y="5253638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Presenter:  </a:t>
            </a:r>
            <a:r>
              <a:rPr lang="en-US" altLang="zh-TW" sz="1800" dirty="0" smtClean="0"/>
              <a:t>Bi-</a:t>
            </a:r>
            <a:r>
              <a:rPr lang="en-US" altLang="zh-TW" sz="1800" dirty="0" err="1" smtClean="0"/>
              <a:t>Shiang</a:t>
            </a:r>
            <a:r>
              <a:rPr lang="en-US" altLang="zh-TW" sz="1800" dirty="0" smtClean="0"/>
              <a:t> Lin</a:t>
            </a:r>
            <a:endParaRPr lang="en-US" altLang="zh-TW" sz="1800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Date:</a:t>
            </a:r>
            <a:fld id="{F3590F60-3E7B-48AD-979A-345F224951B5}" type="datetime1">
              <a:rPr lang="zh-TW" altLang="en-US" sz="1800"/>
              <a:pPr algn="ctr" eaLnBrk="1" hangingPunct="1">
                <a:spcBef>
                  <a:spcPct val="0"/>
                </a:spcBef>
                <a:buFontTx/>
                <a:buNone/>
              </a:pPr>
              <a:t>2015/12/23</a:t>
            </a:fld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49466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algn="dist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two strings A and B of lengths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respectively, the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All-substrings Longest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Common Subsequence (ALCS) problem obtains, for any substring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B’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B,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length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longest string that is a subsequence of both A and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B’.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sequential algorithm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takes O(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time and O(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space.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r="-16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755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algn="dist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present a parallel algorithm for the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ALCS on the Coarse Grained Multicomputer (BSP/CGM) model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en-US" altLang="zh-TW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US" altLang="zh-TW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processors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that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O</m:t>
                    </m:r>
                    <m:d>
                      <m:d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</m:e>
                    </m:rad>
                    <m:r>
                      <a:rPr lang="en-US" altLang="zh-TW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per processor,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O</m:t>
                    </m:r>
                    <m:r>
                      <a:rPr lang="en-US" altLang="zh-TW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func>
                      <m:func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func>
                    <m:r>
                      <a:rPr lang="en-US" altLang="zh-TW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communication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rounds. The proposed algorithm also solves the basic Longest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Common Subsequence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(LCS) Problem that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finds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longest string (and not only its length)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is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subsequence of both A and B. To our knowledge, this is the best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BSP/CGM algorithm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the LCS and ALCS problems in the literature.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381" r="-3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8117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actat</a:t>
                </a: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tacat</a:t>
                </a: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Common Subsequence : at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cat…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Longest Common Subsequence : 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acat</a:t>
                </a: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389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內容版面配置區 2"/>
              <p:cNvSpPr txBox="1">
                <a:spLocks/>
              </p:cNvSpPr>
              <p:nvPr/>
            </p:nvSpPr>
            <p:spPr>
              <a:xfrm>
                <a:off x="628649" y="1825625"/>
                <a:ext cx="78867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Sequence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: </a:t>
                </a:r>
                <a:r>
                  <a:rPr lang="en-US" altLang="zh-TW" dirty="0" err="1" smtClean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abcb</a:t>
                </a: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Sequence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: </a:t>
                </a:r>
                <a:r>
                  <a:rPr lang="en-US" altLang="zh-TW" dirty="0" err="1" smtClean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bccbacba</a:t>
                </a:r>
                <a:endParaRPr lang="en-US" altLang="zh-TW" dirty="0" smtClean="0"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Substrings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: { </a:t>
                </a:r>
                <a:r>
                  <a:rPr lang="en-US" altLang="zh-TW" dirty="0" err="1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bccbac</a:t>
                </a:r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TW" dirty="0" err="1" smtClean="0"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ccba</a:t>
                </a:r>
                <a:r>
                  <a:rPr lang="zh-TW" altLang="en-US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TW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acb</a:t>
                </a:r>
                <a:r>
                  <a:rPr lang="zh-TW" altLang="en-US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…</a:t>
                </a: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}</a:t>
                </a:r>
              </a:p>
              <a:p>
                <a:pPr marL="0" indent="0">
                  <a:buNone/>
                </a:pPr>
                <a:endParaRPr lang="en-US" altLang="zh-TW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Find the LCS between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 and any substring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altLang="zh-TW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2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1825625"/>
                <a:ext cx="7886700" cy="4351338"/>
              </a:xfrm>
              <a:prstGeom prst="rect">
                <a:avLst/>
              </a:prstGeom>
              <a:blipFill rotWithShape="0"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49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GDAG for the ALCS problem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925138"/>
              </p:ext>
            </p:extLst>
          </p:nvPr>
        </p:nvGraphicFramePr>
        <p:xfrm>
          <a:off x="1403926" y="2308883"/>
          <a:ext cx="60960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文字方塊 9"/>
          <p:cNvSpPr txBox="1"/>
          <p:nvPr/>
        </p:nvSpPr>
        <p:spPr>
          <a:xfrm>
            <a:off x="4244176" y="1847218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A</a:t>
            </a:r>
            <a:endParaRPr lang="zh-TW" altLang="en-US" sz="24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6522392" y="1847218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B</a:t>
            </a:r>
            <a:endParaRPr lang="zh-TW" altLang="en-US" sz="24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1041326" y="2774335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B</a:t>
            </a:r>
            <a:endParaRPr lang="zh-TW" altLang="en-US" sz="2400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1041326" y="3519735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B</a:t>
            </a:r>
            <a:endParaRPr lang="zh-TW" altLang="en-US" sz="24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2735744" y="1847218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B</a:t>
            </a:r>
            <a:endParaRPr lang="zh-TW" altLang="en-US" sz="240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7289943" y="1847218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C</a:t>
            </a:r>
            <a:endParaRPr lang="zh-TW" altLang="en-US" sz="24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5752608" y="1847218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C</a:t>
            </a:r>
            <a:endParaRPr lang="zh-TW" altLang="en-US" sz="2400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1041326" y="3148158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C</a:t>
            </a:r>
            <a:endParaRPr lang="zh-TW" altLang="en-US" sz="2400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1041326" y="2350433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A</a:t>
            </a:r>
            <a:endParaRPr lang="zh-TW" altLang="en-US" sz="24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5019743" y="1847218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smtClean="0"/>
              <a:t>A</a:t>
            </a:r>
            <a:endParaRPr lang="zh-TW" altLang="en-US" sz="24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3498398" y="1847218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B</a:t>
            </a:r>
            <a:endParaRPr lang="zh-TW" altLang="en-US" sz="24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965960" y="1847218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A</a:t>
            </a:r>
            <a:endParaRPr lang="zh-TW" altLang="en-US" sz="24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1039638" y="1876748"/>
            <a:ext cx="758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(0,0)</a:t>
            </a:r>
            <a:endParaRPr lang="zh-TW" altLang="en-US" sz="24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7444793" y="3708892"/>
            <a:ext cx="7585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/>
              <a:t>(4,8)</a:t>
            </a:r>
            <a:endParaRPr lang="zh-TW" altLang="en-US" sz="2400" dirty="0"/>
          </a:p>
        </p:txBody>
      </p:sp>
      <p:cxnSp>
        <p:nvCxnSpPr>
          <p:cNvPr id="4" name="直線單箭頭接點 3"/>
          <p:cNvCxnSpPr/>
          <p:nvPr/>
        </p:nvCxnSpPr>
        <p:spPr>
          <a:xfrm>
            <a:off x="3674087" y="1589809"/>
            <a:ext cx="17124" cy="25740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 flipH="1">
            <a:off x="6677242" y="1589809"/>
            <a:ext cx="5318" cy="257409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1718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sz="4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7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0288095"/>
              </p:ext>
            </p:extLst>
          </p:nvPr>
        </p:nvGraphicFramePr>
        <p:xfrm>
          <a:off x="1524000" y="1690689"/>
          <a:ext cx="6096000" cy="457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49352">
                <a:tc>
                  <a:txBody>
                    <a:bodyPr/>
                    <a:lstStyle/>
                    <a:p>
                      <a:pPr algn="ctr"/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3</a:t>
                      </a:r>
                      <a:endParaRPr lang="zh-TW" altLang="en-US" sz="2400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3</a:t>
                      </a:r>
                      <a:endParaRPr lang="zh-TW" altLang="en-US" sz="2400" b="1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3</a:t>
                      </a:r>
                      <a:endParaRPr lang="zh-TW" altLang="en-US" sz="2400" b="1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4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3</a:t>
                      </a:r>
                      <a:endParaRPr lang="zh-TW" altLang="en-US" sz="2400" b="1" dirty="0"/>
                    </a:p>
                  </a:txBody>
                  <a:tcPr/>
                </a:tc>
              </a:tr>
              <a:tr h="1574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5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6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2</a:t>
                      </a:r>
                      <a:endParaRPr lang="zh-TW" altLang="en-US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7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1</a:t>
                      </a:r>
                      <a:endParaRPr lang="zh-TW" altLang="en-US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8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/>
                        <a:t>0</a:t>
                      </a:r>
                      <a:endParaRPr lang="zh-TW" altLang="en-US" sz="2400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3830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sz="4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7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9012438"/>
                  </p:ext>
                </p:extLst>
              </p:nvPr>
            </p:nvGraphicFramePr>
            <p:xfrm>
              <a:off x="2743200" y="1690689"/>
              <a:ext cx="3657600" cy="3698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149352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0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1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2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3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4</a:t>
                          </a:r>
                          <a:endParaRPr lang="zh-TW" altLang="en-US" b="1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0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0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1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2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3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7</a:t>
                          </a:r>
                          <a:endParaRPr lang="zh-TW" altLang="en-US" b="1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1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1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2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3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7</a:t>
                          </a:r>
                          <a:endParaRPr lang="zh-TW" altLang="en-US" b="1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2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2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3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6</a:t>
                          </a:r>
                          <a:endParaRPr lang="zh-TW" altLang="en-US" b="1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7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3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3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4</a:t>
                          </a:r>
                          <a:endParaRPr lang="zh-TW" altLang="en-US" b="1" dirty="0"/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6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7</a:t>
                          </a:r>
                          <a:endParaRPr lang="zh-TW" altLang="en-US" b="1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4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4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5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6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7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</a:txBody>
                      <a:tcPr/>
                    </a:tc>
                  </a:tr>
                  <a:tr h="157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5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5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6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7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6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6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7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8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7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7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8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8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8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9012438"/>
                  </p:ext>
                </p:extLst>
              </p:nvPr>
            </p:nvGraphicFramePr>
            <p:xfrm>
              <a:off x="2743200" y="1690689"/>
              <a:ext cx="3657600" cy="36982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09600"/>
                    <a:gridCol w="609600"/>
                    <a:gridCol w="609600"/>
                    <a:gridCol w="609600"/>
                    <a:gridCol w="609600"/>
                    <a:gridCol w="609600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0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1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2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3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4</a:t>
                          </a:r>
                          <a:endParaRPr lang="zh-TW" altLang="en-US" b="1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0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0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1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2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3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7</a:t>
                          </a:r>
                          <a:endParaRPr lang="zh-TW" altLang="en-US" b="1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1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1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2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3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7</a:t>
                          </a:r>
                          <a:endParaRPr lang="zh-TW" altLang="en-US" b="1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2000" t="-206557" r="-3000" b="-72131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2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2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3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6</a:t>
                          </a:r>
                          <a:endParaRPr lang="zh-TW" altLang="en-US" b="1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7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2000" t="-306557" r="-3000" b="-62131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3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3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4</a:t>
                          </a:r>
                          <a:endParaRPr lang="zh-TW" altLang="en-US" b="1" dirty="0"/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6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7</a:t>
                          </a:r>
                          <a:endParaRPr lang="zh-TW" altLang="en-US" b="1" dirty="0"/>
                        </a:p>
                      </a:txBody>
                      <a:tcPr>
                        <a:solidFill>
                          <a:srgbClr val="FF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2000" t="-406557" r="-3000" b="-52131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4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4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5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6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7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2000" t="-506557" r="-3000" b="-421311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5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5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6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7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02000" t="-616667" r="-103000" b="-3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2000" t="-616667" r="-3000" b="-328333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6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6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7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8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02000" t="-704918" r="-1030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2000" t="-704918" r="-3000" b="-2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7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7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8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2000" t="-804918" r="-203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02000" t="-804918" r="-103000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2000" t="-804918" r="-3000" b="-1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8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b="1" dirty="0" smtClean="0"/>
                            <a:t>8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2000" t="-904918" r="-303000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2000" t="-904918" r="-203000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02000" t="-904918" r="-103000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2000" t="-904918" r="-3000" b="-22951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5958671"/>
                  </p:ext>
                </p:extLst>
              </p:nvPr>
            </p:nvGraphicFramePr>
            <p:xfrm>
              <a:off x="1524000" y="5676392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62000"/>
                    <a:gridCol w="762000"/>
                    <a:gridCol w="762000"/>
                    <a:gridCol w="762000"/>
                    <a:gridCol w="762000"/>
                    <a:gridCol w="762000"/>
                    <a:gridCol w="762000"/>
                    <a:gridCol w="762000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1" dirty="0" smtClean="0"/>
                            <a:t>1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1" dirty="0" smtClean="0"/>
                            <a:t>5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TW" altLang="en-US" b="1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b="1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5958671"/>
                  </p:ext>
                </p:extLst>
              </p:nvPr>
            </p:nvGraphicFramePr>
            <p:xfrm>
              <a:off x="1524000" y="5676392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62000"/>
                    <a:gridCol w="762000"/>
                    <a:gridCol w="762000"/>
                    <a:gridCol w="762000"/>
                    <a:gridCol w="762000"/>
                    <a:gridCol w="762000"/>
                    <a:gridCol w="762000"/>
                    <a:gridCol w="762000"/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1" dirty="0" smtClean="0"/>
                            <a:t>1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2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TW" b="1" dirty="0" smtClean="0"/>
                            <a:t>5</a:t>
                          </a:r>
                          <a:endParaRPr lang="zh-TW" alt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7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600" t="-108197" r="-7024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6</a:t>
                          </a:r>
                          <a:endParaRPr lang="zh-TW" altLang="en-US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4</a:t>
                          </a:r>
                          <a:endParaRPr lang="zh-TW" altLang="en-US" dirty="0"/>
                        </a:p>
                      </a:txBody>
                      <a:tcPr>
                        <a:solidFill>
                          <a:srgbClr val="00B0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5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01600" t="-108197" r="-3024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smtClean="0"/>
                            <a:t>8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01600" t="-108197" r="-1024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01600" t="-108197" r="-2400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8735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altLang="zh-TW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、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altLang="zh-TW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797693"/>
              </p:ext>
            </p:extLst>
          </p:nvPr>
        </p:nvGraphicFramePr>
        <p:xfrm>
          <a:off x="1084464" y="3352323"/>
          <a:ext cx="2836720" cy="25729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344"/>
                <a:gridCol w="567344"/>
                <a:gridCol w="567344"/>
                <a:gridCol w="567344"/>
                <a:gridCol w="567344"/>
              </a:tblGrid>
              <a:tr h="42883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2883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2883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2883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28831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</a:tr>
              <a:tr h="42883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3867497" y="5853404"/>
            <a:ext cx="114300" cy="12469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/>
          </a:p>
        </p:txBody>
      </p:sp>
      <p:sp>
        <p:nvSpPr>
          <p:cNvPr id="6" name="橢圓 5"/>
          <p:cNvSpPr/>
          <p:nvPr/>
        </p:nvSpPr>
        <p:spPr>
          <a:xfrm>
            <a:off x="3280410" y="5853403"/>
            <a:ext cx="114300" cy="12469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/>
          </a:p>
        </p:txBody>
      </p:sp>
      <p:sp>
        <p:nvSpPr>
          <p:cNvPr id="7" name="橢圓 6"/>
          <p:cNvSpPr/>
          <p:nvPr/>
        </p:nvSpPr>
        <p:spPr>
          <a:xfrm>
            <a:off x="3867497" y="5448956"/>
            <a:ext cx="114300" cy="12469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/>
          </a:p>
        </p:txBody>
      </p:sp>
      <p:sp>
        <p:nvSpPr>
          <p:cNvPr id="8" name="文字方塊 7"/>
          <p:cNvSpPr txBox="1"/>
          <p:nvPr/>
        </p:nvSpPr>
        <p:spPr>
          <a:xfrm>
            <a:off x="758487" y="5647956"/>
            <a:ext cx="266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l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3784281" y="2851615"/>
            <a:ext cx="2712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/>
              <a:t>j</a:t>
            </a:r>
            <a:endParaRPr lang="zh-TW" altLang="en-US" sz="2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512027" y="2882788"/>
            <a:ext cx="266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err="1"/>
              <a:t>i</a:t>
            </a:r>
            <a:endParaRPr lang="zh-TW" altLang="en-US" sz="28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727314" y="309244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0</a:t>
            </a:r>
            <a:endParaRPr lang="zh-TW" altLang="en-US" sz="2800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571724"/>
              </p:ext>
            </p:extLst>
          </p:nvPr>
        </p:nvGraphicFramePr>
        <p:xfrm>
          <a:off x="4978187" y="3350798"/>
          <a:ext cx="2836720" cy="25729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344"/>
                <a:gridCol w="567344"/>
                <a:gridCol w="567344"/>
                <a:gridCol w="567344"/>
                <a:gridCol w="567344"/>
              </a:tblGrid>
              <a:tr h="42883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42883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2883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2883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28831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</a:tr>
              <a:tr h="428831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文字方塊 17"/>
          <p:cNvSpPr txBox="1"/>
          <p:nvPr/>
        </p:nvSpPr>
        <p:spPr>
          <a:xfrm>
            <a:off x="5345595" y="2861662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A</a:t>
            </a:r>
            <a:endParaRPr lang="zh-TW" altLang="en-US" sz="2800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6511799" y="2830822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A</a:t>
            </a:r>
            <a:endParaRPr lang="zh-TW" altLang="en-US" sz="280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4585131" y="4348766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A</a:t>
            </a:r>
            <a:endParaRPr lang="zh-TW" altLang="en-US" sz="280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4585131" y="4837902"/>
            <a:ext cx="393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A</a:t>
            </a:r>
            <a:endParaRPr lang="zh-TW" altLang="en-US" sz="2800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5927877" y="2861662"/>
            <a:ext cx="386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B</a:t>
            </a:r>
            <a:endParaRPr lang="zh-TW" altLang="en-US" sz="2800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4555293" y="3524494"/>
            <a:ext cx="386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B</a:t>
            </a:r>
            <a:endParaRPr lang="zh-TW" altLang="en-US" sz="28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4596193" y="5225415"/>
            <a:ext cx="386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B</a:t>
            </a:r>
            <a:endParaRPr lang="zh-TW" altLang="en-US" sz="28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7604847" y="2827578"/>
            <a:ext cx="386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B</a:t>
            </a:r>
            <a:endParaRPr lang="zh-TW" altLang="en-US" sz="28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7041619" y="2844620"/>
            <a:ext cx="386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</a:t>
            </a:r>
            <a:endParaRPr lang="zh-TW" altLang="en-US" sz="28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4573418" y="3957212"/>
            <a:ext cx="386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</a:t>
            </a:r>
            <a:endParaRPr lang="zh-TW" altLang="en-US" sz="28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4605599" y="5616923"/>
            <a:ext cx="386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C</a:t>
            </a:r>
            <a:endParaRPr lang="zh-TW" altLang="en-US" sz="2800" dirty="0"/>
          </a:p>
        </p:txBody>
      </p:sp>
      <p:sp>
        <p:nvSpPr>
          <p:cNvPr id="32" name="橢圓 31"/>
          <p:cNvSpPr/>
          <p:nvPr/>
        </p:nvSpPr>
        <p:spPr>
          <a:xfrm>
            <a:off x="6615553" y="4561052"/>
            <a:ext cx="114300" cy="12469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/>
          </a:p>
        </p:txBody>
      </p:sp>
      <p:sp>
        <p:nvSpPr>
          <p:cNvPr id="33" name="橢圓 32"/>
          <p:cNvSpPr/>
          <p:nvPr/>
        </p:nvSpPr>
        <p:spPr>
          <a:xfrm>
            <a:off x="6055898" y="4570195"/>
            <a:ext cx="114300" cy="12469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/>
          </a:p>
        </p:txBody>
      </p:sp>
      <p:sp>
        <p:nvSpPr>
          <p:cNvPr id="34" name="橢圓 33"/>
          <p:cNvSpPr/>
          <p:nvPr/>
        </p:nvSpPr>
        <p:spPr>
          <a:xfrm>
            <a:off x="6633841" y="4138316"/>
            <a:ext cx="114300" cy="124691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/>
          </a:p>
        </p:txBody>
      </p:sp>
    </p:spTree>
    <p:extLst>
      <p:ext uri="{BB962C8B-B14F-4D97-AF65-F5344CB8AC3E}">
        <p14:creationId xmlns:p14="http://schemas.microsoft.com/office/powerpoint/2010/main" val="2116548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059565"/>
            <a:ext cx="8305800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687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05600" cy="67627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297" y="4581525"/>
            <a:ext cx="3562350" cy="227647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686296" y="2945080"/>
            <a:ext cx="4271911" cy="1903971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442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𝑡𝑖𝑚𝑒</m:t>
                      </m:r>
                    </m:oMath>
                  </m:oMathPara>
                </a14:m>
                <a:endParaRPr lang="en-US" altLang="zh-TW" b="0" dirty="0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𝑠𝑝𝑎𝑐𝑒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 find the length of LCS 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𝑠𝑝𝑎𝑐𝑒</m:t>
                    </m:r>
                  </m:oMath>
                </a14:m>
                <a:r>
                  <a:rPr lang="en-US" altLang="zh-TW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 find the LCS )</a:t>
                </a:r>
              </a:p>
              <a:p>
                <a:pPr marL="0" indent="0">
                  <a:buNone/>
                </a:pPr>
                <a:endParaRPr lang="en-US" altLang="zh-TW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But, we can’t read any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constant time.</a:t>
                </a:r>
                <a:endParaRPr lang="en-US" altLang="zh-TW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7190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sz="4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Compact Structure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4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4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4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27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TW" b="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2" y="1592838"/>
            <a:ext cx="8905875" cy="4200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248240" y="5560576"/>
                <a:ext cx="7782323" cy="1232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representation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based 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b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𝐿𝑜𝑐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constructed in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TW" sz="24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time using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TW" sz="24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space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(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rad>
                    <m:r>
                      <a:rPr lang="en-US" altLang="zh-TW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)</m:t>
                    </m:r>
                  </m:oMath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40" y="5560576"/>
                <a:ext cx="7782323" cy="1232773"/>
              </a:xfrm>
              <a:prstGeom prst="rect">
                <a:avLst/>
              </a:prstGeom>
              <a:blipFill rotWithShape="0">
                <a:blip r:embed="rId4"/>
                <a:stretch>
                  <a:fillRect l="-1254" t="-2970" b="-94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5108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CGM Algorithm for the ALCS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內容版面配置區 1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3512" y="2146205"/>
            <a:ext cx="627697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464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CGM Algorithm for the ALCS</a:t>
            </a:r>
            <a:endParaRPr lang="zh-TW" altLang="en-US" sz="4000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5375" y="1690689"/>
            <a:ext cx="6953250" cy="4010025"/>
          </a:xfrm>
          <a:prstGeom prst="rect">
            <a:avLst/>
          </a:prstGeom>
        </p:spPr>
      </p:pic>
      <p:cxnSp>
        <p:nvCxnSpPr>
          <p:cNvPr id="6" name="直線接點 5"/>
          <p:cNvCxnSpPr/>
          <p:nvPr/>
        </p:nvCxnSpPr>
        <p:spPr>
          <a:xfrm>
            <a:off x="329184" y="3877056"/>
            <a:ext cx="7719441" cy="182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954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CGM Algorithm for the ALCS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1690689"/>
            <a:ext cx="6781800" cy="37147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627632" y="2240280"/>
            <a:ext cx="6199632" cy="2011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5207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CGM Algorithm for the ALCS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062" y="1825625"/>
            <a:ext cx="6619875" cy="364807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444752" y="2359152"/>
            <a:ext cx="2852928" cy="2194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/>
          <p:cNvSpPr/>
          <p:nvPr/>
        </p:nvSpPr>
        <p:spPr>
          <a:xfrm>
            <a:off x="4626864" y="2587751"/>
            <a:ext cx="237744" cy="246889"/>
          </a:xfrm>
          <a:prstGeom prst="ellipse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4626864" y="2834639"/>
            <a:ext cx="237744" cy="246889"/>
          </a:xfrm>
          <a:prstGeom prst="ellipse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626864" y="3063239"/>
            <a:ext cx="237744" cy="246889"/>
          </a:xfrm>
          <a:prstGeom prst="ellipse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4626864" y="2359151"/>
            <a:ext cx="237744" cy="246889"/>
          </a:xfrm>
          <a:prstGeom prst="ellipse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4626864" y="4434839"/>
            <a:ext cx="237744" cy="246889"/>
          </a:xfrm>
          <a:prstGeom prst="ellipse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3908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CGM Algorithm for the ALCS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12" y="1690689"/>
            <a:ext cx="7267575" cy="20764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938212" y="4379976"/>
                <a:ext cx="2186945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sz="2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TW" sz="24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sz="2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TW" sz="2400" b="0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TW" sz="240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altLang="zh-TW" sz="2400" b="0" i="0" dirty="0" smtClean="0">
                          <a:latin typeface="Cambria Math" panose="02040503050406030204" pitchFamily="18" charset="0"/>
                        </a:rPr>
                        <m:t>time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212" y="4379976"/>
                <a:ext cx="2186945" cy="92217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574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the blocks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062" y="1825625"/>
            <a:ext cx="6619875" cy="364807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517999" y="2139696"/>
            <a:ext cx="2852928" cy="6949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2944367" y="2103120"/>
            <a:ext cx="1408271" cy="246888"/>
          </a:xfrm>
          <a:prstGeom prst="ellipse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2474975" y="2345435"/>
            <a:ext cx="1408271" cy="246888"/>
          </a:xfrm>
          <a:prstGeom prst="ellipse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2023870" y="2567177"/>
            <a:ext cx="1408271" cy="246888"/>
          </a:xfrm>
          <a:prstGeom prst="ellipse">
            <a:avLst/>
          </a:prstGeom>
          <a:noFill/>
          <a:ln w="25400">
            <a:solidFill>
              <a:srgbClr val="00B0F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463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p processors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&lt;</m:t>
                        </m:r>
                        <m:rad>
                          <m:radPr>
                            <m:degHide m:val="on"/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zh-TW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sub>
                            </m:sSub>
                          </m:e>
                        </m:rad>
                        <m: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𝑛𝑒𝑒𝑑</m:t>
                    </m:r>
                  </m:oMath>
                </a14:m>
                <a:endParaRPr lang="en-US" altLang="zh-TW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  <m:r>
                      <a:rPr lang="en-US" altLang="zh-TW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</m:e>
                    </m:rad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3245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3285</TotalTime>
  <Words>417</Words>
  <Application>Microsoft Office PowerPoint</Application>
  <PresentationFormat>如螢幕大小 (4:3)</PresentationFormat>
  <Paragraphs>258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30" baseType="lpstr">
      <vt:lpstr>Arial Unicode MS</vt:lpstr>
      <vt:lpstr>KaiTi</vt:lpstr>
      <vt:lpstr>新細明體</vt:lpstr>
      <vt:lpstr>Arial</vt:lpstr>
      <vt:lpstr>Calibri</vt:lpstr>
      <vt:lpstr>Calibri Light</vt:lpstr>
      <vt:lpstr>Cambria Math</vt:lpstr>
      <vt:lpstr>Times New Roman</vt:lpstr>
      <vt:lpstr>Verdana</vt:lpstr>
      <vt:lpstr>Office 佈景主題</vt:lpstr>
      <vt:lpstr>PowerPoint 簡報</vt:lpstr>
      <vt:lpstr>Abstract(1/2)</vt:lpstr>
      <vt:lpstr>Abstract(2/2)</vt:lpstr>
      <vt:lpstr>The LCS Problem</vt:lpstr>
      <vt:lpstr>The ALCS Problem</vt:lpstr>
      <vt:lpstr>GDAG for the ALCS problem </vt:lpstr>
      <vt:lpstr>Table C_G</vt:lpstr>
      <vt:lpstr>Table D_G、Vector V_G</vt:lpstr>
      <vt:lpstr>The Sequential Algorithm</vt:lpstr>
      <vt:lpstr>The Sequential Algorithm</vt:lpstr>
      <vt:lpstr>PowerPoint 簡報</vt:lpstr>
      <vt:lpstr>The Sequential Algorithm</vt:lpstr>
      <vt:lpstr>Compact Structure for D_G</vt:lpstr>
      <vt:lpstr>The CGM Algorithm for the ALCS</vt:lpstr>
      <vt:lpstr>The CGM Algorithm for the ALCS</vt:lpstr>
      <vt:lpstr>The CGM Algorithm for the ALCS</vt:lpstr>
      <vt:lpstr>The CGM Algorithm for the ALCS</vt:lpstr>
      <vt:lpstr>The CGM Algorithm for the ALCS</vt:lpstr>
      <vt:lpstr>Contract the blocks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Bebe</dc:creator>
  <cp:lastModifiedBy>pplab-class</cp:lastModifiedBy>
  <cp:revision>265</cp:revision>
  <dcterms:created xsi:type="dcterms:W3CDTF">2015-06-30T03:57:49Z</dcterms:created>
  <dcterms:modified xsi:type="dcterms:W3CDTF">2015-12-23T12:01:35Z</dcterms:modified>
</cp:coreProperties>
</file>