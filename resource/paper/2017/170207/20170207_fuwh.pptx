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handoutMasterIdLst>
    <p:handoutMasterId r:id="rId15"/>
  </p:handoutMasterIdLst>
  <p:sldIdLst>
    <p:sldId id="256" r:id="rId2"/>
    <p:sldId id="258" r:id="rId3"/>
    <p:sldId id="259" r:id="rId4"/>
    <p:sldId id="260" r:id="rId5"/>
    <p:sldId id="269" r:id="rId6"/>
    <p:sldId id="270" r:id="rId7"/>
    <p:sldId id="271" r:id="rId8"/>
    <p:sldId id="261" r:id="rId9"/>
    <p:sldId id="262" r:id="rId10"/>
    <p:sldId id="263" r:id="rId11"/>
    <p:sldId id="266" r:id="rId12"/>
    <p:sldId id="267" r:id="rId13"/>
  </p:sldIdLst>
  <p:sldSz cx="10080625" cy="7559675"/>
  <p:notesSz cx="7559675" cy="106918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17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fu" initials="w" lastIdx="2"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AEFF7"/>
          </a:solidFill>
        </a:fill>
      </a:tcStyle>
    </a:wholeTbl>
    <a:band1H>
      <a:tcStyle>
        <a:tcBdr/>
        <a:fill>
          <a:solidFill>
            <a:srgbClr val="D2DEEF"/>
          </a:solidFill>
        </a:fill>
      </a:tcStyle>
    </a:band1H>
    <a:band2H>
      <a:tcStyle>
        <a:tcBdr/>
      </a:tcStyle>
    </a:band2H>
    <a:band1V>
      <a:tcStyle>
        <a:tcBdr/>
        <a:fill>
          <a:solidFill>
            <a:srgbClr val="D2DEEF"/>
          </a:solidFill>
        </a:fill>
      </a:tcStyle>
    </a:band1V>
    <a:band2V>
      <a:tcStyle>
        <a:tcBdr/>
      </a:tcStyle>
    </a:band2V>
    <a:lastCol>
      <a:tcTxStyle b="on">
        <a:font>
          <a:latin typeface="+mn-lt"/>
          <a:ea typeface="+mn-ea"/>
          <a:cs typeface="+mn-cs"/>
        </a:font>
        <a:srgbClr val="FFFFFF"/>
      </a:tcTxStyle>
      <a:tcStyle>
        <a:tcBdr/>
        <a:fill>
          <a:solidFill>
            <a:srgbClr val="5B9BD5"/>
          </a:solidFill>
        </a:fill>
      </a:tcStyle>
    </a:lastCol>
    <a:firstCol>
      <a:tcTxStyle b="on">
        <a:font>
          <a:latin typeface="+mn-lt"/>
          <a:ea typeface="+mn-ea"/>
          <a:cs typeface="+mn-cs"/>
        </a:font>
        <a:srgbClr val="FFFFFF"/>
      </a:tcTxStyle>
      <a:tcStyle>
        <a:tcBdr/>
        <a:fill>
          <a:solidFill>
            <a:srgbClr val="5B9BD5"/>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5B9BD5"/>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5B9BD5"/>
          </a:solidFill>
        </a:fill>
      </a:tcStyle>
    </a:firstRow>
  </a:tblStyle>
  <a:tblStyle styleId="{BC89EF96-8CEA-46FF-86C4-4CE0E7609802}" styleName="">
    <a:wholeTbl>
      <a:tcTxStyle>
        <a:font>
          <a:latin typeface="+mn-lt"/>
          <a:ea typeface="+mn-ea"/>
          <a:cs typeface="+mn-cs"/>
        </a:font>
        <a:srgbClr val="000000"/>
      </a:tcTxStyle>
      <a:tcStyle>
        <a:tcBdr>
          <a:left>
            <a:ln w="12701" cap="flat" cmpd="sng" algn="ctr">
              <a:solidFill>
                <a:srgbClr val="5B9BD5"/>
              </a:solidFill>
              <a:prstDash val="solid"/>
              <a:round/>
              <a:headEnd type="none" w="med" len="med"/>
              <a:tailEnd type="none" w="med" len="med"/>
            </a:ln>
          </a:left>
          <a:right>
            <a:ln w="12701" cap="flat" cmpd="sng" algn="ctr">
              <a:solidFill>
                <a:srgbClr val="5B9BD5"/>
              </a:solidFill>
              <a:prstDash val="solid"/>
              <a:round/>
              <a:headEnd type="none" w="med" len="med"/>
              <a:tailEnd type="none" w="med" len="med"/>
            </a:ln>
          </a:right>
          <a:top>
            <a:ln w="12701" cap="flat" cmpd="sng" algn="ctr">
              <a:solidFill>
                <a:srgbClr val="5B9BD5"/>
              </a:solidFill>
              <a:prstDash val="solid"/>
              <a:round/>
              <a:headEnd type="none" w="med" len="med"/>
              <a:tailEnd type="none" w="med" len="med"/>
            </a:ln>
          </a:top>
          <a:bottom>
            <a:ln w="12701" cap="flat" cmpd="sng" algn="ctr">
              <a:solidFill>
                <a:srgbClr val="5B9BD5"/>
              </a:solidFill>
              <a:prstDash val="solid"/>
              <a:round/>
              <a:headEnd type="none" w="med" len="med"/>
              <a:tailEnd type="none" w="med" len="med"/>
            </a:ln>
          </a:bottom>
        </a:tcBdr>
      </a:tcStyle>
    </a:wholeTbl>
    <a:band1H>
      <a:tcStyle>
        <a:tcBdr/>
        <a:fill>
          <a:solidFill>
            <a:srgbClr val="5B9BD5"/>
          </a:solidFill>
        </a:fill>
      </a:tcStyle>
    </a:band1H>
    <a:band1V>
      <a:tcStyle>
        <a:tcBdr/>
        <a:fill>
          <a:solidFill>
            <a:srgbClr val="5B9BD5"/>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5B9BD5"/>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5B9BD5"/>
              </a:solidFill>
              <a:prstDash val="solid"/>
              <a:round/>
              <a:headEnd type="none" w="med" len="med"/>
              <a:tailEnd type="none" w="med" len="med"/>
            </a:ln>
          </a:bottom>
        </a:tcBdr>
      </a:tcStyle>
    </a:firstRow>
  </a:tblStyle>
  <a:tblStyle styleId="{5940675A-B579-460E-94D1-54222C63F5DA}" styleName="">
    <a:wholeTbl>
      <a:tcTxStyle>
        <a:font>
          <a:latin typeface="+mn-lt"/>
          <a:ea typeface="+mn-ea"/>
          <a:cs typeface="+mn-cs"/>
        </a:font>
        <a:srgbClr val="000000"/>
      </a:tcTxStyle>
      <a:tcStyle>
        <a:tcBdr>
          <a:left>
            <a:ln w="12701" cap="flat" cmpd="sng" algn="ctr">
              <a:solidFill>
                <a:srgbClr val="000000"/>
              </a:solidFill>
              <a:prstDash val="solid"/>
              <a:round/>
              <a:headEnd type="none" w="med" len="med"/>
              <a:tailEnd type="none" w="med" len="med"/>
            </a:ln>
          </a:left>
          <a:right>
            <a:ln w="12701" cap="flat" cmpd="sng" algn="ctr">
              <a:solidFill>
                <a:srgbClr val="000000"/>
              </a:solidFill>
              <a:prstDash val="solid"/>
              <a:round/>
              <a:headEnd type="none" w="med" len="med"/>
              <a:tailEnd type="none" w="med" len="med"/>
            </a:ln>
          </a:right>
          <a:top>
            <a:ln w="12701" cap="flat" cmpd="sng" algn="ctr">
              <a:solidFill>
                <a:srgbClr val="000000"/>
              </a:solidFill>
              <a:prstDash val="solid"/>
              <a:round/>
              <a:headEnd type="none" w="med" len="med"/>
              <a:tailEnd type="none" w="med" len="med"/>
            </a:ln>
          </a:top>
          <a:bottom>
            <a:ln w="12701" cap="flat" cmpd="sng" algn="ctr">
              <a:solidFill>
                <a:srgbClr val="000000"/>
              </a:solidFill>
              <a:prstDash val="solid"/>
              <a:round/>
              <a:headEnd type="none" w="med" len="med"/>
              <a:tailEnd type="none" w="med" len="med"/>
            </a:ln>
          </a:bottom>
        </a:tcBdr>
      </a:tcStyle>
    </a:wholeTbl>
  </a:tblStyle>
  <a:tblStyle styleId="{E8B1032C-EA38-4F05-BA0D-38AFFFC7BED3}" styleName="">
    <a:wholeTbl>
      <a:tcTxStyle>
        <a:font>
          <a:latin typeface="+mn-lt"/>
          <a:ea typeface="+mn-ea"/>
          <a:cs typeface="+mn-cs"/>
        </a:font>
        <a:srgbClr val="000000"/>
      </a:tcTxStyle>
      <a:tcStyle>
        <a:tcBdr>
          <a:left>
            <a:ln w="12701" cap="flat" cmpd="sng" algn="ctr">
              <a:solidFill>
                <a:srgbClr val="70AD47"/>
              </a:solidFill>
              <a:prstDash val="solid"/>
              <a:round/>
              <a:headEnd type="none" w="med" len="med"/>
              <a:tailEnd type="none" w="med" len="med"/>
            </a:ln>
          </a:left>
          <a:right>
            <a:ln w="12701" cap="flat" cmpd="sng" algn="ctr">
              <a:solidFill>
                <a:srgbClr val="70AD47"/>
              </a:solidFill>
              <a:prstDash val="solid"/>
              <a:round/>
              <a:headEnd type="none" w="med" len="med"/>
              <a:tailEnd type="none" w="med" len="med"/>
            </a:ln>
          </a:right>
          <a:top>
            <a:ln w="12701" cap="flat" cmpd="sng" algn="ctr">
              <a:solidFill>
                <a:srgbClr val="70AD47"/>
              </a:solidFill>
              <a:prstDash val="solid"/>
              <a:round/>
              <a:headEnd type="none" w="med" len="med"/>
              <a:tailEnd type="none" w="med" len="med"/>
            </a:ln>
          </a:top>
          <a:bottom>
            <a:ln w="12701" cap="flat" cmpd="sng" algn="ctr">
              <a:solidFill>
                <a:srgbClr val="70AD47"/>
              </a:solidFill>
              <a:prstDash val="solid"/>
              <a:round/>
              <a:headEnd type="none" w="med" len="med"/>
              <a:tailEnd type="none" w="med" len="med"/>
            </a:ln>
          </a:bottom>
        </a:tcBdr>
      </a:tcStyle>
    </a:wholeTbl>
    <a:band1H>
      <a:tcStyle>
        <a:tcBdr/>
        <a:fill>
          <a:solidFill>
            <a:srgbClr val="70AD47"/>
          </a:solidFill>
        </a:fill>
      </a:tcStyle>
    </a:band1H>
    <a:band1V>
      <a:tcStyle>
        <a:tcBdr/>
        <a:fill>
          <a:solidFill>
            <a:srgbClr val="70AD47"/>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70AD47"/>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70AD47"/>
              </a:solidFill>
              <a:prstDash val="solid"/>
              <a:round/>
              <a:headEnd type="none" w="med" len="med"/>
              <a:tailEnd type="none" w="med" len="med"/>
            </a:ln>
          </a:bottom>
        </a:tcBdr>
      </a:tcStyle>
    </a:firstRow>
  </a:tblStyle>
  <a:tblStyle styleId="{5DA37D80-6434-44D0-A028-1B22A696006F}" styleName="">
    <a:wholeTbl>
      <a:tcTxStyle>
        <a:font>
          <a:latin typeface="+mn-lt"/>
          <a:ea typeface="+mn-ea"/>
          <a:cs typeface="+mn-cs"/>
        </a:font>
        <a:srgbClr val="000000"/>
      </a:tcTxStyle>
      <a:tcStyle>
        <a:tcBdr>
          <a:left>
            <a:ln w="12701" cap="flat" cmpd="sng" algn="ctr">
              <a:solidFill>
                <a:srgbClr val="ED7D31"/>
              </a:solidFill>
              <a:prstDash val="solid"/>
              <a:round/>
              <a:headEnd type="none" w="med" len="med"/>
              <a:tailEnd type="none" w="med" len="med"/>
            </a:ln>
          </a:left>
          <a:right>
            <a:ln w="12701" cap="flat" cmpd="sng" algn="ctr">
              <a:solidFill>
                <a:srgbClr val="ED7D31"/>
              </a:solidFill>
              <a:prstDash val="solid"/>
              <a:round/>
              <a:headEnd type="none" w="med" len="med"/>
              <a:tailEnd type="none" w="med" len="med"/>
            </a:ln>
          </a:right>
          <a:top>
            <a:ln w="12701" cap="flat" cmpd="sng" algn="ctr">
              <a:solidFill>
                <a:srgbClr val="ED7D31"/>
              </a:solidFill>
              <a:prstDash val="solid"/>
              <a:round/>
              <a:headEnd type="none" w="med" len="med"/>
              <a:tailEnd type="none" w="med" len="med"/>
            </a:ln>
          </a:top>
          <a:bottom>
            <a:ln w="12701" cap="flat" cmpd="sng" algn="ctr">
              <a:solidFill>
                <a:srgbClr val="ED7D31"/>
              </a:solidFill>
              <a:prstDash val="solid"/>
              <a:round/>
              <a:headEnd type="none" w="med" len="med"/>
              <a:tailEnd type="none" w="med" len="med"/>
            </a:ln>
          </a:bottom>
        </a:tcBdr>
      </a:tcStyle>
    </a:wholeTbl>
    <a:band1H>
      <a:tcStyle>
        <a:tcBdr/>
        <a:fill>
          <a:solidFill>
            <a:srgbClr val="ED7D31"/>
          </a:solidFill>
        </a:fill>
      </a:tcStyle>
    </a:band1H>
    <a:band1V>
      <a:tcStyle>
        <a:tcBdr/>
        <a:fill>
          <a:solidFill>
            <a:srgbClr val="ED7D31"/>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ED7D31"/>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ED7D31"/>
              </a:solidFill>
              <a:prstDash val="solid"/>
              <a:round/>
              <a:headEnd type="none" w="med" len="med"/>
              <a:tailEnd type="none" w="med" len="med"/>
            </a:ln>
          </a:bottom>
        </a:tcBdr>
      </a:tcStyle>
    </a:firstRow>
  </a:tblStyle>
  <a:tblStyle styleId="{EB344D84-9AFB-497E-A393-DC336BA19D2E}" styleName="">
    <a:wholeTbl>
      <a:tcTxStyle>
        <a:font>
          <a:latin typeface="+mn-lt"/>
          <a:ea typeface="+mn-ea"/>
          <a:cs typeface="+mn-cs"/>
        </a:font>
        <a:srgbClr val="000000"/>
      </a:tcTxStyle>
      <a:tcStyle>
        <a:tcBdr>
          <a:top>
            <a:ln w="25402" cap="flat" cmpd="sng" algn="ctr">
              <a:solidFill>
                <a:srgbClr val="000000"/>
              </a:solidFill>
              <a:prstDash val="solid"/>
              <a:round/>
              <a:headEnd type="none" w="med" len="med"/>
              <a:tailEnd type="none" w="med" len="med"/>
            </a:ln>
          </a:top>
          <a:bottom>
            <a:ln w="25402" cap="flat" cmpd="sng" algn="ctr">
              <a:solidFill>
                <a:srgbClr val="000000"/>
              </a:solidFill>
              <a:prstDash val="solid"/>
              <a:round/>
              <a:headEnd type="none" w="med" len="med"/>
              <a:tailEnd type="none" w="med" len="med"/>
            </a:ln>
          </a:bottom>
        </a:tcBdr>
        <a:fill>
          <a:solidFill>
            <a:srgbClr val="FFFFFF"/>
          </a:solidFill>
        </a:fill>
      </a:tcStyle>
    </a:wholeTbl>
    <a:band1H>
      <a:tcStyle>
        <a:tcBdr/>
        <a:fill>
          <a:solidFill>
            <a:srgbClr val="E7E7E7"/>
          </a:solidFill>
        </a:fill>
      </a:tcStyle>
    </a:band1H>
    <a:band1V>
      <a:tcStyle>
        <a:tcBdr/>
        <a:fill>
          <a:solidFill>
            <a:srgbClr val="E7E7E7"/>
          </a:solidFill>
        </a:fill>
      </a:tcStyle>
    </a:band1V>
    <a:lastCol>
      <a:tcTxStyle b="on">
        <a:font>
          <a:latin typeface="+mn-lt"/>
          <a:ea typeface="+mn-ea"/>
          <a:cs typeface="+mn-cs"/>
        </a:font>
        <a:srgbClr val="FFFFFF"/>
      </a:tcTxStyle>
      <a:tcStyle>
        <a:tcBdr/>
        <a:fill>
          <a:solidFill>
            <a:srgbClr val="A5A5A5"/>
          </a:solidFill>
        </a:fill>
      </a:tcStyle>
    </a:lastCol>
    <a:firstCol>
      <a:tcTxStyle b="on">
        <a:font>
          <a:latin typeface="+mn-lt"/>
          <a:ea typeface="+mn-ea"/>
          <a:cs typeface="+mn-cs"/>
        </a:font>
        <a:srgbClr val="FFFFFF"/>
      </a:tcTxStyle>
      <a:tcStyle>
        <a:tcBdr/>
        <a:fill>
          <a:solidFill>
            <a:srgbClr val="A5A5A5"/>
          </a:solidFill>
        </a:fill>
      </a:tcStyle>
    </a:firstCol>
    <a:lastRow>
      <a:tcTxStyle b="on">
        <a:font>
          <a:latin typeface=""/>
          <a:ea typeface=""/>
          <a:cs typeface=""/>
        </a:font>
      </a:tcTxStyle>
      <a:tcStyle>
        <a:tcBdr>
          <a:top>
            <a:ln w="50804" cap="flat" cmpd="dbl" algn="ctr">
              <a:solidFill>
                <a:srgbClr val="000000"/>
              </a:solidFill>
              <a:prstDash val="solid"/>
              <a:round/>
              <a:headEnd type="none" w="med" len="med"/>
              <a:tailEnd type="none" w="med" len="med"/>
            </a:ln>
          </a:top>
        </a:tcBdr>
        <a:fill>
          <a:solidFill>
            <a:srgbClr val="FFFFFF"/>
          </a:solidFill>
        </a:fill>
      </a:tcStyle>
    </a:lastRow>
    <a:firstRow>
      <a:tcTxStyle b="on">
        <a:font>
          <a:latin typeface="+mn-lt"/>
          <a:ea typeface="+mn-ea"/>
          <a:cs typeface="+mn-cs"/>
        </a:font>
        <a:srgbClr val="FFFFFF"/>
      </a:tcTxStyle>
      <a:tcStyle>
        <a:tcBdr>
          <a:bottom>
            <a:ln w="25402" cap="flat" cmpd="sng" algn="ctr">
              <a:solidFill>
                <a:srgbClr val="000000"/>
              </a:solidFill>
              <a:prstDash val="solid"/>
              <a:round/>
              <a:headEnd type="none" w="med" len="med"/>
              <a:tailEnd type="none" w="med" len="med"/>
            </a:ln>
          </a:bottom>
        </a:tcBdr>
        <a:fill>
          <a:solidFill>
            <a:srgbClr val="A5A5A5"/>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113A9D2-9D6B-4929-AA2D-F23B5EE8CBE7}" styleName="佈景主題樣式 2 - 輔色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佈景主題樣式 2 - 輔色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545" autoAdjust="0"/>
  </p:normalViewPr>
  <p:slideViewPr>
    <p:cSldViewPr snapToGrid="0">
      <p:cViewPr varScale="1">
        <p:scale>
          <a:sx n="90" d="100"/>
          <a:sy n="90" d="100"/>
        </p:scale>
        <p:origin x="330" y="84"/>
      </p:cViewPr>
      <p:guideLst>
        <p:guide orient="horz" pos="2381"/>
        <p:guide pos="31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頁首版面配置區 1"/>
          <p:cNvSpPr txBox="1">
            <a:spLocks noGrp="1"/>
          </p:cNvSpPr>
          <p:nvPr>
            <p:ph type="hdr" sz="quarter"/>
          </p:nvPr>
        </p:nvSpPr>
        <p:spPr>
          <a:xfrm>
            <a:off x="0" y="0"/>
            <a:ext cx="3280684" cy="534238"/>
          </a:xfrm>
          <a:prstGeom prst="rect">
            <a:avLst/>
          </a:prstGeom>
          <a:noFill/>
          <a:ln>
            <a:noFill/>
          </a:ln>
        </p:spPr>
        <p:txBody>
          <a:bodyPr vert="horz" wrap="non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3" name="日期版面配置區 2"/>
          <p:cNvSpPr txBox="1">
            <a:spLocks noGrp="1"/>
          </p:cNvSpPr>
          <p:nvPr>
            <p:ph type="dt" sz="quarter" idx="1"/>
          </p:nvPr>
        </p:nvSpPr>
        <p:spPr>
          <a:xfrm>
            <a:off x="4278962" y="0"/>
            <a:ext cx="3280684" cy="534238"/>
          </a:xfrm>
          <a:prstGeom prst="rect">
            <a:avLst/>
          </a:prstGeom>
          <a:noFill/>
          <a:ln>
            <a:noFill/>
          </a:ln>
        </p:spPr>
        <p:txBody>
          <a:bodyPr vert="horz" wrap="none" lIns="90004" tIns="44997" rIns="90004" bIns="44997" anchor="t"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4" name="頁尾版面配置區 3"/>
          <p:cNvSpPr txBox="1">
            <a:spLocks noGrp="1"/>
          </p:cNvSpPr>
          <p:nvPr>
            <p:ph type="ftr" sz="quarter" idx="2"/>
          </p:nvPr>
        </p:nvSpPr>
        <p:spPr>
          <a:xfrm>
            <a:off x="0" y="10157402"/>
            <a:ext cx="3280684" cy="534238"/>
          </a:xfrm>
          <a:prstGeom prst="rect">
            <a:avLst/>
          </a:prstGeom>
          <a:noFill/>
          <a:ln>
            <a:noFill/>
          </a:ln>
        </p:spPr>
        <p:txBody>
          <a:bodyPr vert="horz" wrap="none" lIns="90004" tIns="44997" rIns="90004" bIns="44997" anchor="b"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5" name="投影片編號版面配置區 4"/>
          <p:cNvSpPr txBox="1">
            <a:spLocks noGrp="1"/>
          </p:cNvSpPr>
          <p:nvPr>
            <p:ph type="sldNum" sz="quarter" idx="3"/>
          </p:nvPr>
        </p:nvSpPr>
        <p:spPr>
          <a:xfrm>
            <a:off x="4278962" y="10157402"/>
            <a:ext cx="3280684" cy="534238"/>
          </a:xfrm>
          <a:prstGeom prst="rect">
            <a:avLst/>
          </a:prstGeom>
          <a:noFill/>
          <a:ln>
            <a:noFill/>
          </a:ln>
        </p:spPr>
        <p:txBody>
          <a:bodyPr vert="horz" wrap="none" lIns="90004" tIns="44997" rIns="90004" bIns="44997" anchor="b"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fld id="{50227E8C-9554-460F-B633-51D5AD774E1F}" type="slidenum">
              <a:t>‹#›</a:t>
            </a:fld>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Tree>
    <p:extLst>
      <p:ext uri="{BB962C8B-B14F-4D97-AF65-F5344CB8AC3E}">
        <p14:creationId xmlns:p14="http://schemas.microsoft.com/office/powerpoint/2010/main" val="15513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idx="2"/>
          </p:nvPr>
        </p:nvSpPr>
        <p:spPr>
          <a:xfrm>
            <a:off x="1107000" y="812517"/>
            <a:ext cx="5345280" cy="4008958"/>
          </a:xfrm>
          <a:prstGeom prst="rect">
            <a:avLst/>
          </a:prstGeom>
          <a:noFill/>
          <a:ln>
            <a:noFill/>
            <a:prstDash val="solid"/>
          </a:ln>
        </p:spPr>
      </p:sp>
      <p:sp>
        <p:nvSpPr>
          <p:cNvPr id="3" name="備忘稿版面配置區 2"/>
          <p:cNvSpPr txBox="1">
            <a:spLocks noGrp="1"/>
          </p:cNvSpPr>
          <p:nvPr>
            <p:ph type="body" sz="quarter" idx="3"/>
          </p:nvPr>
        </p:nvSpPr>
        <p:spPr>
          <a:xfrm>
            <a:off x="755998" y="5078522"/>
            <a:ext cx="6047640" cy="4811042"/>
          </a:xfrm>
          <a:prstGeom prst="rect">
            <a:avLst/>
          </a:prstGeom>
          <a:noFill/>
          <a:ln>
            <a:noFill/>
          </a:ln>
        </p:spPr>
        <p:txBody>
          <a:bodyPr vert="horz" wrap="square" lIns="0" tIns="0" rIns="0" bIns="0" anchor="t" anchorCtr="0" compatLnSpc="1">
            <a:noAutofit/>
          </a:bodyPr>
          <a:lstStyle/>
          <a:p>
            <a:pPr lvl="0"/>
            <a:endParaRPr lang="en-US"/>
          </a:p>
        </p:txBody>
      </p:sp>
      <p:sp>
        <p:nvSpPr>
          <p:cNvPr id="4" name="頁首版面配置區 3"/>
          <p:cNvSpPr txBox="1">
            <a:spLocks noGrp="1"/>
          </p:cNvSpPr>
          <p:nvPr>
            <p:ph type="hdr" sz="quarter"/>
          </p:nvPr>
        </p:nvSpPr>
        <p:spPr>
          <a:xfrm>
            <a:off x="0" y="0"/>
            <a:ext cx="3280684" cy="534238"/>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5" name="日期版面配置區 4"/>
          <p:cNvSpPr txBox="1">
            <a:spLocks noGrp="1"/>
          </p:cNvSpPr>
          <p:nvPr>
            <p:ph type="dt" idx="1"/>
          </p:nvPr>
        </p:nvSpPr>
        <p:spPr>
          <a:xfrm>
            <a:off x="4278962" y="0"/>
            <a:ext cx="3280684" cy="534238"/>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6" name="頁尾版面配置區 5"/>
          <p:cNvSpPr txBox="1">
            <a:spLocks noGrp="1"/>
          </p:cNvSpPr>
          <p:nvPr>
            <p:ph type="ftr" sz="quarter" idx="4"/>
          </p:nvPr>
        </p:nvSpPr>
        <p:spPr>
          <a:xfrm>
            <a:off x="0" y="10157402"/>
            <a:ext cx="3280684" cy="534238"/>
          </a:xfrm>
          <a:prstGeom prst="rect">
            <a:avLst/>
          </a:prstGeom>
          <a:noFill/>
          <a:ln>
            <a:noFill/>
          </a:ln>
        </p:spPr>
        <p:txBody>
          <a:bodyPr vert="horz" wrap="square" lIns="0" tIns="0" rIns="0" bIns="0" anchor="b"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7" name="投影片編號版面配置區 6"/>
          <p:cNvSpPr txBox="1">
            <a:spLocks noGrp="1"/>
          </p:cNvSpPr>
          <p:nvPr>
            <p:ph type="sldNum" sz="quarter" idx="5"/>
          </p:nvPr>
        </p:nvSpPr>
        <p:spPr>
          <a:xfrm>
            <a:off x="4278962" y="10157402"/>
            <a:ext cx="3280684" cy="534238"/>
          </a:xfrm>
          <a:prstGeom prst="rect">
            <a:avLst/>
          </a:prstGeom>
          <a:noFill/>
          <a:ln>
            <a:noFill/>
          </a:ln>
        </p:spPr>
        <p:txBody>
          <a:bodyPr vert="horz" wrap="square" lIns="0" tIns="0" rIns="0" bIns="0" anchor="b"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fld id="{78A57073-AB8B-4F7A-BB5E-FAEF8A970D70}" type="slidenum">
              <a:t>‹#›</a:t>
            </a:fld>
            <a:endParaRPr lang="en-US"/>
          </a:p>
        </p:txBody>
      </p:sp>
    </p:spTree>
    <p:extLst>
      <p:ext uri="{BB962C8B-B14F-4D97-AF65-F5344CB8AC3E}">
        <p14:creationId xmlns:p14="http://schemas.microsoft.com/office/powerpoint/2010/main" val="1409133388"/>
      </p:ext>
    </p:extLst>
  </p:cSld>
  <p:clrMap bg1="lt1" tx1="dk1" bg2="lt2" tx2="dk2" accent1="accent1" accent2="accent2" accent3="accent3" accent4="accent4" accent5="accent5" accent6="accent6" hlink="hlink" folHlink="folHlink"/>
  <p:notesStyle>
    <a:lvl1pPr marL="215999" marR="0" lvl="0" indent="-215999" defTabSz="914400" rtl="0" fontAlgn="auto" hangingPunct="0">
      <a:lnSpc>
        <a:spcPct val="100000"/>
      </a:lnSpc>
      <a:spcBef>
        <a:spcPts val="0"/>
      </a:spcBef>
      <a:spcAft>
        <a:spcPts val="0"/>
      </a:spcAft>
      <a:buNone/>
      <a:tabLst/>
      <a:defRPr lang="en-US" sz="20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6"/>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044E8A48-0BB3-4429-A23E-981E055DBE4D}" type="slidenum">
              <a:t>1</a:t>
            </a:fld>
            <a:endParaRPr lang="en-US" sz="1400" b="0" i="0" u="none" strike="noStrike" kern="1200" cap="none" spc="0" baseline="0">
              <a:solidFill>
                <a:srgbClr val="000000"/>
              </a:solidFill>
              <a:uFillTx/>
              <a:latin typeface="Liberation Serif" pitchFamily="18"/>
              <a:ea typeface="新細明體" pitchFamily="2"/>
              <a:cs typeface="Tahoma" pitchFamily="2"/>
            </a:endParaRPr>
          </a:p>
        </p:txBody>
      </p:sp>
      <p:sp>
        <p:nvSpPr>
          <p:cNvPr id="3" name="投影片圖像版面配置區 1"/>
          <p:cNvSpPr>
            <a:spLocks noGrp="1" noRot="1" noChangeAspect="1"/>
          </p:cNvSpPr>
          <p:nvPr>
            <p:ph type="sldImg"/>
          </p:nvPr>
        </p:nvSpPr>
        <p:spPr>
          <a:xfrm>
            <a:off x="1106488" y="812800"/>
            <a:ext cx="5345112" cy="4008438"/>
          </a:xfrm>
          <a:solidFill>
            <a:srgbClr val="729FCF"/>
          </a:solidFill>
          <a:ln w="25402">
            <a:solidFill>
              <a:srgbClr val="3465A4"/>
            </a:solidFill>
            <a:prstDash val="solid"/>
          </a:ln>
        </p:spPr>
      </p:sp>
      <p:sp>
        <p:nvSpPr>
          <p:cNvPr id="4" name="備忘稿版面配置區 2"/>
          <p:cNvSpPr txBox="1">
            <a:spLocks noGrp="1"/>
          </p:cNvSpPr>
          <p:nvPr>
            <p:ph type="body" sz="quarter" idx="1"/>
          </p:nvPr>
        </p:nvSpPr>
        <p:spPr/>
        <p:txBody>
          <a:bodyPr/>
          <a:lstStyle/>
          <a:p>
            <a:endParaRPr lang="zh-TW" altLang="en-US"/>
          </a:p>
        </p:txBody>
      </p:sp>
    </p:spTree>
    <p:extLst>
      <p:ext uri="{BB962C8B-B14F-4D97-AF65-F5344CB8AC3E}">
        <p14:creationId xmlns:p14="http://schemas.microsoft.com/office/powerpoint/2010/main" val="1574662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r>
              <a:rPr lang="en-US" altLang="zh-TW" dirty="0"/>
              <a:t>Median</a:t>
            </a:r>
            <a:r>
              <a:rPr lang="en-US" altLang="zh-TW" baseline="0" dirty="0"/>
              <a:t> Cut Algorithm:</a:t>
            </a:r>
          </a:p>
          <a:p>
            <a:r>
              <a:rPr lang="en-US" altLang="zh-TW" baseline="0" dirty="0"/>
              <a:t>	</a:t>
            </a:r>
            <a:r>
              <a:rPr lang="zh-TW" altLang="en-US" baseline="0" dirty="0"/>
              <a:t>參考資料</a:t>
            </a:r>
            <a:r>
              <a:rPr lang="en-US" altLang="zh-TW" baseline="0" dirty="0"/>
              <a:t>:http://acm.nudt.edu.cn/~</a:t>
            </a:r>
            <a:r>
              <a:rPr lang="en-US" altLang="zh-TW" baseline="0" dirty="0" err="1"/>
              <a:t>twcourse</a:t>
            </a:r>
            <a:r>
              <a:rPr lang="en-US" altLang="zh-TW" baseline="0" dirty="0"/>
              <a:t>/ColorQuantization.html</a:t>
            </a:r>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9</a:t>
            </a:fld>
            <a:endParaRPr lang="zh-TW" altLang="en-US"/>
          </a:p>
        </p:txBody>
      </p:sp>
    </p:spTree>
    <p:extLst>
      <p:ext uri="{BB962C8B-B14F-4D97-AF65-F5344CB8AC3E}">
        <p14:creationId xmlns:p14="http://schemas.microsoft.com/office/powerpoint/2010/main" val="3611089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r>
              <a:rPr lang="en-US" altLang="zh-TW" sz="2000" b="0" i="0" u="none" strike="noStrike" kern="1200" cap="none" spc="0" baseline="0" dirty="0" err="1">
                <a:solidFill>
                  <a:srgbClr val="000000"/>
                </a:solidFill>
                <a:highlight>
                  <a:scrgbClr r="0" g="0" b="0">
                    <a:alpha val="0"/>
                  </a:scrgbClr>
                </a:highlight>
                <a:uFillTx/>
                <a:latin typeface="Liberation Sans" pitchFamily="18"/>
                <a:ea typeface="微軟正黑體" pitchFamily="2"/>
                <a:cs typeface="Mangal" pitchFamily="2"/>
              </a:rPr>
              <a:t>MiAP</a:t>
            </a:r>
            <a:r>
              <a:rPr lang="en-US" altLang="zh-TW" sz="2000" b="0" i="0" u="none" strike="noStrike" kern="1200" cap="none" spc="0" baseline="0" dirty="0">
                <a:solidFill>
                  <a:srgbClr val="000000"/>
                </a:solidFill>
                <a:highlight>
                  <a:scrgbClr r="0" g="0" b="0">
                    <a:alpha val="0"/>
                  </a:scrgbClr>
                </a:highlight>
                <a:uFillTx/>
                <a:latin typeface="Liberation Sans" pitchFamily="18"/>
                <a:ea typeface="微軟正黑體" pitchFamily="2"/>
                <a:cs typeface="Mangal" pitchFamily="2"/>
              </a:rPr>
              <a:t> (Mean interpolated Average Precision)</a:t>
            </a:r>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11</a:t>
            </a:fld>
            <a:endParaRPr lang="zh-TW" altLang="en-US"/>
          </a:p>
        </p:txBody>
      </p:sp>
    </p:spTree>
    <p:extLst>
      <p:ext uri="{BB962C8B-B14F-4D97-AF65-F5344CB8AC3E}">
        <p14:creationId xmlns:p14="http://schemas.microsoft.com/office/powerpoint/2010/main" val="3592807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r>
              <a:rPr lang="en-US" altLang="zh-TW" sz="2000" b="0" i="0" u="none" strike="noStrike" kern="1200" cap="none" spc="0" baseline="0" dirty="0" err="1">
                <a:solidFill>
                  <a:srgbClr val="000000"/>
                </a:solidFill>
                <a:highlight>
                  <a:scrgbClr r="0" g="0" b="0">
                    <a:alpha val="0"/>
                  </a:scrgbClr>
                </a:highlight>
                <a:uFillTx/>
                <a:latin typeface="Liberation Sans" pitchFamily="18"/>
                <a:ea typeface="微軟正黑體" pitchFamily="2"/>
                <a:cs typeface="Mangal" pitchFamily="2"/>
              </a:rPr>
              <a:t>MiAP</a:t>
            </a:r>
            <a:r>
              <a:rPr lang="en-US" altLang="zh-TW" sz="2000" b="0" i="0" u="none" strike="noStrike" kern="1200" cap="none" spc="0" baseline="0" dirty="0">
                <a:solidFill>
                  <a:srgbClr val="000000"/>
                </a:solidFill>
                <a:highlight>
                  <a:scrgbClr r="0" g="0" b="0">
                    <a:alpha val="0"/>
                  </a:scrgbClr>
                </a:highlight>
                <a:uFillTx/>
                <a:latin typeface="Liberation Sans" pitchFamily="18"/>
                <a:ea typeface="微軟正黑體" pitchFamily="2"/>
                <a:cs typeface="Mangal" pitchFamily="2"/>
              </a:rPr>
              <a:t> (Mean interpolated Average Precision)</a:t>
            </a:r>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12</a:t>
            </a:fld>
            <a:endParaRPr lang="zh-TW" altLang="en-US"/>
          </a:p>
        </p:txBody>
      </p:sp>
    </p:spTree>
    <p:extLst>
      <p:ext uri="{BB962C8B-B14F-4D97-AF65-F5344CB8AC3E}">
        <p14:creationId xmlns:p14="http://schemas.microsoft.com/office/powerpoint/2010/main" val="3592807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txBox="1">
            <a:spLocks noGrp="1"/>
          </p:cNvSpPr>
          <p:nvPr>
            <p:ph type="ctrTitle"/>
          </p:nvPr>
        </p:nvSpPr>
        <p:spPr>
          <a:xfrm>
            <a:off x="1260472" y="1236661"/>
            <a:ext cx="7559673" cy="2632072"/>
          </a:xfrm>
        </p:spPr>
        <p:txBody>
          <a:bodyPr anchor="b"/>
          <a:lstStyle>
            <a:lvl1pPr>
              <a:defRPr lang="zh-TW" sz="6000"/>
            </a:lvl1pPr>
          </a:lstStyle>
          <a:p>
            <a:pPr lvl="0"/>
            <a:r>
              <a:rPr lang="zh-TW"/>
              <a:t>按一下以編輯母片標題樣式</a:t>
            </a:r>
            <a:endParaRPr lang="en-US"/>
          </a:p>
        </p:txBody>
      </p:sp>
      <p:sp>
        <p:nvSpPr>
          <p:cNvPr id="3" name="副標題 2"/>
          <p:cNvSpPr txBox="1">
            <a:spLocks noGrp="1"/>
          </p:cNvSpPr>
          <p:nvPr>
            <p:ph type="subTitle" idx="1"/>
          </p:nvPr>
        </p:nvSpPr>
        <p:spPr>
          <a:xfrm>
            <a:off x="1260472" y="3970333"/>
            <a:ext cx="7559673" cy="1825627"/>
          </a:xfrm>
        </p:spPr>
        <p:txBody>
          <a:bodyPr anchorCtr="1"/>
          <a:lstStyle>
            <a:lvl1pPr algn="ctr">
              <a:defRPr sz="2400"/>
            </a:lvl1pPr>
          </a:lstStyle>
          <a:p>
            <a:pPr lvl="0"/>
            <a:r>
              <a:rPr lang="zh-TW"/>
              <a:t>按一下以編輯母片副標題樣式</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AE6BFC27-068B-4B72-92F7-9C821F0A3E7B}" type="slidenum">
              <a:t>‹#›</a:t>
            </a:fld>
            <a:endParaRPr lang="en-US"/>
          </a:p>
        </p:txBody>
      </p:sp>
    </p:spTree>
    <p:extLst>
      <p:ext uri="{BB962C8B-B14F-4D97-AF65-F5344CB8AC3E}">
        <p14:creationId xmlns:p14="http://schemas.microsoft.com/office/powerpoint/2010/main" val="345342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68842836-F473-4F88-8FC5-E6506225DA8A}" type="slidenum">
              <a:t>‹#›</a:t>
            </a:fld>
            <a:endParaRPr lang="en-US"/>
          </a:p>
        </p:txBody>
      </p:sp>
    </p:spTree>
    <p:extLst>
      <p:ext uri="{BB962C8B-B14F-4D97-AF65-F5344CB8AC3E}">
        <p14:creationId xmlns:p14="http://schemas.microsoft.com/office/powerpoint/2010/main" val="2282692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txBox="1">
            <a:spLocks noGrp="1"/>
          </p:cNvSpPr>
          <p:nvPr>
            <p:ph type="title"/>
          </p:nvPr>
        </p:nvSpPr>
        <p:spPr>
          <a:xfrm>
            <a:off x="687391" y="1884358"/>
            <a:ext cx="8694736" cy="3144841"/>
          </a:xfrm>
        </p:spPr>
        <p:txBody>
          <a:bodyPr anchor="b"/>
          <a:lstStyle>
            <a:lvl1pPr>
              <a:defRPr lang="zh-TW" sz="6000"/>
            </a:lvl1pPr>
          </a:lstStyle>
          <a:p>
            <a:pPr lvl="0"/>
            <a:r>
              <a:rPr lang="zh-TW"/>
              <a:t>按一下以編輯母片標題樣式</a:t>
            </a:r>
            <a:endParaRPr lang="en-US"/>
          </a:p>
        </p:txBody>
      </p:sp>
      <p:sp>
        <p:nvSpPr>
          <p:cNvPr id="3" name="文字版面配置區 2"/>
          <p:cNvSpPr txBox="1">
            <a:spLocks noGrp="1"/>
          </p:cNvSpPr>
          <p:nvPr>
            <p:ph type="body" idx="1"/>
          </p:nvPr>
        </p:nvSpPr>
        <p:spPr>
          <a:xfrm>
            <a:off x="687391" y="5059366"/>
            <a:ext cx="8694736" cy="1652585"/>
          </a:xfrm>
        </p:spPr>
        <p:txBody>
          <a:bodyPr/>
          <a:lstStyle>
            <a:lvl1pPr>
              <a:defRPr sz="2400">
                <a:solidFill>
                  <a:srgbClr val="898989"/>
                </a:solidFill>
              </a:defRPr>
            </a:lvl1pPr>
          </a:lstStyle>
          <a:p>
            <a:pPr lvl="0"/>
            <a:r>
              <a:rPr lang="zh-TW"/>
              <a:t>按一下以編輯母片文字樣式</a:t>
            </a:r>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F06D477E-DD58-4DE2-94A6-FBA23A92454D}" type="slidenum">
              <a:t>‹#›</a:t>
            </a:fld>
            <a:endParaRPr lang="en-US"/>
          </a:p>
        </p:txBody>
      </p:sp>
    </p:spTree>
    <p:extLst>
      <p:ext uri="{BB962C8B-B14F-4D97-AF65-F5344CB8AC3E}">
        <p14:creationId xmlns:p14="http://schemas.microsoft.com/office/powerpoint/2010/main" val="1381223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a:xfrm>
            <a:off x="503240" y="1768477"/>
            <a:ext cx="4459291" cy="4384676"/>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內容版面配置區 3"/>
          <p:cNvSpPr txBox="1">
            <a:spLocks noGrp="1"/>
          </p:cNvSpPr>
          <p:nvPr>
            <p:ph idx="2"/>
          </p:nvPr>
        </p:nvSpPr>
        <p:spPr>
          <a:xfrm>
            <a:off x="5114925" y="1768477"/>
            <a:ext cx="4460872" cy="4384676"/>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A72D141D-6966-43C1-8EB1-BB4818DFA3BC}" type="slidenum">
              <a:t>‹#›</a:t>
            </a:fld>
            <a:endParaRPr lang="en-US"/>
          </a:p>
        </p:txBody>
      </p:sp>
    </p:spTree>
    <p:extLst>
      <p:ext uri="{BB962C8B-B14F-4D97-AF65-F5344CB8AC3E}">
        <p14:creationId xmlns:p14="http://schemas.microsoft.com/office/powerpoint/2010/main" val="1156981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403222"/>
            <a:ext cx="8694736" cy="1460497"/>
          </a:xfrm>
        </p:spPr>
        <p:txBody>
          <a:bodyPr/>
          <a:lstStyle>
            <a:lvl1pPr>
              <a:defRPr lang="zh-TW"/>
            </a:lvl1pPr>
          </a:lstStyle>
          <a:p>
            <a:pPr lvl="0"/>
            <a:r>
              <a:rPr lang="zh-TW"/>
              <a:t>按一下以編輯母片標題樣式</a:t>
            </a:r>
            <a:endParaRPr lang="en-US"/>
          </a:p>
        </p:txBody>
      </p:sp>
      <p:sp>
        <p:nvSpPr>
          <p:cNvPr id="3" name="文字版面配置區 2"/>
          <p:cNvSpPr txBox="1">
            <a:spLocks noGrp="1"/>
          </p:cNvSpPr>
          <p:nvPr>
            <p:ph type="body" idx="1"/>
          </p:nvPr>
        </p:nvSpPr>
        <p:spPr>
          <a:xfrm>
            <a:off x="693736" y="1852610"/>
            <a:ext cx="4265611" cy="908054"/>
          </a:xfrm>
        </p:spPr>
        <p:txBody>
          <a:bodyPr anchor="b"/>
          <a:lstStyle>
            <a:lvl1pPr>
              <a:defRPr sz="2400" b="1"/>
            </a:lvl1pPr>
          </a:lstStyle>
          <a:p>
            <a:pPr lvl="0"/>
            <a:r>
              <a:rPr lang="zh-TW"/>
              <a:t>按一下以編輯母片文字樣式</a:t>
            </a:r>
          </a:p>
        </p:txBody>
      </p:sp>
      <p:sp>
        <p:nvSpPr>
          <p:cNvPr id="4" name="內容版面配置區 3"/>
          <p:cNvSpPr txBox="1">
            <a:spLocks noGrp="1"/>
          </p:cNvSpPr>
          <p:nvPr>
            <p:ph idx="2"/>
          </p:nvPr>
        </p:nvSpPr>
        <p:spPr>
          <a:xfrm>
            <a:off x="693736" y="2760665"/>
            <a:ext cx="4265611" cy="4062414"/>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文字版面配置區 4"/>
          <p:cNvSpPr txBox="1">
            <a:spLocks noGrp="1"/>
          </p:cNvSpPr>
          <p:nvPr>
            <p:ph type="body" idx="3"/>
          </p:nvPr>
        </p:nvSpPr>
        <p:spPr>
          <a:xfrm>
            <a:off x="5103815" y="1852610"/>
            <a:ext cx="4284658" cy="908054"/>
          </a:xfrm>
        </p:spPr>
        <p:txBody>
          <a:bodyPr anchor="b"/>
          <a:lstStyle>
            <a:lvl1pPr>
              <a:defRPr sz="2400" b="1"/>
            </a:lvl1pPr>
          </a:lstStyle>
          <a:p>
            <a:pPr lvl="0"/>
            <a:r>
              <a:rPr lang="zh-TW"/>
              <a:t>按一下以編輯母片文字樣式</a:t>
            </a:r>
          </a:p>
        </p:txBody>
      </p:sp>
      <p:sp>
        <p:nvSpPr>
          <p:cNvPr id="6" name="內容版面配置區 5"/>
          <p:cNvSpPr txBox="1">
            <a:spLocks noGrp="1"/>
          </p:cNvSpPr>
          <p:nvPr>
            <p:ph idx="4"/>
          </p:nvPr>
        </p:nvSpPr>
        <p:spPr>
          <a:xfrm>
            <a:off x="5103815" y="2760665"/>
            <a:ext cx="4284658" cy="4062414"/>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7" name="日期版面配置區 6"/>
          <p:cNvSpPr txBox="1">
            <a:spLocks noGrp="1"/>
          </p:cNvSpPr>
          <p:nvPr>
            <p:ph type="dt" sz="half" idx="7"/>
          </p:nvPr>
        </p:nvSpPr>
        <p:spPr/>
        <p:txBody>
          <a:bodyPr/>
          <a:lstStyle>
            <a:lvl1pPr>
              <a:defRPr/>
            </a:lvl1pPr>
          </a:lstStyle>
          <a:p>
            <a:pPr lvl="0"/>
            <a:endParaRPr lang="en-US"/>
          </a:p>
        </p:txBody>
      </p:sp>
      <p:sp>
        <p:nvSpPr>
          <p:cNvPr id="8" name="頁尾版面配置區 7"/>
          <p:cNvSpPr txBox="1">
            <a:spLocks noGrp="1"/>
          </p:cNvSpPr>
          <p:nvPr>
            <p:ph type="ftr" sz="quarter" idx="9"/>
          </p:nvPr>
        </p:nvSpPr>
        <p:spPr/>
        <p:txBody>
          <a:bodyPr/>
          <a:lstStyle>
            <a:lvl1pPr>
              <a:defRPr/>
            </a:lvl1pPr>
          </a:lstStyle>
          <a:p>
            <a:pPr lvl="0"/>
            <a:endParaRPr lang="en-US"/>
          </a:p>
        </p:txBody>
      </p:sp>
      <p:sp>
        <p:nvSpPr>
          <p:cNvPr id="9" name="投影片編號版面配置區 8"/>
          <p:cNvSpPr txBox="1">
            <a:spLocks noGrp="1"/>
          </p:cNvSpPr>
          <p:nvPr>
            <p:ph type="sldNum" sz="quarter" idx="8"/>
          </p:nvPr>
        </p:nvSpPr>
        <p:spPr/>
        <p:txBody>
          <a:bodyPr/>
          <a:lstStyle>
            <a:lvl1pPr>
              <a:defRPr/>
            </a:lvl1pPr>
          </a:lstStyle>
          <a:p>
            <a:pPr lvl="0"/>
            <a:fld id="{4D382990-A4FF-4906-9C3D-CE47CFC3DCA5}" type="slidenum">
              <a:t>‹#›</a:t>
            </a:fld>
            <a:endParaRPr lang="en-US"/>
          </a:p>
        </p:txBody>
      </p:sp>
    </p:spTree>
    <p:extLst>
      <p:ext uri="{BB962C8B-B14F-4D97-AF65-F5344CB8AC3E}">
        <p14:creationId xmlns:p14="http://schemas.microsoft.com/office/powerpoint/2010/main" val="3403414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日期版面配置區 2"/>
          <p:cNvSpPr txBox="1">
            <a:spLocks noGrp="1"/>
          </p:cNvSpPr>
          <p:nvPr>
            <p:ph type="dt" sz="half" idx="7"/>
          </p:nvPr>
        </p:nvSpPr>
        <p:spPr/>
        <p:txBody>
          <a:bodyPr/>
          <a:lstStyle>
            <a:lvl1pPr>
              <a:defRPr/>
            </a:lvl1pPr>
          </a:lstStyle>
          <a:p>
            <a:pPr lvl="0"/>
            <a:endParaRPr lang="en-US"/>
          </a:p>
        </p:txBody>
      </p:sp>
      <p:sp>
        <p:nvSpPr>
          <p:cNvPr id="4" name="頁尾版面配置區 3"/>
          <p:cNvSpPr txBox="1">
            <a:spLocks noGrp="1"/>
          </p:cNvSpPr>
          <p:nvPr>
            <p:ph type="ftr" sz="quarter" idx="9"/>
          </p:nvPr>
        </p:nvSpPr>
        <p:spPr/>
        <p:txBody>
          <a:bodyPr/>
          <a:lstStyle>
            <a:lvl1pPr>
              <a:defRPr/>
            </a:lvl1pPr>
          </a:lstStyle>
          <a:p>
            <a:pPr lvl="0"/>
            <a:endParaRPr lang="en-US"/>
          </a:p>
        </p:txBody>
      </p:sp>
      <p:sp>
        <p:nvSpPr>
          <p:cNvPr id="5" name="投影片編號版面配置區 4"/>
          <p:cNvSpPr txBox="1">
            <a:spLocks noGrp="1"/>
          </p:cNvSpPr>
          <p:nvPr>
            <p:ph type="sldNum" sz="quarter" idx="8"/>
          </p:nvPr>
        </p:nvSpPr>
        <p:spPr/>
        <p:txBody>
          <a:bodyPr/>
          <a:lstStyle>
            <a:lvl1pPr>
              <a:defRPr/>
            </a:lvl1pPr>
          </a:lstStyle>
          <a:p>
            <a:pPr lvl="0"/>
            <a:fld id="{C73CCA10-4506-4689-B9C6-7A25C650BAFF}" type="slidenum">
              <a:t>‹#›</a:t>
            </a:fld>
            <a:endParaRPr lang="en-US"/>
          </a:p>
        </p:txBody>
      </p:sp>
    </p:spTree>
    <p:extLst>
      <p:ext uri="{BB962C8B-B14F-4D97-AF65-F5344CB8AC3E}">
        <p14:creationId xmlns:p14="http://schemas.microsoft.com/office/powerpoint/2010/main" val="2056262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txBox="1">
            <a:spLocks noGrp="1"/>
          </p:cNvSpPr>
          <p:nvPr>
            <p:ph type="dt" sz="half" idx="7"/>
          </p:nvPr>
        </p:nvSpPr>
        <p:spPr/>
        <p:txBody>
          <a:bodyPr/>
          <a:lstStyle>
            <a:lvl1pPr>
              <a:defRPr/>
            </a:lvl1pPr>
          </a:lstStyle>
          <a:p>
            <a:pPr lvl="0"/>
            <a:endParaRPr lang="en-US"/>
          </a:p>
        </p:txBody>
      </p:sp>
      <p:sp>
        <p:nvSpPr>
          <p:cNvPr id="3" name="頁尾版面配置區 2"/>
          <p:cNvSpPr txBox="1">
            <a:spLocks noGrp="1"/>
          </p:cNvSpPr>
          <p:nvPr>
            <p:ph type="ftr" sz="quarter" idx="9"/>
          </p:nvPr>
        </p:nvSpPr>
        <p:spPr/>
        <p:txBody>
          <a:bodyPr/>
          <a:lstStyle>
            <a:lvl1pPr>
              <a:defRPr/>
            </a:lvl1pPr>
          </a:lstStyle>
          <a:p>
            <a:pPr lvl="0"/>
            <a:endParaRPr lang="en-US"/>
          </a:p>
        </p:txBody>
      </p:sp>
      <p:sp>
        <p:nvSpPr>
          <p:cNvPr id="4" name="投影片編號版面配置區 3"/>
          <p:cNvSpPr txBox="1">
            <a:spLocks noGrp="1"/>
          </p:cNvSpPr>
          <p:nvPr>
            <p:ph type="sldNum" sz="quarter" idx="8"/>
          </p:nvPr>
        </p:nvSpPr>
        <p:spPr/>
        <p:txBody>
          <a:bodyPr/>
          <a:lstStyle>
            <a:lvl1pPr>
              <a:defRPr/>
            </a:lvl1pPr>
          </a:lstStyle>
          <a:p>
            <a:pPr lvl="0"/>
            <a:fld id="{DA413963-2284-408C-A1F3-BA9C90A14B4D}" type="slidenum">
              <a:t>‹#›</a:t>
            </a:fld>
            <a:endParaRPr lang="en-US"/>
          </a:p>
        </p:txBody>
      </p:sp>
    </p:spTree>
    <p:extLst>
      <p:ext uri="{BB962C8B-B14F-4D97-AF65-F5344CB8AC3E}">
        <p14:creationId xmlns:p14="http://schemas.microsoft.com/office/powerpoint/2010/main" val="3566101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503240"/>
            <a:ext cx="3251204" cy="1765304"/>
          </a:xfrm>
        </p:spPr>
        <p:txBody>
          <a:bodyPr anchor="b"/>
          <a:lstStyle>
            <a:lvl1pPr>
              <a:defRPr lang="zh-TW" sz="3200"/>
            </a:lvl1pPr>
          </a:lstStyle>
          <a:p>
            <a:pPr lvl="0"/>
            <a:r>
              <a:rPr lang="zh-TW"/>
              <a:t>按一下以編輯母片標題樣式</a:t>
            </a:r>
            <a:endParaRPr lang="en-US"/>
          </a:p>
        </p:txBody>
      </p:sp>
      <p:sp>
        <p:nvSpPr>
          <p:cNvPr id="3" name="內容版面配置區 2"/>
          <p:cNvSpPr txBox="1">
            <a:spLocks noGrp="1"/>
          </p:cNvSpPr>
          <p:nvPr>
            <p:ph idx="1"/>
          </p:nvPr>
        </p:nvSpPr>
        <p:spPr>
          <a:xfrm>
            <a:off x="4286249" y="1089022"/>
            <a:ext cx="5102223" cy="5372100"/>
          </a:xfrm>
        </p:spPr>
        <p:txBody>
          <a:bodyPr/>
          <a:lstStyle>
            <a:lvl1pPr>
              <a:defRPr/>
            </a:lvl1pPr>
            <a:lvl2pPr>
              <a:defRPr sz="2800"/>
            </a:lvl2pPr>
            <a:lvl3pPr>
              <a:defRPr sz="2400"/>
            </a:lvl3pPr>
            <a:lvl4pPr>
              <a:defRPr sz="2000"/>
            </a:lvl4pPr>
            <a:lvl5pPr>
              <a:defRPr sz="2000"/>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文字版面配置區 3"/>
          <p:cNvSpPr txBox="1">
            <a:spLocks noGrp="1"/>
          </p:cNvSpPr>
          <p:nvPr>
            <p:ph type="body" idx="2"/>
          </p:nvPr>
        </p:nvSpPr>
        <p:spPr>
          <a:xfrm>
            <a:off x="693736" y="2268534"/>
            <a:ext cx="3251204" cy="4200525"/>
          </a:xfrm>
        </p:spPr>
        <p:txBody>
          <a:bodyPr/>
          <a:lstStyle>
            <a:lvl1pPr>
              <a:defRPr sz="1600"/>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8059FB30-6DA3-498A-B3E4-39789FBB385A}" type="slidenum">
              <a:t>‹#›</a:t>
            </a:fld>
            <a:endParaRPr lang="en-US"/>
          </a:p>
        </p:txBody>
      </p:sp>
    </p:spTree>
    <p:extLst>
      <p:ext uri="{BB962C8B-B14F-4D97-AF65-F5344CB8AC3E}">
        <p14:creationId xmlns:p14="http://schemas.microsoft.com/office/powerpoint/2010/main" val="2952677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503240"/>
            <a:ext cx="3251204" cy="1765304"/>
          </a:xfrm>
        </p:spPr>
        <p:txBody>
          <a:bodyPr anchor="b"/>
          <a:lstStyle>
            <a:lvl1pPr>
              <a:defRPr lang="zh-TW" sz="3200"/>
            </a:lvl1pPr>
          </a:lstStyle>
          <a:p>
            <a:pPr lvl="0"/>
            <a:r>
              <a:rPr lang="zh-TW"/>
              <a:t>按一下以編輯母片標題樣式</a:t>
            </a:r>
            <a:endParaRPr lang="en-US"/>
          </a:p>
        </p:txBody>
      </p:sp>
      <p:sp>
        <p:nvSpPr>
          <p:cNvPr id="3" name="圖片版面配置區 2"/>
          <p:cNvSpPr txBox="1">
            <a:spLocks noGrp="1"/>
          </p:cNvSpPr>
          <p:nvPr>
            <p:ph type="pic" idx="1"/>
          </p:nvPr>
        </p:nvSpPr>
        <p:spPr>
          <a:xfrm>
            <a:off x="4286249" y="1089022"/>
            <a:ext cx="5102223" cy="5372100"/>
          </a:xfrm>
        </p:spPr>
        <p:txBody>
          <a:bodyPr/>
          <a:lstStyle>
            <a:lvl1pPr>
              <a:defRPr lang="en-US"/>
            </a:lvl1pPr>
          </a:lstStyle>
          <a:p>
            <a:pPr lvl="0"/>
            <a:endParaRPr lang="en-US"/>
          </a:p>
        </p:txBody>
      </p:sp>
      <p:sp>
        <p:nvSpPr>
          <p:cNvPr id="4" name="文字版面配置區 3"/>
          <p:cNvSpPr txBox="1">
            <a:spLocks noGrp="1"/>
          </p:cNvSpPr>
          <p:nvPr>
            <p:ph type="body" idx="2"/>
          </p:nvPr>
        </p:nvSpPr>
        <p:spPr>
          <a:xfrm>
            <a:off x="693736" y="2268534"/>
            <a:ext cx="3251204" cy="4200525"/>
          </a:xfrm>
        </p:spPr>
        <p:txBody>
          <a:bodyPr/>
          <a:lstStyle>
            <a:lvl1pPr>
              <a:defRPr sz="1600"/>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62DDE591-0FAF-4F51-A0C1-3BEDC4250AEC}" type="slidenum">
              <a:t>‹#›</a:t>
            </a:fld>
            <a:endParaRPr lang="en-US"/>
          </a:p>
        </p:txBody>
      </p:sp>
    </p:spTree>
    <p:extLst>
      <p:ext uri="{BB962C8B-B14F-4D97-AF65-F5344CB8AC3E}">
        <p14:creationId xmlns:p14="http://schemas.microsoft.com/office/powerpoint/2010/main" val="1247615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30523178-8C3C-4D5B-987E-9C6DE9B05220}" type="slidenum">
              <a:t>‹#›</a:t>
            </a:fld>
            <a:endParaRPr lang="en-US"/>
          </a:p>
        </p:txBody>
      </p:sp>
    </p:spTree>
    <p:extLst>
      <p:ext uri="{BB962C8B-B14F-4D97-AF65-F5344CB8AC3E}">
        <p14:creationId xmlns:p14="http://schemas.microsoft.com/office/powerpoint/2010/main" val="3461704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txBox="1">
            <a:spLocks noGrp="1"/>
          </p:cNvSpPr>
          <p:nvPr>
            <p:ph type="title" orient="vert"/>
          </p:nvPr>
        </p:nvSpPr>
        <p:spPr>
          <a:xfrm>
            <a:off x="7308854" y="301623"/>
            <a:ext cx="2266953" cy="5851529"/>
          </a:xfrm>
        </p:spPr>
        <p:txBody>
          <a:bodyPr vert="eaVert"/>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a:xfrm>
            <a:off x="503240" y="301623"/>
            <a:ext cx="6653210" cy="5851529"/>
          </a:xfrm>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0683D96B-BEA4-46BB-A345-50D7E40AC1BE}" type="slidenum">
              <a:t>‹#›</a:t>
            </a:fld>
            <a:endParaRPr lang="en-US"/>
          </a:p>
        </p:txBody>
      </p:sp>
    </p:spTree>
    <p:extLst>
      <p:ext uri="{BB962C8B-B14F-4D97-AF65-F5344CB8AC3E}">
        <p14:creationId xmlns:p14="http://schemas.microsoft.com/office/powerpoint/2010/main" val="3075908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版面配置區 1"/>
          <p:cNvSpPr txBox="1">
            <a:spLocks noGrp="1"/>
          </p:cNvSpPr>
          <p:nvPr>
            <p:ph type="title"/>
          </p:nvPr>
        </p:nvSpPr>
        <p:spPr>
          <a:xfrm>
            <a:off x="503998" y="301322"/>
            <a:ext cx="9071643" cy="1262155"/>
          </a:xfrm>
          <a:prstGeom prst="rect">
            <a:avLst/>
          </a:prstGeom>
          <a:noFill/>
          <a:ln>
            <a:noFill/>
          </a:ln>
        </p:spPr>
        <p:txBody>
          <a:bodyPr vert="horz" wrap="square" lIns="0" tIns="0" rIns="0" bIns="0" anchor="ctr" anchorCtr="1" compatLnSpc="1">
            <a:noAutofit/>
          </a:bodyPr>
          <a:lstStyle/>
          <a:p>
            <a:pPr lvl="0"/>
            <a:endParaRPr lang="en-US"/>
          </a:p>
        </p:txBody>
      </p:sp>
      <p:sp>
        <p:nvSpPr>
          <p:cNvPr id="3" name="文字版面配置區 2"/>
          <p:cNvSpPr txBox="1">
            <a:spLocks noGrp="1"/>
          </p:cNvSpPr>
          <p:nvPr>
            <p:ph type="body" idx="1"/>
          </p:nvPr>
        </p:nvSpPr>
        <p:spPr>
          <a:xfrm>
            <a:off x="503998" y="1769043"/>
            <a:ext cx="9071643" cy="4384438"/>
          </a:xfrm>
          <a:prstGeom prst="rect">
            <a:avLst/>
          </a:prstGeom>
          <a:noFill/>
          <a:ln>
            <a:noFill/>
          </a:ln>
        </p:spPr>
        <p:txBody>
          <a:bodyPr vert="horz" wrap="square" lIns="0" tIns="0" rIns="0" bIns="0" anchor="t" anchorCtr="0" compatLnSpc="1">
            <a:noAutofit/>
          </a:body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2"/>
          </p:nvPr>
        </p:nvSpPr>
        <p:spPr>
          <a:xfrm>
            <a:off x="503998" y="6887160"/>
            <a:ext cx="2348279" cy="521281"/>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5" name="頁尾版面配置區 4"/>
          <p:cNvSpPr txBox="1">
            <a:spLocks noGrp="1"/>
          </p:cNvSpPr>
          <p:nvPr>
            <p:ph type="ftr" sz="quarter" idx="3"/>
          </p:nvPr>
        </p:nvSpPr>
        <p:spPr>
          <a:xfrm>
            <a:off x="3447361" y="6887160"/>
            <a:ext cx="3194995" cy="521281"/>
          </a:xfrm>
          <a:prstGeom prst="rect">
            <a:avLst/>
          </a:prstGeom>
          <a:noFill/>
          <a:ln>
            <a:noFill/>
          </a:ln>
        </p:spPr>
        <p:txBody>
          <a:bodyPr vert="horz" wrap="square" lIns="0" tIns="0" rIns="0" bIns="0" anchor="t" anchorCtr="1" compatLnSpc="1">
            <a:noAutofit/>
          </a:bodyPr>
          <a:lstStyle>
            <a:lvl1pPr marL="0" marR="0" lvl="0" indent="0" algn="ct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6" name="投影片編號版面配置區 5"/>
          <p:cNvSpPr txBox="1">
            <a:spLocks noGrp="1"/>
          </p:cNvSpPr>
          <p:nvPr>
            <p:ph type="sldNum" sz="quarter" idx="4"/>
          </p:nvPr>
        </p:nvSpPr>
        <p:spPr>
          <a:xfrm>
            <a:off x="7227362" y="6887160"/>
            <a:ext cx="2348279" cy="521281"/>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fld id="{FA3188D1-A64F-4C0D-9118-94DC8B17CC66}"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L="0" marR="0" lvl="0" indent="0" algn="ctr" defTabSz="914400" rtl="0" fontAlgn="auto" hangingPunct="0">
        <a:lnSpc>
          <a:spcPct val="100000"/>
        </a:lnSpc>
        <a:spcBef>
          <a:spcPts val="0"/>
        </a:spcBef>
        <a:spcAft>
          <a:spcPts val="0"/>
        </a:spcAft>
        <a:buNone/>
        <a:tabLst/>
        <a:defRPr lang="en-US" sz="44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p:titleStyle>
    <p:bodyStyle>
      <a:lvl1pPr marL="0" marR="0" lvl="0" indent="0" defTabSz="914400" rtl="0" fontAlgn="auto" hangingPunct="0">
        <a:lnSpc>
          <a:spcPct val="100000"/>
        </a:lnSpc>
        <a:spcBef>
          <a:spcPts val="1415"/>
        </a:spcBef>
        <a:spcAft>
          <a:spcPts val="0"/>
        </a:spcAft>
        <a:buNone/>
        <a:tabLst/>
        <a:defRPr lang="zh-TW" sz="32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zh-TW" sz="2400" b="0" i="0" u="none" strike="noStrike" kern="1200" cap="none" spc="0" baseline="0">
          <a:solidFill>
            <a:srgbClr val="000000"/>
          </a:solidFill>
          <a:uFillTx/>
          <a:latin typeface="Calibri"/>
          <a:ea typeface="新細明體" pitchFamily="18"/>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zh-TW" sz="2000" b="0" i="0" u="none" strike="noStrike" kern="1200" cap="none" spc="0" baseline="0">
          <a:solidFill>
            <a:srgbClr val="000000"/>
          </a:solidFill>
          <a:uFillTx/>
          <a:latin typeface="Calibri"/>
          <a:ea typeface="新細明體" pitchFamily="18"/>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zh-TW" sz="1800" b="0" i="0" u="none" strike="noStrike" kern="1200" cap="none" spc="0" baseline="0">
          <a:solidFill>
            <a:srgbClr val="000000"/>
          </a:solidFill>
          <a:uFillTx/>
          <a:latin typeface="Calibri"/>
          <a:ea typeface="新細明體" pitchFamily="18"/>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zh-TW" sz="1800" b="0" i="0" u="none" strike="noStrike" kern="1200" cap="none" spc="0" baseline="0">
          <a:solidFill>
            <a:srgbClr val="000000"/>
          </a:solidFill>
          <a:uFillTx/>
          <a:latin typeface="Calibri"/>
          <a:ea typeface="新細明體" pitchFamily="1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標題 1"/>
          <p:cNvSpPr txBox="1">
            <a:spLocks noGrp="1"/>
          </p:cNvSpPr>
          <p:nvPr>
            <p:ph type="title" idx="4294967295"/>
          </p:nvPr>
        </p:nvSpPr>
        <p:spPr>
          <a:xfrm>
            <a:off x="576355" y="3197342"/>
            <a:ext cx="9071643" cy="1246495"/>
          </a:xfrm>
        </p:spPr>
        <p:txBody>
          <a:bodyPr>
            <a:spAutoFit/>
          </a:bodyPr>
          <a:lstStyle/>
          <a:p>
            <a:pPr lvl="0"/>
            <a:r>
              <a:rPr lang="en-US" altLang="zh-TW" sz="2700" b="1" dirty="0">
                <a:solidFill>
                  <a:srgbClr val="898989"/>
                </a:solidFill>
                <a:latin typeface="Sitka Subheading" panose="02000505000000020004" pitchFamily="2" charset="0"/>
                <a:ea typeface="新細明體" pitchFamily="2"/>
              </a:rPr>
              <a:t>Electronic Imaging Conference on SPIE, Burlingame, California, USA, 2013</a:t>
            </a:r>
            <a:br>
              <a:rPr lang="en-US" altLang="zh-TW" sz="2700" b="1" dirty="0">
                <a:solidFill>
                  <a:srgbClr val="898989"/>
                </a:solidFill>
                <a:latin typeface="Sitka Subheading" panose="02000505000000020004" pitchFamily="2" charset="0"/>
                <a:ea typeface="新細明體" pitchFamily="2"/>
              </a:rPr>
            </a:br>
            <a:r>
              <a:rPr lang="it-IT" altLang="zh-TW" sz="2700" b="1" dirty="0">
                <a:solidFill>
                  <a:srgbClr val="898989"/>
                </a:solidFill>
                <a:latin typeface="Sitka Subheading" panose="02000505000000020004" pitchFamily="2" charset="0"/>
                <a:ea typeface="新細明體" pitchFamily="2"/>
              </a:rPr>
              <a:t>Costantino Grana, Daniele Borghesani, Rita Cucchiara</a:t>
            </a:r>
            <a:endParaRPr lang="en-US" sz="2700" b="1" dirty="0">
              <a:solidFill>
                <a:srgbClr val="898989"/>
              </a:solidFill>
              <a:latin typeface="Sitka Subheading" panose="02000505000000020004" pitchFamily="2" charset="0"/>
              <a:ea typeface="新細明體" pitchFamily="2"/>
            </a:endParaRPr>
          </a:p>
        </p:txBody>
      </p:sp>
      <p:sp>
        <p:nvSpPr>
          <p:cNvPr id="3" name="文字版面配置區 2"/>
          <p:cNvSpPr txBox="1">
            <a:spLocks noGrp="1"/>
          </p:cNvSpPr>
          <p:nvPr>
            <p:ph type="body" idx="4294967295"/>
          </p:nvPr>
        </p:nvSpPr>
        <p:spPr>
          <a:xfrm>
            <a:off x="576355" y="935998"/>
            <a:ext cx="9071643" cy="1491891"/>
          </a:xfrm>
        </p:spPr>
        <p:txBody>
          <a:bodyPr anchorCtr="1"/>
          <a:lstStyle/>
          <a:p>
            <a:r>
              <a:rPr lang="en-US" altLang="zh-TW" sz="4000" b="1" dirty="0">
                <a:latin typeface="Cambria Math" panose="02040503050406030204" pitchFamily="18" charset="0"/>
                <a:ea typeface="Cambria Math" panose="02040503050406030204" pitchFamily="18" charset="0"/>
                <a:cs typeface="Ebrima" panose="02000000000000000000" pitchFamily="2" charset="0"/>
              </a:rPr>
              <a:t>A Fast Approach for Integrating ORB</a:t>
            </a:r>
          </a:p>
          <a:p>
            <a:r>
              <a:rPr lang="en-US" altLang="zh-TW" sz="4000" b="1" dirty="0">
                <a:latin typeface="Cambria Math" panose="02040503050406030204" pitchFamily="18" charset="0"/>
                <a:ea typeface="Cambria Math" panose="02040503050406030204" pitchFamily="18" charset="0"/>
                <a:cs typeface="Ebrima" panose="02000000000000000000" pitchFamily="2" charset="0"/>
              </a:rPr>
              <a:t>Descriptors in the Bag of Words Model</a:t>
            </a:r>
            <a:endParaRPr lang="en-US" sz="4000" b="1" dirty="0">
              <a:latin typeface="Cambria Math" panose="02040503050406030204" pitchFamily="18" charset="0"/>
              <a:ea typeface="Cambria Math" panose="02040503050406030204" pitchFamily="18" charset="0"/>
              <a:cs typeface="Ebrima" panose="02000000000000000000" pitchFamily="2" charset="0"/>
            </a:endParaRPr>
          </a:p>
        </p:txBody>
      </p:sp>
      <p:sp>
        <p:nvSpPr>
          <p:cNvPr id="4" name="文字版面配置區 3"/>
          <p:cNvSpPr txBox="1">
            <a:spLocks noGrp="1"/>
          </p:cNvSpPr>
          <p:nvPr>
            <p:ph type="body" idx="4294967295"/>
          </p:nvPr>
        </p:nvSpPr>
        <p:spPr>
          <a:xfrm>
            <a:off x="704380" y="5920800"/>
            <a:ext cx="9071643" cy="1159806"/>
          </a:xfrm>
        </p:spPr>
        <p:txBody>
          <a:bodyPr/>
          <a:lstStyle/>
          <a:p>
            <a:pPr lvl="1" algn="r" hangingPunct="0">
              <a:spcBef>
                <a:spcPts val="1415"/>
              </a:spcBef>
              <a:buNone/>
            </a:pPr>
            <a:r>
              <a:rPr lang="en-US" dirty="0">
                <a:highlight>
                  <a:scrgbClr r="0" g="0" b="0">
                    <a:alpha val="0"/>
                  </a:scrgbClr>
                </a:highlight>
                <a:latin typeface="Liberation Sans Narrow" pitchFamily="34"/>
                <a:ea typeface="微軟正黑體" pitchFamily="34"/>
                <a:cs typeface="Mangal" pitchFamily="2"/>
              </a:rPr>
              <a:t>Presenter</a:t>
            </a:r>
            <a:r>
              <a:rPr lang="zh-TW" dirty="0">
                <a:highlight>
                  <a:scrgbClr r="0" g="0" b="0">
                    <a:alpha val="0"/>
                  </a:scrgbClr>
                </a:highlight>
                <a:latin typeface="Liberation Sans Narrow" pitchFamily="34"/>
                <a:ea typeface="微軟正黑體" pitchFamily="34"/>
                <a:cs typeface="Mangal" pitchFamily="2"/>
              </a:rPr>
              <a:t>：</a:t>
            </a:r>
            <a:r>
              <a:rPr lang="en-US" altLang="zh-TW" dirty="0">
                <a:highlight>
                  <a:scrgbClr r="0" g="0" b="0">
                    <a:alpha val="0"/>
                  </a:scrgbClr>
                </a:highlight>
                <a:latin typeface="Liberation Sans Narrow" pitchFamily="34"/>
                <a:ea typeface="微軟正黑體" pitchFamily="34"/>
                <a:cs typeface="Mangal" pitchFamily="2"/>
              </a:rPr>
              <a:t>Wei-</a:t>
            </a:r>
            <a:r>
              <a:rPr lang="en-US" altLang="zh-TW" dirty="0" err="1">
                <a:highlight>
                  <a:scrgbClr r="0" g="0" b="0">
                    <a:alpha val="0"/>
                  </a:scrgbClr>
                </a:highlight>
                <a:latin typeface="Liberation Sans Narrow" pitchFamily="34"/>
                <a:ea typeface="微軟正黑體" pitchFamily="34"/>
                <a:cs typeface="Mangal" pitchFamily="2"/>
              </a:rPr>
              <a:t>Hao</a:t>
            </a:r>
            <a:r>
              <a:rPr lang="en-US" altLang="zh-TW" dirty="0">
                <a:highlight>
                  <a:scrgbClr r="0" g="0" b="0">
                    <a:alpha val="0"/>
                  </a:scrgbClr>
                </a:highlight>
                <a:latin typeface="Liberation Sans Narrow" pitchFamily="34"/>
                <a:ea typeface="微軟正黑體" pitchFamily="34"/>
                <a:cs typeface="Mangal" pitchFamily="2"/>
              </a:rPr>
              <a:t> Fu</a:t>
            </a:r>
            <a:endParaRPr lang="en-US" dirty="0">
              <a:highlight>
                <a:scrgbClr r="0" g="0" b="0">
                  <a:alpha val="0"/>
                </a:scrgbClr>
              </a:highlight>
              <a:latin typeface="Liberation Sans Narrow" pitchFamily="34"/>
              <a:ea typeface="微軟正黑體" pitchFamily="34"/>
              <a:cs typeface="Mangal" pitchFamily="2"/>
            </a:endParaRPr>
          </a:p>
          <a:p>
            <a:pPr lvl="1" algn="r" hangingPunct="0">
              <a:spcBef>
                <a:spcPts val="1415"/>
              </a:spcBef>
              <a:buNone/>
            </a:pPr>
            <a:r>
              <a:rPr lang="en-US" dirty="0">
                <a:highlight>
                  <a:scrgbClr r="0" g="0" b="0">
                    <a:alpha val="0"/>
                  </a:scrgbClr>
                </a:highlight>
                <a:latin typeface="Liberation Sans Narrow" pitchFamily="34"/>
                <a:ea typeface="微軟正黑體" pitchFamily="34"/>
                <a:cs typeface="Mangal" pitchFamily="2"/>
              </a:rPr>
              <a:t>Date</a:t>
            </a:r>
            <a:r>
              <a:rPr lang="zh-TW" dirty="0">
                <a:highlight>
                  <a:scrgbClr r="0" g="0" b="0">
                    <a:alpha val="0"/>
                  </a:scrgbClr>
                </a:highlight>
                <a:latin typeface="Liberation Sans Narrow" pitchFamily="34"/>
                <a:ea typeface="微軟正黑體" pitchFamily="34"/>
                <a:cs typeface="Mangal" pitchFamily="2"/>
              </a:rPr>
              <a:t>：</a:t>
            </a:r>
            <a:r>
              <a:rPr lang="en-US" altLang="zh-TW" dirty="0">
                <a:highlight>
                  <a:scrgbClr r="0" g="0" b="0">
                    <a:alpha val="0"/>
                  </a:scrgbClr>
                </a:highlight>
                <a:latin typeface="Liberation Sans Narrow" pitchFamily="34"/>
                <a:ea typeface="微軟正黑體" pitchFamily="34"/>
                <a:cs typeface="Mangal" pitchFamily="2"/>
              </a:rPr>
              <a:t>2017</a:t>
            </a:r>
            <a:r>
              <a:rPr lang="en-US" dirty="0">
                <a:highlight>
                  <a:scrgbClr r="0" g="0" b="0">
                    <a:alpha val="0"/>
                  </a:scrgbClr>
                </a:highlight>
                <a:latin typeface="Liberation Sans Narrow" pitchFamily="34"/>
                <a:ea typeface="微軟正黑體" pitchFamily="34"/>
                <a:cs typeface="Mangal" pitchFamily="2"/>
              </a:rPr>
              <a:t>/ 02/</a:t>
            </a:r>
            <a:r>
              <a:rPr lang="zh-TW" altLang="en-US" dirty="0">
                <a:highlight>
                  <a:scrgbClr r="0" g="0" b="0">
                    <a:alpha val="0"/>
                  </a:scrgbClr>
                </a:highlight>
                <a:latin typeface="Liberation Sans Narrow" pitchFamily="34"/>
                <a:ea typeface="微軟正黑體" pitchFamily="34"/>
                <a:cs typeface="Mangal" pitchFamily="2"/>
              </a:rPr>
              <a:t> </a:t>
            </a:r>
            <a:r>
              <a:rPr lang="en-US" altLang="zh-TW" dirty="0">
                <a:highlight>
                  <a:scrgbClr r="0" g="0" b="0">
                    <a:alpha val="0"/>
                  </a:scrgbClr>
                </a:highlight>
                <a:latin typeface="Liberation Sans Narrow" pitchFamily="34"/>
                <a:ea typeface="微軟正黑體" pitchFamily="34"/>
                <a:cs typeface="Mangal" pitchFamily="2"/>
              </a:rPr>
              <a:t>07</a:t>
            </a:r>
            <a:endParaRPr lang="en-US" dirty="0">
              <a:highlight>
                <a:scrgbClr r="0" g="0" b="0">
                  <a:alpha val="0"/>
                </a:scrgbClr>
              </a:highlight>
              <a:latin typeface="Liberation Sans Narrow" pitchFamily="34"/>
              <a:ea typeface="微軟正黑體" pitchFamily="34"/>
              <a:cs typeface="Mangal" pitchFamily="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Abstract</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sz="3100" dirty="0">
                <a:latin typeface="Cambria Math" panose="02040503050406030204" pitchFamily="18" charset="0"/>
                <a:ea typeface="Cambria Math" panose="02040503050406030204" pitchFamily="18" charset="0"/>
              </a:rPr>
              <a:t>In this paper we propose to integrate the recently introduces ORB descriptors in the currently favored approach for image classification, that is the Bag of Words model. In particular the problem to be solved is to provide a clustering method able to deal with the binary string nature of the ORB descriptors. We suggest to use a k-means like approach, called k-majority, substituting Euclidean distance with Hamming distance and majority selected vector as the new cluster center. Results combining this new approach with other features are provided over the ImageCLEF 2011 dataset.</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2</a:t>
            </a:fld>
            <a:endParaRPr lang="zh-TW" altLang="en-US" dirty="0"/>
          </a:p>
        </p:txBody>
      </p:sp>
    </p:spTree>
    <p:extLst>
      <p:ext uri="{BB962C8B-B14F-4D97-AF65-F5344CB8AC3E}">
        <p14:creationId xmlns:p14="http://schemas.microsoft.com/office/powerpoint/2010/main" val="1141205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Algorithm</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pPr marL="514350" indent="-514350">
              <a:spcAft>
                <a:spcPts val="1415"/>
              </a:spcAft>
              <a:buFont typeface="+mj-lt"/>
              <a:buAutoNum type="arabicPeriod"/>
            </a:pPr>
            <a:r>
              <a:rPr lang="en-US" altLang="zh-TW" dirty="0">
                <a:latin typeface="Cambria Math" panose="02040503050406030204" pitchFamily="18" charset="0"/>
                <a:ea typeface="Cambria Math" panose="02040503050406030204" pitchFamily="18" charset="0"/>
              </a:rPr>
              <a:t>Lightweight features</a:t>
            </a:r>
          </a:p>
          <a:p>
            <a:pPr marL="1200150" lvl="1" indent="-514350"/>
            <a:r>
              <a:rPr lang="en-US" altLang="zh-TW" sz="2800" dirty="0">
                <a:latin typeface="Cambria Math" panose="02040503050406030204" pitchFamily="18" charset="0"/>
                <a:ea typeface="Cambria Math" panose="02040503050406030204" pitchFamily="18" charset="0"/>
              </a:rPr>
              <a:t>ORB descriptor</a:t>
            </a:r>
          </a:p>
          <a:p>
            <a:pPr marL="1200150" lvl="1" indent="-514350"/>
            <a:r>
              <a:rPr lang="en-US" altLang="zh-TW" sz="2800" dirty="0">
                <a:latin typeface="Cambria Math" panose="02040503050406030204" pitchFamily="18" charset="0"/>
                <a:ea typeface="Cambria Math" panose="02040503050406030204" pitchFamily="18" charset="0"/>
              </a:rPr>
              <a:t>Centrist descriptor</a:t>
            </a:r>
          </a:p>
          <a:p>
            <a:pPr marL="1200150" lvl="1" indent="-514350"/>
            <a:r>
              <a:rPr lang="en-US" altLang="zh-TW" sz="2800" dirty="0">
                <a:latin typeface="Cambria Math" panose="02040503050406030204" pitchFamily="18" charset="0"/>
                <a:ea typeface="Cambria Math" panose="02040503050406030204" pitchFamily="18" charset="0"/>
              </a:rPr>
              <a:t>Color histogram descriptor</a:t>
            </a:r>
          </a:p>
          <a:p>
            <a:pPr marL="514350" indent="-514350">
              <a:buFont typeface="+mj-lt"/>
              <a:buAutoNum type="arabicPeriod"/>
            </a:pPr>
            <a:r>
              <a:rPr lang="en-US" altLang="zh-TW" dirty="0">
                <a:latin typeface="Cambria Math" panose="02040503050406030204" pitchFamily="18" charset="0"/>
                <a:ea typeface="Cambria Math" panose="02040503050406030204" pitchFamily="18" charset="0"/>
              </a:rPr>
              <a:t>A bag of words model for binary descriptors</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3</a:t>
            </a:fld>
            <a:endParaRPr lang="zh-TW" altLang="en-US" dirty="0"/>
          </a:p>
        </p:txBody>
      </p:sp>
    </p:spTree>
    <p:extLst>
      <p:ext uri="{BB962C8B-B14F-4D97-AF65-F5344CB8AC3E}">
        <p14:creationId xmlns:p14="http://schemas.microsoft.com/office/powerpoint/2010/main" val="1192062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ORB descriptor(1/4)</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pPr marL="514350" indent="-514350">
              <a:spcAft>
                <a:spcPts val="1415"/>
              </a:spcAft>
              <a:buFont typeface="Arial" panose="020B0604020202020204" pitchFamily="34" charset="0"/>
              <a:buChar char="•"/>
            </a:pPr>
            <a:r>
              <a:rPr lang="zh-TW" altLang="en-US" dirty="0">
                <a:latin typeface="Cambria Math" panose="02040503050406030204" pitchFamily="18" charset="0"/>
                <a:ea typeface="微軟正黑體" panose="020B0604030504040204" pitchFamily="34" charset="-120"/>
              </a:rPr>
              <a:t>介紹：利用</a:t>
            </a:r>
            <a:r>
              <a:rPr lang="en-US" altLang="zh-TW" dirty="0">
                <a:latin typeface="Cambria Math" panose="02040503050406030204" pitchFamily="18" charset="0"/>
                <a:ea typeface="微軟正黑體" panose="020B0604030504040204" pitchFamily="34" charset="-120"/>
              </a:rPr>
              <a:t>FAST</a:t>
            </a:r>
            <a:r>
              <a:rPr lang="zh-TW" altLang="en-US" dirty="0">
                <a:latin typeface="Cambria Math" panose="02040503050406030204" pitchFamily="18" charset="0"/>
                <a:ea typeface="微軟正黑體" panose="020B0604030504040204" pitchFamily="34" charset="-120"/>
              </a:rPr>
              <a:t>來尋找特徵點，並且利用</a:t>
            </a:r>
            <a:r>
              <a:rPr lang="en-US" altLang="zh-TW" dirty="0">
                <a:latin typeface="Cambria Math" panose="02040503050406030204" pitchFamily="18" charset="0"/>
                <a:ea typeface="微軟正黑體" panose="020B0604030504040204" pitchFamily="34" charset="-120"/>
              </a:rPr>
              <a:t>BRIEF</a:t>
            </a:r>
            <a:r>
              <a:rPr lang="zh-TW" altLang="en-US" dirty="0">
                <a:latin typeface="Cambria Math" panose="02040503050406030204" pitchFamily="18" charset="0"/>
                <a:ea typeface="微軟正黑體" panose="020B0604030504040204" pitchFamily="34" charset="-120"/>
              </a:rPr>
              <a:t>來編碼。</a:t>
            </a:r>
            <a:endParaRPr lang="en-US" altLang="zh-TW" dirty="0">
              <a:latin typeface="Cambria Math" panose="02040503050406030204" pitchFamily="18" charset="0"/>
              <a:ea typeface="微軟正黑體" panose="020B0604030504040204" pitchFamily="34" charset="-120"/>
            </a:endParaRPr>
          </a:p>
          <a:p>
            <a:pPr marL="514350" indent="-514350">
              <a:spcAft>
                <a:spcPts val="1415"/>
              </a:spcAft>
              <a:buFont typeface="Arial" panose="020B0604020202020204" pitchFamily="34" charset="0"/>
              <a:buChar char="•"/>
            </a:pPr>
            <a:r>
              <a:rPr lang="zh-TW" altLang="en-US" dirty="0">
                <a:latin typeface="Cambria Math" panose="02040503050406030204" pitchFamily="18" charset="0"/>
                <a:ea typeface="微軟正黑體" panose="020B0604030504040204" pitchFamily="34" charset="-120"/>
              </a:rPr>
              <a:t>優點：</a:t>
            </a:r>
            <a:endParaRPr lang="en-US" altLang="zh-TW" dirty="0">
              <a:latin typeface="Cambria Math" panose="02040503050406030204" pitchFamily="18" charset="0"/>
              <a:ea typeface="微軟正黑體" panose="020B0604030504040204" pitchFamily="34" charset="-120"/>
            </a:endParaRPr>
          </a:p>
          <a:p>
            <a:pPr marL="1200150" lvl="1" indent="-514350">
              <a:buFont typeface="+mj-lt"/>
              <a:buAutoNum type="arabicPeriod"/>
            </a:pPr>
            <a:r>
              <a:rPr lang="zh-TW" altLang="en-US" sz="2800" dirty="0">
                <a:highlight>
                  <a:scrgbClr r="0" g="0" b="0">
                    <a:alpha val="0"/>
                  </a:scrgbClr>
                </a:highlight>
                <a:latin typeface="Cambria Math" panose="02040503050406030204" pitchFamily="18" charset="0"/>
                <a:ea typeface="微軟正黑體" panose="020B0604030504040204" pitchFamily="34" charset="-120"/>
                <a:cs typeface="Mangal" pitchFamily="2"/>
              </a:rPr>
              <a:t>具有尺度不變性及旋轉不變性</a:t>
            </a:r>
            <a:endParaRPr lang="en-US" altLang="zh-TW" sz="2800" dirty="0">
              <a:highlight>
                <a:scrgbClr r="0" g="0" b="0">
                  <a:alpha val="0"/>
                </a:scrgbClr>
              </a:highlight>
              <a:latin typeface="Cambria Math" panose="02040503050406030204" pitchFamily="18" charset="0"/>
              <a:ea typeface="微軟正黑體" panose="020B0604030504040204" pitchFamily="34" charset="-120"/>
              <a:cs typeface="Mangal" pitchFamily="2"/>
            </a:endParaRPr>
          </a:p>
          <a:p>
            <a:pPr marL="1200150" lvl="1" indent="-514350">
              <a:buFont typeface="+mj-lt"/>
              <a:buAutoNum type="arabicPeriod"/>
            </a:pPr>
            <a:r>
              <a:rPr lang="zh-TW" altLang="en-US" sz="2800" dirty="0">
                <a:highlight>
                  <a:scrgbClr r="0" g="0" b="0">
                    <a:alpha val="0"/>
                  </a:scrgbClr>
                </a:highlight>
                <a:latin typeface="Cambria Math" panose="02040503050406030204" pitchFamily="18" charset="0"/>
                <a:ea typeface="微軟正黑體" panose="020B0604030504040204" pitchFamily="34" charset="-120"/>
                <a:cs typeface="Mangal" pitchFamily="2"/>
              </a:rPr>
              <a:t>抗噪能力佳</a:t>
            </a:r>
            <a:endParaRPr lang="en-US" altLang="zh-TW" sz="2800" dirty="0">
              <a:highlight>
                <a:scrgbClr r="0" g="0" b="0">
                  <a:alpha val="0"/>
                </a:scrgbClr>
              </a:highlight>
              <a:latin typeface="Cambria Math" panose="02040503050406030204" pitchFamily="18" charset="0"/>
              <a:ea typeface="微軟正黑體" panose="020B0604030504040204" pitchFamily="34" charset="-120"/>
              <a:cs typeface="Mangal" pitchFamily="2"/>
            </a:endParaRPr>
          </a:p>
          <a:p>
            <a:pPr marL="1200150" lvl="1" indent="-514350">
              <a:buFont typeface="+mj-lt"/>
              <a:buAutoNum type="arabicPeriod"/>
            </a:pPr>
            <a:r>
              <a:rPr lang="zh-TW" altLang="en-US" sz="2800" dirty="0">
                <a:highlight>
                  <a:scrgbClr r="0" g="0" b="0">
                    <a:alpha val="0"/>
                  </a:scrgbClr>
                </a:highlight>
                <a:latin typeface="Cambria Math" panose="02040503050406030204" pitchFamily="18" charset="0"/>
                <a:ea typeface="微軟正黑體" panose="020B0604030504040204" pitchFamily="34" charset="-120"/>
                <a:cs typeface="Mangal" pitchFamily="2"/>
              </a:rPr>
              <a:t>節省空間且運算快速</a:t>
            </a:r>
            <a:endParaRPr lang="en-US" altLang="zh-TW" sz="2800" dirty="0">
              <a:highlight>
                <a:scrgbClr r="0" g="0" b="0">
                  <a:alpha val="0"/>
                </a:scrgbClr>
              </a:highlight>
              <a:latin typeface="Cambria Math" panose="02040503050406030204" pitchFamily="18" charset="0"/>
              <a:ea typeface="微軟正黑體" panose="020B0604030504040204" pitchFamily="34" charset="-120"/>
              <a:cs typeface="Mangal" pitchFamily="2"/>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4</a:t>
            </a:fld>
            <a:endParaRPr lang="zh-TW" altLang="en-US" dirty="0"/>
          </a:p>
        </p:txBody>
      </p:sp>
    </p:spTree>
    <p:extLst>
      <p:ext uri="{BB962C8B-B14F-4D97-AF65-F5344CB8AC3E}">
        <p14:creationId xmlns:p14="http://schemas.microsoft.com/office/powerpoint/2010/main" val="2857054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ORB descriptor(2/4)</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5</a:t>
            </a:fld>
            <a:endParaRPr lang="zh-TW" altLang="en-US" dirty="0"/>
          </a:p>
        </p:txBody>
      </p:sp>
      <p:sp>
        <p:nvSpPr>
          <p:cNvPr id="5" name="矩形 4"/>
          <p:cNvSpPr/>
          <p:nvPr/>
        </p:nvSpPr>
        <p:spPr>
          <a:xfrm>
            <a:off x="930166" y="1497724"/>
            <a:ext cx="8150772" cy="56440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4800600" y="4114799"/>
            <a:ext cx="409903" cy="40990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1560785" y="1876097"/>
            <a:ext cx="378373" cy="37837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8350468" y="6584730"/>
            <a:ext cx="378373" cy="37837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0" name="直線接點 9"/>
          <p:cNvCxnSpPr>
            <a:stCxn id="7" idx="5"/>
            <a:endCxn id="8" idx="1"/>
          </p:cNvCxnSpPr>
          <p:nvPr/>
        </p:nvCxnSpPr>
        <p:spPr>
          <a:xfrm>
            <a:off x="1883747" y="2199059"/>
            <a:ext cx="6522132" cy="4441082"/>
          </a:xfrm>
          <a:prstGeom prst="line">
            <a:avLst/>
          </a:prstGeom>
        </p:spPr>
        <p:style>
          <a:lnRef idx="1">
            <a:schemeClr val="accent1"/>
          </a:lnRef>
          <a:fillRef idx="0">
            <a:schemeClr val="accent1"/>
          </a:fillRef>
          <a:effectRef idx="0">
            <a:schemeClr val="accent1"/>
          </a:effectRef>
          <a:fontRef idx="minor">
            <a:schemeClr val="tx1"/>
          </a:fontRef>
        </p:style>
      </p:cxnSp>
      <p:sp>
        <p:nvSpPr>
          <p:cNvPr id="14" name="橢圓 13"/>
          <p:cNvSpPr/>
          <p:nvPr/>
        </p:nvSpPr>
        <p:spPr>
          <a:xfrm>
            <a:off x="2296505" y="4981899"/>
            <a:ext cx="378373" cy="37837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7480966" y="3216159"/>
            <a:ext cx="378373" cy="37837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接點 15"/>
          <p:cNvCxnSpPr>
            <a:endCxn id="15" idx="2"/>
          </p:cNvCxnSpPr>
          <p:nvPr/>
        </p:nvCxnSpPr>
        <p:spPr>
          <a:xfrm flipV="1">
            <a:off x="2619467" y="3405346"/>
            <a:ext cx="4861499" cy="176573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23" name="橢圓 22"/>
          <p:cNvSpPr/>
          <p:nvPr/>
        </p:nvSpPr>
        <p:spPr>
          <a:xfrm>
            <a:off x="1298484" y="3360894"/>
            <a:ext cx="378373" cy="378373"/>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橢圓 23"/>
          <p:cNvSpPr/>
          <p:nvPr/>
        </p:nvSpPr>
        <p:spPr>
          <a:xfrm>
            <a:off x="8216692" y="4846473"/>
            <a:ext cx="378373" cy="378373"/>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5" name="直線接點 24"/>
          <p:cNvCxnSpPr/>
          <p:nvPr/>
        </p:nvCxnSpPr>
        <p:spPr>
          <a:xfrm>
            <a:off x="1603285" y="3603842"/>
            <a:ext cx="6723763" cy="143181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31" name="橢圓 30"/>
          <p:cNvSpPr/>
          <p:nvPr/>
        </p:nvSpPr>
        <p:spPr>
          <a:xfrm>
            <a:off x="3195144" y="2480321"/>
            <a:ext cx="378373" cy="37837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p:cNvSpPr/>
          <p:nvPr/>
        </p:nvSpPr>
        <p:spPr>
          <a:xfrm>
            <a:off x="6456209" y="5904175"/>
            <a:ext cx="378373" cy="37837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3" name="直線接點 32"/>
          <p:cNvCxnSpPr>
            <a:stCxn id="31" idx="5"/>
            <a:endCxn id="32" idx="1"/>
          </p:cNvCxnSpPr>
          <p:nvPr/>
        </p:nvCxnSpPr>
        <p:spPr>
          <a:xfrm>
            <a:off x="3518106" y="2803283"/>
            <a:ext cx="2993514" cy="315630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8216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ORB descriptor(3/4)</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6</a:t>
            </a:fld>
            <a:endParaRPr lang="zh-TW" altLang="en-US" dirty="0"/>
          </a:p>
        </p:txBody>
      </p:sp>
      <p:sp>
        <p:nvSpPr>
          <p:cNvPr id="5" name="矩形 4"/>
          <p:cNvSpPr/>
          <p:nvPr/>
        </p:nvSpPr>
        <p:spPr>
          <a:xfrm>
            <a:off x="930166" y="1497724"/>
            <a:ext cx="8150772" cy="56440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4800600" y="4114799"/>
            <a:ext cx="409903" cy="40990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0" name="直線接點 9"/>
          <p:cNvCxnSpPr>
            <a:stCxn id="3" idx="3"/>
            <a:endCxn id="20" idx="1"/>
          </p:cNvCxnSpPr>
          <p:nvPr/>
        </p:nvCxnSpPr>
        <p:spPr>
          <a:xfrm>
            <a:off x="2017986" y="2199059"/>
            <a:ext cx="6119649" cy="42987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接點 15"/>
          <p:cNvCxnSpPr>
            <a:stCxn id="27" idx="3"/>
            <a:endCxn id="28" idx="1"/>
          </p:cNvCxnSpPr>
          <p:nvPr/>
        </p:nvCxnSpPr>
        <p:spPr>
          <a:xfrm flipV="1">
            <a:off x="2619467" y="3405347"/>
            <a:ext cx="4763815" cy="1765738"/>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5" name="直線接點 24"/>
          <p:cNvCxnSpPr>
            <a:stCxn id="22" idx="3"/>
            <a:endCxn id="26" idx="1"/>
          </p:cNvCxnSpPr>
          <p:nvPr/>
        </p:nvCxnSpPr>
        <p:spPr>
          <a:xfrm>
            <a:off x="2017986" y="3697013"/>
            <a:ext cx="6119649" cy="1338647"/>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3" name="直線接點 32"/>
          <p:cNvCxnSpPr>
            <a:endCxn id="34" idx="1"/>
          </p:cNvCxnSpPr>
          <p:nvPr/>
        </p:nvCxnSpPr>
        <p:spPr>
          <a:xfrm>
            <a:off x="3518106" y="2803283"/>
            <a:ext cx="3029604" cy="3203374"/>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1182414" y="1781273"/>
            <a:ext cx="835572" cy="8355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p:cNvSpPr/>
          <p:nvPr/>
        </p:nvSpPr>
        <p:spPr>
          <a:xfrm>
            <a:off x="8137635" y="6080004"/>
            <a:ext cx="835572" cy="8355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p:cNvSpPr/>
          <p:nvPr/>
        </p:nvSpPr>
        <p:spPr>
          <a:xfrm>
            <a:off x="1182414" y="3279227"/>
            <a:ext cx="835572" cy="835572"/>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p:cNvSpPr/>
          <p:nvPr/>
        </p:nvSpPr>
        <p:spPr>
          <a:xfrm>
            <a:off x="8137635" y="4617874"/>
            <a:ext cx="835572" cy="835572"/>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p:cNvSpPr/>
          <p:nvPr/>
        </p:nvSpPr>
        <p:spPr>
          <a:xfrm>
            <a:off x="1783895" y="4753299"/>
            <a:ext cx="835572" cy="83557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p:cNvSpPr/>
          <p:nvPr/>
        </p:nvSpPr>
        <p:spPr>
          <a:xfrm>
            <a:off x="7383282" y="2987561"/>
            <a:ext cx="835572" cy="83557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p:cNvSpPr/>
          <p:nvPr/>
        </p:nvSpPr>
        <p:spPr>
          <a:xfrm>
            <a:off x="2682534" y="2385497"/>
            <a:ext cx="835572" cy="835572"/>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p:cNvSpPr/>
          <p:nvPr/>
        </p:nvSpPr>
        <p:spPr>
          <a:xfrm>
            <a:off x="6547710" y="5588871"/>
            <a:ext cx="835572" cy="835572"/>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93727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ORB descriptor(4/4)</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503998" y="1769043"/>
                <a:ext cx="9071643" cy="5639398"/>
              </a:xfrm>
            </p:spPr>
            <p:txBody>
              <a:bodyPr/>
              <a:lstStyle/>
              <a:p>
                <a:pPr marL="457200" indent="-457200">
                  <a:buFont typeface="Arial" panose="020B0604020202020204" pitchFamily="34" charset="0"/>
                  <a:buChar char="•"/>
                </a:pPr>
                <a:r>
                  <a:rPr lang="zh-TW" altLang="en-US" dirty="0">
                    <a:latin typeface="Cambria Math" panose="02040503050406030204" pitchFamily="18" charset="0"/>
                    <a:ea typeface="微軟正黑體" panose="020B0604030504040204" pitchFamily="34" charset="-120"/>
                  </a:rPr>
                  <a:t>加入角度資訊</a:t>
                </a:r>
                <a:endParaRPr lang="en-US" altLang="zh-TW" dirty="0">
                  <a:latin typeface="Cambria Math" panose="02040503050406030204" pitchFamily="18" charset="0"/>
                  <a:ea typeface="微軟正黑體" panose="020B0604030504040204" pitchFamily="34" charset="-120"/>
                </a:endParaRPr>
              </a:p>
              <a:p>
                <a:pPr/>
                <a14:m>
                  <m:oMathPara xmlns:m="http://schemas.openxmlformats.org/officeDocument/2006/math">
                    <m:oMathParaPr>
                      <m:jc m:val="center"/>
                    </m:oMathParaPr>
                    <m:oMath xmlns:m="http://schemas.openxmlformats.org/officeDocument/2006/math">
                      <m:r>
                        <a:rPr lang="en-US" altLang="zh-TW" i="1">
                          <a:latin typeface="Cambria Math" panose="02040503050406030204" pitchFamily="18" charset="0"/>
                        </a:rPr>
                        <m:t>𝑆</m:t>
                      </m:r>
                      <m:r>
                        <a:rPr lang="en-US" altLang="zh-TW" i="1">
                          <a:latin typeface="Cambria Math" panose="02040503050406030204" pitchFamily="18" charset="0"/>
                        </a:rPr>
                        <m:t>=</m:t>
                      </m:r>
                      <m:d>
                        <m:dPr>
                          <m:ctrlPr>
                            <a:rPr lang="en-US" altLang="zh-TW" i="1">
                              <a:latin typeface="Cambria Math" panose="02040503050406030204" pitchFamily="18" charset="0"/>
                            </a:rPr>
                          </m:ctrlPr>
                        </m:dPr>
                        <m:e>
                          <m:f>
                            <m:fPr>
                              <m:type m:val="noBar"/>
                              <m:ctrlPr>
                                <a:rPr lang="en-US" altLang="zh-TW" i="1">
                                  <a:latin typeface="Cambria Math" panose="02040503050406030204" pitchFamily="18" charset="0"/>
                                </a:rPr>
                              </m:ctrlPr>
                            </m:fPr>
                            <m:num>
                              <m:sSub>
                                <m:sSubPr>
                                  <m:ctrlPr>
                                    <a:rPr lang="en-US" altLang="zh-TW" i="1">
                                      <a:latin typeface="Cambria Math" panose="02040503050406030204" pitchFamily="18" charset="0"/>
                                    </a:rPr>
                                  </m:ctrlPr>
                                </m:sSubPr>
                                <m:e>
                                  <m:r>
                                    <a:rPr lang="en-US" altLang="zh-TW" i="1">
                                      <a:latin typeface="Cambria Math" panose="02040503050406030204" pitchFamily="18" charset="0"/>
                                    </a:rPr>
                                    <m:t>𝑎</m:t>
                                  </m:r>
                                </m:e>
                                <m:sub>
                                  <m:r>
                                    <a:rPr lang="en-US" altLang="zh-TW" i="1">
                                      <a:latin typeface="Cambria Math" panose="02040503050406030204" pitchFamily="18" charset="0"/>
                                    </a:rPr>
                                    <m:t>1</m:t>
                                  </m:r>
                                </m:sub>
                              </m:sSub>
                            </m:num>
                            <m:den>
                              <m:sSub>
                                <m:sSubPr>
                                  <m:ctrlPr>
                                    <a:rPr lang="en-US" altLang="zh-TW" i="1">
                                      <a:latin typeface="Cambria Math" panose="02040503050406030204" pitchFamily="18" charset="0"/>
                                    </a:rPr>
                                  </m:ctrlPr>
                                </m:sSubPr>
                                <m:e>
                                  <m:r>
                                    <a:rPr lang="en-US" altLang="zh-TW" i="1">
                                      <a:latin typeface="Cambria Math" panose="02040503050406030204" pitchFamily="18" charset="0"/>
                                    </a:rPr>
                                    <m:t>𝑏</m:t>
                                  </m:r>
                                </m:e>
                                <m:sub>
                                  <m:r>
                                    <a:rPr lang="en-US" altLang="zh-TW" i="1">
                                      <a:latin typeface="Cambria Math" panose="02040503050406030204" pitchFamily="18" charset="0"/>
                                    </a:rPr>
                                    <m:t>1</m:t>
                                  </m:r>
                                </m:sub>
                              </m:sSub>
                            </m:den>
                          </m:f>
                          <m:r>
                            <a:rPr lang="en-US" altLang="zh-TW" i="1">
                              <a:latin typeface="Cambria Math" panose="02040503050406030204" pitchFamily="18" charset="0"/>
                            </a:rPr>
                            <m:t>, …, </m:t>
                          </m:r>
                          <m:f>
                            <m:fPr>
                              <m:type m:val="noBar"/>
                              <m:ctrlPr>
                                <a:rPr lang="en-US" altLang="zh-TW" i="1">
                                  <a:latin typeface="Cambria Math" panose="02040503050406030204" pitchFamily="18" charset="0"/>
                                </a:rPr>
                              </m:ctrlPr>
                            </m:fPr>
                            <m:num>
                              <m:sSub>
                                <m:sSubPr>
                                  <m:ctrlPr>
                                    <a:rPr lang="en-US" altLang="zh-TW" i="1">
                                      <a:latin typeface="Cambria Math" panose="02040503050406030204" pitchFamily="18" charset="0"/>
                                    </a:rPr>
                                  </m:ctrlPr>
                                </m:sSubPr>
                                <m:e>
                                  <m:r>
                                    <a:rPr lang="en-US" altLang="zh-TW" i="1">
                                      <a:latin typeface="Cambria Math" panose="02040503050406030204" pitchFamily="18" charset="0"/>
                                    </a:rPr>
                                    <m:t>𝑎</m:t>
                                  </m:r>
                                </m:e>
                                <m:sub>
                                  <m:r>
                                    <a:rPr lang="en-US" altLang="zh-TW" i="1">
                                      <a:latin typeface="Cambria Math" panose="02040503050406030204" pitchFamily="18" charset="0"/>
                                    </a:rPr>
                                    <m:t>𝑛</m:t>
                                  </m:r>
                                </m:sub>
                              </m:sSub>
                            </m:num>
                            <m:den>
                              <m:sSub>
                                <m:sSubPr>
                                  <m:ctrlPr>
                                    <a:rPr lang="en-US" altLang="zh-TW" i="1">
                                      <a:latin typeface="Cambria Math" panose="02040503050406030204" pitchFamily="18" charset="0"/>
                                    </a:rPr>
                                  </m:ctrlPr>
                                </m:sSubPr>
                                <m:e>
                                  <m:r>
                                    <a:rPr lang="en-US" altLang="zh-TW" i="1">
                                      <a:latin typeface="Cambria Math" panose="02040503050406030204" pitchFamily="18" charset="0"/>
                                    </a:rPr>
                                    <m:t>𝑏</m:t>
                                  </m:r>
                                </m:e>
                                <m:sub>
                                  <m:r>
                                    <a:rPr lang="en-US" altLang="zh-TW" i="1">
                                      <a:latin typeface="Cambria Math" panose="02040503050406030204" pitchFamily="18" charset="0"/>
                                    </a:rPr>
                                    <m:t>𝑛</m:t>
                                  </m:r>
                                </m:sub>
                              </m:sSub>
                            </m:den>
                          </m:f>
                        </m:e>
                      </m:d>
                    </m:oMath>
                  </m:oMathPara>
                </a14:m>
                <a:endParaRPr lang="en-US" altLang="zh-TW" dirty="0">
                  <a:latin typeface="Cambria Math" panose="02040503050406030204" pitchFamily="18" charset="0"/>
                  <a:ea typeface="微軟正黑體" panose="020B0604030504040204" pitchFamily="34" charset="-120"/>
                </a:endParaRPr>
              </a:p>
              <a:p>
                <a:endParaRPr lang="en-US" altLang="zh-TW" dirty="0">
                  <a:latin typeface="Cambria Math" panose="02040503050406030204" pitchFamily="18" charset="0"/>
                  <a:ea typeface="微軟正黑體" panose="020B0604030504040204" pitchFamily="34" charset="-120"/>
                </a:endParaRPr>
              </a:p>
              <a:p>
                <a:pPr/>
                <a14:m>
                  <m:oMathPara xmlns:m="http://schemas.openxmlformats.org/officeDocument/2006/math">
                    <m:oMathParaPr>
                      <m:jc m:val="center"/>
                    </m:oMathParaPr>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zh-TW" altLang="en-US" i="1">
                              <a:latin typeface="Cambria Math" panose="02040503050406030204" pitchFamily="18" charset="0"/>
                            </a:rPr>
                            <m:t>𝜃</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𝑅</m:t>
                          </m:r>
                        </m:e>
                        <m:sub>
                          <m:r>
                            <a:rPr lang="zh-TW" altLang="en-US" i="1">
                              <a:latin typeface="Cambria Math" panose="02040503050406030204" pitchFamily="18" charset="0"/>
                            </a:rPr>
                            <m:t>𝜃</m:t>
                          </m:r>
                        </m:sub>
                      </m:sSub>
                      <m:r>
                        <a:rPr lang="en-US" altLang="zh-TW" i="1">
                          <a:latin typeface="Cambria Math" panose="02040503050406030204" pitchFamily="18" charset="0"/>
                        </a:rPr>
                        <m:t>𝑆</m:t>
                      </m:r>
                    </m:oMath>
                  </m:oMathPara>
                </a14:m>
                <a:endParaRPr lang="en-US" altLang="zh-TW" dirty="0">
                  <a:latin typeface="Cambria Math" panose="02040503050406030204" pitchFamily="18" charset="0"/>
                  <a:ea typeface="微軟正黑體" panose="020B0604030504040204" pitchFamily="34" charset="-120"/>
                </a:endParaRPr>
              </a:p>
              <a:p>
                <a:endParaRPr lang="en-US" altLang="zh-TW" dirty="0"/>
              </a:p>
              <a:p>
                <a:pPr/>
                <a14:m>
                  <m:oMathPara xmlns:m="http://schemas.openxmlformats.org/officeDocument/2006/math">
                    <m:oMathParaPr>
                      <m:jc m:val="center"/>
                    </m:oMathParaPr>
                    <m:oMath xmlns:m="http://schemas.openxmlformats.org/officeDocument/2006/math">
                      <m:sSub>
                        <m:sSubPr>
                          <m:ctrlPr>
                            <a:rPr lang="en-US" altLang="zh-TW" i="1">
                              <a:latin typeface="Cambria Math" panose="02040503050406030204" pitchFamily="18" charset="0"/>
                            </a:rPr>
                          </m:ctrlPr>
                        </m:sSubPr>
                        <m:e>
                          <m:r>
                            <a:rPr lang="en-US" altLang="zh-TW" i="1">
                              <a:latin typeface="Cambria Math"/>
                            </a:rPr>
                            <m:t>𝑅</m:t>
                          </m:r>
                        </m:e>
                        <m:sub>
                          <m:r>
                            <a:rPr lang="zh-TW" altLang="en-US" i="1">
                              <a:latin typeface="Cambria Math"/>
                            </a:rPr>
                            <m:t>𝜃</m:t>
                          </m:r>
                        </m:sub>
                      </m:sSub>
                      <m:r>
                        <a:rPr lang="en-US" altLang="zh-TW" i="1">
                          <a:latin typeface="Cambria Math"/>
                        </a:rPr>
                        <m:t>=</m:t>
                      </m:r>
                      <m:d>
                        <m:dPr>
                          <m:begChr m:val="["/>
                          <m:endChr m:val="]"/>
                          <m:ctrlPr>
                            <a:rPr lang="en-US" altLang="zh-TW" i="1">
                              <a:latin typeface="Cambria Math" panose="02040503050406030204" pitchFamily="18" charset="0"/>
                            </a:rPr>
                          </m:ctrlPr>
                        </m:dPr>
                        <m:e>
                          <m:m>
                            <m:mPr>
                              <m:mcs>
                                <m:mc>
                                  <m:mcPr>
                                    <m:count m:val="2"/>
                                    <m:mcJc m:val="center"/>
                                  </m:mcPr>
                                </m:mc>
                              </m:mcs>
                              <m:ctrlPr>
                                <a:rPr lang="en-US" altLang="zh-TW" i="1">
                                  <a:latin typeface="Cambria Math" panose="02040503050406030204" pitchFamily="18" charset="0"/>
                                </a:rPr>
                              </m:ctrlPr>
                            </m:mPr>
                            <m:mr>
                              <m:e>
                                <m:func>
                                  <m:funcPr>
                                    <m:ctrlPr>
                                      <a:rPr lang="en-US" altLang="zh-TW" i="1">
                                        <a:latin typeface="Cambria Math" panose="02040503050406030204" pitchFamily="18" charset="0"/>
                                      </a:rPr>
                                    </m:ctrlPr>
                                  </m:funcPr>
                                  <m:fName>
                                    <m:r>
                                      <m:rPr>
                                        <m:sty m:val="p"/>
                                        <m:brk m:alnAt="7"/>
                                      </m:rPr>
                                      <a:rPr lang="en-US" altLang="zh-TW">
                                        <a:latin typeface="Cambria Math"/>
                                      </a:rPr>
                                      <m:t>c</m:t>
                                    </m:r>
                                    <m:r>
                                      <m:rPr>
                                        <m:sty m:val="p"/>
                                      </m:rPr>
                                      <a:rPr lang="en-US" altLang="zh-TW">
                                        <a:latin typeface="Cambria Math"/>
                                      </a:rPr>
                                      <m:t>os</m:t>
                                    </m:r>
                                  </m:fName>
                                  <m:e>
                                    <m:r>
                                      <a:rPr lang="zh-TW" altLang="en-US" i="1">
                                        <a:latin typeface="Cambria Math"/>
                                      </a:rPr>
                                      <m:t>𝜃</m:t>
                                    </m:r>
                                  </m:e>
                                </m:func>
                              </m:e>
                              <m:e>
                                <m:func>
                                  <m:funcPr>
                                    <m:ctrlPr>
                                      <a:rPr lang="en-US" altLang="zh-TW" i="1">
                                        <a:latin typeface="Cambria Math" panose="02040503050406030204" pitchFamily="18" charset="0"/>
                                      </a:rPr>
                                    </m:ctrlPr>
                                  </m:funcPr>
                                  <m:fName>
                                    <m:r>
                                      <m:rPr>
                                        <m:sty m:val="p"/>
                                      </m:rPr>
                                      <a:rPr lang="en-US" altLang="zh-TW">
                                        <a:latin typeface="Cambria Math"/>
                                      </a:rPr>
                                      <m:t>sin</m:t>
                                    </m:r>
                                  </m:fName>
                                  <m:e>
                                    <m:r>
                                      <a:rPr lang="zh-TW" altLang="en-US" i="1">
                                        <a:latin typeface="Cambria Math"/>
                                      </a:rPr>
                                      <m:t>𝜃</m:t>
                                    </m:r>
                                  </m:e>
                                </m:func>
                              </m:e>
                            </m:mr>
                            <m:mr>
                              <m:e>
                                <m:r>
                                  <a:rPr lang="en-US" altLang="zh-TW" i="1">
                                    <a:latin typeface="Cambria Math"/>
                                  </a:rPr>
                                  <m:t>−</m:t>
                                </m:r>
                                <m:func>
                                  <m:funcPr>
                                    <m:ctrlPr>
                                      <a:rPr lang="en-US" altLang="zh-TW" i="1">
                                        <a:latin typeface="Cambria Math" panose="02040503050406030204" pitchFamily="18" charset="0"/>
                                      </a:rPr>
                                    </m:ctrlPr>
                                  </m:funcPr>
                                  <m:fName>
                                    <m:r>
                                      <m:rPr>
                                        <m:sty m:val="p"/>
                                      </m:rPr>
                                      <a:rPr lang="en-US" altLang="zh-TW">
                                        <a:latin typeface="Cambria Math"/>
                                      </a:rPr>
                                      <m:t>sin</m:t>
                                    </m:r>
                                  </m:fName>
                                  <m:e>
                                    <m:r>
                                      <a:rPr lang="zh-TW" altLang="en-US" i="1">
                                        <a:latin typeface="Cambria Math"/>
                                      </a:rPr>
                                      <m:t>𝜃</m:t>
                                    </m:r>
                                  </m:e>
                                </m:func>
                              </m:e>
                              <m:e>
                                <m:func>
                                  <m:funcPr>
                                    <m:ctrlPr>
                                      <a:rPr lang="en-US" altLang="zh-TW" i="1">
                                        <a:latin typeface="Cambria Math" panose="02040503050406030204" pitchFamily="18" charset="0"/>
                                      </a:rPr>
                                    </m:ctrlPr>
                                  </m:funcPr>
                                  <m:fName>
                                    <m:r>
                                      <m:rPr>
                                        <m:sty m:val="p"/>
                                      </m:rPr>
                                      <a:rPr lang="en-US" altLang="zh-TW">
                                        <a:latin typeface="Cambria Math"/>
                                      </a:rPr>
                                      <m:t>cos</m:t>
                                    </m:r>
                                  </m:fName>
                                  <m:e>
                                    <m:r>
                                      <a:rPr lang="zh-TW" altLang="en-US" i="1">
                                        <a:latin typeface="Cambria Math"/>
                                      </a:rPr>
                                      <m:t>𝜃</m:t>
                                    </m:r>
                                  </m:e>
                                </m:func>
                              </m:e>
                            </m:mr>
                          </m:m>
                        </m:e>
                      </m:d>
                    </m:oMath>
                  </m:oMathPara>
                </a14:m>
                <a:endParaRPr lang="en-US" altLang="zh-TW" dirty="0">
                  <a:highlight>
                    <a:scrgbClr r="0" g="0" b="0">
                      <a:alpha val="0"/>
                    </a:scrgbClr>
                  </a:highlight>
                  <a:latin typeface="Cambria Math" panose="02040503050406030204" pitchFamily="18" charset="0"/>
                  <a:ea typeface="微軟正黑體" panose="020B0604030504040204" pitchFamily="34" charset="-12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503998" y="1769043"/>
                <a:ext cx="9071643" cy="5639398"/>
              </a:xfrm>
              <a:blipFill>
                <a:blip r:embed="rId2"/>
                <a:stretch>
                  <a:fillRect l="-2554" t="-17946"/>
                </a:stretch>
              </a:blipFill>
            </p:spPr>
            <p:txBody>
              <a:bodyPr/>
              <a:lstStyle/>
              <a:p>
                <a:r>
                  <a:rPr lang="zh-TW" altLang="en-US">
                    <a:noFill/>
                  </a:rPr>
                  <a:t> </a:t>
                </a:r>
              </a:p>
            </p:txBody>
          </p:sp>
        </mc:Fallback>
      </mc:AlternateContent>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7</a:t>
            </a:fld>
            <a:endParaRPr lang="zh-TW" altLang="en-US" dirty="0"/>
          </a:p>
        </p:txBody>
      </p:sp>
    </p:spTree>
    <p:extLst>
      <p:ext uri="{BB962C8B-B14F-4D97-AF65-F5344CB8AC3E}">
        <p14:creationId xmlns:p14="http://schemas.microsoft.com/office/powerpoint/2010/main" val="1673600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Centrist descriptor</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pPr marL="514350" indent="-514350">
              <a:spcAft>
                <a:spcPts val="1415"/>
              </a:spcAft>
              <a:buFont typeface="Arial" panose="020B0604020202020204" pitchFamily="34" charset="0"/>
              <a:buChar char="•"/>
            </a:pPr>
            <a:r>
              <a:rPr lang="zh-TW" altLang="en-US" dirty="0">
                <a:latin typeface="Cambria Math" panose="02040503050406030204" pitchFamily="18" charset="0"/>
                <a:ea typeface="微軟正黑體" panose="020B0604030504040204" pitchFamily="34" charset="-120"/>
              </a:rPr>
              <a:t>與</a:t>
            </a:r>
            <a:r>
              <a:rPr lang="en-US" altLang="zh-TW" dirty="0">
                <a:latin typeface="Cambria Math" panose="02040503050406030204" pitchFamily="18" charset="0"/>
                <a:ea typeface="微軟正黑體" panose="020B0604030504040204" pitchFamily="34" charset="-120"/>
              </a:rPr>
              <a:t>LBP</a:t>
            </a:r>
            <a:r>
              <a:rPr lang="zh-TW" altLang="en-US" dirty="0">
                <a:latin typeface="Cambria Math" panose="02040503050406030204" pitchFamily="18" charset="0"/>
                <a:ea typeface="微軟正黑體" panose="020B0604030504040204" pitchFamily="34" charset="-120"/>
              </a:rPr>
              <a:t>基本上是一樣的，只是排的順序不同。</a:t>
            </a:r>
            <a:endParaRPr lang="en-US" altLang="zh-TW" dirty="0">
              <a:latin typeface="Cambria Math" panose="02040503050406030204" pitchFamily="18" charset="0"/>
              <a:ea typeface="微軟正黑體" panose="020B0604030504040204" pitchFamily="34" charset="-120"/>
            </a:endParaRPr>
          </a:p>
          <a:p>
            <a:pPr marL="514350" indent="-514350">
              <a:spcAft>
                <a:spcPts val="1415"/>
              </a:spcAft>
              <a:buFont typeface="Arial" panose="020B0604020202020204" pitchFamily="34" charset="0"/>
              <a:buChar char="•"/>
            </a:pPr>
            <a:endParaRPr lang="en-US" altLang="zh-TW" dirty="0">
              <a:latin typeface="Cambria Math" panose="02040503050406030204" pitchFamily="18" charset="0"/>
              <a:ea typeface="微軟正黑體" panose="020B0604030504040204" pitchFamily="34" charset="-120"/>
            </a:endParaRPr>
          </a:p>
          <a:p>
            <a:pPr marL="514350" indent="-514350">
              <a:spcAft>
                <a:spcPts val="1415"/>
              </a:spcAft>
              <a:buFont typeface="Arial" panose="020B0604020202020204" pitchFamily="34" charset="0"/>
              <a:buChar char="•"/>
            </a:pPr>
            <a:endParaRPr lang="en-US" altLang="zh-TW" dirty="0">
              <a:latin typeface="Cambria Math" panose="02040503050406030204" pitchFamily="18" charset="0"/>
              <a:ea typeface="微軟正黑體" panose="020B0604030504040204" pitchFamily="34" charset="-120"/>
            </a:endParaRPr>
          </a:p>
          <a:p>
            <a:pPr marL="514350" indent="-514350">
              <a:spcAft>
                <a:spcPts val="1415"/>
              </a:spcAft>
              <a:buFont typeface="Arial" panose="020B0604020202020204" pitchFamily="34" charset="0"/>
              <a:buChar char="•"/>
            </a:pPr>
            <a:r>
              <a:rPr lang="zh-TW" altLang="en-US" dirty="0">
                <a:latin typeface="Cambria Math" panose="02040503050406030204" pitchFamily="18" charset="0"/>
                <a:ea typeface="微軟正黑體" panose="020B0604030504040204" pitchFamily="34" charset="-120"/>
              </a:rPr>
              <a:t>做成</a:t>
            </a:r>
            <a:r>
              <a:rPr lang="en-US" altLang="zh-TW" dirty="0">
                <a:latin typeface="Cambria Math" panose="02040503050406030204" pitchFamily="18" charset="0"/>
                <a:ea typeface="微軟正黑體" panose="020B0604030504040204" pitchFamily="34" charset="-120"/>
              </a:rPr>
              <a:t>CENTRIST (CENsus TRansform hISTogram)</a:t>
            </a:r>
          </a:p>
          <a:p>
            <a:pPr marL="1200150" lvl="1" indent="-514350">
              <a:spcAft>
                <a:spcPts val="1415"/>
              </a:spcAft>
              <a:buFont typeface="Cambria Math" panose="02040503050406030204" pitchFamily="18" charset="0"/>
              <a:buChar char="⎯"/>
            </a:pPr>
            <a:r>
              <a:rPr lang="en-US" altLang="zh-TW" sz="2800" dirty="0">
                <a:latin typeface="Cambria Math" panose="02040503050406030204" pitchFamily="18" charset="0"/>
                <a:ea typeface="微軟正黑體" panose="020B0604030504040204" pitchFamily="34" charset="-120"/>
              </a:rPr>
              <a:t>Centrist: A visual descriptor for scene categorization</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8</a:t>
            </a:fld>
            <a:endParaRPr lang="zh-TW"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425" y="2455705"/>
            <a:ext cx="9311640" cy="1543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57054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Color histogram descriptor</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pPr marL="514350" indent="-514350">
              <a:spcAft>
                <a:spcPts val="1415"/>
              </a:spcAft>
              <a:buFont typeface="Arial" panose="020B0604020202020204" pitchFamily="34" charset="0"/>
              <a:buChar char="•"/>
            </a:pPr>
            <a:r>
              <a:rPr lang="zh-TW" altLang="en-US" dirty="0">
                <a:latin typeface="Cambria Math" panose="02040503050406030204" pitchFamily="18" charset="0"/>
                <a:ea typeface="Cambria Math" panose="02040503050406030204" pitchFamily="18" charset="0"/>
              </a:rPr>
              <a:t>方法：</a:t>
            </a:r>
            <a:r>
              <a:rPr lang="en-US" altLang="zh-TW" dirty="0">
                <a:latin typeface="Cambria Math" panose="02040503050406030204" pitchFamily="18" charset="0"/>
                <a:ea typeface="Cambria Math" panose="02040503050406030204" pitchFamily="18" charset="0"/>
              </a:rPr>
              <a:t>Median Cut Algorithm</a:t>
            </a:r>
            <a:r>
              <a:rPr lang="zh-TW" altLang="en-US" dirty="0">
                <a:latin typeface="Cambria Math" panose="02040503050406030204" pitchFamily="18" charset="0"/>
                <a:ea typeface="Cambria Math" panose="02040503050406030204" pitchFamily="18" charset="0"/>
              </a:rPr>
              <a:t>的變形，在色彩空間中每次都找出最佳的切割，切出最具有代表性的</a:t>
            </a:r>
            <a:r>
              <a:rPr lang="en-US" altLang="zh-TW" dirty="0">
                <a:latin typeface="Cambria Math" panose="02040503050406030204" pitchFamily="18" charset="0"/>
                <a:ea typeface="Cambria Math" panose="02040503050406030204" pitchFamily="18" charset="0"/>
              </a:rPr>
              <a:t>box</a:t>
            </a:r>
            <a:r>
              <a:rPr lang="zh-TW" altLang="en-US" dirty="0">
                <a:latin typeface="Cambria Math" panose="02040503050406030204" pitchFamily="18" charset="0"/>
                <a:ea typeface="Cambria Math" panose="02040503050406030204" pitchFamily="18" charset="0"/>
              </a:rPr>
              <a:t>以及較無代表性的</a:t>
            </a:r>
            <a:r>
              <a:rPr lang="en-US" altLang="zh-TW" dirty="0">
                <a:latin typeface="Cambria Math" panose="02040503050406030204" pitchFamily="18" charset="0"/>
                <a:ea typeface="Cambria Math" panose="02040503050406030204" pitchFamily="18" charset="0"/>
              </a:rPr>
              <a:t>box</a:t>
            </a:r>
            <a:r>
              <a:rPr lang="zh-TW" altLang="en-US" dirty="0">
                <a:latin typeface="Cambria Math" panose="02040503050406030204" pitchFamily="18" charset="0"/>
                <a:ea typeface="Cambria Math" panose="02040503050406030204" pitchFamily="18" charset="0"/>
              </a:rPr>
              <a:t>，在將這兩個</a:t>
            </a:r>
            <a:r>
              <a:rPr lang="en-US" altLang="zh-TW" dirty="0">
                <a:latin typeface="Cambria Math" panose="02040503050406030204" pitchFamily="18" charset="0"/>
                <a:ea typeface="Cambria Math" panose="02040503050406030204" pitchFamily="18" charset="0"/>
              </a:rPr>
              <a:t>box</a:t>
            </a:r>
            <a:r>
              <a:rPr lang="zh-TW" altLang="en-US" dirty="0">
                <a:latin typeface="Cambria Math" panose="02040503050406030204" pitchFamily="18" charset="0"/>
                <a:ea typeface="Cambria Math" panose="02040503050406030204" pitchFamily="18" charset="0"/>
              </a:rPr>
              <a:t>放回</a:t>
            </a:r>
            <a:r>
              <a:rPr lang="en-US" altLang="zh-TW" dirty="0">
                <a:latin typeface="Cambria Math" panose="02040503050406030204" pitchFamily="18" charset="0"/>
                <a:ea typeface="Cambria Math" panose="02040503050406030204" pitchFamily="18" charset="0"/>
              </a:rPr>
              <a:t>list</a:t>
            </a:r>
            <a:r>
              <a:rPr lang="zh-TW" altLang="en-US" dirty="0">
                <a:latin typeface="Cambria Math" panose="02040503050406030204" pitchFamily="18" charset="0"/>
                <a:ea typeface="Cambria Math" panose="02040503050406030204" pitchFamily="18" charset="0"/>
              </a:rPr>
              <a:t>中，反覆進行到共有</a:t>
            </a:r>
            <a:r>
              <a:rPr lang="en-US" altLang="zh-TW" dirty="0">
                <a:latin typeface="Cambria Math" panose="02040503050406030204" pitchFamily="18" charset="0"/>
                <a:ea typeface="Cambria Math" panose="02040503050406030204" pitchFamily="18" charset="0"/>
              </a:rPr>
              <a:t>N</a:t>
            </a:r>
            <a:r>
              <a:rPr lang="zh-TW" altLang="en-US" dirty="0">
                <a:latin typeface="Cambria Math" panose="02040503050406030204" pitchFamily="18" charset="0"/>
                <a:ea typeface="Cambria Math" panose="02040503050406030204" pitchFamily="18" charset="0"/>
              </a:rPr>
              <a:t>個</a:t>
            </a:r>
            <a:r>
              <a:rPr lang="en-US" altLang="zh-TW" dirty="0">
                <a:latin typeface="Cambria Math" panose="02040503050406030204" pitchFamily="18" charset="0"/>
                <a:ea typeface="Cambria Math" panose="02040503050406030204" pitchFamily="18" charset="0"/>
              </a:rPr>
              <a:t>box</a:t>
            </a:r>
            <a:r>
              <a:rPr lang="zh-TW" altLang="en-US" dirty="0">
                <a:latin typeface="Cambria Math" panose="02040503050406030204" pitchFamily="18" charset="0"/>
                <a:ea typeface="Cambria Math" panose="02040503050406030204" pitchFamily="18" charset="0"/>
              </a:rPr>
              <a:t>為止。</a:t>
            </a:r>
            <a:endParaRPr lang="en-US" altLang="zh-TW" dirty="0">
              <a:latin typeface="Cambria Math" panose="02040503050406030204" pitchFamily="18" charset="0"/>
              <a:ea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9</a:t>
            </a:fld>
            <a:endParaRPr lang="zh-TW" altLang="en-US" dirty="0"/>
          </a:p>
        </p:txBody>
      </p:sp>
      <p:sp>
        <p:nvSpPr>
          <p:cNvPr id="16" name="立方體 15"/>
          <p:cNvSpPr/>
          <p:nvPr/>
        </p:nvSpPr>
        <p:spPr>
          <a:xfrm>
            <a:off x="2081048" y="4177861"/>
            <a:ext cx="2743200" cy="2837793"/>
          </a:xfrm>
          <a:prstGeom prst="cub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8" name="直線接點 17"/>
          <p:cNvCxnSpPr/>
          <p:nvPr/>
        </p:nvCxnSpPr>
        <p:spPr>
          <a:xfrm>
            <a:off x="2758966" y="4177861"/>
            <a:ext cx="0" cy="215987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flipH="1">
            <a:off x="2081050" y="6337738"/>
            <a:ext cx="677916" cy="67791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線接點 21"/>
          <p:cNvCxnSpPr/>
          <p:nvPr/>
        </p:nvCxnSpPr>
        <p:spPr>
          <a:xfrm>
            <a:off x="2758966" y="6337738"/>
            <a:ext cx="2065282"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橢圓 22"/>
          <p:cNvSpPr/>
          <p:nvPr/>
        </p:nvSpPr>
        <p:spPr>
          <a:xfrm>
            <a:off x="3791607" y="4556234"/>
            <a:ext cx="189186" cy="18918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橢圓 23"/>
          <p:cNvSpPr/>
          <p:nvPr/>
        </p:nvSpPr>
        <p:spPr>
          <a:xfrm>
            <a:off x="2325415" y="5407571"/>
            <a:ext cx="189186" cy="18918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p:cNvSpPr/>
          <p:nvPr/>
        </p:nvSpPr>
        <p:spPr>
          <a:xfrm>
            <a:off x="2711670" y="6487510"/>
            <a:ext cx="189186" cy="18918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p:nvSpPr>
        <p:spPr>
          <a:xfrm>
            <a:off x="2514601" y="5801710"/>
            <a:ext cx="189186" cy="18918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p:nvSpPr>
        <p:spPr>
          <a:xfrm>
            <a:off x="3791607" y="5423336"/>
            <a:ext cx="189186" cy="18918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p:cNvSpPr/>
          <p:nvPr/>
        </p:nvSpPr>
        <p:spPr>
          <a:xfrm>
            <a:off x="2664373" y="4461641"/>
            <a:ext cx="189186" cy="18918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p:cNvSpPr/>
          <p:nvPr/>
        </p:nvSpPr>
        <p:spPr>
          <a:xfrm>
            <a:off x="4382814" y="5896303"/>
            <a:ext cx="189186" cy="18918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p:cNvSpPr/>
          <p:nvPr/>
        </p:nvSpPr>
        <p:spPr>
          <a:xfrm>
            <a:off x="3602421" y="6085488"/>
            <a:ext cx="189186" cy="18918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p:cNvSpPr/>
          <p:nvPr/>
        </p:nvSpPr>
        <p:spPr>
          <a:xfrm>
            <a:off x="4303987" y="5037082"/>
            <a:ext cx="189186" cy="18918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立方體 31"/>
          <p:cNvSpPr/>
          <p:nvPr/>
        </p:nvSpPr>
        <p:spPr>
          <a:xfrm>
            <a:off x="5460127" y="4193625"/>
            <a:ext cx="2743200" cy="2837793"/>
          </a:xfrm>
          <a:prstGeom prst="cub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3" name="直線接點 32"/>
          <p:cNvCxnSpPr/>
          <p:nvPr/>
        </p:nvCxnSpPr>
        <p:spPr>
          <a:xfrm>
            <a:off x="6138045" y="4193625"/>
            <a:ext cx="0" cy="2159877"/>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線接點 33"/>
          <p:cNvCxnSpPr/>
          <p:nvPr/>
        </p:nvCxnSpPr>
        <p:spPr>
          <a:xfrm flipH="1">
            <a:off x="5460129" y="6353502"/>
            <a:ext cx="677916" cy="677916"/>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線接點 34"/>
          <p:cNvCxnSpPr/>
          <p:nvPr/>
        </p:nvCxnSpPr>
        <p:spPr>
          <a:xfrm>
            <a:off x="6138045" y="6353502"/>
            <a:ext cx="2065282" cy="0"/>
          </a:xfrm>
          <a:prstGeom prst="line">
            <a:avLst/>
          </a:prstGeom>
        </p:spPr>
        <p:style>
          <a:lnRef idx="1">
            <a:schemeClr val="accent1"/>
          </a:lnRef>
          <a:fillRef idx="0">
            <a:schemeClr val="accent1"/>
          </a:fillRef>
          <a:effectRef idx="0">
            <a:schemeClr val="accent1"/>
          </a:effectRef>
          <a:fontRef idx="minor">
            <a:schemeClr val="tx1"/>
          </a:fontRef>
        </p:style>
      </p:cxnSp>
      <p:sp>
        <p:nvSpPr>
          <p:cNvPr id="36" name="橢圓 35"/>
          <p:cNvSpPr/>
          <p:nvPr/>
        </p:nvSpPr>
        <p:spPr>
          <a:xfrm>
            <a:off x="7170686" y="4571998"/>
            <a:ext cx="189186" cy="18918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p:cNvSpPr/>
          <p:nvPr/>
        </p:nvSpPr>
        <p:spPr>
          <a:xfrm>
            <a:off x="5704494" y="5423335"/>
            <a:ext cx="189186" cy="18918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橢圓 37"/>
          <p:cNvSpPr/>
          <p:nvPr/>
        </p:nvSpPr>
        <p:spPr>
          <a:xfrm>
            <a:off x="6090749" y="6503274"/>
            <a:ext cx="189186" cy="18918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橢圓 38"/>
          <p:cNvSpPr/>
          <p:nvPr/>
        </p:nvSpPr>
        <p:spPr>
          <a:xfrm>
            <a:off x="5893680" y="5817474"/>
            <a:ext cx="189186" cy="18918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橢圓 39"/>
          <p:cNvSpPr/>
          <p:nvPr/>
        </p:nvSpPr>
        <p:spPr>
          <a:xfrm>
            <a:off x="7170686" y="5439100"/>
            <a:ext cx="189186" cy="18918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橢圓 40"/>
          <p:cNvSpPr/>
          <p:nvPr/>
        </p:nvSpPr>
        <p:spPr>
          <a:xfrm>
            <a:off x="6043452" y="4477405"/>
            <a:ext cx="189186" cy="18918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橢圓 41"/>
          <p:cNvSpPr/>
          <p:nvPr/>
        </p:nvSpPr>
        <p:spPr>
          <a:xfrm>
            <a:off x="7761893" y="5912067"/>
            <a:ext cx="189186" cy="18918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橢圓 42"/>
          <p:cNvSpPr/>
          <p:nvPr/>
        </p:nvSpPr>
        <p:spPr>
          <a:xfrm>
            <a:off x="6981500" y="6101252"/>
            <a:ext cx="189186" cy="18918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橢圓 43"/>
          <p:cNvSpPr/>
          <p:nvPr/>
        </p:nvSpPr>
        <p:spPr>
          <a:xfrm>
            <a:off x="7683066" y="5052846"/>
            <a:ext cx="189186" cy="18918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6" name="直線接點 45"/>
          <p:cNvCxnSpPr>
            <a:stCxn id="32" idx="0"/>
            <a:endCxn id="32" idx="1"/>
          </p:cNvCxnSpPr>
          <p:nvPr/>
        </p:nvCxnSpPr>
        <p:spPr>
          <a:xfrm flipH="1">
            <a:off x="6488827" y="4193625"/>
            <a:ext cx="685800" cy="685800"/>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接點 47"/>
          <p:cNvCxnSpPr>
            <a:stCxn id="32" idx="1"/>
            <a:endCxn id="32" idx="3"/>
          </p:cNvCxnSpPr>
          <p:nvPr/>
        </p:nvCxnSpPr>
        <p:spPr>
          <a:xfrm>
            <a:off x="6488827" y="4879425"/>
            <a:ext cx="0" cy="2151993"/>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接點 49"/>
          <p:cNvCxnSpPr>
            <a:stCxn id="32" idx="3"/>
          </p:cNvCxnSpPr>
          <p:nvPr/>
        </p:nvCxnSpPr>
        <p:spPr>
          <a:xfrm flipV="1">
            <a:off x="6488827" y="6353502"/>
            <a:ext cx="681859" cy="677916"/>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接點 52"/>
          <p:cNvCxnSpPr>
            <a:stCxn id="32" idx="0"/>
          </p:cNvCxnSpPr>
          <p:nvPr/>
        </p:nvCxnSpPr>
        <p:spPr>
          <a:xfrm flipH="1">
            <a:off x="7170686" y="4193625"/>
            <a:ext cx="3941" cy="2144113"/>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7054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Bag of words model</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pPr marL="514350" indent="-514350">
              <a:spcAft>
                <a:spcPts val="1415"/>
              </a:spcAft>
              <a:buFont typeface="+mj-lt"/>
              <a:buAutoNum type="arabicPeriod"/>
            </a:pPr>
            <a:endParaRPr lang="en-US" altLang="zh-TW" dirty="0">
              <a:latin typeface="Cambria Math" panose="02040503050406030204" pitchFamily="18" charset="0"/>
              <a:ea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10</a:t>
            </a:fld>
            <a:endParaRPr lang="zh-TW"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1780" y="1843405"/>
            <a:ext cx="6675442" cy="55029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左大括弧 4"/>
          <p:cNvSpPr/>
          <p:nvPr/>
        </p:nvSpPr>
        <p:spPr>
          <a:xfrm>
            <a:off x="1369060" y="3550920"/>
            <a:ext cx="320040" cy="952500"/>
          </a:xfrm>
          <a:prstGeom prst="leftBrace">
            <a:avLst>
              <a:gd name="adj1" fmla="val 13211"/>
              <a:gd name="adj2" fmla="val 50001"/>
            </a:avLst>
          </a:prstGeom>
          <a:ln w="539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7" name="左大括弧 6"/>
          <p:cNvSpPr/>
          <p:nvPr/>
        </p:nvSpPr>
        <p:spPr>
          <a:xfrm>
            <a:off x="1369060" y="4831080"/>
            <a:ext cx="320040" cy="1874520"/>
          </a:xfrm>
          <a:prstGeom prst="leftBrace">
            <a:avLst>
              <a:gd name="adj1" fmla="val 13211"/>
              <a:gd name="adj2" fmla="val 50001"/>
            </a:avLst>
          </a:prstGeom>
          <a:ln w="539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3287260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Experiments(1/2)</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pPr marL="514350" indent="-514350">
              <a:spcAft>
                <a:spcPts val="1415"/>
              </a:spcAft>
              <a:buFont typeface="Arial" panose="020B0604020202020204" pitchFamily="34" charset="0"/>
              <a:buChar char="•"/>
            </a:pPr>
            <a:r>
              <a:rPr lang="en-US" altLang="zh-TW" dirty="0">
                <a:latin typeface="Cambria Math" panose="02040503050406030204" pitchFamily="18" charset="0"/>
                <a:ea typeface="Cambria Math" panose="02040503050406030204" pitchFamily="18" charset="0"/>
              </a:rPr>
              <a:t>ImageCLEF 2011</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11</a:t>
            </a:fld>
            <a:endParaRPr lang="zh-TW" altLang="en-US"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8934" y="2328480"/>
            <a:ext cx="6181725" cy="5057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8515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Experiments(2/2)</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pPr marL="514350" indent="-514350">
              <a:spcAft>
                <a:spcPts val="1415"/>
              </a:spcAft>
              <a:buFont typeface="+mj-lt"/>
              <a:buAutoNum type="arabicPeriod"/>
            </a:pPr>
            <a:endParaRPr lang="en-US" altLang="zh-TW" dirty="0">
              <a:latin typeface="Cambria Math" panose="02040503050406030204" pitchFamily="18" charset="0"/>
              <a:ea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12</a:t>
            </a:fld>
            <a:endParaRPr lang="zh-TW" alt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041" y="1814195"/>
            <a:ext cx="9027160" cy="47321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96562595"/>
      </p:ext>
    </p:extLst>
  </p:cSld>
  <p:clrMapOvr>
    <a:masterClrMapping/>
  </p:clrMapOvr>
</p:sld>
</file>

<file path=ppt/theme/theme1.xml><?xml version="1.0" encoding="utf-8"?>
<a:theme xmlns:a="http://schemas.openxmlformats.org/drawingml/2006/main" name="預設">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13475</TotalTime>
  <Words>334</Words>
  <Application>Microsoft Office PowerPoint</Application>
  <PresentationFormat>自訂</PresentationFormat>
  <Paragraphs>59</Paragraphs>
  <Slides>12</Slides>
  <Notes>4</Notes>
  <HiddenSlides>0</HiddenSlides>
  <MMClips>0</MMClips>
  <ScaleCrop>false</ScaleCrop>
  <HeadingPairs>
    <vt:vector size="6" baseType="variant">
      <vt:variant>
        <vt:lpstr>使用字型</vt:lpstr>
      </vt:variant>
      <vt:variant>
        <vt:i4>12</vt:i4>
      </vt:variant>
      <vt:variant>
        <vt:lpstr>佈景主題</vt:lpstr>
      </vt:variant>
      <vt:variant>
        <vt:i4>1</vt:i4>
      </vt:variant>
      <vt:variant>
        <vt:lpstr>投影片標題</vt:lpstr>
      </vt:variant>
      <vt:variant>
        <vt:i4>12</vt:i4>
      </vt:variant>
    </vt:vector>
  </HeadingPairs>
  <TitlesOfParts>
    <vt:vector size="25" baseType="lpstr">
      <vt:lpstr>Liberation Sans</vt:lpstr>
      <vt:lpstr>Liberation Sans Narrow</vt:lpstr>
      <vt:lpstr>Liberation Serif</vt:lpstr>
      <vt:lpstr>Mangal</vt:lpstr>
      <vt:lpstr>微軟正黑體</vt:lpstr>
      <vt:lpstr>新細明體</vt:lpstr>
      <vt:lpstr>Arial</vt:lpstr>
      <vt:lpstr>Calibri</vt:lpstr>
      <vt:lpstr>Cambria Math</vt:lpstr>
      <vt:lpstr>Ebrima</vt:lpstr>
      <vt:lpstr>Sitka Subheading</vt:lpstr>
      <vt:lpstr>Tahoma</vt:lpstr>
      <vt:lpstr>預設</vt:lpstr>
      <vt:lpstr>Electronic Imaging Conference on SPIE, Burlingame, California, USA, 2013 Costantino Grana, Daniele Borghesani, Rita Cucchiara</vt:lpstr>
      <vt:lpstr>Abstract</vt:lpstr>
      <vt:lpstr>Algorithm</vt:lpstr>
      <vt:lpstr>ORB descriptor(1/4)</vt:lpstr>
      <vt:lpstr>ORB descriptor(2/4)</vt:lpstr>
      <vt:lpstr>ORB descriptor(3/4)</vt:lpstr>
      <vt:lpstr>ORB descriptor(4/4)</vt:lpstr>
      <vt:lpstr>Centrist descriptor</vt:lpstr>
      <vt:lpstr>Color histogram descriptor</vt:lpstr>
      <vt:lpstr>Bag of words model</vt:lpstr>
      <vt:lpstr>Experiments(1/2)</vt:lpstr>
      <vt:lpstr>Experiments(2/2)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Communications of the ACM June 1975 Volume 18 Number 6 D.S. Hirschberg Princeton University</dc:title>
  <dc:creator>Shecil</dc:creator>
  <cp:lastModifiedBy>whfu</cp:lastModifiedBy>
  <cp:revision>225</cp:revision>
  <dcterms:created xsi:type="dcterms:W3CDTF">2015-10-08T13:19:19Z</dcterms:created>
  <dcterms:modified xsi:type="dcterms:W3CDTF">2017-02-07T08:06:00Z</dcterms:modified>
</cp:coreProperties>
</file>