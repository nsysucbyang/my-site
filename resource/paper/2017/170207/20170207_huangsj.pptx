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2" r:id="rId7"/>
    <p:sldId id="261" r:id="rId8"/>
    <p:sldId id="263" r:id="rId9"/>
    <p:sldId id="264" r:id="rId10"/>
    <p:sldId id="269" r:id="rId11"/>
    <p:sldId id="270" r:id="rId12"/>
    <p:sldId id="271" r:id="rId13"/>
    <p:sldId id="272" r:id="rId14"/>
    <p:sldId id="273" r:id="rId15"/>
    <p:sldId id="274" r:id="rId16"/>
    <p:sldId id="275" r:id="rId17"/>
    <p:sldId id="266" r:id="rId18"/>
    <p:sldId id="267" r:id="rId19"/>
    <p:sldId id="268" r:id="rId20"/>
    <p:sldId id="276" r:id="rId21"/>
    <p:sldId id="277" r:id="rId22"/>
    <p:sldId id="278" r:id="rId23"/>
    <p:sldId id="279" r:id="rId24"/>
    <p:sldId id="280" r:id="rId25"/>
    <p:sldId id="281" r:id="rId26"/>
    <p:sldId id="282" r:id="rId27"/>
    <p:sldId id="284" r:id="rId28"/>
    <p:sldId id="283" r:id="rId29"/>
    <p:sldId id="285" r:id="rId30"/>
    <p:sldId id="286" r:id="rId31"/>
    <p:sldId id="287" r:id="rId3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2" autoAdjust="0"/>
    <p:restoredTop sz="94660"/>
  </p:normalViewPr>
  <p:slideViewPr>
    <p:cSldViewPr snapToGrid="0">
      <p:cViewPr varScale="1">
        <p:scale>
          <a:sx n="114" d="100"/>
          <a:sy n="114" d="100"/>
        </p:scale>
        <p:origin x="46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6B2F82-431D-4D07-B7C5-F851CA0BC43E}" type="datetimeFigureOut">
              <a:rPr lang="zh-TW" altLang="en-US" smtClean="0"/>
              <a:t>2017/2/7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8489FE-064F-4FDA-AFAD-9E578C478C06}" type="slidenum">
              <a:rPr lang="zh-TW" altLang="en-US" smtClean="0"/>
              <a:t>‹#›</a:t>
            </a:fld>
            <a:endParaRPr lang="zh-TW" altLang="en-US"/>
          </a:p>
        </p:txBody>
      </p:sp>
    </p:spTree>
    <p:extLst>
      <p:ext uri="{BB962C8B-B14F-4D97-AF65-F5344CB8AC3E}">
        <p14:creationId xmlns:p14="http://schemas.microsoft.com/office/powerpoint/2010/main" val="1036712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0487567-5196-4351-A9B3-EDD8B60186AF}" type="slidenum">
              <a:rPr lang="zh-TW" altLang="en-US" smtClean="0"/>
              <a:t>10</a:t>
            </a:fld>
            <a:endParaRPr lang="zh-TW" altLang="en-US"/>
          </a:p>
        </p:txBody>
      </p:sp>
    </p:spTree>
    <p:extLst>
      <p:ext uri="{BB962C8B-B14F-4D97-AF65-F5344CB8AC3E}">
        <p14:creationId xmlns:p14="http://schemas.microsoft.com/office/powerpoint/2010/main" val="992030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1800438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3684030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14784597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1091706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3942307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4127666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2664996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18016659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73922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2845065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1901711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C9B1A3-1F7C-4C74-8B45-DBBF44FED876}" type="datetimeFigureOut">
              <a:rPr lang="zh-TW" altLang="en-US" smtClean="0"/>
              <a:t>2017/2/7</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90E735-8BDF-4596-B471-C1BF47FADC98}" type="slidenum">
              <a:rPr lang="zh-TW" altLang="en-US" smtClean="0"/>
              <a:t>‹#›</a:t>
            </a:fld>
            <a:endParaRPr lang="zh-TW" altLang="en-US"/>
          </a:p>
        </p:txBody>
      </p:sp>
    </p:spTree>
    <p:extLst>
      <p:ext uri="{BB962C8B-B14F-4D97-AF65-F5344CB8AC3E}">
        <p14:creationId xmlns:p14="http://schemas.microsoft.com/office/powerpoint/2010/main" val="893833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11.png"/></Relationships>
</file>

<file path=ppt/slides/_rels/slide1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410.png"/><Relationship Id="rId7" Type="http://schemas.openxmlformats.org/officeDocument/2006/relationships/image" Target="../media/image13.png"/><Relationship Id="rId2" Type="http://schemas.openxmlformats.org/officeDocument/2006/relationships/image" Target="../media/image4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10.png"/><Relationship Id="rId4" Type="http://schemas.openxmlformats.org/officeDocument/2006/relationships/image" Target="../media/image510.png"/><Relationship Id="rId9"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70.png"/><Relationship Id="rId3" Type="http://schemas.openxmlformats.org/officeDocument/2006/relationships/image" Target="../media/image17.png"/><Relationship Id="rId7" Type="http://schemas.openxmlformats.org/officeDocument/2006/relationships/image" Target="../media/image71.png"/><Relationship Id="rId12"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6.xml"/><Relationship Id="rId6" Type="http://schemas.openxmlformats.org/officeDocument/2006/relationships/image" Target="../media/image610.png"/><Relationship Id="rId11" Type="http://schemas.openxmlformats.org/officeDocument/2006/relationships/image" Target="../media/image19.png"/><Relationship Id="rId5" Type="http://schemas.openxmlformats.org/officeDocument/2006/relationships/image" Target="../media/image510.png"/><Relationship Id="rId15" Type="http://schemas.openxmlformats.org/officeDocument/2006/relationships/image" Target="../media/image130.png"/><Relationship Id="rId10" Type="http://schemas.openxmlformats.org/officeDocument/2006/relationships/image" Target="../media/image18.png"/><Relationship Id="rId4" Type="http://schemas.openxmlformats.org/officeDocument/2006/relationships/image" Target="../media/image410.png"/><Relationship Id="rId9" Type="http://schemas.openxmlformats.org/officeDocument/2006/relationships/image" Target="../media/image131.png"/><Relationship Id="rId14" Type="http://schemas.openxmlformats.org/officeDocument/2006/relationships/image" Target="../media/image80.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6.png"/><Relationship Id="rId18" Type="http://schemas.openxmlformats.org/officeDocument/2006/relationships/image" Target="../media/image31.png"/><Relationship Id="rId3" Type="http://schemas.openxmlformats.org/officeDocument/2006/relationships/image" Target="../media/image180.png"/><Relationship Id="rId21" Type="http://schemas.openxmlformats.org/officeDocument/2006/relationships/image" Target="../media/image34.png"/><Relationship Id="rId7" Type="http://schemas.openxmlformats.org/officeDocument/2006/relationships/image" Target="../media/image22.png"/><Relationship Id="rId12" Type="http://schemas.openxmlformats.org/officeDocument/2006/relationships/image" Target="../media/image25.png"/><Relationship Id="rId17" Type="http://schemas.openxmlformats.org/officeDocument/2006/relationships/image" Target="../media/image30.png"/><Relationship Id="rId25" Type="http://schemas.openxmlformats.org/officeDocument/2006/relationships/image" Target="../media/image38.png"/><Relationship Id="rId2" Type="http://schemas.openxmlformats.org/officeDocument/2006/relationships/image" Target="../media/image170.png"/><Relationship Id="rId16" Type="http://schemas.openxmlformats.org/officeDocument/2006/relationships/image" Target="../media/image29.png"/><Relationship Id="rId20" Type="http://schemas.openxmlformats.org/officeDocument/2006/relationships/image" Target="../media/image33.png"/><Relationship Id="rId1" Type="http://schemas.openxmlformats.org/officeDocument/2006/relationships/slideLayout" Target="../slideLayouts/slideLayout6.xml"/><Relationship Id="rId6" Type="http://schemas.openxmlformats.org/officeDocument/2006/relationships/image" Target="../media/image21.png"/><Relationship Id="rId11" Type="http://schemas.openxmlformats.org/officeDocument/2006/relationships/image" Target="../media/image24.png"/><Relationship Id="rId24" Type="http://schemas.openxmlformats.org/officeDocument/2006/relationships/image" Target="../media/image37.png"/><Relationship Id="rId5" Type="http://schemas.openxmlformats.org/officeDocument/2006/relationships/image" Target="../media/image200.png"/><Relationship Id="rId15" Type="http://schemas.openxmlformats.org/officeDocument/2006/relationships/image" Target="../media/image28.png"/><Relationship Id="rId23" Type="http://schemas.openxmlformats.org/officeDocument/2006/relationships/image" Target="../media/image36.png"/><Relationship Id="rId10" Type="http://schemas.openxmlformats.org/officeDocument/2006/relationships/image" Target="../media/image510.png"/><Relationship Id="rId19" Type="http://schemas.openxmlformats.org/officeDocument/2006/relationships/image" Target="../media/image32.png"/><Relationship Id="rId4" Type="http://schemas.openxmlformats.org/officeDocument/2006/relationships/image" Target="../media/image190.png"/><Relationship Id="rId9" Type="http://schemas.openxmlformats.org/officeDocument/2006/relationships/image" Target="../media/image410.png"/><Relationship Id="rId14" Type="http://schemas.openxmlformats.org/officeDocument/2006/relationships/image" Target="../media/image27.png"/><Relationship Id="rId22"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60.png"/><Relationship Id="rId18" Type="http://schemas.openxmlformats.org/officeDocument/2006/relationships/image" Target="../media/image47.png"/><Relationship Id="rId26" Type="http://schemas.openxmlformats.org/officeDocument/2006/relationships/image" Target="../media/image400.png"/><Relationship Id="rId3" Type="http://schemas.openxmlformats.org/officeDocument/2006/relationships/image" Target="../media/image40.png"/><Relationship Id="rId21" Type="http://schemas.openxmlformats.org/officeDocument/2006/relationships/image" Target="../media/image46.png"/><Relationship Id="rId7" Type="http://schemas.openxmlformats.org/officeDocument/2006/relationships/image" Target="../media/image510.png"/><Relationship Id="rId17" Type="http://schemas.openxmlformats.org/officeDocument/2006/relationships/image" Target="../media/image330.png"/><Relationship Id="rId25" Type="http://schemas.openxmlformats.org/officeDocument/2006/relationships/image" Target="../media/image390.png"/><Relationship Id="rId2" Type="http://schemas.openxmlformats.org/officeDocument/2006/relationships/image" Target="../media/image39.png"/><Relationship Id="rId16" Type="http://schemas.openxmlformats.org/officeDocument/2006/relationships/image" Target="../media/image320.png"/><Relationship Id="rId20" Type="http://schemas.openxmlformats.org/officeDocument/2006/relationships/image" Target="../media/image49.png"/><Relationship Id="rId29" Type="http://schemas.openxmlformats.org/officeDocument/2006/relationships/image" Target="../media/image52.png"/><Relationship Id="rId1" Type="http://schemas.openxmlformats.org/officeDocument/2006/relationships/slideLayout" Target="../slideLayouts/slideLayout6.xml"/><Relationship Id="rId6" Type="http://schemas.openxmlformats.org/officeDocument/2006/relationships/image" Target="../media/image410.png"/><Relationship Id="rId11" Type="http://schemas.openxmlformats.org/officeDocument/2006/relationships/image" Target="../media/image45.png"/><Relationship Id="rId24" Type="http://schemas.openxmlformats.org/officeDocument/2006/relationships/image" Target="../media/image380.png"/><Relationship Id="rId5" Type="http://schemas.openxmlformats.org/officeDocument/2006/relationships/image" Target="../media/image42.png"/><Relationship Id="rId15" Type="http://schemas.openxmlformats.org/officeDocument/2006/relationships/image" Target="../media/image310.png"/><Relationship Id="rId23" Type="http://schemas.openxmlformats.org/officeDocument/2006/relationships/image" Target="../media/image51.png"/><Relationship Id="rId28" Type="http://schemas.openxmlformats.org/officeDocument/2006/relationships/image" Target="../media/image511.png"/><Relationship Id="rId10" Type="http://schemas.openxmlformats.org/officeDocument/2006/relationships/image" Target="../media/image44.png"/><Relationship Id="rId19" Type="http://schemas.openxmlformats.org/officeDocument/2006/relationships/image" Target="../media/image48.png"/><Relationship Id="rId4" Type="http://schemas.openxmlformats.org/officeDocument/2006/relationships/image" Target="../media/image41.png"/><Relationship Id="rId9" Type="http://schemas.openxmlformats.org/officeDocument/2006/relationships/image" Target="../media/image43.png"/><Relationship Id="rId22" Type="http://schemas.openxmlformats.org/officeDocument/2006/relationships/image" Target="../media/image50.png"/><Relationship Id="rId27" Type="http://schemas.openxmlformats.org/officeDocument/2006/relationships/image" Target="../media/image500.png"/></Relationships>
</file>

<file path=ppt/slides/_rels/slide15.xml.rels><?xml version="1.0" encoding="UTF-8" standalone="yes"?>
<Relationships xmlns="http://schemas.openxmlformats.org/package/2006/relationships"><Relationship Id="rId8" Type="http://schemas.openxmlformats.org/officeDocument/2006/relationships/image" Target="../media/image59.png"/><Relationship Id="rId18" Type="http://schemas.openxmlformats.org/officeDocument/2006/relationships/image" Target="../media/image540.png"/><Relationship Id="rId26" Type="http://schemas.openxmlformats.org/officeDocument/2006/relationships/image" Target="../media/image590.png"/><Relationship Id="rId3" Type="http://schemas.openxmlformats.org/officeDocument/2006/relationships/image" Target="../media/image54.png"/><Relationship Id="rId21" Type="http://schemas.openxmlformats.org/officeDocument/2006/relationships/image" Target="../media/image64.png"/><Relationship Id="rId7" Type="http://schemas.openxmlformats.org/officeDocument/2006/relationships/image" Target="../media/image58.png"/><Relationship Id="rId17" Type="http://schemas.openxmlformats.org/officeDocument/2006/relationships/image" Target="../media/image280.png"/><Relationship Id="rId25" Type="http://schemas.openxmlformats.org/officeDocument/2006/relationships/image" Target="../media/image68.png"/><Relationship Id="rId2" Type="http://schemas.openxmlformats.org/officeDocument/2006/relationships/image" Target="../media/image53.png"/><Relationship Id="rId16" Type="http://schemas.openxmlformats.org/officeDocument/2006/relationships/image" Target="../media/image360.png"/><Relationship Id="rId20" Type="http://schemas.openxmlformats.org/officeDocument/2006/relationships/image" Target="../media/image560.png"/><Relationship Id="rId29" Type="http://schemas.openxmlformats.org/officeDocument/2006/relationships/image" Target="../media/image69.png"/><Relationship Id="rId1" Type="http://schemas.openxmlformats.org/officeDocument/2006/relationships/slideLayout" Target="../slideLayouts/slideLayout6.xml"/><Relationship Id="rId6" Type="http://schemas.openxmlformats.org/officeDocument/2006/relationships/image" Target="../media/image57.png"/><Relationship Id="rId11" Type="http://schemas.openxmlformats.org/officeDocument/2006/relationships/image" Target="../media/image63.png"/><Relationship Id="rId24" Type="http://schemas.openxmlformats.org/officeDocument/2006/relationships/image" Target="../media/image67.png"/><Relationship Id="rId5" Type="http://schemas.openxmlformats.org/officeDocument/2006/relationships/image" Target="../media/image56.png"/><Relationship Id="rId15" Type="http://schemas.openxmlformats.org/officeDocument/2006/relationships/image" Target="../media/image530.png"/><Relationship Id="rId23" Type="http://schemas.openxmlformats.org/officeDocument/2006/relationships/image" Target="../media/image66.png"/><Relationship Id="rId28" Type="http://schemas.openxmlformats.org/officeDocument/2006/relationships/image" Target="../media/image470.png"/><Relationship Id="rId10" Type="http://schemas.openxmlformats.org/officeDocument/2006/relationships/image" Target="../media/image62.png"/><Relationship Id="rId19" Type="http://schemas.openxmlformats.org/officeDocument/2006/relationships/image" Target="../media/image550.png"/><Relationship Id="rId31" Type="http://schemas.openxmlformats.org/officeDocument/2006/relationships/image" Target="../media/image73.png"/><Relationship Id="rId4" Type="http://schemas.openxmlformats.org/officeDocument/2006/relationships/image" Target="../media/image55.png"/><Relationship Id="rId9" Type="http://schemas.openxmlformats.org/officeDocument/2006/relationships/image" Target="../media/image61.png"/><Relationship Id="rId22" Type="http://schemas.openxmlformats.org/officeDocument/2006/relationships/image" Target="../media/image65.png"/><Relationship Id="rId27" Type="http://schemas.openxmlformats.org/officeDocument/2006/relationships/image" Target="../media/image460.png"/><Relationship Id="rId30" Type="http://schemas.openxmlformats.org/officeDocument/2006/relationships/image" Target="../media/image72.png"/></Relationships>
</file>

<file path=ppt/slides/_rels/slide16.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762001" y="747822"/>
            <a:ext cx="10707756" cy="1243841"/>
          </a:xfrm>
        </p:spPr>
        <p:txBody>
          <a:bodyPr>
            <a:normAutofit/>
          </a:bodyPr>
          <a:lstStyle/>
          <a:p>
            <a:r>
              <a:rPr lang="en-US" altLang="zh-TW" sz="3600" dirty="0"/>
              <a:t>The trading on the mutual funds by gene expression programming with </a:t>
            </a:r>
            <a:r>
              <a:rPr lang="en-US" altLang="zh-TW" sz="3600" dirty="0" err="1"/>
              <a:t>Sortino</a:t>
            </a:r>
            <a:r>
              <a:rPr lang="en-US" altLang="zh-TW" sz="3600" dirty="0"/>
              <a:t> ratio</a:t>
            </a:r>
            <a:endParaRPr lang="zh-TW" altLang="en-US" sz="3600" dirty="0"/>
          </a:p>
        </p:txBody>
      </p:sp>
      <p:sp>
        <p:nvSpPr>
          <p:cNvPr id="3" name="副標題 2"/>
          <p:cNvSpPr>
            <a:spLocks noGrp="1"/>
          </p:cNvSpPr>
          <p:nvPr>
            <p:ph type="subTitle" idx="1"/>
          </p:nvPr>
        </p:nvSpPr>
        <p:spPr>
          <a:xfrm>
            <a:off x="185531" y="2700890"/>
            <a:ext cx="11860696" cy="1655762"/>
          </a:xfrm>
        </p:spPr>
        <p:txBody>
          <a:bodyPr>
            <a:normAutofit fontScale="92500" lnSpcReduction="20000"/>
          </a:bodyPr>
          <a:lstStyle/>
          <a:p>
            <a:r>
              <a:rPr lang="sv-SE" altLang="zh-TW" dirty="0"/>
              <a:t>Hung-Hsin Chen</a:t>
            </a:r>
            <a:r>
              <a:rPr lang="sv-SE" altLang="zh-TW" baseline="30000" dirty="0"/>
              <a:t>a</a:t>
            </a:r>
            <a:r>
              <a:rPr lang="sv-SE" altLang="zh-TW" dirty="0"/>
              <a:t>, Chang-Biau Yang</a:t>
            </a:r>
            <a:r>
              <a:rPr lang="sv-SE" altLang="zh-TW" baseline="30000" dirty="0"/>
              <a:t>a </a:t>
            </a:r>
            <a:r>
              <a:rPr lang="sv-SE" altLang="zh-TW" dirty="0"/>
              <a:t>, Yung-Hsing Peng</a:t>
            </a:r>
            <a:r>
              <a:rPr lang="sv-SE" altLang="zh-TW" baseline="30000" dirty="0"/>
              <a:t>b</a:t>
            </a:r>
            <a:endParaRPr lang="sv-SE" altLang="zh-TW" dirty="0"/>
          </a:p>
          <a:p>
            <a:r>
              <a:rPr lang="en-US" altLang="zh-TW" sz="1900" baseline="30000" dirty="0" err="1"/>
              <a:t>a</a:t>
            </a:r>
            <a:r>
              <a:rPr lang="en-US" altLang="zh-TW" sz="1900" dirty="0" err="1"/>
              <a:t>Department</a:t>
            </a:r>
            <a:r>
              <a:rPr lang="en-US" altLang="zh-TW" sz="1900" dirty="0"/>
              <a:t> of Computer Science and Engineering, National Sun </a:t>
            </a:r>
            <a:r>
              <a:rPr lang="en-US" altLang="zh-TW" sz="1900" dirty="0" err="1"/>
              <a:t>Yat-sen</a:t>
            </a:r>
            <a:r>
              <a:rPr lang="en-US" altLang="zh-TW" sz="1900" dirty="0"/>
              <a:t> University, Kaohsiung, Taiwan</a:t>
            </a:r>
          </a:p>
          <a:p>
            <a:r>
              <a:rPr lang="en-US" altLang="zh-TW" sz="1900" baseline="30000" dirty="0" err="1"/>
              <a:t>b</a:t>
            </a:r>
            <a:r>
              <a:rPr lang="en-US" altLang="zh-TW" sz="1900" dirty="0" err="1"/>
              <a:t>Innovative</a:t>
            </a:r>
            <a:r>
              <a:rPr lang="en-US" altLang="zh-TW" sz="1900" dirty="0"/>
              <a:t> </a:t>
            </a:r>
            <a:r>
              <a:rPr lang="en-US" altLang="zh-TW" sz="1900" dirty="0" err="1"/>
              <a:t>DigiTech</a:t>
            </a:r>
            <a:r>
              <a:rPr lang="en-US" altLang="zh-TW" sz="1900" dirty="0"/>
              <a:t>-Enabled Applications &amp; Services Institute, Institute for Information Industry, Kaohsiung, Taiwan</a:t>
            </a:r>
          </a:p>
          <a:p>
            <a:endParaRPr lang="en-US" altLang="zh-TW" sz="1900" dirty="0"/>
          </a:p>
          <a:p>
            <a:r>
              <a:rPr lang="en-US" altLang="zh-TW" dirty="0"/>
              <a:t>Applied Soft Computing 15 (2014), pp. 219–230 </a:t>
            </a:r>
            <a:endParaRPr lang="zh-TW" altLang="en-US" sz="1900" dirty="0"/>
          </a:p>
        </p:txBody>
      </p:sp>
      <p:sp>
        <p:nvSpPr>
          <p:cNvPr id="4" name="文字方塊 3"/>
          <p:cNvSpPr txBox="1"/>
          <p:nvPr/>
        </p:nvSpPr>
        <p:spPr>
          <a:xfrm>
            <a:off x="4373218" y="5564936"/>
            <a:ext cx="3485322" cy="646331"/>
          </a:xfrm>
          <a:prstGeom prst="rect">
            <a:avLst/>
          </a:prstGeom>
          <a:noFill/>
        </p:spPr>
        <p:txBody>
          <a:bodyPr wrap="square" rtlCol="0">
            <a:spAutoFit/>
          </a:bodyPr>
          <a:lstStyle/>
          <a:p>
            <a:r>
              <a:rPr lang="en-US" altLang="zh-TW" dirty="0"/>
              <a:t>Presenter</a:t>
            </a:r>
            <a:r>
              <a:rPr lang="zh-TW" altLang="en-US" dirty="0"/>
              <a:t>：</a:t>
            </a:r>
            <a:r>
              <a:rPr lang="en-US" altLang="zh-TW" dirty="0"/>
              <a:t>Shih-jhan Huang</a:t>
            </a:r>
          </a:p>
          <a:p>
            <a:r>
              <a:rPr lang="en-US" altLang="zh-TW" dirty="0"/>
              <a:t>Date</a:t>
            </a:r>
            <a:r>
              <a:rPr lang="zh-TW" altLang="en-US" dirty="0"/>
              <a:t>：</a:t>
            </a:r>
            <a:r>
              <a:rPr lang="en-US" altLang="zh-TW" dirty="0"/>
              <a:t>2017/2/7</a:t>
            </a:r>
            <a:endParaRPr lang="zh-TW" altLang="en-US" dirty="0"/>
          </a:p>
        </p:txBody>
      </p:sp>
    </p:spTree>
    <p:extLst>
      <p:ext uri="{BB962C8B-B14F-4D97-AF65-F5344CB8AC3E}">
        <p14:creationId xmlns:p14="http://schemas.microsoft.com/office/powerpoint/2010/main" val="59396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45604" y="115748"/>
            <a:ext cx="10515600" cy="1325563"/>
          </a:xfrm>
        </p:spPr>
        <p:txBody>
          <a:bodyPr/>
          <a:lstStyle/>
          <a:p>
            <a:r>
              <a:rPr lang="en-US" altLang="zh-TW" dirty="0"/>
              <a:t>Abstract</a:t>
            </a:r>
            <a:endParaRPr lang="zh-TW" altLang="en-US" dirty="0"/>
          </a:p>
        </p:txBody>
      </p:sp>
      <p:sp>
        <p:nvSpPr>
          <p:cNvPr id="3" name="內容版面配置區 2"/>
          <p:cNvSpPr>
            <a:spLocks noGrp="1"/>
          </p:cNvSpPr>
          <p:nvPr>
            <p:ph idx="1"/>
          </p:nvPr>
        </p:nvSpPr>
        <p:spPr>
          <a:xfrm>
            <a:off x="445604" y="1441311"/>
            <a:ext cx="11300791" cy="5105263"/>
          </a:xfrm>
        </p:spPr>
        <p:txBody>
          <a:bodyPr>
            <a:noAutofit/>
          </a:bodyPr>
          <a:lstStyle/>
          <a:p>
            <a:pPr marL="0" indent="0" algn="just">
              <a:buNone/>
            </a:pPr>
            <a:r>
              <a:rPr lang="en-US" altLang="zh-TW" sz="2600" dirty="0"/>
              <a:t>The aim of this paper is to combine several techniques together to provide one systematic method for guiding the investment in mutual funds. Many researches focus on the prediction of a single asset time series, or focus on portfolio management to diversify the investment risk, but they do not generate explicit trading rules. Only a few researches combine these two concepts together, but they adjust trading rules manually. Our method combines the techniques for generating observable and profitable trading rules, managing portfolio and allocating capital. First, the buying timing and selling timing are decided by the trading rules generated by gene expression programming. The trading rules are suitable for the constantly changing market. Second, the funds with higher </a:t>
            </a:r>
            <a:r>
              <a:rPr lang="en-US" altLang="zh-TW" sz="2600" dirty="0" err="1"/>
              <a:t>Sortino</a:t>
            </a:r>
            <a:r>
              <a:rPr lang="en-US" altLang="zh-TW" sz="2600" dirty="0"/>
              <a:t> ratios are selected into the portfolio. Third, there are two models for capital allocation, one allocates the capital equally (EQ) and the other allocates the capital with the mean variance (MV) model.</a:t>
            </a:r>
            <a:endParaRPr lang="zh-TW" altLang="en-US" sz="2600" dirty="0"/>
          </a:p>
        </p:txBody>
      </p:sp>
    </p:spTree>
    <p:extLst>
      <p:ext uri="{BB962C8B-B14F-4D97-AF65-F5344CB8AC3E}">
        <p14:creationId xmlns:p14="http://schemas.microsoft.com/office/powerpoint/2010/main" val="35174967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p:cNvSpPr>
            <a:spLocks noGrp="1"/>
          </p:cNvSpPr>
          <p:nvPr>
            <p:ph idx="1"/>
          </p:nvPr>
        </p:nvSpPr>
        <p:spPr>
          <a:xfrm>
            <a:off x="543339" y="1825625"/>
            <a:ext cx="10810461" cy="4351338"/>
          </a:xfrm>
        </p:spPr>
        <p:txBody>
          <a:bodyPr>
            <a:normAutofit/>
          </a:bodyPr>
          <a:lstStyle/>
          <a:p>
            <a:pPr marL="0" indent="0" algn="just">
              <a:buNone/>
            </a:pPr>
            <a:r>
              <a:rPr lang="en-US" altLang="zh-TW" sz="2600" dirty="0"/>
              <a:t>Also, we perform superior predictive ability test to ensure that our method can earn positive returns without data snooping. To evaluate the return performance of our method, we simulate the investment on mutual funds from January 1999 to September 2012. The training duration is from 1999/1/1 to 2003/12/31, while the testing duration is from 2004/1/1 to 2012/9/11. The best annualized return of our method with EQ and MV capital allocation models are12.08% and 12.85%, respectively. The latter also lowers the investment risk. To compare with the method proposed by Tsai et al., we also perform testing from January 2004 to December 2008. The experimental results show that our method can earn annualized return 9.07% and 11.27%, which are better than the annualized return 6.89% of Tsai et al.</a:t>
            </a:r>
            <a:endParaRPr lang="zh-TW" altLang="en-US" sz="2600" dirty="0"/>
          </a:p>
        </p:txBody>
      </p:sp>
      <p:sp>
        <p:nvSpPr>
          <p:cNvPr id="4" name="標題 1"/>
          <p:cNvSpPr>
            <a:spLocks noGrp="1"/>
          </p:cNvSpPr>
          <p:nvPr>
            <p:ph type="title"/>
          </p:nvPr>
        </p:nvSpPr>
        <p:spPr>
          <a:xfrm>
            <a:off x="543339" y="407297"/>
            <a:ext cx="10515600" cy="1325563"/>
          </a:xfrm>
        </p:spPr>
        <p:txBody>
          <a:bodyPr/>
          <a:lstStyle/>
          <a:p>
            <a:r>
              <a:rPr lang="en-US" altLang="zh-TW" dirty="0"/>
              <a:t>Abstract</a:t>
            </a:r>
            <a:endParaRPr lang="zh-TW" altLang="en-US" dirty="0"/>
          </a:p>
        </p:txBody>
      </p:sp>
    </p:spTree>
    <p:extLst>
      <p:ext uri="{BB962C8B-B14F-4D97-AF65-F5344CB8AC3E}">
        <p14:creationId xmlns:p14="http://schemas.microsoft.com/office/powerpoint/2010/main" val="4049170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63217" y="365125"/>
            <a:ext cx="10515600" cy="1325563"/>
          </a:xfrm>
        </p:spPr>
        <p:txBody>
          <a:bodyPr/>
          <a:lstStyle/>
          <a:p>
            <a:r>
              <a:rPr lang="en-US" altLang="zh-TW" dirty="0"/>
              <a:t>Global Trend Indicator (GTI)</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1939" y="1465401"/>
            <a:ext cx="6731172" cy="3091960"/>
          </a:xfrm>
        </p:spPr>
      </p:pic>
      <mc:AlternateContent xmlns:mc="http://schemas.openxmlformats.org/markup-compatibility/2006">
        <mc:Choice xmlns:a14="http://schemas.microsoft.com/office/drawing/2010/main" Requires="a14">
          <p:sp>
            <p:nvSpPr>
              <p:cNvPr id="5" name="文字方塊 4"/>
              <p:cNvSpPr txBox="1"/>
              <p:nvPr/>
            </p:nvSpPr>
            <p:spPr>
              <a:xfrm>
                <a:off x="198783" y="4667077"/>
                <a:ext cx="11993217" cy="1981120"/>
              </a:xfrm>
              <a:prstGeom prst="rect">
                <a:avLst/>
              </a:prstGeom>
              <a:noFill/>
            </p:spPr>
            <p:txBody>
              <a:bodyPr wrap="square" rtlCol="0">
                <a:spAutoFit/>
              </a:bodyPr>
              <a:lstStyle/>
              <a:p>
                <a:r>
                  <a:rPr lang="en-US" altLang="zh-TW" sz="2300" b="1" dirty="0"/>
                  <a:t>GTI</a:t>
                </a:r>
                <a:r>
                  <a:rPr lang="zh-TW" altLang="en-US" sz="2300" b="1" dirty="0"/>
                  <a:t>三種情況</a:t>
                </a:r>
                <a:endParaRPr lang="en-US" altLang="zh-TW" sz="2300" b="1" dirty="0"/>
              </a:p>
              <a:p>
                <a:pPr marL="342900" indent="-342900">
                  <a:buFont typeface="Wingdings" panose="05000000000000000000" pitchFamily="2" charset="2"/>
                  <a:buAutoNum type="circleNumWdWhitePlain"/>
                </a:pPr>
                <a:r>
                  <a:rPr lang="en-US" altLang="zh-TW" sz="2300" dirty="0">
                    <a:solidFill>
                      <a:srgbClr val="0070C0"/>
                    </a:solidFill>
                  </a:rPr>
                  <a:t>the up momentum &gt; the down momentum</a:t>
                </a:r>
                <a:r>
                  <a:rPr lang="zh-TW" altLang="en-US" sz="2300" dirty="0"/>
                  <a:t>　</a:t>
                </a:r>
                <a14:m>
                  <m:oMath xmlns:m="http://schemas.openxmlformats.org/officeDocument/2006/math">
                    <m:groupChr>
                      <m:groupChrPr>
                        <m:chr m:val="⇒"/>
                        <m:vertJc m:val="bot"/>
                        <m:ctrlPr>
                          <a:rPr lang="en-US" altLang="zh-TW" sz="2300" i="1" smtClean="0">
                            <a:latin typeface="Cambria Math" panose="02040503050406030204" pitchFamily="18" charset="0"/>
                          </a:rPr>
                        </m:ctrlPr>
                      </m:groupChrPr>
                      <m:e/>
                    </m:groupChr>
                    <m:r>
                      <a:rPr lang="zh-TW" altLang="en-US" sz="2300" i="1">
                        <a:latin typeface="Cambria Math" panose="02040503050406030204" pitchFamily="18" charset="0"/>
                      </a:rPr>
                      <m:t>　</m:t>
                    </m:r>
                  </m:oMath>
                </a14:m>
                <a:r>
                  <a:rPr lang="en-US" altLang="zh-TW" sz="2300" dirty="0"/>
                  <a:t>the global trend will increase. </a:t>
                </a:r>
              </a:p>
              <a:p>
                <a:pPr marL="342900" indent="-342900">
                  <a:buFont typeface="Wingdings" panose="05000000000000000000" pitchFamily="2" charset="2"/>
                  <a:buAutoNum type="circleNumWdWhitePlain"/>
                </a:pPr>
                <a:r>
                  <a:rPr lang="en-US" altLang="zh-TW" sz="2300" dirty="0">
                    <a:solidFill>
                      <a:srgbClr val="0070C0"/>
                    </a:solidFill>
                  </a:rPr>
                  <a:t>the down momentum &gt; the up momentum</a:t>
                </a:r>
                <a:r>
                  <a:rPr lang="zh-TW" altLang="en-US" sz="2300" dirty="0"/>
                  <a:t>　</a:t>
                </a:r>
                <a14:m>
                  <m:oMath xmlns:m="http://schemas.openxmlformats.org/officeDocument/2006/math">
                    <m:groupChr>
                      <m:groupChrPr>
                        <m:chr m:val="⇒"/>
                        <m:vertJc m:val="bot"/>
                        <m:ctrlPr>
                          <a:rPr lang="en-US" altLang="zh-TW" sz="2300" i="1">
                            <a:latin typeface="Cambria Math" panose="02040503050406030204" pitchFamily="18" charset="0"/>
                          </a:rPr>
                        </m:ctrlPr>
                      </m:groupChrPr>
                      <m:e/>
                    </m:groupChr>
                    <m:r>
                      <a:rPr lang="zh-TW" altLang="en-US" sz="2300" i="1" smtClean="0">
                        <a:latin typeface="Cambria Math" panose="02040503050406030204" pitchFamily="18" charset="0"/>
                      </a:rPr>
                      <m:t>　</m:t>
                    </m:r>
                  </m:oMath>
                </a14:m>
                <a:r>
                  <a:rPr lang="en-US" altLang="zh-TW" sz="2300" dirty="0"/>
                  <a:t>the global trend will decrease. </a:t>
                </a:r>
              </a:p>
              <a:p>
                <a:pPr marL="342900" indent="-342900">
                  <a:buFont typeface="Wingdings" panose="05000000000000000000" pitchFamily="2" charset="2"/>
                  <a:buAutoNum type="circleNumWdWhitePlain"/>
                </a:pPr>
                <a:r>
                  <a:rPr lang="en-US" altLang="zh-TW" sz="2300" dirty="0">
                    <a:solidFill>
                      <a:srgbClr val="0070C0"/>
                    </a:solidFill>
                  </a:rPr>
                  <a:t>the up momentum is close to the down momentum</a:t>
                </a:r>
                <a:r>
                  <a:rPr lang="zh-TW" altLang="en-US" sz="2300" dirty="0"/>
                  <a:t>　</a:t>
                </a:r>
                <a14:m>
                  <m:oMath xmlns:m="http://schemas.openxmlformats.org/officeDocument/2006/math">
                    <m:groupChr>
                      <m:groupChrPr>
                        <m:chr m:val="⇒"/>
                        <m:vertJc m:val="bot"/>
                        <m:ctrlPr>
                          <a:rPr lang="en-US" altLang="zh-TW" sz="2300" i="1">
                            <a:latin typeface="Cambria Math" panose="02040503050406030204" pitchFamily="18" charset="0"/>
                          </a:rPr>
                        </m:ctrlPr>
                      </m:groupChrPr>
                      <m:e/>
                    </m:groupChr>
                    <m:r>
                      <a:rPr lang="zh-TW" altLang="en-US" sz="2300" i="1" smtClean="0">
                        <a:latin typeface="Cambria Math" panose="02040503050406030204" pitchFamily="18" charset="0"/>
                      </a:rPr>
                      <m:t>　</m:t>
                    </m:r>
                  </m:oMath>
                </a14:m>
                <a:r>
                  <a:rPr lang="en-US" altLang="zh-TW" sz="2300" dirty="0"/>
                  <a:t>the global trend will be flat or mixed. </a:t>
                </a:r>
                <a:endParaRPr lang="zh-TW" altLang="en-US" sz="2300" dirty="0"/>
              </a:p>
            </p:txBody>
          </p:sp>
        </mc:Choice>
        <mc:Fallback>
          <p:sp>
            <p:nvSpPr>
              <p:cNvPr id="5" name="文字方塊 4"/>
              <p:cNvSpPr txBox="1">
                <a:spLocks noRot="1" noChangeAspect="1" noMove="1" noResize="1" noEditPoints="1" noAdjustHandles="1" noChangeArrowheads="1" noChangeShapeType="1" noTextEdit="1"/>
              </p:cNvSpPr>
              <p:nvPr/>
            </p:nvSpPr>
            <p:spPr>
              <a:xfrm>
                <a:off x="198783" y="4667077"/>
                <a:ext cx="11993217" cy="1981120"/>
              </a:xfrm>
              <a:prstGeom prst="rect">
                <a:avLst/>
              </a:prstGeom>
              <a:blipFill>
                <a:blip r:embed="rId3"/>
                <a:stretch>
                  <a:fillRect l="-763" t="-2769" r="-864" b="-5846"/>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629576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792361"/>
            <a:ext cx="10121348" cy="5845818"/>
          </a:xfrm>
        </p:spPr>
      </p:pic>
    </p:spTree>
    <p:extLst>
      <p:ext uri="{BB962C8B-B14F-4D97-AF65-F5344CB8AC3E}">
        <p14:creationId xmlns:p14="http://schemas.microsoft.com/office/powerpoint/2010/main" val="2600814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Simple Moving Average (SMA)</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21241" y="2013869"/>
            <a:ext cx="3789297" cy="3956648"/>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8959" y="2472663"/>
            <a:ext cx="6420524" cy="2633303"/>
          </a:xfrm>
          <a:prstGeom prst="rect">
            <a:avLst/>
          </a:prstGeom>
        </p:spPr>
      </p:pic>
      <p:sp>
        <p:nvSpPr>
          <p:cNvPr id="6" name="矩形 5"/>
          <p:cNvSpPr/>
          <p:nvPr/>
        </p:nvSpPr>
        <p:spPr>
          <a:xfrm>
            <a:off x="3776870" y="2013869"/>
            <a:ext cx="1033668" cy="401906"/>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394039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Monitoring Indicator (MI)</a:t>
            </a:r>
            <a:endParaRPr lang="zh-TW" altLang="en-US" dirty="0"/>
          </a:p>
        </p:txBody>
      </p:sp>
      <p:sp>
        <p:nvSpPr>
          <p:cNvPr id="3" name="內容版面配置區 2"/>
          <p:cNvSpPr>
            <a:spLocks noGrp="1"/>
          </p:cNvSpPr>
          <p:nvPr>
            <p:ph idx="1"/>
          </p:nvPr>
        </p:nvSpPr>
        <p:spPr/>
        <p:txBody>
          <a:bodyPr/>
          <a:lstStyle/>
          <a:p>
            <a:pPr marL="0" indent="0">
              <a:buNone/>
            </a:pPr>
            <a:r>
              <a:rPr lang="en-US" altLang="zh-TW" dirty="0"/>
              <a:t>Derived from GTI and its five simple moving average indicators, </a:t>
            </a:r>
          </a:p>
          <a:p>
            <a:pPr marL="0" indent="0">
              <a:buNone/>
            </a:pPr>
            <a:r>
              <a:rPr lang="en-US" altLang="zh-TW" dirty="0">
                <a:solidFill>
                  <a:srgbClr val="FF0000"/>
                </a:solidFill>
              </a:rPr>
              <a:t>to measure whether the fund market is in the bull or bear state.</a:t>
            </a:r>
            <a:endParaRPr lang="zh-TW" altLang="en-US" dirty="0">
              <a:solidFill>
                <a:srgbClr val="FF0000"/>
              </a:solidFill>
            </a:endParaRPr>
          </a:p>
        </p:txBody>
      </p:sp>
      <p:pic>
        <p:nvPicPr>
          <p:cNvPr id="4" name="圖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082855"/>
            <a:ext cx="6944636" cy="2920380"/>
          </a:xfrm>
          <a:prstGeom prst="rect">
            <a:avLst/>
          </a:prstGeom>
        </p:spPr>
      </p:pic>
      <p:sp>
        <p:nvSpPr>
          <p:cNvPr id="5" name="矩形 4"/>
          <p:cNvSpPr/>
          <p:nvPr/>
        </p:nvSpPr>
        <p:spPr>
          <a:xfrm>
            <a:off x="8584863" y="3065717"/>
            <a:ext cx="2957779" cy="2215991"/>
          </a:xfrm>
          <a:prstGeom prst="rect">
            <a:avLst/>
          </a:prstGeom>
          <a:noFill/>
        </p:spPr>
        <p:txBody>
          <a:bodyPr wrap="square" lIns="91440" tIns="45720" rIns="91440" bIns="45720">
            <a:spAutoFit/>
          </a:bodyPr>
          <a:lstStyle/>
          <a:p>
            <a:r>
              <a:rPr lang="en-US" altLang="zh-TW" sz="2300" dirty="0">
                <a:solidFill>
                  <a:srgbClr val="0070C0"/>
                </a:solidFill>
              </a:rPr>
              <a:t>The intervals of the five moving averages are 1, 3, 5, 7 and 9, denoted as SMA</a:t>
            </a:r>
            <a:r>
              <a:rPr lang="en-US" altLang="zh-TW" sz="2300" baseline="-25000" dirty="0">
                <a:solidFill>
                  <a:srgbClr val="0070C0"/>
                </a:solidFill>
              </a:rPr>
              <a:t>1</a:t>
            </a:r>
            <a:r>
              <a:rPr lang="en-US" altLang="zh-TW" sz="2300" dirty="0">
                <a:solidFill>
                  <a:srgbClr val="0070C0"/>
                </a:solidFill>
              </a:rPr>
              <a:t>(t), SMA</a:t>
            </a:r>
            <a:r>
              <a:rPr lang="en-US" altLang="zh-TW" sz="2300" baseline="-25000" dirty="0">
                <a:solidFill>
                  <a:srgbClr val="0070C0"/>
                </a:solidFill>
              </a:rPr>
              <a:t>3</a:t>
            </a:r>
            <a:r>
              <a:rPr lang="en-US" altLang="zh-TW" sz="2300" dirty="0">
                <a:solidFill>
                  <a:srgbClr val="0070C0"/>
                </a:solidFill>
              </a:rPr>
              <a:t>(t), SMA</a:t>
            </a:r>
            <a:r>
              <a:rPr lang="en-US" altLang="zh-TW" sz="2300" baseline="-25000" dirty="0">
                <a:solidFill>
                  <a:srgbClr val="0070C0"/>
                </a:solidFill>
              </a:rPr>
              <a:t>5</a:t>
            </a:r>
            <a:r>
              <a:rPr lang="en-US" altLang="zh-TW" sz="2300" dirty="0">
                <a:solidFill>
                  <a:srgbClr val="0070C0"/>
                </a:solidFill>
              </a:rPr>
              <a:t>(t), SMA</a:t>
            </a:r>
            <a:r>
              <a:rPr lang="en-US" altLang="zh-TW" sz="2300" baseline="-25000" dirty="0">
                <a:solidFill>
                  <a:srgbClr val="0070C0"/>
                </a:solidFill>
              </a:rPr>
              <a:t>7</a:t>
            </a:r>
            <a:r>
              <a:rPr lang="en-US" altLang="zh-TW" sz="2300" dirty="0">
                <a:solidFill>
                  <a:srgbClr val="0070C0"/>
                </a:solidFill>
              </a:rPr>
              <a:t>(t) and SMA</a:t>
            </a:r>
            <a:r>
              <a:rPr lang="en-US" altLang="zh-TW" sz="2300" baseline="-25000" dirty="0">
                <a:solidFill>
                  <a:srgbClr val="0070C0"/>
                </a:solidFill>
              </a:rPr>
              <a:t>9</a:t>
            </a:r>
            <a:r>
              <a:rPr lang="en-US" altLang="zh-TW" sz="2300" dirty="0">
                <a:solidFill>
                  <a:srgbClr val="0070C0"/>
                </a:solidFill>
              </a:rPr>
              <a:t>(t).</a:t>
            </a:r>
            <a:endParaRPr lang="zh-TW" altLang="en-US" sz="2300" b="0" cap="none" spc="0" dirty="0">
              <a:ln w="0"/>
              <a:solidFill>
                <a:srgbClr val="0070C0"/>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2680582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817" y="1243930"/>
            <a:ext cx="5476600" cy="4593616"/>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1972" y="1243929"/>
            <a:ext cx="5371827" cy="4498777"/>
          </a:xfrm>
          <a:prstGeom prst="rect">
            <a:avLst/>
          </a:prstGeom>
        </p:spPr>
      </p:pic>
    </p:spTree>
    <p:extLst>
      <p:ext uri="{BB962C8B-B14F-4D97-AF65-F5344CB8AC3E}">
        <p14:creationId xmlns:p14="http://schemas.microsoft.com/office/powerpoint/2010/main" val="1446741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2271" y="237121"/>
            <a:ext cx="9662720" cy="4147469"/>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332" y="4946386"/>
            <a:ext cx="7701398" cy="1531770"/>
          </a:xfrm>
          <a:prstGeom prst="rect">
            <a:avLst/>
          </a:prstGeom>
        </p:spPr>
      </p:pic>
    </p:spTree>
    <p:extLst>
      <p:ext uri="{BB962C8B-B14F-4D97-AF65-F5344CB8AC3E}">
        <p14:creationId xmlns:p14="http://schemas.microsoft.com/office/powerpoint/2010/main" val="3275816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Chromosome</a:t>
            </a:r>
            <a:endParaRPr lang="zh-TW" altLang="en-US" dirty="0"/>
          </a:p>
        </p:txBody>
      </p:sp>
      <mc:AlternateContent xmlns:mc="http://schemas.openxmlformats.org/markup-compatibility/2006">
        <mc:Choice xmlns:a14="http://schemas.microsoft.com/office/drawing/2010/main" Requires="a14">
          <p:sp>
            <p:nvSpPr>
              <p:cNvPr id="24" name="文字方塊 23"/>
              <p:cNvSpPr txBox="1"/>
              <p:nvPr/>
            </p:nvSpPr>
            <p:spPr>
              <a:xfrm>
                <a:off x="2063552" y="4553834"/>
                <a:ext cx="8064897" cy="1323439"/>
              </a:xfrm>
              <a:prstGeom prst="rect">
                <a:avLst/>
              </a:prstGeom>
              <a:noFill/>
            </p:spPr>
            <p:txBody>
              <a:bodyPr wrap="square" rtlCol="0">
                <a:spAutoFit/>
              </a:bodyPr>
              <a:lstStyle/>
              <a:p>
                <a:r>
                  <a:rPr lang="en-US" altLang="zh-TW" sz="2000" dirty="0"/>
                  <a:t>Function set: {</a:t>
                </a:r>
                <a14:m>
                  <m:oMath xmlns:m="http://schemas.openxmlformats.org/officeDocument/2006/math">
                    <m:r>
                      <a:rPr lang="en-US" altLang="zh-TW" sz="2000" i="1">
                        <a:latin typeface="Cambria Math"/>
                      </a:rPr>
                      <m:t>+</m:t>
                    </m:r>
                  </m:oMath>
                </a14:m>
                <a:r>
                  <a:rPr lang="en-US" altLang="zh-TW" sz="2000" dirty="0"/>
                  <a:t>, </a:t>
                </a:r>
                <a14:m>
                  <m:oMath xmlns:m="http://schemas.openxmlformats.org/officeDocument/2006/math">
                    <m:r>
                      <a:rPr lang="en-US" altLang="zh-TW" sz="2000" i="1" dirty="0">
                        <a:latin typeface="Cambria Math"/>
                      </a:rPr>
                      <m:t>−</m:t>
                    </m:r>
                  </m:oMath>
                </a14:m>
                <a:r>
                  <a:rPr lang="en-US" altLang="zh-TW" sz="2000" dirty="0"/>
                  <a:t>, </a:t>
                </a:r>
                <a14:m>
                  <m:oMath xmlns:m="http://schemas.openxmlformats.org/officeDocument/2006/math">
                    <m:r>
                      <a:rPr lang="en-US" altLang="zh-TW" sz="2000" i="1">
                        <a:latin typeface="Cambria Math"/>
                      </a:rPr>
                      <m:t>×</m:t>
                    </m:r>
                  </m:oMath>
                </a14:m>
                <a:r>
                  <a:rPr lang="en-US" altLang="zh-TW" sz="2000" dirty="0"/>
                  <a:t>, </a:t>
                </a:r>
                <a14:m>
                  <m:oMath xmlns:m="http://schemas.openxmlformats.org/officeDocument/2006/math">
                    <m:r>
                      <a:rPr lang="en-US" altLang="zh-TW" sz="2000" i="1" dirty="0">
                        <a:latin typeface="Cambria Math"/>
                      </a:rPr>
                      <m:t>÷</m:t>
                    </m:r>
                  </m:oMath>
                </a14:m>
                <a:r>
                  <a:rPr lang="en-US" altLang="zh-TW" sz="2000" dirty="0"/>
                  <a:t>, </a:t>
                </a:r>
                <a14:m>
                  <m:oMath xmlns:m="http://schemas.openxmlformats.org/officeDocument/2006/math">
                    <m:r>
                      <m:rPr>
                        <m:lit/>
                      </m:rPr>
                      <a:rPr lang="en-US" altLang="zh-TW" sz="2000" i="1" dirty="0">
                        <a:latin typeface="Cambria Math"/>
                      </a:rPr>
                      <m:t>&lt;</m:t>
                    </m:r>
                  </m:oMath>
                </a14:m>
                <a:r>
                  <a:rPr lang="en-US" altLang="zh-TW" sz="2000" dirty="0"/>
                  <a:t>, </a:t>
                </a:r>
                <a14:m>
                  <m:oMath xmlns:m="http://schemas.openxmlformats.org/officeDocument/2006/math">
                    <m:r>
                      <a:rPr lang="en-US" altLang="zh-TW" sz="2000" i="1" dirty="0">
                        <a:latin typeface="Cambria Math"/>
                      </a:rPr>
                      <m:t>&gt;</m:t>
                    </m:r>
                  </m:oMath>
                </a14:m>
                <a:r>
                  <a:rPr lang="en-US" altLang="zh-TW" sz="2000" dirty="0"/>
                  <a:t>, </a:t>
                </a:r>
                <a14:m>
                  <m:oMath xmlns:m="http://schemas.openxmlformats.org/officeDocument/2006/math">
                    <m:r>
                      <a:rPr lang="en-US" altLang="zh-TW" sz="2000" i="1" dirty="0">
                        <a:latin typeface="Cambria Math"/>
                      </a:rPr>
                      <m:t>𝑎𝑛𝑑</m:t>
                    </m:r>
                  </m:oMath>
                </a14:m>
                <a:r>
                  <a:rPr lang="en-US" altLang="zh-TW" sz="2000" dirty="0"/>
                  <a:t>, </a:t>
                </a:r>
                <a14:m>
                  <m:oMath xmlns:m="http://schemas.openxmlformats.org/officeDocument/2006/math">
                    <m:r>
                      <a:rPr lang="en-US" altLang="zh-TW" sz="2000" i="1">
                        <a:latin typeface="Cambria Math"/>
                      </a:rPr>
                      <m:t>𝑜𝑟</m:t>
                    </m:r>
                  </m:oMath>
                </a14:m>
                <a:r>
                  <a:rPr lang="en-US" altLang="zh-TW" sz="2000" dirty="0"/>
                  <a:t>, </a:t>
                </a:r>
                <a14:m>
                  <m:oMath xmlns:m="http://schemas.openxmlformats.org/officeDocument/2006/math">
                    <m:r>
                      <a:rPr lang="en-US" altLang="zh-TW" sz="2000" i="1">
                        <a:latin typeface="Cambria Math"/>
                      </a:rPr>
                      <m:t>…</m:t>
                    </m:r>
                  </m:oMath>
                </a14:m>
                <a:r>
                  <a:rPr lang="en-US" altLang="zh-TW" sz="2000" dirty="0"/>
                  <a:t>, or user-defined operators}</a:t>
                </a:r>
              </a:p>
              <a:p>
                <a:r>
                  <a:rPr lang="en-US" altLang="zh-TW" sz="2000" dirty="0"/>
                  <a:t>Terminal set: {a, b, c, d, 1 , 2, 3, 4, 5, </a:t>
                </a:r>
                <a14:m>
                  <m:oMath xmlns:m="http://schemas.openxmlformats.org/officeDocument/2006/math">
                    <m:r>
                      <a:rPr lang="en-US" altLang="zh-TW" sz="2000" i="1">
                        <a:latin typeface="Cambria Math"/>
                      </a:rPr>
                      <m:t>…</m:t>
                    </m:r>
                  </m:oMath>
                </a14:m>
                <a:r>
                  <a:rPr lang="en-US" altLang="zh-TW" sz="2000" dirty="0"/>
                  <a:t>}</a:t>
                </a:r>
                <a:endParaRPr lang="zh-TW" altLang="en-US" sz="2000" dirty="0"/>
              </a:p>
              <a:p>
                <a:r>
                  <a:rPr lang="en-US" altLang="zh-TW" sz="2000" dirty="0"/>
                  <a:t>The elements of the function set can only be put in the head part.</a:t>
                </a:r>
              </a:p>
              <a:p>
                <a:r>
                  <a:rPr lang="en-US" altLang="zh-TW" sz="2000" dirty="0"/>
                  <a:t>The elements of the terminal set can be put in the head part or tail part.</a:t>
                </a:r>
                <a:endParaRPr lang="zh-TW" altLang="en-US" sz="2000" dirty="0"/>
              </a:p>
            </p:txBody>
          </p:sp>
        </mc:Choice>
        <mc:Fallback>
          <p:sp>
            <p:nvSpPr>
              <p:cNvPr id="24" name="文字方塊 23"/>
              <p:cNvSpPr txBox="1">
                <a:spLocks noRot="1" noChangeAspect="1" noMove="1" noResize="1" noEditPoints="1" noAdjustHandles="1" noChangeArrowheads="1" noChangeShapeType="1" noTextEdit="1"/>
              </p:cNvSpPr>
              <p:nvPr/>
            </p:nvSpPr>
            <p:spPr>
              <a:xfrm>
                <a:off x="2063552" y="4553834"/>
                <a:ext cx="8064897" cy="1323439"/>
              </a:xfrm>
              <a:prstGeom prst="rect">
                <a:avLst/>
              </a:prstGeom>
              <a:blipFill>
                <a:blip r:embed="rId3"/>
                <a:stretch>
                  <a:fillRect l="-832" t="-2304" b="-7373"/>
                </a:stretch>
              </a:blipFill>
            </p:spPr>
            <p:txBody>
              <a:bodyPr/>
              <a:lstStyle/>
              <a:p>
                <a:r>
                  <a:rPr lang="zh-TW" altLang="en-US">
                    <a:noFill/>
                  </a:rPr>
                  <a:t> </a:t>
                </a:r>
              </a:p>
            </p:txBody>
          </p:sp>
        </mc:Fallback>
      </mc:AlternateContent>
      <p:sp>
        <p:nvSpPr>
          <p:cNvPr id="3" name="投影片編號版面配置區 2"/>
          <p:cNvSpPr>
            <a:spLocks noGrp="1"/>
          </p:cNvSpPr>
          <p:nvPr>
            <p:ph type="sldNum" sz="quarter" idx="12"/>
          </p:nvPr>
        </p:nvSpPr>
        <p:spPr/>
        <p:txBody>
          <a:bodyPr/>
          <a:lstStyle/>
          <a:p>
            <a:fld id="{73DA0BB7-265A-403C-9275-D587AB510EDC}" type="slidenum">
              <a:rPr lang="zh-TW" altLang="en-US" smtClean="0"/>
              <a:t>10</a:t>
            </a:fld>
            <a:endParaRPr lang="zh-TW" altLang="en-US" dirty="0"/>
          </a:p>
        </p:txBody>
      </p:sp>
      <p:grpSp>
        <p:nvGrpSpPr>
          <p:cNvPr id="51" name="群組 50"/>
          <p:cNvGrpSpPr/>
          <p:nvPr/>
        </p:nvGrpSpPr>
        <p:grpSpPr>
          <a:xfrm>
            <a:off x="2639524" y="1893605"/>
            <a:ext cx="6912860" cy="2658660"/>
            <a:chOff x="251520" y="1796098"/>
            <a:chExt cx="6912860" cy="2658660"/>
          </a:xfrm>
        </p:grpSpPr>
        <mc:AlternateContent xmlns:mc="http://schemas.openxmlformats.org/markup-compatibility/2006" xmlns:a14="http://schemas.microsoft.com/office/drawing/2010/main">
          <mc:Choice Requires="a14">
            <p:graphicFrame>
              <p:nvGraphicFramePr>
                <p:cNvPr id="22" name="內容版面配置區 3"/>
                <p:cNvGraphicFramePr>
                  <a:graphicFrameLocks/>
                </p:cNvGraphicFramePr>
                <p:nvPr>
                  <p:extLst/>
                </p:nvPr>
              </p:nvGraphicFramePr>
              <p:xfrm>
                <a:off x="1619760" y="2502565"/>
                <a:ext cx="5544620" cy="952564"/>
              </p:xfrm>
              <a:graphic>
                <a:graphicData uri="http://schemas.openxmlformats.org/drawingml/2006/table">
                  <a:tbl>
                    <a:tblPr firstRow="1" bandRow="1">
                      <a:tableStyleId>{5C22544A-7EE6-4342-B048-85BDC9FD1C3A}</a:tableStyleId>
                    </a:tblPr>
                    <a:tblGrid>
                      <a:gridCol w="277231">
                        <a:extLst>
                          <a:ext uri="{9D8B030D-6E8A-4147-A177-3AD203B41FA5}">
                            <a16:colId xmlns:a16="http://schemas.microsoft.com/office/drawing/2014/main" val="20000"/>
                          </a:ext>
                        </a:extLst>
                      </a:gridCol>
                      <a:gridCol w="277231">
                        <a:extLst>
                          <a:ext uri="{9D8B030D-6E8A-4147-A177-3AD203B41FA5}">
                            <a16:colId xmlns:a16="http://schemas.microsoft.com/office/drawing/2014/main" val="20001"/>
                          </a:ext>
                        </a:extLst>
                      </a:gridCol>
                      <a:gridCol w="277231">
                        <a:extLst>
                          <a:ext uri="{9D8B030D-6E8A-4147-A177-3AD203B41FA5}">
                            <a16:colId xmlns:a16="http://schemas.microsoft.com/office/drawing/2014/main" val="20002"/>
                          </a:ext>
                        </a:extLst>
                      </a:gridCol>
                      <a:gridCol w="277231">
                        <a:extLst>
                          <a:ext uri="{9D8B030D-6E8A-4147-A177-3AD203B41FA5}">
                            <a16:colId xmlns:a16="http://schemas.microsoft.com/office/drawing/2014/main" val="20003"/>
                          </a:ext>
                        </a:extLst>
                      </a:gridCol>
                      <a:gridCol w="277231">
                        <a:extLst>
                          <a:ext uri="{9D8B030D-6E8A-4147-A177-3AD203B41FA5}">
                            <a16:colId xmlns:a16="http://schemas.microsoft.com/office/drawing/2014/main" val="20004"/>
                          </a:ext>
                        </a:extLst>
                      </a:gridCol>
                      <a:gridCol w="277231">
                        <a:extLst>
                          <a:ext uri="{9D8B030D-6E8A-4147-A177-3AD203B41FA5}">
                            <a16:colId xmlns:a16="http://schemas.microsoft.com/office/drawing/2014/main" val="20005"/>
                          </a:ext>
                        </a:extLst>
                      </a:gridCol>
                      <a:gridCol w="277231">
                        <a:extLst>
                          <a:ext uri="{9D8B030D-6E8A-4147-A177-3AD203B41FA5}">
                            <a16:colId xmlns:a16="http://schemas.microsoft.com/office/drawing/2014/main" val="20006"/>
                          </a:ext>
                        </a:extLst>
                      </a:gridCol>
                      <a:gridCol w="277231">
                        <a:extLst>
                          <a:ext uri="{9D8B030D-6E8A-4147-A177-3AD203B41FA5}">
                            <a16:colId xmlns:a16="http://schemas.microsoft.com/office/drawing/2014/main" val="20007"/>
                          </a:ext>
                        </a:extLst>
                      </a:gridCol>
                      <a:gridCol w="277231">
                        <a:extLst>
                          <a:ext uri="{9D8B030D-6E8A-4147-A177-3AD203B41FA5}">
                            <a16:colId xmlns:a16="http://schemas.microsoft.com/office/drawing/2014/main" val="20008"/>
                          </a:ext>
                        </a:extLst>
                      </a:gridCol>
                      <a:gridCol w="277231">
                        <a:extLst>
                          <a:ext uri="{9D8B030D-6E8A-4147-A177-3AD203B41FA5}">
                            <a16:colId xmlns:a16="http://schemas.microsoft.com/office/drawing/2014/main" val="20009"/>
                          </a:ext>
                        </a:extLst>
                      </a:gridCol>
                      <a:gridCol w="277231">
                        <a:extLst>
                          <a:ext uri="{9D8B030D-6E8A-4147-A177-3AD203B41FA5}">
                            <a16:colId xmlns:a16="http://schemas.microsoft.com/office/drawing/2014/main" val="20010"/>
                          </a:ext>
                        </a:extLst>
                      </a:gridCol>
                      <a:gridCol w="277231">
                        <a:extLst>
                          <a:ext uri="{9D8B030D-6E8A-4147-A177-3AD203B41FA5}">
                            <a16:colId xmlns:a16="http://schemas.microsoft.com/office/drawing/2014/main" val="20011"/>
                          </a:ext>
                        </a:extLst>
                      </a:gridCol>
                      <a:gridCol w="277231">
                        <a:extLst>
                          <a:ext uri="{9D8B030D-6E8A-4147-A177-3AD203B41FA5}">
                            <a16:colId xmlns:a16="http://schemas.microsoft.com/office/drawing/2014/main" val="20012"/>
                          </a:ext>
                        </a:extLst>
                      </a:gridCol>
                      <a:gridCol w="277231">
                        <a:extLst>
                          <a:ext uri="{9D8B030D-6E8A-4147-A177-3AD203B41FA5}">
                            <a16:colId xmlns:a16="http://schemas.microsoft.com/office/drawing/2014/main" val="20013"/>
                          </a:ext>
                        </a:extLst>
                      </a:gridCol>
                      <a:gridCol w="277231">
                        <a:extLst>
                          <a:ext uri="{9D8B030D-6E8A-4147-A177-3AD203B41FA5}">
                            <a16:colId xmlns:a16="http://schemas.microsoft.com/office/drawing/2014/main" val="20014"/>
                          </a:ext>
                        </a:extLst>
                      </a:gridCol>
                      <a:gridCol w="277231">
                        <a:extLst>
                          <a:ext uri="{9D8B030D-6E8A-4147-A177-3AD203B41FA5}">
                            <a16:colId xmlns:a16="http://schemas.microsoft.com/office/drawing/2014/main" val="20015"/>
                          </a:ext>
                        </a:extLst>
                      </a:gridCol>
                      <a:gridCol w="277231">
                        <a:extLst>
                          <a:ext uri="{9D8B030D-6E8A-4147-A177-3AD203B41FA5}">
                            <a16:colId xmlns:a16="http://schemas.microsoft.com/office/drawing/2014/main" val="20016"/>
                          </a:ext>
                        </a:extLst>
                      </a:gridCol>
                      <a:gridCol w="277231">
                        <a:extLst>
                          <a:ext uri="{9D8B030D-6E8A-4147-A177-3AD203B41FA5}">
                            <a16:colId xmlns:a16="http://schemas.microsoft.com/office/drawing/2014/main" val="20017"/>
                          </a:ext>
                        </a:extLst>
                      </a:gridCol>
                      <a:gridCol w="277231">
                        <a:extLst>
                          <a:ext uri="{9D8B030D-6E8A-4147-A177-3AD203B41FA5}">
                            <a16:colId xmlns:a16="http://schemas.microsoft.com/office/drawing/2014/main" val="20018"/>
                          </a:ext>
                        </a:extLst>
                      </a:gridCol>
                      <a:gridCol w="277231">
                        <a:extLst>
                          <a:ext uri="{9D8B030D-6E8A-4147-A177-3AD203B41FA5}">
                            <a16:colId xmlns:a16="http://schemas.microsoft.com/office/drawing/2014/main" val="20019"/>
                          </a:ext>
                        </a:extLst>
                      </a:gridCol>
                    </a:tblGrid>
                    <a:tr h="464885">
                      <a:tc>
                        <a:txBody>
                          <a:bodyPr/>
                          <a:lstStyle/>
                          <a:p>
                            <a:pPr algn="ctr"/>
                            <a:r>
                              <a:rPr lang="en-US" altLang="zh-TW" sz="2000" b="0" dirty="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87679">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&gt;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20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d</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22" name="內容版面配置區 3"/>
                <p:cNvGraphicFramePr>
                  <a:graphicFrameLocks/>
                </p:cNvGraphicFramePr>
                <p:nvPr>
                  <p:extLst>
                    <p:ext uri="{D42A27DB-BD31-4B8C-83A1-F6EECF244321}">
                      <p14:modId xmlns:p14="http://schemas.microsoft.com/office/powerpoint/2010/main" val="3825635327"/>
                    </p:ext>
                  </p:extLst>
                </p:nvPr>
              </p:nvGraphicFramePr>
              <p:xfrm>
                <a:off x="1619760" y="2502565"/>
                <a:ext cx="5544620" cy="952564"/>
              </p:xfrm>
              <a:graphic>
                <a:graphicData uri="http://schemas.openxmlformats.org/drawingml/2006/table">
                  <a:tbl>
                    <a:tblPr firstRow="1" bandRow="1">
                      <a:tableStyleId>{5C22544A-7EE6-4342-B048-85BDC9FD1C3A}</a:tableStyleId>
                    </a:tblPr>
                    <a:tblGrid>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tblGrid>
                    <a:tr h="464885">
                      <a:tc>
                        <a:txBody>
                          <a:bodyPr/>
                          <a:lstStyle/>
                          <a:p>
                            <a:pPr algn="ctr"/>
                            <a:r>
                              <a:rPr lang="en-US" altLang="zh-TW" sz="2000" b="0" dirty="0" smtClean="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7679">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t="-96250" r="-1878261" b="-1250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2222" t="-96250" r="-1820000" b="-1250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2000" b="0" dirty="0" smtClean="0">
                                <a:solidFill>
                                  <a:schemeClr val="tx1"/>
                                </a:solidFill>
                              </a:rPr>
                              <a:t>S</a:t>
                            </a:r>
                            <a:endParaRPr lang="en-US" altLang="zh-TW" sz="2000" b="0" dirty="0" smtClean="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304444" t="-96250" r="-1617778" b="-12500"/>
                            </a:stretch>
                          </a:blipFill>
                        </a:tcPr>
                      </a:tc>
                      <a:tc>
                        <a:txBody>
                          <a:bodyPr/>
                          <a:lstStyle/>
                          <a:p>
                            <a:pPr algn="ctr"/>
                            <a:r>
                              <a:rPr lang="en-US" altLang="zh-TW" sz="2000" b="0" dirty="0" smtClean="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d</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989130" t="-96250" r="-889130" b="-1250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113333" t="-96250" r="-808889" b="-1250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186957" t="-96250" r="-691304" b="-12500"/>
                            </a:stretch>
                          </a:blip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28" name="左大括弧 27"/>
            <p:cNvSpPr/>
            <p:nvPr/>
          </p:nvSpPr>
          <p:spPr>
            <a:xfrm rot="5400000">
              <a:off x="2849609" y="1068120"/>
              <a:ext cx="338855" cy="2510697"/>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29" name="文字方塊 28"/>
            <p:cNvSpPr txBox="1"/>
            <p:nvPr/>
          </p:nvSpPr>
          <p:spPr>
            <a:xfrm>
              <a:off x="2604173" y="1796099"/>
              <a:ext cx="829725" cy="357942"/>
            </a:xfrm>
            <a:prstGeom prst="rect">
              <a:avLst/>
            </a:prstGeom>
            <a:noFill/>
          </p:spPr>
          <p:txBody>
            <a:bodyPr wrap="square" lIns="49679" tIns="24840" rIns="49679" bIns="24840" rtlCol="0">
              <a:spAutoFit/>
            </a:bodyPr>
            <a:lstStyle/>
            <a:p>
              <a:r>
                <a:rPr lang="en-US" altLang="zh-TW" sz="2000" dirty="0"/>
                <a:t>gene 1</a:t>
              </a:r>
              <a:endParaRPr lang="zh-TW" altLang="en-US" sz="2000" dirty="0"/>
            </a:p>
          </p:txBody>
        </p:sp>
        <p:sp>
          <p:nvSpPr>
            <p:cNvPr id="30" name="文字方塊 29"/>
            <p:cNvSpPr txBox="1"/>
            <p:nvPr/>
          </p:nvSpPr>
          <p:spPr>
            <a:xfrm>
              <a:off x="5357482" y="1796098"/>
              <a:ext cx="814376" cy="357942"/>
            </a:xfrm>
            <a:prstGeom prst="rect">
              <a:avLst/>
            </a:prstGeom>
            <a:noFill/>
          </p:spPr>
          <p:txBody>
            <a:bodyPr wrap="square" lIns="49679" tIns="24840" rIns="49679" bIns="24840" rtlCol="0">
              <a:spAutoFit/>
            </a:bodyPr>
            <a:lstStyle/>
            <a:p>
              <a:r>
                <a:rPr lang="en-US" altLang="zh-TW" sz="2000" dirty="0"/>
                <a:t>gene 2</a:t>
              </a:r>
              <a:endParaRPr lang="zh-TW" altLang="en-US" sz="2000" dirty="0"/>
            </a:p>
          </p:txBody>
        </p:sp>
        <p:sp>
          <p:nvSpPr>
            <p:cNvPr id="31" name="左大括弧 30"/>
            <p:cNvSpPr/>
            <p:nvPr/>
          </p:nvSpPr>
          <p:spPr>
            <a:xfrm rot="16200000">
              <a:off x="4798618" y="3223568"/>
              <a:ext cx="338855" cy="792089"/>
            </a:xfrm>
            <a:prstGeom prst="leftBrace">
              <a:avLst>
                <a:gd name="adj1" fmla="val 5029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32" name="左大括弧 31"/>
            <p:cNvSpPr/>
            <p:nvPr/>
          </p:nvSpPr>
          <p:spPr>
            <a:xfrm rot="16200000">
              <a:off x="6171309" y="2930997"/>
              <a:ext cx="338855" cy="1377230"/>
            </a:xfrm>
            <a:prstGeom prst="leftBrace">
              <a:avLst>
                <a:gd name="adj1" fmla="val 6868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33" name="文字方塊 32"/>
            <p:cNvSpPr txBox="1"/>
            <p:nvPr/>
          </p:nvSpPr>
          <p:spPr>
            <a:xfrm>
              <a:off x="4672707" y="3789040"/>
              <a:ext cx="590676" cy="665718"/>
            </a:xfrm>
            <a:prstGeom prst="rect">
              <a:avLst/>
            </a:prstGeom>
            <a:noFill/>
          </p:spPr>
          <p:txBody>
            <a:bodyPr wrap="square" lIns="49679" tIns="24840" rIns="49679" bIns="24840" rtlCol="0">
              <a:spAutoFit/>
            </a:bodyPr>
            <a:lstStyle/>
            <a:p>
              <a:pPr algn="ctr"/>
              <a:r>
                <a:rPr lang="en-US" altLang="zh-TW" sz="2000" dirty="0"/>
                <a:t>head</a:t>
              </a:r>
              <a:endParaRPr lang="zh-TW" altLang="en-US" sz="2000" dirty="0"/>
            </a:p>
          </p:txBody>
        </p:sp>
        <p:sp>
          <p:nvSpPr>
            <p:cNvPr id="34" name="文字方塊 33"/>
            <p:cNvSpPr txBox="1"/>
            <p:nvPr/>
          </p:nvSpPr>
          <p:spPr>
            <a:xfrm>
              <a:off x="5948990" y="3789040"/>
              <a:ext cx="783491" cy="357942"/>
            </a:xfrm>
            <a:prstGeom prst="rect">
              <a:avLst/>
            </a:prstGeom>
            <a:noFill/>
          </p:spPr>
          <p:txBody>
            <a:bodyPr wrap="square" lIns="49679" tIns="24840" rIns="49679" bIns="24840" rtlCol="0">
              <a:spAutoFit/>
            </a:bodyPr>
            <a:lstStyle/>
            <a:p>
              <a:pPr algn="ctr"/>
              <a:r>
                <a:rPr lang="en-US" altLang="zh-TW" sz="2000" dirty="0"/>
                <a:t>tail</a:t>
              </a:r>
              <a:endParaRPr lang="zh-TW" altLang="en-US" sz="2000" dirty="0"/>
            </a:p>
          </p:txBody>
        </p:sp>
        <p:sp>
          <p:nvSpPr>
            <p:cNvPr id="35" name="矩形 34"/>
            <p:cNvSpPr/>
            <p:nvPr/>
          </p:nvSpPr>
          <p:spPr>
            <a:xfrm>
              <a:off x="3019036" y="2492896"/>
              <a:ext cx="256820" cy="93610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49679" tIns="24840" rIns="49679" bIns="24840" rtlCol="0" anchor="ctr"/>
            <a:lstStyle/>
            <a:p>
              <a:pPr algn="ctr"/>
              <a:endParaRPr lang="zh-TW" altLang="en-US" sz="2000"/>
            </a:p>
          </p:txBody>
        </p:sp>
        <p:cxnSp>
          <p:nvCxnSpPr>
            <p:cNvPr id="36" name="直線單箭頭接點 35"/>
            <p:cNvCxnSpPr>
              <a:stCxn id="35" idx="2"/>
              <a:endCxn id="37" idx="0"/>
            </p:cNvCxnSpPr>
            <p:nvPr/>
          </p:nvCxnSpPr>
          <p:spPr>
            <a:xfrm>
              <a:off x="3147446" y="3429000"/>
              <a:ext cx="0" cy="316744"/>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7" name="文字方塊 36"/>
            <p:cNvSpPr txBox="1"/>
            <p:nvPr/>
          </p:nvSpPr>
          <p:spPr>
            <a:xfrm>
              <a:off x="2448073" y="3745744"/>
              <a:ext cx="1398746" cy="357942"/>
            </a:xfrm>
            <a:prstGeom prst="rect">
              <a:avLst/>
            </a:prstGeom>
            <a:noFill/>
          </p:spPr>
          <p:txBody>
            <a:bodyPr wrap="square" lIns="49679" tIns="24840" rIns="49679" bIns="24840" rtlCol="0">
              <a:spAutoFit/>
            </a:bodyPr>
            <a:lstStyle/>
            <a:p>
              <a:pPr algn="ctr"/>
              <a:r>
                <a:rPr lang="en-US" altLang="zh-TW" sz="2000" dirty="0"/>
                <a:t>allele</a:t>
              </a:r>
              <a:endParaRPr lang="zh-TW" altLang="en-US" sz="2000" dirty="0"/>
            </a:p>
          </p:txBody>
        </p:sp>
        <p:sp>
          <p:nvSpPr>
            <p:cNvPr id="38" name="左大括弧 37"/>
            <p:cNvSpPr/>
            <p:nvPr/>
          </p:nvSpPr>
          <p:spPr>
            <a:xfrm rot="5400000">
              <a:off x="5595243" y="1058789"/>
              <a:ext cx="338855" cy="2529358"/>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39" name="文字方塊 38"/>
            <p:cNvSpPr txBox="1"/>
            <p:nvPr/>
          </p:nvSpPr>
          <p:spPr>
            <a:xfrm>
              <a:off x="428209" y="2567002"/>
              <a:ext cx="793695" cy="357942"/>
            </a:xfrm>
            <a:prstGeom prst="rect">
              <a:avLst/>
            </a:prstGeom>
            <a:noFill/>
          </p:spPr>
          <p:txBody>
            <a:bodyPr wrap="square" lIns="49679" tIns="24840" rIns="49679" bIns="24840" rtlCol="0">
              <a:spAutoFit/>
            </a:bodyPr>
            <a:lstStyle/>
            <a:p>
              <a:r>
                <a:rPr lang="en-US" altLang="zh-TW" sz="2000" dirty="0"/>
                <a:t>Index</a:t>
              </a:r>
              <a:endParaRPr lang="zh-TW" altLang="en-US" sz="2000" dirty="0"/>
            </a:p>
          </p:txBody>
        </p:sp>
        <p:sp>
          <p:nvSpPr>
            <p:cNvPr id="40" name="文字方塊 39"/>
            <p:cNvSpPr txBox="1"/>
            <p:nvPr/>
          </p:nvSpPr>
          <p:spPr>
            <a:xfrm>
              <a:off x="251520" y="3068960"/>
              <a:ext cx="970384" cy="357942"/>
            </a:xfrm>
            <a:prstGeom prst="rect">
              <a:avLst/>
            </a:prstGeom>
            <a:noFill/>
          </p:spPr>
          <p:txBody>
            <a:bodyPr wrap="square" lIns="49679" tIns="24840" rIns="49679" bIns="24840" rtlCol="0">
              <a:spAutoFit/>
            </a:bodyPr>
            <a:lstStyle/>
            <a:p>
              <a:r>
                <a:rPr lang="en-US" altLang="zh-TW" sz="2000" dirty="0"/>
                <a:t>Symbol</a:t>
              </a:r>
              <a:endParaRPr lang="zh-TW" altLang="en-US" sz="2000" dirty="0"/>
            </a:p>
          </p:txBody>
        </p:sp>
        <p:cxnSp>
          <p:nvCxnSpPr>
            <p:cNvPr id="41" name="直線單箭頭接點 40"/>
            <p:cNvCxnSpPr>
              <a:stCxn id="39" idx="3"/>
            </p:cNvCxnSpPr>
            <p:nvPr/>
          </p:nvCxnSpPr>
          <p:spPr>
            <a:xfrm>
              <a:off x="1221904" y="2745973"/>
              <a:ext cx="39776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stCxn id="40" idx="3"/>
            </p:cNvCxnSpPr>
            <p:nvPr/>
          </p:nvCxnSpPr>
          <p:spPr>
            <a:xfrm>
              <a:off x="1221904" y="3247931"/>
              <a:ext cx="39776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40285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Two Structures of a Gene</a:t>
            </a:r>
            <a:endParaRPr lang="zh-TW" altLang="en-US" dirty="0"/>
          </a:p>
        </p:txBody>
      </p:sp>
      <p:sp>
        <p:nvSpPr>
          <p:cNvPr id="5" name="文字方塊 4"/>
          <p:cNvSpPr txBox="1"/>
          <p:nvPr/>
        </p:nvSpPr>
        <p:spPr>
          <a:xfrm>
            <a:off x="2011302" y="1268760"/>
            <a:ext cx="1819729" cy="369332"/>
          </a:xfrm>
          <a:prstGeom prst="rect">
            <a:avLst/>
          </a:prstGeom>
          <a:noFill/>
          <a:ln>
            <a:solidFill>
              <a:schemeClr val="tx1"/>
            </a:solidFill>
          </a:ln>
        </p:spPr>
        <p:txBody>
          <a:bodyPr wrap="none" rtlCol="0">
            <a:spAutoFit/>
          </a:bodyPr>
          <a:lstStyle/>
          <a:p>
            <a:r>
              <a:rPr lang="en-US" altLang="zh-TW" dirty="0"/>
              <a:t>Genotype (string)</a:t>
            </a:r>
          </a:p>
        </p:txBody>
      </p:sp>
      <p:sp>
        <p:nvSpPr>
          <p:cNvPr id="21" name="文字方塊 20"/>
          <p:cNvSpPr txBox="1"/>
          <p:nvPr/>
        </p:nvSpPr>
        <p:spPr>
          <a:xfrm>
            <a:off x="2011301" y="4149080"/>
            <a:ext cx="1781450" cy="369332"/>
          </a:xfrm>
          <a:prstGeom prst="rect">
            <a:avLst/>
          </a:prstGeom>
          <a:noFill/>
          <a:ln>
            <a:solidFill>
              <a:schemeClr val="tx1"/>
            </a:solidFill>
          </a:ln>
        </p:spPr>
        <p:txBody>
          <a:bodyPr wrap="none" rtlCol="0">
            <a:spAutoFit/>
          </a:bodyPr>
          <a:lstStyle/>
          <a:p>
            <a:r>
              <a:rPr lang="en-US" altLang="zh-TW" dirty="0"/>
              <a:t>Phenotype (tree)</a:t>
            </a:r>
          </a:p>
        </p:txBody>
      </p:sp>
      <p:sp>
        <p:nvSpPr>
          <p:cNvPr id="3" name="投影片編號版面配置區 2"/>
          <p:cNvSpPr>
            <a:spLocks noGrp="1"/>
          </p:cNvSpPr>
          <p:nvPr>
            <p:ph type="sldNum" sz="quarter" idx="12"/>
          </p:nvPr>
        </p:nvSpPr>
        <p:spPr/>
        <p:txBody>
          <a:bodyPr/>
          <a:lstStyle/>
          <a:p>
            <a:fld id="{73DA0BB7-265A-403C-9275-D587AB510EDC}" type="slidenum">
              <a:rPr lang="zh-TW" altLang="en-US" smtClean="0"/>
              <a:t>11</a:t>
            </a:fld>
            <a:endParaRPr lang="zh-TW" altLang="en-US"/>
          </a:p>
        </p:txBody>
      </p:sp>
      <p:grpSp>
        <p:nvGrpSpPr>
          <p:cNvPr id="42" name="群組 41"/>
          <p:cNvGrpSpPr/>
          <p:nvPr/>
        </p:nvGrpSpPr>
        <p:grpSpPr>
          <a:xfrm>
            <a:off x="2639570" y="1340768"/>
            <a:ext cx="6912860" cy="2350884"/>
            <a:chOff x="251520" y="1796098"/>
            <a:chExt cx="6912860" cy="2350884"/>
          </a:xfrm>
        </p:grpSpPr>
        <mc:AlternateContent xmlns:mc="http://schemas.openxmlformats.org/markup-compatibility/2006" xmlns:a14="http://schemas.microsoft.com/office/drawing/2010/main">
          <mc:Choice Requires="a14">
            <p:graphicFrame>
              <p:nvGraphicFramePr>
                <p:cNvPr id="43" name="內容版面配置區 3"/>
                <p:cNvGraphicFramePr>
                  <a:graphicFrameLocks/>
                </p:cNvGraphicFramePr>
                <p:nvPr>
                  <p:extLst/>
                </p:nvPr>
              </p:nvGraphicFramePr>
              <p:xfrm>
                <a:off x="1619760" y="2502565"/>
                <a:ext cx="5544620" cy="952564"/>
              </p:xfrm>
              <a:graphic>
                <a:graphicData uri="http://schemas.openxmlformats.org/drawingml/2006/table">
                  <a:tbl>
                    <a:tblPr firstRow="1" bandRow="1">
                      <a:tableStyleId>{5C22544A-7EE6-4342-B048-85BDC9FD1C3A}</a:tableStyleId>
                    </a:tblPr>
                    <a:tblGrid>
                      <a:gridCol w="277231">
                        <a:extLst>
                          <a:ext uri="{9D8B030D-6E8A-4147-A177-3AD203B41FA5}">
                            <a16:colId xmlns:a16="http://schemas.microsoft.com/office/drawing/2014/main" val="20000"/>
                          </a:ext>
                        </a:extLst>
                      </a:gridCol>
                      <a:gridCol w="277231">
                        <a:extLst>
                          <a:ext uri="{9D8B030D-6E8A-4147-A177-3AD203B41FA5}">
                            <a16:colId xmlns:a16="http://schemas.microsoft.com/office/drawing/2014/main" val="20001"/>
                          </a:ext>
                        </a:extLst>
                      </a:gridCol>
                      <a:gridCol w="277231">
                        <a:extLst>
                          <a:ext uri="{9D8B030D-6E8A-4147-A177-3AD203B41FA5}">
                            <a16:colId xmlns:a16="http://schemas.microsoft.com/office/drawing/2014/main" val="20002"/>
                          </a:ext>
                        </a:extLst>
                      </a:gridCol>
                      <a:gridCol w="277231">
                        <a:extLst>
                          <a:ext uri="{9D8B030D-6E8A-4147-A177-3AD203B41FA5}">
                            <a16:colId xmlns:a16="http://schemas.microsoft.com/office/drawing/2014/main" val="20003"/>
                          </a:ext>
                        </a:extLst>
                      </a:gridCol>
                      <a:gridCol w="277231">
                        <a:extLst>
                          <a:ext uri="{9D8B030D-6E8A-4147-A177-3AD203B41FA5}">
                            <a16:colId xmlns:a16="http://schemas.microsoft.com/office/drawing/2014/main" val="20004"/>
                          </a:ext>
                        </a:extLst>
                      </a:gridCol>
                      <a:gridCol w="277231">
                        <a:extLst>
                          <a:ext uri="{9D8B030D-6E8A-4147-A177-3AD203B41FA5}">
                            <a16:colId xmlns:a16="http://schemas.microsoft.com/office/drawing/2014/main" val="20005"/>
                          </a:ext>
                        </a:extLst>
                      </a:gridCol>
                      <a:gridCol w="277231">
                        <a:extLst>
                          <a:ext uri="{9D8B030D-6E8A-4147-A177-3AD203B41FA5}">
                            <a16:colId xmlns:a16="http://schemas.microsoft.com/office/drawing/2014/main" val="20006"/>
                          </a:ext>
                        </a:extLst>
                      </a:gridCol>
                      <a:gridCol w="277231">
                        <a:extLst>
                          <a:ext uri="{9D8B030D-6E8A-4147-A177-3AD203B41FA5}">
                            <a16:colId xmlns:a16="http://schemas.microsoft.com/office/drawing/2014/main" val="20007"/>
                          </a:ext>
                        </a:extLst>
                      </a:gridCol>
                      <a:gridCol w="277231">
                        <a:extLst>
                          <a:ext uri="{9D8B030D-6E8A-4147-A177-3AD203B41FA5}">
                            <a16:colId xmlns:a16="http://schemas.microsoft.com/office/drawing/2014/main" val="20008"/>
                          </a:ext>
                        </a:extLst>
                      </a:gridCol>
                      <a:gridCol w="277231">
                        <a:extLst>
                          <a:ext uri="{9D8B030D-6E8A-4147-A177-3AD203B41FA5}">
                            <a16:colId xmlns:a16="http://schemas.microsoft.com/office/drawing/2014/main" val="20009"/>
                          </a:ext>
                        </a:extLst>
                      </a:gridCol>
                      <a:gridCol w="277231">
                        <a:extLst>
                          <a:ext uri="{9D8B030D-6E8A-4147-A177-3AD203B41FA5}">
                            <a16:colId xmlns:a16="http://schemas.microsoft.com/office/drawing/2014/main" val="20010"/>
                          </a:ext>
                        </a:extLst>
                      </a:gridCol>
                      <a:gridCol w="277231">
                        <a:extLst>
                          <a:ext uri="{9D8B030D-6E8A-4147-A177-3AD203B41FA5}">
                            <a16:colId xmlns:a16="http://schemas.microsoft.com/office/drawing/2014/main" val="20011"/>
                          </a:ext>
                        </a:extLst>
                      </a:gridCol>
                      <a:gridCol w="277231">
                        <a:extLst>
                          <a:ext uri="{9D8B030D-6E8A-4147-A177-3AD203B41FA5}">
                            <a16:colId xmlns:a16="http://schemas.microsoft.com/office/drawing/2014/main" val="20012"/>
                          </a:ext>
                        </a:extLst>
                      </a:gridCol>
                      <a:gridCol w="277231">
                        <a:extLst>
                          <a:ext uri="{9D8B030D-6E8A-4147-A177-3AD203B41FA5}">
                            <a16:colId xmlns:a16="http://schemas.microsoft.com/office/drawing/2014/main" val="20013"/>
                          </a:ext>
                        </a:extLst>
                      </a:gridCol>
                      <a:gridCol w="277231">
                        <a:extLst>
                          <a:ext uri="{9D8B030D-6E8A-4147-A177-3AD203B41FA5}">
                            <a16:colId xmlns:a16="http://schemas.microsoft.com/office/drawing/2014/main" val="20014"/>
                          </a:ext>
                        </a:extLst>
                      </a:gridCol>
                      <a:gridCol w="277231">
                        <a:extLst>
                          <a:ext uri="{9D8B030D-6E8A-4147-A177-3AD203B41FA5}">
                            <a16:colId xmlns:a16="http://schemas.microsoft.com/office/drawing/2014/main" val="20015"/>
                          </a:ext>
                        </a:extLst>
                      </a:gridCol>
                      <a:gridCol w="277231">
                        <a:extLst>
                          <a:ext uri="{9D8B030D-6E8A-4147-A177-3AD203B41FA5}">
                            <a16:colId xmlns:a16="http://schemas.microsoft.com/office/drawing/2014/main" val="20016"/>
                          </a:ext>
                        </a:extLst>
                      </a:gridCol>
                      <a:gridCol w="277231">
                        <a:extLst>
                          <a:ext uri="{9D8B030D-6E8A-4147-A177-3AD203B41FA5}">
                            <a16:colId xmlns:a16="http://schemas.microsoft.com/office/drawing/2014/main" val="20017"/>
                          </a:ext>
                        </a:extLst>
                      </a:gridCol>
                      <a:gridCol w="277231">
                        <a:extLst>
                          <a:ext uri="{9D8B030D-6E8A-4147-A177-3AD203B41FA5}">
                            <a16:colId xmlns:a16="http://schemas.microsoft.com/office/drawing/2014/main" val="20018"/>
                          </a:ext>
                        </a:extLst>
                      </a:gridCol>
                      <a:gridCol w="277231">
                        <a:extLst>
                          <a:ext uri="{9D8B030D-6E8A-4147-A177-3AD203B41FA5}">
                            <a16:colId xmlns:a16="http://schemas.microsoft.com/office/drawing/2014/main" val="20019"/>
                          </a:ext>
                        </a:extLst>
                      </a:gridCol>
                    </a:tblGrid>
                    <a:tr h="464885">
                      <a:tc>
                        <a:txBody>
                          <a:bodyPr/>
                          <a:lstStyle/>
                          <a:p>
                            <a:pPr algn="ctr"/>
                            <a:r>
                              <a:rPr lang="en-US" altLang="zh-TW" sz="2000" b="0" dirty="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87679">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&gt;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m:rPr>
                                      <m:nor/>
                                    </m:rPr>
                                    <a:rPr lang="en-US" altLang="zh-TW" sz="2000" b="0" dirty="0" smtClean="0">
                                      <a:solidFill>
                                        <a:schemeClr val="tx1"/>
                                      </a:solidFill>
                                    </a:rPr>
                                    <m:t>S</m:t>
                                  </m:r>
                                </m:oMath>
                              </m:oMathPara>
                            </a14:m>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d</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2000" b="0" i="1" smtClean="0">
                                      <a:solidFill>
                                        <a:schemeClr val="tx1"/>
                                      </a:solidFill>
                                      <a:latin typeface="Cambria Math"/>
                                    </a:rPr>
                                    <m:t>÷</m:t>
                                  </m:r>
                                </m:oMath>
                              </m:oMathPara>
                            </a14:m>
                            <a:endParaRPr lang="en-US" altLang="zh-TW"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43" name="內容版面配置區 3"/>
                <p:cNvGraphicFramePr>
                  <a:graphicFrameLocks/>
                </p:cNvGraphicFramePr>
                <p:nvPr>
                  <p:extLst>
                    <p:ext uri="{D42A27DB-BD31-4B8C-83A1-F6EECF244321}">
                      <p14:modId xmlns:p14="http://schemas.microsoft.com/office/powerpoint/2010/main" val="3354614210"/>
                    </p:ext>
                  </p:extLst>
                </p:nvPr>
              </p:nvGraphicFramePr>
              <p:xfrm>
                <a:off x="1619760" y="2502565"/>
                <a:ext cx="5544620" cy="952564"/>
              </p:xfrm>
              <a:graphic>
                <a:graphicData uri="http://schemas.openxmlformats.org/drawingml/2006/table">
                  <a:tbl>
                    <a:tblPr firstRow="1" bandRow="1">
                      <a:tableStyleId>{5C22544A-7EE6-4342-B048-85BDC9FD1C3A}</a:tableStyleId>
                    </a:tblPr>
                    <a:tblGrid>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gridCol w="277231"/>
                    </a:tblGrid>
                    <a:tr h="464885">
                      <a:tc>
                        <a:txBody>
                          <a:bodyPr/>
                          <a:lstStyle/>
                          <a:p>
                            <a:pPr algn="ctr"/>
                            <a:r>
                              <a:rPr lang="en-US" altLang="zh-TW" sz="2000" b="0" dirty="0" smtClean="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0</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1</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2</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4</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6</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7</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9</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7679">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t="-96250" r="-1878261" b="-1375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2222" t="-96250" r="-1820000" b="-1375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97826" t="-96250" r="-1680435" b="-1375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304444" t="-96250" r="-1617778" b="-13750"/>
                            </a:stretch>
                          </a:blipFill>
                        </a:tcPr>
                      </a:tc>
                      <a:tc>
                        <a:txBody>
                          <a:bodyPr/>
                          <a:lstStyle/>
                          <a:p>
                            <a:pPr algn="ctr"/>
                            <a:r>
                              <a:rPr lang="en-US" altLang="zh-TW" sz="2000" b="0" dirty="0" smtClean="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3</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d</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8</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989130" t="-96250" r="-889130" b="-1375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113333" t="-96250" r="-808889" b="-1375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186957" t="-96250" r="-691304" b="-13750"/>
                            </a:stretch>
                          </a:blip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c</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b</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5</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e</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2000" b="0" dirty="0" smtClean="0">
                                <a:solidFill>
                                  <a:schemeClr val="tx1"/>
                                </a:solidFill>
                              </a:rPr>
                              <a:t>a</a:t>
                            </a:r>
                            <a:endParaRPr lang="zh-TW" altLang="en-US" sz="20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44" name="左大括弧 43"/>
            <p:cNvSpPr/>
            <p:nvPr/>
          </p:nvSpPr>
          <p:spPr>
            <a:xfrm rot="5400000">
              <a:off x="2849609" y="1068120"/>
              <a:ext cx="338855" cy="2510697"/>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45" name="文字方塊 44"/>
            <p:cNvSpPr txBox="1"/>
            <p:nvPr/>
          </p:nvSpPr>
          <p:spPr>
            <a:xfrm>
              <a:off x="2604173" y="1796099"/>
              <a:ext cx="829725" cy="357942"/>
            </a:xfrm>
            <a:prstGeom prst="rect">
              <a:avLst/>
            </a:prstGeom>
            <a:noFill/>
          </p:spPr>
          <p:txBody>
            <a:bodyPr wrap="square" lIns="49679" tIns="24840" rIns="49679" bIns="24840" rtlCol="0">
              <a:spAutoFit/>
            </a:bodyPr>
            <a:lstStyle/>
            <a:p>
              <a:r>
                <a:rPr lang="en-US" altLang="zh-TW" sz="2000" dirty="0"/>
                <a:t>gene 1</a:t>
              </a:r>
              <a:endParaRPr lang="zh-TW" altLang="en-US" sz="2000" dirty="0"/>
            </a:p>
          </p:txBody>
        </p:sp>
        <p:sp>
          <p:nvSpPr>
            <p:cNvPr id="46" name="文字方塊 45"/>
            <p:cNvSpPr txBox="1"/>
            <p:nvPr/>
          </p:nvSpPr>
          <p:spPr>
            <a:xfrm>
              <a:off x="5357482" y="1796098"/>
              <a:ext cx="814376" cy="357942"/>
            </a:xfrm>
            <a:prstGeom prst="rect">
              <a:avLst/>
            </a:prstGeom>
            <a:noFill/>
          </p:spPr>
          <p:txBody>
            <a:bodyPr wrap="square" lIns="49679" tIns="24840" rIns="49679" bIns="24840" rtlCol="0">
              <a:spAutoFit/>
            </a:bodyPr>
            <a:lstStyle/>
            <a:p>
              <a:r>
                <a:rPr lang="en-US" altLang="zh-TW" sz="2000" dirty="0"/>
                <a:t>gene 2</a:t>
              </a:r>
              <a:endParaRPr lang="zh-TW" altLang="en-US" sz="2000" dirty="0"/>
            </a:p>
          </p:txBody>
        </p:sp>
        <p:sp>
          <p:nvSpPr>
            <p:cNvPr id="47" name="左大括弧 46"/>
            <p:cNvSpPr/>
            <p:nvPr/>
          </p:nvSpPr>
          <p:spPr>
            <a:xfrm rot="16200000">
              <a:off x="4798618" y="3223568"/>
              <a:ext cx="338855" cy="792089"/>
            </a:xfrm>
            <a:prstGeom prst="leftBrace">
              <a:avLst>
                <a:gd name="adj1" fmla="val 5029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48" name="左大括弧 47"/>
            <p:cNvSpPr/>
            <p:nvPr/>
          </p:nvSpPr>
          <p:spPr>
            <a:xfrm rot="16200000">
              <a:off x="6171309" y="2930997"/>
              <a:ext cx="338855" cy="1377230"/>
            </a:xfrm>
            <a:prstGeom prst="leftBrace">
              <a:avLst>
                <a:gd name="adj1" fmla="val 6868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49" name="文字方塊 48"/>
            <p:cNvSpPr txBox="1"/>
            <p:nvPr/>
          </p:nvSpPr>
          <p:spPr>
            <a:xfrm>
              <a:off x="4672706" y="3789040"/>
              <a:ext cx="738311" cy="357942"/>
            </a:xfrm>
            <a:prstGeom prst="rect">
              <a:avLst/>
            </a:prstGeom>
            <a:noFill/>
          </p:spPr>
          <p:txBody>
            <a:bodyPr wrap="square" lIns="49679" tIns="24840" rIns="49679" bIns="24840" rtlCol="0">
              <a:spAutoFit/>
            </a:bodyPr>
            <a:lstStyle/>
            <a:p>
              <a:pPr algn="ctr"/>
              <a:r>
                <a:rPr lang="en-US" altLang="zh-TW" sz="2000" dirty="0"/>
                <a:t>head</a:t>
              </a:r>
              <a:endParaRPr lang="zh-TW" altLang="en-US" sz="2000" dirty="0"/>
            </a:p>
          </p:txBody>
        </p:sp>
        <p:sp>
          <p:nvSpPr>
            <p:cNvPr id="50" name="文字方塊 49"/>
            <p:cNvSpPr txBox="1"/>
            <p:nvPr/>
          </p:nvSpPr>
          <p:spPr>
            <a:xfrm>
              <a:off x="5948990" y="3789040"/>
              <a:ext cx="783491" cy="357942"/>
            </a:xfrm>
            <a:prstGeom prst="rect">
              <a:avLst/>
            </a:prstGeom>
            <a:noFill/>
          </p:spPr>
          <p:txBody>
            <a:bodyPr wrap="square" lIns="49679" tIns="24840" rIns="49679" bIns="24840" rtlCol="0">
              <a:spAutoFit/>
            </a:bodyPr>
            <a:lstStyle/>
            <a:p>
              <a:pPr algn="ctr"/>
              <a:r>
                <a:rPr lang="en-US" altLang="zh-TW" sz="2000" dirty="0"/>
                <a:t>tail</a:t>
              </a:r>
              <a:endParaRPr lang="zh-TW" altLang="en-US" sz="2000" dirty="0"/>
            </a:p>
          </p:txBody>
        </p:sp>
        <p:sp>
          <p:nvSpPr>
            <p:cNvPr id="51" name="矩形 50"/>
            <p:cNvSpPr/>
            <p:nvPr/>
          </p:nvSpPr>
          <p:spPr>
            <a:xfrm>
              <a:off x="3019036" y="2492896"/>
              <a:ext cx="256820" cy="957288"/>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49679" tIns="24840" rIns="49679" bIns="24840" rtlCol="0" anchor="ctr"/>
            <a:lstStyle/>
            <a:p>
              <a:pPr algn="ctr"/>
              <a:endParaRPr lang="zh-TW" altLang="en-US" sz="2000"/>
            </a:p>
          </p:txBody>
        </p:sp>
        <p:cxnSp>
          <p:nvCxnSpPr>
            <p:cNvPr id="52" name="直線單箭頭接點 51"/>
            <p:cNvCxnSpPr>
              <a:stCxn id="51" idx="2"/>
              <a:endCxn id="53" idx="0"/>
            </p:cNvCxnSpPr>
            <p:nvPr/>
          </p:nvCxnSpPr>
          <p:spPr>
            <a:xfrm>
              <a:off x="3147446" y="3450184"/>
              <a:ext cx="0" cy="29556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3" name="文字方塊 52"/>
            <p:cNvSpPr txBox="1"/>
            <p:nvPr/>
          </p:nvSpPr>
          <p:spPr>
            <a:xfrm>
              <a:off x="2448073" y="3745744"/>
              <a:ext cx="1398746" cy="357942"/>
            </a:xfrm>
            <a:prstGeom prst="rect">
              <a:avLst/>
            </a:prstGeom>
            <a:noFill/>
          </p:spPr>
          <p:txBody>
            <a:bodyPr wrap="square" lIns="49679" tIns="24840" rIns="49679" bIns="24840" rtlCol="0">
              <a:spAutoFit/>
            </a:bodyPr>
            <a:lstStyle/>
            <a:p>
              <a:pPr algn="ctr"/>
              <a:r>
                <a:rPr lang="en-US" altLang="zh-TW" sz="2000" dirty="0"/>
                <a:t>allele</a:t>
              </a:r>
              <a:endParaRPr lang="zh-TW" altLang="en-US" sz="2000" dirty="0"/>
            </a:p>
          </p:txBody>
        </p:sp>
        <p:sp>
          <p:nvSpPr>
            <p:cNvPr id="54" name="左大括弧 53"/>
            <p:cNvSpPr/>
            <p:nvPr/>
          </p:nvSpPr>
          <p:spPr>
            <a:xfrm rot="5400000">
              <a:off x="5595243" y="1058789"/>
              <a:ext cx="338855" cy="2529358"/>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2000"/>
            </a:p>
          </p:txBody>
        </p:sp>
        <p:sp>
          <p:nvSpPr>
            <p:cNvPr id="55" name="文字方塊 54"/>
            <p:cNvSpPr txBox="1"/>
            <p:nvPr/>
          </p:nvSpPr>
          <p:spPr>
            <a:xfrm>
              <a:off x="428209" y="2567002"/>
              <a:ext cx="793695" cy="357942"/>
            </a:xfrm>
            <a:prstGeom prst="rect">
              <a:avLst/>
            </a:prstGeom>
            <a:noFill/>
          </p:spPr>
          <p:txBody>
            <a:bodyPr wrap="square" lIns="49679" tIns="24840" rIns="49679" bIns="24840" rtlCol="0">
              <a:spAutoFit/>
            </a:bodyPr>
            <a:lstStyle/>
            <a:p>
              <a:r>
                <a:rPr lang="en-US" altLang="zh-TW" sz="2000" dirty="0"/>
                <a:t>Index</a:t>
              </a:r>
              <a:endParaRPr lang="zh-TW" altLang="en-US" sz="2000" dirty="0"/>
            </a:p>
          </p:txBody>
        </p:sp>
        <p:sp>
          <p:nvSpPr>
            <p:cNvPr id="56" name="文字方塊 55"/>
            <p:cNvSpPr txBox="1"/>
            <p:nvPr/>
          </p:nvSpPr>
          <p:spPr>
            <a:xfrm>
              <a:off x="251520" y="3068960"/>
              <a:ext cx="970384" cy="357942"/>
            </a:xfrm>
            <a:prstGeom prst="rect">
              <a:avLst/>
            </a:prstGeom>
            <a:noFill/>
          </p:spPr>
          <p:txBody>
            <a:bodyPr wrap="square" lIns="49679" tIns="24840" rIns="49679" bIns="24840" rtlCol="0">
              <a:spAutoFit/>
            </a:bodyPr>
            <a:lstStyle/>
            <a:p>
              <a:r>
                <a:rPr lang="en-US" altLang="zh-TW" sz="2000" dirty="0"/>
                <a:t>Symbol</a:t>
              </a:r>
              <a:endParaRPr lang="zh-TW" altLang="en-US" sz="2000" dirty="0"/>
            </a:p>
          </p:txBody>
        </p:sp>
        <p:cxnSp>
          <p:nvCxnSpPr>
            <p:cNvPr id="57" name="直線單箭頭接點 56"/>
            <p:cNvCxnSpPr>
              <a:stCxn id="55" idx="3"/>
            </p:cNvCxnSpPr>
            <p:nvPr/>
          </p:nvCxnSpPr>
          <p:spPr>
            <a:xfrm>
              <a:off x="1221904" y="2745973"/>
              <a:ext cx="39776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a:stCxn id="56" idx="3"/>
            </p:cNvCxnSpPr>
            <p:nvPr/>
          </p:nvCxnSpPr>
          <p:spPr>
            <a:xfrm>
              <a:off x="1221904" y="3247931"/>
              <a:ext cx="397767"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nvGrpSpPr>
          <p:cNvPr id="59" name="群組 58"/>
          <p:cNvGrpSpPr/>
          <p:nvPr/>
        </p:nvGrpSpPr>
        <p:grpSpPr>
          <a:xfrm>
            <a:off x="6693823" y="4851424"/>
            <a:ext cx="2210490" cy="1405898"/>
            <a:chOff x="3160728" y="3648624"/>
            <a:chExt cx="3424525" cy="2294130"/>
          </a:xfrm>
          <a:noFill/>
        </p:grpSpPr>
        <mc:AlternateContent xmlns:mc="http://schemas.openxmlformats.org/markup-compatibility/2006" xmlns:a14="http://schemas.microsoft.com/office/drawing/2010/main">
          <mc:Choice Requires="a14">
            <p:sp>
              <p:nvSpPr>
                <p:cNvPr id="60" name="橢圓 59"/>
                <p:cNvSpPr/>
                <p:nvPr/>
              </p:nvSpPr>
              <p:spPr>
                <a:xfrm>
                  <a:off x="4302236" y="3648624"/>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3"/>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1" name="橢圓 60"/>
                <p:cNvSpPr/>
                <p:nvPr/>
              </p:nvSpPr>
              <p:spPr>
                <a:xfrm>
                  <a:off x="3160728"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4"/>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62" name="橢圓 61"/>
                <p:cNvSpPr/>
                <p:nvPr/>
              </p:nvSpPr>
              <p:spPr>
                <a:xfrm>
                  <a:off x="5443745"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0" name="橢圓 19"/>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5"/>
                  <a:stretch>
                    <a:fillRect l="-14000" b="-1961"/>
                  </a:stretch>
                </a:blipFill>
                <a:ln w="12700">
                  <a:solidFill>
                    <a:schemeClr val="tx1"/>
                  </a:solidFill>
                </a:ln>
              </p:spPr>
              <p:txBody>
                <a:bodyPr/>
                <a:lstStyle/>
                <a:p>
                  <a:r>
                    <a:rPr lang="zh-TW" altLang="en-US">
                      <a:noFill/>
                    </a:rPr>
                    <a:t> </a:t>
                  </a:r>
                </a:p>
              </p:txBody>
            </p:sp>
          </mc:Fallback>
        </mc:AlternateContent>
        <p:sp>
          <p:nvSpPr>
            <p:cNvPr id="63" name="橢圓 62"/>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64" name="橢圓 63"/>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65" name="直線接點 64"/>
            <p:cNvCxnSpPr>
              <a:stCxn id="60" idx="3"/>
              <a:endCxn id="61"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線接點 65"/>
            <p:cNvCxnSpPr>
              <a:stCxn id="60" idx="5"/>
              <a:endCxn id="62"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線接點 66"/>
            <p:cNvCxnSpPr>
              <a:stCxn id="62" idx="3"/>
              <a:endCxn id="63"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線接點 67"/>
            <p:cNvCxnSpPr>
              <a:stCxn id="62" idx="5"/>
              <a:endCxn id="64"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69" name="橢圓 68"/>
              <p:cNvSpPr/>
              <p:nvPr/>
            </p:nvSpPr>
            <p:spPr>
              <a:xfrm>
                <a:off x="4392935" y="4851424"/>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69" name="橢圓 68"/>
              <p:cNvSpPr>
                <a:spLocks noRot="1" noChangeAspect="1" noMove="1" noResize="1" noEditPoints="1" noAdjustHandles="1" noChangeArrowheads="1" noChangeShapeType="1" noTextEdit="1"/>
              </p:cNvSpPr>
              <p:nvPr/>
            </p:nvSpPr>
            <p:spPr>
              <a:xfrm>
                <a:off x="4392935" y="4851424"/>
                <a:ext cx="368415" cy="368014"/>
              </a:xfrm>
              <a:prstGeom prst="ellipse">
                <a:avLst/>
              </a:prstGeom>
              <a:blipFill>
                <a:blip r:embed="rId6"/>
                <a:stretch>
                  <a:fillRect l="-3226"/>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0" name="橢圓 69"/>
              <p:cNvSpPr/>
              <p:nvPr/>
            </p:nvSpPr>
            <p:spPr>
              <a:xfrm>
                <a:off x="3656105" y="5340393"/>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70" name="橢圓 69"/>
              <p:cNvSpPr>
                <a:spLocks noRot="1" noChangeAspect="1" noMove="1" noResize="1" noEditPoints="1" noAdjustHandles="1" noChangeArrowheads="1" noChangeShapeType="1" noTextEdit="1"/>
              </p:cNvSpPr>
              <p:nvPr/>
            </p:nvSpPr>
            <p:spPr>
              <a:xfrm>
                <a:off x="3656105" y="5340393"/>
                <a:ext cx="368415" cy="368014"/>
              </a:xfrm>
              <a:prstGeom prst="ellipse">
                <a:avLst/>
              </a:prstGeom>
              <a:blipFill>
                <a:blip r:embed="rId7"/>
                <a:stretch>
                  <a:fillRect l="-4839"/>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1" name="橢圓 70"/>
              <p:cNvSpPr/>
              <p:nvPr/>
            </p:nvSpPr>
            <p:spPr>
              <a:xfrm>
                <a:off x="5129765" y="5340393"/>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en-US" altLang="zh-TW" sz="2000" dirty="0">
                          <a:solidFill>
                            <a:schemeClr val="tx1"/>
                          </a:solidFill>
                        </a:rPr>
                        <m:t>S</m:t>
                      </m:r>
                    </m:oMath>
                  </m:oMathPara>
                </a14:m>
                <a:endParaRPr lang="zh-TW" altLang="en-US" sz="2000" dirty="0">
                  <a:solidFill>
                    <a:schemeClr val="tx1"/>
                  </a:solidFill>
                </a:endParaRPr>
              </a:p>
            </p:txBody>
          </p:sp>
        </mc:Choice>
        <mc:Fallback>
          <p:sp>
            <p:nvSpPr>
              <p:cNvPr id="71" name="橢圓 70"/>
              <p:cNvSpPr>
                <a:spLocks noRot="1" noChangeAspect="1" noMove="1" noResize="1" noEditPoints="1" noAdjustHandles="1" noChangeArrowheads="1" noChangeShapeType="1" noTextEdit="1"/>
              </p:cNvSpPr>
              <p:nvPr/>
            </p:nvSpPr>
            <p:spPr>
              <a:xfrm>
                <a:off x="5129765" y="5340393"/>
                <a:ext cx="368415" cy="368014"/>
              </a:xfrm>
              <a:prstGeom prst="ellipse">
                <a:avLst/>
              </a:prstGeom>
              <a:blipFill>
                <a:blip r:embed="rId8"/>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2" name="橢圓 71"/>
              <p:cNvSpPr/>
              <p:nvPr/>
            </p:nvSpPr>
            <p:spPr>
              <a:xfrm>
                <a:off x="3287690" y="5889308"/>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72" name="橢圓 71"/>
              <p:cNvSpPr>
                <a:spLocks noRot="1" noChangeAspect="1" noMove="1" noResize="1" noEditPoints="1" noAdjustHandles="1" noChangeArrowheads="1" noChangeShapeType="1" noTextEdit="1"/>
              </p:cNvSpPr>
              <p:nvPr/>
            </p:nvSpPr>
            <p:spPr>
              <a:xfrm>
                <a:off x="3287690" y="5889308"/>
                <a:ext cx="368415" cy="368014"/>
              </a:xfrm>
              <a:prstGeom prst="ellipse">
                <a:avLst/>
              </a:prstGeom>
              <a:blipFill>
                <a:blip r:embed="rId9"/>
                <a:stretch>
                  <a:fillRect/>
                </a:stretch>
              </a:blipFill>
              <a:ln w="12700">
                <a:solidFill>
                  <a:schemeClr val="tx1"/>
                </a:solidFill>
              </a:ln>
            </p:spPr>
            <p:txBody>
              <a:bodyPr/>
              <a:lstStyle/>
              <a:p>
                <a:r>
                  <a:rPr lang="zh-TW" altLang="en-US">
                    <a:noFill/>
                  </a:rPr>
                  <a:t> </a:t>
                </a:r>
              </a:p>
            </p:txBody>
          </p:sp>
        </mc:Fallback>
      </mc:AlternateContent>
      <p:sp>
        <p:nvSpPr>
          <p:cNvPr id="73" name="橢圓 72"/>
          <p:cNvSpPr/>
          <p:nvPr/>
        </p:nvSpPr>
        <p:spPr>
          <a:xfrm>
            <a:off x="4024520" y="5889308"/>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74" name="橢圓 73"/>
          <p:cNvSpPr/>
          <p:nvPr/>
        </p:nvSpPr>
        <p:spPr>
          <a:xfrm>
            <a:off x="5129763" y="5893341"/>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76" name="直線接點 75"/>
          <p:cNvCxnSpPr>
            <a:stCxn id="69" idx="3"/>
            <a:endCxn id="70" idx="0"/>
          </p:cNvCxnSpPr>
          <p:nvPr/>
        </p:nvCxnSpPr>
        <p:spPr>
          <a:xfrm flipH="1">
            <a:off x="3840311" y="5165545"/>
            <a:ext cx="606575" cy="174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線接點 76"/>
          <p:cNvCxnSpPr>
            <a:stCxn id="69" idx="5"/>
            <a:endCxn id="71" idx="0"/>
          </p:cNvCxnSpPr>
          <p:nvPr/>
        </p:nvCxnSpPr>
        <p:spPr>
          <a:xfrm>
            <a:off x="4707396" y="5165545"/>
            <a:ext cx="606575" cy="17485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線接點 77"/>
          <p:cNvCxnSpPr>
            <a:stCxn id="70" idx="3"/>
            <a:endCxn id="72" idx="0"/>
          </p:cNvCxnSpPr>
          <p:nvPr/>
        </p:nvCxnSpPr>
        <p:spPr>
          <a:xfrm flipH="1">
            <a:off x="3471897" y="5654514"/>
            <a:ext cx="238160" cy="234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線接點 78"/>
          <p:cNvCxnSpPr>
            <a:stCxn id="70" idx="5"/>
            <a:endCxn id="73" idx="0"/>
          </p:cNvCxnSpPr>
          <p:nvPr/>
        </p:nvCxnSpPr>
        <p:spPr>
          <a:xfrm>
            <a:off x="3970565" y="5654513"/>
            <a:ext cx="238160" cy="2347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直線接點 79"/>
          <p:cNvCxnSpPr>
            <a:stCxn id="71" idx="4"/>
            <a:endCxn id="74" idx="0"/>
          </p:cNvCxnSpPr>
          <p:nvPr/>
        </p:nvCxnSpPr>
        <p:spPr>
          <a:xfrm flipH="1">
            <a:off x="5313971" y="5708407"/>
            <a:ext cx="1" cy="18493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橢圓 81"/>
          <p:cNvSpPr/>
          <p:nvPr/>
        </p:nvSpPr>
        <p:spPr>
          <a:xfrm>
            <a:off x="6325408" y="5893340"/>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83" name="橢圓 82"/>
          <p:cNvSpPr/>
          <p:nvPr/>
        </p:nvSpPr>
        <p:spPr>
          <a:xfrm>
            <a:off x="7062238" y="5893340"/>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84" name="直線接點 83"/>
          <p:cNvCxnSpPr>
            <a:endCxn id="82" idx="0"/>
          </p:cNvCxnSpPr>
          <p:nvPr/>
        </p:nvCxnSpPr>
        <p:spPr>
          <a:xfrm flipH="1">
            <a:off x="6509615" y="5658546"/>
            <a:ext cx="238160" cy="234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直線接點 84"/>
          <p:cNvCxnSpPr>
            <a:endCxn id="83" idx="0"/>
          </p:cNvCxnSpPr>
          <p:nvPr/>
        </p:nvCxnSpPr>
        <p:spPr>
          <a:xfrm>
            <a:off x="7008283" y="5658545"/>
            <a:ext cx="238160" cy="2347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6" name="文字方塊 85"/>
          <p:cNvSpPr txBox="1"/>
          <p:nvPr/>
        </p:nvSpPr>
        <p:spPr>
          <a:xfrm>
            <a:off x="4154511" y="4493480"/>
            <a:ext cx="845260" cy="357942"/>
          </a:xfrm>
          <a:prstGeom prst="rect">
            <a:avLst/>
          </a:prstGeom>
          <a:noFill/>
        </p:spPr>
        <p:txBody>
          <a:bodyPr wrap="square" lIns="49679" tIns="24840" rIns="49679" bIns="24840" rtlCol="0">
            <a:spAutoFit/>
          </a:bodyPr>
          <a:lstStyle/>
          <a:p>
            <a:r>
              <a:rPr lang="en-US" altLang="zh-TW" sz="2000" dirty="0"/>
              <a:t>gene 1</a:t>
            </a:r>
            <a:endParaRPr lang="zh-TW" altLang="en-US" sz="2000" dirty="0"/>
          </a:p>
        </p:txBody>
      </p:sp>
      <p:sp>
        <p:nvSpPr>
          <p:cNvPr id="87" name="文字方塊 86"/>
          <p:cNvSpPr txBox="1"/>
          <p:nvPr/>
        </p:nvSpPr>
        <p:spPr>
          <a:xfrm>
            <a:off x="7221651" y="4493481"/>
            <a:ext cx="786419" cy="665718"/>
          </a:xfrm>
          <a:prstGeom prst="rect">
            <a:avLst/>
          </a:prstGeom>
          <a:noFill/>
        </p:spPr>
        <p:txBody>
          <a:bodyPr wrap="square" lIns="49679" tIns="24840" rIns="49679" bIns="24840" rtlCol="0">
            <a:spAutoFit/>
          </a:bodyPr>
          <a:lstStyle/>
          <a:p>
            <a:r>
              <a:rPr lang="en-US" altLang="zh-TW" sz="2000" dirty="0"/>
              <a:t>gene 2</a:t>
            </a:r>
            <a:endParaRPr lang="zh-TW" altLang="en-US" sz="2000" dirty="0"/>
          </a:p>
        </p:txBody>
      </p:sp>
      <p:sp>
        <p:nvSpPr>
          <p:cNvPr id="88" name="橢圓 87"/>
          <p:cNvSpPr/>
          <p:nvPr/>
        </p:nvSpPr>
        <p:spPr>
          <a:xfrm>
            <a:off x="3028899" y="6438878"/>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89" name="直線接點 88"/>
          <p:cNvCxnSpPr>
            <a:stCxn id="72" idx="3"/>
            <a:endCxn id="88" idx="0"/>
          </p:cNvCxnSpPr>
          <p:nvPr/>
        </p:nvCxnSpPr>
        <p:spPr>
          <a:xfrm flipH="1">
            <a:off x="3213106" y="6203428"/>
            <a:ext cx="128536" cy="23545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橢圓 90"/>
          <p:cNvSpPr/>
          <p:nvPr/>
        </p:nvSpPr>
        <p:spPr>
          <a:xfrm>
            <a:off x="4458294" y="6381328"/>
            <a:ext cx="413571" cy="39895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92" name="直線接點 91"/>
          <p:cNvCxnSpPr/>
          <p:nvPr/>
        </p:nvCxnSpPr>
        <p:spPr>
          <a:xfrm>
            <a:off x="4482626" y="6387812"/>
            <a:ext cx="389238" cy="368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直線接點 92"/>
          <p:cNvCxnSpPr/>
          <p:nvPr/>
        </p:nvCxnSpPr>
        <p:spPr>
          <a:xfrm flipH="1">
            <a:off x="4458294" y="6387813"/>
            <a:ext cx="413570" cy="392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線單箭頭接點 106"/>
          <p:cNvCxnSpPr/>
          <p:nvPr/>
        </p:nvCxnSpPr>
        <p:spPr>
          <a:xfrm>
            <a:off x="6089216" y="3614148"/>
            <a:ext cx="0" cy="863135"/>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8" name="文字方塊 107"/>
          <p:cNvSpPr txBox="1"/>
          <p:nvPr/>
        </p:nvSpPr>
        <p:spPr>
          <a:xfrm>
            <a:off x="4511824" y="3861048"/>
            <a:ext cx="1471108" cy="369332"/>
          </a:xfrm>
          <a:prstGeom prst="rect">
            <a:avLst/>
          </a:prstGeom>
          <a:noFill/>
          <a:ln>
            <a:solidFill>
              <a:schemeClr val="bg1"/>
            </a:solidFill>
          </a:ln>
        </p:spPr>
        <p:txBody>
          <a:bodyPr wrap="none" rtlCol="0">
            <a:spAutoFit/>
          </a:bodyPr>
          <a:lstStyle/>
          <a:p>
            <a:r>
              <a:rPr lang="en-US" altLang="zh-TW" dirty="0"/>
              <a:t>By level order</a:t>
            </a:r>
          </a:p>
        </p:txBody>
      </p:sp>
      <p:sp>
        <p:nvSpPr>
          <p:cNvPr id="90" name="橢圓 89"/>
          <p:cNvSpPr/>
          <p:nvPr/>
        </p:nvSpPr>
        <p:spPr>
          <a:xfrm>
            <a:off x="3565154" y="6445362"/>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97" name="直線接點 96"/>
          <p:cNvCxnSpPr>
            <a:stCxn id="72" idx="5"/>
            <a:endCxn id="90" idx="0"/>
          </p:cNvCxnSpPr>
          <p:nvPr/>
        </p:nvCxnSpPr>
        <p:spPr>
          <a:xfrm>
            <a:off x="3602151" y="6203428"/>
            <a:ext cx="147210" cy="24193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09" name="橢圓 108"/>
          <p:cNvSpPr/>
          <p:nvPr/>
        </p:nvSpPr>
        <p:spPr>
          <a:xfrm>
            <a:off x="6234870" y="6356870"/>
            <a:ext cx="413571" cy="39895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5</a:t>
            </a:r>
            <a:endParaRPr lang="zh-TW" altLang="en-US" sz="2000" dirty="0">
              <a:solidFill>
                <a:schemeClr val="tx1"/>
              </a:solidFill>
            </a:endParaRPr>
          </a:p>
        </p:txBody>
      </p:sp>
      <p:cxnSp>
        <p:nvCxnSpPr>
          <p:cNvPr id="110" name="直線接點 109"/>
          <p:cNvCxnSpPr/>
          <p:nvPr/>
        </p:nvCxnSpPr>
        <p:spPr>
          <a:xfrm>
            <a:off x="6259202" y="6363354"/>
            <a:ext cx="389238" cy="368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線接點 110"/>
          <p:cNvCxnSpPr/>
          <p:nvPr/>
        </p:nvCxnSpPr>
        <p:spPr>
          <a:xfrm flipH="1">
            <a:off x="6234870" y="6363355"/>
            <a:ext cx="413570" cy="392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2" name="橢圓 111"/>
          <p:cNvSpPr/>
          <p:nvPr/>
        </p:nvSpPr>
        <p:spPr>
          <a:xfrm>
            <a:off x="6767747" y="6363354"/>
            <a:ext cx="413571" cy="39895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113" name="直線接點 112"/>
          <p:cNvCxnSpPr/>
          <p:nvPr/>
        </p:nvCxnSpPr>
        <p:spPr>
          <a:xfrm>
            <a:off x="6792079" y="6369838"/>
            <a:ext cx="389238" cy="368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線接點 113"/>
          <p:cNvCxnSpPr/>
          <p:nvPr/>
        </p:nvCxnSpPr>
        <p:spPr>
          <a:xfrm flipH="1">
            <a:off x="6767747" y="6369839"/>
            <a:ext cx="413570" cy="392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橢圓 114"/>
          <p:cNvSpPr/>
          <p:nvPr/>
        </p:nvSpPr>
        <p:spPr>
          <a:xfrm>
            <a:off x="7331545" y="6362911"/>
            <a:ext cx="413571" cy="39895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cxnSp>
        <p:nvCxnSpPr>
          <p:cNvPr id="116" name="直線接點 115"/>
          <p:cNvCxnSpPr/>
          <p:nvPr/>
        </p:nvCxnSpPr>
        <p:spPr>
          <a:xfrm>
            <a:off x="7355877" y="6369395"/>
            <a:ext cx="389238" cy="368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直線接點 116"/>
          <p:cNvCxnSpPr/>
          <p:nvPr/>
        </p:nvCxnSpPr>
        <p:spPr>
          <a:xfrm flipH="1">
            <a:off x="7331545" y="6369396"/>
            <a:ext cx="413570" cy="392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橢圓 74"/>
          <p:cNvSpPr/>
          <p:nvPr/>
        </p:nvSpPr>
        <p:spPr>
          <a:xfrm>
            <a:off x="5010683" y="6381328"/>
            <a:ext cx="413571" cy="39895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8</a:t>
            </a:r>
            <a:endParaRPr lang="zh-TW" altLang="en-US" sz="2000" dirty="0">
              <a:solidFill>
                <a:schemeClr val="tx1"/>
              </a:solidFill>
            </a:endParaRPr>
          </a:p>
        </p:txBody>
      </p:sp>
      <p:cxnSp>
        <p:nvCxnSpPr>
          <p:cNvPr id="81" name="直線接點 80"/>
          <p:cNvCxnSpPr/>
          <p:nvPr/>
        </p:nvCxnSpPr>
        <p:spPr>
          <a:xfrm>
            <a:off x="5035015" y="6387812"/>
            <a:ext cx="389238" cy="3680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 name="直線接點 93"/>
          <p:cNvCxnSpPr/>
          <p:nvPr/>
        </p:nvCxnSpPr>
        <p:spPr>
          <a:xfrm flipH="1">
            <a:off x="5010683" y="6387813"/>
            <a:ext cx="413570" cy="3924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63910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編號版面配置區 5"/>
          <p:cNvSpPr>
            <a:spLocks noGrp="1"/>
          </p:cNvSpPr>
          <p:nvPr>
            <p:ph type="sldNum" sz="quarter" idx="12"/>
          </p:nvPr>
        </p:nvSpPr>
        <p:spPr/>
        <p:txBody>
          <a:bodyPr/>
          <a:lstStyle/>
          <a:p>
            <a:fld id="{73DA0BB7-265A-403C-9275-D587AB510EDC}" type="slidenum">
              <a:rPr lang="zh-TW" altLang="en-US" smtClean="0"/>
              <a:t>12</a:t>
            </a:fld>
            <a:endParaRPr lang="zh-TW" altLang="en-US"/>
          </a:p>
        </p:txBody>
      </p:sp>
      <mc:AlternateContent xmlns:mc="http://schemas.openxmlformats.org/markup-compatibility/2006">
        <mc:Choice xmlns:a14="http://schemas.microsoft.com/office/drawing/2010/main" Requires="a14">
          <p:graphicFrame>
            <p:nvGraphicFramePr>
              <p:cNvPr id="52" name="內容版面配置區 3"/>
              <p:cNvGraphicFramePr>
                <a:graphicFrameLocks/>
              </p:cNvGraphicFramePr>
              <p:nvPr>
                <p:extLst/>
              </p:nvPr>
            </p:nvGraphicFramePr>
            <p:xfrm>
              <a:off x="3973140" y="793106"/>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m:rPr>
                                    <m:nor/>
                                  </m:rPr>
                                  <a:rPr lang="en-US" altLang="zh-TW" sz="1400" b="0" dirty="0" smtClean="0">
                                    <a:solidFill>
                                      <a:schemeClr val="tx1"/>
                                    </a:solidFill>
                                  </a:rPr>
                                  <m:t>S</m:t>
                                </m:r>
                              </m:oMath>
                            </m:oMathPara>
                          </a14:m>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52" name="內容版面配置區 3"/>
              <p:cNvGraphicFramePr>
                <a:graphicFrameLocks/>
              </p:cNvGraphicFramePr>
              <p:nvPr>
                <p:extLst/>
              </p:nvPr>
            </p:nvGraphicFramePr>
            <p:xfrm>
              <a:off x="3973140" y="793106"/>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57" t="-96970" r="-19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2857" t="-96970" r="-18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2857" t="-96970" r="-17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2857" t="-96970" r="-1600000" b="-3030"/>
                          </a:stretch>
                        </a:blip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0" t="-96970" r="-9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00000"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0000" t="-96970" r="-702857" b="-3030"/>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3" name="內容版面配置區 3"/>
              <p:cNvGraphicFramePr>
                <a:graphicFrameLocks/>
              </p:cNvGraphicFramePr>
              <p:nvPr>
                <p:extLst/>
              </p:nvPr>
            </p:nvGraphicFramePr>
            <p:xfrm>
              <a:off x="3973140" y="2161258"/>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m:rPr>
                                    <m:nor/>
                                  </m:rPr>
                                  <a:rPr lang="en-US" altLang="zh-TW" sz="1400" b="0" dirty="0" smtClean="0">
                                    <a:solidFill>
                                      <a:schemeClr val="tx1"/>
                                    </a:solidFill>
                                  </a:rPr>
                                  <m:t>S</m:t>
                                </m:r>
                              </m:oMath>
                            </m:oMathPara>
                          </a14:m>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53" name="內容版面配置區 3"/>
              <p:cNvGraphicFramePr>
                <a:graphicFrameLocks/>
              </p:cNvGraphicFramePr>
              <p:nvPr>
                <p:extLst/>
              </p:nvPr>
            </p:nvGraphicFramePr>
            <p:xfrm>
              <a:off x="3973140" y="2161258"/>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57" t="-96970" r="-19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857" t="-96970" r="-18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2857" t="-96970" r="-17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02857" t="-96970" r="-1600000" b="-3030"/>
                          </a:stretch>
                        </a:blip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0" t="-96970" r="-9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00000"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00000" t="-96970" r="-702857" b="-3030"/>
                          </a:stretch>
                        </a:blip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p:cxnSp>
        <p:nvCxnSpPr>
          <p:cNvPr id="99" name="直線單箭頭接點 98"/>
          <p:cNvCxnSpPr>
            <a:stCxn id="52" idx="2"/>
            <a:endCxn id="53" idx="0"/>
          </p:cNvCxnSpPr>
          <p:nvPr/>
        </p:nvCxnSpPr>
        <p:spPr>
          <a:xfrm>
            <a:off x="6096000" y="1574572"/>
            <a:ext cx="0" cy="5866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0" name="文字方塊 99"/>
          <p:cNvSpPr txBox="1"/>
          <p:nvPr/>
        </p:nvSpPr>
        <p:spPr>
          <a:xfrm>
            <a:off x="6096001" y="1744802"/>
            <a:ext cx="1059777" cy="369332"/>
          </a:xfrm>
          <a:prstGeom prst="rect">
            <a:avLst/>
          </a:prstGeom>
          <a:noFill/>
        </p:spPr>
        <p:txBody>
          <a:bodyPr wrap="none" rtlCol="0">
            <a:spAutoFit/>
          </a:bodyPr>
          <a:lstStyle/>
          <a:p>
            <a:r>
              <a:rPr lang="en-US" altLang="zh-TW" dirty="0"/>
              <a:t>Mutation</a:t>
            </a:r>
            <a:endParaRPr lang="zh-TW" altLang="en-US" dirty="0"/>
          </a:p>
        </p:txBody>
      </p:sp>
      <p:sp>
        <p:nvSpPr>
          <p:cNvPr id="101" name="左大括弧 100"/>
          <p:cNvSpPr/>
          <p:nvPr/>
        </p:nvSpPr>
        <p:spPr>
          <a:xfrm rot="5400000">
            <a:off x="4871945" y="-337123"/>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02" name="文字方塊 101"/>
          <p:cNvSpPr txBox="1"/>
          <p:nvPr/>
        </p:nvSpPr>
        <p:spPr>
          <a:xfrm>
            <a:off x="4755444" y="188641"/>
            <a:ext cx="571854" cy="481052"/>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103" name="文字方塊 102"/>
          <p:cNvSpPr txBox="1"/>
          <p:nvPr/>
        </p:nvSpPr>
        <p:spPr>
          <a:xfrm>
            <a:off x="6828743" y="188640"/>
            <a:ext cx="581811" cy="481052"/>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104" name="左大括弧 103"/>
          <p:cNvSpPr/>
          <p:nvPr/>
        </p:nvSpPr>
        <p:spPr>
          <a:xfrm rot="5400000">
            <a:off x="6950222" y="-337123"/>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05" name="左大括弧 104"/>
          <p:cNvSpPr/>
          <p:nvPr/>
        </p:nvSpPr>
        <p:spPr>
          <a:xfrm rot="16200000">
            <a:off x="4231304" y="1354704"/>
            <a:ext cx="338855" cy="799838"/>
          </a:xfrm>
          <a:prstGeom prst="leftBrace">
            <a:avLst>
              <a:gd name="adj1" fmla="val 5029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06" name="左大括弧 105"/>
          <p:cNvSpPr/>
          <p:nvPr/>
        </p:nvSpPr>
        <p:spPr>
          <a:xfrm rot="16200000">
            <a:off x="5279296" y="1178557"/>
            <a:ext cx="338855" cy="1152128"/>
          </a:xfrm>
          <a:prstGeom prst="leftBrace">
            <a:avLst>
              <a:gd name="adj1" fmla="val 6868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07" name="文字方塊 106"/>
          <p:cNvSpPr txBox="1"/>
          <p:nvPr/>
        </p:nvSpPr>
        <p:spPr>
          <a:xfrm>
            <a:off x="4107382" y="1924051"/>
            <a:ext cx="586697" cy="265609"/>
          </a:xfrm>
          <a:prstGeom prst="rect">
            <a:avLst/>
          </a:prstGeom>
          <a:noFill/>
        </p:spPr>
        <p:txBody>
          <a:bodyPr wrap="square" lIns="49679" tIns="24840" rIns="49679" bIns="24840" rtlCol="0">
            <a:spAutoFit/>
          </a:bodyPr>
          <a:lstStyle/>
          <a:p>
            <a:pPr algn="ctr"/>
            <a:r>
              <a:rPr lang="en-US" altLang="zh-TW" sz="1400" dirty="0"/>
              <a:t>head</a:t>
            </a:r>
            <a:endParaRPr lang="zh-TW" altLang="en-US" sz="1400" dirty="0"/>
          </a:p>
        </p:txBody>
      </p:sp>
      <p:sp>
        <p:nvSpPr>
          <p:cNvPr id="108" name="文字方塊 107"/>
          <p:cNvSpPr txBox="1"/>
          <p:nvPr/>
        </p:nvSpPr>
        <p:spPr>
          <a:xfrm>
            <a:off x="5275639" y="1924052"/>
            <a:ext cx="346166" cy="265609"/>
          </a:xfrm>
          <a:prstGeom prst="rect">
            <a:avLst/>
          </a:prstGeom>
          <a:noFill/>
        </p:spPr>
        <p:txBody>
          <a:bodyPr wrap="square" lIns="49679" tIns="24840" rIns="49679" bIns="24840" rtlCol="0">
            <a:spAutoFit/>
          </a:bodyPr>
          <a:lstStyle/>
          <a:p>
            <a:pPr algn="ctr"/>
            <a:r>
              <a:rPr lang="en-US" altLang="zh-TW" sz="1400" dirty="0"/>
              <a:t>tail</a:t>
            </a:r>
            <a:endParaRPr lang="zh-TW" altLang="en-US" sz="1400" dirty="0"/>
          </a:p>
        </p:txBody>
      </p:sp>
      <p:cxnSp>
        <p:nvCxnSpPr>
          <p:cNvPr id="172" name="直線單箭頭接點 171"/>
          <p:cNvCxnSpPr/>
          <p:nvPr/>
        </p:nvCxnSpPr>
        <p:spPr>
          <a:xfrm>
            <a:off x="6075704" y="4691334"/>
            <a:ext cx="0" cy="55949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73" name="群組 172"/>
          <p:cNvGrpSpPr/>
          <p:nvPr/>
        </p:nvGrpSpPr>
        <p:grpSpPr>
          <a:xfrm>
            <a:off x="6565673" y="3355555"/>
            <a:ext cx="1766646" cy="1139444"/>
            <a:chOff x="3160728" y="3648624"/>
            <a:chExt cx="3424525" cy="2294130"/>
          </a:xfrm>
        </p:grpSpPr>
        <mc:AlternateContent xmlns:mc="http://schemas.openxmlformats.org/markup-compatibility/2006" xmlns:a14="http://schemas.microsoft.com/office/drawing/2010/main">
          <mc:Choice Requires="a14">
            <p:sp>
              <p:nvSpPr>
                <p:cNvPr id="174" name="橢圓 173"/>
                <p:cNvSpPr/>
                <p:nvPr/>
              </p:nvSpPr>
              <p:spPr>
                <a:xfrm>
                  <a:off x="4302236" y="3648624"/>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4"/>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5" name="橢圓 174"/>
                <p:cNvSpPr/>
                <p:nvPr/>
              </p:nvSpPr>
              <p:spPr>
                <a:xfrm>
                  <a:off x="3160728" y="4446519"/>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5"/>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6" name="橢圓 175"/>
                <p:cNvSpPr/>
                <p:nvPr/>
              </p:nvSpPr>
              <p:spPr>
                <a:xfrm>
                  <a:off x="5443745" y="4446519"/>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0" name="橢圓 19"/>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6"/>
                  <a:stretch>
                    <a:fillRect l="-14000" b="-1961"/>
                  </a:stretch>
                </a:blipFill>
                <a:ln w="12700">
                  <a:solidFill>
                    <a:schemeClr val="tx1"/>
                  </a:solidFill>
                </a:ln>
              </p:spPr>
              <p:txBody>
                <a:bodyPr/>
                <a:lstStyle/>
                <a:p>
                  <a:r>
                    <a:rPr lang="zh-TW" altLang="en-US">
                      <a:noFill/>
                    </a:rPr>
                    <a:t> </a:t>
                  </a:r>
                </a:p>
              </p:txBody>
            </p:sp>
          </mc:Fallback>
        </mc:AlternateContent>
        <p:sp>
          <p:nvSpPr>
            <p:cNvPr id="177" name="橢圓 176"/>
            <p:cNvSpPr/>
            <p:nvPr/>
          </p:nvSpPr>
          <p:spPr>
            <a:xfrm>
              <a:off x="4872991" y="5342233"/>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178" name="橢圓 177"/>
            <p:cNvSpPr/>
            <p:nvPr/>
          </p:nvSpPr>
          <p:spPr>
            <a:xfrm>
              <a:off x="6014499" y="5342233"/>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179" name="直線接點 178"/>
            <p:cNvCxnSpPr>
              <a:stCxn id="174" idx="3"/>
              <a:endCxn id="175" idx="0"/>
            </p:cNvCxnSpPr>
            <p:nvPr/>
          </p:nvCxnSpPr>
          <p:spPr>
            <a:xfrm flipH="1">
              <a:off x="3446105"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線接點 179"/>
            <p:cNvCxnSpPr>
              <a:stCxn id="174" idx="5"/>
              <a:endCxn id="176" idx="0"/>
            </p:cNvCxnSpPr>
            <p:nvPr/>
          </p:nvCxnSpPr>
          <p:spPr>
            <a:xfrm>
              <a:off x="4789406"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1" name="直線接點 180"/>
            <p:cNvCxnSpPr>
              <a:stCxn id="176" idx="3"/>
              <a:endCxn id="177" idx="0"/>
            </p:cNvCxnSpPr>
            <p:nvPr/>
          </p:nvCxnSpPr>
          <p:spPr>
            <a:xfrm flipH="1">
              <a:off x="5158368"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2" name="直線接點 181"/>
            <p:cNvCxnSpPr>
              <a:stCxn id="176" idx="5"/>
              <a:endCxn id="178" idx="0"/>
            </p:cNvCxnSpPr>
            <p:nvPr/>
          </p:nvCxnSpPr>
          <p:spPr>
            <a:xfrm>
              <a:off x="5930914"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3" name="群組 182"/>
          <p:cNvGrpSpPr/>
          <p:nvPr/>
        </p:nvGrpSpPr>
        <p:grpSpPr>
          <a:xfrm>
            <a:off x="3843456" y="5179764"/>
            <a:ext cx="1766646" cy="1155960"/>
            <a:chOff x="2589974" y="3648624"/>
            <a:chExt cx="3424525" cy="2327383"/>
          </a:xfrm>
        </p:grpSpPr>
        <mc:AlternateContent xmlns:mc="http://schemas.openxmlformats.org/markup-compatibility/2006" xmlns:a14="http://schemas.microsoft.com/office/drawing/2010/main">
          <mc:Choice Requires="a14">
            <p:sp>
              <p:nvSpPr>
                <p:cNvPr id="184" name="橢圓 183"/>
                <p:cNvSpPr/>
                <p:nvPr/>
              </p:nvSpPr>
              <p:spPr>
                <a:xfrm>
                  <a:off x="4302236" y="3648624"/>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xmlns="">
            <p:sp>
              <p:nvSpPr>
                <p:cNvPr id="28" name="橢圓 2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7"/>
                  <a:stretch>
                    <a:fillRect l="-16000" b="-39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5" name="橢圓 184"/>
                <p:cNvSpPr/>
                <p:nvPr/>
              </p:nvSpPr>
              <p:spPr>
                <a:xfrm>
                  <a:off x="3160728" y="4446519"/>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9" name="橢圓 2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8"/>
                  <a:stretch>
                    <a:fillRect l="-5882"/>
                  </a:stretch>
                </a:blipFill>
                <a:ln w="12700">
                  <a:solidFill>
                    <a:schemeClr val="tx1"/>
                  </a:solidFill>
                </a:ln>
              </p:spPr>
              <p:txBody>
                <a:bodyPr/>
                <a:lstStyle/>
                <a:p>
                  <a:r>
                    <a:rPr lang="zh-TW" altLang="en-US">
                      <a:noFill/>
                    </a:rPr>
                    <a:t> </a:t>
                  </a:r>
                </a:p>
              </p:txBody>
            </p:sp>
          </mc:Fallback>
        </mc:AlternateContent>
        <p:sp>
          <p:nvSpPr>
            <p:cNvPr id="186" name="橢圓 185"/>
            <p:cNvSpPr/>
            <p:nvPr/>
          </p:nvSpPr>
          <p:spPr>
            <a:xfrm>
              <a:off x="5443745" y="4446519"/>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xmlns:a14="http://schemas.microsoft.com/office/drawing/2010/main">
          <mc:Choice Requires="a14">
            <p:sp>
              <p:nvSpPr>
                <p:cNvPr id="187" name="橢圓 186"/>
                <p:cNvSpPr/>
                <p:nvPr/>
              </p:nvSpPr>
              <p:spPr>
                <a:xfrm>
                  <a:off x="2589974" y="5342233"/>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7" name="橢圓 186"/>
                <p:cNvSpPr>
                  <a:spLocks noRot="1" noChangeAspect="1" noMove="1" noResize="1" noEditPoints="1" noAdjustHandles="1" noChangeArrowheads="1" noChangeShapeType="1" noTextEdit="1"/>
                </p:cNvSpPr>
                <p:nvPr/>
              </p:nvSpPr>
              <p:spPr>
                <a:xfrm>
                  <a:off x="2589974" y="5342233"/>
                  <a:ext cx="570754" cy="600521"/>
                </a:xfrm>
                <a:prstGeom prst="ellipse">
                  <a:avLst/>
                </a:prstGeom>
                <a:blipFill rotWithShape="1">
                  <a:blip r:embed="rId9"/>
                  <a:stretch>
                    <a:fillRect l="-5882"/>
                  </a:stretch>
                </a:blipFill>
                <a:ln w="12700">
                  <a:solidFill>
                    <a:schemeClr val="tx1"/>
                  </a:solidFill>
                </a:ln>
              </p:spPr>
              <p:txBody>
                <a:bodyPr/>
                <a:lstStyle/>
                <a:p>
                  <a:r>
                    <a:rPr lang="zh-TW" altLang="en-US">
                      <a:noFill/>
                    </a:rPr>
                    <a:t> </a:t>
                  </a:r>
                </a:p>
              </p:txBody>
            </p:sp>
          </mc:Fallback>
        </mc:AlternateContent>
        <p:sp>
          <p:nvSpPr>
            <p:cNvPr id="188" name="橢圓 187"/>
            <p:cNvSpPr/>
            <p:nvPr/>
          </p:nvSpPr>
          <p:spPr>
            <a:xfrm>
              <a:off x="3731482" y="5342233"/>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4</a:t>
              </a:r>
              <a:endParaRPr lang="zh-TW" altLang="en-US" sz="2000" dirty="0">
                <a:solidFill>
                  <a:schemeClr val="tx1"/>
                </a:solidFill>
              </a:endParaRPr>
            </a:p>
          </p:txBody>
        </p:sp>
        <p:sp>
          <p:nvSpPr>
            <p:cNvPr id="189" name="橢圓 188"/>
            <p:cNvSpPr/>
            <p:nvPr/>
          </p:nvSpPr>
          <p:spPr>
            <a:xfrm>
              <a:off x="5443745" y="5375485"/>
              <a:ext cx="570754" cy="60052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191" name="直線接點 190"/>
            <p:cNvCxnSpPr>
              <a:stCxn id="184" idx="3"/>
              <a:endCxn id="185" idx="0"/>
            </p:cNvCxnSpPr>
            <p:nvPr/>
          </p:nvCxnSpPr>
          <p:spPr>
            <a:xfrm flipH="1">
              <a:off x="3446105"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直線接點 191"/>
            <p:cNvCxnSpPr>
              <a:stCxn id="184" idx="5"/>
              <a:endCxn id="186" idx="0"/>
            </p:cNvCxnSpPr>
            <p:nvPr/>
          </p:nvCxnSpPr>
          <p:spPr>
            <a:xfrm>
              <a:off x="4789406"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線接點 192"/>
            <p:cNvCxnSpPr>
              <a:stCxn id="185" idx="3"/>
              <a:endCxn id="187" idx="0"/>
            </p:cNvCxnSpPr>
            <p:nvPr/>
          </p:nvCxnSpPr>
          <p:spPr>
            <a:xfrm flipH="1">
              <a:off x="2875351"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線接點 193"/>
            <p:cNvCxnSpPr>
              <a:stCxn id="185" idx="5"/>
              <a:endCxn id="188" idx="0"/>
            </p:cNvCxnSpPr>
            <p:nvPr/>
          </p:nvCxnSpPr>
          <p:spPr>
            <a:xfrm>
              <a:off x="3647897"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線接點 194"/>
            <p:cNvCxnSpPr>
              <a:stCxn id="186" idx="4"/>
              <a:endCxn id="189" idx="0"/>
            </p:cNvCxnSpPr>
            <p:nvPr/>
          </p:nvCxnSpPr>
          <p:spPr>
            <a:xfrm>
              <a:off x="5729123" y="5047041"/>
              <a:ext cx="0" cy="32844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97" name="橢圓 196"/>
              <p:cNvSpPr/>
              <p:nvPr/>
            </p:nvSpPr>
            <p:spPr>
              <a:xfrm>
                <a:off x="4726780" y="3355555"/>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197" name="橢圓 196"/>
              <p:cNvSpPr>
                <a:spLocks noRot="1" noChangeAspect="1" noMove="1" noResize="1" noEditPoints="1" noAdjustHandles="1" noChangeArrowheads="1" noChangeShapeType="1" noTextEdit="1"/>
              </p:cNvSpPr>
              <p:nvPr/>
            </p:nvSpPr>
            <p:spPr>
              <a:xfrm>
                <a:off x="4726780" y="3355555"/>
                <a:ext cx="294441" cy="298266"/>
              </a:xfrm>
              <a:prstGeom prst="ellipse">
                <a:avLst/>
              </a:prstGeom>
              <a:blipFill>
                <a:blip r:embed="rId10"/>
                <a:stretch>
                  <a:fillRect l="-15686" b="-39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98" name="橢圓 197"/>
              <p:cNvSpPr/>
              <p:nvPr/>
            </p:nvSpPr>
            <p:spPr>
              <a:xfrm>
                <a:off x="4137898" y="3751852"/>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198" name="橢圓 197"/>
              <p:cNvSpPr>
                <a:spLocks noRot="1" noChangeAspect="1" noMove="1" noResize="1" noEditPoints="1" noAdjustHandles="1" noChangeArrowheads="1" noChangeShapeType="1" noTextEdit="1"/>
              </p:cNvSpPr>
              <p:nvPr/>
            </p:nvSpPr>
            <p:spPr>
              <a:xfrm>
                <a:off x="4137898" y="3751852"/>
                <a:ext cx="294441" cy="298266"/>
              </a:xfrm>
              <a:prstGeom prst="ellipse">
                <a:avLst/>
              </a:prstGeom>
              <a:blipFill>
                <a:blip r:embed="rId11"/>
                <a:stretch>
                  <a:fillRect l="-18000" b="-7843"/>
                </a:stretch>
              </a:blipFill>
              <a:ln w="12700">
                <a:solidFill>
                  <a:schemeClr val="tx1"/>
                </a:solidFill>
              </a:ln>
            </p:spPr>
            <p:txBody>
              <a:bodyPr/>
              <a:lstStyle/>
              <a:p>
                <a:r>
                  <a:rPr lang="zh-TW" altLang="en-US">
                    <a:noFill/>
                  </a:rPr>
                  <a:t> </a:t>
                </a:r>
              </a:p>
            </p:txBody>
          </p:sp>
        </mc:Fallback>
      </mc:AlternateContent>
      <p:sp>
        <p:nvSpPr>
          <p:cNvPr id="199" name="橢圓 198"/>
          <p:cNvSpPr/>
          <p:nvPr/>
        </p:nvSpPr>
        <p:spPr>
          <a:xfrm>
            <a:off x="5315662" y="375185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mc:Choice xmlns:a14="http://schemas.microsoft.com/office/drawing/2010/main" Requires="a14">
          <p:sp>
            <p:nvSpPr>
              <p:cNvPr id="200" name="橢圓 199"/>
              <p:cNvSpPr/>
              <p:nvPr/>
            </p:nvSpPr>
            <p:spPr>
              <a:xfrm>
                <a:off x="3843457" y="4196733"/>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00" name="橢圓 199"/>
              <p:cNvSpPr>
                <a:spLocks noRot="1" noChangeAspect="1" noMove="1" noResize="1" noEditPoints="1" noAdjustHandles="1" noChangeArrowheads="1" noChangeShapeType="1" noTextEdit="1"/>
              </p:cNvSpPr>
              <p:nvPr/>
            </p:nvSpPr>
            <p:spPr>
              <a:xfrm>
                <a:off x="3843457" y="4196733"/>
                <a:ext cx="294441" cy="298266"/>
              </a:xfrm>
              <a:prstGeom prst="ellipse">
                <a:avLst/>
              </a:prstGeom>
              <a:blipFill>
                <a:blip r:embed="rId12"/>
                <a:stretch>
                  <a:fillRect l="-3922"/>
                </a:stretch>
              </a:blipFill>
              <a:ln w="12700">
                <a:solidFill>
                  <a:schemeClr val="tx1"/>
                </a:solidFill>
              </a:ln>
            </p:spPr>
            <p:txBody>
              <a:bodyPr/>
              <a:lstStyle/>
              <a:p>
                <a:r>
                  <a:rPr lang="zh-TW" altLang="en-US">
                    <a:noFill/>
                  </a:rPr>
                  <a:t> </a:t>
                </a:r>
              </a:p>
            </p:txBody>
          </p:sp>
        </mc:Fallback>
      </mc:AlternateContent>
      <p:sp>
        <p:nvSpPr>
          <p:cNvPr id="201" name="橢圓 200"/>
          <p:cNvSpPr/>
          <p:nvPr/>
        </p:nvSpPr>
        <p:spPr>
          <a:xfrm>
            <a:off x="4432339" y="4196733"/>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202" name="橢圓 201"/>
          <p:cNvSpPr/>
          <p:nvPr/>
        </p:nvSpPr>
        <p:spPr>
          <a:xfrm>
            <a:off x="5315662" y="4196734"/>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204" name="直線接點 203"/>
          <p:cNvCxnSpPr>
            <a:stCxn id="197" idx="3"/>
            <a:endCxn id="198" idx="0"/>
          </p:cNvCxnSpPr>
          <p:nvPr/>
        </p:nvCxnSpPr>
        <p:spPr>
          <a:xfrm flipH="1">
            <a:off x="4285118"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5" name="直線接點 204"/>
          <p:cNvCxnSpPr>
            <a:stCxn id="197" idx="5"/>
            <a:endCxn id="199" idx="0"/>
          </p:cNvCxnSpPr>
          <p:nvPr/>
        </p:nvCxnSpPr>
        <p:spPr>
          <a:xfrm>
            <a:off x="4978101"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6" name="直線接點 205"/>
          <p:cNvCxnSpPr>
            <a:stCxn id="198" idx="3"/>
            <a:endCxn id="200" idx="0"/>
          </p:cNvCxnSpPr>
          <p:nvPr/>
        </p:nvCxnSpPr>
        <p:spPr>
          <a:xfrm flipH="1">
            <a:off x="3990677" y="4006439"/>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7" name="直線接點 206"/>
          <p:cNvCxnSpPr>
            <a:stCxn id="198" idx="5"/>
            <a:endCxn id="201" idx="0"/>
          </p:cNvCxnSpPr>
          <p:nvPr/>
        </p:nvCxnSpPr>
        <p:spPr>
          <a:xfrm>
            <a:off x="4389218" y="4006438"/>
            <a:ext cx="190340" cy="190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8" name="直線接點 207"/>
          <p:cNvCxnSpPr>
            <a:stCxn id="199" idx="4"/>
            <a:endCxn id="202" idx="0"/>
          </p:cNvCxnSpPr>
          <p:nvPr/>
        </p:nvCxnSpPr>
        <p:spPr>
          <a:xfrm>
            <a:off x="5462882" y="4050118"/>
            <a:ext cx="0" cy="1466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2" name="群組 211"/>
          <p:cNvGrpSpPr/>
          <p:nvPr/>
        </p:nvGrpSpPr>
        <p:grpSpPr>
          <a:xfrm>
            <a:off x="6565672" y="5155472"/>
            <a:ext cx="1766646" cy="1139444"/>
            <a:chOff x="3160728" y="3648624"/>
            <a:chExt cx="3424525" cy="2294130"/>
          </a:xfrm>
        </p:grpSpPr>
        <mc:AlternateContent xmlns:mc="http://schemas.openxmlformats.org/markup-compatibility/2006" xmlns:a14="http://schemas.microsoft.com/office/drawing/2010/main">
          <mc:Choice Requires="a14">
            <p:sp>
              <p:nvSpPr>
                <p:cNvPr id="213" name="橢圓 212"/>
                <p:cNvSpPr/>
                <p:nvPr/>
              </p:nvSpPr>
              <p:spPr>
                <a:xfrm>
                  <a:off x="4302236" y="3648624"/>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53" name="橢圓 52"/>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13"/>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4" name="橢圓 213"/>
                <p:cNvSpPr/>
                <p:nvPr/>
              </p:nvSpPr>
              <p:spPr>
                <a:xfrm>
                  <a:off x="3160728" y="4446519"/>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54" name="橢圓 53"/>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14"/>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5" name="橢圓 214"/>
                <p:cNvSpPr/>
                <p:nvPr/>
              </p:nvSpPr>
              <p:spPr>
                <a:xfrm>
                  <a:off x="5443745" y="4446519"/>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55" name="橢圓 54"/>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15"/>
                  <a:stretch>
                    <a:fillRect l="-18000" b="-7843"/>
                  </a:stretch>
                </a:blipFill>
                <a:ln w="12700">
                  <a:solidFill>
                    <a:schemeClr val="tx1"/>
                  </a:solidFill>
                </a:ln>
              </p:spPr>
              <p:txBody>
                <a:bodyPr/>
                <a:lstStyle/>
                <a:p>
                  <a:r>
                    <a:rPr lang="zh-TW" altLang="en-US">
                      <a:noFill/>
                    </a:rPr>
                    <a:t> </a:t>
                  </a:r>
                </a:p>
              </p:txBody>
            </p:sp>
          </mc:Fallback>
        </mc:AlternateContent>
        <p:sp>
          <p:nvSpPr>
            <p:cNvPr id="216" name="橢圓 215"/>
            <p:cNvSpPr/>
            <p:nvPr/>
          </p:nvSpPr>
          <p:spPr>
            <a:xfrm>
              <a:off x="4872991" y="5342233"/>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217" name="橢圓 216"/>
            <p:cNvSpPr/>
            <p:nvPr/>
          </p:nvSpPr>
          <p:spPr>
            <a:xfrm>
              <a:off x="6014499" y="5342233"/>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218" name="直線接點 217"/>
            <p:cNvCxnSpPr>
              <a:stCxn id="213" idx="3"/>
              <a:endCxn id="214" idx="0"/>
            </p:cNvCxnSpPr>
            <p:nvPr/>
          </p:nvCxnSpPr>
          <p:spPr>
            <a:xfrm flipH="1">
              <a:off x="3446105"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9" name="直線接點 218"/>
            <p:cNvCxnSpPr>
              <a:stCxn id="213" idx="5"/>
              <a:endCxn id="215" idx="0"/>
            </p:cNvCxnSpPr>
            <p:nvPr/>
          </p:nvCxnSpPr>
          <p:spPr>
            <a:xfrm>
              <a:off x="4789406"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0" name="直線接點 219"/>
            <p:cNvCxnSpPr>
              <a:stCxn id="215" idx="3"/>
              <a:endCxn id="216" idx="0"/>
            </p:cNvCxnSpPr>
            <p:nvPr/>
          </p:nvCxnSpPr>
          <p:spPr>
            <a:xfrm flipH="1">
              <a:off x="5158368"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線接點 220"/>
            <p:cNvCxnSpPr>
              <a:stCxn id="215" idx="5"/>
              <a:endCxn id="217" idx="0"/>
            </p:cNvCxnSpPr>
            <p:nvPr/>
          </p:nvCxnSpPr>
          <p:spPr>
            <a:xfrm>
              <a:off x="5930914"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3" name="橢圓 222"/>
          <p:cNvSpPr/>
          <p:nvPr/>
        </p:nvSpPr>
        <p:spPr>
          <a:xfrm>
            <a:off x="6271232" y="4200001"/>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224" name="橢圓 223"/>
          <p:cNvSpPr/>
          <p:nvPr/>
        </p:nvSpPr>
        <p:spPr>
          <a:xfrm>
            <a:off x="6860114" y="4200001"/>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225" name="直線接點 224"/>
          <p:cNvCxnSpPr>
            <a:endCxn id="223" idx="0"/>
          </p:cNvCxnSpPr>
          <p:nvPr/>
        </p:nvCxnSpPr>
        <p:spPr>
          <a:xfrm flipH="1">
            <a:off x="6418452" y="4009707"/>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線接點 225"/>
          <p:cNvCxnSpPr>
            <a:endCxn id="224" idx="0"/>
          </p:cNvCxnSpPr>
          <p:nvPr/>
        </p:nvCxnSpPr>
        <p:spPr>
          <a:xfrm>
            <a:off x="6816993" y="4009706"/>
            <a:ext cx="190340" cy="190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7" name="橢圓 226"/>
          <p:cNvSpPr/>
          <p:nvPr/>
        </p:nvSpPr>
        <p:spPr>
          <a:xfrm>
            <a:off x="6271233" y="5996651"/>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7</a:t>
            </a:r>
            <a:endParaRPr lang="zh-TW" altLang="en-US" sz="2000" dirty="0">
              <a:solidFill>
                <a:schemeClr val="tx1"/>
              </a:solidFill>
            </a:endParaRPr>
          </a:p>
        </p:txBody>
      </p:sp>
      <p:sp>
        <p:nvSpPr>
          <p:cNvPr id="228" name="橢圓 227"/>
          <p:cNvSpPr/>
          <p:nvPr/>
        </p:nvSpPr>
        <p:spPr>
          <a:xfrm>
            <a:off x="6860115" y="5996651"/>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229" name="直線接點 228"/>
          <p:cNvCxnSpPr>
            <a:endCxn id="227" idx="0"/>
          </p:cNvCxnSpPr>
          <p:nvPr/>
        </p:nvCxnSpPr>
        <p:spPr>
          <a:xfrm flipH="1">
            <a:off x="6418453" y="5806357"/>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0" name="直線接點 229"/>
          <p:cNvCxnSpPr>
            <a:endCxn id="228" idx="0"/>
          </p:cNvCxnSpPr>
          <p:nvPr/>
        </p:nvCxnSpPr>
        <p:spPr>
          <a:xfrm>
            <a:off x="6816994" y="5806356"/>
            <a:ext cx="190340" cy="190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1" name="文字方塊 230"/>
          <p:cNvSpPr txBox="1"/>
          <p:nvPr/>
        </p:nvSpPr>
        <p:spPr>
          <a:xfrm>
            <a:off x="4588072" y="3068961"/>
            <a:ext cx="571854" cy="481052"/>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232" name="文字方塊 231"/>
          <p:cNvSpPr txBox="1"/>
          <p:nvPr/>
        </p:nvSpPr>
        <p:spPr>
          <a:xfrm>
            <a:off x="7014405" y="3068960"/>
            <a:ext cx="581811" cy="481052"/>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233" name="文字方塊 232"/>
          <p:cNvSpPr txBox="1"/>
          <p:nvPr/>
        </p:nvSpPr>
        <p:spPr>
          <a:xfrm>
            <a:off x="4592911" y="4891227"/>
            <a:ext cx="571854" cy="481052"/>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234" name="文字方塊 233"/>
          <p:cNvSpPr txBox="1"/>
          <p:nvPr/>
        </p:nvSpPr>
        <p:spPr>
          <a:xfrm>
            <a:off x="7019244" y="4891226"/>
            <a:ext cx="581811" cy="481052"/>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81" name="橢圓 80"/>
          <p:cNvSpPr/>
          <p:nvPr/>
        </p:nvSpPr>
        <p:spPr>
          <a:xfrm>
            <a:off x="3536300" y="4588103"/>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82" name="直線接點 81"/>
          <p:cNvCxnSpPr>
            <a:stCxn id="200" idx="3"/>
            <a:endCxn id="81" idx="0"/>
          </p:cNvCxnSpPr>
          <p:nvPr/>
        </p:nvCxnSpPr>
        <p:spPr>
          <a:xfrm flipH="1">
            <a:off x="3720508" y="4451319"/>
            <a:ext cx="166069" cy="136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3" name="橢圓 82"/>
          <p:cNvSpPr/>
          <p:nvPr/>
        </p:nvSpPr>
        <p:spPr>
          <a:xfrm>
            <a:off x="4072555" y="4594587"/>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84" name="直線接點 83"/>
          <p:cNvCxnSpPr>
            <a:stCxn id="200" idx="5"/>
            <a:endCxn id="83" idx="0"/>
          </p:cNvCxnSpPr>
          <p:nvPr/>
        </p:nvCxnSpPr>
        <p:spPr>
          <a:xfrm>
            <a:off x="4094778" y="4451319"/>
            <a:ext cx="161985" cy="143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0" name="橢圓 89"/>
          <p:cNvSpPr/>
          <p:nvPr/>
        </p:nvSpPr>
        <p:spPr>
          <a:xfrm>
            <a:off x="3544316" y="6441655"/>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91" name="直線接點 90"/>
          <p:cNvCxnSpPr>
            <a:stCxn id="187" idx="3"/>
            <a:endCxn id="90" idx="0"/>
          </p:cNvCxnSpPr>
          <p:nvPr/>
        </p:nvCxnSpPr>
        <p:spPr>
          <a:xfrm flipH="1">
            <a:off x="3728524" y="6275529"/>
            <a:ext cx="158053" cy="16612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橢圓 91"/>
          <p:cNvSpPr/>
          <p:nvPr/>
        </p:nvSpPr>
        <p:spPr>
          <a:xfrm>
            <a:off x="4080571" y="6448139"/>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93" name="直線接點 92"/>
          <p:cNvCxnSpPr>
            <a:stCxn id="187" idx="5"/>
            <a:endCxn id="92" idx="0"/>
          </p:cNvCxnSpPr>
          <p:nvPr/>
        </p:nvCxnSpPr>
        <p:spPr>
          <a:xfrm>
            <a:off x="4094778" y="6275529"/>
            <a:ext cx="170001" cy="1726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9157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字方塊 13"/>
          <p:cNvSpPr txBox="1"/>
          <p:nvPr/>
        </p:nvSpPr>
        <p:spPr>
          <a:xfrm>
            <a:off x="6779420" y="116633"/>
            <a:ext cx="3310928" cy="646331"/>
          </a:xfrm>
          <a:prstGeom prst="rect">
            <a:avLst/>
          </a:prstGeom>
          <a:noFill/>
        </p:spPr>
        <p:txBody>
          <a:bodyPr wrap="square" rtlCol="0">
            <a:spAutoFit/>
          </a:bodyPr>
          <a:lstStyle/>
          <a:p>
            <a:r>
              <a:rPr lang="en-US" altLang="zh-TW" dirty="0"/>
              <a:t>Swap two genes in a chromosome</a:t>
            </a:r>
            <a:endParaRPr lang="zh-TW" altLang="en-US" dirty="0"/>
          </a:p>
        </p:txBody>
      </p:sp>
      <p:grpSp>
        <p:nvGrpSpPr>
          <p:cNvPr id="4" name="群組 3"/>
          <p:cNvGrpSpPr/>
          <p:nvPr/>
        </p:nvGrpSpPr>
        <p:grpSpPr>
          <a:xfrm>
            <a:off x="6298252" y="485965"/>
            <a:ext cx="4245720" cy="2764706"/>
            <a:chOff x="2525415" y="349233"/>
            <a:chExt cx="4245720" cy="2764706"/>
          </a:xfrm>
        </p:grpSpPr>
        <mc:AlternateContent xmlns:mc="http://schemas.openxmlformats.org/markup-compatibility/2006" xmlns:a14="http://schemas.microsoft.com/office/drawing/2010/main">
          <mc:Choice Requires="a14">
            <p:graphicFrame>
              <p:nvGraphicFramePr>
                <p:cNvPr id="65" name="內容版面配置區 3"/>
                <p:cNvGraphicFramePr>
                  <a:graphicFrameLocks/>
                </p:cNvGraphicFramePr>
                <p:nvPr>
                  <p:extLst/>
                </p:nvPr>
              </p:nvGraphicFramePr>
              <p:xfrm>
                <a:off x="2525415" y="964321"/>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extLst>
                        <a:ext uri="{0D108BD9-81ED-4DB2-BD59-A6C34878D82A}">
                          <a16:rowId xmlns:a16="http://schemas.microsoft.com/office/drawing/2014/main" val="10001"/>
                        </a:ext>
                      </a:extLst>
                    </a:tr>
                  </a:tbl>
                </a:graphicData>
              </a:graphic>
            </p:graphicFrame>
          </mc:Choice>
          <mc:Fallback xmlns="">
            <p:graphicFrame>
              <p:nvGraphicFramePr>
                <p:cNvPr id="65" name="內容版面配置區 3"/>
                <p:cNvGraphicFramePr>
                  <a:graphicFrameLocks/>
                </p:cNvGraphicFramePr>
                <p:nvPr>
                  <p:extLst>
                    <p:ext uri="{D42A27DB-BD31-4B8C-83A1-F6EECF244321}">
                      <p14:modId xmlns:p14="http://schemas.microsoft.com/office/powerpoint/2010/main" val="3835676542"/>
                    </p:ext>
                  </p:extLst>
                </p:nvPr>
              </p:nvGraphicFramePr>
              <p:xfrm>
                <a:off x="2525415" y="964321"/>
                <a:ext cx="4245720" cy="781466"/>
              </p:xfrm>
              <a:graphic>
                <a:graphicData uri="http://schemas.openxmlformats.org/drawingml/2006/table">
                  <a:tbl>
                    <a:tblPr firstRow="1" bandRow="1">
                      <a:tableStyleId>{5C22544A-7EE6-4342-B048-85BDC9FD1C3A}</a:tableStyleId>
                    </a:tblPr>
                    <a:tblGrid>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tblGrid>
                    <a:tr h="381383">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t="-95455" r="-18914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0000" t="-95455" r="-1791429"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solidFill>
                              </a:rPr>
                              <a:t>S</a:t>
                            </a:r>
                            <a:endParaRPr lang="en-US" altLang="zh-TW" sz="1400" b="0" dirty="0" smtClean="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308824" t="-95455" r="-1641176" b="-3030"/>
                            </a:stretch>
                          </a:blip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26471" t="-95455" r="-9235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094286" t="-95455" r="-7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2"/>
                            <a:stretch>
                              <a:fillRect l="-1194286" t="-95455" r="-697143" b="-3030"/>
                            </a:stretch>
                          </a:blip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r>
                  </a:tbl>
                </a:graphicData>
              </a:graphic>
            </p:graphicFrame>
          </mc:Fallback>
        </mc:AlternateContent>
        <p:cxnSp>
          <p:nvCxnSpPr>
            <p:cNvPr id="66" name="直線單箭頭接點 65"/>
            <p:cNvCxnSpPr>
              <a:stCxn id="65" idx="2"/>
              <a:endCxn id="68" idx="0"/>
            </p:cNvCxnSpPr>
            <p:nvPr/>
          </p:nvCxnSpPr>
          <p:spPr>
            <a:xfrm>
              <a:off x="4648275" y="1745787"/>
              <a:ext cx="0" cy="5866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7" name="文字方塊 66"/>
            <p:cNvSpPr txBox="1"/>
            <p:nvPr/>
          </p:nvSpPr>
          <p:spPr>
            <a:xfrm>
              <a:off x="4646687" y="1861401"/>
              <a:ext cx="1970476" cy="369332"/>
            </a:xfrm>
            <a:prstGeom prst="rect">
              <a:avLst/>
            </a:prstGeom>
            <a:noFill/>
          </p:spPr>
          <p:txBody>
            <a:bodyPr wrap="none" rtlCol="0">
              <a:spAutoFit/>
            </a:bodyPr>
            <a:lstStyle/>
            <a:p>
              <a:r>
                <a:rPr lang="en-US" altLang="zh-TW" dirty="0"/>
                <a:t>Gene transposition</a:t>
              </a:r>
              <a:endParaRPr lang="zh-TW" altLang="en-US" dirty="0"/>
            </a:p>
          </p:txBody>
        </p:sp>
        <mc:AlternateContent xmlns:mc="http://schemas.openxmlformats.org/markup-compatibility/2006" xmlns:a14="http://schemas.microsoft.com/office/drawing/2010/main">
          <mc:Choice Requires="a14">
            <p:graphicFrame>
              <p:nvGraphicFramePr>
                <p:cNvPr id="68" name="內容版面配置區 3"/>
                <p:cNvGraphicFramePr>
                  <a:graphicFrameLocks/>
                </p:cNvGraphicFramePr>
                <p:nvPr>
                  <p:extLst/>
                </p:nvPr>
              </p:nvGraphicFramePr>
              <p:xfrm>
                <a:off x="2525415" y="2332473"/>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0"/>
                        </a:ext>
                      </a:extLst>
                    </a:tr>
                    <a:tr h="400083">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001"/>
                        </a:ext>
                      </a:extLst>
                    </a:tr>
                  </a:tbl>
                </a:graphicData>
              </a:graphic>
            </p:graphicFrame>
          </mc:Choice>
          <mc:Fallback xmlns="">
            <p:graphicFrame>
              <p:nvGraphicFramePr>
                <p:cNvPr id="68" name="內容版面配置區 3"/>
                <p:cNvGraphicFramePr>
                  <a:graphicFrameLocks/>
                </p:cNvGraphicFramePr>
                <p:nvPr>
                  <p:extLst>
                    <p:ext uri="{D42A27DB-BD31-4B8C-83A1-F6EECF244321}">
                      <p14:modId xmlns:p14="http://schemas.microsoft.com/office/powerpoint/2010/main" val="3383951331"/>
                    </p:ext>
                  </p:extLst>
                </p:nvPr>
              </p:nvGraphicFramePr>
              <p:xfrm>
                <a:off x="2525415" y="2332473"/>
                <a:ext cx="4245720" cy="781466"/>
              </p:xfrm>
              <a:graphic>
                <a:graphicData uri="http://schemas.openxmlformats.org/drawingml/2006/table">
                  <a:tbl>
                    <a:tblPr firstRow="1" bandRow="1">
                      <a:tableStyleId>{5C22544A-7EE6-4342-B048-85BDC9FD1C3A}</a:tableStyleId>
                    </a:tblPr>
                    <a:tblGrid>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tblGrid>
                    <a:tr h="381383">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t="-93939" r="-18914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0000" t="-93939" r="-17914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200000" t="-93939" r="-1691429" b="-3030"/>
                            </a:stretch>
                          </a:blip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26471" t="-93939" r="-9235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094286" t="-93939" r="-797143"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solidFill>
                              </a:rPr>
                              <a:t>S</a:t>
                            </a:r>
                            <a:endParaRPr lang="en-US" altLang="zh-TW" sz="1400" b="0" dirty="0" smtClean="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3"/>
                            <a:stretch>
                              <a:fillRect l="-1294286" t="-93939" r="-597143" b="-3030"/>
                            </a:stretch>
                          </a:blip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mc:Fallback>
        </mc:AlternateContent>
        <p:sp>
          <p:nvSpPr>
            <p:cNvPr id="69" name="左大括弧 68"/>
            <p:cNvSpPr/>
            <p:nvPr/>
          </p:nvSpPr>
          <p:spPr>
            <a:xfrm rot="5400000">
              <a:off x="3422631" y="-176530"/>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70" name="文字方塊 69"/>
            <p:cNvSpPr txBox="1"/>
            <p:nvPr/>
          </p:nvSpPr>
          <p:spPr>
            <a:xfrm>
              <a:off x="3306131" y="349234"/>
              <a:ext cx="571854" cy="481052"/>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71" name="文字方塊 70"/>
            <p:cNvSpPr txBox="1"/>
            <p:nvPr/>
          </p:nvSpPr>
          <p:spPr>
            <a:xfrm>
              <a:off x="5379429" y="349233"/>
              <a:ext cx="581811" cy="481052"/>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72" name="左大括弧 71"/>
            <p:cNvSpPr/>
            <p:nvPr/>
          </p:nvSpPr>
          <p:spPr>
            <a:xfrm rot="5400000">
              <a:off x="5500908" y="-176530"/>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73" name="左大括弧 72"/>
            <p:cNvSpPr/>
            <p:nvPr/>
          </p:nvSpPr>
          <p:spPr>
            <a:xfrm rot="16200000">
              <a:off x="2781990" y="1515297"/>
              <a:ext cx="338855" cy="799838"/>
            </a:xfrm>
            <a:prstGeom prst="leftBrace">
              <a:avLst>
                <a:gd name="adj1" fmla="val 5029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74" name="左大括弧 73"/>
            <p:cNvSpPr/>
            <p:nvPr/>
          </p:nvSpPr>
          <p:spPr>
            <a:xfrm rot="16200000">
              <a:off x="3829982" y="1339150"/>
              <a:ext cx="338855" cy="1152128"/>
            </a:xfrm>
            <a:prstGeom prst="leftBrace">
              <a:avLst>
                <a:gd name="adj1" fmla="val 6868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75" name="文字方塊 74"/>
            <p:cNvSpPr txBox="1"/>
            <p:nvPr/>
          </p:nvSpPr>
          <p:spPr>
            <a:xfrm>
              <a:off x="2658068" y="2084643"/>
              <a:ext cx="586697" cy="265609"/>
            </a:xfrm>
            <a:prstGeom prst="rect">
              <a:avLst/>
            </a:prstGeom>
            <a:noFill/>
          </p:spPr>
          <p:txBody>
            <a:bodyPr wrap="square" lIns="49679" tIns="24840" rIns="49679" bIns="24840" rtlCol="0">
              <a:spAutoFit/>
            </a:bodyPr>
            <a:lstStyle/>
            <a:p>
              <a:pPr algn="ctr"/>
              <a:r>
                <a:rPr lang="en-US" altLang="zh-TW" sz="1400" dirty="0"/>
                <a:t>head</a:t>
              </a:r>
              <a:endParaRPr lang="zh-TW" altLang="en-US" sz="1400" dirty="0"/>
            </a:p>
          </p:txBody>
        </p:sp>
        <p:sp>
          <p:nvSpPr>
            <p:cNvPr id="76" name="文字方塊 75"/>
            <p:cNvSpPr txBox="1"/>
            <p:nvPr/>
          </p:nvSpPr>
          <p:spPr>
            <a:xfrm>
              <a:off x="3826326" y="2084644"/>
              <a:ext cx="346166" cy="265609"/>
            </a:xfrm>
            <a:prstGeom prst="rect">
              <a:avLst/>
            </a:prstGeom>
            <a:noFill/>
          </p:spPr>
          <p:txBody>
            <a:bodyPr wrap="square" lIns="49679" tIns="24840" rIns="49679" bIns="24840" rtlCol="0">
              <a:spAutoFit/>
            </a:bodyPr>
            <a:lstStyle/>
            <a:p>
              <a:pPr algn="ctr"/>
              <a:r>
                <a:rPr lang="en-US" altLang="zh-TW" sz="1400" dirty="0"/>
                <a:t>tail</a:t>
              </a:r>
              <a:endParaRPr lang="zh-TW" altLang="en-US" sz="1400" dirty="0"/>
            </a:p>
          </p:txBody>
        </p:sp>
      </p:grpSp>
      <p:cxnSp>
        <p:nvCxnSpPr>
          <p:cNvPr id="77" name="直線單箭頭接點 76"/>
          <p:cNvCxnSpPr/>
          <p:nvPr/>
        </p:nvCxnSpPr>
        <p:spPr>
          <a:xfrm>
            <a:off x="8421865" y="4653136"/>
            <a:ext cx="0" cy="51707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40" name="群組 139"/>
          <p:cNvGrpSpPr/>
          <p:nvPr/>
        </p:nvGrpSpPr>
        <p:grpSpPr>
          <a:xfrm>
            <a:off x="1737168" y="485964"/>
            <a:ext cx="4683064" cy="2764706"/>
            <a:chOff x="2525415" y="349233"/>
            <a:chExt cx="4683064" cy="2764706"/>
          </a:xfrm>
        </p:grpSpPr>
        <mc:AlternateContent xmlns:mc="http://schemas.openxmlformats.org/markup-compatibility/2006" xmlns:a14="http://schemas.microsoft.com/office/drawing/2010/main">
          <mc:Choice Requires="a14">
            <p:graphicFrame>
              <p:nvGraphicFramePr>
                <p:cNvPr id="141" name="內容版面配置區 3"/>
                <p:cNvGraphicFramePr>
                  <a:graphicFrameLocks/>
                </p:cNvGraphicFramePr>
                <p:nvPr>
                  <p:extLst/>
                </p:nvPr>
              </p:nvGraphicFramePr>
              <p:xfrm>
                <a:off x="2525415" y="964321"/>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141" name="內容版面配置區 3"/>
                <p:cNvGraphicFramePr>
                  <a:graphicFrameLocks/>
                </p:cNvGraphicFramePr>
                <p:nvPr>
                  <p:extLst>
                    <p:ext uri="{D42A27DB-BD31-4B8C-83A1-F6EECF244321}">
                      <p14:modId xmlns:p14="http://schemas.microsoft.com/office/powerpoint/2010/main" val="4249790867"/>
                    </p:ext>
                  </p:extLst>
                </p:nvPr>
              </p:nvGraphicFramePr>
              <p:xfrm>
                <a:off x="2525415" y="964321"/>
                <a:ext cx="4245720" cy="781466"/>
              </p:xfrm>
              <a:graphic>
                <a:graphicData uri="http://schemas.openxmlformats.org/drawingml/2006/table">
                  <a:tbl>
                    <a:tblPr firstRow="1" bandRow="1">
                      <a:tableStyleId>{5C22544A-7EE6-4342-B048-85BDC9FD1C3A}</a:tableStyleId>
                    </a:tblPr>
                    <a:tblGrid>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tblGrid>
                    <a:tr h="381383">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2857" t="-95455" r="-18914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2857" t="-95455" r="-1791429"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solidFill>
                              </a:rPr>
                              <a:t>S</a:t>
                            </a:r>
                            <a:endParaRPr lang="en-US" altLang="zh-TW" sz="1400" b="0" dirty="0" smtClean="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300000" t="-95455" r="-1594286" b="-3030"/>
                            </a:stretch>
                          </a:blip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997143" t="-95455" r="-8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097143" t="-95455" r="-7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4"/>
                            <a:stretch>
                              <a:fillRect l="-1232353" t="-95455" r="-720588" b="-3030"/>
                            </a:stretch>
                          </a:blip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Fallback>
        </mc:AlternateContent>
        <p:cxnSp>
          <p:nvCxnSpPr>
            <p:cNvPr id="142" name="直線單箭頭接點 141"/>
            <p:cNvCxnSpPr>
              <a:stCxn id="141" idx="2"/>
              <a:endCxn id="144" idx="0"/>
            </p:cNvCxnSpPr>
            <p:nvPr/>
          </p:nvCxnSpPr>
          <p:spPr>
            <a:xfrm>
              <a:off x="4648275" y="1745787"/>
              <a:ext cx="0" cy="58668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3" name="文字方塊 142"/>
            <p:cNvSpPr txBox="1"/>
            <p:nvPr/>
          </p:nvSpPr>
          <p:spPr>
            <a:xfrm>
              <a:off x="4646687" y="1861401"/>
              <a:ext cx="2561792" cy="369332"/>
            </a:xfrm>
            <a:prstGeom prst="rect">
              <a:avLst/>
            </a:prstGeom>
            <a:noFill/>
          </p:spPr>
          <p:txBody>
            <a:bodyPr wrap="none" rtlCol="0">
              <a:spAutoFit/>
            </a:bodyPr>
            <a:lstStyle/>
            <a:p>
              <a:r>
                <a:rPr lang="en-US" altLang="zh-TW" dirty="0"/>
                <a:t>Transposition of insertion</a:t>
              </a:r>
              <a:endParaRPr lang="zh-TW" altLang="en-US" dirty="0"/>
            </a:p>
          </p:txBody>
        </p:sp>
        <mc:AlternateContent xmlns:mc="http://schemas.openxmlformats.org/markup-compatibility/2006" xmlns:a14="http://schemas.microsoft.com/office/drawing/2010/main">
          <mc:Choice Requires="a14">
            <p:graphicFrame>
              <p:nvGraphicFramePr>
                <p:cNvPr id="144" name="內容版面配置區 3"/>
                <p:cNvGraphicFramePr>
                  <a:graphicFrameLocks/>
                </p:cNvGraphicFramePr>
                <p:nvPr>
                  <p:extLst/>
                </p:nvPr>
              </p:nvGraphicFramePr>
              <p:xfrm>
                <a:off x="2525415" y="2332473"/>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xmlns="">
            <p:graphicFrame>
              <p:nvGraphicFramePr>
                <p:cNvPr id="144" name="內容版面配置區 3"/>
                <p:cNvGraphicFramePr>
                  <a:graphicFrameLocks/>
                </p:cNvGraphicFramePr>
                <p:nvPr>
                  <p:extLst>
                    <p:ext uri="{D42A27DB-BD31-4B8C-83A1-F6EECF244321}">
                      <p14:modId xmlns:p14="http://schemas.microsoft.com/office/powerpoint/2010/main" val="1858674486"/>
                    </p:ext>
                  </p:extLst>
                </p:nvPr>
              </p:nvGraphicFramePr>
              <p:xfrm>
                <a:off x="2525415" y="2332473"/>
                <a:ext cx="4245720" cy="781466"/>
              </p:xfrm>
              <a:graphic>
                <a:graphicData uri="http://schemas.openxmlformats.org/drawingml/2006/table">
                  <a:tbl>
                    <a:tblPr firstRow="1" bandRow="1">
                      <a:tableStyleId>{5C22544A-7EE6-4342-B048-85BDC9FD1C3A}</a:tableStyleId>
                    </a:tblPr>
                    <a:tblGrid>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gridCol w="212286"/>
                    </a:tblGrid>
                    <a:tr h="381383">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2857" t="-93939" r="-1891429"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2857" t="-93939" r="-1791429"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smtClean="0">
                                <a:solidFill>
                                  <a:schemeClr val="tx1"/>
                                </a:solidFill>
                              </a:rPr>
                              <a:t>S</a:t>
                            </a:r>
                            <a:endParaRPr lang="en-US" altLang="zh-TW" sz="1400" b="0" dirty="0" smtClean="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300000" t="-93939" r="-1594286" b="-3030"/>
                            </a:stretch>
                          </a:blip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997143" t="-93939" r="-8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097143" t="-93939" r="-7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rotWithShape="1">
                            <a:blip r:embed="rId5"/>
                            <a:stretch>
                              <a:fillRect l="-1232353" t="-93939" r="-720588" b="-3030"/>
                            </a:stretch>
                          </a:blip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smtClean="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mc:Fallback>
        </mc:AlternateContent>
        <p:sp>
          <p:nvSpPr>
            <p:cNvPr id="145" name="左大括弧 144"/>
            <p:cNvSpPr/>
            <p:nvPr/>
          </p:nvSpPr>
          <p:spPr>
            <a:xfrm rot="5400000">
              <a:off x="3422631" y="-176530"/>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46" name="文字方塊 145"/>
            <p:cNvSpPr txBox="1"/>
            <p:nvPr/>
          </p:nvSpPr>
          <p:spPr>
            <a:xfrm>
              <a:off x="3306131" y="349234"/>
              <a:ext cx="571854" cy="481052"/>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147" name="文字方塊 146"/>
            <p:cNvSpPr txBox="1"/>
            <p:nvPr/>
          </p:nvSpPr>
          <p:spPr>
            <a:xfrm>
              <a:off x="5379429" y="349233"/>
              <a:ext cx="581811" cy="481052"/>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148" name="左大括弧 147"/>
            <p:cNvSpPr/>
            <p:nvPr/>
          </p:nvSpPr>
          <p:spPr>
            <a:xfrm rot="5400000">
              <a:off x="5500908" y="-176530"/>
              <a:ext cx="338855" cy="1921602"/>
            </a:xfrm>
            <a:prstGeom prst="leftBrace">
              <a:avLst>
                <a:gd name="adj1" fmla="val 100584"/>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49" name="左大括弧 148"/>
            <p:cNvSpPr/>
            <p:nvPr/>
          </p:nvSpPr>
          <p:spPr>
            <a:xfrm rot="16200000">
              <a:off x="2781990" y="1515297"/>
              <a:ext cx="338855" cy="799838"/>
            </a:xfrm>
            <a:prstGeom prst="leftBrace">
              <a:avLst>
                <a:gd name="adj1" fmla="val 50292"/>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50" name="左大括弧 149"/>
            <p:cNvSpPr/>
            <p:nvPr/>
          </p:nvSpPr>
          <p:spPr>
            <a:xfrm rot="16200000">
              <a:off x="3829982" y="1339150"/>
              <a:ext cx="338855" cy="1152128"/>
            </a:xfrm>
            <a:prstGeom prst="leftBrace">
              <a:avLst>
                <a:gd name="adj1" fmla="val 68683"/>
                <a:gd name="adj2"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lIns="49679" tIns="24840" rIns="49679" bIns="24840" rtlCol="0" anchor="ctr"/>
            <a:lstStyle/>
            <a:p>
              <a:pPr algn="ctr"/>
              <a:endParaRPr lang="zh-TW" altLang="en-US" sz="1400"/>
            </a:p>
          </p:txBody>
        </p:sp>
        <p:sp>
          <p:nvSpPr>
            <p:cNvPr id="151" name="文字方塊 150"/>
            <p:cNvSpPr txBox="1"/>
            <p:nvPr/>
          </p:nvSpPr>
          <p:spPr>
            <a:xfrm>
              <a:off x="2658068" y="2084643"/>
              <a:ext cx="586697" cy="265609"/>
            </a:xfrm>
            <a:prstGeom prst="rect">
              <a:avLst/>
            </a:prstGeom>
            <a:noFill/>
          </p:spPr>
          <p:txBody>
            <a:bodyPr wrap="square" lIns="49679" tIns="24840" rIns="49679" bIns="24840" rtlCol="0">
              <a:spAutoFit/>
            </a:bodyPr>
            <a:lstStyle/>
            <a:p>
              <a:pPr algn="ctr"/>
              <a:r>
                <a:rPr lang="en-US" altLang="zh-TW" sz="1400" dirty="0"/>
                <a:t>head</a:t>
              </a:r>
              <a:endParaRPr lang="zh-TW" altLang="en-US" sz="1400" dirty="0"/>
            </a:p>
          </p:txBody>
        </p:sp>
        <p:sp>
          <p:nvSpPr>
            <p:cNvPr id="152" name="文字方塊 151"/>
            <p:cNvSpPr txBox="1"/>
            <p:nvPr/>
          </p:nvSpPr>
          <p:spPr>
            <a:xfrm>
              <a:off x="3826326" y="2084644"/>
              <a:ext cx="346166" cy="265609"/>
            </a:xfrm>
            <a:prstGeom prst="rect">
              <a:avLst/>
            </a:prstGeom>
            <a:noFill/>
          </p:spPr>
          <p:txBody>
            <a:bodyPr wrap="square" lIns="49679" tIns="24840" rIns="49679" bIns="24840" rtlCol="0">
              <a:spAutoFit/>
            </a:bodyPr>
            <a:lstStyle/>
            <a:p>
              <a:pPr algn="ctr"/>
              <a:r>
                <a:rPr lang="en-US" altLang="zh-TW" sz="1400" dirty="0"/>
                <a:t>tail</a:t>
              </a:r>
              <a:endParaRPr lang="zh-TW" altLang="en-US" sz="1400" dirty="0"/>
            </a:p>
          </p:txBody>
        </p:sp>
      </p:grpSp>
      <p:cxnSp>
        <p:nvCxnSpPr>
          <p:cNvPr id="154" name="直線單箭頭接點 153"/>
          <p:cNvCxnSpPr/>
          <p:nvPr/>
        </p:nvCxnSpPr>
        <p:spPr>
          <a:xfrm>
            <a:off x="3885361" y="4653136"/>
            <a:ext cx="0" cy="51707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70" name="文字方塊 169"/>
          <p:cNvSpPr txBox="1"/>
          <p:nvPr/>
        </p:nvSpPr>
        <p:spPr>
          <a:xfrm>
            <a:off x="2639617" y="3307408"/>
            <a:ext cx="590891" cy="265609"/>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171" name="文字方塊 170"/>
          <p:cNvSpPr txBox="1"/>
          <p:nvPr/>
        </p:nvSpPr>
        <p:spPr>
          <a:xfrm>
            <a:off x="4727849" y="3379416"/>
            <a:ext cx="632551" cy="265609"/>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216" name="文字方塊 215"/>
          <p:cNvSpPr txBox="1"/>
          <p:nvPr/>
        </p:nvSpPr>
        <p:spPr>
          <a:xfrm>
            <a:off x="1442719" y="75648"/>
            <a:ext cx="4698722" cy="646331"/>
          </a:xfrm>
          <a:prstGeom prst="rect">
            <a:avLst/>
          </a:prstGeom>
          <a:noFill/>
        </p:spPr>
        <p:txBody>
          <a:bodyPr wrap="square" rtlCol="0">
            <a:spAutoFit/>
          </a:bodyPr>
          <a:lstStyle/>
          <a:p>
            <a:r>
              <a:rPr lang="en-US" altLang="zh-TW" dirty="0"/>
              <a:t>Copy a part of gene to another in a chromosome</a:t>
            </a:r>
            <a:endParaRPr lang="zh-TW" altLang="en-US" dirty="0"/>
          </a:p>
        </p:txBody>
      </p:sp>
      <mc:AlternateContent xmlns:mc="http://schemas.openxmlformats.org/markup-compatibility/2006">
        <mc:Choice xmlns:a14="http://schemas.microsoft.com/office/drawing/2010/main" Requires="a14">
          <p:sp>
            <p:nvSpPr>
              <p:cNvPr id="244" name="橢圓 243"/>
              <p:cNvSpPr/>
              <p:nvPr/>
            </p:nvSpPr>
            <p:spPr>
              <a:xfrm>
                <a:off x="4835798" y="5335110"/>
                <a:ext cx="279046" cy="27565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44" name="橢圓 243"/>
              <p:cNvSpPr>
                <a:spLocks noRot="1" noChangeAspect="1" noMove="1" noResize="1" noEditPoints="1" noAdjustHandles="1" noChangeArrowheads="1" noChangeShapeType="1" noTextEdit="1"/>
              </p:cNvSpPr>
              <p:nvPr/>
            </p:nvSpPr>
            <p:spPr>
              <a:xfrm>
                <a:off x="4835798" y="5335110"/>
                <a:ext cx="279046" cy="275651"/>
              </a:xfrm>
              <a:prstGeom prst="ellipse">
                <a:avLst/>
              </a:prstGeom>
              <a:blipFill>
                <a:blip r:embed="rId6"/>
                <a:stretch>
                  <a:fillRect l="-14583" b="-6383"/>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5" name="橢圓 244"/>
              <p:cNvSpPr/>
              <p:nvPr/>
            </p:nvSpPr>
            <p:spPr>
              <a:xfrm>
                <a:off x="4277705" y="5701360"/>
                <a:ext cx="279046" cy="27565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45" name="橢圓 244"/>
              <p:cNvSpPr>
                <a:spLocks noRot="1" noChangeAspect="1" noMove="1" noResize="1" noEditPoints="1" noAdjustHandles="1" noChangeArrowheads="1" noChangeShapeType="1" noTextEdit="1"/>
              </p:cNvSpPr>
              <p:nvPr/>
            </p:nvSpPr>
            <p:spPr>
              <a:xfrm>
                <a:off x="4277705" y="5701360"/>
                <a:ext cx="279046" cy="275651"/>
              </a:xfrm>
              <a:prstGeom prst="ellipse">
                <a:avLst/>
              </a:prstGeom>
              <a:blipFill>
                <a:blip r:embed="rId7"/>
                <a:stretch>
                  <a:fillRect l="-25532" r="-4255" b="-19149"/>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46" name="橢圓 245"/>
              <p:cNvSpPr/>
              <p:nvPr/>
            </p:nvSpPr>
            <p:spPr>
              <a:xfrm>
                <a:off x="5393891" y="5701360"/>
                <a:ext cx="279046" cy="27565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46" name="橢圓 245"/>
              <p:cNvSpPr>
                <a:spLocks noRot="1" noChangeAspect="1" noMove="1" noResize="1" noEditPoints="1" noAdjustHandles="1" noChangeArrowheads="1" noChangeShapeType="1" noTextEdit="1"/>
              </p:cNvSpPr>
              <p:nvPr/>
            </p:nvSpPr>
            <p:spPr>
              <a:xfrm>
                <a:off x="5393891" y="5701360"/>
                <a:ext cx="279046" cy="275651"/>
              </a:xfrm>
              <a:prstGeom prst="ellipse">
                <a:avLst/>
              </a:prstGeom>
              <a:blipFill>
                <a:blip r:embed="rId8"/>
                <a:stretch>
                  <a:fillRect l="-18750" b="-6383"/>
                </a:stretch>
              </a:blipFill>
              <a:ln w="12700">
                <a:solidFill>
                  <a:schemeClr val="tx1"/>
                </a:solidFill>
              </a:ln>
            </p:spPr>
            <p:txBody>
              <a:bodyPr/>
              <a:lstStyle/>
              <a:p>
                <a:r>
                  <a:rPr lang="zh-TW" altLang="en-US">
                    <a:noFill/>
                  </a:rPr>
                  <a:t> </a:t>
                </a:r>
              </a:p>
            </p:txBody>
          </p:sp>
        </mc:Fallback>
      </mc:AlternateContent>
      <p:sp>
        <p:nvSpPr>
          <p:cNvPr id="247" name="橢圓 246"/>
          <p:cNvSpPr/>
          <p:nvPr/>
        </p:nvSpPr>
        <p:spPr>
          <a:xfrm>
            <a:off x="5114845" y="6112511"/>
            <a:ext cx="279046" cy="27565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248" name="橢圓 247"/>
          <p:cNvSpPr/>
          <p:nvPr/>
        </p:nvSpPr>
        <p:spPr>
          <a:xfrm>
            <a:off x="5672938" y="6112511"/>
            <a:ext cx="279046" cy="27565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249" name="直線接點 248"/>
          <p:cNvCxnSpPr>
            <a:stCxn id="244" idx="3"/>
            <a:endCxn id="245" idx="0"/>
          </p:cNvCxnSpPr>
          <p:nvPr/>
        </p:nvCxnSpPr>
        <p:spPr>
          <a:xfrm flipH="1">
            <a:off x="4417229" y="5570393"/>
            <a:ext cx="459435" cy="130967"/>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線接點 249"/>
          <p:cNvCxnSpPr>
            <a:stCxn id="244" idx="5"/>
            <a:endCxn id="246" idx="0"/>
          </p:cNvCxnSpPr>
          <p:nvPr/>
        </p:nvCxnSpPr>
        <p:spPr>
          <a:xfrm>
            <a:off x="5073980" y="5570393"/>
            <a:ext cx="459435" cy="130967"/>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線接點 250"/>
          <p:cNvCxnSpPr>
            <a:stCxn id="246" idx="3"/>
            <a:endCxn id="247" idx="0"/>
          </p:cNvCxnSpPr>
          <p:nvPr/>
        </p:nvCxnSpPr>
        <p:spPr>
          <a:xfrm flipH="1">
            <a:off x="5254369" y="5936642"/>
            <a:ext cx="180389" cy="175868"/>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直線接點 251"/>
          <p:cNvCxnSpPr>
            <a:stCxn id="246" idx="5"/>
            <a:endCxn id="248" idx="0"/>
          </p:cNvCxnSpPr>
          <p:nvPr/>
        </p:nvCxnSpPr>
        <p:spPr>
          <a:xfrm>
            <a:off x="5632073" y="5936642"/>
            <a:ext cx="180389" cy="175868"/>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67" name="文字方塊 266"/>
          <p:cNvSpPr txBox="1"/>
          <p:nvPr/>
        </p:nvSpPr>
        <p:spPr>
          <a:xfrm>
            <a:off x="2679855" y="4988034"/>
            <a:ext cx="590891" cy="265609"/>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268" name="文字方塊 267"/>
          <p:cNvSpPr txBox="1"/>
          <p:nvPr/>
        </p:nvSpPr>
        <p:spPr>
          <a:xfrm>
            <a:off x="4712012" y="5084734"/>
            <a:ext cx="632551" cy="265609"/>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269" name="橢圓 268"/>
          <p:cNvSpPr/>
          <p:nvPr/>
        </p:nvSpPr>
        <p:spPr>
          <a:xfrm>
            <a:off x="3998658" y="6115530"/>
            <a:ext cx="279047" cy="2756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270" name="橢圓 269"/>
          <p:cNvSpPr/>
          <p:nvPr/>
        </p:nvSpPr>
        <p:spPr>
          <a:xfrm>
            <a:off x="4556751" y="6115530"/>
            <a:ext cx="279047" cy="27565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271" name="直線接點 270"/>
          <p:cNvCxnSpPr>
            <a:endCxn id="269" idx="0"/>
          </p:cNvCxnSpPr>
          <p:nvPr/>
        </p:nvCxnSpPr>
        <p:spPr>
          <a:xfrm flipH="1">
            <a:off x="4138181" y="5939664"/>
            <a:ext cx="180388" cy="1758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2" name="直線接點 271"/>
          <p:cNvCxnSpPr>
            <a:endCxn id="270" idx="0"/>
          </p:cNvCxnSpPr>
          <p:nvPr/>
        </p:nvCxnSpPr>
        <p:spPr>
          <a:xfrm>
            <a:off x="4515885" y="5939663"/>
            <a:ext cx="180388" cy="1758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55" name="群組 154"/>
          <p:cNvGrpSpPr/>
          <p:nvPr/>
        </p:nvGrpSpPr>
        <p:grpSpPr>
          <a:xfrm>
            <a:off x="4446226" y="3645024"/>
            <a:ext cx="1401921" cy="934102"/>
            <a:chOff x="3160728" y="3648624"/>
            <a:chExt cx="3424525" cy="2294130"/>
          </a:xfrm>
        </p:grpSpPr>
        <mc:AlternateContent xmlns:mc="http://schemas.openxmlformats.org/markup-compatibility/2006" xmlns:a14="http://schemas.microsoft.com/office/drawing/2010/main">
          <mc:Choice Requires="a14">
            <p:sp>
              <p:nvSpPr>
                <p:cNvPr id="172" name="橢圓 171"/>
                <p:cNvSpPr/>
                <p:nvPr/>
              </p:nvSpPr>
              <p:spPr>
                <a:xfrm>
                  <a:off x="4302236" y="3648624"/>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9"/>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3" name="橢圓 172"/>
                <p:cNvSpPr/>
                <p:nvPr/>
              </p:nvSpPr>
              <p:spPr>
                <a:xfrm>
                  <a:off x="3160728" y="4446519"/>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10"/>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4" name="橢圓 173"/>
                <p:cNvSpPr/>
                <p:nvPr/>
              </p:nvSpPr>
              <p:spPr>
                <a:xfrm>
                  <a:off x="5443745" y="4446519"/>
                  <a:ext cx="570754" cy="60052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74" name="橢圓 173"/>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11"/>
                  <a:stretch>
                    <a:fillRect l="-30000" r="-7500" b="-14286"/>
                  </a:stretch>
                </a:blipFill>
                <a:ln w="12700">
                  <a:solidFill>
                    <a:schemeClr val="tx1"/>
                  </a:solidFill>
                </a:ln>
              </p:spPr>
              <p:txBody>
                <a:bodyPr/>
                <a:lstStyle/>
                <a:p>
                  <a:r>
                    <a:rPr lang="zh-TW" altLang="en-US">
                      <a:noFill/>
                    </a:rPr>
                    <a:t> </a:t>
                  </a:r>
                </a:p>
              </p:txBody>
            </p:sp>
          </mc:Fallback>
        </mc:AlternateContent>
        <p:sp>
          <p:nvSpPr>
            <p:cNvPr id="175" name="橢圓 174"/>
            <p:cNvSpPr/>
            <p:nvPr/>
          </p:nvSpPr>
          <p:spPr>
            <a:xfrm>
              <a:off x="4872991" y="5342233"/>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176" name="橢圓 175"/>
            <p:cNvSpPr/>
            <p:nvPr/>
          </p:nvSpPr>
          <p:spPr>
            <a:xfrm>
              <a:off x="6014499" y="5342233"/>
              <a:ext cx="570754" cy="60052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177" name="直線接點 176"/>
            <p:cNvCxnSpPr>
              <a:stCxn id="172" idx="3"/>
              <a:endCxn id="173" idx="0"/>
            </p:cNvCxnSpPr>
            <p:nvPr/>
          </p:nvCxnSpPr>
          <p:spPr>
            <a:xfrm flipH="1">
              <a:off x="3446105"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直線接點 177"/>
            <p:cNvCxnSpPr>
              <a:stCxn id="172" idx="5"/>
              <a:endCxn id="174" idx="0"/>
            </p:cNvCxnSpPr>
            <p:nvPr/>
          </p:nvCxnSpPr>
          <p:spPr>
            <a:xfrm>
              <a:off x="4789406" y="4161201"/>
              <a:ext cx="939716" cy="28531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直線接點 178"/>
            <p:cNvCxnSpPr>
              <a:stCxn id="174" idx="3"/>
              <a:endCxn id="175" idx="0"/>
            </p:cNvCxnSpPr>
            <p:nvPr/>
          </p:nvCxnSpPr>
          <p:spPr>
            <a:xfrm flipH="1">
              <a:off x="5158368"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直線接點 179"/>
            <p:cNvCxnSpPr>
              <a:stCxn id="174" idx="5"/>
              <a:endCxn id="176" idx="0"/>
            </p:cNvCxnSpPr>
            <p:nvPr/>
          </p:nvCxnSpPr>
          <p:spPr>
            <a:xfrm>
              <a:off x="5930914" y="4959096"/>
              <a:ext cx="368962" cy="38313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81" name="橢圓 180"/>
              <p:cNvSpPr/>
              <p:nvPr/>
            </p:nvSpPr>
            <p:spPr>
              <a:xfrm>
                <a:off x="2821984" y="3573017"/>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181" name="橢圓 180"/>
              <p:cNvSpPr>
                <a:spLocks noRot="1" noChangeAspect="1" noMove="1" noResize="1" noEditPoints="1" noAdjustHandles="1" noChangeArrowheads="1" noChangeShapeType="1" noTextEdit="1"/>
              </p:cNvSpPr>
              <p:nvPr/>
            </p:nvSpPr>
            <p:spPr>
              <a:xfrm>
                <a:off x="2821984" y="3573017"/>
                <a:ext cx="233654" cy="244515"/>
              </a:xfrm>
              <a:prstGeom prst="ellipse">
                <a:avLst/>
              </a:prstGeom>
              <a:blipFill>
                <a:blip r:embed="rId12"/>
                <a:stretch>
                  <a:fillRect l="-32500" r="-10000" b="-14286"/>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82" name="橢圓 181"/>
              <p:cNvSpPr/>
              <p:nvPr/>
            </p:nvSpPr>
            <p:spPr>
              <a:xfrm>
                <a:off x="2233102" y="3969314"/>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182" name="橢圓 181"/>
              <p:cNvSpPr>
                <a:spLocks noRot="1" noChangeAspect="1" noMove="1" noResize="1" noEditPoints="1" noAdjustHandles="1" noChangeArrowheads="1" noChangeShapeType="1" noTextEdit="1"/>
              </p:cNvSpPr>
              <p:nvPr/>
            </p:nvSpPr>
            <p:spPr>
              <a:xfrm>
                <a:off x="2233102" y="3969314"/>
                <a:ext cx="233654" cy="244515"/>
              </a:xfrm>
              <a:prstGeom prst="ellipse">
                <a:avLst/>
              </a:prstGeom>
              <a:blipFill>
                <a:blip r:embed="rId13"/>
                <a:stretch>
                  <a:fillRect l="-34146" r="-9756" b="-19048"/>
                </a:stretch>
              </a:blipFill>
              <a:ln w="12700">
                <a:solidFill>
                  <a:schemeClr val="tx1"/>
                </a:solidFill>
              </a:ln>
            </p:spPr>
            <p:txBody>
              <a:bodyPr/>
              <a:lstStyle/>
              <a:p>
                <a:r>
                  <a:rPr lang="zh-TW" altLang="en-US">
                    <a:noFill/>
                  </a:rPr>
                  <a:t> </a:t>
                </a:r>
              </a:p>
            </p:txBody>
          </p:sp>
        </mc:Fallback>
      </mc:AlternateContent>
      <p:sp>
        <p:nvSpPr>
          <p:cNvPr id="183" name="橢圓 182"/>
          <p:cNvSpPr/>
          <p:nvPr/>
        </p:nvSpPr>
        <p:spPr>
          <a:xfrm>
            <a:off x="3410866" y="3969314"/>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mc:Choice xmlns:a14="http://schemas.microsoft.com/office/drawing/2010/main" Requires="a14">
          <p:sp>
            <p:nvSpPr>
              <p:cNvPr id="184" name="橢圓 183"/>
              <p:cNvSpPr/>
              <p:nvPr/>
            </p:nvSpPr>
            <p:spPr>
              <a:xfrm>
                <a:off x="1938661" y="4414195"/>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184" name="橢圓 183"/>
              <p:cNvSpPr>
                <a:spLocks noRot="1" noChangeAspect="1" noMove="1" noResize="1" noEditPoints="1" noAdjustHandles="1" noChangeArrowheads="1" noChangeShapeType="1" noTextEdit="1"/>
              </p:cNvSpPr>
              <p:nvPr/>
            </p:nvSpPr>
            <p:spPr>
              <a:xfrm>
                <a:off x="1938661" y="4414195"/>
                <a:ext cx="233654" cy="244515"/>
              </a:xfrm>
              <a:prstGeom prst="ellipse">
                <a:avLst/>
              </a:prstGeom>
              <a:blipFill>
                <a:blip r:embed="rId14"/>
                <a:stretch>
                  <a:fillRect l="-20000" b="-2381"/>
                </a:stretch>
              </a:blipFill>
              <a:ln w="12700">
                <a:solidFill>
                  <a:schemeClr val="tx1"/>
                </a:solidFill>
              </a:ln>
            </p:spPr>
            <p:txBody>
              <a:bodyPr/>
              <a:lstStyle/>
              <a:p>
                <a:r>
                  <a:rPr lang="zh-TW" altLang="en-US">
                    <a:noFill/>
                  </a:rPr>
                  <a:t> </a:t>
                </a:r>
              </a:p>
            </p:txBody>
          </p:sp>
        </mc:Fallback>
      </mc:AlternateContent>
      <p:sp>
        <p:nvSpPr>
          <p:cNvPr id="185" name="橢圓 184"/>
          <p:cNvSpPr/>
          <p:nvPr/>
        </p:nvSpPr>
        <p:spPr>
          <a:xfrm>
            <a:off x="2527543" y="4414195"/>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186" name="橢圓 185"/>
          <p:cNvSpPr/>
          <p:nvPr/>
        </p:nvSpPr>
        <p:spPr>
          <a:xfrm>
            <a:off x="3410866" y="4414196"/>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187" name="直線接點 186"/>
          <p:cNvCxnSpPr>
            <a:stCxn id="181" idx="3"/>
            <a:endCxn id="182" idx="0"/>
          </p:cNvCxnSpPr>
          <p:nvPr/>
        </p:nvCxnSpPr>
        <p:spPr>
          <a:xfrm flipH="1">
            <a:off x="2349930" y="3781723"/>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8" name="直線接點 187"/>
          <p:cNvCxnSpPr>
            <a:stCxn id="181" idx="5"/>
            <a:endCxn id="183" idx="0"/>
          </p:cNvCxnSpPr>
          <p:nvPr/>
        </p:nvCxnSpPr>
        <p:spPr>
          <a:xfrm>
            <a:off x="3021421" y="3781723"/>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線接點 193"/>
          <p:cNvCxnSpPr>
            <a:stCxn id="182" idx="3"/>
            <a:endCxn id="184" idx="0"/>
          </p:cNvCxnSpPr>
          <p:nvPr/>
        </p:nvCxnSpPr>
        <p:spPr>
          <a:xfrm flipH="1">
            <a:off x="2055488" y="4178020"/>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5" name="直線接點 194"/>
          <p:cNvCxnSpPr>
            <a:stCxn id="182" idx="5"/>
            <a:endCxn id="185" idx="0"/>
          </p:cNvCxnSpPr>
          <p:nvPr/>
        </p:nvCxnSpPr>
        <p:spPr>
          <a:xfrm>
            <a:off x="2432538" y="4178020"/>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線接點 195"/>
          <p:cNvCxnSpPr>
            <a:stCxn id="183" idx="4"/>
            <a:endCxn id="186" idx="0"/>
          </p:cNvCxnSpPr>
          <p:nvPr/>
        </p:nvCxnSpPr>
        <p:spPr>
          <a:xfrm>
            <a:off x="3527693" y="4213829"/>
            <a:ext cx="0" cy="2003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7" name="橢圓 196"/>
          <p:cNvSpPr/>
          <p:nvPr/>
        </p:nvSpPr>
        <p:spPr>
          <a:xfrm>
            <a:off x="4151784" y="4337879"/>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198" name="橢圓 197"/>
          <p:cNvSpPr/>
          <p:nvPr/>
        </p:nvSpPr>
        <p:spPr>
          <a:xfrm>
            <a:off x="4740666" y="4337879"/>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199" name="直線接點 198"/>
          <p:cNvCxnSpPr>
            <a:endCxn id="197" idx="0"/>
          </p:cNvCxnSpPr>
          <p:nvPr/>
        </p:nvCxnSpPr>
        <p:spPr>
          <a:xfrm flipH="1">
            <a:off x="4268612" y="4093834"/>
            <a:ext cx="220733"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線接點 199"/>
          <p:cNvCxnSpPr>
            <a:endCxn id="198" idx="0"/>
          </p:cNvCxnSpPr>
          <p:nvPr/>
        </p:nvCxnSpPr>
        <p:spPr>
          <a:xfrm>
            <a:off x="4697545" y="4093834"/>
            <a:ext cx="159948"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3" name="橢圓 202"/>
          <p:cNvSpPr/>
          <p:nvPr/>
        </p:nvSpPr>
        <p:spPr>
          <a:xfrm>
            <a:off x="1631504" y="4818135"/>
            <a:ext cx="292356" cy="30169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204" name="直線接點 203"/>
          <p:cNvCxnSpPr>
            <a:stCxn id="184" idx="3"/>
            <a:endCxn id="203" idx="0"/>
          </p:cNvCxnSpPr>
          <p:nvPr/>
        </p:nvCxnSpPr>
        <p:spPr>
          <a:xfrm flipH="1">
            <a:off x="1777683" y="4622902"/>
            <a:ext cx="195197" cy="195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5" name="橢圓 204"/>
          <p:cNvSpPr/>
          <p:nvPr/>
        </p:nvSpPr>
        <p:spPr>
          <a:xfrm>
            <a:off x="2167759" y="4824619"/>
            <a:ext cx="292356" cy="301693"/>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206" name="直線接點 205"/>
          <p:cNvCxnSpPr>
            <a:stCxn id="184" idx="5"/>
            <a:endCxn id="205" idx="0"/>
          </p:cNvCxnSpPr>
          <p:nvPr/>
        </p:nvCxnSpPr>
        <p:spPr>
          <a:xfrm>
            <a:off x="2138097" y="4622902"/>
            <a:ext cx="175840" cy="201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17" name="橢圓 216"/>
              <p:cNvSpPr/>
              <p:nvPr/>
            </p:nvSpPr>
            <p:spPr>
              <a:xfrm>
                <a:off x="2858473" y="5270062"/>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217" name="橢圓 216"/>
              <p:cNvSpPr>
                <a:spLocks noRot="1" noChangeAspect="1" noMove="1" noResize="1" noEditPoints="1" noAdjustHandles="1" noChangeArrowheads="1" noChangeShapeType="1" noTextEdit="1"/>
              </p:cNvSpPr>
              <p:nvPr/>
            </p:nvSpPr>
            <p:spPr>
              <a:xfrm>
                <a:off x="2858473" y="5270062"/>
                <a:ext cx="233654" cy="244515"/>
              </a:xfrm>
              <a:prstGeom prst="ellipse">
                <a:avLst/>
              </a:prstGeom>
              <a:blipFill>
                <a:blip r:embed="rId15"/>
                <a:stretch>
                  <a:fillRect l="-32500" r="-10000" b="-14286"/>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18" name="橢圓 217"/>
              <p:cNvSpPr/>
              <p:nvPr/>
            </p:nvSpPr>
            <p:spPr>
              <a:xfrm>
                <a:off x="2269591" y="5666359"/>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18" name="橢圓 217"/>
              <p:cNvSpPr>
                <a:spLocks noRot="1" noChangeAspect="1" noMove="1" noResize="1" noEditPoints="1" noAdjustHandles="1" noChangeArrowheads="1" noChangeShapeType="1" noTextEdit="1"/>
              </p:cNvSpPr>
              <p:nvPr/>
            </p:nvSpPr>
            <p:spPr>
              <a:xfrm>
                <a:off x="2269591" y="5666359"/>
                <a:ext cx="233654" cy="244515"/>
              </a:xfrm>
              <a:prstGeom prst="ellipse">
                <a:avLst/>
              </a:prstGeom>
              <a:blipFill>
                <a:blip r:embed="rId16"/>
                <a:stretch>
                  <a:fillRect l="-34146" r="-9756" b="-19048"/>
                </a:stretch>
              </a:blipFill>
              <a:ln w="12700">
                <a:solidFill>
                  <a:schemeClr val="tx1"/>
                </a:solidFill>
              </a:ln>
            </p:spPr>
            <p:txBody>
              <a:bodyPr/>
              <a:lstStyle/>
              <a:p>
                <a:r>
                  <a:rPr lang="zh-TW" altLang="en-US">
                    <a:noFill/>
                  </a:rPr>
                  <a:t> </a:t>
                </a:r>
              </a:p>
            </p:txBody>
          </p:sp>
        </mc:Fallback>
      </mc:AlternateContent>
      <p:sp>
        <p:nvSpPr>
          <p:cNvPr id="219" name="橢圓 218"/>
          <p:cNvSpPr/>
          <p:nvPr/>
        </p:nvSpPr>
        <p:spPr>
          <a:xfrm>
            <a:off x="3447355" y="5666359"/>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mc:Choice xmlns:a14="http://schemas.microsoft.com/office/drawing/2010/main" Requires="a14">
          <p:sp>
            <p:nvSpPr>
              <p:cNvPr id="220" name="橢圓 219"/>
              <p:cNvSpPr/>
              <p:nvPr/>
            </p:nvSpPr>
            <p:spPr>
              <a:xfrm>
                <a:off x="1975150" y="6111240"/>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220" name="橢圓 219"/>
              <p:cNvSpPr>
                <a:spLocks noRot="1" noChangeAspect="1" noMove="1" noResize="1" noEditPoints="1" noAdjustHandles="1" noChangeArrowheads="1" noChangeShapeType="1" noTextEdit="1"/>
              </p:cNvSpPr>
              <p:nvPr/>
            </p:nvSpPr>
            <p:spPr>
              <a:xfrm>
                <a:off x="1975150" y="6111240"/>
                <a:ext cx="233654" cy="244515"/>
              </a:xfrm>
              <a:prstGeom prst="ellipse">
                <a:avLst/>
              </a:prstGeom>
              <a:blipFill>
                <a:blip r:embed="rId17"/>
                <a:stretch>
                  <a:fillRect l="-20000"/>
                </a:stretch>
              </a:blipFill>
              <a:ln w="12700">
                <a:solidFill>
                  <a:schemeClr val="tx1"/>
                </a:solidFill>
              </a:ln>
            </p:spPr>
            <p:txBody>
              <a:bodyPr/>
              <a:lstStyle/>
              <a:p>
                <a:r>
                  <a:rPr lang="zh-TW" altLang="en-US">
                    <a:noFill/>
                  </a:rPr>
                  <a:t> </a:t>
                </a:r>
              </a:p>
            </p:txBody>
          </p:sp>
        </mc:Fallback>
      </mc:AlternateContent>
      <p:sp>
        <p:nvSpPr>
          <p:cNvPr id="221" name="橢圓 220"/>
          <p:cNvSpPr/>
          <p:nvPr/>
        </p:nvSpPr>
        <p:spPr>
          <a:xfrm>
            <a:off x="2564032" y="6111240"/>
            <a:ext cx="233654" cy="2445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222" name="橢圓 221"/>
          <p:cNvSpPr/>
          <p:nvPr/>
        </p:nvSpPr>
        <p:spPr>
          <a:xfrm>
            <a:off x="3447355" y="6111241"/>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223" name="直線接點 222"/>
          <p:cNvCxnSpPr>
            <a:stCxn id="217" idx="3"/>
            <a:endCxn id="218" idx="0"/>
          </p:cNvCxnSpPr>
          <p:nvPr/>
        </p:nvCxnSpPr>
        <p:spPr>
          <a:xfrm flipH="1">
            <a:off x="2386419" y="5478768"/>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線接點 223"/>
          <p:cNvCxnSpPr>
            <a:stCxn id="217" idx="5"/>
            <a:endCxn id="219" idx="0"/>
          </p:cNvCxnSpPr>
          <p:nvPr/>
        </p:nvCxnSpPr>
        <p:spPr>
          <a:xfrm>
            <a:off x="3057910" y="5478768"/>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線接點 224"/>
          <p:cNvCxnSpPr>
            <a:stCxn id="218" idx="3"/>
            <a:endCxn id="220" idx="0"/>
          </p:cNvCxnSpPr>
          <p:nvPr/>
        </p:nvCxnSpPr>
        <p:spPr>
          <a:xfrm flipH="1">
            <a:off x="2091977" y="5875065"/>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線接點 225"/>
          <p:cNvCxnSpPr>
            <a:stCxn id="218" idx="5"/>
            <a:endCxn id="221" idx="0"/>
          </p:cNvCxnSpPr>
          <p:nvPr/>
        </p:nvCxnSpPr>
        <p:spPr>
          <a:xfrm>
            <a:off x="2469027" y="5875065"/>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線接點 226"/>
          <p:cNvCxnSpPr>
            <a:stCxn id="219" idx="4"/>
            <a:endCxn id="222" idx="0"/>
          </p:cNvCxnSpPr>
          <p:nvPr/>
        </p:nvCxnSpPr>
        <p:spPr>
          <a:xfrm>
            <a:off x="3564182" y="5910874"/>
            <a:ext cx="0" cy="2003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8" name="橢圓 227"/>
          <p:cNvSpPr/>
          <p:nvPr/>
        </p:nvSpPr>
        <p:spPr>
          <a:xfrm>
            <a:off x="1667993" y="6515180"/>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cxnSp>
        <p:nvCxnSpPr>
          <p:cNvPr id="229" name="直線接點 228"/>
          <p:cNvCxnSpPr>
            <a:stCxn id="220" idx="3"/>
            <a:endCxn id="228" idx="0"/>
          </p:cNvCxnSpPr>
          <p:nvPr/>
        </p:nvCxnSpPr>
        <p:spPr>
          <a:xfrm flipH="1">
            <a:off x="1814172" y="6319947"/>
            <a:ext cx="195197" cy="195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橢圓 229"/>
          <p:cNvSpPr/>
          <p:nvPr/>
        </p:nvSpPr>
        <p:spPr>
          <a:xfrm>
            <a:off x="2204248" y="6521664"/>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231" name="直線接點 230"/>
          <p:cNvCxnSpPr>
            <a:stCxn id="220" idx="5"/>
            <a:endCxn id="230" idx="0"/>
          </p:cNvCxnSpPr>
          <p:nvPr/>
        </p:nvCxnSpPr>
        <p:spPr>
          <a:xfrm>
            <a:off x="2174586" y="6319947"/>
            <a:ext cx="175840" cy="201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91" name="群組 290"/>
          <p:cNvGrpSpPr/>
          <p:nvPr/>
        </p:nvGrpSpPr>
        <p:grpSpPr>
          <a:xfrm>
            <a:off x="8982730" y="3675905"/>
            <a:ext cx="1401921" cy="934102"/>
            <a:chOff x="3160728" y="3648624"/>
            <a:chExt cx="3424525" cy="2294130"/>
          </a:xfrm>
          <a:solidFill>
            <a:srgbClr val="00B050"/>
          </a:solidFill>
        </p:grpSpPr>
        <mc:AlternateContent xmlns:mc="http://schemas.openxmlformats.org/markup-compatibility/2006" xmlns:a14="http://schemas.microsoft.com/office/drawing/2010/main">
          <mc:Choice Requires="a14">
            <p:sp>
              <p:nvSpPr>
                <p:cNvPr id="292" name="橢圓 291"/>
                <p:cNvSpPr/>
                <p:nvPr/>
              </p:nvSpPr>
              <p:spPr>
                <a:xfrm>
                  <a:off x="4302236" y="3648624"/>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9"/>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3" name="橢圓 292"/>
                <p:cNvSpPr/>
                <p:nvPr/>
              </p:nvSpPr>
              <p:spPr>
                <a:xfrm>
                  <a:off x="3160728"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10"/>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94" name="橢圓 293"/>
                <p:cNvSpPr/>
                <p:nvPr/>
              </p:nvSpPr>
              <p:spPr>
                <a:xfrm>
                  <a:off x="5443745"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94" name="橢圓 293"/>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18"/>
                  <a:stretch>
                    <a:fillRect l="-30000" r="-7500" b="-14286"/>
                  </a:stretch>
                </a:blipFill>
                <a:ln w="12700">
                  <a:solidFill>
                    <a:schemeClr val="tx1"/>
                  </a:solidFill>
                </a:ln>
              </p:spPr>
              <p:txBody>
                <a:bodyPr/>
                <a:lstStyle/>
                <a:p>
                  <a:r>
                    <a:rPr lang="zh-TW" altLang="en-US">
                      <a:noFill/>
                    </a:rPr>
                    <a:t> </a:t>
                  </a:r>
                </a:p>
              </p:txBody>
            </p:sp>
          </mc:Fallback>
        </mc:AlternateContent>
        <p:sp>
          <p:nvSpPr>
            <p:cNvPr id="295" name="橢圓 294"/>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296" name="橢圓 295"/>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297" name="直線接點 296"/>
            <p:cNvCxnSpPr>
              <a:stCxn id="292" idx="3"/>
              <a:endCxn id="293"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8" name="直線接點 297"/>
            <p:cNvCxnSpPr>
              <a:stCxn id="292" idx="5"/>
              <a:endCxn id="294"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9" name="直線接點 298"/>
            <p:cNvCxnSpPr>
              <a:stCxn id="294" idx="3"/>
              <a:endCxn id="295"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線接點 299"/>
            <p:cNvCxnSpPr>
              <a:stCxn id="294" idx="5"/>
              <a:endCxn id="296"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01" name="橢圓 300"/>
              <p:cNvSpPr/>
              <p:nvPr/>
            </p:nvSpPr>
            <p:spPr>
              <a:xfrm>
                <a:off x="7358488" y="3603898"/>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301" name="橢圓 300"/>
              <p:cNvSpPr>
                <a:spLocks noRot="1" noChangeAspect="1" noMove="1" noResize="1" noEditPoints="1" noAdjustHandles="1" noChangeArrowheads="1" noChangeShapeType="1" noTextEdit="1"/>
              </p:cNvSpPr>
              <p:nvPr/>
            </p:nvSpPr>
            <p:spPr>
              <a:xfrm>
                <a:off x="7358488" y="3603898"/>
                <a:ext cx="233654" cy="244515"/>
              </a:xfrm>
              <a:prstGeom prst="ellipse">
                <a:avLst/>
              </a:prstGeom>
              <a:blipFill>
                <a:blip r:embed="rId19"/>
                <a:stretch>
                  <a:fillRect l="-32500" r="-10000" b="-14286"/>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02" name="橢圓 301"/>
              <p:cNvSpPr/>
              <p:nvPr/>
            </p:nvSpPr>
            <p:spPr>
              <a:xfrm>
                <a:off x="6769606" y="4000195"/>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302" name="橢圓 301"/>
              <p:cNvSpPr>
                <a:spLocks noRot="1" noChangeAspect="1" noMove="1" noResize="1" noEditPoints="1" noAdjustHandles="1" noChangeArrowheads="1" noChangeShapeType="1" noTextEdit="1"/>
              </p:cNvSpPr>
              <p:nvPr/>
            </p:nvSpPr>
            <p:spPr>
              <a:xfrm>
                <a:off x="6769606" y="4000195"/>
                <a:ext cx="233654" cy="244515"/>
              </a:xfrm>
              <a:prstGeom prst="ellipse">
                <a:avLst/>
              </a:prstGeom>
              <a:blipFill>
                <a:blip r:embed="rId20"/>
                <a:stretch>
                  <a:fillRect l="-34146" r="-9756" b="-19048"/>
                </a:stretch>
              </a:blipFill>
              <a:ln w="12700">
                <a:solidFill>
                  <a:schemeClr val="tx1"/>
                </a:solidFill>
              </a:ln>
            </p:spPr>
            <p:txBody>
              <a:bodyPr/>
              <a:lstStyle/>
              <a:p>
                <a:r>
                  <a:rPr lang="zh-TW" altLang="en-US">
                    <a:noFill/>
                  </a:rPr>
                  <a:t> </a:t>
                </a:r>
              </a:p>
            </p:txBody>
          </p:sp>
        </mc:Fallback>
      </mc:AlternateContent>
      <p:sp>
        <p:nvSpPr>
          <p:cNvPr id="303" name="橢圓 302"/>
          <p:cNvSpPr/>
          <p:nvPr/>
        </p:nvSpPr>
        <p:spPr>
          <a:xfrm>
            <a:off x="7947370" y="4000195"/>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mc:Choice xmlns:a14="http://schemas.microsoft.com/office/drawing/2010/main" Requires="a14">
          <p:sp>
            <p:nvSpPr>
              <p:cNvPr id="304" name="橢圓 303"/>
              <p:cNvSpPr/>
              <p:nvPr/>
            </p:nvSpPr>
            <p:spPr>
              <a:xfrm>
                <a:off x="6475165" y="4445076"/>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304" name="橢圓 303"/>
              <p:cNvSpPr>
                <a:spLocks noRot="1" noChangeAspect="1" noMove="1" noResize="1" noEditPoints="1" noAdjustHandles="1" noChangeArrowheads="1" noChangeShapeType="1" noTextEdit="1"/>
              </p:cNvSpPr>
              <p:nvPr/>
            </p:nvSpPr>
            <p:spPr>
              <a:xfrm>
                <a:off x="6475165" y="4445076"/>
                <a:ext cx="233654" cy="244515"/>
              </a:xfrm>
              <a:prstGeom prst="ellipse">
                <a:avLst/>
              </a:prstGeom>
              <a:blipFill>
                <a:blip r:embed="rId21"/>
                <a:stretch>
                  <a:fillRect l="-17073" b="-2381"/>
                </a:stretch>
              </a:blipFill>
              <a:ln w="12700">
                <a:solidFill>
                  <a:schemeClr val="tx1"/>
                </a:solidFill>
              </a:ln>
            </p:spPr>
            <p:txBody>
              <a:bodyPr/>
              <a:lstStyle/>
              <a:p>
                <a:r>
                  <a:rPr lang="zh-TW" altLang="en-US">
                    <a:noFill/>
                  </a:rPr>
                  <a:t> </a:t>
                </a:r>
              </a:p>
            </p:txBody>
          </p:sp>
        </mc:Fallback>
      </mc:AlternateContent>
      <p:sp>
        <p:nvSpPr>
          <p:cNvPr id="305" name="橢圓 304"/>
          <p:cNvSpPr/>
          <p:nvPr/>
        </p:nvSpPr>
        <p:spPr>
          <a:xfrm>
            <a:off x="7064047" y="4445076"/>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306" name="橢圓 305"/>
          <p:cNvSpPr/>
          <p:nvPr/>
        </p:nvSpPr>
        <p:spPr>
          <a:xfrm>
            <a:off x="7947370" y="4445077"/>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307" name="直線接點 306"/>
          <p:cNvCxnSpPr>
            <a:stCxn id="301" idx="3"/>
            <a:endCxn id="302" idx="0"/>
          </p:cNvCxnSpPr>
          <p:nvPr/>
        </p:nvCxnSpPr>
        <p:spPr>
          <a:xfrm flipH="1">
            <a:off x="6886434" y="3812604"/>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8" name="直線接點 307"/>
          <p:cNvCxnSpPr>
            <a:stCxn id="301" idx="5"/>
            <a:endCxn id="303" idx="0"/>
          </p:cNvCxnSpPr>
          <p:nvPr/>
        </p:nvCxnSpPr>
        <p:spPr>
          <a:xfrm>
            <a:off x="7557925" y="3812604"/>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9" name="直線接點 308"/>
          <p:cNvCxnSpPr>
            <a:stCxn id="302" idx="3"/>
            <a:endCxn id="304" idx="0"/>
          </p:cNvCxnSpPr>
          <p:nvPr/>
        </p:nvCxnSpPr>
        <p:spPr>
          <a:xfrm flipH="1">
            <a:off x="6591992" y="4208901"/>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0" name="直線接點 309"/>
          <p:cNvCxnSpPr>
            <a:stCxn id="302" idx="5"/>
            <a:endCxn id="305" idx="0"/>
          </p:cNvCxnSpPr>
          <p:nvPr/>
        </p:nvCxnSpPr>
        <p:spPr>
          <a:xfrm>
            <a:off x="6969042" y="4208901"/>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1" name="直線接點 310"/>
          <p:cNvCxnSpPr>
            <a:stCxn id="303" idx="4"/>
            <a:endCxn id="306" idx="0"/>
          </p:cNvCxnSpPr>
          <p:nvPr/>
        </p:nvCxnSpPr>
        <p:spPr>
          <a:xfrm>
            <a:off x="8064197" y="4244710"/>
            <a:ext cx="0" cy="2003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2" name="橢圓 311"/>
          <p:cNvSpPr/>
          <p:nvPr/>
        </p:nvSpPr>
        <p:spPr>
          <a:xfrm>
            <a:off x="8688288" y="4368760"/>
            <a:ext cx="233654" cy="244515"/>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313" name="橢圓 312"/>
          <p:cNvSpPr/>
          <p:nvPr/>
        </p:nvSpPr>
        <p:spPr>
          <a:xfrm>
            <a:off x="9277170" y="4368760"/>
            <a:ext cx="233654" cy="244515"/>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314" name="直線接點 313"/>
          <p:cNvCxnSpPr>
            <a:endCxn id="312" idx="0"/>
          </p:cNvCxnSpPr>
          <p:nvPr/>
        </p:nvCxnSpPr>
        <p:spPr>
          <a:xfrm flipH="1">
            <a:off x="8805116" y="4124715"/>
            <a:ext cx="220733"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線接點 314"/>
          <p:cNvCxnSpPr>
            <a:endCxn id="313" idx="0"/>
          </p:cNvCxnSpPr>
          <p:nvPr/>
        </p:nvCxnSpPr>
        <p:spPr>
          <a:xfrm>
            <a:off x="9234049" y="4124715"/>
            <a:ext cx="159948"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6" name="橢圓 315"/>
          <p:cNvSpPr/>
          <p:nvPr/>
        </p:nvSpPr>
        <p:spPr>
          <a:xfrm>
            <a:off x="6168008" y="4849016"/>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317" name="直線接點 316"/>
          <p:cNvCxnSpPr>
            <a:stCxn id="304" idx="3"/>
            <a:endCxn id="316" idx="0"/>
          </p:cNvCxnSpPr>
          <p:nvPr/>
        </p:nvCxnSpPr>
        <p:spPr>
          <a:xfrm flipH="1">
            <a:off x="6314187" y="4653783"/>
            <a:ext cx="195197" cy="195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18" name="橢圓 317"/>
          <p:cNvSpPr/>
          <p:nvPr/>
        </p:nvSpPr>
        <p:spPr>
          <a:xfrm>
            <a:off x="6704263" y="4855500"/>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319" name="直線接點 318"/>
          <p:cNvCxnSpPr>
            <a:stCxn id="304" idx="5"/>
            <a:endCxn id="318" idx="0"/>
          </p:cNvCxnSpPr>
          <p:nvPr/>
        </p:nvCxnSpPr>
        <p:spPr>
          <a:xfrm>
            <a:off x="6674601" y="4653783"/>
            <a:ext cx="175840" cy="201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20" name="文字方塊 319"/>
          <p:cNvSpPr txBox="1"/>
          <p:nvPr/>
        </p:nvSpPr>
        <p:spPr>
          <a:xfrm>
            <a:off x="7221280" y="3307408"/>
            <a:ext cx="590891" cy="265609"/>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321" name="文字方塊 320"/>
          <p:cNvSpPr txBox="1"/>
          <p:nvPr/>
        </p:nvSpPr>
        <p:spPr>
          <a:xfrm>
            <a:off x="9309512" y="3379416"/>
            <a:ext cx="632551" cy="265609"/>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grpSp>
        <p:nvGrpSpPr>
          <p:cNvPr id="322" name="群組 321"/>
          <p:cNvGrpSpPr/>
          <p:nvPr/>
        </p:nvGrpSpPr>
        <p:grpSpPr>
          <a:xfrm>
            <a:off x="6769607" y="5377923"/>
            <a:ext cx="1401921" cy="934102"/>
            <a:chOff x="3160728" y="3648624"/>
            <a:chExt cx="3424525" cy="2294130"/>
          </a:xfrm>
          <a:solidFill>
            <a:srgbClr val="00B050"/>
          </a:solidFill>
        </p:grpSpPr>
        <mc:AlternateContent xmlns:mc="http://schemas.openxmlformats.org/markup-compatibility/2006" xmlns:a14="http://schemas.microsoft.com/office/drawing/2010/main">
          <mc:Choice Requires="a14">
            <p:sp>
              <p:nvSpPr>
                <p:cNvPr id="323" name="橢圓 322"/>
                <p:cNvSpPr/>
                <p:nvPr/>
              </p:nvSpPr>
              <p:spPr>
                <a:xfrm>
                  <a:off x="4302236" y="3648624"/>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9"/>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4" name="橢圓 323"/>
                <p:cNvSpPr/>
                <p:nvPr/>
              </p:nvSpPr>
              <p:spPr>
                <a:xfrm>
                  <a:off x="3160728"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10"/>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5" name="橢圓 324"/>
                <p:cNvSpPr/>
                <p:nvPr/>
              </p:nvSpPr>
              <p:spPr>
                <a:xfrm>
                  <a:off x="5443745"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325" name="橢圓 324"/>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22"/>
                  <a:stretch>
                    <a:fillRect l="-30000" r="-7500" b="-11628"/>
                  </a:stretch>
                </a:blipFill>
                <a:ln w="12700">
                  <a:solidFill>
                    <a:schemeClr val="tx1"/>
                  </a:solidFill>
                </a:ln>
              </p:spPr>
              <p:txBody>
                <a:bodyPr/>
                <a:lstStyle/>
                <a:p>
                  <a:r>
                    <a:rPr lang="zh-TW" altLang="en-US">
                      <a:noFill/>
                    </a:rPr>
                    <a:t> </a:t>
                  </a:r>
                </a:p>
              </p:txBody>
            </p:sp>
          </mc:Fallback>
        </mc:AlternateContent>
        <p:sp>
          <p:nvSpPr>
            <p:cNvPr id="326" name="橢圓 325"/>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a</a:t>
              </a:r>
              <a:endParaRPr lang="zh-TW" altLang="en-US" sz="2000" dirty="0">
                <a:solidFill>
                  <a:schemeClr val="tx1"/>
                </a:solidFill>
              </a:endParaRPr>
            </a:p>
          </p:txBody>
        </p:sp>
        <p:sp>
          <p:nvSpPr>
            <p:cNvPr id="327" name="橢圓 326"/>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cxnSp>
          <p:nvCxnSpPr>
            <p:cNvPr id="328" name="直線接點 327"/>
            <p:cNvCxnSpPr>
              <a:stCxn id="323" idx="3"/>
              <a:endCxn id="324"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線接點 328"/>
            <p:cNvCxnSpPr>
              <a:stCxn id="323" idx="5"/>
              <a:endCxn id="325"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線接點 329"/>
            <p:cNvCxnSpPr>
              <a:stCxn id="325" idx="3"/>
              <a:endCxn id="326"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1" name="直線接點 330"/>
            <p:cNvCxnSpPr>
              <a:stCxn id="325" idx="5"/>
              <a:endCxn id="327"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32" name="橢圓 331"/>
              <p:cNvSpPr/>
              <p:nvPr/>
            </p:nvSpPr>
            <p:spPr>
              <a:xfrm>
                <a:off x="9510274" y="5245321"/>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p:sp>
            <p:nvSpPr>
              <p:cNvPr id="332" name="橢圓 331"/>
              <p:cNvSpPr>
                <a:spLocks noRot="1" noChangeAspect="1" noMove="1" noResize="1" noEditPoints="1" noAdjustHandles="1" noChangeArrowheads="1" noChangeShapeType="1" noTextEdit="1"/>
              </p:cNvSpPr>
              <p:nvPr/>
            </p:nvSpPr>
            <p:spPr>
              <a:xfrm>
                <a:off x="9510274" y="5245321"/>
                <a:ext cx="233654" cy="244515"/>
              </a:xfrm>
              <a:prstGeom prst="ellipse">
                <a:avLst/>
              </a:prstGeom>
              <a:blipFill>
                <a:blip r:embed="rId23"/>
                <a:stretch>
                  <a:fillRect l="-32500" r="-10000" b="-13953"/>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33" name="橢圓 332"/>
              <p:cNvSpPr/>
              <p:nvPr/>
            </p:nvSpPr>
            <p:spPr>
              <a:xfrm>
                <a:off x="8921392" y="5641618"/>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333" name="橢圓 332"/>
              <p:cNvSpPr>
                <a:spLocks noRot="1" noChangeAspect="1" noMove="1" noResize="1" noEditPoints="1" noAdjustHandles="1" noChangeArrowheads="1" noChangeShapeType="1" noTextEdit="1"/>
              </p:cNvSpPr>
              <p:nvPr/>
            </p:nvSpPr>
            <p:spPr>
              <a:xfrm>
                <a:off x="8921392" y="5641618"/>
                <a:ext cx="233654" cy="244515"/>
              </a:xfrm>
              <a:prstGeom prst="ellipse">
                <a:avLst/>
              </a:prstGeom>
              <a:blipFill>
                <a:blip r:embed="rId24"/>
                <a:stretch>
                  <a:fillRect l="-34146" r="-9756" b="-18605"/>
                </a:stretch>
              </a:blipFill>
              <a:ln w="12700">
                <a:solidFill>
                  <a:schemeClr val="tx1"/>
                </a:solidFill>
              </a:ln>
            </p:spPr>
            <p:txBody>
              <a:bodyPr/>
              <a:lstStyle/>
              <a:p>
                <a:r>
                  <a:rPr lang="zh-TW" altLang="en-US">
                    <a:noFill/>
                  </a:rPr>
                  <a:t> </a:t>
                </a:r>
              </a:p>
            </p:txBody>
          </p:sp>
        </mc:Fallback>
      </mc:AlternateContent>
      <p:sp>
        <p:nvSpPr>
          <p:cNvPr id="334" name="橢圓 333"/>
          <p:cNvSpPr/>
          <p:nvPr/>
        </p:nvSpPr>
        <p:spPr>
          <a:xfrm>
            <a:off x="10099156" y="5641618"/>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mc:Choice xmlns:a14="http://schemas.microsoft.com/office/drawing/2010/main" Requires="a14">
          <p:sp>
            <p:nvSpPr>
              <p:cNvPr id="335" name="橢圓 334"/>
              <p:cNvSpPr/>
              <p:nvPr/>
            </p:nvSpPr>
            <p:spPr>
              <a:xfrm>
                <a:off x="8626951" y="6086499"/>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p:sp>
            <p:nvSpPr>
              <p:cNvPr id="335" name="橢圓 334"/>
              <p:cNvSpPr>
                <a:spLocks noRot="1" noChangeAspect="1" noMove="1" noResize="1" noEditPoints="1" noAdjustHandles="1" noChangeArrowheads="1" noChangeShapeType="1" noTextEdit="1"/>
              </p:cNvSpPr>
              <p:nvPr/>
            </p:nvSpPr>
            <p:spPr>
              <a:xfrm>
                <a:off x="8626951" y="6086499"/>
                <a:ext cx="233654" cy="244515"/>
              </a:xfrm>
              <a:prstGeom prst="ellipse">
                <a:avLst/>
              </a:prstGeom>
              <a:blipFill>
                <a:blip r:embed="rId25"/>
                <a:stretch>
                  <a:fillRect l="-17073"/>
                </a:stretch>
              </a:blipFill>
              <a:ln w="12700">
                <a:solidFill>
                  <a:schemeClr val="tx1"/>
                </a:solidFill>
              </a:ln>
            </p:spPr>
            <p:txBody>
              <a:bodyPr/>
              <a:lstStyle/>
              <a:p>
                <a:r>
                  <a:rPr lang="zh-TW" altLang="en-US">
                    <a:noFill/>
                  </a:rPr>
                  <a:t> </a:t>
                </a:r>
              </a:p>
            </p:txBody>
          </p:sp>
        </mc:Fallback>
      </mc:AlternateContent>
      <p:sp>
        <p:nvSpPr>
          <p:cNvPr id="336" name="橢圓 335"/>
          <p:cNvSpPr/>
          <p:nvPr/>
        </p:nvSpPr>
        <p:spPr>
          <a:xfrm>
            <a:off x="9215833" y="6086499"/>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337" name="橢圓 336"/>
          <p:cNvSpPr/>
          <p:nvPr/>
        </p:nvSpPr>
        <p:spPr>
          <a:xfrm>
            <a:off x="10099156" y="6086500"/>
            <a:ext cx="233654" cy="244515"/>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338" name="直線接點 337"/>
          <p:cNvCxnSpPr>
            <a:stCxn id="332" idx="3"/>
            <a:endCxn id="333" idx="0"/>
          </p:cNvCxnSpPr>
          <p:nvPr/>
        </p:nvCxnSpPr>
        <p:spPr>
          <a:xfrm flipH="1">
            <a:off x="9038220" y="5454027"/>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9" name="直線接點 338"/>
          <p:cNvCxnSpPr>
            <a:stCxn id="332" idx="5"/>
            <a:endCxn id="334" idx="0"/>
          </p:cNvCxnSpPr>
          <p:nvPr/>
        </p:nvCxnSpPr>
        <p:spPr>
          <a:xfrm>
            <a:off x="9709711" y="5454027"/>
            <a:ext cx="506273" cy="18759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直線接點 339"/>
          <p:cNvCxnSpPr>
            <a:stCxn id="333" idx="3"/>
            <a:endCxn id="335" idx="0"/>
          </p:cNvCxnSpPr>
          <p:nvPr/>
        </p:nvCxnSpPr>
        <p:spPr>
          <a:xfrm flipH="1">
            <a:off x="8743778" y="5850324"/>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1" name="直線接點 340"/>
          <p:cNvCxnSpPr>
            <a:stCxn id="333" idx="5"/>
            <a:endCxn id="336" idx="0"/>
          </p:cNvCxnSpPr>
          <p:nvPr/>
        </p:nvCxnSpPr>
        <p:spPr>
          <a:xfrm>
            <a:off x="9120828" y="5850324"/>
            <a:ext cx="211832" cy="23617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線接點 341"/>
          <p:cNvCxnSpPr>
            <a:stCxn id="334" idx="4"/>
            <a:endCxn id="337" idx="0"/>
          </p:cNvCxnSpPr>
          <p:nvPr/>
        </p:nvCxnSpPr>
        <p:spPr>
          <a:xfrm>
            <a:off x="10215983" y="5886133"/>
            <a:ext cx="0" cy="20036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3" name="橢圓 342"/>
          <p:cNvSpPr/>
          <p:nvPr/>
        </p:nvSpPr>
        <p:spPr>
          <a:xfrm>
            <a:off x="6475165" y="6070778"/>
            <a:ext cx="233654" cy="244515"/>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sp>
        <p:nvSpPr>
          <p:cNvPr id="344" name="橢圓 343"/>
          <p:cNvSpPr/>
          <p:nvPr/>
        </p:nvSpPr>
        <p:spPr>
          <a:xfrm>
            <a:off x="7064047" y="6070778"/>
            <a:ext cx="233654" cy="244515"/>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c</a:t>
            </a:r>
            <a:endParaRPr lang="zh-TW" altLang="en-US" sz="2000" dirty="0">
              <a:solidFill>
                <a:schemeClr val="tx1"/>
              </a:solidFill>
            </a:endParaRPr>
          </a:p>
        </p:txBody>
      </p:sp>
      <p:cxnSp>
        <p:nvCxnSpPr>
          <p:cNvPr id="345" name="直線接點 344"/>
          <p:cNvCxnSpPr>
            <a:endCxn id="343" idx="0"/>
          </p:cNvCxnSpPr>
          <p:nvPr/>
        </p:nvCxnSpPr>
        <p:spPr>
          <a:xfrm flipH="1">
            <a:off x="6591993" y="5826733"/>
            <a:ext cx="220733"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6" name="直線接點 345"/>
          <p:cNvCxnSpPr>
            <a:endCxn id="344" idx="0"/>
          </p:cNvCxnSpPr>
          <p:nvPr/>
        </p:nvCxnSpPr>
        <p:spPr>
          <a:xfrm>
            <a:off x="7020926" y="5826733"/>
            <a:ext cx="159948" cy="2440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7" name="橢圓 346"/>
          <p:cNvSpPr/>
          <p:nvPr/>
        </p:nvSpPr>
        <p:spPr>
          <a:xfrm>
            <a:off x="8319794" y="6490439"/>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348" name="直線接點 347"/>
          <p:cNvCxnSpPr>
            <a:stCxn id="335" idx="3"/>
            <a:endCxn id="347" idx="0"/>
          </p:cNvCxnSpPr>
          <p:nvPr/>
        </p:nvCxnSpPr>
        <p:spPr>
          <a:xfrm flipH="1">
            <a:off x="8465973" y="6295206"/>
            <a:ext cx="195197" cy="19523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49" name="橢圓 348"/>
          <p:cNvSpPr/>
          <p:nvPr/>
        </p:nvSpPr>
        <p:spPr>
          <a:xfrm>
            <a:off x="8856049" y="6496923"/>
            <a:ext cx="292356" cy="301693"/>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350" name="直線接點 349"/>
          <p:cNvCxnSpPr>
            <a:stCxn id="335" idx="5"/>
            <a:endCxn id="349" idx="0"/>
          </p:cNvCxnSpPr>
          <p:nvPr/>
        </p:nvCxnSpPr>
        <p:spPr>
          <a:xfrm>
            <a:off x="8826387" y="6295206"/>
            <a:ext cx="175840" cy="20171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51" name="文字方塊 350"/>
          <p:cNvSpPr txBox="1"/>
          <p:nvPr/>
        </p:nvSpPr>
        <p:spPr>
          <a:xfrm>
            <a:off x="9359899" y="4941169"/>
            <a:ext cx="632551" cy="265609"/>
          </a:xfrm>
          <a:prstGeom prst="rect">
            <a:avLst/>
          </a:prstGeom>
          <a:noFill/>
        </p:spPr>
        <p:txBody>
          <a:bodyPr wrap="square" lIns="49679" tIns="24840" rIns="49679" bIns="24840" rtlCol="0">
            <a:spAutoFit/>
          </a:bodyPr>
          <a:lstStyle/>
          <a:p>
            <a:r>
              <a:rPr lang="en-US" altLang="zh-TW" sz="1400" dirty="0"/>
              <a:t>gene 2</a:t>
            </a:r>
            <a:endParaRPr lang="zh-TW" altLang="en-US" sz="1400" dirty="0"/>
          </a:p>
        </p:txBody>
      </p:sp>
      <p:sp>
        <p:nvSpPr>
          <p:cNvPr id="352" name="文字方塊 351"/>
          <p:cNvSpPr txBox="1"/>
          <p:nvPr/>
        </p:nvSpPr>
        <p:spPr>
          <a:xfrm>
            <a:off x="7124175" y="4982827"/>
            <a:ext cx="590891" cy="265609"/>
          </a:xfrm>
          <a:prstGeom prst="rect">
            <a:avLst/>
          </a:prstGeom>
          <a:noFill/>
        </p:spPr>
        <p:txBody>
          <a:bodyPr wrap="square" lIns="49679" tIns="24840" rIns="49679" bIns="24840" rtlCol="0">
            <a:spAutoFit/>
          </a:bodyPr>
          <a:lstStyle/>
          <a:p>
            <a:r>
              <a:rPr lang="en-US" altLang="zh-TW" sz="1400" dirty="0"/>
              <a:t>gene 1</a:t>
            </a:r>
            <a:endParaRPr lang="zh-TW" altLang="en-US" sz="1400" dirty="0"/>
          </a:p>
        </p:txBody>
      </p:sp>
      <p:sp>
        <p:nvSpPr>
          <p:cNvPr id="353" name="投影片編號版面配置區 4"/>
          <p:cNvSpPr>
            <a:spLocks noGrp="1"/>
          </p:cNvSpPr>
          <p:nvPr>
            <p:ph type="sldNum" sz="quarter" idx="12"/>
          </p:nvPr>
        </p:nvSpPr>
        <p:spPr>
          <a:xfrm>
            <a:off x="8077200" y="6356351"/>
            <a:ext cx="2133600" cy="365125"/>
          </a:xfrm>
        </p:spPr>
        <p:txBody>
          <a:bodyPr/>
          <a:lstStyle/>
          <a:p>
            <a:fld id="{73DA0BB7-265A-403C-9275-D587AB510EDC}" type="slidenum">
              <a:rPr lang="zh-TW" altLang="en-US" smtClean="0"/>
              <a:t>13</a:t>
            </a:fld>
            <a:endParaRPr lang="zh-TW" altLang="en-US" dirty="0"/>
          </a:p>
        </p:txBody>
      </p:sp>
    </p:spTree>
    <p:extLst>
      <p:ext uri="{BB962C8B-B14F-4D97-AF65-F5344CB8AC3E}">
        <p14:creationId xmlns:p14="http://schemas.microsoft.com/office/powerpoint/2010/main" val="25135815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文字方塊 122"/>
          <p:cNvSpPr txBox="1"/>
          <p:nvPr/>
        </p:nvSpPr>
        <p:spPr>
          <a:xfrm>
            <a:off x="5178306" y="323365"/>
            <a:ext cx="2642721" cy="646331"/>
          </a:xfrm>
          <a:prstGeom prst="rect">
            <a:avLst/>
          </a:prstGeom>
          <a:noFill/>
        </p:spPr>
        <p:txBody>
          <a:bodyPr wrap="square" rtlCol="0">
            <a:spAutoFit/>
          </a:bodyPr>
          <a:lstStyle/>
          <a:p>
            <a:r>
              <a:rPr lang="en-US" altLang="zh-TW" dirty="0"/>
              <a:t>Recombination (crossover)</a:t>
            </a:r>
          </a:p>
          <a:p>
            <a:r>
              <a:rPr lang="en-US" altLang="zh-TW" dirty="0"/>
              <a:t>(one-point)</a:t>
            </a:r>
            <a:endParaRPr lang="zh-TW" altLang="en-US" dirty="0"/>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t>14</a:t>
            </a:fld>
            <a:endParaRPr lang="zh-TW" altLang="en-US" dirty="0"/>
          </a:p>
        </p:txBody>
      </p:sp>
      <mc:AlternateContent xmlns:mc="http://schemas.openxmlformats.org/markup-compatibility/2006">
        <mc:Choice xmlns:a14="http://schemas.microsoft.com/office/drawing/2010/main" Requires="a14">
          <p:graphicFrame>
            <p:nvGraphicFramePr>
              <p:cNvPr id="113" name="內容版面配置區 3"/>
              <p:cNvGraphicFramePr>
                <a:graphicFrameLocks/>
              </p:cNvGraphicFramePr>
              <p:nvPr>
                <p:extLst/>
              </p:nvPr>
            </p:nvGraphicFramePr>
            <p:xfrm>
              <a:off x="1547908"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113" name="內容版面配置區 3"/>
              <p:cNvGraphicFramePr>
                <a:graphicFrameLocks/>
              </p:cNvGraphicFramePr>
              <p:nvPr>
                <p:extLst/>
              </p:nvPr>
            </p:nvGraphicFramePr>
            <p:xfrm>
              <a:off x="1547908"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57" t="-96970" r="-1900000"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2857" t="-96970" r="-1800000" b="-4545"/>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2857" t="-96970" r="-1600000" b="-4545"/>
                          </a:stretch>
                        </a:blip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0" t="-96970" r="-9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00000" t="-96970" r="-8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0000" t="-96970" r="-702857" b="-4545"/>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4" name="內容版面配置區 3"/>
              <p:cNvGraphicFramePr>
                <a:graphicFrameLocks/>
              </p:cNvGraphicFramePr>
              <p:nvPr>
                <p:extLst/>
              </p:nvPr>
            </p:nvGraphicFramePr>
            <p:xfrm>
              <a:off x="1547908"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&lt;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114" name="內容版面配置區 3"/>
              <p:cNvGraphicFramePr>
                <a:graphicFrameLocks/>
              </p:cNvGraphicFramePr>
              <p:nvPr>
                <p:extLst/>
              </p:nvPr>
            </p:nvGraphicFramePr>
            <p:xfrm>
              <a:off x="1547908"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57" t="-96970" r="-19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857" t="-96970" r="-18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2857" t="-96970" r="-1700000"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0" t="-96970" r="-9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00000"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00000" t="-96970" r="-702857" b="-3030"/>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7" name="內容版面配置區 3"/>
              <p:cNvGraphicFramePr>
                <a:graphicFrameLocks/>
              </p:cNvGraphicFramePr>
              <p:nvPr>
                <p:extLst/>
              </p:nvPr>
            </p:nvGraphicFramePr>
            <p:xfrm>
              <a:off x="6242768"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&lt;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117" name="內容版面配置區 3"/>
              <p:cNvGraphicFramePr>
                <a:graphicFrameLocks/>
              </p:cNvGraphicFramePr>
              <p:nvPr>
                <p:extLst/>
              </p:nvPr>
            </p:nvGraphicFramePr>
            <p:xfrm>
              <a:off x="6242768"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57" t="-96970" r="-1897143"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2857" t="-96970" r="-1797143"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2857" t="-96970" r="-1697143" b="-4545"/>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29412" t="-96970" r="-929412"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97143" t="-96970" r="-8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97143" t="-96970" r="-702857" b="-4545"/>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8" name="內容版面配置區 3"/>
              <p:cNvGraphicFramePr>
                <a:graphicFrameLocks/>
              </p:cNvGraphicFramePr>
              <p:nvPr>
                <p:extLst/>
              </p:nvPr>
            </p:nvGraphicFramePr>
            <p:xfrm>
              <a:off x="6242768"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118" name="內容版面配置區 3"/>
              <p:cNvGraphicFramePr>
                <a:graphicFrameLocks/>
              </p:cNvGraphicFramePr>
              <p:nvPr>
                <p:extLst/>
              </p:nvPr>
            </p:nvGraphicFramePr>
            <p:xfrm>
              <a:off x="6242768"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57" t="-96970" r="-1897143"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2857" t="-96970" r="-1797143"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311765" t="-96970" r="-1647059" b="-3030"/>
                          </a:stretch>
                        </a:blip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29412" t="-96970" r="-929412"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97143"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97143" t="-96970" r="-702857" b="-3030"/>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p:sp>
        <p:nvSpPr>
          <p:cNvPr id="119" name="文字方塊 118"/>
          <p:cNvSpPr txBox="1"/>
          <p:nvPr/>
        </p:nvSpPr>
        <p:spPr>
          <a:xfrm>
            <a:off x="2856213" y="620688"/>
            <a:ext cx="1653119" cy="369332"/>
          </a:xfrm>
          <a:prstGeom prst="rect">
            <a:avLst/>
          </a:prstGeom>
          <a:noFill/>
        </p:spPr>
        <p:txBody>
          <a:bodyPr wrap="square" rtlCol="0">
            <a:spAutoFit/>
          </a:bodyPr>
          <a:lstStyle/>
          <a:p>
            <a:pPr algn="ctr"/>
            <a:r>
              <a:rPr lang="en-US" altLang="zh-TW" dirty="0"/>
              <a:t>Chromosome 1</a:t>
            </a:r>
            <a:endParaRPr lang="zh-TW" altLang="en-US" dirty="0"/>
          </a:p>
        </p:txBody>
      </p:sp>
      <p:sp>
        <p:nvSpPr>
          <p:cNvPr id="120" name="文字方塊 119"/>
          <p:cNvSpPr txBox="1"/>
          <p:nvPr/>
        </p:nvSpPr>
        <p:spPr>
          <a:xfrm>
            <a:off x="2855641" y="2712066"/>
            <a:ext cx="1616827" cy="369332"/>
          </a:xfrm>
          <a:prstGeom prst="rect">
            <a:avLst/>
          </a:prstGeom>
          <a:noFill/>
        </p:spPr>
        <p:txBody>
          <a:bodyPr wrap="square" rtlCol="0">
            <a:spAutoFit/>
          </a:bodyPr>
          <a:lstStyle/>
          <a:p>
            <a:pPr algn="ctr"/>
            <a:r>
              <a:rPr lang="en-US" altLang="zh-TW" dirty="0"/>
              <a:t>Chromosome 2</a:t>
            </a:r>
            <a:endParaRPr lang="zh-TW" altLang="en-US" dirty="0"/>
          </a:p>
        </p:txBody>
      </p:sp>
      <p:cxnSp>
        <p:nvCxnSpPr>
          <p:cNvPr id="121" name="直線接點 120"/>
          <p:cNvCxnSpPr/>
          <p:nvPr/>
        </p:nvCxnSpPr>
        <p:spPr>
          <a:xfrm>
            <a:off x="2844052" y="971873"/>
            <a:ext cx="0" cy="1737047"/>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122" name="直線單箭頭接點 121"/>
          <p:cNvCxnSpPr/>
          <p:nvPr/>
        </p:nvCxnSpPr>
        <p:spPr>
          <a:xfrm>
            <a:off x="5169488" y="620688"/>
            <a:ext cx="157458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24" name="群組 123"/>
          <p:cNvGrpSpPr/>
          <p:nvPr/>
        </p:nvGrpSpPr>
        <p:grpSpPr>
          <a:xfrm>
            <a:off x="2775387" y="4138240"/>
            <a:ext cx="1269121" cy="802929"/>
            <a:chOff x="3160728" y="3648624"/>
            <a:chExt cx="3424525" cy="2294130"/>
          </a:xfrm>
          <a:noFill/>
        </p:grpSpPr>
        <mc:AlternateContent xmlns:mc="http://schemas.openxmlformats.org/markup-compatibility/2006" xmlns:a14="http://schemas.microsoft.com/office/drawing/2010/main">
          <mc:Choice Requires="a14">
            <p:sp>
              <p:nvSpPr>
                <p:cNvPr id="125" name="橢圓 124"/>
                <p:cNvSpPr/>
                <p:nvPr/>
              </p:nvSpPr>
              <p:spPr>
                <a:xfrm>
                  <a:off x="4302236" y="3648624"/>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6"/>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6" name="橢圓 125"/>
                <p:cNvSpPr/>
                <p:nvPr/>
              </p:nvSpPr>
              <p:spPr>
                <a:xfrm>
                  <a:off x="3160728"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7"/>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27" name="橢圓 126"/>
                <p:cNvSpPr/>
                <p:nvPr/>
              </p:nvSpPr>
              <p:spPr>
                <a:xfrm>
                  <a:off x="5443745"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20" name="橢圓 19"/>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8"/>
                  <a:stretch>
                    <a:fillRect l="-14000" b="-1961"/>
                  </a:stretch>
                </a:blipFill>
                <a:ln w="12700">
                  <a:solidFill>
                    <a:schemeClr val="tx1"/>
                  </a:solidFill>
                </a:ln>
              </p:spPr>
              <p:txBody>
                <a:bodyPr/>
                <a:lstStyle/>
                <a:p>
                  <a:r>
                    <a:rPr lang="zh-TW" altLang="en-US">
                      <a:noFill/>
                    </a:rPr>
                    <a:t> </a:t>
                  </a:r>
                </a:p>
              </p:txBody>
            </p:sp>
          </mc:Fallback>
        </mc:AlternateContent>
        <p:sp>
          <p:nvSpPr>
            <p:cNvPr id="128" name="橢圓 127"/>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129" name="橢圓 128"/>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130" name="直線接點 129"/>
            <p:cNvCxnSpPr>
              <a:stCxn id="125" idx="3"/>
              <a:endCxn id="126"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線接點 130"/>
            <p:cNvCxnSpPr>
              <a:stCxn id="125" idx="5"/>
              <a:endCxn id="127"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 name="直線接點 131"/>
            <p:cNvCxnSpPr>
              <a:stCxn id="127" idx="3"/>
              <a:endCxn id="128"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線接點 132"/>
            <p:cNvCxnSpPr>
              <a:stCxn id="127" idx="5"/>
              <a:endCxn id="129"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148" name="橢圓 147"/>
              <p:cNvSpPr/>
              <p:nvPr/>
            </p:nvSpPr>
            <p:spPr>
              <a:xfrm>
                <a:off x="3181642" y="5072349"/>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148" name="橢圓 147"/>
              <p:cNvSpPr>
                <a:spLocks noRot="1" noChangeAspect="1" noMove="1" noResize="1" noEditPoints="1" noAdjustHandles="1" noChangeArrowheads="1" noChangeShapeType="1" noTextEdit="1"/>
              </p:cNvSpPr>
              <p:nvPr/>
            </p:nvSpPr>
            <p:spPr>
              <a:xfrm>
                <a:off x="3181642" y="5072349"/>
                <a:ext cx="214340" cy="208241"/>
              </a:xfrm>
              <a:prstGeom prst="ellipse">
                <a:avLst/>
              </a:prstGeom>
              <a:blipFill>
                <a:blip r:embed="rId9"/>
                <a:stretch>
                  <a:fillRect l="-32432" r="-10811" b="-222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9" name="橢圓 148"/>
              <p:cNvSpPr/>
              <p:nvPr/>
            </p:nvSpPr>
            <p:spPr>
              <a:xfrm>
                <a:off x="2752963" y="5349033"/>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149" name="橢圓 148"/>
              <p:cNvSpPr>
                <a:spLocks noRot="1" noChangeAspect="1" noMove="1" noResize="1" noEditPoints="1" noAdjustHandles="1" noChangeArrowheads="1" noChangeShapeType="1" noTextEdit="1"/>
              </p:cNvSpPr>
              <p:nvPr/>
            </p:nvSpPr>
            <p:spPr>
              <a:xfrm>
                <a:off x="2752963" y="5349033"/>
                <a:ext cx="214340" cy="208241"/>
              </a:xfrm>
              <a:prstGeom prst="ellipse">
                <a:avLst/>
              </a:prstGeom>
              <a:blipFill>
                <a:blip r:embed="rId10"/>
                <a:stretch>
                  <a:fillRect l="-18919" b="-2703"/>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50" name="橢圓 149"/>
              <p:cNvSpPr/>
              <p:nvPr/>
            </p:nvSpPr>
            <p:spPr>
              <a:xfrm>
                <a:off x="3610322" y="5349033"/>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&lt;</m:t>
                      </m:r>
                    </m:oMath>
                  </m:oMathPara>
                </a14:m>
                <a:endParaRPr lang="en-US" altLang="zh-TW" dirty="0">
                  <a:solidFill>
                    <a:schemeClr val="tx1"/>
                  </a:solidFill>
                </a:endParaRPr>
              </a:p>
            </p:txBody>
          </p:sp>
        </mc:Choice>
        <mc:Fallback>
          <p:sp>
            <p:nvSpPr>
              <p:cNvPr id="150" name="橢圓 149"/>
              <p:cNvSpPr>
                <a:spLocks noRot="1" noChangeAspect="1" noMove="1" noResize="1" noEditPoints="1" noAdjustHandles="1" noChangeArrowheads="1" noChangeShapeType="1" noTextEdit="1"/>
              </p:cNvSpPr>
              <p:nvPr/>
            </p:nvSpPr>
            <p:spPr>
              <a:xfrm>
                <a:off x="3610322" y="5349033"/>
                <a:ext cx="214340" cy="208241"/>
              </a:xfrm>
              <a:prstGeom prst="ellipse">
                <a:avLst/>
              </a:prstGeom>
              <a:blipFill>
                <a:blip r:embed="rId11"/>
                <a:stretch>
                  <a:fillRect l="-32432" r="-8108" b="-18919"/>
                </a:stretch>
              </a:blipFill>
              <a:ln w="12700">
                <a:solidFill>
                  <a:schemeClr val="tx1"/>
                </a:solidFill>
              </a:ln>
            </p:spPr>
            <p:txBody>
              <a:bodyPr/>
              <a:lstStyle/>
              <a:p>
                <a:r>
                  <a:rPr lang="zh-TW" altLang="en-US">
                    <a:noFill/>
                  </a:rPr>
                  <a:t> </a:t>
                </a:r>
              </a:p>
            </p:txBody>
          </p:sp>
        </mc:Fallback>
      </mc:AlternateContent>
      <p:sp>
        <p:nvSpPr>
          <p:cNvPr id="151" name="橢圓 150"/>
          <p:cNvSpPr/>
          <p:nvPr/>
        </p:nvSpPr>
        <p:spPr>
          <a:xfrm>
            <a:off x="2538623" y="5659638"/>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152" name="橢圓 151"/>
          <p:cNvSpPr/>
          <p:nvPr/>
        </p:nvSpPr>
        <p:spPr>
          <a:xfrm>
            <a:off x="2967302" y="5659638"/>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e</a:t>
            </a:r>
            <a:endParaRPr lang="zh-TW" altLang="en-US" dirty="0">
              <a:solidFill>
                <a:schemeClr val="tx1"/>
              </a:solidFill>
            </a:endParaRPr>
          </a:p>
        </p:txBody>
      </p:sp>
      <p:sp>
        <p:nvSpPr>
          <p:cNvPr id="153" name="橢圓 152"/>
          <p:cNvSpPr/>
          <p:nvPr/>
        </p:nvSpPr>
        <p:spPr>
          <a:xfrm>
            <a:off x="3395982" y="5659638"/>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154" name="橢圓 153"/>
          <p:cNvSpPr/>
          <p:nvPr/>
        </p:nvSpPr>
        <p:spPr>
          <a:xfrm>
            <a:off x="3824661" y="5659638"/>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5</a:t>
            </a:r>
            <a:endParaRPr lang="zh-TW" altLang="en-US" dirty="0">
              <a:solidFill>
                <a:schemeClr val="tx1"/>
              </a:solidFill>
            </a:endParaRPr>
          </a:p>
        </p:txBody>
      </p:sp>
      <p:cxnSp>
        <p:nvCxnSpPr>
          <p:cNvPr id="155" name="直線接點 154"/>
          <p:cNvCxnSpPr>
            <a:stCxn id="148" idx="3"/>
            <a:endCxn id="149" idx="0"/>
          </p:cNvCxnSpPr>
          <p:nvPr/>
        </p:nvCxnSpPr>
        <p:spPr>
          <a:xfrm flipH="1">
            <a:off x="2860133" y="5250094"/>
            <a:ext cx="352898"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線接點 155"/>
          <p:cNvCxnSpPr>
            <a:stCxn id="148" idx="5"/>
            <a:endCxn id="150" idx="0"/>
          </p:cNvCxnSpPr>
          <p:nvPr/>
        </p:nvCxnSpPr>
        <p:spPr>
          <a:xfrm>
            <a:off x="3364593" y="5250094"/>
            <a:ext cx="352899"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線接點 156"/>
          <p:cNvCxnSpPr>
            <a:stCxn id="149" idx="3"/>
            <a:endCxn id="151" idx="0"/>
          </p:cNvCxnSpPr>
          <p:nvPr/>
        </p:nvCxnSpPr>
        <p:spPr>
          <a:xfrm flipH="1">
            <a:off x="2645794" y="5526779"/>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 name="直線接點 157"/>
          <p:cNvCxnSpPr>
            <a:stCxn id="149" idx="5"/>
            <a:endCxn id="152" idx="0"/>
          </p:cNvCxnSpPr>
          <p:nvPr/>
        </p:nvCxnSpPr>
        <p:spPr>
          <a:xfrm>
            <a:off x="2935913" y="5526779"/>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 name="直線接點 158"/>
          <p:cNvCxnSpPr>
            <a:stCxn id="150" idx="3"/>
            <a:endCxn id="153" idx="0"/>
          </p:cNvCxnSpPr>
          <p:nvPr/>
        </p:nvCxnSpPr>
        <p:spPr>
          <a:xfrm flipH="1">
            <a:off x="3503153" y="5526779"/>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直線接點 159"/>
          <p:cNvCxnSpPr>
            <a:stCxn id="150" idx="5"/>
            <a:endCxn id="154" idx="0"/>
          </p:cNvCxnSpPr>
          <p:nvPr/>
        </p:nvCxnSpPr>
        <p:spPr>
          <a:xfrm>
            <a:off x="3793272" y="5526779"/>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61" name="群組 160"/>
          <p:cNvGrpSpPr/>
          <p:nvPr/>
        </p:nvGrpSpPr>
        <p:grpSpPr>
          <a:xfrm>
            <a:off x="2534702" y="5860886"/>
            <a:ext cx="1500378" cy="795530"/>
            <a:chOff x="432371" y="426692"/>
            <a:chExt cx="2061087" cy="1139444"/>
          </a:xfrm>
        </p:grpSpPr>
        <mc:AlternateContent xmlns:mc="http://schemas.openxmlformats.org/markup-compatibility/2006" xmlns:a14="http://schemas.microsoft.com/office/drawing/2010/main">
          <mc:Choice Requires="a14">
            <p:sp>
              <p:nvSpPr>
                <p:cNvPr id="162" name="橢圓 161"/>
                <p:cNvSpPr/>
                <p:nvPr/>
              </p:nvSpPr>
              <p:spPr>
                <a:xfrm>
                  <a:off x="1315694" y="42669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83" name="橢圓 82"/>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15"/>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3" name="橢圓 162"/>
                <p:cNvSpPr/>
                <p:nvPr/>
              </p:nvSpPr>
              <p:spPr>
                <a:xfrm>
                  <a:off x="726812"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xmlns="">
            <p:sp>
              <p:nvSpPr>
                <p:cNvPr id="84" name="橢圓 83"/>
                <p:cNvSpPr>
                  <a:spLocks noRot="1" noChangeAspect="1" noMove="1" noResize="1" noEditPoints="1" noAdjustHandles="1" noChangeArrowheads="1" noChangeShapeType="1" noTextEdit="1"/>
                </p:cNvSpPr>
                <p:nvPr/>
              </p:nvSpPr>
              <p:spPr>
                <a:xfrm>
                  <a:off x="726812" y="822989"/>
                  <a:ext cx="294441" cy="298266"/>
                </a:xfrm>
                <a:prstGeom prst="ellipse">
                  <a:avLst/>
                </a:prstGeom>
                <a:blipFill rotWithShape="1">
                  <a:blip r:embed="rId16"/>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64" name="橢圓 163"/>
                <p:cNvSpPr/>
                <p:nvPr/>
              </p:nvSpPr>
              <p:spPr>
                <a:xfrm>
                  <a:off x="1904576"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85" name="橢圓 84"/>
                <p:cNvSpPr>
                  <a:spLocks noRot="1" noChangeAspect="1" noMove="1" noResize="1" noEditPoints="1" noAdjustHandles="1" noChangeArrowheads="1" noChangeShapeType="1" noTextEdit="1"/>
                </p:cNvSpPr>
                <p:nvPr/>
              </p:nvSpPr>
              <p:spPr>
                <a:xfrm>
                  <a:off x="1904576" y="822989"/>
                  <a:ext cx="294441" cy="298266"/>
                </a:xfrm>
                <a:prstGeom prst="ellipse">
                  <a:avLst/>
                </a:prstGeom>
                <a:blipFill rotWithShape="1">
                  <a:blip r:embed="rId17"/>
                  <a:stretch>
                    <a:fillRect/>
                  </a:stretch>
                </a:blipFill>
                <a:ln w="12700">
                  <a:solidFill>
                    <a:schemeClr val="tx1"/>
                  </a:solidFill>
                </a:ln>
              </p:spPr>
              <p:txBody>
                <a:bodyPr/>
                <a:lstStyle/>
                <a:p>
                  <a:r>
                    <a:rPr lang="zh-TW" altLang="en-US">
                      <a:noFill/>
                    </a:rPr>
                    <a:t> </a:t>
                  </a:r>
                </a:p>
              </p:txBody>
            </p:sp>
          </mc:Fallback>
        </mc:AlternateContent>
        <p:sp>
          <p:nvSpPr>
            <p:cNvPr id="165" name="橢圓 164"/>
            <p:cNvSpPr/>
            <p:nvPr/>
          </p:nvSpPr>
          <p:spPr>
            <a:xfrm>
              <a:off x="432371"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166" name="橢圓 165"/>
            <p:cNvSpPr/>
            <p:nvPr/>
          </p:nvSpPr>
          <p:spPr>
            <a:xfrm>
              <a:off x="1021253"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167" name="橢圓 166"/>
            <p:cNvSpPr/>
            <p:nvPr/>
          </p:nvSpPr>
          <p:spPr>
            <a:xfrm>
              <a:off x="1610135"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168" name="橢圓 167"/>
            <p:cNvSpPr/>
            <p:nvPr/>
          </p:nvSpPr>
          <p:spPr>
            <a:xfrm>
              <a:off x="2199017"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169" name="直線接點 168"/>
            <p:cNvCxnSpPr>
              <a:stCxn id="162" idx="3"/>
              <a:endCxn id="163"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線接點 169"/>
            <p:cNvCxnSpPr>
              <a:stCxn id="162" idx="5"/>
              <a:endCxn id="164"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直線接點 170"/>
            <p:cNvCxnSpPr>
              <a:stCxn id="163" idx="3"/>
              <a:endCxn id="165"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直線接點 171"/>
            <p:cNvCxnSpPr>
              <a:stCxn id="163" idx="5"/>
              <a:endCxn id="166"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直線接點 172"/>
            <p:cNvCxnSpPr>
              <a:stCxn id="164" idx="3"/>
              <a:endCxn id="167"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線接點 173"/>
            <p:cNvCxnSpPr>
              <a:stCxn id="164" idx="5"/>
              <a:endCxn id="168"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75" name="文字方塊 174"/>
          <p:cNvSpPr txBox="1"/>
          <p:nvPr/>
        </p:nvSpPr>
        <p:spPr>
          <a:xfrm>
            <a:off x="4316461" y="4024741"/>
            <a:ext cx="1615635" cy="369332"/>
          </a:xfrm>
          <a:prstGeom prst="rect">
            <a:avLst/>
          </a:prstGeom>
          <a:noFill/>
        </p:spPr>
        <p:txBody>
          <a:bodyPr wrap="none" rtlCol="0">
            <a:spAutoFit/>
          </a:bodyPr>
          <a:lstStyle/>
          <a:p>
            <a:r>
              <a:rPr lang="en-US" altLang="zh-TW" dirty="0"/>
              <a:t>Chromosome 1</a:t>
            </a:r>
            <a:endParaRPr lang="zh-TW" altLang="en-US" dirty="0"/>
          </a:p>
        </p:txBody>
      </p:sp>
      <p:sp>
        <p:nvSpPr>
          <p:cNvPr id="176" name="文字方塊 175"/>
          <p:cNvSpPr txBox="1"/>
          <p:nvPr/>
        </p:nvSpPr>
        <p:spPr>
          <a:xfrm>
            <a:off x="4316460" y="5841896"/>
            <a:ext cx="1615635" cy="369332"/>
          </a:xfrm>
          <a:prstGeom prst="rect">
            <a:avLst/>
          </a:prstGeom>
          <a:noFill/>
        </p:spPr>
        <p:txBody>
          <a:bodyPr wrap="none" rtlCol="0">
            <a:spAutoFit/>
          </a:bodyPr>
          <a:lstStyle/>
          <a:p>
            <a:r>
              <a:rPr lang="en-US" altLang="zh-TW" dirty="0"/>
              <a:t>Chromosome 2</a:t>
            </a:r>
            <a:endParaRPr lang="zh-TW" altLang="en-US" dirty="0"/>
          </a:p>
        </p:txBody>
      </p:sp>
      <p:grpSp>
        <p:nvGrpSpPr>
          <p:cNvPr id="177" name="群組 176"/>
          <p:cNvGrpSpPr/>
          <p:nvPr/>
        </p:nvGrpSpPr>
        <p:grpSpPr>
          <a:xfrm>
            <a:off x="7297344" y="4010351"/>
            <a:ext cx="1269121" cy="802929"/>
            <a:chOff x="3160728" y="3648624"/>
            <a:chExt cx="3424525" cy="2294130"/>
          </a:xfrm>
          <a:noFill/>
        </p:grpSpPr>
        <mc:AlternateContent xmlns:mc="http://schemas.openxmlformats.org/markup-compatibility/2006" xmlns:a14="http://schemas.microsoft.com/office/drawing/2010/main">
          <mc:Choice Requires="a14">
            <p:sp>
              <p:nvSpPr>
                <p:cNvPr id="178" name="橢圓 177"/>
                <p:cNvSpPr/>
                <p:nvPr/>
              </p:nvSpPr>
              <p:spPr>
                <a:xfrm>
                  <a:off x="4302236" y="3648624"/>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8" name="橢圓 17"/>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6"/>
                  <a:stretch>
                    <a:fillRect l="-12000" b="-1961"/>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79" name="橢圓 178"/>
                <p:cNvSpPr/>
                <p:nvPr/>
              </p:nvSpPr>
              <p:spPr>
                <a:xfrm>
                  <a:off x="3160728"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9" name="橢圓 18"/>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7"/>
                  <a:stretch>
                    <a:fillRect l="-19608" b="-13725"/>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0" name="橢圓 179"/>
                <p:cNvSpPr/>
                <p:nvPr/>
              </p:nvSpPr>
              <p:spPr>
                <a:xfrm>
                  <a:off x="5443745" y="4446519"/>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20" name="橢圓 19"/>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8"/>
                  <a:stretch>
                    <a:fillRect l="-14000" b="-1961"/>
                  </a:stretch>
                </a:blipFill>
                <a:ln w="12700">
                  <a:solidFill>
                    <a:schemeClr val="tx1"/>
                  </a:solidFill>
                </a:ln>
              </p:spPr>
              <p:txBody>
                <a:bodyPr/>
                <a:lstStyle/>
                <a:p>
                  <a:r>
                    <a:rPr lang="zh-TW" altLang="en-US">
                      <a:noFill/>
                    </a:rPr>
                    <a:t> </a:t>
                  </a:r>
                </a:p>
              </p:txBody>
            </p:sp>
          </mc:Fallback>
        </mc:AlternateContent>
        <p:sp>
          <p:nvSpPr>
            <p:cNvPr id="181" name="橢圓 180"/>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182" name="橢圓 181"/>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183" name="直線接點 182"/>
            <p:cNvCxnSpPr>
              <a:stCxn id="178" idx="3"/>
              <a:endCxn id="179"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線接點 183"/>
            <p:cNvCxnSpPr>
              <a:stCxn id="178" idx="5"/>
              <a:endCxn id="180"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線接點 184"/>
            <p:cNvCxnSpPr>
              <a:stCxn id="180" idx="3"/>
              <a:endCxn id="181"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6" name="直線接點 185"/>
            <p:cNvCxnSpPr>
              <a:stCxn id="180" idx="5"/>
              <a:endCxn id="182"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7" name="群組 186"/>
          <p:cNvGrpSpPr/>
          <p:nvPr/>
        </p:nvGrpSpPr>
        <p:grpSpPr>
          <a:xfrm>
            <a:off x="7129307" y="3229211"/>
            <a:ext cx="1440924" cy="795530"/>
            <a:chOff x="432371" y="426692"/>
            <a:chExt cx="2061087" cy="1139444"/>
          </a:xfrm>
        </p:grpSpPr>
        <mc:AlternateContent xmlns:mc="http://schemas.openxmlformats.org/markup-compatibility/2006" xmlns:a14="http://schemas.microsoft.com/office/drawing/2010/main">
          <mc:Choice Requires="a14">
            <p:sp>
              <p:nvSpPr>
                <p:cNvPr id="188" name="橢圓 187"/>
                <p:cNvSpPr/>
                <p:nvPr/>
              </p:nvSpPr>
              <p:spPr>
                <a:xfrm>
                  <a:off x="1315694" y="426692"/>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88" name="橢圓 187"/>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18"/>
                  <a:stretch>
                    <a:fillRect l="-38889" r="-8333" b="-25000"/>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89" name="橢圓 188"/>
                <p:cNvSpPr/>
                <p:nvPr/>
              </p:nvSpPr>
              <p:spPr>
                <a:xfrm>
                  <a:off x="726812" y="822989"/>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89" name="橢圓 188"/>
                <p:cNvSpPr>
                  <a:spLocks noRot="1" noChangeAspect="1" noMove="1" noResize="1" noEditPoints="1" noAdjustHandles="1" noChangeArrowheads="1" noChangeShapeType="1" noTextEdit="1"/>
                </p:cNvSpPr>
                <p:nvPr/>
              </p:nvSpPr>
              <p:spPr>
                <a:xfrm>
                  <a:off x="726812" y="822989"/>
                  <a:ext cx="294441" cy="298266"/>
                </a:xfrm>
                <a:prstGeom prst="ellipse">
                  <a:avLst/>
                </a:prstGeom>
                <a:blipFill rotWithShape="1">
                  <a:blip r:embed="rId19"/>
                  <a:stretch>
                    <a:fillRect l="-19444" b="-5556"/>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90" name="橢圓 189"/>
                <p:cNvSpPr/>
                <p:nvPr/>
              </p:nvSpPr>
              <p:spPr>
                <a:xfrm>
                  <a:off x="1904576" y="822989"/>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&lt;</m:t>
                        </m:r>
                      </m:oMath>
                    </m:oMathPara>
                  </a14:m>
                  <a:endParaRPr lang="en-US" altLang="zh-TW" dirty="0">
                    <a:solidFill>
                      <a:schemeClr val="tx1"/>
                    </a:solidFill>
                  </a:endParaRPr>
                </a:p>
              </p:txBody>
            </p:sp>
          </mc:Choice>
          <mc:Fallback xmlns="">
            <p:sp>
              <p:nvSpPr>
                <p:cNvPr id="190" name="橢圓 189"/>
                <p:cNvSpPr>
                  <a:spLocks noRot="1" noChangeAspect="1" noMove="1" noResize="1" noEditPoints="1" noAdjustHandles="1" noChangeArrowheads="1" noChangeShapeType="1" noTextEdit="1"/>
                </p:cNvSpPr>
                <p:nvPr/>
              </p:nvSpPr>
              <p:spPr>
                <a:xfrm>
                  <a:off x="1904576" y="822989"/>
                  <a:ext cx="294441" cy="298266"/>
                </a:xfrm>
                <a:prstGeom prst="ellipse">
                  <a:avLst/>
                </a:prstGeom>
                <a:blipFill rotWithShape="1">
                  <a:blip r:embed="rId20"/>
                  <a:stretch>
                    <a:fillRect l="-33333" r="-11111" b="-22222"/>
                  </a:stretch>
                </a:blipFill>
                <a:ln w="12700">
                  <a:solidFill>
                    <a:schemeClr val="tx1"/>
                  </a:solidFill>
                </a:ln>
              </p:spPr>
              <p:txBody>
                <a:bodyPr/>
                <a:lstStyle/>
                <a:p>
                  <a:r>
                    <a:rPr lang="zh-TW" altLang="en-US">
                      <a:noFill/>
                    </a:rPr>
                    <a:t> </a:t>
                  </a:r>
                </a:p>
              </p:txBody>
            </p:sp>
          </mc:Fallback>
        </mc:AlternateContent>
        <p:sp>
          <p:nvSpPr>
            <p:cNvPr id="191" name="橢圓 190"/>
            <p:cNvSpPr/>
            <p:nvPr/>
          </p:nvSpPr>
          <p:spPr>
            <a:xfrm>
              <a:off x="432371" y="1267870"/>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192" name="橢圓 191"/>
            <p:cNvSpPr/>
            <p:nvPr/>
          </p:nvSpPr>
          <p:spPr>
            <a:xfrm>
              <a:off x="1021253" y="1267870"/>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e</a:t>
              </a:r>
              <a:endParaRPr lang="zh-TW" altLang="en-US" dirty="0">
                <a:solidFill>
                  <a:schemeClr val="tx1"/>
                </a:solidFill>
              </a:endParaRPr>
            </a:p>
          </p:txBody>
        </p:sp>
        <p:sp>
          <p:nvSpPr>
            <p:cNvPr id="193" name="橢圓 192"/>
            <p:cNvSpPr/>
            <p:nvPr/>
          </p:nvSpPr>
          <p:spPr>
            <a:xfrm>
              <a:off x="1610135" y="1267870"/>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194" name="橢圓 193"/>
            <p:cNvSpPr/>
            <p:nvPr/>
          </p:nvSpPr>
          <p:spPr>
            <a:xfrm>
              <a:off x="2199017"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3</a:t>
              </a:r>
              <a:endParaRPr lang="zh-TW" altLang="en-US" dirty="0">
                <a:solidFill>
                  <a:schemeClr val="tx1"/>
                </a:solidFill>
              </a:endParaRPr>
            </a:p>
          </p:txBody>
        </p:sp>
        <p:cxnSp>
          <p:nvCxnSpPr>
            <p:cNvPr id="195" name="直線接點 194"/>
            <p:cNvCxnSpPr>
              <a:stCxn id="188" idx="3"/>
              <a:endCxn id="189"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直線接點 195"/>
            <p:cNvCxnSpPr>
              <a:stCxn id="188" idx="5"/>
              <a:endCxn id="190"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線接點 196"/>
            <p:cNvCxnSpPr>
              <a:stCxn id="189" idx="3"/>
              <a:endCxn id="191"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線接點 197"/>
            <p:cNvCxnSpPr>
              <a:stCxn id="189" idx="5"/>
              <a:endCxn id="192"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9" name="直線接點 198"/>
            <p:cNvCxnSpPr>
              <a:stCxn id="190" idx="3"/>
              <a:endCxn id="193"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0" name="直線接點 199"/>
            <p:cNvCxnSpPr>
              <a:stCxn id="190" idx="5"/>
              <a:endCxn id="194"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01" name="橢圓 200"/>
              <p:cNvSpPr/>
              <p:nvPr/>
            </p:nvSpPr>
            <p:spPr>
              <a:xfrm>
                <a:off x="7681641" y="4901416"/>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p:sp>
            <p:nvSpPr>
              <p:cNvPr id="201" name="橢圓 200"/>
              <p:cNvSpPr>
                <a:spLocks noRot="1" noChangeAspect="1" noMove="1" noResize="1" noEditPoints="1" noAdjustHandles="1" noChangeArrowheads="1" noChangeShapeType="1" noTextEdit="1"/>
              </p:cNvSpPr>
              <p:nvPr/>
            </p:nvSpPr>
            <p:spPr>
              <a:xfrm>
                <a:off x="7681641" y="4901416"/>
                <a:ext cx="214340" cy="208241"/>
              </a:xfrm>
              <a:prstGeom prst="ellipse">
                <a:avLst/>
              </a:prstGeom>
              <a:blipFill>
                <a:blip r:embed="rId21"/>
                <a:stretch>
                  <a:fillRect l="-32432" r="-8108" b="-222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02" name="橢圓 201"/>
              <p:cNvSpPr/>
              <p:nvPr/>
            </p:nvSpPr>
            <p:spPr>
              <a:xfrm>
                <a:off x="7252962" y="5178100"/>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02" name="橢圓 201"/>
              <p:cNvSpPr>
                <a:spLocks noRot="1" noChangeAspect="1" noMove="1" noResize="1" noEditPoints="1" noAdjustHandles="1" noChangeArrowheads="1" noChangeShapeType="1" noTextEdit="1"/>
              </p:cNvSpPr>
              <p:nvPr/>
            </p:nvSpPr>
            <p:spPr>
              <a:xfrm>
                <a:off x="7252962" y="5178100"/>
                <a:ext cx="214340" cy="208241"/>
              </a:xfrm>
              <a:prstGeom prst="ellipse">
                <a:avLst/>
              </a:prstGeom>
              <a:blipFill>
                <a:blip r:embed="rId22"/>
                <a:stretch>
                  <a:fillRect l="-32432" r="-10811" b="-21622"/>
                </a:stretch>
              </a:blipFill>
              <a:ln w="12700">
                <a:solidFill>
                  <a:schemeClr val="tx1"/>
                </a:solidFill>
              </a:ln>
            </p:spPr>
            <p:txBody>
              <a:bodyPr/>
              <a:lstStyle/>
              <a:p>
                <a:r>
                  <a:rPr lang="zh-TW" altLang="en-US">
                    <a:noFill/>
                  </a:rPr>
                  <a:t> </a:t>
                </a:r>
              </a:p>
            </p:txBody>
          </p:sp>
        </mc:Fallback>
      </mc:AlternateContent>
      <p:sp>
        <p:nvSpPr>
          <p:cNvPr id="203" name="橢圓 202"/>
          <p:cNvSpPr/>
          <p:nvPr/>
        </p:nvSpPr>
        <p:spPr>
          <a:xfrm>
            <a:off x="8110321" y="5178100"/>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a:t>
            </a:r>
          </a:p>
        </p:txBody>
      </p:sp>
      <mc:AlternateContent xmlns:mc="http://schemas.openxmlformats.org/markup-compatibility/2006">
        <mc:Choice xmlns:a14="http://schemas.microsoft.com/office/drawing/2010/main" Requires="a14">
          <p:sp>
            <p:nvSpPr>
              <p:cNvPr id="204" name="橢圓 203"/>
              <p:cNvSpPr/>
              <p:nvPr/>
            </p:nvSpPr>
            <p:spPr>
              <a:xfrm>
                <a:off x="7038622" y="5488705"/>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6794">
                  <a:defRPr/>
                </a:pP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04" name="橢圓 203"/>
              <p:cNvSpPr>
                <a:spLocks noRot="1" noChangeAspect="1" noMove="1" noResize="1" noEditPoints="1" noAdjustHandles="1" noChangeArrowheads="1" noChangeShapeType="1" noTextEdit="1"/>
              </p:cNvSpPr>
              <p:nvPr/>
            </p:nvSpPr>
            <p:spPr>
              <a:xfrm>
                <a:off x="7038622" y="5488705"/>
                <a:ext cx="214340" cy="208241"/>
              </a:xfrm>
              <a:prstGeom prst="ellipse">
                <a:avLst/>
              </a:prstGeom>
              <a:blipFill>
                <a:blip r:embed="rId23"/>
                <a:stretch>
                  <a:fillRect l="-18919"/>
                </a:stretch>
              </a:blipFill>
              <a:ln w="12700">
                <a:solidFill>
                  <a:schemeClr val="tx1"/>
                </a:solidFill>
              </a:ln>
            </p:spPr>
            <p:txBody>
              <a:bodyPr/>
              <a:lstStyle/>
              <a:p>
                <a:r>
                  <a:rPr lang="zh-TW" altLang="en-US">
                    <a:noFill/>
                  </a:rPr>
                  <a:t> </a:t>
                </a:r>
              </a:p>
            </p:txBody>
          </p:sp>
        </mc:Fallback>
      </mc:AlternateContent>
      <p:sp>
        <p:nvSpPr>
          <p:cNvPr id="205" name="橢圓 204"/>
          <p:cNvSpPr/>
          <p:nvPr/>
        </p:nvSpPr>
        <p:spPr>
          <a:xfrm>
            <a:off x="7467301" y="5488705"/>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sp>
        <p:nvSpPr>
          <p:cNvPr id="206" name="橢圓 205"/>
          <p:cNvSpPr/>
          <p:nvPr/>
        </p:nvSpPr>
        <p:spPr>
          <a:xfrm>
            <a:off x="8113908" y="5488705"/>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e</a:t>
            </a:r>
            <a:endParaRPr lang="zh-TW" altLang="en-US" dirty="0">
              <a:solidFill>
                <a:schemeClr val="tx1"/>
              </a:solidFill>
            </a:endParaRPr>
          </a:p>
        </p:txBody>
      </p:sp>
      <p:cxnSp>
        <p:nvCxnSpPr>
          <p:cNvPr id="208" name="直線接點 207"/>
          <p:cNvCxnSpPr>
            <a:stCxn id="201" idx="3"/>
            <a:endCxn id="202" idx="0"/>
          </p:cNvCxnSpPr>
          <p:nvPr/>
        </p:nvCxnSpPr>
        <p:spPr>
          <a:xfrm flipH="1">
            <a:off x="7360132" y="5079161"/>
            <a:ext cx="352898"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9" name="直線接點 208"/>
          <p:cNvCxnSpPr>
            <a:stCxn id="201" idx="5"/>
            <a:endCxn id="203" idx="0"/>
          </p:cNvCxnSpPr>
          <p:nvPr/>
        </p:nvCxnSpPr>
        <p:spPr>
          <a:xfrm>
            <a:off x="7864592" y="5079161"/>
            <a:ext cx="352899"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0" name="直線接點 209"/>
          <p:cNvCxnSpPr>
            <a:stCxn id="202" idx="3"/>
            <a:endCxn id="204" idx="0"/>
          </p:cNvCxnSpPr>
          <p:nvPr/>
        </p:nvCxnSpPr>
        <p:spPr>
          <a:xfrm flipH="1">
            <a:off x="7145793" y="5355846"/>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1" name="直線接點 210"/>
          <p:cNvCxnSpPr>
            <a:stCxn id="202" idx="5"/>
            <a:endCxn id="205" idx="0"/>
          </p:cNvCxnSpPr>
          <p:nvPr/>
        </p:nvCxnSpPr>
        <p:spPr>
          <a:xfrm>
            <a:off x="7435912" y="5355846"/>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2" name="直線接點 211"/>
          <p:cNvCxnSpPr>
            <a:stCxn id="203" idx="4"/>
            <a:endCxn id="206" idx="0"/>
          </p:cNvCxnSpPr>
          <p:nvPr/>
        </p:nvCxnSpPr>
        <p:spPr>
          <a:xfrm>
            <a:off x="8217492" y="5386340"/>
            <a:ext cx="3587" cy="1023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14" name="群組 213"/>
          <p:cNvGrpSpPr/>
          <p:nvPr/>
        </p:nvGrpSpPr>
        <p:grpSpPr>
          <a:xfrm>
            <a:off x="7070838" y="5873722"/>
            <a:ext cx="1500378" cy="795530"/>
            <a:chOff x="432371" y="426692"/>
            <a:chExt cx="2061087" cy="1139444"/>
          </a:xfrm>
        </p:grpSpPr>
        <mc:AlternateContent xmlns:mc="http://schemas.openxmlformats.org/markup-compatibility/2006" xmlns:a14="http://schemas.microsoft.com/office/drawing/2010/main">
          <mc:Choice Requires="a14">
            <p:sp>
              <p:nvSpPr>
                <p:cNvPr id="215" name="橢圓 214"/>
                <p:cNvSpPr/>
                <p:nvPr/>
              </p:nvSpPr>
              <p:spPr>
                <a:xfrm>
                  <a:off x="1315694" y="42669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39" name="橢圓 138"/>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24"/>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6" name="橢圓 215"/>
                <p:cNvSpPr/>
                <p:nvPr/>
              </p:nvSpPr>
              <p:spPr>
                <a:xfrm>
                  <a:off x="726812"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xmlns="">
            <p:sp>
              <p:nvSpPr>
                <p:cNvPr id="140" name="橢圓 139"/>
                <p:cNvSpPr>
                  <a:spLocks noRot="1" noChangeAspect="1" noMove="1" noResize="1" noEditPoints="1" noAdjustHandles="1" noChangeArrowheads="1" noChangeShapeType="1" noTextEdit="1"/>
                </p:cNvSpPr>
                <p:nvPr/>
              </p:nvSpPr>
              <p:spPr>
                <a:xfrm>
                  <a:off x="726812" y="822989"/>
                  <a:ext cx="294441" cy="298266"/>
                </a:xfrm>
                <a:prstGeom prst="ellipse">
                  <a:avLst/>
                </a:prstGeom>
                <a:blipFill rotWithShape="1">
                  <a:blip r:embed="rId25"/>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17" name="橢圓 216"/>
                <p:cNvSpPr/>
                <p:nvPr/>
              </p:nvSpPr>
              <p:spPr>
                <a:xfrm>
                  <a:off x="1904576"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41" name="橢圓 140"/>
                <p:cNvSpPr>
                  <a:spLocks noRot="1" noChangeAspect="1" noMove="1" noResize="1" noEditPoints="1" noAdjustHandles="1" noChangeArrowheads="1" noChangeShapeType="1" noTextEdit="1"/>
                </p:cNvSpPr>
                <p:nvPr/>
              </p:nvSpPr>
              <p:spPr>
                <a:xfrm>
                  <a:off x="1904576" y="822989"/>
                  <a:ext cx="294441" cy="298266"/>
                </a:xfrm>
                <a:prstGeom prst="ellipse">
                  <a:avLst/>
                </a:prstGeom>
                <a:blipFill rotWithShape="1">
                  <a:blip r:embed="rId26"/>
                  <a:stretch>
                    <a:fillRect/>
                  </a:stretch>
                </a:blipFill>
                <a:ln w="12700">
                  <a:solidFill>
                    <a:schemeClr val="tx1"/>
                  </a:solidFill>
                </a:ln>
              </p:spPr>
              <p:txBody>
                <a:bodyPr/>
                <a:lstStyle/>
                <a:p>
                  <a:r>
                    <a:rPr lang="zh-TW" altLang="en-US">
                      <a:noFill/>
                    </a:rPr>
                    <a:t> </a:t>
                  </a:r>
                </a:p>
              </p:txBody>
            </p:sp>
          </mc:Fallback>
        </mc:AlternateContent>
        <p:sp>
          <p:nvSpPr>
            <p:cNvPr id="218" name="橢圓 217"/>
            <p:cNvSpPr/>
            <p:nvPr/>
          </p:nvSpPr>
          <p:spPr>
            <a:xfrm>
              <a:off x="432371"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219" name="橢圓 218"/>
            <p:cNvSpPr/>
            <p:nvPr/>
          </p:nvSpPr>
          <p:spPr>
            <a:xfrm>
              <a:off x="1021253"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220" name="橢圓 219"/>
            <p:cNvSpPr/>
            <p:nvPr/>
          </p:nvSpPr>
          <p:spPr>
            <a:xfrm>
              <a:off x="1610135"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221" name="橢圓 220"/>
            <p:cNvSpPr/>
            <p:nvPr/>
          </p:nvSpPr>
          <p:spPr>
            <a:xfrm>
              <a:off x="2199017"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222" name="直線接點 221"/>
            <p:cNvCxnSpPr>
              <a:stCxn id="215" idx="3"/>
              <a:endCxn id="216"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3" name="直線接點 222"/>
            <p:cNvCxnSpPr>
              <a:stCxn id="215" idx="5"/>
              <a:endCxn id="217"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線接點 223"/>
            <p:cNvCxnSpPr>
              <a:stCxn id="216" idx="3"/>
              <a:endCxn id="218"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線接點 224"/>
            <p:cNvCxnSpPr>
              <a:stCxn id="216" idx="5"/>
              <a:endCxn id="219"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6" name="直線接點 225"/>
            <p:cNvCxnSpPr>
              <a:stCxn id="217" idx="3"/>
              <a:endCxn id="220"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線接點 226"/>
            <p:cNvCxnSpPr>
              <a:stCxn id="217" idx="5"/>
              <a:endCxn id="221"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8" name="文字方塊 227"/>
          <p:cNvSpPr txBox="1"/>
          <p:nvPr/>
        </p:nvSpPr>
        <p:spPr>
          <a:xfrm>
            <a:off x="8832305" y="3963998"/>
            <a:ext cx="1601721" cy="369332"/>
          </a:xfrm>
          <a:prstGeom prst="rect">
            <a:avLst/>
          </a:prstGeom>
          <a:noFill/>
        </p:spPr>
        <p:txBody>
          <a:bodyPr wrap="none" rtlCol="0">
            <a:spAutoFit/>
          </a:bodyPr>
          <a:lstStyle/>
          <a:p>
            <a:pPr algn="ctr"/>
            <a:r>
              <a:rPr lang="en-US" altLang="zh-TW" dirty="0"/>
              <a:t>Chromosome 1</a:t>
            </a:r>
            <a:endParaRPr lang="zh-TW" altLang="en-US" dirty="0"/>
          </a:p>
        </p:txBody>
      </p:sp>
      <p:sp>
        <p:nvSpPr>
          <p:cNvPr id="229" name="文字方塊 228"/>
          <p:cNvSpPr txBox="1"/>
          <p:nvPr/>
        </p:nvSpPr>
        <p:spPr>
          <a:xfrm>
            <a:off x="8787254" y="5916270"/>
            <a:ext cx="1691821" cy="369332"/>
          </a:xfrm>
          <a:prstGeom prst="rect">
            <a:avLst/>
          </a:prstGeom>
          <a:noFill/>
        </p:spPr>
        <p:txBody>
          <a:bodyPr wrap="square" rtlCol="0">
            <a:spAutoFit/>
          </a:bodyPr>
          <a:lstStyle/>
          <a:p>
            <a:pPr algn="ctr"/>
            <a:r>
              <a:rPr lang="en-US" altLang="zh-TW" dirty="0"/>
              <a:t>Chromosome 2</a:t>
            </a:r>
            <a:endParaRPr lang="zh-TW" altLang="en-US" dirty="0"/>
          </a:p>
        </p:txBody>
      </p:sp>
      <p:sp>
        <p:nvSpPr>
          <p:cNvPr id="232" name="橢圓 231"/>
          <p:cNvSpPr/>
          <p:nvPr/>
        </p:nvSpPr>
        <p:spPr>
          <a:xfrm>
            <a:off x="2570961" y="4714649"/>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233" name="橢圓 232"/>
          <p:cNvSpPr/>
          <p:nvPr/>
        </p:nvSpPr>
        <p:spPr>
          <a:xfrm>
            <a:off x="2982654" y="4714649"/>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cxnSp>
        <p:nvCxnSpPr>
          <p:cNvPr id="234" name="直線接點 233"/>
          <p:cNvCxnSpPr>
            <a:stCxn id="126" idx="3"/>
            <a:endCxn id="232" idx="0"/>
          </p:cNvCxnSpPr>
          <p:nvPr/>
        </p:nvCxnSpPr>
        <p:spPr>
          <a:xfrm flipH="1">
            <a:off x="2673884" y="4596895"/>
            <a:ext cx="132478" cy="1177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線接點 234"/>
          <p:cNvCxnSpPr>
            <a:stCxn id="126" idx="5"/>
            <a:endCxn id="233" idx="0"/>
          </p:cNvCxnSpPr>
          <p:nvPr/>
        </p:nvCxnSpPr>
        <p:spPr>
          <a:xfrm>
            <a:off x="2955931" y="4596895"/>
            <a:ext cx="129647" cy="11775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6" name="橢圓 235"/>
          <p:cNvSpPr/>
          <p:nvPr/>
        </p:nvSpPr>
        <p:spPr>
          <a:xfrm>
            <a:off x="7089565" y="4605037"/>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237" name="橢圓 236"/>
          <p:cNvSpPr/>
          <p:nvPr/>
        </p:nvSpPr>
        <p:spPr>
          <a:xfrm>
            <a:off x="7501258" y="4605037"/>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cxnSp>
        <p:nvCxnSpPr>
          <p:cNvPr id="238" name="直線接點 237"/>
          <p:cNvCxnSpPr>
            <a:endCxn id="236" idx="0"/>
          </p:cNvCxnSpPr>
          <p:nvPr/>
        </p:nvCxnSpPr>
        <p:spPr>
          <a:xfrm flipH="1">
            <a:off x="7192489" y="4472179"/>
            <a:ext cx="133068"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線接點 238"/>
          <p:cNvCxnSpPr>
            <a:endCxn id="237" idx="0"/>
          </p:cNvCxnSpPr>
          <p:nvPr/>
        </p:nvCxnSpPr>
        <p:spPr>
          <a:xfrm>
            <a:off x="7471113" y="4472179"/>
            <a:ext cx="13306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3" name="直線單箭頭接點 242"/>
          <p:cNvCxnSpPr/>
          <p:nvPr/>
        </p:nvCxnSpPr>
        <p:spPr>
          <a:xfrm>
            <a:off x="5279383" y="5229308"/>
            <a:ext cx="1688603"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5" name="文字方塊 244"/>
          <p:cNvSpPr txBox="1"/>
          <p:nvPr/>
        </p:nvSpPr>
        <p:spPr>
          <a:xfrm>
            <a:off x="7755250" y="620688"/>
            <a:ext cx="1653119" cy="369332"/>
          </a:xfrm>
          <a:prstGeom prst="rect">
            <a:avLst/>
          </a:prstGeom>
          <a:noFill/>
        </p:spPr>
        <p:txBody>
          <a:bodyPr wrap="square" rtlCol="0">
            <a:spAutoFit/>
          </a:bodyPr>
          <a:lstStyle/>
          <a:p>
            <a:pPr algn="ctr"/>
            <a:r>
              <a:rPr lang="en-US" altLang="zh-TW" dirty="0"/>
              <a:t>Chromosome 1</a:t>
            </a:r>
            <a:endParaRPr lang="zh-TW" altLang="en-US" dirty="0"/>
          </a:p>
        </p:txBody>
      </p:sp>
      <p:sp>
        <p:nvSpPr>
          <p:cNvPr id="246" name="文字方塊 245"/>
          <p:cNvSpPr txBox="1"/>
          <p:nvPr/>
        </p:nvSpPr>
        <p:spPr>
          <a:xfrm>
            <a:off x="7754678" y="2712066"/>
            <a:ext cx="1616827" cy="369332"/>
          </a:xfrm>
          <a:prstGeom prst="rect">
            <a:avLst/>
          </a:prstGeom>
          <a:noFill/>
        </p:spPr>
        <p:txBody>
          <a:bodyPr wrap="square" rtlCol="0">
            <a:spAutoFit/>
          </a:bodyPr>
          <a:lstStyle/>
          <a:p>
            <a:pPr algn="ctr"/>
            <a:r>
              <a:rPr lang="en-US" altLang="zh-TW" dirty="0"/>
              <a:t>Chromosome 2</a:t>
            </a:r>
            <a:endParaRPr lang="zh-TW" altLang="en-US" dirty="0"/>
          </a:p>
        </p:txBody>
      </p:sp>
      <p:cxnSp>
        <p:nvCxnSpPr>
          <p:cNvPr id="247" name="直線接點 246"/>
          <p:cNvCxnSpPr/>
          <p:nvPr/>
        </p:nvCxnSpPr>
        <p:spPr>
          <a:xfrm>
            <a:off x="7536160" y="971874"/>
            <a:ext cx="0" cy="1737047"/>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p:nvGrpSpPr>
          <p:cNvPr id="6" name="群組 5"/>
          <p:cNvGrpSpPr/>
          <p:nvPr/>
        </p:nvGrpSpPr>
        <p:grpSpPr>
          <a:xfrm>
            <a:off x="2308352" y="3033710"/>
            <a:ext cx="1484921" cy="1210748"/>
            <a:chOff x="2012299" y="3355555"/>
            <a:chExt cx="2073803" cy="1607046"/>
          </a:xfrm>
        </p:grpSpPr>
        <mc:AlternateContent xmlns:mc="http://schemas.openxmlformats.org/markup-compatibility/2006" xmlns:a14="http://schemas.microsoft.com/office/drawing/2010/main">
          <mc:Choice Requires="a14">
            <p:sp>
              <p:nvSpPr>
                <p:cNvPr id="230" name="橢圓 229"/>
                <p:cNvSpPr/>
                <p:nvPr/>
              </p:nvSpPr>
              <p:spPr>
                <a:xfrm>
                  <a:off x="3202779" y="3355555"/>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xmlns="">
            <p:sp>
              <p:nvSpPr>
                <p:cNvPr id="230" name="橢圓 229"/>
                <p:cNvSpPr>
                  <a:spLocks noRot="1" noChangeAspect="1" noMove="1" noResize="1" noEditPoints="1" noAdjustHandles="1" noChangeArrowheads="1" noChangeShapeType="1" noTextEdit="1"/>
                </p:cNvSpPr>
                <p:nvPr/>
              </p:nvSpPr>
              <p:spPr>
                <a:xfrm>
                  <a:off x="3202779" y="3355555"/>
                  <a:ext cx="294441" cy="298266"/>
                </a:xfrm>
                <a:prstGeom prst="ellipse">
                  <a:avLst/>
                </a:prstGeom>
                <a:blipFill rotWithShape="1">
                  <a:blip r:embed="rId27"/>
                  <a:stretch>
                    <a:fillRect l="-44444" r="-13889" b="-20513"/>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231" name="橢圓 230"/>
                <p:cNvSpPr/>
                <p:nvPr/>
              </p:nvSpPr>
              <p:spPr>
                <a:xfrm>
                  <a:off x="2613897" y="3751852"/>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31" name="橢圓 230"/>
                <p:cNvSpPr>
                  <a:spLocks noRot="1" noChangeAspect="1" noMove="1" noResize="1" noEditPoints="1" noAdjustHandles="1" noChangeArrowheads="1" noChangeShapeType="1" noTextEdit="1"/>
                </p:cNvSpPr>
                <p:nvPr/>
              </p:nvSpPr>
              <p:spPr>
                <a:xfrm>
                  <a:off x="2613897" y="3751852"/>
                  <a:ext cx="294441" cy="298266"/>
                </a:xfrm>
                <a:prstGeom prst="ellipse">
                  <a:avLst/>
                </a:prstGeom>
                <a:blipFill rotWithShape="1">
                  <a:blip r:embed="rId28"/>
                  <a:stretch>
                    <a:fillRect l="-43243" r="-16216" b="-28947"/>
                  </a:stretch>
                </a:blipFill>
                <a:ln w="12700">
                  <a:solidFill>
                    <a:schemeClr val="tx1"/>
                  </a:solidFill>
                </a:ln>
              </p:spPr>
              <p:txBody>
                <a:bodyPr/>
                <a:lstStyle/>
                <a:p>
                  <a:r>
                    <a:rPr lang="zh-TW" altLang="en-US">
                      <a:noFill/>
                    </a:rPr>
                    <a:t> </a:t>
                  </a:r>
                </a:p>
              </p:txBody>
            </p:sp>
          </mc:Fallback>
        </mc:AlternateContent>
        <p:sp>
          <p:nvSpPr>
            <p:cNvPr id="240" name="橢圓 239"/>
            <p:cNvSpPr/>
            <p:nvPr/>
          </p:nvSpPr>
          <p:spPr>
            <a:xfrm>
              <a:off x="3791661" y="3751852"/>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xmlns:a14="http://schemas.microsoft.com/office/drawing/2010/main">
          <mc:Choice Requires="a14">
            <p:sp>
              <p:nvSpPr>
                <p:cNvPr id="241" name="橢圓 240"/>
                <p:cNvSpPr/>
                <p:nvPr/>
              </p:nvSpPr>
              <p:spPr>
                <a:xfrm>
                  <a:off x="2319456" y="4196733"/>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241" name="橢圓 240"/>
                <p:cNvSpPr>
                  <a:spLocks noRot="1" noChangeAspect="1" noMove="1" noResize="1" noEditPoints="1" noAdjustHandles="1" noChangeArrowheads="1" noChangeShapeType="1" noTextEdit="1"/>
                </p:cNvSpPr>
                <p:nvPr/>
              </p:nvSpPr>
              <p:spPr>
                <a:xfrm>
                  <a:off x="2319456" y="4196733"/>
                  <a:ext cx="294441" cy="298266"/>
                </a:xfrm>
                <a:prstGeom prst="ellipse">
                  <a:avLst/>
                </a:prstGeom>
                <a:blipFill rotWithShape="1">
                  <a:blip r:embed="rId29"/>
                  <a:stretch>
                    <a:fillRect l="-27778" b="-10526"/>
                  </a:stretch>
                </a:blipFill>
                <a:ln w="12700">
                  <a:solidFill>
                    <a:schemeClr val="tx1"/>
                  </a:solidFill>
                </a:ln>
              </p:spPr>
              <p:txBody>
                <a:bodyPr/>
                <a:lstStyle/>
                <a:p>
                  <a:r>
                    <a:rPr lang="zh-TW" altLang="en-US">
                      <a:noFill/>
                    </a:rPr>
                    <a:t> </a:t>
                  </a:r>
                </a:p>
              </p:txBody>
            </p:sp>
          </mc:Fallback>
        </mc:AlternateContent>
        <p:sp>
          <p:nvSpPr>
            <p:cNvPr id="242" name="橢圓 241"/>
            <p:cNvSpPr/>
            <p:nvPr/>
          </p:nvSpPr>
          <p:spPr>
            <a:xfrm>
              <a:off x="2908338" y="4196733"/>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248" name="橢圓 247"/>
            <p:cNvSpPr/>
            <p:nvPr/>
          </p:nvSpPr>
          <p:spPr>
            <a:xfrm>
              <a:off x="3791661" y="4196734"/>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249" name="直線接點 248"/>
            <p:cNvCxnSpPr>
              <a:stCxn id="230" idx="3"/>
              <a:endCxn id="231" idx="0"/>
            </p:cNvCxnSpPr>
            <p:nvPr/>
          </p:nvCxnSpPr>
          <p:spPr>
            <a:xfrm flipH="1">
              <a:off x="2761117"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0" name="直線接點 249"/>
            <p:cNvCxnSpPr>
              <a:stCxn id="230" idx="5"/>
              <a:endCxn id="240" idx="0"/>
            </p:cNvCxnSpPr>
            <p:nvPr/>
          </p:nvCxnSpPr>
          <p:spPr>
            <a:xfrm>
              <a:off x="3454100"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1" name="直線接點 250"/>
            <p:cNvCxnSpPr>
              <a:stCxn id="231" idx="3"/>
              <a:endCxn id="241" idx="0"/>
            </p:cNvCxnSpPr>
            <p:nvPr/>
          </p:nvCxnSpPr>
          <p:spPr>
            <a:xfrm flipH="1">
              <a:off x="2466677" y="4006438"/>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2" name="直線接點 251"/>
            <p:cNvCxnSpPr>
              <a:stCxn id="231" idx="5"/>
              <a:endCxn id="242" idx="0"/>
            </p:cNvCxnSpPr>
            <p:nvPr/>
          </p:nvCxnSpPr>
          <p:spPr>
            <a:xfrm>
              <a:off x="2865218" y="4006438"/>
              <a:ext cx="190340" cy="190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3" name="直線接點 252"/>
            <p:cNvCxnSpPr>
              <a:stCxn id="240" idx="4"/>
              <a:endCxn id="248" idx="0"/>
            </p:cNvCxnSpPr>
            <p:nvPr/>
          </p:nvCxnSpPr>
          <p:spPr>
            <a:xfrm>
              <a:off x="3938882" y="4050118"/>
              <a:ext cx="0" cy="1466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4" name="橢圓 253"/>
            <p:cNvSpPr/>
            <p:nvPr/>
          </p:nvSpPr>
          <p:spPr>
            <a:xfrm>
              <a:off x="2012299" y="4588103"/>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255" name="直線接點 254"/>
            <p:cNvCxnSpPr>
              <a:stCxn id="241" idx="3"/>
              <a:endCxn id="254" idx="0"/>
            </p:cNvCxnSpPr>
            <p:nvPr/>
          </p:nvCxnSpPr>
          <p:spPr>
            <a:xfrm flipH="1">
              <a:off x="2196507" y="4451319"/>
              <a:ext cx="166069" cy="136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56" name="橢圓 255"/>
            <p:cNvSpPr/>
            <p:nvPr/>
          </p:nvSpPr>
          <p:spPr>
            <a:xfrm>
              <a:off x="2548554" y="4594587"/>
              <a:ext cx="368415" cy="368014"/>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257" name="直線接點 256"/>
            <p:cNvCxnSpPr>
              <a:stCxn id="241" idx="5"/>
              <a:endCxn id="256" idx="0"/>
            </p:cNvCxnSpPr>
            <p:nvPr/>
          </p:nvCxnSpPr>
          <p:spPr>
            <a:xfrm>
              <a:off x="2570777" y="4451319"/>
              <a:ext cx="161985" cy="143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8" name="橢圓 257"/>
          <p:cNvSpPr/>
          <p:nvPr/>
        </p:nvSpPr>
        <p:spPr>
          <a:xfrm>
            <a:off x="6832776" y="5813046"/>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5</a:t>
            </a:r>
            <a:endParaRPr lang="zh-TW" altLang="en-US" dirty="0">
              <a:solidFill>
                <a:schemeClr val="tx1"/>
              </a:solidFill>
            </a:endParaRPr>
          </a:p>
        </p:txBody>
      </p:sp>
      <p:sp>
        <p:nvSpPr>
          <p:cNvPr id="259" name="橢圓 258"/>
          <p:cNvSpPr/>
          <p:nvPr/>
        </p:nvSpPr>
        <p:spPr>
          <a:xfrm>
            <a:off x="7244469" y="5813046"/>
            <a:ext cx="205846" cy="20824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4</a:t>
            </a:r>
            <a:endParaRPr lang="zh-TW" altLang="en-US" dirty="0">
              <a:solidFill>
                <a:schemeClr val="tx1"/>
              </a:solidFill>
            </a:endParaRPr>
          </a:p>
        </p:txBody>
      </p:sp>
      <p:cxnSp>
        <p:nvCxnSpPr>
          <p:cNvPr id="260" name="直線接點 259"/>
          <p:cNvCxnSpPr>
            <a:stCxn id="204" idx="3"/>
            <a:endCxn id="258" idx="0"/>
          </p:cNvCxnSpPr>
          <p:nvPr/>
        </p:nvCxnSpPr>
        <p:spPr>
          <a:xfrm flipH="1">
            <a:off x="6935699" y="5666450"/>
            <a:ext cx="134312" cy="14659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1" name="直線接點 260"/>
          <p:cNvCxnSpPr>
            <a:stCxn id="204" idx="5"/>
            <a:endCxn id="259" idx="0"/>
          </p:cNvCxnSpPr>
          <p:nvPr/>
        </p:nvCxnSpPr>
        <p:spPr>
          <a:xfrm>
            <a:off x="7221574" y="5666450"/>
            <a:ext cx="125819" cy="14659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5729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投影片編號版面配置區 4"/>
          <p:cNvSpPr>
            <a:spLocks noGrp="1"/>
          </p:cNvSpPr>
          <p:nvPr>
            <p:ph type="sldNum" sz="quarter" idx="12"/>
          </p:nvPr>
        </p:nvSpPr>
        <p:spPr/>
        <p:txBody>
          <a:bodyPr/>
          <a:lstStyle/>
          <a:p>
            <a:fld id="{73DA0BB7-265A-403C-9275-D587AB510EDC}" type="slidenum">
              <a:rPr lang="zh-TW" altLang="en-US" smtClean="0"/>
              <a:t>15</a:t>
            </a:fld>
            <a:endParaRPr lang="zh-TW" altLang="en-US"/>
          </a:p>
        </p:txBody>
      </p:sp>
      <mc:AlternateContent xmlns:mc="http://schemas.openxmlformats.org/markup-compatibility/2006">
        <mc:Choice xmlns:a14="http://schemas.microsoft.com/office/drawing/2010/main" Requires="a14">
          <p:graphicFrame>
            <p:nvGraphicFramePr>
              <p:cNvPr id="254" name="內容版面配置區 3"/>
              <p:cNvGraphicFramePr>
                <a:graphicFrameLocks/>
              </p:cNvGraphicFramePr>
              <p:nvPr>
                <p:extLst/>
              </p:nvPr>
            </p:nvGraphicFramePr>
            <p:xfrm>
              <a:off x="1596331" y="1000206"/>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254" name="內容版面配置區 3"/>
              <p:cNvGraphicFramePr>
                <a:graphicFrameLocks/>
              </p:cNvGraphicFramePr>
              <p:nvPr>
                <p:extLst/>
              </p:nvPr>
            </p:nvGraphicFramePr>
            <p:xfrm>
              <a:off x="1596331" y="1000206"/>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857" t="-96970" r="-19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2857" t="-96970" r="-1800000"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302857" t="-96970" r="-1600000" b="-3030"/>
                          </a:stretch>
                        </a:blip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000000" t="-96970" r="-9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100000"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1200000" t="-96970" r="-702857" b="-3030"/>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255" name="內容版面配置區 3"/>
              <p:cNvGraphicFramePr>
                <a:graphicFrameLocks/>
              </p:cNvGraphicFramePr>
              <p:nvPr>
                <p:extLst/>
              </p:nvPr>
            </p:nvGraphicFramePr>
            <p:xfrm>
              <a:off x="1596331" y="193631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&lt;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255" name="內容版面配置區 3"/>
              <p:cNvGraphicFramePr>
                <a:graphicFrameLocks/>
              </p:cNvGraphicFramePr>
              <p:nvPr>
                <p:extLst/>
              </p:nvPr>
            </p:nvGraphicFramePr>
            <p:xfrm>
              <a:off x="1596331" y="193631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857" t="-96970" r="-1900000"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2857" t="-96970" r="-1800000"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02857" t="-96970" r="-1700000" b="-4545"/>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000000" t="-96970" r="-9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00000" t="-96970" r="-8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200000" t="-96970" r="-702857" b="-4545"/>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258" name="內容版面配置區 3"/>
              <p:cNvGraphicFramePr>
                <a:graphicFrameLocks/>
              </p:cNvGraphicFramePr>
              <p:nvPr>
                <p:extLst/>
              </p:nvPr>
            </p:nvGraphicFramePr>
            <p:xfrm>
              <a:off x="6240016"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&gt;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258" name="內容版面配置區 3"/>
              <p:cNvGraphicFramePr>
                <a:graphicFrameLocks/>
              </p:cNvGraphicFramePr>
              <p:nvPr>
                <p:extLst/>
              </p:nvPr>
            </p:nvGraphicFramePr>
            <p:xfrm>
              <a:off x="6240016" y="991350"/>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57" t="-96970" r="-1900000"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2857" t="-96970" r="-1800000" b="-4545"/>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S</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02857" t="-96970" r="-1600000" b="-4545"/>
                          </a:stretch>
                        </a:blip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0000" t="-96970" r="-9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100000" t="-96970" r="-802857" b="-4545"/>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200000" t="-96970" r="-702857" b="-4545"/>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a</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259" name="內容版面配置區 3"/>
              <p:cNvGraphicFramePr>
                <a:graphicFrameLocks/>
              </p:cNvGraphicFramePr>
              <p:nvPr>
                <p:extLst/>
              </p:nvPr>
            </p:nvGraphicFramePr>
            <p:xfrm>
              <a:off x="6240016"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&lt;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14:m>
                            <m:oMathPara xmlns:m="http://schemas.openxmlformats.org/officeDocument/2006/math">
                              <m:oMathParaPr>
                                <m:jc m:val="centerGroup"/>
                              </m:oMathParaPr>
                              <m:oMath xmlns:m="http://schemas.openxmlformats.org/officeDocument/2006/math">
                                <m:r>
                                  <a:rPr lang="en-US" altLang="zh-TW" sz="1400" b="0" i="1" smtClean="0">
                                    <a:solidFill>
                                      <a:schemeClr val="tx1"/>
                                    </a:solidFill>
                                    <a:latin typeface="Cambria Math"/>
                                  </a:rPr>
                                  <m:t>÷</m:t>
                                </m:r>
                              </m:oMath>
                            </m:oMathPara>
                          </a14:m>
                          <a:endParaRPr lang="en-US" altLang="zh-TW"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Choice>
        <mc:Fallback>
          <p:graphicFrame>
            <p:nvGraphicFramePr>
              <p:cNvPr id="259" name="內容版面配置區 3"/>
              <p:cNvGraphicFramePr>
                <a:graphicFrameLocks/>
              </p:cNvGraphicFramePr>
              <p:nvPr>
                <p:extLst/>
              </p:nvPr>
            </p:nvGraphicFramePr>
            <p:xfrm>
              <a:off x="6240016" y="1927454"/>
              <a:ext cx="4245720" cy="781466"/>
            </p:xfrm>
            <a:graphic>
              <a:graphicData uri="http://schemas.openxmlformats.org/drawingml/2006/table">
                <a:tbl>
                  <a:tblPr firstRow="1" bandRow="1">
                    <a:tableStyleId>{5C22544A-7EE6-4342-B048-85BDC9FD1C3A}</a:tableStyleId>
                  </a:tblPr>
                  <a:tblGrid>
                    <a:gridCol w="212286">
                      <a:extLst>
                        <a:ext uri="{9D8B030D-6E8A-4147-A177-3AD203B41FA5}">
                          <a16:colId xmlns:a16="http://schemas.microsoft.com/office/drawing/2014/main" val="20000"/>
                        </a:ext>
                      </a:extLst>
                    </a:gridCol>
                    <a:gridCol w="212286">
                      <a:extLst>
                        <a:ext uri="{9D8B030D-6E8A-4147-A177-3AD203B41FA5}">
                          <a16:colId xmlns:a16="http://schemas.microsoft.com/office/drawing/2014/main" val="20001"/>
                        </a:ext>
                      </a:extLst>
                    </a:gridCol>
                    <a:gridCol w="212286">
                      <a:extLst>
                        <a:ext uri="{9D8B030D-6E8A-4147-A177-3AD203B41FA5}">
                          <a16:colId xmlns:a16="http://schemas.microsoft.com/office/drawing/2014/main" val="20002"/>
                        </a:ext>
                      </a:extLst>
                    </a:gridCol>
                    <a:gridCol w="212286">
                      <a:extLst>
                        <a:ext uri="{9D8B030D-6E8A-4147-A177-3AD203B41FA5}">
                          <a16:colId xmlns:a16="http://schemas.microsoft.com/office/drawing/2014/main" val="20003"/>
                        </a:ext>
                      </a:extLst>
                    </a:gridCol>
                    <a:gridCol w="212286">
                      <a:extLst>
                        <a:ext uri="{9D8B030D-6E8A-4147-A177-3AD203B41FA5}">
                          <a16:colId xmlns:a16="http://schemas.microsoft.com/office/drawing/2014/main" val="20004"/>
                        </a:ext>
                      </a:extLst>
                    </a:gridCol>
                    <a:gridCol w="212286">
                      <a:extLst>
                        <a:ext uri="{9D8B030D-6E8A-4147-A177-3AD203B41FA5}">
                          <a16:colId xmlns:a16="http://schemas.microsoft.com/office/drawing/2014/main" val="20005"/>
                        </a:ext>
                      </a:extLst>
                    </a:gridCol>
                    <a:gridCol w="212286">
                      <a:extLst>
                        <a:ext uri="{9D8B030D-6E8A-4147-A177-3AD203B41FA5}">
                          <a16:colId xmlns:a16="http://schemas.microsoft.com/office/drawing/2014/main" val="20006"/>
                        </a:ext>
                      </a:extLst>
                    </a:gridCol>
                    <a:gridCol w="212286">
                      <a:extLst>
                        <a:ext uri="{9D8B030D-6E8A-4147-A177-3AD203B41FA5}">
                          <a16:colId xmlns:a16="http://schemas.microsoft.com/office/drawing/2014/main" val="20007"/>
                        </a:ext>
                      </a:extLst>
                    </a:gridCol>
                    <a:gridCol w="212286">
                      <a:extLst>
                        <a:ext uri="{9D8B030D-6E8A-4147-A177-3AD203B41FA5}">
                          <a16:colId xmlns:a16="http://schemas.microsoft.com/office/drawing/2014/main" val="20008"/>
                        </a:ext>
                      </a:extLst>
                    </a:gridCol>
                    <a:gridCol w="212286">
                      <a:extLst>
                        <a:ext uri="{9D8B030D-6E8A-4147-A177-3AD203B41FA5}">
                          <a16:colId xmlns:a16="http://schemas.microsoft.com/office/drawing/2014/main" val="20009"/>
                        </a:ext>
                      </a:extLst>
                    </a:gridCol>
                    <a:gridCol w="212286">
                      <a:extLst>
                        <a:ext uri="{9D8B030D-6E8A-4147-A177-3AD203B41FA5}">
                          <a16:colId xmlns:a16="http://schemas.microsoft.com/office/drawing/2014/main" val="20010"/>
                        </a:ext>
                      </a:extLst>
                    </a:gridCol>
                    <a:gridCol w="212286">
                      <a:extLst>
                        <a:ext uri="{9D8B030D-6E8A-4147-A177-3AD203B41FA5}">
                          <a16:colId xmlns:a16="http://schemas.microsoft.com/office/drawing/2014/main" val="20011"/>
                        </a:ext>
                      </a:extLst>
                    </a:gridCol>
                    <a:gridCol w="212286">
                      <a:extLst>
                        <a:ext uri="{9D8B030D-6E8A-4147-A177-3AD203B41FA5}">
                          <a16:colId xmlns:a16="http://schemas.microsoft.com/office/drawing/2014/main" val="20012"/>
                        </a:ext>
                      </a:extLst>
                    </a:gridCol>
                    <a:gridCol w="212286">
                      <a:extLst>
                        <a:ext uri="{9D8B030D-6E8A-4147-A177-3AD203B41FA5}">
                          <a16:colId xmlns:a16="http://schemas.microsoft.com/office/drawing/2014/main" val="20013"/>
                        </a:ext>
                      </a:extLst>
                    </a:gridCol>
                    <a:gridCol w="212286">
                      <a:extLst>
                        <a:ext uri="{9D8B030D-6E8A-4147-A177-3AD203B41FA5}">
                          <a16:colId xmlns:a16="http://schemas.microsoft.com/office/drawing/2014/main" val="20014"/>
                        </a:ext>
                      </a:extLst>
                    </a:gridCol>
                    <a:gridCol w="212286">
                      <a:extLst>
                        <a:ext uri="{9D8B030D-6E8A-4147-A177-3AD203B41FA5}">
                          <a16:colId xmlns:a16="http://schemas.microsoft.com/office/drawing/2014/main" val="20015"/>
                        </a:ext>
                      </a:extLst>
                    </a:gridCol>
                    <a:gridCol w="212286">
                      <a:extLst>
                        <a:ext uri="{9D8B030D-6E8A-4147-A177-3AD203B41FA5}">
                          <a16:colId xmlns:a16="http://schemas.microsoft.com/office/drawing/2014/main" val="20016"/>
                        </a:ext>
                      </a:extLst>
                    </a:gridCol>
                    <a:gridCol w="212286">
                      <a:extLst>
                        <a:ext uri="{9D8B030D-6E8A-4147-A177-3AD203B41FA5}">
                          <a16:colId xmlns:a16="http://schemas.microsoft.com/office/drawing/2014/main" val="20017"/>
                        </a:ext>
                      </a:extLst>
                    </a:gridCol>
                    <a:gridCol w="212286">
                      <a:extLst>
                        <a:ext uri="{9D8B030D-6E8A-4147-A177-3AD203B41FA5}">
                          <a16:colId xmlns:a16="http://schemas.microsoft.com/office/drawing/2014/main" val="20018"/>
                        </a:ext>
                      </a:extLst>
                    </a:gridCol>
                    <a:gridCol w="212286">
                      <a:extLst>
                        <a:ext uri="{9D8B030D-6E8A-4147-A177-3AD203B41FA5}">
                          <a16:colId xmlns:a16="http://schemas.microsoft.com/office/drawing/2014/main" val="20019"/>
                        </a:ext>
                      </a:extLst>
                    </a:gridCol>
                  </a:tblGrid>
                  <a:tr h="381383">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0</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1</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4</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5</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6</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7</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9</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00083">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857" t="-96970" r="-19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2857" t="-96970" r="-1800000"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02857" t="-96970" r="-1700000" b="-3030"/>
                          </a:stretch>
                        </a:blipFill>
                      </a:tcPr>
                    </a:tc>
                    <a:tc>
                      <a:txBody>
                        <a:bodyPr/>
                        <a:lstStyle/>
                        <a:p>
                          <a:pPr marL="0" marR="0" indent="0" algn="ctr" defTabSz="496794" rtl="0" eaLnBrk="1" fontAlgn="auto" latinLnBrk="0" hangingPunct="1">
                            <a:lnSpc>
                              <a:spcPct val="100000"/>
                            </a:lnSpc>
                            <a:spcBef>
                              <a:spcPts val="0"/>
                            </a:spcBef>
                            <a:spcAft>
                              <a:spcPts val="0"/>
                            </a:spcAft>
                            <a:buClrTx/>
                            <a:buSzTx/>
                            <a:buFontTx/>
                            <a:buNone/>
                            <a:tabLst/>
                            <a:defRPr/>
                          </a:pPr>
                          <a:r>
                            <a:rPr lang="en-US" altLang="zh-TW" sz="1400" b="0" dirty="0">
                              <a:solidFill>
                                <a:schemeClr val="tx1"/>
                              </a:solidFill>
                            </a:rPr>
                            <a:t>2</a:t>
                          </a: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e</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00000" t="-96970" r="-9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100000" t="-96970" r="-802857" b="-3030"/>
                          </a:stretch>
                        </a:blipFill>
                      </a:tcPr>
                    </a:tc>
                    <a:tc>
                      <a:txBody>
                        <a:bodyPr/>
                        <a:lstStyle/>
                        <a:p>
                          <a:endParaRPr lang="zh-TW"/>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200000" t="-96970" r="-702857" b="-3030"/>
                          </a:stretch>
                        </a:blip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2</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c</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d</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b</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3</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TW" sz="1400" b="0" dirty="0">
                              <a:solidFill>
                                <a:schemeClr val="tx1"/>
                              </a:solidFill>
                            </a:rPr>
                            <a:t>8</a:t>
                          </a:r>
                          <a:endParaRPr lang="zh-TW" altLang="en-US" sz="1400" b="0" dirty="0">
                            <a:solidFill>
                              <a:schemeClr val="tx1"/>
                            </a:solidFill>
                          </a:endParaRPr>
                        </a:p>
                      </a:txBody>
                      <a:tcPr marL="49193" marR="49193" marT="25199" marB="2519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mc:Fallback>
      </mc:AlternateContent>
      <p:cxnSp>
        <p:nvCxnSpPr>
          <p:cNvPr id="262" name="直線接點 261"/>
          <p:cNvCxnSpPr/>
          <p:nvPr/>
        </p:nvCxnSpPr>
        <p:spPr>
          <a:xfrm>
            <a:off x="2676451" y="980729"/>
            <a:ext cx="0" cy="1763961"/>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65" name="直線接點 264"/>
          <p:cNvCxnSpPr/>
          <p:nvPr/>
        </p:nvCxnSpPr>
        <p:spPr>
          <a:xfrm>
            <a:off x="4332635" y="980729"/>
            <a:ext cx="0" cy="1763961"/>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66" name="直線接點 265"/>
          <p:cNvCxnSpPr/>
          <p:nvPr/>
        </p:nvCxnSpPr>
        <p:spPr>
          <a:xfrm>
            <a:off x="7320136" y="980728"/>
            <a:ext cx="0" cy="1763961"/>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67" name="直線接點 266"/>
          <p:cNvCxnSpPr/>
          <p:nvPr/>
        </p:nvCxnSpPr>
        <p:spPr>
          <a:xfrm>
            <a:off x="8976320" y="980728"/>
            <a:ext cx="0" cy="1763961"/>
          </a:xfrm>
          <a:prstGeom prst="line">
            <a:avLst/>
          </a:prstGeom>
          <a:ln w="19050">
            <a:solidFill>
              <a:srgbClr val="FF0000"/>
            </a:solidFill>
            <a:prstDash val="sys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68" name="橢圓 267"/>
              <p:cNvSpPr/>
              <p:nvPr/>
            </p:nvSpPr>
            <p:spPr>
              <a:xfrm>
                <a:off x="3418192" y="4208311"/>
                <a:ext cx="211520" cy="210178"/>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68" name="橢圓 267"/>
              <p:cNvSpPr>
                <a:spLocks noRot="1" noChangeAspect="1" noMove="1" noResize="1" noEditPoints="1" noAdjustHandles="1" noChangeArrowheads="1" noChangeShapeType="1" noTextEdit="1"/>
              </p:cNvSpPr>
              <p:nvPr/>
            </p:nvSpPr>
            <p:spPr>
              <a:xfrm>
                <a:off x="3418192" y="4208311"/>
                <a:ext cx="211520" cy="210178"/>
              </a:xfrm>
              <a:prstGeom prst="ellipse">
                <a:avLst/>
              </a:prstGeom>
              <a:blipFill>
                <a:blip r:embed="rId6"/>
                <a:stretch>
                  <a:fillRect l="-30556" r="-5556" b="-13514"/>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69" name="橢圓 268"/>
              <p:cNvSpPr/>
              <p:nvPr/>
            </p:nvSpPr>
            <p:spPr>
              <a:xfrm>
                <a:off x="2995152" y="4487569"/>
                <a:ext cx="211520" cy="210178"/>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69" name="橢圓 268"/>
              <p:cNvSpPr>
                <a:spLocks noRot="1" noChangeAspect="1" noMove="1" noResize="1" noEditPoints="1" noAdjustHandles="1" noChangeArrowheads="1" noChangeShapeType="1" noTextEdit="1"/>
              </p:cNvSpPr>
              <p:nvPr/>
            </p:nvSpPr>
            <p:spPr>
              <a:xfrm>
                <a:off x="2995152" y="4487569"/>
                <a:ext cx="211520" cy="210178"/>
              </a:xfrm>
              <a:prstGeom prst="ellipse">
                <a:avLst/>
              </a:prstGeom>
              <a:blipFill>
                <a:blip r:embed="rId7"/>
                <a:stretch>
                  <a:fillRect l="-35135" r="-13514" b="-24324"/>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70" name="橢圓 269"/>
              <p:cNvSpPr/>
              <p:nvPr/>
            </p:nvSpPr>
            <p:spPr>
              <a:xfrm>
                <a:off x="3841233" y="4487569"/>
                <a:ext cx="211520" cy="210178"/>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70" name="橢圓 269"/>
              <p:cNvSpPr>
                <a:spLocks noRot="1" noChangeAspect="1" noMove="1" noResize="1" noEditPoints="1" noAdjustHandles="1" noChangeArrowheads="1" noChangeShapeType="1" noTextEdit="1"/>
              </p:cNvSpPr>
              <p:nvPr/>
            </p:nvSpPr>
            <p:spPr>
              <a:xfrm>
                <a:off x="3841233" y="4487569"/>
                <a:ext cx="211520" cy="210178"/>
              </a:xfrm>
              <a:prstGeom prst="ellipse">
                <a:avLst/>
              </a:prstGeom>
              <a:blipFill>
                <a:blip r:embed="rId8"/>
                <a:stretch>
                  <a:fillRect l="-27027" r="-2703" b="-10811"/>
                </a:stretch>
              </a:blipFill>
              <a:ln w="12700">
                <a:solidFill>
                  <a:schemeClr val="tx1"/>
                </a:solidFill>
              </a:ln>
            </p:spPr>
            <p:txBody>
              <a:bodyPr/>
              <a:lstStyle/>
              <a:p>
                <a:r>
                  <a:rPr lang="zh-TW" altLang="en-US">
                    <a:noFill/>
                  </a:rPr>
                  <a:t> </a:t>
                </a:r>
              </a:p>
            </p:txBody>
          </p:sp>
        </mc:Fallback>
      </mc:AlternateContent>
      <p:sp>
        <p:nvSpPr>
          <p:cNvPr id="271" name="橢圓 270"/>
          <p:cNvSpPr/>
          <p:nvPr/>
        </p:nvSpPr>
        <p:spPr>
          <a:xfrm>
            <a:off x="3629713" y="4801062"/>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272" name="橢圓 271"/>
          <p:cNvSpPr/>
          <p:nvPr/>
        </p:nvSpPr>
        <p:spPr>
          <a:xfrm>
            <a:off x="4052753" y="4801062"/>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273" name="直線接點 272"/>
          <p:cNvCxnSpPr>
            <a:stCxn id="268" idx="3"/>
            <a:endCxn id="269" idx="0"/>
          </p:cNvCxnSpPr>
          <p:nvPr/>
        </p:nvCxnSpPr>
        <p:spPr>
          <a:xfrm flipH="1">
            <a:off x="3100913" y="4387709"/>
            <a:ext cx="348257" cy="99860"/>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4" name="直線接點 273"/>
          <p:cNvCxnSpPr>
            <a:stCxn id="268" idx="5"/>
            <a:endCxn id="270" idx="0"/>
          </p:cNvCxnSpPr>
          <p:nvPr/>
        </p:nvCxnSpPr>
        <p:spPr>
          <a:xfrm>
            <a:off x="3598737" y="4387709"/>
            <a:ext cx="348257" cy="99860"/>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5" name="直線接點 274"/>
          <p:cNvCxnSpPr>
            <a:stCxn id="270" idx="3"/>
            <a:endCxn id="271" idx="0"/>
          </p:cNvCxnSpPr>
          <p:nvPr/>
        </p:nvCxnSpPr>
        <p:spPr>
          <a:xfrm flipH="1">
            <a:off x="3735473" y="4666968"/>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6" name="直線接點 275"/>
          <p:cNvCxnSpPr>
            <a:stCxn id="270" idx="5"/>
            <a:endCxn id="272" idx="0"/>
          </p:cNvCxnSpPr>
          <p:nvPr/>
        </p:nvCxnSpPr>
        <p:spPr>
          <a:xfrm>
            <a:off x="4021776" y="4666968"/>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2" name="橢圓 291"/>
              <p:cNvSpPr/>
              <p:nvPr/>
            </p:nvSpPr>
            <p:spPr>
              <a:xfrm>
                <a:off x="3430572" y="5085293"/>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92" name="橢圓 291"/>
              <p:cNvSpPr>
                <a:spLocks noRot="1" noChangeAspect="1" noMove="1" noResize="1" noEditPoints="1" noAdjustHandles="1" noChangeArrowheads="1" noChangeShapeType="1" noTextEdit="1"/>
              </p:cNvSpPr>
              <p:nvPr/>
            </p:nvSpPr>
            <p:spPr>
              <a:xfrm>
                <a:off x="3430572" y="5085293"/>
                <a:ext cx="214340" cy="208241"/>
              </a:xfrm>
              <a:prstGeom prst="ellipse">
                <a:avLst/>
              </a:prstGeom>
              <a:blipFill>
                <a:blip r:embed="rId9"/>
                <a:stretch>
                  <a:fillRect l="-35135" r="-8108" b="-222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3" name="橢圓 292"/>
              <p:cNvSpPr/>
              <p:nvPr/>
            </p:nvSpPr>
            <p:spPr>
              <a:xfrm>
                <a:off x="3001893" y="5361977"/>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293" name="橢圓 292"/>
              <p:cNvSpPr>
                <a:spLocks noRot="1" noChangeAspect="1" noMove="1" noResize="1" noEditPoints="1" noAdjustHandles="1" noChangeArrowheads="1" noChangeShapeType="1" noTextEdit="1"/>
              </p:cNvSpPr>
              <p:nvPr/>
            </p:nvSpPr>
            <p:spPr>
              <a:xfrm>
                <a:off x="3001893" y="5361977"/>
                <a:ext cx="214340" cy="208241"/>
              </a:xfrm>
              <a:prstGeom prst="ellipse">
                <a:avLst/>
              </a:prstGeom>
              <a:blipFill>
                <a:blip r:embed="rId10"/>
                <a:stretch>
                  <a:fillRect l="-15789" b="-2778"/>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294" name="橢圓 293"/>
              <p:cNvSpPr/>
              <p:nvPr/>
            </p:nvSpPr>
            <p:spPr>
              <a:xfrm>
                <a:off x="3859252" y="5361977"/>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&lt;</m:t>
                      </m:r>
                    </m:oMath>
                  </m:oMathPara>
                </a14:m>
                <a:endParaRPr lang="en-US" altLang="zh-TW" dirty="0">
                  <a:solidFill>
                    <a:schemeClr val="tx1"/>
                  </a:solidFill>
                </a:endParaRPr>
              </a:p>
            </p:txBody>
          </p:sp>
        </mc:Choice>
        <mc:Fallback>
          <p:sp>
            <p:nvSpPr>
              <p:cNvPr id="294" name="橢圓 293"/>
              <p:cNvSpPr>
                <a:spLocks noRot="1" noChangeAspect="1" noMove="1" noResize="1" noEditPoints="1" noAdjustHandles="1" noChangeArrowheads="1" noChangeShapeType="1" noTextEdit="1"/>
              </p:cNvSpPr>
              <p:nvPr/>
            </p:nvSpPr>
            <p:spPr>
              <a:xfrm>
                <a:off x="3859252" y="5361977"/>
                <a:ext cx="214340" cy="208241"/>
              </a:xfrm>
              <a:prstGeom prst="ellipse">
                <a:avLst/>
              </a:prstGeom>
              <a:blipFill>
                <a:blip r:embed="rId11"/>
                <a:stretch>
                  <a:fillRect l="-32432" r="-8108" b="-19444"/>
                </a:stretch>
              </a:blipFill>
              <a:ln w="12700">
                <a:solidFill>
                  <a:schemeClr val="tx1"/>
                </a:solidFill>
              </a:ln>
            </p:spPr>
            <p:txBody>
              <a:bodyPr/>
              <a:lstStyle/>
              <a:p>
                <a:r>
                  <a:rPr lang="zh-TW" altLang="en-US">
                    <a:noFill/>
                  </a:rPr>
                  <a:t> </a:t>
                </a:r>
              </a:p>
            </p:txBody>
          </p:sp>
        </mc:Fallback>
      </mc:AlternateContent>
      <p:sp>
        <p:nvSpPr>
          <p:cNvPr id="295" name="橢圓 294"/>
          <p:cNvSpPr/>
          <p:nvPr/>
        </p:nvSpPr>
        <p:spPr>
          <a:xfrm>
            <a:off x="2787553" y="5672582"/>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296" name="橢圓 295"/>
          <p:cNvSpPr/>
          <p:nvPr/>
        </p:nvSpPr>
        <p:spPr>
          <a:xfrm>
            <a:off x="3216232" y="5672582"/>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e</a:t>
            </a:r>
            <a:endParaRPr lang="zh-TW" altLang="en-US" dirty="0">
              <a:solidFill>
                <a:schemeClr val="tx1"/>
              </a:solidFill>
            </a:endParaRPr>
          </a:p>
        </p:txBody>
      </p:sp>
      <p:sp>
        <p:nvSpPr>
          <p:cNvPr id="297" name="橢圓 296"/>
          <p:cNvSpPr/>
          <p:nvPr/>
        </p:nvSpPr>
        <p:spPr>
          <a:xfrm>
            <a:off x="3644912" y="5672582"/>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298" name="橢圓 297"/>
          <p:cNvSpPr/>
          <p:nvPr/>
        </p:nvSpPr>
        <p:spPr>
          <a:xfrm>
            <a:off x="4073591" y="5672582"/>
            <a:ext cx="214340" cy="20824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5</a:t>
            </a:r>
            <a:endParaRPr lang="zh-TW" altLang="en-US" dirty="0">
              <a:solidFill>
                <a:schemeClr val="tx1"/>
              </a:solidFill>
            </a:endParaRPr>
          </a:p>
        </p:txBody>
      </p:sp>
      <p:cxnSp>
        <p:nvCxnSpPr>
          <p:cNvPr id="299" name="直線接點 298"/>
          <p:cNvCxnSpPr>
            <a:stCxn id="292" idx="3"/>
            <a:endCxn id="293" idx="0"/>
          </p:cNvCxnSpPr>
          <p:nvPr/>
        </p:nvCxnSpPr>
        <p:spPr>
          <a:xfrm flipH="1">
            <a:off x="3109063" y="5263038"/>
            <a:ext cx="352898"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0" name="直線接點 299"/>
          <p:cNvCxnSpPr>
            <a:stCxn id="292" idx="5"/>
            <a:endCxn id="294" idx="0"/>
          </p:cNvCxnSpPr>
          <p:nvPr/>
        </p:nvCxnSpPr>
        <p:spPr>
          <a:xfrm>
            <a:off x="3613523" y="5263038"/>
            <a:ext cx="352899"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1" name="直線接點 300"/>
          <p:cNvCxnSpPr>
            <a:stCxn id="293" idx="3"/>
            <a:endCxn id="295" idx="0"/>
          </p:cNvCxnSpPr>
          <p:nvPr/>
        </p:nvCxnSpPr>
        <p:spPr>
          <a:xfrm flipH="1">
            <a:off x="2894724" y="5539723"/>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2" name="直線接點 301"/>
          <p:cNvCxnSpPr>
            <a:stCxn id="293" idx="5"/>
            <a:endCxn id="296" idx="0"/>
          </p:cNvCxnSpPr>
          <p:nvPr/>
        </p:nvCxnSpPr>
        <p:spPr>
          <a:xfrm>
            <a:off x="3184843" y="5539723"/>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3" name="直線接點 302"/>
          <p:cNvCxnSpPr>
            <a:stCxn id="294" idx="3"/>
            <a:endCxn id="297" idx="0"/>
          </p:cNvCxnSpPr>
          <p:nvPr/>
        </p:nvCxnSpPr>
        <p:spPr>
          <a:xfrm flipH="1">
            <a:off x="3752083" y="5539723"/>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4" name="直線接點 303"/>
          <p:cNvCxnSpPr>
            <a:stCxn id="294" idx="5"/>
            <a:endCxn id="298" idx="0"/>
          </p:cNvCxnSpPr>
          <p:nvPr/>
        </p:nvCxnSpPr>
        <p:spPr>
          <a:xfrm>
            <a:off x="4042202" y="5539723"/>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5" name="群組 304"/>
          <p:cNvGrpSpPr/>
          <p:nvPr/>
        </p:nvGrpSpPr>
        <p:grpSpPr>
          <a:xfrm>
            <a:off x="2783632" y="5873830"/>
            <a:ext cx="1500378" cy="795530"/>
            <a:chOff x="432371" y="426692"/>
            <a:chExt cx="2061087" cy="1139444"/>
          </a:xfrm>
        </p:grpSpPr>
        <mc:AlternateContent xmlns:mc="http://schemas.openxmlformats.org/markup-compatibility/2006" xmlns:a14="http://schemas.microsoft.com/office/drawing/2010/main">
          <mc:Choice Requires="a14">
            <p:sp>
              <p:nvSpPr>
                <p:cNvPr id="306" name="橢圓 305"/>
                <p:cNvSpPr/>
                <p:nvPr/>
              </p:nvSpPr>
              <p:spPr>
                <a:xfrm>
                  <a:off x="1315694" y="426692"/>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83" name="橢圓 82"/>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15"/>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7" name="橢圓 306"/>
                <p:cNvSpPr/>
                <p:nvPr/>
              </p:nvSpPr>
              <p:spPr>
                <a:xfrm>
                  <a:off x="726812" y="822989"/>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xmlns="">
            <p:sp>
              <p:nvSpPr>
                <p:cNvPr id="84" name="橢圓 83"/>
                <p:cNvSpPr>
                  <a:spLocks noRot="1" noChangeAspect="1" noMove="1" noResize="1" noEditPoints="1" noAdjustHandles="1" noChangeArrowheads="1" noChangeShapeType="1" noTextEdit="1"/>
                </p:cNvSpPr>
                <p:nvPr/>
              </p:nvSpPr>
              <p:spPr>
                <a:xfrm>
                  <a:off x="726812" y="822989"/>
                  <a:ext cx="294441" cy="298266"/>
                </a:xfrm>
                <a:prstGeom prst="ellipse">
                  <a:avLst/>
                </a:prstGeom>
                <a:blipFill rotWithShape="1">
                  <a:blip r:embed="rId16"/>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08" name="橢圓 307"/>
                <p:cNvSpPr/>
                <p:nvPr/>
              </p:nvSpPr>
              <p:spPr>
                <a:xfrm>
                  <a:off x="1904576" y="822989"/>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85" name="橢圓 84"/>
                <p:cNvSpPr>
                  <a:spLocks noRot="1" noChangeAspect="1" noMove="1" noResize="1" noEditPoints="1" noAdjustHandles="1" noChangeArrowheads="1" noChangeShapeType="1" noTextEdit="1"/>
                </p:cNvSpPr>
                <p:nvPr/>
              </p:nvSpPr>
              <p:spPr>
                <a:xfrm>
                  <a:off x="1904576" y="822989"/>
                  <a:ext cx="294441" cy="298266"/>
                </a:xfrm>
                <a:prstGeom prst="ellipse">
                  <a:avLst/>
                </a:prstGeom>
                <a:blipFill rotWithShape="1">
                  <a:blip r:embed="rId17"/>
                  <a:stretch>
                    <a:fillRect/>
                  </a:stretch>
                </a:blipFill>
                <a:ln w="12700">
                  <a:solidFill>
                    <a:schemeClr val="tx1"/>
                  </a:solidFill>
                </a:ln>
              </p:spPr>
              <p:txBody>
                <a:bodyPr/>
                <a:lstStyle/>
                <a:p>
                  <a:r>
                    <a:rPr lang="zh-TW" altLang="en-US">
                      <a:noFill/>
                    </a:rPr>
                    <a:t> </a:t>
                  </a:r>
                </a:p>
              </p:txBody>
            </p:sp>
          </mc:Fallback>
        </mc:AlternateContent>
        <p:sp>
          <p:nvSpPr>
            <p:cNvPr id="309" name="橢圓 308"/>
            <p:cNvSpPr/>
            <p:nvPr/>
          </p:nvSpPr>
          <p:spPr>
            <a:xfrm>
              <a:off x="432371"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310" name="橢圓 309"/>
            <p:cNvSpPr/>
            <p:nvPr/>
          </p:nvSpPr>
          <p:spPr>
            <a:xfrm>
              <a:off x="1021253"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311" name="橢圓 310"/>
            <p:cNvSpPr/>
            <p:nvPr/>
          </p:nvSpPr>
          <p:spPr>
            <a:xfrm>
              <a:off x="1610135"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312" name="橢圓 311"/>
            <p:cNvSpPr/>
            <p:nvPr/>
          </p:nvSpPr>
          <p:spPr>
            <a:xfrm>
              <a:off x="2199017"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313" name="直線接點 312"/>
            <p:cNvCxnSpPr>
              <a:stCxn id="306" idx="3"/>
              <a:endCxn id="307"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4" name="直線接點 313"/>
            <p:cNvCxnSpPr>
              <a:stCxn id="306" idx="5"/>
              <a:endCxn id="308"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5" name="直線接點 314"/>
            <p:cNvCxnSpPr>
              <a:stCxn id="307" idx="3"/>
              <a:endCxn id="309"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6" name="直線接點 315"/>
            <p:cNvCxnSpPr>
              <a:stCxn id="307" idx="5"/>
              <a:endCxn id="310"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7" name="直線接點 316"/>
            <p:cNvCxnSpPr>
              <a:stCxn id="308" idx="3"/>
              <a:endCxn id="311"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8" name="直線接點 317"/>
            <p:cNvCxnSpPr>
              <a:stCxn id="308" idx="5"/>
              <a:endCxn id="312"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21" name="群組 320"/>
          <p:cNvGrpSpPr/>
          <p:nvPr/>
        </p:nvGrpSpPr>
        <p:grpSpPr>
          <a:xfrm>
            <a:off x="7343393" y="4280320"/>
            <a:ext cx="1269121" cy="802929"/>
            <a:chOff x="3160728" y="3648624"/>
            <a:chExt cx="3424525" cy="2294130"/>
          </a:xfrm>
          <a:noFill/>
        </p:grpSpPr>
        <mc:AlternateContent xmlns:mc="http://schemas.openxmlformats.org/markup-compatibility/2006" xmlns:a14="http://schemas.microsoft.com/office/drawing/2010/main">
          <mc:Choice Requires="a14">
            <p:sp>
              <p:nvSpPr>
                <p:cNvPr id="322" name="橢圓 321"/>
                <p:cNvSpPr/>
                <p:nvPr/>
              </p:nvSpPr>
              <p:spPr>
                <a:xfrm>
                  <a:off x="4302236" y="3648624"/>
                  <a:ext cx="570754" cy="60052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01" name="橢圓 100"/>
                <p:cNvSpPr>
                  <a:spLocks noRot="1" noChangeAspect="1" noMove="1" noResize="1" noEditPoints="1" noAdjustHandles="1" noChangeArrowheads="1" noChangeShapeType="1" noTextEdit="1"/>
                </p:cNvSpPr>
                <p:nvPr/>
              </p:nvSpPr>
              <p:spPr>
                <a:xfrm>
                  <a:off x="4302236" y="3648624"/>
                  <a:ext cx="570754" cy="600521"/>
                </a:xfrm>
                <a:prstGeom prst="ellipse">
                  <a:avLst/>
                </a:prstGeom>
                <a:blipFill rotWithShape="1">
                  <a:blip r:embed="rId18"/>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3" name="橢圓 322"/>
                <p:cNvSpPr/>
                <p:nvPr/>
              </p:nvSpPr>
              <p:spPr>
                <a:xfrm>
                  <a:off x="3160728" y="4446519"/>
                  <a:ext cx="570754" cy="60052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xmlns="">
            <p:sp>
              <p:nvSpPr>
                <p:cNvPr id="102" name="橢圓 101"/>
                <p:cNvSpPr>
                  <a:spLocks noRot="1" noChangeAspect="1" noMove="1" noResize="1" noEditPoints="1" noAdjustHandles="1" noChangeArrowheads="1" noChangeShapeType="1" noTextEdit="1"/>
                </p:cNvSpPr>
                <p:nvPr/>
              </p:nvSpPr>
              <p:spPr>
                <a:xfrm>
                  <a:off x="3160728" y="4446519"/>
                  <a:ext cx="570754" cy="600521"/>
                </a:xfrm>
                <a:prstGeom prst="ellipse">
                  <a:avLst/>
                </a:prstGeom>
                <a:blipFill rotWithShape="1">
                  <a:blip r:embed="rId19"/>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24" name="橢圓 323"/>
                <p:cNvSpPr/>
                <p:nvPr/>
              </p:nvSpPr>
              <p:spPr>
                <a:xfrm>
                  <a:off x="5443745" y="4446519"/>
                  <a:ext cx="570754" cy="600521"/>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03" name="橢圓 102"/>
                <p:cNvSpPr>
                  <a:spLocks noRot="1" noChangeAspect="1" noMove="1" noResize="1" noEditPoints="1" noAdjustHandles="1" noChangeArrowheads="1" noChangeShapeType="1" noTextEdit="1"/>
                </p:cNvSpPr>
                <p:nvPr/>
              </p:nvSpPr>
              <p:spPr>
                <a:xfrm>
                  <a:off x="5443745" y="4446519"/>
                  <a:ext cx="570754" cy="600521"/>
                </a:xfrm>
                <a:prstGeom prst="ellipse">
                  <a:avLst/>
                </a:prstGeom>
                <a:blipFill rotWithShape="1">
                  <a:blip r:embed="rId20"/>
                  <a:stretch>
                    <a:fillRect/>
                  </a:stretch>
                </a:blipFill>
                <a:ln w="12700">
                  <a:solidFill>
                    <a:schemeClr val="tx1"/>
                  </a:solidFill>
                </a:ln>
              </p:spPr>
              <p:txBody>
                <a:bodyPr/>
                <a:lstStyle/>
                <a:p>
                  <a:r>
                    <a:rPr lang="zh-TW" altLang="en-US">
                      <a:noFill/>
                    </a:rPr>
                    <a:t> </a:t>
                  </a:r>
                </a:p>
              </p:txBody>
            </p:sp>
          </mc:Fallback>
        </mc:AlternateContent>
        <p:sp>
          <p:nvSpPr>
            <p:cNvPr id="325" name="橢圓 324"/>
            <p:cNvSpPr/>
            <p:nvPr/>
          </p:nvSpPr>
          <p:spPr>
            <a:xfrm>
              <a:off x="4872991"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326" name="橢圓 325"/>
            <p:cNvSpPr/>
            <p:nvPr/>
          </p:nvSpPr>
          <p:spPr>
            <a:xfrm>
              <a:off x="6014499" y="5342233"/>
              <a:ext cx="570754" cy="600521"/>
            </a:xfrm>
            <a:prstGeom prst="ellipse">
              <a:avLst/>
            </a:prstGeom>
            <a:grp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327" name="直線接點 326"/>
            <p:cNvCxnSpPr>
              <a:stCxn id="322" idx="3"/>
              <a:endCxn id="323" idx="0"/>
            </p:cNvCxnSpPr>
            <p:nvPr/>
          </p:nvCxnSpPr>
          <p:spPr>
            <a:xfrm flipH="1">
              <a:off x="3446105"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8" name="直線接點 327"/>
            <p:cNvCxnSpPr>
              <a:stCxn id="322" idx="5"/>
              <a:endCxn id="324" idx="0"/>
            </p:cNvCxnSpPr>
            <p:nvPr/>
          </p:nvCxnSpPr>
          <p:spPr>
            <a:xfrm>
              <a:off x="4789406" y="4161201"/>
              <a:ext cx="939716" cy="285319"/>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9" name="直線接點 328"/>
            <p:cNvCxnSpPr>
              <a:stCxn id="324" idx="3"/>
              <a:endCxn id="325" idx="0"/>
            </p:cNvCxnSpPr>
            <p:nvPr/>
          </p:nvCxnSpPr>
          <p:spPr>
            <a:xfrm flipH="1">
              <a:off x="5158368"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0" name="直線接點 329"/>
            <p:cNvCxnSpPr>
              <a:stCxn id="324" idx="5"/>
              <a:endCxn id="326" idx="0"/>
            </p:cNvCxnSpPr>
            <p:nvPr/>
          </p:nvCxnSpPr>
          <p:spPr>
            <a:xfrm>
              <a:off x="5930914" y="4959096"/>
              <a:ext cx="368962" cy="383137"/>
            </a:xfrm>
            <a:prstGeom prst="line">
              <a:avLst/>
            </a:prstGeom>
            <a:grpFill/>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1" name="群組 330"/>
          <p:cNvGrpSpPr/>
          <p:nvPr/>
        </p:nvGrpSpPr>
        <p:grpSpPr>
          <a:xfrm>
            <a:off x="7175356" y="3152744"/>
            <a:ext cx="1440924" cy="795530"/>
            <a:chOff x="432371" y="426692"/>
            <a:chExt cx="2061087" cy="1139444"/>
          </a:xfrm>
        </p:grpSpPr>
        <mc:AlternateContent xmlns:mc="http://schemas.openxmlformats.org/markup-compatibility/2006" xmlns:a14="http://schemas.microsoft.com/office/drawing/2010/main">
          <mc:Choice Requires="a14">
            <p:sp>
              <p:nvSpPr>
                <p:cNvPr id="332" name="橢圓 331"/>
                <p:cNvSpPr/>
                <p:nvPr/>
              </p:nvSpPr>
              <p:spPr>
                <a:xfrm>
                  <a:off x="1315694" y="42669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&gt;</m:t>
                        </m:r>
                      </m:oMath>
                    </m:oMathPara>
                  </a14:m>
                  <a:endParaRPr lang="en-US" altLang="zh-TW" dirty="0">
                    <a:solidFill>
                      <a:schemeClr val="tx1"/>
                    </a:solidFill>
                  </a:endParaRPr>
                </a:p>
              </p:txBody>
            </p:sp>
          </mc:Choice>
          <mc:Fallback xmlns="">
            <p:sp>
              <p:nvSpPr>
                <p:cNvPr id="332" name="橢圓 331"/>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21"/>
                  <a:stretch>
                    <a:fillRect l="-33333" r="-11111" b="-22222"/>
                  </a:stretch>
                </a:blipFill>
                <a:ln w="12700">
                  <a:solidFill>
                    <a:schemeClr val="tx1"/>
                  </a:solidFill>
                </a:ln>
              </p:spPr>
              <p:txBody>
                <a:bodyPr/>
                <a:lstStyle/>
                <a:p>
                  <a:r>
                    <a:rPr lang="zh-TW" altLang="en-US">
                      <a:noFill/>
                    </a:rPr>
                    <a:t> </a:t>
                  </a:r>
                </a:p>
              </p:txBody>
            </p:sp>
          </mc:Fallback>
        </mc:AlternateContent>
        <p:sp>
          <p:nvSpPr>
            <p:cNvPr id="333" name="橢圓 332"/>
            <p:cNvSpPr/>
            <p:nvPr/>
          </p:nvSpPr>
          <p:spPr>
            <a:xfrm>
              <a:off x="726812"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t>
              </a:r>
            </a:p>
          </p:txBody>
        </p:sp>
        <p:sp>
          <p:nvSpPr>
            <p:cNvPr id="334" name="橢圓 333"/>
            <p:cNvSpPr/>
            <p:nvPr/>
          </p:nvSpPr>
          <p:spPr>
            <a:xfrm>
              <a:off x="1904576" y="822989"/>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S</a:t>
              </a:r>
            </a:p>
          </p:txBody>
        </p:sp>
        <mc:AlternateContent xmlns:mc="http://schemas.openxmlformats.org/markup-compatibility/2006" xmlns:a14="http://schemas.microsoft.com/office/drawing/2010/main">
          <mc:Choice Requires="a14">
            <p:sp>
              <p:nvSpPr>
                <p:cNvPr id="335" name="橢圓 334"/>
                <p:cNvSpPr/>
                <p:nvPr/>
              </p:nvSpPr>
              <p:spPr>
                <a:xfrm>
                  <a:off x="432371"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335" name="橢圓 334"/>
                <p:cNvSpPr>
                  <a:spLocks noRot="1" noChangeAspect="1" noMove="1" noResize="1" noEditPoints="1" noAdjustHandles="1" noChangeArrowheads="1" noChangeShapeType="1" noTextEdit="1"/>
                </p:cNvSpPr>
                <p:nvPr/>
              </p:nvSpPr>
              <p:spPr>
                <a:xfrm>
                  <a:off x="432371" y="1267870"/>
                  <a:ext cx="294441" cy="298266"/>
                </a:xfrm>
                <a:prstGeom prst="ellipse">
                  <a:avLst/>
                </a:prstGeom>
                <a:blipFill rotWithShape="1">
                  <a:blip r:embed="rId22"/>
                  <a:stretch>
                    <a:fillRect l="-19444" b="-5556"/>
                  </a:stretch>
                </a:blipFill>
                <a:ln w="12700">
                  <a:solidFill>
                    <a:schemeClr val="tx1"/>
                  </a:solidFill>
                </a:ln>
              </p:spPr>
              <p:txBody>
                <a:bodyPr/>
                <a:lstStyle/>
                <a:p>
                  <a:r>
                    <a:rPr lang="zh-TW" altLang="en-US">
                      <a:noFill/>
                    </a:rPr>
                    <a:t> </a:t>
                  </a:r>
                </a:p>
              </p:txBody>
            </p:sp>
          </mc:Fallback>
        </mc:AlternateContent>
        <p:sp>
          <p:nvSpPr>
            <p:cNvPr id="336" name="橢圓 335"/>
            <p:cNvSpPr/>
            <p:nvPr/>
          </p:nvSpPr>
          <p:spPr>
            <a:xfrm>
              <a:off x="1021253"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sp>
          <p:nvSpPr>
            <p:cNvPr id="337" name="橢圓 336"/>
            <p:cNvSpPr/>
            <p:nvPr/>
          </p:nvSpPr>
          <p:spPr>
            <a:xfrm>
              <a:off x="1610135" y="1267870"/>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338" name="橢圓 337"/>
            <p:cNvSpPr/>
            <p:nvPr/>
          </p:nvSpPr>
          <p:spPr>
            <a:xfrm>
              <a:off x="2199017" y="1267870"/>
              <a:ext cx="294441" cy="298266"/>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5</a:t>
              </a:r>
              <a:endParaRPr lang="zh-TW" altLang="en-US" dirty="0">
                <a:solidFill>
                  <a:schemeClr val="tx1"/>
                </a:solidFill>
              </a:endParaRPr>
            </a:p>
          </p:txBody>
        </p:sp>
        <p:cxnSp>
          <p:nvCxnSpPr>
            <p:cNvPr id="339" name="直線接點 338"/>
            <p:cNvCxnSpPr>
              <a:stCxn id="332" idx="3"/>
              <a:endCxn id="333"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0" name="直線接點 339"/>
            <p:cNvCxnSpPr>
              <a:stCxn id="332" idx="5"/>
              <a:endCxn id="334"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1" name="直線接點 340"/>
            <p:cNvCxnSpPr>
              <a:stCxn id="333" idx="3"/>
              <a:endCxn id="335"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2" name="直線接點 341"/>
            <p:cNvCxnSpPr>
              <a:stCxn id="333" idx="5"/>
              <a:endCxn id="336"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3" name="直線接點 342"/>
            <p:cNvCxnSpPr>
              <a:stCxn id="334" idx="3"/>
              <a:endCxn id="337"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4" name="直線接點 343"/>
            <p:cNvCxnSpPr>
              <a:stCxn id="334" idx="5"/>
              <a:endCxn id="338"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345" name="橢圓 344"/>
              <p:cNvSpPr/>
              <p:nvPr/>
            </p:nvSpPr>
            <p:spPr>
              <a:xfrm>
                <a:off x="7830929" y="5085293"/>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345" name="橢圓 344"/>
              <p:cNvSpPr>
                <a:spLocks noRot="1" noChangeAspect="1" noMove="1" noResize="1" noEditPoints="1" noAdjustHandles="1" noChangeArrowheads="1" noChangeShapeType="1" noTextEdit="1"/>
              </p:cNvSpPr>
              <p:nvPr/>
            </p:nvSpPr>
            <p:spPr>
              <a:xfrm>
                <a:off x="7830929" y="5085293"/>
                <a:ext cx="214340" cy="208241"/>
              </a:xfrm>
              <a:prstGeom prst="ellipse">
                <a:avLst/>
              </a:prstGeom>
              <a:blipFill>
                <a:blip r:embed="rId23"/>
                <a:stretch>
                  <a:fillRect l="-35135" r="-8108" b="-22222"/>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46" name="橢圓 345"/>
              <p:cNvSpPr/>
              <p:nvPr/>
            </p:nvSpPr>
            <p:spPr>
              <a:xfrm>
                <a:off x="7402250" y="5361977"/>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p:sp>
            <p:nvSpPr>
              <p:cNvPr id="346" name="橢圓 345"/>
              <p:cNvSpPr>
                <a:spLocks noRot="1" noChangeAspect="1" noMove="1" noResize="1" noEditPoints="1" noAdjustHandles="1" noChangeArrowheads="1" noChangeShapeType="1" noTextEdit="1"/>
              </p:cNvSpPr>
              <p:nvPr/>
            </p:nvSpPr>
            <p:spPr>
              <a:xfrm>
                <a:off x="7402250" y="5361977"/>
                <a:ext cx="214340" cy="208241"/>
              </a:xfrm>
              <a:prstGeom prst="ellipse">
                <a:avLst/>
              </a:prstGeom>
              <a:blipFill>
                <a:blip r:embed="rId24"/>
                <a:stretch>
                  <a:fillRect l="-16216" b="-2778"/>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347" name="橢圓 346"/>
              <p:cNvSpPr/>
              <p:nvPr/>
            </p:nvSpPr>
            <p:spPr>
              <a:xfrm>
                <a:off x="8259609" y="5361977"/>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&lt;</m:t>
                      </m:r>
                    </m:oMath>
                  </m:oMathPara>
                </a14:m>
                <a:endParaRPr lang="en-US" altLang="zh-TW" dirty="0">
                  <a:solidFill>
                    <a:schemeClr val="tx1"/>
                  </a:solidFill>
                </a:endParaRPr>
              </a:p>
            </p:txBody>
          </p:sp>
        </mc:Choice>
        <mc:Fallback>
          <p:sp>
            <p:nvSpPr>
              <p:cNvPr id="347" name="橢圓 346"/>
              <p:cNvSpPr>
                <a:spLocks noRot="1" noChangeAspect="1" noMove="1" noResize="1" noEditPoints="1" noAdjustHandles="1" noChangeArrowheads="1" noChangeShapeType="1" noTextEdit="1"/>
              </p:cNvSpPr>
              <p:nvPr/>
            </p:nvSpPr>
            <p:spPr>
              <a:xfrm>
                <a:off x="8259609" y="5361977"/>
                <a:ext cx="214340" cy="208241"/>
              </a:xfrm>
              <a:prstGeom prst="ellipse">
                <a:avLst/>
              </a:prstGeom>
              <a:blipFill>
                <a:blip r:embed="rId25"/>
                <a:stretch>
                  <a:fillRect l="-32432" r="-8108" b="-19444"/>
                </a:stretch>
              </a:blipFill>
              <a:ln w="12700">
                <a:solidFill>
                  <a:schemeClr val="tx1"/>
                </a:solidFill>
              </a:ln>
            </p:spPr>
            <p:txBody>
              <a:bodyPr/>
              <a:lstStyle/>
              <a:p>
                <a:r>
                  <a:rPr lang="zh-TW" altLang="en-US">
                    <a:noFill/>
                  </a:rPr>
                  <a:t> </a:t>
                </a:r>
              </a:p>
            </p:txBody>
          </p:sp>
        </mc:Fallback>
      </mc:AlternateContent>
      <p:sp>
        <p:nvSpPr>
          <p:cNvPr id="348" name="橢圓 347"/>
          <p:cNvSpPr/>
          <p:nvPr/>
        </p:nvSpPr>
        <p:spPr>
          <a:xfrm>
            <a:off x="7187910" y="5672582"/>
            <a:ext cx="214340" cy="208241"/>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349" name="橢圓 348"/>
          <p:cNvSpPr/>
          <p:nvPr/>
        </p:nvSpPr>
        <p:spPr>
          <a:xfrm>
            <a:off x="7616589" y="5672582"/>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e</a:t>
            </a:r>
            <a:endParaRPr lang="zh-TW" altLang="en-US" dirty="0">
              <a:solidFill>
                <a:schemeClr val="tx1"/>
              </a:solidFill>
            </a:endParaRPr>
          </a:p>
        </p:txBody>
      </p:sp>
      <p:sp>
        <p:nvSpPr>
          <p:cNvPr id="350" name="橢圓 349"/>
          <p:cNvSpPr/>
          <p:nvPr/>
        </p:nvSpPr>
        <p:spPr>
          <a:xfrm>
            <a:off x="8045269" y="5672582"/>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3</a:t>
            </a:r>
            <a:endParaRPr lang="zh-TW" altLang="en-US" dirty="0">
              <a:solidFill>
                <a:schemeClr val="tx1"/>
              </a:solidFill>
            </a:endParaRPr>
          </a:p>
        </p:txBody>
      </p:sp>
      <p:sp>
        <p:nvSpPr>
          <p:cNvPr id="351" name="橢圓 350"/>
          <p:cNvSpPr/>
          <p:nvPr/>
        </p:nvSpPr>
        <p:spPr>
          <a:xfrm>
            <a:off x="8473948" y="5672582"/>
            <a:ext cx="214340" cy="208241"/>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d</a:t>
            </a:r>
            <a:endParaRPr lang="zh-TW" altLang="en-US" dirty="0">
              <a:solidFill>
                <a:schemeClr val="tx1"/>
              </a:solidFill>
            </a:endParaRPr>
          </a:p>
        </p:txBody>
      </p:sp>
      <p:cxnSp>
        <p:nvCxnSpPr>
          <p:cNvPr id="352" name="直線接點 351"/>
          <p:cNvCxnSpPr>
            <a:stCxn id="345" idx="3"/>
            <a:endCxn id="346" idx="0"/>
          </p:cNvCxnSpPr>
          <p:nvPr/>
        </p:nvCxnSpPr>
        <p:spPr>
          <a:xfrm flipH="1">
            <a:off x="7509420" y="5263038"/>
            <a:ext cx="352898"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3" name="直線接點 352"/>
          <p:cNvCxnSpPr>
            <a:stCxn id="345" idx="5"/>
            <a:endCxn id="347" idx="0"/>
          </p:cNvCxnSpPr>
          <p:nvPr/>
        </p:nvCxnSpPr>
        <p:spPr>
          <a:xfrm>
            <a:off x="8013880" y="5263038"/>
            <a:ext cx="352899" cy="9893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4" name="直線接點 353"/>
          <p:cNvCxnSpPr>
            <a:stCxn id="346" idx="3"/>
            <a:endCxn id="348" idx="0"/>
          </p:cNvCxnSpPr>
          <p:nvPr/>
        </p:nvCxnSpPr>
        <p:spPr>
          <a:xfrm flipH="1">
            <a:off x="7295081" y="5539723"/>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5" name="直線接點 354"/>
          <p:cNvCxnSpPr>
            <a:stCxn id="346" idx="5"/>
            <a:endCxn id="349" idx="0"/>
          </p:cNvCxnSpPr>
          <p:nvPr/>
        </p:nvCxnSpPr>
        <p:spPr>
          <a:xfrm>
            <a:off x="7585200" y="5539723"/>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6" name="直線接點 355"/>
          <p:cNvCxnSpPr>
            <a:stCxn id="347" idx="3"/>
            <a:endCxn id="350" idx="0"/>
          </p:cNvCxnSpPr>
          <p:nvPr/>
        </p:nvCxnSpPr>
        <p:spPr>
          <a:xfrm flipH="1">
            <a:off x="8152440" y="5539723"/>
            <a:ext cx="138559"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7" name="直線接點 356"/>
          <p:cNvCxnSpPr>
            <a:stCxn id="347" idx="5"/>
            <a:endCxn id="351" idx="0"/>
          </p:cNvCxnSpPr>
          <p:nvPr/>
        </p:nvCxnSpPr>
        <p:spPr>
          <a:xfrm>
            <a:off x="8442559" y="5539723"/>
            <a:ext cx="138560" cy="13285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58" name="群組 357"/>
          <p:cNvGrpSpPr/>
          <p:nvPr/>
        </p:nvGrpSpPr>
        <p:grpSpPr>
          <a:xfrm>
            <a:off x="7183989" y="5873830"/>
            <a:ext cx="1500378" cy="795530"/>
            <a:chOff x="432371" y="426692"/>
            <a:chExt cx="2061087" cy="1139444"/>
          </a:xfrm>
        </p:grpSpPr>
        <mc:AlternateContent xmlns:mc="http://schemas.openxmlformats.org/markup-compatibility/2006" xmlns:a14="http://schemas.microsoft.com/office/drawing/2010/main">
          <mc:Choice Requires="a14">
            <p:sp>
              <p:nvSpPr>
                <p:cNvPr id="359" name="橢圓 358"/>
                <p:cNvSpPr/>
                <p:nvPr/>
              </p:nvSpPr>
              <p:spPr>
                <a:xfrm>
                  <a:off x="1315694" y="426692"/>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39" name="橢圓 138"/>
                <p:cNvSpPr>
                  <a:spLocks noRot="1" noChangeAspect="1" noMove="1" noResize="1" noEditPoints="1" noAdjustHandles="1" noChangeArrowheads="1" noChangeShapeType="1" noTextEdit="1"/>
                </p:cNvSpPr>
                <p:nvPr/>
              </p:nvSpPr>
              <p:spPr>
                <a:xfrm>
                  <a:off x="1315694" y="426692"/>
                  <a:ext cx="294441" cy="298266"/>
                </a:xfrm>
                <a:prstGeom prst="ellipse">
                  <a:avLst/>
                </a:prstGeom>
                <a:blipFill rotWithShape="1">
                  <a:blip r:embed="rId26"/>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0" name="橢圓 359"/>
                <p:cNvSpPr/>
                <p:nvPr/>
              </p:nvSpPr>
              <p:spPr>
                <a:xfrm>
                  <a:off x="726812" y="822989"/>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40" name="橢圓 139"/>
                <p:cNvSpPr>
                  <a:spLocks noRot="1" noChangeAspect="1" noMove="1" noResize="1" noEditPoints="1" noAdjustHandles="1" noChangeArrowheads="1" noChangeShapeType="1" noTextEdit="1"/>
                </p:cNvSpPr>
                <p:nvPr/>
              </p:nvSpPr>
              <p:spPr>
                <a:xfrm>
                  <a:off x="726812" y="822989"/>
                  <a:ext cx="294441" cy="298266"/>
                </a:xfrm>
                <a:prstGeom prst="ellipse">
                  <a:avLst/>
                </a:prstGeom>
                <a:blipFill rotWithShape="1">
                  <a:blip r:embed="rId27"/>
                  <a:stretch>
                    <a:fillRect/>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61" name="橢圓 360"/>
                <p:cNvSpPr/>
                <p:nvPr/>
              </p:nvSpPr>
              <p:spPr>
                <a:xfrm>
                  <a:off x="1904576" y="822989"/>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i="1">
                            <a:solidFill>
                              <a:schemeClr val="tx1"/>
                            </a:solidFill>
                            <a:latin typeface="Cambria Math"/>
                          </a:rPr>
                          <m:t>÷</m:t>
                        </m:r>
                      </m:oMath>
                    </m:oMathPara>
                  </a14:m>
                  <a:endParaRPr lang="en-US" altLang="zh-TW" dirty="0">
                    <a:solidFill>
                      <a:schemeClr val="tx1"/>
                    </a:solidFill>
                  </a:endParaRPr>
                </a:p>
              </p:txBody>
            </p:sp>
          </mc:Choice>
          <mc:Fallback xmlns="">
            <p:sp>
              <p:nvSpPr>
                <p:cNvPr id="141" name="橢圓 140"/>
                <p:cNvSpPr>
                  <a:spLocks noRot="1" noChangeAspect="1" noMove="1" noResize="1" noEditPoints="1" noAdjustHandles="1" noChangeArrowheads="1" noChangeShapeType="1" noTextEdit="1"/>
                </p:cNvSpPr>
                <p:nvPr/>
              </p:nvSpPr>
              <p:spPr>
                <a:xfrm>
                  <a:off x="1904576" y="822989"/>
                  <a:ext cx="294441" cy="298266"/>
                </a:xfrm>
                <a:prstGeom prst="ellipse">
                  <a:avLst/>
                </a:prstGeom>
                <a:blipFill rotWithShape="1">
                  <a:blip r:embed="rId28"/>
                  <a:stretch>
                    <a:fillRect/>
                  </a:stretch>
                </a:blipFill>
                <a:ln w="12700">
                  <a:solidFill>
                    <a:schemeClr val="tx1"/>
                  </a:solidFill>
                </a:ln>
              </p:spPr>
              <p:txBody>
                <a:bodyPr/>
                <a:lstStyle/>
                <a:p>
                  <a:r>
                    <a:rPr lang="zh-TW" altLang="en-US">
                      <a:noFill/>
                    </a:rPr>
                    <a:t> </a:t>
                  </a:r>
                </a:p>
              </p:txBody>
            </p:sp>
          </mc:Fallback>
        </mc:AlternateContent>
        <p:sp>
          <p:nvSpPr>
            <p:cNvPr id="362" name="橢圓 361"/>
            <p:cNvSpPr/>
            <p:nvPr/>
          </p:nvSpPr>
          <p:spPr>
            <a:xfrm>
              <a:off x="432371"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363" name="橢圓 362"/>
            <p:cNvSpPr/>
            <p:nvPr/>
          </p:nvSpPr>
          <p:spPr>
            <a:xfrm>
              <a:off x="1021253"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a:t>
              </a:r>
              <a:endParaRPr lang="zh-TW" altLang="en-US" dirty="0">
                <a:solidFill>
                  <a:schemeClr val="tx1"/>
                </a:solidFill>
              </a:endParaRPr>
            </a:p>
          </p:txBody>
        </p:sp>
        <p:sp>
          <p:nvSpPr>
            <p:cNvPr id="364" name="橢圓 363"/>
            <p:cNvSpPr/>
            <p:nvPr/>
          </p:nvSpPr>
          <p:spPr>
            <a:xfrm>
              <a:off x="1610135"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a</a:t>
              </a:r>
              <a:endParaRPr lang="zh-TW" altLang="en-US" dirty="0">
                <a:solidFill>
                  <a:schemeClr val="tx1"/>
                </a:solidFill>
              </a:endParaRPr>
            </a:p>
          </p:txBody>
        </p:sp>
        <p:sp>
          <p:nvSpPr>
            <p:cNvPr id="365" name="橢圓 364"/>
            <p:cNvSpPr/>
            <p:nvPr/>
          </p:nvSpPr>
          <p:spPr>
            <a:xfrm>
              <a:off x="2199017" y="1267870"/>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366" name="直線接點 365"/>
            <p:cNvCxnSpPr>
              <a:stCxn id="359" idx="3"/>
              <a:endCxn id="360" idx="0"/>
            </p:cNvCxnSpPr>
            <p:nvPr/>
          </p:nvCxnSpPr>
          <p:spPr>
            <a:xfrm flipH="1">
              <a:off x="874033" y="681278"/>
              <a:ext cx="484781"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7" name="直線接點 366"/>
            <p:cNvCxnSpPr>
              <a:stCxn id="359" idx="5"/>
              <a:endCxn id="361" idx="0"/>
            </p:cNvCxnSpPr>
            <p:nvPr/>
          </p:nvCxnSpPr>
          <p:spPr>
            <a:xfrm>
              <a:off x="1567015" y="681278"/>
              <a:ext cx="484782" cy="1417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8" name="直線接點 367"/>
            <p:cNvCxnSpPr>
              <a:stCxn id="360" idx="3"/>
              <a:endCxn id="362" idx="0"/>
            </p:cNvCxnSpPr>
            <p:nvPr/>
          </p:nvCxnSpPr>
          <p:spPr>
            <a:xfrm flipH="1">
              <a:off x="579592"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9" name="直線接點 368"/>
            <p:cNvCxnSpPr>
              <a:stCxn id="360" idx="5"/>
              <a:endCxn id="363" idx="0"/>
            </p:cNvCxnSpPr>
            <p:nvPr/>
          </p:nvCxnSpPr>
          <p:spPr>
            <a:xfrm>
              <a:off x="978133"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0" name="直線接點 369"/>
            <p:cNvCxnSpPr>
              <a:stCxn id="361" idx="3"/>
              <a:endCxn id="364" idx="0"/>
            </p:cNvCxnSpPr>
            <p:nvPr/>
          </p:nvCxnSpPr>
          <p:spPr>
            <a:xfrm flipH="1">
              <a:off x="1757356" y="1077575"/>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1" name="直線接點 370"/>
            <p:cNvCxnSpPr>
              <a:stCxn id="361" idx="5"/>
              <a:endCxn id="365" idx="0"/>
            </p:cNvCxnSpPr>
            <p:nvPr/>
          </p:nvCxnSpPr>
          <p:spPr>
            <a:xfrm>
              <a:off x="2155897" y="1077575"/>
              <a:ext cx="190341"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6" name="橢圓 375"/>
          <p:cNvSpPr/>
          <p:nvPr/>
        </p:nvSpPr>
        <p:spPr>
          <a:xfrm>
            <a:off x="2783632" y="4802998"/>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377" name="橢圓 376"/>
          <p:cNvSpPr/>
          <p:nvPr/>
        </p:nvSpPr>
        <p:spPr>
          <a:xfrm>
            <a:off x="3206672" y="4802998"/>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cxnSp>
        <p:nvCxnSpPr>
          <p:cNvPr id="378" name="直線接點 377"/>
          <p:cNvCxnSpPr>
            <a:endCxn id="376" idx="0"/>
          </p:cNvCxnSpPr>
          <p:nvPr/>
        </p:nvCxnSpPr>
        <p:spPr>
          <a:xfrm flipH="1">
            <a:off x="2889392" y="4668904"/>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9" name="直線接點 378"/>
          <p:cNvCxnSpPr>
            <a:endCxn id="377" idx="0"/>
          </p:cNvCxnSpPr>
          <p:nvPr/>
        </p:nvCxnSpPr>
        <p:spPr>
          <a:xfrm>
            <a:off x="3175695" y="4668904"/>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0" name="橢圓 379"/>
          <p:cNvSpPr/>
          <p:nvPr/>
        </p:nvSpPr>
        <p:spPr>
          <a:xfrm>
            <a:off x="7133863" y="4875006"/>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sp>
        <p:nvSpPr>
          <p:cNvPr id="381" name="橢圓 380"/>
          <p:cNvSpPr/>
          <p:nvPr/>
        </p:nvSpPr>
        <p:spPr>
          <a:xfrm>
            <a:off x="7556903" y="4875006"/>
            <a:ext cx="211520" cy="210178"/>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c</a:t>
            </a:r>
            <a:endParaRPr lang="zh-TW" altLang="en-US" dirty="0">
              <a:solidFill>
                <a:schemeClr val="tx1"/>
              </a:solidFill>
            </a:endParaRPr>
          </a:p>
        </p:txBody>
      </p:sp>
      <p:cxnSp>
        <p:nvCxnSpPr>
          <p:cNvPr id="382" name="直線接點 381"/>
          <p:cNvCxnSpPr>
            <a:endCxn id="380" idx="0"/>
          </p:cNvCxnSpPr>
          <p:nvPr/>
        </p:nvCxnSpPr>
        <p:spPr>
          <a:xfrm flipH="1">
            <a:off x="7239623" y="4740912"/>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3" name="直線接點 382"/>
          <p:cNvCxnSpPr>
            <a:endCxn id="381" idx="0"/>
          </p:cNvCxnSpPr>
          <p:nvPr/>
        </p:nvCxnSpPr>
        <p:spPr>
          <a:xfrm>
            <a:off x="7525926" y="4740912"/>
            <a:ext cx="136736" cy="134095"/>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84" name="文字方塊 383"/>
          <p:cNvSpPr txBox="1"/>
          <p:nvPr/>
        </p:nvSpPr>
        <p:spPr>
          <a:xfrm>
            <a:off x="2856213" y="620688"/>
            <a:ext cx="1653119" cy="369332"/>
          </a:xfrm>
          <a:prstGeom prst="rect">
            <a:avLst/>
          </a:prstGeom>
          <a:noFill/>
        </p:spPr>
        <p:txBody>
          <a:bodyPr wrap="square" rtlCol="0">
            <a:spAutoFit/>
          </a:bodyPr>
          <a:lstStyle/>
          <a:p>
            <a:pPr algn="ctr"/>
            <a:r>
              <a:rPr lang="en-US" altLang="zh-TW" dirty="0"/>
              <a:t>Chromosome 1</a:t>
            </a:r>
            <a:endParaRPr lang="zh-TW" altLang="en-US" dirty="0"/>
          </a:p>
        </p:txBody>
      </p:sp>
      <p:sp>
        <p:nvSpPr>
          <p:cNvPr id="385" name="文字方塊 384"/>
          <p:cNvSpPr txBox="1"/>
          <p:nvPr/>
        </p:nvSpPr>
        <p:spPr>
          <a:xfrm>
            <a:off x="2855641" y="2712066"/>
            <a:ext cx="1616827" cy="369332"/>
          </a:xfrm>
          <a:prstGeom prst="rect">
            <a:avLst/>
          </a:prstGeom>
          <a:noFill/>
        </p:spPr>
        <p:txBody>
          <a:bodyPr wrap="square" rtlCol="0">
            <a:spAutoFit/>
          </a:bodyPr>
          <a:lstStyle/>
          <a:p>
            <a:pPr algn="ctr"/>
            <a:r>
              <a:rPr lang="en-US" altLang="zh-TW" dirty="0"/>
              <a:t>Chromosome 2</a:t>
            </a:r>
            <a:endParaRPr lang="zh-TW" altLang="en-US" dirty="0"/>
          </a:p>
        </p:txBody>
      </p:sp>
      <p:sp>
        <p:nvSpPr>
          <p:cNvPr id="388" name="文字方塊 387"/>
          <p:cNvSpPr txBox="1"/>
          <p:nvPr/>
        </p:nvSpPr>
        <p:spPr>
          <a:xfrm>
            <a:off x="4316461" y="4024741"/>
            <a:ext cx="1615635" cy="369332"/>
          </a:xfrm>
          <a:prstGeom prst="rect">
            <a:avLst/>
          </a:prstGeom>
          <a:noFill/>
        </p:spPr>
        <p:txBody>
          <a:bodyPr wrap="none" rtlCol="0">
            <a:spAutoFit/>
          </a:bodyPr>
          <a:lstStyle/>
          <a:p>
            <a:r>
              <a:rPr lang="en-US" altLang="zh-TW" dirty="0"/>
              <a:t>Chromosome 1</a:t>
            </a:r>
            <a:endParaRPr lang="zh-TW" altLang="en-US" dirty="0"/>
          </a:p>
        </p:txBody>
      </p:sp>
      <p:sp>
        <p:nvSpPr>
          <p:cNvPr id="389" name="文字方塊 388"/>
          <p:cNvSpPr txBox="1"/>
          <p:nvPr/>
        </p:nvSpPr>
        <p:spPr>
          <a:xfrm>
            <a:off x="4316460" y="5841896"/>
            <a:ext cx="1615635" cy="369332"/>
          </a:xfrm>
          <a:prstGeom prst="rect">
            <a:avLst/>
          </a:prstGeom>
          <a:noFill/>
        </p:spPr>
        <p:txBody>
          <a:bodyPr wrap="none" rtlCol="0">
            <a:spAutoFit/>
          </a:bodyPr>
          <a:lstStyle/>
          <a:p>
            <a:r>
              <a:rPr lang="en-US" altLang="zh-TW" dirty="0"/>
              <a:t>Chromosome 2</a:t>
            </a:r>
            <a:endParaRPr lang="zh-TW" altLang="en-US" dirty="0"/>
          </a:p>
        </p:txBody>
      </p:sp>
      <p:cxnSp>
        <p:nvCxnSpPr>
          <p:cNvPr id="392" name="直線單箭頭接點 391"/>
          <p:cNvCxnSpPr/>
          <p:nvPr/>
        </p:nvCxnSpPr>
        <p:spPr>
          <a:xfrm>
            <a:off x="5279383" y="5229308"/>
            <a:ext cx="1688603"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94" name="文字方塊 393"/>
          <p:cNvSpPr txBox="1"/>
          <p:nvPr/>
        </p:nvSpPr>
        <p:spPr>
          <a:xfrm>
            <a:off x="7755250" y="620688"/>
            <a:ext cx="1653119" cy="369332"/>
          </a:xfrm>
          <a:prstGeom prst="rect">
            <a:avLst/>
          </a:prstGeom>
          <a:noFill/>
        </p:spPr>
        <p:txBody>
          <a:bodyPr wrap="square" rtlCol="0">
            <a:spAutoFit/>
          </a:bodyPr>
          <a:lstStyle/>
          <a:p>
            <a:pPr algn="ctr"/>
            <a:r>
              <a:rPr lang="en-US" altLang="zh-TW" dirty="0"/>
              <a:t>Chromosome 1</a:t>
            </a:r>
            <a:endParaRPr lang="zh-TW" altLang="en-US" dirty="0"/>
          </a:p>
        </p:txBody>
      </p:sp>
      <p:sp>
        <p:nvSpPr>
          <p:cNvPr id="395" name="文字方塊 394"/>
          <p:cNvSpPr txBox="1"/>
          <p:nvPr/>
        </p:nvSpPr>
        <p:spPr>
          <a:xfrm>
            <a:off x="7754678" y="2712066"/>
            <a:ext cx="1616827" cy="369332"/>
          </a:xfrm>
          <a:prstGeom prst="rect">
            <a:avLst/>
          </a:prstGeom>
          <a:noFill/>
        </p:spPr>
        <p:txBody>
          <a:bodyPr wrap="square" rtlCol="0">
            <a:spAutoFit/>
          </a:bodyPr>
          <a:lstStyle/>
          <a:p>
            <a:pPr algn="ctr"/>
            <a:r>
              <a:rPr lang="en-US" altLang="zh-TW" dirty="0"/>
              <a:t>Chromosome 2</a:t>
            </a:r>
            <a:endParaRPr lang="zh-TW" altLang="en-US" dirty="0"/>
          </a:p>
        </p:txBody>
      </p:sp>
      <p:sp>
        <p:nvSpPr>
          <p:cNvPr id="398" name="文字方塊 397"/>
          <p:cNvSpPr txBox="1"/>
          <p:nvPr/>
        </p:nvSpPr>
        <p:spPr>
          <a:xfrm>
            <a:off x="8832305" y="3963998"/>
            <a:ext cx="1601721" cy="369332"/>
          </a:xfrm>
          <a:prstGeom prst="rect">
            <a:avLst/>
          </a:prstGeom>
          <a:noFill/>
        </p:spPr>
        <p:txBody>
          <a:bodyPr wrap="none" rtlCol="0">
            <a:spAutoFit/>
          </a:bodyPr>
          <a:lstStyle/>
          <a:p>
            <a:pPr algn="ctr"/>
            <a:r>
              <a:rPr lang="en-US" altLang="zh-TW" dirty="0"/>
              <a:t>Chromosome 1</a:t>
            </a:r>
            <a:endParaRPr lang="zh-TW" altLang="en-US" dirty="0"/>
          </a:p>
        </p:txBody>
      </p:sp>
      <p:sp>
        <p:nvSpPr>
          <p:cNvPr id="399" name="文字方塊 398"/>
          <p:cNvSpPr txBox="1"/>
          <p:nvPr/>
        </p:nvSpPr>
        <p:spPr>
          <a:xfrm>
            <a:off x="8787254" y="5916270"/>
            <a:ext cx="1691821" cy="369332"/>
          </a:xfrm>
          <a:prstGeom prst="rect">
            <a:avLst/>
          </a:prstGeom>
          <a:noFill/>
        </p:spPr>
        <p:txBody>
          <a:bodyPr wrap="square" rtlCol="0">
            <a:spAutoFit/>
          </a:bodyPr>
          <a:lstStyle/>
          <a:p>
            <a:pPr algn="ctr"/>
            <a:r>
              <a:rPr lang="en-US" altLang="zh-TW" dirty="0"/>
              <a:t>Chromosome 2</a:t>
            </a:r>
            <a:endParaRPr lang="zh-TW" altLang="en-US" dirty="0"/>
          </a:p>
        </p:txBody>
      </p:sp>
      <p:sp>
        <p:nvSpPr>
          <p:cNvPr id="135" name="文字方塊 134"/>
          <p:cNvSpPr txBox="1"/>
          <p:nvPr/>
        </p:nvSpPr>
        <p:spPr>
          <a:xfrm>
            <a:off x="5178306" y="323365"/>
            <a:ext cx="2642721" cy="646331"/>
          </a:xfrm>
          <a:prstGeom prst="rect">
            <a:avLst/>
          </a:prstGeom>
          <a:noFill/>
        </p:spPr>
        <p:txBody>
          <a:bodyPr wrap="square" rtlCol="0">
            <a:spAutoFit/>
          </a:bodyPr>
          <a:lstStyle/>
          <a:p>
            <a:r>
              <a:rPr lang="en-US" altLang="zh-TW" dirty="0"/>
              <a:t>Recombination (crossover)</a:t>
            </a:r>
          </a:p>
          <a:p>
            <a:r>
              <a:rPr lang="en-US" altLang="zh-TW" dirty="0"/>
              <a:t>(two-point)</a:t>
            </a:r>
            <a:endParaRPr lang="zh-TW" altLang="en-US" dirty="0"/>
          </a:p>
        </p:txBody>
      </p:sp>
      <p:cxnSp>
        <p:nvCxnSpPr>
          <p:cNvPr id="136" name="直線單箭頭接點 135"/>
          <p:cNvCxnSpPr/>
          <p:nvPr/>
        </p:nvCxnSpPr>
        <p:spPr>
          <a:xfrm>
            <a:off x="5169488" y="620688"/>
            <a:ext cx="1574585"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37" name="群組 136"/>
          <p:cNvGrpSpPr/>
          <p:nvPr/>
        </p:nvGrpSpPr>
        <p:grpSpPr>
          <a:xfrm>
            <a:off x="2567609" y="3154356"/>
            <a:ext cx="1484921" cy="1210748"/>
            <a:chOff x="2012299" y="3355555"/>
            <a:chExt cx="2073803" cy="1607046"/>
          </a:xfrm>
        </p:grpSpPr>
        <mc:AlternateContent xmlns:mc="http://schemas.openxmlformats.org/markup-compatibility/2006" xmlns:a14="http://schemas.microsoft.com/office/drawing/2010/main">
          <mc:Choice Requires="a14">
            <p:sp>
              <p:nvSpPr>
                <p:cNvPr id="138" name="橢圓 137"/>
                <p:cNvSpPr/>
                <p:nvPr/>
              </p:nvSpPr>
              <p:spPr>
                <a:xfrm>
                  <a:off x="3202779" y="3355555"/>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&gt;</m:t>
                        </m:r>
                      </m:oMath>
                    </m:oMathPara>
                  </a14:m>
                  <a:endParaRPr lang="en-US" altLang="zh-TW" sz="2000" dirty="0">
                    <a:solidFill>
                      <a:schemeClr val="tx1"/>
                    </a:solidFill>
                  </a:endParaRPr>
                </a:p>
              </p:txBody>
            </p:sp>
          </mc:Choice>
          <mc:Fallback xmlns="">
            <p:sp>
              <p:nvSpPr>
                <p:cNvPr id="138" name="橢圓 137"/>
                <p:cNvSpPr>
                  <a:spLocks noRot="1" noChangeAspect="1" noMove="1" noResize="1" noEditPoints="1" noAdjustHandles="1" noChangeArrowheads="1" noChangeShapeType="1" noTextEdit="1"/>
                </p:cNvSpPr>
                <p:nvPr/>
              </p:nvSpPr>
              <p:spPr>
                <a:xfrm>
                  <a:off x="3202779" y="3355555"/>
                  <a:ext cx="294441" cy="298266"/>
                </a:xfrm>
                <a:prstGeom prst="ellipse">
                  <a:avLst/>
                </a:prstGeom>
                <a:blipFill rotWithShape="1">
                  <a:blip r:embed="rId29"/>
                  <a:stretch>
                    <a:fillRect l="-40541" r="-13514" b="-20513"/>
                  </a:stretch>
                </a:blipFill>
                <a:ln w="12700">
                  <a:solidFill>
                    <a:schemeClr val="tx1"/>
                  </a:solidFill>
                </a:ln>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139" name="橢圓 138"/>
                <p:cNvSpPr/>
                <p:nvPr/>
              </p:nvSpPr>
              <p:spPr>
                <a:xfrm>
                  <a:off x="2613897" y="375185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39" name="橢圓 138"/>
                <p:cNvSpPr>
                  <a:spLocks noRot="1" noChangeAspect="1" noMove="1" noResize="1" noEditPoints="1" noAdjustHandles="1" noChangeArrowheads="1" noChangeShapeType="1" noTextEdit="1"/>
                </p:cNvSpPr>
                <p:nvPr/>
              </p:nvSpPr>
              <p:spPr>
                <a:xfrm>
                  <a:off x="2613897" y="3751852"/>
                  <a:ext cx="294441" cy="298266"/>
                </a:xfrm>
                <a:prstGeom prst="ellipse">
                  <a:avLst/>
                </a:prstGeom>
                <a:blipFill rotWithShape="1">
                  <a:blip r:embed="rId30"/>
                  <a:stretch>
                    <a:fillRect l="-44444" r="-19444" b="-25641"/>
                  </a:stretch>
                </a:blipFill>
                <a:ln w="12700">
                  <a:solidFill>
                    <a:schemeClr val="tx1"/>
                  </a:solidFill>
                </a:ln>
              </p:spPr>
              <p:txBody>
                <a:bodyPr/>
                <a:lstStyle/>
                <a:p>
                  <a:r>
                    <a:rPr lang="zh-TW" altLang="en-US">
                      <a:noFill/>
                    </a:rPr>
                    <a:t> </a:t>
                  </a:r>
                </a:p>
              </p:txBody>
            </p:sp>
          </mc:Fallback>
        </mc:AlternateContent>
        <p:sp>
          <p:nvSpPr>
            <p:cNvPr id="140" name="橢圓 139"/>
            <p:cNvSpPr/>
            <p:nvPr/>
          </p:nvSpPr>
          <p:spPr>
            <a:xfrm>
              <a:off x="3791661" y="3751852"/>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S</a:t>
              </a:r>
            </a:p>
          </p:txBody>
        </p:sp>
        <mc:AlternateContent xmlns:mc="http://schemas.openxmlformats.org/markup-compatibility/2006" xmlns:a14="http://schemas.microsoft.com/office/drawing/2010/main">
          <mc:Choice Requires="a14">
            <p:sp>
              <p:nvSpPr>
                <p:cNvPr id="141" name="橢圓 140"/>
                <p:cNvSpPr/>
                <p:nvPr/>
              </p:nvSpPr>
              <p:spPr>
                <a:xfrm>
                  <a:off x="2319456" y="4196733"/>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TW" sz="2000" i="1">
                            <a:solidFill>
                              <a:schemeClr val="tx1"/>
                            </a:solidFill>
                            <a:latin typeface="Cambria Math"/>
                          </a:rPr>
                          <m:t>−</m:t>
                        </m:r>
                      </m:oMath>
                    </m:oMathPara>
                  </a14:m>
                  <a:endParaRPr lang="en-US" altLang="zh-TW" sz="2000" dirty="0">
                    <a:solidFill>
                      <a:schemeClr val="tx1"/>
                    </a:solidFill>
                  </a:endParaRPr>
                </a:p>
              </p:txBody>
            </p:sp>
          </mc:Choice>
          <mc:Fallback xmlns="">
            <p:sp>
              <p:nvSpPr>
                <p:cNvPr id="141" name="橢圓 140"/>
                <p:cNvSpPr>
                  <a:spLocks noRot="1" noChangeAspect="1" noMove="1" noResize="1" noEditPoints="1" noAdjustHandles="1" noChangeArrowheads="1" noChangeShapeType="1" noTextEdit="1"/>
                </p:cNvSpPr>
                <p:nvPr/>
              </p:nvSpPr>
              <p:spPr>
                <a:xfrm>
                  <a:off x="2319456" y="4196733"/>
                  <a:ext cx="294441" cy="298266"/>
                </a:xfrm>
                <a:prstGeom prst="ellipse">
                  <a:avLst/>
                </a:prstGeom>
                <a:blipFill rotWithShape="1">
                  <a:blip r:embed="rId31"/>
                  <a:stretch>
                    <a:fillRect l="-27027" b="-7692"/>
                  </a:stretch>
                </a:blipFill>
                <a:ln w="12700">
                  <a:solidFill>
                    <a:schemeClr val="tx1"/>
                  </a:solidFill>
                </a:ln>
              </p:spPr>
              <p:txBody>
                <a:bodyPr/>
                <a:lstStyle/>
                <a:p>
                  <a:r>
                    <a:rPr lang="zh-TW" altLang="en-US">
                      <a:noFill/>
                    </a:rPr>
                    <a:t> </a:t>
                  </a:r>
                </a:p>
              </p:txBody>
            </p:sp>
          </mc:Fallback>
        </mc:AlternateContent>
        <p:sp>
          <p:nvSpPr>
            <p:cNvPr id="142" name="橢圓 141"/>
            <p:cNvSpPr/>
            <p:nvPr/>
          </p:nvSpPr>
          <p:spPr>
            <a:xfrm>
              <a:off x="2908338" y="4196733"/>
              <a:ext cx="294441" cy="298266"/>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b</a:t>
              </a:r>
              <a:endParaRPr lang="zh-TW" altLang="en-US" sz="2000" dirty="0">
                <a:solidFill>
                  <a:schemeClr val="tx1"/>
                </a:solidFill>
              </a:endParaRPr>
            </a:p>
          </p:txBody>
        </p:sp>
        <p:sp>
          <p:nvSpPr>
            <p:cNvPr id="143" name="橢圓 142"/>
            <p:cNvSpPr/>
            <p:nvPr/>
          </p:nvSpPr>
          <p:spPr>
            <a:xfrm>
              <a:off x="3791661" y="4196734"/>
              <a:ext cx="294441" cy="298266"/>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e</a:t>
              </a:r>
              <a:endParaRPr lang="zh-TW" altLang="en-US" sz="2000" dirty="0">
                <a:solidFill>
                  <a:schemeClr val="tx1"/>
                </a:solidFill>
              </a:endParaRPr>
            </a:p>
          </p:txBody>
        </p:sp>
        <p:cxnSp>
          <p:nvCxnSpPr>
            <p:cNvPr id="144" name="直線接點 143"/>
            <p:cNvCxnSpPr>
              <a:stCxn id="138" idx="3"/>
              <a:endCxn id="139" idx="0"/>
            </p:cNvCxnSpPr>
            <p:nvPr/>
          </p:nvCxnSpPr>
          <p:spPr>
            <a:xfrm flipH="1">
              <a:off x="2761117"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線接點 144"/>
            <p:cNvCxnSpPr>
              <a:stCxn id="138" idx="5"/>
              <a:endCxn id="140" idx="0"/>
            </p:cNvCxnSpPr>
            <p:nvPr/>
          </p:nvCxnSpPr>
          <p:spPr>
            <a:xfrm>
              <a:off x="3454100" y="3610141"/>
              <a:ext cx="484781" cy="14171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線接點 145"/>
            <p:cNvCxnSpPr>
              <a:stCxn id="139" idx="3"/>
              <a:endCxn id="141" idx="0"/>
            </p:cNvCxnSpPr>
            <p:nvPr/>
          </p:nvCxnSpPr>
          <p:spPr>
            <a:xfrm flipH="1">
              <a:off x="2466677" y="4006438"/>
              <a:ext cx="190340" cy="1902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線接點 146"/>
            <p:cNvCxnSpPr>
              <a:stCxn id="139" idx="5"/>
              <a:endCxn id="142" idx="0"/>
            </p:cNvCxnSpPr>
            <p:nvPr/>
          </p:nvCxnSpPr>
          <p:spPr>
            <a:xfrm>
              <a:off x="2865218" y="4006438"/>
              <a:ext cx="190340" cy="19029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線接點 147"/>
            <p:cNvCxnSpPr>
              <a:stCxn id="140" idx="4"/>
              <a:endCxn id="143" idx="0"/>
            </p:cNvCxnSpPr>
            <p:nvPr/>
          </p:nvCxnSpPr>
          <p:spPr>
            <a:xfrm>
              <a:off x="3938882" y="4050118"/>
              <a:ext cx="0" cy="14661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9" name="橢圓 148"/>
            <p:cNvSpPr/>
            <p:nvPr/>
          </p:nvSpPr>
          <p:spPr>
            <a:xfrm>
              <a:off x="2012299" y="4588103"/>
              <a:ext cx="368415" cy="368014"/>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3</a:t>
              </a:r>
              <a:endParaRPr lang="zh-TW" altLang="en-US" sz="2000" dirty="0">
                <a:solidFill>
                  <a:schemeClr val="tx1"/>
                </a:solidFill>
              </a:endParaRPr>
            </a:p>
          </p:txBody>
        </p:sp>
        <p:cxnSp>
          <p:nvCxnSpPr>
            <p:cNvPr id="150" name="直線接點 149"/>
            <p:cNvCxnSpPr>
              <a:stCxn id="141" idx="3"/>
              <a:endCxn id="149" idx="0"/>
            </p:cNvCxnSpPr>
            <p:nvPr/>
          </p:nvCxnSpPr>
          <p:spPr>
            <a:xfrm flipH="1">
              <a:off x="2196507" y="4451319"/>
              <a:ext cx="166069" cy="1367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1" name="橢圓 150"/>
            <p:cNvSpPr/>
            <p:nvPr/>
          </p:nvSpPr>
          <p:spPr>
            <a:xfrm>
              <a:off x="2548554" y="4594587"/>
              <a:ext cx="368415" cy="368014"/>
            </a:xfrm>
            <a:prstGeom prst="ellipse">
              <a:avLst/>
            </a:prstGeom>
            <a:solidFill>
              <a:srgbClr val="FF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2000" dirty="0">
                  <a:solidFill>
                    <a:schemeClr val="tx1"/>
                  </a:solidFill>
                </a:rPr>
                <a:t>d</a:t>
              </a:r>
              <a:endParaRPr lang="zh-TW" altLang="en-US" sz="2000" dirty="0">
                <a:solidFill>
                  <a:schemeClr val="tx1"/>
                </a:solidFill>
              </a:endParaRPr>
            </a:p>
          </p:txBody>
        </p:sp>
        <p:cxnSp>
          <p:nvCxnSpPr>
            <p:cNvPr id="152" name="直線接點 151"/>
            <p:cNvCxnSpPr>
              <a:stCxn id="141" idx="5"/>
              <a:endCxn id="151" idx="0"/>
            </p:cNvCxnSpPr>
            <p:nvPr/>
          </p:nvCxnSpPr>
          <p:spPr>
            <a:xfrm>
              <a:off x="2570777" y="4451319"/>
              <a:ext cx="161985" cy="143268"/>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3" name="橢圓 152"/>
          <p:cNvSpPr/>
          <p:nvPr/>
        </p:nvSpPr>
        <p:spPr>
          <a:xfrm>
            <a:off x="6925374" y="4082918"/>
            <a:ext cx="211520" cy="210178"/>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4</a:t>
            </a:r>
            <a:endParaRPr lang="zh-TW" altLang="en-US" dirty="0">
              <a:solidFill>
                <a:schemeClr val="tx1"/>
              </a:solidFill>
            </a:endParaRPr>
          </a:p>
        </p:txBody>
      </p:sp>
      <p:sp>
        <p:nvSpPr>
          <p:cNvPr id="154" name="橢圓 153"/>
          <p:cNvSpPr/>
          <p:nvPr/>
        </p:nvSpPr>
        <p:spPr>
          <a:xfrm>
            <a:off x="7348414" y="4082918"/>
            <a:ext cx="211520" cy="210178"/>
          </a:xfrm>
          <a:prstGeom prst="ellipse">
            <a:avLst/>
          </a:prstGeom>
          <a:solidFill>
            <a:srgbClr val="00B05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b</a:t>
            </a:r>
            <a:endParaRPr lang="zh-TW" altLang="en-US" dirty="0">
              <a:solidFill>
                <a:schemeClr val="tx1"/>
              </a:solidFill>
            </a:endParaRPr>
          </a:p>
        </p:txBody>
      </p:sp>
      <p:cxnSp>
        <p:nvCxnSpPr>
          <p:cNvPr id="155" name="直線接點 154"/>
          <p:cNvCxnSpPr>
            <a:stCxn id="335" idx="3"/>
            <a:endCxn id="153" idx="0"/>
          </p:cNvCxnSpPr>
          <p:nvPr/>
        </p:nvCxnSpPr>
        <p:spPr>
          <a:xfrm flipH="1">
            <a:off x="7031135" y="3917778"/>
            <a:ext cx="174367" cy="165140"/>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線接點 155"/>
          <p:cNvCxnSpPr>
            <a:stCxn id="335" idx="5"/>
            <a:endCxn id="154" idx="0"/>
          </p:cNvCxnSpPr>
          <p:nvPr/>
        </p:nvCxnSpPr>
        <p:spPr>
          <a:xfrm>
            <a:off x="7351058" y="3917778"/>
            <a:ext cx="103117" cy="165140"/>
          </a:xfrm>
          <a:prstGeom prst="line">
            <a:avLst/>
          </a:prstGeom>
          <a:noFill/>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280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48193" y="477078"/>
            <a:ext cx="8915507" cy="6023113"/>
          </a:xfrm>
          <a:prstGeom prst="rect">
            <a:avLst/>
          </a:prstGeom>
        </p:spPr>
      </p:pic>
      <p:sp>
        <p:nvSpPr>
          <p:cNvPr id="2" name="標題 1"/>
          <p:cNvSpPr>
            <a:spLocks noGrp="1"/>
          </p:cNvSpPr>
          <p:nvPr>
            <p:ph type="title"/>
          </p:nvPr>
        </p:nvSpPr>
        <p:spPr>
          <a:xfrm>
            <a:off x="891208" y="192847"/>
            <a:ext cx="10515600" cy="1325563"/>
          </a:xfrm>
        </p:spPr>
        <p:txBody>
          <a:bodyPr/>
          <a:lstStyle/>
          <a:p>
            <a:r>
              <a:rPr lang="en-US" altLang="zh-TW" dirty="0"/>
              <a:t>GEP</a:t>
            </a:r>
            <a:endParaRPr lang="zh-TW" altLang="en-US" dirty="0"/>
          </a:p>
        </p:txBody>
      </p:sp>
    </p:spTree>
    <p:extLst>
      <p:ext uri="{BB962C8B-B14F-4D97-AF65-F5344CB8AC3E}">
        <p14:creationId xmlns:p14="http://schemas.microsoft.com/office/powerpoint/2010/main" val="1203811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9820" y="3697358"/>
            <a:ext cx="6153189" cy="1585221"/>
          </a:xfrm>
          <a:prstGeom prst="rect">
            <a:avLst/>
          </a:prstGeom>
        </p:spPr>
      </p:pic>
      <p:sp>
        <p:nvSpPr>
          <p:cNvPr id="2" name="標題 1"/>
          <p:cNvSpPr>
            <a:spLocks noGrp="1"/>
          </p:cNvSpPr>
          <p:nvPr>
            <p:ph type="title"/>
          </p:nvPr>
        </p:nvSpPr>
        <p:spPr/>
        <p:txBody>
          <a:bodyPr/>
          <a:lstStyle/>
          <a:p>
            <a:r>
              <a:rPr lang="en-US" altLang="zh-TW" dirty="0"/>
              <a:t>SPA</a:t>
            </a:r>
            <a:endParaRPr lang="zh-TW" altLang="en-US" dirty="0"/>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493316" y="2204795"/>
            <a:ext cx="6143762" cy="1638336"/>
          </a:xfrm>
        </p:spPr>
      </p:pic>
    </p:spTree>
    <p:extLst>
      <p:ext uri="{BB962C8B-B14F-4D97-AF65-F5344CB8AC3E}">
        <p14:creationId xmlns:p14="http://schemas.microsoft.com/office/powerpoint/2010/main" val="13102281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Sortino</a:t>
            </a:r>
            <a:r>
              <a:rPr lang="en-US" altLang="zh-TW" dirty="0"/>
              <a:t> ratio</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54222" y="1908801"/>
            <a:ext cx="6415987" cy="3821751"/>
          </a:xfrm>
        </p:spPr>
      </p:pic>
    </p:spTree>
    <p:extLst>
      <p:ext uri="{BB962C8B-B14F-4D97-AF65-F5344CB8AC3E}">
        <p14:creationId xmlns:p14="http://schemas.microsoft.com/office/powerpoint/2010/main" val="3838922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 paper’s method</a:t>
            </a:r>
            <a:endParaRPr lang="zh-TW" altLang="en-US" dirty="0"/>
          </a:p>
        </p:txBody>
      </p:sp>
      <p:sp>
        <p:nvSpPr>
          <p:cNvPr id="3" name="內容版面配置區 2"/>
          <p:cNvSpPr>
            <a:spLocks noGrp="1"/>
          </p:cNvSpPr>
          <p:nvPr>
            <p:ph idx="1"/>
          </p:nvPr>
        </p:nvSpPr>
        <p:spPr/>
        <p:txBody>
          <a:bodyPr/>
          <a:lstStyle/>
          <a:p>
            <a:r>
              <a:rPr lang="en-US" altLang="zh-TW" dirty="0"/>
              <a:t>The trading signals generated by the </a:t>
            </a:r>
            <a:r>
              <a:rPr lang="en-US" altLang="zh-TW" dirty="0">
                <a:solidFill>
                  <a:srgbClr val="0070C0"/>
                </a:solidFill>
              </a:rPr>
              <a:t>GEP</a:t>
            </a:r>
            <a:r>
              <a:rPr lang="en-US" altLang="zh-TW" dirty="0"/>
              <a:t> .</a:t>
            </a:r>
          </a:p>
          <a:p>
            <a:r>
              <a:rPr lang="en-US" altLang="zh-TW" dirty="0"/>
              <a:t>The funds which can be invested are ranked with the </a:t>
            </a:r>
            <a:r>
              <a:rPr lang="en-US" altLang="zh-TW" dirty="0" err="1">
                <a:solidFill>
                  <a:srgbClr val="0070C0"/>
                </a:solidFill>
              </a:rPr>
              <a:t>Sortino</a:t>
            </a:r>
            <a:r>
              <a:rPr lang="en-US" altLang="zh-TW" dirty="0">
                <a:solidFill>
                  <a:srgbClr val="0070C0"/>
                </a:solidFill>
              </a:rPr>
              <a:t> ratio</a:t>
            </a:r>
            <a:r>
              <a:rPr lang="en-US" altLang="zh-TW" dirty="0"/>
              <a:t>. </a:t>
            </a:r>
          </a:p>
          <a:p>
            <a:r>
              <a:rPr lang="en-US" altLang="zh-TW" dirty="0"/>
              <a:t>Allocation capital</a:t>
            </a:r>
            <a:r>
              <a:rPr lang="zh-TW" altLang="en-US" dirty="0"/>
              <a:t>：</a:t>
            </a:r>
            <a:r>
              <a:rPr lang="en-US" altLang="zh-TW" dirty="0">
                <a:solidFill>
                  <a:srgbClr val="0070C0"/>
                </a:solidFill>
              </a:rPr>
              <a:t>EQ model</a:t>
            </a:r>
            <a:r>
              <a:rPr lang="zh-TW" altLang="en-US" dirty="0">
                <a:solidFill>
                  <a:srgbClr val="0070C0"/>
                </a:solidFill>
              </a:rPr>
              <a:t>、</a:t>
            </a:r>
            <a:r>
              <a:rPr lang="en-US" altLang="zh-TW" dirty="0">
                <a:solidFill>
                  <a:srgbClr val="0070C0"/>
                </a:solidFill>
              </a:rPr>
              <a:t>MV model </a:t>
            </a:r>
            <a:endParaRPr lang="zh-TW" altLang="en-US" dirty="0">
              <a:solidFill>
                <a:srgbClr val="0070C0"/>
              </a:solidFill>
            </a:endParaRPr>
          </a:p>
        </p:txBody>
      </p:sp>
    </p:spTree>
    <p:extLst>
      <p:ext uri="{BB962C8B-B14F-4D97-AF65-F5344CB8AC3E}">
        <p14:creationId xmlns:p14="http://schemas.microsoft.com/office/powerpoint/2010/main" val="12131097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9193" y="105881"/>
            <a:ext cx="3708524" cy="6738257"/>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61042" y="1615321"/>
            <a:ext cx="5919479" cy="4991724"/>
          </a:xfrm>
          <a:prstGeom prst="rect">
            <a:avLst/>
          </a:prstGeom>
        </p:spPr>
      </p:pic>
      <p:sp>
        <p:nvSpPr>
          <p:cNvPr id="7" name="文字方塊 6"/>
          <p:cNvSpPr txBox="1"/>
          <p:nvPr/>
        </p:nvSpPr>
        <p:spPr>
          <a:xfrm>
            <a:off x="4506462" y="265272"/>
            <a:ext cx="7130642" cy="646331"/>
          </a:xfrm>
          <a:prstGeom prst="rect">
            <a:avLst/>
          </a:prstGeom>
          <a:noFill/>
        </p:spPr>
        <p:txBody>
          <a:bodyPr wrap="square" rtlCol="0">
            <a:spAutoFit/>
          </a:bodyPr>
          <a:lstStyle/>
          <a:p>
            <a:r>
              <a:rPr lang="en-US" altLang="zh-TW" b="1" dirty="0" err="1">
                <a:solidFill>
                  <a:srgbClr val="0070C0"/>
                </a:solidFill>
              </a:rPr>
              <a:t>isMarketOpen</a:t>
            </a:r>
            <a:r>
              <a:rPr lang="en-US" altLang="zh-TW" b="1" dirty="0">
                <a:solidFill>
                  <a:srgbClr val="0070C0"/>
                </a:solidFill>
              </a:rPr>
              <a:t>(t)</a:t>
            </a:r>
            <a:r>
              <a:rPr lang="zh-TW" altLang="en-US" b="1" dirty="0">
                <a:solidFill>
                  <a:srgbClr val="0070C0"/>
                </a:solidFill>
              </a:rPr>
              <a:t>：</a:t>
            </a:r>
            <a:endParaRPr lang="en-US" altLang="zh-TW" b="1" dirty="0">
              <a:solidFill>
                <a:srgbClr val="0070C0"/>
              </a:solidFill>
            </a:endParaRPr>
          </a:p>
          <a:p>
            <a:r>
              <a:rPr lang="zh-TW" altLang="en-US" dirty="0"/>
              <a:t>如果市場第</a:t>
            </a:r>
            <a:r>
              <a:rPr lang="en-US" altLang="zh-TW" dirty="0"/>
              <a:t>t</a:t>
            </a:r>
            <a:r>
              <a:rPr lang="zh-TW" altLang="en-US" dirty="0"/>
              <a:t>天的可交易基金數量 </a:t>
            </a:r>
            <a:r>
              <a:rPr lang="en-US" altLang="zh-TW" dirty="0"/>
              <a:t>&gt; </a:t>
            </a:r>
            <a:r>
              <a:rPr lang="zh-TW" altLang="en-US" dirty="0"/>
              <a:t>第</a:t>
            </a:r>
            <a:r>
              <a:rPr lang="en-US" altLang="zh-TW" dirty="0"/>
              <a:t>t</a:t>
            </a:r>
            <a:r>
              <a:rPr lang="zh-TW" altLang="en-US" dirty="0"/>
              <a:t>天之前發行的所有基金的</a:t>
            </a:r>
            <a:r>
              <a:rPr lang="en-US" altLang="zh-TW" dirty="0"/>
              <a:t>10%</a:t>
            </a:r>
            <a:endParaRPr lang="zh-TW" altLang="en-US" dirty="0"/>
          </a:p>
        </p:txBody>
      </p:sp>
    </p:spTree>
    <p:extLst>
      <p:ext uri="{BB962C8B-B14F-4D97-AF65-F5344CB8AC3E}">
        <p14:creationId xmlns:p14="http://schemas.microsoft.com/office/powerpoint/2010/main" val="35447346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93065" y="1386003"/>
            <a:ext cx="5384409" cy="4612614"/>
          </a:xfrm>
        </p:spPr>
      </p:pic>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6594" y="1386003"/>
            <a:ext cx="5942202" cy="4385911"/>
          </a:xfrm>
          <a:prstGeom prst="rect">
            <a:avLst/>
          </a:prstGeom>
        </p:spPr>
      </p:pic>
    </p:spTree>
    <p:extLst>
      <p:ext uri="{BB962C8B-B14F-4D97-AF65-F5344CB8AC3E}">
        <p14:creationId xmlns:p14="http://schemas.microsoft.com/office/powerpoint/2010/main" val="42067446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Determining the timing with GEP</a:t>
            </a:r>
            <a:endParaRPr lang="zh-TW" altLang="en-US" dirty="0"/>
          </a:p>
        </p:txBody>
      </p:sp>
      <p:sp>
        <p:nvSpPr>
          <p:cNvPr id="3" name="內容版面配置區 2"/>
          <p:cNvSpPr>
            <a:spLocks noGrp="1"/>
          </p:cNvSpPr>
          <p:nvPr>
            <p:ph idx="1"/>
          </p:nvPr>
        </p:nvSpPr>
        <p:spPr/>
        <p:txBody>
          <a:bodyPr/>
          <a:lstStyle/>
          <a:p>
            <a:pPr algn="just"/>
            <a:r>
              <a:rPr lang="en-US" altLang="zh-TW" dirty="0"/>
              <a:t>To simplify the procedure of determining the trading timing, we assume that we can buy and sell GTI. </a:t>
            </a:r>
            <a:r>
              <a:rPr lang="en-US" altLang="zh-TW" b="1" dirty="0">
                <a:solidFill>
                  <a:srgbClr val="0070C0"/>
                </a:solidFill>
              </a:rPr>
              <a:t>The fitness function of GEP is to maximize the return of GTI in the training period.</a:t>
            </a:r>
          </a:p>
          <a:p>
            <a:pPr algn="just"/>
            <a:endParaRPr lang="en-US" altLang="zh-TW" b="1" dirty="0">
              <a:solidFill>
                <a:srgbClr val="0070C0"/>
              </a:solidFill>
            </a:endParaRPr>
          </a:p>
          <a:p>
            <a:pPr algn="just"/>
            <a:r>
              <a:rPr lang="en-US" altLang="zh-TW" dirty="0"/>
              <a:t>Our trading interval is one week, thus we put </a:t>
            </a:r>
            <a:r>
              <a:rPr lang="en-US" altLang="zh-TW" dirty="0">
                <a:solidFill>
                  <a:srgbClr val="0070C0"/>
                </a:solidFill>
              </a:rPr>
              <a:t>the weekly monitor indicator (</a:t>
            </a:r>
            <a:r>
              <a:rPr lang="en-US" altLang="zh-TW" dirty="0" err="1">
                <a:solidFill>
                  <a:srgbClr val="0070C0"/>
                </a:solidFill>
              </a:rPr>
              <a:t>MI</a:t>
            </a:r>
            <a:r>
              <a:rPr lang="en-US" altLang="zh-TW" baseline="30000" dirty="0" err="1">
                <a:solidFill>
                  <a:srgbClr val="0070C0"/>
                </a:solidFill>
              </a:rPr>
              <a:t>w</a:t>
            </a:r>
            <a:r>
              <a:rPr lang="en-US" altLang="zh-TW" dirty="0">
                <a:solidFill>
                  <a:srgbClr val="0070C0"/>
                </a:solidFill>
              </a:rPr>
              <a:t>)</a:t>
            </a:r>
            <a:r>
              <a:rPr lang="en-US" altLang="zh-TW" dirty="0"/>
              <a:t> in the terminal set of GEP, which can be viewed as the feature of </a:t>
            </a:r>
            <a:r>
              <a:rPr lang="en-US" altLang="zh-TW" b="1" dirty="0">
                <a:solidFill>
                  <a:srgbClr val="0070C0"/>
                </a:solidFill>
              </a:rPr>
              <a:t>market situation</a:t>
            </a:r>
            <a:r>
              <a:rPr lang="en-US" altLang="zh-TW" dirty="0"/>
              <a:t>.</a:t>
            </a:r>
            <a:endParaRPr lang="zh-TW" altLang="en-US" dirty="0"/>
          </a:p>
        </p:txBody>
      </p:sp>
    </p:spTree>
    <p:extLst>
      <p:ext uri="{BB962C8B-B14F-4D97-AF65-F5344CB8AC3E}">
        <p14:creationId xmlns:p14="http://schemas.microsoft.com/office/powerpoint/2010/main" val="16729944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Portfolio management</a:t>
            </a:r>
            <a:endParaRPr lang="zh-TW" altLang="en-US" dirty="0"/>
          </a:p>
        </p:txBody>
      </p:sp>
      <p:sp>
        <p:nvSpPr>
          <p:cNvPr id="3" name="內容版面配置區 2"/>
          <p:cNvSpPr>
            <a:spLocks noGrp="1"/>
          </p:cNvSpPr>
          <p:nvPr>
            <p:ph idx="1"/>
          </p:nvPr>
        </p:nvSpPr>
        <p:spPr/>
        <p:txBody>
          <a:bodyPr>
            <a:normAutofit/>
          </a:bodyPr>
          <a:lstStyle/>
          <a:p>
            <a:r>
              <a:rPr lang="en-US" altLang="zh-TW" dirty="0"/>
              <a:t>Buying signal</a:t>
            </a:r>
            <a:r>
              <a:rPr lang="zh-TW" altLang="en-US" dirty="0"/>
              <a:t>：</a:t>
            </a:r>
            <a:r>
              <a:rPr lang="en-US" altLang="zh-TW" dirty="0"/>
              <a:t>We pick out superior funds</a:t>
            </a:r>
            <a:r>
              <a:rPr lang="zh-TW" altLang="en-US" dirty="0"/>
              <a:t>　</a:t>
            </a:r>
            <a:r>
              <a:rPr lang="en-US" altLang="zh-TW" dirty="0"/>
              <a:t>according to the </a:t>
            </a:r>
            <a:r>
              <a:rPr lang="en-US" altLang="zh-TW" dirty="0" err="1"/>
              <a:t>Sortino</a:t>
            </a:r>
            <a:r>
              <a:rPr lang="en-US" altLang="zh-TW" dirty="0"/>
              <a:t> ratios from current available funds as our</a:t>
            </a:r>
            <a:r>
              <a:rPr lang="zh-TW" altLang="en-US" dirty="0"/>
              <a:t>　</a:t>
            </a:r>
            <a:r>
              <a:rPr lang="en-US" altLang="zh-TW" dirty="0"/>
              <a:t>investment objects, and put them into the portfolio with size N.</a:t>
            </a:r>
          </a:p>
          <a:p>
            <a:r>
              <a:rPr lang="en-US" altLang="zh-TW" dirty="0"/>
              <a:t>Selling signal</a:t>
            </a:r>
            <a:r>
              <a:rPr lang="zh-TW" altLang="en-US" dirty="0"/>
              <a:t> ： </a:t>
            </a:r>
            <a:r>
              <a:rPr lang="en-US" altLang="zh-TW" dirty="0"/>
              <a:t>Redeem all held funds.</a:t>
            </a:r>
          </a:p>
          <a:p>
            <a:r>
              <a:rPr lang="en-US" altLang="zh-TW" dirty="0"/>
              <a:t>Replacing signal</a:t>
            </a:r>
            <a:r>
              <a:rPr lang="zh-TW" altLang="en-US" dirty="0"/>
              <a:t>：</a:t>
            </a:r>
            <a:r>
              <a:rPr lang="en-US" altLang="zh-TW" dirty="0"/>
              <a:t>Some inferior funds in the current portfolio are replaced by superior ones with the replacement method proposed by Tsai et al. [35]. </a:t>
            </a:r>
          </a:p>
          <a:p>
            <a:pPr marL="0" indent="0">
              <a:buNone/>
            </a:pPr>
            <a:r>
              <a:rPr lang="en-US" altLang="zh-TW" dirty="0">
                <a:solidFill>
                  <a:srgbClr val="0070C0"/>
                </a:solidFill>
              </a:rPr>
              <a:t>replacement threshold</a:t>
            </a:r>
            <a:r>
              <a:rPr lang="zh-TW" altLang="en-US" dirty="0">
                <a:solidFill>
                  <a:srgbClr val="0070C0"/>
                </a:solidFill>
              </a:rPr>
              <a:t> ：</a:t>
            </a:r>
            <a:r>
              <a:rPr lang="en-US" altLang="zh-TW" dirty="0">
                <a:solidFill>
                  <a:srgbClr val="0070C0"/>
                </a:solidFill>
                <a:latin typeface="Cambria" panose="02040503050406030204" pitchFamily="18" charset="0"/>
              </a:rPr>
              <a:t>γ</a:t>
            </a:r>
          </a:p>
          <a:p>
            <a:pPr marL="0" indent="0">
              <a:buNone/>
            </a:pPr>
            <a:r>
              <a:rPr lang="zh-TW" altLang="en-US" sz="1900" dirty="0"/>
              <a:t>（</a:t>
            </a:r>
            <a:r>
              <a:rPr lang="en-US" altLang="zh-TW" sz="1900" dirty="0"/>
              <a:t>Ex : suppose there are 120 available funds and </a:t>
            </a:r>
            <a:r>
              <a:rPr lang="en-US" altLang="zh-TW" sz="1900" dirty="0">
                <a:latin typeface="Cambria" panose="02040503050406030204" pitchFamily="18" charset="0"/>
              </a:rPr>
              <a:t>γ</a:t>
            </a:r>
            <a:r>
              <a:rPr lang="en-US" altLang="zh-TW" sz="1900" dirty="0"/>
              <a:t> = 60%. Once the </a:t>
            </a:r>
            <a:r>
              <a:rPr lang="en-US" altLang="zh-TW" sz="1900" dirty="0" err="1"/>
              <a:t>Sortino</a:t>
            </a:r>
            <a:r>
              <a:rPr lang="en-US" altLang="zh-TW" sz="1900" dirty="0"/>
              <a:t> rank of a certain fund falls outside top 72 (= 120 × 60%), this fund will be replaced by a one with higher </a:t>
            </a:r>
            <a:r>
              <a:rPr lang="en-US" altLang="zh-TW" sz="1900" dirty="0" err="1"/>
              <a:t>Sortino</a:t>
            </a:r>
            <a:r>
              <a:rPr lang="en-US" altLang="zh-TW" sz="1900" dirty="0"/>
              <a:t> rank. </a:t>
            </a:r>
            <a:r>
              <a:rPr lang="zh-TW" altLang="en-US" sz="1900" dirty="0"/>
              <a:t>）</a:t>
            </a:r>
            <a:endParaRPr lang="zh-TW" altLang="en-US" sz="1900" dirty="0"/>
          </a:p>
        </p:txBody>
      </p:sp>
    </p:spTree>
    <p:extLst>
      <p:ext uri="{BB962C8B-B14F-4D97-AF65-F5344CB8AC3E}">
        <p14:creationId xmlns:p14="http://schemas.microsoft.com/office/powerpoint/2010/main" val="31679272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內容版面配置區 2"/>
          <p:cNvSpPr>
            <a:spLocks noGrp="1"/>
          </p:cNvSpPr>
          <p:nvPr>
            <p:ph idx="1"/>
          </p:nvPr>
        </p:nvSpPr>
        <p:spPr/>
        <p:txBody>
          <a:bodyPr/>
          <a:lstStyle/>
          <a:p>
            <a:r>
              <a:rPr lang="en-US" altLang="zh-TW" dirty="0"/>
              <a:t>Training : 1999/1/1 ~ 2003/12/31</a:t>
            </a:r>
          </a:p>
          <a:p>
            <a:r>
              <a:rPr lang="en-US" altLang="zh-TW" dirty="0"/>
              <a:t>Testing : 2004/1/1 ~ 2012/9/11</a:t>
            </a:r>
          </a:p>
          <a:p>
            <a:r>
              <a:rPr lang="en-US" altLang="zh-TW" dirty="0"/>
              <a:t>the portfolio size </a:t>
            </a:r>
            <a:r>
              <a:rPr lang="en-US" altLang="zh-TW" b="1" dirty="0">
                <a:solidFill>
                  <a:srgbClr val="0070C0"/>
                </a:solidFill>
              </a:rPr>
              <a:t>N</a:t>
            </a:r>
            <a:endParaRPr lang="en-US" altLang="zh-TW" dirty="0"/>
          </a:p>
          <a:p>
            <a:r>
              <a:rPr lang="en-US" altLang="zh-TW" dirty="0"/>
              <a:t>the replacement threshold </a:t>
            </a:r>
            <a:r>
              <a:rPr lang="en-US" altLang="zh-TW" b="1" dirty="0">
                <a:solidFill>
                  <a:srgbClr val="0070C0"/>
                </a:solidFill>
                <a:latin typeface="Cambria" panose="02040503050406030204" pitchFamily="18" charset="0"/>
              </a:rPr>
              <a:t>γ</a:t>
            </a:r>
          </a:p>
          <a:p>
            <a:r>
              <a:rPr lang="en-US" altLang="zh-TW" dirty="0"/>
              <a:t>the training days </a:t>
            </a:r>
            <a:r>
              <a:rPr lang="en-US" altLang="zh-TW" b="1" dirty="0">
                <a:solidFill>
                  <a:srgbClr val="0070C0"/>
                </a:solidFill>
              </a:rPr>
              <a:t>t</a:t>
            </a:r>
            <a:r>
              <a:rPr lang="en-US" altLang="zh-TW" b="1" baseline="-25000" dirty="0">
                <a:solidFill>
                  <a:srgbClr val="0070C0"/>
                </a:solidFill>
              </a:rPr>
              <a:t>d</a:t>
            </a:r>
            <a:r>
              <a:rPr lang="en-US" altLang="zh-TW" baseline="-25000" dirty="0"/>
              <a:t> </a:t>
            </a:r>
            <a:r>
              <a:rPr lang="en-US" altLang="zh-TW" dirty="0"/>
              <a:t>for ranking the </a:t>
            </a:r>
            <a:r>
              <a:rPr lang="en-US" altLang="zh-TW" dirty="0" err="1"/>
              <a:t>Sortino</a:t>
            </a:r>
            <a:r>
              <a:rPr lang="en-US" altLang="zh-TW" dirty="0"/>
              <a:t> ratio and for the MV model.</a:t>
            </a:r>
            <a:endParaRPr lang="zh-TW" altLang="en-US" dirty="0"/>
          </a:p>
        </p:txBody>
      </p:sp>
    </p:spTree>
    <p:extLst>
      <p:ext uri="{BB962C8B-B14F-4D97-AF65-F5344CB8AC3E}">
        <p14:creationId xmlns:p14="http://schemas.microsoft.com/office/powerpoint/2010/main" val="19118352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The weekly average negative return</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1437" y="2170246"/>
            <a:ext cx="5969598" cy="3597838"/>
          </a:xfrm>
        </p:spPr>
      </p:pic>
      <p:cxnSp>
        <p:nvCxnSpPr>
          <p:cNvPr id="6" name="直線接點 5"/>
          <p:cNvCxnSpPr/>
          <p:nvPr/>
        </p:nvCxnSpPr>
        <p:spPr>
          <a:xfrm>
            <a:off x="1577130" y="5511567"/>
            <a:ext cx="5788404"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79123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9490" y="774257"/>
            <a:ext cx="5647025" cy="5771821"/>
          </a:xfrm>
        </p:spPr>
      </p:pic>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2651" y="1373048"/>
            <a:ext cx="5979860" cy="4480821"/>
          </a:xfrm>
          <a:prstGeom prst="rect">
            <a:avLst/>
          </a:prstGeom>
        </p:spPr>
      </p:pic>
      <p:sp>
        <p:nvSpPr>
          <p:cNvPr id="6" name="文字方塊 5"/>
          <p:cNvSpPr txBox="1"/>
          <p:nvPr/>
        </p:nvSpPr>
        <p:spPr>
          <a:xfrm>
            <a:off x="6403396" y="361255"/>
            <a:ext cx="3539840" cy="1015663"/>
          </a:xfrm>
          <a:prstGeom prst="rect">
            <a:avLst/>
          </a:prstGeom>
          <a:noFill/>
        </p:spPr>
        <p:txBody>
          <a:bodyPr wrap="square" rtlCol="0">
            <a:spAutoFit/>
          </a:bodyPr>
          <a:lstStyle/>
          <a:p>
            <a:r>
              <a:rPr lang="en-US" altLang="zh-TW" sz="3000" dirty="0">
                <a:solidFill>
                  <a:srgbClr val="0070C0"/>
                </a:solidFill>
              </a:rPr>
              <a:t>Optimal : </a:t>
            </a:r>
          </a:p>
          <a:p>
            <a:r>
              <a:rPr lang="en-US" altLang="zh-TW" sz="3000" dirty="0">
                <a:solidFill>
                  <a:srgbClr val="0070C0"/>
                </a:solidFill>
              </a:rPr>
              <a:t>t</a:t>
            </a:r>
            <a:r>
              <a:rPr lang="en-US" altLang="zh-TW" sz="3000" baseline="-25000" dirty="0">
                <a:solidFill>
                  <a:srgbClr val="0070C0"/>
                </a:solidFill>
              </a:rPr>
              <a:t>d</a:t>
            </a:r>
            <a:r>
              <a:rPr lang="en-US" altLang="zh-TW" sz="3000" dirty="0">
                <a:solidFill>
                  <a:srgbClr val="0070C0"/>
                </a:solidFill>
              </a:rPr>
              <a:t> = 120,</a:t>
            </a:r>
            <a:r>
              <a:rPr lang="en-US" altLang="zh-TW" sz="3000" dirty="0">
                <a:solidFill>
                  <a:srgbClr val="0070C0"/>
                </a:solidFill>
                <a:latin typeface="Cambria" panose="02040503050406030204" pitchFamily="18" charset="0"/>
              </a:rPr>
              <a:t> γ = 60%</a:t>
            </a:r>
            <a:r>
              <a:rPr lang="en-US" altLang="zh-TW" sz="3000" dirty="0">
                <a:solidFill>
                  <a:srgbClr val="0070C0"/>
                </a:solidFill>
              </a:rPr>
              <a:t> </a:t>
            </a:r>
            <a:endParaRPr lang="zh-TW" altLang="en-US" sz="3000" dirty="0">
              <a:solidFill>
                <a:srgbClr val="0070C0"/>
              </a:solidFill>
            </a:endParaRPr>
          </a:p>
        </p:txBody>
      </p:sp>
      <p:sp>
        <p:nvSpPr>
          <p:cNvPr id="7" name="文字方塊 6"/>
          <p:cNvSpPr txBox="1"/>
          <p:nvPr/>
        </p:nvSpPr>
        <p:spPr>
          <a:xfrm>
            <a:off x="487944" y="204009"/>
            <a:ext cx="4504888" cy="553998"/>
          </a:xfrm>
          <a:prstGeom prst="rect">
            <a:avLst/>
          </a:prstGeom>
          <a:noFill/>
        </p:spPr>
        <p:txBody>
          <a:bodyPr wrap="square" rtlCol="0">
            <a:spAutoFit/>
          </a:bodyPr>
          <a:lstStyle/>
          <a:p>
            <a:r>
              <a:rPr lang="en-US" altLang="zh-TW" sz="3000" dirty="0"/>
              <a:t>Buy-and-hold strategy</a:t>
            </a:r>
            <a:endParaRPr lang="zh-TW" altLang="en-US" sz="3000" dirty="0"/>
          </a:p>
        </p:txBody>
      </p:sp>
    </p:spTree>
    <p:extLst>
      <p:ext uri="{BB962C8B-B14F-4D97-AF65-F5344CB8AC3E}">
        <p14:creationId xmlns:p14="http://schemas.microsoft.com/office/powerpoint/2010/main" val="20341690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9752" y="1952851"/>
            <a:ext cx="10840387" cy="3877498"/>
          </a:xfrm>
        </p:spPr>
      </p:pic>
      <p:sp>
        <p:nvSpPr>
          <p:cNvPr id="5" name="矩形 4"/>
          <p:cNvSpPr/>
          <p:nvPr/>
        </p:nvSpPr>
        <p:spPr>
          <a:xfrm>
            <a:off x="2927758" y="2567031"/>
            <a:ext cx="536895" cy="16777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8306499" y="2534873"/>
            <a:ext cx="536895" cy="167779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0928827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8485" y="143620"/>
            <a:ext cx="8290524" cy="6596934"/>
          </a:xfrm>
        </p:spPr>
      </p:pic>
    </p:spTree>
    <p:extLst>
      <p:ext uri="{BB962C8B-B14F-4D97-AF65-F5344CB8AC3E}">
        <p14:creationId xmlns:p14="http://schemas.microsoft.com/office/powerpoint/2010/main" val="1653549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35528" y="138622"/>
            <a:ext cx="1963723" cy="1111337"/>
          </a:xfrm>
        </p:spPr>
        <p:txBody>
          <a:bodyPr/>
          <a:lstStyle/>
          <a:p>
            <a:r>
              <a:rPr lang="en-US" altLang="zh-TW" dirty="0"/>
              <a:t>GEP</a:t>
            </a:r>
            <a:endParaRPr lang="zh-TW" altLang="en-US" dirty="0"/>
          </a:p>
        </p:txBody>
      </p:sp>
      <p:pic>
        <p:nvPicPr>
          <p:cNvPr id="4" name="內容版面配置區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27090" y="496103"/>
            <a:ext cx="6962861" cy="6022671"/>
          </a:xfrm>
        </p:spPr>
      </p:pic>
      <p:sp>
        <p:nvSpPr>
          <p:cNvPr id="5" name="矩形 4"/>
          <p:cNvSpPr/>
          <p:nvPr/>
        </p:nvSpPr>
        <p:spPr>
          <a:xfrm>
            <a:off x="7214531" y="579994"/>
            <a:ext cx="427839" cy="1582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p:cNvSpPr/>
          <p:nvPr/>
        </p:nvSpPr>
        <p:spPr>
          <a:xfrm>
            <a:off x="7214530" y="2510860"/>
            <a:ext cx="427839" cy="15823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2873687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8" name="內容版面配置區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18394" y="2028842"/>
            <a:ext cx="5965808" cy="3247833"/>
          </a:xfr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5931" y="2028842"/>
            <a:ext cx="5391902" cy="3553321"/>
          </a:xfrm>
          <a:prstGeom prst="rect">
            <a:avLst/>
          </a:prstGeom>
        </p:spPr>
      </p:pic>
    </p:spTree>
    <p:extLst>
      <p:ext uri="{BB962C8B-B14F-4D97-AF65-F5344CB8AC3E}">
        <p14:creationId xmlns:p14="http://schemas.microsoft.com/office/powerpoint/2010/main" val="857166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Comparison</a:t>
            </a:r>
            <a:endParaRPr lang="zh-TW" altLang="en-US" dirty="0"/>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1287" y="1884348"/>
            <a:ext cx="5548129" cy="4633898"/>
          </a:xfrm>
        </p:spPr>
      </p:pic>
      <p:sp>
        <p:nvSpPr>
          <p:cNvPr id="6" name="矩形 5"/>
          <p:cNvSpPr/>
          <p:nvPr/>
        </p:nvSpPr>
        <p:spPr>
          <a:xfrm>
            <a:off x="6241409" y="4060272"/>
            <a:ext cx="520118" cy="637563"/>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p:cNvSpPr/>
          <p:nvPr/>
        </p:nvSpPr>
        <p:spPr>
          <a:xfrm>
            <a:off x="6241409" y="5477312"/>
            <a:ext cx="520118" cy="26145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21083454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128</TotalTime>
  <Words>1780</Words>
  <Application>Microsoft Office PowerPoint</Application>
  <PresentationFormat>寬螢幕</PresentationFormat>
  <Paragraphs>1001</Paragraphs>
  <Slides>31</Slides>
  <Notes>1</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31</vt:i4>
      </vt:variant>
    </vt:vector>
  </HeadingPairs>
  <TitlesOfParts>
    <vt:vector size="39" baseType="lpstr">
      <vt:lpstr>新細明體</vt:lpstr>
      <vt:lpstr>Arial</vt:lpstr>
      <vt:lpstr>Calibri</vt:lpstr>
      <vt:lpstr>Calibri Light</vt:lpstr>
      <vt:lpstr>Cambria</vt:lpstr>
      <vt:lpstr>Cambria Math</vt:lpstr>
      <vt:lpstr>Wingdings</vt:lpstr>
      <vt:lpstr>Office 佈景主題</vt:lpstr>
      <vt:lpstr>The trading on the mutual funds by gene expression programming with Sortino ratio</vt:lpstr>
      <vt:lpstr>Abstract</vt:lpstr>
      <vt:lpstr>Abstract</vt:lpstr>
      <vt:lpstr>Global Trend Indicator (GTI)</vt:lpstr>
      <vt:lpstr>PowerPoint 簡報</vt:lpstr>
      <vt:lpstr>Simple Moving Average (SMA)</vt:lpstr>
      <vt:lpstr>Monitoring Indicator (MI)</vt:lpstr>
      <vt:lpstr>PowerPoint 簡報</vt:lpstr>
      <vt:lpstr>PowerPoint 簡報</vt:lpstr>
      <vt:lpstr>Chromosome</vt:lpstr>
      <vt:lpstr>Two Structures of a Gene</vt:lpstr>
      <vt:lpstr>PowerPoint 簡報</vt:lpstr>
      <vt:lpstr>PowerPoint 簡報</vt:lpstr>
      <vt:lpstr>PowerPoint 簡報</vt:lpstr>
      <vt:lpstr>PowerPoint 簡報</vt:lpstr>
      <vt:lpstr>GEP</vt:lpstr>
      <vt:lpstr>SPA</vt:lpstr>
      <vt:lpstr>Sortino ratio</vt:lpstr>
      <vt:lpstr>The paper’s method</vt:lpstr>
      <vt:lpstr>PowerPoint 簡報</vt:lpstr>
      <vt:lpstr>PowerPoint 簡報</vt:lpstr>
      <vt:lpstr>Determining the timing with GEP</vt:lpstr>
      <vt:lpstr>Portfolio management</vt:lpstr>
      <vt:lpstr>Experimental results</vt:lpstr>
      <vt:lpstr>The weekly average negative return</vt:lpstr>
      <vt:lpstr>PowerPoint 簡報</vt:lpstr>
      <vt:lpstr>PowerPoint 簡報</vt:lpstr>
      <vt:lpstr>PowerPoint 簡報</vt:lpstr>
      <vt:lpstr>GEP</vt:lpstr>
      <vt:lpstr>PowerPoint 簡報</vt:lpstr>
      <vt:lpstr>Comparison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trading on the mutual funds by gene expression programming with Sortino ratio</dc:title>
  <dc:creator>jhan</dc:creator>
  <cp:lastModifiedBy>jhan</cp:lastModifiedBy>
  <cp:revision>40</cp:revision>
  <dcterms:created xsi:type="dcterms:W3CDTF">2017-02-07T09:40:06Z</dcterms:created>
  <dcterms:modified xsi:type="dcterms:W3CDTF">2017-02-07T11:54:19Z</dcterms:modified>
</cp:coreProperties>
</file>