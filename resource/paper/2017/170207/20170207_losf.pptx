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8" r:id="rId3"/>
    <p:sldId id="259" r:id="rId4"/>
    <p:sldId id="260" r:id="rId5"/>
    <p:sldId id="261" r:id="rId6"/>
    <p:sldId id="269" r:id="rId7"/>
    <p:sldId id="267" r:id="rId8"/>
    <p:sldId id="268" r:id="rId9"/>
    <p:sldId id="262" r:id="rId10"/>
    <p:sldId id="263" r:id="rId11"/>
    <p:sldId id="265" r:id="rId12"/>
    <p:sldId id="266" r:id="rId1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88876" autoAdjust="0"/>
  </p:normalViewPr>
  <p:slideViewPr>
    <p:cSldViewPr snapToGrid="0">
      <p:cViewPr varScale="1">
        <p:scale>
          <a:sx n="116" d="100"/>
          <a:sy n="116" d="100"/>
        </p:scale>
        <p:origin x="1218" y="13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-19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CB409-2DA1-4BCA-B435-C6D650D60C53}" type="datetimeFigureOut">
              <a:rPr lang="zh-TW" altLang="en-US" smtClean="0"/>
              <a:t>2017/2/5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F0565-5FB6-414C-A160-5E7695D65A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54234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DEB75-3589-4D32-B44A-E0772C0D15C5}" type="datetimeFigureOut">
              <a:rPr lang="zh-TW" altLang="en-US" smtClean="0"/>
              <a:t>2017/2/5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F0D5DF-B2A2-41B1-A94F-55B40B4E12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57097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9795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9558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D7AD2-AD46-4F9C-9DB9-311BC9C511FB}" type="datetime1">
              <a:rPr lang="zh-TW" altLang="en-US" smtClean="0"/>
              <a:t>2017/2/5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9006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F8EA7-3B33-4CFB-BDA8-CB4ED22BDFA6}" type="datetime1">
              <a:rPr lang="zh-TW" altLang="en-US" smtClean="0"/>
              <a:t>2017/2/5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5238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9E7C-A5F4-4E44-A0D0-D8D823ED55EC}" type="datetime1">
              <a:rPr lang="zh-TW" altLang="en-US" smtClean="0"/>
              <a:t>2017/2/5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713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A09CB-B913-4CE8-9656-48ED378732FA}" type="datetime1">
              <a:rPr lang="zh-TW" altLang="en-US" smtClean="0"/>
              <a:t>2017/2/5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412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74B2C-81A9-40B9-8191-4AFF6A362158}" type="datetime1">
              <a:rPr lang="zh-TW" altLang="en-US" smtClean="0"/>
              <a:t>2017/2/5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3329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92B90-13AF-4EA9-8E1C-B6AB9BFE2FEA}" type="datetime1">
              <a:rPr lang="zh-TW" altLang="en-US" smtClean="0"/>
              <a:t>2017/2/5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53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C651D-9550-4C8E-A2AF-E9628836D6AE}" type="datetime1">
              <a:rPr lang="zh-TW" altLang="en-US" smtClean="0"/>
              <a:t>2017/2/5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5121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1AE1-4A31-4B16-8CF5-B0A0C6DC12AA}" type="datetime1">
              <a:rPr lang="zh-TW" altLang="en-US" smtClean="0"/>
              <a:t>2017/2/5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895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96643-C3C1-4791-B485-3954350756FB}" type="datetime1">
              <a:rPr lang="zh-TW" altLang="en-US" smtClean="0"/>
              <a:t>2017/2/5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642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A2DB6-053F-4534-9F02-C898C0154A73}" type="datetime1">
              <a:rPr lang="zh-TW" altLang="en-US" smtClean="0"/>
              <a:t>2017/2/5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415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D7D-FFB8-45BA-8DA5-BBC396FFB252}" type="datetime1">
              <a:rPr lang="zh-TW" altLang="en-US" smtClean="0"/>
              <a:t>2017/2/5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95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8CBB84-2B8D-4741-B97A-9F882A8CC49B}" type="datetime1">
              <a:rPr lang="zh-TW" altLang="en-US" smtClean="0"/>
              <a:t>2017/2/5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555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19895" y="323586"/>
            <a:ext cx="8353401" cy="1276614"/>
          </a:xfrm>
        </p:spPr>
        <p:txBody>
          <a:bodyPr>
            <a:normAutofit/>
          </a:bodyPr>
          <a:lstStyle/>
          <a:p>
            <a:r>
              <a:rPr lang="en-US" altLang="zh-TW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Constrained Longest Common Subsequence Computing Algorithms in Practice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19895" y="2599144"/>
            <a:ext cx="8353402" cy="3573055"/>
          </a:xfrm>
        </p:spPr>
        <p:txBody>
          <a:bodyPr>
            <a:no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Sebastian </a:t>
            </a:r>
            <a:r>
              <a:rPr lang="en-US" altLang="zh-TW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Deorowicz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Joanna </a:t>
            </a:r>
            <a:r>
              <a:rPr lang="en-US" altLang="zh-TW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Obstoj</a:t>
            </a:r>
            <a:endParaRPr lang="en-US" altLang="zh-TW" dirty="0" smtClean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Computing and Informatics, Vol. 29, 2010, 427–445</a:t>
            </a:r>
            <a:endParaRPr lang="en-US" altLang="zh-TW" dirty="0" smtClean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Presenter: </a:t>
            </a:r>
            <a:r>
              <a:rPr lang="en-US" altLang="zh-TW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Shou</a:t>
            </a:r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-Fu 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Lo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Date:2017/02/07</a:t>
            </a:r>
            <a:endParaRPr lang="zh-TW" altLang="en-US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00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of ﬁnding a constrained longest common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subsequence (CLCS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the sequences A and B with respect to sequence P was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introduced recently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Its goal is to ﬁnd a longest subsequence C of A and B such that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 is a subsequence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C. There are several algorithms solving the CLCS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problem, but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real experimental comparison of them. The paper has two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aims. Firstly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propose an improvement to the algorithms by Chin et al. and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Deorowicz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based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an entry-exit points technique by He and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Arslan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Secondly, we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compare experimentally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existing algorithms for solving the CLCS problem.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506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81" y="210839"/>
            <a:ext cx="8641268" cy="3166676"/>
          </a:xfrm>
          <a:prstGeom prst="rect">
            <a:avLst/>
          </a:prstGeom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281601" y="1009651"/>
            <a:ext cx="862399" cy="7845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000" dirty="0" smtClean="0"/>
              <a:t>DP</a:t>
            </a:r>
          </a:p>
          <a:p>
            <a:pPr marL="0" indent="0">
              <a:buNone/>
            </a:pPr>
            <a:endParaRPr lang="en-US" altLang="zh-TW" sz="2000" dirty="0" smtClean="0"/>
          </a:p>
          <a:p>
            <a:pPr marL="0" indent="0">
              <a:buNone/>
            </a:pPr>
            <a:endParaRPr lang="zh-TW" altLang="en-US" sz="20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3</a:t>
            </a:fld>
            <a:endParaRPr lang="zh-TW" altLang="en-US"/>
          </a:p>
        </p:txBody>
      </p:sp>
      <p:cxnSp>
        <p:nvCxnSpPr>
          <p:cNvPr id="7" name="直線單箭頭接點 6"/>
          <p:cNvCxnSpPr/>
          <p:nvPr/>
        </p:nvCxnSpPr>
        <p:spPr>
          <a:xfrm flipV="1">
            <a:off x="7941275" y="1219200"/>
            <a:ext cx="263611" cy="82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-90394" y="4385876"/>
            <a:ext cx="923439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TW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Arslan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TW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Egecioglu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 a very similar recurrence to the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 by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Chin et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Ting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is a divide and conquer method and the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techniques is not easy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Wang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employs a similar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Deorowicz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a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sparsity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dynamic programming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matrix.</a:t>
            </a:r>
            <a:endParaRPr lang="en-US" altLang="zh-TW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Iliopoulos–Rahman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use the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employs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van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Emde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Boas trees [8] to achieve such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complexities.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637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Chin 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8313"/>
            <a:ext cx="9277350" cy="4438650"/>
          </a:xfrm>
          <a:prstGeom prst="rect">
            <a:avLst/>
          </a:prstGeom>
        </p:spPr>
      </p:pic>
      <p:sp>
        <p:nvSpPr>
          <p:cNvPr id="5" name="動作按鈕: 返回 4">
            <a:hlinkClick r:id="rId3" action="ppaction://hlinksldjump" highlightClick="1"/>
          </p:cNvPr>
          <p:cNvSpPr/>
          <p:nvPr/>
        </p:nvSpPr>
        <p:spPr>
          <a:xfrm>
            <a:off x="8816731" y="6479589"/>
            <a:ext cx="327269" cy="378411"/>
          </a:xfrm>
          <a:prstGeom prst="actionButtonRetur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0600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Use the </a:t>
            </a:r>
            <a:r>
              <a:rPr lang="en-US" altLang="zh-TW" dirty="0">
                <a:solidFill>
                  <a:srgbClr val="FF0000"/>
                </a:solidFill>
              </a:rPr>
              <a:t>entry-exit points (</a:t>
            </a:r>
            <a:r>
              <a:rPr lang="en-US" altLang="zh-TW" dirty="0" smtClean="0">
                <a:solidFill>
                  <a:srgbClr val="FF0000"/>
                </a:solidFill>
              </a:rPr>
              <a:t>EEP) </a:t>
            </a:r>
            <a:r>
              <a:rPr lang="en-US" altLang="zh-TW" dirty="0" smtClean="0"/>
              <a:t>to reduce </a:t>
            </a:r>
            <a:r>
              <a:rPr lang="en-US" altLang="zh-TW" dirty="0"/>
              <a:t>the number of computations</a:t>
            </a:r>
            <a:r>
              <a:rPr lang="en-US" altLang="zh-TW" dirty="0" smtClean="0"/>
              <a:t>.</a:t>
            </a:r>
          </a:p>
          <a:p>
            <a:pPr marL="0" indent="0">
              <a:buNone/>
            </a:pPr>
            <a:r>
              <a:rPr lang="en-US" altLang="zh-TW" sz="1800" dirty="0">
                <a:solidFill>
                  <a:schemeClr val="bg1">
                    <a:lumMod val="75000"/>
                  </a:schemeClr>
                </a:solidFill>
              </a:rPr>
              <a:t>He, D.—</a:t>
            </a:r>
            <a:r>
              <a:rPr lang="en-US" altLang="zh-TW" sz="1800" dirty="0" err="1">
                <a:solidFill>
                  <a:schemeClr val="bg1">
                    <a:lumMod val="75000"/>
                  </a:schemeClr>
                </a:solidFill>
              </a:rPr>
              <a:t>Arslan</a:t>
            </a:r>
            <a:r>
              <a:rPr lang="en-US" altLang="zh-TW" sz="1800" dirty="0">
                <a:solidFill>
                  <a:schemeClr val="bg1">
                    <a:lumMod val="75000"/>
                  </a:schemeClr>
                </a:solidFill>
              </a:rPr>
              <a:t>, A. N.: A Space-Eﬃcient Algorithm for the Constrained </a:t>
            </a:r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Pairwise Sequence </a:t>
            </a:r>
            <a:r>
              <a:rPr lang="en-US" altLang="zh-TW" sz="1800" dirty="0">
                <a:solidFill>
                  <a:schemeClr val="bg1">
                    <a:lumMod val="75000"/>
                  </a:schemeClr>
                </a:solidFill>
              </a:rPr>
              <a:t>Alignment Problem. Genome Informatics, Vol. 16, 2005, No. 2, pp. </a:t>
            </a:r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237–246,2005.</a:t>
            </a:r>
          </a:p>
          <a:p>
            <a:pPr marL="0" indent="0">
              <a:buNone/>
            </a:pPr>
            <a:endParaRPr lang="en-US" altLang="zh-TW" sz="1800" dirty="0" smtClean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758" y="3294363"/>
            <a:ext cx="6464129" cy="3443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517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14600" y="-257892"/>
            <a:ext cx="7886700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63610" y="4650259"/>
            <a:ext cx="7496433" cy="22077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Compute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boundary for each layer: 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k,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every pair of first and last possible positions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match P[k] in each sequence, S1, S2, then find pair of start point and end point 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[k], S1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[k]),(S2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[k]), S2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[k]) as the boundary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k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6</a:t>
            </a:fld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5" y="1223183"/>
            <a:ext cx="8633423" cy="310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306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62772"/>
            <a:ext cx="4572000" cy="337185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14600" y="-257892"/>
            <a:ext cx="7886700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7517" y="4444807"/>
            <a:ext cx="8243502" cy="22077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Compute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entry and exit vertices on each layer:</a:t>
            </a:r>
          </a:p>
          <a:p>
            <a:pPr marL="0" indent="0"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layer k, 1 ≤ k ≤ r,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all the candidate entry vertices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(t1, t2, k) such that</a:t>
            </a:r>
          </a:p>
          <a:p>
            <a:pPr marL="0" indent="0"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S1[t1] = S2[t2] = P[k], in the overlapping region of layer k − 1 and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  <a:p>
            <a:pPr marL="0" indent="0">
              <a:buNone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layer k, 0 ≤ k ≤ r − 1,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all the candidate exit vertices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(m1, m2, k) such </a:t>
            </a:r>
            <a:endParaRPr lang="en-US" altLang="zh-TW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S1[m1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S2[m2] = P[k + 1], in the overlapping region of layer k and k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2460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90" y="32094"/>
            <a:ext cx="6322858" cy="3979734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14600" y="-257892"/>
            <a:ext cx="7886700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 algorithm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-82378" y="3865735"/>
                <a:ext cx="9226378" cy="267317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TW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We </a:t>
                </a: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apply the divide-and-conquer approach through </a:t>
                </a:r>
                <a:r>
                  <a:rPr lang="en-US" altLang="zh-TW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layers, also </a:t>
                </a: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apply </a:t>
                </a:r>
                <a:r>
                  <a:rPr lang="en-US" altLang="zh-TW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linear-space algorithm </a:t>
                </a: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 </a:t>
                </a:r>
                <a:r>
                  <a:rPr lang="en-US" altLang="zh-TW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layer:</a:t>
                </a:r>
              </a:p>
              <a:p>
                <a:r>
                  <a:rPr lang="en-US" altLang="zh-TW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the mid-point T </a:t>
                </a: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the </a:t>
                </a:r>
                <a:r>
                  <a:rPr lang="en-US" altLang="zh-TW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exit vertex set E1 </a:t>
                </a: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 </a:t>
                </a:r>
                <a:r>
                  <a:rPr lang="en-US" altLang="zh-TW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layer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TW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sz="1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TW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namely in the </a:t>
                </a:r>
                <a:r>
                  <a:rPr lang="en-US" altLang="zh-TW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entry vertex </a:t>
                </a:r>
                <a:r>
                  <a:rPr lang="en-US" altLang="zh-TW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 E2 </a:t>
                </a: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 layer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TW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+1, </a:t>
                </a: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which minimizes the score of the global </a:t>
                </a:r>
                <a:r>
                  <a:rPr lang="en-US" altLang="zh-TW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path through </a:t>
                </a: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whole dynamic programming </a:t>
                </a:r>
                <a:r>
                  <a:rPr lang="en-US" altLang="zh-TW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matrix.</a:t>
                </a:r>
                <a:endParaRPr lang="en-US" altLang="zh-TW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the </a:t>
                </a:r>
                <a:r>
                  <a:rPr lang="en-US" altLang="zh-TW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 </a:t>
                </a:r>
                <a:r>
                  <a:rPr lang="en-US" altLang="zh-TW" sz="1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subproblem</a:t>
                </a: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</a:t>
                </a:r>
                <a:r>
                  <a:rPr lang="en-US" altLang="zh-TW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end vertex </a:t>
                </a: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the new smaller dynamic programming matrix is changed to T </a:t>
                </a:r>
                <a:endParaRPr lang="en-US" altLang="zh-TW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the </a:t>
                </a:r>
                <a:r>
                  <a:rPr lang="en-US" altLang="zh-TW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second </a:t>
                </a:r>
                <a:r>
                  <a:rPr lang="en-US" altLang="zh-TW" sz="1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subproblem</a:t>
                </a:r>
                <a:r>
                  <a:rPr lang="en-US" altLang="zh-TW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altLang="zh-TW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start vertex </a:t>
                </a: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the new smaller dynamic programming matrix is changed to </a:t>
                </a:r>
                <a:r>
                  <a:rPr lang="en-US" altLang="zh-TW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</a:p>
              <a:p>
                <a:pPr marL="0" indent="0">
                  <a:buNone/>
                </a:pPr>
                <a:r>
                  <a:rPr lang="en-US" altLang="zh-TW" sz="1600" dirty="0"/>
                  <a:t>Each of these </a:t>
                </a:r>
                <a:r>
                  <a:rPr lang="en-US" altLang="zh-TW" sz="1600" dirty="0" err="1"/>
                  <a:t>subproblems</a:t>
                </a:r>
                <a:r>
                  <a:rPr lang="en-US" altLang="zh-TW" sz="1600" dirty="0"/>
                  <a:t> can be solved </a:t>
                </a:r>
                <a:r>
                  <a:rPr lang="en-US" altLang="zh-TW" sz="1600" b="1" dirty="0"/>
                  <a:t>recursively</a:t>
                </a:r>
                <a:r>
                  <a:rPr lang="en-US" altLang="zh-TW" sz="1600" dirty="0"/>
                  <a:t> in the same manner</a:t>
                </a:r>
                <a:r>
                  <a:rPr lang="en-US" altLang="zh-TW" sz="1600" dirty="0" smtClean="0"/>
                  <a:t>.</a:t>
                </a:r>
              </a:p>
              <a:p>
                <a:pPr marL="0" indent="0">
                  <a:buNone/>
                </a:pPr>
                <a:r>
                  <a:rPr lang="en-US" altLang="zh-TW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Concatenate the series of mid-points to get the optimal solution</a:t>
                </a:r>
              </a:p>
              <a:p>
                <a:pPr marL="0" indent="0">
                  <a:buNone/>
                </a:pPr>
                <a:endParaRPr lang="zh-TW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82378" y="3865735"/>
                <a:ext cx="9226378" cy="2673178"/>
              </a:xfrm>
              <a:blipFill rotWithShape="0">
                <a:blip r:embed="rId3"/>
                <a:stretch>
                  <a:fillRect l="-330" t="-1595" r="-132" b="-38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6634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-214185" y="0"/>
            <a:ext cx="6071287" cy="129334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963" y="1504157"/>
            <a:ext cx="9305925" cy="4762500"/>
          </a:xfrm>
          <a:prstGeom prst="rect">
            <a:avLst/>
          </a:prstGeom>
        </p:spPr>
      </p:pic>
      <p:sp>
        <p:nvSpPr>
          <p:cNvPr id="6" name="動作按鈕: 返回 5">
            <a:hlinkClick r:id="rId3" action="ppaction://hlinksldjump" highlightClick="1"/>
          </p:cNvPr>
          <p:cNvSpPr/>
          <p:nvPr/>
        </p:nvSpPr>
        <p:spPr>
          <a:xfrm>
            <a:off x="8839200" y="6538913"/>
            <a:ext cx="304800" cy="321468"/>
          </a:xfrm>
          <a:prstGeom prst="actionButtonRetur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2239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8034" y="-252413"/>
            <a:ext cx="7886700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859" y="650275"/>
            <a:ext cx="6877050" cy="613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293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8034" y="-252413"/>
            <a:ext cx="7886700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462" y="1646237"/>
            <a:ext cx="7077075" cy="347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211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8034" y="-252413"/>
            <a:ext cx="7886700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899" y="1825625"/>
            <a:ext cx="7077075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169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32921</TotalTime>
  <Words>381</Words>
  <Application>Microsoft Office PowerPoint</Application>
  <PresentationFormat>如螢幕大小 (4:3)</PresentationFormat>
  <Paragraphs>54</Paragraphs>
  <Slides>12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9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Constrained Longest Common Subsequence Computing Algorithms in Practice</vt:lpstr>
      <vt:lpstr>Abstract</vt:lpstr>
      <vt:lpstr>PowerPoint 簡報</vt:lpstr>
      <vt:lpstr>Chin algorithm</vt:lpstr>
      <vt:lpstr>Improvement algorithm</vt:lpstr>
      <vt:lpstr>Improvement algorithm</vt:lpstr>
      <vt:lpstr>Improvement algorithm</vt:lpstr>
      <vt:lpstr>Improvement algorithm</vt:lpstr>
      <vt:lpstr>Improvement algorithm</vt:lpstr>
      <vt:lpstr>Experimental result</vt:lpstr>
      <vt:lpstr>Experimental result</vt:lpstr>
      <vt:lpstr>Experimental result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Association Rules in Big Data for E-healthcare Information System</dc:title>
  <dc:creator>muchmuch</dc:creator>
  <cp:lastModifiedBy>much</cp:lastModifiedBy>
  <cp:revision>334</cp:revision>
  <dcterms:created xsi:type="dcterms:W3CDTF">2016-04-23T07:31:56Z</dcterms:created>
  <dcterms:modified xsi:type="dcterms:W3CDTF">2017-02-07T10:22:59Z</dcterms:modified>
</cp:coreProperties>
</file>