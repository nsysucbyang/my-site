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66" r:id="rId4"/>
    <p:sldId id="258" r:id="rId5"/>
    <p:sldId id="259" r:id="rId6"/>
    <p:sldId id="260" r:id="rId7"/>
    <p:sldId id="261" r:id="rId8"/>
    <p:sldId id="262" r:id="rId9"/>
    <p:sldId id="263" r:id="rId10"/>
    <p:sldId id="264" r:id="rId11"/>
    <p:sldId id="270" r:id="rId12"/>
    <p:sldId id="265" r:id="rId13"/>
    <p:sldId id="267" r:id="rId14"/>
    <p:sldId id="268" r:id="rId1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96" y="5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CBA7B-35C2-49C2-97C9-C013D909FC9D}" type="datetimeFigureOut">
              <a:rPr lang="zh-TW" altLang="en-US" smtClean="0"/>
              <a:t>2017/7/5</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3A90E7-0B4F-419C-9BCC-E9A53761E498}" type="slidenum">
              <a:rPr lang="zh-TW" altLang="en-US" smtClean="0"/>
              <a:t>‹#›</a:t>
            </a:fld>
            <a:endParaRPr lang="zh-TW" altLang="en-US"/>
          </a:p>
        </p:txBody>
      </p:sp>
    </p:spTree>
    <p:extLst>
      <p:ext uri="{BB962C8B-B14F-4D97-AF65-F5344CB8AC3E}">
        <p14:creationId xmlns:p14="http://schemas.microsoft.com/office/powerpoint/2010/main" val="290448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EE3A90E7-0B4F-419C-9BCC-E9A53761E498}" type="slidenum">
              <a:rPr lang="zh-TW" altLang="en-US" smtClean="0"/>
              <a:t>11</a:t>
            </a:fld>
            <a:endParaRPr lang="zh-TW" altLang="en-US"/>
          </a:p>
        </p:txBody>
      </p:sp>
    </p:spTree>
    <p:extLst>
      <p:ext uri="{BB962C8B-B14F-4D97-AF65-F5344CB8AC3E}">
        <p14:creationId xmlns:p14="http://schemas.microsoft.com/office/powerpoint/2010/main" val="26104914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FF7499-1F7D-44EA-9C31-EC5652A95649}"/>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49539A60-2DA7-481A-86FD-2F01551BDB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a:extLst>
              <a:ext uri="{FF2B5EF4-FFF2-40B4-BE49-F238E27FC236}">
                <a16:creationId xmlns:a16="http://schemas.microsoft.com/office/drawing/2014/main" id="{F2979021-3093-4A34-AD92-73F8FA2BADD9}"/>
              </a:ext>
            </a:extLst>
          </p:cNvPr>
          <p:cNvSpPr>
            <a:spLocks noGrp="1"/>
          </p:cNvSpPr>
          <p:nvPr>
            <p:ph type="dt" sz="half" idx="10"/>
          </p:nvPr>
        </p:nvSpPr>
        <p:spPr/>
        <p:txBody>
          <a:bodyPr/>
          <a:lstStyle/>
          <a:p>
            <a:fld id="{A1033590-C72F-4409-B7D4-D87A90D6C67F}" type="datetimeFigureOut">
              <a:rPr lang="zh-TW" altLang="en-US" smtClean="0"/>
              <a:t>2017/7/5</a:t>
            </a:fld>
            <a:endParaRPr lang="zh-TW" altLang="en-US"/>
          </a:p>
        </p:txBody>
      </p:sp>
      <p:sp>
        <p:nvSpPr>
          <p:cNvPr id="5" name="頁尾版面配置區 4">
            <a:extLst>
              <a:ext uri="{FF2B5EF4-FFF2-40B4-BE49-F238E27FC236}">
                <a16:creationId xmlns:a16="http://schemas.microsoft.com/office/drawing/2014/main" id="{AD099C36-6C09-42AE-809E-42726B9EF4C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CE0BF1E-0203-4344-BD85-659C40D73AA8}"/>
              </a:ext>
            </a:extLst>
          </p:cNvPr>
          <p:cNvSpPr>
            <a:spLocks noGrp="1"/>
          </p:cNvSpPr>
          <p:nvPr>
            <p:ph type="sldNum" sz="quarter" idx="12"/>
          </p:nvPr>
        </p:nvSpPr>
        <p:spPr/>
        <p:txBody>
          <a:bodyPr/>
          <a:lstStyle/>
          <a:p>
            <a:fld id="{AA371F7B-CFE7-4A83-A998-202EA522F511}" type="slidenum">
              <a:rPr lang="zh-TW" altLang="en-US" smtClean="0"/>
              <a:t>‹#›</a:t>
            </a:fld>
            <a:endParaRPr lang="zh-TW" altLang="en-US"/>
          </a:p>
        </p:txBody>
      </p:sp>
    </p:spTree>
    <p:extLst>
      <p:ext uri="{BB962C8B-B14F-4D97-AF65-F5344CB8AC3E}">
        <p14:creationId xmlns:p14="http://schemas.microsoft.com/office/powerpoint/2010/main" val="221908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E34774-14C8-44E5-BA10-6601F4000D8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DE1A771F-0DCB-498A-8965-6C74DBB57EB4}"/>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E16D78F-9619-4814-AE91-52D2902A74A1}"/>
              </a:ext>
            </a:extLst>
          </p:cNvPr>
          <p:cNvSpPr>
            <a:spLocks noGrp="1"/>
          </p:cNvSpPr>
          <p:nvPr>
            <p:ph type="dt" sz="half" idx="10"/>
          </p:nvPr>
        </p:nvSpPr>
        <p:spPr/>
        <p:txBody>
          <a:bodyPr/>
          <a:lstStyle/>
          <a:p>
            <a:fld id="{A1033590-C72F-4409-B7D4-D87A90D6C67F}" type="datetimeFigureOut">
              <a:rPr lang="zh-TW" altLang="en-US" smtClean="0"/>
              <a:t>2017/7/5</a:t>
            </a:fld>
            <a:endParaRPr lang="zh-TW" altLang="en-US"/>
          </a:p>
        </p:txBody>
      </p:sp>
      <p:sp>
        <p:nvSpPr>
          <p:cNvPr id="5" name="頁尾版面配置區 4">
            <a:extLst>
              <a:ext uri="{FF2B5EF4-FFF2-40B4-BE49-F238E27FC236}">
                <a16:creationId xmlns:a16="http://schemas.microsoft.com/office/drawing/2014/main" id="{F80EC27F-D1D4-4D43-B129-B3F20AD17E4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141CE4F-F309-4250-B73C-1EDF11079131}"/>
              </a:ext>
            </a:extLst>
          </p:cNvPr>
          <p:cNvSpPr>
            <a:spLocks noGrp="1"/>
          </p:cNvSpPr>
          <p:nvPr>
            <p:ph type="sldNum" sz="quarter" idx="12"/>
          </p:nvPr>
        </p:nvSpPr>
        <p:spPr/>
        <p:txBody>
          <a:bodyPr/>
          <a:lstStyle/>
          <a:p>
            <a:fld id="{AA371F7B-CFE7-4A83-A998-202EA522F511}" type="slidenum">
              <a:rPr lang="zh-TW" altLang="en-US" smtClean="0"/>
              <a:t>‹#›</a:t>
            </a:fld>
            <a:endParaRPr lang="zh-TW" altLang="en-US"/>
          </a:p>
        </p:txBody>
      </p:sp>
    </p:spTree>
    <p:extLst>
      <p:ext uri="{BB962C8B-B14F-4D97-AF65-F5344CB8AC3E}">
        <p14:creationId xmlns:p14="http://schemas.microsoft.com/office/powerpoint/2010/main" val="628678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30BEB69-C0BC-48E7-9E60-79140F6DEEC7}"/>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0047E18F-2AB5-4457-B76D-4E1FEAC113F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73D4537D-4605-4E41-A15A-4BC1C63121BB}"/>
              </a:ext>
            </a:extLst>
          </p:cNvPr>
          <p:cNvSpPr>
            <a:spLocks noGrp="1"/>
          </p:cNvSpPr>
          <p:nvPr>
            <p:ph type="dt" sz="half" idx="10"/>
          </p:nvPr>
        </p:nvSpPr>
        <p:spPr/>
        <p:txBody>
          <a:bodyPr/>
          <a:lstStyle/>
          <a:p>
            <a:fld id="{A1033590-C72F-4409-B7D4-D87A90D6C67F}" type="datetimeFigureOut">
              <a:rPr lang="zh-TW" altLang="en-US" smtClean="0"/>
              <a:t>2017/7/5</a:t>
            </a:fld>
            <a:endParaRPr lang="zh-TW" altLang="en-US"/>
          </a:p>
        </p:txBody>
      </p:sp>
      <p:sp>
        <p:nvSpPr>
          <p:cNvPr id="5" name="頁尾版面配置區 4">
            <a:extLst>
              <a:ext uri="{FF2B5EF4-FFF2-40B4-BE49-F238E27FC236}">
                <a16:creationId xmlns:a16="http://schemas.microsoft.com/office/drawing/2014/main" id="{A4315FA8-184A-49E5-8168-C702046D01B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514F365B-370A-4568-A818-47B64C76BB66}"/>
              </a:ext>
            </a:extLst>
          </p:cNvPr>
          <p:cNvSpPr>
            <a:spLocks noGrp="1"/>
          </p:cNvSpPr>
          <p:nvPr>
            <p:ph type="sldNum" sz="quarter" idx="12"/>
          </p:nvPr>
        </p:nvSpPr>
        <p:spPr/>
        <p:txBody>
          <a:bodyPr/>
          <a:lstStyle/>
          <a:p>
            <a:fld id="{AA371F7B-CFE7-4A83-A998-202EA522F511}" type="slidenum">
              <a:rPr lang="zh-TW" altLang="en-US" smtClean="0"/>
              <a:t>‹#›</a:t>
            </a:fld>
            <a:endParaRPr lang="zh-TW" altLang="en-US"/>
          </a:p>
        </p:txBody>
      </p:sp>
    </p:spTree>
    <p:extLst>
      <p:ext uri="{BB962C8B-B14F-4D97-AF65-F5344CB8AC3E}">
        <p14:creationId xmlns:p14="http://schemas.microsoft.com/office/powerpoint/2010/main" val="2080620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34DEA8F-159E-46CC-8851-2E140833F96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A48C434D-2A93-4D26-8E53-23C76BE90E62}"/>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B52987BB-BD21-450E-BF94-0C63BB868D6A}"/>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6D9AD646-F78E-432C-A13E-1CF0990BE61E}"/>
              </a:ext>
            </a:extLst>
          </p:cNvPr>
          <p:cNvSpPr>
            <a:spLocks noGrp="1"/>
          </p:cNvSpPr>
          <p:nvPr>
            <p:ph type="dt" sz="half" idx="10"/>
          </p:nvPr>
        </p:nvSpPr>
        <p:spPr/>
        <p:txBody>
          <a:bodyPr/>
          <a:lstStyle/>
          <a:p>
            <a:fld id="{A1033590-C72F-4409-B7D4-D87A90D6C67F}" type="datetimeFigureOut">
              <a:rPr lang="zh-TW" altLang="en-US" smtClean="0"/>
              <a:t>2017/7/5</a:t>
            </a:fld>
            <a:endParaRPr lang="zh-TW" altLang="en-US"/>
          </a:p>
        </p:txBody>
      </p:sp>
      <p:sp>
        <p:nvSpPr>
          <p:cNvPr id="6" name="頁尾版面配置區 5">
            <a:extLst>
              <a:ext uri="{FF2B5EF4-FFF2-40B4-BE49-F238E27FC236}">
                <a16:creationId xmlns:a16="http://schemas.microsoft.com/office/drawing/2014/main" id="{B95B15CD-5ADF-44B8-8D5E-7016EFD381A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9D8F387-930D-4EA2-AA69-9F9E7A98AA37}"/>
              </a:ext>
            </a:extLst>
          </p:cNvPr>
          <p:cNvSpPr>
            <a:spLocks noGrp="1"/>
          </p:cNvSpPr>
          <p:nvPr>
            <p:ph type="sldNum" sz="quarter" idx="12"/>
          </p:nvPr>
        </p:nvSpPr>
        <p:spPr/>
        <p:txBody>
          <a:bodyPr/>
          <a:lstStyle/>
          <a:p>
            <a:fld id="{AA371F7B-CFE7-4A83-A998-202EA522F511}" type="slidenum">
              <a:rPr lang="zh-TW" altLang="en-US" smtClean="0"/>
              <a:t>‹#›</a:t>
            </a:fld>
            <a:endParaRPr lang="zh-TW" altLang="en-US"/>
          </a:p>
        </p:txBody>
      </p:sp>
    </p:spTree>
    <p:extLst>
      <p:ext uri="{BB962C8B-B14F-4D97-AF65-F5344CB8AC3E}">
        <p14:creationId xmlns:p14="http://schemas.microsoft.com/office/powerpoint/2010/main" val="673485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21E011-9328-45A3-8442-F4145344E885}"/>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57631AFC-BDA6-4BCB-A117-C70EA421F3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4D171E37-7A69-4B59-A1E4-D95F044980E6}"/>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2E6264D6-BC2C-4C16-9AED-1A933159B4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97F7954E-5A67-4876-92DF-9646C6144D90}"/>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04EF47B2-FC11-4A64-8FF4-9EBC818227BB}"/>
              </a:ext>
            </a:extLst>
          </p:cNvPr>
          <p:cNvSpPr>
            <a:spLocks noGrp="1"/>
          </p:cNvSpPr>
          <p:nvPr>
            <p:ph type="dt" sz="half" idx="10"/>
          </p:nvPr>
        </p:nvSpPr>
        <p:spPr/>
        <p:txBody>
          <a:bodyPr/>
          <a:lstStyle/>
          <a:p>
            <a:fld id="{A1033590-C72F-4409-B7D4-D87A90D6C67F}" type="datetimeFigureOut">
              <a:rPr lang="zh-TW" altLang="en-US" smtClean="0"/>
              <a:t>2017/7/5</a:t>
            </a:fld>
            <a:endParaRPr lang="zh-TW" altLang="en-US"/>
          </a:p>
        </p:txBody>
      </p:sp>
      <p:sp>
        <p:nvSpPr>
          <p:cNvPr id="8" name="頁尾版面配置區 7">
            <a:extLst>
              <a:ext uri="{FF2B5EF4-FFF2-40B4-BE49-F238E27FC236}">
                <a16:creationId xmlns:a16="http://schemas.microsoft.com/office/drawing/2014/main" id="{31646CAA-DD16-4CC5-803D-5AA437B0D62D}"/>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6F481899-4788-413C-BD51-D3D1EA9911C0}"/>
              </a:ext>
            </a:extLst>
          </p:cNvPr>
          <p:cNvSpPr>
            <a:spLocks noGrp="1"/>
          </p:cNvSpPr>
          <p:nvPr>
            <p:ph type="sldNum" sz="quarter" idx="12"/>
          </p:nvPr>
        </p:nvSpPr>
        <p:spPr/>
        <p:txBody>
          <a:bodyPr/>
          <a:lstStyle/>
          <a:p>
            <a:fld id="{AA371F7B-CFE7-4A83-A998-202EA522F511}" type="slidenum">
              <a:rPr lang="zh-TW" altLang="en-US" smtClean="0"/>
              <a:t>‹#›</a:t>
            </a:fld>
            <a:endParaRPr lang="zh-TW" altLang="en-US"/>
          </a:p>
        </p:txBody>
      </p:sp>
    </p:spTree>
    <p:extLst>
      <p:ext uri="{BB962C8B-B14F-4D97-AF65-F5344CB8AC3E}">
        <p14:creationId xmlns:p14="http://schemas.microsoft.com/office/powerpoint/2010/main" val="2256405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51D406-DE6E-4E65-93DC-15A17C04FE00}"/>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E9E8B665-6485-4ECD-B91F-D1A03D1BBF78}"/>
              </a:ext>
            </a:extLst>
          </p:cNvPr>
          <p:cNvSpPr>
            <a:spLocks noGrp="1"/>
          </p:cNvSpPr>
          <p:nvPr>
            <p:ph type="dt" sz="half" idx="10"/>
          </p:nvPr>
        </p:nvSpPr>
        <p:spPr/>
        <p:txBody>
          <a:bodyPr/>
          <a:lstStyle/>
          <a:p>
            <a:fld id="{A1033590-C72F-4409-B7D4-D87A90D6C67F}" type="datetimeFigureOut">
              <a:rPr lang="zh-TW" altLang="en-US" smtClean="0"/>
              <a:t>2017/7/5</a:t>
            </a:fld>
            <a:endParaRPr lang="zh-TW" altLang="en-US"/>
          </a:p>
        </p:txBody>
      </p:sp>
      <p:sp>
        <p:nvSpPr>
          <p:cNvPr id="4" name="頁尾版面配置區 3">
            <a:extLst>
              <a:ext uri="{FF2B5EF4-FFF2-40B4-BE49-F238E27FC236}">
                <a16:creationId xmlns:a16="http://schemas.microsoft.com/office/drawing/2014/main" id="{FBD05278-2514-4D8E-BB49-0EC027DCB6D2}"/>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82F3042D-CFB7-479D-BE75-CDA8A24B7D8B}"/>
              </a:ext>
            </a:extLst>
          </p:cNvPr>
          <p:cNvSpPr>
            <a:spLocks noGrp="1"/>
          </p:cNvSpPr>
          <p:nvPr>
            <p:ph type="sldNum" sz="quarter" idx="12"/>
          </p:nvPr>
        </p:nvSpPr>
        <p:spPr/>
        <p:txBody>
          <a:bodyPr/>
          <a:lstStyle/>
          <a:p>
            <a:fld id="{AA371F7B-CFE7-4A83-A998-202EA522F511}" type="slidenum">
              <a:rPr lang="zh-TW" altLang="en-US" smtClean="0"/>
              <a:t>‹#›</a:t>
            </a:fld>
            <a:endParaRPr lang="zh-TW" altLang="en-US"/>
          </a:p>
        </p:txBody>
      </p:sp>
    </p:spTree>
    <p:extLst>
      <p:ext uri="{BB962C8B-B14F-4D97-AF65-F5344CB8AC3E}">
        <p14:creationId xmlns:p14="http://schemas.microsoft.com/office/powerpoint/2010/main" val="1675921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76F025FA-F4B6-459A-8CCC-9AA77EFEEBF0}"/>
              </a:ext>
            </a:extLst>
          </p:cNvPr>
          <p:cNvSpPr>
            <a:spLocks noGrp="1"/>
          </p:cNvSpPr>
          <p:nvPr>
            <p:ph type="dt" sz="half" idx="10"/>
          </p:nvPr>
        </p:nvSpPr>
        <p:spPr/>
        <p:txBody>
          <a:bodyPr/>
          <a:lstStyle/>
          <a:p>
            <a:fld id="{A1033590-C72F-4409-B7D4-D87A90D6C67F}" type="datetimeFigureOut">
              <a:rPr lang="zh-TW" altLang="en-US" smtClean="0"/>
              <a:t>2017/7/5</a:t>
            </a:fld>
            <a:endParaRPr lang="zh-TW" altLang="en-US"/>
          </a:p>
        </p:txBody>
      </p:sp>
      <p:sp>
        <p:nvSpPr>
          <p:cNvPr id="3" name="頁尾版面配置區 2">
            <a:extLst>
              <a:ext uri="{FF2B5EF4-FFF2-40B4-BE49-F238E27FC236}">
                <a16:creationId xmlns:a16="http://schemas.microsoft.com/office/drawing/2014/main" id="{CDADF296-304A-4A4B-AF73-66C200EDC491}"/>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B0CC16C4-02B9-48A9-86F0-4FEA7FD32A80}"/>
              </a:ext>
            </a:extLst>
          </p:cNvPr>
          <p:cNvSpPr>
            <a:spLocks noGrp="1"/>
          </p:cNvSpPr>
          <p:nvPr>
            <p:ph type="sldNum" sz="quarter" idx="12"/>
          </p:nvPr>
        </p:nvSpPr>
        <p:spPr/>
        <p:txBody>
          <a:bodyPr/>
          <a:lstStyle/>
          <a:p>
            <a:fld id="{AA371F7B-CFE7-4A83-A998-202EA522F511}" type="slidenum">
              <a:rPr lang="zh-TW" altLang="en-US" smtClean="0"/>
              <a:t>‹#›</a:t>
            </a:fld>
            <a:endParaRPr lang="zh-TW" altLang="en-US"/>
          </a:p>
        </p:txBody>
      </p:sp>
    </p:spTree>
    <p:extLst>
      <p:ext uri="{BB962C8B-B14F-4D97-AF65-F5344CB8AC3E}">
        <p14:creationId xmlns:p14="http://schemas.microsoft.com/office/powerpoint/2010/main" val="3826781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EB7791-AA10-40EF-8C71-C9F875196444}"/>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A366F200-297C-4F68-B69D-937B36EE04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6B709D67-E872-4847-AA5E-ECF97955D4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1B01E084-0B72-4857-9929-BB5375D1002F}"/>
              </a:ext>
            </a:extLst>
          </p:cNvPr>
          <p:cNvSpPr>
            <a:spLocks noGrp="1"/>
          </p:cNvSpPr>
          <p:nvPr>
            <p:ph type="dt" sz="half" idx="10"/>
          </p:nvPr>
        </p:nvSpPr>
        <p:spPr/>
        <p:txBody>
          <a:bodyPr/>
          <a:lstStyle/>
          <a:p>
            <a:fld id="{A1033590-C72F-4409-B7D4-D87A90D6C67F}" type="datetimeFigureOut">
              <a:rPr lang="zh-TW" altLang="en-US" smtClean="0"/>
              <a:t>2017/7/5</a:t>
            </a:fld>
            <a:endParaRPr lang="zh-TW" altLang="en-US"/>
          </a:p>
        </p:txBody>
      </p:sp>
      <p:sp>
        <p:nvSpPr>
          <p:cNvPr id="6" name="頁尾版面配置區 5">
            <a:extLst>
              <a:ext uri="{FF2B5EF4-FFF2-40B4-BE49-F238E27FC236}">
                <a16:creationId xmlns:a16="http://schemas.microsoft.com/office/drawing/2014/main" id="{0108A296-D1DC-4002-9782-AC11E6E6C62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A387EE9-752F-4B63-9B04-FE4E4F4530D1}"/>
              </a:ext>
            </a:extLst>
          </p:cNvPr>
          <p:cNvSpPr>
            <a:spLocks noGrp="1"/>
          </p:cNvSpPr>
          <p:nvPr>
            <p:ph type="sldNum" sz="quarter" idx="12"/>
          </p:nvPr>
        </p:nvSpPr>
        <p:spPr/>
        <p:txBody>
          <a:bodyPr/>
          <a:lstStyle/>
          <a:p>
            <a:fld id="{AA371F7B-CFE7-4A83-A998-202EA522F511}" type="slidenum">
              <a:rPr lang="zh-TW" altLang="en-US" smtClean="0"/>
              <a:t>‹#›</a:t>
            </a:fld>
            <a:endParaRPr lang="zh-TW" altLang="en-US"/>
          </a:p>
        </p:txBody>
      </p:sp>
    </p:spTree>
    <p:extLst>
      <p:ext uri="{BB962C8B-B14F-4D97-AF65-F5344CB8AC3E}">
        <p14:creationId xmlns:p14="http://schemas.microsoft.com/office/powerpoint/2010/main" val="1810516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D56BFB-9FC4-446D-965D-2383A371D7D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6EB9E28E-2428-4810-B46A-0B5C93C306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B3BAF418-FDB1-4BB6-A0C3-9066196111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5566C27D-972E-4DAD-A623-D998C1831AE0}"/>
              </a:ext>
            </a:extLst>
          </p:cNvPr>
          <p:cNvSpPr>
            <a:spLocks noGrp="1"/>
          </p:cNvSpPr>
          <p:nvPr>
            <p:ph type="dt" sz="half" idx="10"/>
          </p:nvPr>
        </p:nvSpPr>
        <p:spPr/>
        <p:txBody>
          <a:bodyPr/>
          <a:lstStyle/>
          <a:p>
            <a:fld id="{A1033590-C72F-4409-B7D4-D87A90D6C67F}" type="datetimeFigureOut">
              <a:rPr lang="zh-TW" altLang="en-US" smtClean="0"/>
              <a:t>2017/7/5</a:t>
            </a:fld>
            <a:endParaRPr lang="zh-TW" altLang="en-US"/>
          </a:p>
        </p:txBody>
      </p:sp>
      <p:sp>
        <p:nvSpPr>
          <p:cNvPr id="6" name="頁尾版面配置區 5">
            <a:extLst>
              <a:ext uri="{FF2B5EF4-FFF2-40B4-BE49-F238E27FC236}">
                <a16:creationId xmlns:a16="http://schemas.microsoft.com/office/drawing/2014/main" id="{A2AFA58A-9D39-475B-8834-3949CCC5F9C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C36E4A13-C569-4927-A63A-BD5D77E01C96}"/>
              </a:ext>
            </a:extLst>
          </p:cNvPr>
          <p:cNvSpPr>
            <a:spLocks noGrp="1"/>
          </p:cNvSpPr>
          <p:nvPr>
            <p:ph type="sldNum" sz="quarter" idx="12"/>
          </p:nvPr>
        </p:nvSpPr>
        <p:spPr/>
        <p:txBody>
          <a:bodyPr/>
          <a:lstStyle/>
          <a:p>
            <a:fld id="{AA371F7B-CFE7-4A83-A998-202EA522F511}" type="slidenum">
              <a:rPr lang="zh-TW" altLang="en-US" smtClean="0"/>
              <a:t>‹#›</a:t>
            </a:fld>
            <a:endParaRPr lang="zh-TW" altLang="en-US"/>
          </a:p>
        </p:txBody>
      </p:sp>
    </p:spTree>
    <p:extLst>
      <p:ext uri="{BB962C8B-B14F-4D97-AF65-F5344CB8AC3E}">
        <p14:creationId xmlns:p14="http://schemas.microsoft.com/office/powerpoint/2010/main" val="16917580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99AFD24-A0FC-4B07-B844-CC9F317B02AE}"/>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EC027D53-E3F9-405D-8FDE-C35FECB17AC5}"/>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B1B545E6-189C-4465-A571-7D8168643D87}"/>
              </a:ext>
            </a:extLst>
          </p:cNvPr>
          <p:cNvSpPr>
            <a:spLocks noGrp="1"/>
          </p:cNvSpPr>
          <p:nvPr>
            <p:ph type="dt" sz="half" idx="10"/>
          </p:nvPr>
        </p:nvSpPr>
        <p:spPr/>
        <p:txBody>
          <a:bodyPr/>
          <a:lstStyle/>
          <a:p>
            <a:fld id="{A1033590-C72F-4409-B7D4-D87A90D6C67F}" type="datetimeFigureOut">
              <a:rPr lang="zh-TW" altLang="en-US" smtClean="0"/>
              <a:t>2017/7/5</a:t>
            </a:fld>
            <a:endParaRPr lang="zh-TW" altLang="en-US"/>
          </a:p>
        </p:txBody>
      </p:sp>
      <p:sp>
        <p:nvSpPr>
          <p:cNvPr id="5" name="頁尾版面配置區 4">
            <a:extLst>
              <a:ext uri="{FF2B5EF4-FFF2-40B4-BE49-F238E27FC236}">
                <a16:creationId xmlns:a16="http://schemas.microsoft.com/office/drawing/2014/main" id="{71E083C2-0CB9-4F11-8100-1BFDDEA20F1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518809A0-0157-4F36-AB56-1631667228D7}"/>
              </a:ext>
            </a:extLst>
          </p:cNvPr>
          <p:cNvSpPr>
            <a:spLocks noGrp="1"/>
          </p:cNvSpPr>
          <p:nvPr>
            <p:ph type="sldNum" sz="quarter" idx="12"/>
          </p:nvPr>
        </p:nvSpPr>
        <p:spPr/>
        <p:txBody>
          <a:bodyPr/>
          <a:lstStyle/>
          <a:p>
            <a:fld id="{AA371F7B-CFE7-4A83-A998-202EA522F511}" type="slidenum">
              <a:rPr lang="zh-TW" altLang="en-US" smtClean="0"/>
              <a:t>‹#›</a:t>
            </a:fld>
            <a:endParaRPr lang="zh-TW" altLang="en-US"/>
          </a:p>
        </p:txBody>
      </p:sp>
    </p:spTree>
    <p:extLst>
      <p:ext uri="{BB962C8B-B14F-4D97-AF65-F5344CB8AC3E}">
        <p14:creationId xmlns:p14="http://schemas.microsoft.com/office/powerpoint/2010/main" val="13569829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10782C1E-2608-41C7-9D4E-4B145A2AD4D4}"/>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8EE7BD4F-F0E0-416D-A821-AB7F4718A33F}"/>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BD50F83-366E-46A9-AEC2-327885912704}"/>
              </a:ext>
            </a:extLst>
          </p:cNvPr>
          <p:cNvSpPr>
            <a:spLocks noGrp="1"/>
          </p:cNvSpPr>
          <p:nvPr>
            <p:ph type="dt" sz="half" idx="10"/>
          </p:nvPr>
        </p:nvSpPr>
        <p:spPr/>
        <p:txBody>
          <a:bodyPr/>
          <a:lstStyle/>
          <a:p>
            <a:fld id="{A1033590-C72F-4409-B7D4-D87A90D6C67F}" type="datetimeFigureOut">
              <a:rPr lang="zh-TW" altLang="en-US" smtClean="0"/>
              <a:t>2017/7/5</a:t>
            </a:fld>
            <a:endParaRPr lang="zh-TW" altLang="en-US"/>
          </a:p>
        </p:txBody>
      </p:sp>
      <p:sp>
        <p:nvSpPr>
          <p:cNvPr id="5" name="頁尾版面配置區 4">
            <a:extLst>
              <a:ext uri="{FF2B5EF4-FFF2-40B4-BE49-F238E27FC236}">
                <a16:creationId xmlns:a16="http://schemas.microsoft.com/office/drawing/2014/main" id="{737B5149-E094-488D-BF9C-593C1FB4F99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061F9BC-6DAB-446C-AEE7-D92FD78804C3}"/>
              </a:ext>
            </a:extLst>
          </p:cNvPr>
          <p:cNvSpPr>
            <a:spLocks noGrp="1"/>
          </p:cNvSpPr>
          <p:nvPr>
            <p:ph type="sldNum" sz="quarter" idx="12"/>
          </p:nvPr>
        </p:nvSpPr>
        <p:spPr/>
        <p:txBody>
          <a:bodyPr/>
          <a:lstStyle/>
          <a:p>
            <a:fld id="{AA371F7B-CFE7-4A83-A998-202EA522F511}" type="slidenum">
              <a:rPr lang="zh-TW" altLang="en-US" smtClean="0"/>
              <a:t>‹#›</a:t>
            </a:fld>
            <a:endParaRPr lang="zh-TW" altLang="en-US"/>
          </a:p>
        </p:txBody>
      </p:sp>
    </p:spTree>
    <p:extLst>
      <p:ext uri="{BB962C8B-B14F-4D97-AF65-F5344CB8AC3E}">
        <p14:creationId xmlns:p14="http://schemas.microsoft.com/office/powerpoint/2010/main" val="3607931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87954E2F-ED1C-4935-B387-5C116D4A74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DC3278BE-5C02-4D67-A225-FE92F55191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F8423BA-5AC5-4714-902F-F576533C0C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033590-C72F-4409-B7D4-D87A90D6C67F}" type="datetimeFigureOut">
              <a:rPr lang="zh-TW" altLang="en-US" smtClean="0"/>
              <a:t>2017/7/5</a:t>
            </a:fld>
            <a:endParaRPr lang="zh-TW" altLang="en-US"/>
          </a:p>
        </p:txBody>
      </p:sp>
      <p:sp>
        <p:nvSpPr>
          <p:cNvPr id="5" name="頁尾版面配置區 4">
            <a:extLst>
              <a:ext uri="{FF2B5EF4-FFF2-40B4-BE49-F238E27FC236}">
                <a16:creationId xmlns:a16="http://schemas.microsoft.com/office/drawing/2014/main" id="{1D943711-5FD7-4C6F-B5E1-C8367B37FD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7FEC0ED1-EDB0-4C43-A63B-6E4F1A3685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371F7B-CFE7-4A83-A998-202EA522F511}" type="slidenum">
              <a:rPr lang="zh-TW" altLang="en-US" smtClean="0"/>
              <a:t>‹#›</a:t>
            </a:fld>
            <a:endParaRPr lang="zh-TW" altLang="en-US"/>
          </a:p>
        </p:txBody>
      </p:sp>
    </p:spTree>
    <p:extLst>
      <p:ext uri="{BB962C8B-B14F-4D97-AF65-F5344CB8AC3E}">
        <p14:creationId xmlns:p14="http://schemas.microsoft.com/office/powerpoint/2010/main" val="34826464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2E1B51F-FB41-4D4C-B4DD-20173147F054}"/>
              </a:ext>
            </a:extLst>
          </p:cNvPr>
          <p:cNvSpPr>
            <a:spLocks noGrp="1"/>
          </p:cNvSpPr>
          <p:nvPr>
            <p:ph type="ctrTitle"/>
          </p:nvPr>
        </p:nvSpPr>
        <p:spPr>
          <a:xfrm>
            <a:off x="1524000" y="1077478"/>
            <a:ext cx="9144000" cy="882173"/>
          </a:xfrm>
        </p:spPr>
        <p:txBody>
          <a:bodyPr anchor="ctr">
            <a:normAutofit/>
          </a:bodyPr>
          <a:lstStyle/>
          <a:p>
            <a:r>
              <a:rPr lang="en-US" altLang="zh-TW" sz="4000" dirty="0">
                <a:latin typeface="Times New Roman" panose="02020603050405020304" pitchFamily="18" charset="0"/>
                <a:cs typeface="Times New Roman" panose="02020603050405020304" pitchFamily="18" charset="0"/>
              </a:rPr>
              <a:t>Basic Local Alignment Search Tool</a:t>
            </a:r>
            <a:endParaRPr lang="zh-TW" altLang="en-US" sz="40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06024BBA-0DCA-4A8A-AEF1-E4272B6E886B}"/>
              </a:ext>
            </a:extLst>
          </p:cNvPr>
          <p:cNvSpPr>
            <a:spLocks noGrp="1"/>
          </p:cNvSpPr>
          <p:nvPr>
            <p:ph type="subTitle" idx="1"/>
          </p:nvPr>
        </p:nvSpPr>
        <p:spPr>
          <a:xfrm>
            <a:off x="1524000" y="2175812"/>
            <a:ext cx="9144000" cy="3077271"/>
          </a:xfrm>
        </p:spPr>
        <p:txBody>
          <a:bodyPr>
            <a:normAutofit/>
          </a:bodyPr>
          <a:lstStyle/>
          <a:p>
            <a:r>
              <a:rPr lang="en-US" altLang="zh-TW" dirty="0">
                <a:latin typeface="Times New Roman" panose="02020603050405020304" pitchFamily="18" charset="0"/>
                <a:cs typeface="Times New Roman" panose="02020603050405020304" pitchFamily="18" charset="0"/>
              </a:rPr>
              <a:t>Stephen F. </a:t>
            </a:r>
            <a:r>
              <a:rPr lang="en-US" altLang="zh-TW" dirty="0" err="1">
                <a:latin typeface="Times New Roman" panose="02020603050405020304" pitchFamily="18" charset="0"/>
                <a:cs typeface="Times New Roman" panose="02020603050405020304" pitchFamily="18" charset="0"/>
              </a:rPr>
              <a:t>Altschul</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Warren Gish</a:t>
            </a:r>
          </a:p>
          <a:p>
            <a:r>
              <a:rPr lang="en-US" altLang="zh-TW" dirty="0">
                <a:latin typeface="Times New Roman" panose="02020603050405020304" pitchFamily="18" charset="0"/>
                <a:cs typeface="Times New Roman" panose="02020603050405020304" pitchFamily="18" charset="0"/>
              </a:rPr>
              <a:t>Webb Miller</a:t>
            </a:r>
          </a:p>
          <a:p>
            <a:r>
              <a:rPr lang="en-US" altLang="zh-TW" dirty="0">
                <a:latin typeface="Times New Roman" panose="02020603050405020304" pitchFamily="18" charset="0"/>
                <a:cs typeface="Times New Roman" panose="02020603050405020304" pitchFamily="18" charset="0"/>
              </a:rPr>
              <a:t>Eugene W. Myers</a:t>
            </a:r>
          </a:p>
          <a:p>
            <a:r>
              <a:rPr lang="en-US" altLang="zh-TW" dirty="0">
                <a:latin typeface="Times New Roman" panose="02020603050405020304" pitchFamily="18" charset="0"/>
                <a:cs typeface="Times New Roman" panose="02020603050405020304" pitchFamily="18" charset="0"/>
              </a:rPr>
              <a:t>David J. Lipman</a:t>
            </a:r>
            <a:endParaRPr lang="en-US" altLang="zh-TW" sz="1800"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r>
              <a:rPr lang="en-US" altLang="zh-TW" sz="1800" dirty="0">
                <a:latin typeface="Times New Roman" panose="02020603050405020304" pitchFamily="18" charset="0"/>
                <a:cs typeface="Times New Roman" panose="02020603050405020304" pitchFamily="18" charset="0"/>
              </a:rPr>
              <a:t>Journal of Molecular Biology, Volume 215, Issue 3, Pages 403-410, 1990</a:t>
            </a:r>
          </a:p>
          <a:p>
            <a:endParaRPr lang="en-US" altLang="zh-TW" dirty="0">
              <a:latin typeface="Times New Roman" panose="02020603050405020304" pitchFamily="18" charset="0"/>
              <a:cs typeface="Times New Roman" panose="02020603050405020304" pitchFamily="18" charset="0"/>
            </a:endParaRPr>
          </a:p>
          <a:p>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5ECB2449-A6CD-44BB-A8D9-85C863198E4B}"/>
              </a:ext>
            </a:extLst>
          </p:cNvPr>
          <p:cNvSpPr txBox="1"/>
          <p:nvPr/>
        </p:nvSpPr>
        <p:spPr>
          <a:xfrm>
            <a:off x="4260401" y="5490281"/>
            <a:ext cx="3671198"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Hsiu-</a:t>
            </a:r>
            <a:r>
              <a:rPr lang="en-US" altLang="zh-TW" sz="2400" dirty="0" err="1">
                <a:latin typeface="Times New Roman" panose="02020603050405020304" pitchFamily="18" charset="0"/>
                <a:cs typeface="Times New Roman" panose="02020603050405020304" pitchFamily="18" charset="0"/>
              </a:rPr>
              <a:t>Chieh</a:t>
            </a:r>
            <a:r>
              <a:rPr lang="en-US" altLang="zh-TW" sz="2400" dirty="0">
                <a:latin typeface="Times New Roman" panose="02020603050405020304" pitchFamily="18" charset="0"/>
                <a:cs typeface="Times New Roman" panose="02020603050405020304" pitchFamily="18" charset="0"/>
              </a:rPr>
              <a:t> Hung</a:t>
            </a:r>
            <a:endParaRPr lang="zh-TW" altLang="en-US" sz="2400" dirty="0">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A196525A-0992-451E-8185-8EBE76B67A51}"/>
              </a:ext>
            </a:extLst>
          </p:cNvPr>
          <p:cNvSpPr txBox="1"/>
          <p:nvPr/>
        </p:nvSpPr>
        <p:spPr>
          <a:xfrm>
            <a:off x="9719732" y="6175021"/>
            <a:ext cx="1563248"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Date: 2017/7/5</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20247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6E601DD-AE4B-4594-9971-E9FD2961CB9D}"/>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Abstract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280916E5-95FF-4CB9-8972-2D3ED3CA79D6}"/>
              </a:ext>
            </a:extLst>
          </p:cNvPr>
          <p:cNvSpPr>
            <a:spLocks noGrp="1"/>
          </p:cNvSpPr>
          <p:nvPr>
            <p:ph idx="1"/>
          </p:nvPr>
        </p:nvSpPr>
        <p:spPr/>
        <p:txBody>
          <a:bodyPr>
            <a:normAutofit fontScale="92500" lnSpcReduction="10000"/>
          </a:bodyPr>
          <a:lstStyle/>
          <a:p>
            <a:pPr marL="0" indent="0">
              <a:buNone/>
            </a:pPr>
            <a:r>
              <a:rPr lang="en-US" altLang="zh-TW" dirty="0">
                <a:latin typeface="Times New Roman" panose="02020603050405020304" pitchFamily="18" charset="0"/>
                <a:cs typeface="Times New Roman" panose="02020603050405020304" pitchFamily="18" charset="0"/>
              </a:rPr>
              <a:t>	A new approach to rapid sequence comparison, basic local alignment search tool (BLAST), directly approximates alignments that optimize a measure of local similarity, the maximal segment pair (MSP) score. Recent mathematical results on the stochastic properties of MSP scores allow an analysis of the performance of this method as well as the statistical significance of alignments it generates. The basic algorithm is simple and robust; it can be implemented in a number of ways and applied in a variety of contexts including straight-forward DNA and protein sequence database searches, motif searches, gene identification searches, and in the analysis of multiple regions of similarity in long DNA sequences. In addition to its flexibility and tractability to mathematical analysis, BLAST is an order of magnitude faster than existing sequence comparison tools of comparable sensitivity.</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59536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5B84C1D7-40A8-4B3F-AB82-1993BDF6D491}"/>
              </a:ext>
            </a:extLst>
          </p:cNvPr>
          <p:cNvSpPr txBox="1"/>
          <p:nvPr/>
        </p:nvSpPr>
        <p:spPr>
          <a:xfrm>
            <a:off x="852255" y="1322773"/>
            <a:ext cx="2028119" cy="830997"/>
          </a:xfrm>
          <a:prstGeom prst="rect">
            <a:avLst/>
          </a:prstGeom>
          <a:noFill/>
        </p:spPr>
        <p:txBody>
          <a:bodyPr wrap="none" rtlCol="0">
            <a:spAutoFit/>
          </a:bodyPr>
          <a:lstStyle/>
          <a:p>
            <a:r>
              <a:rPr lang="en-US" altLang="zh-TW" sz="2400" dirty="0">
                <a:latin typeface="Courier New" panose="02070309020205020404" pitchFamily="49" charset="0"/>
                <a:cs typeface="Courier New" panose="02070309020205020404" pitchFamily="49" charset="0"/>
              </a:rPr>
              <a:t>CATACTCGT</a:t>
            </a:r>
          </a:p>
          <a:p>
            <a:r>
              <a:rPr lang="en-US" altLang="zh-TW" sz="2400" dirty="0">
                <a:latin typeface="Courier New" panose="02070309020205020404" pitchFamily="49" charset="0"/>
                <a:cs typeface="Courier New" panose="02070309020205020404" pitchFamily="49" charset="0"/>
              </a:rPr>
              <a:t>GCTACTGATC</a:t>
            </a:r>
            <a:endParaRPr lang="zh-TW" altLang="en-US" sz="2400" dirty="0">
              <a:latin typeface="Courier New" panose="02070309020205020404" pitchFamily="49" charset="0"/>
              <a:cs typeface="Courier New" panose="02070309020205020404" pitchFamily="49" charset="0"/>
            </a:endParaRPr>
          </a:p>
        </p:txBody>
      </p:sp>
      <p:graphicFrame>
        <p:nvGraphicFramePr>
          <p:cNvPr id="5" name="表格 4">
            <a:extLst>
              <a:ext uri="{FF2B5EF4-FFF2-40B4-BE49-F238E27FC236}">
                <a16:creationId xmlns:a16="http://schemas.microsoft.com/office/drawing/2014/main" id="{068500AA-4FB4-4E76-901A-B69FF9C6E7DD}"/>
              </a:ext>
            </a:extLst>
          </p:cNvPr>
          <p:cNvGraphicFramePr>
            <a:graphicFrameLocks noGrp="1"/>
          </p:cNvGraphicFramePr>
          <p:nvPr>
            <p:extLst>
              <p:ext uri="{D42A27DB-BD31-4B8C-83A1-F6EECF244321}">
                <p14:modId xmlns:p14="http://schemas.microsoft.com/office/powerpoint/2010/main" val="3372828634"/>
              </p:ext>
            </p:extLst>
          </p:nvPr>
        </p:nvGraphicFramePr>
        <p:xfrm>
          <a:off x="3500424" y="2770408"/>
          <a:ext cx="4230200" cy="3337560"/>
        </p:xfrm>
        <a:graphic>
          <a:graphicData uri="http://schemas.openxmlformats.org/drawingml/2006/table">
            <a:tbl>
              <a:tblPr firstRow="1" bandRow="1">
                <a:tableStyleId>{5C22544A-7EE6-4342-B048-85BDC9FD1C3A}</a:tableStyleId>
              </a:tblPr>
              <a:tblGrid>
                <a:gridCol w="423020">
                  <a:extLst>
                    <a:ext uri="{9D8B030D-6E8A-4147-A177-3AD203B41FA5}">
                      <a16:colId xmlns:a16="http://schemas.microsoft.com/office/drawing/2014/main" val="2915962746"/>
                    </a:ext>
                  </a:extLst>
                </a:gridCol>
                <a:gridCol w="423020">
                  <a:extLst>
                    <a:ext uri="{9D8B030D-6E8A-4147-A177-3AD203B41FA5}">
                      <a16:colId xmlns:a16="http://schemas.microsoft.com/office/drawing/2014/main" val="2477476089"/>
                    </a:ext>
                  </a:extLst>
                </a:gridCol>
                <a:gridCol w="423020">
                  <a:extLst>
                    <a:ext uri="{9D8B030D-6E8A-4147-A177-3AD203B41FA5}">
                      <a16:colId xmlns:a16="http://schemas.microsoft.com/office/drawing/2014/main" val="2030433339"/>
                    </a:ext>
                  </a:extLst>
                </a:gridCol>
                <a:gridCol w="423020">
                  <a:extLst>
                    <a:ext uri="{9D8B030D-6E8A-4147-A177-3AD203B41FA5}">
                      <a16:colId xmlns:a16="http://schemas.microsoft.com/office/drawing/2014/main" val="1656590540"/>
                    </a:ext>
                  </a:extLst>
                </a:gridCol>
                <a:gridCol w="423020">
                  <a:extLst>
                    <a:ext uri="{9D8B030D-6E8A-4147-A177-3AD203B41FA5}">
                      <a16:colId xmlns:a16="http://schemas.microsoft.com/office/drawing/2014/main" val="3729687309"/>
                    </a:ext>
                  </a:extLst>
                </a:gridCol>
                <a:gridCol w="423020">
                  <a:extLst>
                    <a:ext uri="{9D8B030D-6E8A-4147-A177-3AD203B41FA5}">
                      <a16:colId xmlns:a16="http://schemas.microsoft.com/office/drawing/2014/main" val="3530024732"/>
                    </a:ext>
                  </a:extLst>
                </a:gridCol>
                <a:gridCol w="423020">
                  <a:extLst>
                    <a:ext uri="{9D8B030D-6E8A-4147-A177-3AD203B41FA5}">
                      <a16:colId xmlns:a16="http://schemas.microsoft.com/office/drawing/2014/main" val="2748867889"/>
                    </a:ext>
                  </a:extLst>
                </a:gridCol>
                <a:gridCol w="423020">
                  <a:extLst>
                    <a:ext uri="{9D8B030D-6E8A-4147-A177-3AD203B41FA5}">
                      <a16:colId xmlns:a16="http://schemas.microsoft.com/office/drawing/2014/main" val="161946308"/>
                    </a:ext>
                  </a:extLst>
                </a:gridCol>
                <a:gridCol w="423020">
                  <a:extLst>
                    <a:ext uri="{9D8B030D-6E8A-4147-A177-3AD203B41FA5}">
                      <a16:colId xmlns:a16="http://schemas.microsoft.com/office/drawing/2014/main" val="2240612967"/>
                    </a:ext>
                  </a:extLst>
                </a:gridCol>
                <a:gridCol w="423020">
                  <a:extLst>
                    <a:ext uri="{9D8B030D-6E8A-4147-A177-3AD203B41FA5}">
                      <a16:colId xmlns:a16="http://schemas.microsoft.com/office/drawing/2014/main" val="736960698"/>
                    </a:ext>
                  </a:extLst>
                </a:gridCol>
              </a:tblGrid>
              <a:tr h="370840">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rgbClr val="FF0000"/>
                          </a:solidFill>
                        </a:rPr>
                        <a:t>1</a:t>
                      </a:r>
                      <a:endParaRPr lang="zh-TW" altLang="en-US" b="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5919141"/>
                  </a:ext>
                </a:extLst>
              </a:tr>
              <a:tr h="370840">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9461233"/>
                  </a:ext>
                </a:extLst>
              </a:tr>
              <a:tr h="370840">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rgbClr val="FF0000"/>
                          </a:solidFill>
                        </a:rPr>
                        <a:t>2</a:t>
                      </a:r>
                      <a:endParaRPr lang="zh-TW" altLang="en-US" b="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6520918"/>
                  </a:ext>
                </a:extLst>
              </a:tr>
              <a:tr h="370840">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rgbClr val="FF0000"/>
                          </a:solidFill>
                        </a:rPr>
                        <a:t>3</a:t>
                      </a:r>
                      <a:endParaRPr lang="zh-TW" altLang="en-US" b="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en-US" altLang="zh-TW" b="0" dirty="0">
                          <a:solidFill>
                            <a:schemeClr val="tx1"/>
                          </a:solidFill>
                        </a:rPr>
                        <a: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0603856"/>
                  </a:ext>
                </a:extLst>
              </a:tr>
              <a:tr h="370840">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rgbClr val="FF0000"/>
                          </a:solidFill>
                        </a:rPr>
                        <a:t>4</a:t>
                      </a:r>
                      <a:endParaRPr lang="zh-TW" altLang="en-US" b="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3086132"/>
                  </a:ext>
                </a:extLst>
              </a:tr>
              <a:tr h="370840">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rgbClr val="FF0000"/>
                          </a:solidFill>
                        </a:rPr>
                        <a:t>5</a:t>
                      </a:r>
                      <a:endParaRPr lang="zh-TW" altLang="en-US" b="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en-US" altLang="zh-TW" b="0" dirty="0">
                          <a:solidFill>
                            <a:schemeClr val="tx1"/>
                          </a:solidFill>
                        </a:rPr>
                        <a: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06209279"/>
                  </a:ext>
                </a:extLst>
              </a:tr>
              <a:tr h="370840">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5176864"/>
                  </a:ext>
                </a:extLst>
              </a:tr>
              <a:tr h="370840">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rgbClr val="FF0000"/>
                          </a:solidFill>
                        </a:rPr>
                        <a:t>6</a:t>
                      </a:r>
                      <a:endParaRPr lang="zh-TW" altLang="en-US" b="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en-US" altLang="zh-TW" b="0" dirty="0">
                          <a:solidFill>
                            <a:schemeClr val="tx1"/>
                          </a:solidFill>
                        </a:rPr>
                        <a: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942502"/>
                  </a:ext>
                </a:extLst>
              </a:tr>
              <a:tr h="370840">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rgbClr val="FF0000"/>
                          </a:solidFill>
                        </a:rPr>
                        <a:t>7</a:t>
                      </a:r>
                      <a:endParaRPr lang="zh-TW" altLang="en-US" b="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en-US" altLang="zh-TW" b="0" dirty="0">
                          <a:solidFill>
                            <a:schemeClr val="tx1"/>
                          </a:solidFill>
                        </a:rPr>
                        <a: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54448966"/>
                  </a:ext>
                </a:extLst>
              </a:tr>
            </a:tbl>
          </a:graphicData>
        </a:graphic>
      </p:graphicFrame>
      <p:sp>
        <p:nvSpPr>
          <p:cNvPr id="6" name="文字方塊 5">
            <a:extLst>
              <a:ext uri="{FF2B5EF4-FFF2-40B4-BE49-F238E27FC236}">
                <a16:creationId xmlns:a16="http://schemas.microsoft.com/office/drawing/2014/main" id="{2A265929-6B6F-4D2D-B2AA-3BDAF62FA24B}"/>
              </a:ext>
            </a:extLst>
          </p:cNvPr>
          <p:cNvSpPr txBox="1"/>
          <p:nvPr/>
        </p:nvSpPr>
        <p:spPr>
          <a:xfrm>
            <a:off x="3092941" y="2731028"/>
            <a:ext cx="407484" cy="3416320"/>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C</a:t>
            </a:r>
          </a:p>
          <a:p>
            <a:r>
              <a:rPr lang="en-US" altLang="zh-TW" sz="2400" dirty="0">
                <a:latin typeface="Times New Roman" panose="02020603050405020304" pitchFamily="18" charset="0"/>
                <a:cs typeface="Times New Roman" panose="02020603050405020304" pitchFamily="18" charset="0"/>
              </a:rPr>
              <a:t>A</a:t>
            </a:r>
          </a:p>
          <a:p>
            <a:r>
              <a:rPr lang="en-US" altLang="zh-TW" sz="2400" dirty="0">
                <a:latin typeface="Times New Roman" panose="02020603050405020304" pitchFamily="18" charset="0"/>
                <a:cs typeface="Times New Roman" panose="02020603050405020304" pitchFamily="18" charset="0"/>
              </a:rPr>
              <a:t>T</a:t>
            </a:r>
          </a:p>
          <a:p>
            <a:r>
              <a:rPr lang="en-US" altLang="zh-TW" sz="2400" dirty="0">
                <a:latin typeface="Times New Roman" panose="02020603050405020304" pitchFamily="18" charset="0"/>
                <a:cs typeface="Times New Roman" panose="02020603050405020304" pitchFamily="18" charset="0"/>
              </a:rPr>
              <a:t>A</a:t>
            </a:r>
          </a:p>
          <a:p>
            <a:r>
              <a:rPr lang="en-US" altLang="zh-TW" sz="2400" dirty="0">
                <a:latin typeface="Times New Roman" panose="02020603050405020304" pitchFamily="18" charset="0"/>
                <a:cs typeface="Times New Roman" panose="02020603050405020304" pitchFamily="18" charset="0"/>
              </a:rPr>
              <a:t>C</a:t>
            </a:r>
          </a:p>
          <a:p>
            <a:r>
              <a:rPr lang="en-US" altLang="zh-TW" sz="2400" dirty="0">
                <a:latin typeface="Times New Roman" panose="02020603050405020304" pitchFamily="18" charset="0"/>
                <a:cs typeface="Times New Roman" panose="02020603050405020304" pitchFamily="18" charset="0"/>
              </a:rPr>
              <a:t>T</a:t>
            </a:r>
          </a:p>
          <a:p>
            <a:r>
              <a:rPr lang="en-US" altLang="zh-TW" sz="2400" dirty="0">
                <a:latin typeface="Times New Roman" panose="02020603050405020304" pitchFamily="18" charset="0"/>
                <a:cs typeface="Times New Roman" panose="02020603050405020304" pitchFamily="18" charset="0"/>
              </a:rPr>
              <a:t>C</a:t>
            </a:r>
          </a:p>
          <a:p>
            <a:r>
              <a:rPr lang="en-US" altLang="zh-TW" sz="2400" dirty="0">
                <a:latin typeface="Times New Roman" panose="02020603050405020304" pitchFamily="18" charset="0"/>
                <a:cs typeface="Times New Roman" panose="02020603050405020304" pitchFamily="18" charset="0"/>
              </a:rPr>
              <a:t>G</a:t>
            </a:r>
          </a:p>
          <a:p>
            <a:r>
              <a:rPr lang="en-US" altLang="zh-TW" sz="2400" dirty="0">
                <a:latin typeface="Times New Roman" panose="02020603050405020304" pitchFamily="18" charset="0"/>
                <a:cs typeface="Times New Roman" panose="02020603050405020304" pitchFamily="18" charset="0"/>
              </a:rPr>
              <a:t>T</a:t>
            </a:r>
            <a:endParaRPr lang="zh-TW" altLang="en-US" sz="2400" dirty="0">
              <a:latin typeface="Times New Roman" panose="02020603050405020304" pitchFamily="18" charset="0"/>
              <a:cs typeface="Times New Roman" panose="02020603050405020304" pitchFamily="18" charset="0"/>
            </a:endParaRPr>
          </a:p>
        </p:txBody>
      </p:sp>
      <p:sp>
        <p:nvSpPr>
          <p:cNvPr id="7" name="文字方塊 6">
            <a:extLst>
              <a:ext uri="{FF2B5EF4-FFF2-40B4-BE49-F238E27FC236}">
                <a16:creationId xmlns:a16="http://schemas.microsoft.com/office/drawing/2014/main" id="{DEE0E367-F5E1-4421-BD95-80DAC7F96CDE}"/>
              </a:ext>
            </a:extLst>
          </p:cNvPr>
          <p:cNvSpPr txBox="1"/>
          <p:nvPr/>
        </p:nvSpPr>
        <p:spPr>
          <a:xfrm>
            <a:off x="3500425" y="2289053"/>
            <a:ext cx="423019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G   C   T   A   C   T   G   A   T   C</a:t>
            </a:r>
            <a:endParaRPr lang="zh-TW" altLang="en-US" sz="2400"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C7F5FABA-0127-4172-9DD4-ADAA9DEF61C0}"/>
              </a:ext>
            </a:extLst>
          </p:cNvPr>
          <p:cNvSpPr txBox="1"/>
          <p:nvPr/>
        </p:nvSpPr>
        <p:spPr>
          <a:xfrm>
            <a:off x="8124546" y="4023689"/>
            <a:ext cx="2396810" cy="830997"/>
          </a:xfrm>
          <a:prstGeom prst="rect">
            <a:avLst/>
          </a:prstGeom>
          <a:noFill/>
        </p:spPr>
        <p:txBody>
          <a:bodyPr wrap="none" rtlCol="0">
            <a:spAutoFit/>
          </a:bodyPr>
          <a:lstStyle/>
          <a:p>
            <a:r>
              <a:rPr lang="en-US" altLang="zh-TW" sz="2400" dirty="0">
                <a:latin typeface="Courier New" panose="02070309020205020404" pitchFamily="49" charset="0"/>
                <a:cs typeface="Courier New" panose="02070309020205020404" pitchFamily="49" charset="0"/>
              </a:rPr>
              <a:t>-CATACTCG-T-</a:t>
            </a:r>
          </a:p>
          <a:p>
            <a:r>
              <a:rPr lang="en-US" altLang="zh-TW" sz="2400" dirty="0">
                <a:latin typeface="Courier New" panose="02070309020205020404" pitchFamily="49" charset="0"/>
                <a:cs typeface="Courier New" panose="02070309020205020404" pitchFamily="49" charset="0"/>
              </a:rPr>
              <a:t>GC-TACT-GATC</a:t>
            </a:r>
            <a:endParaRPr lang="zh-TW" altLang="en-US" sz="2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178143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1CF3152-A0A7-4A17-9AED-554BE968FB56}"/>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BLAST</a:t>
            </a:r>
            <a:endParaRPr lang="zh-TW" altLang="en-US" dirty="0">
              <a:latin typeface="Times New Roman" panose="02020603050405020304" pitchFamily="18" charset="0"/>
              <a:cs typeface="Times New Roman" panose="02020603050405020304" pitchFamily="18" charset="0"/>
            </a:endParaRPr>
          </a:p>
        </p:txBody>
      </p:sp>
      <p:sp>
        <p:nvSpPr>
          <p:cNvPr id="4" name="流程圖: 磁碟 3">
            <a:extLst>
              <a:ext uri="{FF2B5EF4-FFF2-40B4-BE49-F238E27FC236}">
                <a16:creationId xmlns:a16="http://schemas.microsoft.com/office/drawing/2014/main" id="{7F7F8721-FE66-4C50-807D-86189711308D}"/>
              </a:ext>
            </a:extLst>
          </p:cNvPr>
          <p:cNvSpPr/>
          <p:nvPr/>
        </p:nvSpPr>
        <p:spPr>
          <a:xfrm>
            <a:off x="3098306" y="2432482"/>
            <a:ext cx="1535837" cy="2192785"/>
          </a:xfrm>
          <a:prstGeom prst="flowChartMagneticDisk">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文字方塊 4">
            <a:extLst>
              <a:ext uri="{FF2B5EF4-FFF2-40B4-BE49-F238E27FC236}">
                <a16:creationId xmlns:a16="http://schemas.microsoft.com/office/drawing/2014/main" id="{714AE598-41F9-45A0-B579-37CB3C00F8AC}"/>
              </a:ext>
            </a:extLst>
          </p:cNvPr>
          <p:cNvSpPr txBox="1"/>
          <p:nvPr/>
        </p:nvSpPr>
        <p:spPr>
          <a:xfrm>
            <a:off x="2831325" y="4882319"/>
            <a:ext cx="2069797" cy="400110"/>
          </a:xfrm>
          <a:prstGeom prst="rect">
            <a:avLst/>
          </a:prstGeom>
          <a:noFill/>
        </p:spPr>
        <p:txBody>
          <a:bodyPr wrap="none" rtlCol="0">
            <a:spAutoFit/>
          </a:bodyPr>
          <a:lstStyle/>
          <a:p>
            <a:r>
              <a:rPr lang="en-US" altLang="zh-TW" sz="2000" dirty="0">
                <a:latin typeface="Times New Roman" panose="02020603050405020304" pitchFamily="18" charset="0"/>
                <a:cs typeface="Times New Roman" panose="02020603050405020304" pitchFamily="18" charset="0"/>
              </a:rPr>
              <a:t>sequence database</a:t>
            </a:r>
            <a:endParaRPr lang="zh-TW" altLang="en-US" sz="2000" dirty="0">
              <a:latin typeface="Times New Roman" panose="02020603050405020304" pitchFamily="18" charset="0"/>
              <a:cs typeface="Times New Roman" panose="02020603050405020304" pitchFamily="18" charset="0"/>
            </a:endParaRPr>
          </a:p>
        </p:txBody>
      </p:sp>
      <p:cxnSp>
        <p:nvCxnSpPr>
          <p:cNvPr id="7" name="直線接點 6">
            <a:extLst>
              <a:ext uri="{FF2B5EF4-FFF2-40B4-BE49-F238E27FC236}">
                <a16:creationId xmlns:a16="http://schemas.microsoft.com/office/drawing/2014/main" id="{FE87BD4F-ACC6-4855-BCA5-B910C4659187}"/>
              </a:ext>
            </a:extLst>
          </p:cNvPr>
          <p:cNvCxnSpPr/>
          <p:nvPr/>
        </p:nvCxnSpPr>
        <p:spPr>
          <a:xfrm flipH="1" flipV="1">
            <a:off x="1695635" y="1828800"/>
            <a:ext cx="1278384" cy="852256"/>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線接點 7">
            <a:extLst>
              <a:ext uri="{FF2B5EF4-FFF2-40B4-BE49-F238E27FC236}">
                <a16:creationId xmlns:a16="http://schemas.microsoft.com/office/drawing/2014/main" id="{706B0B0D-6345-4658-A6BF-F66BAA6D18A3}"/>
              </a:ext>
            </a:extLst>
          </p:cNvPr>
          <p:cNvCxnSpPr>
            <a:cxnSpLocks/>
          </p:cNvCxnSpPr>
          <p:nvPr/>
        </p:nvCxnSpPr>
        <p:spPr>
          <a:xfrm flipH="1">
            <a:off x="1695635" y="4330139"/>
            <a:ext cx="1278384" cy="852256"/>
          </a:xfrm>
          <a:prstGeom prst="line">
            <a:avLst/>
          </a:prstGeom>
        </p:spPr>
        <p:style>
          <a:lnRef idx="1">
            <a:schemeClr val="accent1"/>
          </a:lnRef>
          <a:fillRef idx="0">
            <a:schemeClr val="accent1"/>
          </a:fillRef>
          <a:effectRef idx="0">
            <a:schemeClr val="accent1"/>
          </a:effectRef>
          <a:fontRef idx="minor">
            <a:schemeClr val="tx1"/>
          </a:fontRef>
        </p:style>
      </p:cxnSp>
      <p:sp>
        <p:nvSpPr>
          <p:cNvPr id="9" name="文字方塊 8">
            <a:extLst>
              <a:ext uri="{FF2B5EF4-FFF2-40B4-BE49-F238E27FC236}">
                <a16:creationId xmlns:a16="http://schemas.microsoft.com/office/drawing/2014/main" id="{CC767B9B-FB34-4CCA-A9BE-F8943CAF70B6}"/>
              </a:ext>
            </a:extLst>
          </p:cNvPr>
          <p:cNvSpPr txBox="1"/>
          <p:nvPr/>
        </p:nvSpPr>
        <p:spPr>
          <a:xfrm>
            <a:off x="1325021" y="2040917"/>
            <a:ext cx="370614" cy="1015663"/>
          </a:xfrm>
          <a:prstGeom prst="rect">
            <a:avLst/>
          </a:prstGeom>
          <a:noFill/>
        </p:spPr>
        <p:txBody>
          <a:bodyPr wrap="none" rtlCol="0">
            <a:spAutoFit/>
          </a:bodyPr>
          <a:lstStyle/>
          <a:p>
            <a:r>
              <a:rPr lang="en-US" altLang="zh-TW" sz="2000" dirty="0">
                <a:latin typeface="Times New Roman" panose="02020603050405020304" pitchFamily="18" charset="0"/>
                <a:cs typeface="Times New Roman" panose="02020603050405020304" pitchFamily="18" charset="0"/>
              </a:rPr>
              <a:t>A</a:t>
            </a:r>
          </a:p>
          <a:p>
            <a:r>
              <a:rPr lang="en-US" altLang="zh-TW" sz="2000" dirty="0">
                <a:latin typeface="Times New Roman" panose="02020603050405020304" pitchFamily="18" charset="0"/>
                <a:cs typeface="Times New Roman" panose="02020603050405020304" pitchFamily="18" charset="0"/>
              </a:rPr>
              <a:t>B</a:t>
            </a:r>
          </a:p>
          <a:p>
            <a:r>
              <a:rPr lang="en-US" altLang="zh-TW" sz="2000" dirty="0">
                <a:latin typeface="Times New Roman" panose="02020603050405020304" pitchFamily="18" charset="0"/>
                <a:cs typeface="Times New Roman" panose="02020603050405020304" pitchFamily="18" charset="0"/>
              </a:rPr>
              <a:t>C</a:t>
            </a:r>
          </a:p>
        </p:txBody>
      </p:sp>
      <p:sp>
        <p:nvSpPr>
          <p:cNvPr id="10" name="文字方塊 9">
            <a:extLst>
              <a:ext uri="{FF2B5EF4-FFF2-40B4-BE49-F238E27FC236}">
                <a16:creationId xmlns:a16="http://schemas.microsoft.com/office/drawing/2014/main" id="{CCADD534-850A-4F8C-9DFC-AD5B55A91E4F}"/>
              </a:ext>
            </a:extLst>
          </p:cNvPr>
          <p:cNvSpPr txBox="1"/>
          <p:nvPr/>
        </p:nvSpPr>
        <p:spPr>
          <a:xfrm>
            <a:off x="1385935" y="2898977"/>
            <a:ext cx="248786" cy="1015663"/>
          </a:xfrm>
          <a:prstGeom prst="rect">
            <a:avLst/>
          </a:prstGeom>
          <a:noFill/>
        </p:spPr>
        <p:txBody>
          <a:bodyPr wrap="none" rtlCol="0">
            <a:spAutoFit/>
          </a:bodyPr>
          <a:lstStyle/>
          <a:p>
            <a:r>
              <a:rPr lang="en-US" altLang="zh-TW" sz="2000" dirty="0">
                <a:latin typeface="Times New Roman" panose="02020603050405020304" pitchFamily="18" charset="0"/>
                <a:cs typeface="Times New Roman" panose="02020603050405020304" pitchFamily="18" charset="0"/>
              </a:rPr>
              <a:t>.</a:t>
            </a:r>
          </a:p>
          <a:p>
            <a:r>
              <a:rPr lang="en-US" altLang="zh-TW" sz="2000" dirty="0">
                <a:latin typeface="Times New Roman" panose="02020603050405020304" pitchFamily="18" charset="0"/>
                <a:cs typeface="Times New Roman" panose="02020603050405020304" pitchFamily="18" charset="0"/>
              </a:rPr>
              <a:t>.</a:t>
            </a:r>
          </a:p>
          <a:p>
            <a:r>
              <a:rPr lang="en-US" altLang="zh-TW" sz="2000" dirty="0">
                <a:latin typeface="Times New Roman" panose="02020603050405020304" pitchFamily="18" charset="0"/>
                <a:cs typeface="Times New Roman" panose="02020603050405020304" pitchFamily="18" charset="0"/>
              </a:rPr>
              <a:t>.</a:t>
            </a:r>
            <a:endParaRPr lang="zh-TW" altLang="en-US" sz="2000" dirty="0">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29732665-A38E-4665-9FE4-716987F74B1A}"/>
              </a:ext>
            </a:extLst>
          </p:cNvPr>
          <p:cNvSpPr txBox="1"/>
          <p:nvPr/>
        </p:nvSpPr>
        <p:spPr>
          <a:xfrm>
            <a:off x="6835806" y="3328816"/>
            <a:ext cx="2214068" cy="400110"/>
          </a:xfrm>
          <a:prstGeom prst="rect">
            <a:avLst/>
          </a:prstGeom>
          <a:noFill/>
        </p:spPr>
        <p:txBody>
          <a:bodyPr wrap="none" rtlCol="0">
            <a:spAutoFit/>
          </a:bodyPr>
          <a:lstStyle/>
          <a:p>
            <a:r>
              <a:rPr lang="en-US" altLang="zh-TW" sz="2000" dirty="0">
                <a:latin typeface="Times New Roman" panose="02020603050405020304" pitchFamily="18" charset="0"/>
                <a:cs typeface="Times New Roman" panose="02020603050405020304" pitchFamily="18" charset="0"/>
              </a:rPr>
              <a:t>query sequence</a:t>
            </a:r>
            <a:r>
              <a:rPr lang="zh-TW" altLang="en-US" sz="2000" dirty="0">
                <a:latin typeface="Times New Roman" panose="02020603050405020304" pitchFamily="18" charset="0"/>
                <a:cs typeface="Times New Roman" panose="02020603050405020304" pitchFamily="18" charset="0"/>
              </a:rPr>
              <a:t>：</a:t>
            </a:r>
            <a:r>
              <a:rPr lang="en-US" altLang="zh-TW" sz="2000" dirty="0">
                <a:latin typeface="Times New Roman" panose="02020603050405020304" pitchFamily="18" charset="0"/>
                <a:cs typeface="Times New Roman" panose="02020603050405020304" pitchFamily="18" charset="0"/>
              </a:rPr>
              <a:t>Q</a:t>
            </a:r>
            <a:endParaRPr lang="zh-TW" altLang="en-US" sz="2000" dirty="0">
              <a:latin typeface="Times New Roman" panose="02020603050405020304" pitchFamily="18" charset="0"/>
              <a:cs typeface="Times New Roman" panose="02020603050405020304" pitchFamily="18" charset="0"/>
            </a:endParaRPr>
          </a:p>
        </p:txBody>
      </p:sp>
      <p:sp>
        <p:nvSpPr>
          <p:cNvPr id="12" name="箭號: 向右 11">
            <a:extLst>
              <a:ext uri="{FF2B5EF4-FFF2-40B4-BE49-F238E27FC236}">
                <a16:creationId xmlns:a16="http://schemas.microsoft.com/office/drawing/2014/main" id="{4652CA57-95E5-4A16-BD7E-666E9DE30BC9}"/>
              </a:ext>
            </a:extLst>
          </p:cNvPr>
          <p:cNvSpPr/>
          <p:nvPr/>
        </p:nvSpPr>
        <p:spPr>
          <a:xfrm rot="10800000">
            <a:off x="5264458" y="3274956"/>
            <a:ext cx="1248791" cy="507831"/>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9929421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AD420F50-18CD-47FB-90C3-D7387F9B94B3}"/>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BLAST</a:t>
            </a:r>
            <a:endParaRPr lang="zh-TW" altLang="en-US" dirty="0">
              <a:latin typeface="Times New Roman" panose="02020603050405020304" pitchFamily="18" charset="0"/>
              <a:cs typeface="Times New Roman" panose="02020603050405020304" pitchFamily="18" charset="0"/>
            </a:endParaRPr>
          </a:p>
        </p:txBody>
      </p:sp>
      <p:sp>
        <p:nvSpPr>
          <p:cNvPr id="2" name="文字方塊 1">
            <a:extLst>
              <a:ext uri="{FF2B5EF4-FFF2-40B4-BE49-F238E27FC236}">
                <a16:creationId xmlns:a16="http://schemas.microsoft.com/office/drawing/2014/main" id="{2C93707F-FA31-425A-82A9-FDA7209B0FED}"/>
              </a:ext>
            </a:extLst>
          </p:cNvPr>
          <p:cNvSpPr txBox="1"/>
          <p:nvPr/>
        </p:nvSpPr>
        <p:spPr>
          <a:xfrm>
            <a:off x="838200" y="1944210"/>
            <a:ext cx="2634054"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Global alignment</a:t>
            </a:r>
            <a:r>
              <a:rPr lang="zh-TW" altLang="en-US" sz="2400" dirty="0">
                <a:latin typeface="Times New Roman" panose="02020603050405020304" pitchFamily="18" charset="0"/>
                <a:cs typeface="Times New Roman" panose="02020603050405020304" pitchFamily="18" charset="0"/>
              </a:rPr>
              <a:t>：</a:t>
            </a:r>
            <a:endParaRPr lang="en-US" altLang="zh-TW" sz="2400" dirty="0">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1B30E16A-1766-455E-B375-5AE5DFA05119}"/>
              </a:ext>
            </a:extLst>
          </p:cNvPr>
          <p:cNvSpPr txBox="1"/>
          <p:nvPr/>
        </p:nvSpPr>
        <p:spPr>
          <a:xfrm>
            <a:off x="838200" y="3517037"/>
            <a:ext cx="2496196"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Local alignment</a:t>
            </a:r>
            <a:r>
              <a:rPr lang="zh-TW" altLang="en-US" sz="2400" dirty="0">
                <a:latin typeface="Times New Roman" panose="02020603050405020304" pitchFamily="18" charset="0"/>
                <a:cs typeface="Times New Roman" panose="02020603050405020304" pitchFamily="18" charset="0"/>
              </a:rPr>
              <a:t>：</a:t>
            </a:r>
            <a:endParaRPr lang="en-US" altLang="zh-TW" sz="2400" dirty="0">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12D9E54A-639C-4089-95CD-1922763B9584}"/>
              </a:ext>
            </a:extLst>
          </p:cNvPr>
          <p:cNvSpPr txBox="1"/>
          <p:nvPr/>
        </p:nvSpPr>
        <p:spPr>
          <a:xfrm>
            <a:off x="3552546" y="1759543"/>
            <a:ext cx="2396810" cy="830997"/>
          </a:xfrm>
          <a:prstGeom prst="rect">
            <a:avLst/>
          </a:prstGeom>
          <a:noFill/>
        </p:spPr>
        <p:txBody>
          <a:bodyPr wrap="none" rtlCol="0">
            <a:spAutoFit/>
          </a:bodyPr>
          <a:lstStyle/>
          <a:p>
            <a:r>
              <a:rPr lang="en-US" altLang="zh-TW" sz="2400" dirty="0">
                <a:latin typeface="Courier New" panose="02070309020205020404" pitchFamily="49" charset="0"/>
                <a:cs typeface="Courier New" panose="02070309020205020404" pitchFamily="49" charset="0"/>
              </a:rPr>
              <a:t>-CATACTCG-T-</a:t>
            </a:r>
          </a:p>
          <a:p>
            <a:r>
              <a:rPr lang="en-US" altLang="zh-TW" sz="2400" dirty="0">
                <a:latin typeface="Courier New" panose="02070309020205020404" pitchFamily="49" charset="0"/>
                <a:cs typeface="Courier New" panose="02070309020205020404" pitchFamily="49" charset="0"/>
              </a:rPr>
              <a:t>GC-TACT-GATC</a:t>
            </a:r>
            <a:endParaRPr lang="zh-TW" altLang="en-US" sz="2400" dirty="0">
              <a:latin typeface="Courier New" panose="02070309020205020404" pitchFamily="49" charset="0"/>
              <a:cs typeface="Courier New" panose="02070309020205020404" pitchFamily="49" charset="0"/>
            </a:endParaRPr>
          </a:p>
        </p:txBody>
      </p:sp>
      <p:sp>
        <p:nvSpPr>
          <p:cNvPr id="7" name="文字方塊 6">
            <a:extLst>
              <a:ext uri="{FF2B5EF4-FFF2-40B4-BE49-F238E27FC236}">
                <a16:creationId xmlns:a16="http://schemas.microsoft.com/office/drawing/2014/main" id="{E09E84D1-E8D7-41DE-97AB-1F15C418C96F}"/>
              </a:ext>
            </a:extLst>
          </p:cNvPr>
          <p:cNvSpPr txBox="1"/>
          <p:nvPr/>
        </p:nvSpPr>
        <p:spPr>
          <a:xfrm>
            <a:off x="3552546" y="3332370"/>
            <a:ext cx="2028119" cy="830997"/>
          </a:xfrm>
          <a:prstGeom prst="rect">
            <a:avLst/>
          </a:prstGeom>
          <a:noFill/>
        </p:spPr>
        <p:txBody>
          <a:bodyPr wrap="none" rtlCol="0">
            <a:spAutoFit/>
          </a:bodyPr>
          <a:lstStyle/>
          <a:p>
            <a:r>
              <a:rPr lang="en-US" altLang="zh-TW" sz="2400" dirty="0">
                <a:latin typeface="Courier New" panose="02070309020205020404" pitchFamily="49" charset="0"/>
                <a:cs typeface="Courier New" panose="02070309020205020404" pitchFamily="49" charset="0"/>
              </a:rPr>
              <a:t>C</a:t>
            </a:r>
            <a:r>
              <a:rPr lang="en-US" altLang="zh-TW" sz="2400" dirty="0">
                <a:solidFill>
                  <a:srgbClr val="FF0000"/>
                </a:solidFill>
                <a:latin typeface="Courier New" panose="02070309020205020404" pitchFamily="49" charset="0"/>
                <a:cs typeface="Courier New" panose="02070309020205020404" pitchFamily="49" charset="0"/>
              </a:rPr>
              <a:t>ATACT</a:t>
            </a:r>
            <a:r>
              <a:rPr lang="en-US" altLang="zh-TW" sz="2400" dirty="0">
                <a:latin typeface="Courier New" panose="02070309020205020404" pitchFamily="49" charset="0"/>
                <a:cs typeface="Courier New" panose="02070309020205020404" pitchFamily="49" charset="0"/>
              </a:rPr>
              <a:t>CGT</a:t>
            </a:r>
          </a:p>
          <a:p>
            <a:r>
              <a:rPr lang="en-US" altLang="zh-TW" sz="2400" dirty="0">
                <a:latin typeface="Courier New" panose="02070309020205020404" pitchFamily="49" charset="0"/>
                <a:cs typeface="Courier New" panose="02070309020205020404" pitchFamily="49" charset="0"/>
              </a:rPr>
              <a:t>G</a:t>
            </a:r>
            <a:r>
              <a:rPr lang="en-US" altLang="zh-TW" sz="2400" dirty="0">
                <a:solidFill>
                  <a:srgbClr val="FF0000"/>
                </a:solidFill>
                <a:latin typeface="Courier New" panose="02070309020205020404" pitchFamily="49" charset="0"/>
                <a:cs typeface="Courier New" panose="02070309020205020404" pitchFamily="49" charset="0"/>
              </a:rPr>
              <a:t>CTACT</a:t>
            </a:r>
            <a:r>
              <a:rPr lang="en-US" altLang="zh-TW" sz="2400" dirty="0">
                <a:latin typeface="Courier New" panose="02070309020205020404" pitchFamily="49" charset="0"/>
                <a:cs typeface="Courier New" panose="02070309020205020404" pitchFamily="49" charset="0"/>
              </a:rPr>
              <a:t>GATC</a:t>
            </a:r>
            <a:endParaRPr lang="zh-TW" altLang="en-US" sz="2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43350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4868F8A5-CF59-4D2D-A896-C78F9F7CEAC5}"/>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BLAST</a:t>
            </a:r>
            <a:endParaRPr lang="zh-TW" altLang="en-US" dirty="0">
              <a:latin typeface="Times New Roman" panose="02020603050405020304" pitchFamily="18" charset="0"/>
              <a:cs typeface="Times New Roman" panose="02020603050405020304" pitchFamily="18" charset="0"/>
            </a:endParaRPr>
          </a:p>
        </p:txBody>
      </p:sp>
      <p:sp>
        <p:nvSpPr>
          <p:cNvPr id="2" name="文字方塊 1">
            <a:extLst>
              <a:ext uri="{FF2B5EF4-FFF2-40B4-BE49-F238E27FC236}">
                <a16:creationId xmlns:a16="http://schemas.microsoft.com/office/drawing/2014/main" id="{9C5D6E0D-F881-40A3-9C54-33E0D183B5E2}"/>
              </a:ext>
            </a:extLst>
          </p:cNvPr>
          <p:cNvSpPr txBox="1"/>
          <p:nvPr/>
        </p:nvSpPr>
        <p:spPr>
          <a:xfrm>
            <a:off x="838200" y="1690688"/>
            <a:ext cx="5251759"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Step 1</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find words from query sequence</a:t>
            </a:r>
            <a:endParaRPr lang="zh-TW" altLang="en-US" sz="2400" dirty="0">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45D670CC-30B8-4B7A-960D-3C67ACCF4420}"/>
              </a:ext>
            </a:extLst>
          </p:cNvPr>
          <p:cNvSpPr txBox="1"/>
          <p:nvPr/>
        </p:nvSpPr>
        <p:spPr>
          <a:xfrm>
            <a:off x="1500326" y="3247083"/>
            <a:ext cx="2335896" cy="461665"/>
          </a:xfrm>
          <a:prstGeom prst="rect">
            <a:avLst/>
          </a:prstGeom>
          <a:noFill/>
        </p:spPr>
        <p:txBody>
          <a:bodyPr wrap="none" rtlCol="0">
            <a:spAutoFit/>
          </a:bodyPr>
          <a:lstStyle/>
          <a:p>
            <a:r>
              <a:rPr lang="en-US" altLang="zh-TW" sz="2400" dirty="0">
                <a:latin typeface="Courier New" panose="02070309020205020404" pitchFamily="49" charset="0"/>
                <a:cs typeface="Courier New" panose="02070309020205020404" pitchFamily="49" charset="0"/>
              </a:rPr>
              <a:t>Q</a:t>
            </a:r>
            <a:r>
              <a:rPr lang="zh-TW" altLang="en-US" sz="2400" dirty="0">
                <a:latin typeface="Courier New" panose="02070309020205020404" pitchFamily="49" charset="0"/>
                <a:cs typeface="Courier New" panose="02070309020205020404" pitchFamily="49" charset="0"/>
              </a:rPr>
              <a:t>：</a:t>
            </a:r>
            <a:r>
              <a:rPr lang="en-US" altLang="zh-TW" sz="2400" dirty="0">
                <a:latin typeface="Courier New" panose="02070309020205020404" pitchFamily="49" charset="0"/>
                <a:cs typeface="Courier New" panose="02070309020205020404" pitchFamily="49" charset="0"/>
              </a:rPr>
              <a:t>CATACTCGT</a:t>
            </a:r>
          </a:p>
        </p:txBody>
      </p:sp>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B55A1924-8D9A-4297-8DD1-C5F3F8895278}"/>
                  </a:ext>
                </a:extLst>
              </p:cNvPr>
              <p:cNvSpPr txBox="1"/>
              <p:nvPr/>
            </p:nvSpPr>
            <p:spPr>
              <a:xfrm>
                <a:off x="1500326" y="2443145"/>
                <a:ext cx="106836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𝑤</m:t>
                      </m:r>
                      <m:r>
                        <a:rPr lang="en-US" altLang="zh-TW" sz="2400" b="0" i="1" smtClean="0">
                          <a:latin typeface="Cambria Math" panose="02040503050406030204" pitchFamily="18" charset="0"/>
                          <a:cs typeface="Times New Roman" panose="02020603050405020304" pitchFamily="18" charset="0"/>
                        </a:rPr>
                        <m:t>=3</m:t>
                      </m:r>
                    </m:oMath>
                  </m:oMathPara>
                </a14:m>
                <a:endParaRPr lang="zh-TW" altLang="en-US" sz="2400" i="1" dirty="0">
                  <a:latin typeface="Times New Roman" panose="02020603050405020304" pitchFamily="18" charset="0"/>
                  <a:cs typeface="Times New Roman" panose="02020603050405020304" pitchFamily="18" charset="0"/>
                </a:endParaRPr>
              </a:p>
            </p:txBody>
          </p:sp>
        </mc:Choice>
        <mc:Fallback xmlns="">
          <p:sp>
            <p:nvSpPr>
              <p:cNvPr id="8" name="文字方塊 7">
                <a:extLst>
                  <a:ext uri="{FF2B5EF4-FFF2-40B4-BE49-F238E27FC236}">
                    <a16:creationId xmlns:a16="http://schemas.microsoft.com/office/drawing/2014/main" id="{B55A1924-8D9A-4297-8DD1-C5F3F8895278}"/>
                  </a:ext>
                </a:extLst>
              </p:cNvPr>
              <p:cNvSpPr txBox="1">
                <a:spLocks noRot="1" noChangeAspect="1" noMove="1" noResize="1" noEditPoints="1" noAdjustHandles="1" noChangeArrowheads="1" noChangeShapeType="1" noTextEdit="1"/>
              </p:cNvSpPr>
              <p:nvPr/>
            </p:nvSpPr>
            <p:spPr>
              <a:xfrm>
                <a:off x="1500326" y="2443145"/>
                <a:ext cx="1068369" cy="461665"/>
              </a:xfrm>
              <a:prstGeom prst="rect">
                <a:avLst/>
              </a:prstGeom>
              <a:blipFill>
                <a:blip r:embed="rId2"/>
                <a:stretch>
                  <a:fillRect/>
                </a:stretch>
              </a:blipFill>
            </p:spPr>
            <p:txBody>
              <a:bodyPr/>
              <a:lstStyle/>
              <a:p>
                <a:r>
                  <a:rPr lang="zh-TW" altLang="en-US">
                    <a:noFill/>
                  </a:rPr>
                  <a:t> </a:t>
                </a:r>
              </a:p>
            </p:txBody>
          </p:sp>
        </mc:Fallback>
      </mc:AlternateContent>
      <p:cxnSp>
        <p:nvCxnSpPr>
          <p:cNvPr id="10" name="直線接點 9">
            <a:extLst>
              <a:ext uri="{FF2B5EF4-FFF2-40B4-BE49-F238E27FC236}">
                <a16:creationId xmlns:a16="http://schemas.microsoft.com/office/drawing/2014/main" id="{0BD4352D-0A81-4EA4-8014-548FB3E55221}"/>
              </a:ext>
            </a:extLst>
          </p:cNvPr>
          <p:cNvCxnSpPr/>
          <p:nvPr/>
        </p:nvCxnSpPr>
        <p:spPr>
          <a:xfrm>
            <a:off x="2086993" y="3655482"/>
            <a:ext cx="504000" cy="0"/>
          </a:xfrm>
          <a:prstGeom prst="line">
            <a:avLst/>
          </a:prstGeom>
          <a:ln w="25400"/>
        </p:spPr>
        <p:style>
          <a:lnRef idx="1">
            <a:schemeClr val="accent2"/>
          </a:lnRef>
          <a:fillRef idx="0">
            <a:schemeClr val="accent2"/>
          </a:fillRef>
          <a:effectRef idx="0">
            <a:schemeClr val="accent2"/>
          </a:effectRef>
          <a:fontRef idx="minor">
            <a:schemeClr val="tx1"/>
          </a:fontRef>
        </p:style>
      </p:cxnSp>
      <p:cxnSp>
        <p:nvCxnSpPr>
          <p:cNvPr id="11" name="直線接點 10">
            <a:extLst>
              <a:ext uri="{FF2B5EF4-FFF2-40B4-BE49-F238E27FC236}">
                <a16:creationId xmlns:a16="http://schemas.microsoft.com/office/drawing/2014/main" id="{D2594A5C-A94E-4FDD-A179-06B4604A6BF6}"/>
              </a:ext>
            </a:extLst>
          </p:cNvPr>
          <p:cNvCxnSpPr/>
          <p:nvPr/>
        </p:nvCxnSpPr>
        <p:spPr>
          <a:xfrm>
            <a:off x="2283783" y="3754614"/>
            <a:ext cx="504000" cy="0"/>
          </a:xfrm>
          <a:prstGeom prst="line">
            <a:avLst/>
          </a:prstGeom>
          <a:ln w="25400"/>
        </p:spPr>
        <p:style>
          <a:lnRef idx="1">
            <a:schemeClr val="accent2"/>
          </a:lnRef>
          <a:fillRef idx="0">
            <a:schemeClr val="accent2"/>
          </a:fillRef>
          <a:effectRef idx="0">
            <a:schemeClr val="accent2"/>
          </a:effectRef>
          <a:fontRef idx="minor">
            <a:schemeClr val="tx1"/>
          </a:fontRef>
        </p:style>
      </p:cxnSp>
      <p:cxnSp>
        <p:nvCxnSpPr>
          <p:cNvPr id="12" name="直線接點 11">
            <a:extLst>
              <a:ext uri="{FF2B5EF4-FFF2-40B4-BE49-F238E27FC236}">
                <a16:creationId xmlns:a16="http://schemas.microsoft.com/office/drawing/2014/main" id="{0CF3D21E-E29B-4AD9-905E-8BC8D4BF635F}"/>
              </a:ext>
            </a:extLst>
          </p:cNvPr>
          <p:cNvCxnSpPr/>
          <p:nvPr/>
        </p:nvCxnSpPr>
        <p:spPr>
          <a:xfrm>
            <a:off x="2481033" y="3843393"/>
            <a:ext cx="504000" cy="0"/>
          </a:xfrm>
          <a:prstGeom prst="line">
            <a:avLst/>
          </a:prstGeom>
          <a:ln w="25400"/>
        </p:spPr>
        <p:style>
          <a:lnRef idx="1">
            <a:schemeClr val="accent2"/>
          </a:lnRef>
          <a:fillRef idx="0">
            <a:schemeClr val="accent2"/>
          </a:fillRef>
          <a:effectRef idx="0">
            <a:schemeClr val="accent2"/>
          </a:effectRef>
          <a:fontRef idx="minor">
            <a:schemeClr val="tx1"/>
          </a:fontRef>
        </p:style>
      </p:cxnSp>
      <p:cxnSp>
        <p:nvCxnSpPr>
          <p:cNvPr id="13" name="直線接點 12">
            <a:extLst>
              <a:ext uri="{FF2B5EF4-FFF2-40B4-BE49-F238E27FC236}">
                <a16:creationId xmlns:a16="http://schemas.microsoft.com/office/drawing/2014/main" id="{EA501017-55C2-4750-B4E9-43657CA26D56}"/>
              </a:ext>
            </a:extLst>
          </p:cNvPr>
          <p:cNvCxnSpPr/>
          <p:nvPr/>
        </p:nvCxnSpPr>
        <p:spPr>
          <a:xfrm>
            <a:off x="2663491" y="3960282"/>
            <a:ext cx="504000" cy="0"/>
          </a:xfrm>
          <a:prstGeom prst="line">
            <a:avLst/>
          </a:prstGeom>
          <a:ln w="25400"/>
        </p:spPr>
        <p:style>
          <a:lnRef idx="1">
            <a:schemeClr val="accent2"/>
          </a:lnRef>
          <a:fillRef idx="0">
            <a:schemeClr val="accent2"/>
          </a:fillRef>
          <a:effectRef idx="0">
            <a:schemeClr val="accent2"/>
          </a:effectRef>
          <a:fontRef idx="minor">
            <a:schemeClr val="tx1"/>
          </a:fontRef>
        </p:style>
      </p:cxnSp>
      <p:sp>
        <p:nvSpPr>
          <p:cNvPr id="16" name="文字方塊 15">
            <a:extLst>
              <a:ext uri="{FF2B5EF4-FFF2-40B4-BE49-F238E27FC236}">
                <a16:creationId xmlns:a16="http://schemas.microsoft.com/office/drawing/2014/main" id="{F592A850-7410-4446-88E3-D1C8BCBB3918}"/>
              </a:ext>
            </a:extLst>
          </p:cNvPr>
          <p:cNvSpPr txBox="1"/>
          <p:nvPr/>
        </p:nvSpPr>
        <p:spPr>
          <a:xfrm>
            <a:off x="3313507" y="3960282"/>
            <a:ext cx="646331"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sp>
        <p:nvSpPr>
          <p:cNvPr id="17" name="文字方塊 16">
            <a:extLst>
              <a:ext uri="{FF2B5EF4-FFF2-40B4-BE49-F238E27FC236}">
                <a16:creationId xmlns:a16="http://schemas.microsoft.com/office/drawing/2014/main" id="{51B87EC1-20D2-4270-A3C6-01D7410EACA2}"/>
              </a:ext>
            </a:extLst>
          </p:cNvPr>
          <p:cNvSpPr txBox="1"/>
          <p:nvPr/>
        </p:nvSpPr>
        <p:spPr>
          <a:xfrm>
            <a:off x="756852" y="5160610"/>
            <a:ext cx="979755"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words</a:t>
            </a:r>
            <a:r>
              <a:rPr lang="zh-TW" altLang="en-US" dirty="0">
                <a:latin typeface="Times New Roman" panose="02020603050405020304" pitchFamily="18" charset="0"/>
                <a:cs typeface="Times New Roman" panose="02020603050405020304" pitchFamily="18" charset="0"/>
              </a:rPr>
              <a:t>：</a:t>
            </a:r>
          </a:p>
        </p:txBody>
      </p:sp>
      <p:sp>
        <p:nvSpPr>
          <p:cNvPr id="18" name="文字方塊 17">
            <a:extLst>
              <a:ext uri="{FF2B5EF4-FFF2-40B4-BE49-F238E27FC236}">
                <a16:creationId xmlns:a16="http://schemas.microsoft.com/office/drawing/2014/main" id="{CE02F83E-8148-43A7-8B6A-0B5D6AE3BA8C}"/>
              </a:ext>
            </a:extLst>
          </p:cNvPr>
          <p:cNvSpPr txBox="1"/>
          <p:nvPr/>
        </p:nvSpPr>
        <p:spPr>
          <a:xfrm>
            <a:off x="1656009" y="4329614"/>
            <a:ext cx="646331" cy="2031325"/>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CAT</a:t>
            </a:r>
          </a:p>
          <a:p>
            <a:r>
              <a:rPr lang="en-US" altLang="zh-TW" dirty="0">
                <a:latin typeface="Times New Roman" panose="02020603050405020304" pitchFamily="18" charset="0"/>
                <a:cs typeface="Times New Roman" panose="02020603050405020304" pitchFamily="18" charset="0"/>
              </a:rPr>
              <a:t>ATA</a:t>
            </a:r>
          </a:p>
          <a:p>
            <a:r>
              <a:rPr lang="en-US" altLang="zh-TW" dirty="0">
                <a:latin typeface="Times New Roman" panose="02020603050405020304" pitchFamily="18" charset="0"/>
                <a:cs typeface="Times New Roman" panose="02020603050405020304" pitchFamily="18" charset="0"/>
              </a:rPr>
              <a:t>TAC</a:t>
            </a:r>
          </a:p>
          <a:p>
            <a:r>
              <a:rPr lang="en-US" altLang="zh-TW" dirty="0">
                <a:latin typeface="Times New Roman" panose="02020603050405020304" pitchFamily="18" charset="0"/>
                <a:cs typeface="Times New Roman" panose="02020603050405020304" pitchFamily="18" charset="0"/>
              </a:rPr>
              <a:t>ACT</a:t>
            </a:r>
          </a:p>
          <a:p>
            <a:r>
              <a:rPr lang="en-US" altLang="zh-TW" dirty="0">
                <a:latin typeface="Times New Roman" panose="02020603050405020304" pitchFamily="18" charset="0"/>
                <a:cs typeface="Times New Roman" panose="02020603050405020304" pitchFamily="18" charset="0"/>
              </a:rPr>
              <a:t>CTC</a:t>
            </a:r>
          </a:p>
          <a:p>
            <a:r>
              <a:rPr lang="en-US" altLang="zh-TW" dirty="0">
                <a:latin typeface="Times New Roman" panose="02020603050405020304" pitchFamily="18" charset="0"/>
                <a:cs typeface="Times New Roman" panose="02020603050405020304" pitchFamily="18" charset="0"/>
              </a:rPr>
              <a:t>TCG</a:t>
            </a:r>
          </a:p>
          <a:p>
            <a:r>
              <a:rPr lang="en-US" altLang="zh-TW" dirty="0">
                <a:latin typeface="Times New Roman" panose="02020603050405020304" pitchFamily="18" charset="0"/>
                <a:cs typeface="Times New Roman" panose="02020603050405020304" pitchFamily="18" charset="0"/>
              </a:rPr>
              <a:t>CGT</a:t>
            </a:r>
            <a:endParaRPr lang="zh-TW" altLang="en-US" dirty="0">
              <a:latin typeface="Times New Roman" panose="02020603050405020304" pitchFamily="18" charset="0"/>
              <a:cs typeface="Times New Roman" panose="02020603050405020304" pitchFamily="18" charset="0"/>
            </a:endParaRPr>
          </a:p>
        </p:txBody>
      </p:sp>
      <p:sp>
        <p:nvSpPr>
          <p:cNvPr id="19" name="文字方塊 18">
            <a:extLst>
              <a:ext uri="{FF2B5EF4-FFF2-40B4-BE49-F238E27FC236}">
                <a16:creationId xmlns:a16="http://schemas.microsoft.com/office/drawing/2014/main" id="{A055DF84-1A97-43AC-809C-6EF61510DE34}"/>
              </a:ext>
            </a:extLst>
          </p:cNvPr>
          <p:cNvSpPr txBox="1"/>
          <p:nvPr/>
        </p:nvSpPr>
        <p:spPr>
          <a:xfrm>
            <a:off x="4376691" y="5160610"/>
            <a:ext cx="2734338"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length of Q – </a:t>
            </a:r>
            <a:r>
              <a:rPr lang="en-US" altLang="zh-TW" i="1" dirty="0">
                <a:latin typeface="Times New Roman" panose="02020603050405020304" pitchFamily="18" charset="0"/>
                <a:cs typeface="Times New Roman" panose="02020603050405020304" pitchFamily="18" charset="0"/>
              </a:rPr>
              <a:t>w</a:t>
            </a:r>
            <a:r>
              <a:rPr lang="en-US" altLang="zh-TW" dirty="0">
                <a:latin typeface="Times New Roman" panose="02020603050405020304" pitchFamily="18" charset="0"/>
                <a:cs typeface="Times New Roman" panose="02020603050405020304" pitchFamily="18" charset="0"/>
              </a:rPr>
              <a:t> + 1   words</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1116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D69A4FFD-DDF4-4230-AA0B-EFDB4EC4706D}"/>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BLAST</a:t>
            </a:r>
            <a:endParaRPr lang="zh-TW" altLang="en-US" dirty="0">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3B0351DF-4584-4243-BFA0-587604126CAC}"/>
              </a:ext>
            </a:extLst>
          </p:cNvPr>
          <p:cNvSpPr txBox="1"/>
          <p:nvPr/>
        </p:nvSpPr>
        <p:spPr>
          <a:xfrm>
            <a:off x="838200" y="1690688"/>
            <a:ext cx="7386959"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Step 2</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scan sequences in database to find hits (for DNA)</a:t>
            </a:r>
            <a:endParaRPr lang="zh-TW" altLang="en-US" sz="2400" dirty="0">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4ED2CAB6-C634-4C0B-BBA2-6DEE7C6C2FA3}"/>
              </a:ext>
            </a:extLst>
          </p:cNvPr>
          <p:cNvSpPr txBox="1"/>
          <p:nvPr/>
        </p:nvSpPr>
        <p:spPr>
          <a:xfrm>
            <a:off x="838200" y="2517711"/>
            <a:ext cx="2335896" cy="461665"/>
          </a:xfrm>
          <a:prstGeom prst="rect">
            <a:avLst/>
          </a:prstGeom>
          <a:noFill/>
        </p:spPr>
        <p:txBody>
          <a:bodyPr wrap="none" rtlCol="0">
            <a:spAutoFit/>
          </a:bodyPr>
          <a:lstStyle/>
          <a:p>
            <a:r>
              <a:rPr lang="en-US" altLang="zh-TW" sz="2400" dirty="0">
                <a:latin typeface="Courier New" panose="02070309020205020404" pitchFamily="49" charset="0"/>
                <a:cs typeface="Courier New" panose="02070309020205020404" pitchFamily="49" charset="0"/>
              </a:rPr>
              <a:t>Q</a:t>
            </a:r>
            <a:r>
              <a:rPr lang="zh-TW" altLang="en-US" sz="2400" dirty="0">
                <a:latin typeface="Courier New" panose="02070309020205020404" pitchFamily="49" charset="0"/>
                <a:cs typeface="Courier New" panose="02070309020205020404" pitchFamily="49" charset="0"/>
              </a:rPr>
              <a:t>：</a:t>
            </a:r>
            <a:r>
              <a:rPr lang="en-US" altLang="zh-TW" sz="2400" dirty="0">
                <a:latin typeface="Courier New" panose="02070309020205020404" pitchFamily="49" charset="0"/>
                <a:cs typeface="Courier New" panose="02070309020205020404" pitchFamily="49" charset="0"/>
              </a:rPr>
              <a:t>CATACTCGT</a:t>
            </a:r>
          </a:p>
        </p:txBody>
      </p:sp>
      <p:sp>
        <p:nvSpPr>
          <p:cNvPr id="2" name="文字方塊 1">
            <a:extLst>
              <a:ext uri="{FF2B5EF4-FFF2-40B4-BE49-F238E27FC236}">
                <a16:creationId xmlns:a16="http://schemas.microsoft.com/office/drawing/2014/main" id="{B57D5975-DEE5-423C-BEEA-9C99D2515169}"/>
              </a:ext>
            </a:extLst>
          </p:cNvPr>
          <p:cNvSpPr txBox="1"/>
          <p:nvPr/>
        </p:nvSpPr>
        <p:spPr>
          <a:xfrm>
            <a:off x="4722921" y="3364637"/>
            <a:ext cx="2520242" cy="461665"/>
          </a:xfrm>
          <a:prstGeom prst="rect">
            <a:avLst/>
          </a:prstGeom>
          <a:noFill/>
        </p:spPr>
        <p:txBody>
          <a:bodyPr wrap="none" rtlCol="0">
            <a:spAutoFit/>
          </a:bodyPr>
          <a:lstStyle/>
          <a:p>
            <a:r>
              <a:rPr lang="en-US" altLang="zh-TW" sz="2400" dirty="0">
                <a:latin typeface="Courier New" panose="02070309020205020404" pitchFamily="49" charset="0"/>
                <a:cs typeface="Courier New" panose="02070309020205020404" pitchFamily="49" charset="0"/>
              </a:rPr>
              <a:t>A</a:t>
            </a:r>
            <a:r>
              <a:rPr lang="zh-TW" altLang="en-US" sz="2400" dirty="0">
                <a:latin typeface="Courier New" panose="02070309020205020404" pitchFamily="49" charset="0"/>
                <a:cs typeface="Courier New" panose="02070309020205020404" pitchFamily="49" charset="0"/>
              </a:rPr>
              <a:t>：</a:t>
            </a:r>
            <a:r>
              <a:rPr lang="en-US" altLang="zh-TW" sz="2400" dirty="0">
                <a:latin typeface="Courier New" panose="02070309020205020404" pitchFamily="49" charset="0"/>
                <a:cs typeface="Courier New" panose="02070309020205020404" pitchFamily="49" charset="0"/>
              </a:rPr>
              <a:t>GCTACTGATC</a:t>
            </a:r>
            <a:endParaRPr lang="zh-TW" altLang="en-US" sz="2400" dirty="0">
              <a:latin typeface="Courier New" panose="02070309020205020404" pitchFamily="49" charset="0"/>
              <a:cs typeface="Courier New" panose="02070309020205020404" pitchFamily="49" charset="0"/>
            </a:endParaRPr>
          </a:p>
        </p:txBody>
      </p:sp>
      <p:sp>
        <p:nvSpPr>
          <p:cNvPr id="7" name="文字方塊 6">
            <a:extLst>
              <a:ext uri="{FF2B5EF4-FFF2-40B4-BE49-F238E27FC236}">
                <a16:creationId xmlns:a16="http://schemas.microsoft.com/office/drawing/2014/main" id="{A9106906-EDBD-47A4-8E41-0C827CA3DB4D}"/>
              </a:ext>
            </a:extLst>
          </p:cNvPr>
          <p:cNvSpPr txBox="1"/>
          <p:nvPr/>
        </p:nvSpPr>
        <p:spPr>
          <a:xfrm>
            <a:off x="1656009" y="4329614"/>
            <a:ext cx="646331" cy="2031325"/>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CAT</a:t>
            </a:r>
          </a:p>
          <a:p>
            <a:r>
              <a:rPr lang="en-US" altLang="zh-TW" dirty="0">
                <a:latin typeface="Times New Roman" panose="02020603050405020304" pitchFamily="18" charset="0"/>
                <a:cs typeface="Times New Roman" panose="02020603050405020304" pitchFamily="18" charset="0"/>
              </a:rPr>
              <a:t>ATA</a:t>
            </a:r>
          </a:p>
          <a:p>
            <a:r>
              <a:rPr lang="en-US" altLang="zh-TW" dirty="0">
                <a:latin typeface="Times New Roman" panose="02020603050405020304" pitchFamily="18" charset="0"/>
                <a:cs typeface="Times New Roman" panose="02020603050405020304" pitchFamily="18" charset="0"/>
              </a:rPr>
              <a:t>TAC</a:t>
            </a:r>
          </a:p>
          <a:p>
            <a:r>
              <a:rPr lang="en-US" altLang="zh-TW" dirty="0">
                <a:latin typeface="Times New Roman" panose="02020603050405020304" pitchFamily="18" charset="0"/>
                <a:cs typeface="Times New Roman" panose="02020603050405020304" pitchFamily="18" charset="0"/>
              </a:rPr>
              <a:t>ACT</a:t>
            </a:r>
          </a:p>
          <a:p>
            <a:r>
              <a:rPr lang="en-US" altLang="zh-TW" dirty="0">
                <a:latin typeface="Times New Roman" panose="02020603050405020304" pitchFamily="18" charset="0"/>
                <a:cs typeface="Times New Roman" panose="02020603050405020304" pitchFamily="18" charset="0"/>
              </a:rPr>
              <a:t>CTC</a:t>
            </a:r>
          </a:p>
          <a:p>
            <a:r>
              <a:rPr lang="en-US" altLang="zh-TW" dirty="0">
                <a:latin typeface="Times New Roman" panose="02020603050405020304" pitchFamily="18" charset="0"/>
                <a:cs typeface="Times New Roman" panose="02020603050405020304" pitchFamily="18" charset="0"/>
              </a:rPr>
              <a:t>TCG</a:t>
            </a:r>
          </a:p>
          <a:p>
            <a:r>
              <a:rPr lang="en-US" altLang="zh-TW" dirty="0">
                <a:latin typeface="Times New Roman" panose="02020603050405020304" pitchFamily="18" charset="0"/>
                <a:cs typeface="Times New Roman" panose="02020603050405020304" pitchFamily="18" charset="0"/>
              </a:rPr>
              <a:t>CGT</a:t>
            </a:r>
            <a:endParaRPr lang="zh-TW" altLang="en-US"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3C76EBF4-3D29-47C0-96D3-5118BAD12ECC}"/>
              </a:ext>
            </a:extLst>
          </p:cNvPr>
          <p:cNvSpPr txBox="1"/>
          <p:nvPr/>
        </p:nvSpPr>
        <p:spPr>
          <a:xfrm>
            <a:off x="756852" y="5160610"/>
            <a:ext cx="979755"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words</a:t>
            </a:r>
            <a:r>
              <a:rPr lang="zh-TW" altLang="en-US" dirty="0">
                <a:latin typeface="Times New Roman" panose="02020603050405020304" pitchFamily="18" charset="0"/>
                <a:cs typeface="Times New Roman" panose="02020603050405020304" pitchFamily="18" charset="0"/>
              </a:rPr>
              <a:t>：</a:t>
            </a:r>
          </a:p>
        </p:txBody>
      </p:sp>
      <p:cxnSp>
        <p:nvCxnSpPr>
          <p:cNvPr id="9" name="直線接點 8">
            <a:extLst>
              <a:ext uri="{FF2B5EF4-FFF2-40B4-BE49-F238E27FC236}">
                <a16:creationId xmlns:a16="http://schemas.microsoft.com/office/drawing/2014/main" id="{760DFEC2-4053-4877-AC79-F96978790FE7}"/>
              </a:ext>
            </a:extLst>
          </p:cNvPr>
          <p:cNvCxnSpPr/>
          <p:nvPr/>
        </p:nvCxnSpPr>
        <p:spPr>
          <a:xfrm>
            <a:off x="5709082" y="3788673"/>
            <a:ext cx="504000" cy="0"/>
          </a:xfrm>
          <a:prstGeom prst="line">
            <a:avLst/>
          </a:prstGeom>
          <a:ln w="25400"/>
        </p:spPr>
        <p:style>
          <a:lnRef idx="1">
            <a:schemeClr val="accent2"/>
          </a:lnRef>
          <a:fillRef idx="0">
            <a:schemeClr val="accent2"/>
          </a:fillRef>
          <a:effectRef idx="0">
            <a:schemeClr val="accent2"/>
          </a:effectRef>
          <a:fontRef idx="minor">
            <a:schemeClr val="tx1"/>
          </a:fontRef>
        </p:style>
      </p:cxnSp>
      <p:cxnSp>
        <p:nvCxnSpPr>
          <p:cNvPr id="11" name="接點: 肘形 10">
            <a:extLst>
              <a:ext uri="{FF2B5EF4-FFF2-40B4-BE49-F238E27FC236}">
                <a16:creationId xmlns:a16="http://schemas.microsoft.com/office/drawing/2014/main" id="{B889D3C3-343A-4E40-B3E5-E761CE0B4E32}"/>
              </a:ext>
            </a:extLst>
          </p:cNvPr>
          <p:cNvCxnSpPr>
            <a:cxnSpLocks/>
          </p:cNvCxnSpPr>
          <p:nvPr/>
        </p:nvCxnSpPr>
        <p:spPr>
          <a:xfrm rot="5400000" flipH="1" flipV="1">
            <a:off x="4973367" y="4137384"/>
            <a:ext cx="1252172" cy="72325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線接點 14">
            <a:extLst>
              <a:ext uri="{FF2B5EF4-FFF2-40B4-BE49-F238E27FC236}">
                <a16:creationId xmlns:a16="http://schemas.microsoft.com/office/drawing/2014/main" id="{078F6429-9F00-4BAF-BA0D-81D87D73C8EC}"/>
              </a:ext>
            </a:extLst>
          </p:cNvPr>
          <p:cNvCxnSpPr/>
          <p:nvPr/>
        </p:nvCxnSpPr>
        <p:spPr>
          <a:xfrm>
            <a:off x="2417953" y="5089098"/>
            <a:ext cx="2823098" cy="36000"/>
          </a:xfrm>
          <a:prstGeom prst="line">
            <a:avLst/>
          </a:prstGeom>
        </p:spPr>
        <p:style>
          <a:lnRef idx="1">
            <a:schemeClr val="accent1"/>
          </a:lnRef>
          <a:fillRef idx="0">
            <a:schemeClr val="accent1"/>
          </a:fillRef>
          <a:effectRef idx="0">
            <a:schemeClr val="accent1"/>
          </a:effectRef>
          <a:fontRef idx="minor">
            <a:schemeClr val="tx1"/>
          </a:fontRef>
        </p:style>
      </p:cxnSp>
      <p:sp>
        <p:nvSpPr>
          <p:cNvPr id="16" name="文字方塊 15">
            <a:extLst>
              <a:ext uri="{FF2B5EF4-FFF2-40B4-BE49-F238E27FC236}">
                <a16:creationId xmlns:a16="http://schemas.microsoft.com/office/drawing/2014/main" id="{16DD09B7-2775-4704-97A9-283F8D6BC21D}"/>
              </a:ext>
            </a:extLst>
          </p:cNvPr>
          <p:cNvSpPr txBox="1"/>
          <p:nvPr/>
        </p:nvSpPr>
        <p:spPr>
          <a:xfrm>
            <a:off x="6096000" y="4028044"/>
            <a:ext cx="436338"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hit</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2628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7AFF0D3D-741C-4BF0-BE8F-8A7693D8D0B1}"/>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BLAST</a:t>
            </a:r>
            <a:endParaRPr lang="zh-TW" altLang="en-US" dirty="0">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18AF882B-E1A8-4FED-A49A-D5976C8A2EF6}"/>
              </a:ext>
            </a:extLst>
          </p:cNvPr>
          <p:cNvSpPr txBox="1"/>
          <p:nvPr/>
        </p:nvSpPr>
        <p:spPr>
          <a:xfrm>
            <a:off x="838200" y="1690688"/>
            <a:ext cx="399660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Step 3</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extend hits (for DNA)</a:t>
            </a:r>
            <a:endParaRPr lang="zh-TW" altLang="en-US" sz="2400" dirty="0">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BFD77148-E419-4A40-BF2C-D0FD40159086}"/>
              </a:ext>
            </a:extLst>
          </p:cNvPr>
          <p:cNvSpPr txBox="1"/>
          <p:nvPr/>
        </p:nvSpPr>
        <p:spPr>
          <a:xfrm>
            <a:off x="4722921" y="3364637"/>
            <a:ext cx="2520242" cy="461665"/>
          </a:xfrm>
          <a:prstGeom prst="rect">
            <a:avLst/>
          </a:prstGeom>
          <a:noFill/>
        </p:spPr>
        <p:txBody>
          <a:bodyPr wrap="none" rtlCol="0">
            <a:spAutoFit/>
          </a:bodyPr>
          <a:lstStyle/>
          <a:p>
            <a:r>
              <a:rPr lang="en-US" altLang="zh-TW" sz="2400" dirty="0">
                <a:latin typeface="Courier New" panose="02070309020205020404" pitchFamily="49" charset="0"/>
                <a:cs typeface="Courier New" panose="02070309020205020404" pitchFamily="49" charset="0"/>
              </a:rPr>
              <a:t>A</a:t>
            </a:r>
            <a:r>
              <a:rPr lang="zh-TW" altLang="en-US" sz="2400" dirty="0">
                <a:latin typeface="Courier New" panose="02070309020205020404" pitchFamily="49" charset="0"/>
                <a:cs typeface="Courier New" panose="02070309020205020404" pitchFamily="49" charset="0"/>
              </a:rPr>
              <a:t>：</a:t>
            </a:r>
            <a:r>
              <a:rPr lang="en-US" altLang="zh-TW" sz="2400" dirty="0">
                <a:latin typeface="Courier New" panose="02070309020205020404" pitchFamily="49" charset="0"/>
                <a:cs typeface="Courier New" panose="02070309020205020404" pitchFamily="49" charset="0"/>
              </a:rPr>
              <a:t>GCTACTGATC</a:t>
            </a:r>
            <a:endParaRPr lang="zh-TW" altLang="en-US" sz="2400" dirty="0">
              <a:latin typeface="Courier New" panose="02070309020205020404" pitchFamily="49" charset="0"/>
              <a:cs typeface="Courier New" panose="02070309020205020404" pitchFamily="49" charset="0"/>
            </a:endParaRPr>
          </a:p>
        </p:txBody>
      </p:sp>
      <p:sp>
        <p:nvSpPr>
          <p:cNvPr id="7" name="文字方塊 6">
            <a:extLst>
              <a:ext uri="{FF2B5EF4-FFF2-40B4-BE49-F238E27FC236}">
                <a16:creationId xmlns:a16="http://schemas.microsoft.com/office/drawing/2014/main" id="{1CC17843-1647-453A-9BFA-333E3EBDCDF0}"/>
              </a:ext>
            </a:extLst>
          </p:cNvPr>
          <p:cNvSpPr txBox="1"/>
          <p:nvPr/>
        </p:nvSpPr>
        <p:spPr>
          <a:xfrm>
            <a:off x="4722921" y="3016250"/>
            <a:ext cx="2335896" cy="461665"/>
          </a:xfrm>
          <a:prstGeom prst="rect">
            <a:avLst/>
          </a:prstGeom>
          <a:noFill/>
        </p:spPr>
        <p:txBody>
          <a:bodyPr wrap="none" rtlCol="0">
            <a:spAutoFit/>
          </a:bodyPr>
          <a:lstStyle/>
          <a:p>
            <a:r>
              <a:rPr lang="en-US" altLang="zh-TW" sz="2400" dirty="0">
                <a:latin typeface="Courier New" panose="02070309020205020404" pitchFamily="49" charset="0"/>
                <a:cs typeface="Courier New" panose="02070309020205020404" pitchFamily="49" charset="0"/>
              </a:rPr>
              <a:t>Q</a:t>
            </a:r>
            <a:r>
              <a:rPr lang="zh-TW" altLang="en-US" sz="2400" dirty="0">
                <a:latin typeface="Courier New" panose="02070309020205020404" pitchFamily="49" charset="0"/>
                <a:cs typeface="Courier New" panose="02070309020205020404" pitchFamily="49" charset="0"/>
              </a:rPr>
              <a:t>：</a:t>
            </a:r>
            <a:r>
              <a:rPr lang="en-US" altLang="zh-TW" sz="2400" dirty="0">
                <a:latin typeface="Courier New" panose="02070309020205020404" pitchFamily="49" charset="0"/>
                <a:cs typeface="Courier New" panose="02070309020205020404" pitchFamily="49" charset="0"/>
              </a:rPr>
              <a:t>CATACTCGT</a:t>
            </a:r>
          </a:p>
        </p:txBody>
      </p:sp>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37122CBD-801E-4DBA-ABB1-4E6AF0B13DBB}"/>
                  </a:ext>
                </a:extLst>
              </p:cNvPr>
              <p:cNvSpPr txBox="1"/>
              <p:nvPr/>
            </p:nvSpPr>
            <p:spPr>
              <a:xfrm>
                <a:off x="838200" y="2698619"/>
                <a:ext cx="117115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𝑆</m:t>
                      </m:r>
                      <m:r>
                        <a:rPr lang="en-US" altLang="zh-TW" sz="2400" b="0" i="1" smtClean="0">
                          <a:latin typeface="Cambria Math" panose="02040503050406030204" pitchFamily="18" charset="0"/>
                          <a:cs typeface="Times New Roman" panose="02020603050405020304" pitchFamily="18" charset="0"/>
                        </a:rPr>
                        <m:t>=16</m:t>
                      </m:r>
                    </m:oMath>
                  </m:oMathPara>
                </a14:m>
                <a:endParaRPr lang="zh-TW" altLang="en-US" sz="2400" dirty="0">
                  <a:latin typeface="Times New Roman" panose="02020603050405020304" pitchFamily="18" charset="0"/>
                  <a:cs typeface="Times New Roman" panose="02020603050405020304" pitchFamily="18" charset="0"/>
                </a:endParaRPr>
              </a:p>
            </p:txBody>
          </p:sp>
        </mc:Choice>
        <mc:Fallback xmlns="">
          <p:sp>
            <p:nvSpPr>
              <p:cNvPr id="8" name="文字方塊 7">
                <a:extLst>
                  <a:ext uri="{FF2B5EF4-FFF2-40B4-BE49-F238E27FC236}">
                    <a16:creationId xmlns:a16="http://schemas.microsoft.com/office/drawing/2014/main" id="{37122CBD-801E-4DBA-ABB1-4E6AF0B13DBB}"/>
                  </a:ext>
                </a:extLst>
              </p:cNvPr>
              <p:cNvSpPr txBox="1">
                <a:spLocks noRot="1" noChangeAspect="1" noMove="1" noResize="1" noEditPoints="1" noAdjustHandles="1" noChangeArrowheads="1" noChangeShapeType="1" noTextEdit="1"/>
              </p:cNvSpPr>
              <p:nvPr/>
            </p:nvSpPr>
            <p:spPr>
              <a:xfrm>
                <a:off x="838200" y="2698619"/>
                <a:ext cx="1171154" cy="461665"/>
              </a:xfrm>
              <a:prstGeom prst="rect">
                <a:avLst/>
              </a:prstGeom>
              <a:blipFill>
                <a:blip r:embed="rId2"/>
                <a:stretch>
                  <a:fillRect/>
                </a:stretch>
              </a:blipFill>
            </p:spPr>
            <p:txBody>
              <a:bodyPr/>
              <a:lstStyle/>
              <a:p>
                <a:r>
                  <a:rPr lang="zh-TW" altLang="en-US">
                    <a:noFill/>
                  </a:rPr>
                  <a:t> </a:t>
                </a:r>
              </a:p>
            </p:txBody>
          </p:sp>
        </mc:Fallback>
      </mc:AlternateContent>
      <p:sp>
        <p:nvSpPr>
          <p:cNvPr id="9" name="文字方塊 8">
            <a:extLst>
              <a:ext uri="{FF2B5EF4-FFF2-40B4-BE49-F238E27FC236}">
                <a16:creationId xmlns:a16="http://schemas.microsoft.com/office/drawing/2014/main" id="{26149A46-85B6-44FF-82E3-D55BDD242FD0}"/>
              </a:ext>
            </a:extLst>
          </p:cNvPr>
          <p:cNvSpPr txBox="1"/>
          <p:nvPr/>
        </p:nvSpPr>
        <p:spPr>
          <a:xfrm>
            <a:off x="838200" y="4669654"/>
            <a:ext cx="1531188" cy="646331"/>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Match</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+5</a:t>
            </a:r>
          </a:p>
          <a:p>
            <a:r>
              <a:rPr lang="en-US" altLang="zh-TW" dirty="0">
                <a:latin typeface="Times New Roman" panose="02020603050405020304" pitchFamily="18" charset="0"/>
                <a:cs typeface="Times New Roman" panose="02020603050405020304" pitchFamily="18" charset="0"/>
              </a:rPr>
              <a:t>Mismatch</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p:txBody>
      </p:sp>
      <p:cxnSp>
        <p:nvCxnSpPr>
          <p:cNvPr id="10" name="直線接點 9">
            <a:extLst>
              <a:ext uri="{FF2B5EF4-FFF2-40B4-BE49-F238E27FC236}">
                <a16:creationId xmlns:a16="http://schemas.microsoft.com/office/drawing/2014/main" id="{673211AE-5CCF-4336-AA85-954C8CFE9676}"/>
              </a:ext>
            </a:extLst>
          </p:cNvPr>
          <p:cNvCxnSpPr/>
          <p:nvPr/>
        </p:nvCxnSpPr>
        <p:spPr>
          <a:xfrm>
            <a:off x="5709082" y="3788673"/>
            <a:ext cx="504000" cy="0"/>
          </a:xfrm>
          <a:prstGeom prst="line">
            <a:avLst/>
          </a:prstGeom>
          <a:ln w="25400"/>
        </p:spPr>
        <p:style>
          <a:lnRef idx="1">
            <a:schemeClr val="accent2"/>
          </a:lnRef>
          <a:fillRef idx="0">
            <a:schemeClr val="accent2"/>
          </a:fillRef>
          <a:effectRef idx="0">
            <a:schemeClr val="accent2"/>
          </a:effectRef>
          <a:fontRef idx="minor">
            <a:schemeClr val="tx1"/>
          </a:fontRef>
        </p:style>
      </p:cxnSp>
      <p:cxnSp>
        <p:nvCxnSpPr>
          <p:cNvPr id="15" name="直線接點 14">
            <a:extLst>
              <a:ext uri="{FF2B5EF4-FFF2-40B4-BE49-F238E27FC236}">
                <a16:creationId xmlns:a16="http://schemas.microsoft.com/office/drawing/2014/main" id="{040A0D3B-5974-4A28-AF57-CF341C9C0CC9}"/>
              </a:ext>
            </a:extLst>
          </p:cNvPr>
          <p:cNvCxnSpPr>
            <a:cxnSpLocks/>
          </p:cNvCxnSpPr>
          <p:nvPr/>
        </p:nvCxnSpPr>
        <p:spPr>
          <a:xfrm>
            <a:off x="5487139" y="2964825"/>
            <a:ext cx="0" cy="972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直線接點 18">
            <a:extLst>
              <a:ext uri="{FF2B5EF4-FFF2-40B4-BE49-F238E27FC236}">
                <a16:creationId xmlns:a16="http://schemas.microsoft.com/office/drawing/2014/main" id="{388A56B0-893E-44DE-BA1F-BCDE8B0B9092}"/>
              </a:ext>
            </a:extLst>
          </p:cNvPr>
          <p:cNvCxnSpPr>
            <a:cxnSpLocks/>
          </p:cNvCxnSpPr>
          <p:nvPr/>
        </p:nvCxnSpPr>
        <p:spPr>
          <a:xfrm>
            <a:off x="6394141" y="2964467"/>
            <a:ext cx="0" cy="972000"/>
          </a:xfrm>
          <a:prstGeom prst="line">
            <a:avLst/>
          </a:prstGeom>
          <a:ln w="1905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5C871E46-5E95-4592-B65E-20CF59FAAD10}"/>
                  </a:ext>
                </a:extLst>
              </p:cNvPr>
              <p:cNvSpPr txBox="1"/>
              <p:nvPr/>
            </p:nvSpPr>
            <p:spPr>
              <a:xfrm>
                <a:off x="5304874" y="3988018"/>
                <a:ext cx="2446182" cy="369332"/>
              </a:xfrm>
              <a:prstGeom prst="rect">
                <a:avLst/>
              </a:prstGeom>
              <a:noFill/>
            </p:spPr>
            <p:txBody>
              <a:bodyPr wrap="none" rtlCol="0">
                <a:spAutoFit/>
              </a:bodyPr>
              <a:lstStyle/>
              <a:p>
                <a14:m>
                  <m:oMath xmlns:m="http://schemas.openxmlformats.org/officeDocument/2006/math">
                    <m:r>
                      <a:rPr lang="en-US" altLang="zh-TW" b="0" i="1" smtClean="0">
                        <a:solidFill>
                          <a:schemeClr val="accent5">
                            <a:lumMod val="50000"/>
                          </a:schemeClr>
                        </a:solidFill>
                        <a:latin typeface="Cambria Math" panose="02040503050406030204" pitchFamily="18" charset="0"/>
                      </a:rPr>
                      <m:t>15−4+5=16</m:t>
                    </m:r>
                    <m:r>
                      <a:rPr lang="en-US" altLang="zh-TW" b="0" i="1" smtClean="0">
                        <a:solidFill>
                          <a:schemeClr val="accent5">
                            <a:lumMod val="50000"/>
                          </a:schemeClr>
                        </a:solidFill>
                        <a:latin typeface="Cambria Math" panose="02040503050406030204" pitchFamily="18" charset="0"/>
                        <a:ea typeface="Cambria Math" panose="02040503050406030204" pitchFamily="18" charset="0"/>
                      </a:rPr>
                      <m:t>≥</m:t>
                    </m:r>
                    <m:r>
                      <a:rPr lang="en-US" altLang="zh-TW" b="0" i="1" smtClean="0">
                        <a:solidFill>
                          <a:schemeClr val="accent5">
                            <a:lumMod val="50000"/>
                          </a:schemeClr>
                        </a:solidFill>
                        <a:latin typeface="Cambria Math" panose="02040503050406030204" pitchFamily="18" charset="0"/>
                        <a:ea typeface="Cambria Math" panose="02040503050406030204" pitchFamily="18" charset="0"/>
                      </a:rPr>
                      <m:t>𝑆</m:t>
                    </m:r>
                  </m:oMath>
                </a14:m>
                <a:r>
                  <a:rPr lang="en-US" altLang="zh-TW" dirty="0">
                    <a:solidFill>
                      <a:schemeClr val="accent5">
                        <a:lumMod val="50000"/>
                      </a:schemeClr>
                    </a:solidFill>
                  </a:rPr>
                  <a:t>    </a:t>
                </a:r>
                <a:endParaRPr lang="zh-TW" altLang="en-US" dirty="0">
                  <a:solidFill>
                    <a:schemeClr val="accent5">
                      <a:lumMod val="50000"/>
                    </a:schemeClr>
                  </a:solidFill>
                </a:endParaRPr>
              </a:p>
            </p:txBody>
          </p:sp>
        </mc:Choice>
        <mc:Fallback xmlns="">
          <p:sp>
            <p:nvSpPr>
              <p:cNvPr id="20" name="文字方塊 19">
                <a:extLst>
                  <a:ext uri="{FF2B5EF4-FFF2-40B4-BE49-F238E27FC236}">
                    <a16:creationId xmlns:a16="http://schemas.microsoft.com/office/drawing/2014/main" id="{5C871E46-5E95-4592-B65E-20CF59FAAD10}"/>
                  </a:ext>
                </a:extLst>
              </p:cNvPr>
              <p:cNvSpPr txBox="1">
                <a:spLocks noRot="1" noChangeAspect="1" noMove="1" noResize="1" noEditPoints="1" noAdjustHandles="1" noChangeArrowheads="1" noChangeShapeType="1" noTextEdit="1"/>
              </p:cNvSpPr>
              <p:nvPr/>
            </p:nvSpPr>
            <p:spPr>
              <a:xfrm>
                <a:off x="5304874" y="3988018"/>
                <a:ext cx="2446182" cy="369332"/>
              </a:xfrm>
              <a:prstGeom prst="rect">
                <a:avLst/>
              </a:prstGeom>
              <a:blipFill>
                <a:blip r:embed="rId3"/>
                <a:stretch>
                  <a:fillRect/>
                </a:stretch>
              </a:blipFill>
            </p:spPr>
            <p:txBody>
              <a:bodyPr/>
              <a:lstStyle/>
              <a:p>
                <a:r>
                  <a:rPr lang="zh-TW" altLang="en-US">
                    <a:noFill/>
                  </a:rPr>
                  <a:t> </a:t>
                </a:r>
              </a:p>
            </p:txBody>
          </p:sp>
        </mc:Fallback>
      </mc:AlternateContent>
      <p:cxnSp>
        <p:nvCxnSpPr>
          <p:cNvPr id="25" name="直線單箭頭接點 24">
            <a:extLst>
              <a:ext uri="{FF2B5EF4-FFF2-40B4-BE49-F238E27FC236}">
                <a16:creationId xmlns:a16="http://schemas.microsoft.com/office/drawing/2014/main" id="{A0E6BE3C-EDB5-4B9A-8EDE-18DAAA58452C}"/>
              </a:ext>
            </a:extLst>
          </p:cNvPr>
          <p:cNvCxnSpPr/>
          <p:nvPr/>
        </p:nvCxnSpPr>
        <p:spPr>
          <a:xfrm>
            <a:off x="6213082" y="3936467"/>
            <a:ext cx="1477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a:extLst>
              <a:ext uri="{FF2B5EF4-FFF2-40B4-BE49-F238E27FC236}">
                <a16:creationId xmlns:a16="http://schemas.microsoft.com/office/drawing/2014/main" id="{293B0906-B9E3-47C9-B09B-D21AD55EA795}"/>
              </a:ext>
            </a:extLst>
          </p:cNvPr>
          <p:cNvCxnSpPr>
            <a:cxnSpLocks/>
          </p:cNvCxnSpPr>
          <p:nvPr/>
        </p:nvCxnSpPr>
        <p:spPr>
          <a:xfrm rot="10800000">
            <a:off x="5524356" y="3924390"/>
            <a:ext cx="1477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7730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C32CA45B-A25E-4B83-A5AB-416FFA932000}"/>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BLAST</a:t>
            </a:r>
            <a:endParaRPr lang="zh-TW" altLang="en-US" dirty="0">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8A179E98-27B0-48BB-9650-91EC63FA6284}"/>
              </a:ext>
            </a:extLst>
          </p:cNvPr>
          <p:cNvSpPr txBox="1"/>
          <p:nvPr/>
        </p:nvSpPr>
        <p:spPr>
          <a:xfrm>
            <a:off x="838200" y="1690688"/>
            <a:ext cx="399660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Step 3</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extend hits (for DNA)</a:t>
            </a:r>
            <a:endParaRPr lang="zh-TW" altLang="en-US" sz="2400" dirty="0">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B53C5688-497D-4EF5-85E4-427ED1514C77}"/>
              </a:ext>
            </a:extLst>
          </p:cNvPr>
          <p:cNvSpPr txBox="1"/>
          <p:nvPr/>
        </p:nvSpPr>
        <p:spPr>
          <a:xfrm>
            <a:off x="4722921" y="3364637"/>
            <a:ext cx="2520242" cy="461665"/>
          </a:xfrm>
          <a:prstGeom prst="rect">
            <a:avLst/>
          </a:prstGeom>
          <a:noFill/>
        </p:spPr>
        <p:txBody>
          <a:bodyPr wrap="none" rtlCol="0">
            <a:spAutoFit/>
          </a:bodyPr>
          <a:lstStyle/>
          <a:p>
            <a:r>
              <a:rPr lang="en-US" altLang="zh-TW" sz="2400" dirty="0">
                <a:latin typeface="Courier New" panose="02070309020205020404" pitchFamily="49" charset="0"/>
                <a:cs typeface="Courier New" panose="02070309020205020404" pitchFamily="49" charset="0"/>
              </a:rPr>
              <a:t>A</a:t>
            </a:r>
            <a:r>
              <a:rPr lang="zh-TW" altLang="en-US" sz="2400" dirty="0">
                <a:latin typeface="Courier New" panose="02070309020205020404" pitchFamily="49" charset="0"/>
                <a:cs typeface="Courier New" panose="02070309020205020404" pitchFamily="49" charset="0"/>
              </a:rPr>
              <a:t>：</a:t>
            </a:r>
            <a:r>
              <a:rPr lang="en-US" altLang="zh-TW" sz="2400" dirty="0">
                <a:latin typeface="Courier New" panose="02070309020205020404" pitchFamily="49" charset="0"/>
                <a:cs typeface="Courier New" panose="02070309020205020404" pitchFamily="49" charset="0"/>
              </a:rPr>
              <a:t>GCTACTGATC</a:t>
            </a:r>
            <a:endParaRPr lang="zh-TW" altLang="en-US" sz="2400" dirty="0">
              <a:latin typeface="Courier New" panose="02070309020205020404" pitchFamily="49" charset="0"/>
              <a:cs typeface="Courier New" panose="02070309020205020404" pitchFamily="49" charset="0"/>
            </a:endParaRPr>
          </a:p>
        </p:txBody>
      </p:sp>
      <p:sp>
        <p:nvSpPr>
          <p:cNvPr id="7" name="文字方塊 6">
            <a:extLst>
              <a:ext uri="{FF2B5EF4-FFF2-40B4-BE49-F238E27FC236}">
                <a16:creationId xmlns:a16="http://schemas.microsoft.com/office/drawing/2014/main" id="{B898BE29-69D8-48C6-AC51-01CE6A09D542}"/>
              </a:ext>
            </a:extLst>
          </p:cNvPr>
          <p:cNvSpPr txBox="1"/>
          <p:nvPr/>
        </p:nvSpPr>
        <p:spPr>
          <a:xfrm>
            <a:off x="4722921" y="3016250"/>
            <a:ext cx="2335896" cy="461665"/>
          </a:xfrm>
          <a:prstGeom prst="rect">
            <a:avLst/>
          </a:prstGeom>
          <a:noFill/>
        </p:spPr>
        <p:txBody>
          <a:bodyPr wrap="none" rtlCol="0">
            <a:spAutoFit/>
          </a:bodyPr>
          <a:lstStyle/>
          <a:p>
            <a:r>
              <a:rPr lang="en-US" altLang="zh-TW" sz="2400" dirty="0">
                <a:latin typeface="Courier New" panose="02070309020205020404" pitchFamily="49" charset="0"/>
                <a:cs typeface="Courier New" panose="02070309020205020404" pitchFamily="49" charset="0"/>
              </a:rPr>
              <a:t>Q</a:t>
            </a:r>
            <a:r>
              <a:rPr lang="zh-TW" altLang="en-US" sz="2400" dirty="0">
                <a:latin typeface="Courier New" panose="02070309020205020404" pitchFamily="49" charset="0"/>
                <a:cs typeface="Courier New" panose="02070309020205020404" pitchFamily="49" charset="0"/>
              </a:rPr>
              <a:t>：</a:t>
            </a:r>
            <a:r>
              <a:rPr lang="en-US" altLang="zh-TW" sz="2400" dirty="0">
                <a:latin typeface="Courier New" panose="02070309020205020404" pitchFamily="49" charset="0"/>
                <a:cs typeface="Courier New" panose="02070309020205020404" pitchFamily="49" charset="0"/>
              </a:rPr>
              <a:t>CATACTCGT</a:t>
            </a:r>
          </a:p>
        </p:txBody>
      </p:sp>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FB481379-5D20-4F01-846D-72EB96C62996}"/>
                  </a:ext>
                </a:extLst>
              </p:cNvPr>
              <p:cNvSpPr txBox="1"/>
              <p:nvPr/>
            </p:nvSpPr>
            <p:spPr>
              <a:xfrm>
                <a:off x="838200" y="2698619"/>
                <a:ext cx="117115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𝑆</m:t>
                      </m:r>
                      <m:r>
                        <a:rPr lang="en-US" altLang="zh-TW" sz="2400" b="0" i="1" smtClean="0">
                          <a:latin typeface="Cambria Math" panose="02040503050406030204" pitchFamily="18" charset="0"/>
                          <a:cs typeface="Times New Roman" panose="02020603050405020304" pitchFamily="18" charset="0"/>
                        </a:rPr>
                        <m:t>=16</m:t>
                      </m:r>
                    </m:oMath>
                  </m:oMathPara>
                </a14:m>
                <a:endParaRPr lang="zh-TW" altLang="en-US" sz="2400" dirty="0">
                  <a:latin typeface="Times New Roman" panose="02020603050405020304" pitchFamily="18" charset="0"/>
                  <a:cs typeface="Times New Roman" panose="02020603050405020304" pitchFamily="18" charset="0"/>
                </a:endParaRPr>
              </a:p>
            </p:txBody>
          </p:sp>
        </mc:Choice>
        <mc:Fallback xmlns="">
          <p:sp>
            <p:nvSpPr>
              <p:cNvPr id="8" name="文字方塊 7">
                <a:extLst>
                  <a:ext uri="{FF2B5EF4-FFF2-40B4-BE49-F238E27FC236}">
                    <a16:creationId xmlns:a16="http://schemas.microsoft.com/office/drawing/2014/main" id="{FB481379-5D20-4F01-846D-72EB96C62996}"/>
                  </a:ext>
                </a:extLst>
              </p:cNvPr>
              <p:cNvSpPr txBox="1">
                <a:spLocks noRot="1" noChangeAspect="1" noMove="1" noResize="1" noEditPoints="1" noAdjustHandles="1" noChangeArrowheads="1" noChangeShapeType="1" noTextEdit="1"/>
              </p:cNvSpPr>
              <p:nvPr/>
            </p:nvSpPr>
            <p:spPr>
              <a:xfrm>
                <a:off x="838200" y="2698619"/>
                <a:ext cx="1171154" cy="461665"/>
              </a:xfrm>
              <a:prstGeom prst="rect">
                <a:avLst/>
              </a:prstGeom>
              <a:blipFill>
                <a:blip r:embed="rId2"/>
                <a:stretch>
                  <a:fillRect/>
                </a:stretch>
              </a:blipFill>
            </p:spPr>
            <p:txBody>
              <a:bodyPr/>
              <a:lstStyle/>
              <a:p>
                <a:r>
                  <a:rPr lang="zh-TW" altLang="en-US">
                    <a:noFill/>
                  </a:rPr>
                  <a:t> </a:t>
                </a:r>
              </a:p>
            </p:txBody>
          </p:sp>
        </mc:Fallback>
      </mc:AlternateContent>
      <p:sp>
        <p:nvSpPr>
          <p:cNvPr id="9" name="文字方塊 8">
            <a:extLst>
              <a:ext uri="{FF2B5EF4-FFF2-40B4-BE49-F238E27FC236}">
                <a16:creationId xmlns:a16="http://schemas.microsoft.com/office/drawing/2014/main" id="{BC1621B3-9A40-469B-84D0-57DFD55F116C}"/>
              </a:ext>
            </a:extLst>
          </p:cNvPr>
          <p:cNvSpPr txBox="1"/>
          <p:nvPr/>
        </p:nvSpPr>
        <p:spPr>
          <a:xfrm>
            <a:off x="838200" y="4669654"/>
            <a:ext cx="1531188" cy="646331"/>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Match</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+5</a:t>
            </a:r>
          </a:p>
          <a:p>
            <a:r>
              <a:rPr lang="en-US" altLang="zh-TW" dirty="0">
                <a:latin typeface="Times New Roman" panose="02020603050405020304" pitchFamily="18" charset="0"/>
                <a:cs typeface="Times New Roman" panose="02020603050405020304" pitchFamily="18" charset="0"/>
              </a:rPr>
              <a:t>Mismatch</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p:txBody>
      </p:sp>
      <p:cxnSp>
        <p:nvCxnSpPr>
          <p:cNvPr id="10" name="直線接點 9">
            <a:extLst>
              <a:ext uri="{FF2B5EF4-FFF2-40B4-BE49-F238E27FC236}">
                <a16:creationId xmlns:a16="http://schemas.microsoft.com/office/drawing/2014/main" id="{E82E701B-94AF-4196-84EE-DF160E9F6555}"/>
              </a:ext>
            </a:extLst>
          </p:cNvPr>
          <p:cNvCxnSpPr/>
          <p:nvPr/>
        </p:nvCxnSpPr>
        <p:spPr>
          <a:xfrm>
            <a:off x="5709082" y="3788673"/>
            <a:ext cx="504000" cy="0"/>
          </a:xfrm>
          <a:prstGeom prst="line">
            <a:avLst/>
          </a:prstGeom>
          <a:ln w="25400"/>
        </p:spPr>
        <p:style>
          <a:lnRef idx="1">
            <a:schemeClr val="accent2"/>
          </a:lnRef>
          <a:fillRef idx="0">
            <a:schemeClr val="accent2"/>
          </a:fillRef>
          <a:effectRef idx="0">
            <a:schemeClr val="accent2"/>
          </a:effectRef>
          <a:fontRef idx="minor">
            <a:schemeClr val="tx1"/>
          </a:fontRef>
        </p:style>
      </p:cxnSp>
      <p:cxnSp>
        <p:nvCxnSpPr>
          <p:cNvPr id="11" name="直線接點 10">
            <a:extLst>
              <a:ext uri="{FF2B5EF4-FFF2-40B4-BE49-F238E27FC236}">
                <a16:creationId xmlns:a16="http://schemas.microsoft.com/office/drawing/2014/main" id="{7C40C02A-629E-48C7-9A0F-3C27F67A834C}"/>
              </a:ext>
            </a:extLst>
          </p:cNvPr>
          <p:cNvCxnSpPr>
            <a:cxnSpLocks/>
          </p:cNvCxnSpPr>
          <p:nvPr/>
        </p:nvCxnSpPr>
        <p:spPr>
          <a:xfrm>
            <a:off x="5487139" y="2964825"/>
            <a:ext cx="0" cy="972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 name="直線接點 11">
            <a:extLst>
              <a:ext uri="{FF2B5EF4-FFF2-40B4-BE49-F238E27FC236}">
                <a16:creationId xmlns:a16="http://schemas.microsoft.com/office/drawing/2014/main" id="{9EB1A299-50FF-4FE0-81B7-0D2B988A4DC9}"/>
              </a:ext>
            </a:extLst>
          </p:cNvPr>
          <p:cNvCxnSpPr>
            <a:cxnSpLocks/>
          </p:cNvCxnSpPr>
          <p:nvPr/>
        </p:nvCxnSpPr>
        <p:spPr>
          <a:xfrm>
            <a:off x="6394141" y="2964467"/>
            <a:ext cx="0" cy="972000"/>
          </a:xfrm>
          <a:prstGeom prst="line">
            <a:avLst/>
          </a:prstGeom>
          <a:ln w="1905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D2AE6E29-0429-43F1-887C-F2FD05832DFA}"/>
                  </a:ext>
                </a:extLst>
              </p:cNvPr>
              <p:cNvSpPr txBox="1"/>
              <p:nvPr/>
            </p:nvSpPr>
            <p:spPr>
              <a:xfrm>
                <a:off x="5304874" y="3988018"/>
                <a:ext cx="2446182" cy="369332"/>
              </a:xfrm>
              <a:prstGeom prst="rect">
                <a:avLst/>
              </a:prstGeom>
              <a:noFill/>
            </p:spPr>
            <p:txBody>
              <a:bodyPr wrap="none" rtlCol="0">
                <a:spAutoFit/>
              </a:bodyPr>
              <a:lstStyle/>
              <a:p>
                <a14:m>
                  <m:oMath xmlns:m="http://schemas.openxmlformats.org/officeDocument/2006/math">
                    <m:r>
                      <a:rPr lang="en-US" altLang="zh-TW" b="0" i="1" smtClean="0">
                        <a:solidFill>
                          <a:schemeClr val="accent5">
                            <a:lumMod val="50000"/>
                          </a:schemeClr>
                        </a:solidFill>
                        <a:latin typeface="Cambria Math" panose="02040503050406030204" pitchFamily="18" charset="0"/>
                      </a:rPr>
                      <m:t>15−4+5=16</m:t>
                    </m:r>
                    <m:r>
                      <a:rPr lang="en-US" altLang="zh-TW" b="0" i="1" smtClean="0">
                        <a:solidFill>
                          <a:schemeClr val="accent5">
                            <a:lumMod val="50000"/>
                          </a:schemeClr>
                        </a:solidFill>
                        <a:latin typeface="Cambria Math" panose="02040503050406030204" pitchFamily="18" charset="0"/>
                        <a:ea typeface="Cambria Math" panose="02040503050406030204" pitchFamily="18" charset="0"/>
                      </a:rPr>
                      <m:t>≥</m:t>
                    </m:r>
                    <m:r>
                      <a:rPr lang="en-US" altLang="zh-TW" b="0" i="1" smtClean="0">
                        <a:solidFill>
                          <a:schemeClr val="accent5">
                            <a:lumMod val="50000"/>
                          </a:schemeClr>
                        </a:solidFill>
                        <a:latin typeface="Cambria Math" panose="02040503050406030204" pitchFamily="18" charset="0"/>
                        <a:ea typeface="Cambria Math" panose="02040503050406030204" pitchFamily="18" charset="0"/>
                      </a:rPr>
                      <m:t>𝑆</m:t>
                    </m:r>
                  </m:oMath>
                </a14:m>
                <a:r>
                  <a:rPr lang="en-US" altLang="zh-TW" dirty="0">
                    <a:solidFill>
                      <a:schemeClr val="accent5">
                        <a:lumMod val="50000"/>
                      </a:schemeClr>
                    </a:solidFill>
                  </a:rPr>
                  <a:t>    </a:t>
                </a:r>
                <a:endParaRPr lang="zh-TW" altLang="en-US" dirty="0">
                  <a:solidFill>
                    <a:schemeClr val="accent5">
                      <a:lumMod val="50000"/>
                    </a:schemeClr>
                  </a:solidFill>
                </a:endParaRPr>
              </a:p>
            </p:txBody>
          </p:sp>
        </mc:Choice>
        <mc:Fallback xmlns="">
          <p:sp>
            <p:nvSpPr>
              <p:cNvPr id="13" name="文字方塊 12">
                <a:extLst>
                  <a:ext uri="{FF2B5EF4-FFF2-40B4-BE49-F238E27FC236}">
                    <a16:creationId xmlns:a16="http://schemas.microsoft.com/office/drawing/2014/main" id="{D2AE6E29-0429-43F1-887C-F2FD05832DFA}"/>
                  </a:ext>
                </a:extLst>
              </p:cNvPr>
              <p:cNvSpPr txBox="1">
                <a:spLocks noRot="1" noChangeAspect="1" noMove="1" noResize="1" noEditPoints="1" noAdjustHandles="1" noChangeArrowheads="1" noChangeShapeType="1" noTextEdit="1"/>
              </p:cNvSpPr>
              <p:nvPr/>
            </p:nvSpPr>
            <p:spPr>
              <a:xfrm>
                <a:off x="5304874" y="3988018"/>
                <a:ext cx="2446182" cy="369332"/>
              </a:xfrm>
              <a:prstGeom prst="rect">
                <a:avLst/>
              </a:prstGeom>
              <a:blipFill>
                <a:blip r:embed="rId3"/>
                <a:stretch>
                  <a:fillRect/>
                </a:stretch>
              </a:blipFill>
            </p:spPr>
            <p:txBody>
              <a:bodyPr/>
              <a:lstStyle/>
              <a:p>
                <a:r>
                  <a:rPr lang="zh-TW" altLang="en-US">
                    <a:noFill/>
                  </a:rPr>
                  <a:t> </a:t>
                </a:r>
              </a:p>
            </p:txBody>
          </p:sp>
        </mc:Fallback>
      </mc:AlternateContent>
      <p:cxnSp>
        <p:nvCxnSpPr>
          <p:cNvPr id="14" name="直線接點 13">
            <a:extLst>
              <a:ext uri="{FF2B5EF4-FFF2-40B4-BE49-F238E27FC236}">
                <a16:creationId xmlns:a16="http://schemas.microsoft.com/office/drawing/2014/main" id="{5A06E158-6D00-4846-9A9E-83B6776883D9}"/>
              </a:ext>
            </a:extLst>
          </p:cNvPr>
          <p:cNvCxnSpPr>
            <a:cxnSpLocks/>
          </p:cNvCxnSpPr>
          <p:nvPr/>
        </p:nvCxnSpPr>
        <p:spPr>
          <a:xfrm>
            <a:off x="5304874" y="2970070"/>
            <a:ext cx="0" cy="1548000"/>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15" name="直線接點 14">
            <a:extLst>
              <a:ext uri="{FF2B5EF4-FFF2-40B4-BE49-F238E27FC236}">
                <a16:creationId xmlns:a16="http://schemas.microsoft.com/office/drawing/2014/main" id="{7E76BE6F-AF0F-4ED0-AFC6-A73C2455C07C}"/>
              </a:ext>
            </a:extLst>
          </p:cNvPr>
          <p:cNvCxnSpPr>
            <a:cxnSpLocks/>
          </p:cNvCxnSpPr>
          <p:nvPr/>
        </p:nvCxnSpPr>
        <p:spPr>
          <a:xfrm>
            <a:off x="6584111" y="2982939"/>
            <a:ext cx="0" cy="1548000"/>
          </a:xfrm>
          <a:prstGeom prst="line">
            <a:avLst/>
          </a:prstGeom>
          <a:ln w="19050"/>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8AE1A039-3245-448B-B513-0819544FA494}"/>
                  </a:ext>
                </a:extLst>
              </p:cNvPr>
              <p:cNvSpPr txBox="1"/>
              <p:nvPr/>
            </p:nvSpPr>
            <p:spPr>
              <a:xfrm>
                <a:off x="4992204" y="4563534"/>
                <a:ext cx="216405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0" i="1" smtClean="0">
                          <a:solidFill>
                            <a:schemeClr val="accent2">
                              <a:lumMod val="75000"/>
                            </a:schemeClr>
                          </a:solidFill>
                          <a:latin typeface="Cambria Math" panose="02040503050406030204" pitchFamily="18" charset="0"/>
                          <a:cs typeface="Times New Roman" panose="02020603050405020304" pitchFamily="18" charset="0"/>
                        </a:rPr>
                        <m:t>16−4−4=8</m:t>
                      </m:r>
                      <m:r>
                        <a:rPr lang="en-US" altLang="zh-TW" b="0" i="1" smtClean="0">
                          <a:solidFill>
                            <a:schemeClr val="accent2">
                              <a:lumMod val="75000"/>
                            </a:schemeClr>
                          </a:solidFill>
                          <a:latin typeface="Cambria Math" panose="02040503050406030204" pitchFamily="18" charset="0"/>
                          <a:ea typeface="Cambria Math" panose="02040503050406030204" pitchFamily="18" charset="0"/>
                          <a:cs typeface="Times New Roman" panose="02020603050405020304" pitchFamily="18" charset="0"/>
                        </a:rPr>
                        <m:t>&lt;</m:t>
                      </m:r>
                      <m:r>
                        <a:rPr lang="en-US" altLang="zh-TW" b="0" i="1" smtClean="0">
                          <a:solidFill>
                            <a:schemeClr val="accent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𝑆</m:t>
                      </m:r>
                    </m:oMath>
                  </m:oMathPara>
                </a14:m>
                <a:endParaRPr lang="zh-TW" altLang="en-US" dirty="0">
                  <a:solidFill>
                    <a:schemeClr val="accent2">
                      <a:lumMod val="75000"/>
                    </a:schemeClr>
                  </a:solidFill>
                  <a:latin typeface="Times New Roman" panose="02020603050405020304" pitchFamily="18" charset="0"/>
                  <a:cs typeface="Times New Roman" panose="02020603050405020304" pitchFamily="18" charset="0"/>
                </a:endParaRPr>
              </a:p>
            </p:txBody>
          </p:sp>
        </mc:Choice>
        <mc:Fallback xmlns="">
          <p:sp>
            <p:nvSpPr>
              <p:cNvPr id="16" name="文字方塊 15">
                <a:extLst>
                  <a:ext uri="{FF2B5EF4-FFF2-40B4-BE49-F238E27FC236}">
                    <a16:creationId xmlns:a16="http://schemas.microsoft.com/office/drawing/2014/main" id="{8AE1A039-3245-448B-B513-0819544FA494}"/>
                  </a:ext>
                </a:extLst>
              </p:cNvPr>
              <p:cNvSpPr txBox="1">
                <a:spLocks noRot="1" noChangeAspect="1" noMove="1" noResize="1" noEditPoints="1" noAdjustHandles="1" noChangeArrowheads="1" noChangeShapeType="1" noTextEdit="1"/>
              </p:cNvSpPr>
              <p:nvPr/>
            </p:nvSpPr>
            <p:spPr>
              <a:xfrm>
                <a:off x="4992204" y="4563534"/>
                <a:ext cx="2164054" cy="369332"/>
              </a:xfrm>
              <a:prstGeom prst="rect">
                <a:avLst/>
              </a:prstGeom>
              <a:blipFill>
                <a:blip r:embed="rId4"/>
                <a:stretch>
                  <a:fillRect/>
                </a:stretch>
              </a:blipFill>
            </p:spPr>
            <p:txBody>
              <a:bodyPr/>
              <a:lstStyle/>
              <a:p>
                <a:r>
                  <a:rPr lang="zh-TW" altLang="en-US">
                    <a:noFill/>
                  </a:rPr>
                  <a:t> </a:t>
                </a:r>
              </a:p>
            </p:txBody>
          </p:sp>
        </mc:Fallback>
      </mc:AlternateContent>
      <p:cxnSp>
        <p:nvCxnSpPr>
          <p:cNvPr id="17" name="直線單箭頭接點 16">
            <a:extLst>
              <a:ext uri="{FF2B5EF4-FFF2-40B4-BE49-F238E27FC236}">
                <a16:creationId xmlns:a16="http://schemas.microsoft.com/office/drawing/2014/main" id="{B81D0206-240E-4085-AC7F-A63A65428093}"/>
              </a:ext>
            </a:extLst>
          </p:cNvPr>
          <p:cNvCxnSpPr>
            <a:cxnSpLocks/>
          </p:cNvCxnSpPr>
          <p:nvPr/>
        </p:nvCxnSpPr>
        <p:spPr>
          <a:xfrm rot="10800000">
            <a:off x="5348870" y="4487807"/>
            <a:ext cx="147782"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8" name="直線單箭頭接點 17">
            <a:extLst>
              <a:ext uri="{FF2B5EF4-FFF2-40B4-BE49-F238E27FC236}">
                <a16:creationId xmlns:a16="http://schemas.microsoft.com/office/drawing/2014/main" id="{FEAD52CB-E645-4B56-8AF6-017188AC7D02}"/>
              </a:ext>
            </a:extLst>
          </p:cNvPr>
          <p:cNvCxnSpPr>
            <a:cxnSpLocks/>
          </p:cNvCxnSpPr>
          <p:nvPr/>
        </p:nvCxnSpPr>
        <p:spPr>
          <a:xfrm>
            <a:off x="6394141" y="4499598"/>
            <a:ext cx="147782"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430313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ECD86E03-790B-4EAC-A9FB-5E8B10375812}"/>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BLAST</a:t>
            </a:r>
            <a:endParaRPr lang="zh-TW" altLang="en-US" dirty="0">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D744FB00-E6C7-464A-8C42-74BE918D714C}"/>
              </a:ext>
            </a:extLst>
          </p:cNvPr>
          <p:cNvSpPr txBox="1"/>
          <p:nvPr/>
        </p:nvSpPr>
        <p:spPr>
          <a:xfrm>
            <a:off x="4722921" y="3364637"/>
            <a:ext cx="2520242" cy="461665"/>
          </a:xfrm>
          <a:prstGeom prst="rect">
            <a:avLst/>
          </a:prstGeom>
          <a:noFill/>
        </p:spPr>
        <p:txBody>
          <a:bodyPr wrap="none" rtlCol="0">
            <a:spAutoFit/>
          </a:bodyPr>
          <a:lstStyle/>
          <a:p>
            <a:r>
              <a:rPr lang="en-US" altLang="zh-TW" sz="2400" dirty="0">
                <a:latin typeface="Courier New" panose="02070309020205020404" pitchFamily="49" charset="0"/>
                <a:cs typeface="Courier New" panose="02070309020205020404" pitchFamily="49" charset="0"/>
              </a:rPr>
              <a:t>A</a:t>
            </a:r>
            <a:r>
              <a:rPr lang="zh-TW" altLang="en-US" sz="2400" dirty="0">
                <a:latin typeface="Courier New" panose="02070309020205020404" pitchFamily="49" charset="0"/>
                <a:cs typeface="Courier New" panose="02070309020205020404" pitchFamily="49" charset="0"/>
              </a:rPr>
              <a:t>：</a:t>
            </a:r>
            <a:r>
              <a:rPr lang="en-US" altLang="zh-TW" sz="2400" dirty="0">
                <a:latin typeface="Courier New" panose="02070309020205020404" pitchFamily="49" charset="0"/>
                <a:cs typeface="Courier New" panose="02070309020205020404" pitchFamily="49" charset="0"/>
              </a:rPr>
              <a:t>G</a:t>
            </a:r>
            <a:r>
              <a:rPr lang="en-US" altLang="zh-TW" sz="2400" dirty="0">
                <a:solidFill>
                  <a:srgbClr val="FF0000"/>
                </a:solidFill>
                <a:latin typeface="Courier New" panose="02070309020205020404" pitchFamily="49" charset="0"/>
                <a:cs typeface="Courier New" panose="02070309020205020404" pitchFamily="49" charset="0"/>
              </a:rPr>
              <a:t>CTACT</a:t>
            </a:r>
            <a:r>
              <a:rPr lang="en-US" altLang="zh-TW" sz="2400" dirty="0">
                <a:latin typeface="Courier New" panose="02070309020205020404" pitchFamily="49" charset="0"/>
                <a:cs typeface="Courier New" panose="02070309020205020404" pitchFamily="49" charset="0"/>
              </a:rPr>
              <a:t>GATC</a:t>
            </a:r>
            <a:endParaRPr lang="zh-TW" altLang="en-US" sz="2400" dirty="0">
              <a:latin typeface="Courier New" panose="02070309020205020404" pitchFamily="49" charset="0"/>
              <a:cs typeface="Courier New" panose="02070309020205020404" pitchFamily="49" charset="0"/>
            </a:endParaRPr>
          </a:p>
        </p:txBody>
      </p:sp>
      <p:sp>
        <p:nvSpPr>
          <p:cNvPr id="7" name="文字方塊 6">
            <a:extLst>
              <a:ext uri="{FF2B5EF4-FFF2-40B4-BE49-F238E27FC236}">
                <a16:creationId xmlns:a16="http://schemas.microsoft.com/office/drawing/2014/main" id="{735194A0-6E01-4815-88D9-674B818C809E}"/>
              </a:ext>
            </a:extLst>
          </p:cNvPr>
          <p:cNvSpPr txBox="1"/>
          <p:nvPr/>
        </p:nvSpPr>
        <p:spPr>
          <a:xfrm>
            <a:off x="4722921" y="3016250"/>
            <a:ext cx="2335896" cy="461665"/>
          </a:xfrm>
          <a:prstGeom prst="rect">
            <a:avLst/>
          </a:prstGeom>
          <a:noFill/>
        </p:spPr>
        <p:txBody>
          <a:bodyPr wrap="none" rtlCol="0">
            <a:spAutoFit/>
          </a:bodyPr>
          <a:lstStyle/>
          <a:p>
            <a:r>
              <a:rPr lang="en-US" altLang="zh-TW" sz="2400" dirty="0">
                <a:latin typeface="Courier New" panose="02070309020205020404" pitchFamily="49" charset="0"/>
                <a:cs typeface="Courier New" panose="02070309020205020404" pitchFamily="49" charset="0"/>
              </a:rPr>
              <a:t>Q</a:t>
            </a:r>
            <a:r>
              <a:rPr lang="zh-TW" altLang="en-US" sz="2400" dirty="0">
                <a:latin typeface="Courier New" panose="02070309020205020404" pitchFamily="49" charset="0"/>
                <a:cs typeface="Courier New" panose="02070309020205020404" pitchFamily="49" charset="0"/>
              </a:rPr>
              <a:t>：</a:t>
            </a:r>
            <a:r>
              <a:rPr lang="en-US" altLang="zh-TW" sz="2400" dirty="0">
                <a:latin typeface="Courier New" panose="02070309020205020404" pitchFamily="49" charset="0"/>
                <a:cs typeface="Courier New" panose="02070309020205020404" pitchFamily="49" charset="0"/>
              </a:rPr>
              <a:t>C</a:t>
            </a:r>
            <a:r>
              <a:rPr lang="en-US" altLang="zh-TW" sz="2400" dirty="0">
                <a:solidFill>
                  <a:srgbClr val="FF0000"/>
                </a:solidFill>
                <a:latin typeface="Courier New" panose="02070309020205020404" pitchFamily="49" charset="0"/>
                <a:cs typeface="Courier New" panose="02070309020205020404" pitchFamily="49" charset="0"/>
              </a:rPr>
              <a:t>ATACT</a:t>
            </a:r>
            <a:r>
              <a:rPr lang="en-US" altLang="zh-TW" sz="2400" dirty="0">
                <a:latin typeface="Courier New" panose="02070309020205020404" pitchFamily="49" charset="0"/>
                <a:cs typeface="Courier New" panose="02070309020205020404" pitchFamily="49" charset="0"/>
              </a:rPr>
              <a:t>CGT</a:t>
            </a:r>
          </a:p>
        </p:txBody>
      </p:sp>
      <p:sp>
        <p:nvSpPr>
          <p:cNvPr id="8" name="文字方塊 7">
            <a:extLst>
              <a:ext uri="{FF2B5EF4-FFF2-40B4-BE49-F238E27FC236}">
                <a16:creationId xmlns:a16="http://schemas.microsoft.com/office/drawing/2014/main" id="{9B428038-A6C2-4A92-B4DD-685A7C76EC77}"/>
              </a:ext>
            </a:extLst>
          </p:cNvPr>
          <p:cNvSpPr txBox="1"/>
          <p:nvPr/>
        </p:nvSpPr>
        <p:spPr>
          <a:xfrm>
            <a:off x="4846865" y="4618811"/>
            <a:ext cx="2935419"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Maximal segment pair (MSP)</a:t>
            </a:r>
            <a:endParaRPr lang="zh-TW" altLang="en-US" dirty="0">
              <a:latin typeface="Times New Roman" panose="02020603050405020304" pitchFamily="18" charset="0"/>
              <a:cs typeface="Times New Roman" panose="02020603050405020304" pitchFamily="18" charset="0"/>
            </a:endParaRPr>
          </a:p>
        </p:txBody>
      </p:sp>
      <p:sp>
        <p:nvSpPr>
          <p:cNvPr id="9" name="箭號: 向下 8">
            <a:extLst>
              <a:ext uri="{FF2B5EF4-FFF2-40B4-BE49-F238E27FC236}">
                <a16:creationId xmlns:a16="http://schemas.microsoft.com/office/drawing/2014/main" id="{2319B05E-35D7-4F93-87F1-88FDBA0BE2CA}"/>
              </a:ext>
            </a:extLst>
          </p:cNvPr>
          <p:cNvSpPr/>
          <p:nvPr/>
        </p:nvSpPr>
        <p:spPr>
          <a:xfrm>
            <a:off x="5881441" y="3962251"/>
            <a:ext cx="203200" cy="55418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834258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C9D769A0-3EA9-4284-8CA3-E3E56D67BFF5}"/>
              </a:ext>
            </a:extLst>
          </p:cNvPr>
          <p:cNvSpPr>
            <a:spLocks noGrp="1"/>
          </p:cNvSpPr>
          <p:nvPr>
            <p:ph type="title"/>
          </p:nvPr>
        </p:nvSpPr>
        <p:spPr>
          <a:xfrm>
            <a:off x="838200" y="365125"/>
            <a:ext cx="10515600" cy="1325563"/>
          </a:xfrm>
        </p:spPr>
        <p:txBody>
          <a:bodyPr/>
          <a:lstStyle/>
          <a:p>
            <a:pPr algn="ctr"/>
            <a:r>
              <a:rPr lang="en-US" altLang="zh-TW" dirty="0">
                <a:latin typeface="Times New Roman" panose="02020603050405020304" pitchFamily="18" charset="0"/>
                <a:cs typeface="Times New Roman" panose="02020603050405020304" pitchFamily="18" charset="0"/>
              </a:rPr>
              <a:t>BLAST</a:t>
            </a:r>
            <a:endParaRPr lang="zh-TW" altLang="en-US" dirty="0">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A729A663-1307-47CC-B92F-2BED2DEFFB24}"/>
              </a:ext>
            </a:extLst>
          </p:cNvPr>
          <p:cNvSpPr txBox="1"/>
          <p:nvPr/>
        </p:nvSpPr>
        <p:spPr>
          <a:xfrm>
            <a:off x="838200" y="1690688"/>
            <a:ext cx="758893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Step 2</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scan sequences in database to find hits (for protein)</a:t>
            </a:r>
            <a:endParaRPr lang="zh-TW" altLang="en-US" sz="2400" dirty="0">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3BE93065-F06C-4991-BE1B-F425154CC0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6703" y="2414494"/>
            <a:ext cx="6675847" cy="4104217"/>
          </a:xfrm>
          <a:prstGeom prst="rect">
            <a:avLst/>
          </a:prstGeom>
        </p:spPr>
      </p:pic>
      <p:sp>
        <p:nvSpPr>
          <p:cNvPr id="7" name="文字方塊 6">
            <a:extLst>
              <a:ext uri="{FF2B5EF4-FFF2-40B4-BE49-F238E27FC236}">
                <a16:creationId xmlns:a16="http://schemas.microsoft.com/office/drawing/2014/main" id="{95CE227B-E24A-4157-82FB-C7FDBCA6B5FF}"/>
              </a:ext>
            </a:extLst>
          </p:cNvPr>
          <p:cNvSpPr txBox="1"/>
          <p:nvPr/>
        </p:nvSpPr>
        <p:spPr>
          <a:xfrm>
            <a:off x="3012587" y="2229828"/>
            <a:ext cx="1324080"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PAM matrix</a:t>
            </a:r>
            <a:endParaRPr lang="zh-TW" altLang="en-US"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0EB8E732-0143-44E5-A474-568CA42DA285}"/>
              </a:ext>
            </a:extLst>
          </p:cNvPr>
          <p:cNvSpPr txBox="1"/>
          <p:nvPr/>
        </p:nvSpPr>
        <p:spPr>
          <a:xfrm>
            <a:off x="1012054" y="6428879"/>
            <a:ext cx="5479320" cy="276999"/>
          </a:xfrm>
          <a:prstGeom prst="rect">
            <a:avLst/>
          </a:prstGeom>
          <a:noFill/>
        </p:spPr>
        <p:txBody>
          <a:bodyPr wrap="none" rtlCol="0">
            <a:spAutoFit/>
          </a:bodyPr>
          <a:lstStyle/>
          <a:p>
            <a:r>
              <a:rPr lang="zh-TW" altLang="en-US" sz="1200" dirty="0"/>
              <a:t>擷取自 </a:t>
            </a:r>
            <a:r>
              <a:rPr lang="en-US" altLang="zh-TW" sz="1200" dirty="0"/>
              <a:t>https://www.ctu.edu.vn/~dvxe/Bioinformatic%20course/mod4/mod4_0.html</a:t>
            </a:r>
            <a:endParaRPr lang="zh-TW" altLang="en-US" sz="1200" dirty="0"/>
          </a:p>
        </p:txBody>
      </p:sp>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D3CBC612-4533-46B3-BBA0-32FF77C3B44F}"/>
                  </a:ext>
                </a:extLst>
              </p:cNvPr>
              <p:cNvSpPr txBox="1"/>
              <p:nvPr/>
            </p:nvSpPr>
            <p:spPr>
              <a:xfrm>
                <a:off x="7412854" y="2599160"/>
                <a:ext cx="93833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𝑇</m:t>
                      </m:r>
                      <m:r>
                        <a:rPr lang="en-US" altLang="zh-TW" b="0" i="1" smtClean="0">
                          <a:latin typeface="Cambria Math" panose="02040503050406030204" pitchFamily="18" charset="0"/>
                        </a:rPr>
                        <m:t>=15</m:t>
                      </m:r>
                    </m:oMath>
                  </m:oMathPara>
                </a14:m>
                <a:endParaRPr lang="zh-TW" altLang="en-US" dirty="0"/>
              </a:p>
            </p:txBody>
          </p:sp>
        </mc:Choice>
        <mc:Fallback xmlns="">
          <p:sp>
            <p:nvSpPr>
              <p:cNvPr id="9" name="文字方塊 8">
                <a:extLst>
                  <a:ext uri="{FF2B5EF4-FFF2-40B4-BE49-F238E27FC236}">
                    <a16:creationId xmlns:a16="http://schemas.microsoft.com/office/drawing/2014/main" id="{D3CBC612-4533-46B3-BBA0-32FF77C3B44F}"/>
                  </a:ext>
                </a:extLst>
              </p:cNvPr>
              <p:cNvSpPr txBox="1">
                <a:spLocks noRot="1" noChangeAspect="1" noMove="1" noResize="1" noEditPoints="1" noAdjustHandles="1" noChangeArrowheads="1" noChangeShapeType="1" noTextEdit="1"/>
              </p:cNvSpPr>
              <p:nvPr/>
            </p:nvSpPr>
            <p:spPr>
              <a:xfrm>
                <a:off x="7412854" y="2599160"/>
                <a:ext cx="938334" cy="369332"/>
              </a:xfrm>
              <a:prstGeom prst="rect">
                <a:avLst/>
              </a:prstGeom>
              <a:blipFill>
                <a:blip r:embed="rId4"/>
                <a:stretch>
                  <a:fillRect/>
                </a:stretch>
              </a:blipFill>
            </p:spPr>
            <p:txBody>
              <a:bodyPr/>
              <a:lstStyle/>
              <a:p>
                <a:r>
                  <a:rPr lang="zh-TW" altLang="en-US">
                    <a:noFill/>
                  </a:rPr>
                  <a:t> </a:t>
                </a:r>
              </a:p>
            </p:txBody>
          </p:sp>
        </mc:Fallback>
      </mc:AlternateContent>
      <p:sp>
        <p:nvSpPr>
          <p:cNvPr id="11" name="文字方塊 10">
            <a:extLst>
              <a:ext uri="{FF2B5EF4-FFF2-40B4-BE49-F238E27FC236}">
                <a16:creationId xmlns:a16="http://schemas.microsoft.com/office/drawing/2014/main" id="{C0E88745-06BD-4A1B-9CBD-5688F5C20CEC}"/>
              </a:ext>
            </a:extLst>
          </p:cNvPr>
          <p:cNvSpPr txBox="1"/>
          <p:nvPr/>
        </p:nvSpPr>
        <p:spPr>
          <a:xfrm>
            <a:off x="7546019" y="3187083"/>
            <a:ext cx="2207656" cy="646331"/>
          </a:xfrm>
          <a:prstGeom prst="rect">
            <a:avLst/>
          </a:prstGeom>
          <a:noFill/>
        </p:spPr>
        <p:txBody>
          <a:bodyPr wrap="none" rtlCol="0">
            <a:spAutoFit/>
          </a:bodyPr>
          <a:lstStyle/>
          <a:p>
            <a:r>
              <a:rPr lang="en-US" altLang="zh-TW" dirty="0">
                <a:latin typeface="Courier New" panose="02070309020205020404" pitchFamily="49" charset="0"/>
                <a:cs typeface="Courier New" panose="02070309020205020404" pitchFamily="49" charset="0"/>
              </a:rPr>
              <a:t>A</a:t>
            </a: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---YPN---</a:t>
            </a:r>
          </a:p>
          <a:p>
            <a:r>
              <a:rPr lang="en-US" altLang="zh-TW" dirty="0">
                <a:latin typeface="Courier New" panose="02070309020205020404" pitchFamily="49" charset="0"/>
                <a:cs typeface="Courier New" panose="02070309020205020404" pitchFamily="49" charset="0"/>
              </a:rPr>
              <a:t>word</a:t>
            </a: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YPD</a:t>
            </a:r>
            <a:endParaRPr lang="zh-TW" altLang="en-US" dirty="0">
              <a:latin typeface="Courier New" panose="02070309020205020404" pitchFamily="49" charset="0"/>
              <a:cs typeface="Courier New" panose="02070309020205020404" pitchFamily="49" charset="0"/>
            </a:endParaRPr>
          </a:p>
        </p:txBody>
      </p:sp>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FCBC1EC7-6139-40BB-A56F-5A533799453D}"/>
                  </a:ext>
                </a:extLst>
              </p:cNvPr>
              <p:cNvSpPr txBox="1"/>
              <p:nvPr/>
            </p:nvSpPr>
            <p:spPr>
              <a:xfrm>
                <a:off x="8001009" y="4052005"/>
                <a:ext cx="216918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rPr>
                        <m:t>7</m:t>
                      </m:r>
                      <m:r>
                        <a:rPr lang="en-US" altLang="zh-TW" i="1" smtClean="0">
                          <a:latin typeface="Cambria Math" panose="02040503050406030204" pitchFamily="18" charset="0"/>
                        </a:rPr>
                        <m:t>+</m:t>
                      </m:r>
                      <m:r>
                        <a:rPr lang="en-US" altLang="zh-TW" i="1">
                          <a:latin typeface="Cambria Math" panose="02040503050406030204" pitchFamily="18" charset="0"/>
                        </a:rPr>
                        <m:t>7</m:t>
                      </m:r>
                      <m:r>
                        <a:rPr lang="en-US" altLang="zh-TW" i="1" smtClean="0">
                          <a:latin typeface="Cambria Math" panose="02040503050406030204" pitchFamily="18" charset="0"/>
                        </a:rPr>
                        <m:t>+</m:t>
                      </m:r>
                      <m:r>
                        <a:rPr lang="en-US" altLang="zh-TW" i="1">
                          <a:latin typeface="Cambria Math" panose="02040503050406030204" pitchFamily="18" charset="0"/>
                        </a:rPr>
                        <m:t>1</m:t>
                      </m:r>
                      <m:r>
                        <a:rPr lang="en-US" altLang="zh-TW" i="1" smtClean="0">
                          <a:latin typeface="Cambria Math" panose="02040503050406030204" pitchFamily="18" charset="0"/>
                        </a:rPr>
                        <m:t>=</m:t>
                      </m:r>
                      <m:r>
                        <a:rPr lang="en-US" altLang="zh-TW" i="1">
                          <a:latin typeface="Cambria Math" panose="02040503050406030204" pitchFamily="18" charset="0"/>
                        </a:rPr>
                        <m:t>1</m:t>
                      </m:r>
                      <m:r>
                        <a:rPr lang="en-US" altLang="zh-TW" i="1" smtClean="0">
                          <a:latin typeface="Cambria Math" panose="02040503050406030204" pitchFamily="18" charset="0"/>
                        </a:rPr>
                        <m:t>5</m:t>
                      </m:r>
                      <m:r>
                        <a:rPr lang="en-US" altLang="zh-TW" i="1" smtClean="0">
                          <a:latin typeface="Cambria Math" panose="02040503050406030204" pitchFamily="18" charset="0"/>
                          <a:ea typeface="Cambria Math" panose="02040503050406030204" pitchFamily="18" charset="0"/>
                        </a:rPr>
                        <m:t>≥</m:t>
                      </m:r>
                      <m:r>
                        <m:rPr>
                          <m:sty m:val="p"/>
                        </m:rPr>
                        <a:rPr lang="en-US" altLang="zh-TW" i="1">
                          <a:latin typeface="Cambria Math" panose="02040503050406030204" pitchFamily="18" charset="0"/>
                          <a:ea typeface="Cambria Math" panose="02040503050406030204" pitchFamily="18" charset="0"/>
                        </a:rPr>
                        <m:t>T</m:t>
                      </m:r>
                    </m:oMath>
                  </m:oMathPara>
                </a14:m>
                <a:endParaRPr lang="zh-TW" altLang="en-US" dirty="0"/>
              </a:p>
            </p:txBody>
          </p:sp>
        </mc:Choice>
        <mc:Fallback xmlns="">
          <p:sp>
            <p:nvSpPr>
              <p:cNvPr id="12" name="文字方塊 11">
                <a:extLst>
                  <a:ext uri="{FF2B5EF4-FFF2-40B4-BE49-F238E27FC236}">
                    <a16:creationId xmlns:a16="http://schemas.microsoft.com/office/drawing/2014/main" id="{FCBC1EC7-6139-40BB-A56F-5A533799453D}"/>
                  </a:ext>
                </a:extLst>
              </p:cNvPr>
              <p:cNvSpPr txBox="1">
                <a:spLocks noRot="1" noChangeAspect="1" noMove="1" noResize="1" noEditPoints="1" noAdjustHandles="1" noChangeArrowheads="1" noChangeShapeType="1" noTextEdit="1"/>
              </p:cNvSpPr>
              <p:nvPr/>
            </p:nvSpPr>
            <p:spPr>
              <a:xfrm>
                <a:off x="8001009" y="4052005"/>
                <a:ext cx="2169184" cy="369332"/>
              </a:xfrm>
              <a:prstGeom prst="rect">
                <a:avLst/>
              </a:prstGeom>
              <a:blipFill>
                <a:blip r:embed="rId5"/>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7300690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BA075B41-AA0C-4EA2-9854-5F8ABF2356EE}"/>
              </a:ext>
            </a:extLst>
          </p:cNvPr>
          <p:cNvSpPr>
            <a:spLocks noGrp="1"/>
          </p:cNvSpPr>
          <p:nvPr>
            <p:ph type="title"/>
          </p:nvPr>
        </p:nvSpPr>
        <p:spPr>
          <a:xfrm>
            <a:off x="838200" y="365125"/>
            <a:ext cx="10515600" cy="1325563"/>
          </a:xfrm>
        </p:spPr>
        <p:txBody>
          <a:bodyPr/>
          <a:lstStyle/>
          <a:p>
            <a:pPr algn="ctr"/>
            <a:r>
              <a:rPr lang="en-US" altLang="zh-TW" dirty="0">
                <a:latin typeface="Times New Roman" panose="02020603050405020304" pitchFamily="18" charset="0"/>
                <a:cs typeface="Times New Roman" panose="02020603050405020304" pitchFamily="18" charset="0"/>
              </a:rPr>
              <a:t>BLAST</a:t>
            </a:r>
            <a:endParaRPr lang="zh-TW" altLang="en-US" dirty="0">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0FA3DD78-0406-4D1C-92C0-BE3AFF820D2B}"/>
              </a:ext>
            </a:extLst>
          </p:cNvPr>
          <p:cNvSpPr txBox="1"/>
          <p:nvPr/>
        </p:nvSpPr>
        <p:spPr>
          <a:xfrm>
            <a:off x="838200" y="1690688"/>
            <a:ext cx="4318811"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Step 3</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extend hits (for protein)</a:t>
            </a:r>
            <a:endParaRPr lang="zh-TW" altLang="en-US" sz="2400" dirty="0">
              <a:latin typeface="Times New Roman" panose="02020603050405020304" pitchFamily="18" charset="0"/>
              <a:cs typeface="Times New Roman" panose="02020603050405020304" pitchFamily="18" charset="0"/>
            </a:endParaRPr>
          </a:p>
        </p:txBody>
      </p:sp>
      <p:sp>
        <p:nvSpPr>
          <p:cNvPr id="7" name="文字方塊 6">
            <a:extLst>
              <a:ext uri="{FF2B5EF4-FFF2-40B4-BE49-F238E27FC236}">
                <a16:creationId xmlns:a16="http://schemas.microsoft.com/office/drawing/2014/main" id="{56C30E20-7E1E-49F0-90C1-410D8EE6F463}"/>
              </a:ext>
            </a:extLst>
          </p:cNvPr>
          <p:cNvSpPr txBox="1"/>
          <p:nvPr/>
        </p:nvSpPr>
        <p:spPr>
          <a:xfrm>
            <a:off x="1041428" y="2307303"/>
            <a:ext cx="3912353"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Use PAM matrix to calculate MSP score</a:t>
            </a:r>
            <a:endParaRPr lang="zh-TW" altLang="en-US" dirty="0">
              <a:latin typeface="Times New Roman" panose="02020603050405020304" pitchFamily="18" charset="0"/>
              <a:cs typeface="Times New Roman" panose="02020603050405020304" pitchFamily="18" charset="0"/>
            </a:endParaRPr>
          </a:p>
        </p:txBody>
      </p:sp>
      <p:pic>
        <p:nvPicPr>
          <p:cNvPr id="9" name="圖片 8">
            <a:extLst>
              <a:ext uri="{FF2B5EF4-FFF2-40B4-BE49-F238E27FC236}">
                <a16:creationId xmlns:a16="http://schemas.microsoft.com/office/drawing/2014/main" id="{97B956FD-8342-40C2-AE12-8A1A74EC97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8479" y="2583011"/>
            <a:ext cx="6675847" cy="4104217"/>
          </a:xfrm>
          <a:prstGeom prst="rect">
            <a:avLst/>
          </a:prstGeom>
        </p:spPr>
      </p:pic>
      <p:sp>
        <p:nvSpPr>
          <p:cNvPr id="8" name="文字方塊 7">
            <a:extLst>
              <a:ext uri="{FF2B5EF4-FFF2-40B4-BE49-F238E27FC236}">
                <a16:creationId xmlns:a16="http://schemas.microsoft.com/office/drawing/2014/main" id="{0B09E366-7B2C-4330-87EE-EDCA6ED5F8EE}"/>
              </a:ext>
            </a:extLst>
          </p:cNvPr>
          <p:cNvSpPr txBox="1"/>
          <p:nvPr/>
        </p:nvSpPr>
        <p:spPr>
          <a:xfrm>
            <a:off x="4087763" y="6534920"/>
            <a:ext cx="5479320" cy="276999"/>
          </a:xfrm>
          <a:prstGeom prst="rect">
            <a:avLst/>
          </a:prstGeom>
          <a:noFill/>
        </p:spPr>
        <p:txBody>
          <a:bodyPr wrap="none" rtlCol="0">
            <a:spAutoFit/>
          </a:bodyPr>
          <a:lstStyle/>
          <a:p>
            <a:r>
              <a:rPr lang="zh-TW" altLang="en-US" sz="1200" dirty="0"/>
              <a:t>擷取自 </a:t>
            </a:r>
            <a:r>
              <a:rPr lang="en-US" altLang="zh-TW" sz="1200" dirty="0"/>
              <a:t>https://www.ctu.edu.vn/~dvxe/Bioinformatic%20course/mod4/mod4_0.html</a:t>
            </a:r>
            <a:endParaRPr lang="zh-TW" altLang="en-US" sz="1200" dirty="0"/>
          </a:p>
        </p:txBody>
      </p:sp>
    </p:spTree>
    <p:extLst>
      <p:ext uri="{BB962C8B-B14F-4D97-AF65-F5344CB8AC3E}">
        <p14:creationId xmlns:p14="http://schemas.microsoft.com/office/powerpoint/2010/main" val="30062625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F6853D54-5DEE-4145-AB65-03E4081253E0}"/>
              </a:ext>
            </a:extLst>
          </p:cNvPr>
          <p:cNvSpPr>
            <a:spLocks noGrp="1"/>
          </p:cNvSpPr>
          <p:nvPr>
            <p:ph type="title"/>
          </p:nvPr>
        </p:nvSpPr>
        <p:spPr>
          <a:xfrm>
            <a:off x="838200" y="365125"/>
            <a:ext cx="10515600" cy="1325563"/>
          </a:xfrm>
        </p:spPr>
        <p:txBody>
          <a:bodyPr/>
          <a:lstStyle/>
          <a:p>
            <a:pPr algn="ctr"/>
            <a:r>
              <a:rPr lang="en-US" altLang="zh-TW" dirty="0">
                <a:latin typeface="Times New Roman" panose="02020603050405020304" pitchFamily="18" charset="0"/>
                <a:cs typeface="Times New Roman" panose="02020603050405020304" pitchFamily="18" charset="0"/>
              </a:rPr>
              <a:t>Experiment</a:t>
            </a:r>
            <a:endParaRPr lang="zh-TW" altLang="en-US" dirty="0">
              <a:latin typeface="Times New Roman" panose="02020603050405020304" pitchFamily="18" charset="0"/>
              <a:cs typeface="Times New Roman" panose="02020603050405020304" pitchFamily="18" charset="0"/>
            </a:endParaRPr>
          </a:p>
        </p:txBody>
      </p:sp>
      <p:pic>
        <p:nvPicPr>
          <p:cNvPr id="3" name="圖片 2">
            <a:extLst>
              <a:ext uri="{FF2B5EF4-FFF2-40B4-BE49-F238E27FC236}">
                <a16:creationId xmlns:a16="http://schemas.microsoft.com/office/drawing/2014/main" id="{61A19C90-9529-4E97-AE7E-AC7AB41253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825" y="2317719"/>
            <a:ext cx="12068175" cy="3470522"/>
          </a:xfrm>
          <a:prstGeom prst="rect">
            <a:avLst/>
          </a:prstGeom>
        </p:spPr>
      </p:pic>
      <p:sp>
        <p:nvSpPr>
          <p:cNvPr id="5" name="文字方塊 4">
            <a:extLst>
              <a:ext uri="{FF2B5EF4-FFF2-40B4-BE49-F238E27FC236}">
                <a16:creationId xmlns:a16="http://schemas.microsoft.com/office/drawing/2014/main" id="{68E2A160-147C-4B43-B091-FA808AF7DE4D}"/>
              </a:ext>
            </a:extLst>
          </p:cNvPr>
          <p:cNvSpPr txBox="1"/>
          <p:nvPr/>
        </p:nvSpPr>
        <p:spPr>
          <a:xfrm>
            <a:off x="403193" y="1726820"/>
            <a:ext cx="1096519" cy="461665"/>
          </a:xfrm>
          <a:prstGeom prst="rect">
            <a:avLst/>
          </a:prstGeom>
          <a:noFill/>
        </p:spPr>
        <p:txBody>
          <a:bodyPr wrap="none" rtlCol="0">
            <a:spAutoFit/>
          </a:bodyPr>
          <a:lstStyle/>
          <a:p>
            <a:r>
              <a:rPr lang="en-US" altLang="zh-TW" sz="2400" dirty="0"/>
              <a:t>protein</a:t>
            </a:r>
            <a:endParaRPr lang="zh-TW" altLang="en-US" sz="2400" dirty="0"/>
          </a:p>
        </p:txBody>
      </p:sp>
    </p:spTree>
    <p:extLst>
      <p:ext uri="{BB962C8B-B14F-4D97-AF65-F5344CB8AC3E}">
        <p14:creationId xmlns:p14="http://schemas.microsoft.com/office/powerpoint/2010/main" val="27770335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52E8FD29-779D-4359-AB98-ECF206F4E836}"/>
              </a:ext>
            </a:extLst>
          </p:cNvPr>
          <p:cNvSpPr>
            <a:spLocks noGrp="1"/>
          </p:cNvSpPr>
          <p:nvPr>
            <p:ph type="title"/>
          </p:nvPr>
        </p:nvSpPr>
        <p:spPr>
          <a:xfrm>
            <a:off x="838200" y="365125"/>
            <a:ext cx="10515600" cy="1325563"/>
          </a:xfrm>
        </p:spPr>
        <p:txBody>
          <a:bodyPr/>
          <a:lstStyle/>
          <a:p>
            <a:pPr algn="ctr"/>
            <a:r>
              <a:rPr lang="en-US" altLang="zh-TW" dirty="0">
                <a:latin typeface="Times New Roman" panose="02020603050405020304" pitchFamily="18" charset="0"/>
                <a:cs typeface="Times New Roman" panose="02020603050405020304" pitchFamily="18" charset="0"/>
              </a:rPr>
              <a:t>Experiment</a:t>
            </a:r>
            <a:endParaRPr lang="zh-TW" altLang="en-US" dirty="0">
              <a:latin typeface="Times New Roman" panose="02020603050405020304" pitchFamily="18" charset="0"/>
              <a:cs typeface="Times New Roman" panose="02020603050405020304" pitchFamily="18" charset="0"/>
            </a:endParaRPr>
          </a:p>
        </p:txBody>
      </p:sp>
      <p:graphicFrame>
        <p:nvGraphicFramePr>
          <p:cNvPr id="5" name="表格 4">
            <a:extLst>
              <a:ext uri="{FF2B5EF4-FFF2-40B4-BE49-F238E27FC236}">
                <a16:creationId xmlns:a16="http://schemas.microsoft.com/office/drawing/2014/main" id="{9CD08FF6-8741-447D-B718-D7DB5F3BE741}"/>
              </a:ext>
            </a:extLst>
          </p:cNvPr>
          <p:cNvGraphicFramePr>
            <a:graphicFrameLocks noGrp="1"/>
          </p:cNvGraphicFramePr>
          <p:nvPr>
            <p:extLst>
              <p:ext uri="{D42A27DB-BD31-4B8C-83A1-F6EECF244321}">
                <p14:modId xmlns:p14="http://schemas.microsoft.com/office/powerpoint/2010/main" val="2331081692"/>
              </p:ext>
            </p:extLst>
          </p:nvPr>
        </p:nvGraphicFramePr>
        <p:xfrm>
          <a:off x="2138531" y="2965718"/>
          <a:ext cx="8128000" cy="222504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67866035"/>
                    </a:ext>
                  </a:extLst>
                </a:gridCol>
                <a:gridCol w="1625600">
                  <a:extLst>
                    <a:ext uri="{9D8B030D-6E8A-4147-A177-3AD203B41FA5}">
                      <a16:colId xmlns:a16="http://schemas.microsoft.com/office/drawing/2014/main" val="4118315952"/>
                    </a:ext>
                  </a:extLst>
                </a:gridCol>
                <a:gridCol w="1625600">
                  <a:extLst>
                    <a:ext uri="{9D8B030D-6E8A-4147-A177-3AD203B41FA5}">
                      <a16:colId xmlns:a16="http://schemas.microsoft.com/office/drawing/2014/main" val="3344029713"/>
                    </a:ext>
                  </a:extLst>
                </a:gridCol>
                <a:gridCol w="1625600">
                  <a:extLst>
                    <a:ext uri="{9D8B030D-6E8A-4147-A177-3AD203B41FA5}">
                      <a16:colId xmlns:a16="http://schemas.microsoft.com/office/drawing/2014/main" val="331418554"/>
                    </a:ext>
                  </a:extLst>
                </a:gridCol>
                <a:gridCol w="1625600">
                  <a:extLst>
                    <a:ext uri="{9D8B030D-6E8A-4147-A177-3AD203B41FA5}">
                      <a16:colId xmlns:a16="http://schemas.microsoft.com/office/drawing/2014/main" val="1761872849"/>
                    </a:ext>
                  </a:extLst>
                </a:gridCol>
              </a:tblGrid>
              <a:tr h="370840">
                <a:tc>
                  <a:txBody>
                    <a:bodyPr/>
                    <a:lstStyle/>
                    <a:p>
                      <a:pPr algn="ctr"/>
                      <a:r>
                        <a:rPr lang="en-US" altLang="zh-TW" b="0" i="1" dirty="0">
                          <a:solidFill>
                            <a:schemeClr val="tx1"/>
                          </a:solidFill>
                        </a:rPr>
                        <a:t>w</a:t>
                      </a:r>
                      <a:endParaRPr lang="zh-TW" altLang="en-US" b="0" i="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Time (sec)</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Words</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Hits</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Matches</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1025631"/>
                  </a:ext>
                </a:extLst>
              </a:tr>
              <a:tr h="370840">
                <a:tc>
                  <a:txBody>
                    <a:bodyPr/>
                    <a:lstStyle/>
                    <a:p>
                      <a:pPr algn="ctr"/>
                      <a:r>
                        <a:rPr lang="en-US" altLang="zh-TW" b="0" dirty="0">
                          <a:solidFill>
                            <a:schemeClr val="tx1"/>
                          </a:solidFill>
                        </a:rPr>
                        <a: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15.9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44,587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118,941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130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26069684"/>
                  </a:ext>
                </a:extLst>
              </a:tr>
              <a:tr h="370840">
                <a:tc>
                  <a:txBody>
                    <a:bodyPr/>
                    <a:lstStyle/>
                    <a:p>
                      <a:pPr algn="ctr"/>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6.8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44,586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39,218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123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5758665"/>
                  </a:ext>
                </a:extLst>
              </a:tr>
              <a:tr h="370840">
                <a:tc>
                  <a:txBody>
                    <a:bodyPr/>
                    <a:lstStyle/>
                    <a:p>
                      <a:pPr algn="ctr"/>
                      <a:r>
                        <a:rPr lang="en-US" altLang="zh-TW" b="0" dirty="0">
                          <a:solidFill>
                            <a:schemeClr val="tx1"/>
                          </a:solidFill>
                        </a:rPr>
                        <a: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4.3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44,585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15,321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114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9560417"/>
                  </a:ext>
                </a:extLst>
              </a:tr>
              <a:tr h="370840">
                <a:tc>
                  <a:txBody>
                    <a:bodyPr/>
                    <a:lstStyle/>
                    <a:p>
                      <a:pPr algn="ctr"/>
                      <a:r>
                        <a:rPr lang="en-US" altLang="zh-TW" b="0" dirty="0">
                          <a:solidFill>
                            <a:schemeClr val="tx1"/>
                          </a:solidFill>
                        </a:rPr>
                        <a:t>11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3.5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44,584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7345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106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7509343"/>
                  </a:ext>
                </a:extLst>
              </a:tr>
              <a:tr h="370840">
                <a:tc>
                  <a:txBody>
                    <a:bodyPr/>
                    <a:lstStyle/>
                    <a:p>
                      <a:pPr algn="ctr"/>
                      <a:r>
                        <a:rPr lang="en-US" altLang="zh-TW" b="0" dirty="0">
                          <a:solidFill>
                            <a:schemeClr val="tx1"/>
                          </a:solidFill>
                        </a:rPr>
                        <a:t>12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3.2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44,583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4197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98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8422971"/>
                  </a:ext>
                </a:extLst>
              </a:tr>
            </a:tbl>
          </a:graphicData>
        </a:graphic>
      </p:graphicFrame>
      <p:sp>
        <p:nvSpPr>
          <p:cNvPr id="6" name="文字方塊 5">
            <a:extLst>
              <a:ext uri="{FF2B5EF4-FFF2-40B4-BE49-F238E27FC236}">
                <a16:creationId xmlns:a16="http://schemas.microsoft.com/office/drawing/2014/main" id="{CCB45A18-67E5-4AD0-9962-EAF54790AC0B}"/>
              </a:ext>
            </a:extLst>
          </p:cNvPr>
          <p:cNvSpPr txBox="1"/>
          <p:nvPr/>
        </p:nvSpPr>
        <p:spPr>
          <a:xfrm>
            <a:off x="1047565" y="1690688"/>
            <a:ext cx="1981633" cy="830997"/>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Human </a:t>
            </a:r>
            <a:r>
              <a:rPr lang="el-GR" altLang="zh-TW" sz="2400" dirty="0">
                <a:latin typeface="Times New Roman" panose="02020603050405020304" pitchFamily="18" charset="0"/>
                <a:cs typeface="Times New Roman" panose="02020603050405020304" pitchFamily="18" charset="0"/>
              </a:rPr>
              <a:t>β</a:t>
            </a:r>
            <a:r>
              <a:rPr lang="en-US" altLang="zh-TW" sz="2400" dirty="0">
                <a:latin typeface="Times New Roman" panose="02020603050405020304" pitchFamily="18" charset="0"/>
                <a:cs typeface="Times New Roman" panose="02020603050405020304" pitchFamily="18" charset="0"/>
              </a:rPr>
              <a:t> gene</a:t>
            </a:r>
          </a:p>
          <a:p>
            <a:r>
              <a:rPr lang="en-US" altLang="zh-TW" sz="2400" dirty="0">
                <a:latin typeface="Times New Roman" panose="02020603050405020304" pitchFamily="18" charset="0"/>
                <a:cs typeface="Times New Roman" panose="02020603050405020304" pitchFamily="18" charset="0"/>
              </a:rPr>
              <a:t>Rabbit </a:t>
            </a:r>
            <a:r>
              <a:rPr lang="el-GR" altLang="zh-TW" sz="2400" dirty="0">
                <a:latin typeface="Times New Roman" panose="02020603050405020304" pitchFamily="18" charset="0"/>
                <a:cs typeface="Times New Roman" panose="02020603050405020304" pitchFamily="18" charset="0"/>
              </a:rPr>
              <a:t>δ</a:t>
            </a:r>
            <a:r>
              <a:rPr lang="en-US" altLang="zh-TW" sz="2400" dirty="0">
                <a:latin typeface="Times New Roman" panose="02020603050405020304" pitchFamily="18" charset="0"/>
                <a:cs typeface="Times New Roman" panose="02020603050405020304" pitchFamily="18" charset="0"/>
              </a:rPr>
              <a:t> gene</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7701944"/>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249</TotalTime>
  <Words>466</Words>
  <Application>Microsoft Office PowerPoint</Application>
  <PresentationFormat>寬螢幕</PresentationFormat>
  <Paragraphs>228</Paragraphs>
  <Slides>14</Slides>
  <Notes>1</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14</vt:i4>
      </vt:variant>
    </vt:vector>
  </HeadingPairs>
  <TitlesOfParts>
    <vt:vector size="22" baseType="lpstr">
      <vt:lpstr>新細明體</vt:lpstr>
      <vt:lpstr>Arial</vt:lpstr>
      <vt:lpstr>Calibri</vt:lpstr>
      <vt:lpstr>Calibri Light</vt:lpstr>
      <vt:lpstr>Cambria Math</vt:lpstr>
      <vt:lpstr>Courier New</vt:lpstr>
      <vt:lpstr>Times New Roman</vt:lpstr>
      <vt:lpstr>Office 佈景主題</vt:lpstr>
      <vt:lpstr>Basic Local Alignment Search Tool</vt:lpstr>
      <vt:lpstr>Abstract</vt:lpstr>
      <vt:lpstr>PowerPoint 簡報</vt:lpstr>
      <vt:lpstr>BLAST</vt:lpstr>
      <vt:lpstr>BLAST</vt:lpstr>
      <vt:lpstr>BLAST</vt:lpstr>
      <vt:lpstr>BLAST</vt:lpstr>
      <vt:lpstr>BLAST</vt:lpstr>
      <vt:lpstr>BLAST</vt:lpstr>
      <vt:lpstr>BLAST</vt:lpstr>
      <vt:lpstr>BLAST</vt:lpstr>
      <vt:lpstr>BLAST</vt:lpstr>
      <vt:lpstr>Experiment</vt:lpstr>
      <vt:lpstr>Experiment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Local Alignment Search Tool</dc:title>
  <dc:creator>Caros</dc:creator>
  <cp:lastModifiedBy>Caros</cp:lastModifiedBy>
  <cp:revision>78</cp:revision>
  <dcterms:created xsi:type="dcterms:W3CDTF">2017-07-04T17:48:53Z</dcterms:created>
  <dcterms:modified xsi:type="dcterms:W3CDTF">2017-07-05T08:33:38Z</dcterms:modified>
</cp:coreProperties>
</file>