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5" r:id="rId9"/>
    <p:sldId id="267" r:id="rId10"/>
    <p:sldId id="268" r:id="rId11"/>
    <p:sldId id="270" r:id="rId12"/>
    <p:sldId id="271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47" autoAdjust="0"/>
    <p:restoredTop sz="94660"/>
  </p:normalViewPr>
  <p:slideViewPr>
    <p:cSldViewPr snapToGrid="0">
      <p:cViewPr varScale="1">
        <p:scale>
          <a:sx n="47" d="100"/>
          <a:sy n="47" d="100"/>
        </p:scale>
        <p:origin x="4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80" units="cm"/>
          <inkml:channel name="Y" type="integer" max="800" units="cm"/>
          <inkml:channel name="T" type="integer" max="2.14748E9" units="dev"/>
        </inkml:traceFormat>
        <inkml:channelProperties>
          <inkml:channelProperty channel="X" name="resolution" value="28.31858" units="1/cm"/>
          <inkml:channelProperty channel="Y" name="resolution" value="28.36879" units="1/cm"/>
          <inkml:channelProperty channel="T" name="resolution" value="1" units="1/dev"/>
        </inkml:channelProperties>
      </inkml:inkSource>
      <inkml:timestamp xml:id="ts0" timeString="2017-10-17T10:53:35.8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16298 6139 0,'27'0'32,"-1"0"-32,27 0 15,-53 26 1,27-26-16,-1 0 15,27 27 1,26-27-16,-52 26 16,-1 27-16,54 0 15,-1 0-15,0 26 16,1-52-16,-27 52 15,26 0 1,-26-52-16,0 79 16,-27-80-16,54 1 15,-54 52-15,27-53 16,-26-26-16,-1 53 15,1-26-15,52-27 16,27 79-16,-27 1 16,53-54-16,-105 0 15,26 54-15,79-27 16,-105 0-16,-1-53 15,27 0 17,-53 53-17</inkml:trace>
  <inkml:trace contextRef="#ctx0" brushRef="#br0" timeOffset="906.0519">16404 4604 0,'0'53'16,"27"26"-1,-1-52-15,27 52 16,-53-26-16,26 26 15,1-52 1,-27 52-16,0 1 16,53-27-16,-27 26 15,-26 0-15,0 27 16,0 26-16,0-26 15,0-79-15,0 52 16,0-26-16,0-26 16,0-1-1,27 27 1,-27-27-16,0 1 15</inkml:trace>
  <inkml:trace contextRef="#ctx0" brushRef="#br0" timeOffset="2981.1705">17701 4736 0,'-53'-26'109,"0"26"-93,26 0 0,1 0-16,26-27 15,-79 27 16,-1 0 1,27 0-1,53 0-31,-79 27 15,52-27 1,1 0-16,26 53 16,-27-53-16,1 0 15,26 26-15,-79 1 16,52-1 15,1 1-31,-1 26 16,27-1-16,-53-25 15,27 52-15,-1-52 16,27-1-1,0 1 1,0 52-16,0-52 16,-26 25-16,26 1 15,0 0-15,0-53 47,53 0-31,-27 27-16,54 26 15,-54-53-15,1 0 16,-1 0-16,27 0 15,0 0-15,26 0 16,-79-27 0,53 27-16,-26-26 15,26 26 1,-27 0-1,1-27 1,-27 1 15,26-54-15,-26 54-1,0 0-15,26-1 16,-26-52-16,27 79 16,-27-27-16,0 1 15,53-1 1,-53-52-16,26 52 15,-26 1-15,27 0 16,-27-1 46,0 27 126,0 53-188,0 79 15,0-26-15,-53-26 16,53 25-16,-27 28 15,27-54-15,0-26 16,0 26-16,0-52 16,0-1 30,0 1-46,0 52 16,0-26-16,0 26 16,-26-52-16,26 52 15,0-52-15,0-1 16,0 1-16,0 52 15,0-53 1,0 1-16,0 26 16,0 0-16,0 0 15,-53-27-15,53 53 16,0-52-16,0-1 31</inkml:trace>
  <inkml:trace contextRef="#ctx0" brushRef="#br0" timeOffset="4938.2825">16325 10346 0,'0'0'46,"106"52"-30,-1 28-16,28-1 16,-54-26-16,27 26 15,-27-52-15,1 52 16,52 1-16,-53-1 15,-52 0 1,52-52-16,-79-1 0,27-26 31,-1 0-15,-26 0 171</inkml:trace>
  <inkml:trace contextRef="#ctx0" brushRef="#br0" timeOffset="6540.3741">18362 9922 0,'-53'0'31,"0"0"0,0 0-31,0 0 16,27 0-16,-53 0 16,26 0-16,-27 0 15,1 0-15,26 0 16,27 0-16,-54 0 15,54 0-15,-1 27 16,1-27-16,-1 53 16,-26-53-16,27 0 15,0 26 16,78 0 32,54 1-48,-79 26-15,79-27 16,-54 54-16,-25-54 16,26 1-1,26 52-15,-26 53 0,-26-132 16,78 53-1,-78 0-15,52 0 16,1 0-16,-27-27 16,-53 1-16,52-1 15,-25 54-15,-1-80 16,-26 26-16,0 1 15,0-1-15,27-26 16,-27 27 0,0 52-1,0-53-15,0 1 16,0-1-1,-27 27 32,-26-53-31,27 0-16,0 0 15,-27 27-15,0-1 16,26-26 0,-26 0-16,-26 53 15,53-53-15,-54 26 16,54-26-16,-1 27 15,1-27-15,-1 0 16,-26 0 0,27 0-1,-1 0 1,27-27-1,-26-52 1,26 53-16,0-1 16,0-52-16,-26 52 15,26-26-15,0-26 16,0 53-16,0-54 15,26 27-15,27-26 16,0 0-16,0-1 16,-27-26-16,54 27 15,-80 0-15,79 79 16,-79-27-16,53 1 15,-53-107 1,79 133 0,-52-26-16,-1-1 0,27 1 15,-26 0 1,-27-27-16,26 26 15</inkml:trace>
  <inkml:trace contextRef="#ctx0" brushRef="#br0" timeOffset="7826.4477">17066 10266 0,'0'0'47,"0"53"-31,-27-26-16,-52-1 15,79 53-15,-80 1 16,54-27-16,0 0 15,26-1-15,-80 28 16,80-54-16,-79 54 16,52-1-16,1-79 15,26 53-15,-53-53 16,53 53-16,-27-53 62,27 53-46,-52-53 46,52 26-46,0 1 15,-27-27-31,-26 0 47</inkml:trace>
  <inkml:trace contextRef="#ctx0" brushRef="#br0" timeOffset="9090.52">17092 6192 0,'-53'0'47,"-26"52"-32,52-52 1,-26 27-16,27-27 15,0 26-15,-27 1 16,-53 105 0,0-52-16,-26 52 15,-1-26-15,28 26 16,25 0-1,27-79-15,27-53 16,26 53-16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2017/10/17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2107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2017/10/17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0957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2017/10/17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0611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2017/10/17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6913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2017/10/17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6473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2017/10/17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3976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2017/10/17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1091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2017/10/17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270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2017/10/17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8141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2017/10/17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9388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2017/10/17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3407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5C1F2B-1D51-40D0-A135-9C9D0A35B8E2}" type="datetimeFigureOut">
              <a:rPr lang="zh-TW" altLang="en-US" smtClean="0"/>
              <a:t>2017/10/17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1110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66044" y="727252"/>
            <a:ext cx="10859911" cy="2387600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Selectivity and Backup Operators in Monte-Carlo Tree Search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719740"/>
          </a:xfrm>
        </p:spPr>
        <p:txBody>
          <a:bodyPr>
            <a:normAutofit fontScale="92500" lnSpcReduction="20000"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Rémi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Coulom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LIFL,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SqueL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INRIA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Futurs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Université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Charles de Gaulle, Lille, France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5th International Conference on Computer and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Games, May 2006, Turin, Italy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Cheng-Han Wu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Date:2017/10/03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5684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9505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Monte-Carlo evaluation consists in estimating a position by averaging the outcome of several random continuations, and can serve as an evaluation function at the leaves of a min-max tree. This paper presents a new framework to combine tree search with Monte-Carlo evaluation, that does not separate between a min-max phase and a Monte-Carlo phase. Instead of backing-up the min-max value close to the root, and the average value at some depth, a more general backup operator is defined that progressively changes from averaging to min-max as the number of simulations grows. This approach provides a fine-grained control of the tree growth, at the level of individual simulations, and allows efficient selectivity methods. This algorithm was implemented in a 9×9 Go-playing program, Crazy Stone, that won the 10th KGS computer-Go tournament.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666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Monte-Carlo methods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1" y="1825625"/>
            <a:ext cx="546099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問題轉化為某種隨機分布的特徵數，比如隨機事件出現的機率，或者隨機變數的期望值。通過隨機抽樣的方法，以隨機事件出現的頻率估計其機率，或者以抽樣的數字特徵估算隨機變數的數字特徵，並將其作為問題的解。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1690688"/>
            <a:ext cx="45720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845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Min-Max tree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6" name="圖片 5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740" y="1690688"/>
            <a:ext cx="8141306" cy="459522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筆跡 2"/>
              <p14:cNvContentPartPr/>
              <p14:nvPr/>
            </p14:nvContentPartPr>
            <p14:xfrm>
              <a:off x="5772240" y="1657440"/>
              <a:ext cx="895680" cy="2429280"/>
            </p14:xfrm>
          </p:contentPart>
        </mc:Choice>
        <mc:Fallback>
          <p:pic>
            <p:nvPicPr>
              <p:cNvPr id="3" name="筆跡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62880" y="1648080"/>
                <a:ext cx="914400" cy="244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24196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structure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642600" cy="4351338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Iteratively running random simulations from the root position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Not to lose time on explore useless parts of the search tree, carefully allocate simulations at every node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Each simulation brings additional information immediately backed up to the root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The value of a simulation is the score of the game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As the number of tree grows, the probability distribution for selecting a move at random is altered</a:t>
            </a:r>
          </a:p>
          <a:p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395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Selectivity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Moves that look best should be searched deeper, and bad moves should be searched less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As deeper as it will influence the backed-up value more.</a:t>
            </a:r>
          </a:p>
          <a:p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9231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Crazy Stone’s 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Assuming each move has estimated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with a variance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l-GR" altLang="zh-TW" i="1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zh-TW" altLang="el-GR" i="1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TW" i="1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, and moves are ordered so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TW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&gt; … 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𝑁</m:t>
                        </m:r>
                      </m:sub>
                    </m:sSub>
                  </m:oMath>
                </a14:m>
                <a:endParaRPr lang="en-US" altLang="zh-TW" i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Each move is selected with a probability proportional to</a:t>
                </a:r>
              </a:p>
              <a:p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exp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−2.4</m:t>
                        </m:r>
                        <m:f>
                          <m:f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d>
                                  <m:d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l-GR" altLang="zh-TW" i="1" dirty="0"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zh-TW" altLang="el-GR" i="1" dirty="0"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n-US" altLang="zh-TW" b="0" i="1" dirty="0" smtClean="0"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  <m:t>0</m:t>
                                        </m:r>
                                      </m:sub>
                                      <m:sup>
                                        <m:r>
                                          <a:rPr lang="en-US" altLang="zh-TW" i="1" dirty="0"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  <m:r>
                                      <a:rPr lang="en-US" altLang="zh-TW" b="0" i="1" dirty="0" smtClean="0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sSubSup>
                                      <m:sSubSupPr>
                                        <m:ctrlPr>
                                          <a:rPr lang="el-GR" altLang="zh-TW" i="1" dirty="0"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zh-TW" altLang="el-GR" i="1" dirty="0"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n-US" altLang="zh-TW" i="1" dirty="0"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altLang="zh-TW" i="1" dirty="0"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</m:rad>
                          </m:den>
                        </m:f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TW" altLang="en-US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endPara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1961" r="-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4689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Crazy Stone’s 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97250"/>
                <a:ext cx="7301089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TW" i="1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0.1+</m:t>
                          </m:r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altLang="zh-TW" i="1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altLang="zh-TW" i="1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is a constant to ensures that the urgency of a move never goes to zero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is 1 when move is </a:t>
                </a:r>
                <a:r>
                  <a:rPr lang="en-US" altLang="zh-TW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atari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, and 0 otherwise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97250"/>
                <a:ext cx="7301089" cy="4351338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2532" y="2622373"/>
            <a:ext cx="4018683" cy="310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Crazy Stone’s 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For each move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is the opposite of the value </a:t>
                </a:r>
                <a14:m>
                  <m:oMath xmlns:m="http://schemas.openxmlformats.org/officeDocument/2006/math">
                    <m:r>
                      <a:rPr lang="el-GR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of successor node,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l-GR" altLang="zh-TW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is its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l-GR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Internal node : Back up method</a:t>
                </a:r>
              </a:p>
              <a:p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External node :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is the number of simulations, </a:t>
                </a:r>
                <a14:m>
                  <m:oMath xmlns:m="http://schemas.openxmlformats.org/officeDocument/2006/math">
                    <m:r>
                      <a:rPr lang="el-GR" altLang="zh-TW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𝛴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is the sum of values,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is the number of points on board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l-GR" altLang="zh-TW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𝜇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l-GR" altLang="zh-TW" i="1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𝛴</m:t>
                        </m:r>
                      </m:num>
                      <m:den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𝑆</m:t>
                        </m:r>
                      </m:den>
                    </m:f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l-GR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l-GR" altLang="zh-TW" i="1" dirty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𝛴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𝑆</m:t>
                        </m:r>
                        <m:sSup>
                          <m:s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+4</m:t>
                        </m:r>
                        <m:sSup>
                          <m:s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𝑆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+1</m:t>
                        </m:r>
                      </m:den>
                    </m:f>
                  </m:oMath>
                </a14:m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 r="-19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0923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 up method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Temporal difference method using past experience with an incompletely known system to predict its future behavior.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 the beginning, the backup method for internal nodes was the external node method.</a:t>
            </a:r>
          </a:p>
        </p:txBody>
      </p:sp>
    </p:spTree>
    <p:extLst>
      <p:ext uri="{BB962C8B-B14F-4D97-AF65-F5344CB8AC3E}">
        <p14:creationId xmlns:p14="http://schemas.microsoft.com/office/powerpoint/2010/main" val="2781300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 up method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4467" y="1527063"/>
            <a:ext cx="6443066" cy="5206759"/>
          </a:xfrm>
        </p:spPr>
      </p:pic>
    </p:spTree>
    <p:extLst>
      <p:ext uri="{BB962C8B-B14F-4D97-AF65-F5344CB8AC3E}">
        <p14:creationId xmlns:p14="http://schemas.microsoft.com/office/powerpoint/2010/main" val="1452902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 Results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230" y="2544711"/>
            <a:ext cx="9421540" cy="2010056"/>
          </a:xfrm>
        </p:spPr>
      </p:pic>
    </p:spTree>
    <p:extLst>
      <p:ext uri="{BB962C8B-B14F-4D97-AF65-F5344CB8AC3E}">
        <p14:creationId xmlns:p14="http://schemas.microsoft.com/office/powerpoint/2010/main" val="3469348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3721</TotalTime>
  <Words>413</Words>
  <Application>Microsoft Office PowerPoint</Application>
  <PresentationFormat>寬螢幕</PresentationFormat>
  <Paragraphs>42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20" baseType="lpstr">
      <vt:lpstr>新細明體</vt:lpstr>
      <vt:lpstr>標楷體</vt:lpstr>
      <vt:lpstr>Arial</vt:lpstr>
      <vt:lpstr>Calibri</vt:lpstr>
      <vt:lpstr>Calibri Light</vt:lpstr>
      <vt:lpstr>Cambria Math</vt:lpstr>
      <vt:lpstr>Times New Roman</vt:lpstr>
      <vt:lpstr>Office 佈景主題</vt:lpstr>
      <vt:lpstr>Efficient Selectivity and Backup Operators in Monte-Carlo Tree Search</vt:lpstr>
      <vt:lpstr>Abstract</vt:lpstr>
      <vt:lpstr>Monte-Carlo methods</vt:lpstr>
      <vt:lpstr>Min-Max tree </vt:lpstr>
      <vt:lpstr>Algorithm structure</vt:lpstr>
      <vt:lpstr>Selectivity</vt:lpstr>
      <vt:lpstr>Crazy Stone’s algorithm</vt:lpstr>
      <vt:lpstr>Crazy Stone’s algorithm</vt:lpstr>
      <vt:lpstr>Crazy Stone’s algorithm</vt:lpstr>
      <vt:lpstr>Back up method</vt:lpstr>
      <vt:lpstr>Back up method</vt:lpstr>
      <vt:lpstr>Game Results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Efficient Selectivity and Backup Operators in Monte-Carlo Tree Search</dc:title>
  <dc:creator>Trixie</dc:creator>
  <cp:lastModifiedBy>pplab-class</cp:lastModifiedBy>
  <cp:revision>102</cp:revision>
  <dcterms:created xsi:type="dcterms:W3CDTF">2017-09-07T05:36:32Z</dcterms:created>
  <dcterms:modified xsi:type="dcterms:W3CDTF">2017-10-17T11:15:58Z</dcterms:modified>
</cp:coreProperties>
</file>