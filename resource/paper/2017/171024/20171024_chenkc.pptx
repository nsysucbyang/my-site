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0" r:id="rId6"/>
    <p:sldId id="261" r:id="rId7"/>
    <p:sldId id="265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0875" autoAdjust="0"/>
  </p:normalViewPr>
  <p:slideViewPr>
    <p:cSldViewPr snapToGrid="0">
      <p:cViewPr varScale="1">
        <p:scale>
          <a:sx n="105" d="100"/>
          <a:sy n="105" d="100"/>
        </p:scale>
        <p:origin x="18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楊一軒 陳建賓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dirty="0"/>
              <a:t>台大 趙坤茂教授 演算法與計算生物學</a:t>
            </a:r>
            <a:r>
              <a:rPr lang="en-US" altLang="zh-TW" dirty="0"/>
              <a:t>Lab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Received 21 May 2003; received in revised form 9 August 2004</a:t>
            </a:r>
          </a:p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Available online 2 December 2004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7835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55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2017/10/24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70373"/>
            <a:ext cx="9144000" cy="160730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 algorithm for computing a longest common increasing subsequence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125447"/>
            <a:ext cx="6858000" cy="498926"/>
          </a:xfrm>
        </p:spPr>
        <p:txBody>
          <a:bodyPr/>
          <a:lstStyle/>
          <a:p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I-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Hsuan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Yang, 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Chien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-Pin Huang, </a:t>
            </a:r>
            <a:r>
              <a:rPr lang="en-US" altLang="zh-TW" sz="21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Kun</a:t>
            </a:r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-Mao, Chao</a:t>
            </a:r>
            <a:endParaRPr lang="zh-TW" altLang="en-US" sz="2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405422" y="4951475"/>
            <a:ext cx="3264031" cy="653984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Speaker: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Kuan-Chih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Chen</a:t>
            </a: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2017.10.24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1769429" y="3746358"/>
            <a:ext cx="565731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Information Processing Letters 93 (2005) 249–253</a:t>
            </a:r>
            <a:endParaRPr lang="zh-TW" altLang="en-US" sz="2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782611"/>
            <a:ext cx="7886700" cy="994172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950950"/>
            <a:ext cx="8515350" cy="3582896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Let A = (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and B = (b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b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be two sequences, where each pair of sequences is comparable. A common increasing subsequence of A and B is a subsequence (a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b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b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where i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i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· · · &lt;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and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j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· · · &lt;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such that for all 1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k &lt; l, we have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&lt; a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ik+1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longest common increasing subsequence of A and B is a common increasing subsequence of the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maximun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length. This paper presents an algorithm for delivering a longest common increasing subsequence in O(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and O(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space.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E5DC15-D869-42C0-9A5A-9A595BBCB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339" y="2060755"/>
                <a:ext cx="5089072" cy="134128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=(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…, </m:t>
                              </m:r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lang="en-US" altLang="zh-TW" sz="2400" b="1">
                          <a:latin typeface="Cambria Math" panose="02040503050406030204" pitchFamily="18" charset="0"/>
                        </a:rPr>
                        <m:t>    ,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E5DC15-D869-42C0-9A5A-9A595BBCB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339" y="2060755"/>
                <a:ext cx="5089072" cy="134128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76249843-13DF-47F4-B76E-E4C68A351C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910" y="3406019"/>
                <a:ext cx="4671332" cy="2469545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𝐿𝐶𝐼𝑆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𝑖𝑙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TW" sz="2400" dirty="0"/>
                  <a:t>                          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𝑗𝑙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TW" sz="1800" i="1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US" altLang="zh-TW" sz="1800" i="1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𝑖𝑙</m:t>
                        </m:r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𝑗𝑙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…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…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76249843-13DF-47F4-B76E-E4C68A351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10" y="3406019"/>
                <a:ext cx="4671332" cy="2469545"/>
              </a:xfrm>
              <a:prstGeom prst="rect">
                <a:avLst/>
              </a:prstGeom>
              <a:blipFill>
                <a:blip r:embed="rId4"/>
                <a:stretch>
                  <a:fillRect r="-1828" b="-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EC67A973-F131-440E-AB7C-6D4A87B55CBD}"/>
              </a:ext>
            </a:extLst>
          </p:cNvPr>
          <p:cNvSpPr/>
          <p:nvPr/>
        </p:nvSpPr>
        <p:spPr>
          <a:xfrm>
            <a:off x="314324" y="1662127"/>
            <a:ext cx="88296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</a:rPr>
              <a:t>find a 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maximum-length</a:t>
            </a:r>
            <a:r>
              <a:rPr lang="en-US" altLang="zh-TW" sz="1600" dirty="0">
                <a:latin typeface="Times New Roman" panose="02020603050405020304" pitchFamily="18" charset="0"/>
              </a:rPr>
              <a:t> common subsequence of two sequences such that the subsequence is increasing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90AA3B91-03CC-4295-BC40-B2547FB1F1EF}"/>
              </a:ext>
            </a:extLst>
          </p:cNvPr>
          <p:cNvSpPr txBox="1">
            <a:spLocks/>
          </p:cNvSpPr>
          <p:nvPr/>
        </p:nvSpPr>
        <p:spPr>
          <a:xfrm>
            <a:off x="5514150" y="4303603"/>
            <a:ext cx="2534056" cy="111536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(3, 9, 2)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</a:t>
            </a:r>
            <a:r>
              <a:rPr lang="en-US" altLang="zh-TW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(3, 9) 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18DB67-5E62-4D09-BA06-18F939FAE5E7}"/>
              </a:ext>
            </a:extLst>
          </p:cNvPr>
          <p:cNvSpPr/>
          <p:nvPr/>
        </p:nvSpPr>
        <p:spPr>
          <a:xfrm>
            <a:off x="5514149" y="2378003"/>
            <a:ext cx="293994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(3, 4 ,1, 5, 9, 2)</a:t>
            </a:r>
          </a:p>
          <a:p>
            <a:pPr>
              <a:lnSpc>
                <a:spcPct val="150000"/>
              </a:lnSpc>
            </a:pPr>
            <a:r>
              <a:rPr lang="en-US" altLang="zh-TW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(3, 9, 2)</a:t>
            </a: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B63C56D-B51E-416C-913D-57311E2BB0C2}"/>
              </a:ext>
            </a:extLst>
          </p:cNvPr>
          <p:cNvSpPr txBox="1">
            <a:spLocks/>
          </p:cNvSpPr>
          <p:nvPr/>
        </p:nvSpPr>
        <p:spPr>
          <a:xfrm>
            <a:off x="314325" y="782611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(Longest Common increasing subsequence)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99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A8B88B-3F2D-4FB3-A330-16908124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616915"/>
            <a:ext cx="7886700" cy="1325563"/>
          </a:xfrm>
        </p:spPr>
        <p:txBody>
          <a:bodyPr>
            <a:normAutofit/>
          </a:bodyPr>
          <a:lstStyle/>
          <a:p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straightforward algorithm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LCIS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756864-0FC5-4903-B237-7ACAE294173E}"/>
              </a:ext>
            </a:extLst>
          </p:cNvPr>
          <p:cNvSpPr/>
          <p:nvPr/>
        </p:nvSpPr>
        <p:spPr>
          <a:xfrm>
            <a:off x="628650" y="2544366"/>
            <a:ext cx="7886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Step1: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the shorter sequence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as sequence C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(c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c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</a:t>
            </a:r>
          </a:p>
          <a:p>
            <a:pPr>
              <a:lnSpc>
                <a:spcPct val="200000"/>
              </a:lnSpc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where c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≦ </a:t>
            </a:r>
            <a:r>
              <a:rPr lang="en-US" altLang="zh-TW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r>
              <a:rPr lang="zh-TW" altLang="en-US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en-US" altLang="zh-TW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the two sequences and the sorted sequence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E30DAC-E8DD-4A42-BE89-77328576DEA8}"/>
              </a:ext>
            </a:extLst>
          </p:cNvPr>
          <p:cNvSpPr/>
          <p:nvPr/>
        </p:nvSpPr>
        <p:spPr>
          <a:xfrm>
            <a:off x="471488" y="1816608"/>
            <a:ext cx="75723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</a:rPr>
              <a:t>For sequences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= ( a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a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and B = (b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b</a:t>
            </a:r>
            <a:r>
              <a:rPr lang="en-US" altLang="zh-TW" sz="16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…,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16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where m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≧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n, find their LCIS:</a:t>
            </a:r>
            <a:endParaRPr lang="en-US" altLang="zh-TW" sz="16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7D9DD2B-EBB2-48C2-98AC-8814FD669DAD}"/>
                  </a:ext>
                </a:extLst>
              </p:cNvPr>
              <p:cNvSpPr/>
              <p:nvPr/>
            </p:nvSpPr>
            <p:spPr>
              <a:xfrm>
                <a:off x="628650" y="4828010"/>
                <a:ext cx="35469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7D9DD2B-EBB2-48C2-98AC-8814FD669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828010"/>
                <a:ext cx="3546933" cy="461665"/>
              </a:xfrm>
              <a:prstGeom prst="rect">
                <a:avLst/>
              </a:prstGeom>
              <a:blipFill>
                <a:blip r:embed="rId2"/>
                <a:stretch>
                  <a:fillRect l="-2577" t="-11842" r="-687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4778563E-EAAB-4CA6-B745-1122D143AD45}"/>
              </a:ext>
            </a:extLst>
          </p:cNvPr>
          <p:cNvSpPr/>
          <p:nvPr/>
        </p:nvSpPr>
        <p:spPr>
          <a:xfrm>
            <a:off x="4708607" y="4298692"/>
            <a:ext cx="2939946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(3, 4 ,1, 5, 9, 2)</a:t>
            </a:r>
          </a:p>
          <a:p>
            <a:pPr>
              <a:lnSpc>
                <a:spcPct val="150000"/>
              </a:lnSpc>
            </a:pPr>
            <a:r>
              <a:rPr lang="en-US" altLang="zh-TW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(3, 9, 2)</a:t>
            </a:r>
          </a:p>
          <a:p>
            <a:pPr>
              <a:lnSpc>
                <a:spcPct val="150000"/>
              </a:lnSpc>
            </a:pPr>
            <a:r>
              <a:rPr lang="en-US" altLang="zh-TW" sz="27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(2, 3, 9)</a:t>
            </a:r>
          </a:p>
        </p:txBody>
      </p:sp>
    </p:spTree>
    <p:extLst>
      <p:ext uri="{BB962C8B-B14F-4D97-AF65-F5344CB8AC3E}">
        <p14:creationId xmlns:p14="http://schemas.microsoft.com/office/powerpoint/2010/main" val="240020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7C38948-C0F2-446D-BD13-517E8442C7C8}"/>
              </a:ext>
            </a:extLst>
          </p:cNvPr>
          <p:cNvSpPr txBox="1">
            <a:spLocks/>
          </p:cNvSpPr>
          <p:nvPr/>
        </p:nvSpPr>
        <p:spPr>
          <a:xfrm>
            <a:off x="428625" y="601185"/>
            <a:ext cx="3759252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Folklore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E557A10-F1A2-4857-BFA3-934F4950DE68}"/>
                  </a:ext>
                </a:extLst>
              </p:cNvPr>
              <p:cNvSpPr/>
              <p:nvPr/>
            </p:nvSpPr>
            <p:spPr>
              <a:xfrm>
                <a:off x="428625" y="1534074"/>
                <a:ext cx="8287204" cy="2400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problem</a:t>
                </a:r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smallest ending number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an increasing subsequence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length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1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≦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≦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𝑝𝑟𝑒𝑣</m:t>
                    </m:r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index of previous number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followed by</a:t>
                </a:r>
                <a:endParaRPr lang="en-US" altLang="zh-TW" sz="20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E557A10-F1A2-4857-BFA3-934F4950D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1534074"/>
                <a:ext cx="8287204" cy="2400657"/>
              </a:xfrm>
              <a:prstGeom prst="rect">
                <a:avLst/>
              </a:prstGeom>
              <a:blipFill>
                <a:blip r:embed="rId2"/>
                <a:stretch>
                  <a:fillRect l="-662" r="-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A7C4B97B-EBA3-4843-B009-B21AD817AC1D}"/>
              </a:ext>
            </a:extLst>
          </p:cNvPr>
          <p:cNvSpPr/>
          <p:nvPr/>
        </p:nvSpPr>
        <p:spPr>
          <a:xfrm>
            <a:off x="428625" y="3717274"/>
            <a:ext cx="5158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Step1:</a:t>
            </a:r>
            <a:r>
              <a:rPr lang="en-US" altLang="zh-TW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each entry in L is initially a 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 do 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binary search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update L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make a backtracking link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former number</a:t>
            </a:r>
          </a:p>
          <a:p>
            <a:pPr>
              <a:lnSpc>
                <a:spcPct val="150000"/>
              </a:lnSpc>
            </a:pPr>
            <a:r>
              <a:rPr lang="en-US" altLang="zh-TW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Step3: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LIS = the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largest k such that 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L[k] contains </a:t>
            </a:r>
            <a:r>
              <a:rPr lang="zh-TW" alt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non-infinite value</a:t>
            </a:r>
            <a:endParaRPr lang="en-US" altLang="zh-TW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Step4: 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Tracing back from L[k]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get LIS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C9E994-5D9D-4051-AA88-E515A62F2121}"/>
              </a:ext>
            </a:extLst>
          </p:cNvPr>
          <p:cNvSpPr/>
          <p:nvPr/>
        </p:nvSpPr>
        <p:spPr>
          <a:xfrm>
            <a:off x="5388028" y="4205021"/>
            <a:ext cx="293994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(3, 4, 1, 5, 9, 2), n =6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0883F07-4603-4227-9A8A-FC9A1E62D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341865"/>
                  </p:ext>
                </p:extLst>
              </p:nvPr>
            </p:nvGraphicFramePr>
            <p:xfrm>
              <a:off x="4992914" y="4780438"/>
              <a:ext cx="3991423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20057">
                      <a:extLst>
                        <a:ext uri="{9D8B030D-6E8A-4147-A177-3AD203B41FA5}">
                          <a16:colId xmlns:a16="http://schemas.microsoft.com/office/drawing/2014/main" val="2130239106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2641989330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2395993758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97658222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714333636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1087294720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17723485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530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L[k]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L[1]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L[2]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L[1]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L[3]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L[2]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190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Prev</a:t>
                          </a:r>
                          <a:r>
                            <a:rPr lang="en-US" altLang="zh-TW" dirty="0"/>
                            <a:t>[</a:t>
                          </a:r>
                          <a:r>
                            <a:rPr lang="en-US" altLang="zh-TW" dirty="0" err="1"/>
                            <a:t>i</a:t>
                          </a:r>
                          <a:r>
                            <a:rPr lang="en-US" altLang="zh-TW" dirty="0"/>
                            <a:t>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4010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0883F07-4603-4227-9A8A-FC9A1E62D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341865"/>
                  </p:ext>
                </p:extLst>
              </p:nvPr>
            </p:nvGraphicFramePr>
            <p:xfrm>
              <a:off x="4992914" y="4780438"/>
              <a:ext cx="3991423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20057">
                      <a:extLst>
                        <a:ext uri="{9D8B030D-6E8A-4147-A177-3AD203B41FA5}">
                          <a16:colId xmlns:a16="http://schemas.microsoft.com/office/drawing/2014/main" val="2130239106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2641989330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2395993758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97658222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714333636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1087294720"/>
                        </a:ext>
                      </a:extLst>
                    </a:gridCol>
                    <a:gridCol w="528561">
                      <a:extLst>
                        <a:ext uri="{9D8B030D-6E8A-4147-A177-3AD203B41FA5}">
                          <a16:colId xmlns:a16="http://schemas.microsoft.com/office/drawing/2014/main" val="17723485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1" t="-8197" r="-38666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530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L[k]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L[1]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L[2]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L[1]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L[3]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L[2]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19030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Prev</a:t>
                          </a:r>
                          <a:r>
                            <a:rPr lang="en-US" altLang="zh-TW" dirty="0"/>
                            <a:t>[</a:t>
                          </a:r>
                          <a:r>
                            <a:rPr lang="en-US" altLang="zh-TW" dirty="0" err="1"/>
                            <a:t>i</a:t>
                          </a:r>
                          <a:r>
                            <a:rPr lang="en-US" altLang="zh-TW" dirty="0"/>
                            <a:t>]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-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4010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A78D0DF-ADEB-45E8-BBEE-A57A10FF7017}"/>
                  </a:ext>
                </a:extLst>
              </p:cNvPr>
              <p:cNvSpPr/>
              <p:nvPr/>
            </p:nvSpPr>
            <p:spPr>
              <a:xfrm>
                <a:off x="5388028" y="662485"/>
                <a:ext cx="311713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nlogn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A78D0DF-ADEB-45E8-BBEE-A57A10FF7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28" y="662485"/>
                <a:ext cx="3117135" cy="400110"/>
              </a:xfrm>
              <a:prstGeom prst="rect">
                <a:avLst/>
              </a:prstGeom>
              <a:blipFill>
                <a:blip r:embed="rId4"/>
                <a:stretch>
                  <a:fillRect l="-2153" t="-10769" b="-2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7869164-ACF4-4408-8377-890438175439}"/>
                  </a:ext>
                </a:extLst>
              </p:cNvPr>
              <p:cNvSpPr/>
              <p:nvPr/>
            </p:nvSpPr>
            <p:spPr>
              <a:xfrm>
                <a:off x="5429401" y="1133964"/>
                <a:ext cx="27238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7869164-ACF4-4408-8377-890438175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401" y="1133964"/>
                <a:ext cx="2723823" cy="400110"/>
              </a:xfrm>
              <a:prstGeom prst="rect">
                <a:avLst/>
              </a:prstGeom>
              <a:blipFill>
                <a:blip r:embed="rId5"/>
                <a:stretch>
                  <a:fillRect l="-2466" t="-9091" r="-224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A5AF0EF7-15DA-443E-A7F6-4E0E2C461071}"/>
              </a:ext>
            </a:extLst>
          </p:cNvPr>
          <p:cNvSpPr/>
          <p:nvPr/>
        </p:nvSpPr>
        <p:spPr>
          <a:xfrm>
            <a:off x="5388028" y="6052877"/>
            <a:ext cx="88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  : 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8081FB-DCE8-4887-B0E7-4015E615113A}"/>
              </a:ext>
            </a:extLst>
          </p:cNvPr>
          <p:cNvSpPr/>
          <p:nvPr/>
        </p:nvSpPr>
        <p:spPr>
          <a:xfrm>
            <a:off x="7765086" y="6052877"/>
            <a:ext cx="3843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4DCEEB-8269-49BB-8352-8EF34344DAA4}"/>
              </a:ext>
            </a:extLst>
          </p:cNvPr>
          <p:cNvSpPr/>
          <p:nvPr/>
        </p:nvSpPr>
        <p:spPr>
          <a:xfrm>
            <a:off x="7304433" y="6052877"/>
            <a:ext cx="3843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507762-DF00-4949-B098-198EE7816DF3}"/>
              </a:ext>
            </a:extLst>
          </p:cNvPr>
          <p:cNvSpPr/>
          <p:nvPr/>
        </p:nvSpPr>
        <p:spPr>
          <a:xfrm>
            <a:off x="6791312" y="6052877"/>
            <a:ext cx="3843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CB5C28-712C-463D-8527-6CA912CFACD1}"/>
              </a:ext>
            </a:extLst>
          </p:cNvPr>
          <p:cNvSpPr/>
          <p:nvPr/>
        </p:nvSpPr>
        <p:spPr>
          <a:xfrm>
            <a:off x="6278191" y="6052877"/>
            <a:ext cx="3843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1AD2A7-45C2-4BD7-84D7-2AA2FA521EBF}"/>
              </a:ext>
            </a:extLst>
          </p:cNvPr>
          <p:cNvSpPr/>
          <p:nvPr/>
        </p:nvSpPr>
        <p:spPr>
          <a:xfrm>
            <a:off x="7920786" y="5152032"/>
            <a:ext cx="540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/>
              <a:t>L[4]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25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" grpId="0"/>
      <p:bldP spid="18" grpId="0"/>
      <p:bldP spid="19" grpId="0"/>
      <p:bldP spid="21" grpId="0"/>
      <p:bldP spid="22" grpId="0"/>
      <p:bldP spid="23" grpId="0"/>
      <p:bldP spid="24" grpId="0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7C38948-C0F2-446D-BD13-517E8442C7C8}"/>
              </a:ext>
            </a:extLst>
          </p:cNvPr>
          <p:cNvSpPr txBox="1">
            <a:spLocks/>
          </p:cNvSpPr>
          <p:nvPr/>
        </p:nvSpPr>
        <p:spPr>
          <a:xfrm>
            <a:off x="314325" y="463294"/>
            <a:ext cx="3759252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Algorithm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E557A10-F1A2-4857-BFA3-934F4950DE68}"/>
                  </a:ext>
                </a:extLst>
              </p:cNvPr>
              <p:cNvSpPr/>
              <p:nvPr/>
            </p:nvSpPr>
            <p:spPr>
              <a:xfrm>
                <a:off x="314325" y="1278131"/>
                <a:ext cx="8715375" cy="50305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LCIS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problem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0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smallest ending number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an LCIS of length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where 1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≦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≦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TW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200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altLang="zh-TW" sz="200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index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index pair(x, y) that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[k]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0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Prev</a:t>
                </a:r>
                <a:r>
                  <a:rPr lang="en-US" altLang="zh-TW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j]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index pair(x, y) that a link (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=&gt; (x, y)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800" i="1" dirty="0">
                    <a:solidFill>
                      <a:schemeClr val="accent2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Step: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to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l-PL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linear</a:t>
                </a:r>
                <a:r>
                  <a:rPr lang="zh-TW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search 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update L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make a traceback link to former number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 the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largest k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L[k]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≠ ∞</a:t>
                </a: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Tracing back from L[k]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get LCIS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E557A10-F1A2-4857-BFA3-934F4950D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1278131"/>
                <a:ext cx="8715375" cy="5030544"/>
              </a:xfrm>
              <a:prstGeom prst="rect">
                <a:avLst/>
              </a:prstGeom>
              <a:blipFill>
                <a:blip r:embed="rId2"/>
                <a:stretch>
                  <a:fillRect l="-1470" b="-12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C99BEE0-FF90-4BC7-A391-CC3D1F2592EE}"/>
              </a:ext>
            </a:extLst>
          </p:cNvPr>
          <p:cNvSpPr/>
          <p:nvPr/>
        </p:nvSpPr>
        <p:spPr>
          <a:xfrm>
            <a:off x="4760912" y="360873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252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740D7A-D0D6-41A4-AA10-533C349D1A17}"/>
              </a:ext>
            </a:extLst>
          </p:cNvPr>
          <p:cNvSpPr/>
          <p:nvPr/>
        </p:nvSpPr>
        <p:spPr>
          <a:xfrm>
            <a:off x="4683333" y="6082039"/>
            <a:ext cx="3080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5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18409E71-9ADA-4865-866B-72E68A94B7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707" y="327907"/>
                <a:ext cx="4914559" cy="6254321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𝐈𝐍𝐏𝐔𝐓</m:t>
                    </m:r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TW" sz="1200" i="1" dirty="0">
                        <a:latin typeface="Cambria Math" panose="02040503050406030204" pitchFamily="18" charset="0"/>
                      </a:rPr>
                      <m:t>Two</m:t>
                    </m:r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 dirty="0">
                        <a:latin typeface="Cambria Math" panose="02040503050406030204" pitchFamily="18" charset="0"/>
                      </a:rPr>
                      <m:t>sequences</m:t>
                    </m:r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sz="1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zh-TW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B 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</a:t>
                </a:r>
                <a:r>
                  <a:rPr lang="en-US" altLang="zh-TW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), where m </a:t>
                </a:r>
                <a:r>
                  <a:rPr lang="zh-TW" altLang="en-US" sz="1200" dirty="0">
                    <a:latin typeface="Cambria Math" panose="02040503050406030204" pitchFamily="18" charset="0"/>
                  </a:rPr>
                  <a:t>≧ 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n.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endParaRPr lang="en-US" altLang="zh-TW" sz="105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do</m:t>
                    </m:r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for k = 1 to n do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[k] := 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endPara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…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endParaRPr lang="en-US" altLang="zh-TW" sz="16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Font typeface="Arial" panose="020B0604020202020204" pitchFamily="34" charset="0"/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for </a:t>
                </a:r>
                <a:r>
                  <a:rPr lang="en-US" altLang="zh-TW" sz="1200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 = 1 to m do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X := -1, p := 1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for j = 1 to n do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    X, p :=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200" i="1" dirty="0"/>
                      <m:t>LIS</m:t>
                    </m:r>
                    <m:r>
                      <m:rPr>
                        <m:nor/>
                      </m:rPr>
                      <a:rPr lang="en-US" altLang="zh-TW" sz="1200" dirty="0"/>
                      <m:t>_</m:t>
                    </m:r>
                    <m:r>
                      <m:rPr>
                        <m:nor/>
                      </m:rPr>
                      <a:rPr lang="en-US" altLang="zh-TW" sz="1200" i="1" dirty="0"/>
                      <m:t>insert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𝑃𝑟𝑒𝑣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else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    if((X</a:t>
                </a:r>
                <a:r>
                  <a:rPr lang="zh-TW" altLang="en-US" sz="1200" dirty="0">
                    <a:latin typeface="Cambria Math" panose="02040503050406030204" pitchFamily="18" charset="0"/>
                  </a:rPr>
                  <a:t>≠ 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-1) 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2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20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sz="12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12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) then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2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    else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            X := -1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X := the largest x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</a:t>
                </a:r>
                <a:r>
                  <a:rPr lang="zh-TW" altLang="en-US" sz="1200" dirty="0">
                    <a:latin typeface="Cambria Math" panose="02040503050406030204" pitchFamily="18" charset="0"/>
                  </a:rPr>
                  <a:t>≠ </a:t>
                </a:r>
                <a:r>
                  <a:rPr lang="zh-TW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endParaRPr lang="en-US" altLang="zh-TW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) ≔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200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1200" dirty="0">
                  <a:latin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200" dirty="0">
                  <a:latin typeface="Cambria Math" panose="02040503050406030204" pitchFamily="18" charset="0"/>
                </a:endParaRP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while(</a:t>
                </a:r>
                <a:r>
                  <a:rPr lang="en-US" altLang="zh-TW" sz="12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]</a:t>
                </a:r>
                <a:r>
                  <a:rPr lang="zh-TW" altLang="en-US" sz="1200" dirty="0">
                    <a:latin typeface="Cambria Math" panose="02040503050406030204" pitchFamily="18" charset="0"/>
                  </a:rPr>
                  <a:t> ≠ 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(-1, -1)) do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 := </a:t>
                </a:r>
                <a:r>
                  <a:rPr lang="en-US" altLang="zh-TW" sz="12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2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</a:rPr>
                  <a:t>]</a:t>
                </a:r>
              </a:p>
              <a:p>
                <a:pPr marL="257175" indent="-257175">
                  <a:lnSpc>
                    <a:spcPct val="100000"/>
                  </a:lnSpc>
                  <a:spcBef>
                    <a:spcPts val="450"/>
                  </a:spcBef>
                  <a:buAutoNum type="arabicPeriod"/>
                </a:pPr>
                <a:r>
                  <a:rPr lang="en-US" altLang="zh-TW" sz="1200" dirty="0">
                    <a:latin typeface="Cambria Math" panose="02040503050406030204" pitchFamily="18" charset="0"/>
                  </a:rPr>
                  <a:t>    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05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18409E71-9ADA-4865-866B-72E68A94B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07" y="327907"/>
                <a:ext cx="4914559" cy="6254321"/>
              </a:xfrm>
              <a:prstGeom prst="rect">
                <a:avLst/>
              </a:prstGeom>
              <a:blipFill>
                <a:blip r:embed="rId3"/>
                <a:stretch>
                  <a:fillRect l="-496" t="-292" r="-248" b="-4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799B2102-CE53-4B84-B788-40AB62F146F3}"/>
              </a:ext>
            </a:extLst>
          </p:cNvPr>
          <p:cNvSpPr/>
          <p:nvPr/>
        </p:nvSpPr>
        <p:spPr>
          <a:xfrm>
            <a:off x="3864902" y="5287655"/>
            <a:ext cx="3080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5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4FEACB3-094F-461D-A6B6-EC7C5485D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93147" y="865435"/>
                <a:ext cx="3197678" cy="2651539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050" i="1" dirty="0"/>
                        <m:t>LIS</m:t>
                      </m:r>
                      <m:r>
                        <m:rPr>
                          <m:nor/>
                        </m:rPr>
                        <a:rPr lang="en-US" altLang="zh-TW" sz="1050" dirty="0"/>
                        <m:t>_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insert</m:t>
                      </m:r>
                      <m:r>
                        <m:rPr>
                          <m:nor/>
                        </m:rPr>
                        <a:rPr lang="en-US" altLang="zh-TW" sz="1050" dirty="0"/>
                        <m:t>(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L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L</m:t>
                      </m:r>
                      <m:r>
                        <m:rPr>
                          <m:nor/>
                        </m:rPr>
                        <a:rPr lang="en-US" altLang="zh-TW" sz="1050" dirty="0"/>
                        <m:t>_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index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Prev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element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a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</m:oMath>
                  </m:oMathPara>
                </a14:m>
                <a:endParaRPr lang="en-US" altLang="zh-TW" sz="1050" dirty="0"/>
              </a:p>
              <a:p>
                <a:pPr marL="0" indent="0">
                  <a:buNone/>
                </a:pPr>
                <a:r>
                  <a:rPr lang="sv-SE" altLang="zh-TW" sz="1050" dirty="0"/>
                  <a:t>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p</m:t>
                    </m:r>
                    <m:r>
                      <m:rPr>
                        <m:nor/>
                      </m:rPr>
                      <a:rPr lang="sv-SE" altLang="zh-TW" sz="1050" dirty="0"/>
                      <m:t>, </m:t>
                    </m:r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i</m:t>
                    </m:r>
                    <m:r>
                      <m:rPr>
                        <m:nor/>
                      </m:rPr>
                      <a:rPr lang="sv-SE" altLang="zh-TW" sz="1050" dirty="0"/>
                      <m:t>, </m:t>
                    </m:r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j</m:t>
                    </m:r>
                    <m:r>
                      <m:rPr>
                        <m:nor/>
                      </m:rPr>
                      <a:rPr lang="sv-SE" altLang="zh-TW" sz="1050" i="1" dirty="0"/>
                      <m:t> </m:t>
                    </m:r>
                    <m:r>
                      <m:rPr>
                        <m:nor/>
                      </m:rPr>
                      <a:rPr lang="sv-SE" altLang="zh-TW" sz="1050" dirty="0"/>
                      <m:t>)</m:t>
                    </m:r>
                  </m:oMath>
                </a14:m>
                <a:endParaRPr lang="sv-SE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p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while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(</m:t>
                    </m:r>
                    <m:r>
                      <m:rPr>
                        <m:nor/>
                      </m:rPr>
                      <a:rPr lang="en-US" altLang="zh-TW" sz="1050" i="1" dirty="0"/>
                      <m:t>L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 </m:t>
                    </m:r>
                    <m:r>
                      <m:rPr>
                        <m:nor/>
                      </m:rPr>
                      <a:rPr lang="en-US" altLang="zh-TW" sz="1050" i="1" dirty="0"/>
                      <m:t>&lt; </m:t>
                    </m:r>
                    <m:r>
                      <m:rPr>
                        <m:nor/>
                      </m:rPr>
                      <a:rPr lang="en-US" altLang="zh-TW" sz="1050" i="1" dirty="0"/>
                      <m:t>a</m:t>
                    </m:r>
                    <m:r>
                      <m:rPr>
                        <m:nor/>
                      </m:rPr>
                      <a:rPr lang="en-US" altLang="zh-TW" sz="1050" dirty="0"/>
                      <m:t>) </m:t>
                    </m:r>
                    <m:r>
                      <m:rPr>
                        <m:nor/>
                      </m:rPr>
                      <a:rPr lang="en-US" altLang="zh-TW" sz="1050" b="1" dirty="0"/>
                      <m:t>do</m:t>
                    </m:r>
                  </m:oMath>
                </a14:m>
                <a:endParaRPr lang="en-US" altLang="zh-TW" sz="1050" b="1" dirty="0"/>
              </a:p>
              <a:p>
                <a:pPr marL="385763" indent="-385763">
                  <a:buAutoNum type="arabicPeriod"/>
                </a:pPr>
                <a:r>
                  <a:rPr lang="zh-TW" altLang="en-US" sz="1050" dirty="0"/>
                  <a:t> </a:t>
                </a:r>
                <a14:m>
                  <m:oMath xmlns:m="http://schemas.openxmlformats.org/officeDocument/2006/math">
                    <m:r>
                      <a:rPr lang="zh-TW" altLang="en-US" sz="1050" i="1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n-US" altLang="zh-TW" sz="1050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+ 1</m:t>
                    </m:r>
                  </m:oMath>
                </a14:m>
                <a:endParaRPr lang="en-US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/>
                      <m:t>L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a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 err="1"/>
                      <m:t>L</m:t>
                    </m:r>
                    <m:r>
                      <m:rPr>
                        <m:nor/>
                      </m:rPr>
                      <a:rPr lang="en-US" altLang="zh-TW" sz="1050" dirty="0" err="1"/>
                      <m:t>_</m:t>
                    </m:r>
                    <m:r>
                      <m:rPr>
                        <m:nor/>
                      </m:rPr>
                      <a:rPr lang="en-US" altLang="zh-TW" sz="1050" i="1" dirty="0" err="1"/>
                      <m:t>index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 ≔ </m:t>
                    </m:r>
                    <m:r>
                      <m:rPr>
                        <m:nor/>
                      </m:rPr>
                      <a:rPr lang="en-US" altLang="zh-TW" sz="1050" i="1" dirty="0"/>
                      <m:t>(</m:t>
                    </m:r>
                    <m:r>
                      <m:rPr>
                        <m:nor/>
                      </m:rPr>
                      <a:rPr lang="en-US" altLang="zh-TW" sz="1050" i="1" dirty="0" err="1"/>
                      <m:t>i</m:t>
                    </m:r>
                    <m:r>
                      <m:rPr>
                        <m:nor/>
                      </m:rPr>
                      <a:rPr lang="en-US" altLang="zh-TW" sz="1050" i="1" dirty="0"/>
                      <m:t>, </m:t>
                    </m:r>
                    <m:r>
                      <m:rPr>
                        <m:nor/>
                      </m:rPr>
                      <a:rPr lang="en-US" altLang="zh-TW" sz="1050" i="1" dirty="0"/>
                      <m:t>j</m:t>
                    </m:r>
                    <m:r>
                      <m:rPr>
                        <m:nor/>
                      </m:rPr>
                      <a:rPr lang="en-US" altLang="zh-TW" sz="1050" i="1" dirty="0"/>
                      <m:t>)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if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(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= 1</m:t>
                    </m:r>
                    <m:r>
                      <m:rPr>
                        <m:nor/>
                      </m:rPr>
                      <a:rPr lang="en-US" altLang="zh-TW" sz="1050" i="1" dirty="0"/>
                      <m:t>) </m:t>
                    </m:r>
                    <m:r>
                      <m:rPr>
                        <m:nor/>
                      </m:rPr>
                      <a:rPr lang="en-US" altLang="zh-TW" sz="1050" b="1" dirty="0"/>
                      <m:t>then</m:t>
                    </m:r>
                  </m:oMath>
                </a14:m>
                <a:endParaRPr lang="en-US" altLang="zh-TW" sz="1050" b="1" dirty="0"/>
              </a:p>
              <a:p>
                <a:pPr marL="385763" indent="-385763">
                  <a:buAutoNum type="arabicPeriod"/>
                </a:pPr>
                <a:r>
                  <a:rPr lang="zh-TW" altLang="en-US" sz="1050" dirty="0"/>
                  <a:t> </a:t>
                </a:r>
                <a14:m>
                  <m:oMath xmlns:m="http://schemas.openxmlformats.org/officeDocument/2006/math">
                    <m:r>
                      <a:rPr lang="zh-TW" altLang="en-US" sz="1050" i="1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en-US" altLang="zh-TW" sz="1050" i="1" dirty="0" err="1"/>
                      <m:t>Prev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 err="1"/>
                      <m:t>i</m:t>
                    </m:r>
                    <m:r>
                      <m:rPr>
                        <m:nor/>
                      </m:rPr>
                      <a:rPr lang="en-US" altLang="zh-TW" sz="1050" i="1" dirty="0"/>
                      <m:t>, </m:t>
                    </m:r>
                    <m:r>
                      <m:rPr>
                        <m:nor/>
                      </m:rPr>
                      <a:rPr lang="en-US" altLang="zh-TW" sz="1050" i="1" dirty="0"/>
                      <m:t>j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 err="1"/>
                      <m:t>L</m:t>
                    </m:r>
                    <m:r>
                      <m:rPr>
                        <m:nor/>
                      </m:rPr>
                      <a:rPr lang="en-US" altLang="zh-TW" sz="1050" dirty="0" err="1"/>
                      <m:t>_</m:t>
                    </m:r>
                    <m:r>
                      <m:rPr>
                        <m:nor/>
                      </m:rPr>
                      <a:rPr lang="en-US" altLang="zh-TW" sz="1050" i="1" dirty="0" err="1"/>
                      <m:t>index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− 1]</m:t>
                    </m:r>
                  </m:oMath>
                </a14:m>
                <a:endParaRPr lang="en-US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return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</m:oMath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4FEACB3-094F-461D-A6B6-EC7C5485D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3147" y="865435"/>
                <a:ext cx="3197678" cy="2651539"/>
              </a:xfrm>
              <a:blipFill>
                <a:blip r:embed="rId4"/>
                <a:stretch>
                  <a:fillRect b="-20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20A4C3E2-DCC3-4537-9614-C9D679B5397C}"/>
              </a:ext>
            </a:extLst>
          </p:cNvPr>
          <p:cNvSpPr/>
          <p:nvPr/>
        </p:nvSpPr>
        <p:spPr>
          <a:xfrm>
            <a:off x="388560" y="646144"/>
            <a:ext cx="112613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//Initialize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9FC851-F298-4BED-A72A-4655AEA45D81}"/>
              </a:ext>
            </a:extLst>
          </p:cNvPr>
          <p:cNvSpPr/>
          <p:nvPr/>
        </p:nvSpPr>
        <p:spPr>
          <a:xfrm>
            <a:off x="1779357" y="3029056"/>
            <a:ext cx="1672230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//match case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F0B7FD-BD9B-4C4B-A78A-A1FC1CD5176F}"/>
              </a:ext>
            </a:extLst>
          </p:cNvPr>
          <p:cNvSpPr/>
          <p:nvPr/>
        </p:nvSpPr>
        <p:spPr>
          <a:xfrm>
            <a:off x="1773682" y="3528674"/>
            <a:ext cx="179842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mismatch case</a:t>
            </a:r>
            <a:endParaRPr lang="en-US" altLang="zh-TW" sz="15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51346F9-05C1-4B79-B96E-1D923A7BF8F9}"/>
              </a:ext>
            </a:extLst>
          </p:cNvPr>
          <p:cNvCxnSpPr>
            <a:cxnSpLocks/>
          </p:cNvCxnSpPr>
          <p:nvPr/>
        </p:nvCxnSpPr>
        <p:spPr>
          <a:xfrm flipV="1">
            <a:off x="3381829" y="2570553"/>
            <a:ext cx="1563837" cy="8109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08B0016-D623-4707-9B87-594E8D86849E}"/>
              </a:ext>
            </a:extLst>
          </p:cNvPr>
          <p:cNvSpPr/>
          <p:nvPr/>
        </p:nvSpPr>
        <p:spPr>
          <a:xfrm>
            <a:off x="388560" y="4772052"/>
            <a:ext cx="2770244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altLang="zh-TW" sz="15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trace back for whole LCIS</a:t>
            </a:r>
            <a:endParaRPr lang="en-US" altLang="zh-TW" sz="15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8F3416-0528-4B55-A7D4-4D57F37F4568}"/>
              </a:ext>
            </a:extLst>
          </p:cNvPr>
          <p:cNvSpPr/>
          <p:nvPr/>
        </p:nvSpPr>
        <p:spPr>
          <a:xfrm>
            <a:off x="4913087" y="4418103"/>
            <a:ext cx="311608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(  , 4, 1, 5,   ,   ), m = 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D4C53A-1A7D-44A4-A7DF-45F479E6459F}"/>
              </a:ext>
            </a:extLst>
          </p:cNvPr>
          <p:cNvSpPr/>
          <p:nvPr/>
        </p:nvSpPr>
        <p:spPr>
          <a:xfrm>
            <a:off x="4913087" y="4810518"/>
            <a:ext cx="293994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(  ,   ,   ), n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301A174-4D3A-40CB-85AC-5212E807CB08}"/>
                  </a:ext>
                </a:extLst>
              </p:cNvPr>
              <p:cNvSpPr/>
              <p:nvPr/>
            </p:nvSpPr>
            <p:spPr>
              <a:xfrm>
                <a:off x="5760247" y="5140948"/>
                <a:ext cx="1585772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 (1, 1)  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301A174-4D3A-40CB-85AC-5212E807C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47" y="5140948"/>
                <a:ext cx="1585772" cy="403957"/>
              </a:xfrm>
              <a:prstGeom prst="rect">
                <a:avLst/>
              </a:prstGeom>
              <a:blipFill>
                <a:blip r:embed="rId5"/>
                <a:stretch>
                  <a:fillRect r="-10000"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98C1B09-2ECD-4D16-8CB2-D7179C1328D5}"/>
                  </a:ext>
                </a:extLst>
              </p:cNvPr>
              <p:cNvSpPr/>
              <p:nvPr/>
            </p:nvSpPr>
            <p:spPr>
              <a:xfrm>
                <a:off x="3313122" y="5226016"/>
                <a:ext cx="1080062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</a:t>
                </a: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98C1B09-2ECD-4D16-8CB2-D7179C132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122" y="5226016"/>
                <a:ext cx="1080062" cy="403957"/>
              </a:xfrm>
              <a:prstGeom prst="rect">
                <a:avLst/>
              </a:prstGeom>
              <a:blipFill>
                <a:blip r:embed="rId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9EE168A2-4DC9-41C3-9D94-29DB966431EC}"/>
              </a:ext>
            </a:extLst>
          </p:cNvPr>
          <p:cNvSpPr/>
          <p:nvPr/>
        </p:nvSpPr>
        <p:spPr>
          <a:xfrm>
            <a:off x="5461075" y="4418103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975F5E-6137-4FE5-9DC8-3F3453E99E9D}"/>
              </a:ext>
            </a:extLst>
          </p:cNvPr>
          <p:cNvSpPr/>
          <p:nvPr/>
        </p:nvSpPr>
        <p:spPr>
          <a:xfrm>
            <a:off x="5461075" y="4810518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47479D-7AC1-443B-8062-FE1CA82637FC}"/>
              </a:ext>
            </a:extLst>
          </p:cNvPr>
          <p:cNvSpPr/>
          <p:nvPr/>
        </p:nvSpPr>
        <p:spPr>
          <a:xfrm>
            <a:off x="5741826" y="4810518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2E730B-5F25-48B1-B0B6-B031821A7782}"/>
              </a:ext>
            </a:extLst>
          </p:cNvPr>
          <p:cNvSpPr/>
          <p:nvPr/>
        </p:nvSpPr>
        <p:spPr>
          <a:xfrm>
            <a:off x="6535260" y="4418103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78DBC4-1983-4BBB-A42D-3FD7DB47FE4D}"/>
              </a:ext>
            </a:extLst>
          </p:cNvPr>
          <p:cNvSpPr/>
          <p:nvPr/>
        </p:nvSpPr>
        <p:spPr>
          <a:xfrm>
            <a:off x="6003083" y="4810518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AC9D8CE-600E-4573-B587-C4921463B7AD}"/>
              </a:ext>
            </a:extLst>
          </p:cNvPr>
          <p:cNvSpPr/>
          <p:nvPr/>
        </p:nvSpPr>
        <p:spPr>
          <a:xfrm>
            <a:off x="6791986" y="4418103"/>
            <a:ext cx="27214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BF53C3D-AAA8-40FB-8292-F0956E16E936}"/>
                  </a:ext>
                </a:extLst>
              </p:cNvPr>
              <p:cNvSpPr/>
              <p:nvPr/>
            </p:nvSpPr>
            <p:spPr>
              <a:xfrm>
                <a:off x="7346019" y="5140948"/>
                <a:ext cx="1594515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𝑃𝑟𝑒𝑣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[5, 2] = (1, 1)  </a:t>
                </a: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BF53C3D-AAA8-40FB-8292-F0956E16E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019" y="5140948"/>
                <a:ext cx="1594515" cy="403957"/>
              </a:xfrm>
              <a:prstGeom prst="rect">
                <a:avLst/>
              </a:prstGeom>
              <a:blipFill>
                <a:blip r:embed="rId7"/>
                <a:stretch>
                  <a:fillRect r="-3817"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32FC8F0-BA63-4203-9E7D-5CA9360A948E}"/>
                  </a:ext>
                </a:extLst>
              </p:cNvPr>
              <p:cNvSpPr/>
              <p:nvPr/>
            </p:nvSpPr>
            <p:spPr>
              <a:xfrm>
                <a:off x="5760246" y="5510469"/>
                <a:ext cx="1628805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 (5, 2)  </a:t>
                </a: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232FC8F0-BA63-4203-9E7D-5CA9360A94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46" y="5510469"/>
                <a:ext cx="1628805" cy="403957"/>
              </a:xfrm>
              <a:prstGeom prst="rect">
                <a:avLst/>
              </a:prstGeom>
              <a:blipFill>
                <a:blip r:embed="rId8"/>
                <a:stretch>
                  <a:fillRect r="-4494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5D0E051-E7D0-4A02-A3D3-6407BA20CC7A}"/>
                  </a:ext>
                </a:extLst>
              </p:cNvPr>
              <p:cNvSpPr/>
              <p:nvPr/>
            </p:nvSpPr>
            <p:spPr>
              <a:xfrm>
                <a:off x="5760247" y="5891343"/>
                <a:ext cx="1861702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 (6, 3)  </a:t>
                </a: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5D0E051-E7D0-4A02-A3D3-6407BA20C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247" y="5891343"/>
                <a:ext cx="1861702" cy="403957"/>
              </a:xfrm>
              <a:prstGeom prst="rect">
                <a:avLst/>
              </a:prstGeom>
              <a:blipFill>
                <a:blip r:embed="rId9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131FA820-CE36-41F3-9AD1-5AC280BCF7E9}"/>
              </a:ext>
            </a:extLst>
          </p:cNvPr>
          <p:cNvSpPr/>
          <p:nvPr/>
        </p:nvSpPr>
        <p:spPr>
          <a:xfrm>
            <a:off x="3894793" y="5299186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76D7CE-99D2-4033-90FE-6294528CF7BE}"/>
              </a:ext>
            </a:extLst>
          </p:cNvPr>
          <p:cNvSpPr/>
          <p:nvPr/>
        </p:nvSpPr>
        <p:spPr>
          <a:xfrm>
            <a:off x="4653312" y="5690508"/>
            <a:ext cx="32252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5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5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68FF8B3-B19F-44B4-ADEB-64445D9BD791}"/>
              </a:ext>
            </a:extLst>
          </p:cNvPr>
          <p:cNvSpPr/>
          <p:nvPr/>
        </p:nvSpPr>
        <p:spPr>
          <a:xfrm>
            <a:off x="4698731" y="5701393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35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B838B27-F624-4441-87CE-D886E971DBA7}"/>
                  </a:ext>
                </a:extLst>
              </p:cNvPr>
              <p:cNvSpPr/>
              <p:nvPr/>
            </p:nvSpPr>
            <p:spPr>
              <a:xfrm>
                <a:off x="3313123" y="6082039"/>
                <a:ext cx="7000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</a:t>
                </a:r>
                <a:endParaRPr lang="zh-TW" altLang="en-US" sz="135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6B838B27-F624-4441-87CE-D886E971D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123" y="6082039"/>
                <a:ext cx="700000" cy="300082"/>
              </a:xfrm>
              <a:prstGeom prst="rect">
                <a:avLst/>
              </a:prstGeom>
              <a:blipFill>
                <a:blip r:embed="rId10"/>
                <a:stretch>
                  <a:fillRect t="-4082" r="-1739" b="-204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77C1FE4-D719-4F30-B6F7-AF61D4511E0E}"/>
                  </a:ext>
                </a:extLst>
              </p:cNvPr>
              <p:cNvSpPr/>
              <p:nvPr/>
            </p:nvSpPr>
            <p:spPr>
              <a:xfrm>
                <a:off x="4127234" y="5705965"/>
                <a:ext cx="74328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 </a:t>
                </a:r>
                <a:endParaRPr lang="zh-TW" altLang="en-US" sz="135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77C1FE4-D719-4F30-B6F7-AF61D4511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234" y="5705965"/>
                <a:ext cx="743280" cy="300082"/>
              </a:xfrm>
              <a:prstGeom prst="rect">
                <a:avLst/>
              </a:prstGeom>
              <a:blipFill>
                <a:blip r:embed="rId11"/>
                <a:stretch>
                  <a:fillRect t="-2041" r="-1639" b="-204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908B4CE-C192-4DD0-9584-63FFF96BF3E3}"/>
                  </a:ext>
                </a:extLst>
              </p:cNvPr>
              <p:cNvSpPr/>
              <p:nvPr/>
            </p:nvSpPr>
            <p:spPr>
              <a:xfrm>
                <a:off x="4908430" y="6086838"/>
                <a:ext cx="7000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 =</a:t>
                </a:r>
                <a:endParaRPr lang="zh-TW" altLang="en-US" sz="135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908B4CE-C192-4DD0-9584-63FFF96BF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430" y="6086838"/>
                <a:ext cx="700000" cy="300082"/>
              </a:xfrm>
              <a:prstGeom prst="rect">
                <a:avLst/>
              </a:prstGeom>
              <a:blipFill>
                <a:blip r:embed="rId12"/>
                <a:stretch>
                  <a:fillRect t="-2000" r="-1739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E97EEEB-997B-4D60-B411-442FEBD4D514}"/>
                  </a:ext>
                </a:extLst>
              </p:cNvPr>
              <p:cNvSpPr/>
              <p:nvPr/>
            </p:nvSpPr>
            <p:spPr>
              <a:xfrm>
                <a:off x="4127696" y="6082039"/>
                <a:ext cx="7000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=</a:t>
                </a:r>
                <a:endParaRPr lang="zh-TW" altLang="en-US" sz="135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E97EEEB-997B-4D60-B411-442FEBD4D5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696" y="6082039"/>
                <a:ext cx="700000" cy="300082"/>
              </a:xfrm>
              <a:prstGeom prst="rect">
                <a:avLst/>
              </a:prstGeom>
              <a:blipFill>
                <a:blip r:embed="rId13"/>
                <a:stretch>
                  <a:fillRect t="-4082" r="-1739" b="-204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38529F6-65C1-446C-B24F-12CE5BA86AB5}"/>
                  </a:ext>
                </a:extLst>
              </p:cNvPr>
              <p:cNvSpPr/>
              <p:nvPr/>
            </p:nvSpPr>
            <p:spPr>
              <a:xfrm>
                <a:off x="3313122" y="5647035"/>
                <a:ext cx="1080062" cy="4039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35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35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 =</a:t>
                </a: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38529F6-65C1-446C-B24F-12CE5BA86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122" y="5647035"/>
                <a:ext cx="1080062" cy="403957"/>
              </a:xfrm>
              <a:prstGeom prst="rect">
                <a:avLst/>
              </a:prstGeom>
              <a:blipFill>
                <a:blip r:embed="rId14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10FE23CF-8B66-4F7C-9BD3-37D6990F34B1}"/>
              </a:ext>
            </a:extLst>
          </p:cNvPr>
          <p:cNvSpPr/>
          <p:nvPr/>
        </p:nvSpPr>
        <p:spPr>
          <a:xfrm>
            <a:off x="3877138" y="5698338"/>
            <a:ext cx="3080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5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35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A3E507F-3ADA-42F6-B5EF-9A11A3C6E188}"/>
              </a:ext>
            </a:extLst>
          </p:cNvPr>
          <p:cNvSpPr/>
          <p:nvPr/>
        </p:nvSpPr>
        <p:spPr>
          <a:xfrm>
            <a:off x="3877138" y="6092993"/>
            <a:ext cx="3080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5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35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1FC484C-6BDD-4DA1-811D-32E8A272E082}"/>
              </a:ext>
            </a:extLst>
          </p:cNvPr>
          <p:cNvSpPr/>
          <p:nvPr/>
        </p:nvSpPr>
        <p:spPr>
          <a:xfrm>
            <a:off x="3894793" y="5713660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F094A5C-4C26-4284-880C-84F56F7790A1}"/>
              </a:ext>
            </a:extLst>
          </p:cNvPr>
          <p:cNvSpPr/>
          <p:nvPr/>
        </p:nvSpPr>
        <p:spPr>
          <a:xfrm>
            <a:off x="3894793" y="6103947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3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B82FE62-0E4B-4EE4-8E53-B5328EF61CED}"/>
              </a:ext>
            </a:extLst>
          </p:cNvPr>
          <p:cNvSpPr/>
          <p:nvPr/>
        </p:nvSpPr>
        <p:spPr>
          <a:xfrm>
            <a:off x="4703380" y="6086838"/>
            <a:ext cx="23468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3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350" dirty="0">
              <a:solidFill>
                <a:srgbClr val="0070C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8455EB-1D98-4668-B1FB-9231D23AD2DB}"/>
              </a:ext>
            </a:extLst>
          </p:cNvPr>
          <p:cNvSpPr/>
          <p:nvPr/>
        </p:nvSpPr>
        <p:spPr>
          <a:xfrm>
            <a:off x="5482029" y="6086838"/>
            <a:ext cx="30809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5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TW" altLang="en-US" sz="135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1759537-92D4-4FC2-8126-F24FD9F2CA8E}"/>
              </a:ext>
            </a:extLst>
          </p:cNvPr>
          <p:cNvSpPr/>
          <p:nvPr/>
        </p:nvSpPr>
        <p:spPr>
          <a:xfrm>
            <a:off x="5491605" y="6082040"/>
            <a:ext cx="18473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TW" altLang="en-US" sz="1500" dirty="0">
              <a:solidFill>
                <a:srgbClr val="0070C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8C56CB8-ECDF-4004-98BC-836098DAB0BF}"/>
              </a:ext>
            </a:extLst>
          </p:cNvPr>
          <p:cNvSpPr/>
          <p:nvPr/>
        </p:nvSpPr>
        <p:spPr>
          <a:xfrm>
            <a:off x="3884242" y="6102887"/>
            <a:ext cx="23468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3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350" dirty="0">
              <a:solidFill>
                <a:srgbClr val="00206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711ABF-3BC6-46DA-80C3-6B035232D85B}"/>
              </a:ext>
            </a:extLst>
          </p:cNvPr>
          <p:cNvSpPr/>
          <p:nvPr/>
        </p:nvSpPr>
        <p:spPr>
          <a:xfrm>
            <a:off x="3222171" y="6034267"/>
            <a:ext cx="2532743" cy="438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35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AD32163-40CF-4723-B620-7467F44ED91F}"/>
              </a:ext>
            </a:extLst>
          </p:cNvPr>
          <p:cNvSpPr/>
          <p:nvPr/>
        </p:nvSpPr>
        <p:spPr>
          <a:xfrm>
            <a:off x="4127234" y="6001476"/>
            <a:ext cx="818432" cy="4384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350" dirty="0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559815AF-6F8F-4E41-BEAD-EA7B235DA5EA}"/>
              </a:ext>
            </a:extLst>
          </p:cNvPr>
          <p:cNvSpPr/>
          <p:nvPr/>
        </p:nvSpPr>
        <p:spPr>
          <a:xfrm>
            <a:off x="5685357" y="5473766"/>
            <a:ext cx="1703694" cy="4384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35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E0F1FF-6B60-409C-A453-4CEB31F86089}"/>
              </a:ext>
            </a:extLst>
          </p:cNvPr>
          <p:cNvSpPr/>
          <p:nvPr/>
        </p:nvSpPr>
        <p:spPr>
          <a:xfrm>
            <a:off x="6383060" y="6329137"/>
            <a:ext cx="132221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LCIS: </a:t>
            </a:r>
            <a:endParaRPr lang="zh-TW" altLang="en-US" sz="1500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41AB19-8508-4E8E-828E-6D2E06807DD5}"/>
              </a:ext>
            </a:extLst>
          </p:cNvPr>
          <p:cNvSpPr/>
          <p:nvPr/>
        </p:nvSpPr>
        <p:spPr>
          <a:xfrm>
            <a:off x="7268048" y="6329137"/>
            <a:ext cx="24200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5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622BAD5-9C4C-48A6-B746-5399E1659745}"/>
              </a:ext>
            </a:extLst>
          </p:cNvPr>
          <p:cNvSpPr/>
          <p:nvPr/>
        </p:nvSpPr>
        <p:spPr>
          <a:xfrm>
            <a:off x="7026042" y="6329137"/>
            <a:ext cx="24200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5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428DBA-63BB-4A51-A19B-5D49C8799177}"/>
              </a:ext>
            </a:extLst>
          </p:cNvPr>
          <p:cNvSpPr/>
          <p:nvPr/>
        </p:nvSpPr>
        <p:spPr>
          <a:xfrm>
            <a:off x="2883751" y="4234525"/>
            <a:ext cx="6132285" cy="2478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226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6" grpId="0"/>
      <p:bldP spid="16" grpId="0"/>
      <p:bldP spid="26" grpId="0" build="allAtOnce"/>
      <p:bldP spid="27" grpId="0" build="allAtOnce"/>
      <p:bldP spid="28" grpId="0" build="allAtOnce"/>
      <p:bldP spid="29" grpId="0" build="allAtOnce"/>
      <p:bldP spid="30" grpId="0" build="allAtOnce"/>
      <p:bldP spid="31" grpId="0" build="allAtOnce"/>
      <p:bldP spid="32" grpId="0"/>
      <p:bldP spid="33" grpId="0"/>
      <p:bldP spid="34" grpId="0"/>
      <p:bldP spid="35" grpId="0"/>
      <p:bldP spid="35" grpId="1"/>
      <p:bldP spid="37" grpId="0"/>
      <p:bldP spid="38" grpId="0"/>
      <p:bldP spid="38" grpId="1"/>
      <p:bldP spid="2" grpId="0"/>
      <p:bldP spid="48" grpId="0"/>
      <p:bldP spid="49" grpId="0"/>
      <p:bldP spid="49" grpId="1"/>
      <p:bldP spid="50" grpId="0"/>
      <p:bldP spid="50" grpId="1"/>
      <p:bldP spid="50" grpId="2"/>
      <p:bldP spid="51" grpId="0"/>
      <p:bldP spid="51" grpId="1"/>
      <p:bldP spid="55" grpId="0"/>
      <p:bldP spid="55" grpId="1"/>
      <p:bldP spid="10" grpId="0" animBg="1"/>
      <p:bldP spid="10" grpId="1" animBg="1"/>
      <p:bldP spid="12" grpId="0" animBg="1"/>
      <p:bldP spid="56" grpId="0" animBg="1"/>
      <p:bldP spid="57" grpId="0"/>
      <p:bldP spid="60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53A40-19EB-4F26-A0A1-C1F41FDC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23028"/>
            <a:ext cx="7886700" cy="1325563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5826655B-1762-46C0-B992-09FD66BF910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428625" y="1550043"/>
                <a:ext cx="7886700" cy="4843500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for 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 = 1 to m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X := -1, p := 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for j = 1 to n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X, p :=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400" i="1" dirty="0"/>
                      <m:t>LIS</m:t>
                    </m:r>
                    <m:r>
                      <m:rPr>
                        <m:nor/>
                      </m:rPr>
                      <a:rPr lang="en-US" altLang="zh-TW" sz="1400" dirty="0"/>
                      <m:t>_</m:t>
                    </m:r>
                    <m:r>
                      <m:rPr>
                        <m:nor/>
                      </m:rPr>
                      <a:rPr lang="en-US" altLang="zh-TW" sz="1400" i="1" dirty="0"/>
                      <m:t>insert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𝑃𝑟𝑒𝑣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else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if((X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≠ 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-1) 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) then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else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    X := -1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X := the largest x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≠ </a:t>
                </a:r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 ≔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400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1400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while(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]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 ≠ 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(-1, -1))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:= 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]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5826655B-1762-46C0-B992-09FD66BF910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1550043"/>
                <a:ext cx="7886700" cy="4843500"/>
              </a:xfrm>
              <a:prstGeom prst="rect">
                <a:avLst/>
              </a:prstGeom>
              <a:blipFill>
                <a:blip r:embed="rId2"/>
                <a:stretch>
                  <a:fillRect l="-464" t="-503" b="-5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57275684-1B0C-416A-BF6F-9D00E8BB3FA6}"/>
              </a:ext>
            </a:extLst>
          </p:cNvPr>
          <p:cNvSpPr/>
          <p:nvPr/>
        </p:nvSpPr>
        <p:spPr>
          <a:xfrm>
            <a:off x="1762343" y="1467193"/>
            <a:ext cx="2366062" cy="397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//outer loop for m</a:t>
            </a:r>
            <a:r>
              <a:rPr lang="zh-TW" altLang="en-US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times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6B4C315-C4CA-4289-B25C-8942F103D2EC}"/>
              </a:ext>
            </a:extLst>
          </p:cNvPr>
          <p:cNvGrpSpPr/>
          <p:nvPr/>
        </p:nvGrpSpPr>
        <p:grpSpPr>
          <a:xfrm>
            <a:off x="2018730" y="1943727"/>
            <a:ext cx="4706490" cy="801120"/>
            <a:chOff x="2279201" y="2393689"/>
            <a:chExt cx="5033132" cy="80112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26271C-6163-41B3-B39F-1219C1CE993C}"/>
                </a:ext>
              </a:extLst>
            </p:cNvPr>
            <p:cNvSpPr/>
            <p:nvPr/>
          </p:nvSpPr>
          <p:spPr>
            <a:xfrm>
              <a:off x="2279201" y="2756227"/>
              <a:ext cx="5033132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//match case: linear search from index p to insert point 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85A21F8-531D-41AB-A836-482080332432}"/>
                </a:ext>
              </a:extLst>
            </p:cNvPr>
            <p:cNvSpPr/>
            <p:nvPr/>
          </p:nvSpPr>
          <p:spPr>
            <a:xfrm>
              <a:off x="5653821" y="2393689"/>
              <a:ext cx="1218111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TW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1 </a:t>
              </a:r>
              <a:r>
                <a:rPr lang="zh-TW" altLang="en-US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≦ </a:t>
              </a:r>
              <a:r>
                <a:rPr lang="en-US" altLang="zh-TW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p </a:t>
              </a:r>
              <a:r>
                <a:rPr lang="zh-TW" altLang="en-US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≦ </a:t>
              </a:r>
              <a:r>
                <a:rPr lang="en-US" altLang="zh-TW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n</a:t>
              </a:r>
              <a:r>
                <a:rPr lang="zh-TW" altLang="en-US" sz="1500" dirty="0">
                  <a:solidFill>
                    <a:srgbClr val="00B050"/>
                  </a:solidFill>
                  <a:latin typeface="Times New Roman" panose="02020603050405020304" pitchFamily="18" charset="0"/>
                </a:rPr>
                <a:t> 　</a:t>
              </a:r>
              <a:endParaRPr lang="en-US" altLang="zh-TW" sz="1500" dirty="0">
                <a:solidFill>
                  <a:srgbClr val="00B05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D11C7B94-0CD2-4FA7-A037-260995DBB248}"/>
              </a:ext>
            </a:extLst>
          </p:cNvPr>
          <p:cNvSpPr/>
          <p:nvPr/>
        </p:nvSpPr>
        <p:spPr>
          <a:xfrm>
            <a:off x="2018729" y="2945816"/>
            <a:ext cx="4706491" cy="397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//mismatch case: 1</a:t>
            </a:r>
            <a:r>
              <a:rPr lang="zh-TW" altLang="en-US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1500" dirty="0">
                <a:solidFill>
                  <a:srgbClr val="00B050"/>
                </a:solidFill>
                <a:latin typeface="Times New Roman" panose="02020603050405020304" pitchFamily="18" charset="0"/>
              </a:rPr>
              <a:t>step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A9C1F06-4672-4F74-8BA4-047398A94FB5}"/>
                  </a:ext>
                </a:extLst>
              </p:cNvPr>
              <p:cNvSpPr/>
              <p:nvPr/>
            </p:nvSpPr>
            <p:spPr>
              <a:xfrm>
                <a:off x="4617071" y="5569680"/>
                <a:ext cx="3392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mn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A9C1F06-4672-4F74-8BA4-047398A94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071" y="5569680"/>
                <a:ext cx="3392660" cy="461665"/>
              </a:xfrm>
              <a:prstGeom prst="rect">
                <a:avLst/>
              </a:prstGeom>
              <a:blipFill>
                <a:blip r:embed="rId3"/>
                <a:stretch>
                  <a:fillRect l="-2693" t="-12000" r="-718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48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553A40-19EB-4F26-A0A1-C1F41FDC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23028"/>
            <a:ext cx="7886700" cy="1325563"/>
          </a:xfr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5826655B-1762-46C0-B992-09FD66BF910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428625" y="1545104"/>
                <a:ext cx="7886700" cy="4906495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for 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 = 1 to m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X := -1, p := 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for j = 1 to n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if(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X, p :=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400" i="1" dirty="0"/>
                      <m:t>LIS</m:t>
                    </m:r>
                    <m:r>
                      <m:rPr>
                        <m:nor/>
                      </m:rPr>
                      <a:rPr lang="en-US" altLang="zh-TW" sz="1400" dirty="0"/>
                      <m:t>_</m:t>
                    </m:r>
                    <m:r>
                      <m:rPr>
                        <m:nor/>
                      </m:rPr>
                      <a:rPr lang="en-US" altLang="zh-TW" sz="1400" i="1" dirty="0"/>
                      <m:t>insert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𝑃𝑟𝑒𝑣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else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if((X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≠ 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-1) 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40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sz="14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) then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TW" sz="140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else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            X := -1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X := the largest x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≠ </a:t>
                </a:r>
                <a:r>
                  <a: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∞</a:t>
                </a:r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 ≔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1400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𝑖𝑛𝑑𝑒𝑥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TW" sz="1400" dirty="0">
                  <a:latin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while(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]</a:t>
                </a:r>
                <a:r>
                  <a:rPr lang="zh-TW" altLang="en-US" sz="1400" dirty="0">
                    <a:latin typeface="Cambria Math" panose="02040503050406030204" pitchFamily="18" charset="0"/>
                  </a:rPr>
                  <a:t> ≠ 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(-1, -1)) do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 := </a:t>
                </a:r>
                <a:r>
                  <a:rPr lang="en-US" altLang="zh-TW" sz="1400" dirty="0" err="1">
                    <a:latin typeface="Cambria Math" panose="02040503050406030204" pitchFamily="18" charset="0"/>
                  </a:rPr>
                  <a:t>Prev</a:t>
                </a:r>
                <a:r>
                  <a:rPr lang="en-US" altLang="zh-TW" sz="1400" dirty="0"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zh-TW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400" dirty="0">
                    <a:latin typeface="Cambria Math" panose="02040503050406030204" pitchFamily="18" charset="0"/>
                  </a:rPr>
                  <a:t>]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450"/>
                  </a:spcBef>
                  <a:buNone/>
                </a:pPr>
                <a:r>
                  <a:rPr lang="en-US" altLang="zh-TW" sz="1400" dirty="0">
                    <a:latin typeface="Cambria Math" panose="02040503050406030204" pitchFamily="18" charset="0"/>
                  </a:rPr>
                  <a:t>    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內容版面配置區 2">
                <a:extLst>
                  <a:ext uri="{FF2B5EF4-FFF2-40B4-BE49-F238E27FC236}">
                    <a16:creationId xmlns:a16="http://schemas.microsoft.com/office/drawing/2014/main" id="{5826655B-1762-46C0-B992-09FD66BF910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1545104"/>
                <a:ext cx="7886700" cy="4906495"/>
              </a:xfrm>
              <a:prstGeom prst="rect">
                <a:avLst/>
              </a:prstGeom>
              <a:blipFill>
                <a:blip r:embed="rId2"/>
                <a:stretch>
                  <a:fillRect l="-464" t="-4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A9C1F06-4672-4F74-8BA4-047398A94FB5}"/>
                  </a:ext>
                </a:extLst>
              </p:cNvPr>
              <p:cNvSpPr/>
              <p:nvPr/>
            </p:nvSpPr>
            <p:spPr>
              <a:xfrm>
                <a:off x="4617071" y="5569680"/>
                <a:ext cx="34900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mn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A9C1F06-4672-4F74-8BA4-047398A94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071" y="5569680"/>
                <a:ext cx="3490058" cy="461665"/>
              </a:xfrm>
              <a:prstGeom prst="rect">
                <a:avLst/>
              </a:prstGeom>
              <a:blipFill>
                <a:blip r:embed="rId3"/>
                <a:stretch>
                  <a:fillRect l="-2618" t="-12000" r="-698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73846679-539F-4F6B-B37A-9481ECF26A1F}"/>
              </a:ext>
            </a:extLst>
          </p:cNvPr>
          <p:cNvGrpSpPr/>
          <p:nvPr/>
        </p:nvGrpSpPr>
        <p:grpSpPr>
          <a:xfrm>
            <a:off x="5131635" y="1530591"/>
            <a:ext cx="2460930" cy="1661180"/>
            <a:chOff x="4207183" y="1530591"/>
            <a:chExt cx="2460930" cy="166118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9E9A39F-AFA6-4FA8-86FA-922AF137DB69}"/>
                </a:ext>
              </a:extLst>
            </p:cNvPr>
            <p:cNvSpPr/>
            <p:nvPr/>
          </p:nvSpPr>
          <p:spPr>
            <a:xfrm>
              <a:off x="4207183" y="2545440"/>
              <a:ext cx="246093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Prev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j]:  </a:t>
              </a:r>
            </a:p>
            <a:p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for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≦</a:t>
              </a:r>
              <a:r>
                <a:rPr lang="en-US" altLang="zh-TW" dirty="0" err="1">
                  <a:solidFill>
                    <a:srgbClr val="7030A0"/>
                  </a:solidFill>
                  <a:latin typeface="Times New Roman" panose="02020603050405020304" pitchFamily="18" charset="0"/>
                </a:rPr>
                <a:t>i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≦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m , 1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≦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j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≦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n)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TW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83336A9-B741-490E-BDD7-59347F8542F5}"/>
                </a:ext>
              </a:extLst>
            </p:cNvPr>
            <p:cNvSpPr/>
            <p:nvPr/>
          </p:nvSpPr>
          <p:spPr>
            <a:xfrm>
              <a:off x="4207183" y="1530591"/>
              <a:ext cx="4475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L: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TW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490BB0E-994F-4AAC-A49F-18AF2775C0AD}"/>
                </a:ext>
              </a:extLst>
            </p:cNvPr>
            <p:cNvSpPr/>
            <p:nvPr/>
          </p:nvSpPr>
          <p:spPr>
            <a:xfrm>
              <a:off x="5537854" y="2545440"/>
              <a:ext cx="8002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O(</a:t>
              </a:r>
              <a:r>
                <a:rPr lang="en-US" altLang="zh-TW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mn</a:t>
              </a:r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BC70EA1-E4A8-48E1-844A-BF7D5FA79A90}"/>
                </a:ext>
              </a:extLst>
            </p:cNvPr>
            <p:cNvSpPr/>
            <p:nvPr/>
          </p:nvSpPr>
          <p:spPr>
            <a:xfrm>
              <a:off x="4207183" y="2038015"/>
              <a:ext cx="10759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L_index</a:t>
              </a:r>
              <a:r>
                <a:rPr lang="en-US" altLang="zh-TW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TW" altLang="en-US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TW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C66B350-AECA-4031-8415-E234CA9A3DB4}"/>
                </a:ext>
              </a:extLst>
            </p:cNvPr>
            <p:cNvSpPr/>
            <p:nvPr/>
          </p:nvSpPr>
          <p:spPr>
            <a:xfrm>
              <a:off x="5537854" y="2006717"/>
              <a:ext cx="6206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O(n)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D98AE29-913B-4AD0-8666-BBD4E88B23FD}"/>
                </a:ext>
              </a:extLst>
            </p:cNvPr>
            <p:cNvSpPr/>
            <p:nvPr/>
          </p:nvSpPr>
          <p:spPr>
            <a:xfrm>
              <a:off x="5537854" y="1530591"/>
              <a:ext cx="6206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O(n)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026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8716</TotalTime>
  <Words>1364</Words>
  <Application>Microsoft Office PowerPoint</Application>
  <PresentationFormat>如螢幕大小 (4:3)</PresentationFormat>
  <Paragraphs>208</Paragraphs>
  <Slides>9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 fast algorithm for computing a longest common increasing subsequence</vt:lpstr>
      <vt:lpstr>Abstract</vt:lpstr>
      <vt:lpstr>PowerPoint 簡報</vt:lpstr>
      <vt:lpstr>A straightforward algorithm to find LCIS</vt:lpstr>
      <vt:lpstr>PowerPoint 簡報</vt:lpstr>
      <vt:lpstr>PowerPoint 簡報</vt:lpstr>
      <vt:lpstr>PowerPoint 簡報</vt:lpstr>
      <vt:lpstr>Time Complexity</vt:lpstr>
      <vt:lpstr>Space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GaryC</cp:lastModifiedBy>
  <cp:revision>82</cp:revision>
  <dcterms:created xsi:type="dcterms:W3CDTF">2017-09-25T08:45:50Z</dcterms:created>
  <dcterms:modified xsi:type="dcterms:W3CDTF">2017-10-24T09:41:57Z</dcterms:modified>
</cp:coreProperties>
</file>