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63" r:id="rId4"/>
    <p:sldId id="265" r:id="rId5"/>
    <p:sldId id="259" r:id="rId6"/>
    <p:sldId id="273" r:id="rId7"/>
    <p:sldId id="272" r:id="rId8"/>
    <p:sldId id="261" r:id="rId9"/>
    <p:sldId id="262" r:id="rId10"/>
    <p:sldId id="268" r:id="rId11"/>
    <p:sldId id="269" r:id="rId12"/>
    <p:sldId id="266" r:id="rId13"/>
    <p:sldId id="267"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9" autoAdjust="0"/>
    <p:restoredTop sz="94660"/>
  </p:normalViewPr>
  <p:slideViewPr>
    <p:cSldViewPr snapToGrid="0">
      <p:cViewPr varScale="1">
        <p:scale>
          <a:sx n="79" d="100"/>
          <a:sy n="79" d="100"/>
        </p:scale>
        <p:origin x="38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2017/10/24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xmlns=""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xmlns="" id="{50E00B3F-FCF3-43A8-BA3C-83E3D27FDB5E}"/>
              </a:ext>
            </a:extLst>
          </p:cNvPr>
          <p:cNvSpPr>
            <a:spLocks noGrp="1"/>
          </p:cNvSpPr>
          <p:nvPr>
            <p:ph type="dt" sz="half" idx="10"/>
          </p:nvPr>
        </p:nvSpPr>
        <p:spPr/>
        <p:txBody>
          <a:bodyPr/>
          <a:lstStyle/>
          <a:p>
            <a:fld id="{4B163CDD-1571-4D07-AD50-27DEDA2DAB08}" type="datetime1">
              <a:rPr lang="zh-TW" altLang="en-US" smtClean="0"/>
              <a:t>2017/10/24</a:t>
            </a:fld>
            <a:endParaRPr lang="zh-TW" altLang="en-US"/>
          </a:p>
        </p:txBody>
      </p:sp>
      <p:sp>
        <p:nvSpPr>
          <p:cNvPr id="5" name="頁尾版面配置區 4">
            <a:extLst>
              <a:ext uri="{FF2B5EF4-FFF2-40B4-BE49-F238E27FC236}">
                <a16:creationId xmlns:a16="http://schemas.microsoft.com/office/drawing/2014/main" xmlns=""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xmlns=""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xmlns="" id="{84D63DA6-083D-4C87-B46F-4639F5BADD1D}"/>
              </a:ext>
            </a:extLst>
          </p:cNvPr>
          <p:cNvSpPr>
            <a:spLocks noGrp="1"/>
          </p:cNvSpPr>
          <p:nvPr>
            <p:ph type="dt" sz="half" idx="10"/>
          </p:nvPr>
        </p:nvSpPr>
        <p:spPr/>
        <p:txBody>
          <a:bodyPr/>
          <a:lstStyle/>
          <a:p>
            <a:fld id="{45E90CF3-7BCB-4E41-A4BC-7F7C7D47433D}" type="datetime1">
              <a:rPr lang="zh-TW" altLang="en-US" smtClean="0"/>
              <a:t>2017/10/24</a:t>
            </a:fld>
            <a:endParaRPr lang="zh-TW" altLang="en-US"/>
          </a:p>
        </p:txBody>
      </p:sp>
      <p:sp>
        <p:nvSpPr>
          <p:cNvPr id="5" name="頁尾版面配置區 4">
            <a:extLst>
              <a:ext uri="{FF2B5EF4-FFF2-40B4-BE49-F238E27FC236}">
                <a16:creationId xmlns:a16="http://schemas.microsoft.com/office/drawing/2014/main" xmlns=""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F67C9000-9E5A-4894-8CE5-D814ED1F8837}"/>
              </a:ext>
            </a:extLst>
          </p:cNvPr>
          <p:cNvSpPr>
            <a:spLocks noGrp="1"/>
          </p:cNvSpPr>
          <p:nvPr>
            <p:ph type="dt" sz="half" idx="10"/>
          </p:nvPr>
        </p:nvSpPr>
        <p:spPr/>
        <p:txBody>
          <a:bodyPr/>
          <a:lstStyle/>
          <a:p>
            <a:fld id="{939863AD-E347-426A-B227-78A9B42781C3}" type="datetime1">
              <a:rPr lang="zh-TW" altLang="en-US" smtClean="0"/>
              <a:t>2017/10/24</a:t>
            </a:fld>
            <a:endParaRPr lang="zh-TW" altLang="en-US"/>
          </a:p>
        </p:txBody>
      </p:sp>
      <p:sp>
        <p:nvSpPr>
          <p:cNvPr id="5" name="頁尾版面配置區 4">
            <a:extLst>
              <a:ext uri="{FF2B5EF4-FFF2-40B4-BE49-F238E27FC236}">
                <a16:creationId xmlns:a16="http://schemas.microsoft.com/office/drawing/2014/main" xmlns=""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19E55BE4-DE58-4CB4-A138-82C7FA95E005}"/>
              </a:ext>
            </a:extLst>
          </p:cNvPr>
          <p:cNvSpPr>
            <a:spLocks noGrp="1"/>
          </p:cNvSpPr>
          <p:nvPr>
            <p:ph type="dt" sz="half" idx="10"/>
          </p:nvPr>
        </p:nvSpPr>
        <p:spPr/>
        <p:txBody>
          <a:bodyPr/>
          <a:lstStyle/>
          <a:p>
            <a:fld id="{98EE8F46-57F3-4B32-B3C0-034060244659}" type="datetime1">
              <a:rPr lang="zh-TW" altLang="en-US" smtClean="0"/>
              <a:t>2017/10/24</a:t>
            </a:fld>
            <a:endParaRPr lang="zh-TW" altLang="en-US"/>
          </a:p>
        </p:txBody>
      </p:sp>
      <p:sp>
        <p:nvSpPr>
          <p:cNvPr id="6" name="頁尾版面配置區 5">
            <a:extLst>
              <a:ext uri="{FF2B5EF4-FFF2-40B4-BE49-F238E27FC236}">
                <a16:creationId xmlns:a16="http://schemas.microsoft.com/office/drawing/2014/main" xmlns=""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81164490-F37E-4BF2-B792-E41261B07B22}"/>
              </a:ext>
            </a:extLst>
          </p:cNvPr>
          <p:cNvSpPr>
            <a:spLocks noGrp="1"/>
          </p:cNvSpPr>
          <p:nvPr>
            <p:ph type="dt" sz="half" idx="10"/>
          </p:nvPr>
        </p:nvSpPr>
        <p:spPr/>
        <p:txBody>
          <a:bodyPr/>
          <a:lstStyle/>
          <a:p>
            <a:fld id="{25BE6354-929A-48E4-A569-5065F8787DBB}" type="datetime1">
              <a:rPr lang="zh-TW" altLang="en-US" smtClean="0"/>
              <a:t>2017/10/24</a:t>
            </a:fld>
            <a:endParaRPr lang="zh-TW" altLang="en-US"/>
          </a:p>
        </p:txBody>
      </p:sp>
      <p:sp>
        <p:nvSpPr>
          <p:cNvPr id="8" name="頁尾版面配置區 7">
            <a:extLst>
              <a:ext uri="{FF2B5EF4-FFF2-40B4-BE49-F238E27FC236}">
                <a16:creationId xmlns:a16="http://schemas.microsoft.com/office/drawing/2014/main" xmlns=""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A067B964-A9EE-448C-A903-DF032F75B54E}"/>
              </a:ext>
            </a:extLst>
          </p:cNvPr>
          <p:cNvSpPr>
            <a:spLocks noGrp="1"/>
          </p:cNvSpPr>
          <p:nvPr>
            <p:ph type="dt" sz="half" idx="10"/>
          </p:nvPr>
        </p:nvSpPr>
        <p:spPr/>
        <p:txBody>
          <a:bodyPr/>
          <a:lstStyle/>
          <a:p>
            <a:fld id="{9347B07A-C303-4A11-829E-75A08D84F791}" type="datetime1">
              <a:rPr lang="zh-TW" altLang="en-US" smtClean="0"/>
              <a:t>2017/10/24</a:t>
            </a:fld>
            <a:endParaRPr lang="zh-TW" altLang="en-US"/>
          </a:p>
        </p:txBody>
      </p:sp>
      <p:sp>
        <p:nvSpPr>
          <p:cNvPr id="4" name="頁尾版面配置區 3">
            <a:extLst>
              <a:ext uri="{FF2B5EF4-FFF2-40B4-BE49-F238E27FC236}">
                <a16:creationId xmlns:a16="http://schemas.microsoft.com/office/drawing/2014/main" xmlns=""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5DC494-3175-4D2C-8019-6DC804B304DE}"/>
              </a:ext>
            </a:extLst>
          </p:cNvPr>
          <p:cNvSpPr>
            <a:spLocks noGrp="1"/>
          </p:cNvSpPr>
          <p:nvPr>
            <p:ph type="dt" sz="half" idx="10"/>
          </p:nvPr>
        </p:nvSpPr>
        <p:spPr/>
        <p:txBody>
          <a:bodyPr/>
          <a:lstStyle/>
          <a:p>
            <a:fld id="{818C0FAA-EAB9-46FF-9B2E-6C03EFE0E627}" type="datetime1">
              <a:rPr lang="zh-TW" altLang="en-US" smtClean="0"/>
              <a:t>2017/10/24</a:t>
            </a:fld>
            <a:endParaRPr lang="zh-TW" altLang="en-US"/>
          </a:p>
        </p:txBody>
      </p:sp>
      <p:sp>
        <p:nvSpPr>
          <p:cNvPr id="3" name="頁尾版面配置區 2">
            <a:extLst>
              <a:ext uri="{FF2B5EF4-FFF2-40B4-BE49-F238E27FC236}">
                <a16:creationId xmlns:a16="http://schemas.microsoft.com/office/drawing/2014/main" xmlns=""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E19407D-C528-4858-9191-402D0B2E4E7A}"/>
              </a:ext>
            </a:extLst>
          </p:cNvPr>
          <p:cNvSpPr>
            <a:spLocks noGrp="1"/>
          </p:cNvSpPr>
          <p:nvPr>
            <p:ph type="dt" sz="half" idx="10"/>
          </p:nvPr>
        </p:nvSpPr>
        <p:spPr/>
        <p:txBody>
          <a:bodyPr/>
          <a:lstStyle/>
          <a:p>
            <a:fld id="{6F615960-3F62-4BA7-8DEF-58213E9FC750}" type="datetime1">
              <a:rPr lang="zh-TW" altLang="en-US" smtClean="0"/>
              <a:t>2017/10/24</a:t>
            </a:fld>
            <a:endParaRPr lang="zh-TW" altLang="en-US"/>
          </a:p>
        </p:txBody>
      </p:sp>
      <p:sp>
        <p:nvSpPr>
          <p:cNvPr id="6" name="頁尾版面配置區 5">
            <a:extLst>
              <a:ext uri="{FF2B5EF4-FFF2-40B4-BE49-F238E27FC236}">
                <a16:creationId xmlns:a16="http://schemas.microsoft.com/office/drawing/2014/main" xmlns=""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xmlns=""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93917929-FFD5-45C6-AB7C-0A03F71D13FE}"/>
              </a:ext>
            </a:extLst>
          </p:cNvPr>
          <p:cNvSpPr>
            <a:spLocks noGrp="1"/>
          </p:cNvSpPr>
          <p:nvPr>
            <p:ph type="dt" sz="half" idx="10"/>
          </p:nvPr>
        </p:nvSpPr>
        <p:spPr/>
        <p:txBody>
          <a:bodyPr/>
          <a:lstStyle/>
          <a:p>
            <a:fld id="{BA495139-73A5-4D37-9F65-42DD6EFCB362}" type="datetime1">
              <a:rPr lang="zh-TW" altLang="en-US" smtClean="0"/>
              <a:t>2017/10/24</a:t>
            </a:fld>
            <a:endParaRPr lang="zh-TW" altLang="en-US"/>
          </a:p>
        </p:txBody>
      </p:sp>
      <p:sp>
        <p:nvSpPr>
          <p:cNvPr id="6" name="頁尾版面配置區 5">
            <a:extLst>
              <a:ext uri="{FF2B5EF4-FFF2-40B4-BE49-F238E27FC236}">
                <a16:creationId xmlns:a16="http://schemas.microsoft.com/office/drawing/2014/main" xmlns=""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CEF64FCF-DA26-41B4-8919-89C752F28E4F}"/>
              </a:ext>
            </a:extLst>
          </p:cNvPr>
          <p:cNvSpPr>
            <a:spLocks noGrp="1"/>
          </p:cNvSpPr>
          <p:nvPr>
            <p:ph type="dt" sz="half" idx="10"/>
          </p:nvPr>
        </p:nvSpPr>
        <p:spPr/>
        <p:txBody>
          <a:bodyPr/>
          <a:lstStyle/>
          <a:p>
            <a:fld id="{F65DB9CA-F34A-4005-B66B-4638821FBB36}" type="datetime1">
              <a:rPr lang="zh-TW" altLang="en-US" smtClean="0"/>
              <a:t>2017/10/24</a:t>
            </a:fld>
            <a:endParaRPr lang="zh-TW" altLang="en-US"/>
          </a:p>
        </p:txBody>
      </p:sp>
      <p:sp>
        <p:nvSpPr>
          <p:cNvPr id="5" name="頁尾版面配置區 4">
            <a:extLst>
              <a:ext uri="{FF2B5EF4-FFF2-40B4-BE49-F238E27FC236}">
                <a16:creationId xmlns:a16="http://schemas.microsoft.com/office/drawing/2014/main" xmlns=""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253E183-339D-4996-9336-DF360AFA83CE}"/>
              </a:ext>
            </a:extLst>
          </p:cNvPr>
          <p:cNvSpPr>
            <a:spLocks noGrp="1"/>
          </p:cNvSpPr>
          <p:nvPr>
            <p:ph type="dt" sz="half" idx="10"/>
          </p:nvPr>
        </p:nvSpPr>
        <p:spPr/>
        <p:txBody>
          <a:bodyPr/>
          <a:lstStyle/>
          <a:p>
            <a:fld id="{9112FA3D-57A8-4A36-8AB7-98D4B7F81A6B}" type="datetime1">
              <a:rPr lang="zh-TW" altLang="en-US" smtClean="0"/>
              <a:t>2017/10/24</a:t>
            </a:fld>
            <a:endParaRPr lang="zh-TW" altLang="en-US"/>
          </a:p>
        </p:txBody>
      </p:sp>
      <p:sp>
        <p:nvSpPr>
          <p:cNvPr id="5" name="頁尾版面配置區 4">
            <a:extLst>
              <a:ext uri="{FF2B5EF4-FFF2-40B4-BE49-F238E27FC236}">
                <a16:creationId xmlns:a16="http://schemas.microsoft.com/office/drawing/2014/main" xmlns=""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2017/10/24</a:t>
            </a:fld>
            <a:endParaRPr lang="zh-TW" altLang="en-US"/>
          </a:p>
        </p:txBody>
      </p:sp>
      <p:sp>
        <p:nvSpPr>
          <p:cNvPr id="5" name="頁尾版面配置區 4">
            <a:extLst>
              <a:ext uri="{FF2B5EF4-FFF2-40B4-BE49-F238E27FC236}">
                <a16:creationId xmlns:a16="http://schemas.microsoft.com/office/drawing/2014/main" xmlns=""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5600E22-8B2D-44A2-B529-2D5C521DF6EC}"/>
              </a:ext>
            </a:extLst>
          </p:cNvPr>
          <p:cNvSpPr>
            <a:spLocks noGrp="1"/>
          </p:cNvSpPr>
          <p:nvPr>
            <p:ph type="ctrTitle"/>
          </p:nvPr>
        </p:nvSpPr>
        <p:spPr>
          <a:xfrm>
            <a:off x="1524000" y="601086"/>
            <a:ext cx="9144000" cy="1786671"/>
          </a:xfrm>
        </p:spPr>
        <p:txBody>
          <a:bodyPr>
            <a:normAutofit/>
          </a:bodyPr>
          <a:lstStyle/>
          <a:p>
            <a:r>
              <a:rPr lang="en-US" altLang="zh-TW" sz="4800" dirty="0">
                <a:latin typeface="Tw Cen MT" panose="020B0602020104020603" pitchFamily="34" charset="0"/>
                <a:ea typeface="Cambria Math" panose="02040503050406030204" pitchFamily="18" charset="0"/>
                <a:cs typeface="Times New Roman" panose="02020603050405020304" pitchFamily="18" charset="0"/>
              </a:rPr>
              <a:t>Time series for blind </a:t>
            </a:r>
            <a:r>
              <a:rPr lang="en-US" altLang="zh-TW" sz="4800" dirty="0" err="1">
                <a:latin typeface="Tw Cen MT" panose="020B0602020104020603" pitchFamily="34" charset="0"/>
                <a:ea typeface="Cambria Math" panose="02040503050406030204" pitchFamily="18" charset="0"/>
                <a:cs typeface="Times New Roman" panose="02020603050405020304" pitchFamily="18" charset="0"/>
              </a:rPr>
              <a:t>biosignal</a:t>
            </a:r>
            <a:r>
              <a:rPr lang="en-US" altLang="zh-TW" sz="4800" dirty="0">
                <a:latin typeface="Tw Cen MT" panose="020B0602020104020603" pitchFamily="34" charset="0"/>
                <a:ea typeface="Cambria Math" panose="02040503050406030204" pitchFamily="18" charset="0"/>
                <a:cs typeface="Times New Roman" panose="02020603050405020304" pitchFamily="18" charset="0"/>
              </a:rPr>
              <a:t> classification model</a:t>
            </a:r>
            <a:endParaRPr lang="zh-TW" altLang="en-US" sz="48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xmlns="" id="{E1F7DB53-5192-4070-9ADE-B5C85E35C2CC}"/>
              </a:ext>
            </a:extLst>
          </p:cNvPr>
          <p:cNvSpPr>
            <a:spLocks noGrp="1"/>
          </p:cNvSpPr>
          <p:nvPr>
            <p:ph type="subTitle" idx="1"/>
          </p:nvPr>
        </p:nvSpPr>
        <p:spPr>
          <a:xfrm>
            <a:off x="1192823" y="2685294"/>
            <a:ext cx="9668958" cy="773417"/>
          </a:xfrm>
        </p:spPr>
        <p:txBody>
          <a:bodyPr>
            <a:noAutofit/>
          </a:bodyPr>
          <a:lstStyle/>
          <a:p>
            <a:r>
              <a:rPr lang="en-US" altLang="zh-TW" sz="2600" dirty="0"/>
              <a:t>Derek F.</a:t>
            </a:r>
            <a:r>
              <a:rPr lang="zh-TW" altLang="en-US" sz="2600" dirty="0"/>
              <a:t> </a:t>
            </a:r>
            <a:r>
              <a:rPr lang="en-US" altLang="zh-TW" sz="2600" dirty="0"/>
              <a:t>Wong(</a:t>
            </a:r>
            <a:r>
              <a:rPr lang="zh-TW" altLang="en-US" sz="2200" dirty="0"/>
              <a:t>黃輝</a:t>
            </a:r>
            <a:r>
              <a:rPr lang="en-US" altLang="zh-TW" sz="2600" dirty="0"/>
              <a:t>),</a:t>
            </a:r>
            <a:r>
              <a:rPr lang="zh-TW" altLang="en-US" sz="2600" dirty="0"/>
              <a:t> </a:t>
            </a:r>
            <a:r>
              <a:rPr lang="en-US" altLang="zh-TW" sz="2600" dirty="0"/>
              <a:t>Lidia S.</a:t>
            </a:r>
            <a:r>
              <a:rPr lang="zh-TW" altLang="en-US" sz="2600" dirty="0"/>
              <a:t> </a:t>
            </a:r>
            <a:r>
              <a:rPr lang="en-US" altLang="zh-TW" sz="2600" dirty="0"/>
              <a:t>Chao(</a:t>
            </a:r>
            <a:r>
              <a:rPr lang="zh-TW" altLang="en-US" sz="2200" dirty="0"/>
              <a:t>周沁</a:t>
            </a:r>
            <a:r>
              <a:rPr lang="en-US" altLang="zh-TW" sz="2600" dirty="0"/>
              <a:t>), </a:t>
            </a:r>
            <a:r>
              <a:rPr lang="en-US" altLang="zh-TW" sz="2600" dirty="0" err="1"/>
              <a:t>Xiaodong</a:t>
            </a:r>
            <a:r>
              <a:rPr lang="zh-TW" altLang="en-US" sz="2600" dirty="0"/>
              <a:t> </a:t>
            </a:r>
            <a:r>
              <a:rPr lang="en-US" altLang="zh-TW" sz="2600" dirty="0"/>
              <a:t>Zeng(</a:t>
            </a:r>
            <a:r>
              <a:rPr lang="zh-TW" altLang="en-US" sz="2200" dirty="0"/>
              <a:t>鄭曉東</a:t>
            </a:r>
            <a:r>
              <a:rPr lang="en-US" altLang="zh-TW" sz="2600" dirty="0"/>
              <a:t>),</a:t>
            </a:r>
            <a:r>
              <a:rPr lang="zh-TW" altLang="en-US" sz="2600" dirty="0"/>
              <a:t> </a:t>
            </a:r>
            <a:r>
              <a:rPr lang="en-US" altLang="zh-TW" sz="2600" dirty="0" err="1"/>
              <a:t>Mang</a:t>
            </a:r>
            <a:r>
              <a:rPr lang="en-US" altLang="zh-TW" sz="2600" dirty="0"/>
              <a:t>-I</a:t>
            </a:r>
            <a:r>
              <a:rPr lang="zh-TW" altLang="en-US" sz="2600" dirty="0"/>
              <a:t> </a:t>
            </a:r>
            <a:r>
              <a:rPr lang="en-US" altLang="zh-TW" sz="2600" dirty="0" err="1"/>
              <a:t>Vai</a:t>
            </a:r>
            <a:r>
              <a:rPr lang="en-US" altLang="zh-TW" sz="2600" dirty="0"/>
              <a:t>(</a:t>
            </a:r>
            <a:r>
              <a:rPr lang="zh-TW" altLang="en-US" sz="2200" dirty="0"/>
              <a:t>韋孟宇</a:t>
            </a:r>
            <a:r>
              <a:rPr lang="en-US" altLang="zh-TW" sz="2600" dirty="0"/>
              <a:t>),</a:t>
            </a:r>
            <a:r>
              <a:rPr lang="zh-TW" altLang="en-US" sz="2600" dirty="0"/>
              <a:t> </a:t>
            </a:r>
            <a:r>
              <a:rPr lang="en-US" altLang="zh-TW" sz="2600" dirty="0" err="1"/>
              <a:t>Heng</a:t>
            </a:r>
            <a:r>
              <a:rPr lang="en-US" altLang="zh-TW" sz="2600" dirty="0"/>
              <a:t>-Leong</a:t>
            </a:r>
            <a:r>
              <a:rPr lang="zh-TW" altLang="en-US" sz="2600" dirty="0"/>
              <a:t> </a:t>
            </a:r>
            <a:r>
              <a:rPr lang="en-US" altLang="zh-TW" sz="2600" dirty="0"/>
              <a:t>Lam(</a:t>
            </a:r>
            <a:r>
              <a:rPr lang="zh-TW" altLang="en-US" sz="2200" dirty="0"/>
              <a:t>林慶亮</a:t>
            </a:r>
            <a:r>
              <a:rPr lang="en-US" altLang="zh-TW" sz="2600" dirty="0"/>
              <a:t>) </a:t>
            </a:r>
            <a:endParaRPr lang="zh-TW" altLang="en-US" sz="2600" dirty="0"/>
          </a:p>
        </p:txBody>
      </p:sp>
      <p:sp>
        <p:nvSpPr>
          <p:cNvPr id="4" name="投影片編號版面配置區 3">
            <a:extLst>
              <a:ext uri="{FF2B5EF4-FFF2-40B4-BE49-F238E27FC236}">
                <a16:creationId xmlns:a16="http://schemas.microsoft.com/office/drawing/2014/main" xmlns=""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xmlns="" id="{CC60B4B8-BDE3-427A-B56B-7314F1C4CCA4}"/>
              </a:ext>
            </a:extLst>
          </p:cNvPr>
          <p:cNvSpPr txBox="1">
            <a:spLocks/>
          </p:cNvSpPr>
          <p:nvPr/>
        </p:nvSpPr>
        <p:spPr>
          <a:xfrm>
            <a:off x="1192823" y="3756249"/>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600" dirty="0">
                <a:solidFill>
                  <a:schemeClr val="tx1"/>
                </a:solidFill>
              </a:rPr>
              <a:t>Computers in Biology and Medicine</a:t>
            </a:r>
          </a:p>
          <a:p>
            <a:r>
              <a:rPr lang="en-US" altLang="zh-TW" sz="2600" dirty="0">
                <a:solidFill>
                  <a:schemeClr val="tx1"/>
                </a:solidFill>
              </a:rPr>
              <a:t>Volume 54, Nov, 2014, Pages 32-36</a:t>
            </a:r>
            <a:endParaRPr lang="zh-TW" altLang="en-US" sz="2600" dirty="0">
              <a:solidFill>
                <a:schemeClr val="tx1"/>
              </a:solidFill>
            </a:endParaRPr>
          </a:p>
        </p:txBody>
      </p:sp>
      <p:sp>
        <p:nvSpPr>
          <p:cNvPr id="6" name="副標題 2">
            <a:extLst>
              <a:ext uri="{FF2B5EF4-FFF2-40B4-BE49-F238E27FC236}">
                <a16:creationId xmlns:a16="http://schemas.microsoft.com/office/drawing/2014/main" xmlns=""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Presenter: Shan-Ru Liu</a:t>
            </a:r>
          </a:p>
          <a:p>
            <a:r>
              <a:rPr lang="en-US" altLang="zh-TW" dirty="0">
                <a:solidFill>
                  <a:schemeClr val="tx1"/>
                </a:solidFill>
              </a:rPr>
              <a:t>Date</a:t>
            </a:r>
            <a:r>
              <a:rPr lang="en-US" altLang="zh-TW">
                <a:solidFill>
                  <a:schemeClr val="tx1"/>
                </a:solidFill>
              </a:rPr>
              <a:t>: 2017/10/24</a:t>
            </a:r>
            <a:endParaRPr lang="zh-TW" altLang="en-US" dirty="0">
              <a:solidFill>
                <a:schemeClr val="tx1"/>
              </a:solidFill>
            </a:endParaRPr>
          </a:p>
        </p:txBody>
      </p:sp>
    </p:spTree>
    <p:extLst>
      <p:ext uri="{BB962C8B-B14F-4D97-AF65-F5344CB8AC3E}">
        <p14:creationId xmlns:p14="http://schemas.microsoft.com/office/powerpoint/2010/main" val="14281919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4F6B1DC-F5A3-4A3E-ABB3-0C74971D0F82}"/>
              </a:ext>
            </a:extLst>
          </p:cNvPr>
          <p:cNvSpPr>
            <a:spLocks noGrp="1"/>
          </p:cNvSpPr>
          <p:nvPr>
            <p:ph type="title"/>
          </p:nvPr>
        </p:nvSpPr>
        <p:spPr>
          <a:xfrm>
            <a:off x="838200" y="205468"/>
            <a:ext cx="10515600" cy="883104"/>
          </a:xfrm>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xmlns="" id="{12EF2FB6-82B8-48D7-A181-5A6639544732}"/>
              </a:ext>
            </a:extLst>
          </p:cNvPr>
          <p:cNvSpPr>
            <a:spLocks noGrp="1"/>
          </p:cNvSpPr>
          <p:nvPr>
            <p:ph idx="1"/>
          </p:nvPr>
        </p:nvSpPr>
        <p:spPr>
          <a:xfrm>
            <a:off x="923770" y="1088572"/>
            <a:ext cx="10344461" cy="5267779"/>
          </a:xfrm>
        </p:spPr>
        <p:txBody>
          <a:bodyPr>
            <a:noAutofit/>
          </a:bodyPr>
          <a:lstStyle/>
          <a:p>
            <a:pPr marL="0" indent="0" eaLnBrk="0" fontAlgn="ctr" hangingPunct="0">
              <a:lnSpc>
                <a:spcPct val="100000"/>
              </a:lnSpc>
              <a:buNone/>
            </a:pPr>
            <a:r>
              <a:rPr lang="en-US" altLang="zh-TW" sz="2400" dirty="0" err="1"/>
              <a:t>Biosignals</a:t>
            </a:r>
            <a:r>
              <a:rPr lang="en-US" altLang="zh-TW" sz="2400" dirty="0"/>
              <a:t> such as electrocardiograms (ECG), electroencephalograms (EEG), and electromyograms (EMG), are important noninvasive measurements useful for making diagnostic decisions. Recently, considerable research has been conducted in order to potentially automate signal classification for assisting in disease diagnosis. However, the </a:t>
            </a:r>
            <a:r>
              <a:rPr lang="en-US" altLang="zh-TW" sz="2400" dirty="0" err="1"/>
              <a:t>biosignal</a:t>
            </a:r>
            <a:r>
              <a:rPr lang="en-US" altLang="zh-TW" sz="2400" dirty="0"/>
              <a:t> type (ECG, EEG, EMG or other) needs to be known prior to the classification process. If the given </a:t>
            </a:r>
            <a:r>
              <a:rPr lang="en-US" altLang="zh-TW" sz="2400" dirty="0" err="1"/>
              <a:t>biosignal</a:t>
            </a:r>
            <a:r>
              <a:rPr lang="en-US" altLang="zh-TW" sz="2400" dirty="0"/>
              <a:t> is of an unknown type, none of the existing methodologies can be utilized. In this paper, a blind </a:t>
            </a:r>
            <a:r>
              <a:rPr lang="en-US" altLang="zh-TW" sz="2400" dirty="0" err="1"/>
              <a:t>biosignal</a:t>
            </a:r>
            <a:r>
              <a:rPr lang="en-US" altLang="zh-TW" sz="2400" dirty="0"/>
              <a:t> classification model (B</a:t>
            </a:r>
            <a:r>
              <a:rPr lang="en-US" altLang="zh-TW" sz="2400" baseline="30000" dirty="0"/>
              <a:t>2</a:t>
            </a:r>
            <a:r>
              <a:rPr lang="en-US" altLang="zh-TW" sz="2400" dirty="0"/>
              <a:t>SC Model) is proposed in order to identify the source </a:t>
            </a:r>
            <a:r>
              <a:rPr lang="en-US" altLang="zh-TW" sz="2400" dirty="0" err="1"/>
              <a:t>biosignal</a:t>
            </a:r>
            <a:r>
              <a:rPr lang="en-US" altLang="zh-TW" sz="2400" dirty="0"/>
              <a:t> type automatically, and thus ultimately benefit the diagnostic decision. The approach employs time series algorithms for constructing the model. It uses a dynamic time warping (DTW) algorithm with clustering to discover the similarity between two </a:t>
            </a:r>
            <a:r>
              <a:rPr lang="en-US" altLang="zh-TW" sz="2400" dirty="0" err="1"/>
              <a:t>biosignals</a:t>
            </a:r>
            <a:r>
              <a:rPr lang="en-US" altLang="zh-TW" sz="2400" dirty="0"/>
              <a:t>, and consequently classifies disease without prior knowledge of the source signal type. The empirical experiments presented in this paper demonstrate the effectiveness of the method as well as the scalability of the approach. </a:t>
            </a:r>
            <a:endParaRPr lang="zh-TW" altLang="en-US" sz="2400" dirty="0"/>
          </a:p>
        </p:txBody>
      </p:sp>
      <p:sp>
        <p:nvSpPr>
          <p:cNvPr id="4" name="投影片編號版面配置區 3">
            <a:extLst>
              <a:ext uri="{FF2B5EF4-FFF2-40B4-BE49-F238E27FC236}">
                <a16:creationId xmlns:a16="http://schemas.microsoft.com/office/drawing/2014/main" xmlns=""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2</a:t>
            </a:fld>
            <a:endParaRPr lang="zh-TW" altLang="en-US" dirty="0"/>
          </a:p>
        </p:txBody>
      </p:sp>
    </p:spTree>
    <p:extLst>
      <p:ext uri="{BB962C8B-B14F-4D97-AF65-F5344CB8AC3E}">
        <p14:creationId xmlns:p14="http://schemas.microsoft.com/office/powerpoint/2010/main" val="40564331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BD8C9E7-CA9D-405D-94E0-63C11918184A}"/>
              </a:ext>
            </a:extLst>
          </p:cNvPr>
          <p:cNvSpPr>
            <a:spLocks noGrp="1"/>
          </p:cNvSpPr>
          <p:nvPr>
            <p:ph type="title"/>
          </p:nvPr>
        </p:nvSpPr>
        <p:spPr/>
        <p:txBody>
          <a:bodyPr/>
          <a:lstStyle/>
          <a:p>
            <a:r>
              <a:rPr lang="en-US" altLang="zh-TW" dirty="0" err="1"/>
              <a:t>Biosignals</a:t>
            </a:r>
            <a:endParaRPr lang="zh-TW" altLang="en-US" dirty="0"/>
          </a:p>
        </p:txBody>
      </p:sp>
      <p:sp>
        <p:nvSpPr>
          <p:cNvPr id="3" name="內容版面配置區 2">
            <a:extLst>
              <a:ext uri="{FF2B5EF4-FFF2-40B4-BE49-F238E27FC236}">
                <a16:creationId xmlns:a16="http://schemas.microsoft.com/office/drawing/2014/main" xmlns="" id="{438D6B23-43E7-4BC2-8003-C633E43F0707}"/>
              </a:ext>
            </a:extLst>
          </p:cNvPr>
          <p:cNvSpPr>
            <a:spLocks noGrp="1"/>
          </p:cNvSpPr>
          <p:nvPr>
            <p:ph idx="1"/>
          </p:nvPr>
        </p:nvSpPr>
        <p:spPr>
          <a:xfrm>
            <a:off x="781051" y="1825625"/>
            <a:ext cx="9934574" cy="4351338"/>
          </a:xfrm>
        </p:spPr>
        <p:txBody>
          <a:bodyPr/>
          <a:lstStyle/>
          <a:p>
            <a:pPr marL="0" indent="0">
              <a:buNone/>
            </a:pPr>
            <a:r>
              <a:rPr lang="en-US" altLang="zh-TW" sz="3200" b="1" dirty="0"/>
              <a:t>All kinds of signals that can be measured and monitored from biological beings.</a:t>
            </a:r>
          </a:p>
          <a:p>
            <a:r>
              <a:rPr lang="en-US" altLang="zh-TW" dirty="0"/>
              <a:t>ECG (electrocardiogram) </a:t>
            </a:r>
            <a:r>
              <a:rPr lang="zh-TW" altLang="en-US" dirty="0"/>
              <a:t>     心電圖</a:t>
            </a:r>
            <a:endParaRPr lang="en-US" altLang="zh-TW" dirty="0"/>
          </a:p>
          <a:p>
            <a:r>
              <a:rPr lang="en-US" altLang="zh-TW" dirty="0"/>
              <a:t>EEG (electroencephalogram) </a:t>
            </a:r>
            <a:r>
              <a:rPr lang="zh-TW" altLang="en-US" dirty="0"/>
              <a:t>腦電圖</a:t>
            </a:r>
            <a:endParaRPr lang="en-US" altLang="zh-TW" dirty="0"/>
          </a:p>
          <a:p>
            <a:r>
              <a:rPr lang="en-US" altLang="zh-TW" dirty="0"/>
              <a:t>EMG (electromyogram)</a:t>
            </a:r>
            <a:r>
              <a:rPr lang="zh-TW" altLang="en-US" dirty="0"/>
              <a:t>        </a:t>
            </a:r>
            <a:r>
              <a:rPr lang="zh-TW" altLang="en-US" sz="1800" dirty="0"/>
              <a:t> </a:t>
            </a:r>
            <a:r>
              <a:rPr lang="zh-TW" altLang="en-US" dirty="0"/>
              <a:t>肌電圖</a:t>
            </a:r>
            <a:endParaRPr lang="en-US" altLang="zh-TW" dirty="0"/>
          </a:p>
          <a:p>
            <a:r>
              <a:rPr lang="en-US" altLang="zh-TW" dirty="0"/>
              <a:t>EOG (electrooculography)</a:t>
            </a:r>
            <a:r>
              <a:rPr lang="zh-TW" altLang="en-US" dirty="0"/>
              <a:t>    眼電圖</a:t>
            </a:r>
          </a:p>
        </p:txBody>
      </p:sp>
      <p:sp>
        <p:nvSpPr>
          <p:cNvPr id="4" name="投影片編號版面配置區 3">
            <a:extLst>
              <a:ext uri="{FF2B5EF4-FFF2-40B4-BE49-F238E27FC236}">
                <a16:creationId xmlns:a16="http://schemas.microsoft.com/office/drawing/2014/main" xmlns="" id="{55317D31-6B2D-47E8-9A92-E697843889D7}"/>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p:spTree>
    <p:extLst>
      <p:ext uri="{BB962C8B-B14F-4D97-AF65-F5344CB8AC3E}">
        <p14:creationId xmlns:p14="http://schemas.microsoft.com/office/powerpoint/2010/main" val="25152830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EF547F4-2BF7-44E0-A6AB-D8C9A0B84EA5}"/>
              </a:ext>
            </a:extLst>
          </p:cNvPr>
          <p:cNvSpPr>
            <a:spLocks noGrp="1"/>
          </p:cNvSpPr>
          <p:nvPr>
            <p:ph type="title"/>
          </p:nvPr>
        </p:nvSpPr>
        <p:spPr>
          <a:xfrm>
            <a:off x="342900" y="365127"/>
            <a:ext cx="11506200" cy="1325563"/>
          </a:xfrm>
        </p:spPr>
        <p:txBody>
          <a:bodyPr/>
          <a:lstStyle/>
          <a:p>
            <a:r>
              <a:rPr lang="en-US" altLang="zh-TW" dirty="0"/>
              <a:t>Blind </a:t>
            </a:r>
            <a:r>
              <a:rPr lang="en-US" altLang="zh-TW" dirty="0" err="1"/>
              <a:t>biosignal</a:t>
            </a:r>
            <a:r>
              <a:rPr lang="en-US" altLang="zh-TW" dirty="0"/>
              <a:t> classification model (B</a:t>
            </a:r>
            <a:r>
              <a:rPr lang="en-US" altLang="zh-TW" baseline="30000" dirty="0"/>
              <a:t>2</a:t>
            </a:r>
            <a:r>
              <a:rPr lang="en-US" altLang="zh-TW" dirty="0"/>
              <a:t>SC</a:t>
            </a:r>
            <a:r>
              <a:rPr lang="zh-TW" altLang="en-US" dirty="0"/>
              <a:t> </a:t>
            </a:r>
            <a:r>
              <a:rPr lang="en-US" altLang="zh-TW" dirty="0"/>
              <a:t>model)</a:t>
            </a:r>
            <a:endParaRPr lang="zh-TW" altLang="en-US" dirty="0"/>
          </a:p>
        </p:txBody>
      </p:sp>
      <p:sp>
        <p:nvSpPr>
          <p:cNvPr id="3" name="內容版面配置區 2">
            <a:extLst>
              <a:ext uri="{FF2B5EF4-FFF2-40B4-BE49-F238E27FC236}">
                <a16:creationId xmlns:a16="http://schemas.microsoft.com/office/drawing/2014/main" xmlns="" id="{F2F907BB-A997-442F-B6CC-802884463F51}"/>
              </a:ext>
            </a:extLst>
          </p:cNvPr>
          <p:cNvSpPr>
            <a:spLocks noGrp="1"/>
          </p:cNvSpPr>
          <p:nvPr>
            <p:ph idx="1"/>
          </p:nvPr>
        </p:nvSpPr>
        <p:spPr>
          <a:xfrm>
            <a:off x="766849" y="1825625"/>
            <a:ext cx="10658302" cy="4351338"/>
          </a:xfrm>
        </p:spPr>
        <p:txBody>
          <a:bodyPr/>
          <a:lstStyle/>
          <a:p>
            <a:pPr marL="0" indent="0">
              <a:buNone/>
            </a:pPr>
            <a:r>
              <a:rPr lang="en-US" altLang="zh-TW" sz="3200" b="1" dirty="0"/>
              <a:t>Purpose: </a:t>
            </a:r>
          </a:p>
          <a:p>
            <a:pPr marL="514350" indent="-514350">
              <a:lnSpc>
                <a:spcPct val="100000"/>
              </a:lnSpc>
              <a:buAutoNum type="arabicPeriod"/>
            </a:pPr>
            <a:r>
              <a:rPr lang="en-US" altLang="zh-TW" dirty="0"/>
              <a:t>Enabling non-skilled home-based users to operate a multi-function </a:t>
            </a:r>
            <a:r>
              <a:rPr lang="en-US" altLang="zh-TW" dirty="0" err="1"/>
              <a:t>biosignal</a:t>
            </a:r>
            <a:r>
              <a:rPr lang="en-US" altLang="zh-TW" dirty="0"/>
              <a:t> acquisition device easily for monitoring and managing their health conditions</a:t>
            </a:r>
          </a:p>
          <a:p>
            <a:pPr marL="514350" indent="-514350">
              <a:lnSpc>
                <a:spcPct val="100000"/>
              </a:lnSpc>
              <a:buAutoNum type="arabicPeriod"/>
            </a:pPr>
            <a:r>
              <a:rPr lang="en-US" altLang="zh-TW" dirty="0"/>
              <a:t>Helping to improve the diagnostic capability of a disease or symptom without knowing the exact type of source </a:t>
            </a:r>
            <a:r>
              <a:rPr lang="en-US" altLang="zh-TW" dirty="0" err="1"/>
              <a:t>biosignal</a:t>
            </a:r>
            <a:endParaRPr lang="en-US" altLang="zh-TW" dirty="0"/>
          </a:p>
          <a:p>
            <a:pPr marL="514350" indent="-514350">
              <a:lnSpc>
                <a:spcPct val="100000"/>
              </a:lnSpc>
              <a:buAutoNum type="arabicPeriod"/>
            </a:pPr>
            <a:r>
              <a:rPr lang="en-US" altLang="zh-TW" dirty="0"/>
              <a:t>Allowing the use of only one device and one sensor which could adapt to multiple </a:t>
            </a:r>
            <a:r>
              <a:rPr lang="en-US" altLang="zh-TW" dirty="0" err="1"/>
              <a:t>biosignals</a:t>
            </a:r>
            <a:endParaRPr lang="zh-TW" altLang="en-US" dirty="0"/>
          </a:p>
        </p:txBody>
      </p:sp>
      <p:sp>
        <p:nvSpPr>
          <p:cNvPr id="4" name="投影片編號版面配置區 3">
            <a:extLst>
              <a:ext uri="{FF2B5EF4-FFF2-40B4-BE49-F238E27FC236}">
                <a16:creationId xmlns:a16="http://schemas.microsoft.com/office/drawing/2014/main" xmlns="" id="{FAD2795D-1037-4BEB-A93C-BDE434FEFAB6}"/>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spTree>
    <p:extLst>
      <p:ext uri="{BB962C8B-B14F-4D97-AF65-F5344CB8AC3E}">
        <p14:creationId xmlns:p14="http://schemas.microsoft.com/office/powerpoint/2010/main" val="426517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EF547F4-2BF7-44E0-A6AB-D8C9A0B84EA5}"/>
              </a:ext>
            </a:extLst>
          </p:cNvPr>
          <p:cNvSpPr>
            <a:spLocks noGrp="1"/>
          </p:cNvSpPr>
          <p:nvPr>
            <p:ph type="title"/>
          </p:nvPr>
        </p:nvSpPr>
        <p:spPr>
          <a:xfrm>
            <a:off x="342900" y="365127"/>
            <a:ext cx="11506200" cy="1325563"/>
          </a:xfrm>
        </p:spPr>
        <p:txBody>
          <a:bodyPr/>
          <a:lstStyle/>
          <a:p>
            <a:r>
              <a:rPr lang="en-US" altLang="zh-TW" dirty="0"/>
              <a:t>Blind </a:t>
            </a:r>
            <a:r>
              <a:rPr lang="en-US" altLang="zh-TW" dirty="0" err="1"/>
              <a:t>biosignal</a:t>
            </a:r>
            <a:r>
              <a:rPr lang="en-US" altLang="zh-TW" dirty="0"/>
              <a:t> classification model (B</a:t>
            </a:r>
            <a:r>
              <a:rPr lang="en-US" altLang="zh-TW" baseline="30000" dirty="0"/>
              <a:t>2</a:t>
            </a:r>
            <a:r>
              <a:rPr lang="en-US" altLang="zh-TW" dirty="0"/>
              <a:t>SC</a:t>
            </a:r>
            <a:r>
              <a:rPr lang="zh-TW" altLang="en-US" dirty="0"/>
              <a:t> </a:t>
            </a:r>
            <a:r>
              <a:rPr lang="en-US" altLang="zh-TW" dirty="0"/>
              <a:t>model)</a:t>
            </a:r>
            <a:endParaRPr lang="zh-TW" altLang="en-US" dirty="0"/>
          </a:p>
        </p:txBody>
      </p:sp>
      <p:sp>
        <p:nvSpPr>
          <p:cNvPr id="3" name="內容版面配置區 2">
            <a:extLst>
              <a:ext uri="{FF2B5EF4-FFF2-40B4-BE49-F238E27FC236}">
                <a16:creationId xmlns:a16="http://schemas.microsoft.com/office/drawing/2014/main" xmlns="" id="{F2F907BB-A997-442F-B6CC-802884463F51}"/>
              </a:ext>
            </a:extLst>
          </p:cNvPr>
          <p:cNvSpPr>
            <a:spLocks noGrp="1"/>
          </p:cNvSpPr>
          <p:nvPr>
            <p:ph idx="1"/>
          </p:nvPr>
        </p:nvSpPr>
        <p:spPr>
          <a:xfrm>
            <a:off x="627160" y="1461705"/>
            <a:ext cx="10726640" cy="1939221"/>
          </a:xfrm>
        </p:spPr>
        <p:txBody>
          <a:bodyPr>
            <a:normAutofit/>
          </a:bodyPr>
          <a:lstStyle/>
          <a:p>
            <a:pPr marL="0" indent="0">
              <a:spcBef>
                <a:spcPts val="600"/>
              </a:spcBef>
              <a:buNone/>
            </a:pPr>
            <a:r>
              <a:rPr lang="en-US" altLang="zh-TW" b="1" dirty="0"/>
              <a:t>Three major phase: </a:t>
            </a:r>
          </a:p>
          <a:p>
            <a:pPr marL="514350" indent="-514350">
              <a:lnSpc>
                <a:spcPct val="100000"/>
              </a:lnSpc>
              <a:spcBef>
                <a:spcPts val="600"/>
              </a:spcBef>
              <a:buAutoNum type="arabicPeriod"/>
            </a:pPr>
            <a:r>
              <a:rPr lang="en-US" altLang="zh-TW" sz="2600" dirty="0" err="1"/>
              <a:t>Biosignal</a:t>
            </a:r>
            <a:r>
              <a:rPr lang="en-US" altLang="zh-TW" sz="2600" dirty="0"/>
              <a:t> template construction</a:t>
            </a:r>
          </a:p>
          <a:p>
            <a:pPr marL="514350" indent="-514350">
              <a:lnSpc>
                <a:spcPct val="100000"/>
              </a:lnSpc>
              <a:spcBef>
                <a:spcPts val="600"/>
              </a:spcBef>
              <a:buAutoNum type="arabicPeriod"/>
            </a:pPr>
            <a:r>
              <a:rPr lang="en-US" altLang="zh-TW" sz="2600" dirty="0"/>
              <a:t>Template optimization and management</a:t>
            </a:r>
          </a:p>
          <a:p>
            <a:pPr marL="514350" indent="-514350">
              <a:lnSpc>
                <a:spcPct val="100000"/>
              </a:lnSpc>
              <a:spcBef>
                <a:spcPts val="600"/>
              </a:spcBef>
              <a:buAutoNum type="arabicPeriod"/>
            </a:pPr>
            <a:r>
              <a:rPr lang="en-US" altLang="zh-TW" sz="2600" dirty="0"/>
              <a:t>Pattern matching</a:t>
            </a:r>
          </a:p>
          <a:p>
            <a:pPr marL="0" indent="0">
              <a:lnSpc>
                <a:spcPct val="100000"/>
              </a:lnSpc>
              <a:buNone/>
            </a:pPr>
            <a:endParaRPr lang="zh-TW" altLang="en-US" dirty="0"/>
          </a:p>
        </p:txBody>
      </p:sp>
      <p:sp>
        <p:nvSpPr>
          <p:cNvPr id="4" name="投影片編號版面配置區 3">
            <a:extLst>
              <a:ext uri="{FF2B5EF4-FFF2-40B4-BE49-F238E27FC236}">
                <a16:creationId xmlns:a16="http://schemas.microsoft.com/office/drawing/2014/main" xmlns="" id="{FAD2795D-1037-4BEB-A93C-BDE434FEFAB6}"/>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pic>
        <p:nvPicPr>
          <p:cNvPr id="6" name="圖片 5">
            <a:extLst>
              <a:ext uri="{FF2B5EF4-FFF2-40B4-BE49-F238E27FC236}">
                <a16:creationId xmlns:a16="http://schemas.microsoft.com/office/drawing/2014/main" xmlns="" id="{EE556810-F81A-4844-938B-58F2C97C0ED4}"/>
              </a:ext>
            </a:extLst>
          </p:cNvPr>
          <p:cNvPicPr>
            <a:picLocks noChangeAspect="1"/>
          </p:cNvPicPr>
          <p:nvPr/>
        </p:nvPicPr>
        <p:blipFill>
          <a:blip r:embed="rId2"/>
          <a:stretch>
            <a:fillRect/>
          </a:stretch>
        </p:blipFill>
        <p:spPr>
          <a:xfrm>
            <a:off x="715964" y="3720231"/>
            <a:ext cx="10300581" cy="2366843"/>
          </a:xfrm>
          <a:prstGeom prst="rect">
            <a:avLst/>
          </a:prstGeom>
        </p:spPr>
      </p:pic>
      <p:sp>
        <p:nvSpPr>
          <p:cNvPr id="7" name="文字方塊 6">
            <a:extLst>
              <a:ext uri="{FF2B5EF4-FFF2-40B4-BE49-F238E27FC236}">
                <a16:creationId xmlns:a16="http://schemas.microsoft.com/office/drawing/2014/main" xmlns="" id="{C9BEBE1C-F152-4B18-9D53-565A56489809}"/>
              </a:ext>
            </a:extLst>
          </p:cNvPr>
          <p:cNvSpPr txBox="1"/>
          <p:nvPr/>
        </p:nvSpPr>
        <p:spPr>
          <a:xfrm>
            <a:off x="3638550" y="3350899"/>
            <a:ext cx="4914900" cy="369332"/>
          </a:xfrm>
          <a:prstGeom prst="rect">
            <a:avLst/>
          </a:prstGeom>
          <a:noFill/>
        </p:spPr>
        <p:txBody>
          <a:bodyPr wrap="square" rtlCol="0">
            <a:spAutoFit/>
          </a:bodyPr>
          <a:lstStyle/>
          <a:p>
            <a:r>
              <a:rPr lang="en-US" altLang="zh-TW" b="1" dirty="0"/>
              <a:t>Sample of different patterns from ECG signals</a:t>
            </a:r>
            <a:endParaRPr lang="zh-TW" altLang="en-US" b="1" dirty="0"/>
          </a:p>
        </p:txBody>
      </p:sp>
      <p:sp>
        <p:nvSpPr>
          <p:cNvPr id="8" name="文字方塊 7">
            <a:extLst>
              <a:ext uri="{FF2B5EF4-FFF2-40B4-BE49-F238E27FC236}">
                <a16:creationId xmlns:a16="http://schemas.microsoft.com/office/drawing/2014/main" xmlns="" id="{101D9137-4FE0-4C08-8A65-A897C0E11FDE}"/>
              </a:ext>
            </a:extLst>
          </p:cNvPr>
          <p:cNvSpPr txBox="1"/>
          <p:nvPr/>
        </p:nvSpPr>
        <p:spPr>
          <a:xfrm>
            <a:off x="1488422" y="6057742"/>
            <a:ext cx="1340291" cy="369332"/>
          </a:xfrm>
          <a:prstGeom prst="rect">
            <a:avLst/>
          </a:prstGeom>
          <a:noFill/>
        </p:spPr>
        <p:txBody>
          <a:bodyPr wrap="square" rtlCol="0">
            <a:spAutoFit/>
          </a:bodyPr>
          <a:lstStyle/>
          <a:p>
            <a:r>
              <a:rPr lang="en-US" altLang="zh-TW" dirty="0"/>
              <a:t>Normal ECG</a:t>
            </a:r>
            <a:endParaRPr lang="zh-TW" altLang="en-US" dirty="0"/>
          </a:p>
        </p:txBody>
      </p:sp>
      <p:sp>
        <p:nvSpPr>
          <p:cNvPr id="9" name="文字方塊 8">
            <a:extLst>
              <a:ext uri="{FF2B5EF4-FFF2-40B4-BE49-F238E27FC236}">
                <a16:creationId xmlns:a16="http://schemas.microsoft.com/office/drawing/2014/main" xmlns="" id="{9F2F0CA0-0D9C-4F30-80D7-1B418BA268EC}"/>
              </a:ext>
            </a:extLst>
          </p:cNvPr>
          <p:cNvSpPr txBox="1"/>
          <p:nvPr/>
        </p:nvSpPr>
        <p:spPr>
          <a:xfrm>
            <a:off x="4255649" y="6075146"/>
            <a:ext cx="2184459" cy="646331"/>
          </a:xfrm>
          <a:prstGeom prst="rect">
            <a:avLst/>
          </a:prstGeom>
          <a:noFill/>
        </p:spPr>
        <p:txBody>
          <a:bodyPr wrap="square" rtlCol="0">
            <a:spAutoFit/>
          </a:bodyPr>
          <a:lstStyle/>
          <a:p>
            <a:r>
              <a:rPr lang="en-US" altLang="zh-TW" dirty="0"/>
              <a:t>Acute </a:t>
            </a:r>
            <a:r>
              <a:rPr lang="en-US" altLang="zh-TW" dirty="0">
                <a:solidFill>
                  <a:srgbClr val="FF0000"/>
                </a:solidFill>
              </a:rPr>
              <a:t>inferior </a:t>
            </a:r>
            <a:r>
              <a:rPr lang="en-US" altLang="zh-TW" dirty="0"/>
              <a:t>myocardial infarction</a:t>
            </a:r>
            <a:endParaRPr lang="zh-TW" altLang="en-US" dirty="0"/>
          </a:p>
        </p:txBody>
      </p:sp>
      <p:sp>
        <p:nvSpPr>
          <p:cNvPr id="10" name="文字方塊 9">
            <a:extLst>
              <a:ext uri="{FF2B5EF4-FFF2-40B4-BE49-F238E27FC236}">
                <a16:creationId xmlns:a16="http://schemas.microsoft.com/office/drawing/2014/main" xmlns="" id="{650ECAD9-41F7-4B2D-A108-8271B222BE92}"/>
              </a:ext>
            </a:extLst>
          </p:cNvPr>
          <p:cNvSpPr txBox="1"/>
          <p:nvPr/>
        </p:nvSpPr>
        <p:spPr>
          <a:xfrm>
            <a:off x="6813517" y="6087074"/>
            <a:ext cx="2107054" cy="646331"/>
          </a:xfrm>
          <a:prstGeom prst="rect">
            <a:avLst/>
          </a:prstGeom>
          <a:noFill/>
        </p:spPr>
        <p:txBody>
          <a:bodyPr wrap="square" rtlCol="0">
            <a:spAutoFit/>
          </a:bodyPr>
          <a:lstStyle/>
          <a:p>
            <a:r>
              <a:rPr lang="en-US" altLang="zh-TW" dirty="0"/>
              <a:t>Acute </a:t>
            </a:r>
            <a:r>
              <a:rPr lang="en-US" altLang="zh-TW" dirty="0">
                <a:solidFill>
                  <a:srgbClr val="FF0000"/>
                </a:solidFill>
              </a:rPr>
              <a:t>posterior </a:t>
            </a:r>
            <a:r>
              <a:rPr lang="en-US" altLang="zh-TW" dirty="0"/>
              <a:t>myocardial infarction</a:t>
            </a:r>
            <a:endParaRPr lang="zh-TW" altLang="en-US" dirty="0"/>
          </a:p>
        </p:txBody>
      </p:sp>
      <p:sp>
        <p:nvSpPr>
          <p:cNvPr id="11" name="文字方塊 10">
            <a:extLst>
              <a:ext uri="{FF2B5EF4-FFF2-40B4-BE49-F238E27FC236}">
                <a16:creationId xmlns:a16="http://schemas.microsoft.com/office/drawing/2014/main" xmlns="" id="{D5E0ACC0-98A3-4E03-8400-DD70F784574E}"/>
              </a:ext>
            </a:extLst>
          </p:cNvPr>
          <p:cNvSpPr txBox="1"/>
          <p:nvPr/>
        </p:nvSpPr>
        <p:spPr>
          <a:xfrm>
            <a:off x="9008498" y="6057742"/>
            <a:ext cx="2194751" cy="646331"/>
          </a:xfrm>
          <a:prstGeom prst="rect">
            <a:avLst/>
          </a:prstGeom>
          <a:noFill/>
        </p:spPr>
        <p:txBody>
          <a:bodyPr wrap="square" rtlCol="0">
            <a:spAutoFit/>
          </a:bodyPr>
          <a:lstStyle/>
          <a:p>
            <a:r>
              <a:rPr lang="en-US" altLang="zh-TW" dirty="0"/>
              <a:t>Acute </a:t>
            </a:r>
            <a:r>
              <a:rPr lang="en-US" altLang="zh-TW" dirty="0">
                <a:solidFill>
                  <a:srgbClr val="FF0000"/>
                </a:solidFill>
              </a:rPr>
              <a:t>anterior</a:t>
            </a:r>
            <a:r>
              <a:rPr lang="en-US" altLang="zh-TW" dirty="0"/>
              <a:t> myocardial infarction</a:t>
            </a:r>
            <a:endParaRPr lang="zh-TW" altLang="en-US" dirty="0"/>
          </a:p>
        </p:txBody>
      </p:sp>
    </p:spTree>
    <p:extLst>
      <p:ext uri="{BB962C8B-B14F-4D97-AF65-F5344CB8AC3E}">
        <p14:creationId xmlns:p14="http://schemas.microsoft.com/office/powerpoint/2010/main" val="26082284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C2F1CD4-D6F2-4C5A-94FC-822CA56FB216}"/>
              </a:ext>
            </a:extLst>
          </p:cNvPr>
          <p:cNvSpPr>
            <a:spLocks noGrp="1"/>
          </p:cNvSpPr>
          <p:nvPr>
            <p:ph type="title"/>
          </p:nvPr>
        </p:nvSpPr>
        <p:spPr>
          <a:xfrm>
            <a:off x="838200" y="365127"/>
            <a:ext cx="10515600" cy="1325563"/>
          </a:xfrm>
        </p:spPr>
        <p:txBody>
          <a:bodyPr/>
          <a:lstStyle/>
          <a:p>
            <a:r>
              <a:rPr lang="en-US" altLang="zh-TW" dirty="0"/>
              <a:t>k-Nearest Neighbors</a:t>
            </a:r>
            <a:r>
              <a:rPr lang="zh-TW" altLang="en-US" dirty="0"/>
              <a:t> </a:t>
            </a:r>
            <a:r>
              <a:rPr lang="en-US" altLang="zh-TW" dirty="0"/>
              <a:t>Algorithm</a:t>
            </a:r>
            <a:r>
              <a:rPr lang="zh-TW" altLang="en-US" dirty="0"/>
              <a:t> </a:t>
            </a:r>
            <a:r>
              <a:rPr lang="en-US" altLang="zh-TW" dirty="0"/>
              <a:t>(</a:t>
            </a:r>
            <a:r>
              <a:rPr lang="en-US" altLang="zh-TW" dirty="0" err="1"/>
              <a:t>kNN</a:t>
            </a:r>
            <a:r>
              <a:rPr lang="en-US" altLang="zh-TW" dirty="0"/>
              <a:t>)</a:t>
            </a:r>
            <a:endParaRPr lang="zh-TW" altLang="en-US" dirty="0"/>
          </a:p>
        </p:txBody>
      </p:sp>
      <p:sp>
        <p:nvSpPr>
          <p:cNvPr id="4" name="投影片編號版面配置區 3">
            <a:extLst>
              <a:ext uri="{FF2B5EF4-FFF2-40B4-BE49-F238E27FC236}">
                <a16:creationId xmlns:a16="http://schemas.microsoft.com/office/drawing/2014/main" xmlns="" id="{B9DD0A25-DE68-4821-960A-47D41A16B3BD}"/>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pic>
        <p:nvPicPr>
          <p:cNvPr id="12" name="內容版面配置區 11">
            <a:extLst>
              <a:ext uri="{FF2B5EF4-FFF2-40B4-BE49-F238E27FC236}">
                <a16:creationId xmlns:a16="http://schemas.microsoft.com/office/drawing/2014/main" xmlns="" id="{79382B68-BC77-442E-B518-EBD431E8EB11}"/>
              </a:ext>
            </a:extLst>
          </p:cNvPr>
          <p:cNvPicPr>
            <a:picLocks noGrp="1" noChangeAspect="1"/>
          </p:cNvPicPr>
          <p:nvPr>
            <p:ph idx="1"/>
          </p:nvPr>
        </p:nvPicPr>
        <p:blipFill>
          <a:blip r:embed="rId2"/>
          <a:stretch>
            <a:fillRect/>
          </a:stretch>
        </p:blipFill>
        <p:spPr>
          <a:xfrm>
            <a:off x="2665719" y="1847852"/>
            <a:ext cx="5801784" cy="4351338"/>
          </a:xfrm>
          <a:prstGeom prst="rect">
            <a:avLst/>
          </a:prstGeom>
        </p:spPr>
      </p:pic>
    </p:spTree>
    <p:extLst>
      <p:ext uri="{BB962C8B-B14F-4D97-AF65-F5344CB8AC3E}">
        <p14:creationId xmlns:p14="http://schemas.microsoft.com/office/powerpoint/2010/main" val="22446375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內容版面配置區 2">
                <a:extLst>
                  <a:ext uri="{FF2B5EF4-FFF2-40B4-BE49-F238E27FC236}">
                    <a16:creationId xmlns:a16="http://schemas.microsoft.com/office/drawing/2014/main" xmlns="" id="{1866E884-8C58-4917-9D05-CA2085FF5BAE}"/>
                  </a:ext>
                </a:extLst>
              </p:cNvPr>
              <p:cNvSpPr txBox="1">
                <a:spLocks noGrp="1"/>
              </p:cNvSpPr>
              <p:nvPr>
                <p:ph idx="1"/>
              </p:nvPr>
            </p:nvSpPr>
            <p:spPr>
              <a:xfrm>
                <a:off x="569338" y="1708025"/>
                <a:ext cx="11147105" cy="5013452"/>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left"/>
                    </m:oMathParaPr>
                    <m:oMath xmlns:m="http://schemas.openxmlformats.org/officeDocument/2006/math">
                      <m:r>
                        <a:rPr lang="en-US" altLang="zh-TW" sz="2200" b="0" i="1" smtClean="0">
                          <a:latin typeface="Cambria Math" panose="02040503050406030204" pitchFamily="18" charset="0"/>
                        </a:rPr>
                        <m:t>𝐷</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𝑖</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𝑗</m:t>
                          </m:r>
                        </m:e>
                      </m:d>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𝐷𝑖𝑠𝑡</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𝑖</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𝑗</m:t>
                          </m:r>
                        </m:e>
                      </m:d>
                      <m:r>
                        <a:rPr lang="en-US" altLang="zh-TW" sz="2200" b="0" i="1" smtClean="0">
                          <a:latin typeface="Cambria Math" panose="02040503050406030204" pitchFamily="18" charset="0"/>
                        </a:rPr>
                        <m:t>+</m:t>
                      </m:r>
                      <m:r>
                        <m:rPr>
                          <m:sty m:val="p"/>
                        </m:rPr>
                        <a:rPr lang="en-US" altLang="zh-TW" sz="2200" b="0" i="0" smtClean="0">
                          <a:latin typeface="Cambria Math" panose="02040503050406030204" pitchFamily="18" charset="0"/>
                        </a:rPr>
                        <m:t>min</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𝐷</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𝑖</m:t>
                          </m:r>
                          <m:r>
                            <a:rPr lang="en-US" altLang="zh-TW" sz="2200" b="0" i="1" smtClean="0">
                              <a:latin typeface="Cambria Math" panose="02040503050406030204" pitchFamily="18" charset="0"/>
                            </a:rPr>
                            <m:t>−1,</m:t>
                          </m:r>
                          <m:r>
                            <a:rPr lang="en-US" altLang="zh-TW" sz="2200" b="0" i="1" smtClean="0">
                              <a:latin typeface="Cambria Math" panose="02040503050406030204" pitchFamily="18" charset="0"/>
                            </a:rPr>
                            <m:t>𝑗</m:t>
                          </m:r>
                        </m:e>
                      </m:d>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𝐷</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𝑖</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𝑗</m:t>
                          </m:r>
                          <m:r>
                            <a:rPr lang="en-US" altLang="zh-TW" sz="2200" b="0" i="1" smtClean="0">
                              <a:latin typeface="Cambria Math" panose="02040503050406030204" pitchFamily="18" charset="0"/>
                            </a:rPr>
                            <m:t>−1</m:t>
                          </m:r>
                        </m:e>
                      </m:d>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𝐷</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𝑖</m:t>
                      </m:r>
                      <m:r>
                        <a:rPr lang="en-US" altLang="zh-TW" sz="2200" b="0" i="1" smtClean="0">
                          <a:latin typeface="Cambria Math" panose="02040503050406030204" pitchFamily="18" charset="0"/>
                        </a:rPr>
                        <m:t>−1,</m:t>
                      </m:r>
                      <m:r>
                        <a:rPr lang="en-US" altLang="zh-TW" sz="2200" b="0" i="1" smtClean="0">
                          <a:latin typeface="Cambria Math" panose="02040503050406030204" pitchFamily="18" charset="0"/>
                        </a:rPr>
                        <m:t>𝑗</m:t>
                      </m:r>
                      <m:r>
                        <a:rPr lang="en-US" altLang="zh-TW" sz="2200" b="0" i="1" smtClean="0">
                          <a:latin typeface="Cambria Math" panose="02040503050406030204" pitchFamily="18" charset="0"/>
                        </a:rPr>
                        <m:t>−1)]</m:t>
                      </m:r>
                    </m:oMath>
                  </m:oMathPara>
                </a14:m>
                <a:endParaRPr lang="en-US" altLang="zh-TW" sz="2200" dirty="0"/>
              </a:p>
              <a:p>
                <a:pPr marL="0" indent="0">
                  <a:buNone/>
                </a:pPr>
                <a:endParaRPr lang="en-US" altLang="zh-TW" sz="2200" dirty="0"/>
              </a:p>
              <a:p>
                <a:pPr marL="0" indent="0">
                  <a:buNone/>
                </a:pPr>
                <a14:m>
                  <m:oMathPara xmlns:m="http://schemas.openxmlformats.org/officeDocument/2006/math">
                    <m:oMathParaPr>
                      <m:jc m:val="left"/>
                    </m:oMathParaPr>
                    <m:oMath xmlns:m="http://schemas.openxmlformats.org/officeDocument/2006/math">
                      <m:r>
                        <a:rPr lang="en-US" altLang="zh-TW" sz="2200" b="0" i="1" smtClean="0">
                          <a:latin typeface="Cambria Math" panose="02040503050406030204" pitchFamily="18" charset="0"/>
                        </a:rPr>
                        <m:t>𝐷𝑖𝑠𝑡</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𝑊</m:t>
                          </m:r>
                        </m:e>
                      </m:d>
                      <m:r>
                        <a:rPr lang="en-US" altLang="zh-TW" sz="2200" b="0" i="1" smtClean="0">
                          <a:latin typeface="Cambria Math" panose="02040503050406030204" pitchFamily="18" charset="0"/>
                        </a:rPr>
                        <m:t>= </m:t>
                      </m:r>
                      <m:nary>
                        <m:naryPr>
                          <m:chr m:val="∑"/>
                          <m:ctrlPr>
                            <a:rPr lang="en-US" altLang="zh-TW" sz="2200" b="0" i="1" smtClean="0">
                              <a:latin typeface="Cambria Math" panose="02040503050406030204" pitchFamily="18" charset="0"/>
                            </a:rPr>
                          </m:ctrlPr>
                        </m:naryPr>
                        <m:sub>
                          <m:r>
                            <m:rPr>
                              <m:brk m:alnAt="23"/>
                            </m:rPr>
                            <a:rPr lang="en-US" altLang="zh-TW" sz="2200" b="0" i="1" smtClean="0">
                              <a:latin typeface="Cambria Math" panose="02040503050406030204" pitchFamily="18" charset="0"/>
                            </a:rPr>
                            <m:t>𝑘</m:t>
                          </m:r>
                          <m:r>
                            <a:rPr lang="en-US" altLang="zh-TW" sz="2200" b="0" i="1" smtClean="0">
                              <a:latin typeface="Cambria Math" panose="02040503050406030204" pitchFamily="18" charset="0"/>
                            </a:rPr>
                            <m:t>=1</m:t>
                          </m:r>
                        </m:sub>
                        <m:sup>
                          <m:r>
                            <a:rPr lang="en-US" altLang="zh-TW" sz="2200" b="0" i="1" smtClean="0">
                              <a:latin typeface="Cambria Math" panose="02040503050406030204" pitchFamily="18" charset="0"/>
                            </a:rPr>
                            <m:t>𝑘</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𝐾</m:t>
                          </m:r>
                        </m:sup>
                        <m:e>
                          <m:r>
                            <a:rPr lang="en-US" altLang="zh-TW" sz="2200" b="0" i="1" smtClean="0">
                              <a:latin typeface="Cambria Math" panose="02040503050406030204" pitchFamily="18" charset="0"/>
                            </a:rPr>
                            <m:t>𝐷𝑖𝑠𝑡</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𝑤</m:t>
                              </m:r>
                              <m:r>
                                <a:rPr lang="en-US" altLang="zh-TW" sz="2200" b="0" i="1" baseline="-25000" smtClean="0">
                                  <a:latin typeface="Cambria Math" panose="02040503050406030204" pitchFamily="18" charset="0"/>
                                </a:rPr>
                                <m:t>𝑘𝑖</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𝑤𝑘</m:t>
                              </m:r>
                              <m:r>
                                <a:rPr lang="en-US" altLang="zh-TW" sz="2200" b="0" i="1" baseline="-25000" smtClean="0">
                                  <a:latin typeface="Cambria Math" panose="02040503050406030204" pitchFamily="18" charset="0"/>
                                </a:rPr>
                                <m:t>𝑗</m:t>
                              </m:r>
                            </m:e>
                          </m:d>
                        </m:e>
                      </m:nary>
                    </m:oMath>
                  </m:oMathPara>
                </a14:m>
                <a:endParaRPr lang="en-US" altLang="zh-TW" sz="2200" b="0" i="1" dirty="0">
                  <a:latin typeface="Cambria Math" panose="02040503050406030204" pitchFamily="18" charset="0"/>
                </a:endParaRPr>
              </a:p>
              <a:p>
                <a:pPr marL="0" indent="0">
                  <a:buNone/>
                </a:pPr>
                <a:endParaRPr lang="en-US" altLang="zh-TW" sz="2200"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sz="2200" b="0" i="1" smtClean="0">
                          <a:latin typeface="Cambria Math" panose="02040503050406030204" pitchFamily="18" charset="0"/>
                        </a:rPr>
                        <m:t>𝑀𝑎𝑥</m:t>
                      </m:r>
                      <m:d>
                        <m:dPr>
                          <m:ctrlPr>
                            <a:rPr lang="en-US" altLang="zh-TW" sz="2200" b="0" i="1" smtClean="0">
                              <a:latin typeface="Cambria Math" panose="02040503050406030204" pitchFamily="18" charset="0"/>
                            </a:rPr>
                          </m:ctrlPr>
                        </m:dPr>
                        <m:e>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𝑋</m:t>
                              </m:r>
                            </m:e>
                          </m:d>
                          <m:r>
                            <a:rPr lang="en-US" altLang="zh-TW" sz="2200" b="0" i="1" smtClean="0">
                              <a:latin typeface="Cambria Math" panose="02040503050406030204" pitchFamily="18" charset="0"/>
                            </a:rPr>
                            <m:t>,</m:t>
                          </m:r>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𝑌</m:t>
                              </m:r>
                            </m:e>
                          </m:d>
                        </m:e>
                      </m:d>
                      <m:r>
                        <a:rPr lang="en-US" altLang="zh-TW" sz="2200" b="0" i="1" smtClean="0">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𝐾</m:t>
                      </m:r>
                      <m:r>
                        <a:rPr lang="en-US" altLang="zh-TW" sz="2200" b="0" i="1" smtClean="0">
                          <a:latin typeface="Cambria Math" panose="02040503050406030204" pitchFamily="18" charset="0"/>
                          <a:ea typeface="Cambria Math" panose="02040503050406030204" pitchFamily="18" charset="0"/>
                        </a:rPr>
                        <m:t>≤</m:t>
                      </m:r>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𝑋</m:t>
                          </m:r>
                        </m:e>
                      </m:d>
                      <m:r>
                        <a:rPr lang="en-US" altLang="zh-TW" sz="2200" b="0" i="1" smtClean="0">
                          <a:latin typeface="Cambria Math" panose="02040503050406030204" pitchFamily="18" charset="0"/>
                        </a:rPr>
                        <m:t>+</m:t>
                      </m:r>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𝑌</m:t>
                          </m:r>
                        </m:e>
                      </m:d>
                    </m:oMath>
                  </m:oMathPara>
                </a14:m>
                <a:endParaRPr lang="en-US" altLang="zh-TW" sz="2200" dirty="0"/>
              </a:p>
            </p:txBody>
          </p:sp>
        </mc:Choice>
        <mc:Fallback>
          <p:sp>
            <p:nvSpPr>
              <p:cNvPr id="12" name="內容版面配置區 2">
                <a:extLst>
                  <a:ext uri="{FF2B5EF4-FFF2-40B4-BE49-F238E27FC236}">
                    <a16:creationId xmlns:a16="http://schemas.microsoft.com/office/drawing/2014/main" xmlns:a14="http://schemas.microsoft.com/office/drawing/2010/main" xmlns="" id="{1866E884-8C58-4917-9D05-CA2085FF5BAE}"/>
                  </a:ext>
                </a:extLst>
              </p:cNvPr>
              <p:cNvSpPr txBox="1">
                <a:spLocks noGrp="1" noRot="1" noChangeAspect="1" noMove="1" noResize="1" noEditPoints="1" noAdjustHandles="1" noChangeArrowheads="1" noChangeShapeType="1" noTextEdit="1"/>
              </p:cNvSpPr>
              <p:nvPr>
                <p:ph idx="1"/>
              </p:nvPr>
            </p:nvSpPr>
            <p:spPr>
              <a:xfrm>
                <a:off x="569338" y="1708025"/>
                <a:ext cx="11147105" cy="5013452"/>
              </a:xfrm>
              <a:prstGeom prst="rect">
                <a:avLst/>
              </a:prstGeom>
              <a:blipFill rotWithShape="0">
                <a:blip r:embed="rId2"/>
                <a:stretch>
                  <a:fillRect l="-55"/>
                </a:stretch>
              </a:blipFill>
            </p:spPr>
            <p:txBody>
              <a:bodyPr/>
              <a:lstStyle/>
              <a:p>
                <a:r>
                  <a:rPr lang="zh-TW" altLang="en-US">
                    <a:noFill/>
                  </a:rPr>
                  <a:t> </a:t>
                </a:r>
              </a:p>
            </p:txBody>
          </p:sp>
        </mc:Fallback>
      </mc:AlternateContent>
      <p:pic>
        <p:nvPicPr>
          <p:cNvPr id="13" name="圖片 12">
            <a:extLst>
              <a:ext uri="{FF2B5EF4-FFF2-40B4-BE49-F238E27FC236}">
                <a16:creationId xmlns:a16="http://schemas.microsoft.com/office/drawing/2014/main" xmlns="" id="{1D67AFCB-F8B5-4C38-940D-809C7A7A6DB1}"/>
              </a:ext>
            </a:extLst>
          </p:cNvPr>
          <p:cNvPicPr>
            <a:picLocks noChangeAspect="1"/>
          </p:cNvPicPr>
          <p:nvPr/>
        </p:nvPicPr>
        <p:blipFill rotWithShape="1">
          <a:blip r:embed="rId3"/>
          <a:srcRect b="8544"/>
          <a:stretch/>
        </p:blipFill>
        <p:spPr>
          <a:xfrm>
            <a:off x="6509254" y="2237635"/>
            <a:ext cx="4730496" cy="4301279"/>
          </a:xfrm>
          <a:prstGeom prst="rect">
            <a:avLst/>
          </a:prstGeom>
        </p:spPr>
      </p:pic>
      <p:pic>
        <p:nvPicPr>
          <p:cNvPr id="11" name="圖片 10">
            <a:extLst>
              <a:ext uri="{FF2B5EF4-FFF2-40B4-BE49-F238E27FC236}">
                <a16:creationId xmlns:a16="http://schemas.microsoft.com/office/drawing/2014/main" xmlns="" id="{026D7DAA-769C-40EB-8D90-62CC1C8854CB}"/>
              </a:ext>
            </a:extLst>
          </p:cNvPr>
          <p:cNvPicPr>
            <a:picLocks noChangeAspect="1"/>
          </p:cNvPicPr>
          <p:nvPr/>
        </p:nvPicPr>
        <p:blipFill rotWithShape="1">
          <a:blip r:embed="rId4"/>
          <a:srcRect b="10169"/>
          <a:stretch/>
        </p:blipFill>
        <p:spPr>
          <a:xfrm>
            <a:off x="1008251" y="4285728"/>
            <a:ext cx="5514469" cy="2435749"/>
          </a:xfrm>
          <a:prstGeom prst="rect">
            <a:avLst/>
          </a:prstGeom>
        </p:spPr>
      </p:pic>
      <p:sp>
        <p:nvSpPr>
          <p:cNvPr id="2" name="標題 1">
            <a:extLst>
              <a:ext uri="{FF2B5EF4-FFF2-40B4-BE49-F238E27FC236}">
                <a16:creationId xmlns:a16="http://schemas.microsoft.com/office/drawing/2014/main" xmlns="" id="{F491B058-3094-4F8A-A508-4F40B7E849FA}"/>
              </a:ext>
            </a:extLst>
          </p:cNvPr>
          <p:cNvSpPr>
            <a:spLocks noGrp="1"/>
          </p:cNvSpPr>
          <p:nvPr>
            <p:ph type="title"/>
          </p:nvPr>
        </p:nvSpPr>
        <p:spPr/>
        <p:txBody>
          <a:bodyPr/>
          <a:lstStyle/>
          <a:p>
            <a:r>
              <a:rPr lang="en-US" altLang="zh-TW" dirty="0"/>
              <a:t>Dynamic Time Warping</a:t>
            </a:r>
            <a:r>
              <a:rPr lang="zh-TW" altLang="en-US" dirty="0"/>
              <a:t> </a:t>
            </a:r>
            <a:r>
              <a:rPr lang="en-US" altLang="zh-TW" dirty="0"/>
              <a:t>(DTW)</a:t>
            </a:r>
            <a:endParaRPr lang="zh-TW" altLang="en-US" dirty="0"/>
          </a:p>
        </p:txBody>
      </p:sp>
      <p:sp>
        <p:nvSpPr>
          <p:cNvPr id="4" name="投影片編號版面配置區 3">
            <a:extLst>
              <a:ext uri="{FF2B5EF4-FFF2-40B4-BE49-F238E27FC236}">
                <a16:creationId xmlns:a16="http://schemas.microsoft.com/office/drawing/2014/main" xmlns="" id="{96A1DF2C-912A-4F8C-9A91-B14F3FFBD7EB}"/>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sp>
        <p:nvSpPr>
          <p:cNvPr id="14" name="橢圓 13">
            <a:extLst>
              <a:ext uri="{FF2B5EF4-FFF2-40B4-BE49-F238E27FC236}">
                <a16:creationId xmlns:a16="http://schemas.microsoft.com/office/drawing/2014/main" xmlns="" id="{4FC3AF2E-7F51-4FF2-9DB0-805112C23902}"/>
              </a:ext>
            </a:extLst>
          </p:cNvPr>
          <p:cNvSpPr/>
          <p:nvPr/>
        </p:nvSpPr>
        <p:spPr>
          <a:xfrm>
            <a:off x="7522464" y="5205984"/>
            <a:ext cx="438912" cy="451104"/>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6" name="橢圓 15">
            <a:extLst>
              <a:ext uri="{FF2B5EF4-FFF2-40B4-BE49-F238E27FC236}">
                <a16:creationId xmlns:a16="http://schemas.microsoft.com/office/drawing/2014/main" xmlns="" id="{912C9FFA-A80D-4B30-86E7-26361241F64A}"/>
              </a:ext>
            </a:extLst>
          </p:cNvPr>
          <p:cNvSpPr/>
          <p:nvPr/>
        </p:nvSpPr>
        <p:spPr>
          <a:xfrm>
            <a:off x="10584749" y="2220300"/>
            <a:ext cx="438912" cy="451104"/>
          </a:xfrm>
          <a:prstGeom prst="ellipse">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xmlns="" id="{5FE641E4-F581-459E-B77A-1C3FFD999357}"/>
              </a:ext>
            </a:extLst>
          </p:cNvPr>
          <p:cNvSpPr txBox="1"/>
          <p:nvPr/>
        </p:nvSpPr>
        <p:spPr>
          <a:xfrm>
            <a:off x="8506968" y="1914409"/>
            <a:ext cx="1475232" cy="369332"/>
          </a:xfrm>
          <a:prstGeom prst="rect">
            <a:avLst/>
          </a:prstGeom>
          <a:noFill/>
        </p:spPr>
        <p:txBody>
          <a:bodyPr wrap="square" rtlCol="0">
            <a:spAutoFit/>
          </a:bodyPr>
          <a:lstStyle/>
          <a:p>
            <a:r>
              <a:rPr lang="en-US" altLang="zh-TW" dirty="0">
                <a:solidFill>
                  <a:srgbClr val="FF0000"/>
                </a:solidFill>
              </a:rPr>
              <a:t>Warping Path</a:t>
            </a:r>
            <a:endParaRPr lang="zh-TW" altLang="en-US" dirty="0">
              <a:solidFill>
                <a:srgbClr val="FF0000"/>
              </a:solidFill>
            </a:endParaRPr>
          </a:p>
        </p:txBody>
      </p:sp>
      <p:sp>
        <p:nvSpPr>
          <p:cNvPr id="17" name="文字方塊 16">
            <a:extLst>
              <a:ext uri="{FF2B5EF4-FFF2-40B4-BE49-F238E27FC236}">
                <a16:creationId xmlns:a16="http://schemas.microsoft.com/office/drawing/2014/main" xmlns="" id="{0819FE17-6F53-4784-B476-56AB2A1CA7C5}"/>
              </a:ext>
            </a:extLst>
          </p:cNvPr>
          <p:cNvSpPr txBox="1"/>
          <p:nvPr/>
        </p:nvSpPr>
        <p:spPr>
          <a:xfrm>
            <a:off x="6565392" y="5669280"/>
            <a:ext cx="1085088" cy="307777"/>
          </a:xfrm>
          <a:prstGeom prst="rect">
            <a:avLst/>
          </a:prstGeom>
          <a:noFill/>
        </p:spPr>
        <p:txBody>
          <a:bodyPr wrap="square" rtlCol="0">
            <a:spAutoFit/>
          </a:bodyPr>
          <a:lstStyle/>
          <a:p>
            <a:r>
              <a:rPr lang="en-US" altLang="zh-TW" sz="1400" dirty="0">
                <a:solidFill>
                  <a:srgbClr val="FF0000"/>
                </a:solidFill>
              </a:rPr>
              <a:t>W</a:t>
            </a:r>
            <a:r>
              <a:rPr lang="en-US" altLang="zh-TW" sz="1400" baseline="-25000" dirty="0">
                <a:solidFill>
                  <a:srgbClr val="FF0000"/>
                </a:solidFill>
              </a:rPr>
              <a:t>1</a:t>
            </a:r>
            <a:r>
              <a:rPr lang="en-US" altLang="zh-TW" sz="1400" dirty="0">
                <a:solidFill>
                  <a:srgbClr val="FF0000"/>
                </a:solidFill>
              </a:rPr>
              <a:t>=(1,1)</a:t>
            </a:r>
            <a:endParaRPr lang="zh-TW" altLang="en-US" sz="1400" dirty="0">
              <a:solidFill>
                <a:srgbClr val="FF0000"/>
              </a:solidFill>
            </a:endParaRPr>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xmlns="" id="{8762CF0D-6098-47BA-BB8A-DE6BA29EA4F6}"/>
                  </a:ext>
                </a:extLst>
              </p:cNvPr>
              <p:cNvSpPr txBox="1"/>
              <p:nvPr/>
            </p:nvSpPr>
            <p:spPr>
              <a:xfrm>
                <a:off x="10330878" y="1895188"/>
                <a:ext cx="1385566" cy="307777"/>
              </a:xfrm>
              <a:prstGeom prst="rect">
                <a:avLst/>
              </a:prstGeom>
              <a:noFill/>
            </p:spPr>
            <p:txBody>
              <a:bodyPr wrap="square" rtlCol="0">
                <a:spAutoFit/>
              </a:bodyPr>
              <a:lstStyle/>
              <a:p>
                <a:r>
                  <a:rPr lang="en-US" altLang="zh-TW" sz="1400" dirty="0">
                    <a:solidFill>
                      <a:srgbClr val="FF0000"/>
                    </a:solidFill>
                  </a:rPr>
                  <a:t>W</a:t>
                </a:r>
                <a:r>
                  <a:rPr lang="en-US" altLang="zh-TW" sz="1400" baseline="-25000" dirty="0" err="1">
                    <a:solidFill>
                      <a:srgbClr val="FF0000"/>
                    </a:solidFill>
                  </a:rPr>
                  <a:t>k</a:t>
                </a:r>
                <a:r>
                  <a:rPr lang="en-US" altLang="zh-TW" sz="1400" dirty="0">
                    <a:solidFill>
                      <a:srgbClr val="FF0000"/>
                    </a:solidFill>
                  </a:rPr>
                  <a:t>=(</a:t>
                </a:r>
                <a14:m>
                  <m:oMath xmlns:m="http://schemas.openxmlformats.org/officeDocument/2006/math">
                    <m:d>
                      <m:dPr>
                        <m:begChr m:val="|"/>
                        <m:endChr m:val="|"/>
                        <m:ctrlPr>
                          <a:rPr lang="en-US" altLang="zh-TW" sz="1400" i="1">
                            <a:solidFill>
                              <a:srgbClr val="FF0000"/>
                            </a:solidFill>
                            <a:latin typeface="Cambria Math" panose="02040503050406030204" pitchFamily="18" charset="0"/>
                          </a:rPr>
                        </m:ctrlPr>
                      </m:dPr>
                      <m:e>
                        <m:r>
                          <a:rPr lang="en-US" altLang="zh-TW" sz="1400">
                            <a:solidFill>
                              <a:srgbClr val="FF0000"/>
                            </a:solidFill>
                            <a:latin typeface="Cambria Math" panose="02040503050406030204" pitchFamily="18" charset="0"/>
                          </a:rPr>
                          <m:t>𝑋</m:t>
                        </m:r>
                      </m:e>
                    </m:d>
                  </m:oMath>
                </a14:m>
                <a:r>
                  <a:rPr lang="en-US" altLang="zh-TW" sz="1400" dirty="0">
                    <a:solidFill>
                      <a:srgbClr val="FF0000"/>
                    </a:solidFill>
                  </a:rPr>
                  <a:t>,</a:t>
                </a:r>
                <a14:m>
                  <m:oMath xmlns:m="http://schemas.openxmlformats.org/officeDocument/2006/math">
                    <m:d>
                      <m:dPr>
                        <m:begChr m:val="|"/>
                        <m:endChr m:val="|"/>
                        <m:ctrlPr>
                          <a:rPr lang="en-US" altLang="zh-TW" sz="1400" i="1">
                            <a:solidFill>
                              <a:srgbClr val="FF0000"/>
                            </a:solidFill>
                            <a:latin typeface="Cambria Math" panose="02040503050406030204" pitchFamily="18" charset="0"/>
                          </a:rPr>
                        </m:ctrlPr>
                      </m:dPr>
                      <m:e>
                        <m:r>
                          <a:rPr lang="en-US" altLang="zh-TW" sz="1400" b="0" i="1" smtClean="0">
                            <a:solidFill>
                              <a:srgbClr val="FF0000"/>
                            </a:solidFill>
                            <a:latin typeface="Cambria Math" panose="02040503050406030204" pitchFamily="18" charset="0"/>
                          </a:rPr>
                          <m:t>𝑌</m:t>
                        </m:r>
                      </m:e>
                    </m:d>
                  </m:oMath>
                </a14:m>
                <a:r>
                  <a:rPr lang="en-US" altLang="zh-TW" sz="1400" dirty="0">
                    <a:solidFill>
                      <a:srgbClr val="FF0000"/>
                    </a:solidFill>
                  </a:rPr>
                  <a:t>)</a:t>
                </a:r>
                <a:endParaRPr lang="zh-TW" altLang="en-US" sz="1400" dirty="0">
                  <a:solidFill>
                    <a:srgbClr val="FF0000"/>
                  </a:solidFill>
                </a:endParaRPr>
              </a:p>
            </p:txBody>
          </p:sp>
        </mc:Choice>
        <mc:Fallback xmlns="">
          <p:sp>
            <p:nvSpPr>
              <p:cNvPr id="19" name="文字方塊 18">
                <a:extLst>
                  <a:ext uri="{FF2B5EF4-FFF2-40B4-BE49-F238E27FC236}">
                    <a16:creationId xmlns:a16="http://schemas.microsoft.com/office/drawing/2014/main" id="{8762CF0D-6098-47BA-BB8A-DE6BA29EA4F6}"/>
                  </a:ext>
                </a:extLst>
              </p:cNvPr>
              <p:cNvSpPr txBox="1">
                <a:spLocks noRot="1" noChangeAspect="1" noMove="1" noResize="1" noEditPoints="1" noAdjustHandles="1" noChangeArrowheads="1" noChangeShapeType="1" noTextEdit="1"/>
              </p:cNvSpPr>
              <p:nvPr/>
            </p:nvSpPr>
            <p:spPr>
              <a:xfrm>
                <a:off x="10330878" y="1895188"/>
                <a:ext cx="1385566" cy="307777"/>
              </a:xfrm>
              <a:prstGeom prst="rect">
                <a:avLst/>
              </a:prstGeom>
              <a:blipFill>
                <a:blip r:embed="rId5"/>
                <a:stretch>
                  <a:fillRect l="-1322" t="-2000" b="-22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605124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EF547F4-2BF7-44E0-A6AB-D8C9A0B84EA5}"/>
              </a:ext>
            </a:extLst>
          </p:cNvPr>
          <p:cNvSpPr>
            <a:spLocks noGrp="1"/>
          </p:cNvSpPr>
          <p:nvPr>
            <p:ph type="title"/>
          </p:nvPr>
        </p:nvSpPr>
        <p:spPr>
          <a:xfrm>
            <a:off x="645318" y="320673"/>
            <a:ext cx="10901363" cy="1325563"/>
          </a:xfrm>
        </p:spPr>
        <p:txBody>
          <a:bodyPr>
            <a:normAutofit fontScale="90000"/>
          </a:bodyPr>
          <a:lstStyle/>
          <a:p>
            <a:pPr>
              <a:lnSpc>
                <a:spcPct val="100000"/>
              </a:lnSpc>
            </a:pPr>
            <a:r>
              <a:rPr lang="en-US" altLang="zh-TW" dirty="0"/>
              <a:t>Templates construction and optimization algorithm</a:t>
            </a:r>
          </a:p>
        </p:txBody>
      </p:sp>
      <p:sp>
        <p:nvSpPr>
          <p:cNvPr id="3" name="內容版面配置區 2">
            <a:extLst>
              <a:ext uri="{FF2B5EF4-FFF2-40B4-BE49-F238E27FC236}">
                <a16:creationId xmlns:a16="http://schemas.microsoft.com/office/drawing/2014/main" xmlns="" id="{F2F907BB-A997-442F-B6CC-802884463F51}"/>
              </a:ext>
            </a:extLst>
          </p:cNvPr>
          <p:cNvSpPr>
            <a:spLocks noGrp="1"/>
          </p:cNvSpPr>
          <p:nvPr>
            <p:ph idx="1"/>
          </p:nvPr>
        </p:nvSpPr>
        <p:spPr>
          <a:xfrm>
            <a:off x="766848" y="1646236"/>
            <a:ext cx="10658302" cy="4895852"/>
          </a:xfrm>
        </p:spPr>
        <p:txBody>
          <a:bodyPr>
            <a:normAutofit fontScale="92500"/>
          </a:bodyPr>
          <a:lstStyle/>
          <a:p>
            <a:pPr marL="514350" indent="-514350">
              <a:buAutoNum type="arabicPeriod"/>
            </a:pPr>
            <a:r>
              <a:rPr lang="en-US" altLang="zh-TW" dirty="0"/>
              <a:t>Initialize k = # of categories for each type of </a:t>
            </a:r>
            <a:r>
              <a:rPr lang="en-US" altLang="zh-TW" dirty="0" err="1"/>
              <a:t>biosignal</a:t>
            </a:r>
            <a:r>
              <a:rPr lang="en-US" altLang="zh-TW" dirty="0"/>
              <a:t>;</a:t>
            </a:r>
          </a:p>
          <a:p>
            <a:pPr marL="514350" indent="-514350">
              <a:buAutoNum type="arabicPeriod"/>
            </a:pPr>
            <a:r>
              <a:rPr lang="en-US" altLang="zh-TW" dirty="0"/>
              <a:t>Segment each </a:t>
            </a:r>
            <a:r>
              <a:rPr lang="en-US" altLang="zh-TW" dirty="0" err="1"/>
              <a:t>biosignal</a:t>
            </a:r>
            <a:r>
              <a:rPr lang="en-US" altLang="zh-TW" dirty="0"/>
              <a:t> into a number of one-cycle patterns;</a:t>
            </a:r>
          </a:p>
          <a:p>
            <a:pPr marL="514350" indent="-514350">
              <a:buAutoNum type="arabicPeriod"/>
            </a:pPr>
            <a:r>
              <a:rPr lang="en-US" altLang="zh-TW" dirty="0"/>
              <a:t>Cluster all patterns into k classes by </a:t>
            </a:r>
            <a:r>
              <a:rPr lang="en-US" altLang="zh-TW" dirty="0" err="1">
                <a:solidFill>
                  <a:srgbClr val="FF0000"/>
                </a:solidFill>
              </a:rPr>
              <a:t>kNN</a:t>
            </a:r>
            <a:r>
              <a:rPr lang="en-US" altLang="zh-TW" dirty="0">
                <a:solidFill>
                  <a:srgbClr val="FF0000"/>
                </a:solidFill>
              </a:rPr>
              <a:t> algorithm</a:t>
            </a:r>
            <a:r>
              <a:rPr lang="en-US" altLang="zh-TW" dirty="0"/>
              <a:t>;</a:t>
            </a:r>
          </a:p>
          <a:p>
            <a:pPr marL="514350" indent="-514350">
              <a:buAutoNum type="arabicPeriod"/>
            </a:pPr>
            <a:r>
              <a:rPr lang="en-US" altLang="zh-TW" dirty="0"/>
              <a:t>For each k cluster, find a central (medoids) pattern of the cluster;</a:t>
            </a:r>
          </a:p>
          <a:p>
            <a:pPr marL="514350" indent="-514350">
              <a:buAutoNum type="arabicPeriod"/>
            </a:pPr>
            <a:r>
              <a:rPr lang="en-US" altLang="zh-TW" dirty="0"/>
              <a:t>For each pattern p, calculate the distance between p and each medoids; Re-assign p to a cluster with nearest medoids;</a:t>
            </a:r>
          </a:p>
          <a:p>
            <a:pPr marL="514350" indent="-514350">
              <a:buAutoNum type="arabicPeriod"/>
            </a:pPr>
            <a:r>
              <a:rPr lang="en-US" altLang="zh-TW" dirty="0"/>
              <a:t>For each cluster, calculate the distance among all p within a cluster; Assign a new medoids to p that has the minimum distance to other patterns;</a:t>
            </a:r>
          </a:p>
          <a:p>
            <a:pPr marL="514350" indent="-514350">
              <a:buAutoNum type="arabicPeriod"/>
            </a:pPr>
            <a:r>
              <a:rPr lang="en-US" altLang="zh-TW" dirty="0"/>
              <a:t>If no more pattern can change the structure of clusters, retrieve the medoids and L nearest patterns for each cluster as the representatives;</a:t>
            </a:r>
            <a:r>
              <a:rPr lang="zh-TW" altLang="en-US" dirty="0"/>
              <a:t> </a:t>
            </a:r>
            <a:r>
              <a:rPr lang="en-US" altLang="zh-TW" dirty="0"/>
              <a:t>otherwise, repeat step 6.</a:t>
            </a:r>
          </a:p>
        </p:txBody>
      </p:sp>
      <p:sp>
        <p:nvSpPr>
          <p:cNvPr id="4" name="投影片編號版面配置區 3">
            <a:extLst>
              <a:ext uri="{FF2B5EF4-FFF2-40B4-BE49-F238E27FC236}">
                <a16:creationId xmlns:a16="http://schemas.microsoft.com/office/drawing/2014/main" xmlns="" id="{FAD2795D-1037-4BEB-A93C-BDE434FEFAB6}"/>
              </a:ext>
            </a:extLst>
          </p:cNvPr>
          <p:cNvSpPr>
            <a:spLocks noGrp="1"/>
          </p:cNvSpPr>
          <p:nvPr>
            <p:ph type="sldNum" sz="quarter" idx="12"/>
          </p:nvPr>
        </p:nvSpPr>
        <p:spPr/>
        <p:txBody>
          <a:bodyPr/>
          <a:lstStyle/>
          <a:p>
            <a:fld id="{8DCCD063-7F18-423D-A692-CC9D343FD360}" type="slidenum">
              <a:rPr lang="zh-TW" altLang="en-US" smtClean="0"/>
              <a:t>8</a:t>
            </a:fld>
            <a:endParaRPr lang="zh-TW" altLang="en-US" dirty="0"/>
          </a:p>
        </p:txBody>
      </p:sp>
    </p:spTree>
    <p:extLst>
      <p:ext uri="{BB962C8B-B14F-4D97-AF65-F5344CB8AC3E}">
        <p14:creationId xmlns:p14="http://schemas.microsoft.com/office/powerpoint/2010/main" val="38688280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EF547F4-2BF7-44E0-A6AB-D8C9A0B84EA5}"/>
              </a:ext>
            </a:extLst>
          </p:cNvPr>
          <p:cNvSpPr>
            <a:spLocks noGrp="1"/>
          </p:cNvSpPr>
          <p:nvPr>
            <p:ph type="title"/>
          </p:nvPr>
        </p:nvSpPr>
        <p:spPr>
          <a:xfrm>
            <a:off x="652462" y="320673"/>
            <a:ext cx="9329738" cy="1325563"/>
          </a:xfrm>
        </p:spPr>
        <p:txBody>
          <a:bodyPr/>
          <a:lstStyle/>
          <a:p>
            <a:pPr>
              <a:lnSpc>
                <a:spcPct val="100000"/>
              </a:lnSpc>
            </a:pPr>
            <a:r>
              <a:rPr lang="en-US" altLang="zh-TW" dirty="0"/>
              <a:t>Pattern matching phase of B</a:t>
            </a:r>
            <a:r>
              <a:rPr lang="en-US" altLang="zh-TW" baseline="30000" dirty="0"/>
              <a:t>2</a:t>
            </a:r>
            <a:r>
              <a:rPr lang="en-US" altLang="zh-TW" dirty="0"/>
              <a:t>SC Model</a:t>
            </a:r>
            <a:endParaRPr lang="zh-TW" altLang="en-US" dirty="0"/>
          </a:p>
        </p:txBody>
      </p:sp>
      <p:sp>
        <p:nvSpPr>
          <p:cNvPr id="3" name="內容版面配置區 2">
            <a:extLst>
              <a:ext uri="{FF2B5EF4-FFF2-40B4-BE49-F238E27FC236}">
                <a16:creationId xmlns:a16="http://schemas.microsoft.com/office/drawing/2014/main" xmlns="" id="{F2F907BB-A997-442F-B6CC-802884463F51}"/>
              </a:ext>
            </a:extLst>
          </p:cNvPr>
          <p:cNvSpPr>
            <a:spLocks noGrp="1"/>
          </p:cNvSpPr>
          <p:nvPr>
            <p:ph idx="1"/>
          </p:nvPr>
        </p:nvSpPr>
        <p:spPr>
          <a:xfrm>
            <a:off x="766848" y="1825625"/>
            <a:ext cx="10770727" cy="4351338"/>
          </a:xfrm>
        </p:spPr>
        <p:txBody>
          <a:bodyPr/>
          <a:lstStyle/>
          <a:p>
            <a:pPr marL="0" indent="0">
              <a:buNone/>
            </a:pPr>
            <a:r>
              <a:rPr lang="en-US" altLang="zh-TW" b="1" dirty="0"/>
              <a:t>Input:</a:t>
            </a:r>
          </a:p>
          <a:p>
            <a:pPr marL="514350" indent="-514350">
              <a:buAutoNum type="arabicPeriod"/>
            </a:pPr>
            <a:r>
              <a:rPr lang="en-US" altLang="zh-TW" dirty="0"/>
              <a:t>S = {S</a:t>
            </a:r>
            <a:r>
              <a:rPr lang="en-US" altLang="zh-TW" baseline="-25000" dirty="0"/>
              <a:t>1</a:t>
            </a:r>
            <a:r>
              <a:rPr lang="en-US" altLang="zh-TW" dirty="0"/>
              <a:t>,S</a:t>
            </a:r>
            <a:r>
              <a:rPr lang="en-US" altLang="zh-TW" baseline="-25000" dirty="0"/>
              <a:t>2</a:t>
            </a:r>
            <a:r>
              <a:rPr lang="en-US" altLang="zh-TW" dirty="0"/>
              <a:t>,…,S</a:t>
            </a:r>
            <a:r>
              <a:rPr lang="en-US" altLang="zh-TW" baseline="-25000" dirty="0"/>
              <a:t>m</a:t>
            </a:r>
            <a:r>
              <a:rPr lang="en-US" altLang="zh-TW" dirty="0"/>
              <a:t>} : a blind </a:t>
            </a:r>
            <a:r>
              <a:rPr lang="en-US" altLang="zh-TW" dirty="0" err="1"/>
              <a:t>biosignal</a:t>
            </a:r>
            <a:endParaRPr lang="en-US" altLang="zh-TW" dirty="0"/>
          </a:p>
          <a:p>
            <a:pPr marL="514350" indent="-514350">
              <a:buAutoNum type="arabicPeriod"/>
            </a:pPr>
            <a:r>
              <a:rPr lang="en-US" altLang="zh-TW" dirty="0" err="1"/>
              <a:t>OpTem</a:t>
            </a:r>
            <a:r>
              <a:rPr lang="en-US" altLang="zh-TW" dirty="0"/>
              <a:t> = {</a:t>
            </a:r>
            <a:r>
              <a:rPr lang="en-US" altLang="zh-TW" dirty="0" err="1"/>
              <a:t>P</a:t>
            </a:r>
            <a:r>
              <a:rPr lang="en-US" altLang="zh-TW" baseline="-25000" dirty="0" err="1"/>
              <a:t>ecg</a:t>
            </a:r>
            <a:r>
              <a:rPr lang="en-US" altLang="zh-TW" dirty="0"/>
              <a:t>(</a:t>
            </a:r>
            <a:r>
              <a:rPr lang="en-US" altLang="zh-TW" dirty="0" err="1"/>
              <a:t>i</a:t>
            </a:r>
            <a:r>
              <a:rPr lang="en-US" altLang="zh-TW" dirty="0"/>
              <a:t>), </a:t>
            </a:r>
            <a:r>
              <a:rPr lang="en-US" altLang="zh-TW" dirty="0" err="1"/>
              <a:t>P</a:t>
            </a:r>
            <a:r>
              <a:rPr lang="en-US" altLang="zh-TW" baseline="-25000" dirty="0" err="1"/>
              <a:t>eeg</a:t>
            </a:r>
            <a:r>
              <a:rPr lang="en-US" altLang="zh-TW" dirty="0"/>
              <a:t>(j); 0</a:t>
            </a:r>
            <a:r>
              <a:rPr lang="ii-CN" altLang="en-US" dirty="0"/>
              <a:t>≤</a:t>
            </a:r>
            <a:r>
              <a:rPr lang="en-US" altLang="ii-CN" dirty="0" err="1"/>
              <a:t>i</a:t>
            </a:r>
            <a:r>
              <a:rPr lang="ii-CN" altLang="en-US" dirty="0"/>
              <a:t> ≤</a:t>
            </a:r>
            <a:r>
              <a:rPr lang="en-US" altLang="ii-CN" dirty="0"/>
              <a:t>k, 0</a:t>
            </a:r>
            <a:r>
              <a:rPr lang="ii-CN" altLang="en-US" dirty="0"/>
              <a:t>≤</a:t>
            </a:r>
            <a:r>
              <a:rPr lang="en-US" altLang="ii-CN" dirty="0"/>
              <a:t>j</a:t>
            </a:r>
            <a:r>
              <a:rPr lang="ii-CN" altLang="en-US" dirty="0"/>
              <a:t> ≤</a:t>
            </a:r>
            <a:r>
              <a:rPr lang="en-US" altLang="ii-CN" dirty="0"/>
              <a:t>w} :</a:t>
            </a:r>
            <a:r>
              <a:rPr lang="zh-TW" altLang="en-US" dirty="0"/>
              <a:t> </a:t>
            </a:r>
            <a:r>
              <a:rPr lang="en-US" altLang="zh-TW" dirty="0"/>
              <a:t>the optimal representative </a:t>
            </a:r>
            <a:r>
              <a:rPr lang="en-US" altLang="zh-TW" dirty="0" err="1"/>
              <a:t>biosignal</a:t>
            </a:r>
            <a:r>
              <a:rPr lang="en-US" altLang="zh-TW" dirty="0"/>
              <a:t> templates</a:t>
            </a:r>
          </a:p>
          <a:p>
            <a:pPr marL="514350" indent="-514350">
              <a:buAutoNum type="arabicPeriod"/>
            </a:pPr>
            <a:r>
              <a:rPr lang="el-GR" altLang="zh-TW" dirty="0"/>
              <a:t>λ</a:t>
            </a:r>
            <a:r>
              <a:rPr lang="en-US" altLang="zh-TW" dirty="0"/>
              <a:t> : threshold for determining the type of an input </a:t>
            </a:r>
            <a:r>
              <a:rPr lang="en-US" altLang="zh-TW" dirty="0" err="1"/>
              <a:t>biosignal</a:t>
            </a:r>
            <a:endParaRPr lang="zh-TW" altLang="en-US" dirty="0"/>
          </a:p>
        </p:txBody>
      </p:sp>
      <p:sp>
        <p:nvSpPr>
          <p:cNvPr id="4" name="投影片編號版面配置區 3">
            <a:extLst>
              <a:ext uri="{FF2B5EF4-FFF2-40B4-BE49-F238E27FC236}">
                <a16:creationId xmlns:a16="http://schemas.microsoft.com/office/drawing/2014/main" xmlns="" id="{FAD2795D-1037-4BEB-A93C-BDE434FEFAB6}"/>
              </a:ext>
            </a:extLst>
          </p:cNvPr>
          <p:cNvSpPr>
            <a:spLocks noGrp="1"/>
          </p:cNvSpPr>
          <p:nvPr>
            <p:ph type="sldNum" sz="quarter" idx="12"/>
          </p:nvPr>
        </p:nvSpPr>
        <p:spPr/>
        <p:txBody>
          <a:bodyPr/>
          <a:lstStyle/>
          <a:p>
            <a:fld id="{8DCCD063-7F18-423D-A692-CC9D343FD360}" type="slidenum">
              <a:rPr lang="zh-TW" altLang="en-US" smtClean="0"/>
              <a:t>9</a:t>
            </a:fld>
            <a:endParaRPr lang="zh-TW" altLang="en-US" dirty="0"/>
          </a:p>
        </p:txBody>
      </p:sp>
    </p:spTree>
    <p:extLst>
      <p:ext uri="{BB962C8B-B14F-4D97-AF65-F5344CB8AC3E}">
        <p14:creationId xmlns:p14="http://schemas.microsoft.com/office/powerpoint/2010/main" val="6718524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EF547F4-2BF7-44E0-A6AB-D8C9A0B84EA5}"/>
              </a:ext>
            </a:extLst>
          </p:cNvPr>
          <p:cNvSpPr>
            <a:spLocks noGrp="1"/>
          </p:cNvSpPr>
          <p:nvPr>
            <p:ph type="title"/>
          </p:nvPr>
        </p:nvSpPr>
        <p:spPr>
          <a:xfrm>
            <a:off x="652462" y="320673"/>
            <a:ext cx="9329738" cy="1325563"/>
          </a:xfrm>
        </p:spPr>
        <p:txBody>
          <a:bodyPr/>
          <a:lstStyle/>
          <a:p>
            <a:pPr>
              <a:lnSpc>
                <a:spcPct val="100000"/>
              </a:lnSpc>
            </a:pPr>
            <a:r>
              <a:rPr lang="en-US" altLang="zh-TW" dirty="0"/>
              <a:t>Pattern matching phase of B</a:t>
            </a:r>
            <a:r>
              <a:rPr lang="en-US" altLang="zh-TW" baseline="30000" dirty="0"/>
              <a:t>2</a:t>
            </a:r>
            <a:r>
              <a:rPr lang="en-US" altLang="zh-TW" dirty="0"/>
              <a:t>SC Model</a:t>
            </a:r>
            <a:endParaRPr lang="zh-TW" altLang="en-US" dirty="0"/>
          </a:p>
        </p:txBody>
      </p:sp>
      <p:sp>
        <p:nvSpPr>
          <p:cNvPr id="3" name="內容版面配置區 2">
            <a:extLst>
              <a:ext uri="{FF2B5EF4-FFF2-40B4-BE49-F238E27FC236}">
                <a16:creationId xmlns:a16="http://schemas.microsoft.com/office/drawing/2014/main" xmlns="" id="{F2F907BB-A997-442F-B6CC-802884463F51}"/>
              </a:ext>
            </a:extLst>
          </p:cNvPr>
          <p:cNvSpPr>
            <a:spLocks noGrp="1"/>
          </p:cNvSpPr>
          <p:nvPr>
            <p:ph idx="1"/>
          </p:nvPr>
        </p:nvSpPr>
        <p:spPr>
          <a:xfrm>
            <a:off x="523008" y="1825625"/>
            <a:ext cx="11291040" cy="4351338"/>
          </a:xfrm>
        </p:spPr>
        <p:txBody>
          <a:bodyPr/>
          <a:lstStyle/>
          <a:p>
            <a:pPr marL="0" indent="0">
              <a:buNone/>
            </a:pPr>
            <a:r>
              <a:rPr lang="en-US" altLang="zh-TW" b="1" dirty="0"/>
              <a:t>Output:</a:t>
            </a:r>
            <a:r>
              <a:rPr lang="zh-TW" altLang="en-US" b="1" dirty="0"/>
              <a:t> </a:t>
            </a:r>
            <a:r>
              <a:rPr lang="en-US" altLang="zh-TW" b="1" dirty="0"/>
              <a:t>Class = {ECG, EEG and Other} : the signal class</a:t>
            </a:r>
          </a:p>
          <a:p>
            <a:pPr marL="514350" indent="-514350">
              <a:buAutoNum type="arabicPeriod"/>
            </a:pPr>
            <a:r>
              <a:rPr lang="en-US" altLang="zh-TW" dirty="0" err="1"/>
              <a:t>min</a:t>
            </a:r>
            <a:r>
              <a:rPr lang="en-US" altLang="zh-TW" baseline="-25000" dirty="0" err="1"/>
              <a:t>ecg</a:t>
            </a:r>
            <a:r>
              <a:rPr lang="zh-TW" altLang="en-US" baseline="-25000" dirty="0"/>
              <a:t> </a:t>
            </a:r>
            <a:r>
              <a:rPr lang="en-US" altLang="zh-TW" baseline="-25000" dirty="0"/>
              <a:t>&lt;- Matching ECG templates and get the minimum similarity measurement</a:t>
            </a:r>
          </a:p>
          <a:p>
            <a:pPr marL="514350" indent="-514350">
              <a:buAutoNum type="arabicPeriod"/>
            </a:pPr>
            <a:r>
              <a:rPr lang="en-US" altLang="zh-TW" dirty="0" err="1"/>
              <a:t>min</a:t>
            </a:r>
            <a:r>
              <a:rPr lang="en-US" altLang="zh-TW" baseline="-25000" dirty="0" err="1"/>
              <a:t>eeg</a:t>
            </a:r>
            <a:r>
              <a:rPr lang="en-US" altLang="zh-TW" baseline="-25000" dirty="0"/>
              <a:t> &lt;- Matching EEG templates and get the minimum similarity measurement</a:t>
            </a:r>
          </a:p>
          <a:p>
            <a:pPr marL="514350" indent="-514350">
              <a:buAutoNum type="arabicPeriod"/>
            </a:pPr>
            <a:r>
              <a:rPr lang="en-US" altLang="zh-TW" dirty="0" err="1"/>
              <a:t>min</a:t>
            </a:r>
            <a:r>
              <a:rPr lang="en-US" altLang="zh-TW" baseline="-25000" dirty="0" err="1"/>
              <a:t>tp</a:t>
            </a:r>
            <a:r>
              <a:rPr lang="en-US" altLang="zh-TW" baseline="-25000" dirty="0"/>
              <a:t> &lt;- Compare </a:t>
            </a:r>
            <a:r>
              <a:rPr lang="en-US" altLang="zh-TW" sz="2400" dirty="0" err="1"/>
              <a:t>min</a:t>
            </a:r>
            <a:r>
              <a:rPr lang="en-US" altLang="zh-TW" sz="2400" baseline="-25000" dirty="0" err="1"/>
              <a:t>ecg</a:t>
            </a:r>
            <a:r>
              <a:rPr lang="en-US" altLang="zh-TW" baseline="-25000" dirty="0"/>
              <a:t> and </a:t>
            </a:r>
            <a:r>
              <a:rPr lang="en-US" altLang="zh-TW" sz="2400" dirty="0" err="1"/>
              <a:t>min</a:t>
            </a:r>
            <a:r>
              <a:rPr lang="en-US" altLang="zh-TW" sz="2400" baseline="-25000" dirty="0" err="1"/>
              <a:t>eeg</a:t>
            </a:r>
            <a:r>
              <a:rPr lang="en-US" altLang="zh-TW" baseline="-25000" dirty="0"/>
              <a:t> to get the minimum similarity measurement among the signal templates</a:t>
            </a:r>
          </a:p>
          <a:p>
            <a:pPr marL="514350" indent="-514350">
              <a:buAutoNum type="arabicPeriod"/>
            </a:pPr>
            <a:r>
              <a:rPr lang="en-US" altLang="zh-TW" dirty="0"/>
              <a:t>If </a:t>
            </a:r>
            <a:r>
              <a:rPr lang="en-US" altLang="zh-TW" dirty="0" err="1"/>
              <a:t>min</a:t>
            </a:r>
            <a:r>
              <a:rPr lang="en-US" altLang="zh-TW" baseline="-25000" dirty="0" err="1"/>
              <a:t>tp</a:t>
            </a:r>
            <a:r>
              <a:rPr lang="en-US" altLang="zh-TW" dirty="0"/>
              <a:t> &lt; </a:t>
            </a:r>
            <a:r>
              <a:rPr lang="el-GR" altLang="zh-TW" dirty="0"/>
              <a:t>λ </a:t>
            </a:r>
            <a:r>
              <a:rPr lang="en-US" altLang="zh-TW" dirty="0"/>
              <a:t>, if </a:t>
            </a:r>
            <a:r>
              <a:rPr lang="en-US" altLang="zh-TW" dirty="0" err="1"/>
              <a:t>min</a:t>
            </a:r>
            <a:r>
              <a:rPr lang="en-US" altLang="zh-TW" baseline="-25000" dirty="0" err="1"/>
              <a:t>tp</a:t>
            </a:r>
            <a:r>
              <a:rPr lang="en-US" altLang="zh-TW" dirty="0"/>
              <a:t> = </a:t>
            </a:r>
            <a:r>
              <a:rPr lang="en-US" altLang="zh-TW" dirty="0" err="1"/>
              <a:t>min</a:t>
            </a:r>
            <a:r>
              <a:rPr lang="en-US" altLang="zh-TW" baseline="-25000" dirty="0" err="1"/>
              <a:t>ecg</a:t>
            </a:r>
            <a:r>
              <a:rPr lang="en-US" altLang="zh-TW" dirty="0"/>
              <a:t>, output is ECG, else output is EEG</a:t>
            </a:r>
          </a:p>
          <a:p>
            <a:pPr marL="514350" indent="-514350">
              <a:buAutoNum type="arabicPeriod"/>
            </a:pPr>
            <a:r>
              <a:rPr lang="en-US" altLang="zh-TW" dirty="0"/>
              <a:t>If </a:t>
            </a:r>
            <a:r>
              <a:rPr lang="en-US" altLang="zh-TW" dirty="0" err="1"/>
              <a:t>min</a:t>
            </a:r>
            <a:r>
              <a:rPr lang="en-US" altLang="zh-TW" baseline="-25000" dirty="0" err="1"/>
              <a:t>tp</a:t>
            </a:r>
            <a:r>
              <a:rPr lang="en-US" altLang="zh-TW" dirty="0"/>
              <a:t> &gt; </a:t>
            </a:r>
            <a:r>
              <a:rPr lang="el-GR" altLang="zh-TW" dirty="0"/>
              <a:t>λ </a:t>
            </a:r>
            <a:r>
              <a:rPr lang="en-US" altLang="zh-TW" dirty="0"/>
              <a:t>, output is other </a:t>
            </a:r>
            <a:r>
              <a:rPr lang="en-US" altLang="zh-TW" dirty="0" err="1"/>
              <a:t>biosignal</a:t>
            </a:r>
            <a:endParaRPr lang="en-US" altLang="zh-TW" dirty="0"/>
          </a:p>
        </p:txBody>
      </p:sp>
      <p:sp>
        <p:nvSpPr>
          <p:cNvPr id="4" name="投影片編號版面配置區 3">
            <a:extLst>
              <a:ext uri="{FF2B5EF4-FFF2-40B4-BE49-F238E27FC236}">
                <a16:creationId xmlns:a16="http://schemas.microsoft.com/office/drawing/2014/main" xmlns="" id="{FAD2795D-1037-4BEB-A93C-BDE434FEFAB6}"/>
              </a:ext>
            </a:extLst>
          </p:cNvPr>
          <p:cNvSpPr>
            <a:spLocks noGrp="1"/>
          </p:cNvSpPr>
          <p:nvPr>
            <p:ph type="sldNum" sz="quarter" idx="12"/>
          </p:nvPr>
        </p:nvSpPr>
        <p:spPr/>
        <p:txBody>
          <a:bodyPr/>
          <a:lstStyle/>
          <a:p>
            <a:fld id="{8DCCD063-7F18-423D-A692-CC9D343FD360}" type="slidenum">
              <a:rPr lang="zh-TW" altLang="en-US" smtClean="0"/>
              <a:t>10</a:t>
            </a:fld>
            <a:endParaRPr lang="zh-TW" altLang="en-US" dirty="0"/>
          </a:p>
        </p:txBody>
      </p:sp>
    </p:spTree>
    <p:extLst>
      <p:ext uri="{BB962C8B-B14F-4D97-AF65-F5344CB8AC3E}">
        <p14:creationId xmlns:p14="http://schemas.microsoft.com/office/powerpoint/2010/main" val="1272842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EF547F4-2BF7-44E0-A6AB-D8C9A0B84EA5}"/>
              </a:ext>
            </a:extLst>
          </p:cNvPr>
          <p:cNvSpPr>
            <a:spLocks noGrp="1"/>
          </p:cNvSpPr>
          <p:nvPr>
            <p:ph type="title"/>
          </p:nvPr>
        </p:nvSpPr>
        <p:spPr>
          <a:xfrm>
            <a:off x="652462" y="320673"/>
            <a:ext cx="9329738" cy="1325563"/>
          </a:xfrm>
        </p:spPr>
        <p:txBody>
          <a:bodyPr/>
          <a:lstStyle/>
          <a:p>
            <a:pPr>
              <a:lnSpc>
                <a:spcPct val="100000"/>
              </a:lnSpc>
            </a:pPr>
            <a:r>
              <a:rPr lang="en-US" altLang="zh-TW" dirty="0"/>
              <a:t>Pattern matching phase of B</a:t>
            </a:r>
            <a:r>
              <a:rPr lang="en-US" altLang="zh-TW" baseline="30000" dirty="0"/>
              <a:t>2</a:t>
            </a:r>
            <a:r>
              <a:rPr lang="en-US" altLang="zh-TW" dirty="0"/>
              <a:t>SC Model</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xmlns="" id="{F2F907BB-A997-442F-B6CC-802884463F51}"/>
                  </a:ext>
                </a:extLst>
              </p:cNvPr>
              <p:cNvSpPr>
                <a:spLocks noGrp="1"/>
              </p:cNvSpPr>
              <p:nvPr>
                <p:ph idx="1"/>
              </p:nvPr>
            </p:nvSpPr>
            <p:spPr>
              <a:xfrm>
                <a:off x="782890" y="1783641"/>
                <a:ext cx="10770727" cy="4153863"/>
              </a:xfrm>
            </p:spPr>
            <p:txBody>
              <a:bodyPr>
                <a:normAutofit/>
              </a:bodyPr>
              <a:lstStyle/>
              <a:p>
                <a:pPr marL="0" indent="0">
                  <a:lnSpc>
                    <a:spcPct val="60000"/>
                  </a:lnSpc>
                  <a:spcBef>
                    <a:spcPts val="600"/>
                  </a:spcBef>
                  <a:buNone/>
                </a:pPr>
                <a:r>
                  <a:rPr lang="en-US" altLang="zh-TW" dirty="0"/>
                  <a:t>Sim(P, S) =</a:t>
                </a:r>
                <a14:m>
                  <m:oMath xmlns:m="http://schemas.openxmlformats.org/officeDocument/2006/math">
                    <m:f>
                      <m:fPr>
                        <m:type m:val="noBar"/>
                        <m:ctrlPr>
                          <a:rPr lang="en-US" altLang="zh-TW" sz="2200" i="1" smtClean="0">
                            <a:latin typeface="Cambria Math" panose="02040503050406030204" pitchFamily="18" charset="0"/>
                          </a:rPr>
                        </m:ctrlPr>
                      </m:fPr>
                      <m:num>
                        <m:r>
                          <a:rPr lang="en-US" altLang="zh-TW" sz="2200" b="1" i="1" smtClean="0">
                            <a:latin typeface="Cambria Math" panose="02040503050406030204" pitchFamily="18" charset="0"/>
                          </a:rPr>
                          <m:t>𝒎𝒊𝒏</m:t>
                        </m:r>
                      </m:num>
                      <m:den>
                        <m:r>
                          <a:rPr lang="en-US" altLang="zh-TW" sz="2200" b="0" i="1" smtClean="0">
                            <a:latin typeface="Cambria Math" panose="02040503050406030204" pitchFamily="18" charset="0"/>
                          </a:rPr>
                          <m:t>0</m:t>
                        </m:r>
                        <m:r>
                          <a:rPr lang="en-US" altLang="zh-TW" sz="2200" b="0" i="1" smtClean="0">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𝑏</m:t>
                        </m:r>
                        <m:r>
                          <a:rPr lang="en-US" altLang="zh-TW" sz="2200" b="0" i="1" smtClean="0">
                            <a:latin typeface="Cambria Math" panose="02040503050406030204" pitchFamily="18" charset="0"/>
                            <a:ea typeface="Cambria Math" panose="02040503050406030204" pitchFamily="18" charset="0"/>
                          </a:rPr>
                          <m:t>≤</m:t>
                        </m:r>
                        <m:d>
                          <m:dPr>
                            <m:begChr m:val="|"/>
                            <m:endChr m:val="|"/>
                            <m:ctrlPr>
                              <a:rPr lang="en-US" altLang="zh-TW" sz="2200" b="0" i="1" smtClean="0">
                                <a:latin typeface="Cambria Math" panose="02040503050406030204" pitchFamily="18" charset="0"/>
                                <a:ea typeface="Cambria Math" panose="02040503050406030204" pitchFamily="18" charset="0"/>
                              </a:rPr>
                            </m:ctrlPr>
                          </m:dPr>
                          <m:e>
                            <m:r>
                              <a:rPr lang="en-US" altLang="zh-TW" sz="2200" b="0" i="1" smtClean="0">
                                <a:latin typeface="Cambria Math" panose="02040503050406030204" pitchFamily="18" charset="0"/>
                                <a:ea typeface="Cambria Math" panose="02040503050406030204" pitchFamily="18" charset="0"/>
                              </a:rPr>
                              <m:t>𝑆</m:t>
                            </m:r>
                          </m:e>
                        </m:d>
                        <m:r>
                          <a:rPr lang="en-US" altLang="zh-TW" sz="2200" b="0" i="1" smtClean="0">
                            <a:latin typeface="Cambria Math" panose="02040503050406030204" pitchFamily="18" charset="0"/>
                            <a:ea typeface="Cambria Math" panose="02040503050406030204" pitchFamily="18" charset="0"/>
                          </a:rPr>
                          <m:t>−</m:t>
                        </m:r>
                        <m:d>
                          <m:dPr>
                            <m:begChr m:val="|"/>
                            <m:endChr m:val="|"/>
                            <m:ctrlPr>
                              <a:rPr lang="en-US" altLang="zh-TW" sz="2200" b="0" i="1" smtClean="0">
                                <a:latin typeface="Cambria Math" panose="02040503050406030204" pitchFamily="18" charset="0"/>
                                <a:ea typeface="Cambria Math" panose="02040503050406030204" pitchFamily="18" charset="0"/>
                              </a:rPr>
                            </m:ctrlPr>
                          </m:dPr>
                          <m:e>
                            <m:r>
                              <a:rPr lang="en-US" altLang="zh-TW" sz="2200" b="0" i="1" smtClean="0">
                                <a:latin typeface="Cambria Math" panose="02040503050406030204" pitchFamily="18" charset="0"/>
                                <a:ea typeface="Cambria Math" panose="02040503050406030204" pitchFamily="18" charset="0"/>
                              </a:rPr>
                              <m:t>𝑃</m:t>
                            </m:r>
                          </m:e>
                        </m:d>
                        <m:r>
                          <a:rPr lang="en-US" altLang="zh-TW" sz="2200" b="0" i="1" smtClean="0">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𝑏</m:t>
                        </m:r>
                        <m:r>
                          <a:rPr lang="en-US" altLang="zh-TW" sz="2200" b="0" i="1" smtClean="0">
                            <a:latin typeface="Cambria Math" panose="02040503050406030204" pitchFamily="18" charset="0"/>
                            <a:ea typeface="Cambria Math" panose="02040503050406030204" pitchFamily="18" charset="0"/>
                          </a:rPr>
                          <m:t>+</m:t>
                        </m:r>
                        <m:d>
                          <m:dPr>
                            <m:begChr m:val="|"/>
                            <m:endChr m:val="|"/>
                            <m:ctrlPr>
                              <a:rPr lang="en-US" altLang="zh-TW" sz="2200" b="0" i="1" smtClean="0">
                                <a:latin typeface="Cambria Math" panose="02040503050406030204" pitchFamily="18" charset="0"/>
                                <a:ea typeface="Cambria Math" panose="02040503050406030204" pitchFamily="18" charset="0"/>
                              </a:rPr>
                            </m:ctrlPr>
                          </m:dPr>
                          <m:e>
                            <m:r>
                              <a:rPr lang="en-US" altLang="zh-TW" sz="2200" b="0" i="1" smtClean="0">
                                <a:latin typeface="Cambria Math" panose="02040503050406030204" pitchFamily="18" charset="0"/>
                                <a:ea typeface="Cambria Math" panose="02040503050406030204" pitchFamily="18" charset="0"/>
                              </a:rPr>
                              <m:t>𝑃</m:t>
                            </m:r>
                          </m:e>
                        </m:d>
                        <m:r>
                          <a:rPr lang="en-US" altLang="zh-TW" sz="2200" b="0" i="1" smtClean="0">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𝑒</m:t>
                        </m:r>
                        <m:r>
                          <a:rPr lang="en-US" altLang="zh-TW" sz="2200" b="0" i="1" smtClean="0">
                            <a:latin typeface="Cambria Math" panose="02040503050406030204" pitchFamily="18" charset="0"/>
                            <a:ea typeface="Cambria Math" panose="02040503050406030204" pitchFamily="18" charset="0"/>
                          </a:rPr>
                          <m:t>≤</m:t>
                        </m:r>
                        <m:d>
                          <m:dPr>
                            <m:begChr m:val="|"/>
                            <m:endChr m:val="|"/>
                            <m:ctrlPr>
                              <a:rPr lang="en-US" altLang="zh-TW" sz="2200" i="1">
                                <a:latin typeface="Cambria Math" panose="02040503050406030204" pitchFamily="18" charset="0"/>
                                <a:ea typeface="Cambria Math" panose="02040503050406030204" pitchFamily="18" charset="0"/>
                              </a:rPr>
                            </m:ctrlPr>
                          </m:dPr>
                          <m:e>
                            <m:r>
                              <a:rPr lang="en-US" altLang="zh-TW" sz="2200" i="1">
                                <a:latin typeface="Cambria Math" panose="02040503050406030204" pitchFamily="18" charset="0"/>
                                <a:ea typeface="Cambria Math" panose="02040503050406030204" pitchFamily="18" charset="0"/>
                              </a:rPr>
                              <m:t>𝑆</m:t>
                            </m:r>
                          </m:e>
                        </m:d>
                      </m:den>
                    </m:f>
                  </m:oMath>
                </a14:m>
                <a:r>
                  <a:rPr lang="en-US" altLang="zh-TW" dirty="0"/>
                  <a:t> </a:t>
                </a:r>
                <a:r>
                  <a:rPr lang="en-US" altLang="zh-TW" dirty="0">
                    <a:solidFill>
                      <a:srgbClr val="FF0000"/>
                    </a:solidFill>
                  </a:rPr>
                  <a:t>DTW</a:t>
                </a:r>
                <a:r>
                  <a:rPr lang="en-US" altLang="zh-TW" dirty="0"/>
                  <a:t>(P, </a:t>
                </a:r>
                <a:r>
                  <a:rPr lang="en-US" altLang="zh-TW" dirty="0" err="1"/>
                  <a:t>S</a:t>
                </a:r>
                <a:r>
                  <a:rPr lang="en-US" altLang="zh-TW" baseline="-25000" dirty="0" err="1"/>
                  <a:t>b,e</a:t>
                </a:r>
                <a:r>
                  <a:rPr lang="en-US" altLang="zh-TW" dirty="0"/>
                  <a:t>)     (1)</a:t>
                </a:r>
              </a:p>
              <a:p>
                <a:pPr marL="0" indent="0">
                  <a:lnSpc>
                    <a:spcPct val="60000"/>
                  </a:lnSpc>
                  <a:spcBef>
                    <a:spcPts val="600"/>
                  </a:spcBef>
                  <a:buNone/>
                </a:pPr>
                <a:endParaRPr lang="en-US" altLang="zh-TW" dirty="0"/>
              </a:p>
              <a:p>
                <a:pPr marL="0" indent="0">
                  <a:lnSpc>
                    <a:spcPct val="60000"/>
                  </a:lnSpc>
                  <a:spcBef>
                    <a:spcPts val="600"/>
                  </a:spcBef>
                  <a:buNone/>
                </a:pPr>
                <a:endParaRPr lang="en-US" altLang="zh-TW" dirty="0"/>
              </a:p>
              <a:p>
                <a:pPr marL="0" indent="0">
                  <a:lnSpc>
                    <a:spcPct val="60000"/>
                  </a:lnSpc>
                  <a:spcBef>
                    <a:spcPts val="600"/>
                  </a:spcBef>
                  <a:buNone/>
                </a:pPr>
                <a:r>
                  <a:rPr lang="en-US" altLang="zh-TW" dirty="0">
                    <a:solidFill>
                      <a:srgbClr val="FF0000"/>
                    </a:solidFill>
                  </a:rPr>
                  <a:t>DTW</a:t>
                </a:r>
                <a:r>
                  <a:rPr lang="en-US" altLang="zh-TW" dirty="0"/>
                  <a:t>(ET, EU) = min</a:t>
                </a:r>
                <a14:m>
                  <m:oMath xmlns:m="http://schemas.openxmlformats.org/officeDocument/2006/math">
                    <m:rad>
                      <m:radPr>
                        <m:degHide m:val="on"/>
                        <m:ctrlPr>
                          <a:rPr lang="en-US" altLang="zh-TW" i="1">
                            <a:latin typeface="Cambria Math" panose="02040503050406030204" pitchFamily="18" charset="0"/>
                          </a:rPr>
                        </m:ctrlPr>
                      </m:radPr>
                      <m:deg/>
                      <m:e>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𝑙</m:t>
                            </m:r>
                            <m:r>
                              <a:rPr lang="en-US" altLang="zh-TW" i="1">
                                <a:latin typeface="Cambria Math" panose="02040503050406030204" pitchFamily="18" charset="0"/>
                              </a:rPr>
                              <m:t>=1</m:t>
                            </m:r>
                          </m:sub>
                          <m:sup>
                            <m:r>
                              <a:rPr lang="en-US" altLang="zh-TW" i="1">
                                <a:latin typeface="Cambria Math" panose="02040503050406030204" pitchFamily="18" charset="0"/>
                              </a:rPr>
                              <m:t>𝐾</m:t>
                            </m:r>
                          </m:sup>
                          <m:e>
                            <m:r>
                              <a:rPr lang="en-US" altLang="zh-TW" i="1">
                                <a:latin typeface="Cambria Math" panose="02040503050406030204" pitchFamily="18" charset="0"/>
                              </a:rPr>
                              <m:t>𝑑</m:t>
                            </m:r>
                            <m:r>
                              <a:rPr lang="en-US" altLang="zh-TW" i="1">
                                <a:latin typeface="Cambria Math" panose="02040503050406030204" pitchFamily="18" charset="0"/>
                              </a:rPr>
                              <m:t>(</m:t>
                            </m:r>
                            <m:r>
                              <a:rPr lang="en-US" altLang="zh-TW" i="1">
                                <a:latin typeface="Cambria Math" panose="02040503050406030204" pitchFamily="18" charset="0"/>
                              </a:rPr>
                              <m:t>𝑤𝑙</m:t>
                            </m:r>
                            <m:r>
                              <a:rPr lang="en-US" altLang="zh-TW" i="1">
                                <a:latin typeface="Cambria Math" panose="02040503050406030204" pitchFamily="18" charset="0"/>
                              </a:rPr>
                              <m:t>)</m:t>
                            </m:r>
                          </m:e>
                        </m:nary>
                      </m:e>
                    </m:rad>
                  </m:oMath>
                </a14:m>
                <a:r>
                  <a:rPr lang="en-US" altLang="zh-TW" dirty="0"/>
                  <a:t>, and max(m, n)</a:t>
                </a:r>
                <a:r>
                  <a:rPr lang="en-US" altLang="zh-TW" dirty="0">
                    <a:ea typeface="Cambria Math" panose="02040503050406030204" pitchFamily="18" charset="0"/>
                  </a:rPr>
                  <a:t> </a:t>
                </a:r>
                <a14:m>
                  <m:oMath xmlns:m="http://schemas.openxmlformats.org/officeDocument/2006/math">
                    <m:r>
                      <a:rPr lang="en-US" altLang="zh-TW" i="1">
                        <a:latin typeface="Cambria Math" panose="02040503050406030204" pitchFamily="18" charset="0"/>
                        <a:ea typeface="Cambria Math" panose="02040503050406030204" pitchFamily="18" charset="0"/>
                      </a:rPr>
                      <m:t>≤</m:t>
                    </m:r>
                  </m:oMath>
                </a14:m>
                <a:r>
                  <a:rPr lang="en-US" altLang="zh-TW" dirty="0"/>
                  <a:t> K </a:t>
                </a:r>
                <a14:m>
                  <m:oMath xmlns:m="http://schemas.openxmlformats.org/officeDocument/2006/math">
                    <m:r>
                      <a:rPr lang="en-US" altLang="zh-TW" i="1">
                        <a:latin typeface="Cambria Math" panose="02040503050406030204" pitchFamily="18" charset="0"/>
                        <a:ea typeface="Cambria Math" panose="02040503050406030204" pitchFamily="18" charset="0"/>
                      </a:rPr>
                      <m:t>≤</m:t>
                    </m:r>
                  </m:oMath>
                </a14:m>
                <a:r>
                  <a:rPr lang="en-US" altLang="zh-TW" dirty="0"/>
                  <a:t> </a:t>
                </a:r>
                <a:r>
                  <a:rPr lang="en-US" altLang="zh-TW" dirty="0" err="1"/>
                  <a:t>m+n</a:t>
                </a:r>
                <a:r>
                  <a:rPr lang="en-US" altLang="zh-TW" dirty="0"/>
                  <a:t>    (2)</a:t>
                </a:r>
              </a:p>
              <a:p>
                <a:pPr marL="0" indent="0">
                  <a:lnSpc>
                    <a:spcPct val="60000"/>
                  </a:lnSpc>
                  <a:spcBef>
                    <a:spcPts val="600"/>
                  </a:spcBef>
                  <a:buNone/>
                </a:pPr>
                <a:r>
                  <a:rPr lang="en-US" altLang="zh-TW" dirty="0">
                    <a:solidFill>
                      <a:schemeClr val="bg1">
                        <a:lumMod val="75000"/>
                      </a:schemeClr>
                    </a:solidFill>
                  </a:rPr>
                  <a:t>ET = et</a:t>
                </a:r>
                <a:r>
                  <a:rPr lang="en-US" altLang="zh-TW" baseline="-25000" dirty="0">
                    <a:solidFill>
                      <a:schemeClr val="bg1">
                        <a:lumMod val="75000"/>
                      </a:schemeClr>
                    </a:solidFill>
                  </a:rPr>
                  <a:t>1</a:t>
                </a:r>
                <a:r>
                  <a:rPr lang="en-US" altLang="zh-TW" dirty="0">
                    <a:solidFill>
                      <a:schemeClr val="bg1">
                        <a:lumMod val="75000"/>
                      </a:schemeClr>
                    </a:solidFill>
                  </a:rPr>
                  <a:t>, …, </a:t>
                </a:r>
                <a:r>
                  <a:rPr lang="en-US" altLang="zh-TW" dirty="0" err="1">
                    <a:solidFill>
                      <a:schemeClr val="bg1">
                        <a:lumMod val="75000"/>
                      </a:schemeClr>
                    </a:solidFill>
                  </a:rPr>
                  <a:t>et</a:t>
                </a:r>
                <a:r>
                  <a:rPr lang="en-US" altLang="zh-TW" baseline="-25000" dirty="0" err="1">
                    <a:solidFill>
                      <a:schemeClr val="bg1">
                        <a:lumMod val="75000"/>
                      </a:schemeClr>
                    </a:solidFill>
                  </a:rPr>
                  <a:t>i</a:t>
                </a:r>
                <a:r>
                  <a:rPr lang="en-US" altLang="zh-TW" dirty="0">
                    <a:solidFill>
                      <a:schemeClr val="bg1">
                        <a:lumMod val="75000"/>
                      </a:schemeClr>
                    </a:solidFill>
                  </a:rPr>
                  <a:t>, …, </a:t>
                </a:r>
                <a:r>
                  <a:rPr lang="en-US" altLang="zh-TW" dirty="0" err="1">
                    <a:solidFill>
                      <a:schemeClr val="bg1">
                        <a:lumMod val="75000"/>
                      </a:schemeClr>
                    </a:solidFill>
                  </a:rPr>
                  <a:t>et</a:t>
                </a:r>
                <a:r>
                  <a:rPr lang="en-US" altLang="zh-TW" baseline="-25000" dirty="0" err="1">
                    <a:solidFill>
                      <a:schemeClr val="bg1">
                        <a:lumMod val="75000"/>
                      </a:schemeClr>
                    </a:solidFill>
                  </a:rPr>
                  <a:t>n</a:t>
                </a:r>
                <a:endParaRPr lang="en-US" altLang="zh-TW" baseline="-25000" dirty="0">
                  <a:solidFill>
                    <a:schemeClr val="bg1">
                      <a:lumMod val="75000"/>
                    </a:schemeClr>
                  </a:solidFill>
                </a:endParaRPr>
              </a:p>
              <a:p>
                <a:pPr marL="0" indent="0">
                  <a:lnSpc>
                    <a:spcPct val="60000"/>
                  </a:lnSpc>
                  <a:spcBef>
                    <a:spcPts val="600"/>
                  </a:spcBef>
                  <a:buNone/>
                </a:pPr>
                <a:r>
                  <a:rPr lang="en-US" altLang="zh-TW" dirty="0">
                    <a:solidFill>
                      <a:schemeClr val="bg1">
                        <a:lumMod val="75000"/>
                      </a:schemeClr>
                    </a:solidFill>
                  </a:rPr>
                  <a:t>EU = eu</a:t>
                </a:r>
                <a:r>
                  <a:rPr lang="en-US" altLang="zh-TW" baseline="-25000" dirty="0">
                    <a:solidFill>
                      <a:schemeClr val="bg1">
                        <a:lumMod val="75000"/>
                      </a:schemeClr>
                    </a:solidFill>
                  </a:rPr>
                  <a:t>1</a:t>
                </a:r>
                <a:r>
                  <a:rPr lang="en-US" altLang="zh-TW" dirty="0">
                    <a:solidFill>
                      <a:schemeClr val="bg1">
                        <a:lumMod val="75000"/>
                      </a:schemeClr>
                    </a:solidFill>
                  </a:rPr>
                  <a:t>, …, </a:t>
                </a:r>
                <a:r>
                  <a:rPr lang="en-US" altLang="zh-TW" dirty="0" err="1">
                    <a:solidFill>
                      <a:schemeClr val="bg1">
                        <a:lumMod val="75000"/>
                      </a:schemeClr>
                    </a:solidFill>
                  </a:rPr>
                  <a:t>eu</a:t>
                </a:r>
                <a:r>
                  <a:rPr lang="en-US" altLang="zh-TW" baseline="-25000" dirty="0" err="1">
                    <a:solidFill>
                      <a:schemeClr val="bg1">
                        <a:lumMod val="75000"/>
                      </a:schemeClr>
                    </a:solidFill>
                  </a:rPr>
                  <a:t>j</a:t>
                </a:r>
                <a:r>
                  <a:rPr lang="en-US" altLang="zh-TW" dirty="0">
                    <a:solidFill>
                      <a:schemeClr val="bg1">
                        <a:lumMod val="75000"/>
                      </a:schemeClr>
                    </a:solidFill>
                  </a:rPr>
                  <a:t>, …, </a:t>
                </a:r>
                <a:r>
                  <a:rPr lang="en-US" altLang="zh-TW" dirty="0" err="1">
                    <a:solidFill>
                      <a:schemeClr val="bg1">
                        <a:lumMod val="75000"/>
                      </a:schemeClr>
                    </a:solidFill>
                  </a:rPr>
                  <a:t>eu</a:t>
                </a:r>
                <a:r>
                  <a:rPr lang="en-US" altLang="zh-TW" baseline="-25000" dirty="0" err="1">
                    <a:solidFill>
                      <a:schemeClr val="bg1">
                        <a:lumMod val="75000"/>
                      </a:schemeClr>
                    </a:solidFill>
                  </a:rPr>
                  <a:t>m</a:t>
                </a:r>
                <a:endParaRPr lang="en-US" altLang="zh-TW" baseline="-25000" dirty="0">
                  <a:solidFill>
                    <a:schemeClr val="bg1">
                      <a:lumMod val="75000"/>
                    </a:schemeClr>
                  </a:solidFill>
                </a:endParaRPr>
              </a:p>
              <a:p>
                <a:pPr marL="0" indent="0">
                  <a:lnSpc>
                    <a:spcPct val="60000"/>
                  </a:lnSpc>
                  <a:spcBef>
                    <a:spcPts val="600"/>
                  </a:spcBef>
                  <a:buNone/>
                </a:pPr>
                <a:endParaRPr lang="en-US" altLang="zh-TW" baseline="-25000" dirty="0">
                  <a:solidFill>
                    <a:schemeClr val="bg1">
                      <a:lumMod val="75000"/>
                    </a:schemeClr>
                  </a:solidFill>
                </a:endParaRPr>
              </a:p>
              <a:p>
                <a:pPr marL="0" indent="0">
                  <a:lnSpc>
                    <a:spcPct val="60000"/>
                  </a:lnSpc>
                  <a:spcBef>
                    <a:spcPts val="600"/>
                  </a:spcBef>
                  <a:buNone/>
                </a:pPr>
                <a:endParaRPr lang="en-US" altLang="zh-TW" baseline="-25000" dirty="0">
                  <a:solidFill>
                    <a:schemeClr val="bg1">
                      <a:lumMod val="75000"/>
                    </a:schemeClr>
                  </a:solidFill>
                </a:endParaRPr>
              </a:p>
              <a:p>
                <a:pPr marL="0" indent="0">
                  <a:lnSpc>
                    <a:spcPct val="60000"/>
                  </a:lnSpc>
                  <a:spcBef>
                    <a:spcPts val="600"/>
                  </a:spcBef>
                  <a:buNone/>
                </a:pPr>
                <a:r>
                  <a:rPr lang="en-US" altLang="zh-TW" dirty="0"/>
                  <a:t>d(</a:t>
                </a:r>
                <a:r>
                  <a:rPr lang="en-US" altLang="zh-TW" dirty="0" err="1"/>
                  <a:t>w</a:t>
                </a:r>
                <a:r>
                  <a:rPr lang="en-US" altLang="zh-TW" baseline="-25000" dirty="0" err="1"/>
                  <a:t>l</a:t>
                </a:r>
                <a:r>
                  <a:rPr lang="en-US" altLang="zh-TW" dirty="0"/>
                  <a:t>) = d(</a:t>
                </a:r>
                <a:r>
                  <a:rPr lang="en-US" altLang="zh-TW" dirty="0" err="1"/>
                  <a:t>et</a:t>
                </a:r>
                <a:r>
                  <a:rPr lang="en-US" altLang="zh-TW" baseline="-25000" dirty="0" err="1"/>
                  <a:t>i</a:t>
                </a:r>
                <a:r>
                  <a:rPr lang="en-US" altLang="zh-TW" dirty="0"/>
                  <a:t>, </a:t>
                </a:r>
                <a:r>
                  <a:rPr lang="en-US" altLang="zh-TW" dirty="0" err="1"/>
                  <a:t>eu</a:t>
                </a:r>
                <a:r>
                  <a:rPr lang="en-US" altLang="zh-TW" baseline="-25000" dirty="0" err="1"/>
                  <a:t>j</a:t>
                </a:r>
                <a:r>
                  <a:rPr lang="en-US" altLang="zh-TW" dirty="0"/>
                  <a:t>) = (</a:t>
                </a:r>
                <a:r>
                  <a:rPr lang="en-US" altLang="zh-TW" dirty="0" err="1"/>
                  <a:t>et</a:t>
                </a:r>
                <a:r>
                  <a:rPr lang="en-US" altLang="zh-TW" baseline="-25000" dirty="0" err="1"/>
                  <a:t>i</a:t>
                </a:r>
                <a:r>
                  <a:rPr lang="en-US" altLang="zh-TW" dirty="0"/>
                  <a:t>, </a:t>
                </a:r>
                <a:r>
                  <a:rPr lang="en-US" altLang="zh-TW" dirty="0" err="1"/>
                  <a:t>eu</a:t>
                </a:r>
                <a:r>
                  <a:rPr lang="en-US" altLang="zh-TW" baseline="-25000" dirty="0" err="1"/>
                  <a:t>j</a:t>
                </a:r>
                <a:r>
                  <a:rPr lang="en-US" altLang="zh-TW" dirty="0"/>
                  <a:t>)</a:t>
                </a:r>
                <a:r>
                  <a:rPr lang="en-US" altLang="zh-TW" baseline="30000" dirty="0"/>
                  <a:t>2</a:t>
                </a:r>
                <a:r>
                  <a:rPr lang="en-US" altLang="zh-TW" dirty="0"/>
                  <a:t>   (3)</a:t>
                </a:r>
              </a:p>
              <a:p>
                <a:pPr marL="0" indent="0">
                  <a:lnSpc>
                    <a:spcPct val="60000"/>
                  </a:lnSpc>
                  <a:spcBef>
                    <a:spcPts val="600"/>
                  </a:spcBef>
                  <a:buNone/>
                </a:pPr>
                <a:endParaRPr lang="en-US" altLang="zh-TW" dirty="0"/>
              </a:p>
              <a:p>
                <a:pPr marL="0" indent="0">
                  <a:lnSpc>
                    <a:spcPct val="60000"/>
                  </a:lnSpc>
                  <a:spcBef>
                    <a:spcPts val="600"/>
                  </a:spcBef>
                  <a:buNone/>
                </a:pPr>
                <a:endParaRPr lang="en-US" altLang="zh-TW" baseline="30000" dirty="0"/>
              </a:p>
              <a:p>
                <a:pPr marL="0" indent="0">
                  <a:lnSpc>
                    <a:spcPct val="60000"/>
                  </a:lnSpc>
                  <a:spcBef>
                    <a:spcPts val="600"/>
                  </a:spcBef>
                  <a:buNone/>
                </a:pPr>
                <a:r>
                  <a:rPr lang="en-US" altLang="zh-TW" dirty="0"/>
                  <a:t>D</a:t>
                </a:r>
                <a:r>
                  <a:rPr lang="en-US" altLang="zh-TW" baseline="-25000" dirty="0"/>
                  <a:t>T</a:t>
                </a:r>
                <a:r>
                  <a:rPr lang="en-US" altLang="zh-TW" dirty="0"/>
                  <a:t>(</a:t>
                </a:r>
                <a:r>
                  <a:rPr lang="en-US" altLang="zh-TW" dirty="0" err="1"/>
                  <a:t>et</a:t>
                </a:r>
                <a:r>
                  <a:rPr lang="en-US" altLang="zh-TW" baseline="-25000" dirty="0" err="1"/>
                  <a:t>i</a:t>
                </a:r>
                <a:r>
                  <a:rPr lang="en-US" altLang="zh-TW" dirty="0"/>
                  <a:t>, </a:t>
                </a:r>
                <a:r>
                  <a:rPr lang="en-US" altLang="zh-TW" dirty="0" err="1"/>
                  <a:t>eu</a:t>
                </a:r>
                <a:r>
                  <a:rPr lang="en-US" altLang="zh-TW" baseline="-25000" dirty="0" err="1"/>
                  <a:t>j</a:t>
                </a:r>
                <a:r>
                  <a:rPr lang="en-US" altLang="zh-TW" dirty="0"/>
                  <a:t>) = d(</a:t>
                </a:r>
                <a:r>
                  <a:rPr lang="en-US" altLang="zh-TW" dirty="0" err="1"/>
                  <a:t>et</a:t>
                </a:r>
                <a:r>
                  <a:rPr lang="en-US" altLang="zh-TW" baseline="-25000" dirty="0" err="1"/>
                  <a:t>i</a:t>
                </a:r>
                <a:r>
                  <a:rPr lang="en-US" altLang="zh-TW" dirty="0"/>
                  <a:t>, </a:t>
                </a:r>
                <a:r>
                  <a:rPr lang="en-US" altLang="zh-TW" dirty="0" err="1"/>
                  <a:t>eu</a:t>
                </a:r>
                <a:r>
                  <a:rPr lang="en-US" altLang="zh-TW" baseline="-25000" dirty="0" err="1"/>
                  <a:t>j</a:t>
                </a:r>
                <a:r>
                  <a:rPr lang="en-US" altLang="zh-TW" dirty="0"/>
                  <a:t>) + min{D</a:t>
                </a:r>
                <a:r>
                  <a:rPr lang="en-US" altLang="zh-TW" baseline="-25000" dirty="0"/>
                  <a:t>T</a:t>
                </a:r>
                <a:r>
                  <a:rPr lang="en-US" altLang="zh-TW" dirty="0"/>
                  <a:t>(et</a:t>
                </a:r>
                <a:r>
                  <a:rPr lang="en-US" altLang="zh-TW" baseline="-25000" dirty="0"/>
                  <a:t>i</a:t>
                </a:r>
                <a:r>
                  <a:rPr lang="en-US" altLang="zh-TW" dirty="0"/>
                  <a:t>-1, eu</a:t>
                </a:r>
                <a:r>
                  <a:rPr lang="en-US" altLang="zh-TW" baseline="-25000" dirty="0"/>
                  <a:t>j</a:t>
                </a:r>
                <a:r>
                  <a:rPr lang="en-US" altLang="zh-TW" dirty="0"/>
                  <a:t>-1), D</a:t>
                </a:r>
                <a:r>
                  <a:rPr lang="en-US" altLang="zh-TW" baseline="-25000" dirty="0"/>
                  <a:t>T</a:t>
                </a:r>
                <a:r>
                  <a:rPr lang="en-US" altLang="zh-TW" dirty="0"/>
                  <a:t>(</a:t>
                </a:r>
                <a:r>
                  <a:rPr lang="en-US" altLang="zh-TW" dirty="0" err="1"/>
                  <a:t>et</a:t>
                </a:r>
                <a:r>
                  <a:rPr lang="en-US" altLang="zh-TW" baseline="-25000" dirty="0" err="1"/>
                  <a:t>i</a:t>
                </a:r>
                <a:r>
                  <a:rPr lang="en-US" altLang="zh-TW" dirty="0"/>
                  <a:t>, eu</a:t>
                </a:r>
                <a:r>
                  <a:rPr lang="en-US" altLang="zh-TW" baseline="-25000" dirty="0"/>
                  <a:t>j</a:t>
                </a:r>
                <a:r>
                  <a:rPr lang="en-US" altLang="zh-TW" dirty="0"/>
                  <a:t>-1), D</a:t>
                </a:r>
                <a:r>
                  <a:rPr lang="en-US" altLang="zh-TW" baseline="-25000" dirty="0"/>
                  <a:t>T</a:t>
                </a:r>
                <a:r>
                  <a:rPr lang="en-US" altLang="zh-TW" dirty="0"/>
                  <a:t>(et</a:t>
                </a:r>
                <a:r>
                  <a:rPr lang="en-US" altLang="zh-TW" baseline="-25000" dirty="0"/>
                  <a:t>j</a:t>
                </a:r>
                <a:r>
                  <a:rPr lang="en-US" altLang="zh-TW" dirty="0"/>
                  <a:t>-1,eu</a:t>
                </a:r>
                <a:r>
                  <a:rPr lang="en-US" altLang="zh-TW" baseline="-25000" dirty="0"/>
                  <a:t>j</a:t>
                </a:r>
                <a:r>
                  <a:rPr lang="en-US" altLang="zh-TW" dirty="0"/>
                  <a:t>)}   (4)</a:t>
                </a:r>
              </a:p>
            </p:txBody>
          </p:sp>
        </mc:Choice>
        <mc:Fallback xmlns="">
          <p:sp>
            <p:nvSpPr>
              <p:cNvPr id="3" name="內容版面配置區 2">
                <a:extLst>
                  <a:ext uri="{FF2B5EF4-FFF2-40B4-BE49-F238E27FC236}">
                    <a16:creationId xmlns:a16="http://schemas.microsoft.com/office/drawing/2014/main" id="{F2F907BB-A997-442F-B6CC-802884463F51}"/>
                  </a:ext>
                </a:extLst>
              </p:cNvPr>
              <p:cNvSpPr>
                <a:spLocks noGrp="1" noRot="1" noChangeAspect="1" noMove="1" noResize="1" noEditPoints="1" noAdjustHandles="1" noChangeArrowheads="1" noChangeShapeType="1" noTextEdit="1"/>
              </p:cNvSpPr>
              <p:nvPr>
                <p:ph idx="1"/>
              </p:nvPr>
            </p:nvSpPr>
            <p:spPr>
              <a:xfrm>
                <a:off x="782890" y="1783641"/>
                <a:ext cx="10770727" cy="4153863"/>
              </a:xfrm>
              <a:blipFill>
                <a:blip r:embed="rId2"/>
                <a:stretch>
                  <a:fillRect l="-1132" t="-5286" r="-1868" b="-1615"/>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xmlns="" id="{FAD2795D-1037-4BEB-A93C-BDE434FEFAB6}"/>
              </a:ext>
            </a:extLst>
          </p:cNvPr>
          <p:cNvSpPr>
            <a:spLocks noGrp="1"/>
          </p:cNvSpPr>
          <p:nvPr>
            <p:ph type="sldNum" sz="quarter" idx="12"/>
          </p:nvPr>
        </p:nvSpPr>
        <p:spPr/>
        <p:txBody>
          <a:bodyPr/>
          <a:lstStyle/>
          <a:p>
            <a:fld id="{8DCCD063-7F18-423D-A692-CC9D343FD360}" type="slidenum">
              <a:rPr lang="zh-TW" altLang="en-US" smtClean="0"/>
              <a:t>11</a:t>
            </a:fld>
            <a:endParaRPr lang="zh-TW" altLang="en-US" dirty="0"/>
          </a:p>
        </p:txBody>
      </p:sp>
    </p:spTree>
    <p:extLst>
      <p:ext uri="{BB962C8B-B14F-4D97-AF65-F5344CB8AC3E}">
        <p14:creationId xmlns:p14="http://schemas.microsoft.com/office/powerpoint/2010/main" val="3365439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EF547F4-2BF7-44E0-A6AB-D8C9A0B84EA5}"/>
              </a:ext>
            </a:extLst>
          </p:cNvPr>
          <p:cNvSpPr>
            <a:spLocks noGrp="1"/>
          </p:cNvSpPr>
          <p:nvPr>
            <p:ph type="title"/>
          </p:nvPr>
        </p:nvSpPr>
        <p:spPr>
          <a:xfrm>
            <a:off x="652462" y="320673"/>
            <a:ext cx="9329738" cy="1325563"/>
          </a:xfrm>
        </p:spPr>
        <p:txBody>
          <a:bodyPr/>
          <a:lstStyle/>
          <a:p>
            <a:pPr>
              <a:lnSpc>
                <a:spcPct val="100000"/>
              </a:lnSpc>
            </a:pPr>
            <a:r>
              <a:rPr lang="en-US" altLang="zh-TW" dirty="0"/>
              <a:t>Experimental setting</a:t>
            </a:r>
            <a:endParaRPr lang="zh-TW" altLang="en-US" dirty="0"/>
          </a:p>
        </p:txBody>
      </p:sp>
      <p:sp>
        <p:nvSpPr>
          <p:cNvPr id="3" name="內容版面配置區 2">
            <a:extLst>
              <a:ext uri="{FF2B5EF4-FFF2-40B4-BE49-F238E27FC236}">
                <a16:creationId xmlns:a16="http://schemas.microsoft.com/office/drawing/2014/main" xmlns="" id="{F2F907BB-A997-442F-B6CC-802884463F51}"/>
              </a:ext>
            </a:extLst>
          </p:cNvPr>
          <p:cNvSpPr>
            <a:spLocks noGrp="1"/>
          </p:cNvSpPr>
          <p:nvPr>
            <p:ph idx="1"/>
          </p:nvPr>
        </p:nvSpPr>
        <p:spPr>
          <a:xfrm>
            <a:off x="811673" y="1825625"/>
            <a:ext cx="10586951" cy="4351338"/>
          </a:xfrm>
        </p:spPr>
        <p:txBody>
          <a:bodyPr/>
          <a:lstStyle/>
          <a:p>
            <a:pPr marL="0" indent="0">
              <a:buNone/>
            </a:pPr>
            <a:r>
              <a:rPr lang="en-US" altLang="zh-TW" dirty="0"/>
              <a:t>All data were divided into two disjunctive partitions : </a:t>
            </a:r>
          </a:p>
          <a:p>
            <a:pPr marL="0" indent="0">
              <a:buNone/>
            </a:pPr>
            <a:r>
              <a:rPr lang="en-US" altLang="zh-TW" dirty="0"/>
              <a:t>training set and test set, based on the10-fold cross validation method, and the ratio for </a:t>
            </a:r>
            <a:r>
              <a:rPr lang="en-US" altLang="zh-TW" dirty="0">
                <a:solidFill>
                  <a:srgbClr val="FF0000"/>
                </a:solidFill>
              </a:rPr>
              <a:t>training</a:t>
            </a:r>
            <a:r>
              <a:rPr lang="en-US" altLang="zh-TW" dirty="0"/>
              <a:t> and </a:t>
            </a:r>
            <a:r>
              <a:rPr lang="en-US" altLang="zh-TW" dirty="0">
                <a:solidFill>
                  <a:srgbClr val="FF0000"/>
                </a:solidFill>
              </a:rPr>
              <a:t>test</a:t>
            </a:r>
            <a:r>
              <a:rPr lang="en-US" altLang="zh-TW" dirty="0"/>
              <a:t> sets was </a:t>
            </a:r>
            <a:r>
              <a:rPr lang="en-US" altLang="zh-TW" dirty="0">
                <a:solidFill>
                  <a:srgbClr val="FF0000"/>
                </a:solidFill>
              </a:rPr>
              <a:t>80%</a:t>
            </a:r>
            <a:r>
              <a:rPr lang="en-US" altLang="zh-TW" dirty="0"/>
              <a:t> vs. </a:t>
            </a:r>
            <a:r>
              <a:rPr lang="en-US" altLang="zh-TW" dirty="0">
                <a:solidFill>
                  <a:srgbClr val="FF0000"/>
                </a:solidFill>
              </a:rPr>
              <a:t>20%</a:t>
            </a:r>
            <a:r>
              <a:rPr lang="en-US" altLang="zh-TW" dirty="0"/>
              <a:t>. </a:t>
            </a:r>
          </a:p>
          <a:p>
            <a:pPr marL="0" indent="0">
              <a:buNone/>
            </a:pPr>
            <a:r>
              <a:rPr lang="en-US" altLang="zh-TW" dirty="0"/>
              <a:t>The training set was used to construct the optimal </a:t>
            </a:r>
            <a:r>
              <a:rPr lang="en-US" altLang="zh-TW" dirty="0" err="1"/>
              <a:t>biosignal</a:t>
            </a:r>
            <a:r>
              <a:rPr lang="en-US" altLang="zh-TW" dirty="0"/>
              <a:t> templates, </a:t>
            </a:r>
            <a:r>
              <a:rPr lang="en-US" altLang="zh-TW" dirty="0" err="1"/>
              <a:t>OpTem</a:t>
            </a:r>
            <a:r>
              <a:rPr lang="en-US" altLang="zh-TW" dirty="0"/>
              <a:t>, and included ECG and EEG signals, whereas the test set was used for validation. </a:t>
            </a:r>
          </a:p>
          <a:p>
            <a:pPr marL="0" indent="0">
              <a:buNone/>
            </a:pPr>
            <a:r>
              <a:rPr lang="en-US" altLang="zh-TW" dirty="0"/>
              <a:t>The threshold </a:t>
            </a:r>
            <a:r>
              <a:rPr lang="el-GR" altLang="zh-TW" dirty="0"/>
              <a:t>λ </a:t>
            </a:r>
            <a:r>
              <a:rPr lang="en-US" altLang="zh-TW" dirty="0"/>
              <a:t>was computed automatically by taking the maximum similarity score among all pairs of the optimal templates.</a:t>
            </a:r>
            <a:endParaRPr lang="zh-TW" altLang="en-US" dirty="0"/>
          </a:p>
        </p:txBody>
      </p:sp>
      <p:sp>
        <p:nvSpPr>
          <p:cNvPr id="4" name="投影片編號版面配置區 3">
            <a:extLst>
              <a:ext uri="{FF2B5EF4-FFF2-40B4-BE49-F238E27FC236}">
                <a16:creationId xmlns:a16="http://schemas.microsoft.com/office/drawing/2014/main" xmlns="" id="{FAD2795D-1037-4BEB-A93C-BDE434FEFAB6}"/>
              </a:ext>
            </a:extLst>
          </p:cNvPr>
          <p:cNvSpPr>
            <a:spLocks noGrp="1"/>
          </p:cNvSpPr>
          <p:nvPr>
            <p:ph type="sldNum" sz="quarter" idx="12"/>
          </p:nvPr>
        </p:nvSpPr>
        <p:spPr/>
        <p:txBody>
          <a:bodyPr/>
          <a:lstStyle/>
          <a:p>
            <a:fld id="{8DCCD063-7F18-423D-A692-CC9D343FD360}" type="slidenum">
              <a:rPr lang="zh-TW" altLang="en-US" smtClean="0"/>
              <a:t>12</a:t>
            </a:fld>
            <a:endParaRPr lang="zh-TW" altLang="en-US"/>
          </a:p>
        </p:txBody>
      </p:sp>
    </p:spTree>
    <p:extLst>
      <p:ext uri="{BB962C8B-B14F-4D97-AF65-F5344CB8AC3E}">
        <p14:creationId xmlns:p14="http://schemas.microsoft.com/office/powerpoint/2010/main" val="890861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EF547F4-2BF7-44E0-A6AB-D8C9A0B84EA5}"/>
              </a:ext>
            </a:extLst>
          </p:cNvPr>
          <p:cNvSpPr>
            <a:spLocks noGrp="1"/>
          </p:cNvSpPr>
          <p:nvPr>
            <p:ph type="title"/>
          </p:nvPr>
        </p:nvSpPr>
        <p:spPr>
          <a:xfrm>
            <a:off x="652462" y="320673"/>
            <a:ext cx="9329738" cy="1325563"/>
          </a:xfrm>
        </p:spPr>
        <p:txBody>
          <a:bodyPr/>
          <a:lstStyle/>
          <a:p>
            <a:pPr>
              <a:lnSpc>
                <a:spcPct val="100000"/>
              </a:lnSpc>
            </a:pPr>
            <a:r>
              <a:rPr lang="en-US" altLang="zh-TW" dirty="0"/>
              <a:t>Classification results</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xmlns="" id="{F2F907BB-A997-442F-B6CC-802884463F51}"/>
                  </a:ext>
                </a:extLst>
              </p:cNvPr>
              <p:cNvSpPr>
                <a:spLocks noGrp="1"/>
              </p:cNvSpPr>
              <p:nvPr>
                <p:ph idx="1"/>
              </p:nvPr>
            </p:nvSpPr>
            <p:spPr>
              <a:xfrm>
                <a:off x="2634826" y="4372865"/>
                <a:ext cx="6360092" cy="2197518"/>
              </a:xfrm>
            </p:spPr>
            <p:txBody>
              <a:bodyPr>
                <a:normAutofit/>
              </a:bodyPr>
              <a:lstStyle/>
              <a:p>
                <a:pPr marL="0" indent="0">
                  <a:spcBef>
                    <a:spcPts val="1200"/>
                  </a:spcBef>
                  <a:buNone/>
                </a:pPr>
                <a:r>
                  <a:rPr lang="en-US" altLang="zh-TW" dirty="0"/>
                  <a:t>Recall:</a:t>
                </a:r>
                <a:r>
                  <a:rPr lang="zh-TW" altLang="en-US" dirty="0"/>
                  <a:t> </a:t>
                </a:r>
                <a14:m>
                  <m:oMath xmlns:m="http://schemas.openxmlformats.org/officeDocument/2006/math">
                    <m:f>
                      <m:fPr>
                        <m:ctrlPr>
                          <a:rPr lang="en-US" altLang="zh-TW" i="1" smtClean="0">
                            <a:latin typeface="Cambria Math" panose="02040503050406030204" pitchFamily="18" charset="0"/>
                          </a:rPr>
                        </m:ctrlPr>
                      </m:fPr>
                      <m:num>
                        <m:r>
                          <m:rPr>
                            <m:sty m:val="p"/>
                          </m:rPr>
                          <a:rPr lang="en-US" altLang="zh-TW" i="1">
                            <a:latin typeface="Cambria Math" panose="02040503050406030204" pitchFamily="18" charset="0"/>
                          </a:rPr>
                          <m:t>T</m:t>
                        </m:r>
                        <m:r>
                          <m:rPr>
                            <m:sty m:val="p"/>
                          </m:rPr>
                          <a:rPr lang="en-US" altLang="zh-TW" i="1" smtClean="0">
                            <a:latin typeface="Cambria Math" panose="02040503050406030204" pitchFamily="18" charset="0"/>
                          </a:rPr>
                          <m:t>P</m:t>
                        </m:r>
                      </m:num>
                      <m:den>
                        <m:r>
                          <m:rPr>
                            <m:sty m:val="p"/>
                          </m:rPr>
                          <a:rPr lang="en-US" altLang="zh-TW" i="1">
                            <a:latin typeface="Cambria Math" panose="02040503050406030204" pitchFamily="18" charset="0"/>
                          </a:rPr>
                          <m:t>T</m:t>
                        </m:r>
                        <m:r>
                          <m:rPr>
                            <m:sty m:val="p"/>
                          </m:rPr>
                          <a:rPr lang="en-US" altLang="zh-TW" i="1" smtClean="0">
                            <a:latin typeface="Cambria Math" panose="02040503050406030204" pitchFamily="18" charset="0"/>
                          </a:rPr>
                          <m:t>P</m:t>
                        </m:r>
                        <m:r>
                          <a:rPr lang="en-US" altLang="zh-TW" i="1">
                            <a:latin typeface="Cambria Math" panose="02040503050406030204" pitchFamily="18" charset="0"/>
                          </a:rPr>
                          <m:t>+</m:t>
                        </m:r>
                        <m:r>
                          <m:rPr>
                            <m:sty m:val="p"/>
                          </m:rPr>
                          <a:rPr lang="en-US" altLang="zh-TW" i="1" smtClean="0">
                            <a:latin typeface="Cambria Math" panose="02040503050406030204" pitchFamily="18" charset="0"/>
                          </a:rPr>
                          <m:t>F</m:t>
                        </m:r>
                        <m:r>
                          <m:rPr>
                            <m:sty m:val="p"/>
                          </m:rPr>
                          <a:rPr lang="en-US" altLang="zh-TW" i="1">
                            <a:latin typeface="Cambria Math" panose="02040503050406030204" pitchFamily="18" charset="0"/>
                          </a:rPr>
                          <m:t>N</m:t>
                        </m:r>
                      </m:den>
                    </m:f>
                  </m:oMath>
                </a14:m>
                <a:endParaRPr lang="en-US" altLang="zh-TW" dirty="0"/>
              </a:p>
              <a:p>
                <a:pPr marL="0" indent="0">
                  <a:spcBef>
                    <a:spcPts val="1200"/>
                  </a:spcBef>
                  <a:buNone/>
                </a:pPr>
                <a:r>
                  <a:rPr lang="en-US" altLang="zh-TW" dirty="0"/>
                  <a:t>Precision:</a:t>
                </a:r>
                <a:r>
                  <a:rPr lang="zh-TW" altLang="en-US" dirty="0"/>
                  <a:t> </a:t>
                </a:r>
                <a14:m>
                  <m:oMath xmlns:m="http://schemas.openxmlformats.org/officeDocument/2006/math">
                    <m:f>
                      <m:fPr>
                        <m:ctrlPr>
                          <a:rPr lang="en-US" altLang="zh-TW" i="1" smtClean="0">
                            <a:latin typeface="Cambria Math" panose="02040503050406030204" pitchFamily="18" charset="0"/>
                          </a:rPr>
                        </m:ctrlPr>
                      </m:fPr>
                      <m:num>
                        <m:r>
                          <m:rPr>
                            <m:sty m:val="p"/>
                          </m:rPr>
                          <a:rPr lang="en-US" altLang="zh-TW" i="1">
                            <a:latin typeface="Cambria Math" panose="02040503050406030204" pitchFamily="18" charset="0"/>
                          </a:rPr>
                          <m:t>T</m:t>
                        </m:r>
                        <m:r>
                          <m:rPr>
                            <m:sty m:val="p"/>
                          </m:rPr>
                          <a:rPr lang="en-US" altLang="zh-TW" i="1" smtClean="0">
                            <a:latin typeface="Cambria Math" panose="02040503050406030204" pitchFamily="18" charset="0"/>
                          </a:rPr>
                          <m:t>P</m:t>
                        </m:r>
                      </m:num>
                      <m:den>
                        <m:r>
                          <m:rPr>
                            <m:sty m:val="p"/>
                          </m:rPr>
                          <a:rPr lang="en-US" altLang="zh-TW" i="1">
                            <a:latin typeface="Cambria Math" panose="02040503050406030204" pitchFamily="18" charset="0"/>
                          </a:rPr>
                          <m:t>T</m:t>
                        </m:r>
                        <m:r>
                          <m:rPr>
                            <m:sty m:val="p"/>
                          </m:rPr>
                          <a:rPr lang="en-US" altLang="zh-TW" i="1" smtClean="0">
                            <a:latin typeface="Cambria Math" panose="02040503050406030204" pitchFamily="18" charset="0"/>
                          </a:rPr>
                          <m:t>P</m:t>
                        </m:r>
                        <m:r>
                          <a:rPr lang="en-US" altLang="zh-TW" i="1">
                            <a:latin typeface="Cambria Math" panose="02040503050406030204" pitchFamily="18" charset="0"/>
                          </a:rPr>
                          <m:t>+</m:t>
                        </m:r>
                        <m:r>
                          <m:rPr>
                            <m:sty m:val="p"/>
                          </m:rPr>
                          <a:rPr lang="en-US" altLang="zh-TW" i="1" smtClean="0">
                            <a:latin typeface="Cambria Math" panose="02040503050406030204" pitchFamily="18" charset="0"/>
                          </a:rPr>
                          <m:t>F</m:t>
                        </m:r>
                        <m:r>
                          <m:rPr>
                            <m:sty m:val="p"/>
                          </m:rPr>
                          <a:rPr lang="en-US" altLang="zh-TW" i="1">
                            <a:latin typeface="Cambria Math" panose="02040503050406030204" pitchFamily="18" charset="0"/>
                          </a:rPr>
                          <m:t>P</m:t>
                        </m:r>
                      </m:den>
                    </m:f>
                  </m:oMath>
                </a14:m>
                <a:endParaRPr lang="en-US" altLang="zh-TW" dirty="0"/>
              </a:p>
              <a:p>
                <a:pPr marL="0" indent="0">
                  <a:spcBef>
                    <a:spcPts val="1200"/>
                  </a:spcBef>
                  <a:buNone/>
                </a:pPr>
                <a:r>
                  <a:rPr lang="en-US" altLang="zh-TW" dirty="0"/>
                  <a:t>F-score:</a:t>
                </a:r>
                <a:r>
                  <a:rPr lang="zh-TW" altLang="en-US" dirty="0"/>
                  <a:t> </a:t>
                </a:r>
                <a:r>
                  <a:rPr lang="en-US" altLang="zh-TW" dirty="0"/>
                  <a:t>2 *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𝑃𝑟𝑒𝑐𝑖𝑠𝑖𝑜𝑛</m:t>
                        </m:r>
                        <m:r>
                          <a:rPr lang="en-US" altLang="zh-TW" b="0" i="1" smtClean="0">
                            <a:latin typeface="Cambria Math" panose="02040503050406030204" pitchFamily="18" charset="0"/>
                          </a:rPr>
                          <m:t> ∗ </m:t>
                        </m:r>
                        <m:r>
                          <a:rPr lang="en-US" altLang="zh-TW" b="0" i="1" smtClean="0">
                            <a:latin typeface="Cambria Math" panose="02040503050406030204" pitchFamily="18" charset="0"/>
                          </a:rPr>
                          <m:t>𝑅𝑒𝑐𝑎𝑙𝑙</m:t>
                        </m:r>
                      </m:num>
                      <m:den>
                        <m:r>
                          <a:rPr lang="en-US" altLang="zh-TW" b="0" i="1" smtClean="0">
                            <a:latin typeface="Cambria Math" panose="02040503050406030204" pitchFamily="18" charset="0"/>
                          </a:rPr>
                          <m:t>𝑃𝑟𝑒𝑐𝑖𝑠𝑖𝑜𝑛</m:t>
                        </m:r>
                        <m:r>
                          <a:rPr lang="en-US" altLang="zh-TW" b="0" i="1" smtClean="0">
                            <a:latin typeface="Cambria Math" panose="02040503050406030204" pitchFamily="18" charset="0"/>
                          </a:rPr>
                          <m:t>+</m:t>
                        </m:r>
                        <m:r>
                          <a:rPr lang="en-US" altLang="zh-TW" b="0" i="1" smtClean="0">
                            <a:latin typeface="Cambria Math" panose="02040503050406030204" pitchFamily="18" charset="0"/>
                          </a:rPr>
                          <m:t>𝑅𝑒𝑐𝑎𝑙𝑙</m:t>
                        </m:r>
                      </m:den>
                    </m:f>
                  </m:oMath>
                </a14:m>
                <a:r>
                  <a:rPr lang="zh-TW" altLang="en-US" dirty="0"/>
                  <a:t> </a:t>
                </a:r>
                <a:r>
                  <a:rPr lang="en-US" altLang="zh-TW" dirty="0"/>
                  <a:t>=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2</m:t>
                        </m:r>
                        <m:r>
                          <a:rPr lang="en-US" altLang="zh-TW" b="0" i="1" smtClean="0">
                            <a:latin typeface="Cambria Math" panose="02040503050406030204" pitchFamily="18" charset="0"/>
                          </a:rPr>
                          <m:t>𝑇𝑃</m:t>
                        </m:r>
                      </m:num>
                      <m:den>
                        <m:r>
                          <a:rPr lang="en-US" altLang="zh-TW" b="0" i="1" smtClean="0">
                            <a:latin typeface="Cambria Math" panose="02040503050406030204" pitchFamily="18" charset="0"/>
                          </a:rPr>
                          <m:t>2</m:t>
                        </m:r>
                        <m:r>
                          <a:rPr lang="en-US" altLang="zh-TW" b="0" i="1" smtClean="0">
                            <a:latin typeface="Cambria Math" panose="02040503050406030204" pitchFamily="18" charset="0"/>
                          </a:rPr>
                          <m:t>𝑇𝑃</m:t>
                        </m:r>
                        <m:r>
                          <a:rPr lang="en-US" altLang="zh-TW" b="0" i="1" smtClean="0">
                            <a:latin typeface="Cambria Math" panose="02040503050406030204" pitchFamily="18" charset="0"/>
                          </a:rPr>
                          <m:t>+</m:t>
                        </m:r>
                        <m:r>
                          <a:rPr lang="en-US" altLang="zh-TW" b="0" i="1" smtClean="0">
                            <a:latin typeface="Cambria Math" panose="02040503050406030204" pitchFamily="18" charset="0"/>
                          </a:rPr>
                          <m:t>𝐹𝑃</m:t>
                        </m:r>
                        <m:r>
                          <a:rPr lang="en-US" altLang="zh-TW" b="0" i="1" smtClean="0">
                            <a:latin typeface="Cambria Math" panose="02040503050406030204" pitchFamily="18" charset="0"/>
                          </a:rPr>
                          <m:t>+</m:t>
                        </m:r>
                        <m:r>
                          <a:rPr lang="en-US" altLang="zh-TW" b="0" i="1" smtClean="0">
                            <a:latin typeface="Cambria Math" panose="02040503050406030204" pitchFamily="18" charset="0"/>
                          </a:rPr>
                          <m:t>𝐹𝑁</m:t>
                        </m:r>
                      </m:den>
                    </m:f>
                  </m:oMath>
                </a14:m>
                <a:endParaRPr lang="zh-TW" altLang="en-US" dirty="0"/>
              </a:p>
            </p:txBody>
          </p:sp>
        </mc:Choice>
        <mc:Fallback xmlns="">
          <p:sp>
            <p:nvSpPr>
              <p:cNvPr id="3" name="內容版面配置區 2">
                <a:extLst>
                  <a:ext uri="{FF2B5EF4-FFF2-40B4-BE49-F238E27FC236}">
                    <a16:creationId xmlns:a16="http://schemas.microsoft.com/office/drawing/2014/main" id="{F2F907BB-A997-442F-B6CC-802884463F51}"/>
                  </a:ext>
                </a:extLst>
              </p:cNvPr>
              <p:cNvSpPr>
                <a:spLocks noGrp="1" noRot="1" noChangeAspect="1" noMove="1" noResize="1" noEditPoints="1" noAdjustHandles="1" noChangeArrowheads="1" noChangeShapeType="1" noTextEdit="1"/>
              </p:cNvSpPr>
              <p:nvPr>
                <p:ph idx="1"/>
              </p:nvPr>
            </p:nvSpPr>
            <p:spPr>
              <a:xfrm>
                <a:off x="2634826" y="4372865"/>
                <a:ext cx="6360092" cy="2197518"/>
              </a:xfrm>
              <a:blipFill>
                <a:blip r:embed="rId2"/>
                <a:stretch>
                  <a:fillRect l="-1916" t="-277"/>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xmlns="" id="{FAD2795D-1037-4BEB-A93C-BDE434FEFAB6}"/>
              </a:ext>
            </a:extLst>
          </p:cNvPr>
          <p:cNvSpPr>
            <a:spLocks noGrp="1"/>
          </p:cNvSpPr>
          <p:nvPr>
            <p:ph type="sldNum" sz="quarter" idx="12"/>
          </p:nvPr>
        </p:nvSpPr>
        <p:spPr/>
        <p:txBody>
          <a:bodyPr/>
          <a:lstStyle/>
          <a:p>
            <a:fld id="{8DCCD063-7F18-423D-A692-CC9D343FD360}" type="slidenum">
              <a:rPr lang="zh-TW" altLang="en-US" smtClean="0"/>
              <a:t>13</a:t>
            </a:fld>
            <a:endParaRPr lang="zh-TW" altLang="en-US"/>
          </a:p>
        </p:txBody>
      </p:sp>
      <p:pic>
        <p:nvPicPr>
          <p:cNvPr id="5" name="圖片 4">
            <a:extLst>
              <a:ext uri="{FF2B5EF4-FFF2-40B4-BE49-F238E27FC236}">
                <a16:creationId xmlns:a16="http://schemas.microsoft.com/office/drawing/2014/main" xmlns="" id="{0C11A7F6-D671-4DE8-9E37-7BA1E35F1CAF}"/>
              </a:ext>
            </a:extLst>
          </p:cNvPr>
          <p:cNvPicPr>
            <a:picLocks noChangeAspect="1"/>
          </p:cNvPicPr>
          <p:nvPr/>
        </p:nvPicPr>
        <p:blipFill>
          <a:blip r:embed="rId3"/>
          <a:stretch>
            <a:fillRect/>
          </a:stretch>
        </p:blipFill>
        <p:spPr>
          <a:xfrm>
            <a:off x="1130964" y="1359299"/>
            <a:ext cx="9367816" cy="2786925"/>
          </a:xfrm>
          <a:prstGeom prst="rect">
            <a:avLst/>
          </a:prstGeom>
        </p:spPr>
      </p:pic>
      <p:sp>
        <p:nvSpPr>
          <p:cNvPr id="6" name="內容版面配置區 2">
            <a:extLst>
              <a:ext uri="{FF2B5EF4-FFF2-40B4-BE49-F238E27FC236}">
                <a16:creationId xmlns:a16="http://schemas.microsoft.com/office/drawing/2014/main" xmlns="" id="{3EA44FB1-E29C-4CC6-AE7B-BC5DED4E7C4E}"/>
              </a:ext>
            </a:extLst>
          </p:cNvPr>
          <p:cNvSpPr txBox="1">
            <a:spLocks/>
          </p:cNvSpPr>
          <p:nvPr/>
        </p:nvSpPr>
        <p:spPr>
          <a:xfrm>
            <a:off x="5706036" y="4221771"/>
            <a:ext cx="3079376" cy="1532658"/>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Font typeface="Arial" panose="020B0604020202020204" pitchFamily="34" charset="0"/>
              <a:buNone/>
            </a:pPr>
            <a:r>
              <a:rPr lang="en-US" altLang="zh-TW" sz="2400" dirty="0">
                <a:solidFill>
                  <a:schemeClr val="bg1">
                    <a:lumMod val="75000"/>
                  </a:schemeClr>
                </a:solidFill>
              </a:rPr>
              <a:t>TP : True Positive</a:t>
            </a:r>
          </a:p>
          <a:p>
            <a:pPr marL="0" indent="0">
              <a:spcBef>
                <a:spcPts val="1200"/>
              </a:spcBef>
              <a:buFont typeface="Arial" panose="020B0604020202020204" pitchFamily="34" charset="0"/>
              <a:buNone/>
            </a:pPr>
            <a:r>
              <a:rPr lang="en-US" altLang="zh-TW" sz="2400" dirty="0">
                <a:solidFill>
                  <a:schemeClr val="bg1">
                    <a:lumMod val="75000"/>
                  </a:schemeClr>
                </a:solidFill>
              </a:rPr>
              <a:t>FN : False Negative</a:t>
            </a:r>
          </a:p>
          <a:p>
            <a:pPr marL="0" indent="0">
              <a:spcBef>
                <a:spcPts val="1200"/>
              </a:spcBef>
              <a:buFont typeface="Arial" panose="020B0604020202020204" pitchFamily="34" charset="0"/>
              <a:buNone/>
            </a:pPr>
            <a:r>
              <a:rPr lang="en-US" altLang="zh-TW" sz="2400" dirty="0">
                <a:solidFill>
                  <a:schemeClr val="bg1">
                    <a:lumMod val="75000"/>
                  </a:schemeClr>
                </a:solidFill>
              </a:rPr>
              <a:t>FP : False Positive</a:t>
            </a:r>
            <a:endParaRPr lang="zh-TW" altLang="en-US" sz="2400" dirty="0">
              <a:solidFill>
                <a:schemeClr val="bg1">
                  <a:lumMod val="75000"/>
                </a:schemeClr>
              </a:solidFill>
            </a:endParaRPr>
          </a:p>
        </p:txBody>
      </p:sp>
      <p:sp>
        <p:nvSpPr>
          <p:cNvPr id="7" name="矩形 6">
            <a:extLst>
              <a:ext uri="{FF2B5EF4-FFF2-40B4-BE49-F238E27FC236}">
                <a16:creationId xmlns:a16="http://schemas.microsoft.com/office/drawing/2014/main" xmlns="" id="{C9372806-63E9-4586-84AE-EAC0F40C415D}"/>
              </a:ext>
            </a:extLst>
          </p:cNvPr>
          <p:cNvSpPr/>
          <p:nvPr/>
        </p:nvSpPr>
        <p:spPr>
          <a:xfrm>
            <a:off x="5814872" y="2837328"/>
            <a:ext cx="1137257" cy="36307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xmlns="" id="{1757BFBD-F9EB-4AB8-A75B-5F17ABA8CCF6}"/>
              </a:ext>
            </a:extLst>
          </p:cNvPr>
          <p:cNvSpPr/>
          <p:nvPr/>
        </p:nvSpPr>
        <p:spPr>
          <a:xfrm>
            <a:off x="7392661" y="3151093"/>
            <a:ext cx="1137257" cy="36307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xmlns="" id="{D3EAD261-28CB-4E88-B5DE-F10A65BAA5FC}"/>
              </a:ext>
            </a:extLst>
          </p:cNvPr>
          <p:cNvSpPr/>
          <p:nvPr/>
        </p:nvSpPr>
        <p:spPr>
          <a:xfrm>
            <a:off x="9024238" y="2821638"/>
            <a:ext cx="1137257" cy="36307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67756947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9543</TotalTime>
  <Words>826</Words>
  <Application>Microsoft Office PowerPoint</Application>
  <PresentationFormat>寬螢幕</PresentationFormat>
  <Paragraphs>97</Paragraphs>
  <Slides>13</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13</vt:i4>
      </vt:variant>
    </vt:vector>
  </HeadingPairs>
  <TitlesOfParts>
    <vt:vector size="21" baseType="lpstr">
      <vt:lpstr>微軟正黑體</vt:lpstr>
      <vt:lpstr>新細明體</vt:lpstr>
      <vt:lpstr>Arial</vt:lpstr>
      <vt:lpstr>Calibri</vt:lpstr>
      <vt:lpstr>Cambria Math</vt:lpstr>
      <vt:lpstr>Times New Roman</vt:lpstr>
      <vt:lpstr>Tw Cen MT</vt:lpstr>
      <vt:lpstr>Office 佈景主題</vt:lpstr>
      <vt:lpstr>Time series for blind biosignal classification model</vt:lpstr>
      <vt:lpstr>Abstract</vt:lpstr>
      <vt:lpstr>Biosignals</vt:lpstr>
      <vt:lpstr>Blind biosignal classification model (B2SC model)</vt:lpstr>
      <vt:lpstr>Blind biosignal classification model (B2SC model)</vt:lpstr>
      <vt:lpstr>k-Nearest Neighbors Algorithm (kNN)</vt:lpstr>
      <vt:lpstr>Dynamic Time Warping (DTW)</vt:lpstr>
      <vt:lpstr>Templates construction and optimization algorithm</vt:lpstr>
      <vt:lpstr>Pattern matching phase of B2SC Model</vt:lpstr>
      <vt:lpstr>Pattern matching phase of B2SC Model</vt:lpstr>
      <vt:lpstr>Pattern matching phase of B2SC Model</vt:lpstr>
      <vt:lpstr>Experimental setting</vt:lpstr>
      <vt:lpstr>Classification results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pplab-class</cp:lastModifiedBy>
  <cp:revision>164</cp:revision>
  <dcterms:created xsi:type="dcterms:W3CDTF">2017-10-09T09:38:00Z</dcterms:created>
  <dcterms:modified xsi:type="dcterms:W3CDTF">2017-10-24T12:08:19Z</dcterms:modified>
</cp:coreProperties>
</file>