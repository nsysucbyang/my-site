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6" r:id="rId4"/>
    <p:sldId id="258" r:id="rId5"/>
    <p:sldId id="259" r:id="rId6"/>
    <p:sldId id="260" r:id="rId7"/>
    <p:sldId id="261" r:id="rId8"/>
    <p:sldId id="262" r:id="rId9"/>
    <p:sldId id="274" r:id="rId10"/>
    <p:sldId id="275" r:id="rId11"/>
    <p:sldId id="263" r:id="rId12"/>
    <p:sldId id="264" r:id="rId13"/>
    <p:sldId id="265" r:id="rId14"/>
    <p:sldId id="267" r:id="rId15"/>
    <p:sldId id="271" r:id="rId16"/>
    <p:sldId id="272" r:id="rId17"/>
    <p:sldId id="273" r:id="rId18"/>
    <p:sldId id="268" r:id="rId19"/>
    <p:sldId id="269" r:id="rId20"/>
    <p:sldId id="276" r:id="rId21"/>
    <p:sldId id="270"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16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A70A179-E4F8-4683-BC34-B763D8BC67BA}"/>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667E4EBB-BD97-4754-8E73-D34A9DCB4A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a:extLst>
              <a:ext uri="{FF2B5EF4-FFF2-40B4-BE49-F238E27FC236}">
                <a16:creationId xmlns:a16="http://schemas.microsoft.com/office/drawing/2014/main" xmlns="" id="{2420A0A9-874D-419B-8F18-065E6188C1E1}"/>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5" name="頁尾版面配置區 4">
            <a:extLst>
              <a:ext uri="{FF2B5EF4-FFF2-40B4-BE49-F238E27FC236}">
                <a16:creationId xmlns:a16="http://schemas.microsoft.com/office/drawing/2014/main" xmlns="" id="{89C94F8B-6F80-489D-B9FC-3E0C08E4AF8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828FEA7A-FAE0-49F9-819E-8400FCD486DE}"/>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632464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66548D0-351E-4EC1-AAF1-295503382340}"/>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0D4CBFDB-A035-4147-892D-C09F08FB809B}"/>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C6CD1551-BED6-4DAE-92AD-9CFBFB6E587E}"/>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5" name="頁尾版面配置區 4">
            <a:extLst>
              <a:ext uri="{FF2B5EF4-FFF2-40B4-BE49-F238E27FC236}">
                <a16:creationId xmlns:a16="http://schemas.microsoft.com/office/drawing/2014/main" xmlns="" id="{B6EE1B38-2E82-4C7A-9FA6-476E15664A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BD971594-3364-426D-87DE-FD48CF3118D5}"/>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175076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18A521B-C5CC-46B0-84B9-529513385E5E}"/>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F4231CC2-3B81-43A0-AD14-6063340BE8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8FCB5BD6-A080-49D0-930A-19615D4846B5}"/>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5" name="頁尾版面配置區 4">
            <a:extLst>
              <a:ext uri="{FF2B5EF4-FFF2-40B4-BE49-F238E27FC236}">
                <a16:creationId xmlns:a16="http://schemas.microsoft.com/office/drawing/2014/main" xmlns="" id="{A739E2CB-6555-4B4E-A0AD-89F79E5ECC8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E711B9-64EC-4006-A026-3E3A2E5CB76B}"/>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2816033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A1C47278-A798-4FC3-9B4B-ED87ED0953B3}"/>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E7567683-3994-4CAE-9BC4-C36C98EE3319}"/>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036EF591-34EB-4A60-ADB3-86BD3F91012E}"/>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A431320D-E579-4F5C-BFC7-410835E3117F}"/>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6" name="頁尾版面配置區 5">
            <a:extLst>
              <a:ext uri="{FF2B5EF4-FFF2-40B4-BE49-F238E27FC236}">
                <a16:creationId xmlns:a16="http://schemas.microsoft.com/office/drawing/2014/main" xmlns="" id="{ACBA903C-A0D1-4975-971F-F27E4A4C8C7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A03DF2FA-CE88-4409-8681-DE8289473DD2}"/>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678417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2AB0D6A-8312-43FF-96FC-02E83F619FD9}"/>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2B9554B3-8A9F-4306-917E-1B12A38C1F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6E08BB6E-7412-4772-A008-6493ED973422}"/>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C1D1AEFD-4152-4C58-AB5F-3BF921E5C3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54AD5D52-116C-4C74-B2BF-04984600EC2D}"/>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F5EED7AD-514F-440E-8970-874EFCB2C6C9}"/>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8" name="頁尾版面配置區 7">
            <a:extLst>
              <a:ext uri="{FF2B5EF4-FFF2-40B4-BE49-F238E27FC236}">
                <a16:creationId xmlns:a16="http://schemas.microsoft.com/office/drawing/2014/main" xmlns="" id="{796C0872-AE5D-4757-AA07-6F32122DBBC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2DD7A228-FCBE-4B9E-B153-A24232E79CF4}"/>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872139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2BED5B6-7523-40ED-8239-BEE88D8C695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EBB2A534-EA44-4E03-A169-87FD399ED404}"/>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4" name="頁尾版面配置區 3">
            <a:extLst>
              <a:ext uri="{FF2B5EF4-FFF2-40B4-BE49-F238E27FC236}">
                <a16:creationId xmlns:a16="http://schemas.microsoft.com/office/drawing/2014/main" xmlns="" id="{E9077004-7931-47BC-A2CB-DFFA997082DC}"/>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AC2BAB56-58E8-4EA1-8EF4-3E98859D5314}"/>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2826732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69C92604-C8A0-433B-AC02-39BE6F92E166}"/>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3" name="頁尾版面配置區 2">
            <a:extLst>
              <a:ext uri="{FF2B5EF4-FFF2-40B4-BE49-F238E27FC236}">
                <a16:creationId xmlns:a16="http://schemas.microsoft.com/office/drawing/2014/main" xmlns="" id="{F8BA07C2-3738-451A-845B-0E3EDD99561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4388A39D-C423-44F3-8103-0C59E2219F91}"/>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9396737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3AFF492-D026-40C5-8B91-F6A3F147164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0E58715E-C68A-4EB4-8C1B-F0CA59D7C2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BAAED0C1-E2E9-43AA-A773-BBA66E8761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AE4B8234-CF5B-4B39-A6BE-7D731BEBC2A7}"/>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6" name="頁尾版面配置區 5">
            <a:extLst>
              <a:ext uri="{FF2B5EF4-FFF2-40B4-BE49-F238E27FC236}">
                <a16:creationId xmlns:a16="http://schemas.microsoft.com/office/drawing/2014/main" xmlns="" id="{EF11925E-8665-4DD5-8A30-EBB57AD7640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AC2C9F3D-7754-4A98-ABF4-8A1CADCC4BB9}"/>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275338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BBE1C3B9-6E41-4F6A-ABF6-8A83D38BBF0F}"/>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73BC1D8F-F917-48EA-843D-34A84B0602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D1FD4741-2784-499F-8EAC-B79D6A98AF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A0765733-555F-4298-A0FC-2638DDDDAAC3}"/>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6" name="頁尾版面配置區 5">
            <a:extLst>
              <a:ext uri="{FF2B5EF4-FFF2-40B4-BE49-F238E27FC236}">
                <a16:creationId xmlns:a16="http://schemas.microsoft.com/office/drawing/2014/main" xmlns="" id="{5847F5FC-EFF8-452D-BDFF-AA8B6C99714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E133AB76-5097-4F03-96D8-5B8BC301EA5B}"/>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14283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F172DA9-1E68-4385-AE7A-CA894513D8A4}"/>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39D826C0-4A0A-4773-BFB9-3A5D0B23B7D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F9DE39A5-59AB-41DB-BF06-BAAE425681CD}"/>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5" name="頁尾版面配置區 4">
            <a:extLst>
              <a:ext uri="{FF2B5EF4-FFF2-40B4-BE49-F238E27FC236}">
                <a16:creationId xmlns:a16="http://schemas.microsoft.com/office/drawing/2014/main" xmlns="" id="{8FDBF3AD-6E56-4999-8939-3959CA2C40C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43F10F8-056B-4ABE-AFA3-F48EA2FFDD75}"/>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2202830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ABD6EAE8-0A6C-4D3F-8EEB-D2DEA89CD065}"/>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131629A5-D8F8-460B-936C-1EC0C90EB439}"/>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6E780CAC-7E64-4AD9-86FE-01DB7F70FC04}"/>
              </a:ext>
            </a:extLst>
          </p:cNvPr>
          <p:cNvSpPr>
            <a:spLocks noGrp="1"/>
          </p:cNvSpPr>
          <p:nvPr>
            <p:ph type="dt" sz="half" idx="10"/>
          </p:nvPr>
        </p:nvSpPr>
        <p:spPr/>
        <p:txBody>
          <a:bodyPr/>
          <a:lstStyle/>
          <a:p>
            <a:fld id="{9C7F73B5-8E15-42D7-B141-65D4B77925C3}" type="datetimeFigureOut">
              <a:rPr lang="zh-TW" altLang="en-US" smtClean="0"/>
              <a:t>2017/8/23</a:t>
            </a:fld>
            <a:endParaRPr lang="zh-TW" altLang="en-US"/>
          </a:p>
        </p:txBody>
      </p:sp>
      <p:sp>
        <p:nvSpPr>
          <p:cNvPr id="5" name="頁尾版面配置區 4">
            <a:extLst>
              <a:ext uri="{FF2B5EF4-FFF2-40B4-BE49-F238E27FC236}">
                <a16:creationId xmlns:a16="http://schemas.microsoft.com/office/drawing/2014/main" xmlns="" id="{3F8DCDA6-EEB5-4E58-BD75-A9C706BF4AF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6169819D-9C5A-455E-BA0A-9D0A353C3A2C}"/>
              </a:ext>
            </a:extLst>
          </p:cNvPr>
          <p:cNvSpPr>
            <a:spLocks noGrp="1"/>
          </p:cNvSpPr>
          <p:nvPr>
            <p:ph type="sldNum" sz="quarter" idx="12"/>
          </p:nvPr>
        </p:nvSpPr>
        <p:spPr/>
        <p:txBody>
          <a:body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1641107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032D6222-FDFC-4DBA-AB94-2AF4C46A7F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03A5AFF0-98FF-4C71-8FA1-51D6C4B3C8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3C4F6E54-C70F-4602-A247-A24EF9EA65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7F73B5-8E15-42D7-B141-65D4B77925C3}" type="datetimeFigureOut">
              <a:rPr lang="zh-TW" altLang="en-US" smtClean="0"/>
              <a:t>2017/8/23</a:t>
            </a:fld>
            <a:endParaRPr lang="zh-TW" altLang="en-US"/>
          </a:p>
        </p:txBody>
      </p:sp>
      <p:sp>
        <p:nvSpPr>
          <p:cNvPr id="5" name="頁尾版面配置區 4">
            <a:extLst>
              <a:ext uri="{FF2B5EF4-FFF2-40B4-BE49-F238E27FC236}">
                <a16:creationId xmlns:a16="http://schemas.microsoft.com/office/drawing/2014/main" xmlns="" id="{01045FA3-FB90-4623-B34C-E447F5A947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2141ED5A-2BF0-4DC2-9E16-3C661B42D4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48091C-B619-4889-9A56-2FDDB1BB4B03}" type="slidenum">
              <a:rPr lang="zh-TW" altLang="en-US" smtClean="0"/>
              <a:t>‹#›</a:t>
            </a:fld>
            <a:endParaRPr lang="zh-TW" altLang="en-US"/>
          </a:p>
        </p:txBody>
      </p:sp>
    </p:spTree>
    <p:extLst>
      <p:ext uri="{BB962C8B-B14F-4D97-AF65-F5344CB8AC3E}">
        <p14:creationId xmlns:p14="http://schemas.microsoft.com/office/powerpoint/2010/main" val="39939788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0.png"/><Relationship Id="rId9"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160.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0231D1A-763C-4483-8827-DD807F083B7E}"/>
              </a:ext>
            </a:extLst>
          </p:cNvPr>
          <p:cNvSpPr>
            <a:spLocks noGrp="1"/>
          </p:cNvSpPr>
          <p:nvPr>
            <p:ph type="ctrTitle"/>
          </p:nvPr>
        </p:nvSpPr>
        <p:spPr>
          <a:xfrm>
            <a:off x="935519" y="784469"/>
            <a:ext cx="10108734" cy="1890888"/>
          </a:xfrm>
        </p:spPr>
        <p:txBody>
          <a:bodyPr>
            <a:normAutofit/>
          </a:bodyPr>
          <a:lstStyle/>
          <a:p>
            <a:r>
              <a:rPr lang="en-US" altLang="zh-TW" sz="3600" dirty="0"/>
              <a:t>TAIEX Forecasting Using Fuzzy Time Series and</a:t>
            </a:r>
            <a:br>
              <a:rPr lang="en-US" altLang="zh-TW" sz="3600" dirty="0"/>
            </a:br>
            <a:r>
              <a:rPr lang="en-US" altLang="zh-TW" sz="3600" dirty="0"/>
              <a:t>Automatically Generated Weights of Multiple Factors</a:t>
            </a:r>
            <a:endParaRPr lang="zh-TW" altLang="en-US" sz="3600" dirty="0"/>
          </a:p>
        </p:txBody>
      </p:sp>
      <p:sp>
        <p:nvSpPr>
          <p:cNvPr id="3" name="副標題 2">
            <a:extLst>
              <a:ext uri="{FF2B5EF4-FFF2-40B4-BE49-F238E27FC236}">
                <a16:creationId xmlns:a16="http://schemas.microsoft.com/office/drawing/2014/main" xmlns="" id="{6A052336-82A6-41AA-9572-266501FF3337}"/>
              </a:ext>
            </a:extLst>
          </p:cNvPr>
          <p:cNvSpPr>
            <a:spLocks noGrp="1"/>
          </p:cNvSpPr>
          <p:nvPr>
            <p:ph type="subTitle" idx="1"/>
          </p:nvPr>
        </p:nvSpPr>
        <p:spPr>
          <a:xfrm>
            <a:off x="1524000" y="3440455"/>
            <a:ext cx="9144000" cy="1655762"/>
          </a:xfrm>
        </p:spPr>
        <p:txBody>
          <a:bodyPr>
            <a:normAutofit lnSpcReduction="10000"/>
          </a:bodyPr>
          <a:lstStyle/>
          <a:p>
            <a:r>
              <a:rPr lang="en-US" altLang="zh-TW" dirty="0" err="1"/>
              <a:t>Shyi</a:t>
            </a:r>
            <a:r>
              <a:rPr lang="en-US" altLang="zh-TW" dirty="0"/>
              <a:t>-Ming Chen, </a:t>
            </a:r>
            <a:r>
              <a:rPr lang="en-US" altLang="zh-TW" i="1" dirty="0"/>
              <a:t>Fellow, IEEE</a:t>
            </a:r>
            <a:r>
              <a:rPr lang="en-US" altLang="zh-TW" dirty="0"/>
              <a:t>, </a:t>
            </a:r>
            <a:r>
              <a:rPr lang="en-US" altLang="zh-TW" dirty="0" err="1"/>
              <a:t>Huai</a:t>
            </a:r>
            <a:r>
              <a:rPr lang="en-US" altLang="zh-TW" dirty="0"/>
              <a:t>-Ping Chu, and Tian-Wei </a:t>
            </a:r>
            <a:r>
              <a:rPr lang="en-US" altLang="zh-TW" dirty="0" err="1"/>
              <a:t>Sheu</a:t>
            </a:r>
            <a:endParaRPr lang="en-US" altLang="zh-TW" dirty="0"/>
          </a:p>
          <a:p>
            <a:endParaRPr lang="en-US" altLang="zh-TW" dirty="0"/>
          </a:p>
          <a:p>
            <a:r>
              <a:rPr lang="en-US" altLang="zh-TW" dirty="0"/>
              <a:t>IEEE TRANSACTIONS ON SYSTEMS, MAN, AND CYBERNETICS—PART A: SYSTEMS AND HUMANS, VOL. 42, NO. 6, NOVEMBER 2012</a:t>
            </a:r>
            <a:endParaRPr lang="zh-TW" altLang="en-US" dirty="0"/>
          </a:p>
        </p:txBody>
      </p:sp>
      <p:sp>
        <p:nvSpPr>
          <p:cNvPr id="4" name="文字方塊 3">
            <a:extLst>
              <a:ext uri="{FF2B5EF4-FFF2-40B4-BE49-F238E27FC236}">
                <a16:creationId xmlns:a16="http://schemas.microsoft.com/office/drawing/2014/main" xmlns="" id="{21E66E9B-2FF2-42C4-B149-61B728DD249E}"/>
              </a:ext>
            </a:extLst>
          </p:cNvPr>
          <p:cNvSpPr txBox="1"/>
          <p:nvPr/>
        </p:nvSpPr>
        <p:spPr>
          <a:xfrm>
            <a:off x="4388125" y="5563604"/>
            <a:ext cx="3203522" cy="646331"/>
          </a:xfrm>
          <a:prstGeom prst="rect">
            <a:avLst/>
          </a:prstGeom>
          <a:noFill/>
        </p:spPr>
        <p:txBody>
          <a:bodyPr wrap="square" rtlCol="0">
            <a:spAutoFit/>
          </a:bodyPr>
          <a:lstStyle/>
          <a:p>
            <a:r>
              <a:rPr lang="en-US" altLang="zh-TW" dirty="0"/>
              <a:t>Presenter: Shih-</a:t>
            </a:r>
            <a:r>
              <a:rPr lang="en-US" altLang="zh-TW" dirty="0" err="1"/>
              <a:t>jhan</a:t>
            </a:r>
            <a:r>
              <a:rPr lang="en-US" altLang="zh-TW" dirty="0"/>
              <a:t> Huang</a:t>
            </a:r>
          </a:p>
          <a:p>
            <a:r>
              <a:rPr lang="en-US" altLang="zh-TW" dirty="0"/>
              <a:t>Date: 2017/8/23</a:t>
            </a:r>
            <a:endParaRPr lang="zh-TW" altLang="en-US" dirty="0"/>
          </a:p>
        </p:txBody>
      </p:sp>
    </p:spTree>
    <p:extLst>
      <p:ext uri="{BB962C8B-B14F-4D97-AF65-F5344CB8AC3E}">
        <p14:creationId xmlns:p14="http://schemas.microsoft.com/office/powerpoint/2010/main" val="416759151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F74E76E-181D-4194-869C-747AFA8A6732}"/>
              </a:ext>
            </a:extLst>
          </p:cNvPr>
          <p:cNvSpPr>
            <a:spLocks noGrp="1"/>
          </p:cNvSpPr>
          <p:nvPr>
            <p:ph type="title"/>
          </p:nvPr>
        </p:nvSpPr>
        <p:spPr>
          <a:xfrm>
            <a:off x="797443" y="386390"/>
            <a:ext cx="10515600" cy="857619"/>
          </a:xfrm>
        </p:spPr>
        <p:txBody>
          <a:bodyPr/>
          <a:lstStyle/>
          <a:p>
            <a:r>
              <a:rPr lang="en-US" altLang="zh-TW" dirty="0"/>
              <a:t>Abstract</a:t>
            </a:r>
            <a:endParaRPr lang="zh-TW" altLang="en-US" dirty="0"/>
          </a:p>
        </p:txBody>
      </p:sp>
      <p:sp>
        <p:nvSpPr>
          <p:cNvPr id="6" name="文字方塊 5">
            <a:extLst>
              <a:ext uri="{FF2B5EF4-FFF2-40B4-BE49-F238E27FC236}">
                <a16:creationId xmlns:a16="http://schemas.microsoft.com/office/drawing/2014/main" xmlns="" id="{9594F223-9E62-48EE-BAC3-F963DCC29A3C}"/>
              </a:ext>
            </a:extLst>
          </p:cNvPr>
          <p:cNvSpPr txBox="1"/>
          <p:nvPr/>
        </p:nvSpPr>
        <p:spPr>
          <a:xfrm>
            <a:off x="797443" y="1435395"/>
            <a:ext cx="10653822" cy="4693593"/>
          </a:xfrm>
          <a:prstGeom prst="rect">
            <a:avLst/>
          </a:prstGeom>
          <a:noFill/>
        </p:spPr>
        <p:txBody>
          <a:bodyPr wrap="square" rtlCol="0">
            <a:spAutoFit/>
          </a:bodyPr>
          <a:lstStyle/>
          <a:p>
            <a:pPr algn="just"/>
            <a:r>
              <a:rPr lang="en-US" altLang="zh-TW" sz="2300" b="1" dirty="0"/>
              <a:t>In this paper, we present a new method to forecast the Taiwan Stock Exchange Capitalization Weighted Stock Index (TAIEX) using fuzzy time series and automatically generated weights of multiple factors. The proposed method uses the variation magnitudes of adjacent historical data to generate fuzzy variation groups of the main factor (i.e., the TAIEX) and the elementary secondary factors (i.e., the Dow Jones, the NASDAQ and the M1B), respectively. Based on the variation magnitudes of the main factor TAIEX and the elementary secondary factors of a particular trading day, it constructs the occurrence vector of the main factor and the occurrence vectors of the elementary secondary factors on the trading day, respectively. By calculating the correlation coefficients between the numerical data series of the main factor and the numerical data series of each elementary secondary factor, respectively, it calculates the relevance degree between the forecasted variation of the main factor and the forecasted variation of each elementary secondary factor.</a:t>
            </a:r>
            <a:endParaRPr lang="zh-TW" altLang="en-US" sz="2300" dirty="0"/>
          </a:p>
        </p:txBody>
      </p:sp>
    </p:spTree>
    <p:extLst>
      <p:ext uri="{BB962C8B-B14F-4D97-AF65-F5344CB8AC3E}">
        <p14:creationId xmlns:p14="http://schemas.microsoft.com/office/powerpoint/2010/main" val="15952385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xmlns="" id="{71D515BE-2681-4F70-B1CE-22DD0D2F86A4}"/>
              </a:ext>
            </a:extLst>
          </p:cNvPr>
          <p:cNvSpPr txBox="1"/>
          <p:nvPr/>
        </p:nvSpPr>
        <p:spPr>
          <a:xfrm>
            <a:off x="776178" y="1339702"/>
            <a:ext cx="10621925" cy="3985706"/>
          </a:xfrm>
          <a:prstGeom prst="rect">
            <a:avLst/>
          </a:prstGeom>
          <a:noFill/>
        </p:spPr>
        <p:txBody>
          <a:bodyPr wrap="square" rtlCol="0">
            <a:spAutoFit/>
          </a:bodyPr>
          <a:lstStyle/>
          <a:p>
            <a:pPr algn="just"/>
            <a:r>
              <a:rPr lang="en-US" altLang="zh-TW" sz="2300" b="1" dirty="0"/>
              <a:t>Based on the correlation coefficients between the numerical data series of the main factor and the numerical data series of each elementary secondary factor on a trading day, it automatically generates the weights of the occurrence vector of the main factor and the occurrence vector of each elementary secondary factor on the trading day, respectively. Then, it calculates the forecasted variation of the main factor and the forecasted variation of each elementary secondary factor on the trading day, respectively, to obtain the final forecasted variation on the trading day. Finally, based on the closing index of the TAIEX on the trading day and the final forecasted variation on the trading day, it generates the forecasted value of the next trading day. The experimental results show that the proposed method outperforms the existing methods.</a:t>
            </a:r>
            <a:endParaRPr lang="zh-TW" altLang="en-US" sz="2300" dirty="0"/>
          </a:p>
        </p:txBody>
      </p:sp>
    </p:spTree>
    <p:extLst>
      <p:ext uri="{BB962C8B-B14F-4D97-AF65-F5344CB8AC3E}">
        <p14:creationId xmlns:p14="http://schemas.microsoft.com/office/powerpoint/2010/main" val="25946732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F74E76E-181D-4194-869C-747AFA8A6732}"/>
              </a:ext>
            </a:extLst>
          </p:cNvPr>
          <p:cNvSpPr>
            <a:spLocks noGrp="1"/>
          </p:cNvSpPr>
          <p:nvPr>
            <p:ph type="title"/>
          </p:nvPr>
        </p:nvSpPr>
        <p:spPr/>
        <p:txBody>
          <a:bodyPr/>
          <a:lstStyle/>
          <a:p>
            <a:r>
              <a:rPr lang="en-US" altLang="zh-TW" dirty="0"/>
              <a:t>Method</a:t>
            </a:r>
            <a:endParaRPr lang="zh-TW" altLang="en-US" dirty="0"/>
          </a:p>
        </p:txBody>
      </p:sp>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p:txBody>
          <a:bodyPr/>
          <a:lstStyle/>
          <a:p>
            <a:r>
              <a:rPr lang="en-US" altLang="zh-TW" dirty="0"/>
              <a:t>Step 1: </a:t>
            </a:r>
            <a:r>
              <a:rPr lang="en-US" altLang="zh-TW" dirty="0" err="1"/>
              <a:t>Caculate</a:t>
            </a:r>
            <a:r>
              <a:rPr lang="en-US" altLang="zh-TW" dirty="0"/>
              <a:t> the variation magnitude of the closing indices between the </a:t>
            </a:r>
            <a:r>
              <a:rPr lang="en-US" altLang="zh-TW" dirty="0" err="1"/>
              <a:t>asjacent</a:t>
            </a:r>
            <a:r>
              <a:rPr lang="en-US" altLang="zh-TW" dirty="0"/>
              <a:t> historical training data</a:t>
            </a:r>
            <a:endParaRPr lang="zh-TW" altLang="en-US" dirty="0"/>
          </a:p>
        </p:txBody>
      </p:sp>
      <p:pic>
        <p:nvPicPr>
          <p:cNvPr id="5" name="圖片 4">
            <a:extLst>
              <a:ext uri="{FF2B5EF4-FFF2-40B4-BE49-F238E27FC236}">
                <a16:creationId xmlns:a16="http://schemas.microsoft.com/office/drawing/2014/main" xmlns="" id="{20E34756-9FE4-413F-A6F9-9BCDE50787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681" y="3107007"/>
            <a:ext cx="4496501" cy="2701933"/>
          </a:xfrm>
          <a:prstGeom prst="rect">
            <a:avLst/>
          </a:prstGeom>
        </p:spPr>
      </p:pic>
      <p:sp>
        <p:nvSpPr>
          <p:cNvPr id="4" name="文字方塊 3">
            <a:extLst>
              <a:ext uri="{FF2B5EF4-FFF2-40B4-BE49-F238E27FC236}">
                <a16:creationId xmlns:a16="http://schemas.microsoft.com/office/drawing/2014/main" xmlns="" id="{7162375F-41EB-4405-B111-2C76981E25F7}"/>
              </a:ext>
            </a:extLst>
          </p:cNvPr>
          <p:cNvSpPr txBox="1"/>
          <p:nvPr/>
        </p:nvSpPr>
        <p:spPr>
          <a:xfrm>
            <a:off x="7017487" y="3870251"/>
            <a:ext cx="4806793" cy="923330"/>
          </a:xfrm>
          <a:prstGeom prst="rect">
            <a:avLst/>
          </a:prstGeom>
          <a:noFill/>
        </p:spPr>
        <p:txBody>
          <a:bodyPr wrap="square" rtlCol="0">
            <a:spAutoFit/>
          </a:bodyPr>
          <a:lstStyle/>
          <a:p>
            <a:pPr marL="285750" indent="-285750">
              <a:buFont typeface="Arial" panose="020B0604020202020204" pitchFamily="34" charset="0"/>
              <a:buChar char="•"/>
            </a:pPr>
            <a:r>
              <a:rPr lang="en-US" altLang="zh-TW" b="1" dirty="0"/>
              <a:t>main factor:</a:t>
            </a:r>
            <a:r>
              <a:rPr lang="zh-TW" altLang="en-US" b="1" dirty="0"/>
              <a:t> </a:t>
            </a:r>
            <a:r>
              <a:rPr lang="en-US" altLang="zh-TW" dirty="0">
                <a:solidFill>
                  <a:srgbClr val="0070C0"/>
                </a:solidFill>
              </a:rPr>
              <a:t>TAIEX</a:t>
            </a:r>
          </a:p>
          <a:p>
            <a:pPr marL="285750" indent="-285750">
              <a:buFont typeface="Arial" panose="020B0604020202020204" pitchFamily="34" charset="0"/>
              <a:buChar char="•"/>
            </a:pPr>
            <a:r>
              <a:rPr lang="en-US" altLang="zh-TW" b="1" dirty="0"/>
              <a:t>elementary secondary factors: </a:t>
            </a:r>
          </a:p>
          <a:p>
            <a:r>
              <a:rPr lang="zh-TW" altLang="en-US" dirty="0"/>
              <a:t>　</a:t>
            </a:r>
            <a:r>
              <a:rPr lang="en-US" altLang="zh-TW" dirty="0">
                <a:solidFill>
                  <a:srgbClr val="0070C0"/>
                </a:solidFill>
              </a:rPr>
              <a:t>Dow Jones, NASDAQ and M1B</a:t>
            </a:r>
            <a:endParaRPr lang="zh-TW" altLang="en-US" dirty="0">
              <a:solidFill>
                <a:srgbClr val="0070C0"/>
              </a:solidFill>
            </a:endParaRPr>
          </a:p>
        </p:txBody>
      </p:sp>
    </p:spTree>
    <p:extLst>
      <p:ext uri="{BB962C8B-B14F-4D97-AF65-F5344CB8AC3E}">
        <p14:creationId xmlns:p14="http://schemas.microsoft.com/office/powerpoint/2010/main" val="35375666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a:xfrm>
            <a:off x="361121" y="685939"/>
            <a:ext cx="10515600" cy="4351338"/>
          </a:xfrm>
        </p:spPr>
        <p:txBody>
          <a:bodyPr/>
          <a:lstStyle/>
          <a:p>
            <a:r>
              <a:rPr lang="en-US" altLang="zh-TW" dirty="0"/>
              <a:t>Step 2: Based on the fluctuation of the variation magnitude of each factor, </a:t>
            </a:r>
            <a:r>
              <a:rPr lang="en-US" altLang="zh-TW" b="1" dirty="0">
                <a:solidFill>
                  <a:srgbClr val="0070C0"/>
                </a:solidFill>
              </a:rPr>
              <a:t>define the universes of discourse of each factor and partition the universes of discourse of each factor into intervals, respectively.</a:t>
            </a:r>
            <a:endParaRPr lang="zh-TW" altLang="en-US" b="1" dirty="0">
              <a:solidFill>
                <a:srgbClr val="0070C0"/>
              </a:solidFill>
            </a:endParaRPr>
          </a:p>
        </p:txBody>
      </p:sp>
      <p:grpSp>
        <p:nvGrpSpPr>
          <p:cNvPr id="7" name="群組 6">
            <a:extLst>
              <a:ext uri="{FF2B5EF4-FFF2-40B4-BE49-F238E27FC236}">
                <a16:creationId xmlns:a16="http://schemas.microsoft.com/office/drawing/2014/main" xmlns="" id="{8B9FFF1B-1DF3-44BA-9515-7424AB1B31C7}"/>
              </a:ext>
            </a:extLst>
          </p:cNvPr>
          <p:cNvGrpSpPr/>
          <p:nvPr/>
        </p:nvGrpSpPr>
        <p:grpSpPr>
          <a:xfrm>
            <a:off x="371060" y="4018646"/>
            <a:ext cx="5376785" cy="1628067"/>
            <a:chOff x="1681882" y="3651674"/>
            <a:chExt cx="6494709" cy="2113022"/>
          </a:xfrm>
        </p:grpSpPr>
        <p:pic>
          <p:nvPicPr>
            <p:cNvPr id="5" name="圖片 4" descr="一張含有 室外, 天空 的圖片&#10;&#10;描述是以高可信度產生">
              <a:extLst>
                <a:ext uri="{FF2B5EF4-FFF2-40B4-BE49-F238E27FC236}">
                  <a16:creationId xmlns:a16="http://schemas.microsoft.com/office/drawing/2014/main" xmlns="" id="{2D10272A-B983-48C2-994A-E1B4E84DA9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882" y="3651674"/>
              <a:ext cx="6494709" cy="2101229"/>
            </a:xfrm>
            <a:prstGeom prst="rect">
              <a:avLst/>
            </a:prstGeom>
          </p:spPr>
        </p:pic>
        <p:sp>
          <p:nvSpPr>
            <p:cNvPr id="6" name="矩形 5">
              <a:extLst>
                <a:ext uri="{FF2B5EF4-FFF2-40B4-BE49-F238E27FC236}">
                  <a16:creationId xmlns:a16="http://schemas.microsoft.com/office/drawing/2014/main" xmlns="" id="{0BF8F7BA-1CBE-4910-BDB5-53AF8AF9B449}"/>
                </a:ext>
              </a:extLst>
            </p:cNvPr>
            <p:cNvSpPr/>
            <p:nvPr/>
          </p:nvSpPr>
          <p:spPr>
            <a:xfrm>
              <a:off x="7036904" y="5433391"/>
              <a:ext cx="1126435" cy="3313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文字方塊 7">
            <a:extLst>
              <a:ext uri="{FF2B5EF4-FFF2-40B4-BE49-F238E27FC236}">
                <a16:creationId xmlns:a16="http://schemas.microsoft.com/office/drawing/2014/main" xmlns="" id="{BEBB62A8-5B83-4A5E-A0A3-4DAD2C6EDBB1}"/>
              </a:ext>
            </a:extLst>
          </p:cNvPr>
          <p:cNvSpPr txBox="1"/>
          <p:nvPr/>
        </p:nvSpPr>
        <p:spPr>
          <a:xfrm>
            <a:off x="379200" y="3018186"/>
            <a:ext cx="5340626" cy="800219"/>
          </a:xfrm>
          <a:prstGeom prst="rect">
            <a:avLst/>
          </a:prstGeom>
          <a:noFill/>
        </p:spPr>
        <p:txBody>
          <a:bodyPr wrap="square" rtlCol="0">
            <a:spAutoFit/>
          </a:bodyPr>
          <a:lstStyle/>
          <a:p>
            <a:r>
              <a:rPr lang="en-US" altLang="zh-TW" sz="2300" dirty="0"/>
              <a:t>TAIEX maximum positive fluctuation: 7%</a:t>
            </a:r>
            <a:br>
              <a:rPr lang="en-US" altLang="zh-TW" sz="2300" dirty="0"/>
            </a:br>
            <a:r>
              <a:rPr lang="en-US" altLang="zh-TW" sz="2300" dirty="0"/>
              <a:t>TAIEX maximum negative fluctuation: -7%</a:t>
            </a:r>
            <a:endParaRPr lang="zh-TW" altLang="en-US" sz="2300" dirty="0"/>
          </a:p>
        </p:txBody>
      </p:sp>
      <p:sp>
        <p:nvSpPr>
          <p:cNvPr id="4" name="文字方塊 3">
            <a:extLst>
              <a:ext uri="{FF2B5EF4-FFF2-40B4-BE49-F238E27FC236}">
                <a16:creationId xmlns:a16="http://schemas.microsoft.com/office/drawing/2014/main" xmlns="" id="{31EF731F-AFE4-4A9E-95A0-C3A02DC3B29E}"/>
              </a:ext>
            </a:extLst>
          </p:cNvPr>
          <p:cNvSpPr txBox="1"/>
          <p:nvPr/>
        </p:nvSpPr>
        <p:spPr>
          <a:xfrm>
            <a:off x="566530" y="1870600"/>
            <a:ext cx="3021496" cy="646331"/>
          </a:xfrm>
          <a:prstGeom prst="rect">
            <a:avLst/>
          </a:prstGeom>
          <a:noFill/>
        </p:spPr>
        <p:txBody>
          <a:bodyPr wrap="square" rtlCol="0">
            <a:spAutoFit/>
          </a:bodyPr>
          <a:lstStyle/>
          <a:p>
            <a:r>
              <a:rPr lang="zh-TW" altLang="en-US" dirty="0">
                <a:solidFill>
                  <a:srgbClr val="0070C0"/>
                </a:solidFill>
                <a:latin typeface="標楷體" panose="03000509000000000000" pitchFamily="65" charset="-120"/>
                <a:ea typeface="標楷體" panose="03000509000000000000" pitchFamily="65" charset="-120"/>
              </a:rPr>
              <a:t>當時台灣漲跌幅規定為</a:t>
            </a:r>
            <a:r>
              <a:rPr lang="en-US" altLang="zh-TW" dirty="0">
                <a:solidFill>
                  <a:srgbClr val="0070C0"/>
                </a:solidFill>
                <a:latin typeface="標楷體" panose="03000509000000000000" pitchFamily="65" charset="-120"/>
                <a:ea typeface="標楷體" panose="03000509000000000000" pitchFamily="65" charset="-120"/>
              </a:rPr>
              <a:t>7%</a:t>
            </a:r>
            <a:r>
              <a:rPr lang="zh-TW" altLang="en-US" dirty="0">
                <a:solidFill>
                  <a:srgbClr val="0070C0"/>
                </a:solidFill>
                <a:latin typeface="標楷體" panose="03000509000000000000" pitchFamily="65" charset="-120"/>
                <a:ea typeface="標楷體" panose="03000509000000000000" pitchFamily="65" charset="-120"/>
              </a:rPr>
              <a:t>；</a:t>
            </a:r>
            <a:endParaRPr lang="en-US" altLang="zh-TW" dirty="0">
              <a:solidFill>
                <a:srgbClr val="0070C0"/>
              </a:solidFill>
              <a:latin typeface="標楷體" panose="03000509000000000000" pitchFamily="65" charset="-120"/>
              <a:ea typeface="標楷體" panose="03000509000000000000" pitchFamily="65" charset="-120"/>
            </a:endParaRPr>
          </a:p>
          <a:p>
            <a:r>
              <a:rPr lang="zh-TW" altLang="en-US" dirty="0">
                <a:solidFill>
                  <a:srgbClr val="0070C0"/>
                </a:solidFill>
                <a:latin typeface="標楷體" panose="03000509000000000000" pitchFamily="65" charset="-120"/>
                <a:ea typeface="標楷體" panose="03000509000000000000" pitchFamily="65" charset="-120"/>
              </a:rPr>
              <a:t>美國各指數則無限制。</a:t>
            </a:r>
          </a:p>
        </p:txBody>
      </p:sp>
      <p:pic>
        <p:nvPicPr>
          <p:cNvPr id="10" name="圖片 9" descr="一張含有 文字, 建築物 的圖片&#10;&#10;產生非常高可信度的描述">
            <a:extLst>
              <a:ext uri="{FF2B5EF4-FFF2-40B4-BE49-F238E27FC236}">
                <a16:creationId xmlns:a16="http://schemas.microsoft.com/office/drawing/2014/main" xmlns="" id="{E6193908-CD54-4D5F-A287-739F6CB93892}"/>
              </a:ext>
            </a:extLst>
          </p:cNvPr>
          <p:cNvPicPr>
            <a:picLocks noChangeAspect="1"/>
          </p:cNvPicPr>
          <p:nvPr/>
        </p:nvPicPr>
        <p:blipFill rotWithShape="1">
          <a:blip r:embed="rId3">
            <a:extLst>
              <a:ext uri="{28A0092B-C50C-407E-A947-70E740481C1C}">
                <a14:useLocalDpi xmlns:a14="http://schemas.microsoft.com/office/drawing/2010/main" val="0"/>
              </a:ext>
            </a:extLst>
          </a:blip>
          <a:srcRect t="6548"/>
          <a:stretch/>
        </p:blipFill>
        <p:spPr>
          <a:xfrm>
            <a:off x="6237031" y="2516931"/>
            <a:ext cx="5068349" cy="3339548"/>
          </a:xfrm>
          <a:prstGeom prst="rect">
            <a:avLst/>
          </a:prstGeom>
        </p:spPr>
      </p:pic>
    </p:spTree>
    <p:extLst>
      <p:ext uri="{BB962C8B-B14F-4D97-AF65-F5344CB8AC3E}">
        <p14:creationId xmlns:p14="http://schemas.microsoft.com/office/powerpoint/2010/main" val="365714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a:xfrm>
            <a:off x="397565" y="889081"/>
            <a:ext cx="11468370" cy="4351338"/>
          </a:xfrm>
        </p:spPr>
        <p:txBody>
          <a:bodyPr/>
          <a:lstStyle/>
          <a:p>
            <a:r>
              <a:rPr lang="zh-TW" altLang="en-US" dirty="0"/>
              <a:t>區間可視情況調整</a:t>
            </a:r>
            <a:r>
              <a:rPr lang="en-US" altLang="zh-TW" dirty="0"/>
              <a:t>: </a:t>
            </a:r>
          </a:p>
          <a:p>
            <a:pPr marL="0" indent="0" algn="just">
              <a:buNone/>
            </a:pPr>
            <a:r>
              <a:rPr lang="en-US" altLang="zh-TW" sz="2500" dirty="0"/>
              <a:t>The variation magnitude of the elementary secondary factor </a:t>
            </a:r>
            <a:r>
              <a:rPr lang="en-US" altLang="zh-TW" sz="2500" u="sng" dirty="0">
                <a:solidFill>
                  <a:srgbClr val="0070C0"/>
                </a:solidFill>
              </a:rPr>
              <a:t>M1B</a:t>
            </a:r>
            <a:r>
              <a:rPr lang="en-US" altLang="zh-TW" sz="2500" dirty="0"/>
              <a:t> distributes irregularly.</a:t>
            </a:r>
          </a:p>
          <a:p>
            <a:pPr marL="0" indent="0" algn="just">
              <a:buNone/>
            </a:pPr>
            <a:r>
              <a:rPr lang="en-US" altLang="zh-TW" sz="2500" dirty="0"/>
              <a:t>Because the largest variation magnitude between any two consecutive days of the historical training data of the M1B from January 2004 to October 2004 occurred on January 2, 2004, which is equal to </a:t>
            </a:r>
            <a:r>
              <a:rPr lang="en-US" altLang="zh-TW" sz="2500" i="1" dirty="0"/>
              <a:t>−</a:t>
            </a:r>
            <a:r>
              <a:rPr lang="en-US" altLang="zh-TW" sz="2500" dirty="0"/>
              <a:t>1.085164</a:t>
            </a:r>
            <a:endParaRPr lang="zh-TW" altLang="en-US" sz="2500" dirty="0"/>
          </a:p>
        </p:txBody>
      </p:sp>
      <p:grpSp>
        <p:nvGrpSpPr>
          <p:cNvPr id="7" name="群組 6">
            <a:extLst>
              <a:ext uri="{FF2B5EF4-FFF2-40B4-BE49-F238E27FC236}">
                <a16:creationId xmlns:a16="http://schemas.microsoft.com/office/drawing/2014/main" xmlns="" id="{E7662DC1-5B31-4A5F-B2C6-05970AE07C6F}"/>
              </a:ext>
            </a:extLst>
          </p:cNvPr>
          <p:cNvGrpSpPr/>
          <p:nvPr/>
        </p:nvGrpSpPr>
        <p:grpSpPr>
          <a:xfrm>
            <a:off x="995456" y="3227570"/>
            <a:ext cx="5696890" cy="3012972"/>
            <a:chOff x="1359120" y="3298928"/>
            <a:chExt cx="5696890" cy="3012972"/>
          </a:xfrm>
        </p:grpSpPr>
        <p:pic>
          <p:nvPicPr>
            <p:cNvPr id="5" name="圖片 4" descr="一張含有 文字, 報紙 的圖片&#10;&#10;描述是以高可信度產生">
              <a:extLst>
                <a:ext uri="{FF2B5EF4-FFF2-40B4-BE49-F238E27FC236}">
                  <a16:creationId xmlns:a16="http://schemas.microsoft.com/office/drawing/2014/main" xmlns="" id="{4639D7FC-D8E8-4883-8371-2B9BA9EB123C}"/>
                </a:ext>
              </a:extLst>
            </p:cNvPr>
            <p:cNvPicPr>
              <a:picLocks noChangeAspect="1"/>
            </p:cNvPicPr>
            <p:nvPr/>
          </p:nvPicPr>
          <p:blipFill rotWithShape="1">
            <a:blip r:embed="rId2">
              <a:extLst>
                <a:ext uri="{28A0092B-C50C-407E-A947-70E740481C1C}">
                  <a14:useLocalDpi xmlns:a14="http://schemas.microsoft.com/office/drawing/2010/main" val="0"/>
                </a:ext>
              </a:extLst>
            </a:blip>
            <a:srcRect t="2070"/>
            <a:stretch/>
          </p:blipFill>
          <p:spPr>
            <a:xfrm>
              <a:off x="1359120" y="3354250"/>
              <a:ext cx="5696890" cy="2957650"/>
            </a:xfrm>
            <a:prstGeom prst="rect">
              <a:avLst/>
            </a:prstGeom>
          </p:spPr>
        </p:pic>
        <p:sp>
          <p:nvSpPr>
            <p:cNvPr id="6" name="矩形 5">
              <a:extLst>
                <a:ext uri="{FF2B5EF4-FFF2-40B4-BE49-F238E27FC236}">
                  <a16:creationId xmlns:a16="http://schemas.microsoft.com/office/drawing/2014/main" xmlns="" id="{00BC4A12-9152-4E87-9E2D-12D7013F1326}"/>
                </a:ext>
              </a:extLst>
            </p:cNvPr>
            <p:cNvSpPr/>
            <p:nvPr/>
          </p:nvSpPr>
          <p:spPr>
            <a:xfrm>
              <a:off x="1359120" y="3298928"/>
              <a:ext cx="2054087" cy="3768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8" name="矩形 7">
            <a:extLst>
              <a:ext uri="{FF2B5EF4-FFF2-40B4-BE49-F238E27FC236}">
                <a16:creationId xmlns:a16="http://schemas.microsoft.com/office/drawing/2014/main" xmlns="" id="{796F6B52-0510-489E-A4E0-9234D7851C4B}"/>
              </a:ext>
            </a:extLst>
          </p:cNvPr>
          <p:cNvSpPr/>
          <p:nvPr/>
        </p:nvSpPr>
        <p:spPr>
          <a:xfrm>
            <a:off x="3049543" y="3291143"/>
            <a:ext cx="2862159" cy="313294"/>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7B94A567-A1EC-426F-B499-3005E990835F}"/>
              </a:ext>
            </a:extLst>
          </p:cNvPr>
          <p:cNvSpPr/>
          <p:nvPr/>
        </p:nvSpPr>
        <p:spPr>
          <a:xfrm>
            <a:off x="981742" y="5982570"/>
            <a:ext cx="2862159" cy="313294"/>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a:extLst>
              <a:ext uri="{FF2B5EF4-FFF2-40B4-BE49-F238E27FC236}">
                <a16:creationId xmlns:a16="http://schemas.microsoft.com/office/drawing/2014/main" xmlns="" id="{B7A56EE8-3B37-44D6-87FF-65AFE6BD6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34177" y="4313939"/>
            <a:ext cx="3487479" cy="926480"/>
          </a:xfrm>
          <a:prstGeom prst="rect">
            <a:avLst/>
          </a:prstGeom>
        </p:spPr>
      </p:pic>
      <p:sp>
        <p:nvSpPr>
          <p:cNvPr id="10" name="文字方塊 9">
            <a:extLst>
              <a:ext uri="{FF2B5EF4-FFF2-40B4-BE49-F238E27FC236}">
                <a16:creationId xmlns:a16="http://schemas.microsoft.com/office/drawing/2014/main" xmlns="" id="{C93FD439-409C-4100-9AD3-90C36A979FCF}"/>
              </a:ext>
            </a:extLst>
          </p:cNvPr>
          <p:cNvSpPr txBox="1"/>
          <p:nvPr/>
        </p:nvSpPr>
        <p:spPr>
          <a:xfrm>
            <a:off x="7634177" y="3789077"/>
            <a:ext cx="2711302" cy="369332"/>
          </a:xfrm>
          <a:prstGeom prst="rect">
            <a:avLst/>
          </a:prstGeom>
          <a:noFill/>
        </p:spPr>
        <p:txBody>
          <a:bodyPr wrap="square" rtlCol="0">
            <a:spAutoFit/>
          </a:bodyPr>
          <a:lstStyle/>
          <a:p>
            <a:r>
              <a:rPr lang="zh-TW" altLang="en-US" dirty="0">
                <a:latin typeface="Times New Roman" panose="02020603050405020304" pitchFamily="18" charset="0"/>
                <a:cs typeface="Times New Roman" panose="02020603050405020304" pitchFamily="18" charset="0"/>
              </a:rPr>
              <a:t>其餘</a:t>
            </a:r>
            <a:r>
              <a:rPr lang="en-US" altLang="zh-TW" dirty="0">
                <a:latin typeface="Times New Roman" panose="02020603050405020304" pitchFamily="18" charset="0"/>
                <a:cs typeface="Times New Roman" panose="02020603050405020304" pitchFamily="18" charset="0"/>
              </a:rPr>
              <a:t>Z</a:t>
            </a:r>
            <a:r>
              <a:rPr lang="en-US" altLang="zh-TW" baseline="-25000"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~Z</a:t>
            </a:r>
            <a:r>
              <a:rPr lang="en-US" altLang="zh-TW" baseline="-25000" dirty="0">
                <a:latin typeface="Times New Roman" panose="02020603050405020304" pitchFamily="18" charset="0"/>
                <a:cs typeface="Times New Roman" panose="02020603050405020304" pitchFamily="18" charset="0"/>
              </a:rPr>
              <a:t>13</a:t>
            </a:r>
            <a:r>
              <a:rPr lang="zh-TW" altLang="en-US" dirty="0">
                <a:latin typeface="Times New Roman" panose="02020603050405020304" pitchFamily="18" charset="0"/>
                <a:cs typeface="Times New Roman" panose="02020603050405020304" pitchFamily="18" charset="0"/>
              </a:rPr>
              <a:t>區間距離</a:t>
            </a:r>
            <a:r>
              <a:rPr lang="en-US" altLang="zh-TW" dirty="0">
                <a:latin typeface="Times New Roman" panose="02020603050405020304" pitchFamily="18" charset="0"/>
                <a:cs typeface="Times New Roman" panose="02020603050405020304" pitchFamily="18" charset="0"/>
              </a:rPr>
              <a:t>(1</a:t>
            </a:r>
            <a:r>
              <a:rPr lang="en-US" altLang="zh-TW" i="1" dirty="0">
                <a:latin typeface="Times New Roman" panose="02020603050405020304" pitchFamily="18" charset="0"/>
                <a:cs typeface="Times New Roman" panose="02020603050405020304" pitchFamily="18" charset="0"/>
              </a:rPr>
              <a:t>l</a:t>
            </a:r>
            <a:r>
              <a:rPr lang="en-US" altLang="zh-TW" dirty="0">
                <a:latin typeface="Times New Roman" panose="02020603050405020304" pitchFamily="18" charset="0"/>
                <a:cs typeface="Times New Roman" panose="02020603050405020304" pitchFamily="18" charset="0"/>
              </a:rPr>
              <a:t>)</a:t>
            </a:r>
            <a:r>
              <a:rPr lang="zh-TW" altLang="en-US" sz="1600" dirty="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81371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a:extLst>
              <a:ext uri="{FF2B5EF4-FFF2-40B4-BE49-F238E27FC236}">
                <a16:creationId xmlns:a16="http://schemas.microsoft.com/office/drawing/2014/main" xmlns="" id="{B9BC6C1F-A15C-46AD-9A97-449F53A9F4FF}"/>
              </a:ext>
            </a:extLst>
          </p:cNvPr>
          <p:cNvGrpSpPr/>
          <p:nvPr/>
        </p:nvGrpSpPr>
        <p:grpSpPr>
          <a:xfrm>
            <a:off x="838200" y="2369030"/>
            <a:ext cx="8057322" cy="4217366"/>
            <a:chOff x="2584174" y="2014330"/>
            <a:chExt cx="7362918" cy="3911282"/>
          </a:xfrm>
        </p:grpSpPr>
        <p:pic>
          <p:nvPicPr>
            <p:cNvPr id="5" name="圖片 4" descr="一張含有 個人, 建築物, 文字 的圖片&#10;&#10;產生非常高可信度的描述">
              <a:extLst>
                <a:ext uri="{FF2B5EF4-FFF2-40B4-BE49-F238E27FC236}">
                  <a16:creationId xmlns:a16="http://schemas.microsoft.com/office/drawing/2014/main" xmlns="" id="{0ED3F715-2A78-4E24-8AF1-2458AFB3A7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8976" y="2076975"/>
              <a:ext cx="7278116" cy="3848637"/>
            </a:xfrm>
            <a:prstGeom prst="rect">
              <a:avLst/>
            </a:prstGeom>
          </p:spPr>
        </p:pic>
        <p:sp>
          <p:nvSpPr>
            <p:cNvPr id="6" name="矩形 5">
              <a:extLst>
                <a:ext uri="{FF2B5EF4-FFF2-40B4-BE49-F238E27FC236}">
                  <a16:creationId xmlns:a16="http://schemas.microsoft.com/office/drawing/2014/main" xmlns="" id="{8CD5B2EF-24BD-4EAE-A1CE-E6BD877F1C1A}"/>
                </a:ext>
              </a:extLst>
            </p:cNvPr>
            <p:cNvSpPr/>
            <p:nvPr/>
          </p:nvSpPr>
          <p:spPr>
            <a:xfrm>
              <a:off x="2584174" y="2014330"/>
              <a:ext cx="1060174" cy="4903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 name="標題 1">
            <a:extLst>
              <a:ext uri="{FF2B5EF4-FFF2-40B4-BE49-F238E27FC236}">
                <a16:creationId xmlns:a16="http://schemas.microsoft.com/office/drawing/2014/main" xmlns="" id="{EF74E76E-181D-4194-869C-747AFA8A6732}"/>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p:txBody>
          <a:bodyPr/>
          <a:lstStyle/>
          <a:p>
            <a:r>
              <a:rPr lang="en-US" altLang="zh-TW" dirty="0"/>
              <a:t>Step 3:</a:t>
            </a:r>
            <a:r>
              <a:rPr lang="zh-TW" altLang="en-US" dirty="0"/>
              <a:t> </a:t>
            </a:r>
            <a:r>
              <a:rPr lang="zh-TW" altLang="en-US" sz="2300" dirty="0">
                <a:latin typeface="標楷體" panose="03000509000000000000" pitchFamily="65" charset="-120"/>
                <a:ea typeface="標楷體" panose="03000509000000000000" pitchFamily="65" charset="-120"/>
              </a:rPr>
              <a:t>根據步驟</a:t>
            </a:r>
            <a:r>
              <a:rPr lang="en-US" altLang="zh-TW" sz="2300" dirty="0">
                <a:latin typeface="標楷體" panose="03000509000000000000" pitchFamily="65" charset="-120"/>
                <a:ea typeface="標楷體" panose="03000509000000000000" pitchFamily="65" charset="-120"/>
              </a:rPr>
              <a:t>2</a:t>
            </a:r>
            <a:r>
              <a:rPr lang="zh-TW" altLang="en-US" sz="2300" dirty="0">
                <a:latin typeface="標楷體" panose="03000509000000000000" pitchFamily="65" charset="-120"/>
                <a:ea typeface="標楷體" panose="03000509000000000000" pitchFamily="65" charset="-120"/>
              </a:rPr>
              <a:t>所得之重新分配好的區間來</a:t>
            </a:r>
            <a:r>
              <a:rPr lang="zh-TW" altLang="en-US" sz="2300" b="1" dirty="0">
                <a:solidFill>
                  <a:srgbClr val="0070C0"/>
                </a:solidFill>
                <a:latin typeface="標楷體" panose="03000509000000000000" pitchFamily="65" charset="-120"/>
                <a:ea typeface="標楷體" panose="03000509000000000000" pitchFamily="65" charset="-120"/>
              </a:rPr>
              <a:t>定義模糊集合</a:t>
            </a:r>
            <a:r>
              <a:rPr lang="en-US" altLang="zh-TW" sz="2300" b="1" dirty="0">
                <a:solidFill>
                  <a:srgbClr val="0070C0"/>
                </a:solidFill>
                <a:latin typeface="標楷體" panose="03000509000000000000" pitchFamily="65" charset="-120"/>
                <a:ea typeface="標楷體" panose="03000509000000000000" pitchFamily="65" charset="-120"/>
              </a:rPr>
              <a:t>A</a:t>
            </a:r>
            <a:r>
              <a:rPr lang="en-US" altLang="zh-TW" sz="2300" b="1" baseline="-25000" dirty="0">
                <a:solidFill>
                  <a:srgbClr val="0070C0"/>
                </a:solidFill>
                <a:latin typeface="標楷體" panose="03000509000000000000" pitchFamily="65" charset="-120"/>
                <a:ea typeface="標楷體" panose="03000509000000000000" pitchFamily="65" charset="-120"/>
              </a:rPr>
              <a:t>i</a:t>
            </a:r>
            <a:r>
              <a:rPr lang="zh-TW" altLang="en-US" sz="2300" dirty="0">
                <a:latin typeface="標楷體" panose="03000509000000000000" pitchFamily="65" charset="-120"/>
                <a:ea typeface="標楷體" panose="03000509000000000000" pitchFamily="65" charset="-120"/>
              </a:rPr>
              <a:t>，這裡分成</a:t>
            </a:r>
            <a:r>
              <a:rPr lang="en-US" altLang="zh-TW" sz="2300" dirty="0">
                <a:latin typeface="標楷體" panose="03000509000000000000" pitchFamily="65" charset="-120"/>
                <a:ea typeface="標楷體" panose="03000509000000000000" pitchFamily="65" charset="-120"/>
              </a:rPr>
              <a:t>14</a:t>
            </a:r>
            <a:r>
              <a:rPr lang="zh-TW" altLang="en-US" sz="2300" dirty="0">
                <a:latin typeface="標楷體" panose="03000509000000000000" pitchFamily="65" charset="-120"/>
                <a:ea typeface="標楷體" panose="03000509000000000000" pitchFamily="65" charset="-120"/>
              </a:rPr>
              <a:t>組</a:t>
            </a:r>
          </a:p>
        </p:txBody>
      </p:sp>
      <p:sp>
        <p:nvSpPr>
          <p:cNvPr id="8" name="矩形 7">
            <a:extLst>
              <a:ext uri="{FF2B5EF4-FFF2-40B4-BE49-F238E27FC236}">
                <a16:creationId xmlns:a16="http://schemas.microsoft.com/office/drawing/2014/main" xmlns="" id="{B6553CC3-A0B3-4A35-80CA-11AF53982060}"/>
              </a:ext>
            </a:extLst>
          </p:cNvPr>
          <p:cNvSpPr/>
          <p:nvPr/>
        </p:nvSpPr>
        <p:spPr>
          <a:xfrm>
            <a:off x="5068972" y="2851746"/>
            <a:ext cx="985837" cy="3132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A878E5E5-0839-4866-95B6-8F4D150DBCA4}"/>
              </a:ext>
            </a:extLst>
          </p:cNvPr>
          <p:cNvSpPr/>
          <p:nvPr/>
        </p:nvSpPr>
        <p:spPr>
          <a:xfrm>
            <a:off x="1701209" y="3891517"/>
            <a:ext cx="627321"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988EABE6-7A94-4116-B4AC-B77C11D81277}"/>
              </a:ext>
            </a:extLst>
          </p:cNvPr>
          <p:cNvSpPr/>
          <p:nvPr/>
        </p:nvSpPr>
        <p:spPr>
          <a:xfrm>
            <a:off x="2863702" y="4331848"/>
            <a:ext cx="627321"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xmlns="" id="{9B2FE658-7182-476F-84E7-A7417C140680}"/>
              </a:ext>
            </a:extLst>
          </p:cNvPr>
          <p:cNvSpPr/>
          <p:nvPr/>
        </p:nvSpPr>
        <p:spPr>
          <a:xfrm>
            <a:off x="3792279" y="4728797"/>
            <a:ext cx="627321"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a:extLst>
              <a:ext uri="{FF2B5EF4-FFF2-40B4-BE49-F238E27FC236}">
                <a16:creationId xmlns:a16="http://schemas.microsoft.com/office/drawing/2014/main" xmlns="" id="{A9CF8E8C-F0E4-4A02-9A8E-78DE99A9D7EC}"/>
              </a:ext>
            </a:extLst>
          </p:cNvPr>
          <p:cNvSpPr/>
          <p:nvPr/>
        </p:nvSpPr>
        <p:spPr>
          <a:xfrm>
            <a:off x="6389414" y="5724713"/>
            <a:ext cx="808828"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xmlns="" id="{06D5FBC8-2BAD-4479-BA62-CF20B5103C9C}"/>
              </a:ext>
            </a:extLst>
          </p:cNvPr>
          <p:cNvSpPr/>
          <p:nvPr/>
        </p:nvSpPr>
        <p:spPr>
          <a:xfrm>
            <a:off x="7424315" y="6142926"/>
            <a:ext cx="837181"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634846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文字 的圖片&#10;&#10;描述是以高可信度產生">
            <a:extLst>
              <a:ext uri="{FF2B5EF4-FFF2-40B4-BE49-F238E27FC236}">
                <a16:creationId xmlns:a16="http://schemas.microsoft.com/office/drawing/2014/main" xmlns="" id="{1995C2D5-B262-4EF1-A932-B6B3FD95C6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464" y="3035248"/>
            <a:ext cx="7297168" cy="3448531"/>
          </a:xfrm>
          <a:prstGeom prst="rect">
            <a:avLst/>
          </a:prstGeom>
        </p:spPr>
      </p:pic>
      <p:sp>
        <p:nvSpPr>
          <p:cNvPr id="2" name="標題 1">
            <a:extLst>
              <a:ext uri="{FF2B5EF4-FFF2-40B4-BE49-F238E27FC236}">
                <a16:creationId xmlns:a16="http://schemas.microsoft.com/office/drawing/2014/main" xmlns="" id="{EF74E76E-181D-4194-869C-747AFA8A6732}"/>
              </a:ext>
            </a:extLst>
          </p:cNvPr>
          <p:cNvSpPr>
            <a:spLocks noGrp="1"/>
          </p:cNvSpPr>
          <p:nvPr>
            <p:ph type="title"/>
          </p:nvPr>
        </p:nvSpPr>
        <p:spPr/>
        <p:txBody>
          <a:bodyPr/>
          <a:lstStyle/>
          <a:p>
            <a:endParaRPr lang="zh-TW" altLang="en-US"/>
          </a:p>
        </p:txBody>
      </p:sp>
      <p:pic>
        <p:nvPicPr>
          <p:cNvPr id="5" name="內容版面配置區 4" descr="一張含有 個人, 物件 的圖片&#10;&#10;描述是以高可信度產生">
            <a:extLst>
              <a:ext uri="{FF2B5EF4-FFF2-40B4-BE49-F238E27FC236}">
                <a16:creationId xmlns:a16="http://schemas.microsoft.com/office/drawing/2014/main" xmlns="" id="{835C090A-BFF2-4F75-8EED-33C3E5C9533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68307" y="2407335"/>
            <a:ext cx="6268325" cy="762106"/>
          </a:xfrm>
        </p:spPr>
      </p:pic>
      <p:sp>
        <p:nvSpPr>
          <p:cNvPr id="8" name="矩形 7">
            <a:extLst>
              <a:ext uri="{FF2B5EF4-FFF2-40B4-BE49-F238E27FC236}">
                <a16:creationId xmlns:a16="http://schemas.microsoft.com/office/drawing/2014/main" xmlns="" id="{C0F670CD-F86B-4C5C-A79E-226223C5006A}"/>
              </a:ext>
            </a:extLst>
          </p:cNvPr>
          <p:cNvSpPr/>
          <p:nvPr/>
        </p:nvSpPr>
        <p:spPr>
          <a:xfrm>
            <a:off x="7329239" y="2832756"/>
            <a:ext cx="1407393" cy="33668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xmlns="" id="{791F2486-A51B-43F3-BB3B-238543649606}"/>
              </a:ext>
            </a:extLst>
          </p:cNvPr>
          <p:cNvSpPr/>
          <p:nvPr/>
        </p:nvSpPr>
        <p:spPr>
          <a:xfrm>
            <a:off x="6539023" y="5703448"/>
            <a:ext cx="691117"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xmlns="" id="{D6842955-3733-403F-9B43-6750DA3533DC}"/>
              </a:ext>
            </a:extLst>
          </p:cNvPr>
          <p:cNvSpPr/>
          <p:nvPr/>
        </p:nvSpPr>
        <p:spPr>
          <a:xfrm>
            <a:off x="7424315" y="6079132"/>
            <a:ext cx="808828"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xmlns="" id="{813D87D3-7B8E-45A4-92A7-65EA14C5B1C4}"/>
              </a:ext>
            </a:extLst>
          </p:cNvPr>
          <p:cNvSpPr/>
          <p:nvPr/>
        </p:nvSpPr>
        <p:spPr>
          <a:xfrm>
            <a:off x="2313599" y="3977430"/>
            <a:ext cx="599722"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xmlns="" id="{8301DB0D-09B0-482A-BEB2-5FD55B47F316}"/>
              </a:ext>
            </a:extLst>
          </p:cNvPr>
          <p:cNvSpPr/>
          <p:nvPr/>
        </p:nvSpPr>
        <p:spPr>
          <a:xfrm>
            <a:off x="3337869" y="4363746"/>
            <a:ext cx="599722"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xmlns="" id="{B95EEFCA-2AA5-4AC2-9BE8-D29A36DD0776}"/>
              </a:ext>
            </a:extLst>
          </p:cNvPr>
          <p:cNvSpPr/>
          <p:nvPr/>
        </p:nvSpPr>
        <p:spPr>
          <a:xfrm>
            <a:off x="4138855" y="4718165"/>
            <a:ext cx="599722" cy="359276"/>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18059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A3DDB4BF-7513-467A-AAEE-57946A53FE4E}"/>
              </a:ext>
            </a:extLst>
          </p:cNvPr>
          <p:cNvSpPr>
            <a:spLocks noGrp="1"/>
          </p:cNvSpPr>
          <p:nvPr>
            <p:ph idx="1"/>
          </p:nvPr>
        </p:nvSpPr>
        <p:spPr>
          <a:xfrm>
            <a:off x="710609" y="528453"/>
            <a:ext cx="10515600" cy="4351338"/>
          </a:xfrm>
        </p:spPr>
        <p:txBody>
          <a:bodyPr/>
          <a:lstStyle/>
          <a:p>
            <a:pPr algn="just"/>
            <a:r>
              <a:rPr lang="en-US" altLang="zh-TW" dirty="0"/>
              <a:t>Step 4: </a:t>
            </a:r>
            <a:r>
              <a:rPr lang="en-US" altLang="zh-TW" dirty="0" err="1"/>
              <a:t>Fuzzify</a:t>
            </a:r>
            <a:r>
              <a:rPr lang="en-US" altLang="zh-TW" dirty="0"/>
              <a:t> the variation magnitude between the adjacent historical training data of the main factor and </a:t>
            </a:r>
            <a:r>
              <a:rPr lang="en-US" altLang="zh-TW" dirty="0" err="1"/>
              <a:t>fuzzify</a:t>
            </a:r>
            <a:r>
              <a:rPr lang="en-US" altLang="zh-TW" dirty="0"/>
              <a:t> the variation magnitude between the adjacent historical training data of the elementary secondary factors, respectively.</a:t>
            </a:r>
            <a:endParaRPr lang="zh-TW" altLang="en-US" dirty="0"/>
          </a:p>
        </p:txBody>
      </p:sp>
      <p:pic>
        <p:nvPicPr>
          <p:cNvPr id="5" name="圖片 4">
            <a:extLst>
              <a:ext uri="{FF2B5EF4-FFF2-40B4-BE49-F238E27FC236}">
                <a16:creationId xmlns:a16="http://schemas.microsoft.com/office/drawing/2014/main" xmlns="" id="{10FDFF69-94A4-4EFD-ACD6-B1F6479344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885" y="2428557"/>
            <a:ext cx="4690356" cy="4057302"/>
          </a:xfrm>
          <a:prstGeom prst="rect">
            <a:avLst/>
          </a:prstGeom>
        </p:spPr>
      </p:pic>
      <p:pic>
        <p:nvPicPr>
          <p:cNvPr id="7" name="圖片 6">
            <a:extLst>
              <a:ext uri="{FF2B5EF4-FFF2-40B4-BE49-F238E27FC236}">
                <a16:creationId xmlns:a16="http://schemas.microsoft.com/office/drawing/2014/main" xmlns="" id="{A8AB162D-2C94-4E83-A7C2-1C464BD17B98}"/>
              </a:ext>
            </a:extLst>
          </p:cNvPr>
          <p:cNvPicPr>
            <a:picLocks noChangeAspect="1"/>
          </p:cNvPicPr>
          <p:nvPr/>
        </p:nvPicPr>
        <p:blipFill rotWithShape="1">
          <a:blip r:embed="rId3">
            <a:extLst>
              <a:ext uri="{28A0092B-C50C-407E-A947-70E740481C1C}">
                <a14:useLocalDpi xmlns:a14="http://schemas.microsoft.com/office/drawing/2010/main" val="0"/>
              </a:ext>
            </a:extLst>
          </a:blip>
          <a:srcRect b="51282"/>
          <a:stretch/>
        </p:blipFill>
        <p:spPr>
          <a:xfrm>
            <a:off x="6181008" y="2428557"/>
            <a:ext cx="4191290" cy="3685163"/>
          </a:xfrm>
          <a:prstGeom prst="rect">
            <a:avLst/>
          </a:prstGeom>
        </p:spPr>
      </p:pic>
      <mc:AlternateContent xmlns:mc="http://schemas.openxmlformats.org/markup-compatibility/2006" xmlns:a14="http://schemas.microsoft.com/office/drawing/2010/main">
        <mc:Choice Requires="a14">
          <p:sp>
            <p:nvSpPr>
              <p:cNvPr id="2" name="文字方塊 1">
                <a:extLst>
                  <a:ext uri="{FF2B5EF4-FFF2-40B4-BE49-F238E27FC236}">
                    <a16:creationId xmlns:a16="http://schemas.microsoft.com/office/drawing/2014/main" xmlns="" id="{6517AA64-6B5B-4635-BFB3-431ACEADFAE3}"/>
                  </a:ext>
                </a:extLst>
              </p:cNvPr>
              <p:cNvSpPr txBox="1"/>
              <p:nvPr/>
            </p:nvSpPr>
            <p:spPr>
              <a:xfrm>
                <a:off x="5175647" y="2827447"/>
                <a:ext cx="1585519" cy="446276"/>
              </a:xfrm>
              <a:prstGeom prst="rect">
                <a:avLst/>
              </a:prstGeom>
              <a:noFill/>
            </p:spPr>
            <p:txBody>
              <a:bodyPr wrap="square" rtlCol="0">
                <a:spAutoFit/>
              </a:bodyPr>
              <a:lstStyle/>
              <a:p>
                <a14:m>
                  <m:oMath xmlns:m="http://schemas.openxmlformats.org/officeDocument/2006/math">
                    <m:r>
                      <a:rPr lang="zh-TW" altLang="en-US" sz="2300" i="1" smtClean="0">
                        <a:solidFill>
                          <a:srgbClr val="0070C0"/>
                        </a:solidFill>
                        <a:latin typeface="Cambria Math" panose="02040503050406030204" pitchFamily="18" charset="0"/>
                      </a:rPr>
                      <m:t>𝜇</m:t>
                    </m:r>
                    <m:r>
                      <a:rPr lang="en-US" altLang="zh-TW" sz="2300" b="0" i="1" baseline="-25000" smtClean="0">
                        <a:solidFill>
                          <a:srgbClr val="0070C0"/>
                        </a:solidFill>
                        <a:latin typeface="Cambria Math" panose="02040503050406030204" pitchFamily="18" charset="0"/>
                      </a:rPr>
                      <m:t>𝑖</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𝑖</m:t>
                    </m:r>
                  </m:oMath>
                </a14:m>
                <a:endParaRPr lang="zh-TW" altLang="en-US" sz="2300" baseline="-25000" dirty="0">
                  <a:solidFill>
                    <a:srgbClr val="0070C0"/>
                  </a:solidFill>
                </a:endParaRPr>
              </a:p>
            </p:txBody>
          </p:sp>
        </mc:Choice>
        <mc:Fallback xmlns="">
          <p:sp>
            <p:nvSpPr>
              <p:cNvPr id="2" name="文字方塊 1">
                <a:extLst>
                  <a:ext uri="{FF2B5EF4-FFF2-40B4-BE49-F238E27FC236}">
                    <a16:creationId xmlns:a16="http://schemas.microsoft.com/office/drawing/2014/main" id="{6517AA64-6B5B-4635-BFB3-431ACEADFAE3}"/>
                  </a:ext>
                </a:extLst>
              </p:cNvPr>
              <p:cNvSpPr txBox="1">
                <a:spLocks noRot="1" noChangeAspect="1" noMove="1" noResize="1" noEditPoints="1" noAdjustHandles="1" noChangeArrowheads="1" noChangeShapeType="1" noTextEdit="1"/>
              </p:cNvSpPr>
              <p:nvPr/>
            </p:nvSpPr>
            <p:spPr>
              <a:xfrm>
                <a:off x="5175647" y="2827447"/>
                <a:ext cx="1585519" cy="446276"/>
              </a:xfrm>
              <a:prstGeom prst="rect">
                <a:avLst/>
              </a:prstGeom>
              <a:blipFill>
                <a:blip r:embed="rId4"/>
                <a:stretch>
                  <a:fillRect l="-385" b="-684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2789FABC-21A7-4A74-9CA4-A0057E2361BE}"/>
                  </a:ext>
                </a:extLst>
              </p:cNvPr>
              <p:cNvSpPr txBox="1"/>
              <p:nvPr/>
            </p:nvSpPr>
            <p:spPr>
              <a:xfrm>
                <a:off x="5175648" y="4656653"/>
                <a:ext cx="1585519"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𝑣</m:t>
                    </m:r>
                    <m:r>
                      <a:rPr lang="en-US" altLang="zh-TW" sz="2300" b="0" i="1" baseline="-25000" smtClean="0">
                        <a:solidFill>
                          <a:srgbClr val="0070C0"/>
                        </a:solidFill>
                        <a:latin typeface="Cambria Math" panose="02040503050406030204" pitchFamily="18" charset="0"/>
                      </a:rPr>
                      <m:t>𝑖</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𝐵</m:t>
                    </m:r>
                    <m:r>
                      <a:rPr lang="en-US" altLang="zh-TW" sz="2300" b="0" i="1" baseline="-25000" dirty="0" smtClean="0">
                        <a:solidFill>
                          <a:srgbClr val="0070C0"/>
                        </a:solidFill>
                        <a:latin typeface="Cambria Math" panose="02040503050406030204" pitchFamily="18" charset="0"/>
                      </a:rPr>
                      <m:t>𝑗</m:t>
                    </m:r>
                  </m:oMath>
                </a14:m>
                <a:endParaRPr lang="zh-TW" altLang="en-US" sz="2300" baseline="-25000" dirty="0">
                  <a:solidFill>
                    <a:srgbClr val="0070C0"/>
                  </a:solidFill>
                </a:endParaRPr>
              </a:p>
            </p:txBody>
          </p:sp>
        </mc:Choice>
        <mc:Fallback xmlns="">
          <p:sp>
            <p:nvSpPr>
              <p:cNvPr id="6" name="文字方塊 5">
                <a:extLst>
                  <a:ext uri="{FF2B5EF4-FFF2-40B4-BE49-F238E27FC236}">
                    <a16:creationId xmlns:a16="http://schemas.microsoft.com/office/drawing/2014/main" id="{2789FABC-21A7-4A74-9CA4-A0057E2361BE}"/>
                  </a:ext>
                </a:extLst>
              </p:cNvPr>
              <p:cNvSpPr txBox="1">
                <a:spLocks noRot="1" noChangeAspect="1" noMove="1" noResize="1" noEditPoints="1" noAdjustHandles="1" noChangeArrowheads="1" noChangeShapeType="1" noTextEdit="1"/>
              </p:cNvSpPr>
              <p:nvPr/>
            </p:nvSpPr>
            <p:spPr>
              <a:xfrm>
                <a:off x="5175648" y="4656653"/>
                <a:ext cx="1585519" cy="446276"/>
              </a:xfrm>
              <a:prstGeom prst="rect">
                <a:avLst/>
              </a:prstGeom>
              <a:blipFill>
                <a:blip r:embed="rId5"/>
                <a:stretch>
                  <a:fillRect b="-1643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D76BFC8A-F23B-4C49-A159-CB94D95C5856}"/>
                  </a:ext>
                </a:extLst>
              </p:cNvPr>
              <p:cNvSpPr txBox="1"/>
              <p:nvPr/>
            </p:nvSpPr>
            <p:spPr>
              <a:xfrm>
                <a:off x="10433443" y="3021220"/>
                <a:ext cx="1585519"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𝑚</m:t>
                    </m:r>
                    <m:r>
                      <a:rPr lang="en-US" altLang="zh-TW" sz="2300" b="0" i="1" baseline="-25000" smtClean="0">
                        <a:solidFill>
                          <a:srgbClr val="0070C0"/>
                        </a:solidFill>
                        <a:latin typeface="Cambria Math" panose="02040503050406030204" pitchFamily="18" charset="0"/>
                      </a:rPr>
                      <m:t>𝑡</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2</m:t>
                    </m:r>
                  </m:oMath>
                </a14:m>
                <a:endParaRPr lang="zh-TW" altLang="en-US" sz="2300" baseline="-25000" dirty="0">
                  <a:solidFill>
                    <a:srgbClr val="0070C0"/>
                  </a:solidFill>
                </a:endParaRPr>
              </a:p>
            </p:txBody>
          </p:sp>
        </mc:Choice>
        <mc:Fallback xmlns="">
          <p:sp>
            <p:nvSpPr>
              <p:cNvPr id="8" name="文字方塊 7">
                <a:extLst>
                  <a:ext uri="{FF2B5EF4-FFF2-40B4-BE49-F238E27FC236}">
                    <a16:creationId xmlns:a16="http://schemas.microsoft.com/office/drawing/2014/main" id="{D76BFC8A-F23B-4C49-A159-CB94D95C5856}"/>
                  </a:ext>
                </a:extLst>
              </p:cNvPr>
              <p:cNvSpPr txBox="1">
                <a:spLocks noRot="1" noChangeAspect="1" noMove="1" noResize="1" noEditPoints="1" noAdjustHandles="1" noChangeArrowheads="1" noChangeShapeType="1" noTextEdit="1"/>
              </p:cNvSpPr>
              <p:nvPr/>
            </p:nvSpPr>
            <p:spPr>
              <a:xfrm>
                <a:off x="10433443" y="3021220"/>
                <a:ext cx="1585519" cy="446276"/>
              </a:xfrm>
              <a:prstGeom prst="rect">
                <a:avLst/>
              </a:prstGeom>
              <a:blipFill>
                <a:blip r:embed="rId6"/>
                <a:stretch>
                  <a:fillRect b="-13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xmlns="" id="{463B843F-8DCD-4B61-8A8A-C76908BEB545}"/>
                  </a:ext>
                </a:extLst>
              </p:cNvPr>
              <p:cNvSpPr txBox="1"/>
              <p:nvPr/>
            </p:nvSpPr>
            <p:spPr>
              <a:xfrm>
                <a:off x="10433444" y="2576134"/>
                <a:ext cx="1585519"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𝑚</m:t>
                    </m:r>
                    <m:r>
                      <a:rPr lang="en-US" altLang="zh-TW" sz="2300" b="0" i="1" baseline="-25000" smtClean="0">
                        <a:solidFill>
                          <a:srgbClr val="0070C0"/>
                        </a:solidFill>
                        <a:latin typeface="Cambria Math" panose="02040503050406030204" pitchFamily="18" charset="0"/>
                      </a:rPr>
                      <m:t>𝑡</m:t>
                    </m:r>
                    <m:r>
                      <a:rPr lang="en-US" altLang="zh-TW" sz="2300" b="0" i="1" baseline="-15000" smtClean="0">
                        <a:solidFill>
                          <a:srgbClr val="0070C0"/>
                        </a:solidFill>
                        <a:latin typeface="Cambria Math" panose="02040503050406030204" pitchFamily="18" charset="0"/>
                        <a:ea typeface="Cambria Math" panose="02040503050406030204" pitchFamily="18" charset="0"/>
                      </a:rPr>
                      <m:t>−</m:t>
                    </m:r>
                    <m:r>
                      <a:rPr lang="en-US" altLang="zh-TW" sz="2300" b="0" i="1" baseline="-25000" smtClean="0">
                        <a:solidFill>
                          <a:srgbClr val="0070C0"/>
                        </a:solidFill>
                        <a:latin typeface="Cambria Math" panose="02040503050406030204" pitchFamily="18" charset="0"/>
                      </a:rPr>
                      <m:t>1</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1</m:t>
                    </m:r>
                  </m:oMath>
                </a14:m>
                <a:endParaRPr lang="zh-TW" altLang="en-US" sz="2300" baseline="-25000" dirty="0">
                  <a:solidFill>
                    <a:srgbClr val="0070C0"/>
                  </a:solidFill>
                </a:endParaRPr>
              </a:p>
            </p:txBody>
          </p:sp>
        </mc:Choice>
        <mc:Fallback xmlns="">
          <p:sp>
            <p:nvSpPr>
              <p:cNvPr id="9" name="文字方塊 8">
                <a:extLst>
                  <a:ext uri="{FF2B5EF4-FFF2-40B4-BE49-F238E27FC236}">
                    <a16:creationId xmlns:a16="http://schemas.microsoft.com/office/drawing/2014/main" id="{463B843F-8DCD-4B61-8A8A-C76908BEB545}"/>
                  </a:ext>
                </a:extLst>
              </p:cNvPr>
              <p:cNvSpPr txBox="1">
                <a:spLocks noRot="1" noChangeAspect="1" noMove="1" noResize="1" noEditPoints="1" noAdjustHandles="1" noChangeArrowheads="1" noChangeShapeType="1" noTextEdit="1"/>
              </p:cNvSpPr>
              <p:nvPr/>
            </p:nvSpPr>
            <p:spPr>
              <a:xfrm>
                <a:off x="10433444" y="2576134"/>
                <a:ext cx="1585519" cy="446276"/>
              </a:xfrm>
              <a:prstGeom prst="rect">
                <a:avLst/>
              </a:prstGeom>
              <a:blipFill>
                <a:blip r:embed="rId7"/>
                <a:stretch>
                  <a:fillRect b="-13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a:extLst>
                  <a:ext uri="{FF2B5EF4-FFF2-40B4-BE49-F238E27FC236}">
                    <a16:creationId xmlns:a16="http://schemas.microsoft.com/office/drawing/2014/main" xmlns="" id="{91D01EBD-F1E3-429B-A7E3-497FEFBBB87C}"/>
                  </a:ext>
                </a:extLst>
              </p:cNvPr>
              <p:cNvSpPr txBox="1"/>
              <p:nvPr/>
            </p:nvSpPr>
            <p:spPr>
              <a:xfrm>
                <a:off x="10180980" y="4047392"/>
                <a:ext cx="1662584"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𝑚</m:t>
                    </m:r>
                    <m:r>
                      <a:rPr lang="en-US" altLang="zh-TW" sz="2300" b="0" i="1" baseline="-25000" smtClean="0">
                        <a:solidFill>
                          <a:srgbClr val="0070C0"/>
                        </a:solidFill>
                        <a:latin typeface="Cambria Math" panose="02040503050406030204" pitchFamily="18" charset="0"/>
                      </a:rPr>
                      <m:t>𝑡</m:t>
                    </m:r>
                    <m:r>
                      <a:rPr lang="en-US" altLang="zh-TW" sz="2300" b="0" i="1" baseline="-15000" smtClean="0">
                        <a:solidFill>
                          <a:srgbClr val="0070C0"/>
                        </a:solidFill>
                        <a:latin typeface="Cambria Math" panose="02040503050406030204" pitchFamily="18" charset="0"/>
                      </a:rPr>
                      <m:t>+</m:t>
                    </m:r>
                    <m:r>
                      <a:rPr lang="en-US" altLang="zh-TW" sz="2300" b="0" i="1" baseline="-25000" smtClean="0">
                        <a:solidFill>
                          <a:srgbClr val="0070C0"/>
                        </a:solidFill>
                        <a:latin typeface="Cambria Math" panose="02040503050406030204" pitchFamily="18" charset="0"/>
                      </a:rPr>
                      <m:t>𝑚</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3</m:t>
                    </m:r>
                  </m:oMath>
                </a14:m>
                <a:endParaRPr lang="zh-TW" altLang="en-US" sz="2300" baseline="-25000" dirty="0">
                  <a:solidFill>
                    <a:srgbClr val="0070C0"/>
                  </a:solidFill>
                </a:endParaRPr>
              </a:p>
            </p:txBody>
          </p:sp>
        </mc:Choice>
        <mc:Fallback xmlns="">
          <p:sp>
            <p:nvSpPr>
              <p:cNvPr id="10" name="文字方塊 9">
                <a:extLst>
                  <a:ext uri="{FF2B5EF4-FFF2-40B4-BE49-F238E27FC236}">
                    <a16:creationId xmlns:a16="http://schemas.microsoft.com/office/drawing/2014/main" id="{91D01EBD-F1E3-429B-A7E3-497FEFBBB87C}"/>
                  </a:ext>
                </a:extLst>
              </p:cNvPr>
              <p:cNvSpPr txBox="1">
                <a:spLocks noRot="1" noChangeAspect="1" noMove="1" noResize="1" noEditPoints="1" noAdjustHandles="1" noChangeArrowheads="1" noChangeShapeType="1" noTextEdit="1"/>
              </p:cNvSpPr>
              <p:nvPr/>
            </p:nvSpPr>
            <p:spPr>
              <a:xfrm>
                <a:off x="10180980" y="4047392"/>
                <a:ext cx="1662584" cy="446276"/>
              </a:xfrm>
              <a:prstGeom prst="rect">
                <a:avLst/>
              </a:prstGeom>
              <a:blipFill>
                <a:blip r:embed="rId8"/>
                <a:stretch>
                  <a:fillRect b="-41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xmlns="" id="{8FEA19D3-D714-4410-BF98-2EB243B1B726}"/>
                  </a:ext>
                </a:extLst>
              </p:cNvPr>
              <p:cNvSpPr txBox="1"/>
              <p:nvPr/>
            </p:nvSpPr>
            <p:spPr>
              <a:xfrm>
                <a:off x="10174617" y="3602306"/>
                <a:ext cx="2017383"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𝑚</m:t>
                    </m:r>
                    <m:r>
                      <a:rPr lang="en-US" altLang="zh-TW" sz="2300" b="0" i="1" baseline="-25000" smtClean="0">
                        <a:solidFill>
                          <a:srgbClr val="0070C0"/>
                        </a:solidFill>
                        <a:latin typeface="Cambria Math" panose="02040503050406030204" pitchFamily="18" charset="0"/>
                      </a:rPr>
                      <m:t>𝑡</m:t>
                    </m:r>
                    <m:r>
                      <a:rPr lang="en-US" altLang="zh-TW" sz="2300" b="0" i="1" baseline="-15000" smtClean="0">
                        <a:solidFill>
                          <a:srgbClr val="0070C0"/>
                        </a:solidFill>
                        <a:latin typeface="Cambria Math" panose="02040503050406030204" pitchFamily="18" charset="0"/>
                      </a:rPr>
                      <m:t>+</m:t>
                    </m:r>
                    <m:r>
                      <a:rPr lang="en-US" altLang="zh-TW" sz="2300" b="0" i="1" baseline="-25000" smtClean="0">
                        <a:solidFill>
                          <a:srgbClr val="0070C0"/>
                        </a:solidFill>
                        <a:latin typeface="Cambria Math" panose="02040503050406030204" pitchFamily="18" charset="0"/>
                      </a:rPr>
                      <m:t>𝑚</m:t>
                    </m:r>
                    <m:r>
                      <a:rPr lang="en-US" altLang="zh-TW" sz="2300" b="0" i="1" baseline="-15000" smtClean="0">
                        <a:solidFill>
                          <a:srgbClr val="0070C0"/>
                        </a:solidFill>
                        <a:latin typeface="Cambria Math" panose="02040503050406030204" pitchFamily="18" charset="0"/>
                      </a:rPr>
                      <m:t>−</m:t>
                    </m:r>
                    <m:r>
                      <a:rPr lang="en-US" altLang="zh-TW" sz="2300" b="0" i="1" baseline="-25000" smtClean="0">
                        <a:solidFill>
                          <a:srgbClr val="0070C0"/>
                        </a:solidFill>
                        <a:latin typeface="Cambria Math" panose="02040503050406030204" pitchFamily="18" charset="0"/>
                      </a:rPr>
                      <m:t>1</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1</m:t>
                    </m:r>
                  </m:oMath>
                </a14:m>
                <a:endParaRPr lang="zh-TW" altLang="en-US" sz="2300" baseline="-25000" dirty="0">
                  <a:solidFill>
                    <a:srgbClr val="0070C0"/>
                  </a:solidFill>
                </a:endParaRPr>
              </a:p>
            </p:txBody>
          </p:sp>
        </mc:Choice>
        <mc:Fallback xmlns="">
          <p:sp>
            <p:nvSpPr>
              <p:cNvPr id="11" name="文字方塊 10">
                <a:extLst>
                  <a:ext uri="{FF2B5EF4-FFF2-40B4-BE49-F238E27FC236}">
                    <a16:creationId xmlns:a16="http://schemas.microsoft.com/office/drawing/2014/main" id="{8FEA19D3-D714-4410-BF98-2EB243B1B726}"/>
                  </a:ext>
                </a:extLst>
              </p:cNvPr>
              <p:cNvSpPr txBox="1">
                <a:spLocks noRot="1" noChangeAspect="1" noMove="1" noResize="1" noEditPoints="1" noAdjustHandles="1" noChangeArrowheads="1" noChangeShapeType="1" noTextEdit="1"/>
              </p:cNvSpPr>
              <p:nvPr/>
            </p:nvSpPr>
            <p:spPr>
              <a:xfrm>
                <a:off x="10174617" y="3602306"/>
                <a:ext cx="2017383" cy="446276"/>
              </a:xfrm>
              <a:prstGeom prst="rect">
                <a:avLst/>
              </a:prstGeom>
              <a:blipFill>
                <a:blip r:embed="rId9"/>
                <a:stretch>
                  <a:fillRect b="-4110"/>
                </a:stretch>
              </a:blipFill>
            </p:spPr>
            <p:txBody>
              <a:bodyPr/>
              <a:lstStyle/>
              <a:p>
                <a:r>
                  <a:rPr lang="zh-TW" altLang="en-US">
                    <a:noFill/>
                  </a:rPr>
                  <a:t> </a:t>
                </a:r>
              </a:p>
            </p:txBody>
          </p:sp>
        </mc:Fallback>
      </mc:AlternateContent>
      <p:sp>
        <p:nvSpPr>
          <p:cNvPr id="4" name="箭號: 弧形左彎 3">
            <a:extLst>
              <a:ext uri="{FF2B5EF4-FFF2-40B4-BE49-F238E27FC236}">
                <a16:creationId xmlns:a16="http://schemas.microsoft.com/office/drawing/2014/main" xmlns="" id="{1A5908A9-32C3-4EB9-A6E2-9C3CA6009CA7}"/>
              </a:ext>
            </a:extLst>
          </p:cNvPr>
          <p:cNvSpPr/>
          <p:nvPr/>
        </p:nvSpPr>
        <p:spPr>
          <a:xfrm rot="3716008">
            <a:off x="9583924" y="4199860"/>
            <a:ext cx="567915" cy="2863772"/>
          </a:xfrm>
          <a:prstGeom prst="curvedLeftArrow">
            <a:avLst>
              <a:gd name="adj1" fmla="val 19495"/>
              <a:gd name="adj2" fmla="val 56681"/>
              <a:gd name="adj3" fmla="val 48136"/>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125376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xmlns="" id="{19163F79-C7BD-45E6-9EBC-60BDD7E34B04}"/>
              </a:ext>
            </a:extLst>
          </p:cNvPr>
          <p:cNvPicPr>
            <a:picLocks noChangeAspect="1"/>
          </p:cNvPicPr>
          <p:nvPr/>
        </p:nvPicPr>
        <p:blipFill rotWithShape="1">
          <a:blip r:embed="rId2">
            <a:extLst>
              <a:ext uri="{28A0092B-C50C-407E-A947-70E740481C1C}">
                <a14:useLocalDpi xmlns:a14="http://schemas.microsoft.com/office/drawing/2010/main" val="0"/>
              </a:ext>
            </a:extLst>
          </a:blip>
          <a:srcRect t="48474"/>
          <a:stretch/>
        </p:blipFill>
        <p:spPr>
          <a:xfrm>
            <a:off x="1219825" y="1635852"/>
            <a:ext cx="4524614" cy="4207557"/>
          </a:xfrm>
          <a:prstGeom prst="rect">
            <a:avLst/>
          </a:prstGeom>
        </p:spPr>
      </p:pic>
      <p:sp>
        <p:nvSpPr>
          <p:cNvPr id="3" name="箭號: 弧形左彎 2">
            <a:extLst>
              <a:ext uri="{FF2B5EF4-FFF2-40B4-BE49-F238E27FC236}">
                <a16:creationId xmlns:a16="http://schemas.microsoft.com/office/drawing/2014/main" xmlns="" id="{6724C72F-A112-4B5F-B4D1-137CD2F23AEC}"/>
              </a:ext>
            </a:extLst>
          </p:cNvPr>
          <p:cNvSpPr/>
          <p:nvPr/>
        </p:nvSpPr>
        <p:spPr>
          <a:xfrm rot="4033126">
            <a:off x="5543900" y="3146859"/>
            <a:ext cx="567915" cy="4320496"/>
          </a:xfrm>
          <a:prstGeom prst="curvedLeftArrow">
            <a:avLst>
              <a:gd name="adj1" fmla="val 19495"/>
              <a:gd name="adj2" fmla="val 56681"/>
              <a:gd name="adj3" fmla="val 36323"/>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solidFill>
                <a:schemeClr val="tx1"/>
              </a:solidFill>
            </a:endParaRPr>
          </a:p>
        </p:txBody>
      </p:sp>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xmlns="" id="{7EA9EACC-15EC-4803-8F6A-E9A6DFE8690F}"/>
                  </a:ext>
                </a:extLst>
              </p:cNvPr>
              <p:cNvSpPr txBox="1"/>
              <p:nvPr/>
            </p:nvSpPr>
            <p:spPr>
              <a:xfrm>
                <a:off x="7369178" y="2162238"/>
                <a:ext cx="1585519"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𝑠</m:t>
                    </m:r>
                    <m:r>
                      <a:rPr lang="en-US" altLang="zh-TW" sz="2300" b="0" i="1" baseline="-25000" smtClean="0">
                        <a:solidFill>
                          <a:srgbClr val="0070C0"/>
                        </a:solidFill>
                        <a:latin typeface="Cambria Math" panose="02040503050406030204" pitchFamily="18" charset="0"/>
                      </a:rPr>
                      <m:t>𝑡</m:t>
                    </m:r>
                    <m:r>
                      <a:rPr lang="en-US" altLang="zh-TW" sz="2300" b="0" i="1" baseline="-15000" smtClean="0">
                        <a:solidFill>
                          <a:srgbClr val="0070C0"/>
                        </a:solidFill>
                        <a:latin typeface="Cambria Math" panose="02040503050406030204" pitchFamily="18" charset="0"/>
                        <a:ea typeface="Cambria Math" panose="02040503050406030204" pitchFamily="18" charset="0"/>
                      </a:rPr>
                      <m:t>−</m:t>
                    </m:r>
                    <m:r>
                      <a:rPr lang="en-US" altLang="zh-TW" sz="2300" b="0" i="1" baseline="-25000" smtClean="0">
                        <a:solidFill>
                          <a:srgbClr val="0070C0"/>
                        </a:solidFill>
                        <a:latin typeface="Cambria Math" panose="02040503050406030204" pitchFamily="18" charset="0"/>
                      </a:rPr>
                      <m:t>1</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𝐵</m:t>
                    </m:r>
                    <m:r>
                      <a:rPr lang="en-US" altLang="zh-TW" sz="2300" b="0" i="1" baseline="-25000" dirty="0" smtClean="0">
                        <a:solidFill>
                          <a:srgbClr val="0070C0"/>
                        </a:solidFill>
                        <a:latin typeface="Cambria Math" panose="02040503050406030204" pitchFamily="18" charset="0"/>
                      </a:rPr>
                      <m:t>1</m:t>
                    </m:r>
                  </m:oMath>
                </a14:m>
                <a:endParaRPr lang="zh-TW" altLang="en-US" sz="2300" baseline="-25000" dirty="0">
                  <a:solidFill>
                    <a:srgbClr val="0070C0"/>
                  </a:solidFill>
                </a:endParaRPr>
              </a:p>
            </p:txBody>
          </p:sp>
        </mc:Choice>
        <mc:Fallback xmlns="">
          <p:sp>
            <p:nvSpPr>
              <p:cNvPr id="5" name="文字方塊 4">
                <a:extLst>
                  <a:ext uri="{FF2B5EF4-FFF2-40B4-BE49-F238E27FC236}">
                    <a16:creationId xmlns:a16="http://schemas.microsoft.com/office/drawing/2014/main" id="{7EA9EACC-15EC-4803-8F6A-E9A6DFE8690F}"/>
                  </a:ext>
                </a:extLst>
              </p:cNvPr>
              <p:cNvSpPr txBox="1">
                <a:spLocks noRot="1" noChangeAspect="1" noMove="1" noResize="1" noEditPoints="1" noAdjustHandles="1" noChangeArrowheads="1" noChangeShapeType="1" noTextEdit="1"/>
              </p:cNvSpPr>
              <p:nvPr/>
            </p:nvSpPr>
            <p:spPr>
              <a:xfrm>
                <a:off x="7369178" y="2162238"/>
                <a:ext cx="1585519" cy="446276"/>
              </a:xfrm>
              <a:prstGeom prst="rect">
                <a:avLst/>
              </a:prstGeom>
              <a:blipFill>
                <a:blip r:embed="rId3"/>
                <a:stretch>
                  <a:fillRect b="-137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xmlns="" id="{FE3181DF-2E80-4A31-9C7B-F16C13F8CEAA}"/>
                  </a:ext>
                </a:extLst>
              </p:cNvPr>
              <p:cNvSpPr txBox="1"/>
              <p:nvPr/>
            </p:nvSpPr>
            <p:spPr>
              <a:xfrm>
                <a:off x="7369178" y="2518275"/>
                <a:ext cx="1585519"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𝑚</m:t>
                    </m:r>
                    <m:r>
                      <a:rPr lang="en-US" altLang="zh-TW" sz="2300" b="0" i="1" baseline="-25000" smtClean="0">
                        <a:solidFill>
                          <a:srgbClr val="0070C0"/>
                        </a:solidFill>
                        <a:latin typeface="Cambria Math" panose="02040503050406030204" pitchFamily="18" charset="0"/>
                      </a:rPr>
                      <m:t>𝑡</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2</m:t>
                    </m:r>
                  </m:oMath>
                </a14:m>
                <a:endParaRPr lang="zh-TW" altLang="en-US" sz="2300" baseline="-25000" dirty="0">
                  <a:solidFill>
                    <a:srgbClr val="0070C0"/>
                  </a:solidFill>
                </a:endParaRPr>
              </a:p>
            </p:txBody>
          </p:sp>
        </mc:Choice>
        <mc:Fallback xmlns="">
          <p:sp>
            <p:nvSpPr>
              <p:cNvPr id="6" name="文字方塊 5">
                <a:extLst>
                  <a:ext uri="{FF2B5EF4-FFF2-40B4-BE49-F238E27FC236}">
                    <a16:creationId xmlns:a16="http://schemas.microsoft.com/office/drawing/2014/main" id="{FE3181DF-2E80-4A31-9C7B-F16C13F8CEAA}"/>
                  </a:ext>
                </a:extLst>
              </p:cNvPr>
              <p:cNvSpPr txBox="1">
                <a:spLocks noRot="1" noChangeAspect="1" noMove="1" noResize="1" noEditPoints="1" noAdjustHandles="1" noChangeArrowheads="1" noChangeShapeType="1" noTextEdit="1"/>
              </p:cNvSpPr>
              <p:nvPr/>
            </p:nvSpPr>
            <p:spPr>
              <a:xfrm>
                <a:off x="7369178" y="2518275"/>
                <a:ext cx="1585519" cy="446276"/>
              </a:xfrm>
              <a:prstGeom prst="rect">
                <a:avLst/>
              </a:prstGeom>
              <a:blipFill>
                <a:blip r:embed="rId4"/>
                <a:stretch>
                  <a:fillRect b="-274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72C5E339-7998-4DB3-8EBF-CA15513E7268}"/>
                  </a:ext>
                </a:extLst>
              </p:cNvPr>
              <p:cNvSpPr txBox="1"/>
              <p:nvPr/>
            </p:nvSpPr>
            <p:spPr>
              <a:xfrm>
                <a:off x="7369180" y="3174810"/>
                <a:ext cx="2252992"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𝑠</m:t>
                    </m:r>
                    <m:r>
                      <a:rPr lang="en-US" altLang="zh-TW" sz="2300" b="0" i="1" baseline="-25000" smtClean="0">
                        <a:solidFill>
                          <a:srgbClr val="0070C0"/>
                        </a:solidFill>
                        <a:latin typeface="Cambria Math" panose="02040503050406030204" pitchFamily="18" charset="0"/>
                      </a:rPr>
                      <m:t>𝑡</m:t>
                    </m:r>
                    <m:r>
                      <a:rPr lang="en-US" altLang="zh-TW" sz="2300" b="0" i="1" baseline="-15000" smtClean="0">
                        <a:solidFill>
                          <a:srgbClr val="0070C0"/>
                        </a:solidFill>
                        <a:latin typeface="Cambria Math" panose="02040503050406030204" pitchFamily="18" charset="0"/>
                      </a:rPr>
                      <m:t>+</m:t>
                    </m:r>
                    <m:r>
                      <a:rPr lang="en-US" altLang="zh-TW" sz="2300" b="0" i="1" baseline="-25000" smtClean="0">
                        <a:solidFill>
                          <a:srgbClr val="0070C0"/>
                        </a:solidFill>
                        <a:latin typeface="Cambria Math" panose="02040503050406030204" pitchFamily="18" charset="0"/>
                      </a:rPr>
                      <m:t>𝑛</m:t>
                    </m:r>
                    <m:r>
                      <a:rPr lang="en-US" altLang="zh-TW" sz="2300" b="0" i="1" baseline="-15000" smtClean="0">
                        <a:solidFill>
                          <a:srgbClr val="0070C0"/>
                        </a:solidFill>
                        <a:latin typeface="Cambria Math" panose="02040503050406030204" pitchFamily="18" charset="0"/>
                      </a:rPr>
                      <m:t>−</m:t>
                    </m:r>
                    <m:r>
                      <a:rPr lang="en-US" altLang="zh-TW" sz="2300" b="0" i="1" baseline="-25000" smtClean="0">
                        <a:solidFill>
                          <a:srgbClr val="0070C0"/>
                        </a:solidFill>
                        <a:latin typeface="Cambria Math" panose="02040503050406030204" pitchFamily="18" charset="0"/>
                      </a:rPr>
                      <m:t>1</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𝐵</m:t>
                    </m:r>
                    <m:r>
                      <a:rPr lang="en-US" altLang="zh-TW" sz="2300" b="0" i="1" baseline="-25000" dirty="0" smtClean="0">
                        <a:solidFill>
                          <a:srgbClr val="0070C0"/>
                        </a:solidFill>
                        <a:latin typeface="Cambria Math" panose="02040503050406030204" pitchFamily="18" charset="0"/>
                      </a:rPr>
                      <m:t>1</m:t>
                    </m:r>
                  </m:oMath>
                </a14:m>
                <a:endParaRPr lang="zh-TW" altLang="en-US" sz="2300" baseline="-25000" dirty="0">
                  <a:solidFill>
                    <a:srgbClr val="0070C0"/>
                  </a:solidFill>
                </a:endParaRPr>
              </a:p>
            </p:txBody>
          </p:sp>
        </mc:Choice>
        <mc:Fallback xmlns="">
          <p:sp>
            <p:nvSpPr>
              <p:cNvPr id="7" name="文字方塊 6">
                <a:extLst>
                  <a:ext uri="{FF2B5EF4-FFF2-40B4-BE49-F238E27FC236}">
                    <a16:creationId xmlns:a16="http://schemas.microsoft.com/office/drawing/2014/main" id="{72C5E339-7998-4DB3-8EBF-CA15513E7268}"/>
                  </a:ext>
                </a:extLst>
              </p:cNvPr>
              <p:cNvSpPr txBox="1">
                <a:spLocks noRot="1" noChangeAspect="1" noMove="1" noResize="1" noEditPoints="1" noAdjustHandles="1" noChangeArrowheads="1" noChangeShapeType="1" noTextEdit="1"/>
              </p:cNvSpPr>
              <p:nvPr/>
            </p:nvSpPr>
            <p:spPr>
              <a:xfrm>
                <a:off x="7369180" y="3174810"/>
                <a:ext cx="2252992" cy="446276"/>
              </a:xfrm>
              <a:prstGeom prst="rect">
                <a:avLst/>
              </a:prstGeom>
              <a:blipFill>
                <a:blip r:embed="rId5"/>
                <a:stretch>
                  <a:fillRect b="-411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CBB7D0A2-CAE4-48C0-AA58-7A42E7D7099C}"/>
                  </a:ext>
                </a:extLst>
              </p:cNvPr>
              <p:cNvSpPr txBox="1"/>
              <p:nvPr/>
            </p:nvSpPr>
            <p:spPr>
              <a:xfrm>
                <a:off x="7369180" y="3557508"/>
                <a:ext cx="1585519" cy="446276"/>
              </a:xfrm>
              <a:prstGeom prst="rect">
                <a:avLst/>
              </a:prstGeom>
              <a:noFill/>
            </p:spPr>
            <p:txBody>
              <a:bodyPr wrap="square" rtlCol="0">
                <a:spAutoFit/>
              </a:bodyPr>
              <a:lstStyle/>
              <a:p>
                <a14:m>
                  <m:oMath xmlns:m="http://schemas.openxmlformats.org/officeDocument/2006/math">
                    <m:r>
                      <a:rPr lang="en-US" altLang="zh-TW" sz="2300" b="0" i="1" smtClean="0">
                        <a:solidFill>
                          <a:srgbClr val="0070C0"/>
                        </a:solidFill>
                        <a:latin typeface="Cambria Math" panose="02040503050406030204" pitchFamily="18" charset="0"/>
                      </a:rPr>
                      <m:t>𝑚</m:t>
                    </m:r>
                    <m:r>
                      <a:rPr lang="en-US" altLang="zh-TW" sz="2300" b="0" i="1" baseline="-25000" smtClean="0">
                        <a:solidFill>
                          <a:srgbClr val="0070C0"/>
                        </a:solidFill>
                        <a:latin typeface="Cambria Math" panose="02040503050406030204" pitchFamily="18" charset="0"/>
                      </a:rPr>
                      <m:t>𝑡</m:t>
                    </m:r>
                    <m:r>
                      <a:rPr lang="en-US" altLang="zh-TW" sz="2300" b="0" i="1" baseline="-15000" smtClean="0">
                        <a:solidFill>
                          <a:srgbClr val="0070C0"/>
                        </a:solidFill>
                        <a:latin typeface="Cambria Math" panose="02040503050406030204" pitchFamily="18" charset="0"/>
                      </a:rPr>
                      <m:t>+</m:t>
                    </m:r>
                    <m:r>
                      <a:rPr lang="en-US" altLang="zh-TW" sz="2300" b="0" i="1" baseline="-25000" smtClean="0">
                        <a:solidFill>
                          <a:srgbClr val="0070C0"/>
                        </a:solidFill>
                        <a:latin typeface="Cambria Math" panose="02040503050406030204" pitchFamily="18" charset="0"/>
                      </a:rPr>
                      <m:t>𝑛</m:t>
                    </m:r>
                  </m:oMath>
                </a14:m>
                <a:r>
                  <a:rPr lang="zh-TW" altLang="en-US" sz="2300" dirty="0">
                    <a:solidFill>
                      <a:srgbClr val="0070C0"/>
                    </a:solidFill>
                    <a:latin typeface="Calibri" panose="020F0502020204030204" pitchFamily="34" charset="0"/>
                  </a:rPr>
                  <a:t> </a:t>
                </a:r>
                <a14:m>
                  <m:oMath xmlns:m="http://schemas.openxmlformats.org/officeDocument/2006/math">
                    <m:r>
                      <a:rPr lang="zh-TW" altLang="en-US" sz="2300" i="1" smtClean="0">
                        <a:solidFill>
                          <a:srgbClr val="0070C0"/>
                        </a:solidFill>
                        <a:latin typeface="Cambria Math" panose="02040503050406030204" pitchFamily="18" charset="0"/>
                      </a:rPr>
                      <m:t>→</m:t>
                    </m:r>
                  </m:oMath>
                </a14:m>
                <a:r>
                  <a:rPr lang="zh-TW" altLang="en-US" sz="2300" dirty="0">
                    <a:solidFill>
                      <a:srgbClr val="0070C0"/>
                    </a:solidFill>
                  </a:rPr>
                  <a:t> </a:t>
                </a:r>
                <a14:m>
                  <m:oMath xmlns:m="http://schemas.openxmlformats.org/officeDocument/2006/math">
                    <m:r>
                      <a:rPr lang="en-US" altLang="zh-TW" sz="2300" b="0" i="1" dirty="0" smtClean="0">
                        <a:solidFill>
                          <a:srgbClr val="0070C0"/>
                        </a:solidFill>
                        <a:latin typeface="Cambria Math" panose="02040503050406030204" pitchFamily="18" charset="0"/>
                      </a:rPr>
                      <m:t>𝐴</m:t>
                    </m:r>
                    <m:r>
                      <a:rPr lang="en-US" altLang="zh-TW" sz="2300" b="0" i="1" baseline="-25000" dirty="0" smtClean="0">
                        <a:solidFill>
                          <a:srgbClr val="0070C0"/>
                        </a:solidFill>
                        <a:latin typeface="Cambria Math" panose="02040503050406030204" pitchFamily="18" charset="0"/>
                      </a:rPr>
                      <m:t>3</m:t>
                    </m:r>
                  </m:oMath>
                </a14:m>
                <a:endParaRPr lang="zh-TW" altLang="en-US" sz="2300" baseline="-25000" dirty="0">
                  <a:solidFill>
                    <a:srgbClr val="0070C0"/>
                  </a:solidFill>
                </a:endParaRPr>
              </a:p>
            </p:txBody>
          </p:sp>
        </mc:Choice>
        <mc:Fallback xmlns="">
          <p:sp>
            <p:nvSpPr>
              <p:cNvPr id="8" name="文字方塊 7">
                <a:extLst>
                  <a:ext uri="{FF2B5EF4-FFF2-40B4-BE49-F238E27FC236}">
                    <a16:creationId xmlns:a16="http://schemas.microsoft.com/office/drawing/2014/main" id="{CBB7D0A2-CAE4-48C0-AA58-7A42E7D7099C}"/>
                  </a:ext>
                </a:extLst>
              </p:cNvPr>
              <p:cNvSpPr txBox="1">
                <a:spLocks noRot="1" noChangeAspect="1" noMove="1" noResize="1" noEditPoints="1" noAdjustHandles="1" noChangeArrowheads="1" noChangeShapeType="1" noTextEdit="1"/>
              </p:cNvSpPr>
              <p:nvPr/>
            </p:nvSpPr>
            <p:spPr>
              <a:xfrm>
                <a:off x="7369180" y="3557508"/>
                <a:ext cx="1585519" cy="446276"/>
              </a:xfrm>
              <a:prstGeom prst="rect">
                <a:avLst/>
              </a:prstGeom>
              <a:blipFill>
                <a:blip r:embed="rId6"/>
                <a:stretch>
                  <a:fillRect b="-411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0922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a:xfrm>
            <a:off x="495724" y="591367"/>
            <a:ext cx="10889974" cy="4351338"/>
          </a:xfrm>
        </p:spPr>
        <p:txBody>
          <a:bodyPr/>
          <a:lstStyle/>
          <a:p>
            <a:r>
              <a:rPr lang="en-US" altLang="zh-TW" dirty="0"/>
              <a:t>Step 5: construct </a:t>
            </a:r>
            <a:r>
              <a:rPr lang="en-US" altLang="zh-TW" b="1" dirty="0"/>
              <a:t>the occurrence vector </a:t>
            </a:r>
            <a:r>
              <a:rPr lang="en-US" altLang="zh-TW" b="1" i="1" dirty="0"/>
              <a:t>V</a:t>
            </a:r>
            <a:r>
              <a:rPr lang="en-US" altLang="zh-TW" b="1" baseline="-25000" dirty="0"/>
              <a:t>M</a:t>
            </a:r>
            <a:r>
              <a:rPr lang="en-US" altLang="zh-TW" b="1" dirty="0"/>
              <a:t>(</a:t>
            </a:r>
            <a:r>
              <a:rPr lang="en-US" altLang="zh-TW" b="1" i="1" dirty="0"/>
              <a:t>t</a:t>
            </a:r>
            <a:r>
              <a:rPr lang="en-US" altLang="zh-TW" b="1" dirty="0"/>
              <a:t>) </a:t>
            </a:r>
            <a:r>
              <a:rPr lang="en-US" altLang="zh-TW" dirty="0"/>
              <a:t>of the main factor and construct </a:t>
            </a:r>
            <a:r>
              <a:rPr lang="en-US" altLang="zh-TW" b="1" dirty="0"/>
              <a:t>the occurrence vector </a:t>
            </a:r>
            <a:r>
              <a:rPr lang="en-US" altLang="zh-TW" b="1" i="1" dirty="0"/>
              <a:t>V</a:t>
            </a:r>
            <a:r>
              <a:rPr lang="en-US" altLang="zh-TW" b="1" baseline="-25000" dirty="0"/>
              <a:t>S(</a:t>
            </a:r>
            <a:r>
              <a:rPr lang="en-US" altLang="zh-TW" b="1" baseline="-25000" dirty="0" err="1"/>
              <a:t>i</a:t>
            </a:r>
            <a:r>
              <a:rPr lang="en-US" altLang="zh-TW" b="1" baseline="-25000" dirty="0"/>
              <a:t>)</a:t>
            </a:r>
            <a:r>
              <a:rPr lang="en-US" altLang="zh-TW" b="1" dirty="0"/>
              <a:t>(</a:t>
            </a:r>
            <a:r>
              <a:rPr lang="en-US" altLang="zh-TW" b="1" i="1" dirty="0"/>
              <a:t>t</a:t>
            </a:r>
            <a:r>
              <a:rPr lang="en-US" altLang="zh-TW" b="1" dirty="0"/>
              <a:t>)</a:t>
            </a:r>
            <a:r>
              <a:rPr lang="en-US" altLang="zh-TW" dirty="0"/>
              <a:t> of the </a:t>
            </a:r>
            <a:r>
              <a:rPr lang="en-US" altLang="zh-TW" i="1" dirty="0" err="1"/>
              <a:t>i</a:t>
            </a:r>
            <a:r>
              <a:rPr lang="en-US" altLang="zh-TW" dirty="0" err="1"/>
              <a:t>th</a:t>
            </a:r>
            <a:r>
              <a:rPr lang="en-US" altLang="zh-TW" dirty="0"/>
              <a:t> elementary secondary factor on trading day </a:t>
            </a:r>
            <a:r>
              <a:rPr lang="en-US" altLang="zh-TW" i="1" dirty="0"/>
              <a:t>t</a:t>
            </a:r>
            <a:r>
              <a:rPr lang="en-US" altLang="zh-TW" dirty="0"/>
              <a:t>, respectively, shown as follows:</a:t>
            </a:r>
            <a:endParaRPr lang="zh-TW" altLang="en-US" dirty="0"/>
          </a:p>
        </p:txBody>
      </p:sp>
      <p:pic>
        <p:nvPicPr>
          <p:cNvPr id="5" name="圖片 4" descr="一張含有 天空 的圖片&#10;&#10;描述是以高可信度產生">
            <a:extLst>
              <a:ext uri="{FF2B5EF4-FFF2-40B4-BE49-F238E27FC236}">
                <a16:creationId xmlns:a16="http://schemas.microsoft.com/office/drawing/2014/main" xmlns="" id="{BF1268D2-A432-4308-BB22-2093C13829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297" y="2202435"/>
            <a:ext cx="4190925" cy="1574934"/>
          </a:xfrm>
          <a:prstGeom prst="rect">
            <a:avLst/>
          </a:prstGeom>
        </p:spPr>
      </p:pic>
      <p:sp>
        <p:nvSpPr>
          <p:cNvPr id="4" name="文字方塊 3">
            <a:extLst>
              <a:ext uri="{FF2B5EF4-FFF2-40B4-BE49-F238E27FC236}">
                <a16:creationId xmlns:a16="http://schemas.microsoft.com/office/drawing/2014/main" xmlns="" id="{3E5C2C68-ACF6-42C0-B167-61C0EE7D8FDF}"/>
              </a:ext>
            </a:extLst>
          </p:cNvPr>
          <p:cNvSpPr txBox="1"/>
          <p:nvPr/>
        </p:nvSpPr>
        <p:spPr>
          <a:xfrm>
            <a:off x="5839298" y="2203930"/>
            <a:ext cx="5016543" cy="800219"/>
          </a:xfrm>
          <a:prstGeom prst="rect">
            <a:avLst/>
          </a:prstGeom>
          <a:noFill/>
        </p:spPr>
        <p:txBody>
          <a:bodyPr wrap="square" rtlCol="0">
            <a:spAutoFit/>
          </a:bodyPr>
          <a:lstStyle/>
          <a:p>
            <a:r>
              <a:rPr lang="en-US" altLang="zh-TW" sz="2300" b="1" dirty="0">
                <a:solidFill>
                  <a:srgbClr val="0070C0"/>
                </a:solidFill>
                <a:latin typeface="標楷體" panose="03000509000000000000" pitchFamily="65" charset="-120"/>
                <a:ea typeface="標楷體" panose="03000509000000000000" pitchFamily="65" charset="-120"/>
              </a:rPr>
              <a:t>A</a:t>
            </a:r>
            <a:r>
              <a:rPr lang="en-US" altLang="zh-TW" sz="2300" b="1" baseline="-25000" dirty="0">
                <a:solidFill>
                  <a:srgbClr val="0070C0"/>
                </a:solidFill>
                <a:latin typeface="標楷體" panose="03000509000000000000" pitchFamily="65" charset="-120"/>
                <a:ea typeface="標楷體" panose="03000509000000000000" pitchFamily="65" charset="-120"/>
              </a:rPr>
              <a:t>mp</a:t>
            </a:r>
            <a:r>
              <a:rPr lang="en-US" altLang="zh-TW" sz="2300" dirty="0">
                <a:solidFill>
                  <a:srgbClr val="0070C0"/>
                </a:solidFill>
                <a:latin typeface="標楷體" panose="03000509000000000000" pitchFamily="65" charset="-120"/>
                <a:ea typeface="標楷體" panose="03000509000000000000" pitchFamily="65" charset="-120"/>
              </a:rPr>
              <a:t>: </a:t>
            </a:r>
            <a:r>
              <a:rPr lang="zh-TW" altLang="en-US" sz="2300" dirty="0">
                <a:solidFill>
                  <a:srgbClr val="0070C0"/>
                </a:solidFill>
                <a:latin typeface="標楷體" panose="03000509000000000000" pitchFamily="65" charset="-120"/>
                <a:ea typeface="標楷體" panose="03000509000000000000" pitchFamily="65" charset="-120"/>
              </a:rPr>
              <a:t>為</a:t>
            </a:r>
            <a:r>
              <a:rPr lang="en-US" altLang="zh-TW" sz="2300" dirty="0" err="1">
                <a:solidFill>
                  <a:srgbClr val="0070C0"/>
                </a:solidFill>
                <a:latin typeface="標楷體" panose="03000509000000000000" pitchFamily="65" charset="-120"/>
                <a:ea typeface="標楷體" panose="03000509000000000000" pitchFamily="65" charset="-120"/>
              </a:rPr>
              <a:t>A</a:t>
            </a:r>
            <a:r>
              <a:rPr lang="en-US" altLang="zh-TW" sz="2300" baseline="-25000" dirty="0" err="1">
                <a:solidFill>
                  <a:srgbClr val="0070C0"/>
                </a:solidFill>
                <a:latin typeface="標楷體" panose="03000509000000000000" pitchFamily="65" charset="-120"/>
                <a:ea typeface="標楷體" panose="03000509000000000000" pitchFamily="65" charset="-120"/>
              </a:rPr>
              <a:t>p</a:t>
            </a:r>
            <a:r>
              <a:rPr lang="zh-TW" altLang="en-US" sz="2300" dirty="0">
                <a:solidFill>
                  <a:srgbClr val="0070C0"/>
                </a:solidFill>
                <a:latin typeface="標楷體" panose="03000509000000000000" pitchFamily="65" charset="-120"/>
                <a:ea typeface="標楷體" panose="03000509000000000000" pitchFamily="65" charset="-120"/>
              </a:rPr>
              <a:t>可能出現在</a:t>
            </a:r>
            <a:r>
              <a:rPr lang="en-US" altLang="zh-TW" sz="2300" dirty="0">
                <a:solidFill>
                  <a:srgbClr val="0070C0"/>
                </a:solidFill>
                <a:latin typeface="標楷體" panose="03000509000000000000" pitchFamily="65" charset="-120"/>
                <a:ea typeface="標楷體" panose="03000509000000000000" pitchFamily="65" charset="-120"/>
              </a:rPr>
              <a:t>Group</a:t>
            </a:r>
            <a:r>
              <a:rPr lang="zh-TW" altLang="en-US" sz="2300" dirty="0">
                <a:solidFill>
                  <a:srgbClr val="0070C0"/>
                </a:solidFill>
                <a:latin typeface="標楷體" panose="03000509000000000000" pitchFamily="65" charset="-120"/>
                <a:ea typeface="標楷體" panose="03000509000000000000" pitchFamily="65" charset="-120"/>
              </a:rPr>
              <a:t> </a:t>
            </a:r>
            <a:r>
              <a:rPr lang="en-US" altLang="zh-TW" sz="2300" dirty="0">
                <a:solidFill>
                  <a:srgbClr val="0070C0"/>
                </a:solidFill>
                <a:latin typeface="標楷體" panose="03000509000000000000" pitchFamily="65" charset="-120"/>
                <a:ea typeface="標楷體" panose="03000509000000000000" pitchFamily="65" charset="-120"/>
              </a:rPr>
              <a:t>A</a:t>
            </a:r>
            <a:r>
              <a:rPr lang="en-US" altLang="zh-TW" sz="2300" baseline="-25000" dirty="0">
                <a:solidFill>
                  <a:srgbClr val="0070C0"/>
                </a:solidFill>
                <a:latin typeface="標楷體" panose="03000509000000000000" pitchFamily="65" charset="-120"/>
                <a:ea typeface="標楷體" panose="03000509000000000000" pitchFamily="65" charset="-120"/>
              </a:rPr>
              <a:t>m</a:t>
            </a:r>
            <a:r>
              <a:rPr lang="zh-TW" altLang="en-US" sz="2300" dirty="0">
                <a:solidFill>
                  <a:srgbClr val="0070C0"/>
                </a:solidFill>
                <a:latin typeface="標楷體" panose="03000509000000000000" pitchFamily="65" charset="-120"/>
                <a:ea typeface="標楷體" panose="03000509000000000000" pitchFamily="65" charset="-120"/>
              </a:rPr>
              <a:t>的</a:t>
            </a:r>
            <a:r>
              <a:rPr lang="zh-TW" altLang="en-US" sz="2300" b="1" dirty="0">
                <a:solidFill>
                  <a:srgbClr val="0070C0"/>
                </a:solidFill>
                <a:latin typeface="標楷體" panose="03000509000000000000" pitchFamily="65" charset="-120"/>
                <a:ea typeface="標楷體" panose="03000509000000000000" pitchFamily="65" charset="-120"/>
              </a:rPr>
              <a:t>項目</a:t>
            </a:r>
            <a:endParaRPr lang="en-US" altLang="zh-TW" sz="2300" b="1" dirty="0">
              <a:solidFill>
                <a:srgbClr val="0070C0"/>
              </a:solidFill>
              <a:latin typeface="標楷體" panose="03000509000000000000" pitchFamily="65" charset="-120"/>
              <a:ea typeface="標楷體" panose="03000509000000000000" pitchFamily="65" charset="-120"/>
            </a:endParaRPr>
          </a:p>
          <a:p>
            <a:r>
              <a:rPr lang="en-US" altLang="zh-TW" sz="2300" b="1" dirty="0" err="1">
                <a:solidFill>
                  <a:srgbClr val="0070C0"/>
                </a:solidFill>
                <a:latin typeface="標楷體" panose="03000509000000000000" pitchFamily="65" charset="-120"/>
                <a:ea typeface="標楷體" panose="03000509000000000000" pitchFamily="65" charset="-120"/>
              </a:rPr>
              <a:t>N</a:t>
            </a:r>
            <a:r>
              <a:rPr lang="en-US" altLang="zh-TW" sz="2300" b="1" baseline="-25000" dirty="0" err="1">
                <a:solidFill>
                  <a:srgbClr val="0070C0"/>
                </a:solidFill>
                <a:latin typeface="標楷體" panose="03000509000000000000" pitchFamily="65" charset="-120"/>
                <a:ea typeface="標楷體" panose="03000509000000000000" pitchFamily="65" charset="-120"/>
              </a:rPr>
              <a:t>mp</a:t>
            </a:r>
            <a:r>
              <a:rPr lang="en-US" altLang="zh-TW" sz="2300" dirty="0">
                <a:solidFill>
                  <a:srgbClr val="0070C0"/>
                </a:solidFill>
                <a:latin typeface="標楷體" panose="03000509000000000000" pitchFamily="65" charset="-120"/>
                <a:ea typeface="標楷體" panose="03000509000000000000" pitchFamily="65" charset="-120"/>
              </a:rPr>
              <a:t>:</a:t>
            </a:r>
            <a:r>
              <a:rPr lang="zh-TW" altLang="en-US" sz="2300" dirty="0">
                <a:solidFill>
                  <a:srgbClr val="0070C0"/>
                </a:solidFill>
                <a:latin typeface="標楷體" panose="03000509000000000000" pitchFamily="65" charset="-120"/>
                <a:ea typeface="標楷體" panose="03000509000000000000" pitchFamily="65" charset="-120"/>
              </a:rPr>
              <a:t> 為</a:t>
            </a:r>
            <a:r>
              <a:rPr lang="en-US" altLang="zh-TW" sz="2300" dirty="0" err="1">
                <a:solidFill>
                  <a:srgbClr val="0070C0"/>
                </a:solidFill>
                <a:latin typeface="標楷體" panose="03000509000000000000" pitchFamily="65" charset="-120"/>
                <a:ea typeface="標楷體" panose="03000509000000000000" pitchFamily="65" charset="-120"/>
              </a:rPr>
              <a:t>A</a:t>
            </a:r>
            <a:r>
              <a:rPr lang="en-US" altLang="zh-TW" sz="2300" baseline="-25000" dirty="0" err="1">
                <a:solidFill>
                  <a:srgbClr val="0070C0"/>
                </a:solidFill>
                <a:latin typeface="標楷體" panose="03000509000000000000" pitchFamily="65" charset="-120"/>
                <a:ea typeface="標楷體" panose="03000509000000000000" pitchFamily="65" charset="-120"/>
              </a:rPr>
              <a:t>p</a:t>
            </a:r>
            <a:r>
              <a:rPr lang="zh-TW" altLang="en-US" sz="2300" dirty="0">
                <a:solidFill>
                  <a:srgbClr val="0070C0"/>
                </a:solidFill>
                <a:latin typeface="標楷體" panose="03000509000000000000" pitchFamily="65" charset="-120"/>
                <a:ea typeface="標楷體" panose="03000509000000000000" pitchFamily="65" charset="-120"/>
              </a:rPr>
              <a:t>出現在</a:t>
            </a:r>
            <a:r>
              <a:rPr lang="en-US" altLang="zh-TW" sz="2300" dirty="0">
                <a:solidFill>
                  <a:srgbClr val="0070C0"/>
                </a:solidFill>
                <a:latin typeface="標楷體" panose="03000509000000000000" pitchFamily="65" charset="-120"/>
                <a:ea typeface="標楷體" panose="03000509000000000000" pitchFamily="65" charset="-120"/>
              </a:rPr>
              <a:t>Group A</a:t>
            </a:r>
            <a:r>
              <a:rPr lang="en-US" altLang="zh-TW" sz="2300" baseline="-25000" dirty="0">
                <a:solidFill>
                  <a:srgbClr val="0070C0"/>
                </a:solidFill>
                <a:latin typeface="標楷體" panose="03000509000000000000" pitchFamily="65" charset="-120"/>
                <a:ea typeface="標楷體" panose="03000509000000000000" pitchFamily="65" charset="-120"/>
              </a:rPr>
              <a:t>m</a:t>
            </a:r>
            <a:r>
              <a:rPr lang="zh-TW" altLang="en-US" sz="2300" dirty="0">
                <a:solidFill>
                  <a:srgbClr val="0070C0"/>
                </a:solidFill>
                <a:latin typeface="標楷體" panose="03000509000000000000" pitchFamily="65" charset="-120"/>
                <a:ea typeface="標楷體" panose="03000509000000000000" pitchFamily="65" charset="-120"/>
              </a:rPr>
              <a:t>的</a:t>
            </a:r>
            <a:r>
              <a:rPr lang="zh-TW" altLang="en-US" sz="2300" b="1" dirty="0">
                <a:solidFill>
                  <a:srgbClr val="0070C0"/>
                </a:solidFill>
                <a:latin typeface="標楷體" panose="03000509000000000000" pitchFamily="65" charset="-120"/>
                <a:ea typeface="標楷體" panose="03000509000000000000" pitchFamily="65" charset="-120"/>
              </a:rPr>
              <a:t>次數</a:t>
            </a:r>
          </a:p>
        </p:txBody>
      </p:sp>
      <p:pic>
        <p:nvPicPr>
          <p:cNvPr id="7" name="圖片 6">
            <a:extLst>
              <a:ext uri="{FF2B5EF4-FFF2-40B4-BE49-F238E27FC236}">
                <a16:creationId xmlns:a16="http://schemas.microsoft.com/office/drawing/2014/main" xmlns="" id="{B8F7A157-B9B7-4742-86E5-D6FD37282B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297" y="5090245"/>
            <a:ext cx="6175793" cy="1393726"/>
          </a:xfrm>
          <a:prstGeom prst="rect">
            <a:avLst/>
          </a:prstGeom>
        </p:spPr>
      </p:pic>
      <p:sp>
        <p:nvSpPr>
          <p:cNvPr id="8" name="文字方塊 7">
            <a:extLst>
              <a:ext uri="{FF2B5EF4-FFF2-40B4-BE49-F238E27FC236}">
                <a16:creationId xmlns:a16="http://schemas.microsoft.com/office/drawing/2014/main" xmlns="" id="{2049CE8F-D84A-4D1C-BC65-8816AD17DC93}"/>
              </a:ext>
            </a:extLst>
          </p:cNvPr>
          <p:cNvSpPr txBox="1"/>
          <p:nvPr/>
        </p:nvSpPr>
        <p:spPr>
          <a:xfrm>
            <a:off x="1046445" y="4166915"/>
            <a:ext cx="2987749" cy="923330"/>
          </a:xfrm>
          <a:prstGeom prst="rect">
            <a:avLst/>
          </a:prstGeom>
          <a:noFill/>
        </p:spPr>
        <p:txBody>
          <a:bodyPr wrap="square" rtlCol="0">
            <a:spAutoFit/>
          </a:bodyPr>
          <a:lstStyle/>
          <a:p>
            <a:r>
              <a:rPr lang="en-US" altLang="zh-TW" b="1" dirty="0">
                <a:solidFill>
                  <a:srgbClr val="0070C0"/>
                </a:solidFill>
                <a:latin typeface="Times New Roman" panose="02020603050405020304" pitchFamily="18" charset="0"/>
                <a:cs typeface="Times New Roman" panose="02020603050405020304" pitchFamily="18" charset="0"/>
              </a:rPr>
              <a:t>Assume:</a:t>
            </a:r>
          </a:p>
          <a:p>
            <a:r>
              <a:rPr lang="en-US" altLang="zh-TW" b="1" dirty="0" err="1">
                <a:solidFill>
                  <a:srgbClr val="0070C0"/>
                </a:solidFill>
                <a:latin typeface="Times New Roman" panose="02020603050405020304" pitchFamily="18" charset="0"/>
                <a:cs typeface="Times New Roman" panose="02020603050405020304" pitchFamily="18" charset="0"/>
              </a:rPr>
              <a:t>FVar</a:t>
            </a:r>
            <a:r>
              <a:rPr lang="en-US" altLang="zh-TW" b="1" baseline="-25000" dirty="0" err="1">
                <a:solidFill>
                  <a:srgbClr val="0070C0"/>
                </a:solidFill>
                <a:latin typeface="Times New Roman" panose="02020603050405020304" pitchFamily="18" charset="0"/>
                <a:cs typeface="Times New Roman" panose="02020603050405020304" pitchFamily="18" charset="0"/>
              </a:rPr>
              <a:t>M</a:t>
            </a:r>
            <a:r>
              <a:rPr lang="en-US" altLang="zh-TW" b="1" dirty="0">
                <a:solidFill>
                  <a:srgbClr val="0070C0"/>
                </a:solidFill>
                <a:latin typeface="Times New Roman" panose="02020603050405020304" pitchFamily="18" charset="0"/>
                <a:cs typeface="Times New Roman" panose="02020603050405020304" pitchFamily="18" charset="0"/>
              </a:rPr>
              <a:t>(t-1) </a:t>
            </a:r>
            <a:r>
              <a:rPr lang="zh-TW" altLang="en-US" b="1" dirty="0">
                <a:solidFill>
                  <a:srgbClr val="0070C0"/>
                </a:solidFill>
                <a:latin typeface="Times New Roman" panose="02020603050405020304" pitchFamily="18" charset="0"/>
                <a:cs typeface="Times New Roman" panose="02020603050405020304" pitchFamily="18" charset="0"/>
              </a:rPr>
              <a:t>→ </a:t>
            </a:r>
            <a:r>
              <a:rPr lang="en-US" altLang="zh-TW" b="1" dirty="0">
                <a:solidFill>
                  <a:srgbClr val="0070C0"/>
                </a:solidFill>
                <a:latin typeface="Times New Roman" panose="02020603050405020304" pitchFamily="18" charset="0"/>
                <a:cs typeface="Times New Roman" panose="02020603050405020304" pitchFamily="18" charset="0"/>
              </a:rPr>
              <a:t>A</a:t>
            </a:r>
            <a:r>
              <a:rPr lang="en-US" altLang="zh-TW" b="1" baseline="-25000" dirty="0">
                <a:solidFill>
                  <a:srgbClr val="0070C0"/>
                </a:solidFill>
                <a:latin typeface="Times New Roman" panose="02020603050405020304" pitchFamily="18" charset="0"/>
                <a:cs typeface="Times New Roman" panose="02020603050405020304" pitchFamily="18" charset="0"/>
              </a:rPr>
              <a:t>9</a:t>
            </a:r>
          </a:p>
          <a:p>
            <a:r>
              <a:rPr lang="en-US" altLang="zh-TW" b="1" dirty="0" err="1">
                <a:solidFill>
                  <a:srgbClr val="0070C0"/>
                </a:solidFill>
                <a:latin typeface="Times New Roman" panose="02020603050405020304" pitchFamily="18" charset="0"/>
                <a:cs typeface="Times New Roman" panose="02020603050405020304" pitchFamily="18" charset="0"/>
              </a:rPr>
              <a:t>FVar</a:t>
            </a:r>
            <a:r>
              <a:rPr lang="en-US" altLang="zh-TW" b="1" baseline="-25000" dirty="0" err="1">
                <a:solidFill>
                  <a:srgbClr val="0070C0"/>
                </a:solidFill>
                <a:latin typeface="Times New Roman" panose="02020603050405020304" pitchFamily="18" charset="0"/>
                <a:cs typeface="Times New Roman" panose="02020603050405020304" pitchFamily="18" charset="0"/>
              </a:rPr>
              <a:t>S</a:t>
            </a:r>
            <a:r>
              <a:rPr lang="en-US" altLang="zh-TW" b="1" dirty="0">
                <a:solidFill>
                  <a:srgbClr val="0070C0"/>
                </a:solidFill>
                <a:latin typeface="Times New Roman" panose="02020603050405020304" pitchFamily="18" charset="0"/>
                <a:cs typeface="Times New Roman" panose="02020603050405020304" pitchFamily="18" charset="0"/>
              </a:rPr>
              <a:t>(t-1) </a:t>
            </a:r>
            <a:r>
              <a:rPr lang="zh-TW" altLang="en-US" b="1" dirty="0">
                <a:solidFill>
                  <a:srgbClr val="0070C0"/>
                </a:solidFill>
                <a:latin typeface="Times New Roman" panose="02020603050405020304" pitchFamily="18" charset="0"/>
                <a:cs typeface="Times New Roman" panose="02020603050405020304" pitchFamily="18" charset="0"/>
              </a:rPr>
              <a:t>→ </a:t>
            </a:r>
            <a:r>
              <a:rPr lang="en-US" altLang="zh-TW" b="1" dirty="0">
                <a:solidFill>
                  <a:srgbClr val="0070C0"/>
                </a:solidFill>
                <a:latin typeface="Times New Roman" panose="02020603050405020304" pitchFamily="18" charset="0"/>
                <a:cs typeface="Times New Roman" panose="02020603050405020304" pitchFamily="18" charset="0"/>
              </a:rPr>
              <a:t>B</a:t>
            </a:r>
            <a:r>
              <a:rPr lang="en-US" altLang="zh-TW" b="1" baseline="-25000" dirty="0">
                <a:solidFill>
                  <a:srgbClr val="0070C0"/>
                </a:solidFill>
                <a:latin typeface="Times New Roman" panose="02020603050405020304" pitchFamily="18" charset="0"/>
                <a:cs typeface="Times New Roman" panose="02020603050405020304" pitchFamily="18" charset="0"/>
              </a:rPr>
              <a:t>7</a:t>
            </a:r>
            <a:endParaRPr lang="zh-TW" altLang="en-US" b="1" baseline="-25000" dirty="0">
              <a:solidFill>
                <a:srgbClr val="0070C0"/>
              </a:solidFill>
              <a:latin typeface="Times New Roman" panose="02020603050405020304" pitchFamily="18" charset="0"/>
              <a:cs typeface="Times New Roman" panose="02020603050405020304" pitchFamily="18" charset="0"/>
            </a:endParaRPr>
          </a:p>
        </p:txBody>
      </p:sp>
      <p:sp>
        <p:nvSpPr>
          <p:cNvPr id="9" name="文字方塊 8">
            <a:extLst>
              <a:ext uri="{FF2B5EF4-FFF2-40B4-BE49-F238E27FC236}">
                <a16:creationId xmlns:a16="http://schemas.microsoft.com/office/drawing/2014/main" xmlns="" id="{B352E9C0-6B5F-43A0-B781-6E29092CA768}"/>
              </a:ext>
            </a:extLst>
          </p:cNvPr>
          <p:cNvSpPr txBox="1"/>
          <p:nvPr/>
        </p:nvSpPr>
        <p:spPr>
          <a:xfrm>
            <a:off x="7185566" y="4942705"/>
            <a:ext cx="4641730" cy="1754326"/>
          </a:xfrm>
          <a:prstGeom prst="rect">
            <a:avLst/>
          </a:prstGeom>
          <a:noFill/>
        </p:spPr>
        <p:txBody>
          <a:bodyPr wrap="square" rtlCol="0">
            <a:spAutoFit/>
          </a:bodyPr>
          <a:lstStyle/>
          <a:p>
            <a:pPr algn="just"/>
            <a:r>
              <a:rPr lang="en-US" altLang="zh-TW" dirty="0">
                <a:solidFill>
                  <a:srgbClr val="FFC000"/>
                </a:solidFill>
              </a:rPr>
              <a:t>The fuzzy variations appearing in the fuzzy variation group “Group </a:t>
            </a:r>
            <a:r>
              <a:rPr lang="en-US" altLang="zh-TW" i="1" dirty="0">
                <a:solidFill>
                  <a:srgbClr val="FFC000"/>
                </a:solidFill>
              </a:rPr>
              <a:t>A</a:t>
            </a:r>
            <a:r>
              <a:rPr lang="en-US" altLang="zh-TW" dirty="0">
                <a:solidFill>
                  <a:srgbClr val="FFC000"/>
                </a:solidFill>
              </a:rPr>
              <a:t>9”.</a:t>
            </a:r>
          </a:p>
          <a:p>
            <a:pPr algn="just"/>
            <a:endParaRPr lang="en-US" altLang="zh-TW" dirty="0">
              <a:solidFill>
                <a:srgbClr val="FFC000"/>
              </a:solidFill>
            </a:endParaRPr>
          </a:p>
          <a:p>
            <a:pPr algn="just"/>
            <a:r>
              <a:rPr lang="en-US" altLang="zh-TW" dirty="0">
                <a:solidFill>
                  <a:srgbClr val="FFC000"/>
                </a:solidFill>
              </a:rPr>
              <a:t>The fuzzy variations appearing in the fuzzy variation group “Group </a:t>
            </a:r>
            <a:r>
              <a:rPr lang="en-US" altLang="zh-TW" i="1" dirty="0">
                <a:solidFill>
                  <a:srgbClr val="FFC000"/>
                </a:solidFill>
              </a:rPr>
              <a:t>B</a:t>
            </a:r>
            <a:r>
              <a:rPr lang="en-US" altLang="zh-TW" dirty="0">
                <a:solidFill>
                  <a:srgbClr val="FFC000"/>
                </a:solidFill>
              </a:rPr>
              <a:t>7” of the </a:t>
            </a:r>
            <a:r>
              <a:rPr lang="en-US" altLang="zh-TW" i="1" dirty="0" err="1">
                <a:solidFill>
                  <a:srgbClr val="FFC000"/>
                </a:solidFill>
              </a:rPr>
              <a:t>i</a:t>
            </a:r>
            <a:r>
              <a:rPr lang="en-US" altLang="zh-TW" dirty="0" err="1">
                <a:solidFill>
                  <a:srgbClr val="FFC000"/>
                </a:solidFill>
              </a:rPr>
              <a:t>th</a:t>
            </a:r>
            <a:r>
              <a:rPr lang="en-US" altLang="zh-TW" dirty="0">
                <a:solidFill>
                  <a:srgbClr val="FFC000"/>
                </a:solidFill>
              </a:rPr>
              <a:t> elementary secondary factor</a:t>
            </a:r>
            <a:endParaRPr lang="zh-TW" altLang="en-US" b="1" baseline="-250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98932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a:xfrm>
            <a:off x="742507" y="668068"/>
            <a:ext cx="10857614" cy="4351338"/>
          </a:xfrm>
        </p:spPr>
        <p:txBody>
          <a:bodyPr/>
          <a:lstStyle/>
          <a:p>
            <a:pPr algn="just"/>
            <a:r>
              <a:rPr lang="en-US" altLang="zh-TW" dirty="0"/>
              <a:t>Step 6: </a:t>
            </a:r>
            <a:r>
              <a:rPr lang="en-US" altLang="zh-TW" dirty="0">
                <a:solidFill>
                  <a:srgbClr val="0070C0"/>
                </a:solidFill>
              </a:rPr>
              <a:t>Calculate the </a:t>
            </a:r>
            <a:r>
              <a:rPr lang="en-US" altLang="zh-TW" b="1" dirty="0">
                <a:solidFill>
                  <a:srgbClr val="0070C0"/>
                </a:solidFill>
              </a:rPr>
              <a:t>correlation coefficient </a:t>
            </a:r>
            <a:r>
              <a:rPr lang="en-US" altLang="zh-TW" dirty="0"/>
              <a:t>between the occurrence vector </a:t>
            </a:r>
            <a:r>
              <a:rPr lang="en-US" altLang="zh-TW" i="1" dirty="0"/>
              <a:t>V</a:t>
            </a:r>
            <a:r>
              <a:rPr lang="en-US" altLang="zh-TW" baseline="-25000" dirty="0"/>
              <a:t>M</a:t>
            </a:r>
            <a:r>
              <a:rPr lang="en-US" altLang="zh-TW" dirty="0"/>
              <a:t>(</a:t>
            </a:r>
            <a:r>
              <a:rPr lang="en-US" altLang="zh-TW" i="1" dirty="0"/>
              <a:t>t</a:t>
            </a:r>
            <a:r>
              <a:rPr lang="en-US" altLang="zh-TW" dirty="0"/>
              <a:t>) of the main factor on trading day </a:t>
            </a:r>
            <a:r>
              <a:rPr lang="en-US" altLang="zh-TW" i="1" dirty="0"/>
              <a:t>t </a:t>
            </a:r>
            <a:r>
              <a:rPr lang="en-US" altLang="zh-TW" dirty="0"/>
              <a:t>and the occurrence vector </a:t>
            </a:r>
            <a:r>
              <a:rPr lang="en-US" altLang="zh-TW" i="1" dirty="0"/>
              <a:t>V</a:t>
            </a:r>
            <a:r>
              <a:rPr lang="en-US" altLang="zh-TW" baseline="-25000" dirty="0"/>
              <a:t>S(</a:t>
            </a:r>
            <a:r>
              <a:rPr lang="en-US" altLang="zh-TW" i="1" baseline="-25000" dirty="0" err="1"/>
              <a:t>i</a:t>
            </a:r>
            <a:r>
              <a:rPr lang="en-US" altLang="zh-TW" baseline="-25000" dirty="0"/>
              <a:t>)</a:t>
            </a:r>
            <a:r>
              <a:rPr lang="en-US" altLang="zh-TW" dirty="0"/>
              <a:t>(</a:t>
            </a:r>
            <a:r>
              <a:rPr lang="en-US" altLang="zh-TW" i="1" dirty="0"/>
              <a:t>t</a:t>
            </a:r>
            <a:r>
              <a:rPr lang="en-US" altLang="zh-TW" dirty="0"/>
              <a:t>) of the </a:t>
            </a:r>
            <a:r>
              <a:rPr lang="en-US" altLang="zh-TW" i="1" dirty="0" err="1"/>
              <a:t>i</a:t>
            </a:r>
            <a:r>
              <a:rPr lang="en-US" altLang="zh-TW" dirty="0" err="1"/>
              <a:t>th</a:t>
            </a:r>
            <a:r>
              <a:rPr lang="en-US" altLang="zh-TW" dirty="0"/>
              <a:t> elementary secondary factor on trading day </a:t>
            </a:r>
            <a:r>
              <a:rPr lang="en-US" altLang="zh-TW" i="1" dirty="0"/>
              <a:t>t</a:t>
            </a:r>
            <a:r>
              <a:rPr lang="en-US" altLang="zh-TW" dirty="0"/>
              <a:t>, respectively.</a:t>
            </a:r>
            <a:endParaRPr lang="zh-TW" altLang="en-US" dirty="0"/>
          </a:p>
        </p:txBody>
      </p:sp>
      <p:pic>
        <p:nvPicPr>
          <p:cNvPr id="9" name="圖片 8">
            <a:extLst>
              <a:ext uri="{FF2B5EF4-FFF2-40B4-BE49-F238E27FC236}">
                <a16:creationId xmlns:a16="http://schemas.microsoft.com/office/drawing/2014/main" xmlns="" id="{DE2573DA-8140-427D-871B-2D9588EE95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3841" y="2084861"/>
            <a:ext cx="4976038" cy="3220085"/>
          </a:xfrm>
          <a:prstGeom prst="rect">
            <a:avLst/>
          </a:prstGeom>
        </p:spPr>
      </p:pic>
      <p:pic>
        <p:nvPicPr>
          <p:cNvPr id="11" name="圖片 10">
            <a:extLst>
              <a:ext uri="{FF2B5EF4-FFF2-40B4-BE49-F238E27FC236}">
                <a16:creationId xmlns:a16="http://schemas.microsoft.com/office/drawing/2014/main" xmlns="" id="{59958F3E-6816-4982-8F47-1C4A248EF2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1227" y="3058799"/>
            <a:ext cx="5432372" cy="1672226"/>
          </a:xfrm>
          <a:prstGeom prst="rect">
            <a:avLst/>
          </a:prstGeom>
        </p:spPr>
      </p:pic>
      <p:sp>
        <p:nvSpPr>
          <p:cNvPr id="12" name="文字方塊 11">
            <a:extLst>
              <a:ext uri="{FF2B5EF4-FFF2-40B4-BE49-F238E27FC236}">
                <a16:creationId xmlns:a16="http://schemas.microsoft.com/office/drawing/2014/main" xmlns="" id="{2332616E-5F9E-4D07-AB08-DA982C32BF60}"/>
              </a:ext>
            </a:extLst>
          </p:cNvPr>
          <p:cNvSpPr txBox="1"/>
          <p:nvPr/>
        </p:nvSpPr>
        <p:spPr>
          <a:xfrm>
            <a:off x="6474266" y="5543647"/>
            <a:ext cx="4785613" cy="892552"/>
          </a:xfrm>
          <a:prstGeom prst="rect">
            <a:avLst/>
          </a:prstGeom>
          <a:noFill/>
        </p:spPr>
        <p:txBody>
          <a:bodyPr wrap="square" rtlCol="0">
            <a:spAutoFit/>
          </a:bodyPr>
          <a:lstStyle/>
          <a:p>
            <a:r>
              <a:rPr lang="en-US" altLang="zh-TW" sz="1300" b="1" dirty="0" err="1">
                <a:solidFill>
                  <a:srgbClr val="0070C0"/>
                </a:solidFill>
                <a:latin typeface="標楷體" panose="03000509000000000000" pitchFamily="65" charset="-120"/>
                <a:ea typeface="標楷體" panose="03000509000000000000" pitchFamily="65" charset="-120"/>
              </a:rPr>
              <a:t>r</a:t>
            </a:r>
            <a:r>
              <a:rPr lang="en-US" altLang="zh-TW" sz="1300" b="1" baseline="-25000" dirty="0" err="1">
                <a:solidFill>
                  <a:srgbClr val="0070C0"/>
                </a:solidFill>
                <a:latin typeface="標楷體" panose="03000509000000000000" pitchFamily="65" charset="-120"/>
                <a:ea typeface="標楷體" panose="03000509000000000000" pitchFamily="65" charset="-120"/>
              </a:rPr>
              <a:t>i</a:t>
            </a:r>
            <a:r>
              <a:rPr lang="en-US" altLang="zh-TW" sz="1300" b="1" baseline="-25000" dirty="0">
                <a:solidFill>
                  <a:srgbClr val="0070C0"/>
                </a:solidFill>
                <a:latin typeface="標楷體" panose="03000509000000000000" pitchFamily="65" charset="-120"/>
                <a:ea typeface="標楷體" panose="03000509000000000000" pitchFamily="65" charset="-120"/>
              </a:rPr>
              <a:t> </a:t>
            </a:r>
            <a:r>
              <a:rPr lang="en-US" altLang="zh-TW" sz="1300" b="1" dirty="0">
                <a:solidFill>
                  <a:srgbClr val="0070C0"/>
                </a:solidFill>
                <a:latin typeface="標楷體" panose="03000509000000000000" pitchFamily="65" charset="-120"/>
                <a:ea typeface="標楷體" panose="03000509000000000000" pitchFamily="65" charset="-120"/>
              </a:rPr>
              <a:t>&gt; 0</a:t>
            </a:r>
            <a:r>
              <a:rPr lang="en-US" altLang="zh-TW" sz="1300" dirty="0">
                <a:solidFill>
                  <a:srgbClr val="0070C0"/>
                </a:solidFill>
                <a:latin typeface="標楷體" panose="03000509000000000000" pitchFamily="65" charset="-120"/>
                <a:ea typeface="標楷體" panose="03000509000000000000" pitchFamily="65" charset="-120"/>
              </a:rPr>
              <a:t>:</a:t>
            </a:r>
            <a:r>
              <a:rPr lang="zh-TW" altLang="en-US" sz="1300" dirty="0">
                <a:solidFill>
                  <a:srgbClr val="0070C0"/>
                </a:solidFill>
                <a:latin typeface="標楷體" panose="03000509000000000000" pitchFamily="65" charset="-120"/>
                <a:ea typeface="標楷體" panose="03000509000000000000" pitchFamily="65" charset="-120"/>
              </a:rPr>
              <a:t> 兩者正相關，並採納該</a:t>
            </a:r>
            <a:r>
              <a:rPr lang="en-US" altLang="zh-TW" sz="1300" dirty="0">
                <a:solidFill>
                  <a:srgbClr val="0070C0"/>
                </a:solidFill>
                <a:latin typeface="標楷體" panose="03000509000000000000" pitchFamily="65" charset="-120"/>
                <a:ea typeface="標楷體" panose="03000509000000000000" pitchFamily="65" charset="-120"/>
              </a:rPr>
              <a:t>elementary secondary factor</a:t>
            </a:r>
            <a:endParaRPr lang="en-US" altLang="zh-TW" sz="1300" b="1" dirty="0">
              <a:solidFill>
                <a:srgbClr val="0070C0"/>
              </a:solidFill>
              <a:latin typeface="標楷體" panose="03000509000000000000" pitchFamily="65" charset="-120"/>
              <a:ea typeface="標楷體" panose="03000509000000000000" pitchFamily="65" charset="-120"/>
            </a:endParaRPr>
          </a:p>
          <a:p>
            <a:r>
              <a:rPr lang="en-US" altLang="zh-TW" sz="1300" b="1" dirty="0" err="1">
                <a:solidFill>
                  <a:srgbClr val="0070C0"/>
                </a:solidFill>
                <a:latin typeface="標楷體" panose="03000509000000000000" pitchFamily="65" charset="-120"/>
                <a:ea typeface="標楷體" panose="03000509000000000000" pitchFamily="65" charset="-120"/>
              </a:rPr>
              <a:t>r</a:t>
            </a:r>
            <a:r>
              <a:rPr lang="en-US" altLang="zh-TW" sz="1300" b="1" baseline="-25000" dirty="0" err="1">
                <a:solidFill>
                  <a:srgbClr val="0070C0"/>
                </a:solidFill>
                <a:latin typeface="標楷體" panose="03000509000000000000" pitchFamily="65" charset="-120"/>
                <a:ea typeface="標楷體" panose="03000509000000000000" pitchFamily="65" charset="-120"/>
              </a:rPr>
              <a:t>i</a:t>
            </a:r>
            <a:r>
              <a:rPr lang="en-US" altLang="zh-TW" sz="1300" b="1" baseline="-25000" dirty="0">
                <a:solidFill>
                  <a:srgbClr val="0070C0"/>
                </a:solidFill>
                <a:latin typeface="標楷體" panose="03000509000000000000" pitchFamily="65" charset="-120"/>
                <a:ea typeface="標楷體" panose="03000509000000000000" pitchFamily="65" charset="-120"/>
              </a:rPr>
              <a:t> </a:t>
            </a:r>
            <a:r>
              <a:rPr lang="en-US" altLang="zh-TW" sz="1300" b="1" dirty="0">
                <a:solidFill>
                  <a:srgbClr val="0070C0"/>
                </a:solidFill>
                <a:latin typeface="標楷體" panose="03000509000000000000" pitchFamily="65" charset="-120"/>
                <a:ea typeface="標楷體" panose="03000509000000000000" pitchFamily="65" charset="-120"/>
              </a:rPr>
              <a:t>= 0</a:t>
            </a:r>
            <a:r>
              <a:rPr lang="en-US" altLang="zh-TW" sz="1300" dirty="0">
                <a:solidFill>
                  <a:srgbClr val="0070C0"/>
                </a:solidFill>
                <a:latin typeface="標楷體" panose="03000509000000000000" pitchFamily="65" charset="-120"/>
                <a:ea typeface="標楷體" panose="03000509000000000000" pitchFamily="65" charset="-120"/>
              </a:rPr>
              <a:t>: elementary secondary factor</a:t>
            </a:r>
            <a:r>
              <a:rPr lang="zh-TW" altLang="en-US" sz="1300" dirty="0">
                <a:solidFill>
                  <a:srgbClr val="0070C0"/>
                </a:solidFill>
                <a:latin typeface="標楷體" panose="03000509000000000000" pitchFamily="65" charset="-120"/>
                <a:ea typeface="標楷體" panose="03000509000000000000" pitchFamily="65" charset="-120"/>
              </a:rPr>
              <a:t>的預測變化量與</a:t>
            </a:r>
            <a:endParaRPr lang="en-US" altLang="zh-TW" sz="1300" dirty="0">
              <a:solidFill>
                <a:srgbClr val="0070C0"/>
              </a:solidFill>
              <a:latin typeface="標楷體" panose="03000509000000000000" pitchFamily="65" charset="-120"/>
              <a:ea typeface="標楷體" panose="03000509000000000000" pitchFamily="65" charset="-120"/>
            </a:endParaRPr>
          </a:p>
          <a:p>
            <a:r>
              <a:rPr lang="en-US" altLang="zh-TW" sz="1300" dirty="0">
                <a:solidFill>
                  <a:srgbClr val="0070C0"/>
                </a:solidFill>
                <a:latin typeface="標楷體" panose="03000509000000000000" pitchFamily="65" charset="-120"/>
                <a:ea typeface="標楷體" panose="03000509000000000000" pitchFamily="65" charset="-120"/>
              </a:rPr>
              <a:t>main factor</a:t>
            </a:r>
            <a:r>
              <a:rPr lang="zh-TW" altLang="en-US" sz="1300" dirty="0">
                <a:solidFill>
                  <a:srgbClr val="0070C0"/>
                </a:solidFill>
                <a:latin typeface="標楷體" panose="03000509000000000000" pitchFamily="65" charset="-120"/>
                <a:ea typeface="標楷體" panose="03000509000000000000" pitchFamily="65" charset="-120"/>
              </a:rPr>
              <a:t>的預測變化量</a:t>
            </a:r>
            <a:r>
              <a:rPr lang="zh-TW" altLang="en-US" sz="1300" b="1" u="sng" dirty="0">
                <a:solidFill>
                  <a:srgbClr val="0070C0"/>
                </a:solidFill>
                <a:latin typeface="標楷體" panose="03000509000000000000" pitchFamily="65" charset="-120"/>
                <a:ea typeface="標楷體" panose="03000509000000000000" pitchFamily="65" charset="-120"/>
              </a:rPr>
              <a:t>無關</a:t>
            </a:r>
            <a:r>
              <a:rPr lang="zh-TW" altLang="en-US" sz="1300" dirty="0">
                <a:solidFill>
                  <a:srgbClr val="0070C0"/>
                </a:solidFill>
                <a:latin typeface="標楷體" panose="03000509000000000000" pitchFamily="65" charset="-120"/>
                <a:ea typeface="標楷體" panose="03000509000000000000" pitchFamily="65" charset="-120"/>
              </a:rPr>
              <a:t>。</a:t>
            </a:r>
            <a:endParaRPr lang="en-US" altLang="zh-TW" sz="1300" dirty="0">
              <a:solidFill>
                <a:srgbClr val="0070C0"/>
              </a:solidFill>
              <a:latin typeface="標楷體" panose="03000509000000000000" pitchFamily="65" charset="-120"/>
              <a:ea typeface="標楷體" panose="03000509000000000000" pitchFamily="65" charset="-120"/>
            </a:endParaRPr>
          </a:p>
          <a:p>
            <a:r>
              <a:rPr lang="en-US" altLang="zh-TW" sz="1300" b="1" dirty="0" err="1">
                <a:solidFill>
                  <a:srgbClr val="0070C0"/>
                </a:solidFill>
                <a:latin typeface="標楷體" panose="03000509000000000000" pitchFamily="65" charset="-120"/>
                <a:ea typeface="標楷體" panose="03000509000000000000" pitchFamily="65" charset="-120"/>
              </a:rPr>
              <a:t>r</a:t>
            </a:r>
            <a:r>
              <a:rPr lang="en-US" altLang="zh-TW" sz="1300" b="1" baseline="-25000" dirty="0" err="1">
                <a:solidFill>
                  <a:srgbClr val="0070C0"/>
                </a:solidFill>
                <a:latin typeface="標楷體" panose="03000509000000000000" pitchFamily="65" charset="-120"/>
                <a:ea typeface="標楷體" panose="03000509000000000000" pitchFamily="65" charset="-120"/>
              </a:rPr>
              <a:t>i</a:t>
            </a:r>
            <a:r>
              <a:rPr lang="en-US" altLang="zh-TW" sz="1300" b="1" baseline="-25000" dirty="0">
                <a:solidFill>
                  <a:srgbClr val="0070C0"/>
                </a:solidFill>
                <a:latin typeface="標楷體" panose="03000509000000000000" pitchFamily="65" charset="-120"/>
                <a:ea typeface="標楷體" panose="03000509000000000000" pitchFamily="65" charset="-120"/>
              </a:rPr>
              <a:t> </a:t>
            </a:r>
            <a:r>
              <a:rPr lang="en-US" altLang="zh-TW" sz="1300" b="1" dirty="0">
                <a:solidFill>
                  <a:srgbClr val="0070C0"/>
                </a:solidFill>
                <a:latin typeface="標楷體" panose="03000509000000000000" pitchFamily="65" charset="-120"/>
                <a:ea typeface="標楷體" panose="03000509000000000000" pitchFamily="65" charset="-120"/>
              </a:rPr>
              <a:t>&lt; 0</a:t>
            </a:r>
            <a:r>
              <a:rPr lang="en-US" altLang="zh-TW" sz="1300" dirty="0">
                <a:solidFill>
                  <a:srgbClr val="0070C0"/>
                </a:solidFill>
                <a:latin typeface="標楷體" panose="03000509000000000000" pitchFamily="65" charset="-120"/>
                <a:ea typeface="標楷體" panose="03000509000000000000" pitchFamily="65" charset="-120"/>
              </a:rPr>
              <a:t>: </a:t>
            </a:r>
            <a:r>
              <a:rPr lang="zh-TW" altLang="en-US" sz="1300" dirty="0">
                <a:solidFill>
                  <a:srgbClr val="0070C0"/>
                </a:solidFill>
                <a:latin typeface="標楷體" panose="03000509000000000000" pitchFamily="65" charset="-120"/>
                <a:ea typeface="標楷體" panose="03000509000000000000" pitchFamily="65" charset="-120"/>
              </a:rPr>
              <a:t>兩者負相關</a:t>
            </a:r>
            <a:endParaRPr lang="en-US" altLang="zh-TW" sz="1300" b="1" dirty="0">
              <a:solidFill>
                <a:srgbClr val="0070C0"/>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6793154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BAFE696A-55A0-4A79-8116-242A2A57B658}"/>
              </a:ext>
            </a:extLst>
          </p:cNvPr>
          <p:cNvSpPr>
            <a:spLocks noGrp="1"/>
          </p:cNvSpPr>
          <p:nvPr>
            <p:ph idx="1"/>
          </p:nvPr>
        </p:nvSpPr>
        <p:spPr>
          <a:xfrm>
            <a:off x="838200" y="594893"/>
            <a:ext cx="10515600" cy="4351338"/>
          </a:xfrm>
        </p:spPr>
        <p:txBody>
          <a:bodyPr/>
          <a:lstStyle/>
          <a:p>
            <a:r>
              <a:rPr lang="en-US" altLang="zh-TW" dirty="0"/>
              <a:t>Step 7: Calculate the </a:t>
            </a:r>
            <a:r>
              <a:rPr lang="en-US" altLang="zh-TW" b="1" dirty="0">
                <a:solidFill>
                  <a:srgbClr val="0070C0"/>
                </a:solidFill>
              </a:rPr>
              <a:t>weight </a:t>
            </a:r>
            <a:r>
              <a:rPr lang="en-US" altLang="zh-TW" b="1" i="1" dirty="0">
                <a:solidFill>
                  <a:srgbClr val="0070C0"/>
                </a:solidFill>
              </a:rPr>
              <a:t>W</a:t>
            </a:r>
            <a:r>
              <a:rPr lang="en-US" altLang="zh-TW" b="1" i="1" baseline="-25000" dirty="0">
                <a:solidFill>
                  <a:srgbClr val="0070C0"/>
                </a:solidFill>
              </a:rPr>
              <a:t>V</a:t>
            </a:r>
            <a:r>
              <a:rPr lang="en-US" altLang="zh-TW" b="1" baseline="-25000" dirty="0">
                <a:solidFill>
                  <a:srgbClr val="0070C0"/>
                </a:solidFill>
              </a:rPr>
              <a:t>M(</a:t>
            </a:r>
            <a:r>
              <a:rPr lang="en-US" altLang="zh-TW" b="1" i="1" baseline="-25000" dirty="0">
                <a:solidFill>
                  <a:srgbClr val="0070C0"/>
                </a:solidFill>
              </a:rPr>
              <a:t>t</a:t>
            </a:r>
            <a:r>
              <a:rPr lang="en-US" altLang="zh-TW" b="1" baseline="-25000" dirty="0">
                <a:solidFill>
                  <a:srgbClr val="0070C0"/>
                </a:solidFill>
              </a:rPr>
              <a:t>)</a:t>
            </a:r>
            <a:r>
              <a:rPr lang="en-US" altLang="zh-TW" b="1" dirty="0">
                <a:solidFill>
                  <a:srgbClr val="0070C0"/>
                </a:solidFill>
              </a:rPr>
              <a:t> </a:t>
            </a:r>
            <a:r>
              <a:rPr lang="en-US" altLang="zh-TW" dirty="0"/>
              <a:t>of the occurrence vector </a:t>
            </a:r>
            <a:r>
              <a:rPr lang="en-US" altLang="zh-TW" i="1" dirty="0"/>
              <a:t>V</a:t>
            </a:r>
            <a:r>
              <a:rPr lang="en-US" altLang="zh-TW" baseline="-25000" dirty="0"/>
              <a:t>M</a:t>
            </a:r>
            <a:r>
              <a:rPr lang="en-US" altLang="zh-TW" dirty="0"/>
              <a:t>(</a:t>
            </a:r>
            <a:r>
              <a:rPr lang="en-US" altLang="zh-TW" i="1" dirty="0"/>
              <a:t>t</a:t>
            </a:r>
            <a:r>
              <a:rPr lang="en-US" altLang="zh-TW" dirty="0"/>
              <a:t>) of the main factor on trading day </a:t>
            </a:r>
            <a:r>
              <a:rPr lang="en-US" altLang="zh-TW" i="1" dirty="0"/>
              <a:t>t</a:t>
            </a:r>
            <a:r>
              <a:rPr lang="en-US" altLang="zh-TW" dirty="0"/>
              <a:t>, and calculate the </a:t>
            </a:r>
            <a:r>
              <a:rPr lang="en-US" altLang="zh-TW" b="1" dirty="0" err="1">
                <a:solidFill>
                  <a:srgbClr val="0070C0"/>
                </a:solidFill>
              </a:rPr>
              <a:t>weight</a:t>
            </a:r>
            <a:r>
              <a:rPr lang="en-US" altLang="zh-TW" b="1" i="1" dirty="0" err="1">
                <a:solidFill>
                  <a:srgbClr val="0070C0"/>
                </a:solidFill>
              </a:rPr>
              <a:t>W</a:t>
            </a:r>
            <a:r>
              <a:rPr lang="en-US" altLang="zh-TW" b="1" i="1" baseline="-25000" dirty="0" err="1">
                <a:solidFill>
                  <a:srgbClr val="0070C0"/>
                </a:solidFill>
              </a:rPr>
              <a:t>V</a:t>
            </a:r>
            <a:r>
              <a:rPr lang="en-US" altLang="zh-TW" b="1" baseline="-25000" dirty="0" err="1">
                <a:solidFill>
                  <a:srgbClr val="0070C0"/>
                </a:solidFill>
              </a:rPr>
              <a:t>S</a:t>
            </a:r>
            <a:r>
              <a:rPr lang="en-US" altLang="zh-TW" b="1" baseline="-25000" dirty="0">
                <a:solidFill>
                  <a:srgbClr val="0070C0"/>
                </a:solidFill>
              </a:rPr>
              <a:t>(</a:t>
            </a:r>
            <a:r>
              <a:rPr lang="en-US" altLang="zh-TW" b="1" i="1" baseline="-25000" dirty="0" err="1">
                <a:solidFill>
                  <a:srgbClr val="0070C0"/>
                </a:solidFill>
              </a:rPr>
              <a:t>i</a:t>
            </a:r>
            <a:r>
              <a:rPr lang="en-US" altLang="zh-TW" b="1" baseline="-25000" dirty="0">
                <a:solidFill>
                  <a:srgbClr val="0070C0"/>
                </a:solidFill>
              </a:rPr>
              <a:t>)(</a:t>
            </a:r>
            <a:r>
              <a:rPr lang="en-US" altLang="zh-TW" b="1" i="1" baseline="-25000" dirty="0">
                <a:solidFill>
                  <a:srgbClr val="0070C0"/>
                </a:solidFill>
              </a:rPr>
              <a:t>t</a:t>
            </a:r>
            <a:r>
              <a:rPr lang="en-US" altLang="zh-TW" b="1" baseline="-25000" dirty="0">
                <a:solidFill>
                  <a:srgbClr val="0070C0"/>
                </a:solidFill>
              </a:rPr>
              <a:t>)</a:t>
            </a:r>
            <a:r>
              <a:rPr lang="en-US" altLang="zh-TW" b="1" dirty="0">
                <a:solidFill>
                  <a:srgbClr val="0070C0"/>
                </a:solidFill>
              </a:rPr>
              <a:t> </a:t>
            </a:r>
            <a:r>
              <a:rPr lang="en-US" altLang="zh-TW" dirty="0"/>
              <a:t>of the occurrence vector </a:t>
            </a:r>
            <a:r>
              <a:rPr lang="en-US" altLang="zh-TW" i="1" dirty="0"/>
              <a:t>V</a:t>
            </a:r>
            <a:r>
              <a:rPr lang="en-US" altLang="zh-TW" baseline="-25000" dirty="0"/>
              <a:t>S(</a:t>
            </a:r>
            <a:r>
              <a:rPr lang="en-US" altLang="zh-TW" i="1" baseline="-25000" dirty="0" err="1"/>
              <a:t>i</a:t>
            </a:r>
            <a:r>
              <a:rPr lang="en-US" altLang="zh-TW" baseline="-25000" dirty="0"/>
              <a:t>)</a:t>
            </a:r>
            <a:r>
              <a:rPr lang="en-US" altLang="zh-TW" dirty="0"/>
              <a:t>(</a:t>
            </a:r>
            <a:r>
              <a:rPr lang="en-US" altLang="zh-TW" i="1" dirty="0"/>
              <a:t>t</a:t>
            </a:r>
            <a:r>
              <a:rPr lang="en-US" altLang="zh-TW" dirty="0"/>
              <a:t>) of the </a:t>
            </a:r>
            <a:r>
              <a:rPr lang="en-US" altLang="zh-TW" i="1" dirty="0" err="1"/>
              <a:t>i</a:t>
            </a:r>
            <a:r>
              <a:rPr lang="en-US" altLang="zh-TW" dirty="0" err="1"/>
              <a:t>th</a:t>
            </a:r>
            <a:r>
              <a:rPr lang="en-US" altLang="zh-TW" dirty="0"/>
              <a:t> elementary secondary factor on trading day </a:t>
            </a:r>
            <a:r>
              <a:rPr lang="en-US" altLang="zh-TW" i="1" dirty="0"/>
              <a:t>t</a:t>
            </a:r>
            <a:r>
              <a:rPr lang="en-US" altLang="zh-TW" dirty="0"/>
              <a:t>, respectively.   </a:t>
            </a:r>
            <a:r>
              <a:rPr lang="en-US" altLang="zh-TW" sz="2300" dirty="0"/>
              <a:t>(</a:t>
            </a:r>
            <a:r>
              <a:rPr lang="zh-TW" altLang="en-US" sz="2300" dirty="0"/>
              <a:t>只採納正相關的</a:t>
            </a:r>
            <a:r>
              <a:rPr lang="en-US" altLang="zh-TW" sz="2300" dirty="0"/>
              <a:t>elementary secondary factor)</a:t>
            </a:r>
            <a:endParaRPr lang="zh-TW" altLang="en-US" sz="2300" dirty="0"/>
          </a:p>
        </p:txBody>
      </p:sp>
      <p:sp>
        <p:nvSpPr>
          <p:cNvPr id="6" name="文字方塊 5">
            <a:extLst>
              <a:ext uri="{FF2B5EF4-FFF2-40B4-BE49-F238E27FC236}">
                <a16:creationId xmlns:a16="http://schemas.microsoft.com/office/drawing/2014/main" xmlns="" id="{62A0FA03-9F3E-4EC9-9D7B-125B4201FA46}"/>
              </a:ext>
            </a:extLst>
          </p:cNvPr>
          <p:cNvSpPr txBox="1"/>
          <p:nvPr/>
        </p:nvSpPr>
        <p:spPr>
          <a:xfrm>
            <a:off x="546652" y="5146547"/>
            <a:ext cx="6676747" cy="1015663"/>
          </a:xfrm>
          <a:prstGeom prst="rect">
            <a:avLst/>
          </a:prstGeom>
          <a:noFill/>
        </p:spPr>
        <p:txBody>
          <a:bodyPr wrap="square" rtlCol="0">
            <a:spAutoFit/>
          </a:bodyPr>
          <a:lstStyle/>
          <a:p>
            <a:pPr algn="just"/>
            <a:r>
              <a:rPr lang="en-US" altLang="zh-TW" sz="2000" dirty="0">
                <a:solidFill>
                  <a:schemeClr val="tx1">
                    <a:lumMod val="85000"/>
                    <a:lumOff val="15000"/>
                  </a:schemeClr>
                </a:solidFill>
              </a:rPr>
              <a:t>where </a:t>
            </a:r>
            <a:r>
              <a:rPr lang="en-US" altLang="zh-TW" sz="2000" i="1" dirty="0">
                <a:solidFill>
                  <a:schemeClr val="tx1">
                    <a:lumMod val="85000"/>
                    <a:lumOff val="15000"/>
                  </a:schemeClr>
                </a:solidFill>
              </a:rPr>
              <a:t>n </a:t>
            </a:r>
            <a:r>
              <a:rPr lang="en-US" altLang="zh-TW" sz="2000" dirty="0">
                <a:solidFill>
                  <a:schemeClr val="tx1">
                    <a:lumMod val="85000"/>
                    <a:lumOff val="15000"/>
                  </a:schemeClr>
                </a:solidFill>
              </a:rPr>
              <a:t>denotes the number of elementary secondary factors, </a:t>
            </a:r>
            <a:r>
              <a:rPr lang="en-US" altLang="zh-TW" sz="2000" i="1" dirty="0" err="1">
                <a:solidFill>
                  <a:schemeClr val="tx1">
                    <a:lumMod val="85000"/>
                    <a:lumOff val="15000"/>
                  </a:schemeClr>
                </a:solidFill>
              </a:rPr>
              <a:t>r</a:t>
            </a:r>
            <a:r>
              <a:rPr lang="en-US" altLang="zh-TW" sz="2000" i="1" baseline="-25000" dirty="0" err="1">
                <a:solidFill>
                  <a:schemeClr val="tx1">
                    <a:lumMod val="85000"/>
                    <a:lumOff val="15000"/>
                  </a:schemeClr>
                </a:solidFill>
              </a:rPr>
              <a:t>i</a:t>
            </a:r>
            <a:r>
              <a:rPr lang="en-US" altLang="zh-TW" sz="2000" i="1" dirty="0">
                <a:solidFill>
                  <a:schemeClr val="tx1">
                    <a:lumMod val="85000"/>
                    <a:lumOff val="15000"/>
                  </a:schemeClr>
                </a:solidFill>
              </a:rPr>
              <a:t> </a:t>
            </a:r>
            <a:r>
              <a:rPr lang="en-US" altLang="zh-TW" sz="2000" dirty="0">
                <a:solidFill>
                  <a:schemeClr val="tx1">
                    <a:lumMod val="85000"/>
                    <a:lumOff val="15000"/>
                  </a:schemeClr>
                </a:solidFill>
              </a:rPr>
              <a:t>denotes the correlation coefficient between the numerical data series </a:t>
            </a:r>
            <a:r>
              <a:rPr lang="en-US" altLang="zh-TW" sz="2000" i="1" dirty="0">
                <a:solidFill>
                  <a:schemeClr val="tx1">
                    <a:lumMod val="85000"/>
                    <a:lumOff val="15000"/>
                  </a:schemeClr>
                </a:solidFill>
              </a:rPr>
              <a:t>TV </a:t>
            </a:r>
            <a:r>
              <a:rPr lang="en-US" altLang="zh-TW" sz="2000" dirty="0">
                <a:solidFill>
                  <a:schemeClr val="tx1">
                    <a:lumMod val="85000"/>
                    <a:lumOff val="15000"/>
                  </a:schemeClr>
                </a:solidFill>
              </a:rPr>
              <a:t>M(</a:t>
            </a:r>
            <a:r>
              <a:rPr lang="en-US" altLang="zh-TW" sz="2000" i="1" dirty="0">
                <a:solidFill>
                  <a:schemeClr val="tx1">
                    <a:lumMod val="85000"/>
                    <a:lumOff val="15000"/>
                  </a:schemeClr>
                </a:solidFill>
              </a:rPr>
              <a:t>t</a:t>
            </a:r>
            <a:r>
              <a:rPr lang="en-US" altLang="zh-TW" sz="2000" dirty="0">
                <a:solidFill>
                  <a:schemeClr val="tx1">
                    <a:lumMod val="85000"/>
                    <a:lumOff val="15000"/>
                  </a:schemeClr>
                </a:solidFill>
              </a:rPr>
              <a:t>) and the numerical data series </a:t>
            </a:r>
            <a:r>
              <a:rPr lang="en-US" altLang="zh-TW" sz="2000" i="1" dirty="0">
                <a:solidFill>
                  <a:schemeClr val="tx1">
                    <a:lumMod val="85000"/>
                    <a:lumOff val="15000"/>
                  </a:schemeClr>
                </a:solidFill>
              </a:rPr>
              <a:t>TV </a:t>
            </a:r>
            <a:r>
              <a:rPr lang="en-US" altLang="zh-TW" sz="2000" dirty="0">
                <a:solidFill>
                  <a:schemeClr val="tx1">
                    <a:lumMod val="85000"/>
                    <a:lumOff val="15000"/>
                  </a:schemeClr>
                </a:solidFill>
              </a:rPr>
              <a:t>S(</a:t>
            </a:r>
            <a:r>
              <a:rPr lang="en-US" altLang="zh-TW" sz="2000" i="1" dirty="0" err="1">
                <a:solidFill>
                  <a:schemeClr val="tx1">
                    <a:lumMod val="85000"/>
                    <a:lumOff val="15000"/>
                  </a:schemeClr>
                </a:solidFill>
              </a:rPr>
              <a:t>i</a:t>
            </a:r>
            <a:r>
              <a:rPr lang="en-US" altLang="zh-TW" sz="2000" dirty="0">
                <a:solidFill>
                  <a:schemeClr val="tx1">
                    <a:lumMod val="85000"/>
                    <a:lumOff val="15000"/>
                  </a:schemeClr>
                </a:solidFill>
              </a:rPr>
              <a:t>)(</a:t>
            </a:r>
            <a:r>
              <a:rPr lang="en-US" altLang="zh-TW" sz="2000" i="1" dirty="0">
                <a:solidFill>
                  <a:schemeClr val="tx1">
                    <a:lumMod val="85000"/>
                    <a:lumOff val="15000"/>
                  </a:schemeClr>
                </a:solidFill>
              </a:rPr>
              <a:t>t</a:t>
            </a:r>
            <a:r>
              <a:rPr lang="en-US" altLang="zh-TW" sz="2000" dirty="0">
                <a:solidFill>
                  <a:schemeClr val="tx1">
                    <a:lumMod val="85000"/>
                    <a:lumOff val="15000"/>
                  </a:schemeClr>
                </a:solidFill>
              </a:rPr>
              <a:t>).</a:t>
            </a:r>
            <a:endParaRPr lang="zh-TW" altLang="en-US" sz="2000" dirty="0">
              <a:solidFill>
                <a:schemeClr val="tx1">
                  <a:lumMod val="85000"/>
                  <a:lumOff val="15000"/>
                </a:schemeClr>
              </a:solidFill>
            </a:endParaRPr>
          </a:p>
        </p:txBody>
      </p:sp>
      <p:grpSp>
        <p:nvGrpSpPr>
          <p:cNvPr id="9" name="群組 8">
            <a:extLst>
              <a:ext uri="{FF2B5EF4-FFF2-40B4-BE49-F238E27FC236}">
                <a16:creationId xmlns:a16="http://schemas.microsoft.com/office/drawing/2014/main" xmlns="" id="{D725CEFE-0AC0-4D03-A51E-FAA4EF9BA884}"/>
              </a:ext>
            </a:extLst>
          </p:cNvPr>
          <p:cNvGrpSpPr/>
          <p:nvPr/>
        </p:nvGrpSpPr>
        <p:grpSpPr>
          <a:xfrm>
            <a:off x="838200" y="2618620"/>
            <a:ext cx="8677938" cy="1965683"/>
            <a:chOff x="838200" y="3522388"/>
            <a:chExt cx="8677938" cy="1965683"/>
          </a:xfrm>
        </p:grpSpPr>
        <p:pic>
          <p:nvPicPr>
            <p:cNvPr id="5" name="圖片 4">
              <a:extLst>
                <a:ext uri="{FF2B5EF4-FFF2-40B4-BE49-F238E27FC236}">
                  <a16:creationId xmlns:a16="http://schemas.microsoft.com/office/drawing/2014/main" xmlns="" id="{49740665-75A2-4951-B126-50ED9A8BF2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522388"/>
              <a:ext cx="5520070" cy="1965683"/>
            </a:xfrm>
            <a:prstGeom prst="rect">
              <a:avLst/>
            </a:prstGeom>
          </p:spPr>
        </p:pic>
        <mc:AlternateContent xmlns:mc="http://schemas.openxmlformats.org/markup-compatibility/2006" xmlns:a14="http://schemas.microsoft.com/office/drawing/2010/main">
          <mc:Choice Requires="a14">
            <p:sp>
              <p:nvSpPr>
                <p:cNvPr id="7" name="文字方塊 6">
                  <a:extLst>
                    <a:ext uri="{FF2B5EF4-FFF2-40B4-BE49-F238E27FC236}">
                      <a16:creationId xmlns:a16="http://schemas.microsoft.com/office/drawing/2014/main" xmlns="" id="{CA4E9163-7CFE-4521-82CA-934983DAB263}"/>
                    </a:ext>
                  </a:extLst>
                </p:cNvPr>
                <p:cNvSpPr txBox="1"/>
                <p:nvPr/>
              </p:nvSpPr>
              <p:spPr>
                <a:xfrm>
                  <a:off x="6021571" y="3796687"/>
                  <a:ext cx="3494567" cy="63701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300" b="0" i="1" smtClean="0">
                            <a:solidFill>
                              <a:srgbClr val="FF0000"/>
                            </a:solidFill>
                            <a:latin typeface="Cambria Math" panose="02040503050406030204" pitchFamily="18" charset="0"/>
                          </a:rPr>
                          <m:t>= </m:t>
                        </m:r>
                        <m:box>
                          <m:boxPr>
                            <m:ctrlPr>
                              <a:rPr lang="zh-TW" altLang="en-US" sz="2300" i="1" smtClean="0">
                                <a:solidFill>
                                  <a:srgbClr val="FF0000"/>
                                </a:solidFill>
                                <a:latin typeface="Cambria Math" panose="02040503050406030204" pitchFamily="18" charset="0"/>
                              </a:rPr>
                            </m:ctrlPr>
                          </m:boxPr>
                          <m:e>
                            <m:argPr>
                              <m:argSz m:val="-1"/>
                            </m:argPr>
                            <m:f>
                              <m:fPr>
                                <m:ctrlPr>
                                  <a:rPr lang="en-US" altLang="zh-TW" sz="2300" i="1" smtClean="0">
                                    <a:solidFill>
                                      <a:srgbClr val="FF0000"/>
                                    </a:solidFill>
                                    <a:latin typeface="Cambria Math" panose="02040503050406030204" pitchFamily="18" charset="0"/>
                                  </a:rPr>
                                </m:ctrlPr>
                              </m:fPr>
                              <m:num>
                                <m:r>
                                  <a:rPr lang="en-US" altLang="zh-TW" sz="2300" b="0" i="1" smtClean="0">
                                    <a:solidFill>
                                      <a:srgbClr val="FF0000"/>
                                    </a:solidFill>
                                    <a:latin typeface="Cambria Math" panose="02040503050406030204" pitchFamily="18" charset="0"/>
                                  </a:rPr>
                                  <m:t>1</m:t>
                                </m:r>
                              </m:num>
                              <m:den>
                                <m:r>
                                  <a:rPr lang="en-US" altLang="zh-TW" sz="2300" i="1">
                                    <a:solidFill>
                                      <a:srgbClr val="FF0000"/>
                                    </a:solidFill>
                                    <a:latin typeface="Cambria Math" panose="02040503050406030204" pitchFamily="18" charset="0"/>
                                  </a:rPr>
                                  <m:t>1</m:t>
                                </m:r>
                                <m:r>
                                  <a:rPr lang="en-US" altLang="zh-TW" sz="2300" i="1" smtClean="0">
                                    <a:solidFill>
                                      <a:srgbClr val="FF0000"/>
                                    </a:solidFill>
                                    <a:latin typeface="Cambria Math" panose="02040503050406030204" pitchFamily="18" charset="0"/>
                                  </a:rPr>
                                  <m:t>+</m:t>
                                </m:r>
                                <m:r>
                                  <a:rPr lang="zh-TW" altLang="en-US" sz="2300" i="1">
                                    <a:solidFill>
                                      <a:srgbClr val="FF0000"/>
                                    </a:solidFill>
                                    <a:latin typeface="Cambria Math" panose="02040503050406030204" pitchFamily="18" charset="0"/>
                                  </a:rPr>
                                  <m:t>全部相關係數加總</m:t>
                                </m:r>
                              </m:den>
                            </m:f>
                          </m:e>
                        </m:box>
                      </m:oMath>
                    </m:oMathPara>
                  </a14:m>
                  <a:endParaRPr lang="zh-TW" altLang="en-US" sz="2300" dirty="0">
                    <a:solidFill>
                      <a:srgbClr val="FF0000"/>
                    </a:solidFill>
                  </a:endParaRPr>
                </a:p>
              </p:txBody>
            </p:sp>
          </mc:Choice>
          <mc:Fallback xmlns="">
            <p:sp>
              <p:nvSpPr>
                <p:cNvPr id="7" name="文字方塊 6">
                  <a:extLst>
                    <a:ext uri="{FF2B5EF4-FFF2-40B4-BE49-F238E27FC236}">
                      <a16:creationId xmlns:a16="http://schemas.microsoft.com/office/drawing/2014/main" id="{CA4E9163-7CFE-4521-82CA-934983DAB263}"/>
                    </a:ext>
                  </a:extLst>
                </p:cNvPr>
                <p:cNvSpPr txBox="1">
                  <a:spLocks noRot="1" noChangeAspect="1" noMove="1" noResize="1" noEditPoints="1" noAdjustHandles="1" noChangeArrowheads="1" noChangeShapeType="1" noTextEdit="1"/>
                </p:cNvSpPr>
                <p:nvPr/>
              </p:nvSpPr>
              <p:spPr>
                <a:xfrm>
                  <a:off x="6021571" y="3796687"/>
                  <a:ext cx="3494567" cy="637017"/>
                </a:xfrm>
                <a:prstGeom prst="rect">
                  <a:avLst/>
                </a:prstGeom>
                <a:blipFill>
                  <a:blip r:embed="rId3"/>
                  <a:stretch>
                    <a:fillRect b="-12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a:extLst>
                    <a:ext uri="{FF2B5EF4-FFF2-40B4-BE49-F238E27FC236}">
                      <a16:creationId xmlns:a16="http://schemas.microsoft.com/office/drawing/2014/main" xmlns="" id="{0928337A-80C7-40C4-A4B5-045F69C0C35F}"/>
                    </a:ext>
                  </a:extLst>
                </p:cNvPr>
                <p:cNvSpPr txBox="1"/>
                <p:nvPr/>
              </p:nvSpPr>
              <p:spPr>
                <a:xfrm>
                  <a:off x="6133212" y="4642290"/>
                  <a:ext cx="3271284" cy="6078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sz="2300" b="0" i="1" smtClean="0">
                            <a:solidFill>
                              <a:srgbClr val="FF0000"/>
                            </a:solidFill>
                            <a:latin typeface="Cambria Math" panose="02040503050406030204" pitchFamily="18" charset="0"/>
                          </a:rPr>
                          <m:t>= </m:t>
                        </m:r>
                        <m:box>
                          <m:boxPr>
                            <m:ctrlPr>
                              <a:rPr lang="zh-TW" altLang="en-US" sz="2300" i="1" smtClean="0">
                                <a:solidFill>
                                  <a:srgbClr val="FF0000"/>
                                </a:solidFill>
                                <a:latin typeface="Cambria Math" panose="02040503050406030204" pitchFamily="18" charset="0"/>
                              </a:rPr>
                            </m:ctrlPr>
                          </m:boxPr>
                          <m:e>
                            <m:argPr>
                              <m:argSz m:val="-1"/>
                            </m:argPr>
                            <m:f>
                              <m:fPr>
                                <m:ctrlPr>
                                  <a:rPr lang="en-US" altLang="zh-TW" sz="2300" i="1" smtClean="0">
                                    <a:solidFill>
                                      <a:srgbClr val="FF0000"/>
                                    </a:solidFill>
                                    <a:latin typeface="Cambria Math" panose="02040503050406030204" pitchFamily="18" charset="0"/>
                                  </a:rPr>
                                </m:ctrlPr>
                              </m:fPr>
                              <m:num>
                                <m:r>
                                  <a:rPr lang="en-US" altLang="zh-TW" sz="2300" b="0" i="1" smtClean="0">
                                    <a:solidFill>
                                      <a:srgbClr val="FF0000"/>
                                    </a:solidFill>
                                    <a:latin typeface="Cambria Math" panose="02040503050406030204" pitchFamily="18" charset="0"/>
                                  </a:rPr>
                                  <m:t>𝑟</m:t>
                                </m:r>
                                <m:r>
                                  <a:rPr lang="en-US" altLang="zh-TW" sz="2300" b="0" i="1" baseline="-25000" smtClean="0">
                                    <a:solidFill>
                                      <a:srgbClr val="FF0000"/>
                                    </a:solidFill>
                                    <a:latin typeface="Cambria Math" panose="02040503050406030204" pitchFamily="18" charset="0"/>
                                  </a:rPr>
                                  <m:t>𝑖</m:t>
                                </m:r>
                              </m:num>
                              <m:den>
                                <m:r>
                                  <a:rPr lang="en-US" altLang="zh-TW" sz="2300" i="1">
                                    <a:solidFill>
                                      <a:srgbClr val="FF0000"/>
                                    </a:solidFill>
                                    <a:latin typeface="Cambria Math" panose="02040503050406030204" pitchFamily="18" charset="0"/>
                                  </a:rPr>
                                  <m:t>1</m:t>
                                </m:r>
                                <m:r>
                                  <a:rPr lang="en-US" altLang="zh-TW" sz="2300" i="1" smtClean="0">
                                    <a:solidFill>
                                      <a:srgbClr val="FF0000"/>
                                    </a:solidFill>
                                    <a:latin typeface="Cambria Math" panose="02040503050406030204" pitchFamily="18" charset="0"/>
                                  </a:rPr>
                                  <m:t>+</m:t>
                                </m:r>
                                <m:r>
                                  <a:rPr lang="zh-TW" altLang="en-US" sz="2300" i="1">
                                    <a:solidFill>
                                      <a:srgbClr val="FF0000"/>
                                    </a:solidFill>
                                    <a:latin typeface="Cambria Math" panose="02040503050406030204" pitchFamily="18" charset="0"/>
                                  </a:rPr>
                                  <m:t>全部相關係數加總</m:t>
                                </m:r>
                              </m:den>
                            </m:f>
                          </m:e>
                        </m:box>
                      </m:oMath>
                    </m:oMathPara>
                  </a14:m>
                  <a:endParaRPr lang="zh-TW" altLang="en-US" sz="2300" dirty="0">
                    <a:solidFill>
                      <a:srgbClr val="FF0000"/>
                    </a:solidFill>
                  </a:endParaRPr>
                </a:p>
              </p:txBody>
            </p:sp>
          </mc:Choice>
          <mc:Fallback xmlns="">
            <p:sp>
              <p:nvSpPr>
                <p:cNvPr id="8" name="文字方塊 7">
                  <a:extLst>
                    <a:ext uri="{FF2B5EF4-FFF2-40B4-BE49-F238E27FC236}">
                      <a16:creationId xmlns:a16="http://schemas.microsoft.com/office/drawing/2014/main" id="{0928337A-80C7-40C4-A4B5-045F69C0C35F}"/>
                    </a:ext>
                  </a:extLst>
                </p:cNvPr>
                <p:cNvSpPr txBox="1">
                  <a:spLocks noRot="1" noChangeAspect="1" noMove="1" noResize="1" noEditPoints="1" noAdjustHandles="1" noChangeArrowheads="1" noChangeShapeType="1" noTextEdit="1"/>
                </p:cNvSpPr>
                <p:nvPr/>
              </p:nvSpPr>
              <p:spPr>
                <a:xfrm>
                  <a:off x="6133212" y="4642290"/>
                  <a:ext cx="3271284" cy="607883"/>
                </a:xfrm>
                <a:prstGeom prst="rect">
                  <a:avLst/>
                </a:prstGeom>
                <a:blipFill>
                  <a:blip r:embed="rId4"/>
                  <a:stretch>
                    <a:fillRect b="-15000"/>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5268987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EB5BE16B-51F0-40DE-9FDC-944E9DE3DAB4}"/>
              </a:ext>
            </a:extLst>
          </p:cNvPr>
          <p:cNvSpPr>
            <a:spLocks noGrp="1"/>
          </p:cNvSpPr>
          <p:nvPr>
            <p:ph idx="1"/>
          </p:nvPr>
        </p:nvSpPr>
        <p:spPr>
          <a:xfrm>
            <a:off x="722896" y="489209"/>
            <a:ext cx="10515600" cy="4351338"/>
          </a:xfrm>
        </p:spPr>
        <p:txBody>
          <a:bodyPr/>
          <a:lstStyle/>
          <a:p>
            <a:r>
              <a:rPr lang="en-US" altLang="zh-TW" dirty="0"/>
              <a:t>Step 8: Generate the </a:t>
            </a:r>
            <a:r>
              <a:rPr lang="en-US" altLang="zh-TW" b="1" dirty="0">
                <a:solidFill>
                  <a:srgbClr val="0070C0"/>
                </a:solidFill>
              </a:rPr>
              <a:t>final forecasted variation of the main factor </a:t>
            </a:r>
            <a:r>
              <a:rPr lang="en-US" altLang="zh-TW" dirty="0"/>
              <a:t>on training day </a:t>
            </a:r>
            <a:r>
              <a:rPr lang="en-US" altLang="zh-TW" i="1" dirty="0"/>
              <a:t>t</a:t>
            </a:r>
            <a:r>
              <a:rPr lang="en-US" altLang="zh-TW" dirty="0"/>
              <a:t>.</a:t>
            </a:r>
            <a:endParaRPr lang="zh-TW" altLang="en-US" dirty="0"/>
          </a:p>
        </p:txBody>
      </p:sp>
      <p:pic>
        <p:nvPicPr>
          <p:cNvPr id="5" name="圖片 4">
            <a:extLst>
              <a:ext uri="{FF2B5EF4-FFF2-40B4-BE49-F238E27FC236}">
                <a16:creationId xmlns:a16="http://schemas.microsoft.com/office/drawing/2014/main" xmlns="" id="{59A4BA3E-2C9E-4726-9B33-402862969E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459" y="3008815"/>
            <a:ext cx="5003183" cy="3327840"/>
          </a:xfrm>
          <a:prstGeom prst="rect">
            <a:avLst/>
          </a:prstGeom>
        </p:spPr>
      </p:pic>
      <p:pic>
        <p:nvPicPr>
          <p:cNvPr id="7" name="圖片 6">
            <a:extLst>
              <a:ext uri="{FF2B5EF4-FFF2-40B4-BE49-F238E27FC236}">
                <a16:creationId xmlns:a16="http://schemas.microsoft.com/office/drawing/2014/main" xmlns="" id="{4993285E-297E-45AF-9CB5-4A22B109B3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5976" y="1580191"/>
            <a:ext cx="5053083" cy="4518837"/>
          </a:xfrm>
          <a:prstGeom prst="rect">
            <a:avLst/>
          </a:prstGeom>
        </p:spPr>
      </p:pic>
      <p:pic>
        <p:nvPicPr>
          <p:cNvPr id="8" name="圖片 7" descr="一張含有 天空 的圖片&#10;&#10;描述是以高可信度產生">
            <a:extLst>
              <a:ext uri="{FF2B5EF4-FFF2-40B4-BE49-F238E27FC236}">
                <a16:creationId xmlns:a16="http://schemas.microsoft.com/office/drawing/2014/main" xmlns="" id="{63D78243-F500-4ABC-9E91-6999852803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3459" y="1385624"/>
            <a:ext cx="3404115" cy="1279254"/>
          </a:xfrm>
          <a:prstGeom prst="rect">
            <a:avLst/>
          </a:prstGeom>
        </p:spPr>
      </p:pic>
    </p:spTree>
    <p:extLst>
      <p:ext uri="{BB962C8B-B14F-4D97-AF65-F5344CB8AC3E}">
        <p14:creationId xmlns:p14="http://schemas.microsoft.com/office/powerpoint/2010/main" val="26270744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xmlns="" id="{B2F20968-5895-46BE-B16E-28BEB6803C74}"/>
              </a:ext>
            </a:extLst>
          </p:cNvPr>
          <p:cNvSpPr>
            <a:spLocks noGrp="1"/>
          </p:cNvSpPr>
          <p:nvPr>
            <p:ph idx="1"/>
          </p:nvPr>
        </p:nvSpPr>
        <p:spPr>
          <a:xfrm>
            <a:off x="172779" y="166944"/>
            <a:ext cx="11229753" cy="5893613"/>
          </a:xfrm>
        </p:spPr>
        <p:txBody>
          <a:bodyPr/>
          <a:lstStyle/>
          <a:p>
            <a:r>
              <a:rPr lang="en-US" altLang="zh-TW" dirty="0"/>
              <a:t>Example</a:t>
            </a:r>
            <a:endParaRPr lang="zh-TW" altLang="en-US" dirty="0"/>
          </a:p>
        </p:txBody>
      </p:sp>
      <p:pic>
        <p:nvPicPr>
          <p:cNvPr id="5" name="圖片 4">
            <a:extLst>
              <a:ext uri="{FF2B5EF4-FFF2-40B4-BE49-F238E27FC236}">
                <a16:creationId xmlns:a16="http://schemas.microsoft.com/office/drawing/2014/main" xmlns="" id="{18B73370-737D-4692-9912-C127CCF9CF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1903" y="1380221"/>
            <a:ext cx="4861670" cy="707152"/>
          </a:xfrm>
          <a:prstGeom prst="rect">
            <a:avLst/>
          </a:prstGeom>
        </p:spPr>
      </p:pic>
      <p:pic>
        <p:nvPicPr>
          <p:cNvPr id="7" name="圖片 6">
            <a:extLst>
              <a:ext uri="{FF2B5EF4-FFF2-40B4-BE49-F238E27FC236}">
                <a16:creationId xmlns:a16="http://schemas.microsoft.com/office/drawing/2014/main" xmlns="" id="{E70DC37B-6F1C-4AA6-AFB4-E85B8D8A3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415" y="1997644"/>
            <a:ext cx="4557736" cy="4732765"/>
          </a:xfrm>
          <a:prstGeom prst="rect">
            <a:avLst/>
          </a:prstGeom>
        </p:spPr>
      </p:pic>
      <p:pic>
        <p:nvPicPr>
          <p:cNvPr id="9" name="圖片 8">
            <a:extLst>
              <a:ext uri="{FF2B5EF4-FFF2-40B4-BE49-F238E27FC236}">
                <a16:creationId xmlns:a16="http://schemas.microsoft.com/office/drawing/2014/main" xmlns="" id="{250AC3D7-E138-47D3-AF35-D1DB88C879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2697" y="166944"/>
            <a:ext cx="5350816" cy="6510303"/>
          </a:xfrm>
          <a:prstGeom prst="rect">
            <a:avLst/>
          </a:prstGeom>
        </p:spPr>
      </p:pic>
      <p:pic>
        <p:nvPicPr>
          <p:cNvPr id="10" name="圖片 9">
            <a:extLst>
              <a:ext uri="{FF2B5EF4-FFF2-40B4-BE49-F238E27FC236}">
                <a16:creationId xmlns:a16="http://schemas.microsoft.com/office/drawing/2014/main" xmlns="" id="{83A8847F-6786-4129-A922-8893F8EA02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1903" y="663715"/>
            <a:ext cx="4462593" cy="678644"/>
          </a:xfrm>
          <a:prstGeom prst="rect">
            <a:avLst/>
          </a:prstGeom>
        </p:spPr>
      </p:pic>
      <p:cxnSp>
        <p:nvCxnSpPr>
          <p:cNvPr id="12" name="直線接點 11">
            <a:extLst>
              <a:ext uri="{FF2B5EF4-FFF2-40B4-BE49-F238E27FC236}">
                <a16:creationId xmlns:a16="http://schemas.microsoft.com/office/drawing/2014/main" xmlns="" id="{734B1756-69A4-446D-A092-4D09592055AD}"/>
              </a:ext>
            </a:extLst>
          </p:cNvPr>
          <p:cNvCxnSpPr/>
          <p:nvPr/>
        </p:nvCxnSpPr>
        <p:spPr>
          <a:xfrm>
            <a:off x="2615609" y="3732028"/>
            <a:ext cx="489098"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xmlns="" id="{045AA474-D889-4C2A-ABF7-D34B39B3ED91}"/>
              </a:ext>
            </a:extLst>
          </p:cNvPr>
          <p:cNvCxnSpPr>
            <a:cxnSpLocks/>
          </p:cNvCxnSpPr>
          <p:nvPr/>
        </p:nvCxnSpPr>
        <p:spPr>
          <a:xfrm>
            <a:off x="8201246" y="3512289"/>
            <a:ext cx="634410"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7734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xmlns="" id="{E42A076E-F7D2-41C9-BFE9-A40975702E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5062" y="2826732"/>
            <a:ext cx="7506748" cy="1562318"/>
          </a:xfrm>
        </p:spPr>
      </p:pic>
      <p:sp>
        <p:nvSpPr>
          <p:cNvPr id="6" name="文字方塊 5">
            <a:extLst>
              <a:ext uri="{FF2B5EF4-FFF2-40B4-BE49-F238E27FC236}">
                <a16:creationId xmlns:a16="http://schemas.microsoft.com/office/drawing/2014/main" xmlns="" id="{F79479BC-1ECF-4930-9C3A-D23BA1DFA1BF}"/>
              </a:ext>
            </a:extLst>
          </p:cNvPr>
          <p:cNvSpPr txBox="1"/>
          <p:nvPr/>
        </p:nvSpPr>
        <p:spPr>
          <a:xfrm>
            <a:off x="531628" y="1828800"/>
            <a:ext cx="10855842" cy="446276"/>
          </a:xfrm>
          <a:prstGeom prst="rect">
            <a:avLst/>
          </a:prstGeom>
          <a:noFill/>
        </p:spPr>
        <p:txBody>
          <a:bodyPr wrap="square" rtlCol="0">
            <a:spAutoFit/>
          </a:bodyPr>
          <a:lstStyle/>
          <a:p>
            <a:r>
              <a:rPr lang="en-US" altLang="zh-TW" sz="2300" dirty="0"/>
              <a:t>Then, Calculate the </a:t>
            </a:r>
            <a:r>
              <a:rPr lang="en-US" altLang="zh-TW" sz="2300" b="1" dirty="0">
                <a:solidFill>
                  <a:srgbClr val="0070C0"/>
                </a:solidFill>
              </a:rPr>
              <a:t>final forecasted variation </a:t>
            </a:r>
            <a:r>
              <a:rPr lang="en-US" altLang="zh-TW" sz="2300" i="1" dirty="0" err="1"/>
              <a:t>FVar</a:t>
            </a:r>
            <a:r>
              <a:rPr lang="en-US" altLang="zh-TW" sz="2300" baseline="-25000" dirty="0" err="1"/>
              <a:t>F</a:t>
            </a:r>
            <a:r>
              <a:rPr lang="en-US" altLang="zh-TW" sz="2300" dirty="0"/>
              <a:t>(</a:t>
            </a:r>
            <a:r>
              <a:rPr lang="en-US" altLang="zh-TW" sz="2300" i="1" dirty="0"/>
              <a:t>t</a:t>
            </a:r>
            <a:r>
              <a:rPr lang="en-US" altLang="zh-TW" sz="2300" dirty="0"/>
              <a:t>) of the main factor on trading day </a:t>
            </a:r>
            <a:r>
              <a:rPr lang="en-US" altLang="zh-TW" sz="2300" i="1" dirty="0"/>
              <a:t>t.</a:t>
            </a:r>
            <a:endParaRPr lang="zh-TW" altLang="en-US" sz="2300" dirty="0"/>
          </a:p>
        </p:txBody>
      </p:sp>
    </p:spTree>
    <p:extLst>
      <p:ext uri="{BB962C8B-B14F-4D97-AF65-F5344CB8AC3E}">
        <p14:creationId xmlns:p14="http://schemas.microsoft.com/office/powerpoint/2010/main" val="9288043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A8F034C-B8A2-4878-A5F2-82C0C0273B01}"/>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xmlns="" id="{A7BB244A-C214-4DA7-8880-EC3B582FCE2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3228" b="-1"/>
          <a:stretch/>
        </p:blipFill>
        <p:spPr>
          <a:xfrm>
            <a:off x="1890824" y="2690037"/>
            <a:ext cx="6765764" cy="2200940"/>
          </a:xfrm>
        </p:spPr>
      </p:pic>
      <p:sp>
        <p:nvSpPr>
          <p:cNvPr id="6" name="文字方塊 5">
            <a:extLst>
              <a:ext uri="{FF2B5EF4-FFF2-40B4-BE49-F238E27FC236}">
                <a16:creationId xmlns:a16="http://schemas.microsoft.com/office/drawing/2014/main" xmlns="" id="{40725407-19B3-4F15-BFC8-B60D67CFD1E8}"/>
              </a:ext>
            </a:extLst>
          </p:cNvPr>
          <p:cNvSpPr txBox="1"/>
          <p:nvPr/>
        </p:nvSpPr>
        <p:spPr>
          <a:xfrm>
            <a:off x="641498" y="4521645"/>
            <a:ext cx="2048539" cy="369332"/>
          </a:xfrm>
          <a:prstGeom prst="rect">
            <a:avLst/>
          </a:prstGeom>
          <a:noFill/>
        </p:spPr>
        <p:txBody>
          <a:bodyPr wrap="square" rtlCol="0">
            <a:spAutoFit/>
          </a:bodyPr>
          <a:lstStyle/>
          <a:p>
            <a:r>
              <a:rPr lang="zh-TW" altLang="en-US" dirty="0">
                <a:solidFill>
                  <a:srgbClr val="FF0000"/>
                </a:solidFill>
                <a:latin typeface="標楷體" panose="03000509000000000000" pitchFamily="65" charset="-120"/>
                <a:ea typeface="標楷體" panose="03000509000000000000" pitchFamily="65" charset="-120"/>
              </a:rPr>
              <a:t>最後預測的點數值</a:t>
            </a:r>
          </a:p>
        </p:txBody>
      </p:sp>
    </p:spTree>
    <p:extLst>
      <p:ext uri="{BB962C8B-B14F-4D97-AF65-F5344CB8AC3E}">
        <p14:creationId xmlns:p14="http://schemas.microsoft.com/office/powerpoint/2010/main" val="34008271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4E96922-6CBF-4631-8403-3873F6C7C300}"/>
              </a:ext>
            </a:extLst>
          </p:cNvPr>
          <p:cNvSpPr>
            <a:spLocks noGrp="1"/>
          </p:cNvSpPr>
          <p:nvPr>
            <p:ph type="title"/>
          </p:nvPr>
        </p:nvSpPr>
        <p:spPr>
          <a:xfrm>
            <a:off x="93921" y="86764"/>
            <a:ext cx="10515600" cy="1095298"/>
          </a:xfrm>
        </p:spPr>
        <p:txBody>
          <a:bodyPr/>
          <a:lstStyle/>
          <a:p>
            <a:r>
              <a:rPr lang="en-US" altLang="zh-TW" dirty="0"/>
              <a:t>Experimental results</a:t>
            </a:r>
            <a:endParaRPr lang="zh-TW" altLang="en-US" dirty="0"/>
          </a:p>
        </p:txBody>
      </p:sp>
      <p:pic>
        <p:nvPicPr>
          <p:cNvPr id="5" name="內容版面配置區 4">
            <a:extLst>
              <a:ext uri="{FF2B5EF4-FFF2-40B4-BE49-F238E27FC236}">
                <a16:creationId xmlns:a16="http://schemas.microsoft.com/office/drawing/2014/main" xmlns="" id="{DB963376-7C3F-4211-901A-2E8A3C187E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6754" y="634413"/>
            <a:ext cx="4500576" cy="786986"/>
          </a:xfrm>
        </p:spPr>
      </p:pic>
      <p:pic>
        <p:nvPicPr>
          <p:cNvPr id="4" name="圖片 3">
            <a:extLst>
              <a:ext uri="{FF2B5EF4-FFF2-40B4-BE49-F238E27FC236}">
                <a16:creationId xmlns:a16="http://schemas.microsoft.com/office/drawing/2014/main" xmlns="" id="{DDE1BBE9-E080-45E0-9EF4-424A9E82DA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47" y="875243"/>
            <a:ext cx="4999074" cy="5745077"/>
          </a:xfrm>
          <a:prstGeom prst="rect">
            <a:avLst/>
          </a:prstGeom>
        </p:spPr>
      </p:pic>
      <p:pic>
        <p:nvPicPr>
          <p:cNvPr id="8" name="圖片 7">
            <a:extLst>
              <a:ext uri="{FF2B5EF4-FFF2-40B4-BE49-F238E27FC236}">
                <a16:creationId xmlns:a16="http://schemas.microsoft.com/office/drawing/2014/main" xmlns="" id="{C19A1167-0E02-4B2E-BA25-6051CE7C84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5860" y="1933043"/>
            <a:ext cx="4041182" cy="4754836"/>
          </a:xfrm>
          <a:prstGeom prst="rect">
            <a:avLst/>
          </a:prstGeom>
        </p:spPr>
      </p:pic>
      <p:sp>
        <p:nvSpPr>
          <p:cNvPr id="9" name="文字方塊 8">
            <a:extLst>
              <a:ext uri="{FF2B5EF4-FFF2-40B4-BE49-F238E27FC236}">
                <a16:creationId xmlns:a16="http://schemas.microsoft.com/office/drawing/2014/main" xmlns="" id="{84753BBA-21A9-4E1B-AA46-A4D24660EBDB}"/>
              </a:ext>
            </a:extLst>
          </p:cNvPr>
          <p:cNvSpPr txBox="1"/>
          <p:nvPr/>
        </p:nvSpPr>
        <p:spPr>
          <a:xfrm>
            <a:off x="9086677" y="1969048"/>
            <a:ext cx="3045688" cy="1154162"/>
          </a:xfrm>
          <a:prstGeom prst="rect">
            <a:avLst/>
          </a:prstGeom>
          <a:noFill/>
        </p:spPr>
        <p:txBody>
          <a:bodyPr wrap="square" rtlCol="0">
            <a:spAutoFit/>
          </a:bodyPr>
          <a:lstStyle/>
          <a:p>
            <a:r>
              <a:rPr lang="en-US" altLang="zh-TW" sz="2300" dirty="0"/>
              <a:t>training data: Jan. ~ Oct.</a:t>
            </a:r>
          </a:p>
          <a:p>
            <a:r>
              <a:rPr lang="en-US" altLang="zh-TW" sz="2300" dirty="0"/>
              <a:t>testing data: Nov. ~ Dec.</a:t>
            </a:r>
          </a:p>
          <a:p>
            <a:r>
              <a:rPr lang="en-US" altLang="zh-TW" sz="2300" dirty="0"/>
              <a:t>(Each year)</a:t>
            </a:r>
          </a:p>
        </p:txBody>
      </p:sp>
    </p:spTree>
    <p:extLst>
      <p:ext uri="{BB962C8B-B14F-4D97-AF65-F5344CB8AC3E}">
        <p14:creationId xmlns:p14="http://schemas.microsoft.com/office/powerpoint/2010/main" val="19301070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descr="一張含有 文字 的圖片&#10;&#10;描述是以高可信度產生">
            <a:extLst>
              <a:ext uri="{FF2B5EF4-FFF2-40B4-BE49-F238E27FC236}">
                <a16:creationId xmlns:a16="http://schemas.microsoft.com/office/drawing/2014/main" xmlns="" id="{04017323-E2E7-40E7-8DB7-E5A9A968FD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1296" y="447562"/>
            <a:ext cx="8606560" cy="5556863"/>
          </a:xfrm>
          <a:prstGeom prst="rect">
            <a:avLst/>
          </a:prstGeom>
        </p:spPr>
      </p:pic>
    </p:spTree>
    <p:extLst>
      <p:ext uri="{BB962C8B-B14F-4D97-AF65-F5344CB8AC3E}">
        <p14:creationId xmlns:p14="http://schemas.microsoft.com/office/powerpoint/2010/main" val="33250092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grpSp>
        <p:nvGrpSpPr>
          <p:cNvPr id="4" name="群組 3">
            <a:extLst>
              <a:ext uri="{FF2B5EF4-FFF2-40B4-BE49-F238E27FC236}">
                <a16:creationId xmlns:a16="http://schemas.microsoft.com/office/drawing/2014/main" xmlns="" id="{6FB306F0-8E3F-4046-A379-5994F185513C}"/>
              </a:ext>
            </a:extLst>
          </p:cNvPr>
          <p:cNvGrpSpPr/>
          <p:nvPr/>
        </p:nvGrpSpPr>
        <p:grpSpPr>
          <a:xfrm>
            <a:off x="1026312" y="365125"/>
            <a:ext cx="9803232" cy="6208845"/>
            <a:chOff x="6149163" y="1499193"/>
            <a:chExt cx="5855887" cy="3976575"/>
          </a:xfrm>
        </p:grpSpPr>
        <p:pic>
          <p:nvPicPr>
            <p:cNvPr id="5" name="圖片 4" descr="一張含有 文字 的圖片&#10;&#10;描述是以高可信度產生">
              <a:extLst>
                <a:ext uri="{FF2B5EF4-FFF2-40B4-BE49-F238E27FC236}">
                  <a16:creationId xmlns:a16="http://schemas.microsoft.com/office/drawing/2014/main" xmlns="" id="{F3564672-B091-439C-B0A1-8560FC0E9CF9}"/>
                </a:ext>
              </a:extLst>
            </p:cNvPr>
            <p:cNvPicPr>
              <a:picLocks noChangeAspect="1"/>
            </p:cNvPicPr>
            <p:nvPr/>
          </p:nvPicPr>
          <p:blipFill rotWithShape="1">
            <a:blip r:embed="rId2">
              <a:extLst>
                <a:ext uri="{28A0092B-C50C-407E-A947-70E740481C1C}">
                  <a14:useLocalDpi xmlns:a14="http://schemas.microsoft.com/office/drawing/2010/main" val="0"/>
                </a:ext>
              </a:extLst>
            </a:blip>
            <a:srcRect t="10242" b="82150"/>
            <a:stretch/>
          </p:blipFill>
          <p:spPr>
            <a:xfrm>
              <a:off x="6149163" y="1499193"/>
              <a:ext cx="5854996" cy="287611"/>
            </a:xfrm>
            <a:prstGeom prst="rect">
              <a:avLst/>
            </a:prstGeom>
          </p:spPr>
        </p:pic>
        <p:pic>
          <p:nvPicPr>
            <p:cNvPr id="6" name="圖片 5" descr="一張含有 文字, 收據 的圖片&#10;&#10;產生非常高可信度的描述">
              <a:extLst>
                <a:ext uri="{FF2B5EF4-FFF2-40B4-BE49-F238E27FC236}">
                  <a16:creationId xmlns:a16="http://schemas.microsoft.com/office/drawing/2014/main" xmlns="" id="{B13415ED-D144-491F-BB60-CEE3486849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0104" y="1775637"/>
              <a:ext cx="5784946" cy="3700131"/>
            </a:xfrm>
            <a:prstGeom prst="rect">
              <a:avLst/>
            </a:prstGeom>
          </p:spPr>
        </p:pic>
      </p:grpSp>
    </p:spTree>
    <p:extLst>
      <p:ext uri="{BB962C8B-B14F-4D97-AF65-F5344CB8AC3E}">
        <p14:creationId xmlns:p14="http://schemas.microsoft.com/office/powerpoint/2010/main" val="16662980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a:extLst>
              <a:ext uri="{FF2B5EF4-FFF2-40B4-BE49-F238E27FC236}">
                <a16:creationId xmlns:a16="http://schemas.microsoft.com/office/drawing/2014/main" xmlns="" id="{602B6910-4B0E-4453-9FB8-EBA694ADED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317605" cy="4351338"/>
          </a:xfrm>
        </p:spPr>
      </p:pic>
    </p:spTree>
    <p:extLst>
      <p:ext uri="{BB962C8B-B14F-4D97-AF65-F5344CB8AC3E}">
        <p14:creationId xmlns:p14="http://schemas.microsoft.com/office/powerpoint/2010/main" val="14637107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522</TotalTime>
  <Words>984</Words>
  <Application>Microsoft Office PowerPoint</Application>
  <PresentationFormat>寬螢幕</PresentationFormat>
  <Paragraphs>60</Paragraphs>
  <Slides>21</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21</vt:i4>
      </vt:variant>
    </vt:vector>
  </HeadingPairs>
  <TitlesOfParts>
    <vt:vector size="29" baseType="lpstr">
      <vt:lpstr>新細明體</vt:lpstr>
      <vt:lpstr>標楷體</vt:lpstr>
      <vt:lpstr>Arial</vt:lpstr>
      <vt:lpstr>Calibri</vt:lpstr>
      <vt:lpstr>Calibri Light</vt:lpstr>
      <vt:lpstr>Cambria Math</vt:lpstr>
      <vt:lpstr>Times New Roman</vt:lpstr>
      <vt:lpstr>Office 佈景主題</vt:lpstr>
      <vt:lpstr>TAIEX Forecasting Using Fuzzy Time Series and Automatically Generated Weights of Multiple Factors</vt:lpstr>
      <vt:lpstr>Abstract</vt:lpstr>
      <vt:lpstr>PowerPoint 簡報</vt:lpstr>
      <vt:lpstr>Method</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Experimental results</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TAIEX Forecasting Using Fuzzy Time Series and Automatically Generated Weights of Multiple Factors</dc:title>
  <dc:creator>jhan</dc:creator>
  <cp:lastModifiedBy>pplab-class</cp:lastModifiedBy>
  <cp:revision>99</cp:revision>
  <dcterms:created xsi:type="dcterms:W3CDTF">2017-08-15T10:25:56Z</dcterms:created>
  <dcterms:modified xsi:type="dcterms:W3CDTF">2017-08-23T13:01:25Z</dcterms:modified>
</cp:coreProperties>
</file>