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6" r:id="rId2"/>
    <p:sldId id="258" r:id="rId3"/>
    <p:sldId id="259" r:id="rId4"/>
    <p:sldId id="262" r:id="rId5"/>
    <p:sldId id="263" r:id="rId6"/>
    <p:sldId id="266" r:id="rId7"/>
    <p:sldId id="267" r:id="rId8"/>
    <p:sldId id="269" r:id="rId9"/>
    <p:sldId id="268" r:id="rId10"/>
    <p:sldId id="271" r:id="rId11"/>
    <p:sldId id="272" r:id="rId12"/>
    <p:sldId id="273" r:id="rId13"/>
    <p:sldId id="274" r:id="rId14"/>
    <p:sldId id="264" r:id="rId15"/>
    <p:sldId id="261" r:id="rId16"/>
    <p:sldId id="265" r:id="rId17"/>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fu" initials="w"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5B9BD5"/>
              </a:solidFill>
              <a:prstDash val="solid"/>
              <a:round/>
              <a:headEnd type="none" w="med" len="med"/>
              <a:tailEnd type="none" w="med" len="med"/>
            </a:ln>
          </a:left>
          <a:right>
            <a:ln w="12701" cap="flat" cmpd="sng" algn="ctr">
              <a:solidFill>
                <a:srgbClr val="5B9BD5"/>
              </a:solidFill>
              <a:prstDash val="solid"/>
              <a:round/>
              <a:headEnd type="none" w="med" len="med"/>
              <a:tailEnd type="none" w="med" len="med"/>
            </a:ln>
          </a:right>
          <a:top>
            <a:ln w="12701" cap="flat" cmpd="sng" algn="ctr">
              <a:solidFill>
                <a:srgbClr val="5B9BD5"/>
              </a:solidFill>
              <a:prstDash val="solid"/>
              <a:round/>
              <a:headEnd type="none" w="med" len="med"/>
              <a:tailEnd type="none" w="med" len="med"/>
            </a:ln>
          </a:top>
          <a:bottom>
            <a:ln w="12701" cap="flat" cmpd="sng" algn="ctr">
              <a:solidFill>
                <a:srgbClr val="5B9BD5"/>
              </a:solidFill>
              <a:prstDash val="solid"/>
              <a:round/>
              <a:headEnd type="none" w="med" len="med"/>
              <a:tailEnd type="none" w="med" len="med"/>
            </a:ln>
          </a:bottom>
        </a:tcBdr>
      </a:tcStyle>
    </a:wholeTbl>
    <a:band1H>
      <a:tcStyle>
        <a:tcBdr/>
        <a:fill>
          <a:solidFill>
            <a:srgbClr val="5B9BD5"/>
          </a:solidFill>
        </a:fill>
      </a:tcStyle>
    </a:band1H>
    <a:band1V>
      <a:tcStyle>
        <a:tcBdr/>
        <a:fill>
          <a:solidFill>
            <a:srgbClr val="5B9BD5"/>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5B9BD5"/>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5B9BD5"/>
              </a:solidFill>
              <a:prstDash val="solid"/>
              <a:round/>
              <a:headEnd type="none" w="med" len="med"/>
              <a:tailEnd type="none" w="med" len="med"/>
            </a:ln>
          </a:bottom>
        </a:tcBdr>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E8B1032C-EA38-4F05-BA0D-38AFFFC7BED3}" styleName="">
    <a:wholeTbl>
      <a:tcTxStyle>
        <a:font>
          <a:latin typeface="+mn-lt"/>
          <a:ea typeface="+mn-ea"/>
          <a:cs typeface="+mn-cs"/>
        </a:font>
        <a:srgbClr val="000000"/>
      </a:tcTxStyle>
      <a:tcStyle>
        <a:tcBdr>
          <a:left>
            <a:ln w="12701" cap="flat" cmpd="sng" algn="ctr">
              <a:solidFill>
                <a:srgbClr val="70AD47"/>
              </a:solidFill>
              <a:prstDash val="solid"/>
              <a:round/>
              <a:headEnd type="none" w="med" len="med"/>
              <a:tailEnd type="none" w="med" len="med"/>
            </a:ln>
          </a:left>
          <a:right>
            <a:ln w="12701" cap="flat" cmpd="sng" algn="ctr">
              <a:solidFill>
                <a:srgbClr val="70AD47"/>
              </a:solidFill>
              <a:prstDash val="solid"/>
              <a:round/>
              <a:headEnd type="none" w="med" len="med"/>
              <a:tailEnd type="none" w="med" len="med"/>
            </a:ln>
          </a:right>
          <a:top>
            <a:ln w="12701" cap="flat" cmpd="sng" algn="ctr">
              <a:solidFill>
                <a:srgbClr val="70AD47"/>
              </a:solidFill>
              <a:prstDash val="solid"/>
              <a:round/>
              <a:headEnd type="none" w="med" len="med"/>
              <a:tailEnd type="none" w="med" len="med"/>
            </a:ln>
          </a:top>
          <a:bottom>
            <a:ln w="12701" cap="flat" cmpd="sng" algn="ctr">
              <a:solidFill>
                <a:srgbClr val="70AD47"/>
              </a:solidFill>
              <a:prstDash val="solid"/>
              <a:round/>
              <a:headEnd type="none" w="med" len="med"/>
              <a:tailEnd type="none" w="med" len="med"/>
            </a:ln>
          </a:bottom>
        </a:tcBdr>
      </a:tcStyle>
    </a:wholeTbl>
    <a:band1H>
      <a:tcStyle>
        <a:tcBdr/>
        <a:fill>
          <a:solidFill>
            <a:srgbClr val="70AD47"/>
          </a:solidFill>
        </a:fill>
      </a:tcStyle>
    </a:band1H>
    <a:band1V>
      <a:tcStyle>
        <a:tcBdr/>
        <a:fill>
          <a:solidFill>
            <a:srgbClr val="70AD47"/>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70AD47"/>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70AD47"/>
              </a:solidFill>
              <a:prstDash val="solid"/>
              <a:round/>
              <a:headEnd type="none" w="med" len="med"/>
              <a:tailEnd type="none" w="med" len="med"/>
            </a:ln>
          </a:bottom>
        </a:tcBdr>
      </a:tcStyle>
    </a:firstRow>
  </a:tblStyle>
  <a:tblStyle styleId="{5DA37D80-6434-44D0-A028-1B22A696006F}" styleName="">
    <a:wholeTbl>
      <a:tcTxStyle>
        <a:font>
          <a:latin typeface="+mn-lt"/>
          <a:ea typeface="+mn-ea"/>
          <a:cs typeface="+mn-cs"/>
        </a:font>
        <a:srgbClr val="000000"/>
      </a:tcTxStyle>
      <a:tcStyle>
        <a:tcBdr>
          <a:left>
            <a:ln w="12701" cap="flat" cmpd="sng" algn="ctr">
              <a:solidFill>
                <a:srgbClr val="ED7D31"/>
              </a:solidFill>
              <a:prstDash val="solid"/>
              <a:round/>
              <a:headEnd type="none" w="med" len="med"/>
              <a:tailEnd type="none" w="med" len="med"/>
            </a:ln>
          </a:left>
          <a:right>
            <a:ln w="12701" cap="flat" cmpd="sng" algn="ctr">
              <a:solidFill>
                <a:srgbClr val="ED7D31"/>
              </a:solidFill>
              <a:prstDash val="solid"/>
              <a:round/>
              <a:headEnd type="none" w="med" len="med"/>
              <a:tailEnd type="none" w="med" len="med"/>
            </a:ln>
          </a:right>
          <a:top>
            <a:ln w="12701" cap="flat" cmpd="sng" algn="ctr">
              <a:solidFill>
                <a:srgbClr val="ED7D31"/>
              </a:solidFill>
              <a:prstDash val="solid"/>
              <a:round/>
              <a:headEnd type="none" w="med" len="med"/>
              <a:tailEnd type="none" w="med" len="med"/>
            </a:ln>
          </a:top>
          <a:bottom>
            <a:ln w="12701" cap="flat" cmpd="sng" algn="ctr">
              <a:solidFill>
                <a:srgbClr val="ED7D31"/>
              </a:solidFill>
              <a:prstDash val="solid"/>
              <a:round/>
              <a:headEnd type="none" w="med" len="med"/>
              <a:tailEnd type="none" w="med" len="med"/>
            </a:ln>
          </a:bottom>
        </a:tcBdr>
      </a:tcStyle>
    </a:wholeTbl>
    <a:band1H>
      <a:tcStyle>
        <a:tcBdr/>
        <a:fill>
          <a:solidFill>
            <a:srgbClr val="ED7D31"/>
          </a:solidFill>
        </a:fill>
      </a:tcStyle>
    </a:band1H>
    <a:band1V>
      <a:tcStyle>
        <a:tcBdr/>
        <a:fill>
          <a:solidFill>
            <a:srgbClr val="ED7D31"/>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ED7D31"/>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ED7D31"/>
              </a:solidFill>
              <a:prstDash val="solid"/>
              <a:round/>
              <a:headEnd type="none" w="med" len="med"/>
              <a:tailEnd type="none" w="med" len="med"/>
            </a:ln>
          </a:bottom>
        </a:tcBdr>
      </a:tcStyle>
    </a:firstRow>
  </a:tblStyle>
  <a:tblStyle styleId="{EB344D84-9AFB-497E-A393-DC336BA19D2E}"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A5A5A5"/>
          </a:solidFill>
        </a:fill>
      </a:tcStyle>
    </a:lastCol>
    <a:firstCol>
      <a:tcTxStyle b="on">
        <a:font>
          <a:latin typeface="+mn-lt"/>
          <a:ea typeface="+mn-ea"/>
          <a:cs typeface="+mn-cs"/>
        </a:font>
        <a:srgbClr val="FFFFFF"/>
      </a:tcTxStyle>
      <a:tcStyle>
        <a:tcBdr/>
        <a:fill>
          <a:solidFill>
            <a:srgbClr val="A5A5A5"/>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A5A5A5"/>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92545" autoAdjust="0"/>
  </p:normalViewPr>
  <p:slideViewPr>
    <p:cSldViewPr snapToGrid="0">
      <p:cViewPr varScale="1">
        <p:scale>
          <a:sx n="90" d="100"/>
          <a:sy n="90" d="100"/>
        </p:scale>
        <p:origin x="444" y="84"/>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頁首版面配置區 1"/>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3" name="日期版面配置區 2"/>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4" name="頁尾版面配置區 3"/>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5" name="投影片編號版面配置區 4"/>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50227E8C-9554-460F-B633-51D5AD774E1F}" type="slidenum">
              <a:t>‹#›</a:t>
            </a:fld>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Tree>
    <p:extLst>
      <p:ext uri="{BB962C8B-B14F-4D97-AF65-F5344CB8AC3E}">
        <p14:creationId xmlns:p14="http://schemas.microsoft.com/office/powerpoint/2010/main" val="15513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idx="2"/>
          </p:nvPr>
        </p:nvSpPr>
        <p:spPr>
          <a:xfrm>
            <a:off x="1107000" y="812517"/>
            <a:ext cx="5345280" cy="4008958"/>
          </a:xfrm>
          <a:prstGeom prst="rect">
            <a:avLst/>
          </a:prstGeom>
          <a:noFill/>
          <a:ln>
            <a:noFill/>
            <a:prstDash val="solid"/>
          </a:ln>
        </p:spPr>
      </p:sp>
      <p:sp>
        <p:nvSpPr>
          <p:cNvPr id="3" name="備忘稿版面配置區 2"/>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n-US"/>
          </a:p>
        </p:txBody>
      </p:sp>
      <p:sp>
        <p:nvSpPr>
          <p:cNvPr id="4" name="頁首版面配置區 3"/>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日期版面配置區 4"/>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頁尾版面配置區 5"/>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7" name="投影片編號版面配置區 6"/>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78A57073-AB8B-4F7A-BB5E-FAEF8A970D70}" type="slidenum">
              <a:t>‹#›</a:t>
            </a:fld>
            <a:endParaRPr lang="en-US"/>
          </a:p>
        </p:txBody>
      </p:sp>
    </p:spTree>
    <p:extLst>
      <p:ext uri="{BB962C8B-B14F-4D97-AF65-F5344CB8AC3E}">
        <p14:creationId xmlns:p14="http://schemas.microsoft.com/office/powerpoint/2010/main" val="1409133388"/>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4E8A48-0BB3-4429-A23E-981E055DBE4D}" type="slidenum">
              <a:t>1</a:t>
            </a:fld>
            <a:endParaRPr lang="en-US" sz="1400" b="0" i="0" u="none" strike="noStrike" kern="1200" cap="none" spc="0" baseline="0">
              <a:solidFill>
                <a:srgbClr val="000000"/>
              </a:solidFill>
              <a:uFillTx/>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574662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260472" y="1236661"/>
            <a:ext cx="7559673" cy="2632072"/>
          </a:xfrm>
        </p:spPr>
        <p:txBody>
          <a:bodyPr anchor="b"/>
          <a:lstStyle>
            <a:lvl1pPr>
              <a:defRPr lang="zh-TW" sz="6000"/>
            </a:lvl1pPr>
          </a:lstStyle>
          <a:p>
            <a:pPr lvl="0"/>
            <a:r>
              <a:rPr lang="zh-TW"/>
              <a:t>按一下以編輯母片標題樣式</a:t>
            </a:r>
            <a:endParaRPr lang="en-US"/>
          </a:p>
        </p:txBody>
      </p:sp>
      <p:sp>
        <p:nvSpPr>
          <p:cNvPr id="3" name="副標題 2"/>
          <p:cNvSpPr txBox="1">
            <a:spLocks noGrp="1"/>
          </p:cNvSpPr>
          <p:nvPr>
            <p:ph type="subTitle" idx="1"/>
          </p:nvPr>
        </p:nvSpPr>
        <p:spPr>
          <a:xfrm>
            <a:off x="1260472" y="3970333"/>
            <a:ext cx="7559673" cy="1825627"/>
          </a:xfrm>
        </p:spPr>
        <p:txBody>
          <a:bodyPr anchorCtr="1"/>
          <a:lstStyle>
            <a:lvl1pPr algn="ctr">
              <a:defRPr sz="2400"/>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AE6BFC27-068B-4B72-92F7-9C821F0A3E7B}" type="slidenum">
              <a:t>‹#›</a:t>
            </a:fld>
            <a:endParaRPr lang="en-US"/>
          </a:p>
        </p:txBody>
      </p:sp>
    </p:spTree>
    <p:extLst>
      <p:ext uri="{BB962C8B-B14F-4D97-AF65-F5344CB8AC3E}">
        <p14:creationId xmlns:p14="http://schemas.microsoft.com/office/powerpoint/2010/main" val="34534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68842836-F473-4F88-8FC5-E6506225DA8A}" type="slidenum">
              <a:t>‹#›</a:t>
            </a:fld>
            <a:endParaRPr lang="en-US"/>
          </a:p>
        </p:txBody>
      </p:sp>
    </p:spTree>
    <p:extLst>
      <p:ext uri="{BB962C8B-B14F-4D97-AF65-F5344CB8AC3E}">
        <p14:creationId xmlns:p14="http://schemas.microsoft.com/office/powerpoint/2010/main" val="228269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687391" y="1884358"/>
            <a:ext cx="8694736" cy="3144841"/>
          </a:xfrm>
        </p:spPr>
        <p:txBody>
          <a:bodyPr anchor="b"/>
          <a:lstStyle>
            <a:lvl1pPr>
              <a:defRPr lang="zh-TW" sz="6000"/>
            </a:lvl1pPr>
          </a:lstStyle>
          <a:p>
            <a:pPr lvl="0"/>
            <a:r>
              <a:rPr lang="zh-TW"/>
              <a:t>按一下以編輯母片標題樣式</a:t>
            </a:r>
            <a:endParaRPr lang="en-US"/>
          </a:p>
        </p:txBody>
      </p:sp>
      <p:sp>
        <p:nvSpPr>
          <p:cNvPr id="3" name="文字版面配置區 2"/>
          <p:cNvSpPr txBox="1">
            <a:spLocks noGrp="1"/>
          </p:cNvSpPr>
          <p:nvPr>
            <p:ph type="body" idx="1"/>
          </p:nvPr>
        </p:nvSpPr>
        <p:spPr>
          <a:xfrm>
            <a:off x="687391" y="5059366"/>
            <a:ext cx="8694736" cy="1652585"/>
          </a:xfrm>
        </p:spPr>
        <p:txBody>
          <a:bodyPr/>
          <a:lstStyle>
            <a:lvl1pPr>
              <a:defRPr sz="2400">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F06D477E-DD58-4DE2-94A6-FBA23A92454D}" type="slidenum">
              <a:t>‹#›</a:t>
            </a:fld>
            <a:endParaRPr lang="en-US"/>
          </a:p>
        </p:txBody>
      </p:sp>
    </p:spTree>
    <p:extLst>
      <p:ext uri="{BB962C8B-B14F-4D97-AF65-F5344CB8AC3E}">
        <p14:creationId xmlns:p14="http://schemas.microsoft.com/office/powerpoint/2010/main" val="138122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503240" y="1768477"/>
            <a:ext cx="4459291"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5114925" y="1768477"/>
            <a:ext cx="4460872"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A72D141D-6966-43C1-8EB1-BB4818DFA3BC}" type="slidenum">
              <a:t>‹#›</a:t>
            </a:fld>
            <a:endParaRPr lang="en-US"/>
          </a:p>
        </p:txBody>
      </p:sp>
    </p:spTree>
    <p:extLst>
      <p:ext uri="{BB962C8B-B14F-4D97-AF65-F5344CB8AC3E}">
        <p14:creationId xmlns:p14="http://schemas.microsoft.com/office/powerpoint/2010/main" val="115698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403222"/>
            <a:ext cx="8694736" cy="1460497"/>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693736" y="1852610"/>
            <a:ext cx="4265611" cy="908054"/>
          </a:xfrm>
        </p:spPr>
        <p:txBody>
          <a:bodyPr anchor="b"/>
          <a:lstStyle>
            <a:lvl1pPr>
              <a:defRPr sz="2400" b="1"/>
            </a:lvl1pPr>
          </a:lstStyle>
          <a:p>
            <a:pPr lvl="0"/>
            <a:r>
              <a:rPr lang="zh-TW"/>
              <a:t>按一下以編輯母片文字樣式</a:t>
            </a:r>
          </a:p>
        </p:txBody>
      </p:sp>
      <p:sp>
        <p:nvSpPr>
          <p:cNvPr id="4" name="內容版面配置區 3"/>
          <p:cNvSpPr txBox="1">
            <a:spLocks noGrp="1"/>
          </p:cNvSpPr>
          <p:nvPr>
            <p:ph idx="2"/>
          </p:nvPr>
        </p:nvSpPr>
        <p:spPr>
          <a:xfrm>
            <a:off x="693736" y="2760665"/>
            <a:ext cx="4265611"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5103815" y="1852610"/>
            <a:ext cx="4284658" cy="908054"/>
          </a:xfrm>
        </p:spPr>
        <p:txBody>
          <a:bodyPr anchor="b"/>
          <a:lstStyle>
            <a:lvl1pPr>
              <a:defRPr sz="2400" b="1"/>
            </a:lvl1pPr>
          </a:lstStyle>
          <a:p>
            <a:pPr lvl="0"/>
            <a:r>
              <a:rPr lang="zh-TW"/>
              <a:t>按一下以編輯母片文字樣式</a:t>
            </a:r>
          </a:p>
        </p:txBody>
      </p:sp>
      <p:sp>
        <p:nvSpPr>
          <p:cNvPr id="6" name="內容版面配置區 5"/>
          <p:cNvSpPr txBox="1">
            <a:spLocks noGrp="1"/>
          </p:cNvSpPr>
          <p:nvPr>
            <p:ph idx="4"/>
          </p:nvPr>
        </p:nvSpPr>
        <p:spPr>
          <a:xfrm>
            <a:off x="5103815" y="2760665"/>
            <a:ext cx="4284658"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pPr lvl="0"/>
            <a:endParaRPr lang="en-US"/>
          </a:p>
        </p:txBody>
      </p:sp>
      <p:sp>
        <p:nvSpPr>
          <p:cNvPr id="8" name="頁尾版面配置區 7"/>
          <p:cNvSpPr txBox="1">
            <a:spLocks noGrp="1"/>
          </p:cNvSpPr>
          <p:nvPr>
            <p:ph type="ftr" sz="quarter" idx="9"/>
          </p:nvPr>
        </p:nvSpPr>
        <p:spPr/>
        <p:txBody>
          <a:bodyPr/>
          <a:lstStyle>
            <a:lvl1pPr>
              <a:defRPr/>
            </a:lvl1pPr>
          </a:lstStyle>
          <a:p>
            <a:pPr lvl="0"/>
            <a:endParaRPr lang="en-US"/>
          </a:p>
        </p:txBody>
      </p:sp>
      <p:sp>
        <p:nvSpPr>
          <p:cNvPr id="9" name="投影片編號版面配置區 8"/>
          <p:cNvSpPr txBox="1">
            <a:spLocks noGrp="1"/>
          </p:cNvSpPr>
          <p:nvPr>
            <p:ph type="sldNum" sz="quarter" idx="8"/>
          </p:nvPr>
        </p:nvSpPr>
        <p:spPr/>
        <p:txBody>
          <a:bodyPr/>
          <a:lstStyle>
            <a:lvl1pPr>
              <a:defRPr/>
            </a:lvl1pPr>
          </a:lstStyle>
          <a:p>
            <a:pPr lvl="0"/>
            <a:fld id="{4D382990-A4FF-4906-9C3D-CE47CFC3DCA5}" type="slidenum">
              <a:t>‹#›</a:t>
            </a:fld>
            <a:endParaRPr lang="en-US"/>
          </a:p>
        </p:txBody>
      </p:sp>
    </p:spTree>
    <p:extLst>
      <p:ext uri="{BB962C8B-B14F-4D97-AF65-F5344CB8AC3E}">
        <p14:creationId xmlns:p14="http://schemas.microsoft.com/office/powerpoint/2010/main" val="340341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pPr lvl="0"/>
            <a:endParaRPr lang="en-US"/>
          </a:p>
        </p:txBody>
      </p:sp>
      <p:sp>
        <p:nvSpPr>
          <p:cNvPr id="4" name="頁尾版面配置區 3"/>
          <p:cNvSpPr txBox="1">
            <a:spLocks noGrp="1"/>
          </p:cNvSpPr>
          <p:nvPr>
            <p:ph type="ftr" sz="quarter" idx="9"/>
          </p:nvPr>
        </p:nvSpPr>
        <p:spPr/>
        <p:txBody>
          <a:bodyPr/>
          <a:lstStyle>
            <a:lvl1pPr>
              <a:defRPr/>
            </a:lvl1pPr>
          </a:lstStyle>
          <a:p>
            <a:pPr lvl="0"/>
            <a:endParaRPr lang="en-US"/>
          </a:p>
        </p:txBody>
      </p:sp>
      <p:sp>
        <p:nvSpPr>
          <p:cNvPr id="5" name="投影片編號版面配置區 4"/>
          <p:cNvSpPr txBox="1">
            <a:spLocks noGrp="1"/>
          </p:cNvSpPr>
          <p:nvPr>
            <p:ph type="sldNum" sz="quarter" idx="8"/>
          </p:nvPr>
        </p:nvSpPr>
        <p:spPr/>
        <p:txBody>
          <a:bodyPr/>
          <a:lstStyle>
            <a:lvl1pPr>
              <a:defRPr/>
            </a:lvl1pPr>
          </a:lstStyle>
          <a:p>
            <a:pPr lvl="0"/>
            <a:fld id="{C73CCA10-4506-4689-B9C6-7A25C650BAFF}" type="slidenum">
              <a:t>‹#›</a:t>
            </a:fld>
            <a:endParaRPr lang="en-US"/>
          </a:p>
        </p:txBody>
      </p:sp>
    </p:spTree>
    <p:extLst>
      <p:ext uri="{BB962C8B-B14F-4D97-AF65-F5344CB8AC3E}">
        <p14:creationId xmlns:p14="http://schemas.microsoft.com/office/powerpoint/2010/main" val="205626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pPr lvl="0"/>
            <a:endParaRPr lang="en-US"/>
          </a:p>
        </p:txBody>
      </p:sp>
      <p:sp>
        <p:nvSpPr>
          <p:cNvPr id="3" name="頁尾版面配置區 2"/>
          <p:cNvSpPr txBox="1">
            <a:spLocks noGrp="1"/>
          </p:cNvSpPr>
          <p:nvPr>
            <p:ph type="ftr" sz="quarter" idx="9"/>
          </p:nvPr>
        </p:nvSpPr>
        <p:spPr/>
        <p:txBody>
          <a:bodyPr/>
          <a:lstStyle>
            <a:lvl1pPr>
              <a:defRPr/>
            </a:lvl1pPr>
          </a:lstStyle>
          <a:p>
            <a:pPr lvl="0"/>
            <a:endParaRPr lang="en-US"/>
          </a:p>
        </p:txBody>
      </p:sp>
      <p:sp>
        <p:nvSpPr>
          <p:cNvPr id="4" name="投影片編號版面配置區 3"/>
          <p:cNvSpPr txBox="1">
            <a:spLocks noGrp="1"/>
          </p:cNvSpPr>
          <p:nvPr>
            <p:ph type="sldNum" sz="quarter" idx="8"/>
          </p:nvPr>
        </p:nvSpPr>
        <p:spPr/>
        <p:txBody>
          <a:bodyPr/>
          <a:lstStyle>
            <a:lvl1pPr>
              <a:defRPr/>
            </a:lvl1pPr>
          </a:lstStyle>
          <a:p>
            <a:pPr lvl="0"/>
            <a:fld id="{DA413963-2284-408C-A1F3-BA9C90A14B4D}" type="slidenum">
              <a:t>‹#›</a:t>
            </a:fld>
            <a:endParaRPr lang="en-US"/>
          </a:p>
        </p:txBody>
      </p:sp>
    </p:spTree>
    <p:extLst>
      <p:ext uri="{BB962C8B-B14F-4D97-AF65-F5344CB8AC3E}">
        <p14:creationId xmlns:p14="http://schemas.microsoft.com/office/powerpoint/2010/main" val="356610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內容版面配置區 2"/>
          <p:cNvSpPr txBox="1">
            <a:spLocks noGrp="1"/>
          </p:cNvSpPr>
          <p:nvPr>
            <p:ph idx="1"/>
          </p:nvPr>
        </p:nvSpPr>
        <p:spPr>
          <a:xfrm>
            <a:off x="4286249" y="1089022"/>
            <a:ext cx="5102223" cy="5372100"/>
          </a:xfrm>
        </p:spPr>
        <p:txBody>
          <a:bodyPr/>
          <a:lstStyle>
            <a:lvl1pPr>
              <a:defRPr/>
            </a:lvl1pPr>
            <a:lvl2pPr>
              <a:defRPr sz="2800"/>
            </a:lvl2pPr>
            <a:lvl3pPr>
              <a:defRPr sz="2400"/>
            </a:lvl3pPr>
            <a:lvl4pPr>
              <a:defRPr sz="2000"/>
            </a:lvl4pPr>
            <a:lvl5pPr>
              <a:defRPr sz="2000"/>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8059FB30-6DA3-498A-B3E4-39789FBB385A}" type="slidenum">
              <a:t>‹#›</a:t>
            </a:fld>
            <a:endParaRPr lang="en-US"/>
          </a:p>
        </p:txBody>
      </p:sp>
    </p:spTree>
    <p:extLst>
      <p:ext uri="{BB962C8B-B14F-4D97-AF65-F5344CB8AC3E}">
        <p14:creationId xmlns:p14="http://schemas.microsoft.com/office/powerpoint/2010/main" val="295267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圖片版面配置區 2"/>
          <p:cNvSpPr txBox="1">
            <a:spLocks noGrp="1"/>
          </p:cNvSpPr>
          <p:nvPr>
            <p:ph type="pic" idx="1"/>
          </p:nvPr>
        </p:nvSpPr>
        <p:spPr>
          <a:xfrm>
            <a:off x="4286249" y="1089022"/>
            <a:ext cx="5102223" cy="5372100"/>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62DDE591-0FAF-4F51-A0C1-3BEDC4250AEC}" type="slidenum">
              <a:t>‹#›</a:t>
            </a:fld>
            <a:endParaRPr lang="en-US"/>
          </a:p>
        </p:txBody>
      </p:sp>
    </p:spTree>
    <p:extLst>
      <p:ext uri="{BB962C8B-B14F-4D97-AF65-F5344CB8AC3E}">
        <p14:creationId xmlns:p14="http://schemas.microsoft.com/office/powerpoint/2010/main" val="124761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30523178-8C3C-4D5B-987E-9C6DE9B05220}" type="slidenum">
              <a:t>‹#›</a:t>
            </a:fld>
            <a:endParaRPr lang="en-US"/>
          </a:p>
        </p:txBody>
      </p:sp>
    </p:spTree>
    <p:extLst>
      <p:ext uri="{BB962C8B-B14F-4D97-AF65-F5344CB8AC3E}">
        <p14:creationId xmlns:p14="http://schemas.microsoft.com/office/powerpoint/2010/main" val="346170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7308854" y="301623"/>
            <a:ext cx="2266953" cy="5851529"/>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503240" y="301623"/>
            <a:ext cx="6653210" cy="5851529"/>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0683D96B-BEA4-46BB-A345-50D7E40AC1BE}" type="slidenum">
              <a:t>‹#›</a:t>
            </a:fld>
            <a:endParaRPr lang="en-US"/>
          </a:p>
        </p:txBody>
      </p:sp>
    </p:spTree>
    <p:extLst>
      <p:ext uri="{BB962C8B-B14F-4D97-AF65-F5344CB8AC3E}">
        <p14:creationId xmlns:p14="http://schemas.microsoft.com/office/powerpoint/2010/main" val="307590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503998" y="301322"/>
            <a:ext cx="9071643" cy="1262155"/>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503998" y="1769043"/>
            <a:ext cx="9071643" cy="4384438"/>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503998" y="6887160"/>
            <a:ext cx="2348279" cy="521281"/>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頁尾版面配置區 4"/>
          <p:cNvSpPr txBox="1">
            <a:spLocks noGrp="1"/>
          </p:cNvSpPr>
          <p:nvPr>
            <p:ph type="ftr" sz="quarter" idx="3"/>
          </p:nvPr>
        </p:nvSpPr>
        <p:spPr>
          <a:xfrm>
            <a:off x="3447361" y="6887160"/>
            <a:ext cx="3194995" cy="521281"/>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投影片編號版面配置區 5"/>
          <p:cNvSpPr txBox="1">
            <a:spLocks noGrp="1"/>
          </p:cNvSpPr>
          <p:nvPr>
            <p:ph type="sldNum" sz="quarter" idx="4"/>
          </p:nvPr>
        </p:nvSpPr>
        <p:spPr>
          <a:xfrm>
            <a:off x="7227362" y="6887160"/>
            <a:ext cx="2348279" cy="521281"/>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FA3188D1-A64F-4C0D-9118-94DC8B17CC66}"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914400" rtl="0" fontAlgn="auto" hangingPunct="0">
        <a:lnSpc>
          <a:spcPct val="100000"/>
        </a:lnSpc>
        <a:spcBef>
          <a:spcPts val="0"/>
        </a:spcBef>
        <a:spcAft>
          <a:spcPts val="0"/>
        </a:spcAft>
        <a:buNone/>
        <a:tabLst/>
        <a:defRPr lang="en-US" sz="44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914400" rtl="0" fontAlgn="auto" hangingPunct="0">
        <a:lnSpc>
          <a:spcPct val="100000"/>
        </a:lnSpc>
        <a:spcBef>
          <a:spcPts val="1415"/>
        </a:spcBef>
        <a:spcAft>
          <a:spcPts val="0"/>
        </a:spcAft>
        <a:buNone/>
        <a:tabLst/>
        <a:defRPr lang="zh-TW" sz="32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zh-TW" sz="2400" b="0" i="0" u="none" strike="noStrike" kern="1200" cap="none" spc="0" baseline="0">
          <a:solidFill>
            <a:srgbClr val="000000"/>
          </a:solidFill>
          <a:uFillTx/>
          <a:latin typeface="Calibri"/>
          <a:ea typeface="新細明體" pitchFamily="18"/>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zh-TW" sz="2000" b="0" i="0" u="none" strike="noStrike" kern="1200" cap="none" spc="0" baseline="0">
          <a:solidFill>
            <a:srgbClr val="000000"/>
          </a:solidFill>
          <a:uFillTx/>
          <a:latin typeface="Calibri"/>
          <a:ea typeface="新細明體" pitchFamily="18"/>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576355" y="2574095"/>
            <a:ext cx="9071643" cy="2492990"/>
          </a:xfrm>
        </p:spPr>
        <p:txBody>
          <a:bodyPr>
            <a:spAutoFit/>
          </a:bodyPr>
          <a:lstStyle/>
          <a:p>
            <a:pPr lvl="0"/>
            <a:r>
              <a:rPr lang="en-US" altLang="zh-TW" sz="2700" b="1" dirty="0">
                <a:solidFill>
                  <a:srgbClr val="898989"/>
                </a:solidFill>
                <a:latin typeface="Sitka Subheading" panose="02000505000000020004" pitchFamily="2" charset="0"/>
                <a:ea typeface="新細明體" pitchFamily="2"/>
              </a:rPr>
              <a:t>Springer International Publishing Switzerland, Recent Advances in Swarm Intelligence and Evolutionary Computation, 2015, </a:t>
            </a:r>
            <a:br>
              <a:rPr lang="en-US" altLang="zh-TW" sz="2700" b="1" dirty="0">
                <a:solidFill>
                  <a:srgbClr val="898989"/>
                </a:solidFill>
                <a:latin typeface="Sitka Subheading" panose="02000505000000020004" pitchFamily="2" charset="0"/>
                <a:ea typeface="新細明體" pitchFamily="2"/>
              </a:rPr>
            </a:br>
            <a:r>
              <a:rPr lang="pt-BR" altLang="zh-TW" sz="2700" b="1" dirty="0">
                <a:solidFill>
                  <a:srgbClr val="898989"/>
                </a:solidFill>
                <a:latin typeface="Sitka Subheading" panose="02000505000000020004" pitchFamily="2" charset="0"/>
                <a:ea typeface="新細明體" pitchFamily="2"/>
              </a:rPr>
              <a:t>Douglas Rodrigues, Xin-She Yang, André Nunes de Souza and João Paulo Papa</a:t>
            </a:r>
            <a:br>
              <a:rPr lang="pt-BR" altLang="zh-TW" sz="2700" b="1" dirty="0">
                <a:solidFill>
                  <a:srgbClr val="898989"/>
                </a:solidFill>
                <a:latin typeface="Sitka Subheading" panose="02000505000000020004" pitchFamily="2" charset="0"/>
                <a:ea typeface="新細明體" pitchFamily="2"/>
              </a:rPr>
            </a:br>
            <a:endParaRPr lang="en-US" sz="2700" b="1" dirty="0">
              <a:solidFill>
                <a:srgbClr val="898989"/>
              </a:solidFill>
              <a:latin typeface="Sitka Subheading" panose="02000505000000020004" pitchFamily="2" charset="0"/>
              <a:ea typeface="新細明體" pitchFamily="2"/>
            </a:endParaRPr>
          </a:p>
        </p:txBody>
      </p:sp>
      <p:sp>
        <p:nvSpPr>
          <p:cNvPr id="3" name="文字版面配置區 2"/>
          <p:cNvSpPr txBox="1">
            <a:spLocks noGrp="1"/>
          </p:cNvSpPr>
          <p:nvPr>
            <p:ph type="body" idx="4294967295"/>
          </p:nvPr>
        </p:nvSpPr>
        <p:spPr>
          <a:xfrm>
            <a:off x="576355" y="935998"/>
            <a:ext cx="9071643" cy="1491891"/>
          </a:xfrm>
        </p:spPr>
        <p:txBody>
          <a:bodyPr anchorCtr="1"/>
          <a:lstStyle/>
          <a:p>
            <a:r>
              <a:rPr lang="en-US" sz="4000" b="1" dirty="0">
                <a:latin typeface="Cambria Math" panose="02040503050406030204" pitchFamily="18" charset="0"/>
                <a:ea typeface="Cambria Math" panose="02040503050406030204" pitchFamily="18" charset="0"/>
                <a:cs typeface="Ebrima" panose="02000000000000000000" pitchFamily="2" charset="0"/>
              </a:rPr>
              <a:t>Binary Flower Pollination Algorithm and Its Application to Feature Selection</a:t>
            </a:r>
          </a:p>
        </p:txBody>
      </p:sp>
      <p:sp>
        <p:nvSpPr>
          <p:cNvPr id="4" name="文字版面配置區 3"/>
          <p:cNvSpPr txBox="1">
            <a:spLocks noGrp="1"/>
          </p:cNvSpPr>
          <p:nvPr>
            <p:ph type="body" idx="4294967295"/>
          </p:nvPr>
        </p:nvSpPr>
        <p:spPr>
          <a:xfrm>
            <a:off x="704380" y="5920800"/>
            <a:ext cx="9071643" cy="1159806"/>
          </a:xfrm>
        </p:spPr>
        <p:txBody>
          <a:bodyPr/>
          <a:lstStyle/>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Wei-</a:t>
            </a:r>
            <a:r>
              <a:rPr lang="en-US" altLang="zh-TW" dirty="0" err="1">
                <a:highlight>
                  <a:scrgbClr r="0" g="0" b="0">
                    <a:alpha val="0"/>
                  </a:scrgbClr>
                </a:highlight>
                <a:latin typeface="Liberation Sans Narrow" pitchFamily="34"/>
                <a:ea typeface="微軟正黑體" pitchFamily="34"/>
                <a:cs typeface="Mangal" pitchFamily="2"/>
              </a:rPr>
              <a:t>Hao</a:t>
            </a:r>
            <a:r>
              <a:rPr lang="en-US" altLang="zh-TW" dirty="0">
                <a:highlight>
                  <a:scrgbClr r="0" g="0" b="0">
                    <a:alpha val="0"/>
                  </a:scrgbClr>
                </a:highlight>
                <a:latin typeface="Liberation Sans Narrow" pitchFamily="34"/>
                <a:ea typeface="微軟正黑體" pitchFamily="34"/>
                <a:cs typeface="Mangal" pitchFamily="2"/>
              </a:rPr>
              <a:t> Fu</a:t>
            </a:r>
            <a:endParaRPr lang="en-US" dirty="0">
              <a:highlight>
                <a:scrgbClr r="0" g="0" b="0">
                  <a:alpha val="0"/>
                </a:scrgbClr>
              </a:highlight>
              <a:latin typeface="Liberation Sans Narrow" pitchFamily="34"/>
              <a:ea typeface="微軟正黑體" pitchFamily="34"/>
              <a:cs typeface="Mangal" pitchFamily="2"/>
            </a:endParaRPr>
          </a:p>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2017</a:t>
            </a:r>
            <a:r>
              <a:rPr lang="en-US" dirty="0">
                <a:highlight>
                  <a:scrgbClr r="0" g="0" b="0">
                    <a:alpha val="0"/>
                  </a:scrgbClr>
                </a:highlight>
                <a:latin typeface="Liberation Sans Narrow" pitchFamily="34"/>
                <a:ea typeface="微軟正黑體" pitchFamily="34"/>
                <a:cs typeface="Mangal" pitchFamily="2"/>
              </a:rPr>
              <a:t>/0</a:t>
            </a:r>
            <a:r>
              <a:rPr lang="en-US" altLang="zh-TW" dirty="0">
                <a:highlight>
                  <a:scrgbClr r="0" g="0" b="0">
                    <a:alpha val="0"/>
                  </a:scrgbClr>
                </a:highlight>
                <a:latin typeface="Liberation Sans Narrow" pitchFamily="34"/>
                <a:ea typeface="微軟正黑體" pitchFamily="34"/>
                <a:cs typeface="Mangal" pitchFamily="2"/>
              </a:rPr>
              <a:t>8</a:t>
            </a:r>
            <a:r>
              <a:rPr lang="en-US"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08</a:t>
            </a:r>
            <a:endParaRPr lang="en-US" dirty="0">
              <a:highlight>
                <a:scrgbClr r="0" g="0" b="0">
                  <a:alpha val="0"/>
                </a:scrgbClr>
              </a:highlight>
              <a:latin typeface="Liberation Sans Narrow" pitchFamily="34"/>
              <a:ea typeface="微軟正黑體" pitchFamily="34"/>
              <a:cs typeface="Mangal" pitchFamily="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 (1/2)</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a:spcBef>
                <a:spcPts val="0"/>
              </a:spcBef>
            </a:pPr>
            <a:r>
              <a:rPr lang="en-US" altLang="zh-TW" sz="3100" dirty="0">
                <a:latin typeface="Cambria Math" panose="02040503050406030204" pitchFamily="18" charset="0"/>
                <a:ea typeface="Cambria Math" panose="02040503050406030204" pitchFamily="18" charset="0"/>
              </a:rPr>
              <a:t>The problem of feature selection has been paramount in the last years, since it can be as important as the classiﬁcation step itself. The main goal of feature selection is to ﬁnd out the subset of features that optimize some ﬁtness function, often in terms of a classiﬁer’s accuracy or even the computational burden for extracting each feature. Therefore, the approaches to feature selection can be modeled as optimization tasks. </a:t>
            </a:r>
            <a:endParaRPr lang="en-US" altLang="zh-TW" sz="31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a:t>
            </a:fld>
            <a:endParaRPr lang="zh-TW" altLang="en-US" dirty="0"/>
          </a:p>
        </p:txBody>
      </p:sp>
    </p:spTree>
    <p:extLst>
      <p:ext uri="{BB962C8B-B14F-4D97-AF65-F5344CB8AC3E}">
        <p14:creationId xmlns:p14="http://schemas.microsoft.com/office/powerpoint/2010/main" val="1141205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 (2/2)</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In this chapter, we evaluate a binary-constrained version of the Flower Pollination Algorithm (FPA) for feature selection, in which the search space is a </a:t>
            </a:r>
            <a:r>
              <a:rPr lang="en-US" altLang="zh-TW" sz="3100" dirty="0" err="1">
                <a:latin typeface="Cambria Math" panose="02040503050406030204" pitchFamily="18" charset="0"/>
                <a:ea typeface="Cambria Math" panose="02040503050406030204" pitchFamily="18" charset="0"/>
              </a:rPr>
              <a:t>boolean</a:t>
            </a:r>
            <a:r>
              <a:rPr lang="en-US" altLang="zh-TW" sz="3100" dirty="0">
                <a:latin typeface="Cambria Math" panose="02040503050406030204" pitchFamily="18" charset="0"/>
                <a:ea typeface="Cambria Math" panose="02040503050406030204" pitchFamily="18" charset="0"/>
              </a:rPr>
              <a:t> lattice where each possible solution, or a string of bits, denotes whether a feature will be used to compose the ﬁnal set. Numerical experiments over some public and private datasets have been carried out and comparison with Particle Swarm Optimization, Harmony Search and Fireﬂy Algorithm has demonstrated the suitability of the FPA for feature selection.</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3</a:t>
            </a:fld>
            <a:endParaRPr lang="zh-TW" altLang="en-US" dirty="0"/>
          </a:p>
        </p:txBody>
      </p:sp>
    </p:spTree>
    <p:extLst>
      <p:ext uri="{BB962C8B-B14F-4D97-AF65-F5344CB8AC3E}">
        <p14:creationId xmlns:p14="http://schemas.microsoft.com/office/powerpoint/2010/main" val="103078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769043"/>
                <a:ext cx="9071643" cy="5639398"/>
              </a:xfrm>
            </p:spPr>
            <p:txBody>
              <a:bodyPr/>
              <a:lstStyle/>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4 rules:</a:t>
                </a:r>
              </a:p>
              <a:p>
                <a:pPr marL="1143000" lvl="1" indent="-457200">
                  <a:buFont typeface="+mj-lt"/>
                  <a:buAutoNum type="arabicPeriod"/>
                </a:pPr>
                <a:r>
                  <a:rPr lang="en-US" altLang="zh-TW" sz="2300" dirty="0">
                    <a:latin typeface="Cambria Math" panose="02040503050406030204" pitchFamily="18" charset="0"/>
                    <a:ea typeface="Cambria Math" panose="02040503050406030204" pitchFamily="18" charset="0"/>
                  </a:rPr>
                  <a:t>Biotic cross-pollination can be considered as a process of global pollination, and pollen-carrying pollinators move in a way that obeys Lévy ﬂights.</a:t>
                </a:r>
              </a:p>
              <a:p>
                <a:pPr marL="1143000" lvl="1" indent="-457200">
                  <a:buFont typeface="+mj-lt"/>
                  <a:buAutoNum type="arabicPeriod"/>
                </a:pPr>
                <a:r>
                  <a:rPr lang="en-US" altLang="zh-TW" sz="2300" dirty="0">
                    <a:latin typeface="Cambria Math" panose="02040503050406030204" pitchFamily="18" charset="0"/>
                    <a:ea typeface="Cambria Math" panose="02040503050406030204" pitchFamily="18" charset="0"/>
                  </a:rPr>
                  <a:t>For local pollination, abiotic pollination and self-pollination are used.</a:t>
                </a:r>
              </a:p>
              <a:p>
                <a:pPr marL="1143000" lvl="1" indent="-457200">
                  <a:buFont typeface="+mj-lt"/>
                  <a:buAutoNum type="arabicPeriod"/>
                </a:pPr>
                <a:r>
                  <a:rPr lang="en-US" altLang="zh-TW" sz="2300" dirty="0">
                    <a:latin typeface="Cambria Math" panose="02040503050406030204" pitchFamily="18" charset="0"/>
                    <a:ea typeface="Cambria Math" panose="02040503050406030204" pitchFamily="18" charset="0"/>
                  </a:rPr>
                  <a:t>Pollinators such as insects can develop ﬂower constancy, which is equivalent to a reproduction probability that is proportional to the similarity of two ﬂowers involved.</a:t>
                </a:r>
              </a:p>
              <a:p>
                <a:pPr marL="1143000" lvl="1" indent="-457200">
                  <a:buFont typeface="+mj-lt"/>
                  <a:buAutoNum type="arabicPeriod"/>
                </a:pPr>
                <a:r>
                  <a:rPr lang="en-US" altLang="zh-TW" sz="2300" dirty="0">
                    <a:latin typeface="Cambria Math" panose="02040503050406030204" pitchFamily="18" charset="0"/>
                    <a:ea typeface="Cambria Math" panose="02040503050406030204" pitchFamily="18" charset="0"/>
                  </a:rPr>
                  <a:t>The interaction or switching of local pollination and global pollination can be controlled by a switch probability </a:t>
                </a:r>
                <a14:m>
                  <m:oMath xmlns:m="http://schemas.openxmlformats.org/officeDocument/2006/math">
                    <m:r>
                      <a:rPr lang="en-US" altLang="zh-TW" sz="2300" b="0" i="1" smtClean="0">
                        <a:latin typeface="Cambria Math" panose="02040503050406030204" pitchFamily="18" charset="0"/>
                        <a:ea typeface="Cambria Math" panose="02040503050406030204" pitchFamily="18" charset="0"/>
                      </a:rPr>
                      <m:t>𝑝</m:t>
                    </m:r>
                    <m:r>
                      <a:rPr lang="en-US" altLang="zh-TW" sz="2300" b="0" i="1" smtClean="0">
                        <a:latin typeface="Cambria Math" panose="02040503050406030204" pitchFamily="18" charset="0"/>
                        <a:ea typeface="Cambria Math" panose="02040503050406030204" pitchFamily="18" charset="0"/>
                      </a:rPr>
                      <m:t>∈[0, 1]</m:t>
                    </m:r>
                  </m:oMath>
                </a14:m>
                <a:r>
                  <a:rPr lang="en-US" altLang="zh-TW" sz="2300" dirty="0">
                    <a:latin typeface="Cambria Math" panose="02040503050406030204" pitchFamily="18" charset="0"/>
                    <a:ea typeface="Cambria Math" panose="02040503050406030204" pitchFamily="18" charset="0"/>
                  </a:rPr>
                  <a:t>, slightly biased towards local pollination.</a:t>
                </a:r>
                <a:endParaRPr lang="en-US" altLang="zh-TW" sz="2300"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769043"/>
                <a:ext cx="9071643" cy="5639398"/>
              </a:xfrm>
              <a:blipFill>
                <a:blip r:embed="rId2"/>
                <a:stretch>
                  <a:fillRect l="-2487" t="-2270" r="-2487"/>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4</a:t>
            </a:fld>
            <a:endParaRPr lang="zh-TW" altLang="en-US" dirty="0"/>
          </a:p>
        </p:txBody>
      </p:sp>
    </p:spTree>
    <p:extLst>
      <p:ext uri="{BB962C8B-B14F-4D97-AF65-F5344CB8AC3E}">
        <p14:creationId xmlns:p14="http://schemas.microsoft.com/office/powerpoint/2010/main" val="1448736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3025729703"/>
              </p:ext>
            </p:extLst>
          </p:nvPr>
        </p:nvGraphicFramePr>
        <p:xfrm>
          <a:off x="864745" y="204246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3100581612"/>
                  </a:ext>
                </a:extLst>
              </a:tr>
              <a:tr h="670747">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318289018"/>
                  </a:ext>
                </a:extLst>
              </a:tr>
              <a:tr h="670747">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674153229"/>
                  </a:ext>
                </a:extLst>
              </a:tr>
              <a:tr h="670747">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3152985124"/>
                  </a:ext>
                </a:extLst>
              </a:tr>
              <a:tr h="670747">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4271682439"/>
                  </a:ext>
                </a:extLst>
              </a:tr>
              <a:tr h="670747">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798604360"/>
                  </a:ext>
                </a:extLst>
              </a:tr>
              <a:tr h="670747">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4290571482"/>
                  </a:ext>
                </a:extLst>
              </a:tr>
              <a:tr h="670747">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875681615"/>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5</a:t>
            </a:fld>
            <a:endParaRPr lang="zh-TW" altLang="en-US" dirty="0"/>
          </a:p>
        </p:txBody>
      </p:sp>
    </p:spTree>
    <p:extLst>
      <p:ext uri="{BB962C8B-B14F-4D97-AF65-F5344CB8AC3E}">
        <p14:creationId xmlns:p14="http://schemas.microsoft.com/office/powerpoint/2010/main" val="3070113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293352229"/>
              </p:ext>
            </p:extLst>
          </p:nvPr>
        </p:nvGraphicFramePr>
        <p:xfrm>
          <a:off x="864745" y="204246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3100581612"/>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318289018"/>
                  </a:ext>
                </a:extLst>
              </a:tr>
              <a:tr h="670747">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674153229"/>
                  </a:ext>
                </a:extLst>
              </a:tr>
              <a:tr h="670747">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152985124"/>
                  </a:ext>
                </a:extLst>
              </a:tr>
              <a:tr h="670747">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4271682439"/>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798604360"/>
                  </a:ext>
                </a:extLst>
              </a:tr>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4290571482"/>
                  </a:ext>
                </a:extLst>
              </a:tr>
              <a:tr h="670747">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3875681615"/>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6</a:t>
            </a:fld>
            <a:endParaRPr lang="zh-TW" altLang="en-US" dirty="0"/>
          </a:p>
        </p:txBody>
      </p:sp>
    </p:spTree>
    <p:extLst>
      <p:ext uri="{BB962C8B-B14F-4D97-AF65-F5344CB8AC3E}">
        <p14:creationId xmlns:p14="http://schemas.microsoft.com/office/powerpoint/2010/main" val="3038120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2938686010"/>
              </p:ext>
            </p:extLst>
          </p:nvPr>
        </p:nvGraphicFramePr>
        <p:xfrm>
          <a:off x="864745" y="204246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00581612"/>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318289018"/>
                  </a:ext>
                </a:extLst>
              </a:tr>
              <a:tr h="670747">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674153229"/>
                  </a:ext>
                </a:extLst>
              </a:tr>
              <a:tr h="670747">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152985124"/>
                  </a:ext>
                </a:extLst>
              </a:tr>
              <a:tr h="670747">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4271682439"/>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798604360"/>
                  </a:ext>
                </a:extLst>
              </a:tr>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4290571482"/>
                  </a:ext>
                </a:extLst>
              </a:tr>
              <a:tr h="670747">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3875681615"/>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7</a:t>
            </a:fld>
            <a:endParaRPr lang="zh-TW" altLang="en-US" dirty="0"/>
          </a:p>
        </p:txBody>
      </p:sp>
      <p:cxnSp>
        <p:nvCxnSpPr>
          <p:cNvPr id="6" name="直線單箭頭接點 5"/>
          <p:cNvCxnSpPr/>
          <p:nvPr/>
        </p:nvCxnSpPr>
        <p:spPr>
          <a:xfrm>
            <a:off x="223284" y="2264735"/>
            <a:ext cx="457200"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658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nvPr>
        </p:nvGraphicFramePr>
        <p:xfrm>
          <a:off x="864745" y="204246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00581612"/>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318289018"/>
                  </a:ext>
                </a:extLst>
              </a:tr>
              <a:tr h="670747">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674153229"/>
                  </a:ext>
                </a:extLst>
              </a:tr>
              <a:tr h="670747">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152985124"/>
                  </a:ext>
                </a:extLst>
              </a:tr>
              <a:tr h="670747">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4271682439"/>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798604360"/>
                  </a:ext>
                </a:extLst>
              </a:tr>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4290571482"/>
                  </a:ext>
                </a:extLst>
              </a:tr>
              <a:tr h="670747">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3875681615"/>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8</a:t>
            </a:fld>
            <a:endParaRPr lang="zh-TW" altLang="en-US" dirty="0"/>
          </a:p>
        </p:txBody>
      </p:sp>
      <p:cxnSp>
        <p:nvCxnSpPr>
          <p:cNvPr id="6" name="直線單箭頭接點 5"/>
          <p:cNvCxnSpPr/>
          <p:nvPr/>
        </p:nvCxnSpPr>
        <p:spPr>
          <a:xfrm>
            <a:off x="223284" y="2264735"/>
            <a:ext cx="457200"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橢圓 6"/>
          <p:cNvSpPr/>
          <p:nvPr/>
        </p:nvSpPr>
        <p:spPr>
          <a:xfrm>
            <a:off x="5843613" y="2042464"/>
            <a:ext cx="1779931" cy="17799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95000"/>
                    <a:lumOff val="5000"/>
                  </a:schemeClr>
                </a:solidFill>
              </a:rPr>
              <a:t>Training subset</a:t>
            </a:r>
            <a:endParaRPr lang="zh-TW" altLang="en-US" dirty="0">
              <a:solidFill>
                <a:schemeClr val="tx1">
                  <a:lumMod val="95000"/>
                  <a:lumOff val="5000"/>
                </a:schemeClr>
              </a:solidFill>
            </a:endParaRPr>
          </a:p>
        </p:txBody>
      </p:sp>
      <p:sp>
        <p:nvSpPr>
          <p:cNvPr id="8" name="橢圓 7"/>
          <p:cNvSpPr/>
          <p:nvPr/>
        </p:nvSpPr>
        <p:spPr>
          <a:xfrm>
            <a:off x="8044552" y="2042464"/>
            <a:ext cx="1779931" cy="17799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95000"/>
                    <a:lumOff val="5000"/>
                  </a:schemeClr>
                </a:solidFill>
              </a:rPr>
              <a:t>Evaluating subset</a:t>
            </a:r>
            <a:endParaRPr lang="zh-TW" altLang="en-US" dirty="0">
              <a:solidFill>
                <a:schemeClr val="tx1">
                  <a:lumMod val="95000"/>
                  <a:lumOff val="5000"/>
                </a:schemeClr>
              </a:solidFill>
            </a:endParaRPr>
          </a:p>
        </p:txBody>
      </p:sp>
    </p:spTree>
    <p:extLst>
      <p:ext uri="{BB962C8B-B14F-4D97-AF65-F5344CB8AC3E}">
        <p14:creationId xmlns:p14="http://schemas.microsoft.com/office/powerpoint/2010/main" val="2987543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nvPr>
        </p:nvGraphicFramePr>
        <p:xfrm>
          <a:off x="864745" y="204246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00581612"/>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318289018"/>
                  </a:ext>
                </a:extLst>
              </a:tr>
              <a:tr h="670747">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674153229"/>
                  </a:ext>
                </a:extLst>
              </a:tr>
              <a:tr h="670747">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152985124"/>
                  </a:ext>
                </a:extLst>
              </a:tr>
              <a:tr h="670747">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4271682439"/>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798604360"/>
                  </a:ext>
                </a:extLst>
              </a:tr>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4290571482"/>
                  </a:ext>
                </a:extLst>
              </a:tr>
              <a:tr h="670747">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3875681615"/>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9</a:t>
            </a:fld>
            <a:endParaRPr lang="zh-TW" altLang="en-US" dirty="0"/>
          </a:p>
        </p:txBody>
      </p:sp>
      <p:cxnSp>
        <p:nvCxnSpPr>
          <p:cNvPr id="6" name="直線單箭頭接點 5"/>
          <p:cNvCxnSpPr/>
          <p:nvPr/>
        </p:nvCxnSpPr>
        <p:spPr>
          <a:xfrm>
            <a:off x="223284" y="2264735"/>
            <a:ext cx="457200"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橢圓 6"/>
          <p:cNvSpPr/>
          <p:nvPr/>
        </p:nvSpPr>
        <p:spPr>
          <a:xfrm>
            <a:off x="5843613" y="2042464"/>
            <a:ext cx="1779931" cy="17799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95000"/>
                    <a:lumOff val="5000"/>
                  </a:schemeClr>
                </a:solidFill>
              </a:rPr>
              <a:t>Training subset</a:t>
            </a:r>
            <a:endParaRPr lang="zh-TW" altLang="en-US" dirty="0">
              <a:solidFill>
                <a:schemeClr val="tx1">
                  <a:lumMod val="95000"/>
                  <a:lumOff val="5000"/>
                </a:schemeClr>
              </a:solidFill>
            </a:endParaRPr>
          </a:p>
        </p:txBody>
      </p:sp>
      <p:sp>
        <p:nvSpPr>
          <p:cNvPr id="8" name="橢圓 7"/>
          <p:cNvSpPr/>
          <p:nvPr/>
        </p:nvSpPr>
        <p:spPr>
          <a:xfrm>
            <a:off x="8044552" y="2042464"/>
            <a:ext cx="1779931" cy="17799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95000"/>
                    <a:lumOff val="5000"/>
                  </a:schemeClr>
                </a:solidFill>
              </a:rPr>
              <a:t>Evaluating subset</a:t>
            </a:r>
            <a:endParaRPr lang="zh-TW" altLang="en-US" dirty="0">
              <a:solidFill>
                <a:schemeClr val="tx1">
                  <a:lumMod val="95000"/>
                  <a:lumOff val="5000"/>
                </a:schemeClr>
              </a:solidFill>
            </a:endParaRPr>
          </a:p>
        </p:txBody>
      </p:sp>
      <p:cxnSp>
        <p:nvCxnSpPr>
          <p:cNvPr id="9" name="直線單箭頭接點 8"/>
          <p:cNvCxnSpPr>
            <a:stCxn id="7" idx="4"/>
            <a:endCxn id="10" idx="0"/>
          </p:cNvCxnSpPr>
          <p:nvPr/>
        </p:nvCxnSpPr>
        <p:spPr>
          <a:xfrm flipH="1">
            <a:off x="6730409" y="3822395"/>
            <a:ext cx="3170" cy="494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991446" y="4317148"/>
            <a:ext cx="1477926" cy="11164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95000"/>
                    <a:lumOff val="5000"/>
                  </a:schemeClr>
                </a:solidFill>
              </a:rPr>
              <a:t>Train</a:t>
            </a:r>
            <a:endParaRPr lang="zh-TW" altLang="en-US" dirty="0">
              <a:solidFill>
                <a:schemeClr val="tx1">
                  <a:lumMod val="95000"/>
                  <a:lumOff val="5000"/>
                </a:schemeClr>
              </a:solidFill>
            </a:endParaRPr>
          </a:p>
        </p:txBody>
      </p:sp>
      <p:sp>
        <p:nvSpPr>
          <p:cNvPr id="13" name="矩形 12"/>
          <p:cNvSpPr/>
          <p:nvPr/>
        </p:nvSpPr>
        <p:spPr>
          <a:xfrm>
            <a:off x="8195554" y="4317148"/>
            <a:ext cx="1477926" cy="11164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95000"/>
                    <a:lumOff val="5000"/>
                  </a:schemeClr>
                </a:solidFill>
              </a:rPr>
              <a:t>Model</a:t>
            </a:r>
            <a:endParaRPr lang="zh-TW" altLang="en-US" dirty="0">
              <a:solidFill>
                <a:schemeClr val="tx1">
                  <a:lumMod val="95000"/>
                  <a:lumOff val="5000"/>
                </a:schemeClr>
              </a:solidFill>
            </a:endParaRPr>
          </a:p>
        </p:txBody>
      </p:sp>
      <p:cxnSp>
        <p:nvCxnSpPr>
          <p:cNvPr id="15" name="直線單箭頭接點 14"/>
          <p:cNvCxnSpPr>
            <a:stCxn id="8" idx="4"/>
            <a:endCxn id="13" idx="0"/>
          </p:cNvCxnSpPr>
          <p:nvPr/>
        </p:nvCxnSpPr>
        <p:spPr>
          <a:xfrm flipH="1">
            <a:off x="8934517" y="3822395"/>
            <a:ext cx="1" cy="494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10" idx="3"/>
            <a:endCxn id="13" idx="1"/>
          </p:cNvCxnSpPr>
          <p:nvPr/>
        </p:nvCxnSpPr>
        <p:spPr>
          <a:xfrm>
            <a:off x="7469372" y="4875358"/>
            <a:ext cx="7261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7093500" y="5991777"/>
            <a:ext cx="1477926" cy="11164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95000"/>
                    <a:lumOff val="5000"/>
                  </a:schemeClr>
                </a:solidFill>
              </a:rPr>
              <a:t>Result</a:t>
            </a:r>
            <a:endParaRPr lang="zh-TW" altLang="en-US" dirty="0">
              <a:solidFill>
                <a:schemeClr val="tx1">
                  <a:lumMod val="95000"/>
                  <a:lumOff val="5000"/>
                </a:schemeClr>
              </a:solidFill>
            </a:endParaRPr>
          </a:p>
        </p:txBody>
      </p:sp>
      <p:cxnSp>
        <p:nvCxnSpPr>
          <p:cNvPr id="21" name="接點: 肘形 20"/>
          <p:cNvCxnSpPr>
            <a:stCxn id="13" idx="2"/>
            <a:endCxn id="19" idx="3"/>
          </p:cNvCxnSpPr>
          <p:nvPr/>
        </p:nvCxnSpPr>
        <p:spPr>
          <a:xfrm rot="5400000">
            <a:off x="8194762" y="5810232"/>
            <a:ext cx="1116420" cy="36309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2370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nvPr>
        </p:nvGraphicFramePr>
        <p:xfrm>
          <a:off x="864745" y="204246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0</a:t>
                      </a:r>
                      <a:endParaRPr lang="zh-TW" altLang="en-US" dirty="0"/>
                    </a:p>
                  </a:txBody>
                  <a:tcPr anchor="ctr"/>
                </a:tc>
                <a:tc>
                  <a:txBody>
                    <a:bodyPr/>
                    <a:lstStyle/>
                    <a:p>
                      <a:pPr algn="ctr"/>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00581612"/>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marL="0" algn="ctr" defTabSz="914400" rtl="0" eaLnBrk="1" latinLnBrk="0" hangingPunct="1"/>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1318289018"/>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674153229"/>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152985124"/>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4271682439"/>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1798604360"/>
                  </a:ext>
                </a:extLst>
              </a:tr>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4290571482"/>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875681615"/>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10</a:t>
            </a:fld>
            <a:endParaRPr lang="zh-TW" altLang="en-US" dirty="0"/>
          </a:p>
        </p:txBody>
      </p:sp>
      <p:cxnSp>
        <p:nvCxnSpPr>
          <p:cNvPr id="6" name="直線單箭頭接點 5"/>
          <p:cNvCxnSpPr/>
          <p:nvPr/>
        </p:nvCxnSpPr>
        <p:spPr>
          <a:xfrm>
            <a:off x="223284" y="7108196"/>
            <a:ext cx="457200"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545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nvPr>
        </p:nvGraphicFramePr>
        <p:xfrm>
          <a:off x="864745" y="204246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0</a:t>
                      </a:r>
                      <a:endParaRPr lang="zh-TW" altLang="en-US" dirty="0"/>
                    </a:p>
                  </a:txBody>
                  <a:tcPr anchor="ctr"/>
                </a:tc>
                <a:tc>
                  <a:txBody>
                    <a:bodyPr/>
                    <a:lstStyle/>
                    <a:p>
                      <a:pPr algn="ctr"/>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00581612"/>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marL="0" algn="ctr" defTabSz="914400" rtl="0" eaLnBrk="1" latinLnBrk="0" hangingPunct="1"/>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1318289018"/>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674153229"/>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152985124"/>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4271682439"/>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1798604360"/>
                  </a:ext>
                </a:extLst>
              </a:tr>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4290571482"/>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875681615"/>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11</a:t>
            </a:fld>
            <a:endParaRPr lang="zh-TW" altLang="en-US" dirty="0"/>
          </a:p>
        </p:txBody>
      </p:sp>
      <p:pic>
        <p:nvPicPr>
          <p:cNvPr id="3" name="圖片 2"/>
          <p:cNvPicPr>
            <a:picLocks noChangeAspect="1"/>
          </p:cNvPicPr>
          <p:nvPr/>
        </p:nvPicPr>
        <p:blipFill>
          <a:blip r:embed="rId2"/>
          <a:stretch>
            <a:fillRect/>
          </a:stretch>
        </p:blipFill>
        <p:spPr>
          <a:xfrm>
            <a:off x="5602288" y="3720811"/>
            <a:ext cx="4307257" cy="2009283"/>
          </a:xfrm>
          <a:prstGeom prst="rect">
            <a:avLst/>
          </a:prstGeom>
        </p:spPr>
      </p:pic>
    </p:spTree>
    <p:extLst>
      <p:ext uri="{BB962C8B-B14F-4D97-AF65-F5344CB8AC3E}">
        <p14:creationId xmlns:p14="http://schemas.microsoft.com/office/powerpoint/2010/main" val="2323962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38069182"/>
              </p:ext>
            </p:extLst>
          </p:nvPr>
        </p:nvGraphicFramePr>
        <p:xfrm>
          <a:off x="3342131" y="204246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0</a:t>
                      </a:r>
                      <a:endParaRPr lang="zh-TW" altLang="en-US" dirty="0"/>
                    </a:p>
                  </a:txBody>
                  <a:tcPr anchor="ctr"/>
                </a:tc>
                <a:tc>
                  <a:txBody>
                    <a:bodyPr/>
                    <a:lstStyle/>
                    <a:p>
                      <a:pPr algn="ctr"/>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00581612"/>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marL="0" algn="ctr" defTabSz="914400" rtl="0" eaLnBrk="1" latinLnBrk="0" hangingPunct="1"/>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1318289018"/>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674153229"/>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152985124"/>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4271682439"/>
                  </a:ext>
                </a:extLst>
              </a:tr>
              <a:tr h="670747">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1798604360"/>
                  </a:ext>
                </a:extLst>
              </a:tr>
              <a:tr h="670747">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4290571482"/>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875681615"/>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12</a:t>
            </a:fld>
            <a:endParaRPr lang="zh-TW" altLang="en-US" dirty="0"/>
          </a:p>
        </p:txBody>
      </p:sp>
      <p:graphicFrame>
        <p:nvGraphicFramePr>
          <p:cNvPr id="6" name="內容版面配置區 4"/>
          <p:cNvGraphicFramePr>
            <a:graphicFrameLocks/>
          </p:cNvGraphicFramePr>
          <p:nvPr>
            <p:extLst>
              <p:ext uri="{D42A27DB-BD31-4B8C-83A1-F6EECF244321}">
                <p14:modId xmlns:p14="http://schemas.microsoft.com/office/powerpoint/2010/main" val="1815682180"/>
              </p:ext>
            </p:extLst>
          </p:nvPr>
        </p:nvGraphicFramePr>
        <p:xfrm>
          <a:off x="2909740" y="1781825"/>
          <a:ext cx="4557861" cy="5365976"/>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00581612"/>
                  </a:ext>
                </a:extLst>
              </a:tr>
              <a:tr h="670747">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marL="0" algn="ctr" defTabSz="914400" rtl="0" eaLnBrk="1" latinLnBrk="0" hangingPunct="1"/>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lumMod val="95000"/>
                      </a:schemeClr>
                    </a:solidFill>
                  </a:tcPr>
                </a:tc>
                <a:extLst>
                  <a:ext uri="{0D108BD9-81ED-4DB2-BD59-A6C34878D82A}">
                    <a16:rowId xmlns:a16="http://schemas.microsoft.com/office/drawing/2014/main" val="1318289018"/>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extLst>
                  <a:ext uri="{0D108BD9-81ED-4DB2-BD59-A6C34878D82A}">
                    <a16:rowId xmlns:a16="http://schemas.microsoft.com/office/drawing/2014/main" val="1674153229"/>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52985124"/>
                  </a:ext>
                </a:extLst>
              </a:tr>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4271682439"/>
                  </a:ext>
                </a:extLst>
              </a:tr>
              <a:tr h="670747">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lumMod val="95000"/>
                      </a:schemeClr>
                    </a:solidFill>
                  </a:tcPr>
                </a:tc>
                <a:extLst>
                  <a:ext uri="{0D108BD9-81ED-4DB2-BD59-A6C34878D82A}">
                    <a16:rowId xmlns:a16="http://schemas.microsoft.com/office/drawing/2014/main" val="1798604360"/>
                  </a:ext>
                </a:extLst>
              </a:tr>
              <a:tr h="670747">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4290571482"/>
                  </a:ext>
                </a:extLst>
              </a:tr>
              <a:tr h="670747">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875681615"/>
                  </a:ext>
                </a:extLst>
              </a:tr>
            </a:tbl>
          </a:graphicData>
        </a:graphic>
      </p:graphicFrame>
    </p:spTree>
    <p:extLst>
      <p:ext uri="{BB962C8B-B14F-4D97-AF65-F5344CB8AC3E}">
        <p14:creationId xmlns:p14="http://schemas.microsoft.com/office/powerpoint/2010/main" val="2989172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Binary Flower Pollination 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250776829"/>
              </p:ext>
            </p:extLst>
          </p:nvPr>
        </p:nvGraphicFramePr>
        <p:xfrm>
          <a:off x="3133028" y="3882062"/>
          <a:ext cx="4557861" cy="670747"/>
        </p:xfrm>
        <a:graphic>
          <a:graphicData uri="http://schemas.openxmlformats.org/drawingml/2006/table">
            <a:tbl>
              <a:tblPr firstRow="1" bandRow="1">
                <a:tableStyleId>{5940675A-B579-460E-94D1-54222C63F5DA}</a:tableStyleId>
              </a:tblPr>
              <a:tblGrid>
                <a:gridCol w="651123">
                  <a:extLst>
                    <a:ext uri="{9D8B030D-6E8A-4147-A177-3AD203B41FA5}">
                      <a16:colId xmlns:a16="http://schemas.microsoft.com/office/drawing/2014/main" val="642658245"/>
                    </a:ext>
                  </a:extLst>
                </a:gridCol>
                <a:gridCol w="651123">
                  <a:extLst>
                    <a:ext uri="{9D8B030D-6E8A-4147-A177-3AD203B41FA5}">
                      <a16:colId xmlns:a16="http://schemas.microsoft.com/office/drawing/2014/main" val="2532042228"/>
                    </a:ext>
                  </a:extLst>
                </a:gridCol>
                <a:gridCol w="651123">
                  <a:extLst>
                    <a:ext uri="{9D8B030D-6E8A-4147-A177-3AD203B41FA5}">
                      <a16:colId xmlns:a16="http://schemas.microsoft.com/office/drawing/2014/main" val="147726539"/>
                    </a:ext>
                  </a:extLst>
                </a:gridCol>
                <a:gridCol w="651123">
                  <a:extLst>
                    <a:ext uri="{9D8B030D-6E8A-4147-A177-3AD203B41FA5}">
                      <a16:colId xmlns:a16="http://schemas.microsoft.com/office/drawing/2014/main" val="3708300558"/>
                    </a:ext>
                  </a:extLst>
                </a:gridCol>
                <a:gridCol w="651123">
                  <a:extLst>
                    <a:ext uri="{9D8B030D-6E8A-4147-A177-3AD203B41FA5}">
                      <a16:colId xmlns:a16="http://schemas.microsoft.com/office/drawing/2014/main" val="3958266185"/>
                    </a:ext>
                  </a:extLst>
                </a:gridCol>
                <a:gridCol w="651123">
                  <a:extLst>
                    <a:ext uri="{9D8B030D-6E8A-4147-A177-3AD203B41FA5}">
                      <a16:colId xmlns:a16="http://schemas.microsoft.com/office/drawing/2014/main" val="2207683412"/>
                    </a:ext>
                  </a:extLst>
                </a:gridCol>
                <a:gridCol w="651123">
                  <a:extLst>
                    <a:ext uri="{9D8B030D-6E8A-4147-A177-3AD203B41FA5}">
                      <a16:colId xmlns:a16="http://schemas.microsoft.com/office/drawing/2014/main" val="23789416"/>
                    </a:ext>
                  </a:extLst>
                </a:gridCol>
              </a:tblGrid>
              <a:tr h="670747">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sz="1800" kern="1200" dirty="0">
                          <a:solidFill>
                            <a:srgbClr val="000000"/>
                          </a:solidFill>
                          <a:latin typeface="+mn-lt"/>
                          <a:ea typeface="+mn-ea"/>
                          <a:cs typeface="+mn-cs"/>
                        </a:rPr>
                        <a:t>1</a:t>
                      </a:r>
                      <a:endParaRPr lang="zh-TW" altLang="en-US" sz="1800" kern="1200" dirty="0">
                        <a:solidFill>
                          <a:srgbClr val="000000"/>
                        </a:solidFill>
                        <a:latin typeface="+mn-lt"/>
                        <a:ea typeface="+mn-ea"/>
                        <a:cs typeface="+mn-cs"/>
                      </a:endParaRPr>
                    </a:p>
                  </a:txBody>
                  <a:tcPr anchor="ctr">
                    <a:solidFill>
                      <a:srgbClr val="FFFF00"/>
                    </a:solidFill>
                  </a:tcP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solidFill>
                      <a:srgbClr val="FFFF00"/>
                    </a:solidFill>
                  </a:tcPr>
                </a:tc>
                <a:tc>
                  <a:txBody>
                    <a:bodyPr/>
                    <a:lstStyle/>
                    <a:p>
                      <a:pPr algn="ctr"/>
                      <a:r>
                        <a:rPr lang="en-US" altLang="zh-TW" dirty="0"/>
                        <a:t>0</a:t>
                      </a:r>
                      <a:endParaRPr lang="zh-TW" altLang="en-US" dirty="0"/>
                    </a:p>
                  </a:txBody>
                  <a:tcPr anchor="ctr">
                    <a:solidFill>
                      <a:schemeClr val="bg1"/>
                    </a:solidFill>
                  </a:tcPr>
                </a:tc>
                <a:tc>
                  <a:txBody>
                    <a:bodyPr/>
                    <a:lstStyle/>
                    <a:p>
                      <a:pPr algn="ctr"/>
                      <a:r>
                        <a:rPr lang="en-US" altLang="zh-TW" dirty="0"/>
                        <a:t>1</a:t>
                      </a:r>
                      <a:endParaRPr lang="zh-TW" altLang="en-US" dirty="0"/>
                    </a:p>
                  </a:txBody>
                  <a:tcPr anchor="ctr">
                    <a:solidFill>
                      <a:srgbClr val="FFFF00"/>
                    </a:solidFill>
                  </a:tcPr>
                </a:tc>
                <a:extLst>
                  <a:ext uri="{0D108BD9-81ED-4DB2-BD59-A6C34878D82A}">
                    <a16:rowId xmlns:a16="http://schemas.microsoft.com/office/drawing/2014/main" val="3100581612"/>
                  </a:ext>
                </a:extLst>
              </a:tr>
            </a:tbl>
          </a:graphicData>
        </a:graphic>
      </p:graphicFrame>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13</a:t>
            </a:fld>
            <a:endParaRPr lang="zh-TW" altLang="en-US" dirty="0"/>
          </a:p>
        </p:txBody>
      </p:sp>
      <p:sp>
        <p:nvSpPr>
          <p:cNvPr id="3" name="文字方塊 2"/>
          <p:cNvSpPr txBox="1"/>
          <p:nvPr/>
        </p:nvSpPr>
        <p:spPr>
          <a:xfrm>
            <a:off x="2101977" y="3955825"/>
            <a:ext cx="1031051" cy="523220"/>
          </a:xfrm>
          <a:prstGeom prst="rect">
            <a:avLst/>
          </a:prstGeom>
          <a:noFill/>
        </p:spPr>
        <p:txBody>
          <a:bodyPr wrap="none" rtlCol="0">
            <a:spAutoFit/>
          </a:bodyPr>
          <a:lstStyle/>
          <a:p>
            <a:r>
              <a:rPr lang="en-US" altLang="zh-TW" sz="2800" dirty="0"/>
              <a:t>Goal: </a:t>
            </a:r>
            <a:endParaRPr lang="zh-TW" altLang="en-US" sz="2800" dirty="0"/>
          </a:p>
        </p:txBody>
      </p:sp>
    </p:spTree>
    <p:extLst>
      <p:ext uri="{BB962C8B-B14F-4D97-AF65-F5344CB8AC3E}">
        <p14:creationId xmlns:p14="http://schemas.microsoft.com/office/powerpoint/2010/main" val="2612938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Optimum-Path Forest Classifier</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457200" indent="-457200">
              <a:buFont typeface="Arial" panose="020B0604020202020204" pitchFamily="34" charset="0"/>
              <a:buChar char="•"/>
            </a:pPr>
            <a:endParaRPr lang="en-US" altLang="zh-TW" sz="31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14</a:t>
            </a:fld>
            <a:endParaRPr lang="zh-TW" altLang="en-US" dirty="0"/>
          </a:p>
        </p:txBody>
      </p:sp>
    </p:spTree>
    <p:extLst>
      <p:ext uri="{BB962C8B-B14F-4D97-AF65-F5344CB8AC3E}">
        <p14:creationId xmlns:p14="http://schemas.microsoft.com/office/powerpoint/2010/main" val="4172548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Datasets</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15</a:t>
            </a:fld>
            <a:endParaRPr lang="zh-TW" altLang="en-US" dirty="0"/>
          </a:p>
        </p:txBody>
      </p:sp>
      <p:pic>
        <p:nvPicPr>
          <p:cNvPr id="5" name="圖片 4"/>
          <p:cNvPicPr>
            <a:picLocks noChangeAspect="1"/>
          </p:cNvPicPr>
          <p:nvPr/>
        </p:nvPicPr>
        <p:blipFill>
          <a:blip r:embed="rId2"/>
          <a:stretch>
            <a:fillRect/>
          </a:stretch>
        </p:blipFill>
        <p:spPr>
          <a:xfrm>
            <a:off x="-494" y="2485829"/>
            <a:ext cx="10080625" cy="4179999"/>
          </a:xfrm>
          <a:prstGeom prst="rect">
            <a:avLst/>
          </a:prstGeom>
        </p:spPr>
      </p:pic>
    </p:spTree>
    <p:extLst>
      <p:ext uri="{BB962C8B-B14F-4D97-AF65-F5344CB8AC3E}">
        <p14:creationId xmlns:p14="http://schemas.microsoft.com/office/powerpoint/2010/main" val="3015824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16</a:t>
            </a:fld>
            <a:endParaRPr lang="zh-TW" altLang="en-US" dirty="0"/>
          </a:p>
        </p:txBody>
      </p:sp>
      <p:sp>
        <p:nvSpPr>
          <p:cNvPr id="8" name="內容版面配置區 7"/>
          <p:cNvSpPr>
            <a:spLocks noGrp="1"/>
          </p:cNvSpPr>
          <p:nvPr>
            <p:ph idx="1"/>
          </p:nvPr>
        </p:nvSpPr>
        <p:spPr/>
        <p:txBody>
          <a:bodyPr/>
          <a:lstStyle/>
          <a:p>
            <a:endParaRPr lang="zh-TW" altLang="en-US"/>
          </a:p>
        </p:txBody>
      </p:sp>
      <p:pic>
        <p:nvPicPr>
          <p:cNvPr id="9" name="圖片 8"/>
          <p:cNvPicPr>
            <a:picLocks noChangeAspect="1"/>
          </p:cNvPicPr>
          <p:nvPr/>
        </p:nvPicPr>
        <p:blipFill>
          <a:blip r:embed="rId2"/>
          <a:stretch>
            <a:fillRect/>
          </a:stretch>
        </p:blipFill>
        <p:spPr>
          <a:xfrm>
            <a:off x="131280" y="1547711"/>
            <a:ext cx="3260503" cy="2466729"/>
          </a:xfrm>
          <a:prstGeom prst="rect">
            <a:avLst/>
          </a:prstGeom>
        </p:spPr>
      </p:pic>
      <p:pic>
        <p:nvPicPr>
          <p:cNvPr id="10" name="圖片 9"/>
          <p:cNvPicPr>
            <a:picLocks noChangeAspect="1"/>
          </p:cNvPicPr>
          <p:nvPr/>
        </p:nvPicPr>
        <p:blipFill>
          <a:blip r:embed="rId3"/>
          <a:stretch>
            <a:fillRect/>
          </a:stretch>
        </p:blipFill>
        <p:spPr>
          <a:xfrm>
            <a:off x="3327985" y="1557931"/>
            <a:ext cx="3466214" cy="2467129"/>
          </a:xfrm>
          <a:prstGeom prst="rect">
            <a:avLst/>
          </a:prstGeom>
        </p:spPr>
      </p:pic>
      <p:pic>
        <p:nvPicPr>
          <p:cNvPr id="11" name="圖片 10"/>
          <p:cNvPicPr>
            <a:picLocks noChangeAspect="1"/>
          </p:cNvPicPr>
          <p:nvPr/>
        </p:nvPicPr>
        <p:blipFill>
          <a:blip r:embed="rId4"/>
          <a:stretch>
            <a:fillRect/>
          </a:stretch>
        </p:blipFill>
        <p:spPr>
          <a:xfrm>
            <a:off x="6709143" y="1557931"/>
            <a:ext cx="3380812" cy="2525110"/>
          </a:xfrm>
          <a:prstGeom prst="rect">
            <a:avLst/>
          </a:prstGeom>
        </p:spPr>
      </p:pic>
      <p:pic>
        <p:nvPicPr>
          <p:cNvPr id="12" name="圖片 11"/>
          <p:cNvPicPr>
            <a:picLocks noChangeAspect="1"/>
          </p:cNvPicPr>
          <p:nvPr/>
        </p:nvPicPr>
        <p:blipFill>
          <a:blip r:embed="rId5"/>
          <a:stretch>
            <a:fillRect/>
          </a:stretch>
        </p:blipFill>
        <p:spPr>
          <a:xfrm>
            <a:off x="211912" y="4225552"/>
            <a:ext cx="3179871" cy="2356378"/>
          </a:xfrm>
          <a:prstGeom prst="rect">
            <a:avLst/>
          </a:prstGeom>
        </p:spPr>
      </p:pic>
      <p:pic>
        <p:nvPicPr>
          <p:cNvPr id="13" name="圖片 12"/>
          <p:cNvPicPr>
            <a:picLocks noChangeAspect="1"/>
          </p:cNvPicPr>
          <p:nvPr/>
        </p:nvPicPr>
        <p:blipFill>
          <a:blip r:embed="rId6"/>
          <a:stretch>
            <a:fillRect/>
          </a:stretch>
        </p:blipFill>
        <p:spPr>
          <a:xfrm>
            <a:off x="3423678" y="4176204"/>
            <a:ext cx="3285465" cy="2455073"/>
          </a:xfrm>
          <a:prstGeom prst="rect">
            <a:avLst/>
          </a:prstGeom>
        </p:spPr>
      </p:pic>
      <p:pic>
        <p:nvPicPr>
          <p:cNvPr id="14" name="圖片 13"/>
          <p:cNvPicPr>
            <a:picLocks noChangeAspect="1"/>
          </p:cNvPicPr>
          <p:nvPr/>
        </p:nvPicPr>
        <p:blipFill>
          <a:blip r:embed="rId7"/>
          <a:stretch>
            <a:fillRect/>
          </a:stretch>
        </p:blipFill>
        <p:spPr>
          <a:xfrm>
            <a:off x="6678243" y="4174777"/>
            <a:ext cx="3402382" cy="2468292"/>
          </a:xfrm>
          <a:prstGeom prst="rect">
            <a:avLst/>
          </a:prstGeom>
        </p:spPr>
      </p:pic>
    </p:spTree>
    <p:extLst>
      <p:ext uri="{BB962C8B-B14F-4D97-AF65-F5344CB8AC3E}">
        <p14:creationId xmlns:p14="http://schemas.microsoft.com/office/powerpoint/2010/main" val="820653258"/>
      </p:ext>
    </p:extLst>
  </p:cSld>
  <p:clrMapOvr>
    <a:masterClrMapping/>
  </p:clrMapOvr>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19880</TotalTime>
  <Words>832</Words>
  <Application>Microsoft Office PowerPoint</Application>
  <PresentationFormat>自訂</PresentationFormat>
  <Paragraphs>506</Paragraphs>
  <Slides>16</Slides>
  <Notes>1</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16</vt:i4>
      </vt:variant>
    </vt:vector>
  </HeadingPairs>
  <TitlesOfParts>
    <vt:vector size="29" baseType="lpstr">
      <vt:lpstr>Liberation Sans</vt:lpstr>
      <vt:lpstr>Liberation Sans Narrow</vt:lpstr>
      <vt:lpstr>Liberation Serif</vt:lpstr>
      <vt:lpstr>Mangal</vt:lpstr>
      <vt:lpstr>微軟正黑體</vt:lpstr>
      <vt:lpstr>新細明體</vt:lpstr>
      <vt:lpstr>Arial</vt:lpstr>
      <vt:lpstr>Calibri</vt:lpstr>
      <vt:lpstr>Cambria Math</vt:lpstr>
      <vt:lpstr>Ebrima</vt:lpstr>
      <vt:lpstr>Sitka Subheading</vt:lpstr>
      <vt:lpstr>Tahoma</vt:lpstr>
      <vt:lpstr>預設</vt:lpstr>
      <vt:lpstr>Springer International Publishing Switzerland, Recent Advances in Swarm Intelligence and Evolutionary Computation, 2015,  Douglas Rodrigues, Xin-She Yang, André Nunes de Souza and João Paulo Papa </vt:lpstr>
      <vt:lpstr>Abstract (1/2)</vt:lpstr>
      <vt:lpstr>Abstract (2/2)</vt:lpstr>
      <vt:lpstr>Flower Pollination Algorithm</vt:lpstr>
      <vt:lpstr>Binary Flower Pollination Algorithm</vt:lpstr>
      <vt:lpstr>Binary Flower Pollination Algorithm</vt:lpstr>
      <vt:lpstr>Binary Flower Pollination Algorithm</vt:lpstr>
      <vt:lpstr>Binary Flower Pollination Algorithm</vt:lpstr>
      <vt:lpstr>Binary Flower Pollination Algorithm</vt:lpstr>
      <vt:lpstr>Binary Flower Pollination Algorithm</vt:lpstr>
      <vt:lpstr>Binary Flower Pollination Algorithm</vt:lpstr>
      <vt:lpstr>Binary Flower Pollination Algorithm</vt:lpstr>
      <vt:lpstr>Binary Flower Pollination Algorithm</vt:lpstr>
      <vt:lpstr>Optimum-Path Forest Classifier</vt:lpstr>
      <vt:lpstr>Experimental Result</vt:lpstr>
      <vt:lpstr>Experimental 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Communications of the ACM June 1975 Volume 18 Number 6 D.S. Hirschberg Princeton University</dc:title>
  <dc:creator>Shecil</dc:creator>
  <cp:lastModifiedBy>whfu</cp:lastModifiedBy>
  <cp:revision>314</cp:revision>
  <dcterms:created xsi:type="dcterms:W3CDTF">2015-10-08T13:19:19Z</dcterms:created>
  <dcterms:modified xsi:type="dcterms:W3CDTF">2017-08-08T03:33:09Z</dcterms:modified>
</cp:coreProperties>
</file>