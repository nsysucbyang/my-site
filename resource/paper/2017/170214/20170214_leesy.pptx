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4" r:id="rId8"/>
    <p:sldId id="261" r:id="rId9"/>
    <p:sldId id="263" r:id="rId10"/>
    <p:sldId id="274" r:id="rId11"/>
    <p:sldId id="278" r:id="rId12"/>
    <p:sldId id="279" r:id="rId13"/>
    <p:sldId id="265" r:id="rId14"/>
    <p:sldId id="266" r:id="rId15"/>
    <p:sldId id="268" r:id="rId16"/>
    <p:sldId id="269" r:id="rId17"/>
    <p:sldId id="270" r:id="rId18"/>
    <p:sldId id="271" r:id="rId19"/>
    <p:sldId id="273" r:id="rId20"/>
    <p:sldId id="275" r:id="rId21"/>
    <p:sldId id="276" r:id="rId2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83" d="100"/>
          <a:sy n="83" d="100"/>
        </p:scale>
        <p:origin x="108" y="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2017/2/14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04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2017/2/14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7248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2017/2/14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291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2017/2/14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9483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2017/2/14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1948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2017/2/14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530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2017/2/14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5807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2017/2/14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9603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2017/2/14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7219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2017/2/14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8200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2017/2/14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18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E010FB-2E68-4D6F-963D-E2C0D8E7433A}" type="datetimeFigureOut">
              <a:rPr lang="zh-TW" altLang="en-US" smtClean="0"/>
              <a:t>2017/2/14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8705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 smtClean="0"/>
              <a:t>How to make a decision:</a:t>
            </a:r>
            <a:br>
              <a:rPr lang="en-US" altLang="zh-TW" b="1" dirty="0" smtClean="0"/>
            </a:br>
            <a:r>
              <a:rPr lang="en-US" altLang="zh-TW" b="1" dirty="0" smtClean="0"/>
              <a:t>The Analytic Hierarchy Process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42999" y="3602038"/>
            <a:ext cx="7134225" cy="1655762"/>
          </a:xfrm>
        </p:spPr>
        <p:txBody>
          <a:bodyPr>
            <a:normAutofit/>
          </a:bodyPr>
          <a:lstStyle/>
          <a:p>
            <a:r>
              <a:rPr lang="fr-FR" altLang="zh-TW" b="1" dirty="0"/>
              <a:t>Thomas L. </a:t>
            </a:r>
            <a:r>
              <a:rPr lang="fr-FR" altLang="zh-TW" b="1" dirty="0" smtClean="0"/>
              <a:t>Saaty</a:t>
            </a:r>
          </a:p>
          <a:p>
            <a:r>
              <a:rPr lang="en-US" altLang="zh-TW" b="1" dirty="0" smtClean="0"/>
              <a:t>European </a:t>
            </a:r>
            <a:r>
              <a:rPr lang="en-US" altLang="zh-TW" b="1" dirty="0"/>
              <a:t>Journal of Operational Research</a:t>
            </a:r>
          </a:p>
          <a:p>
            <a:r>
              <a:rPr lang="en-US" altLang="zh-TW" b="1" dirty="0"/>
              <a:t>Volume 48, Issue 1, 5 September 1990, Pages 9–26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4479634" y="44849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dirty="0"/>
          </a:p>
        </p:txBody>
      </p:sp>
      <p:sp>
        <p:nvSpPr>
          <p:cNvPr id="5" name="副標題 2"/>
          <p:cNvSpPr txBox="1">
            <a:spLocks/>
          </p:cNvSpPr>
          <p:nvPr/>
        </p:nvSpPr>
        <p:spPr>
          <a:xfrm>
            <a:off x="1281111" y="5312807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b="1" dirty="0" smtClean="0"/>
              <a:t>Presenter : </a:t>
            </a:r>
            <a:r>
              <a:rPr lang="en-US" altLang="zh-TW" b="1" dirty="0" err="1" smtClean="0"/>
              <a:t>Shie</a:t>
            </a:r>
            <a:r>
              <a:rPr lang="en-US" altLang="zh-TW" b="1" dirty="0" smtClean="0"/>
              <a:t>-Yan Lee</a:t>
            </a:r>
          </a:p>
          <a:p>
            <a:r>
              <a:rPr lang="en-US" altLang="zh-TW" b="1" dirty="0" smtClean="0"/>
              <a:t>2017/2/14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27520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365126"/>
            <a:ext cx="7886700" cy="1325563"/>
          </a:xfrm>
        </p:spPr>
        <p:txBody>
          <a:bodyPr/>
          <a:lstStyle/>
          <a:p>
            <a:r>
              <a:rPr lang="en-US" altLang="zh-TW" sz="6000" dirty="0" smtClean="0"/>
              <a:t>Abstract</a:t>
            </a:r>
            <a:endParaRPr lang="zh-TW" altLang="en-US" sz="6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95275" y="1825625"/>
            <a:ext cx="871537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 smtClean="0"/>
              <a:t>This paper serves as an introduction to the Analytic Hierarchy Process – A </a:t>
            </a:r>
            <a:r>
              <a:rPr lang="en-US" altLang="zh-TW" dirty="0" err="1" smtClean="0"/>
              <a:t>multicriteria</a:t>
            </a:r>
            <a:r>
              <a:rPr lang="en-US" altLang="zh-TW" dirty="0" smtClean="0"/>
              <a:t> decision making approach in which factors are arranged in a hierarchic structure. The principles and the philosophy of the theory are summarized giving general background information of the type of measurement utilized, its properties and applications.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36294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308138" y="365126"/>
            <a:ext cx="7886700" cy="1325563"/>
          </a:xfrm>
        </p:spPr>
        <p:txBody>
          <a:bodyPr>
            <a:normAutofit fontScale="90000"/>
          </a:bodyPr>
          <a:lstStyle/>
          <a:p>
            <a:r>
              <a:rPr lang="en-US" altLang="zh-TW" sz="6000" dirty="0" smtClean="0"/>
              <a:t>Analytic </a:t>
            </a:r>
            <a:r>
              <a:rPr lang="en-US" altLang="zh-TW" sz="6000" dirty="0"/>
              <a:t>Hierarchy Process</a:t>
            </a:r>
            <a:endParaRPr lang="zh-TW" altLang="en-US" sz="6000" dirty="0"/>
          </a:p>
        </p:txBody>
      </p:sp>
      <p:sp>
        <p:nvSpPr>
          <p:cNvPr id="5" name="矩形 4"/>
          <p:cNvSpPr/>
          <p:nvPr/>
        </p:nvSpPr>
        <p:spPr>
          <a:xfrm>
            <a:off x="2717144" y="1609727"/>
            <a:ext cx="3293131" cy="63817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Overall Goal</a:t>
            </a:r>
          </a:p>
        </p:txBody>
      </p:sp>
      <p:sp>
        <p:nvSpPr>
          <p:cNvPr id="6" name="矩形 5"/>
          <p:cNvSpPr/>
          <p:nvPr/>
        </p:nvSpPr>
        <p:spPr>
          <a:xfrm>
            <a:off x="879639" y="3196828"/>
            <a:ext cx="1273012" cy="65246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Criteria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1688098" y="4800597"/>
            <a:ext cx="1511137" cy="65246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Choice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2304051" y="3196828"/>
            <a:ext cx="1273012" cy="65246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Criteria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3728463" y="3196828"/>
            <a:ext cx="1273012" cy="65246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Criteria</a:t>
            </a:r>
            <a:endParaRPr lang="zh-TW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5152875" y="3196828"/>
            <a:ext cx="1273012" cy="65246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Criteria</a:t>
            </a:r>
            <a:endParaRPr lang="zh-TW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6577289" y="3196828"/>
            <a:ext cx="1273012" cy="65246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Criteria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3641738" y="4800597"/>
            <a:ext cx="1511137" cy="65246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Choice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5595378" y="4800597"/>
            <a:ext cx="1511137" cy="65246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Choice</a:t>
            </a:r>
            <a:endParaRPr lang="zh-TW" altLang="en-US" dirty="0"/>
          </a:p>
        </p:txBody>
      </p:sp>
      <p:cxnSp>
        <p:nvCxnSpPr>
          <p:cNvPr id="19" name="直線接點 18"/>
          <p:cNvCxnSpPr>
            <a:stCxn id="5" idx="2"/>
            <a:endCxn id="6" idx="0"/>
          </p:cNvCxnSpPr>
          <p:nvPr/>
        </p:nvCxnSpPr>
        <p:spPr>
          <a:xfrm flipH="1">
            <a:off x="1516145" y="2247900"/>
            <a:ext cx="2847565" cy="9489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5" idx="2"/>
            <a:endCxn id="9" idx="0"/>
          </p:cNvCxnSpPr>
          <p:nvPr/>
        </p:nvCxnSpPr>
        <p:spPr>
          <a:xfrm flipH="1">
            <a:off x="2940557" y="2247900"/>
            <a:ext cx="1423153" cy="9489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stCxn id="5" idx="2"/>
            <a:endCxn id="10" idx="0"/>
          </p:cNvCxnSpPr>
          <p:nvPr/>
        </p:nvCxnSpPr>
        <p:spPr>
          <a:xfrm>
            <a:off x="4363710" y="2247900"/>
            <a:ext cx="1259" cy="9489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直線接點 26"/>
          <p:cNvCxnSpPr>
            <a:stCxn id="5" idx="2"/>
            <a:endCxn id="11" idx="0"/>
          </p:cNvCxnSpPr>
          <p:nvPr/>
        </p:nvCxnSpPr>
        <p:spPr>
          <a:xfrm>
            <a:off x="4363710" y="2247900"/>
            <a:ext cx="1425671" cy="9489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直線接點 29"/>
          <p:cNvCxnSpPr>
            <a:stCxn id="5" idx="2"/>
            <a:endCxn id="12" idx="0"/>
          </p:cNvCxnSpPr>
          <p:nvPr/>
        </p:nvCxnSpPr>
        <p:spPr>
          <a:xfrm>
            <a:off x="4363710" y="2247900"/>
            <a:ext cx="2850085" cy="9489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直線接點 35"/>
          <p:cNvCxnSpPr>
            <a:stCxn id="6" idx="2"/>
            <a:endCxn id="7" idx="0"/>
          </p:cNvCxnSpPr>
          <p:nvPr/>
        </p:nvCxnSpPr>
        <p:spPr>
          <a:xfrm>
            <a:off x="1516145" y="3849289"/>
            <a:ext cx="927522" cy="9513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直線接點 36"/>
          <p:cNvCxnSpPr>
            <a:stCxn id="6" idx="2"/>
            <a:endCxn id="14" idx="0"/>
          </p:cNvCxnSpPr>
          <p:nvPr/>
        </p:nvCxnSpPr>
        <p:spPr>
          <a:xfrm>
            <a:off x="1516145" y="3849289"/>
            <a:ext cx="2881162" cy="9513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直線接點 37"/>
          <p:cNvCxnSpPr>
            <a:stCxn id="6" idx="2"/>
            <a:endCxn id="15" idx="0"/>
          </p:cNvCxnSpPr>
          <p:nvPr/>
        </p:nvCxnSpPr>
        <p:spPr>
          <a:xfrm>
            <a:off x="1516145" y="3849289"/>
            <a:ext cx="4834802" cy="9513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直線接點 46"/>
          <p:cNvCxnSpPr>
            <a:stCxn id="9" idx="2"/>
            <a:endCxn id="7" idx="0"/>
          </p:cNvCxnSpPr>
          <p:nvPr/>
        </p:nvCxnSpPr>
        <p:spPr>
          <a:xfrm flipH="1">
            <a:off x="2443667" y="3849289"/>
            <a:ext cx="496890" cy="9513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直線接點 47"/>
          <p:cNvCxnSpPr>
            <a:stCxn id="9" idx="2"/>
            <a:endCxn id="14" idx="0"/>
          </p:cNvCxnSpPr>
          <p:nvPr/>
        </p:nvCxnSpPr>
        <p:spPr>
          <a:xfrm>
            <a:off x="2940557" y="3849289"/>
            <a:ext cx="1456750" cy="9513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直線接點 48"/>
          <p:cNvCxnSpPr>
            <a:stCxn id="9" idx="2"/>
            <a:endCxn id="15" idx="0"/>
          </p:cNvCxnSpPr>
          <p:nvPr/>
        </p:nvCxnSpPr>
        <p:spPr>
          <a:xfrm>
            <a:off x="2940557" y="3849289"/>
            <a:ext cx="3410390" cy="9513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直線接點 57"/>
          <p:cNvCxnSpPr>
            <a:stCxn id="10" idx="2"/>
            <a:endCxn id="7" idx="0"/>
          </p:cNvCxnSpPr>
          <p:nvPr/>
        </p:nvCxnSpPr>
        <p:spPr>
          <a:xfrm flipH="1">
            <a:off x="2443667" y="3849289"/>
            <a:ext cx="1921302" cy="9513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直線接點 58"/>
          <p:cNvCxnSpPr>
            <a:stCxn id="10" idx="2"/>
            <a:endCxn id="14" idx="0"/>
          </p:cNvCxnSpPr>
          <p:nvPr/>
        </p:nvCxnSpPr>
        <p:spPr>
          <a:xfrm>
            <a:off x="4364969" y="3849289"/>
            <a:ext cx="32338" cy="9513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直線接點 59"/>
          <p:cNvCxnSpPr>
            <a:stCxn id="10" idx="2"/>
            <a:endCxn id="15" idx="0"/>
          </p:cNvCxnSpPr>
          <p:nvPr/>
        </p:nvCxnSpPr>
        <p:spPr>
          <a:xfrm>
            <a:off x="4364969" y="3849289"/>
            <a:ext cx="1985978" cy="9513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直線接點 66"/>
          <p:cNvCxnSpPr>
            <a:stCxn id="11" idx="2"/>
            <a:endCxn id="7" idx="0"/>
          </p:cNvCxnSpPr>
          <p:nvPr/>
        </p:nvCxnSpPr>
        <p:spPr>
          <a:xfrm flipH="1">
            <a:off x="2443667" y="3849289"/>
            <a:ext cx="3345714" cy="9513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直線接點 67"/>
          <p:cNvCxnSpPr>
            <a:stCxn id="11" idx="2"/>
            <a:endCxn id="14" idx="0"/>
          </p:cNvCxnSpPr>
          <p:nvPr/>
        </p:nvCxnSpPr>
        <p:spPr>
          <a:xfrm flipH="1">
            <a:off x="4397307" y="3849289"/>
            <a:ext cx="1392074" cy="9513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直線接點 68"/>
          <p:cNvCxnSpPr>
            <a:stCxn id="11" idx="2"/>
            <a:endCxn id="15" idx="0"/>
          </p:cNvCxnSpPr>
          <p:nvPr/>
        </p:nvCxnSpPr>
        <p:spPr>
          <a:xfrm>
            <a:off x="5789381" y="3849289"/>
            <a:ext cx="561566" cy="9513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直線接點 75"/>
          <p:cNvCxnSpPr>
            <a:stCxn id="12" idx="2"/>
            <a:endCxn id="7" idx="0"/>
          </p:cNvCxnSpPr>
          <p:nvPr/>
        </p:nvCxnSpPr>
        <p:spPr>
          <a:xfrm flipH="1">
            <a:off x="2443667" y="3849289"/>
            <a:ext cx="4770128" cy="9513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直線接點 76"/>
          <p:cNvCxnSpPr>
            <a:stCxn id="12" idx="2"/>
            <a:endCxn id="14" idx="0"/>
          </p:cNvCxnSpPr>
          <p:nvPr/>
        </p:nvCxnSpPr>
        <p:spPr>
          <a:xfrm flipH="1">
            <a:off x="4397307" y="3849289"/>
            <a:ext cx="2816488" cy="9513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直線接點 77"/>
          <p:cNvCxnSpPr>
            <a:stCxn id="12" idx="2"/>
            <a:endCxn id="15" idx="0"/>
          </p:cNvCxnSpPr>
          <p:nvPr/>
        </p:nvCxnSpPr>
        <p:spPr>
          <a:xfrm flipH="1">
            <a:off x="6350947" y="3849289"/>
            <a:ext cx="862848" cy="9513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文字方塊 89"/>
              <p:cNvSpPr txBox="1"/>
              <p:nvPr/>
            </p:nvSpPr>
            <p:spPr>
              <a:xfrm>
                <a:off x="0" y="1754029"/>
                <a:ext cx="9213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𝑙𝑒𝑣𝑒𝑙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0" name="文字方塊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754029"/>
                <a:ext cx="921342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文字方塊 90"/>
              <p:cNvSpPr txBox="1"/>
              <p:nvPr/>
            </p:nvSpPr>
            <p:spPr>
              <a:xfrm>
                <a:off x="0" y="3338392"/>
                <a:ext cx="9213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𝑙𝑒𝑣𝑒𝑙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1" name="文字方塊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338392"/>
                <a:ext cx="921342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文字方塊 91"/>
              <p:cNvSpPr txBox="1"/>
              <p:nvPr/>
            </p:nvSpPr>
            <p:spPr>
              <a:xfrm>
                <a:off x="0" y="4986096"/>
                <a:ext cx="9213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𝑙𝑒𝑣𝑒𝑙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2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2" name="文字方塊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986096"/>
                <a:ext cx="921342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6602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308138" y="365126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TW" sz="6000" dirty="0"/>
              <a:t>Relative Measurement</a:t>
            </a:r>
            <a:endParaRPr lang="zh-TW" altLang="en-US" sz="6000" dirty="0"/>
          </a:p>
        </p:txBody>
      </p:sp>
      <p:sp>
        <p:nvSpPr>
          <p:cNvPr id="5" name="矩形 4"/>
          <p:cNvSpPr/>
          <p:nvPr/>
        </p:nvSpPr>
        <p:spPr>
          <a:xfrm>
            <a:off x="2717144" y="1609727"/>
            <a:ext cx="3293131" cy="63817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Satisfaction with house</a:t>
            </a:r>
          </a:p>
        </p:txBody>
      </p:sp>
      <p:sp>
        <p:nvSpPr>
          <p:cNvPr id="7" name="矩形 6"/>
          <p:cNvSpPr/>
          <p:nvPr/>
        </p:nvSpPr>
        <p:spPr>
          <a:xfrm>
            <a:off x="1688098" y="4800597"/>
            <a:ext cx="1511137" cy="65246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House A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3641738" y="4800597"/>
            <a:ext cx="1511137" cy="65246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House B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5595378" y="4800597"/>
            <a:ext cx="1511137" cy="65246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House C</a:t>
            </a:r>
            <a:endParaRPr lang="zh-TW" altLang="en-US" dirty="0"/>
          </a:p>
        </p:txBody>
      </p:sp>
      <p:cxnSp>
        <p:nvCxnSpPr>
          <p:cNvPr id="19" name="直線接點 18"/>
          <p:cNvCxnSpPr>
            <a:stCxn id="5" idx="2"/>
            <a:endCxn id="114" idx="0"/>
          </p:cNvCxnSpPr>
          <p:nvPr/>
        </p:nvCxnSpPr>
        <p:spPr>
          <a:xfrm flipH="1">
            <a:off x="467230" y="2247900"/>
            <a:ext cx="3896480" cy="9633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5" idx="2"/>
            <a:endCxn id="115" idx="0"/>
          </p:cNvCxnSpPr>
          <p:nvPr/>
        </p:nvCxnSpPr>
        <p:spPr>
          <a:xfrm flipH="1">
            <a:off x="1593756" y="2247900"/>
            <a:ext cx="2769954" cy="9633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stCxn id="5" idx="2"/>
            <a:endCxn id="117" idx="0"/>
          </p:cNvCxnSpPr>
          <p:nvPr/>
        </p:nvCxnSpPr>
        <p:spPr>
          <a:xfrm flipH="1">
            <a:off x="3953080" y="2247900"/>
            <a:ext cx="410630" cy="9633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直線接點 26"/>
          <p:cNvCxnSpPr>
            <a:stCxn id="5" idx="2"/>
            <a:endCxn id="121" idx="0"/>
          </p:cNvCxnSpPr>
          <p:nvPr/>
        </p:nvCxnSpPr>
        <p:spPr>
          <a:xfrm>
            <a:off x="4363710" y="2247900"/>
            <a:ext cx="4175032" cy="9633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直線接點 29"/>
          <p:cNvCxnSpPr>
            <a:stCxn id="5" idx="2"/>
            <a:endCxn id="119" idx="0"/>
          </p:cNvCxnSpPr>
          <p:nvPr/>
        </p:nvCxnSpPr>
        <p:spPr>
          <a:xfrm>
            <a:off x="4363710" y="2247900"/>
            <a:ext cx="2927114" cy="9633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5497306" y="3211230"/>
            <a:ext cx="1080000" cy="64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Modern facilities</a:t>
            </a:r>
          </a:p>
        </p:txBody>
      </p:sp>
      <p:sp>
        <p:nvSpPr>
          <p:cNvPr id="114" name="矩形 113"/>
          <p:cNvSpPr/>
          <p:nvPr/>
        </p:nvSpPr>
        <p:spPr>
          <a:xfrm>
            <a:off x="39335" y="3211230"/>
            <a:ext cx="855790" cy="64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Size of house</a:t>
            </a:r>
            <a:endParaRPr lang="zh-TW" altLang="en-US" dirty="0"/>
          </a:p>
        </p:txBody>
      </p:sp>
      <p:sp>
        <p:nvSpPr>
          <p:cNvPr id="115" name="矩形 114"/>
          <p:cNvSpPr/>
          <p:nvPr/>
        </p:nvSpPr>
        <p:spPr>
          <a:xfrm>
            <a:off x="1053756" y="3211230"/>
            <a:ext cx="1080000" cy="64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Transportation</a:t>
            </a:r>
            <a:endParaRPr lang="zh-TW" altLang="en-US" dirty="0"/>
          </a:p>
        </p:txBody>
      </p:sp>
      <p:sp>
        <p:nvSpPr>
          <p:cNvPr id="116" name="矩形 115"/>
          <p:cNvSpPr/>
          <p:nvPr/>
        </p:nvSpPr>
        <p:spPr>
          <a:xfrm>
            <a:off x="2292387" y="3211230"/>
            <a:ext cx="1080000" cy="64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Neighborhood</a:t>
            </a:r>
            <a:endParaRPr lang="zh-TW" altLang="en-US" dirty="0"/>
          </a:p>
        </p:txBody>
      </p:sp>
      <p:sp>
        <p:nvSpPr>
          <p:cNvPr id="117" name="矩形 116"/>
          <p:cNvSpPr/>
          <p:nvPr/>
        </p:nvSpPr>
        <p:spPr>
          <a:xfrm>
            <a:off x="3531018" y="3211230"/>
            <a:ext cx="844123" cy="64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Age of house</a:t>
            </a:r>
            <a:endParaRPr lang="zh-TW" altLang="en-US" dirty="0"/>
          </a:p>
        </p:txBody>
      </p:sp>
      <p:sp>
        <p:nvSpPr>
          <p:cNvPr id="118" name="矩形 117"/>
          <p:cNvSpPr/>
          <p:nvPr/>
        </p:nvSpPr>
        <p:spPr>
          <a:xfrm>
            <a:off x="4533772" y="3211230"/>
            <a:ext cx="804903" cy="64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Yard space</a:t>
            </a:r>
            <a:endParaRPr lang="zh-TW" altLang="en-US" dirty="0"/>
          </a:p>
        </p:txBody>
      </p:sp>
      <p:sp>
        <p:nvSpPr>
          <p:cNvPr id="119" name="矩形 118"/>
          <p:cNvSpPr/>
          <p:nvPr/>
        </p:nvSpPr>
        <p:spPr>
          <a:xfrm>
            <a:off x="6735937" y="3211230"/>
            <a:ext cx="1109773" cy="64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General Condition</a:t>
            </a:r>
            <a:endParaRPr lang="zh-TW" altLang="en-US" dirty="0"/>
          </a:p>
        </p:txBody>
      </p:sp>
      <p:sp>
        <p:nvSpPr>
          <p:cNvPr id="121" name="矩形 120"/>
          <p:cNvSpPr/>
          <p:nvPr/>
        </p:nvSpPr>
        <p:spPr>
          <a:xfrm>
            <a:off x="8004338" y="3211230"/>
            <a:ext cx="1068807" cy="64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Financing</a:t>
            </a:r>
          </a:p>
        </p:txBody>
      </p:sp>
      <p:cxnSp>
        <p:nvCxnSpPr>
          <p:cNvPr id="132" name="直線接點 131"/>
          <p:cNvCxnSpPr>
            <a:stCxn id="5" idx="2"/>
            <a:endCxn id="116" idx="0"/>
          </p:cNvCxnSpPr>
          <p:nvPr/>
        </p:nvCxnSpPr>
        <p:spPr>
          <a:xfrm flipH="1">
            <a:off x="2832387" y="2247900"/>
            <a:ext cx="1531323" cy="9633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5" name="直線接點 134"/>
          <p:cNvCxnSpPr>
            <a:stCxn id="5" idx="2"/>
            <a:endCxn id="118" idx="0"/>
          </p:cNvCxnSpPr>
          <p:nvPr/>
        </p:nvCxnSpPr>
        <p:spPr>
          <a:xfrm>
            <a:off x="4363710" y="2247900"/>
            <a:ext cx="572514" cy="9633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8" name="直線接點 137"/>
          <p:cNvCxnSpPr>
            <a:stCxn id="5" idx="2"/>
            <a:endCxn id="42" idx="0"/>
          </p:cNvCxnSpPr>
          <p:nvPr/>
        </p:nvCxnSpPr>
        <p:spPr>
          <a:xfrm>
            <a:off x="4363710" y="2247900"/>
            <a:ext cx="1673596" cy="9633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5" name="直線接點 144"/>
          <p:cNvCxnSpPr>
            <a:stCxn id="114" idx="2"/>
            <a:endCxn id="7" idx="0"/>
          </p:cNvCxnSpPr>
          <p:nvPr/>
        </p:nvCxnSpPr>
        <p:spPr>
          <a:xfrm>
            <a:off x="467230" y="3859230"/>
            <a:ext cx="1976437" cy="941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8" name="直線接點 147"/>
          <p:cNvCxnSpPr>
            <a:stCxn id="115" idx="2"/>
            <a:endCxn id="7" idx="0"/>
          </p:cNvCxnSpPr>
          <p:nvPr/>
        </p:nvCxnSpPr>
        <p:spPr>
          <a:xfrm>
            <a:off x="1593756" y="3859230"/>
            <a:ext cx="849911" cy="941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1" name="直線接點 150"/>
          <p:cNvCxnSpPr>
            <a:stCxn id="116" idx="2"/>
            <a:endCxn id="7" idx="0"/>
          </p:cNvCxnSpPr>
          <p:nvPr/>
        </p:nvCxnSpPr>
        <p:spPr>
          <a:xfrm flipH="1">
            <a:off x="2443667" y="3859230"/>
            <a:ext cx="388720" cy="941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4" name="直線接點 153"/>
          <p:cNvCxnSpPr>
            <a:stCxn id="117" idx="2"/>
            <a:endCxn id="7" idx="0"/>
          </p:cNvCxnSpPr>
          <p:nvPr/>
        </p:nvCxnSpPr>
        <p:spPr>
          <a:xfrm flipH="1">
            <a:off x="2443667" y="3859230"/>
            <a:ext cx="1509413" cy="941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直線接點 156"/>
          <p:cNvCxnSpPr>
            <a:stCxn id="118" idx="2"/>
            <a:endCxn id="7" idx="0"/>
          </p:cNvCxnSpPr>
          <p:nvPr/>
        </p:nvCxnSpPr>
        <p:spPr>
          <a:xfrm flipH="1">
            <a:off x="2443667" y="3859230"/>
            <a:ext cx="2492557" cy="941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0" name="直線接點 159"/>
          <p:cNvCxnSpPr>
            <a:stCxn id="42" idx="2"/>
            <a:endCxn id="7" idx="0"/>
          </p:cNvCxnSpPr>
          <p:nvPr/>
        </p:nvCxnSpPr>
        <p:spPr>
          <a:xfrm flipH="1">
            <a:off x="2443667" y="3859230"/>
            <a:ext cx="3593639" cy="941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3" name="直線接點 162"/>
          <p:cNvCxnSpPr>
            <a:stCxn id="119" idx="2"/>
            <a:endCxn id="7" idx="0"/>
          </p:cNvCxnSpPr>
          <p:nvPr/>
        </p:nvCxnSpPr>
        <p:spPr>
          <a:xfrm flipH="1">
            <a:off x="2443667" y="3859230"/>
            <a:ext cx="4847157" cy="941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6" name="直線接點 165"/>
          <p:cNvCxnSpPr>
            <a:stCxn id="121" idx="2"/>
            <a:endCxn id="7" idx="0"/>
          </p:cNvCxnSpPr>
          <p:nvPr/>
        </p:nvCxnSpPr>
        <p:spPr>
          <a:xfrm flipH="1">
            <a:off x="2443667" y="3859230"/>
            <a:ext cx="6095075" cy="941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0" name="直線接點 169"/>
          <p:cNvCxnSpPr>
            <a:stCxn id="114" idx="2"/>
            <a:endCxn id="14" idx="0"/>
          </p:cNvCxnSpPr>
          <p:nvPr/>
        </p:nvCxnSpPr>
        <p:spPr>
          <a:xfrm>
            <a:off x="467230" y="3859230"/>
            <a:ext cx="3930077" cy="941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直線接點 170"/>
          <p:cNvCxnSpPr>
            <a:stCxn id="115" idx="2"/>
            <a:endCxn id="14" idx="0"/>
          </p:cNvCxnSpPr>
          <p:nvPr/>
        </p:nvCxnSpPr>
        <p:spPr>
          <a:xfrm>
            <a:off x="1593756" y="3859230"/>
            <a:ext cx="2803551" cy="941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2" name="直線接點 171"/>
          <p:cNvCxnSpPr>
            <a:stCxn id="116" idx="2"/>
            <a:endCxn id="14" idx="0"/>
          </p:cNvCxnSpPr>
          <p:nvPr/>
        </p:nvCxnSpPr>
        <p:spPr>
          <a:xfrm>
            <a:off x="2832387" y="3859230"/>
            <a:ext cx="1564920" cy="941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3" name="直線接點 172"/>
          <p:cNvCxnSpPr>
            <a:stCxn id="117" idx="2"/>
            <a:endCxn id="14" idx="0"/>
          </p:cNvCxnSpPr>
          <p:nvPr/>
        </p:nvCxnSpPr>
        <p:spPr>
          <a:xfrm>
            <a:off x="3953080" y="3859230"/>
            <a:ext cx="444227" cy="941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4" name="直線接點 173"/>
          <p:cNvCxnSpPr>
            <a:stCxn id="118" idx="2"/>
            <a:endCxn id="14" idx="0"/>
          </p:cNvCxnSpPr>
          <p:nvPr/>
        </p:nvCxnSpPr>
        <p:spPr>
          <a:xfrm flipH="1">
            <a:off x="4397307" y="3859230"/>
            <a:ext cx="538917" cy="941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5" name="直線接點 174"/>
          <p:cNvCxnSpPr>
            <a:stCxn id="42" idx="2"/>
            <a:endCxn id="14" idx="0"/>
          </p:cNvCxnSpPr>
          <p:nvPr/>
        </p:nvCxnSpPr>
        <p:spPr>
          <a:xfrm flipH="1">
            <a:off x="4397307" y="3859230"/>
            <a:ext cx="1639999" cy="941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6" name="直線接點 175"/>
          <p:cNvCxnSpPr>
            <a:stCxn id="119" idx="2"/>
            <a:endCxn id="14" idx="0"/>
          </p:cNvCxnSpPr>
          <p:nvPr/>
        </p:nvCxnSpPr>
        <p:spPr>
          <a:xfrm flipH="1">
            <a:off x="4397307" y="3859230"/>
            <a:ext cx="2893517" cy="941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7" name="直線接點 176"/>
          <p:cNvCxnSpPr>
            <a:stCxn id="121" idx="2"/>
            <a:endCxn id="14" idx="0"/>
          </p:cNvCxnSpPr>
          <p:nvPr/>
        </p:nvCxnSpPr>
        <p:spPr>
          <a:xfrm flipH="1">
            <a:off x="4397307" y="3859230"/>
            <a:ext cx="4141435" cy="941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直線接點 195"/>
          <p:cNvCxnSpPr>
            <a:stCxn id="114" idx="2"/>
            <a:endCxn id="15" idx="0"/>
          </p:cNvCxnSpPr>
          <p:nvPr/>
        </p:nvCxnSpPr>
        <p:spPr>
          <a:xfrm>
            <a:off x="467230" y="3859230"/>
            <a:ext cx="5883717" cy="941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7" name="直線接點 196"/>
          <p:cNvCxnSpPr>
            <a:stCxn id="115" idx="2"/>
            <a:endCxn id="15" idx="0"/>
          </p:cNvCxnSpPr>
          <p:nvPr/>
        </p:nvCxnSpPr>
        <p:spPr>
          <a:xfrm>
            <a:off x="1593756" y="3859230"/>
            <a:ext cx="4757191" cy="941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8" name="直線接點 197"/>
          <p:cNvCxnSpPr>
            <a:stCxn id="116" idx="2"/>
            <a:endCxn id="15" idx="0"/>
          </p:cNvCxnSpPr>
          <p:nvPr/>
        </p:nvCxnSpPr>
        <p:spPr>
          <a:xfrm>
            <a:off x="2832387" y="3859230"/>
            <a:ext cx="3518560" cy="941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9" name="直線接點 198"/>
          <p:cNvCxnSpPr>
            <a:stCxn id="117" idx="2"/>
            <a:endCxn id="15" idx="0"/>
          </p:cNvCxnSpPr>
          <p:nvPr/>
        </p:nvCxnSpPr>
        <p:spPr>
          <a:xfrm>
            <a:off x="3953080" y="3859230"/>
            <a:ext cx="2397867" cy="941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0" name="直線接點 199"/>
          <p:cNvCxnSpPr>
            <a:stCxn id="118" idx="2"/>
            <a:endCxn id="15" idx="0"/>
          </p:cNvCxnSpPr>
          <p:nvPr/>
        </p:nvCxnSpPr>
        <p:spPr>
          <a:xfrm>
            <a:off x="4936224" y="3859230"/>
            <a:ext cx="1414723" cy="941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1" name="直線接點 200"/>
          <p:cNvCxnSpPr>
            <a:stCxn id="42" idx="2"/>
            <a:endCxn id="15" idx="0"/>
          </p:cNvCxnSpPr>
          <p:nvPr/>
        </p:nvCxnSpPr>
        <p:spPr>
          <a:xfrm>
            <a:off x="6037306" y="3859230"/>
            <a:ext cx="313641" cy="941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2" name="直線接點 201"/>
          <p:cNvCxnSpPr>
            <a:stCxn id="119" idx="2"/>
            <a:endCxn id="15" idx="0"/>
          </p:cNvCxnSpPr>
          <p:nvPr/>
        </p:nvCxnSpPr>
        <p:spPr>
          <a:xfrm flipH="1">
            <a:off x="6350947" y="3859230"/>
            <a:ext cx="939877" cy="941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3" name="直線接點 202"/>
          <p:cNvCxnSpPr>
            <a:stCxn id="121" idx="2"/>
            <a:endCxn id="15" idx="0"/>
          </p:cNvCxnSpPr>
          <p:nvPr/>
        </p:nvCxnSpPr>
        <p:spPr>
          <a:xfrm flipH="1">
            <a:off x="6350947" y="3859230"/>
            <a:ext cx="2187795" cy="941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0406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308138" y="365126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TW" sz="6000" dirty="0"/>
              <a:t>Relative Measurement</a:t>
            </a:r>
            <a:endParaRPr lang="zh-TW" altLang="en-US" sz="6000" dirty="0"/>
          </a:p>
        </p:txBody>
      </p:sp>
      <p:sp>
        <p:nvSpPr>
          <p:cNvPr id="5" name="矩形 4"/>
          <p:cNvSpPr/>
          <p:nvPr/>
        </p:nvSpPr>
        <p:spPr>
          <a:xfrm>
            <a:off x="2717144" y="1609727"/>
            <a:ext cx="3293131" cy="63817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Satisfaction with house</a:t>
            </a:r>
          </a:p>
        </p:txBody>
      </p:sp>
      <p:sp>
        <p:nvSpPr>
          <p:cNvPr id="7" name="矩形 6"/>
          <p:cNvSpPr/>
          <p:nvPr/>
        </p:nvSpPr>
        <p:spPr>
          <a:xfrm>
            <a:off x="1688098" y="4800597"/>
            <a:ext cx="1511137" cy="65246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House A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3641738" y="4800597"/>
            <a:ext cx="1511137" cy="65246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House B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5595378" y="4800597"/>
            <a:ext cx="1511137" cy="65246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House C</a:t>
            </a:r>
            <a:endParaRPr lang="zh-TW" altLang="en-US" dirty="0"/>
          </a:p>
        </p:txBody>
      </p:sp>
      <p:cxnSp>
        <p:nvCxnSpPr>
          <p:cNvPr id="19" name="直線接點 18"/>
          <p:cNvCxnSpPr>
            <a:stCxn id="5" idx="2"/>
            <a:endCxn id="114" idx="0"/>
          </p:cNvCxnSpPr>
          <p:nvPr/>
        </p:nvCxnSpPr>
        <p:spPr>
          <a:xfrm flipH="1">
            <a:off x="1166882" y="2247900"/>
            <a:ext cx="3196828" cy="9633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5" idx="2"/>
            <a:endCxn id="115" idx="0"/>
          </p:cNvCxnSpPr>
          <p:nvPr/>
        </p:nvCxnSpPr>
        <p:spPr>
          <a:xfrm flipH="1">
            <a:off x="3451748" y="2247900"/>
            <a:ext cx="911962" cy="9633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stCxn id="5" idx="2"/>
            <a:endCxn id="117" idx="0"/>
          </p:cNvCxnSpPr>
          <p:nvPr/>
        </p:nvCxnSpPr>
        <p:spPr>
          <a:xfrm>
            <a:off x="4363710" y="2247900"/>
            <a:ext cx="1375387" cy="9633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直線接點 26"/>
          <p:cNvCxnSpPr>
            <a:stCxn id="5" idx="2"/>
            <a:endCxn id="121" idx="0"/>
          </p:cNvCxnSpPr>
          <p:nvPr/>
        </p:nvCxnSpPr>
        <p:spPr>
          <a:xfrm>
            <a:off x="4363710" y="2247900"/>
            <a:ext cx="3504868" cy="9633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4" name="矩形 113"/>
          <p:cNvSpPr/>
          <p:nvPr/>
        </p:nvSpPr>
        <p:spPr>
          <a:xfrm>
            <a:off x="349907" y="3211230"/>
            <a:ext cx="1633950" cy="64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Size of house</a:t>
            </a:r>
            <a:endParaRPr lang="zh-TW" altLang="en-US" dirty="0"/>
          </a:p>
        </p:txBody>
      </p:sp>
      <p:sp>
        <p:nvSpPr>
          <p:cNvPr id="115" name="矩形 114"/>
          <p:cNvSpPr/>
          <p:nvPr/>
        </p:nvSpPr>
        <p:spPr>
          <a:xfrm>
            <a:off x="2531818" y="3211230"/>
            <a:ext cx="1839859" cy="64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Transportation</a:t>
            </a:r>
            <a:endParaRPr lang="zh-TW" altLang="en-US" dirty="0"/>
          </a:p>
        </p:txBody>
      </p:sp>
      <p:sp>
        <p:nvSpPr>
          <p:cNvPr id="117" name="矩形 116"/>
          <p:cNvSpPr/>
          <p:nvPr/>
        </p:nvSpPr>
        <p:spPr>
          <a:xfrm>
            <a:off x="4919638" y="3211230"/>
            <a:ext cx="1638917" cy="64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Age of house</a:t>
            </a:r>
            <a:endParaRPr lang="zh-TW" altLang="en-US" dirty="0"/>
          </a:p>
        </p:txBody>
      </p:sp>
      <p:sp>
        <p:nvSpPr>
          <p:cNvPr id="121" name="矩形 120"/>
          <p:cNvSpPr/>
          <p:nvPr/>
        </p:nvSpPr>
        <p:spPr>
          <a:xfrm>
            <a:off x="7106515" y="3211230"/>
            <a:ext cx="1524126" cy="64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Financing</a:t>
            </a:r>
          </a:p>
        </p:txBody>
      </p:sp>
      <p:cxnSp>
        <p:nvCxnSpPr>
          <p:cNvPr id="145" name="直線接點 144"/>
          <p:cNvCxnSpPr>
            <a:stCxn id="114" idx="2"/>
            <a:endCxn id="7" idx="0"/>
          </p:cNvCxnSpPr>
          <p:nvPr/>
        </p:nvCxnSpPr>
        <p:spPr>
          <a:xfrm>
            <a:off x="1166882" y="3859230"/>
            <a:ext cx="1276785" cy="941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8" name="直線接點 147"/>
          <p:cNvCxnSpPr>
            <a:stCxn id="115" idx="2"/>
            <a:endCxn id="7" idx="0"/>
          </p:cNvCxnSpPr>
          <p:nvPr/>
        </p:nvCxnSpPr>
        <p:spPr>
          <a:xfrm flipH="1">
            <a:off x="2443667" y="3859230"/>
            <a:ext cx="1008081" cy="941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4" name="直線接點 153"/>
          <p:cNvCxnSpPr>
            <a:stCxn id="117" idx="2"/>
            <a:endCxn id="7" idx="0"/>
          </p:cNvCxnSpPr>
          <p:nvPr/>
        </p:nvCxnSpPr>
        <p:spPr>
          <a:xfrm flipH="1">
            <a:off x="2443667" y="3859230"/>
            <a:ext cx="3295430" cy="941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6" name="直線接點 165"/>
          <p:cNvCxnSpPr>
            <a:stCxn id="121" idx="2"/>
            <a:endCxn id="7" idx="0"/>
          </p:cNvCxnSpPr>
          <p:nvPr/>
        </p:nvCxnSpPr>
        <p:spPr>
          <a:xfrm flipH="1">
            <a:off x="2443667" y="3859230"/>
            <a:ext cx="5424911" cy="941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0" name="直線接點 169"/>
          <p:cNvCxnSpPr>
            <a:stCxn id="114" idx="2"/>
            <a:endCxn id="14" idx="0"/>
          </p:cNvCxnSpPr>
          <p:nvPr/>
        </p:nvCxnSpPr>
        <p:spPr>
          <a:xfrm>
            <a:off x="1166882" y="3859230"/>
            <a:ext cx="3230425" cy="941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直線接點 170"/>
          <p:cNvCxnSpPr>
            <a:stCxn id="115" idx="2"/>
            <a:endCxn id="14" idx="0"/>
          </p:cNvCxnSpPr>
          <p:nvPr/>
        </p:nvCxnSpPr>
        <p:spPr>
          <a:xfrm>
            <a:off x="3451748" y="3859230"/>
            <a:ext cx="945559" cy="941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3" name="直線接點 172"/>
          <p:cNvCxnSpPr>
            <a:stCxn id="117" idx="2"/>
            <a:endCxn id="14" idx="0"/>
          </p:cNvCxnSpPr>
          <p:nvPr/>
        </p:nvCxnSpPr>
        <p:spPr>
          <a:xfrm flipH="1">
            <a:off x="4397307" y="3859230"/>
            <a:ext cx="1341790" cy="941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7" name="直線接點 176"/>
          <p:cNvCxnSpPr>
            <a:stCxn id="121" idx="2"/>
            <a:endCxn id="14" idx="0"/>
          </p:cNvCxnSpPr>
          <p:nvPr/>
        </p:nvCxnSpPr>
        <p:spPr>
          <a:xfrm flipH="1">
            <a:off x="4397307" y="3859230"/>
            <a:ext cx="3471271" cy="941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直線接點 195"/>
          <p:cNvCxnSpPr>
            <a:stCxn id="114" idx="2"/>
            <a:endCxn id="15" idx="0"/>
          </p:cNvCxnSpPr>
          <p:nvPr/>
        </p:nvCxnSpPr>
        <p:spPr>
          <a:xfrm>
            <a:off x="1166882" y="3859230"/>
            <a:ext cx="5184065" cy="941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7" name="直線接點 196"/>
          <p:cNvCxnSpPr>
            <a:stCxn id="115" idx="2"/>
            <a:endCxn id="15" idx="0"/>
          </p:cNvCxnSpPr>
          <p:nvPr/>
        </p:nvCxnSpPr>
        <p:spPr>
          <a:xfrm>
            <a:off x="3451748" y="3859230"/>
            <a:ext cx="2899199" cy="941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9" name="直線接點 198"/>
          <p:cNvCxnSpPr>
            <a:stCxn id="117" idx="2"/>
            <a:endCxn id="15" idx="0"/>
          </p:cNvCxnSpPr>
          <p:nvPr/>
        </p:nvCxnSpPr>
        <p:spPr>
          <a:xfrm>
            <a:off x="5739097" y="3859230"/>
            <a:ext cx="611850" cy="941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3" name="直線接點 202"/>
          <p:cNvCxnSpPr>
            <a:stCxn id="121" idx="2"/>
            <a:endCxn id="15" idx="0"/>
          </p:cNvCxnSpPr>
          <p:nvPr/>
        </p:nvCxnSpPr>
        <p:spPr>
          <a:xfrm flipH="1">
            <a:off x="6350947" y="3859230"/>
            <a:ext cx="1517631" cy="941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9804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308138" y="365126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TW" sz="6000" dirty="0" smtClean="0"/>
              <a:t>Paired </a:t>
            </a:r>
            <a:r>
              <a:rPr lang="en-US" altLang="zh-TW" sz="6000" dirty="0" smtClean="0"/>
              <a:t>Comparison</a:t>
            </a:r>
            <a:endParaRPr lang="zh-TW" altLang="en-US" sz="60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6175784"/>
              </p:ext>
            </p:extLst>
          </p:nvPr>
        </p:nvGraphicFramePr>
        <p:xfrm>
          <a:off x="946313" y="1690689"/>
          <a:ext cx="6130762" cy="45509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6850"/>
                <a:gridCol w="4663912"/>
              </a:tblGrid>
              <a:tr h="42386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Importance</a:t>
                      </a:r>
                      <a:endParaRPr lang="zh-TW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Definition</a:t>
                      </a:r>
                      <a:endParaRPr lang="zh-TW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6878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Equal importance</a:t>
                      </a:r>
                      <a:endParaRPr lang="zh-TW" altLang="en-US" dirty="0"/>
                    </a:p>
                  </a:txBody>
                  <a:tcPr/>
                </a:tc>
              </a:tr>
              <a:tr h="6878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Moderate importance of one over</a:t>
                      </a:r>
                      <a:r>
                        <a:rPr lang="en-US" altLang="zh-TW" baseline="0" dirty="0" smtClean="0"/>
                        <a:t> another</a:t>
                      </a:r>
                      <a:endParaRPr lang="zh-TW" altLang="en-US" dirty="0"/>
                    </a:p>
                  </a:txBody>
                  <a:tcPr/>
                </a:tc>
              </a:tr>
              <a:tr h="6878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Essential or strong importance</a:t>
                      </a:r>
                      <a:endParaRPr lang="zh-TW" altLang="en-US" dirty="0"/>
                    </a:p>
                  </a:txBody>
                  <a:tcPr/>
                </a:tc>
              </a:tr>
              <a:tr h="6878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Very strong importance</a:t>
                      </a:r>
                      <a:endParaRPr lang="zh-TW" altLang="en-US" dirty="0"/>
                    </a:p>
                  </a:txBody>
                  <a:tcPr/>
                </a:tc>
              </a:tr>
              <a:tr h="6878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9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Extreme importance</a:t>
                      </a:r>
                      <a:endParaRPr lang="zh-TW" altLang="en-US" dirty="0"/>
                    </a:p>
                  </a:txBody>
                  <a:tcPr/>
                </a:tc>
              </a:tr>
              <a:tr h="6878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2,4,6,8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Intermediate values between the two adjacent judgments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2191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308138" y="365126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TW" sz="6000" dirty="0"/>
              <a:t>Relative Measurement</a:t>
            </a:r>
            <a:endParaRPr lang="zh-TW" altLang="en-US" sz="6000" dirty="0"/>
          </a:p>
        </p:txBody>
      </p:sp>
      <p:sp>
        <p:nvSpPr>
          <p:cNvPr id="5" name="矩形 4"/>
          <p:cNvSpPr/>
          <p:nvPr/>
        </p:nvSpPr>
        <p:spPr>
          <a:xfrm>
            <a:off x="2717144" y="1609727"/>
            <a:ext cx="3293131" cy="63817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Satisfaction with house</a:t>
            </a:r>
          </a:p>
        </p:txBody>
      </p:sp>
      <p:sp>
        <p:nvSpPr>
          <p:cNvPr id="7" name="矩形 6"/>
          <p:cNvSpPr/>
          <p:nvPr/>
        </p:nvSpPr>
        <p:spPr>
          <a:xfrm>
            <a:off x="1688098" y="4800597"/>
            <a:ext cx="1511137" cy="65246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House A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3641738" y="4800597"/>
            <a:ext cx="1511137" cy="65246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House B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5595378" y="4800597"/>
            <a:ext cx="1511137" cy="65246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House C</a:t>
            </a:r>
            <a:endParaRPr lang="zh-TW" altLang="en-US" dirty="0"/>
          </a:p>
        </p:txBody>
      </p:sp>
      <p:cxnSp>
        <p:nvCxnSpPr>
          <p:cNvPr id="19" name="直線接點 18"/>
          <p:cNvCxnSpPr>
            <a:stCxn id="5" idx="2"/>
            <a:endCxn id="114" idx="0"/>
          </p:cNvCxnSpPr>
          <p:nvPr/>
        </p:nvCxnSpPr>
        <p:spPr>
          <a:xfrm flipH="1">
            <a:off x="1166882" y="2247900"/>
            <a:ext cx="3196828" cy="9633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5" idx="2"/>
            <a:endCxn id="115" idx="0"/>
          </p:cNvCxnSpPr>
          <p:nvPr/>
        </p:nvCxnSpPr>
        <p:spPr>
          <a:xfrm flipH="1">
            <a:off x="3451748" y="2247900"/>
            <a:ext cx="911962" cy="9633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stCxn id="5" idx="2"/>
            <a:endCxn id="117" idx="0"/>
          </p:cNvCxnSpPr>
          <p:nvPr/>
        </p:nvCxnSpPr>
        <p:spPr>
          <a:xfrm>
            <a:off x="4363710" y="2247900"/>
            <a:ext cx="1375387" cy="9633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直線接點 26"/>
          <p:cNvCxnSpPr>
            <a:stCxn id="5" idx="2"/>
            <a:endCxn id="121" idx="0"/>
          </p:cNvCxnSpPr>
          <p:nvPr/>
        </p:nvCxnSpPr>
        <p:spPr>
          <a:xfrm>
            <a:off x="4363710" y="2247900"/>
            <a:ext cx="3504868" cy="9633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4" name="矩形 113"/>
          <p:cNvSpPr/>
          <p:nvPr/>
        </p:nvSpPr>
        <p:spPr>
          <a:xfrm>
            <a:off x="349907" y="3211230"/>
            <a:ext cx="1633950" cy="64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Size of house</a:t>
            </a:r>
            <a:endParaRPr lang="zh-TW" altLang="en-US" dirty="0"/>
          </a:p>
        </p:txBody>
      </p:sp>
      <p:sp>
        <p:nvSpPr>
          <p:cNvPr id="115" name="矩形 114"/>
          <p:cNvSpPr/>
          <p:nvPr/>
        </p:nvSpPr>
        <p:spPr>
          <a:xfrm>
            <a:off x="2531818" y="3211230"/>
            <a:ext cx="1839859" cy="64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Transportation</a:t>
            </a:r>
            <a:endParaRPr lang="zh-TW" altLang="en-US" dirty="0"/>
          </a:p>
        </p:txBody>
      </p:sp>
      <p:sp>
        <p:nvSpPr>
          <p:cNvPr id="117" name="矩形 116"/>
          <p:cNvSpPr/>
          <p:nvPr/>
        </p:nvSpPr>
        <p:spPr>
          <a:xfrm>
            <a:off x="4919638" y="3211230"/>
            <a:ext cx="1638917" cy="64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Age of house</a:t>
            </a:r>
            <a:endParaRPr lang="zh-TW" altLang="en-US" dirty="0"/>
          </a:p>
        </p:txBody>
      </p:sp>
      <p:sp>
        <p:nvSpPr>
          <p:cNvPr id="121" name="矩形 120"/>
          <p:cNvSpPr/>
          <p:nvPr/>
        </p:nvSpPr>
        <p:spPr>
          <a:xfrm>
            <a:off x="7106515" y="3211230"/>
            <a:ext cx="1524126" cy="64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Financing</a:t>
            </a:r>
          </a:p>
        </p:txBody>
      </p:sp>
      <p:cxnSp>
        <p:nvCxnSpPr>
          <p:cNvPr id="145" name="直線接點 144"/>
          <p:cNvCxnSpPr>
            <a:stCxn id="114" idx="2"/>
            <a:endCxn id="7" idx="0"/>
          </p:cNvCxnSpPr>
          <p:nvPr/>
        </p:nvCxnSpPr>
        <p:spPr>
          <a:xfrm>
            <a:off x="1166882" y="3859230"/>
            <a:ext cx="1276785" cy="941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8" name="直線接點 147"/>
          <p:cNvCxnSpPr>
            <a:stCxn id="115" idx="2"/>
            <a:endCxn id="7" idx="0"/>
          </p:cNvCxnSpPr>
          <p:nvPr/>
        </p:nvCxnSpPr>
        <p:spPr>
          <a:xfrm flipH="1">
            <a:off x="2443667" y="3859230"/>
            <a:ext cx="1008081" cy="941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4" name="直線接點 153"/>
          <p:cNvCxnSpPr>
            <a:stCxn id="117" idx="2"/>
            <a:endCxn id="7" idx="0"/>
          </p:cNvCxnSpPr>
          <p:nvPr/>
        </p:nvCxnSpPr>
        <p:spPr>
          <a:xfrm flipH="1">
            <a:off x="2443667" y="3859230"/>
            <a:ext cx="3295430" cy="941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6" name="直線接點 165"/>
          <p:cNvCxnSpPr>
            <a:stCxn id="121" idx="2"/>
            <a:endCxn id="7" idx="0"/>
          </p:cNvCxnSpPr>
          <p:nvPr/>
        </p:nvCxnSpPr>
        <p:spPr>
          <a:xfrm flipH="1">
            <a:off x="2443667" y="3859230"/>
            <a:ext cx="5424911" cy="941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0" name="直線接點 169"/>
          <p:cNvCxnSpPr>
            <a:stCxn id="114" idx="2"/>
            <a:endCxn id="14" idx="0"/>
          </p:cNvCxnSpPr>
          <p:nvPr/>
        </p:nvCxnSpPr>
        <p:spPr>
          <a:xfrm>
            <a:off x="1166882" y="3859230"/>
            <a:ext cx="3230425" cy="941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直線接點 170"/>
          <p:cNvCxnSpPr>
            <a:stCxn id="115" idx="2"/>
            <a:endCxn id="14" idx="0"/>
          </p:cNvCxnSpPr>
          <p:nvPr/>
        </p:nvCxnSpPr>
        <p:spPr>
          <a:xfrm>
            <a:off x="3451748" y="3859230"/>
            <a:ext cx="945559" cy="941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3" name="直線接點 172"/>
          <p:cNvCxnSpPr>
            <a:stCxn id="117" idx="2"/>
            <a:endCxn id="14" idx="0"/>
          </p:cNvCxnSpPr>
          <p:nvPr/>
        </p:nvCxnSpPr>
        <p:spPr>
          <a:xfrm flipH="1">
            <a:off x="4397307" y="3859230"/>
            <a:ext cx="1341790" cy="941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7" name="直線接點 176"/>
          <p:cNvCxnSpPr>
            <a:stCxn id="121" idx="2"/>
            <a:endCxn id="14" idx="0"/>
          </p:cNvCxnSpPr>
          <p:nvPr/>
        </p:nvCxnSpPr>
        <p:spPr>
          <a:xfrm flipH="1">
            <a:off x="4397307" y="3859230"/>
            <a:ext cx="3471271" cy="941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直線接點 195"/>
          <p:cNvCxnSpPr>
            <a:stCxn id="114" idx="2"/>
            <a:endCxn id="15" idx="0"/>
          </p:cNvCxnSpPr>
          <p:nvPr/>
        </p:nvCxnSpPr>
        <p:spPr>
          <a:xfrm>
            <a:off x="1166882" y="3859230"/>
            <a:ext cx="5184065" cy="941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7" name="直線接點 196"/>
          <p:cNvCxnSpPr>
            <a:stCxn id="115" idx="2"/>
            <a:endCxn id="15" idx="0"/>
          </p:cNvCxnSpPr>
          <p:nvPr/>
        </p:nvCxnSpPr>
        <p:spPr>
          <a:xfrm>
            <a:off x="3451748" y="3859230"/>
            <a:ext cx="2899199" cy="941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9" name="直線接點 198"/>
          <p:cNvCxnSpPr>
            <a:stCxn id="117" idx="2"/>
            <a:endCxn id="15" idx="0"/>
          </p:cNvCxnSpPr>
          <p:nvPr/>
        </p:nvCxnSpPr>
        <p:spPr>
          <a:xfrm>
            <a:off x="5739097" y="3859230"/>
            <a:ext cx="611850" cy="941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3" name="直線接點 202"/>
          <p:cNvCxnSpPr>
            <a:stCxn id="121" idx="2"/>
            <a:endCxn id="15" idx="0"/>
          </p:cNvCxnSpPr>
          <p:nvPr/>
        </p:nvCxnSpPr>
        <p:spPr>
          <a:xfrm flipH="1">
            <a:off x="6350947" y="3859230"/>
            <a:ext cx="1517631" cy="941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4" name="文字方塊 83"/>
          <p:cNvSpPr txBox="1"/>
          <p:nvPr/>
        </p:nvSpPr>
        <p:spPr>
          <a:xfrm>
            <a:off x="133415" y="2659795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1</a:t>
            </a:r>
            <a:endParaRPr lang="zh-TW" altLang="en-US" sz="3200" dirty="0"/>
          </a:p>
        </p:txBody>
      </p:sp>
      <p:sp>
        <p:nvSpPr>
          <p:cNvPr id="85" name="文字方塊 84"/>
          <p:cNvSpPr txBox="1"/>
          <p:nvPr/>
        </p:nvSpPr>
        <p:spPr>
          <a:xfrm>
            <a:off x="2427740" y="2659795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2</a:t>
            </a:r>
            <a:endParaRPr lang="zh-TW" altLang="en-US" sz="3200" dirty="0"/>
          </a:p>
        </p:txBody>
      </p:sp>
      <p:sp>
        <p:nvSpPr>
          <p:cNvPr id="86" name="文字方塊 85"/>
          <p:cNvSpPr txBox="1"/>
          <p:nvPr/>
        </p:nvSpPr>
        <p:spPr>
          <a:xfrm>
            <a:off x="4770277" y="2659795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3</a:t>
            </a:r>
            <a:endParaRPr lang="zh-TW" altLang="en-US" sz="3200" dirty="0"/>
          </a:p>
        </p:txBody>
      </p:sp>
      <p:sp>
        <p:nvSpPr>
          <p:cNvPr id="87" name="文字方塊 86"/>
          <p:cNvSpPr txBox="1"/>
          <p:nvPr/>
        </p:nvSpPr>
        <p:spPr>
          <a:xfrm>
            <a:off x="6884358" y="2659795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4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019482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/>
      <p:bldP spid="85" grpId="0"/>
      <p:bldP spid="86" grpId="0"/>
      <p:bldP spid="8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308137" y="365126"/>
            <a:ext cx="8695463" cy="1325563"/>
          </a:xfrm>
        </p:spPr>
        <p:txBody>
          <a:bodyPr>
            <a:normAutofit fontScale="90000"/>
          </a:bodyPr>
          <a:lstStyle/>
          <a:p>
            <a:r>
              <a:rPr lang="en-US" altLang="zh-TW" sz="6000" dirty="0" smtClean="0"/>
              <a:t>Comparison Matrix for criteria</a:t>
            </a:r>
            <a:endParaRPr lang="zh-TW" altLang="en-US" sz="6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6252974"/>
                  </p:ext>
                </p:extLst>
              </p:nvPr>
            </p:nvGraphicFramePr>
            <p:xfrm>
              <a:off x="1850476" y="2073277"/>
              <a:ext cx="4802024" cy="41084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00506"/>
                    <a:gridCol w="1200506"/>
                    <a:gridCol w="1200506"/>
                    <a:gridCol w="1200506"/>
                  </a:tblGrid>
                  <a:tr h="10270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/>
                            <a:t>1</a:t>
                          </a:r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i="1" dirty="0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i="1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/>
                    </a:tc>
                  </a:tr>
                  <a:tr h="10271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sz="2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/>
                            <a:t>1</a:t>
                          </a:r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i="1" dirty="0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/>
                    </a:tc>
                  </a:tr>
                  <a:tr h="10271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sz="2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sz="2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/>
                            <a:t>1</a:t>
                          </a:r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/>
                    </a:tc>
                  </a:tr>
                  <a:tr h="102705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sz="2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sz="2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sz="2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6252974"/>
                  </p:ext>
                </p:extLst>
              </p:nvPr>
            </p:nvGraphicFramePr>
            <p:xfrm>
              <a:off x="1850476" y="2073277"/>
              <a:ext cx="4802024" cy="41084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00506"/>
                    <a:gridCol w="1200506"/>
                    <a:gridCol w="1200506"/>
                    <a:gridCol w="1200506"/>
                  </a:tblGrid>
                  <a:tr h="10270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/>
                            <a:t>1</a:t>
                          </a:r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5"/>
                          <a:stretch>
                            <a:fillRect l="-100000" t="-592" r="-200000" b="-300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5"/>
                          <a:stretch>
                            <a:fillRect l="-201015" t="-592" r="-101015" b="-300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5"/>
                          <a:stretch>
                            <a:fillRect l="-301015" t="-592" r="-1015" b="-300592"/>
                          </a:stretch>
                        </a:blipFill>
                      </a:tcPr>
                    </a:tc>
                  </a:tr>
                  <a:tr h="102716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5"/>
                          <a:stretch>
                            <a:fillRect l="-508" t="-100592" r="-301523" b="-200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/>
                            <a:t>1</a:t>
                          </a:r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5"/>
                          <a:stretch>
                            <a:fillRect l="-201015" t="-100592" r="-101015" b="-200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5"/>
                          <a:stretch>
                            <a:fillRect l="-301015" t="-100592" r="-1015" b="-200592"/>
                          </a:stretch>
                        </a:blipFill>
                      </a:tcPr>
                    </a:tc>
                  </a:tr>
                  <a:tr h="102716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5"/>
                          <a:stretch>
                            <a:fillRect l="-508" t="-201786" r="-301523" b="-1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5"/>
                          <a:stretch>
                            <a:fillRect l="-100000" t="-201786" r="-200000" b="-1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/>
                            <a:t>1</a:t>
                          </a:r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5"/>
                          <a:stretch>
                            <a:fillRect l="-301015" t="-201786" r="-1015" b="-101786"/>
                          </a:stretch>
                        </a:blipFill>
                      </a:tcPr>
                    </a:tc>
                  </a:tr>
                  <a:tr h="102705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5"/>
                          <a:stretch>
                            <a:fillRect l="-508" t="-300000" r="-301523" b="-11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5"/>
                          <a:stretch>
                            <a:fillRect l="-100000" t="-300000" r="-200000" b="-11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5"/>
                          <a:stretch>
                            <a:fillRect l="-201015" t="-300000" r="-101015" b="-11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5"/>
                          <a:stretch>
                            <a:fillRect l="-301015" t="-300000" r="-1015" b="-1183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文字方塊 2"/>
          <p:cNvSpPr txBox="1"/>
          <p:nvPr/>
        </p:nvSpPr>
        <p:spPr>
          <a:xfrm>
            <a:off x="1133475" y="232410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1</a:t>
            </a:r>
            <a:endParaRPr lang="zh-TW" altLang="en-US" sz="32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1133475" y="327660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2</a:t>
            </a:r>
            <a:endParaRPr lang="zh-TW" altLang="en-US" sz="32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1136006" y="433863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3</a:t>
            </a:r>
            <a:endParaRPr lang="zh-TW" altLang="en-US" sz="32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1133475" y="5400675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4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2247900" y="142261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1</a:t>
            </a:r>
            <a:endParaRPr lang="zh-TW" altLang="en-US" sz="32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3429000" y="1416843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2</a:t>
            </a:r>
            <a:endParaRPr lang="zh-TW" altLang="en-US" sz="32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4630819" y="1416843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3</a:t>
            </a:r>
            <a:endParaRPr lang="zh-TW" altLang="en-US" sz="32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5813588" y="1416843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4</a:t>
            </a:r>
            <a:endParaRPr lang="zh-TW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6989395" y="1416843"/>
                <a:ext cx="2014206" cy="11564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3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TW" sz="3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TW" sz="3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3200" dirty="0"/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9395" y="1416843"/>
                <a:ext cx="2014206" cy="115640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8021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0265320"/>
                  </p:ext>
                </p:extLst>
              </p:nvPr>
            </p:nvGraphicFramePr>
            <p:xfrm>
              <a:off x="1850474" y="2073277"/>
              <a:ext cx="6007650" cy="41084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01530"/>
                    <a:gridCol w="1201530"/>
                    <a:gridCol w="1201530"/>
                    <a:gridCol w="1201530"/>
                    <a:gridCol w="1201530"/>
                  </a:tblGrid>
                  <a:tr h="102705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TW" altLang="en-US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i="1" dirty="0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zh-TW" altLang="en-US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i="1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zh-TW" altLang="en-US" sz="28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  <m:t>57.39%</m:t>
                                </m:r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10271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sz="2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zh-TW" altLang="en-US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i="1" dirty="0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zh-TW" altLang="en-US" sz="28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  <m:t>29.13%</m:t>
                                </m:r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10271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sz="2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sz="2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b="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TW" altLang="en-US" sz="28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  <m:t>9.03%</m:t>
                                </m:r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102705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sz="2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sz="2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sz="2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28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i="1" dirty="0" smtClean="0">
                                    <a:latin typeface="Cambria Math" panose="02040503050406030204" pitchFamily="18" charset="0"/>
                                  </a:rPr>
                                  <m:t>4.45%</m:t>
                                </m:r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0265320"/>
                  </p:ext>
                </p:extLst>
              </p:nvPr>
            </p:nvGraphicFramePr>
            <p:xfrm>
              <a:off x="1850474" y="2073277"/>
              <a:ext cx="6007650" cy="41084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01530"/>
                    <a:gridCol w="1201530"/>
                    <a:gridCol w="1201530"/>
                    <a:gridCol w="1201530"/>
                    <a:gridCol w="1201530"/>
                  </a:tblGrid>
                  <a:tr h="102705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508" t="-592" r="-402030" b="-300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100000" t="-592" r="-300000" b="-300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201015" t="-592" r="-201523" b="-300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 rotWithShape="0">
                          <a:blip r:embed="rId4"/>
                          <a:stretch>
                            <a:fillRect l="-299495" t="-592" r="-100505" b="-300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401523" t="-592" r="-1015" b="-300592"/>
                          </a:stretch>
                        </a:blipFill>
                      </a:tcPr>
                    </a:tc>
                  </a:tr>
                  <a:tr h="102716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508" t="-100592" r="-402030" b="-200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100000" t="-100592" r="-300000" b="-200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201015" t="-100592" r="-201523" b="-200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 rotWithShape="0">
                          <a:blip r:embed="rId4"/>
                          <a:stretch>
                            <a:fillRect l="-299495" t="-100592" r="-100505" b="-200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401523" t="-100592" r="-1015" b="-200592"/>
                          </a:stretch>
                        </a:blipFill>
                      </a:tcPr>
                    </a:tc>
                  </a:tr>
                  <a:tr h="102716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508" t="-201786" r="-402030" b="-1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100000" t="-201786" r="-300000" b="-1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201015" t="-201786" r="-201523" b="-1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 rotWithShape="0">
                          <a:blip r:embed="rId4"/>
                          <a:stretch>
                            <a:fillRect l="-299495" t="-201786" r="-100505" b="-1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401523" t="-201786" r="-1015" b="-101786"/>
                          </a:stretch>
                        </a:blipFill>
                      </a:tcPr>
                    </a:tc>
                  </a:tr>
                  <a:tr h="102705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508" t="-300000" r="-402030" b="-11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100000" t="-300000" r="-300000" b="-11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201015" t="-300000" r="-201523" b="-11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 rotWithShape="0">
                          <a:blip r:embed="rId4"/>
                          <a:stretch>
                            <a:fillRect l="-299495" t="-300000" r="-100505" b="-11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401523" t="-300000" r="-1015" b="-1183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文字方塊 2"/>
          <p:cNvSpPr txBox="1"/>
          <p:nvPr/>
        </p:nvSpPr>
        <p:spPr>
          <a:xfrm>
            <a:off x="1133475" y="232410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1</a:t>
            </a:r>
            <a:endParaRPr lang="zh-TW" altLang="en-US" sz="32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1133475" y="327660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2</a:t>
            </a:r>
            <a:endParaRPr lang="zh-TW" altLang="en-US" sz="32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1136006" y="433863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3</a:t>
            </a:r>
            <a:endParaRPr lang="zh-TW" altLang="en-US" sz="32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1133475" y="5400675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4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2247900" y="142261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1</a:t>
            </a:r>
            <a:endParaRPr lang="zh-TW" altLang="en-US" sz="32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3429000" y="1416843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2</a:t>
            </a:r>
            <a:endParaRPr lang="zh-TW" altLang="en-US" sz="32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4630819" y="1416843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3</a:t>
            </a:r>
            <a:endParaRPr lang="zh-TW" altLang="en-US" sz="32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5813588" y="1416843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4</a:t>
            </a:r>
            <a:endParaRPr lang="zh-TW" altLang="en-US" sz="32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6770489" y="1355287"/>
            <a:ext cx="10102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dirty="0" smtClean="0"/>
              <a:t>Priority </a:t>
            </a:r>
          </a:p>
          <a:p>
            <a:pPr algn="ctr"/>
            <a:r>
              <a:rPr lang="en-US" altLang="zh-TW" sz="2000" dirty="0" smtClean="0"/>
              <a:t>Vector</a:t>
            </a:r>
            <a:endParaRPr lang="zh-TW" altLang="en-US" sz="2000" dirty="0"/>
          </a:p>
        </p:txBody>
      </p:sp>
      <p:sp>
        <p:nvSpPr>
          <p:cNvPr id="16" name="標題 1"/>
          <p:cNvSpPr>
            <a:spLocks noGrp="1"/>
          </p:cNvSpPr>
          <p:nvPr>
            <p:ph type="title"/>
          </p:nvPr>
        </p:nvSpPr>
        <p:spPr>
          <a:xfrm>
            <a:off x="308137" y="365126"/>
            <a:ext cx="8695463" cy="1325563"/>
          </a:xfrm>
        </p:spPr>
        <p:txBody>
          <a:bodyPr>
            <a:normAutofit fontScale="90000"/>
          </a:bodyPr>
          <a:lstStyle/>
          <a:p>
            <a:r>
              <a:rPr lang="en-US" altLang="zh-TW" sz="6000" dirty="0" smtClean="0"/>
              <a:t>Comparison Matrix for criteria </a:t>
            </a:r>
            <a:endParaRPr lang="zh-TW" altLang="en-US" sz="6000" dirty="0"/>
          </a:p>
        </p:txBody>
      </p:sp>
    </p:spTree>
    <p:extLst>
      <p:ext uri="{BB962C8B-B14F-4D97-AF65-F5344CB8AC3E}">
        <p14:creationId xmlns:p14="http://schemas.microsoft.com/office/powerpoint/2010/main" val="420593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表格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63011683"/>
                  </p:ext>
                </p:extLst>
              </p:nvPr>
            </p:nvGraphicFramePr>
            <p:xfrm>
              <a:off x="878924" y="667761"/>
              <a:ext cx="6007650" cy="41084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01530"/>
                    <a:gridCol w="1201530"/>
                    <a:gridCol w="1201530"/>
                    <a:gridCol w="1201530"/>
                    <a:gridCol w="1201530"/>
                  </a:tblGrid>
                  <a:tr h="102705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TW" altLang="en-US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i="1" dirty="0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zh-TW" altLang="en-US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i="1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zh-TW" altLang="en-US" sz="28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  <m:t>57.39%</m:t>
                                </m:r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10271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sz="2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zh-TW" altLang="en-US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i="1" dirty="0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zh-TW" altLang="en-US" sz="28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  <m:t>29.13%</m:t>
                                </m:r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10271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sz="2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sz="2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b="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TW" altLang="en-US" sz="28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  <m:t>9.03%</m:t>
                                </m:r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102705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sz="2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sz="2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sz="2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28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i="1" dirty="0" smtClean="0">
                                    <a:latin typeface="Cambria Math" panose="02040503050406030204" pitchFamily="18" charset="0"/>
                                  </a:rPr>
                                  <m:t>4.45%</m:t>
                                </m:r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2" name="表格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63011683"/>
                  </p:ext>
                </p:extLst>
              </p:nvPr>
            </p:nvGraphicFramePr>
            <p:xfrm>
              <a:off x="878924" y="667761"/>
              <a:ext cx="6007650" cy="41084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01530"/>
                    <a:gridCol w="1201530"/>
                    <a:gridCol w="1201530"/>
                    <a:gridCol w="1201530"/>
                    <a:gridCol w="1201530"/>
                  </a:tblGrid>
                  <a:tr h="102705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508" t="-592" r="-401523" b="-300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100508" t="-592" r="-301523" b="-300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199495" t="-592" r="-200000" b="-300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 rotWithShape="0">
                          <a:blip r:embed="rId2"/>
                          <a:stretch>
                            <a:fillRect l="-301015" t="-592" r="-101015" b="-300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401015" t="-592" r="-1015" b="-300592"/>
                          </a:stretch>
                        </a:blipFill>
                      </a:tcPr>
                    </a:tc>
                  </a:tr>
                  <a:tr h="102716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508" t="-100592" r="-401523" b="-200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100508" t="-100592" r="-301523" b="-200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199495" t="-100592" r="-200000" b="-200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 rotWithShape="0">
                          <a:blip r:embed="rId2"/>
                          <a:stretch>
                            <a:fillRect l="-301015" t="-100592" r="-101015" b="-200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401015" t="-100592" r="-1015" b="-200592"/>
                          </a:stretch>
                        </a:blipFill>
                      </a:tcPr>
                    </a:tc>
                  </a:tr>
                  <a:tr h="102716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508" t="-201786" r="-401523" b="-1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100508" t="-201786" r="-301523" b="-1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199495" t="-201786" r="-200000" b="-1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 rotWithShape="0">
                          <a:blip r:embed="rId2"/>
                          <a:stretch>
                            <a:fillRect l="-301015" t="-201786" r="-101015" b="-1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401015" t="-201786" r="-1015" b="-101786"/>
                          </a:stretch>
                        </a:blipFill>
                      </a:tcPr>
                    </a:tc>
                  </a:tr>
                  <a:tr h="102705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508" t="-300000" r="-401523" b="-11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100508" t="-300000" r="-301523" b="-11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199495" t="-300000" r="-200000" b="-11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 rotWithShape="0">
                          <a:blip r:embed="rId2"/>
                          <a:stretch>
                            <a:fillRect l="-301015" t="-300000" r="-101015" b="-11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401015" t="-300000" r="-1015" b="-1183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3" name="文字方塊 12"/>
          <p:cNvSpPr txBox="1"/>
          <p:nvPr/>
        </p:nvSpPr>
        <p:spPr>
          <a:xfrm>
            <a:off x="161925" y="918584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1</a:t>
            </a:r>
            <a:endParaRPr lang="zh-TW" altLang="en-US" sz="32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161925" y="1871084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2</a:t>
            </a:r>
            <a:endParaRPr lang="zh-TW" altLang="en-US" sz="32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164456" y="2933121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3</a:t>
            </a:r>
            <a:endParaRPr lang="zh-TW" altLang="en-US" sz="3200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161925" y="399515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4</a:t>
            </a:r>
            <a:endParaRPr lang="zh-TW" altLang="en-US" sz="3200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1276350" y="17103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1</a:t>
            </a:r>
            <a:endParaRPr lang="zh-TW" altLang="en-US" sz="32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2457450" y="113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2</a:t>
            </a:r>
            <a:endParaRPr lang="zh-TW" altLang="en-US" sz="32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3659269" y="113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3</a:t>
            </a:r>
            <a:endParaRPr lang="zh-TW" altLang="en-US" sz="32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4842038" y="113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4</a:t>
            </a:r>
            <a:endParaRPr lang="zh-TW" altLang="en-US" sz="32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5798939" y="-50229"/>
            <a:ext cx="10102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dirty="0" smtClean="0"/>
              <a:t>Priority </a:t>
            </a:r>
          </a:p>
          <a:p>
            <a:pPr algn="ctr"/>
            <a:r>
              <a:rPr lang="en-US" altLang="zh-TW" sz="2000" dirty="0" smtClean="0"/>
              <a:t>Vector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744041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表格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8122620"/>
                  </p:ext>
                </p:extLst>
              </p:nvPr>
            </p:nvGraphicFramePr>
            <p:xfrm>
              <a:off x="878924" y="667761"/>
              <a:ext cx="6007650" cy="513550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01530"/>
                    <a:gridCol w="1201530"/>
                    <a:gridCol w="1201530"/>
                    <a:gridCol w="1201530"/>
                    <a:gridCol w="1201530"/>
                  </a:tblGrid>
                  <a:tr h="102705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TW" altLang="en-US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i="1" dirty="0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zh-TW" altLang="en-US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i="1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zh-TW" altLang="en-US" sz="28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  <m:t>57.39%</m:t>
                                </m:r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10271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sz="2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zh-TW" altLang="en-US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i="1" dirty="0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zh-TW" altLang="en-US" sz="28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  <m:t>29.13%</m:t>
                                </m:r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10271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sz="2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sz="2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b="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TW" altLang="en-US" sz="28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  <m:t>9.03%</m:t>
                                </m:r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102705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sz="2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sz="2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sz="2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28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i="1" dirty="0" smtClean="0">
                                    <a:latin typeface="Cambria Math" panose="02040503050406030204" pitchFamily="18" charset="0"/>
                                  </a:rPr>
                                  <m:t>4.45%</m:t>
                                </m:r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10270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 smtClean="0"/>
                            <a:t>1.59</a:t>
                          </a:r>
                          <a:endParaRPr lang="zh-TW" altLang="en-US" sz="28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 smtClean="0"/>
                            <a:t>4.34</a:t>
                          </a:r>
                          <a:endParaRPr lang="zh-TW" altLang="en-US" sz="28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 smtClean="0"/>
                            <a:t>13.33</a:t>
                          </a:r>
                          <a:endParaRPr lang="zh-TW" altLang="en-US" sz="28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 smtClean="0"/>
                            <a:t>20.00</a:t>
                          </a:r>
                          <a:endParaRPr lang="zh-TW" altLang="en-US" sz="28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2" name="表格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8122620"/>
                  </p:ext>
                </p:extLst>
              </p:nvPr>
            </p:nvGraphicFramePr>
            <p:xfrm>
              <a:off x="878924" y="667761"/>
              <a:ext cx="6007650" cy="513550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01530"/>
                    <a:gridCol w="1201530"/>
                    <a:gridCol w="1201530"/>
                    <a:gridCol w="1201530"/>
                    <a:gridCol w="1201530"/>
                  </a:tblGrid>
                  <a:tr h="102705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508" t="-592" r="-401523" b="-3988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100508" t="-592" r="-301523" b="-3988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199495" t="-592" r="-200000" b="-3988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 rotWithShape="0">
                          <a:blip r:embed="rId2"/>
                          <a:stretch>
                            <a:fillRect l="-301015" t="-592" r="-101015" b="-3988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401015" t="-592" r="-1015" b="-398817"/>
                          </a:stretch>
                        </a:blipFill>
                      </a:tcPr>
                    </a:tc>
                  </a:tr>
                  <a:tr h="102716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508" t="-101190" r="-401523" b="-301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100508" t="-101190" r="-301523" b="-301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199495" t="-101190" r="-200000" b="-301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 rotWithShape="0">
                          <a:blip r:embed="rId2"/>
                          <a:stretch>
                            <a:fillRect l="-301015" t="-101190" r="-101015" b="-301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401015" t="-101190" r="-1015" b="-301190"/>
                          </a:stretch>
                        </a:blipFill>
                      </a:tcPr>
                    </a:tc>
                  </a:tr>
                  <a:tr h="102716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508" t="-200000" r="-401523" b="-199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100508" t="-200000" r="-301523" b="-199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199495" t="-200000" r="-200000" b="-199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 rotWithShape="0">
                          <a:blip r:embed="rId2"/>
                          <a:stretch>
                            <a:fillRect l="-301015" t="-200000" r="-101015" b="-199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401015" t="-200000" r="-1015" b="-199408"/>
                          </a:stretch>
                        </a:blipFill>
                      </a:tcPr>
                    </a:tc>
                  </a:tr>
                  <a:tr h="102705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08" t="-301786" r="-401523" b="-1005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100508" t="-301786" r="-301523" b="-1005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199495" t="-301786" r="-200000" b="-1005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301015" t="-301786" r="-101015" b="-1005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401015" t="-301786" r="-1015" b="-100595"/>
                          </a:stretch>
                        </a:blipFill>
                      </a:tcPr>
                    </a:tc>
                  </a:tr>
                  <a:tr h="10270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 smtClean="0"/>
                            <a:t>1.59</a:t>
                          </a:r>
                          <a:endParaRPr lang="zh-TW" altLang="en-US" sz="28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 smtClean="0"/>
                            <a:t>4.34</a:t>
                          </a:r>
                          <a:endParaRPr lang="zh-TW" altLang="en-US" sz="28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 smtClean="0"/>
                            <a:t>13.33</a:t>
                          </a:r>
                          <a:endParaRPr lang="zh-TW" altLang="en-US" sz="28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 smtClean="0"/>
                            <a:t>20.00</a:t>
                          </a:r>
                          <a:endParaRPr lang="zh-TW" altLang="en-US" sz="28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3" name="文字方塊 12"/>
          <p:cNvSpPr txBox="1"/>
          <p:nvPr/>
        </p:nvSpPr>
        <p:spPr>
          <a:xfrm>
            <a:off x="161925" y="918584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1</a:t>
            </a:r>
            <a:endParaRPr lang="zh-TW" altLang="en-US" sz="32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161925" y="1871084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2</a:t>
            </a:r>
            <a:endParaRPr lang="zh-TW" altLang="en-US" sz="32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164456" y="2933121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3</a:t>
            </a:r>
            <a:endParaRPr lang="zh-TW" altLang="en-US" sz="3200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161925" y="399515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4</a:t>
            </a:r>
            <a:endParaRPr lang="zh-TW" altLang="en-US" sz="3200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1276350" y="17103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1</a:t>
            </a:r>
            <a:endParaRPr lang="zh-TW" altLang="en-US" sz="32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2457450" y="113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2</a:t>
            </a:r>
            <a:endParaRPr lang="zh-TW" altLang="en-US" sz="32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3659269" y="113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3</a:t>
            </a:r>
            <a:endParaRPr lang="zh-TW" altLang="en-US" sz="32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4842038" y="113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4</a:t>
            </a:r>
            <a:endParaRPr lang="zh-TW" altLang="en-US" sz="32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5798939" y="-50229"/>
            <a:ext cx="10102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dirty="0" smtClean="0"/>
              <a:t>Priority </a:t>
            </a:r>
          </a:p>
          <a:p>
            <a:pPr algn="ctr"/>
            <a:r>
              <a:rPr lang="en-US" altLang="zh-TW" sz="2000" dirty="0" smtClean="0"/>
              <a:t>Vector</a:t>
            </a:r>
            <a:endParaRPr lang="zh-TW" alt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/>
              <p:cNvSpPr txBox="1"/>
              <p:nvPr/>
            </p:nvSpPr>
            <p:spPr>
              <a:xfrm>
                <a:off x="35033" y="5847827"/>
                <a:ext cx="9108967" cy="323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1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TW" sz="2100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2100" b="0" i="1" smtClean="0">
                          <a:latin typeface="Cambria Math" panose="02040503050406030204" pitchFamily="18" charset="0"/>
                        </a:rPr>
                        <m:t>=0.5739∗1.59+0.2913∗4.34+0.1333∗9.03+0.0445</m:t>
                      </m:r>
                      <m:r>
                        <a:rPr lang="en-US" altLang="zh-TW" sz="2100" b="0" i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TW" sz="2100" b="0" i="1" smtClean="0">
                          <a:latin typeface="Cambria Math" panose="02040503050406030204" pitchFamily="18" charset="0"/>
                        </a:rPr>
                        <m:t>20=4.2692</m:t>
                      </m:r>
                    </m:oMath>
                  </m:oMathPara>
                </a14:m>
                <a:endParaRPr lang="zh-TW" altLang="en-US" sz="2100" dirty="0"/>
              </a:p>
            </p:txBody>
          </p:sp>
        </mc:Choice>
        <mc:Fallback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3" y="5847827"/>
                <a:ext cx="9108967" cy="323165"/>
              </a:xfrm>
              <a:prstGeom prst="rect">
                <a:avLst/>
              </a:prstGeom>
              <a:blipFill rotWithShape="0">
                <a:blip r:embed="rId3"/>
                <a:stretch>
                  <a:fillRect l="-268" r="-134" b="-113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文字方塊 21"/>
          <p:cNvSpPr txBox="1"/>
          <p:nvPr/>
        </p:nvSpPr>
        <p:spPr>
          <a:xfrm>
            <a:off x="-11063" y="4951696"/>
            <a:ext cx="8899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sum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406786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字方塊 1"/>
              <p:cNvSpPr txBox="1"/>
              <p:nvPr/>
            </p:nvSpPr>
            <p:spPr>
              <a:xfrm>
                <a:off x="133328" y="971550"/>
                <a:ext cx="449719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TW" sz="3600" dirty="0" smtClean="0"/>
                  <a:t>Consistency index ( </a:t>
                </a:r>
                <a14:m>
                  <m:oMath xmlns:m="http://schemas.openxmlformats.org/officeDocument/2006/math">
                    <m:r>
                      <a:rPr lang="en-US" altLang="zh-TW" sz="3600" i="1" dirty="0" smtClean="0">
                        <a:latin typeface="Cambria Math" panose="02040503050406030204" pitchFamily="18" charset="0"/>
                      </a:rPr>
                      <m:t>𝐶𝐼</m:t>
                    </m:r>
                  </m:oMath>
                </a14:m>
                <a:r>
                  <a:rPr lang="en-US" altLang="zh-TW" sz="3600" dirty="0" smtClean="0"/>
                  <a:t> )</a:t>
                </a:r>
                <a:endParaRPr lang="zh-TW" altLang="en-US" sz="3600" dirty="0"/>
              </a:p>
            </p:txBody>
          </p:sp>
        </mc:Choice>
        <mc:Fallback>
          <p:sp>
            <p:nvSpPr>
              <p:cNvPr id="2" name="文字方塊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28" y="971550"/>
                <a:ext cx="4497193" cy="553998"/>
              </a:xfrm>
              <a:prstGeom prst="rect">
                <a:avLst/>
              </a:prstGeom>
              <a:blipFill rotWithShape="0">
                <a:blip r:embed="rId2"/>
                <a:stretch>
                  <a:fillRect l="-6233" t="-25275" r="-2846" b="-494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23"/>
              <p:cNvSpPr txBox="1"/>
              <p:nvPr/>
            </p:nvSpPr>
            <p:spPr>
              <a:xfrm>
                <a:off x="216008" y="394867"/>
                <a:ext cx="1791516" cy="323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1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TW" sz="2100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2100" b="0" i="1" smtClean="0">
                          <a:latin typeface="Cambria Math" panose="02040503050406030204" pitchFamily="18" charset="0"/>
                        </a:rPr>
                        <m:t>=4.2692</m:t>
                      </m:r>
                    </m:oMath>
                  </m:oMathPara>
                </a14:m>
                <a:endParaRPr lang="zh-TW" altLang="en-US" sz="2100" dirty="0"/>
              </a:p>
            </p:txBody>
          </p:sp>
        </mc:Choice>
        <mc:Fallback>
          <p:sp>
            <p:nvSpPr>
              <p:cNvPr id="24" name="文字方塊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008" y="394867"/>
                <a:ext cx="1791516" cy="323165"/>
              </a:xfrm>
              <a:prstGeom prst="rect">
                <a:avLst/>
              </a:prstGeom>
              <a:blipFill rotWithShape="0">
                <a:blip r:embed="rId3"/>
                <a:stretch>
                  <a:fillRect l="-3401" r="-3061"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字方塊 24"/>
              <p:cNvSpPr txBox="1"/>
              <p:nvPr/>
            </p:nvSpPr>
            <p:spPr>
              <a:xfrm>
                <a:off x="819128" y="1709419"/>
                <a:ext cx="6864893" cy="10520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36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US" altLang="zh-TW" sz="36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4.2692</m:t>
                          </m:r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altLang="zh-TW" sz="3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3600" i="1" dirty="0" smtClean="0">
                          <a:latin typeface="Cambria Math" panose="02040503050406030204" pitchFamily="18" charset="0"/>
                        </a:rPr>
                        <m:t>0.0897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>
          <p:sp>
            <p:nvSpPr>
              <p:cNvPr id="25" name="文字方塊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128" y="1709419"/>
                <a:ext cx="6864893" cy="105201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字方塊 25"/>
              <p:cNvSpPr txBox="1"/>
              <p:nvPr/>
            </p:nvSpPr>
            <p:spPr>
              <a:xfrm>
                <a:off x="216008" y="4911903"/>
                <a:ext cx="437062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TW" sz="3600" dirty="0" smtClean="0"/>
                  <a:t>Consistency ratio ( </a:t>
                </a:r>
                <a14:m>
                  <m:oMath xmlns:m="http://schemas.openxmlformats.org/officeDocument/2006/math">
                    <m:r>
                      <a:rPr lang="en-US" altLang="zh-TW" sz="36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TW" sz="3600" b="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TW" sz="3600" dirty="0" smtClean="0"/>
                  <a:t> )</a:t>
                </a:r>
                <a:endParaRPr lang="zh-TW" altLang="en-US" sz="3600" dirty="0"/>
              </a:p>
            </p:txBody>
          </p:sp>
        </mc:Choice>
        <mc:Fallback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008" y="4911903"/>
                <a:ext cx="4370620" cy="553998"/>
              </a:xfrm>
              <a:prstGeom prst="rect">
                <a:avLst/>
              </a:prstGeom>
              <a:blipFill rotWithShape="0">
                <a:blip r:embed="rId5"/>
                <a:stretch>
                  <a:fillRect l="-6276" t="-25275" r="-5439" b="-483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字方塊 26"/>
              <p:cNvSpPr txBox="1"/>
              <p:nvPr/>
            </p:nvSpPr>
            <p:spPr>
              <a:xfrm>
                <a:off x="901808" y="5649772"/>
                <a:ext cx="6051593" cy="10407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𝐶𝐼</m:t>
                          </m:r>
                        </m:num>
                        <m:den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𝑅𝐼</m:t>
                          </m:r>
                        </m:den>
                      </m:f>
                      <m:r>
                        <a:rPr lang="en-US" altLang="zh-TW" sz="36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0.0897</m:t>
                          </m:r>
                        </m:num>
                        <m:den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0.9</m:t>
                          </m:r>
                        </m:den>
                      </m:f>
                      <m:r>
                        <a:rPr lang="en-US" altLang="zh-TW" sz="3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36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altLang="zh-TW" sz="3600" b="0" i="1" dirty="0" smtClean="0">
                          <a:latin typeface="Cambria Math" panose="02040503050406030204" pitchFamily="18" charset="0"/>
                        </a:rPr>
                        <m:t>0997&lt;10%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>
          <p:sp>
            <p:nvSpPr>
              <p:cNvPr id="27" name="文字方塊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808" y="5649772"/>
                <a:ext cx="6051593" cy="1040734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字方塊 27"/>
              <p:cNvSpPr txBox="1"/>
              <p:nvPr/>
            </p:nvSpPr>
            <p:spPr>
              <a:xfrm>
                <a:off x="216008" y="2993795"/>
                <a:ext cx="598317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TW" sz="3600" dirty="0" smtClean="0"/>
                  <a:t>Random Consistency Index( </a:t>
                </a:r>
                <a14:m>
                  <m:oMath xmlns:m="http://schemas.openxmlformats.org/officeDocument/2006/math">
                    <m:r>
                      <a:rPr lang="en-US" altLang="zh-TW" sz="36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TW" sz="3600" b="0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altLang="zh-TW" sz="3600" dirty="0" smtClean="0"/>
                  <a:t> )</a:t>
                </a:r>
                <a:endParaRPr lang="zh-TW" altLang="en-US" sz="3600" dirty="0"/>
              </a:p>
            </p:txBody>
          </p:sp>
        </mc:Choice>
        <mc:Fallback>
          <p:sp>
            <p:nvSpPr>
              <p:cNvPr id="28" name="文字方塊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008" y="2993795"/>
                <a:ext cx="5983176" cy="553998"/>
              </a:xfrm>
              <a:prstGeom prst="rect">
                <a:avLst/>
              </a:prstGeom>
              <a:blipFill rotWithShape="0">
                <a:blip r:embed="rId7"/>
                <a:stretch>
                  <a:fillRect l="-4582" t="-25275" r="-3870" b="-494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表格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9730817"/>
                  </p:ext>
                </p:extLst>
              </p:nvPr>
            </p:nvGraphicFramePr>
            <p:xfrm>
              <a:off x="901808" y="3743023"/>
              <a:ext cx="6096000" cy="97332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</a:tblGrid>
                  <a:tr h="486662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</a:tr>
                  <a:tr h="486662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𝑅𝐼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0.58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0.9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1.12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1.24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1.32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1.41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1.45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3" name="表格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9730817"/>
                  </p:ext>
                </p:extLst>
              </p:nvPr>
            </p:nvGraphicFramePr>
            <p:xfrm>
              <a:off x="901808" y="3743023"/>
              <a:ext cx="6096000" cy="97332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</a:tblGrid>
                  <a:tr h="48666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8"/>
                          <a:stretch>
                            <a:fillRect l="-1000" t="-2500" r="-904000" b="-10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8"/>
                          <a:stretch>
                            <a:fillRect l="-101000" t="-2500" r="-804000" b="-10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8"/>
                          <a:stretch>
                            <a:fillRect l="-201000" t="-2500" r="-704000" b="-10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8"/>
                          <a:stretch>
                            <a:fillRect l="-301000" t="-2500" r="-604000" b="-10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8"/>
                          <a:stretch>
                            <a:fillRect l="-397030" t="-2500" r="-498020" b="-10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8"/>
                          <a:stretch>
                            <a:fillRect l="-502000" t="-2500" r="-403000" b="-10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8"/>
                          <a:stretch>
                            <a:fillRect l="-602000" t="-2500" r="-303000" b="-10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8"/>
                          <a:stretch>
                            <a:fillRect l="-702000" t="-2500" r="-203000" b="-10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8"/>
                          <a:stretch>
                            <a:fillRect l="-802000" t="-2500" r="-103000" b="-10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8"/>
                          <a:stretch>
                            <a:fillRect l="-902000" t="-2500" r="-3000" b="-102500"/>
                          </a:stretch>
                        </a:blipFill>
                      </a:tcPr>
                    </a:tc>
                  </a:tr>
                  <a:tr h="48666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8"/>
                          <a:stretch>
                            <a:fillRect l="-1000" t="-102500" r="-904000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8"/>
                          <a:stretch>
                            <a:fillRect l="-101000" t="-102500" r="-804000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8"/>
                          <a:stretch>
                            <a:fillRect l="-201000" t="-102500" r="-704000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8"/>
                          <a:stretch>
                            <a:fillRect l="-301000" t="-102500" r="-604000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8"/>
                          <a:stretch>
                            <a:fillRect l="-397030" t="-102500" r="-498020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8"/>
                          <a:stretch>
                            <a:fillRect l="-502000" t="-102500" r="-403000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8"/>
                          <a:stretch>
                            <a:fillRect l="-602000" t="-102500" r="-303000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8"/>
                          <a:stretch>
                            <a:fillRect l="-702000" t="-102500" r="-203000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8"/>
                          <a:stretch>
                            <a:fillRect l="-802000" t="-102500" r="-103000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8"/>
                          <a:stretch>
                            <a:fillRect l="-902000" t="-102500" r="-3000" b="-250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24528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5" grpId="0"/>
      <p:bldP spid="26" grpId="0"/>
      <p:bldP spid="27" grpId="0"/>
      <p:bldP spid="2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44121854"/>
                  </p:ext>
                </p:extLst>
              </p:nvPr>
            </p:nvGraphicFramePr>
            <p:xfrm>
              <a:off x="1221824" y="2684904"/>
              <a:ext cx="3604590" cy="308139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01530"/>
                    <a:gridCol w="1201530"/>
                    <a:gridCol w="1201530"/>
                  </a:tblGrid>
                  <a:tr h="10271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i="1" dirty="0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zh-TW" altLang="en-US" sz="28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</a:tr>
                  <a:tr h="102716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TW" altLang="en-US" sz="28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</a:tr>
                  <a:tr h="102705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sz="2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sz="2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28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44121854"/>
                  </p:ext>
                </p:extLst>
              </p:nvPr>
            </p:nvGraphicFramePr>
            <p:xfrm>
              <a:off x="1221824" y="2684904"/>
              <a:ext cx="3604590" cy="308139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01530"/>
                    <a:gridCol w="1201530"/>
                    <a:gridCol w="1201530"/>
                  </a:tblGrid>
                  <a:tr h="102716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508" t="-592" r="-201523" b="-200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100000" t="-592" r="-100505" b="-200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 rotWithShape="0">
                          <a:blip r:embed="rId3"/>
                          <a:stretch>
                            <a:fillRect l="-201015" t="-592" r="-1015" b="-200592"/>
                          </a:stretch>
                        </a:blipFill>
                      </a:tcPr>
                    </a:tc>
                  </a:tr>
                  <a:tr h="102716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508" t="-101190" r="-201523" b="-1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100000" t="-101190" r="-100505" b="-1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 rotWithShape="0">
                          <a:blip r:embed="rId3"/>
                          <a:stretch>
                            <a:fillRect l="-201015" t="-101190" r="-1015" b="-101786"/>
                          </a:stretch>
                        </a:blipFill>
                      </a:tcPr>
                    </a:tc>
                  </a:tr>
                  <a:tr h="102705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508" t="-200000" r="-201523" b="-11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100000" t="-200000" r="-100505" b="-11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 rotWithShape="0">
                          <a:blip r:embed="rId3"/>
                          <a:stretch>
                            <a:fillRect l="-201015" t="-200000" r="-1015" b="-1183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文字方塊 2"/>
          <p:cNvSpPr txBox="1"/>
          <p:nvPr/>
        </p:nvSpPr>
        <p:spPr>
          <a:xfrm>
            <a:off x="504825" y="2935727"/>
            <a:ext cx="4219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A</a:t>
            </a:r>
            <a:endParaRPr lang="zh-TW" altLang="en-US" sz="32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504825" y="3888227"/>
            <a:ext cx="407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B</a:t>
            </a:r>
            <a:endParaRPr lang="zh-TW" altLang="en-US" sz="32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507356" y="4950264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1619250" y="2034246"/>
            <a:ext cx="4219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A</a:t>
            </a:r>
            <a:endParaRPr lang="zh-TW" altLang="en-US" sz="32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2800350" y="2028470"/>
            <a:ext cx="407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B</a:t>
            </a:r>
            <a:endParaRPr lang="zh-TW" altLang="en-US" sz="32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4002169" y="2028470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</a:t>
            </a:r>
            <a:endParaRPr lang="zh-TW" altLang="en-US" sz="3200" dirty="0"/>
          </a:p>
        </p:txBody>
      </p:sp>
      <p:sp>
        <p:nvSpPr>
          <p:cNvPr id="16" name="標題 1"/>
          <p:cNvSpPr>
            <a:spLocks noGrp="1"/>
          </p:cNvSpPr>
          <p:nvPr>
            <p:ph type="title"/>
          </p:nvPr>
        </p:nvSpPr>
        <p:spPr>
          <a:xfrm>
            <a:off x="308137" y="365126"/>
            <a:ext cx="8695463" cy="1325563"/>
          </a:xfrm>
        </p:spPr>
        <p:txBody>
          <a:bodyPr>
            <a:normAutofit fontScale="90000"/>
          </a:bodyPr>
          <a:lstStyle/>
          <a:p>
            <a:r>
              <a:rPr lang="en-US" altLang="zh-TW" sz="6000" dirty="0" smtClean="0"/>
              <a:t>Comparison Matrices</a:t>
            </a:r>
            <a:br>
              <a:rPr lang="en-US" altLang="zh-TW" sz="6000" dirty="0" smtClean="0"/>
            </a:br>
            <a:r>
              <a:rPr lang="en-US" altLang="zh-TW" sz="6000" dirty="0" smtClean="0"/>
              <a:t>and local priorities</a:t>
            </a:r>
            <a:endParaRPr lang="zh-TW" altLang="en-US" sz="6000" dirty="0"/>
          </a:p>
        </p:txBody>
      </p:sp>
      <p:sp>
        <p:nvSpPr>
          <p:cNvPr id="14" name="矩形 13"/>
          <p:cNvSpPr/>
          <p:nvPr/>
        </p:nvSpPr>
        <p:spPr>
          <a:xfrm>
            <a:off x="7256545" y="693141"/>
            <a:ext cx="1633950" cy="64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Size of house</a:t>
            </a:r>
            <a:endParaRPr lang="zh-TW" altLang="en-US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6891230" y="297794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1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498348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1156778"/>
                  </p:ext>
                </p:extLst>
              </p:nvPr>
            </p:nvGraphicFramePr>
            <p:xfrm>
              <a:off x="1221824" y="2684904"/>
              <a:ext cx="4806120" cy="308139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01530"/>
                    <a:gridCol w="1201530"/>
                    <a:gridCol w="1201530"/>
                    <a:gridCol w="1201530"/>
                  </a:tblGrid>
                  <a:tr h="10271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i="1" dirty="0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zh-TW" altLang="en-US" sz="28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51.05</m:t>
                                </m:r>
                                <m: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102716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TW" altLang="en-US" sz="28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8.93</m:t>
                                </m:r>
                                <m: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102705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sz="2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sz="2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2400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28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</a:rPr>
                                  <m:t>0.01</m:t>
                                </m:r>
                                <m:r>
                                  <a:rPr lang="en-US" altLang="zh-TW" sz="2400" i="1" dirty="0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1156778"/>
                  </p:ext>
                </p:extLst>
              </p:nvPr>
            </p:nvGraphicFramePr>
            <p:xfrm>
              <a:off x="1221824" y="2684904"/>
              <a:ext cx="4806120" cy="308139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01530"/>
                    <a:gridCol w="1201530"/>
                    <a:gridCol w="1201530"/>
                    <a:gridCol w="1201530"/>
                  </a:tblGrid>
                  <a:tr h="102716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508" t="-592" r="-301523" b="-200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100000" t="-592" r="-200000" b="-200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 rotWithShape="0">
                          <a:blip r:embed="rId3"/>
                          <a:stretch>
                            <a:fillRect l="-201015" t="-592" r="-101015" b="-200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301015" t="-592" r="-1015" b="-200592"/>
                          </a:stretch>
                        </a:blipFill>
                      </a:tcPr>
                    </a:tc>
                  </a:tr>
                  <a:tr h="102716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508" t="-101190" r="-301523" b="-1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100000" t="-101190" r="-200000" b="-1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 rotWithShape="0">
                          <a:blip r:embed="rId3"/>
                          <a:stretch>
                            <a:fillRect l="-201015" t="-101190" r="-101015" b="-1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301015" t="-101190" r="-1015" b="-101786"/>
                          </a:stretch>
                        </a:blipFill>
                      </a:tcPr>
                    </a:tc>
                  </a:tr>
                  <a:tr h="102705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508" t="-200000" r="-301523" b="-11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100000" t="-200000" r="-200000" b="-11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 rotWithShape="0">
                          <a:blip r:embed="rId3"/>
                          <a:stretch>
                            <a:fillRect l="-201015" t="-200000" r="-101015" b="-11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301015" t="-200000" r="-1015" b="-1183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文字方塊 2"/>
          <p:cNvSpPr txBox="1"/>
          <p:nvPr/>
        </p:nvSpPr>
        <p:spPr>
          <a:xfrm>
            <a:off x="504825" y="2935727"/>
            <a:ext cx="4219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A</a:t>
            </a:r>
            <a:endParaRPr lang="zh-TW" altLang="en-US" sz="32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504825" y="3888227"/>
            <a:ext cx="407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B</a:t>
            </a:r>
            <a:endParaRPr lang="zh-TW" altLang="en-US" sz="32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507356" y="4950264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1619250" y="2034246"/>
            <a:ext cx="4219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A</a:t>
            </a:r>
            <a:endParaRPr lang="zh-TW" altLang="en-US" sz="32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2800350" y="2028470"/>
            <a:ext cx="407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B</a:t>
            </a:r>
            <a:endParaRPr lang="zh-TW" altLang="en-US" sz="32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4002169" y="2028470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</a:t>
            </a:r>
            <a:endParaRPr lang="zh-TW" altLang="en-US" sz="32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4913114" y="1833853"/>
            <a:ext cx="10102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dirty="0" smtClean="0"/>
              <a:t>Priority </a:t>
            </a:r>
          </a:p>
          <a:p>
            <a:pPr algn="ctr"/>
            <a:r>
              <a:rPr lang="en-US" altLang="zh-TW" sz="2000" dirty="0" smtClean="0"/>
              <a:t>Vector</a:t>
            </a:r>
            <a:endParaRPr lang="zh-TW" altLang="en-US" sz="2000" dirty="0"/>
          </a:p>
        </p:txBody>
      </p:sp>
      <p:sp>
        <p:nvSpPr>
          <p:cNvPr id="16" name="標題 1"/>
          <p:cNvSpPr>
            <a:spLocks noGrp="1"/>
          </p:cNvSpPr>
          <p:nvPr>
            <p:ph type="title"/>
          </p:nvPr>
        </p:nvSpPr>
        <p:spPr>
          <a:xfrm>
            <a:off x="308137" y="365126"/>
            <a:ext cx="8695463" cy="1325563"/>
          </a:xfrm>
        </p:spPr>
        <p:txBody>
          <a:bodyPr>
            <a:normAutofit fontScale="90000"/>
          </a:bodyPr>
          <a:lstStyle/>
          <a:p>
            <a:r>
              <a:rPr lang="en-US" altLang="zh-TW" sz="6000" dirty="0" smtClean="0"/>
              <a:t>Comparison Matrices</a:t>
            </a:r>
            <a:br>
              <a:rPr lang="en-US" altLang="zh-TW" sz="6000" dirty="0" smtClean="0"/>
            </a:br>
            <a:r>
              <a:rPr lang="en-US" altLang="zh-TW" sz="6000" dirty="0" smtClean="0"/>
              <a:t>and local priorities</a:t>
            </a:r>
            <a:endParaRPr lang="zh-TW" altLang="en-US" sz="6000" dirty="0"/>
          </a:p>
        </p:txBody>
      </p:sp>
      <p:sp>
        <p:nvSpPr>
          <p:cNvPr id="14" name="矩形 13"/>
          <p:cNvSpPr/>
          <p:nvPr/>
        </p:nvSpPr>
        <p:spPr>
          <a:xfrm>
            <a:off x="7256545" y="693141"/>
            <a:ext cx="1633950" cy="64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Size of house</a:t>
            </a:r>
            <a:endParaRPr lang="zh-TW" altLang="en-US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6891230" y="297794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1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739497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5577896"/>
                  </p:ext>
                </p:extLst>
              </p:nvPr>
            </p:nvGraphicFramePr>
            <p:xfrm>
              <a:off x="926567" y="1405662"/>
              <a:ext cx="2844337" cy="183947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84186"/>
                    <a:gridCol w="560518"/>
                    <a:gridCol w="533396"/>
                    <a:gridCol w="1166237"/>
                  </a:tblGrid>
                  <a:tr h="6131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i="1" dirty="0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51.05</m:t>
                                </m:r>
                                <m:r>
                                  <a:rPr lang="en-US" altLang="zh-TW" sz="1800" i="1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1317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8.93</m:t>
                                </m:r>
                                <m:r>
                                  <a:rPr lang="en-US" altLang="zh-TW" sz="1800" i="1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1311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1800" b="0" i="1" dirty="0" smtClean="0">
                                    <a:latin typeface="Cambria Math" panose="02040503050406030204" pitchFamily="18" charset="0"/>
                                  </a:rPr>
                                  <m:t>0.01</m:t>
                                </m:r>
                                <m:r>
                                  <a:rPr lang="en-US" altLang="zh-TW" sz="1800" i="1" dirty="0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5577896"/>
                  </p:ext>
                </p:extLst>
              </p:nvPr>
            </p:nvGraphicFramePr>
            <p:xfrm>
              <a:off x="926567" y="1405662"/>
              <a:ext cx="2844337" cy="183947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84186"/>
                    <a:gridCol w="560518"/>
                    <a:gridCol w="533396"/>
                    <a:gridCol w="1166237"/>
                  </a:tblGrid>
                  <a:tr h="61317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1042" t="-990" r="-389583" b="-201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105435" t="-990" r="-306522" b="-201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 rotWithShape="0">
                          <a:blip r:embed="rId2"/>
                          <a:stretch>
                            <a:fillRect l="-214773" t="-990" r="-220455" b="-201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144271" t="-990" r="-1042" b="-201980"/>
                          </a:stretch>
                        </a:blipFill>
                      </a:tcPr>
                    </a:tc>
                  </a:tr>
                  <a:tr h="61317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1042" t="-100990" r="-389583" b="-101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105435" t="-100990" r="-306522" b="-101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 rotWithShape="0">
                          <a:blip r:embed="rId2"/>
                          <a:stretch>
                            <a:fillRect l="-214773" t="-100990" r="-220455" b="-101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144271" t="-100990" r="-1042" b="-101980"/>
                          </a:stretch>
                        </a:blipFill>
                      </a:tcPr>
                    </a:tc>
                  </a:tr>
                  <a:tr h="61311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1042" t="-200990" r="-389583" b="-1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105435" t="-200990" r="-306522" b="-1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 rotWithShape="0">
                          <a:blip r:embed="rId2"/>
                          <a:stretch>
                            <a:fillRect l="-214773" t="-200990" r="-220455" b="-1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144271" t="-200990" r="-1042" b="-198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文字方塊 2"/>
          <p:cNvSpPr txBox="1"/>
          <p:nvPr/>
        </p:nvSpPr>
        <p:spPr>
          <a:xfrm>
            <a:off x="514604" y="1493971"/>
            <a:ext cx="35945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500" dirty="0"/>
              <a:t>A</a:t>
            </a:r>
            <a:endParaRPr lang="zh-TW" altLang="en-US" sz="25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520749" y="2094430"/>
            <a:ext cx="34715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500" dirty="0" smtClean="0"/>
              <a:t>B</a:t>
            </a:r>
            <a:endParaRPr lang="zh-TW" altLang="en-US" sz="25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508458" y="2768078"/>
            <a:ext cx="34442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500" dirty="0" smtClean="0"/>
              <a:t>C</a:t>
            </a:r>
            <a:endParaRPr lang="zh-TW" altLang="en-US" sz="25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92696" y="936996"/>
            <a:ext cx="35945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500" dirty="0"/>
              <a:t>A</a:t>
            </a:r>
            <a:endParaRPr lang="zh-TW" altLang="en-US" sz="25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1571451" y="936996"/>
            <a:ext cx="34715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500" dirty="0"/>
              <a:t>B</a:t>
            </a:r>
            <a:endParaRPr lang="zh-TW" altLang="en-US" sz="25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2121730" y="936996"/>
            <a:ext cx="34442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500" dirty="0" smtClean="0"/>
              <a:t>C</a:t>
            </a:r>
            <a:endParaRPr lang="zh-TW" altLang="en-US" sz="25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2669278" y="802768"/>
            <a:ext cx="924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smtClean="0"/>
              <a:t>Priority </a:t>
            </a:r>
          </a:p>
          <a:p>
            <a:pPr algn="ctr"/>
            <a:r>
              <a:rPr lang="en-US" altLang="zh-TW" dirty="0" smtClean="0"/>
              <a:t>Vector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98497" y="182049"/>
            <a:ext cx="1633950" cy="64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Size of house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4" name="表格 4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2025062"/>
                  </p:ext>
                </p:extLst>
              </p:nvPr>
            </p:nvGraphicFramePr>
            <p:xfrm>
              <a:off x="5754793" y="1433638"/>
              <a:ext cx="2844337" cy="183947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84186"/>
                    <a:gridCol w="560518"/>
                    <a:gridCol w="533396"/>
                    <a:gridCol w="1166237"/>
                  </a:tblGrid>
                  <a:tr h="6131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11.49</m:t>
                                </m:r>
                                <m:r>
                                  <a:rPr lang="en-US" altLang="zh-TW" sz="1800" i="1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1317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0.28</m:t>
                                </m:r>
                                <m:r>
                                  <a:rPr lang="en-US" altLang="zh-TW" sz="1800" i="1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1311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1800" b="0" i="1" dirty="0" smtClean="0">
                                    <a:latin typeface="Cambria Math" panose="02040503050406030204" pitchFamily="18" charset="0"/>
                                  </a:rPr>
                                  <m:t>8.22</m:t>
                                </m:r>
                                <m:r>
                                  <a:rPr lang="en-US" altLang="zh-TW" sz="1800" i="1" dirty="0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4" name="表格 4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2025062"/>
                  </p:ext>
                </p:extLst>
              </p:nvPr>
            </p:nvGraphicFramePr>
            <p:xfrm>
              <a:off x="5754793" y="1433638"/>
              <a:ext cx="2844337" cy="183947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84186"/>
                    <a:gridCol w="560518"/>
                    <a:gridCol w="533396"/>
                    <a:gridCol w="1166237"/>
                  </a:tblGrid>
                  <a:tr h="61317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2083" t="-990" r="-388542" b="-201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106522" t="-990" r="-305435" b="-201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 rotWithShape="0">
                          <a:blip r:embed="rId3"/>
                          <a:stretch>
                            <a:fillRect l="-215909" t="-990" r="-219318" b="-201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45550" t="-990" r="-1047" b="-201980"/>
                          </a:stretch>
                        </a:blipFill>
                      </a:tcPr>
                    </a:tc>
                  </a:tr>
                  <a:tr h="61317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2083" t="-102000" r="-388542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106522" t="-102000" r="-305435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 rotWithShape="0">
                          <a:blip r:embed="rId3"/>
                          <a:stretch>
                            <a:fillRect l="-215909" t="-102000" r="-219318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45550" t="-102000" r="-1047" b="-104000"/>
                          </a:stretch>
                        </a:blipFill>
                      </a:tcPr>
                    </a:tc>
                  </a:tr>
                  <a:tr h="61311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2083" t="-200000" r="-388542" b="-29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106522" t="-200000" r="-305435" b="-29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 rotWithShape="0">
                          <a:blip r:embed="rId3"/>
                          <a:stretch>
                            <a:fillRect l="-215909" t="-200000" r="-219318" b="-29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45550" t="-200000" r="-1047" b="-297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45" name="文字方塊 44"/>
          <p:cNvSpPr txBox="1"/>
          <p:nvPr/>
        </p:nvSpPr>
        <p:spPr>
          <a:xfrm>
            <a:off x="5342830" y="1521947"/>
            <a:ext cx="35945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500" dirty="0"/>
              <a:t>A</a:t>
            </a:r>
            <a:endParaRPr lang="zh-TW" altLang="en-US" sz="2500" dirty="0"/>
          </a:p>
        </p:txBody>
      </p:sp>
      <p:sp>
        <p:nvSpPr>
          <p:cNvPr id="46" name="文字方塊 45"/>
          <p:cNvSpPr txBox="1"/>
          <p:nvPr/>
        </p:nvSpPr>
        <p:spPr>
          <a:xfrm>
            <a:off x="5348975" y="2122406"/>
            <a:ext cx="34715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500" dirty="0" smtClean="0"/>
              <a:t>B</a:t>
            </a:r>
            <a:endParaRPr lang="zh-TW" altLang="en-US" sz="2500" dirty="0"/>
          </a:p>
        </p:txBody>
      </p:sp>
      <p:sp>
        <p:nvSpPr>
          <p:cNvPr id="47" name="文字方塊 46"/>
          <p:cNvSpPr txBox="1"/>
          <p:nvPr/>
        </p:nvSpPr>
        <p:spPr>
          <a:xfrm>
            <a:off x="5336684" y="2796054"/>
            <a:ext cx="34442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500" dirty="0" smtClean="0"/>
              <a:t>C</a:t>
            </a:r>
            <a:endParaRPr lang="zh-TW" altLang="en-US" sz="2500" dirty="0"/>
          </a:p>
        </p:txBody>
      </p:sp>
      <p:sp>
        <p:nvSpPr>
          <p:cNvPr id="48" name="文字方塊 47"/>
          <p:cNvSpPr txBox="1"/>
          <p:nvPr/>
        </p:nvSpPr>
        <p:spPr>
          <a:xfrm>
            <a:off x="5820922" y="964972"/>
            <a:ext cx="35945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500" dirty="0"/>
              <a:t>A</a:t>
            </a:r>
            <a:endParaRPr lang="zh-TW" altLang="en-US" sz="2500" dirty="0"/>
          </a:p>
        </p:txBody>
      </p:sp>
      <p:sp>
        <p:nvSpPr>
          <p:cNvPr id="49" name="文字方塊 48"/>
          <p:cNvSpPr txBox="1"/>
          <p:nvPr/>
        </p:nvSpPr>
        <p:spPr>
          <a:xfrm>
            <a:off x="6399677" y="964972"/>
            <a:ext cx="34715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500" dirty="0"/>
              <a:t>B</a:t>
            </a:r>
            <a:endParaRPr lang="zh-TW" altLang="en-US" sz="2500" dirty="0"/>
          </a:p>
        </p:txBody>
      </p:sp>
      <p:sp>
        <p:nvSpPr>
          <p:cNvPr id="50" name="文字方塊 49"/>
          <p:cNvSpPr txBox="1"/>
          <p:nvPr/>
        </p:nvSpPr>
        <p:spPr>
          <a:xfrm>
            <a:off x="6949956" y="964972"/>
            <a:ext cx="34442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500" dirty="0" smtClean="0"/>
              <a:t>C</a:t>
            </a:r>
            <a:endParaRPr lang="zh-TW" altLang="en-US" sz="2500" dirty="0"/>
          </a:p>
        </p:txBody>
      </p:sp>
      <p:sp>
        <p:nvSpPr>
          <p:cNvPr id="51" name="文字方塊 50"/>
          <p:cNvSpPr txBox="1"/>
          <p:nvPr/>
        </p:nvSpPr>
        <p:spPr>
          <a:xfrm>
            <a:off x="7497504" y="830744"/>
            <a:ext cx="924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smtClean="0"/>
              <a:t>Priority </a:t>
            </a:r>
          </a:p>
          <a:p>
            <a:pPr algn="ctr"/>
            <a:r>
              <a:rPr lang="en-US" altLang="zh-TW" dirty="0" smtClean="0"/>
              <a:t>Vector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2" name="表格 5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8039186"/>
                  </p:ext>
                </p:extLst>
              </p:nvPr>
            </p:nvGraphicFramePr>
            <p:xfrm>
              <a:off x="926567" y="4723256"/>
              <a:ext cx="2844337" cy="183947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84186"/>
                    <a:gridCol w="560518"/>
                    <a:gridCol w="533396"/>
                    <a:gridCol w="1166237"/>
                  </a:tblGrid>
                  <a:tr h="6131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i="1" dirty="0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33.24</m:t>
                                </m:r>
                                <m:r>
                                  <a:rPr lang="en-US" altLang="zh-TW" sz="1800" i="1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1317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8.7</m:t>
                                </m:r>
                                <m:r>
                                  <a:rPr lang="en-US" altLang="zh-TW" sz="1800" i="1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1311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i="1" dirty="0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altLang="zh-TW" sz="1800" b="0" i="1" dirty="0" smtClean="0">
                                    <a:latin typeface="Cambria Math" panose="02040503050406030204" pitchFamily="18" charset="0"/>
                                  </a:rPr>
                                  <m:t>.06</m:t>
                                </m:r>
                                <m:r>
                                  <a:rPr lang="en-US" altLang="zh-TW" sz="1800" i="1" dirty="0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2" name="表格 5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8039186"/>
                  </p:ext>
                </p:extLst>
              </p:nvPr>
            </p:nvGraphicFramePr>
            <p:xfrm>
              <a:off x="926567" y="4723256"/>
              <a:ext cx="2844337" cy="183947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84186"/>
                    <a:gridCol w="560518"/>
                    <a:gridCol w="533396"/>
                    <a:gridCol w="1166237"/>
                  </a:tblGrid>
                  <a:tr h="61317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6"/>
                          <a:stretch>
                            <a:fillRect l="-1042" t="-990" r="-389583" b="-201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6"/>
                          <a:stretch>
                            <a:fillRect l="-105435" t="-990" r="-306522" b="-201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 rotWithShape="0">
                          <a:blip r:embed="rId6"/>
                          <a:stretch>
                            <a:fillRect l="-214773" t="-990" r="-220455" b="-201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6"/>
                          <a:stretch>
                            <a:fillRect l="-144271" t="-990" r="-1042" b="-201980"/>
                          </a:stretch>
                        </a:blipFill>
                      </a:tcPr>
                    </a:tc>
                  </a:tr>
                  <a:tr h="61317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6"/>
                          <a:stretch>
                            <a:fillRect l="-1042" t="-100990" r="-389583" b="-101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6"/>
                          <a:stretch>
                            <a:fillRect l="-105435" t="-100990" r="-306522" b="-101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 rotWithShape="0">
                          <a:blip r:embed="rId6"/>
                          <a:stretch>
                            <a:fillRect l="-214773" t="-100990" r="-220455" b="-101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6"/>
                          <a:stretch>
                            <a:fillRect l="-144271" t="-100990" r="-1042" b="-101980"/>
                          </a:stretch>
                        </a:blipFill>
                      </a:tcPr>
                    </a:tc>
                  </a:tr>
                  <a:tr h="61311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6"/>
                          <a:stretch>
                            <a:fillRect l="-1042" t="-200990" r="-389583" b="-1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6"/>
                          <a:stretch>
                            <a:fillRect l="-105435" t="-200990" r="-306522" b="-1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 rotWithShape="0">
                          <a:blip r:embed="rId6"/>
                          <a:stretch>
                            <a:fillRect l="-214773" t="-200990" r="-220455" b="-1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6"/>
                          <a:stretch>
                            <a:fillRect l="-144271" t="-200990" r="-1042" b="-198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53" name="文字方塊 52"/>
          <p:cNvSpPr txBox="1"/>
          <p:nvPr/>
        </p:nvSpPr>
        <p:spPr>
          <a:xfrm>
            <a:off x="514604" y="4811565"/>
            <a:ext cx="35945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500" dirty="0"/>
              <a:t>A</a:t>
            </a:r>
            <a:endParaRPr lang="zh-TW" altLang="en-US" sz="2500" dirty="0"/>
          </a:p>
        </p:txBody>
      </p:sp>
      <p:sp>
        <p:nvSpPr>
          <p:cNvPr id="54" name="文字方塊 53"/>
          <p:cNvSpPr txBox="1"/>
          <p:nvPr/>
        </p:nvSpPr>
        <p:spPr>
          <a:xfrm>
            <a:off x="520749" y="5412024"/>
            <a:ext cx="34715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500" dirty="0" smtClean="0"/>
              <a:t>B</a:t>
            </a:r>
            <a:endParaRPr lang="zh-TW" altLang="en-US" sz="2500" dirty="0"/>
          </a:p>
        </p:txBody>
      </p:sp>
      <p:sp>
        <p:nvSpPr>
          <p:cNvPr id="55" name="文字方塊 54"/>
          <p:cNvSpPr txBox="1"/>
          <p:nvPr/>
        </p:nvSpPr>
        <p:spPr>
          <a:xfrm>
            <a:off x="508458" y="6085672"/>
            <a:ext cx="34442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500" dirty="0" smtClean="0"/>
              <a:t>C</a:t>
            </a:r>
            <a:endParaRPr lang="zh-TW" altLang="en-US" sz="2500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992696" y="4254590"/>
            <a:ext cx="35945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500" dirty="0"/>
              <a:t>A</a:t>
            </a:r>
            <a:endParaRPr lang="zh-TW" altLang="en-US" sz="2500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1571451" y="4254590"/>
            <a:ext cx="34715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500" dirty="0"/>
              <a:t>B</a:t>
            </a:r>
            <a:endParaRPr lang="zh-TW" altLang="en-US" sz="25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2121730" y="4254590"/>
            <a:ext cx="34442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500" dirty="0" smtClean="0"/>
              <a:t>C</a:t>
            </a:r>
            <a:endParaRPr lang="zh-TW" altLang="en-US" sz="25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2669278" y="4120362"/>
            <a:ext cx="924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smtClean="0"/>
              <a:t>Priority </a:t>
            </a:r>
          </a:p>
          <a:p>
            <a:pPr algn="ctr"/>
            <a:r>
              <a:rPr lang="en-US" altLang="zh-TW" dirty="0" smtClean="0"/>
              <a:t>Vector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0" name="表格 5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73665120"/>
                  </p:ext>
                </p:extLst>
              </p:nvPr>
            </p:nvGraphicFramePr>
            <p:xfrm>
              <a:off x="5754793" y="4723256"/>
              <a:ext cx="2844337" cy="183947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84186"/>
                    <a:gridCol w="560518"/>
                    <a:gridCol w="533396"/>
                    <a:gridCol w="1166237"/>
                  </a:tblGrid>
                  <a:tr h="6131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13.57</m:t>
                                </m:r>
                                <m:r>
                                  <a:rPr lang="en-US" altLang="zh-TW" sz="1800" i="1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1317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8.99</m:t>
                                </m:r>
                                <m:r>
                                  <a:rPr lang="en-US" altLang="zh-TW" sz="1800" i="1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1311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i="1" dirty="0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altLang="zh-TW" sz="1800" b="0" i="1" dirty="0" smtClean="0">
                                    <a:latin typeface="Cambria Math" panose="02040503050406030204" pitchFamily="18" charset="0"/>
                                  </a:rPr>
                                  <m:t>7.44</m:t>
                                </m:r>
                                <m:r>
                                  <a:rPr lang="en-US" altLang="zh-TW" sz="1800" i="1" dirty="0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60" name="表格 5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73665120"/>
                  </p:ext>
                </p:extLst>
              </p:nvPr>
            </p:nvGraphicFramePr>
            <p:xfrm>
              <a:off x="5754793" y="4723256"/>
              <a:ext cx="2844337" cy="183947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84186"/>
                    <a:gridCol w="560518"/>
                    <a:gridCol w="533396"/>
                    <a:gridCol w="1166237"/>
                  </a:tblGrid>
                  <a:tr h="61317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7"/>
                          <a:stretch>
                            <a:fillRect l="-2083" t="-990" r="-388542" b="-201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7"/>
                          <a:stretch>
                            <a:fillRect l="-106522" t="-990" r="-305435" b="-201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 rotWithShape="0">
                          <a:blip r:embed="rId7"/>
                          <a:stretch>
                            <a:fillRect l="-215909" t="-990" r="-219318" b="-201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7"/>
                          <a:stretch>
                            <a:fillRect l="-145550" t="-990" r="-1047" b="-201980"/>
                          </a:stretch>
                        </a:blipFill>
                      </a:tcPr>
                    </a:tc>
                  </a:tr>
                  <a:tr h="61317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7"/>
                          <a:stretch>
                            <a:fillRect l="-2083" t="-100990" r="-388542" b="-101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7"/>
                          <a:stretch>
                            <a:fillRect l="-106522" t="-100990" r="-305435" b="-101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 rotWithShape="0">
                          <a:blip r:embed="rId7"/>
                          <a:stretch>
                            <a:fillRect l="-215909" t="-100990" r="-219318" b="-101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7"/>
                          <a:stretch>
                            <a:fillRect l="-145550" t="-100990" r="-1047" b="-101980"/>
                          </a:stretch>
                        </a:blipFill>
                      </a:tcPr>
                    </a:tc>
                  </a:tr>
                  <a:tr h="61311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7"/>
                          <a:stretch>
                            <a:fillRect l="-2083" t="-200990" r="-388542" b="-1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7"/>
                          <a:stretch>
                            <a:fillRect l="-106522" t="-200990" r="-305435" b="-1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 rotWithShape="0">
                          <a:blip r:embed="rId7"/>
                          <a:stretch>
                            <a:fillRect l="-215909" t="-200990" r="-219318" b="-1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7"/>
                          <a:stretch>
                            <a:fillRect l="-145550" t="-200990" r="-1047" b="-198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61" name="文字方塊 60"/>
          <p:cNvSpPr txBox="1"/>
          <p:nvPr/>
        </p:nvSpPr>
        <p:spPr>
          <a:xfrm>
            <a:off x="5342830" y="4811565"/>
            <a:ext cx="35945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500" dirty="0"/>
              <a:t>A</a:t>
            </a:r>
            <a:endParaRPr lang="zh-TW" altLang="en-US" sz="2500" dirty="0"/>
          </a:p>
        </p:txBody>
      </p:sp>
      <p:sp>
        <p:nvSpPr>
          <p:cNvPr id="62" name="文字方塊 61"/>
          <p:cNvSpPr txBox="1"/>
          <p:nvPr/>
        </p:nvSpPr>
        <p:spPr>
          <a:xfrm>
            <a:off x="5348975" y="5412024"/>
            <a:ext cx="34715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500" dirty="0" smtClean="0"/>
              <a:t>B</a:t>
            </a:r>
            <a:endParaRPr lang="zh-TW" altLang="en-US" sz="2500" dirty="0"/>
          </a:p>
        </p:txBody>
      </p:sp>
      <p:sp>
        <p:nvSpPr>
          <p:cNvPr id="63" name="文字方塊 62"/>
          <p:cNvSpPr txBox="1"/>
          <p:nvPr/>
        </p:nvSpPr>
        <p:spPr>
          <a:xfrm>
            <a:off x="5336684" y="6085672"/>
            <a:ext cx="34442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500" dirty="0" smtClean="0"/>
              <a:t>C</a:t>
            </a:r>
            <a:endParaRPr lang="zh-TW" altLang="en-US" sz="2500" dirty="0"/>
          </a:p>
        </p:txBody>
      </p:sp>
      <p:sp>
        <p:nvSpPr>
          <p:cNvPr id="64" name="文字方塊 63"/>
          <p:cNvSpPr txBox="1"/>
          <p:nvPr/>
        </p:nvSpPr>
        <p:spPr>
          <a:xfrm>
            <a:off x="5820922" y="4254590"/>
            <a:ext cx="35945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500" dirty="0"/>
              <a:t>A</a:t>
            </a:r>
            <a:endParaRPr lang="zh-TW" altLang="en-US" sz="2500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6399677" y="4254590"/>
            <a:ext cx="34715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500" dirty="0"/>
              <a:t>B</a:t>
            </a:r>
            <a:endParaRPr lang="zh-TW" altLang="en-US" sz="2500" dirty="0"/>
          </a:p>
        </p:txBody>
      </p:sp>
      <p:sp>
        <p:nvSpPr>
          <p:cNvPr id="66" name="文字方塊 65"/>
          <p:cNvSpPr txBox="1"/>
          <p:nvPr/>
        </p:nvSpPr>
        <p:spPr>
          <a:xfrm>
            <a:off x="6949956" y="4254590"/>
            <a:ext cx="34442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500" dirty="0" smtClean="0"/>
              <a:t>C</a:t>
            </a:r>
            <a:endParaRPr lang="zh-TW" altLang="en-US" sz="2500" dirty="0"/>
          </a:p>
        </p:txBody>
      </p:sp>
      <p:sp>
        <p:nvSpPr>
          <p:cNvPr id="67" name="文字方塊 66"/>
          <p:cNvSpPr txBox="1"/>
          <p:nvPr/>
        </p:nvSpPr>
        <p:spPr>
          <a:xfrm>
            <a:off x="7497504" y="4120362"/>
            <a:ext cx="924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smtClean="0"/>
              <a:t>Priority </a:t>
            </a:r>
          </a:p>
          <a:p>
            <a:pPr algn="ctr"/>
            <a:r>
              <a:rPr lang="en-US" altLang="zh-TW" dirty="0" smtClean="0"/>
              <a:t>Vector</a:t>
            </a:r>
            <a:endParaRPr lang="zh-TW" altLang="en-US" dirty="0"/>
          </a:p>
        </p:txBody>
      </p:sp>
      <p:sp>
        <p:nvSpPr>
          <p:cNvPr id="68" name="矩形 67"/>
          <p:cNvSpPr/>
          <p:nvPr/>
        </p:nvSpPr>
        <p:spPr>
          <a:xfrm>
            <a:off x="4559818" y="218675"/>
            <a:ext cx="1839859" cy="64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Transportation</a:t>
            </a:r>
            <a:endParaRPr lang="zh-TW" altLang="en-US" dirty="0"/>
          </a:p>
        </p:txBody>
      </p:sp>
      <p:sp>
        <p:nvSpPr>
          <p:cNvPr id="69" name="矩形 68"/>
          <p:cNvSpPr/>
          <p:nvPr/>
        </p:nvSpPr>
        <p:spPr>
          <a:xfrm>
            <a:off x="107109" y="3637759"/>
            <a:ext cx="1638917" cy="64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Age of house</a:t>
            </a:r>
            <a:endParaRPr lang="zh-TW" altLang="en-US" dirty="0"/>
          </a:p>
        </p:txBody>
      </p:sp>
      <p:sp>
        <p:nvSpPr>
          <p:cNvPr id="70" name="矩形 69"/>
          <p:cNvSpPr/>
          <p:nvPr/>
        </p:nvSpPr>
        <p:spPr>
          <a:xfrm>
            <a:off x="4586912" y="3593734"/>
            <a:ext cx="1524126" cy="64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Financing</a:t>
            </a:r>
          </a:p>
        </p:txBody>
      </p:sp>
    </p:spTree>
    <p:extLst>
      <p:ext uri="{BB962C8B-B14F-4D97-AF65-F5344CB8AC3E}">
        <p14:creationId xmlns:p14="http://schemas.microsoft.com/office/powerpoint/2010/main" val="1527227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308137" y="365126"/>
            <a:ext cx="8695463" cy="1325563"/>
          </a:xfrm>
        </p:spPr>
        <p:txBody>
          <a:bodyPr>
            <a:normAutofit/>
          </a:bodyPr>
          <a:lstStyle/>
          <a:p>
            <a:r>
              <a:rPr lang="en-US" altLang="zh-TW" sz="6000" dirty="0" smtClean="0"/>
              <a:t>Global priorities</a:t>
            </a:r>
            <a:endParaRPr lang="zh-TW" altLang="en-US" sz="6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264922" y="4701502"/>
                <a:ext cx="8781891" cy="9233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57.39%∗51.05%+29.13%∗11.49%+9.03%∗33.24%+4.45%∗13.57%</m:t>
                      </m:r>
                    </m:oMath>
                  </m:oMathPara>
                </a14:m>
                <a:endParaRPr lang="en-US" altLang="zh-TW" sz="2000" b="0" dirty="0" smtClean="0"/>
              </a:p>
              <a:p>
                <a:endParaRPr lang="en-US" altLang="zh-TW" sz="2000" dirty="0" smtClean="0"/>
              </a:p>
              <a:p>
                <a:r>
                  <a:rPr lang="en-US" altLang="zh-TW" sz="2000" dirty="0"/>
                  <a:t> </a:t>
                </a:r>
                <a:r>
                  <a:rPr lang="en-US" altLang="zh-TW" sz="2000" dirty="0" smtClean="0"/>
                  <a:t>  </a:t>
                </a:r>
                <a14:m>
                  <m:oMath xmlns:m="http://schemas.openxmlformats.org/officeDocument/2006/math">
                    <m:r>
                      <a:rPr lang="en-US" altLang="zh-TW" sz="2000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6.25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% </m:t>
                    </m:r>
                  </m:oMath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922" y="4701502"/>
                <a:ext cx="8781891" cy="923330"/>
              </a:xfrm>
              <a:prstGeom prst="rect">
                <a:avLst/>
              </a:prstGeom>
              <a:blipFill rotWithShape="0">
                <a:blip r:embed="rId6"/>
                <a:stretch>
                  <a:fillRect b="-32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58877837"/>
                  </p:ext>
                </p:extLst>
              </p:nvPr>
            </p:nvGraphicFramePr>
            <p:xfrm>
              <a:off x="417243" y="1690689"/>
              <a:ext cx="8477250" cy="26085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412875"/>
                    <a:gridCol w="1412875"/>
                    <a:gridCol w="1624282"/>
                    <a:gridCol w="1476375"/>
                    <a:gridCol w="1419225"/>
                    <a:gridCol w="1131618"/>
                  </a:tblGrid>
                  <a:tr h="652145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Size of house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( 57.39 % )</a:t>
                          </a:r>
                          <a:endParaRPr lang="zh-TW" altLang="en-US" dirty="0" smtClean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Transportation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( 29.13</a:t>
                          </a:r>
                          <a:r>
                            <a:rPr lang="en-US" altLang="zh-TW" baseline="0" dirty="0" smtClean="0"/>
                            <a:t> % )</a:t>
                          </a:r>
                          <a:endParaRPr lang="zh-TW" altLang="en-US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Age of house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( 9.03 % )</a:t>
                          </a:r>
                          <a:endParaRPr lang="zh-TW" altLang="en-US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Financing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( 4.45 % )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6521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51.05</m:t>
                                </m:r>
                                <m:r>
                                  <a:rPr lang="en-US" altLang="zh-TW" sz="1800" i="1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11.49</m:t>
                                </m:r>
                                <m:r>
                                  <a:rPr lang="en-US" altLang="zh-TW" sz="1800" i="1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33.24</m:t>
                                </m:r>
                                <m:r>
                                  <a:rPr lang="en-US" altLang="zh-TW" sz="1800" i="1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13.57</m:t>
                                </m:r>
                                <m:r>
                                  <a:rPr lang="en-US" altLang="zh-TW" sz="1800" i="1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6521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B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8.93</m:t>
                                </m:r>
                                <m:r>
                                  <a:rPr lang="en-US" altLang="zh-TW" sz="1800" i="1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0.28</m:t>
                                </m:r>
                                <m:r>
                                  <a:rPr lang="en-US" altLang="zh-TW" sz="1800" i="1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8.7</m:t>
                                </m:r>
                                <m:r>
                                  <a:rPr lang="en-US" altLang="zh-TW" sz="1800" i="1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8.99</m:t>
                                </m:r>
                                <m:r>
                                  <a:rPr lang="en-US" altLang="zh-TW" sz="1800" i="1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6521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1800" b="0" i="1" dirty="0" smtClean="0">
                                    <a:latin typeface="Cambria Math" panose="02040503050406030204" pitchFamily="18" charset="0"/>
                                  </a:rPr>
                                  <m:t>0.01</m:t>
                                </m:r>
                                <m:r>
                                  <a:rPr lang="en-US" altLang="zh-TW" sz="1800" i="1" dirty="0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1800" b="0" i="1" dirty="0" smtClean="0">
                                    <a:latin typeface="Cambria Math" panose="02040503050406030204" pitchFamily="18" charset="0"/>
                                  </a:rPr>
                                  <m:t>8.22</m:t>
                                </m:r>
                                <m:r>
                                  <a:rPr lang="en-US" altLang="zh-TW" sz="1800" i="1" dirty="0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i="1" dirty="0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altLang="zh-TW" sz="1800" b="0" i="1" dirty="0" smtClean="0">
                                    <a:latin typeface="Cambria Math" panose="02040503050406030204" pitchFamily="18" charset="0"/>
                                  </a:rPr>
                                  <m:t>.06</m:t>
                                </m:r>
                                <m:r>
                                  <a:rPr lang="en-US" altLang="zh-TW" sz="1800" i="1" dirty="0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altLang="zh-TW" sz="1800" b="0" i="1" dirty="0" smtClean="0">
                                    <a:latin typeface="Cambria Math" panose="02040503050406030204" pitchFamily="18" charset="0"/>
                                  </a:rPr>
                                  <m:t>7.44</m:t>
                                </m:r>
                                <m:r>
                                  <a:rPr lang="en-US" altLang="zh-TW" sz="1800" i="1" dirty="0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58877837"/>
                  </p:ext>
                </p:extLst>
              </p:nvPr>
            </p:nvGraphicFramePr>
            <p:xfrm>
              <a:off x="417243" y="1690689"/>
              <a:ext cx="8477250" cy="26085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412875"/>
                    <a:gridCol w="1412875"/>
                    <a:gridCol w="1624282"/>
                    <a:gridCol w="1476375"/>
                    <a:gridCol w="1419225"/>
                    <a:gridCol w="1131618"/>
                  </a:tblGrid>
                  <a:tr h="652145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Size of house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( 57.39 % )</a:t>
                          </a:r>
                          <a:endParaRPr lang="zh-TW" altLang="en-US" dirty="0" smtClean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Transportation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( 29.13</a:t>
                          </a:r>
                          <a:r>
                            <a:rPr lang="en-US" altLang="zh-TW" baseline="0" dirty="0" smtClean="0"/>
                            <a:t> % )</a:t>
                          </a:r>
                          <a:endParaRPr lang="zh-TW" altLang="en-US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Age of house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( 9.03 % )</a:t>
                          </a:r>
                          <a:endParaRPr lang="zh-TW" altLang="en-US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Financing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( 4.45 % )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6521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5"/>
                          <a:stretch>
                            <a:fillRect l="-100431" t="-102778" r="-400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5"/>
                          <a:stretch>
                            <a:fillRect l="-174157" t="-102778" r="-247566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5"/>
                          <a:stretch>
                            <a:fillRect l="-302479" t="-102778" r="-17314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 rotWithShape="0">
                          <a:blip r:embed="rId5"/>
                          <a:stretch>
                            <a:fillRect l="-418026" t="-102778" r="-79828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6521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B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5"/>
                          <a:stretch>
                            <a:fillRect l="-100431" t="-204673" r="-400000" b="-101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5"/>
                          <a:stretch>
                            <a:fillRect l="-174157" t="-204673" r="-247566" b="-101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5"/>
                          <a:stretch>
                            <a:fillRect l="-302479" t="-204673" r="-173140" b="-101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 rotWithShape="0">
                          <a:blip r:embed="rId5"/>
                          <a:stretch>
                            <a:fillRect l="-418026" t="-204673" r="-79828" b="-101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6521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5"/>
                          <a:stretch>
                            <a:fillRect l="-100431" t="-304673" r="-400000" b="-1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5"/>
                          <a:stretch>
                            <a:fillRect l="-174157" t="-304673" r="-247566" b="-1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5"/>
                          <a:stretch>
                            <a:fillRect l="-302479" t="-304673" r="-173140" b="-1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 rotWithShape="0">
                          <a:blip r:embed="rId5"/>
                          <a:stretch>
                            <a:fillRect l="-418026" t="-304673" r="-79828" b="-1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" name="矩形 1"/>
          <p:cNvSpPr/>
          <p:nvPr/>
        </p:nvSpPr>
        <p:spPr>
          <a:xfrm>
            <a:off x="417243" y="2324100"/>
            <a:ext cx="1421082" cy="68580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8476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308137" y="365126"/>
            <a:ext cx="8695463" cy="1325563"/>
          </a:xfrm>
        </p:spPr>
        <p:txBody>
          <a:bodyPr>
            <a:normAutofit/>
          </a:bodyPr>
          <a:lstStyle/>
          <a:p>
            <a:r>
              <a:rPr lang="en-US" altLang="zh-TW" sz="6000" dirty="0" smtClean="0"/>
              <a:t>Global priorities</a:t>
            </a:r>
            <a:endParaRPr lang="zh-TW" altLang="en-US" sz="6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6614898"/>
                  </p:ext>
                </p:extLst>
              </p:nvPr>
            </p:nvGraphicFramePr>
            <p:xfrm>
              <a:off x="417243" y="1690689"/>
              <a:ext cx="8477250" cy="26085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412875"/>
                    <a:gridCol w="1412875"/>
                    <a:gridCol w="1624282"/>
                    <a:gridCol w="1476375"/>
                    <a:gridCol w="1419225"/>
                    <a:gridCol w="1131618"/>
                  </a:tblGrid>
                  <a:tr h="652145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Size of house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( 57.39 % )</a:t>
                          </a:r>
                          <a:endParaRPr lang="zh-TW" altLang="en-US" dirty="0" smtClean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Transportation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( 29.13</a:t>
                          </a:r>
                          <a:r>
                            <a:rPr lang="en-US" altLang="zh-TW" baseline="0" dirty="0" smtClean="0"/>
                            <a:t> % )</a:t>
                          </a:r>
                          <a:endParaRPr lang="zh-TW" altLang="en-US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Age of house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( 9.03 % )</a:t>
                          </a:r>
                          <a:endParaRPr lang="zh-TW" altLang="en-US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Financing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( 4.45 % )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Global</a:t>
                          </a:r>
                        </a:p>
                        <a:p>
                          <a:pPr algn="ctr"/>
                          <a:r>
                            <a:rPr lang="en-US" altLang="zh-TW" dirty="0" smtClean="0"/>
                            <a:t>priorities</a:t>
                          </a:r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6521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51.05</m:t>
                                </m:r>
                                <m:r>
                                  <a:rPr lang="en-US" altLang="zh-TW" sz="1800" i="1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11.49</m:t>
                                </m:r>
                                <m:r>
                                  <a:rPr lang="en-US" altLang="zh-TW" sz="1800" i="1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33.24</m:t>
                                </m:r>
                                <m:r>
                                  <a:rPr lang="en-US" altLang="zh-TW" sz="1800" i="1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13.57</m:t>
                                </m:r>
                                <m:r>
                                  <a:rPr lang="en-US" altLang="zh-TW" sz="1800" i="1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36.25%</a:t>
                          </a:r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6521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B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8.93</m:t>
                                </m:r>
                                <m:r>
                                  <a:rPr lang="en-US" altLang="zh-TW" sz="1800" i="1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0.28</m:t>
                                </m:r>
                                <m:r>
                                  <a:rPr lang="en-US" altLang="zh-TW" sz="1800" i="1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8.7</m:t>
                                </m:r>
                                <m:r>
                                  <a:rPr lang="en-US" altLang="zh-TW" sz="1800" i="1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8.99</m:t>
                                </m:r>
                                <m:r>
                                  <a:rPr lang="en-US" altLang="zh-TW" sz="1800" i="1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50.30%</a:t>
                          </a:r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6521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1800" b="0" i="1" dirty="0" smtClean="0">
                                    <a:latin typeface="Cambria Math" panose="02040503050406030204" pitchFamily="18" charset="0"/>
                                  </a:rPr>
                                  <m:t>0.01</m:t>
                                </m:r>
                                <m:r>
                                  <a:rPr lang="en-US" altLang="zh-TW" sz="1800" i="1" dirty="0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1800" b="0" i="1" dirty="0" smtClean="0">
                                    <a:latin typeface="Cambria Math" panose="02040503050406030204" pitchFamily="18" charset="0"/>
                                  </a:rPr>
                                  <m:t>8.22</m:t>
                                </m:r>
                                <m:r>
                                  <a:rPr lang="en-US" altLang="zh-TW" sz="1800" i="1" dirty="0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i="1" dirty="0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altLang="zh-TW" sz="1800" b="0" i="1" dirty="0" smtClean="0">
                                    <a:latin typeface="Cambria Math" panose="02040503050406030204" pitchFamily="18" charset="0"/>
                                  </a:rPr>
                                  <m:t>.06</m:t>
                                </m:r>
                                <m:r>
                                  <a:rPr lang="en-US" altLang="zh-TW" sz="1800" i="1" dirty="0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altLang="zh-TW" sz="1800" b="0" i="1" dirty="0" smtClean="0">
                                    <a:latin typeface="Cambria Math" panose="02040503050406030204" pitchFamily="18" charset="0"/>
                                  </a:rPr>
                                  <m:t>7.44</m:t>
                                </m:r>
                                <m:r>
                                  <a:rPr lang="en-US" altLang="zh-TW" sz="1800" i="1" dirty="0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13.45%</a:t>
                          </a:r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6614898"/>
                  </p:ext>
                </p:extLst>
              </p:nvPr>
            </p:nvGraphicFramePr>
            <p:xfrm>
              <a:off x="417243" y="1690689"/>
              <a:ext cx="8477250" cy="26085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412875"/>
                    <a:gridCol w="1412875"/>
                    <a:gridCol w="1624282"/>
                    <a:gridCol w="1476375"/>
                    <a:gridCol w="1419225"/>
                    <a:gridCol w="1131618"/>
                  </a:tblGrid>
                  <a:tr h="652145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Size of house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( 57.39 % )</a:t>
                          </a:r>
                          <a:endParaRPr lang="zh-TW" altLang="en-US" dirty="0" smtClean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Transportation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( 29.13</a:t>
                          </a:r>
                          <a:r>
                            <a:rPr lang="en-US" altLang="zh-TW" baseline="0" dirty="0" smtClean="0"/>
                            <a:t> % )</a:t>
                          </a:r>
                          <a:endParaRPr lang="zh-TW" altLang="en-US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Age of house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( 9.03 % )</a:t>
                          </a:r>
                          <a:endParaRPr lang="zh-TW" altLang="en-US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Financing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( 4.45 % )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Global</a:t>
                          </a:r>
                        </a:p>
                        <a:p>
                          <a:pPr algn="ctr"/>
                          <a:r>
                            <a:rPr lang="en-US" altLang="zh-TW" dirty="0" smtClean="0"/>
                            <a:t>priorities</a:t>
                          </a:r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6521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100431" t="-102778" r="-40086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174157" t="-102778" r="-24831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302479" t="-102778" r="-173967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 rotWithShape="0">
                          <a:blip r:embed="rId3"/>
                          <a:stretch>
                            <a:fillRect l="-418026" t="-102778" r="-80687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36.25%</a:t>
                          </a:r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6521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B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100431" t="-204673" r="-400862" b="-101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174157" t="-204673" r="-248315" b="-101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302479" t="-204673" r="-173967" b="-101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 rotWithShape="0">
                          <a:blip r:embed="rId3"/>
                          <a:stretch>
                            <a:fillRect l="-418026" t="-204673" r="-80687" b="-101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50.30%</a:t>
                          </a:r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6521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100431" t="-304673" r="-400862" b="-1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174157" t="-304673" r="-248315" b="-1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302479" t="-304673" r="-173967" b="-1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 rotWithShape="0">
                          <a:blip r:embed="rId3"/>
                          <a:stretch>
                            <a:fillRect l="-418026" t="-304673" r="-80687" b="-1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13.45%</a:t>
                          </a:r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" name="矩形 1"/>
          <p:cNvSpPr/>
          <p:nvPr/>
        </p:nvSpPr>
        <p:spPr>
          <a:xfrm>
            <a:off x="7743825" y="2994979"/>
            <a:ext cx="1150668" cy="653096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3527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308137" y="365126"/>
            <a:ext cx="8695463" cy="1325563"/>
          </a:xfrm>
        </p:spPr>
        <p:txBody>
          <a:bodyPr>
            <a:normAutofit/>
          </a:bodyPr>
          <a:lstStyle/>
          <a:p>
            <a:r>
              <a:rPr lang="en-US" altLang="zh-TW" sz="6000" dirty="0" smtClean="0"/>
              <a:t>Global priorities</a:t>
            </a:r>
            <a:endParaRPr lang="zh-TW" altLang="en-US" sz="6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3963378"/>
                  </p:ext>
                </p:extLst>
              </p:nvPr>
            </p:nvGraphicFramePr>
            <p:xfrm>
              <a:off x="417243" y="1690689"/>
              <a:ext cx="8477250" cy="26085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412875"/>
                    <a:gridCol w="1412875"/>
                    <a:gridCol w="1624282"/>
                    <a:gridCol w="1476375"/>
                    <a:gridCol w="1419225"/>
                    <a:gridCol w="1131618"/>
                  </a:tblGrid>
                  <a:tr h="652145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Size of house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( 57.39 % )</a:t>
                          </a:r>
                          <a:endParaRPr lang="zh-TW" altLang="en-US" dirty="0" smtClean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Transportation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( 29.13</a:t>
                          </a:r>
                          <a:r>
                            <a:rPr lang="en-US" altLang="zh-TW" baseline="0" dirty="0" smtClean="0"/>
                            <a:t> % )</a:t>
                          </a:r>
                          <a:endParaRPr lang="zh-TW" altLang="en-US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Age of house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( 9.03 % )</a:t>
                          </a:r>
                          <a:endParaRPr lang="zh-TW" altLang="en-US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Financing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( 4.45 % )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Global</a:t>
                          </a:r>
                        </a:p>
                        <a:p>
                          <a:pPr algn="ctr"/>
                          <a:r>
                            <a:rPr lang="en-US" altLang="zh-TW" dirty="0" smtClean="0"/>
                            <a:t>Priorities</a:t>
                          </a:r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6521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51.05</m:t>
                                </m:r>
                                <m:r>
                                  <a:rPr lang="en-US" altLang="zh-TW" sz="1800" i="1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11.49</m:t>
                                </m:r>
                                <m:r>
                                  <a:rPr lang="en-US" altLang="zh-TW" sz="1800" i="1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33.24</m:t>
                                </m:r>
                                <m:r>
                                  <a:rPr lang="en-US" altLang="zh-TW" sz="1800" i="1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13.57</m:t>
                                </m:r>
                                <m:r>
                                  <a:rPr lang="en-US" altLang="zh-TW" sz="1800" i="1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32.64%</a:t>
                          </a:r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6521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B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8.93</m:t>
                                </m:r>
                                <m:r>
                                  <a:rPr lang="en-US" altLang="zh-TW" sz="1800" i="1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0.28</m:t>
                                </m:r>
                                <m:r>
                                  <a:rPr lang="en-US" altLang="zh-TW" sz="1800" i="1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8.7</m:t>
                                </m:r>
                                <m:r>
                                  <a:rPr lang="en-US" altLang="zh-TW" sz="1800" i="1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8.99</m:t>
                                </m:r>
                                <m:r>
                                  <a:rPr lang="en-US" altLang="zh-TW" sz="1800" i="1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42.81%</a:t>
                          </a:r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6521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1800" b="0" i="1" dirty="0" smtClean="0">
                                    <a:latin typeface="Cambria Math" panose="02040503050406030204" pitchFamily="18" charset="0"/>
                                  </a:rPr>
                                  <m:t>0.01</m:t>
                                </m:r>
                                <m:r>
                                  <a:rPr lang="en-US" altLang="zh-TW" sz="1800" i="1" dirty="0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1800" b="0" i="1" dirty="0" smtClean="0">
                                    <a:latin typeface="Cambria Math" panose="02040503050406030204" pitchFamily="18" charset="0"/>
                                  </a:rPr>
                                  <m:t>8.22</m:t>
                                </m:r>
                                <m:r>
                                  <a:rPr lang="en-US" altLang="zh-TW" sz="1800" i="1" dirty="0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i="1" dirty="0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altLang="zh-TW" sz="1800" b="0" i="1" dirty="0" smtClean="0">
                                    <a:latin typeface="Cambria Math" panose="02040503050406030204" pitchFamily="18" charset="0"/>
                                  </a:rPr>
                                  <m:t>.06</m:t>
                                </m:r>
                                <m:r>
                                  <a:rPr lang="en-US" altLang="zh-TW" sz="1800" i="1" dirty="0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altLang="zh-TW" sz="1800" b="0" i="1" dirty="0" smtClean="0">
                                    <a:latin typeface="Cambria Math" panose="02040503050406030204" pitchFamily="18" charset="0"/>
                                  </a:rPr>
                                  <m:t>7.44</m:t>
                                </m:r>
                                <m:r>
                                  <a:rPr lang="en-US" altLang="zh-TW" sz="1800" i="1" dirty="0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11.05%</a:t>
                          </a:r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3963378"/>
                  </p:ext>
                </p:extLst>
              </p:nvPr>
            </p:nvGraphicFramePr>
            <p:xfrm>
              <a:off x="417243" y="1690689"/>
              <a:ext cx="8477250" cy="26085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412875"/>
                    <a:gridCol w="1412875"/>
                    <a:gridCol w="1624282"/>
                    <a:gridCol w="1476375"/>
                    <a:gridCol w="1419225"/>
                    <a:gridCol w="1131618"/>
                  </a:tblGrid>
                  <a:tr h="652145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Size of house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( 57.39 % )</a:t>
                          </a:r>
                          <a:endParaRPr lang="zh-TW" altLang="en-US" dirty="0" smtClean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Transportation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( 29.13</a:t>
                          </a:r>
                          <a:r>
                            <a:rPr lang="en-US" altLang="zh-TW" baseline="0" dirty="0" smtClean="0"/>
                            <a:t> % )</a:t>
                          </a:r>
                          <a:endParaRPr lang="zh-TW" altLang="en-US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Age of house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( 9.03 % )</a:t>
                          </a:r>
                          <a:endParaRPr lang="zh-TW" altLang="en-US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Financing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( 4.45 % )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Global</a:t>
                          </a:r>
                        </a:p>
                        <a:p>
                          <a:pPr algn="ctr"/>
                          <a:r>
                            <a:rPr lang="en-US" altLang="zh-TW" dirty="0" smtClean="0"/>
                            <a:t>Priorities</a:t>
                          </a:r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6521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100431" t="-102778" r="-40086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174157" t="-102778" r="-24831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302479" t="-102778" r="-173967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 rotWithShape="0">
                          <a:blip r:embed="rId2"/>
                          <a:stretch>
                            <a:fillRect l="-418026" t="-102778" r="-80687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32.64%</a:t>
                          </a:r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6521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B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100431" t="-204673" r="-400862" b="-101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174157" t="-204673" r="-248315" b="-101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302479" t="-204673" r="-173967" b="-101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 rotWithShape="0">
                          <a:blip r:embed="rId2"/>
                          <a:stretch>
                            <a:fillRect l="-418026" t="-204673" r="-80687" b="-101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42.81%</a:t>
                          </a:r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6521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100431" t="-304673" r="-400862" b="-1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174157" t="-304673" r="-248315" b="-1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302479" t="-304673" r="-173967" b="-1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 rotWithShape="0">
                          <a:blip r:embed="rId2"/>
                          <a:stretch>
                            <a:fillRect l="-418026" t="-304673" r="-80687" b="-1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11.05%</a:t>
                          </a:r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" name="矩形 1"/>
          <p:cNvSpPr/>
          <p:nvPr/>
        </p:nvSpPr>
        <p:spPr>
          <a:xfrm>
            <a:off x="7743825" y="2994979"/>
            <a:ext cx="1150668" cy="653096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" name="直線接點 3"/>
          <p:cNvCxnSpPr/>
          <p:nvPr/>
        </p:nvCxnSpPr>
        <p:spPr>
          <a:xfrm flipV="1">
            <a:off x="5143500" y="1190625"/>
            <a:ext cx="1038225" cy="346710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 flipV="1">
            <a:off x="6596493" y="1190625"/>
            <a:ext cx="1038225" cy="346710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9065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308137" y="365126"/>
            <a:ext cx="8695463" cy="1325563"/>
          </a:xfrm>
        </p:spPr>
        <p:txBody>
          <a:bodyPr>
            <a:normAutofit/>
          </a:bodyPr>
          <a:lstStyle/>
          <a:p>
            <a:r>
              <a:rPr lang="en-US" altLang="zh-TW" sz="6000" dirty="0" smtClean="0"/>
              <a:t>Absolute measurement</a:t>
            </a:r>
            <a:endParaRPr lang="zh-TW" altLang="en-US" sz="6000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58" y="1690689"/>
            <a:ext cx="8923220" cy="44577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316199" y="4609506"/>
                <a:ext cx="8827801" cy="15388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TW" sz="2000" b="0" i="1" dirty="0" smtClean="0">
                    <a:latin typeface="Cambria Math" panose="02040503050406030204" pitchFamily="18" charset="0"/>
                  </a:rPr>
                  <a:t>The total score for Mr. X :</a:t>
                </a:r>
              </a:p>
              <a:p>
                <a:endParaRPr lang="en-US" altLang="zh-TW" sz="2000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0.061∗0.604+0.196∗0.731+0.043∗0.199+0.071∗0.750+0.162∗0.188</m:t>
                      </m:r>
                    </m:oMath>
                  </m:oMathPara>
                </a14:m>
                <a:endParaRPr lang="en-US" altLang="zh-TW" sz="2000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b="0" i="0" smtClean="0">
                          <a:latin typeface="Cambria Math" panose="02040503050406030204" pitchFamily="18" charset="0"/>
                        </a:rPr>
                        <m:t>=0.623</m:t>
                      </m:r>
                    </m:oMath>
                  </m:oMathPara>
                </a14:m>
                <a:endParaRPr lang="en-US" altLang="zh-TW" sz="2000" b="0" dirty="0" smtClean="0"/>
              </a:p>
              <a:p>
                <a:endParaRPr lang="en-US" altLang="zh-TW" sz="2000" b="0" dirty="0" smtClean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99" y="4609506"/>
                <a:ext cx="8827801" cy="1538883"/>
              </a:xfrm>
              <a:prstGeom prst="rect">
                <a:avLst/>
              </a:prstGeom>
              <a:blipFill rotWithShape="0">
                <a:blip r:embed="rId3"/>
                <a:stretch>
                  <a:fillRect l="-1796" t="-51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1645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2.22222E-6 L 2.22222E-6 -0.2145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07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89063" y="97629"/>
            <a:ext cx="8197688" cy="1035048"/>
          </a:xfrm>
        </p:spPr>
        <p:txBody>
          <a:bodyPr>
            <a:normAutofit/>
          </a:bodyPr>
          <a:lstStyle/>
          <a:p>
            <a:r>
              <a:rPr lang="en-US" altLang="zh-TW" sz="4000" dirty="0" smtClean="0"/>
              <a:t>The Catastrophe hierarchy</a:t>
            </a:r>
            <a:endParaRPr lang="zh-TW" altLang="en-US" sz="4000" dirty="0"/>
          </a:p>
        </p:txBody>
      </p:sp>
      <p:sp>
        <p:nvSpPr>
          <p:cNvPr id="2" name="矩形 1"/>
          <p:cNvSpPr/>
          <p:nvPr/>
        </p:nvSpPr>
        <p:spPr>
          <a:xfrm>
            <a:off x="3967163" y="1290637"/>
            <a:ext cx="1209675" cy="3905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GOAL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5" name="肘形接點 14"/>
          <p:cNvCxnSpPr>
            <a:stCxn id="2" idx="2"/>
            <a:endCxn id="21" idx="0"/>
          </p:cNvCxnSpPr>
          <p:nvPr/>
        </p:nvCxnSpPr>
        <p:spPr>
          <a:xfrm rot="5400000">
            <a:off x="3429246" y="847965"/>
            <a:ext cx="309558" cy="197595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1991211" y="1990720"/>
            <a:ext cx="1209675" cy="6286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NORMAL</a:t>
            </a:r>
          </a:p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(0.990)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24" name="肘形接點 23"/>
          <p:cNvCxnSpPr>
            <a:stCxn id="2" idx="2"/>
            <a:endCxn id="25" idx="0"/>
          </p:cNvCxnSpPr>
          <p:nvPr/>
        </p:nvCxnSpPr>
        <p:spPr>
          <a:xfrm rot="16200000" flipH="1">
            <a:off x="5653091" y="600072"/>
            <a:ext cx="309558" cy="247173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6438901" y="1990720"/>
            <a:ext cx="1209675" cy="6286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ACCIDENT</a:t>
            </a:r>
          </a:p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(0.010)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0" name="肘形接點 29"/>
          <p:cNvCxnSpPr>
            <a:stCxn id="21" idx="2"/>
            <a:endCxn id="36" idx="0"/>
          </p:cNvCxnSpPr>
          <p:nvPr/>
        </p:nvCxnSpPr>
        <p:spPr>
          <a:xfrm rot="5400000">
            <a:off x="1242542" y="2070730"/>
            <a:ext cx="804867" cy="190214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肘形接點 30"/>
          <p:cNvCxnSpPr>
            <a:stCxn id="21" idx="2"/>
            <a:endCxn id="37" idx="0"/>
          </p:cNvCxnSpPr>
          <p:nvPr/>
        </p:nvCxnSpPr>
        <p:spPr>
          <a:xfrm rot="5400000">
            <a:off x="1869289" y="2697477"/>
            <a:ext cx="804866" cy="64865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89063" y="3424238"/>
            <a:ext cx="1209675" cy="6286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SIZE</a:t>
            </a:r>
          </a:p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(0.051)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342556" y="3424237"/>
            <a:ext cx="1209675" cy="6286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OPERCOST</a:t>
            </a:r>
          </a:p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(0.135)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596049" y="3424236"/>
            <a:ext cx="1209675" cy="6286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SYTLE</a:t>
            </a:r>
          </a:p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(0.269)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3849542" y="3424236"/>
            <a:ext cx="1209675" cy="6286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LOWPRICE</a:t>
            </a:r>
          </a:p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(0.535)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8" name="肘形接點 47"/>
          <p:cNvCxnSpPr>
            <a:stCxn id="21" idx="2"/>
            <a:endCxn id="38" idx="0"/>
          </p:cNvCxnSpPr>
          <p:nvPr/>
        </p:nvCxnSpPr>
        <p:spPr>
          <a:xfrm rot="16200000" flipH="1">
            <a:off x="2496036" y="2719384"/>
            <a:ext cx="804865" cy="60483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肘形接點 50"/>
          <p:cNvCxnSpPr>
            <a:stCxn id="21" idx="2"/>
            <a:endCxn id="39" idx="0"/>
          </p:cNvCxnSpPr>
          <p:nvPr/>
        </p:nvCxnSpPr>
        <p:spPr>
          <a:xfrm rot="16200000" flipH="1">
            <a:off x="3122782" y="2092637"/>
            <a:ext cx="804865" cy="185833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肘形接點 70"/>
          <p:cNvCxnSpPr>
            <a:stCxn id="36" idx="2"/>
            <a:endCxn id="73" idx="0"/>
          </p:cNvCxnSpPr>
          <p:nvPr/>
        </p:nvCxnSpPr>
        <p:spPr>
          <a:xfrm rot="16200000" flipH="1">
            <a:off x="-138584" y="4885374"/>
            <a:ext cx="1938336" cy="27336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肘形接點 71"/>
          <p:cNvCxnSpPr>
            <a:stCxn id="36" idx="2"/>
            <a:endCxn id="74" idx="0"/>
          </p:cNvCxnSpPr>
          <p:nvPr/>
        </p:nvCxnSpPr>
        <p:spPr>
          <a:xfrm rot="16200000" flipH="1">
            <a:off x="499118" y="4247672"/>
            <a:ext cx="1938335" cy="154876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矩形 72"/>
          <p:cNvSpPr/>
          <p:nvPr/>
        </p:nvSpPr>
        <p:spPr>
          <a:xfrm>
            <a:off x="340520" y="5991225"/>
            <a:ext cx="1253493" cy="6286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OLDWRECK</a:t>
            </a:r>
          </a:p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(0.002)</a:t>
            </a:r>
          </a:p>
        </p:txBody>
      </p:sp>
      <p:sp>
        <p:nvSpPr>
          <p:cNvPr id="74" name="矩形 73"/>
          <p:cNvSpPr/>
          <p:nvPr/>
        </p:nvSpPr>
        <p:spPr>
          <a:xfrm>
            <a:off x="1637831" y="5991224"/>
            <a:ext cx="1209675" cy="6286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CHEVY</a:t>
            </a:r>
          </a:p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(0.009)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2891324" y="5991223"/>
            <a:ext cx="1209675" cy="6286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HONDA</a:t>
            </a:r>
          </a:p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(0.013)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4144817" y="5991223"/>
            <a:ext cx="1209675" cy="6286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TOYOTA</a:t>
            </a:r>
          </a:p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(0.026)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77" name="肘形接點 76"/>
          <p:cNvCxnSpPr>
            <a:stCxn id="36" idx="2"/>
            <a:endCxn id="75" idx="0"/>
          </p:cNvCxnSpPr>
          <p:nvPr/>
        </p:nvCxnSpPr>
        <p:spPr>
          <a:xfrm rot="16200000" flipH="1">
            <a:off x="1125864" y="3620925"/>
            <a:ext cx="1938334" cy="280226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肘形接點 77"/>
          <p:cNvCxnSpPr>
            <a:stCxn id="36" idx="2"/>
            <a:endCxn id="76" idx="0"/>
          </p:cNvCxnSpPr>
          <p:nvPr/>
        </p:nvCxnSpPr>
        <p:spPr>
          <a:xfrm rot="16200000" flipH="1">
            <a:off x="1752611" y="2994179"/>
            <a:ext cx="1938334" cy="405575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1148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89063" y="97629"/>
            <a:ext cx="8197688" cy="1035048"/>
          </a:xfrm>
        </p:spPr>
        <p:txBody>
          <a:bodyPr>
            <a:normAutofit/>
          </a:bodyPr>
          <a:lstStyle/>
          <a:p>
            <a:r>
              <a:rPr lang="en-US" altLang="zh-TW" sz="4000" dirty="0" smtClean="0"/>
              <a:t>The Catastrophe hierarchy</a:t>
            </a:r>
            <a:endParaRPr lang="zh-TW" altLang="en-US" sz="4000" dirty="0"/>
          </a:p>
        </p:txBody>
      </p:sp>
      <p:sp>
        <p:nvSpPr>
          <p:cNvPr id="2" name="矩形 1"/>
          <p:cNvSpPr/>
          <p:nvPr/>
        </p:nvSpPr>
        <p:spPr>
          <a:xfrm>
            <a:off x="3967163" y="1290637"/>
            <a:ext cx="1209675" cy="3905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GOAL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5" name="肘形接點 14"/>
          <p:cNvCxnSpPr>
            <a:stCxn id="2" idx="2"/>
            <a:endCxn id="21" idx="0"/>
          </p:cNvCxnSpPr>
          <p:nvPr/>
        </p:nvCxnSpPr>
        <p:spPr>
          <a:xfrm rot="5400000">
            <a:off x="3429246" y="847965"/>
            <a:ext cx="309558" cy="197595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1991211" y="1990720"/>
            <a:ext cx="1209675" cy="6286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NORMAL</a:t>
            </a:r>
          </a:p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(0.990)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24" name="肘形接點 23"/>
          <p:cNvCxnSpPr>
            <a:stCxn id="2" idx="2"/>
            <a:endCxn id="25" idx="0"/>
          </p:cNvCxnSpPr>
          <p:nvPr/>
        </p:nvCxnSpPr>
        <p:spPr>
          <a:xfrm rot="16200000" flipH="1">
            <a:off x="5653091" y="600072"/>
            <a:ext cx="309558" cy="247173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6438901" y="1990720"/>
            <a:ext cx="1209675" cy="6286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ACCIDENT</a:t>
            </a:r>
          </a:p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(0.010)</a:t>
            </a:r>
            <a:endParaRPr lang="zh-TW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006191"/>
              </p:ext>
            </p:extLst>
          </p:nvPr>
        </p:nvGraphicFramePr>
        <p:xfrm>
          <a:off x="987507" y="3022598"/>
          <a:ext cx="3200400" cy="22510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00200"/>
                <a:gridCol w="1600200"/>
              </a:tblGrid>
              <a:tr h="450215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Priorities</a:t>
                      </a:r>
                      <a:endParaRPr lang="zh-TW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50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TOYOTA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0.408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50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HONDA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0.345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50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CHEVY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0.197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50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OLDWRECK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0.049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8412509"/>
              </p:ext>
            </p:extLst>
          </p:nvPr>
        </p:nvGraphicFramePr>
        <p:xfrm>
          <a:off x="5443538" y="3016249"/>
          <a:ext cx="3200400" cy="22510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00200"/>
                <a:gridCol w="1600200"/>
              </a:tblGrid>
              <a:tr h="450215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Priorities</a:t>
                      </a:r>
                      <a:endParaRPr lang="zh-TW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50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TOYOTA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0.142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50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HONDA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0.115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50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CHEVY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0.166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50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OLDWRECK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0.576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3835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2118</TotalTime>
  <Words>789</Words>
  <Application>Microsoft Office PowerPoint</Application>
  <PresentationFormat>如螢幕大小 (4:3)</PresentationFormat>
  <Paragraphs>481</Paragraphs>
  <Slides>21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7" baseType="lpstr">
      <vt:lpstr>新細明體</vt:lpstr>
      <vt:lpstr>Arial</vt:lpstr>
      <vt:lpstr>Calibri</vt:lpstr>
      <vt:lpstr>Calibri Light</vt:lpstr>
      <vt:lpstr>Cambria Math</vt:lpstr>
      <vt:lpstr>Office 佈景主題</vt:lpstr>
      <vt:lpstr>How to make a decision: The Analytic Hierarchy Process</vt:lpstr>
      <vt:lpstr>Abstract</vt:lpstr>
      <vt:lpstr>Analytic Hierarchy Process</vt:lpstr>
      <vt:lpstr>Relative Measurement</vt:lpstr>
      <vt:lpstr>Relative Measurement</vt:lpstr>
      <vt:lpstr>Paired Comparison</vt:lpstr>
      <vt:lpstr>Relative Measurement</vt:lpstr>
      <vt:lpstr>Comparison Matrix for criteria</vt:lpstr>
      <vt:lpstr>Comparison Matrix for criteria </vt:lpstr>
      <vt:lpstr>PowerPoint 簡報</vt:lpstr>
      <vt:lpstr>PowerPoint 簡報</vt:lpstr>
      <vt:lpstr>PowerPoint 簡報</vt:lpstr>
      <vt:lpstr>Comparison Matrices and local priorities</vt:lpstr>
      <vt:lpstr>Comparison Matrices and local priorities</vt:lpstr>
      <vt:lpstr>PowerPoint 簡報</vt:lpstr>
      <vt:lpstr>Global priorities</vt:lpstr>
      <vt:lpstr>Global priorities</vt:lpstr>
      <vt:lpstr>Global priorities</vt:lpstr>
      <vt:lpstr>Absolute measurement</vt:lpstr>
      <vt:lpstr>The Catastrophe hierarchy</vt:lpstr>
      <vt:lpstr>The Catastrophe hierarchy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Bit-String Longest-Common-Subsequence Algorithm</dc:title>
  <dc:creator>YanLee</dc:creator>
  <cp:lastModifiedBy>YanLee</cp:lastModifiedBy>
  <cp:revision>109</cp:revision>
  <dcterms:created xsi:type="dcterms:W3CDTF">2016-10-24T04:50:56Z</dcterms:created>
  <dcterms:modified xsi:type="dcterms:W3CDTF">2017-02-14T10:08:39Z</dcterms:modified>
</cp:coreProperties>
</file>