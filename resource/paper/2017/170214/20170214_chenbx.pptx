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1" r:id="rId3"/>
    <p:sldId id="276" r:id="rId4"/>
    <p:sldId id="277" r:id="rId5"/>
    <p:sldId id="279" r:id="rId6"/>
    <p:sldId id="281" r:id="rId7"/>
    <p:sldId id="278" r:id="rId8"/>
    <p:sldId id="280" r:id="rId9"/>
    <p:sldId id="282" r:id="rId10"/>
    <p:sldId id="283" r:id="rId11"/>
    <p:sldId id="285" r:id="rId12"/>
    <p:sldId id="284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96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12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D1BC5A-2102-4173-82DD-81C906129695}" type="datetimeFigureOut">
              <a:rPr lang="zh-TW" altLang="en-US" smtClean="0"/>
              <a:t>2017/2/14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662A4D-CDC3-4482-B13B-5AC67220A67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2614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http://pubsonline.informs.org/doi/abs/10.1287/mnsc.36.3.249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662A4D-CDC3-4482-B13B-5AC67220A67E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4082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277E4-0394-4C58-9A46-AC7EBA472498}" type="datetimeFigureOut">
              <a:rPr lang="zh-TW" altLang="en-US" smtClean="0"/>
              <a:t>2017/2/14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5646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277E4-0394-4C58-9A46-AC7EBA472498}" type="datetimeFigureOut">
              <a:rPr lang="zh-TW" altLang="en-US" smtClean="0"/>
              <a:t>2017/2/14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3751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277E4-0394-4C58-9A46-AC7EBA472498}" type="datetimeFigureOut">
              <a:rPr lang="zh-TW" altLang="en-US" smtClean="0"/>
              <a:t>2017/2/14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6596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277E4-0394-4C58-9A46-AC7EBA472498}" type="datetimeFigureOut">
              <a:rPr lang="zh-TW" altLang="en-US" smtClean="0"/>
              <a:t>2017/2/14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8523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277E4-0394-4C58-9A46-AC7EBA472498}" type="datetimeFigureOut">
              <a:rPr lang="zh-TW" altLang="en-US" smtClean="0"/>
              <a:t>2017/2/14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0006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277E4-0394-4C58-9A46-AC7EBA472498}" type="datetimeFigureOut">
              <a:rPr lang="zh-TW" altLang="en-US" smtClean="0"/>
              <a:t>2017/2/14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99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277E4-0394-4C58-9A46-AC7EBA472498}" type="datetimeFigureOut">
              <a:rPr lang="zh-TW" altLang="en-US" smtClean="0"/>
              <a:t>2017/2/14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1298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277E4-0394-4C58-9A46-AC7EBA472498}" type="datetimeFigureOut">
              <a:rPr lang="zh-TW" altLang="en-US" smtClean="0"/>
              <a:t>2017/2/14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4612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277E4-0394-4C58-9A46-AC7EBA472498}" type="datetimeFigureOut">
              <a:rPr lang="zh-TW" altLang="en-US" smtClean="0"/>
              <a:t>2017/2/14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3726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277E4-0394-4C58-9A46-AC7EBA472498}" type="datetimeFigureOut">
              <a:rPr lang="zh-TW" altLang="en-US" smtClean="0"/>
              <a:t>2017/2/14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8019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277E4-0394-4C58-9A46-AC7EBA472498}" type="datetimeFigureOut">
              <a:rPr lang="zh-TW" altLang="en-US" smtClean="0"/>
              <a:t>2017/2/14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3835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9277E4-0394-4C58-9A46-AC7EBA472498}" type="datetimeFigureOut">
              <a:rPr lang="zh-TW" altLang="en-US" smtClean="0"/>
              <a:t>2017/2/14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6280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578899"/>
            <a:ext cx="9144000" cy="1508693"/>
          </a:xfrm>
        </p:spPr>
        <p:txBody>
          <a:bodyPr>
            <a:normAutofit/>
          </a:bodyPr>
          <a:lstStyle/>
          <a:p>
            <a:r>
              <a:rPr lang="en-US" altLang="zh-TW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Remarks on the </a:t>
            </a:r>
            <a:r>
              <a:rPr lang="en-US" altLang="zh-TW" sz="4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sz="4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4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Analytic </a:t>
            </a:r>
            <a:r>
              <a:rPr lang="en-US" altLang="zh-TW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Hierarchy Process</a:t>
            </a:r>
            <a:endParaRPr lang="zh-TW" altLang="en-US" sz="4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7959305" y="5620621"/>
            <a:ext cx="3893389" cy="935455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Bo-Xian Chen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Date : </a:t>
            </a:r>
            <a:fld id="{DA00540B-99AF-4B5E-9AEF-55C0985778C8}" type="datetime1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2017/2/14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1981185" y="3277622"/>
            <a:ext cx="8229630" cy="178831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449" b="1" dirty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Management </a:t>
            </a:r>
            <a:r>
              <a:rPr lang="en-US" altLang="zh-TW" sz="2449" b="1" dirty="0" smtClean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Science Volume 36 Issue 3 pp. 249-258</a:t>
            </a:r>
          </a:p>
          <a:p>
            <a:pPr algn="ctr"/>
            <a:r>
              <a:rPr lang="en-US" altLang="zh-TW" sz="2449" b="1" dirty="0" smtClean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March 1990</a:t>
            </a:r>
          </a:p>
          <a:p>
            <a:pPr algn="ctr"/>
            <a:r>
              <a:rPr lang="en-US" altLang="zh-TW" sz="2449" b="1" dirty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James S. </a:t>
            </a:r>
            <a:r>
              <a:rPr lang="en-US" altLang="zh-TW" sz="2449" b="1" dirty="0" smtClean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Dyer</a:t>
            </a:r>
          </a:p>
          <a:p>
            <a:pPr algn="ctr"/>
            <a:r>
              <a:rPr lang="en-US" altLang="zh-TW" sz="2449" b="1" dirty="0" smtClean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Department </a:t>
            </a:r>
            <a:r>
              <a:rPr lang="en-US" altLang="zh-TW" sz="2449" b="1" dirty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of Management Science and Information Systems, The University of </a:t>
            </a:r>
            <a:r>
              <a:rPr lang="en-US" altLang="zh-TW" sz="2449" b="1" dirty="0" smtClean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Texas</a:t>
            </a:r>
            <a:endParaRPr lang="en-US" sz="2449" b="1" dirty="0">
              <a:solidFill>
                <a:srgbClr val="898989"/>
              </a:solidFill>
              <a:ea typeface="新細明體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701700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(1/2)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351005"/>
            <a:ext cx="10515600" cy="4825958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analytic hierarchy process (AHP) is flawed as a procedure for ranking alternatives in that the rankings produced by this procedure are arbitrary. This paper provides a brief review of several areas of operational difficulty with the AHP, and then focuses on the arbitrary rankings that occur when the principle of hierarchic composition is assumed. 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6221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(2/2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351004"/>
            <a:ext cx="10515600" cy="5213697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principle requires that the weights on the higher levels of a hierarchy can be determined independently of the weights on the lower levels. Virtually all of the published examples of the use of the AHP to evaluate alternatives relative to a set of criteria have assumed this principle. The key to correcting this flaw is the synthesis of the AHP with the concepts of 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multiattribute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utility theory.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160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Flaw of AHP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Rank Reversal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9907189"/>
              </p:ext>
            </p:extLst>
          </p:nvPr>
        </p:nvGraphicFramePr>
        <p:xfrm>
          <a:off x="838200" y="2137347"/>
          <a:ext cx="285394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0789"/>
                <a:gridCol w="570789"/>
                <a:gridCol w="570789"/>
                <a:gridCol w="570789"/>
                <a:gridCol w="570789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i="1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i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i="1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i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i="1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i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i="1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i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i="1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i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i="1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i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i="1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i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19284373"/>
              </p:ext>
            </p:extLst>
          </p:nvPr>
        </p:nvGraphicFramePr>
        <p:xfrm>
          <a:off x="838199" y="4459923"/>
          <a:ext cx="285394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0789"/>
                <a:gridCol w="570789"/>
                <a:gridCol w="570789"/>
                <a:gridCol w="570789"/>
                <a:gridCol w="570789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i="1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i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i="1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i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i="1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i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i="1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i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i="1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i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i="1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i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i="1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i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i="1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i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6" name="直線單箭頭接點 5"/>
          <p:cNvCxnSpPr/>
          <p:nvPr/>
        </p:nvCxnSpPr>
        <p:spPr>
          <a:xfrm>
            <a:off x="4163568" y="2879027"/>
            <a:ext cx="420624" cy="0"/>
          </a:xfrm>
          <a:prstGeom prst="straightConnector1">
            <a:avLst/>
          </a:prstGeom>
          <a:ln w="857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單箭頭接點 6"/>
          <p:cNvCxnSpPr/>
          <p:nvPr/>
        </p:nvCxnSpPr>
        <p:spPr>
          <a:xfrm>
            <a:off x="4163568" y="5346066"/>
            <a:ext cx="420624" cy="0"/>
          </a:xfrm>
          <a:prstGeom prst="straightConnector1">
            <a:avLst/>
          </a:prstGeom>
          <a:ln w="857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3604654"/>
              </p:ext>
            </p:extLst>
          </p:nvPr>
        </p:nvGraphicFramePr>
        <p:xfrm>
          <a:off x="5055615" y="2137347"/>
          <a:ext cx="512013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448"/>
                <a:gridCol w="731448"/>
                <a:gridCol w="731448"/>
                <a:gridCol w="731448"/>
                <a:gridCol w="731448"/>
                <a:gridCol w="731448"/>
                <a:gridCol w="731448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i="1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i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i="1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i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i="1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i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i="1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i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Score</a:t>
                      </a:r>
                      <a:endParaRPr lang="zh-TW" altLang="en-US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zh-TW" altLang="en-US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i="1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i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1/18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9/11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1/14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3/9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0.320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i="1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i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9/18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1/11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9/14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1/9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0.336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i="1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i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8/18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1/11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4/14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5/9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0.344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82568179"/>
              </p:ext>
            </p:extLst>
          </p:nvPr>
        </p:nvGraphicFramePr>
        <p:xfrm>
          <a:off x="5055615" y="4459923"/>
          <a:ext cx="512013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448"/>
                <a:gridCol w="731448"/>
                <a:gridCol w="731448"/>
                <a:gridCol w="731448"/>
                <a:gridCol w="731448"/>
                <a:gridCol w="731448"/>
                <a:gridCol w="731448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i="1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i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i="1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i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i="1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i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i="1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i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Score</a:t>
                      </a:r>
                      <a:endParaRPr lang="zh-TW" altLang="en-US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zh-TW" altLang="en-US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i="1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i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1/22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9/12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1/22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3/14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0.264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i="1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i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9/22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1/12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9/22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1/14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0.243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i="1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i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8/22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1/12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4/22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5/14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0.246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i="1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i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4/22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1/12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8/22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5/14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0.246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" name="文字方塊 2"/>
          <p:cNvSpPr txBox="1"/>
          <p:nvPr/>
        </p:nvSpPr>
        <p:spPr>
          <a:xfrm>
            <a:off x="838199" y="1281079"/>
            <a:ext cx="47532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AHP</a:t>
            </a:r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所產生的排序是可變動的</a:t>
            </a:r>
            <a:endParaRPr lang="zh-TW" altLang="en-US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393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Resolution to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Reversal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235676"/>
            <a:ext cx="10860314" cy="5310267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Absolute Measurement </a:t>
            </a: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E.g. 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一間公司評量員工的四個準則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Dependability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 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與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Quality </a:t>
            </a:r>
          </a:p>
          <a:p>
            <a:pPr marL="0" indent="0">
              <a:buNone/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290284" y="2734021"/>
          <a:ext cx="11611432" cy="36841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2972"/>
                <a:gridCol w="1683657"/>
                <a:gridCol w="1289699"/>
                <a:gridCol w="2194892"/>
                <a:gridCol w="1122660"/>
                <a:gridCol w="1658776"/>
                <a:gridCol w="1658776"/>
              </a:tblGrid>
              <a:tr h="6666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Dependability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Outstanding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Above</a:t>
                      </a:r>
                    </a:p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Below</a:t>
                      </a:r>
                    </a:p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Unsatisfactory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Priorities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Outstanding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2.0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3.0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4.0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5.0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0.419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Above</a:t>
                      </a:r>
                    </a:p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1/2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zh-TW" altLang="en-US" sz="24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2.0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3.0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4.0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0.263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zh-TW" altLang="en-US" sz="24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2.0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3.0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0.160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Below Average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1/4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1/2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zh-TW" altLang="en-US" sz="24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2.0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0.097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Unsatisfactory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1/5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1/4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1/2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zh-TW" altLang="en-US" sz="24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0.062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9911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Resolution to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Reversal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7710" y="1364742"/>
            <a:ext cx="7076580" cy="527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879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Resolution to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Reversal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8010922"/>
              </p:ext>
            </p:extLst>
          </p:nvPr>
        </p:nvGraphicFramePr>
        <p:xfrm>
          <a:off x="464458" y="1828800"/>
          <a:ext cx="11422742" cy="46735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3468"/>
                <a:gridCol w="1810161"/>
                <a:gridCol w="2340727"/>
                <a:gridCol w="1673617"/>
                <a:gridCol w="3444769"/>
              </a:tblGrid>
              <a:tr h="100148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Dependability</a:t>
                      </a:r>
                      <a:r>
                        <a:rPr lang="zh-TW" altLang="en-US" sz="220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之</a:t>
                      </a:r>
                      <a:endParaRPr lang="en-US" altLang="zh-TW" sz="220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en-US" sz="220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絕對測度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Priorities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(x) = max</a:t>
                      </a:r>
                      <a:r>
                        <a:rPr lang="en-US" altLang="zh-TW" sz="2400" i="1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TW" sz="24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zh-TW" sz="2400" i="1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sz="2400" i="1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TW" sz="24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zh-TW" altLang="en-US" sz="24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正規化</a:t>
                      </a:r>
                      <a:r>
                        <a:rPr lang="zh-TW" alt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之</a:t>
                      </a:r>
                      <a:endParaRPr lang="en-US" altLang="zh-TW" sz="20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Priorities</a:t>
                      </a:r>
                      <a:endParaRPr lang="zh-TW" altLang="en-US" sz="20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乘上</a:t>
                      </a:r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Dependability</a:t>
                      </a:r>
                    </a:p>
                    <a:p>
                      <a:pPr algn="ctr"/>
                      <a:r>
                        <a:rPr lang="zh-TW" alt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的權重 </a:t>
                      </a:r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0.4347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5563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Outstanding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0.419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0.419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1.000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0.4347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00148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Above</a:t>
                      </a:r>
                    </a:p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0.263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4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0.626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0.2721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5563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0.160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0.385</a:t>
                      </a:r>
                      <a:endParaRPr lang="zh-TW" altLang="en-US" sz="24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0.1674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00148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Below Average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0.097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0.231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0.1004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5563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Unsatisfactory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0.062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0.148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0.0643</a:t>
                      </a:r>
                      <a:endParaRPr lang="zh-TW" altLang="en-US" sz="24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4832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Resolution to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Reversal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3462" y="1364742"/>
            <a:ext cx="7085076" cy="527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931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Resolution to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Reversal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8072182"/>
              </p:ext>
            </p:extLst>
          </p:nvPr>
        </p:nvGraphicFramePr>
        <p:xfrm>
          <a:off x="687615" y="1235676"/>
          <a:ext cx="1081677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3354"/>
                <a:gridCol w="2163354"/>
                <a:gridCol w="2163354"/>
                <a:gridCol w="2163354"/>
                <a:gridCol w="216335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Goal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Dependability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Education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Experience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Quality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Adams, V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Outstanding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Bachelor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 Little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Outstanding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Becker, L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Average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Bachelor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 Little</a:t>
                      </a:r>
                      <a:endParaRPr lang="zh-TW" altLang="en-US" sz="24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Outstanding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Hayat, F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Average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Masters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 lot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Below Average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Kesselman</a:t>
                      </a:r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altLang="zh-TW" sz="24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S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Above</a:t>
                      </a:r>
                      <a:r>
                        <a:rPr lang="en-US" altLang="zh-TW" sz="24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Average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H.S.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None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Above</a:t>
                      </a:r>
                      <a:r>
                        <a:rPr lang="en-US" altLang="zh-TW" sz="24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Average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3391531"/>
              </p:ext>
            </p:extLst>
          </p:nvPr>
        </p:nvGraphicFramePr>
        <p:xfrm>
          <a:off x="416380" y="3884533"/>
          <a:ext cx="113592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1418"/>
                <a:gridCol w="2022879"/>
                <a:gridCol w="1711666"/>
                <a:gridCol w="1711667"/>
                <a:gridCol w="1343870"/>
                <a:gridCol w="1343870"/>
                <a:gridCol w="134387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Goal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Dependability</a:t>
                      </a:r>
                    </a:p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0.4347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Education</a:t>
                      </a:r>
                    </a:p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0.2774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Experience</a:t>
                      </a:r>
                    </a:p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0.1755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Quality</a:t>
                      </a:r>
                    </a:p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0.1123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權重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排序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Adams, V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0.4347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0.0791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0.0204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0.1123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0.6465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Becker, L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0.1674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0.0791</a:t>
                      </a:r>
                      <a:endParaRPr lang="zh-TW" altLang="en-US" sz="24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0.0204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0.1123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0.3792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Hayat, F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0.1674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0.1368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0.0120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0.418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0.418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Kesselman</a:t>
                      </a:r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altLang="zh-TW" sz="24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S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0.2721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0.0269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0.0582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0.3695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0.3695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0841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Resolution to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Reversal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5724992"/>
              </p:ext>
            </p:extLst>
          </p:nvPr>
        </p:nvGraphicFramePr>
        <p:xfrm>
          <a:off x="687615" y="1235676"/>
          <a:ext cx="1081677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3354"/>
                <a:gridCol w="2163354"/>
                <a:gridCol w="2163354"/>
                <a:gridCol w="2163354"/>
                <a:gridCol w="216335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Goal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Dependability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Education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Experience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Quality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O’Shea, K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Doctorate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Lot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Above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Peters, T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Doctorate</a:t>
                      </a:r>
                      <a:endParaRPr lang="zh-TW" altLang="en-US" sz="24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Lot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1399119"/>
              </p:ext>
            </p:extLst>
          </p:nvPr>
        </p:nvGraphicFramePr>
        <p:xfrm>
          <a:off x="416380" y="2970133"/>
          <a:ext cx="113592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1418"/>
                <a:gridCol w="2022879"/>
                <a:gridCol w="1711666"/>
                <a:gridCol w="1711667"/>
                <a:gridCol w="1343870"/>
                <a:gridCol w="1343870"/>
                <a:gridCol w="134387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Goal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Dependability</a:t>
                      </a:r>
                    </a:p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0.4347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Education</a:t>
                      </a:r>
                    </a:p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0.2774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Experience</a:t>
                      </a:r>
                    </a:p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0.1755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Quality</a:t>
                      </a:r>
                    </a:p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0.1123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權重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排序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Adams, V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0.4347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0.0791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0.0204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0.1123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0.6465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Becker, L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0.1674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0.0791</a:t>
                      </a:r>
                      <a:endParaRPr lang="zh-TW" altLang="en-US" sz="24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0.0204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0.1123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0.3792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Hayat, F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0.1674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0.1368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0.0120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0.418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0.418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Kesselman</a:t>
                      </a:r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altLang="zh-TW" sz="24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S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0.2721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0.0269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0.0582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0.3695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0.3695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O’Shea, K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0.1674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0.2774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0.1018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0.0582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0.6048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Peters, T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0.1674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0.2774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0.1018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0.0360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0.5826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1546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2361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AHP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351004"/>
            <a:ext cx="10515600" cy="5213697"/>
          </a:xfrm>
        </p:spPr>
        <p:txBody>
          <a:bodyPr>
            <a:noAutofit/>
          </a:bodyPr>
          <a:lstStyle/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zh-TW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建立層次結構模型</a:t>
            </a:r>
            <a:endParaRPr lang="en-US" altLang="zh-TW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zh-TW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成對比較矩陣</a:t>
            </a:r>
            <a:endParaRPr lang="en-US" altLang="zh-TW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計</a:t>
            </a:r>
            <a:r>
              <a:rPr lang="zh-TW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算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權</a:t>
            </a:r>
            <a:r>
              <a:rPr lang="zh-TW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重並做一致性檢驗</a:t>
            </a:r>
            <a:endParaRPr lang="en-US" altLang="zh-TW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endParaRPr lang="en-US" altLang="zh-TW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69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1640</TotalTime>
  <Words>631</Words>
  <Application>Microsoft Office PowerPoint</Application>
  <PresentationFormat>寬螢幕</PresentationFormat>
  <Paragraphs>338</Paragraphs>
  <Slides>12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9" baseType="lpstr">
      <vt:lpstr>新細明體</vt:lpstr>
      <vt:lpstr>標楷體</vt:lpstr>
      <vt:lpstr>Arial</vt:lpstr>
      <vt:lpstr>Calibri</vt:lpstr>
      <vt:lpstr>Calibri Light</vt:lpstr>
      <vt:lpstr>Times New Roman</vt:lpstr>
      <vt:lpstr>Office 佈景主題</vt:lpstr>
      <vt:lpstr>Remarks on the  Analytic Hierarchy Process</vt:lpstr>
      <vt:lpstr>Abstract (1/2)</vt:lpstr>
      <vt:lpstr>Abstract (2/2)</vt:lpstr>
      <vt:lpstr>The Flaw of AHP - Rank Reversal </vt:lpstr>
      <vt:lpstr>The Resolution to Rank Reversal </vt:lpstr>
      <vt:lpstr>The Resolution to Rank Reversal </vt:lpstr>
      <vt:lpstr>The Resolution to Rank Reversal </vt:lpstr>
      <vt:lpstr>The Resolution to Rank Reversal </vt:lpstr>
      <vt:lpstr>The Resolution to Rank Reversal </vt:lpstr>
      <vt:lpstr>The Resolution to Rank Reversal </vt:lpstr>
      <vt:lpstr>PowerPoint 簡報</vt:lpstr>
      <vt:lpstr>AHP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Linear Space Algorithm  for Computing  Maximal Common Subsequences</dc:title>
  <dc:creator>BX CHEN</dc:creator>
  <cp:lastModifiedBy>User</cp:lastModifiedBy>
  <cp:revision>94</cp:revision>
  <dcterms:created xsi:type="dcterms:W3CDTF">2016-10-10T16:56:48Z</dcterms:created>
  <dcterms:modified xsi:type="dcterms:W3CDTF">2017-02-14T10:31:30Z</dcterms:modified>
</cp:coreProperties>
</file>