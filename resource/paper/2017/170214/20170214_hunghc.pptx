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5" r:id="rId8"/>
    <p:sldId id="262" r:id="rId9"/>
    <p:sldId id="266" r:id="rId10"/>
    <p:sldId id="263" r:id="rId11"/>
    <p:sldId id="264" r:id="rId12"/>
    <p:sldId id="267" r:id="rId13"/>
    <p:sldId id="268" r:id="rId14"/>
    <p:sldId id="269" r:id="rId15"/>
    <p:sldId id="271" r:id="rId16"/>
    <p:sldId id="270"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7E50A-4499-43ED-8BA2-92C85A686B99}" type="datetimeFigureOut">
              <a:rPr lang="zh-TW" altLang="en-US" smtClean="0"/>
              <a:t>2017/2/14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3A957-07B1-4B2A-BADA-C4EE42199045}" type="slidenum">
              <a:rPr lang="zh-TW" altLang="en-US" smtClean="0"/>
              <a:t>‹#›</a:t>
            </a:fld>
            <a:endParaRPr lang="zh-TW" altLang="en-US"/>
          </a:p>
        </p:txBody>
      </p:sp>
    </p:spTree>
    <p:extLst>
      <p:ext uri="{BB962C8B-B14F-4D97-AF65-F5344CB8AC3E}">
        <p14:creationId xmlns:p14="http://schemas.microsoft.com/office/powerpoint/2010/main" val="3029317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733A957-07B1-4B2A-BADA-C4EE42199045}" type="slidenum">
              <a:rPr lang="zh-TW" altLang="en-US" smtClean="0"/>
              <a:t>3</a:t>
            </a:fld>
            <a:endParaRPr lang="zh-TW" altLang="en-US"/>
          </a:p>
        </p:txBody>
      </p:sp>
    </p:spTree>
    <p:extLst>
      <p:ext uri="{BB962C8B-B14F-4D97-AF65-F5344CB8AC3E}">
        <p14:creationId xmlns:p14="http://schemas.microsoft.com/office/powerpoint/2010/main" val="792812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1484325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1435197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1737712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100815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852024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2810467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2755519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95708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3573262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2253759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1368483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F12B3F-AD1B-4549-A659-474ABFDEC669}" type="datetimeFigureOut">
              <a:rPr lang="zh-TW" altLang="en-US" smtClean="0"/>
              <a:t>2017/2/14</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9E5BA1-7E90-4910-A45D-D327D4458E70}" type="slidenum">
              <a:rPr lang="zh-TW" altLang="en-US" smtClean="0"/>
              <a:t>‹#›</a:t>
            </a:fld>
            <a:endParaRPr lang="zh-TW" altLang="en-US"/>
          </a:p>
        </p:txBody>
      </p:sp>
    </p:spTree>
    <p:extLst>
      <p:ext uri="{BB962C8B-B14F-4D97-AF65-F5344CB8AC3E}">
        <p14:creationId xmlns:p14="http://schemas.microsoft.com/office/powerpoint/2010/main" val="40221772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998134" y="654755"/>
            <a:ext cx="8417689" cy="1508105"/>
          </a:xfrm>
          <a:prstGeom prst="rect">
            <a:avLst/>
          </a:prstGeom>
          <a:noFill/>
        </p:spPr>
        <p:txBody>
          <a:bodyPr wrap="none" rtlCol="0">
            <a:spAutoFit/>
          </a:bodyPr>
          <a:lstStyle/>
          <a:p>
            <a:r>
              <a:rPr lang="en-US" altLang="zh-TW" sz="4600" dirty="0">
                <a:latin typeface="Times New Roman" panose="02020603050405020304" pitchFamily="18" charset="0"/>
                <a:cs typeface="Times New Roman" panose="02020603050405020304" pitchFamily="18" charset="0"/>
              </a:rPr>
              <a:t>Decision making with the analytic </a:t>
            </a:r>
          </a:p>
          <a:p>
            <a:pPr algn="ctr"/>
            <a:r>
              <a:rPr lang="en-US" altLang="zh-TW" sz="4600" dirty="0">
                <a:latin typeface="Times New Roman" panose="02020603050405020304" pitchFamily="18" charset="0"/>
                <a:cs typeface="Times New Roman" panose="02020603050405020304" pitchFamily="18" charset="0"/>
              </a:rPr>
              <a:t>hierarchy process</a:t>
            </a:r>
            <a:endParaRPr lang="zh-TW" altLang="en-US" sz="4600" dirty="0">
              <a:latin typeface="Times New Roman" panose="02020603050405020304" pitchFamily="18" charset="0"/>
              <a:cs typeface="Times New Roman" panose="02020603050405020304" pitchFamily="18" charset="0"/>
            </a:endParaRPr>
          </a:p>
        </p:txBody>
      </p:sp>
      <p:sp>
        <p:nvSpPr>
          <p:cNvPr id="2" name="文字方塊 1"/>
          <p:cNvSpPr txBox="1"/>
          <p:nvPr/>
        </p:nvSpPr>
        <p:spPr>
          <a:xfrm>
            <a:off x="5068685" y="3070578"/>
            <a:ext cx="2276585" cy="461665"/>
          </a:xfrm>
          <a:prstGeom prst="rect">
            <a:avLst/>
          </a:prstGeom>
          <a:noFill/>
        </p:spPr>
        <p:txBody>
          <a:bodyPr wrap="none" rtlCol="0">
            <a:spAutoFit/>
          </a:bodyPr>
          <a:lstStyle/>
          <a:p>
            <a:pPr algn="ctr"/>
            <a:r>
              <a:rPr lang="en-US" altLang="zh-TW" sz="2400" dirty="0">
                <a:latin typeface="Times New Roman" panose="02020603050405020304" pitchFamily="18" charset="0"/>
                <a:cs typeface="Times New Roman" panose="02020603050405020304" pitchFamily="18" charset="0"/>
              </a:rPr>
              <a:t>Thomas L. </a:t>
            </a:r>
            <a:r>
              <a:rPr lang="en-US" altLang="zh-TW" sz="2400" dirty="0" err="1">
                <a:latin typeface="Times New Roman" panose="02020603050405020304" pitchFamily="18" charset="0"/>
                <a:cs typeface="Times New Roman" panose="02020603050405020304" pitchFamily="18" charset="0"/>
              </a:rPr>
              <a:t>Saaty</a:t>
            </a:r>
            <a:endParaRPr lang="en-US" altLang="zh-TW" sz="2400" dirty="0">
              <a:latin typeface="Times New Roman" panose="02020603050405020304" pitchFamily="18" charset="0"/>
              <a:cs typeface="Times New Roman" panose="02020603050405020304" pitchFamily="18" charset="0"/>
            </a:endParaRPr>
          </a:p>
        </p:txBody>
      </p:sp>
      <p:sp>
        <p:nvSpPr>
          <p:cNvPr id="3" name="文字方塊 2"/>
          <p:cNvSpPr txBox="1"/>
          <p:nvPr/>
        </p:nvSpPr>
        <p:spPr>
          <a:xfrm>
            <a:off x="3246197" y="3782340"/>
            <a:ext cx="5921557" cy="646331"/>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International Journal of Services Sciences, Vol. 1, No. 1, 2008</a:t>
            </a:r>
          </a:p>
          <a:p>
            <a:endParaRPr lang="zh-TW" altLang="en-US"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4371377" y="4881407"/>
            <a:ext cx="3671198"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Hsiu-</a:t>
            </a:r>
            <a:r>
              <a:rPr lang="en-US" altLang="zh-TW" sz="2400" dirty="0" err="1">
                <a:latin typeface="Times New Roman" panose="02020603050405020304" pitchFamily="18" charset="0"/>
                <a:cs typeface="Times New Roman" panose="02020603050405020304" pitchFamily="18" charset="0"/>
              </a:rPr>
              <a:t>Chieh</a:t>
            </a:r>
            <a:r>
              <a:rPr lang="en-US" altLang="zh-TW" sz="2400" dirty="0">
                <a:latin typeface="Times New Roman" panose="02020603050405020304" pitchFamily="18" charset="0"/>
                <a:cs typeface="Times New Roman" panose="02020603050405020304" pitchFamily="18" charset="0"/>
              </a:rPr>
              <a:t> Hung</a:t>
            </a:r>
            <a:endParaRPr lang="zh-TW" altLang="en-US" sz="2400" dirty="0">
              <a:latin typeface="Times New Roman" panose="02020603050405020304" pitchFamily="18" charset="0"/>
              <a:cs typeface="Times New Roman" panose="02020603050405020304" pitchFamily="18" charset="0"/>
            </a:endParaRPr>
          </a:p>
        </p:txBody>
      </p:sp>
      <p:sp>
        <p:nvSpPr>
          <p:cNvPr id="6" name="文字方塊 5"/>
          <p:cNvSpPr txBox="1"/>
          <p:nvPr/>
        </p:nvSpPr>
        <p:spPr>
          <a:xfrm>
            <a:off x="9719732" y="6175021"/>
            <a:ext cx="1739772" cy="369332"/>
          </a:xfrm>
          <a:prstGeom prst="rect">
            <a:avLst/>
          </a:prstGeom>
          <a:noFill/>
        </p:spPr>
        <p:txBody>
          <a:bodyPr wrap="none" rtlCol="0">
            <a:spAutoFit/>
          </a:bodyPr>
          <a:lstStyle/>
          <a:p>
            <a:r>
              <a:rPr lang="en-US" altLang="zh-TW" dirty="0">
                <a:latin typeface="Times New Roman" panose="02020603050405020304" pitchFamily="18" charset="0"/>
                <a:cs typeface="Times New Roman" panose="02020603050405020304" pitchFamily="18" charset="0"/>
              </a:rPr>
              <a:t>Date: 2017/2/14</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80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92500" lnSpcReduction="10000"/>
          </a:bodyPr>
          <a:lstStyle/>
          <a:p>
            <a:pPr marL="0" indent="0">
              <a:buNone/>
            </a:pPr>
            <a:r>
              <a:rPr lang="en-US" altLang="zh-TW" dirty="0">
                <a:latin typeface="Times New Roman" panose="02020603050405020304" pitchFamily="18" charset="0"/>
                <a:cs typeface="Times New Roman" panose="02020603050405020304" pitchFamily="18" charset="0"/>
              </a:rPr>
              <a:t>	Decisions involve many intangibles that need to be traded off. To do that, they have to be measured along side tangibles whose measurements must also be evaluated as to, how well, they serve the objectives of the decision maker. The Analytic Hierarchy Process (AHP) is a theory of measurement through pairwise comparisons and relies on the judgements of experts to derive priority scales. It is these scales that measure intangibles in relative terms. The comparisons are made using a scale of absolute judgements that represents, how much more, one element dominates another with respect to a given attribute. The judgements may be inconsistent, and how to measure inconsistency and improve the judgements, when possible to obtain better consistency is a concern of the AHP. The derived priority scales are </a:t>
            </a:r>
            <a:r>
              <a:rPr lang="en-US" altLang="zh-TW" dirty="0" err="1">
                <a:latin typeface="Times New Roman" panose="02020603050405020304" pitchFamily="18" charset="0"/>
                <a:cs typeface="Times New Roman" panose="02020603050405020304" pitchFamily="18" charset="0"/>
              </a:rPr>
              <a:t>synthesised</a:t>
            </a:r>
            <a:r>
              <a:rPr lang="en-US" altLang="zh-TW" dirty="0">
                <a:latin typeface="Times New Roman" panose="02020603050405020304" pitchFamily="18" charset="0"/>
                <a:cs typeface="Times New Roman" panose="02020603050405020304" pitchFamily="18" charset="0"/>
              </a:rPr>
              <a:t> by multiplying them by the priority of their parent nodes and adding for all such nodes. An illustration is included.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263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2835467" y="2777067"/>
            <a:ext cx="184731" cy="369332"/>
          </a:xfrm>
          <a:prstGeom prst="rect">
            <a:avLst/>
          </a:prstGeom>
          <a:noFill/>
        </p:spPr>
        <p:txBody>
          <a:bodyPr wrap="none" rtlCol="0">
            <a:spAutoFit/>
          </a:bodyPr>
          <a:lstStyle/>
          <a:p>
            <a:endParaRPr lang="zh-TW" altLang="en-US" dirty="0"/>
          </a:p>
        </p:txBody>
      </p:sp>
      <p:grpSp>
        <p:nvGrpSpPr>
          <p:cNvPr id="3" name="群組 2"/>
          <p:cNvGrpSpPr/>
          <p:nvPr/>
        </p:nvGrpSpPr>
        <p:grpSpPr>
          <a:xfrm>
            <a:off x="5475111" y="857955"/>
            <a:ext cx="1704622" cy="745067"/>
            <a:chOff x="5475111" y="857955"/>
            <a:chExt cx="1704622" cy="745067"/>
          </a:xfrm>
        </p:grpSpPr>
        <p:sp>
          <p:nvSpPr>
            <p:cNvPr id="5" name="矩形 4"/>
            <p:cNvSpPr/>
            <p:nvPr/>
          </p:nvSpPr>
          <p:spPr>
            <a:xfrm>
              <a:off x="5475111" y="857955"/>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文字方塊 1"/>
            <p:cNvSpPr txBox="1"/>
            <p:nvPr/>
          </p:nvSpPr>
          <p:spPr>
            <a:xfrm>
              <a:off x="5722128" y="1030433"/>
              <a:ext cx="1210588"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最終目標</a:t>
              </a:r>
            </a:p>
          </p:txBody>
        </p:sp>
      </p:grpSp>
      <p:grpSp>
        <p:nvGrpSpPr>
          <p:cNvPr id="10" name="群組 9"/>
          <p:cNvGrpSpPr/>
          <p:nvPr/>
        </p:nvGrpSpPr>
        <p:grpSpPr>
          <a:xfrm>
            <a:off x="2410177" y="2589199"/>
            <a:ext cx="1704622" cy="745067"/>
            <a:chOff x="2410177" y="2589199"/>
            <a:chExt cx="1704622" cy="745067"/>
          </a:xfrm>
        </p:grpSpPr>
        <p:sp>
          <p:nvSpPr>
            <p:cNvPr id="8" name="矩形 7"/>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p:cNvSpPr txBox="1"/>
            <p:nvPr/>
          </p:nvSpPr>
          <p:spPr>
            <a:xfrm>
              <a:off x="2593074" y="2777067"/>
              <a:ext cx="1338828"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評估項目</a:t>
              </a:r>
              <a:r>
                <a:rPr lang="en-US" altLang="zh-TW" sz="2000" dirty="0">
                  <a:latin typeface="標楷體" panose="03000509000000000000" pitchFamily="65" charset="-120"/>
                  <a:ea typeface="標楷體" panose="03000509000000000000" pitchFamily="65" charset="-120"/>
                </a:rPr>
                <a:t>1</a:t>
              </a:r>
              <a:endParaRPr lang="zh-TW" altLang="en-US" sz="2000" dirty="0">
                <a:latin typeface="標楷體" panose="03000509000000000000" pitchFamily="65" charset="-120"/>
                <a:ea typeface="標楷體" panose="03000509000000000000" pitchFamily="65" charset="-120"/>
              </a:endParaRPr>
            </a:p>
          </p:txBody>
        </p:sp>
      </p:grpSp>
      <p:grpSp>
        <p:nvGrpSpPr>
          <p:cNvPr id="11" name="群組 10"/>
          <p:cNvGrpSpPr/>
          <p:nvPr/>
        </p:nvGrpSpPr>
        <p:grpSpPr>
          <a:xfrm>
            <a:off x="4436533" y="2606131"/>
            <a:ext cx="1704622" cy="745067"/>
            <a:chOff x="2410177" y="2589199"/>
            <a:chExt cx="1704622" cy="745067"/>
          </a:xfrm>
        </p:grpSpPr>
        <p:sp>
          <p:nvSpPr>
            <p:cNvPr id="12" name="矩形 11"/>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2593074" y="2777067"/>
              <a:ext cx="1338828"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評估項目</a:t>
              </a:r>
              <a:r>
                <a:rPr lang="en-US" altLang="zh-TW" sz="2000" dirty="0">
                  <a:latin typeface="標楷體" panose="03000509000000000000" pitchFamily="65" charset="-120"/>
                  <a:ea typeface="標楷體" panose="03000509000000000000" pitchFamily="65" charset="-120"/>
                </a:rPr>
                <a:t>2</a:t>
              </a:r>
              <a:endParaRPr lang="zh-TW" altLang="en-US" sz="2000" dirty="0">
                <a:latin typeface="標楷體" panose="03000509000000000000" pitchFamily="65" charset="-120"/>
                <a:ea typeface="標楷體" panose="03000509000000000000" pitchFamily="65" charset="-120"/>
              </a:endParaRPr>
            </a:p>
          </p:txBody>
        </p:sp>
      </p:grpSp>
      <p:grpSp>
        <p:nvGrpSpPr>
          <p:cNvPr id="14" name="群組 13"/>
          <p:cNvGrpSpPr/>
          <p:nvPr/>
        </p:nvGrpSpPr>
        <p:grpSpPr>
          <a:xfrm>
            <a:off x="6462889" y="2606131"/>
            <a:ext cx="1704622" cy="745067"/>
            <a:chOff x="2410177" y="2589199"/>
            <a:chExt cx="1704622" cy="745067"/>
          </a:xfrm>
        </p:grpSpPr>
        <p:sp>
          <p:nvSpPr>
            <p:cNvPr id="15" name="矩形 14"/>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p:cNvSpPr txBox="1"/>
            <p:nvPr/>
          </p:nvSpPr>
          <p:spPr>
            <a:xfrm>
              <a:off x="2593074" y="2777067"/>
              <a:ext cx="1338828"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評估項目</a:t>
              </a:r>
              <a:r>
                <a:rPr lang="en-US" altLang="zh-TW" sz="2000" dirty="0">
                  <a:latin typeface="標楷體" panose="03000509000000000000" pitchFamily="65" charset="-120"/>
                  <a:ea typeface="標楷體" panose="03000509000000000000" pitchFamily="65" charset="-120"/>
                </a:rPr>
                <a:t>3</a:t>
              </a:r>
              <a:endParaRPr lang="zh-TW" altLang="en-US" sz="2000" dirty="0">
                <a:latin typeface="標楷體" panose="03000509000000000000" pitchFamily="65" charset="-120"/>
                <a:ea typeface="標楷體" panose="03000509000000000000" pitchFamily="65" charset="-120"/>
              </a:endParaRPr>
            </a:p>
          </p:txBody>
        </p:sp>
      </p:grpSp>
      <p:grpSp>
        <p:nvGrpSpPr>
          <p:cNvPr id="17" name="群組 16"/>
          <p:cNvGrpSpPr/>
          <p:nvPr/>
        </p:nvGrpSpPr>
        <p:grpSpPr>
          <a:xfrm>
            <a:off x="8489245" y="2589198"/>
            <a:ext cx="1704622" cy="745067"/>
            <a:chOff x="2410177" y="2589199"/>
            <a:chExt cx="1704622" cy="745067"/>
          </a:xfrm>
        </p:grpSpPr>
        <p:sp>
          <p:nvSpPr>
            <p:cNvPr id="18" name="矩形 17"/>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2593074" y="2777067"/>
              <a:ext cx="1338828"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評估項目</a:t>
              </a:r>
              <a:r>
                <a:rPr lang="en-US" altLang="zh-TW" sz="2000" dirty="0">
                  <a:latin typeface="標楷體" panose="03000509000000000000" pitchFamily="65" charset="-120"/>
                  <a:ea typeface="標楷體" panose="03000509000000000000" pitchFamily="65" charset="-120"/>
                </a:rPr>
                <a:t>4</a:t>
              </a:r>
              <a:endParaRPr lang="zh-TW" altLang="en-US" sz="2000" dirty="0">
                <a:latin typeface="標楷體" panose="03000509000000000000" pitchFamily="65" charset="-120"/>
                <a:ea typeface="標楷體" panose="03000509000000000000" pitchFamily="65" charset="-120"/>
              </a:endParaRPr>
            </a:p>
          </p:txBody>
        </p:sp>
      </p:grpSp>
      <p:grpSp>
        <p:nvGrpSpPr>
          <p:cNvPr id="20" name="群組 19"/>
          <p:cNvGrpSpPr/>
          <p:nvPr/>
        </p:nvGrpSpPr>
        <p:grpSpPr>
          <a:xfrm>
            <a:off x="2410177" y="5100975"/>
            <a:ext cx="1704622" cy="745067"/>
            <a:chOff x="2410177" y="2589199"/>
            <a:chExt cx="1704622" cy="745067"/>
          </a:xfrm>
        </p:grpSpPr>
        <p:sp>
          <p:nvSpPr>
            <p:cNvPr id="21" name="矩形 20"/>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文字方塊 21"/>
            <p:cNvSpPr txBox="1"/>
            <p:nvPr/>
          </p:nvSpPr>
          <p:spPr>
            <a:xfrm>
              <a:off x="2849554" y="2761677"/>
              <a:ext cx="82586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方案</a:t>
              </a:r>
              <a:r>
                <a:rPr lang="en-US" altLang="zh-TW" sz="2000" dirty="0">
                  <a:latin typeface="標楷體" panose="03000509000000000000" pitchFamily="65" charset="-120"/>
                  <a:ea typeface="標楷體" panose="03000509000000000000" pitchFamily="65" charset="-120"/>
                </a:rPr>
                <a:t>1</a:t>
              </a:r>
              <a:endParaRPr lang="zh-TW" altLang="en-US" sz="2000" dirty="0">
                <a:latin typeface="標楷體" panose="03000509000000000000" pitchFamily="65" charset="-120"/>
                <a:ea typeface="標楷體" panose="03000509000000000000" pitchFamily="65" charset="-120"/>
              </a:endParaRPr>
            </a:p>
          </p:txBody>
        </p:sp>
      </p:grpSp>
      <p:grpSp>
        <p:nvGrpSpPr>
          <p:cNvPr id="23" name="群組 22"/>
          <p:cNvGrpSpPr/>
          <p:nvPr/>
        </p:nvGrpSpPr>
        <p:grpSpPr>
          <a:xfrm>
            <a:off x="4436533" y="5100976"/>
            <a:ext cx="1704622" cy="745067"/>
            <a:chOff x="2410177" y="2589199"/>
            <a:chExt cx="1704622" cy="745067"/>
          </a:xfrm>
        </p:grpSpPr>
        <p:sp>
          <p:nvSpPr>
            <p:cNvPr id="24" name="矩形 23"/>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文字方塊 24"/>
            <p:cNvSpPr txBox="1"/>
            <p:nvPr/>
          </p:nvSpPr>
          <p:spPr>
            <a:xfrm>
              <a:off x="2849554" y="2761677"/>
              <a:ext cx="82586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方案</a:t>
              </a:r>
              <a:r>
                <a:rPr lang="en-US" altLang="zh-TW" sz="2000" dirty="0">
                  <a:latin typeface="標楷體" panose="03000509000000000000" pitchFamily="65" charset="-120"/>
                  <a:ea typeface="標楷體" panose="03000509000000000000" pitchFamily="65" charset="-120"/>
                </a:rPr>
                <a:t>2</a:t>
              </a:r>
              <a:endParaRPr lang="zh-TW" altLang="en-US" sz="2000" dirty="0">
                <a:latin typeface="標楷體" panose="03000509000000000000" pitchFamily="65" charset="-120"/>
                <a:ea typeface="標楷體" panose="03000509000000000000" pitchFamily="65" charset="-120"/>
              </a:endParaRPr>
            </a:p>
          </p:txBody>
        </p:sp>
      </p:grpSp>
      <p:grpSp>
        <p:nvGrpSpPr>
          <p:cNvPr id="26" name="群組 25"/>
          <p:cNvGrpSpPr/>
          <p:nvPr/>
        </p:nvGrpSpPr>
        <p:grpSpPr>
          <a:xfrm>
            <a:off x="6462889" y="5100974"/>
            <a:ext cx="1704622" cy="745067"/>
            <a:chOff x="2410177" y="2589199"/>
            <a:chExt cx="1704622" cy="745067"/>
          </a:xfrm>
        </p:grpSpPr>
        <p:sp>
          <p:nvSpPr>
            <p:cNvPr id="27" name="矩形 26"/>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文字方塊 27"/>
            <p:cNvSpPr txBox="1"/>
            <p:nvPr/>
          </p:nvSpPr>
          <p:spPr>
            <a:xfrm>
              <a:off x="2849554" y="2761677"/>
              <a:ext cx="82586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方案</a:t>
              </a:r>
              <a:r>
                <a:rPr lang="en-US" altLang="zh-TW" sz="2000" dirty="0">
                  <a:latin typeface="標楷體" panose="03000509000000000000" pitchFamily="65" charset="-120"/>
                  <a:ea typeface="標楷體" panose="03000509000000000000" pitchFamily="65" charset="-120"/>
                </a:rPr>
                <a:t>3</a:t>
              </a:r>
              <a:endParaRPr lang="zh-TW" altLang="en-US" sz="2000" dirty="0">
                <a:latin typeface="標楷體" panose="03000509000000000000" pitchFamily="65" charset="-120"/>
                <a:ea typeface="標楷體" panose="03000509000000000000" pitchFamily="65" charset="-120"/>
              </a:endParaRPr>
            </a:p>
          </p:txBody>
        </p:sp>
      </p:grpSp>
      <p:grpSp>
        <p:nvGrpSpPr>
          <p:cNvPr id="29" name="群組 28"/>
          <p:cNvGrpSpPr/>
          <p:nvPr/>
        </p:nvGrpSpPr>
        <p:grpSpPr>
          <a:xfrm>
            <a:off x="8489245" y="5100974"/>
            <a:ext cx="1704622" cy="745067"/>
            <a:chOff x="2410177" y="2589199"/>
            <a:chExt cx="1704622" cy="745067"/>
          </a:xfrm>
        </p:grpSpPr>
        <p:sp>
          <p:nvSpPr>
            <p:cNvPr id="30" name="矩形 29"/>
            <p:cNvSpPr/>
            <p:nvPr/>
          </p:nvSpPr>
          <p:spPr>
            <a:xfrm>
              <a:off x="2410177" y="2589199"/>
              <a:ext cx="1704622" cy="7450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文字方塊 30"/>
            <p:cNvSpPr txBox="1"/>
            <p:nvPr/>
          </p:nvSpPr>
          <p:spPr>
            <a:xfrm>
              <a:off x="2849554" y="2761677"/>
              <a:ext cx="82586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rPr>
                <a:t>方案</a:t>
              </a:r>
              <a:r>
                <a:rPr lang="en-US" altLang="zh-TW" sz="2000" dirty="0">
                  <a:latin typeface="標楷體" panose="03000509000000000000" pitchFamily="65" charset="-120"/>
                  <a:ea typeface="標楷體" panose="03000509000000000000" pitchFamily="65" charset="-120"/>
                </a:rPr>
                <a:t>4</a:t>
              </a:r>
              <a:endParaRPr lang="zh-TW" altLang="en-US" sz="2000" dirty="0">
                <a:latin typeface="標楷體" panose="03000509000000000000" pitchFamily="65" charset="-120"/>
                <a:ea typeface="標楷體" panose="03000509000000000000" pitchFamily="65" charset="-120"/>
              </a:endParaRPr>
            </a:p>
          </p:txBody>
        </p:sp>
      </p:grpSp>
      <p:sp>
        <p:nvSpPr>
          <p:cNvPr id="32" name="文字方塊 31"/>
          <p:cNvSpPr txBox="1"/>
          <p:nvPr/>
        </p:nvSpPr>
        <p:spPr>
          <a:xfrm>
            <a:off x="6327422" y="3725333"/>
            <a:ext cx="242374" cy="923330"/>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a:t>
            </a:r>
          </a:p>
          <a:p>
            <a:r>
              <a:rPr lang="en-US" altLang="zh-TW" b="1" dirty="0">
                <a:latin typeface="Times New Roman" panose="02020603050405020304" pitchFamily="18" charset="0"/>
                <a:cs typeface="Times New Roman" panose="02020603050405020304" pitchFamily="18" charset="0"/>
              </a:rPr>
              <a:t>.</a:t>
            </a:r>
          </a:p>
          <a:p>
            <a:r>
              <a:rPr lang="en-US" altLang="zh-TW" b="1" dirty="0">
                <a:latin typeface="Times New Roman" panose="02020603050405020304" pitchFamily="18" charset="0"/>
                <a:cs typeface="Times New Roman" panose="02020603050405020304" pitchFamily="18" charset="0"/>
              </a:rPr>
              <a:t>.</a:t>
            </a:r>
            <a:endParaRPr lang="zh-TW" altLang="en-US" b="1" dirty="0">
              <a:latin typeface="Times New Roman" panose="02020603050405020304" pitchFamily="18" charset="0"/>
              <a:cs typeface="Times New Roman" panose="02020603050405020304" pitchFamily="18" charset="0"/>
            </a:endParaRPr>
          </a:p>
        </p:txBody>
      </p:sp>
      <p:sp>
        <p:nvSpPr>
          <p:cNvPr id="33" name="文字方塊 32"/>
          <p:cNvSpPr txBox="1"/>
          <p:nvPr/>
        </p:nvSpPr>
        <p:spPr>
          <a:xfrm>
            <a:off x="474133" y="1030433"/>
            <a:ext cx="95410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第一層</a:t>
            </a:r>
          </a:p>
        </p:txBody>
      </p:sp>
      <p:sp>
        <p:nvSpPr>
          <p:cNvPr id="34" name="文字方塊 33"/>
          <p:cNvSpPr txBox="1"/>
          <p:nvPr/>
        </p:nvSpPr>
        <p:spPr>
          <a:xfrm>
            <a:off x="474133" y="2777066"/>
            <a:ext cx="954107" cy="400110"/>
          </a:xfrm>
          <a:prstGeom prst="rect">
            <a:avLst/>
          </a:prstGeom>
          <a:noFill/>
        </p:spPr>
        <p:txBody>
          <a:bodyPr wrap="none" rtlCol="0">
            <a:spAutoFit/>
          </a:bodyPr>
          <a:lstStyle/>
          <a:p>
            <a:r>
              <a:rPr lang="zh-TW" altLang="en-US" sz="2000" dirty="0">
                <a:latin typeface="標楷體" panose="03000509000000000000" pitchFamily="65" charset="-120"/>
                <a:ea typeface="標楷體" panose="03000509000000000000" pitchFamily="65" charset="-120"/>
                <a:cs typeface="Times New Roman" panose="02020603050405020304" pitchFamily="18" charset="0"/>
              </a:rPr>
              <a:t>第二層</a:t>
            </a:r>
          </a:p>
        </p:txBody>
      </p:sp>
      <p:sp>
        <p:nvSpPr>
          <p:cNvPr id="35" name="文字方塊 34"/>
          <p:cNvSpPr txBox="1"/>
          <p:nvPr/>
        </p:nvSpPr>
        <p:spPr>
          <a:xfrm>
            <a:off x="474132" y="5273452"/>
            <a:ext cx="825867" cy="400110"/>
          </a:xfrm>
          <a:prstGeom prst="rect">
            <a:avLst/>
          </a:prstGeom>
          <a:noFill/>
        </p:spPr>
        <p:txBody>
          <a:bodyPr wrap="none" rtlCol="0">
            <a:spAutoFit/>
          </a:bodyPr>
          <a:lstStyle/>
          <a:p>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第</a:t>
            </a:r>
            <a:r>
              <a:rPr lang="en-US" altLang="zh-TW" sz="2000" i="1" dirty="0">
                <a:latin typeface="Times New Roman" panose="02020603050405020304" pitchFamily="18" charset="0"/>
                <a:ea typeface="標楷體" panose="03000509000000000000" pitchFamily="65" charset="-120"/>
                <a:cs typeface="Times New Roman" panose="02020603050405020304" pitchFamily="18" charset="0"/>
              </a:rPr>
              <a:t>n</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層</a:t>
            </a:r>
          </a:p>
        </p:txBody>
      </p:sp>
      <p:sp>
        <p:nvSpPr>
          <p:cNvPr id="36" name="文字方塊 35"/>
          <p:cNvSpPr txBox="1"/>
          <p:nvPr/>
        </p:nvSpPr>
        <p:spPr>
          <a:xfrm>
            <a:off x="765878" y="3725333"/>
            <a:ext cx="242374" cy="923330"/>
          </a:xfrm>
          <a:prstGeom prst="rect">
            <a:avLst/>
          </a:prstGeom>
          <a:noFill/>
        </p:spPr>
        <p:txBody>
          <a:bodyPr wrap="none" rtlCol="0">
            <a:spAutoFit/>
          </a:bodyPr>
          <a:lstStyle/>
          <a:p>
            <a:r>
              <a:rPr lang="en-US" altLang="zh-TW" b="1" dirty="0">
                <a:latin typeface="Times New Roman" panose="02020603050405020304" pitchFamily="18" charset="0"/>
                <a:cs typeface="Times New Roman" panose="02020603050405020304" pitchFamily="18" charset="0"/>
              </a:rPr>
              <a:t>.</a:t>
            </a:r>
          </a:p>
          <a:p>
            <a:r>
              <a:rPr lang="en-US" altLang="zh-TW" b="1" dirty="0">
                <a:latin typeface="Times New Roman" panose="02020603050405020304" pitchFamily="18" charset="0"/>
                <a:cs typeface="Times New Roman" panose="02020603050405020304" pitchFamily="18" charset="0"/>
              </a:rPr>
              <a:t>.</a:t>
            </a:r>
          </a:p>
          <a:p>
            <a:r>
              <a:rPr lang="en-US" altLang="zh-TW" b="1" dirty="0">
                <a:latin typeface="Times New Roman" panose="02020603050405020304" pitchFamily="18" charset="0"/>
                <a:cs typeface="Times New Roman" panose="02020603050405020304" pitchFamily="18" charset="0"/>
              </a:rPr>
              <a:t>.</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55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0652" y="275785"/>
            <a:ext cx="8030696" cy="6306430"/>
          </a:xfrm>
          <a:prstGeom prst="rect">
            <a:avLst/>
          </a:prstGeom>
        </p:spPr>
      </p:pic>
    </p:spTree>
    <p:extLst>
      <p:ext uri="{BB962C8B-B14F-4D97-AF65-F5344CB8AC3E}">
        <p14:creationId xmlns:p14="http://schemas.microsoft.com/office/powerpoint/2010/main" val="3396944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341" y="586184"/>
            <a:ext cx="8719471" cy="5571548"/>
          </a:xfrm>
          <a:prstGeom prst="rect">
            <a:avLst/>
          </a:prstGeom>
        </p:spPr>
      </p:pic>
    </p:spTree>
    <p:extLst>
      <p:ext uri="{BB962C8B-B14F-4D97-AF65-F5344CB8AC3E}">
        <p14:creationId xmlns:p14="http://schemas.microsoft.com/office/powerpoint/2010/main" val="3141860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540" y="634516"/>
            <a:ext cx="9192789" cy="2187707"/>
          </a:xfrm>
          <a:prstGeom prst="rect">
            <a:avLst/>
          </a:prstGeom>
        </p:spPr>
      </p:pic>
      <p:sp>
        <p:nvSpPr>
          <p:cNvPr id="5" name="文字方塊 4"/>
          <p:cNvSpPr txBox="1"/>
          <p:nvPr/>
        </p:nvSpPr>
        <p:spPr>
          <a:xfrm>
            <a:off x="3217333" y="2720622"/>
            <a:ext cx="5779911" cy="369332"/>
          </a:xfrm>
          <a:prstGeom prst="rect">
            <a:avLst/>
          </a:prstGeom>
          <a:noFill/>
        </p:spPr>
        <p:txBody>
          <a:bodyPr wrap="square" rtlCol="0">
            <a:spAutoFit/>
          </a:bodyPr>
          <a:lstStyle/>
          <a:p>
            <a:r>
              <a:rPr lang="en-US" altLang="zh-TW" dirty="0">
                <a:solidFill>
                  <a:srgbClr val="FF0000"/>
                </a:solidFill>
              </a:rPr>
              <a:t>23                  11.58               3.75               15.25             1.91</a:t>
            </a:r>
            <a:endParaRPr lang="zh-TW" altLang="en-US" dirty="0">
              <a:solidFill>
                <a:srgbClr val="FF0000"/>
              </a:solidFill>
            </a:endParaRPr>
          </a:p>
        </p:txBody>
      </p:sp>
      <p:sp>
        <p:nvSpPr>
          <p:cNvPr id="6" name="箭號: 向下 5"/>
          <p:cNvSpPr/>
          <p:nvPr/>
        </p:nvSpPr>
        <p:spPr>
          <a:xfrm>
            <a:off x="5746047" y="3307644"/>
            <a:ext cx="338667" cy="4854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8" name="表格 7"/>
          <p:cNvGraphicFramePr>
            <a:graphicFrameLocks noGrp="1"/>
          </p:cNvGraphicFramePr>
          <p:nvPr>
            <p:extLst>
              <p:ext uri="{D42A27DB-BD31-4B8C-83A1-F6EECF244321}">
                <p14:modId xmlns:p14="http://schemas.microsoft.com/office/powerpoint/2010/main" val="2888460474"/>
              </p:ext>
            </p:extLst>
          </p:nvPr>
        </p:nvGraphicFramePr>
        <p:xfrm>
          <a:off x="1377241" y="4003512"/>
          <a:ext cx="9177870" cy="2225040"/>
        </p:xfrm>
        <a:graphic>
          <a:graphicData uri="http://schemas.openxmlformats.org/drawingml/2006/table">
            <a:tbl>
              <a:tblPr firstRow="1" bandRow="1">
                <a:tableStyleId>{5C22544A-7EE6-4342-B048-85BDC9FD1C3A}</a:tableStyleId>
              </a:tblPr>
              <a:tblGrid>
                <a:gridCol w="1529645">
                  <a:extLst>
                    <a:ext uri="{9D8B030D-6E8A-4147-A177-3AD203B41FA5}">
                      <a16:colId xmlns:a16="http://schemas.microsoft.com/office/drawing/2014/main" val="12849747"/>
                    </a:ext>
                  </a:extLst>
                </a:gridCol>
                <a:gridCol w="1529645">
                  <a:extLst>
                    <a:ext uri="{9D8B030D-6E8A-4147-A177-3AD203B41FA5}">
                      <a16:colId xmlns:a16="http://schemas.microsoft.com/office/drawing/2014/main" val="1228359637"/>
                    </a:ext>
                  </a:extLst>
                </a:gridCol>
                <a:gridCol w="1529645">
                  <a:extLst>
                    <a:ext uri="{9D8B030D-6E8A-4147-A177-3AD203B41FA5}">
                      <a16:colId xmlns:a16="http://schemas.microsoft.com/office/drawing/2014/main" val="773499885"/>
                    </a:ext>
                  </a:extLst>
                </a:gridCol>
                <a:gridCol w="1529645">
                  <a:extLst>
                    <a:ext uri="{9D8B030D-6E8A-4147-A177-3AD203B41FA5}">
                      <a16:colId xmlns:a16="http://schemas.microsoft.com/office/drawing/2014/main" val="3644195670"/>
                    </a:ext>
                  </a:extLst>
                </a:gridCol>
                <a:gridCol w="1529645">
                  <a:extLst>
                    <a:ext uri="{9D8B030D-6E8A-4147-A177-3AD203B41FA5}">
                      <a16:colId xmlns:a16="http://schemas.microsoft.com/office/drawing/2014/main" val="3516504093"/>
                    </a:ext>
                  </a:extLst>
                </a:gridCol>
                <a:gridCol w="1529645">
                  <a:extLst>
                    <a:ext uri="{9D8B030D-6E8A-4147-A177-3AD203B41FA5}">
                      <a16:colId xmlns:a16="http://schemas.microsoft.com/office/drawing/2014/main" val="2693334113"/>
                    </a:ext>
                  </a:extLst>
                </a:gridCol>
              </a:tblGrid>
              <a:tr h="370840">
                <a:tc>
                  <a:txBody>
                    <a:bodyPr/>
                    <a:lstStyle/>
                    <a:p>
                      <a:pPr algn="l"/>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Flexibility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Opportunities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Security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Reputation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Salary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558604"/>
                  </a:ext>
                </a:extLst>
              </a:tr>
              <a:tr h="370840">
                <a:tc>
                  <a:txBody>
                    <a:bodyPr/>
                    <a:lstStyle/>
                    <a:p>
                      <a:pPr algn="l"/>
                      <a:r>
                        <a:rPr lang="en-US" altLang="zh-TW" b="0" dirty="0">
                          <a:solidFill>
                            <a:schemeClr val="tx1"/>
                          </a:solidFill>
                        </a:rPr>
                        <a:t>Flexibility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0.043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0.022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0.044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0.016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0.065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2617045"/>
                  </a:ext>
                </a:extLst>
              </a:tr>
              <a:tr h="370840">
                <a:tc>
                  <a:txBody>
                    <a:bodyPr/>
                    <a:lstStyle/>
                    <a:p>
                      <a:pPr algn="l"/>
                      <a:r>
                        <a:rPr lang="en-US" altLang="zh-TW" b="0" dirty="0">
                          <a:solidFill>
                            <a:schemeClr val="tx1"/>
                          </a:solidFill>
                        </a:rPr>
                        <a:t>Opportunities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0.174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0.086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0.089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0.197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0.075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3072499"/>
                  </a:ext>
                </a:extLst>
              </a:tr>
              <a:tr h="370840">
                <a:tc>
                  <a:txBody>
                    <a:bodyPr/>
                    <a:lstStyle/>
                    <a:p>
                      <a:pPr algn="l"/>
                      <a:r>
                        <a:rPr lang="en-US" altLang="zh-TW" b="0" dirty="0">
                          <a:solidFill>
                            <a:schemeClr val="tx1"/>
                          </a:solidFill>
                        </a:rPr>
                        <a:t>Security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0.261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0.259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0.267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0.262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0.261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0336627"/>
                  </a:ext>
                </a:extLst>
              </a:tr>
              <a:tr h="370840">
                <a:tc>
                  <a:txBody>
                    <a:bodyPr/>
                    <a:lstStyle/>
                    <a:p>
                      <a:pPr algn="l"/>
                      <a:r>
                        <a:rPr lang="en-US" altLang="zh-TW" b="0" dirty="0">
                          <a:solidFill>
                            <a:schemeClr val="tx1"/>
                          </a:solidFill>
                        </a:rPr>
                        <a:t>Reputation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0.174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0.029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0.067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0.066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0.075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8536598"/>
                  </a:ext>
                </a:extLst>
              </a:tr>
              <a:tr h="370840">
                <a:tc>
                  <a:txBody>
                    <a:bodyPr/>
                    <a:lstStyle/>
                    <a:p>
                      <a:pPr algn="l"/>
                      <a:r>
                        <a:rPr lang="en-US" altLang="zh-TW" b="0" dirty="0">
                          <a:solidFill>
                            <a:schemeClr val="tx1"/>
                          </a:solidFill>
                        </a:rPr>
                        <a:t>Salary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0.348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0.604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0.533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0.459</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0.524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5451605"/>
                  </a:ext>
                </a:extLst>
              </a:tr>
            </a:tbl>
          </a:graphicData>
        </a:graphic>
      </p:graphicFrame>
      <p:grpSp>
        <p:nvGrpSpPr>
          <p:cNvPr id="15" name="群組 14"/>
          <p:cNvGrpSpPr/>
          <p:nvPr/>
        </p:nvGrpSpPr>
        <p:grpSpPr>
          <a:xfrm>
            <a:off x="10814752" y="4357510"/>
            <a:ext cx="710454" cy="1871042"/>
            <a:chOff x="10814752" y="4357510"/>
            <a:chExt cx="710454" cy="1871042"/>
          </a:xfrm>
        </p:grpSpPr>
        <p:sp>
          <p:nvSpPr>
            <p:cNvPr id="10" name="文字方塊 9"/>
            <p:cNvSpPr txBox="1"/>
            <p:nvPr/>
          </p:nvSpPr>
          <p:spPr>
            <a:xfrm>
              <a:off x="10814755" y="4357510"/>
              <a:ext cx="710451" cy="369332"/>
            </a:xfrm>
            <a:prstGeom prst="rect">
              <a:avLst/>
            </a:prstGeom>
            <a:noFill/>
          </p:spPr>
          <p:txBody>
            <a:bodyPr wrap="none" rtlCol="0">
              <a:spAutoFit/>
            </a:bodyPr>
            <a:lstStyle/>
            <a:p>
              <a:r>
                <a:rPr lang="en-US" altLang="zh-TW" dirty="0">
                  <a:solidFill>
                    <a:srgbClr val="FF0000"/>
                  </a:solidFill>
                </a:rPr>
                <a:t>0.038</a:t>
              </a:r>
              <a:endParaRPr lang="zh-TW" altLang="en-US" dirty="0">
                <a:solidFill>
                  <a:srgbClr val="FF0000"/>
                </a:solidFill>
              </a:endParaRPr>
            </a:p>
          </p:txBody>
        </p:sp>
        <p:sp>
          <p:nvSpPr>
            <p:cNvPr id="11" name="文字方塊 10"/>
            <p:cNvSpPr txBox="1"/>
            <p:nvPr/>
          </p:nvSpPr>
          <p:spPr>
            <a:xfrm>
              <a:off x="10814755" y="4735411"/>
              <a:ext cx="710451" cy="369332"/>
            </a:xfrm>
            <a:prstGeom prst="rect">
              <a:avLst/>
            </a:prstGeom>
            <a:noFill/>
          </p:spPr>
          <p:txBody>
            <a:bodyPr wrap="none" rtlCol="0">
              <a:spAutoFit/>
            </a:bodyPr>
            <a:lstStyle/>
            <a:p>
              <a:r>
                <a:rPr lang="en-US" altLang="zh-TW" dirty="0">
                  <a:solidFill>
                    <a:srgbClr val="FF0000"/>
                  </a:solidFill>
                </a:rPr>
                <a:t>0.124</a:t>
              </a:r>
              <a:endParaRPr lang="zh-TW" altLang="en-US" dirty="0">
                <a:solidFill>
                  <a:srgbClr val="FF0000"/>
                </a:solidFill>
              </a:endParaRPr>
            </a:p>
          </p:txBody>
        </p:sp>
        <p:sp>
          <p:nvSpPr>
            <p:cNvPr id="12" name="文字方塊 11"/>
            <p:cNvSpPr txBox="1"/>
            <p:nvPr/>
          </p:nvSpPr>
          <p:spPr>
            <a:xfrm>
              <a:off x="10814754" y="5122722"/>
              <a:ext cx="710451" cy="369332"/>
            </a:xfrm>
            <a:prstGeom prst="rect">
              <a:avLst/>
            </a:prstGeom>
            <a:noFill/>
          </p:spPr>
          <p:txBody>
            <a:bodyPr wrap="none" rtlCol="0">
              <a:spAutoFit/>
            </a:bodyPr>
            <a:lstStyle/>
            <a:p>
              <a:r>
                <a:rPr lang="en-US" altLang="zh-TW" dirty="0">
                  <a:solidFill>
                    <a:srgbClr val="FF0000"/>
                  </a:solidFill>
                </a:rPr>
                <a:t>0.262</a:t>
              </a:r>
              <a:endParaRPr lang="zh-TW" altLang="en-US" dirty="0">
                <a:solidFill>
                  <a:srgbClr val="FF0000"/>
                </a:solidFill>
              </a:endParaRPr>
            </a:p>
          </p:txBody>
        </p:sp>
        <p:sp>
          <p:nvSpPr>
            <p:cNvPr id="13" name="文字方塊 12"/>
            <p:cNvSpPr txBox="1"/>
            <p:nvPr/>
          </p:nvSpPr>
          <p:spPr>
            <a:xfrm>
              <a:off x="10814753" y="5503343"/>
              <a:ext cx="710451" cy="369332"/>
            </a:xfrm>
            <a:prstGeom prst="rect">
              <a:avLst/>
            </a:prstGeom>
            <a:noFill/>
          </p:spPr>
          <p:txBody>
            <a:bodyPr wrap="none" rtlCol="0">
              <a:spAutoFit/>
            </a:bodyPr>
            <a:lstStyle/>
            <a:p>
              <a:r>
                <a:rPr lang="en-US" altLang="zh-TW" dirty="0">
                  <a:solidFill>
                    <a:srgbClr val="FF0000"/>
                  </a:solidFill>
                </a:rPr>
                <a:t>0.082</a:t>
              </a:r>
              <a:endParaRPr lang="zh-TW" altLang="en-US" dirty="0">
                <a:solidFill>
                  <a:srgbClr val="FF0000"/>
                </a:solidFill>
              </a:endParaRPr>
            </a:p>
          </p:txBody>
        </p:sp>
        <p:sp>
          <p:nvSpPr>
            <p:cNvPr id="14" name="文字方塊 13"/>
            <p:cNvSpPr txBox="1"/>
            <p:nvPr/>
          </p:nvSpPr>
          <p:spPr>
            <a:xfrm>
              <a:off x="10814752" y="5859220"/>
              <a:ext cx="710451" cy="369332"/>
            </a:xfrm>
            <a:prstGeom prst="rect">
              <a:avLst/>
            </a:prstGeom>
            <a:noFill/>
          </p:spPr>
          <p:txBody>
            <a:bodyPr wrap="none" rtlCol="0">
              <a:spAutoFit/>
            </a:bodyPr>
            <a:lstStyle/>
            <a:p>
              <a:r>
                <a:rPr lang="en-US" altLang="zh-TW" dirty="0">
                  <a:solidFill>
                    <a:srgbClr val="FF0000"/>
                  </a:solidFill>
                </a:rPr>
                <a:t>0.493</a:t>
              </a:r>
              <a:endParaRPr lang="zh-TW" altLang="en-US" dirty="0">
                <a:solidFill>
                  <a:srgbClr val="FF0000"/>
                </a:solidFill>
              </a:endParaRPr>
            </a:p>
          </p:txBody>
        </p:sp>
      </p:grpSp>
      <p:sp>
        <p:nvSpPr>
          <p:cNvPr id="16" name="文字方塊 15"/>
          <p:cNvSpPr txBox="1"/>
          <p:nvPr/>
        </p:nvSpPr>
        <p:spPr>
          <a:xfrm>
            <a:off x="4984176" y="193238"/>
            <a:ext cx="1963999" cy="461665"/>
          </a:xfrm>
          <a:prstGeom prst="rect">
            <a:avLst/>
          </a:prstGeom>
          <a:noFill/>
        </p:spPr>
        <p:txBody>
          <a:bodyPr wrap="none" rtlCol="0">
            <a:sp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對</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GOAL</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來說</a:t>
            </a:r>
          </a:p>
        </p:txBody>
      </p:sp>
    </p:spTree>
    <p:extLst>
      <p:ext uri="{BB962C8B-B14F-4D97-AF65-F5344CB8AC3E}">
        <p14:creationId xmlns:p14="http://schemas.microsoft.com/office/powerpoint/2010/main" val="4097708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341" y="586184"/>
            <a:ext cx="8719471" cy="5571548"/>
          </a:xfrm>
          <a:prstGeom prst="rect">
            <a:avLst/>
          </a:prstGeom>
        </p:spPr>
      </p:pic>
    </p:spTree>
    <p:extLst>
      <p:ext uri="{BB962C8B-B14F-4D97-AF65-F5344CB8AC3E}">
        <p14:creationId xmlns:p14="http://schemas.microsoft.com/office/powerpoint/2010/main" val="2073515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020" y="668523"/>
            <a:ext cx="9452306" cy="1603820"/>
          </a:xfrm>
          <a:prstGeom prst="rect">
            <a:avLst/>
          </a:prstGeom>
        </p:spPr>
      </p:pic>
      <p:sp>
        <p:nvSpPr>
          <p:cNvPr id="5" name="文字方塊 4"/>
          <p:cNvSpPr txBox="1"/>
          <p:nvPr/>
        </p:nvSpPr>
        <p:spPr>
          <a:xfrm>
            <a:off x="3775490" y="2159454"/>
            <a:ext cx="4792776" cy="369332"/>
          </a:xfrm>
          <a:prstGeom prst="rect">
            <a:avLst/>
          </a:prstGeom>
          <a:noFill/>
        </p:spPr>
        <p:txBody>
          <a:bodyPr wrap="square" rtlCol="0">
            <a:spAutoFit/>
          </a:bodyPr>
          <a:lstStyle/>
          <a:p>
            <a:r>
              <a:rPr lang="en-US" altLang="zh-TW" dirty="0">
                <a:solidFill>
                  <a:srgbClr val="FF0000"/>
                </a:solidFill>
              </a:rPr>
              <a:t>10                                 5.33                              1.42</a:t>
            </a:r>
            <a:endParaRPr lang="zh-TW" altLang="en-US" dirty="0">
              <a:solidFill>
                <a:srgbClr val="FF0000"/>
              </a:solidFill>
            </a:endParaRPr>
          </a:p>
        </p:txBody>
      </p:sp>
      <p:sp>
        <p:nvSpPr>
          <p:cNvPr id="6" name="箭號: 向下 5"/>
          <p:cNvSpPr/>
          <p:nvPr/>
        </p:nvSpPr>
        <p:spPr>
          <a:xfrm>
            <a:off x="5814173" y="2894038"/>
            <a:ext cx="338667" cy="48542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7" name="表格 6"/>
          <p:cNvGraphicFramePr>
            <a:graphicFrameLocks noGrp="1"/>
          </p:cNvGraphicFramePr>
          <p:nvPr>
            <p:extLst>
              <p:ext uri="{D42A27DB-BD31-4B8C-83A1-F6EECF244321}">
                <p14:modId xmlns:p14="http://schemas.microsoft.com/office/powerpoint/2010/main" val="2342804331"/>
              </p:ext>
            </p:extLst>
          </p:nvPr>
        </p:nvGraphicFramePr>
        <p:xfrm>
          <a:off x="1535291" y="4072466"/>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236129563"/>
                    </a:ext>
                  </a:extLst>
                </a:gridCol>
                <a:gridCol w="2032000">
                  <a:extLst>
                    <a:ext uri="{9D8B030D-6E8A-4147-A177-3AD203B41FA5}">
                      <a16:colId xmlns:a16="http://schemas.microsoft.com/office/drawing/2014/main" val="3101283344"/>
                    </a:ext>
                  </a:extLst>
                </a:gridCol>
                <a:gridCol w="2032000">
                  <a:extLst>
                    <a:ext uri="{9D8B030D-6E8A-4147-A177-3AD203B41FA5}">
                      <a16:colId xmlns:a16="http://schemas.microsoft.com/office/drawing/2014/main" val="2702087137"/>
                    </a:ext>
                  </a:extLst>
                </a:gridCol>
                <a:gridCol w="2032000">
                  <a:extLst>
                    <a:ext uri="{9D8B030D-6E8A-4147-A177-3AD203B41FA5}">
                      <a16:colId xmlns:a16="http://schemas.microsoft.com/office/drawing/2014/main" val="2496538306"/>
                    </a:ext>
                  </a:extLst>
                </a:gridCol>
              </a:tblGrid>
              <a:tr h="370840">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Location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Time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Work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5747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chemeClr val="tx1"/>
                          </a:solidFill>
                        </a:rPr>
                        <a:t>Location</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0.063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0.117</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8772111"/>
                  </a:ext>
                </a:extLst>
              </a:tr>
              <a:tr h="370840">
                <a:tc>
                  <a:txBody>
                    <a:bodyPr/>
                    <a:lstStyle/>
                    <a:p>
                      <a:r>
                        <a:rPr lang="en-US" altLang="zh-TW" b="0" dirty="0">
                          <a:solidFill>
                            <a:schemeClr val="tx1"/>
                          </a:solidFill>
                        </a:rPr>
                        <a:t>Time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0.188</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0.176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1536578"/>
                  </a:ext>
                </a:extLst>
              </a:tr>
              <a:tr h="370840">
                <a:tc>
                  <a:txBody>
                    <a:bodyPr/>
                    <a:lstStyle/>
                    <a:p>
                      <a:r>
                        <a:rPr lang="en-US" altLang="zh-TW" b="0" dirty="0">
                          <a:solidFill>
                            <a:schemeClr val="tx1"/>
                          </a:solidFill>
                        </a:rPr>
                        <a:t>Work</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0.6</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0.75</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altLang="zh-TW" b="0" dirty="0">
                          <a:solidFill>
                            <a:schemeClr val="tx1"/>
                          </a:solidFill>
                        </a:rPr>
                        <a:t>0.704</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3619816"/>
                  </a:ext>
                </a:extLst>
              </a:tr>
            </a:tbl>
          </a:graphicData>
        </a:graphic>
      </p:graphicFrame>
      <p:grpSp>
        <p:nvGrpSpPr>
          <p:cNvPr id="8" name="群組 7"/>
          <p:cNvGrpSpPr/>
          <p:nvPr/>
        </p:nvGrpSpPr>
        <p:grpSpPr>
          <a:xfrm>
            <a:off x="9863743" y="4421282"/>
            <a:ext cx="710452" cy="1134544"/>
            <a:chOff x="10814754" y="4357510"/>
            <a:chExt cx="710452" cy="1134544"/>
          </a:xfrm>
        </p:grpSpPr>
        <p:sp>
          <p:nvSpPr>
            <p:cNvPr id="9" name="文字方塊 8"/>
            <p:cNvSpPr txBox="1"/>
            <p:nvPr/>
          </p:nvSpPr>
          <p:spPr>
            <a:xfrm>
              <a:off x="10814755" y="4357510"/>
              <a:ext cx="710451" cy="369332"/>
            </a:xfrm>
            <a:prstGeom prst="rect">
              <a:avLst/>
            </a:prstGeom>
            <a:noFill/>
          </p:spPr>
          <p:txBody>
            <a:bodyPr wrap="none" rtlCol="0">
              <a:spAutoFit/>
            </a:bodyPr>
            <a:lstStyle/>
            <a:p>
              <a:r>
                <a:rPr lang="en-US" altLang="zh-TW" dirty="0">
                  <a:solidFill>
                    <a:srgbClr val="FF0000"/>
                  </a:solidFill>
                </a:rPr>
                <a:t>0.093</a:t>
              </a:r>
              <a:endParaRPr lang="zh-TW" altLang="en-US" dirty="0">
                <a:solidFill>
                  <a:srgbClr val="FF0000"/>
                </a:solidFill>
              </a:endParaRPr>
            </a:p>
          </p:txBody>
        </p:sp>
        <p:sp>
          <p:nvSpPr>
            <p:cNvPr id="10" name="文字方塊 9"/>
            <p:cNvSpPr txBox="1"/>
            <p:nvPr/>
          </p:nvSpPr>
          <p:spPr>
            <a:xfrm>
              <a:off x="10814755" y="4735411"/>
              <a:ext cx="710451" cy="369332"/>
            </a:xfrm>
            <a:prstGeom prst="rect">
              <a:avLst/>
            </a:prstGeom>
            <a:noFill/>
          </p:spPr>
          <p:txBody>
            <a:bodyPr wrap="none" rtlCol="0">
              <a:spAutoFit/>
            </a:bodyPr>
            <a:lstStyle/>
            <a:p>
              <a:r>
                <a:rPr lang="en-US" altLang="zh-TW" dirty="0">
                  <a:solidFill>
                    <a:srgbClr val="FF0000"/>
                  </a:solidFill>
                </a:rPr>
                <a:t>0.221</a:t>
              </a:r>
              <a:endParaRPr lang="zh-TW" altLang="en-US" dirty="0">
                <a:solidFill>
                  <a:srgbClr val="FF0000"/>
                </a:solidFill>
              </a:endParaRPr>
            </a:p>
          </p:txBody>
        </p:sp>
        <p:sp>
          <p:nvSpPr>
            <p:cNvPr id="11" name="文字方塊 10"/>
            <p:cNvSpPr txBox="1"/>
            <p:nvPr/>
          </p:nvSpPr>
          <p:spPr>
            <a:xfrm>
              <a:off x="10814754" y="5122722"/>
              <a:ext cx="710451" cy="369332"/>
            </a:xfrm>
            <a:prstGeom prst="rect">
              <a:avLst/>
            </a:prstGeom>
            <a:noFill/>
          </p:spPr>
          <p:txBody>
            <a:bodyPr wrap="none" rtlCol="0">
              <a:spAutoFit/>
            </a:bodyPr>
            <a:lstStyle/>
            <a:p>
              <a:r>
                <a:rPr lang="en-US" altLang="zh-TW" dirty="0">
                  <a:solidFill>
                    <a:srgbClr val="FF0000"/>
                  </a:solidFill>
                </a:rPr>
                <a:t>0.685</a:t>
              </a:r>
              <a:endParaRPr lang="zh-TW" altLang="en-US" dirty="0">
                <a:solidFill>
                  <a:srgbClr val="FF0000"/>
                </a:solidFill>
              </a:endParaRPr>
            </a:p>
          </p:txBody>
        </p:sp>
      </p:grpSp>
      <p:sp>
        <p:nvSpPr>
          <p:cNvPr id="14" name="文字方塊 13"/>
          <p:cNvSpPr txBox="1"/>
          <p:nvPr/>
        </p:nvSpPr>
        <p:spPr>
          <a:xfrm>
            <a:off x="4789910" y="206858"/>
            <a:ext cx="2387192" cy="461665"/>
          </a:xfrm>
          <a:prstGeom prst="rect">
            <a:avLst/>
          </a:prstGeom>
          <a:noFill/>
        </p:spPr>
        <p:txBody>
          <a:bodyPr wrap="none" rtlCol="0">
            <a:sp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對</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Flexibility</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來說</a:t>
            </a:r>
          </a:p>
        </p:txBody>
      </p:sp>
    </p:spTree>
    <p:extLst>
      <p:ext uri="{BB962C8B-B14F-4D97-AF65-F5344CB8AC3E}">
        <p14:creationId xmlns:p14="http://schemas.microsoft.com/office/powerpoint/2010/main" val="2112856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0341" y="586184"/>
            <a:ext cx="8719471" cy="5571548"/>
          </a:xfrm>
          <a:prstGeom prst="rect">
            <a:avLst/>
          </a:prstGeom>
        </p:spPr>
      </p:pic>
    </p:spTree>
    <p:extLst>
      <p:ext uri="{BB962C8B-B14F-4D97-AF65-F5344CB8AC3E}">
        <p14:creationId xmlns:p14="http://schemas.microsoft.com/office/powerpoint/2010/main" val="2927370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549126794"/>
              </p:ext>
            </p:extLst>
          </p:nvPr>
        </p:nvGraphicFramePr>
        <p:xfrm>
          <a:off x="158044" y="1080910"/>
          <a:ext cx="11875908" cy="2123440"/>
        </p:xfrm>
        <a:graphic>
          <a:graphicData uri="http://schemas.openxmlformats.org/drawingml/2006/table">
            <a:tbl>
              <a:tblPr firstRow="1" bandRow="1">
                <a:tableStyleId>{5C22544A-7EE6-4342-B048-85BDC9FD1C3A}</a:tableStyleId>
              </a:tblPr>
              <a:tblGrid>
                <a:gridCol w="1979318">
                  <a:extLst>
                    <a:ext uri="{9D8B030D-6E8A-4147-A177-3AD203B41FA5}">
                      <a16:colId xmlns:a16="http://schemas.microsoft.com/office/drawing/2014/main" val="4038194098"/>
                    </a:ext>
                  </a:extLst>
                </a:gridCol>
                <a:gridCol w="1979318">
                  <a:extLst>
                    <a:ext uri="{9D8B030D-6E8A-4147-A177-3AD203B41FA5}">
                      <a16:colId xmlns:a16="http://schemas.microsoft.com/office/drawing/2014/main" val="285572559"/>
                    </a:ext>
                  </a:extLst>
                </a:gridCol>
                <a:gridCol w="1979318">
                  <a:extLst>
                    <a:ext uri="{9D8B030D-6E8A-4147-A177-3AD203B41FA5}">
                      <a16:colId xmlns:a16="http://schemas.microsoft.com/office/drawing/2014/main" val="2617257098"/>
                    </a:ext>
                  </a:extLst>
                </a:gridCol>
                <a:gridCol w="1979318">
                  <a:extLst>
                    <a:ext uri="{9D8B030D-6E8A-4147-A177-3AD203B41FA5}">
                      <a16:colId xmlns:a16="http://schemas.microsoft.com/office/drawing/2014/main" val="4061105645"/>
                    </a:ext>
                  </a:extLst>
                </a:gridCol>
                <a:gridCol w="1979318">
                  <a:extLst>
                    <a:ext uri="{9D8B030D-6E8A-4147-A177-3AD203B41FA5}">
                      <a16:colId xmlns:a16="http://schemas.microsoft.com/office/drawing/2014/main" val="498543394"/>
                    </a:ext>
                  </a:extLst>
                </a:gridCol>
                <a:gridCol w="1979318">
                  <a:extLst>
                    <a:ext uri="{9D8B030D-6E8A-4147-A177-3AD203B41FA5}">
                      <a16:colId xmlns:a16="http://schemas.microsoft.com/office/drawing/2014/main" val="2608643080"/>
                    </a:ext>
                  </a:extLst>
                </a:gridCol>
              </a:tblGrid>
              <a:tr h="370840">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Domestic company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International company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College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State University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TW" b="0" dirty="0">
                          <a:solidFill>
                            <a:schemeClr val="tx1"/>
                          </a:solidFill>
                        </a:rPr>
                        <a:t>Priorities</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1156967"/>
                  </a:ext>
                </a:extLst>
              </a:tr>
              <a:tr h="370840">
                <a:tc>
                  <a:txBody>
                    <a:bodyPr/>
                    <a:lstStyle/>
                    <a:p>
                      <a:r>
                        <a:rPr lang="en-US" altLang="zh-TW" b="0" dirty="0">
                          <a:solidFill>
                            <a:schemeClr val="tx1"/>
                          </a:solidFill>
                        </a:rPr>
                        <a:t>Domestic company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734515"/>
                  </a:ext>
                </a:extLst>
              </a:tr>
              <a:tr h="370840">
                <a:tc>
                  <a:txBody>
                    <a:bodyPr/>
                    <a:lstStyle/>
                    <a:p>
                      <a:r>
                        <a:rPr lang="en-US" altLang="zh-TW" b="0" dirty="0">
                          <a:solidFill>
                            <a:schemeClr val="tx1"/>
                          </a:solidFill>
                        </a:rPr>
                        <a:t>Int’l company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79892"/>
                  </a:ext>
                </a:extLst>
              </a:tr>
              <a:tr h="370840">
                <a:tc>
                  <a:txBody>
                    <a:bodyPr/>
                    <a:lstStyle/>
                    <a:p>
                      <a:r>
                        <a:rPr lang="en-US" altLang="zh-TW" b="0" dirty="0">
                          <a:solidFill>
                            <a:schemeClr val="tx1"/>
                          </a:solidFill>
                        </a:rPr>
                        <a:t>College</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204383"/>
                  </a:ext>
                </a:extLst>
              </a:tr>
              <a:tr h="370840">
                <a:tc>
                  <a:txBody>
                    <a:bodyPr/>
                    <a:lstStyle/>
                    <a:p>
                      <a:r>
                        <a:rPr lang="en-US" altLang="zh-TW" b="0" dirty="0">
                          <a:solidFill>
                            <a:schemeClr val="tx1"/>
                          </a:solidFill>
                        </a:rPr>
                        <a:t>State University</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1642354"/>
                  </a:ext>
                </a:extLst>
              </a:tr>
            </a:tbl>
          </a:graphicData>
        </a:graphic>
      </p:graphicFrame>
      <p:sp>
        <p:nvSpPr>
          <p:cNvPr id="5" name="文字方塊 4"/>
          <p:cNvSpPr txBox="1"/>
          <p:nvPr/>
        </p:nvSpPr>
        <p:spPr>
          <a:xfrm>
            <a:off x="4745592" y="263303"/>
            <a:ext cx="3062057" cy="461665"/>
          </a:xfrm>
          <a:prstGeom prst="rect">
            <a:avLst/>
          </a:prstGeom>
          <a:noFill/>
        </p:spPr>
        <p:txBody>
          <a:bodyPr wrap="none" rtlCol="0">
            <a:sp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對</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Salary Potential</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來說</a:t>
            </a:r>
          </a:p>
        </p:txBody>
      </p:sp>
    </p:spTree>
    <p:extLst>
      <p:ext uri="{BB962C8B-B14F-4D97-AF65-F5344CB8AC3E}">
        <p14:creationId xmlns:p14="http://schemas.microsoft.com/office/powerpoint/2010/main" val="182738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843168" y="-2675228"/>
            <a:ext cx="2476416" cy="12288980"/>
          </a:xfrm>
          <a:prstGeom prst="rect">
            <a:avLst/>
          </a:prstGeom>
        </p:spPr>
      </p:pic>
    </p:spTree>
    <p:extLst>
      <p:ext uri="{BB962C8B-B14F-4D97-AF65-F5344CB8AC3E}">
        <p14:creationId xmlns:p14="http://schemas.microsoft.com/office/powerpoint/2010/main" val="349534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211" y="2214098"/>
            <a:ext cx="11792270" cy="2184282"/>
          </a:xfrm>
          <a:prstGeom prst="rect">
            <a:avLst/>
          </a:prstGeom>
        </p:spPr>
      </p:pic>
    </p:spTree>
    <p:extLst>
      <p:ext uri="{BB962C8B-B14F-4D97-AF65-F5344CB8AC3E}">
        <p14:creationId xmlns:p14="http://schemas.microsoft.com/office/powerpoint/2010/main" val="3046443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The ratings mode</a:t>
            </a:r>
            <a:endParaRPr lang="zh-TW" altLang="en-US"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119" y="2564670"/>
            <a:ext cx="11835761" cy="1845283"/>
          </a:xfrm>
          <a:prstGeom prst="rect">
            <a:avLst/>
          </a:prstGeom>
        </p:spPr>
      </p:pic>
    </p:spTree>
    <p:extLst>
      <p:ext uri="{BB962C8B-B14F-4D97-AF65-F5344CB8AC3E}">
        <p14:creationId xmlns:p14="http://schemas.microsoft.com/office/powerpoint/2010/main" val="2578496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107317" y="-2440241"/>
            <a:ext cx="3953756" cy="12215613"/>
          </a:xfrm>
          <a:prstGeom prst="rect">
            <a:avLst/>
          </a:prstGeom>
        </p:spPr>
      </p:pic>
    </p:spTree>
    <p:extLst>
      <p:ext uri="{BB962C8B-B14F-4D97-AF65-F5344CB8AC3E}">
        <p14:creationId xmlns:p14="http://schemas.microsoft.com/office/powerpoint/2010/main" val="2843638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4929060" y="-4649444"/>
            <a:ext cx="2331944" cy="12430765"/>
          </a:xfrm>
          <a:prstGeom prst="rect">
            <a:avLst/>
          </a:prstGeom>
        </p:spPr>
      </p:pic>
      <p:pic>
        <p:nvPicPr>
          <p:cNvPr id="8" name="圖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002030" y="-1264603"/>
            <a:ext cx="2125730" cy="12378149"/>
          </a:xfrm>
          <a:prstGeom prst="rect">
            <a:avLst/>
          </a:prstGeom>
        </p:spPr>
      </p:pic>
      <p:sp>
        <p:nvSpPr>
          <p:cNvPr id="9" name="文字方塊 8"/>
          <p:cNvSpPr txBox="1"/>
          <p:nvPr/>
        </p:nvSpPr>
        <p:spPr>
          <a:xfrm>
            <a:off x="1388533" y="5885737"/>
            <a:ext cx="710451" cy="369332"/>
          </a:xfrm>
          <a:prstGeom prst="rect">
            <a:avLst/>
          </a:prstGeom>
          <a:noFill/>
        </p:spPr>
        <p:txBody>
          <a:bodyPr wrap="none" rtlCol="0">
            <a:spAutoFit/>
          </a:bodyPr>
          <a:lstStyle/>
          <a:p>
            <a:r>
              <a:rPr lang="en-US" altLang="zh-TW" dirty="0">
                <a:solidFill>
                  <a:srgbClr val="FF0000"/>
                </a:solidFill>
              </a:rPr>
              <a:t>1.997</a:t>
            </a:r>
            <a:endParaRPr lang="zh-TW" altLang="en-US" dirty="0">
              <a:solidFill>
                <a:srgbClr val="FF0000"/>
              </a:solidFill>
            </a:endParaRPr>
          </a:p>
        </p:txBody>
      </p:sp>
    </p:spTree>
    <p:extLst>
      <p:ext uri="{BB962C8B-B14F-4D97-AF65-F5344CB8AC3E}">
        <p14:creationId xmlns:p14="http://schemas.microsoft.com/office/powerpoint/2010/main" val="38801134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958" y="2106594"/>
            <a:ext cx="11634692" cy="2534854"/>
          </a:xfrm>
          <a:prstGeom prst="rect">
            <a:avLst/>
          </a:prstGeom>
        </p:spPr>
      </p:pic>
    </p:spTree>
    <p:extLst>
      <p:ext uri="{BB962C8B-B14F-4D97-AF65-F5344CB8AC3E}">
        <p14:creationId xmlns:p14="http://schemas.microsoft.com/office/powerpoint/2010/main" val="161357838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168</Words>
  <Application>Microsoft Office PowerPoint</Application>
  <PresentationFormat>寬螢幕</PresentationFormat>
  <Paragraphs>101</Paragraphs>
  <Slides>16</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新細明體</vt:lpstr>
      <vt:lpstr>標楷體</vt:lpstr>
      <vt:lpstr>Arial</vt:lpstr>
      <vt:lpstr>Calibri</vt:lpstr>
      <vt:lpstr>Calibri Light</vt:lpstr>
      <vt:lpstr>Times New Roman</vt:lpstr>
      <vt:lpstr>Office 佈景主題</vt:lpstr>
      <vt:lpstr>PowerPoint 簡報</vt:lpstr>
      <vt:lpstr>Abstract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The ratings mode</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Caros</dc:creator>
  <cp:lastModifiedBy>Caros</cp:lastModifiedBy>
  <cp:revision>33</cp:revision>
  <dcterms:created xsi:type="dcterms:W3CDTF">2017-02-14T05:49:15Z</dcterms:created>
  <dcterms:modified xsi:type="dcterms:W3CDTF">2017-02-14T08:22:42Z</dcterms:modified>
</cp:coreProperties>
</file>