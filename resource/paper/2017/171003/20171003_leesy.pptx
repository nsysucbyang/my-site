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70" r:id="rId12"/>
    <p:sldId id="277" r:id="rId13"/>
    <p:sldId id="278" r:id="rId14"/>
    <p:sldId id="279" r:id="rId15"/>
    <p:sldId id="280" r:id="rId16"/>
    <p:sldId id="281" r:id="rId17"/>
    <p:sldId id="282" r:id="rId18"/>
    <p:sldId id="271" r:id="rId19"/>
    <p:sldId id="272" r:id="rId20"/>
    <p:sldId id="273" r:id="rId21"/>
    <p:sldId id="274" r:id="rId22"/>
    <p:sldId id="275" r:id="rId23"/>
    <p:sldId id="276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0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4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9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48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19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0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60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21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20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0FB-2E68-4D6F-963D-E2C0D8E7433A}" type="datetimeFigureOut">
              <a:rPr lang="zh-TW" altLang="en-US" smtClean="0"/>
              <a:t>2017/10/3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1754B-F958-4DEA-B1E2-250B9AA0B2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70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3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7.png"/><Relationship Id="rId2" Type="http://schemas.openxmlformats.org/officeDocument/2006/relationships/image" Target="../media/image36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55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53.png"/><Relationship Id="rId18" Type="http://schemas.openxmlformats.org/officeDocument/2006/relationships/image" Target="../media/image59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8.png"/><Relationship Id="rId2" Type="http://schemas.openxmlformats.org/officeDocument/2006/relationships/image" Target="../media/image36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55.png"/><Relationship Id="rId10" Type="http://schemas.openxmlformats.org/officeDocument/2006/relationships/image" Target="../media/image44.png"/><Relationship Id="rId19" Type="http://schemas.openxmlformats.org/officeDocument/2006/relationships/image" Target="../media/image60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6.png"/><Relationship Id="rId14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512696"/>
          </a:xfrm>
        </p:spPr>
        <p:txBody>
          <a:bodyPr>
            <a:normAutofit/>
          </a:bodyPr>
          <a:lstStyle/>
          <a:p>
            <a:r>
              <a:rPr lang="en-US" altLang="zh-TW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Previous Factor in Linear Time and Applications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71524" y="3516074"/>
            <a:ext cx="7877174" cy="1655762"/>
          </a:xfrm>
        </p:spPr>
        <p:txBody>
          <a:bodyPr>
            <a:normAutofit/>
          </a:bodyPr>
          <a:lstStyle/>
          <a:p>
            <a:r>
              <a:rPr lang="fr-FR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Maxime Crochemore, Lucian Ilie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 106.2 (2008): 75-80.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4479634" y="44849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81111" y="5312807"/>
            <a:ext cx="6858000" cy="1283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Shie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-Yan Lee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2017/10/03</a:t>
            </a: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52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8138" y="365126"/>
            <a:ext cx="7886700" cy="1325563"/>
          </a:xfrm>
        </p:spPr>
        <p:txBody>
          <a:bodyPr/>
          <a:lstStyle/>
          <a:p>
            <a:r>
              <a:rPr lang="en-US" altLang="zh-TW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08138" y="1606550"/>
                <a:ext cx="871203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give two optimal linear-time algorithms for computing the Longest Previous Factor (LPF) array corresponding to a string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For any position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LPF[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gives the length of the longest factor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starting at position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occurs previously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Several properties and applications of LPF are investigated. They include computing the Lempel-Ziv factorization of a string and detecting all repetitions (runs) in a string in linear time independently of the integer alphabet size.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38" y="1606550"/>
                <a:ext cx="8712037" cy="4351338"/>
              </a:xfrm>
              <a:blipFill rotWithShape="0">
                <a:blip r:embed="rId2"/>
                <a:stretch>
                  <a:fillRect l="-1120" t="-1964" r="-30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29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43157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Longest Previous Factor (LPF)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42796" y="1200934"/>
                <a:ext cx="8229600" cy="54071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𝐿𝑃𝐹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] =</m:t>
                    </m:r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⁡( {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│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−1]   </m:t>
                    </m:r>
                  </m:oMath>
                </a14:m>
                <a:r>
                  <a:rPr lang="en-US" altLang="zh-TW" sz="2000" i="0" dirty="0">
                    <a:latin typeface="+mj-lt"/>
                  </a:rPr>
                  <a:t>is </a:t>
                </a:r>
                <a:r>
                  <a:rPr lang="en-US" altLang="zh-TW" sz="2000" i="0" dirty="0" smtClean="0">
                    <a:latin typeface="+mj-lt"/>
                  </a:rPr>
                  <a:t>a factor of</a:t>
                </a:r>
                <a:r>
                  <a:rPr lang="en-US" altLang="zh-TW" sz="2000" b="0" i="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[0…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−2] } ∪ 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796" y="1200934"/>
                <a:ext cx="8229600" cy="540713"/>
              </a:xfrm>
              <a:blipFill rotWithShape="0">
                <a:blip r:embed="rId2"/>
                <a:stretch>
                  <a:fillRect t="-8989" r="-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865014" y="2797529"/>
            <a:ext cx="5495454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330859" y="2872245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59" y="2872245"/>
                <a:ext cx="318742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13208" r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812678" y="2363739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78" y="2363739"/>
                <a:ext cx="183320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38710" r="-29032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/>
          <p:cNvCxnSpPr/>
          <p:nvPr/>
        </p:nvCxnSpPr>
        <p:spPr>
          <a:xfrm>
            <a:off x="6681449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766632" y="2795877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2572687" y="2797529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4762115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5032210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弧形 14"/>
          <p:cNvSpPr/>
          <p:nvPr/>
        </p:nvSpPr>
        <p:spPr>
          <a:xfrm flipV="1">
            <a:off x="2572687" y="3197053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弧形 15"/>
          <p:cNvSpPr/>
          <p:nvPr/>
        </p:nvSpPr>
        <p:spPr>
          <a:xfrm flipV="1">
            <a:off x="4762115" y="3197053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630122" y="3651679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122" y="3651679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43333" r="-33333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3440694" y="3636876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94" y="3636876"/>
                <a:ext cx="183320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40000" r="-36667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單箭頭接點 20"/>
          <p:cNvCxnSpPr>
            <a:stCxn id="9" idx="3"/>
          </p:cNvCxnSpPr>
          <p:nvPr/>
        </p:nvCxnSpPr>
        <p:spPr>
          <a:xfrm flipV="1">
            <a:off x="4995998" y="2553077"/>
            <a:ext cx="1477230" cy="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表格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328420"/>
                  </p:ext>
                </p:extLst>
              </p:nvPr>
            </p:nvGraphicFramePr>
            <p:xfrm>
              <a:off x="952344" y="4864897"/>
              <a:ext cx="7422105" cy="883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4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5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6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7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8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9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300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表格 2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328420"/>
                  </p:ext>
                </p:extLst>
              </p:nvPr>
            </p:nvGraphicFramePr>
            <p:xfrm>
              <a:off x="952344" y="4864897"/>
              <a:ext cx="7422105" cy="883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</a:tblGrid>
                  <a:tr h="4419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t="-9589" r="-1403704" b="-130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4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5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6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7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8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9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19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t="-109589" r="-1403704" b="-30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3341789" y="5961172"/>
                <a:ext cx="36962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𝐿𝑃𝐹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altLang="zh-TW" sz="2500" dirty="0" smtClean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789" y="5961172"/>
                <a:ext cx="3696257" cy="47705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 23"/>
          <p:cNvSpPr/>
          <p:nvPr/>
        </p:nvSpPr>
        <p:spPr>
          <a:xfrm>
            <a:off x="4995999" y="5315779"/>
            <a:ext cx="2292042" cy="44196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514585" y="5315779"/>
            <a:ext cx="2342113" cy="44196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331720" y="4080999"/>
                <a:ext cx="6872033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2500" dirty="0" smtClean="0"/>
                  <a:t> : </a:t>
                </a:r>
                <a:r>
                  <a:rPr lang="en-US" altLang="zh-TW" sz="2500" dirty="0" err="1" smtClean="0"/>
                  <a:t>aabcabcaabcaab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0" y="4080999"/>
                <a:ext cx="6872033" cy="477054"/>
              </a:xfrm>
              <a:prstGeom prst="rect">
                <a:avLst/>
              </a:prstGeom>
              <a:blipFill rotWithShape="0">
                <a:blip r:embed="rId9"/>
                <a:stretch>
                  <a:fillRect l="-266" t="-8861" b="-29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87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8" grpId="0"/>
      <p:bldP spid="23" grpId="0"/>
      <p:bldP spid="24" grpId="0" animBg="1"/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0543162"/>
                  </p:ext>
                </p:extLst>
              </p:nvPr>
            </p:nvGraphicFramePr>
            <p:xfrm>
              <a:off x="952344" y="4864897"/>
              <a:ext cx="7422105" cy="883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4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5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6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7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8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9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2300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23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0543162"/>
                  </p:ext>
                </p:extLst>
              </p:nvPr>
            </p:nvGraphicFramePr>
            <p:xfrm>
              <a:off x="952344" y="4864897"/>
              <a:ext cx="7422105" cy="8839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  <a:gridCol w="494807"/>
                  </a:tblGrid>
                  <a:tr h="4419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t="-9589" r="-1403704" b="-130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4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5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6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7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8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9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10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11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12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13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4419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t="-109589" r="-1403704" b="-30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c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a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300" dirty="0" smtClean="0"/>
                            <a:t>b</a:t>
                          </a:r>
                          <a:endParaRPr lang="zh-TW" altLang="en-US" sz="23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43157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Longest Previous Factor (LPF)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42796" y="1200934"/>
                <a:ext cx="8229600" cy="54071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𝐿𝑃𝐹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] =</m:t>
                    </m:r>
                    <m:r>
                      <m:rPr>
                        <m:sty m:val="p"/>
                      </m:rP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⁡( {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│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−1]   </m:t>
                    </m:r>
                  </m:oMath>
                </a14:m>
                <a:r>
                  <a:rPr lang="en-US" altLang="zh-TW" sz="2000" i="0" dirty="0">
                    <a:latin typeface="+mj-lt"/>
                  </a:rPr>
                  <a:t>is </a:t>
                </a:r>
                <a:r>
                  <a:rPr lang="en-US" altLang="zh-TW" sz="2000" i="0" dirty="0" smtClean="0">
                    <a:latin typeface="+mj-lt"/>
                  </a:rPr>
                  <a:t>a factor of</a:t>
                </a:r>
                <a:r>
                  <a:rPr lang="en-US" altLang="zh-TW" sz="2000" b="0" i="0" dirty="0" smtClean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[0…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−2] } ∪ 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796" y="1200934"/>
                <a:ext cx="8229600" cy="540713"/>
              </a:xfrm>
              <a:blipFill rotWithShape="0">
                <a:blip r:embed="rId3"/>
                <a:stretch>
                  <a:fillRect t="-8989" r="-2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865014" y="2797529"/>
            <a:ext cx="5495454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330859" y="2872245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859" y="2872245"/>
                <a:ext cx="31874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13208" r="-75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812678" y="2363739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678" y="2363739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38710" r="-29032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/>
          <p:cNvCxnSpPr/>
          <p:nvPr/>
        </p:nvCxnSpPr>
        <p:spPr>
          <a:xfrm>
            <a:off x="6681449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766632" y="2795877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767737" y="2797529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4762115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5032210" y="2797529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弧形 14"/>
          <p:cNvSpPr/>
          <p:nvPr/>
        </p:nvSpPr>
        <p:spPr>
          <a:xfrm flipV="1">
            <a:off x="3767737" y="3197053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弧形 15"/>
          <p:cNvSpPr/>
          <p:nvPr/>
        </p:nvSpPr>
        <p:spPr>
          <a:xfrm flipV="1">
            <a:off x="4762115" y="3197053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5630122" y="3651679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0122" y="3651679"/>
                <a:ext cx="183320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43333" r="-33333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4635744" y="3636876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744" y="3636876"/>
                <a:ext cx="183320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38710" r="-3225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838942" y="5961172"/>
                <a:ext cx="3696257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𝐿𝑃𝐹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altLang="zh-TW" sz="2500" dirty="0" smtClean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42" y="5961172"/>
                <a:ext cx="3696257" cy="47705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5431004" y="5348633"/>
            <a:ext cx="3011660" cy="44196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單箭頭接點 22"/>
          <p:cNvCxnSpPr/>
          <p:nvPr/>
        </p:nvCxnSpPr>
        <p:spPr>
          <a:xfrm flipV="1">
            <a:off x="4995998" y="2553077"/>
            <a:ext cx="1477230" cy="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331720" y="4080999"/>
                <a:ext cx="6872033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2500" dirty="0" smtClean="0"/>
                  <a:t> : </a:t>
                </a:r>
                <a:r>
                  <a:rPr lang="en-US" altLang="zh-TW" sz="2500" dirty="0" err="1" smtClean="0"/>
                  <a:t>aabcabcaabcaab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0" y="4080999"/>
                <a:ext cx="6872033" cy="477054"/>
              </a:xfrm>
              <a:prstGeom prst="rect">
                <a:avLst/>
              </a:prstGeom>
              <a:blipFill rotWithShape="0">
                <a:blip r:embed="rId9"/>
                <a:stretch>
                  <a:fillRect l="-266" t="-8861" b="-291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/>
          <p:cNvSpPr/>
          <p:nvPr/>
        </p:nvSpPr>
        <p:spPr>
          <a:xfrm>
            <a:off x="3398508" y="5311823"/>
            <a:ext cx="3011660" cy="441960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273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43157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Suffix Array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8732538"/>
                  </p:ext>
                </p:extLst>
              </p:nvPr>
            </p:nvGraphicFramePr>
            <p:xfrm>
              <a:off x="665826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Suffix</a:t>
                          </a:r>
                          <a:r>
                            <a:rPr lang="en-US" altLang="zh-TW" sz="1800" baseline="0" dirty="0" smtClean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i="1" baseline="0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banana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anana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8732538"/>
                  </p:ext>
                </p:extLst>
              </p:nvPr>
            </p:nvGraphicFramePr>
            <p:xfrm>
              <a:off x="665826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77" t="-8197" r="-100755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377" t="-8197" r="-755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banana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anana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683582" y="878887"/>
                <a:ext cx="248574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3000" dirty="0" smtClean="0"/>
                  <a:t> : banana</a:t>
                </a: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2" y="878887"/>
                <a:ext cx="2485748" cy="553998"/>
              </a:xfrm>
              <a:prstGeom prst="rect">
                <a:avLst/>
              </a:prstGeom>
              <a:blipFill rotWithShape="0">
                <a:blip r:embed="rId3"/>
                <a:stretch>
                  <a:fillRect t="-13187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4247"/>
                  </p:ext>
                </p:extLst>
              </p:nvPr>
            </p:nvGraphicFramePr>
            <p:xfrm>
              <a:off x="686084" y="1611208"/>
              <a:ext cx="538711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3839"/>
                    <a:gridCol w="708880"/>
                    <a:gridCol w="708880"/>
                    <a:gridCol w="708880"/>
                    <a:gridCol w="708880"/>
                    <a:gridCol w="708880"/>
                    <a:gridCol w="70888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254247"/>
                  </p:ext>
                </p:extLst>
              </p:nvPr>
            </p:nvGraphicFramePr>
            <p:xfrm>
              <a:off x="686084" y="1611208"/>
              <a:ext cx="538711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3839"/>
                    <a:gridCol w="708880"/>
                    <a:gridCol w="708880"/>
                    <a:gridCol w="708880"/>
                    <a:gridCol w="708880"/>
                    <a:gridCol w="708880"/>
                    <a:gridCol w="70888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38" t="-8197" r="-37688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38" t="-108197" r="-37688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8661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43157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Suffix Array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83582" y="878887"/>
                <a:ext cx="248574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3000" dirty="0" smtClean="0"/>
                  <a:t> : banana</a:t>
                </a: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82" y="878887"/>
                <a:ext cx="2485748" cy="553998"/>
              </a:xfrm>
              <a:prstGeom prst="rect">
                <a:avLst/>
              </a:prstGeom>
              <a:blipFill rotWithShape="0">
                <a:blip r:embed="rId2"/>
                <a:stretch>
                  <a:fillRect t="-13187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5408125"/>
                  </p:ext>
                </p:extLst>
              </p:nvPr>
            </p:nvGraphicFramePr>
            <p:xfrm>
              <a:off x="686084" y="1611208"/>
              <a:ext cx="538711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3839"/>
                    <a:gridCol w="708880"/>
                    <a:gridCol w="708880"/>
                    <a:gridCol w="708880"/>
                    <a:gridCol w="708880"/>
                    <a:gridCol w="708880"/>
                    <a:gridCol w="70888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5408125"/>
                  </p:ext>
                </p:extLst>
              </p:nvPr>
            </p:nvGraphicFramePr>
            <p:xfrm>
              <a:off x="686084" y="1611208"/>
              <a:ext cx="5387119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33839"/>
                    <a:gridCol w="708880"/>
                    <a:gridCol w="708880"/>
                    <a:gridCol w="708880"/>
                    <a:gridCol w="708880"/>
                    <a:gridCol w="708880"/>
                    <a:gridCol w="70888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38" t="-8197" r="-37688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38" t="-108197" r="-37688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n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386496"/>
                  </p:ext>
                </p:extLst>
              </p:nvPr>
            </p:nvGraphicFramePr>
            <p:xfrm>
              <a:off x="665826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Suffix</a:t>
                          </a:r>
                          <a:r>
                            <a:rPr lang="en-US" altLang="zh-TW" sz="1800" baseline="0" dirty="0" smtClean="0"/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800" i="1" baseline="0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oMath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1386496"/>
                  </p:ext>
                </p:extLst>
              </p:nvPr>
            </p:nvGraphicFramePr>
            <p:xfrm>
              <a:off x="665826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77" t="-8197" r="-100755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377" t="-8197" r="-755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cxnSp>
        <p:nvCxnSpPr>
          <p:cNvPr id="3" name="直線單箭頭接點 2"/>
          <p:cNvCxnSpPr/>
          <p:nvPr/>
        </p:nvCxnSpPr>
        <p:spPr>
          <a:xfrm>
            <a:off x="4012707" y="4403324"/>
            <a:ext cx="8167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821798"/>
                  </p:ext>
                </p:extLst>
              </p:nvPr>
            </p:nvGraphicFramePr>
            <p:xfrm>
              <a:off x="5088385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9821798"/>
                  </p:ext>
                </p:extLst>
              </p:nvPr>
            </p:nvGraphicFramePr>
            <p:xfrm>
              <a:off x="5088385" y="2938509"/>
              <a:ext cx="3225552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12776"/>
                    <a:gridCol w="161277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77" t="-3279" r="-100755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100377" t="-3279" r="-755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4953739" y="2492233"/>
                <a:ext cx="2485748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300" dirty="0" smtClean="0"/>
                  <a:t>suffix array </a:t>
                </a:r>
                <a14:m>
                  <m:oMath xmlns:m="http://schemas.openxmlformats.org/officeDocument/2006/math">
                    <m:r>
                      <a:rPr lang="en-US" altLang="zh-TW" sz="23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300" i="1" dirty="0" smtClean="0">
                        <a:latin typeface="Cambria Math" panose="02040503050406030204" pitchFamily="18" charset="0"/>
                      </a:rPr>
                      <m:t>𝑆𝐴</m:t>
                    </m:r>
                  </m:oMath>
                </a14:m>
                <a:endParaRPr lang="en-US" altLang="zh-TW" sz="2300" dirty="0" smtClean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739" y="2492233"/>
                <a:ext cx="2485748" cy="446276"/>
              </a:xfrm>
              <a:prstGeom prst="rect">
                <a:avLst/>
              </a:prstGeom>
              <a:blipFill rotWithShape="0">
                <a:blip r:embed="rId6"/>
                <a:stretch>
                  <a:fillRect l="-3686" t="-10959" b="-301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5097263" y="4065973"/>
            <a:ext cx="3225552" cy="3462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683582" y="4075640"/>
            <a:ext cx="3225552" cy="34622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77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43157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Longest Common Prefix (LCP)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88273" y="2068269"/>
            <a:ext cx="248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 smtClean="0"/>
              <a:t>S : banana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848201"/>
                  </p:ext>
                </p:extLst>
              </p:nvPr>
            </p:nvGraphicFramePr>
            <p:xfrm>
              <a:off x="894709" y="2653342"/>
              <a:ext cx="6897948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  <a:gridCol w="1724487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𝐿𝐶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err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848201"/>
                  </p:ext>
                </p:extLst>
              </p:nvPr>
            </p:nvGraphicFramePr>
            <p:xfrm>
              <a:off x="894709" y="2653342"/>
              <a:ext cx="6897948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  <a:gridCol w="1724487"/>
                  </a:tblGrid>
                  <a:tr h="3855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53" t="-1587" r="-301060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000" t="-1587" r="-200000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00707" t="-1587" r="-100707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300707" t="-1587" r="-707" b="-604762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banana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nana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374655" y="1023706"/>
                <a:ext cx="8158452" cy="1037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dirty="0" smtClean="0"/>
                  <a:t>The length of  the longest common prefix between consecutive suffixes of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𝑆𝐴</m:t>
                    </m:r>
                  </m:oMath>
                </a14:m>
                <a:endParaRPr lang="en-US" altLang="zh-TW" sz="2000" dirty="0" smtClean="0"/>
              </a:p>
              <a:p>
                <a:endParaRPr lang="en-US" altLang="zh-TW" sz="2000" dirty="0" smtClean="0"/>
              </a:p>
              <a:p>
                <a:r>
                  <a:rPr lang="en-US" altLang="zh-TW" sz="2000" dirty="0"/>
                  <a:t> </a:t>
                </a:r>
                <a:r>
                  <a:rPr lang="en-US" altLang="zh-TW" sz="2000" dirty="0" smtClean="0"/>
                  <a:t>       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𝐿𝐶𝑃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altLang="zh-TW" sz="2000" dirty="0" smtClean="0"/>
                  <a:t>  length of LCP of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𝑠𝑢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zh-TW" altLang="en-US" sz="2000" dirty="0" smtClean="0"/>
                  <a:t> </a:t>
                </a:r>
                <a:r>
                  <a:rPr lang="en-US" altLang="zh-TW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𝑠𝑢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5" y="1023706"/>
                <a:ext cx="8158452" cy="1037592"/>
              </a:xfrm>
              <a:prstGeom prst="rect">
                <a:avLst/>
              </a:prstGeom>
              <a:blipFill rotWithShape="0">
                <a:blip r:embed="rId3"/>
                <a:stretch>
                  <a:fillRect l="-747" t="-3529" b="-8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077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72016" y="265538"/>
            <a:ext cx="8343334" cy="1332443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 direct algorithm for computing LPF from the suffix array</a:t>
            </a:r>
            <a:endParaRPr lang="zh-TW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1544714" y="2239353"/>
            <a:ext cx="5797119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010737" y="2276908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37" y="2276908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5326020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020" y="1867972"/>
                <a:ext cx="250068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625512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12" y="1867972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2036680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680" y="1867972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2447848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48" y="1867972"/>
                <a:ext cx="250068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2859016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9016" y="1867972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3270184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184" y="1867972"/>
                <a:ext cx="250068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3681352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352" y="1867972"/>
                <a:ext cx="250068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4092520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520" y="1867972"/>
                <a:ext cx="250068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/>
              <p:cNvSpPr txBox="1"/>
              <p:nvPr/>
            </p:nvSpPr>
            <p:spPr>
              <a:xfrm>
                <a:off x="4503688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688" y="1867972"/>
                <a:ext cx="250068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4914856" y="1867972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4856" y="1867972"/>
                <a:ext cx="250068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29268" r="-29268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表格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453907"/>
                  </p:ext>
                </p:extLst>
              </p:nvPr>
            </p:nvGraphicFramePr>
            <p:xfrm>
              <a:off x="522353" y="3340556"/>
              <a:ext cx="5173461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表格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8453907"/>
                  </p:ext>
                </p:extLst>
              </p:nvPr>
            </p:nvGraphicFramePr>
            <p:xfrm>
              <a:off x="522353" y="3340556"/>
              <a:ext cx="5173461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</a:tblGrid>
                  <a:tr h="3855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353" t="-1563" r="-201060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100000" t="-1563" r="-100352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200707" t="-1563" r="-707" b="-59375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/>
              <p:cNvSpPr txBox="1"/>
              <p:nvPr/>
            </p:nvSpPr>
            <p:spPr>
              <a:xfrm>
                <a:off x="5610451" y="1854632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2" name="文字方塊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451" y="1854632"/>
                <a:ext cx="428002" cy="384721"/>
              </a:xfrm>
              <a:prstGeom prst="rect">
                <a:avLst/>
              </a:prstGeom>
              <a:blipFill rotWithShape="0">
                <a:blip r:embed="rId14"/>
                <a:stretch>
                  <a:fillRect l="-16901" r="-1549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/>
              <p:cNvSpPr txBox="1"/>
              <p:nvPr/>
            </p:nvSpPr>
            <p:spPr>
              <a:xfrm>
                <a:off x="6033456" y="1854632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456" y="1854632"/>
                <a:ext cx="428002" cy="384721"/>
              </a:xfrm>
              <a:prstGeom prst="rect">
                <a:avLst/>
              </a:prstGeom>
              <a:blipFill rotWithShape="0">
                <a:blip r:embed="rId15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/>
              <p:cNvSpPr txBox="1"/>
              <p:nvPr/>
            </p:nvSpPr>
            <p:spPr>
              <a:xfrm>
                <a:off x="6456461" y="1854632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461" y="1854632"/>
                <a:ext cx="428002" cy="384721"/>
              </a:xfrm>
              <a:prstGeom prst="rect">
                <a:avLst/>
              </a:prstGeom>
              <a:blipFill rotWithShape="0">
                <a:blip r:embed="rId16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/>
              <p:cNvSpPr txBox="1"/>
              <p:nvPr/>
            </p:nvSpPr>
            <p:spPr>
              <a:xfrm>
                <a:off x="6879467" y="1854632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467" y="1854632"/>
                <a:ext cx="428002" cy="384721"/>
              </a:xfrm>
              <a:prstGeom prst="rect">
                <a:avLst/>
              </a:prstGeom>
              <a:blipFill rotWithShape="0">
                <a:blip r:embed="rId17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05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24613" y="499330"/>
            <a:ext cx="5797119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321735" y="499330"/>
            <a:ext cx="2099997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prstClr val="black"/>
                </a:solidFill>
              </a:rPr>
              <a:t>a a</a:t>
            </a:r>
            <a:r>
              <a:rPr lang="en-US" altLang="zh-TW" sz="4400" dirty="0" smtClean="0">
                <a:solidFill>
                  <a:prstClr val="black"/>
                </a:solidFill>
              </a:rPr>
              <a:t> b a </a:t>
            </a:r>
            <a:r>
              <a:rPr lang="en-US" altLang="zh-TW" sz="4400" dirty="0">
                <a:solidFill>
                  <a:prstClr val="black"/>
                </a:solidFill>
              </a:rPr>
              <a:t>b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/>
          <p:cNvCxnSpPr/>
          <p:nvPr/>
        </p:nvCxnSpPr>
        <p:spPr>
          <a:xfrm>
            <a:off x="5740171" y="499330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31707" r="-31707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表格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12558"/>
                  </p:ext>
                </p:extLst>
              </p:nvPr>
            </p:nvGraphicFramePr>
            <p:xfrm>
              <a:off x="1585688" y="1322726"/>
              <a:ext cx="5173461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表格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12558"/>
                  </p:ext>
                </p:extLst>
              </p:nvPr>
            </p:nvGraphicFramePr>
            <p:xfrm>
              <a:off x="1585688" y="1322726"/>
              <a:ext cx="5173461" cy="261061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724487"/>
                    <a:gridCol w="1724487"/>
                    <a:gridCol w="1724487"/>
                  </a:tblGrid>
                  <a:tr h="3855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353" t="-1563" r="-200707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100353" t="-1563" r="-100707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3"/>
                          <a:stretch>
                            <a:fillRect l="-200353" t="-1563" r="-707" b="-59375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47" name="矩形 46"/>
          <p:cNvSpPr/>
          <p:nvPr/>
        </p:nvSpPr>
        <p:spPr>
          <a:xfrm>
            <a:off x="2305076" y="4286950"/>
            <a:ext cx="2487392" cy="53415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 smtClean="0">
                <a:solidFill>
                  <a:schemeClr val="tx1"/>
                </a:solidFill>
              </a:rPr>
              <a:t>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2300084" y="6062048"/>
            <a:ext cx="4605450" cy="53415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 smtClean="0">
                <a:solidFill>
                  <a:schemeClr val="tx1"/>
                </a:solidFill>
              </a:rPr>
              <a:t>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300084" y="5174499"/>
            <a:ext cx="2099997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prstClr val="black"/>
                </a:solidFill>
              </a:rPr>
              <a:t>a a</a:t>
            </a:r>
            <a:r>
              <a:rPr lang="en-US" altLang="zh-TW" sz="4400" dirty="0" smtClean="0">
                <a:solidFill>
                  <a:prstClr val="black"/>
                </a:solidFill>
              </a:rPr>
              <a:t> b a </a:t>
            </a:r>
            <a:r>
              <a:rPr lang="en-US" altLang="zh-TW" sz="4400" dirty="0">
                <a:solidFill>
                  <a:prstClr val="black"/>
                </a:solidFill>
              </a:rPr>
              <a:t>b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1189109" y="4344051"/>
                <a:ext cx="871008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109" y="4344051"/>
                <a:ext cx="871008" cy="477054"/>
              </a:xfrm>
              <a:prstGeom prst="rect">
                <a:avLst/>
              </a:prstGeom>
              <a:blipFill rotWithShape="0">
                <a:blip r:embed="rId1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 50"/>
              <p:cNvSpPr/>
              <p:nvPr/>
            </p:nvSpPr>
            <p:spPr>
              <a:xfrm>
                <a:off x="1189109" y="5174499"/>
                <a:ext cx="864596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1" name="矩形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109" y="5174499"/>
                <a:ext cx="864596" cy="477054"/>
              </a:xfrm>
              <a:prstGeom prst="rect">
                <a:avLst/>
              </a:prstGeom>
              <a:blipFill rotWithShape="0"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/>
              <p:cNvSpPr/>
              <p:nvPr/>
            </p:nvSpPr>
            <p:spPr>
              <a:xfrm>
                <a:off x="1182697" y="6018190"/>
                <a:ext cx="871008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697" y="6018190"/>
                <a:ext cx="871008" cy="477054"/>
              </a:xfrm>
              <a:prstGeom prst="rect">
                <a:avLst/>
              </a:prstGeom>
              <a:blipFill rotWithShape="0">
                <a:blip r:embed="rId16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7006488" y="4344051"/>
                <a:ext cx="192168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488" y="4344051"/>
                <a:ext cx="1921680" cy="477054"/>
              </a:xfrm>
              <a:prstGeom prst="rect">
                <a:avLst/>
              </a:prstGeom>
              <a:blipFill rotWithShape="0">
                <a:blip r:embed="rId17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 53"/>
              <p:cNvSpPr/>
              <p:nvPr/>
            </p:nvSpPr>
            <p:spPr>
              <a:xfrm>
                <a:off x="7006488" y="6090598"/>
                <a:ext cx="1921680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TW" sz="25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4" name="矩形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6488" y="6090598"/>
                <a:ext cx="1921680" cy="477054"/>
              </a:xfrm>
              <a:prstGeom prst="rect">
                <a:avLst/>
              </a:prstGeom>
              <a:blipFill rotWithShape="0">
                <a:blip r:embed="rId18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70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/>
      <p:bldP spid="51" grpId="0"/>
      <p:bldP spid="52" grpId="0"/>
      <p:bldP spid="53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24613" y="499330"/>
            <a:ext cx="5797119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31707" r="-31707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720372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372" y="114609"/>
                <a:ext cx="428002" cy="384721"/>
              </a:xfrm>
              <a:prstGeom prst="rect">
                <a:avLst/>
              </a:prstGeom>
              <a:blipFill rotWithShape="0">
                <a:blip r:embed="rId13"/>
                <a:stretch>
                  <a:fillRect l="-16901" r="-1549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143377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77" y="114609"/>
                <a:ext cx="428002" cy="384721"/>
              </a:xfrm>
              <a:prstGeom prst="rect">
                <a:avLst/>
              </a:prstGeom>
              <a:blipFill rotWithShape="0">
                <a:blip r:embed="rId14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6566382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382" y="114609"/>
                <a:ext cx="428002" cy="384721"/>
              </a:xfrm>
              <a:prstGeom prst="rect">
                <a:avLst/>
              </a:prstGeom>
              <a:blipFill rotWithShape="0">
                <a:blip r:embed="rId15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6989388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388" y="114609"/>
                <a:ext cx="428002" cy="384721"/>
              </a:xfrm>
              <a:prstGeom prst="rect">
                <a:avLst/>
              </a:prstGeom>
              <a:blipFill rotWithShape="0">
                <a:blip r:embed="rId16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0385432"/>
                  </p:ext>
                </p:extLst>
              </p:nvPr>
            </p:nvGraphicFramePr>
            <p:xfrm>
              <a:off x="727967" y="1322726"/>
              <a:ext cx="7341835" cy="3352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2876"/>
                    <a:gridCol w="1278384"/>
                    <a:gridCol w="1883841"/>
                    <a:gridCol w="1468367"/>
                    <a:gridCol w="1468367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abbaabbbaaabab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0385432"/>
                  </p:ext>
                </p:extLst>
              </p:nvPr>
            </p:nvGraphicFramePr>
            <p:xfrm>
              <a:off x="727967" y="1322726"/>
              <a:ext cx="7341835" cy="3352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2876"/>
                    <a:gridCol w="1278384"/>
                    <a:gridCol w="1883841"/>
                    <a:gridCol w="1468367"/>
                    <a:gridCol w="1468367"/>
                  </a:tblGrid>
                  <a:tr h="3855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490" t="-1587" r="-491667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97619" t="-1587" r="-377619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134304" t="-1587" r="-156634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300415" t="-1587" r="-100830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400415" t="-1587" r="-830" b="-79841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abbaabbbaaabab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503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24613" y="499330"/>
            <a:ext cx="5797119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4400" dirty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b</a:t>
            </a:r>
            <a:r>
              <a:rPr lang="en-US" altLang="zh-TW" sz="4400" dirty="0" smtClean="0">
                <a:solidFill>
                  <a:schemeClr val="tx1"/>
                </a:solidFill>
              </a:rPr>
              <a:t> a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</a:t>
            </a:r>
            <a:r>
              <a:rPr lang="en-US" altLang="zh-TW" sz="4400" dirty="0" err="1" smtClean="0">
                <a:solidFill>
                  <a:schemeClr val="tx1"/>
                </a:solidFill>
              </a:rPr>
              <a:t>a</a:t>
            </a:r>
            <a:r>
              <a:rPr lang="en-US" altLang="zh-TW" sz="4400" dirty="0" smtClean="0">
                <a:solidFill>
                  <a:schemeClr val="tx1"/>
                </a:solidFill>
              </a:rPr>
              <a:t> b a b</a:t>
            </a:r>
            <a:endParaRPr lang="zh-TW" altLang="en-US" sz="4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636" y="536885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919" y="127949"/>
                <a:ext cx="250068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411" y="127949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6579" y="127949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47" y="127949"/>
                <a:ext cx="250068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915" y="127949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/>
              <p:cNvSpPr txBox="1"/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083" y="127949"/>
                <a:ext cx="250068" cy="384721"/>
              </a:xfrm>
              <a:prstGeom prst="rect">
                <a:avLst/>
              </a:prstGeom>
              <a:blipFill rotWithShape="0">
                <a:blip r:embed="rId8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/>
              <p:cNvSpPr txBox="1"/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4" name="文字方塊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251" y="127949"/>
                <a:ext cx="250068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31707" r="-31707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/>
              <p:cNvSpPr txBox="1"/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419" y="127949"/>
                <a:ext cx="250068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/>
              <p:cNvSpPr txBox="1"/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587" y="127949"/>
                <a:ext cx="250068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/>
              <p:cNvSpPr txBox="1"/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755" y="127949"/>
                <a:ext cx="250068" cy="384721"/>
              </a:xfrm>
              <a:prstGeom prst="rect">
                <a:avLst/>
              </a:prstGeom>
              <a:blipFill rotWithShape="0">
                <a:blip r:embed="rId12"/>
                <a:stretch>
                  <a:fillRect l="-29268" r="-29268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5720372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372" y="114609"/>
                <a:ext cx="428002" cy="384721"/>
              </a:xfrm>
              <a:prstGeom prst="rect">
                <a:avLst/>
              </a:prstGeom>
              <a:blipFill rotWithShape="0">
                <a:blip r:embed="rId13"/>
                <a:stretch>
                  <a:fillRect l="-16901" r="-1549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/>
              <p:cNvSpPr txBox="1"/>
              <p:nvPr/>
            </p:nvSpPr>
            <p:spPr>
              <a:xfrm>
                <a:off x="6143377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377" y="114609"/>
                <a:ext cx="428002" cy="384721"/>
              </a:xfrm>
              <a:prstGeom prst="rect">
                <a:avLst/>
              </a:prstGeom>
              <a:blipFill rotWithShape="0">
                <a:blip r:embed="rId14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6566382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382" y="114609"/>
                <a:ext cx="428002" cy="384721"/>
              </a:xfrm>
              <a:prstGeom prst="rect">
                <a:avLst/>
              </a:prstGeom>
              <a:blipFill rotWithShape="0">
                <a:blip r:embed="rId15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/>
              <p:cNvSpPr txBox="1"/>
              <p:nvPr/>
            </p:nvSpPr>
            <p:spPr>
              <a:xfrm>
                <a:off x="6989388" y="114609"/>
                <a:ext cx="428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8" name="文字方塊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388" y="114609"/>
                <a:ext cx="428002" cy="384721"/>
              </a:xfrm>
              <a:prstGeom prst="rect">
                <a:avLst/>
              </a:prstGeom>
              <a:blipFill rotWithShape="0">
                <a:blip r:embed="rId16"/>
                <a:stretch>
                  <a:fillRect l="-17143" r="-1714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300436"/>
                  </p:ext>
                </p:extLst>
              </p:nvPr>
            </p:nvGraphicFramePr>
            <p:xfrm>
              <a:off x="727967" y="1322726"/>
              <a:ext cx="7341835" cy="3352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2876"/>
                    <a:gridCol w="1278384"/>
                    <a:gridCol w="1883841"/>
                    <a:gridCol w="1468367"/>
                    <a:gridCol w="1468367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8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abbaabbbaaabab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格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300436"/>
                  </p:ext>
                </p:extLst>
              </p:nvPr>
            </p:nvGraphicFramePr>
            <p:xfrm>
              <a:off x="727967" y="1322726"/>
              <a:ext cx="7341835" cy="335229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2876"/>
                    <a:gridCol w="1278384"/>
                    <a:gridCol w="1883841"/>
                    <a:gridCol w="1468367"/>
                    <a:gridCol w="1468367"/>
                  </a:tblGrid>
                  <a:tr h="385572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490" t="-1587" r="-491667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97619" t="-1587" r="-377619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134304" t="-1587" r="-156634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300415" t="-1587" r="-100830" b="-798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17"/>
                          <a:stretch>
                            <a:fillRect l="-400415" t="-1587" r="-830" b="-79841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err="1" smtClean="0"/>
                            <a:t>aaabab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aabab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err="1" smtClean="0"/>
                            <a:t>abbaabbbaaabab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…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bbbaaabab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597983"/>
                  </p:ext>
                </p:extLst>
              </p:nvPr>
            </p:nvGraphicFramePr>
            <p:xfrm>
              <a:off x="1807407" y="5250851"/>
              <a:ext cx="2936733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78911"/>
                    <a:gridCol w="978911"/>
                    <a:gridCol w="978911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𝐿𝑃𝐹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𝐿𝑃𝐹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0597983"/>
                  </p:ext>
                </p:extLst>
              </p:nvPr>
            </p:nvGraphicFramePr>
            <p:xfrm>
              <a:off x="1807407" y="5250851"/>
              <a:ext cx="2936733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78911"/>
                    <a:gridCol w="978911"/>
                    <a:gridCol w="978911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18"/>
                          <a:stretch>
                            <a:fillRect r="-200000" b="-10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18"/>
                          <a:stretch>
                            <a:fillRect l="-200000" b="-103226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18"/>
                          <a:stretch>
                            <a:fillRect t="-101639" r="-200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18"/>
                          <a:stretch>
                            <a:fillRect l="-200000" t="-101639" b="-491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7" name="直線單箭頭接點 6"/>
          <p:cNvCxnSpPr/>
          <p:nvPr/>
        </p:nvCxnSpPr>
        <p:spPr>
          <a:xfrm>
            <a:off x="2989640" y="5442012"/>
            <a:ext cx="697302" cy="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3011833" y="5825231"/>
            <a:ext cx="697302" cy="8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063150" y="5437025"/>
                <a:ext cx="34004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𝐿𝑃𝐹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⁡{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𝐿𝑃𝐹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dirty="0" smtClean="0"/>
                  <a:t>,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𝐿𝑃𝐹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150" y="5437025"/>
                <a:ext cx="3400483" cy="369332"/>
              </a:xfrm>
              <a:prstGeom prst="rect">
                <a:avLst/>
              </a:prstGeom>
              <a:blipFill rotWithShape="0">
                <a:blip r:embed="rId19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57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125372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0125372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122411"/>
              </p:ext>
            </p:extLst>
          </p:nvPr>
        </p:nvGraphicFramePr>
        <p:xfrm>
          <a:off x="6556474" y="276999"/>
          <a:ext cx="661072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35735" y="3426780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2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08525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08525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122411"/>
              </p:ext>
            </p:extLst>
          </p:nvPr>
        </p:nvGraphicFramePr>
        <p:xfrm>
          <a:off x="6556474" y="276999"/>
          <a:ext cx="661072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35735" y="3426780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75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32278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32278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54230"/>
              </p:ext>
            </p:extLst>
          </p:nvPr>
        </p:nvGraphicFramePr>
        <p:xfrm>
          <a:off x="6556474" y="276999"/>
          <a:ext cx="661072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63128" y="1953087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84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579254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579254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54230"/>
              </p:ext>
            </p:extLst>
          </p:nvPr>
        </p:nvGraphicFramePr>
        <p:xfrm>
          <a:off x="6556474" y="276999"/>
          <a:ext cx="661072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63128" y="1953087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0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247103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4247103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709549"/>
              </p:ext>
            </p:extLst>
          </p:nvPr>
        </p:nvGraphicFramePr>
        <p:xfrm>
          <a:off x="6556474" y="276999"/>
          <a:ext cx="661072" cy="519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71245" y="3790764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18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3000" dirty="0" smtClean="0"/>
                  <a:t>Computing the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and</a:t>
                </a:r>
                <a:r>
                  <a:rPr lang="zh-TW" altLang="en-US" sz="3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sz="3000" i="1" dirty="0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</m:sSub>
                    <m:r>
                      <a:rPr lang="en-US" altLang="zh-TW" sz="3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arrays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1" y="0"/>
                <a:ext cx="6076087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2307" t="-13187" r="-1605" b="-34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/>
          <p:cNvSpPr txBox="1"/>
          <p:nvPr/>
        </p:nvSpPr>
        <p:spPr>
          <a:xfrm>
            <a:off x="4529493" y="553998"/>
            <a:ext cx="17872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Doubly linked list</a:t>
            </a:r>
          </a:p>
          <a:p>
            <a:r>
              <a:rPr lang="en-US" altLang="zh-TW" dirty="0" smtClean="0"/>
              <a:t>(array)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i</a:t>
            </a:r>
            <a:r>
              <a:rPr lang="en-US" altLang="zh-TW" dirty="0" smtClean="0"/>
              <a:t>= 13 to 0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357786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5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𝑝𝑟𝑒</m:t>
                                    </m:r>
                                  </m:e>
                                  <m:sub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𝑆𝐴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1500" b="0" i="1" dirty="0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8" name="表格 5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3577868"/>
                  </p:ext>
                </p:extLst>
              </p:nvPr>
            </p:nvGraphicFramePr>
            <p:xfrm>
              <a:off x="156798" y="553998"/>
              <a:ext cx="4048217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  <a:gridCol w="1089094"/>
                    <a:gridCol w="108909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62" t="-1639" r="-341722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7436" t="-1639" r="-230769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2067" t="-1639" r="-101117" b="-1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72067" t="-1639" r="-1117" b="-1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-1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3</a:t>
                          </a:r>
                          <a:endParaRPr lang="en-US" altLang="zh-TW" sz="1800" dirty="0" smtClean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310564"/>
              </p:ext>
            </p:extLst>
          </p:nvPr>
        </p:nvGraphicFramePr>
        <p:xfrm>
          <a:off x="6556474" y="276999"/>
          <a:ext cx="661072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0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8" name="直線單箭頭接點 17"/>
          <p:cNvCxnSpPr/>
          <p:nvPr/>
        </p:nvCxnSpPr>
        <p:spPr>
          <a:xfrm>
            <a:off x="5771245" y="825623"/>
            <a:ext cx="74572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71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79976" y="2196726"/>
            <a:ext cx="8395347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069768" y="1771481"/>
                <a:ext cx="37087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500" dirty="0" smtClean="0"/>
                  <a:t>-1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68" y="1771481"/>
                <a:ext cx="370871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508" t="-23810" r="-49180" b="-492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8089878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75061" y="2195074"/>
            <a:ext cx="1644722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661521" y="2196726"/>
            <a:ext cx="1651510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6170544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440639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弧形 12"/>
          <p:cNvSpPr/>
          <p:nvPr/>
        </p:nvSpPr>
        <p:spPr>
          <a:xfrm flipV="1">
            <a:off x="6440639" y="2596249"/>
            <a:ext cx="1379144" cy="39729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522265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265" y="2935066"/>
                <a:ext cx="19300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6250" r="-50000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/>
          <p:cNvCxnSpPr/>
          <p:nvPr/>
        </p:nvCxnSpPr>
        <p:spPr>
          <a:xfrm>
            <a:off x="6726204" y="219507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6529625" y="1758305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625" y="1758305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40000" r="-33333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弧形 22"/>
          <p:cNvSpPr/>
          <p:nvPr/>
        </p:nvSpPr>
        <p:spPr>
          <a:xfrm flipV="1">
            <a:off x="3929019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/>
          <p:nvPr/>
        </p:nvCxnSpPr>
        <p:spPr>
          <a:xfrm>
            <a:off x="3924502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4175415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308426" y="426365"/>
                <a:ext cx="278755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𝐿𝑃</m:t>
                      </m:r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26" y="426365"/>
                <a:ext cx="2787558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3501" r="-2188" b="-317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033710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710" y="2935066"/>
                <a:ext cx="193002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3924502" y="2190776"/>
            <a:ext cx="1388529" cy="547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6435947" y="2190136"/>
            <a:ext cx="1388529" cy="547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93307" y="1499281"/>
                <a:ext cx="9575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07" y="1499281"/>
                <a:ext cx="957506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/>
          <p:cNvCxnSpPr/>
          <p:nvPr/>
        </p:nvCxnSpPr>
        <p:spPr>
          <a:xfrm>
            <a:off x="1035048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1318283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16" idx="2"/>
          </p:cNvCxnSpPr>
          <p:nvPr/>
        </p:nvCxnSpPr>
        <p:spPr>
          <a:xfrm>
            <a:off x="1172060" y="1868613"/>
            <a:ext cx="0" cy="32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628852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852" y="2935066"/>
                <a:ext cx="193002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53125" r="-53125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弧形 33"/>
          <p:cNvSpPr/>
          <p:nvPr/>
        </p:nvSpPr>
        <p:spPr>
          <a:xfrm flipV="1">
            <a:off x="1035606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/>
          <p:nvPr/>
        </p:nvCxnSpPr>
        <p:spPr>
          <a:xfrm>
            <a:off x="2434716" y="219865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067527" y="1461691"/>
                <a:ext cx="1361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527" y="1461691"/>
                <a:ext cx="1361463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單箭頭接點 36"/>
          <p:cNvCxnSpPr>
            <a:stCxn id="36" idx="2"/>
          </p:cNvCxnSpPr>
          <p:nvPr/>
        </p:nvCxnSpPr>
        <p:spPr>
          <a:xfrm>
            <a:off x="3748259" y="1831023"/>
            <a:ext cx="11042" cy="32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1050704" y="2190136"/>
            <a:ext cx="1388529" cy="547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34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3" grpId="0" animBg="1"/>
      <p:bldP spid="4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579976" y="2196726"/>
            <a:ext cx="8395347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/>
              <p:cNvSpPr txBox="1"/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4" name="文字方塊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6148739" y="1851063"/>
                <a:ext cx="272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 smtClean="0"/>
                  <a:t>0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739" y="1851063"/>
                <a:ext cx="272510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34091" t="-26000" r="-56818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接點 65"/>
          <p:cNvCxnSpPr/>
          <p:nvPr/>
        </p:nvCxnSpPr>
        <p:spPr>
          <a:xfrm>
            <a:off x="8089878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6175061" y="2195074"/>
            <a:ext cx="1644722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/>
        </p:nvSpPr>
        <p:spPr>
          <a:xfrm>
            <a:off x="3661521" y="2196726"/>
            <a:ext cx="1651510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69" name="直線接點 68"/>
          <p:cNvCxnSpPr/>
          <p:nvPr/>
        </p:nvCxnSpPr>
        <p:spPr>
          <a:xfrm>
            <a:off x="6170544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6440639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弧形 70"/>
          <p:cNvSpPr/>
          <p:nvPr/>
        </p:nvSpPr>
        <p:spPr>
          <a:xfrm flipV="1">
            <a:off x="6440639" y="2596249"/>
            <a:ext cx="1379144" cy="39729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/>
              <p:cNvSpPr txBox="1"/>
              <p:nvPr/>
            </p:nvSpPr>
            <p:spPr>
              <a:xfrm>
                <a:off x="4522265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72" name="文字方塊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265" y="2935066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接點 72"/>
          <p:cNvCxnSpPr/>
          <p:nvPr/>
        </p:nvCxnSpPr>
        <p:spPr>
          <a:xfrm>
            <a:off x="6726204" y="219507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弧形 73"/>
          <p:cNvSpPr/>
          <p:nvPr/>
        </p:nvSpPr>
        <p:spPr>
          <a:xfrm flipV="1">
            <a:off x="3929019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5" name="直線接點 74"/>
          <p:cNvCxnSpPr/>
          <p:nvPr/>
        </p:nvCxnSpPr>
        <p:spPr>
          <a:xfrm>
            <a:off x="3924502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線接點 75"/>
          <p:cNvCxnSpPr/>
          <p:nvPr/>
        </p:nvCxnSpPr>
        <p:spPr>
          <a:xfrm>
            <a:off x="4175415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/>
              <p:cNvSpPr txBox="1"/>
              <p:nvPr/>
            </p:nvSpPr>
            <p:spPr>
              <a:xfrm>
                <a:off x="7033710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77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710" y="2935066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矩形 79"/>
              <p:cNvSpPr/>
              <p:nvPr/>
            </p:nvSpPr>
            <p:spPr>
              <a:xfrm>
                <a:off x="615490" y="1071081"/>
                <a:ext cx="1132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0" name="矩形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90" y="1071081"/>
                <a:ext cx="1132939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線接點 80"/>
          <p:cNvCxnSpPr/>
          <p:nvPr/>
        </p:nvCxnSpPr>
        <p:spPr>
          <a:xfrm>
            <a:off x="1035048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>
            <a:off x="1318283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>
            <a:stCxn id="80" idx="2"/>
          </p:cNvCxnSpPr>
          <p:nvPr/>
        </p:nvCxnSpPr>
        <p:spPr>
          <a:xfrm flipH="1">
            <a:off x="1180730" y="1440413"/>
            <a:ext cx="1230" cy="36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/>
              <p:cNvSpPr txBox="1"/>
              <p:nvPr/>
            </p:nvSpPr>
            <p:spPr>
              <a:xfrm>
                <a:off x="1628852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84" name="文字方塊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852" y="2935066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弧形 84"/>
          <p:cNvSpPr/>
          <p:nvPr/>
        </p:nvSpPr>
        <p:spPr>
          <a:xfrm flipV="1">
            <a:off x="1035606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6" name="直線接點 85"/>
          <p:cNvCxnSpPr/>
          <p:nvPr/>
        </p:nvCxnSpPr>
        <p:spPr>
          <a:xfrm>
            <a:off x="2452472" y="219865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 86"/>
              <p:cNvSpPr/>
              <p:nvPr/>
            </p:nvSpPr>
            <p:spPr>
              <a:xfrm>
                <a:off x="3191819" y="1044447"/>
                <a:ext cx="1132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7" name="矩形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819" y="1044447"/>
                <a:ext cx="1132939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線單箭頭接點 87"/>
          <p:cNvCxnSpPr>
            <a:stCxn id="87" idx="2"/>
          </p:cNvCxnSpPr>
          <p:nvPr/>
        </p:nvCxnSpPr>
        <p:spPr>
          <a:xfrm flipH="1">
            <a:off x="3758288" y="1413779"/>
            <a:ext cx="1" cy="36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字方塊 88"/>
          <p:cNvSpPr txBox="1"/>
          <p:nvPr/>
        </p:nvSpPr>
        <p:spPr>
          <a:xfrm>
            <a:off x="3617384" y="2169660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387065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91" name="文字方塊 90"/>
          <p:cNvSpPr txBox="1"/>
          <p:nvPr/>
        </p:nvSpPr>
        <p:spPr>
          <a:xfrm>
            <a:off x="4141556" y="2169660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92" name="文字方塊 91"/>
          <p:cNvSpPr txBox="1"/>
          <p:nvPr/>
        </p:nvSpPr>
        <p:spPr>
          <a:xfrm>
            <a:off x="487411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93" name="文字方塊 92"/>
          <p:cNvSpPr txBox="1"/>
          <p:nvPr/>
        </p:nvSpPr>
        <p:spPr>
          <a:xfrm>
            <a:off x="4643286" y="2169660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437238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6123468" y="2188568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6647640" y="2188568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98" name="文字方塊 97"/>
          <p:cNvSpPr txBox="1"/>
          <p:nvPr/>
        </p:nvSpPr>
        <p:spPr>
          <a:xfrm>
            <a:off x="738019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99" name="文字方塊 98"/>
          <p:cNvSpPr txBox="1"/>
          <p:nvPr/>
        </p:nvSpPr>
        <p:spPr>
          <a:xfrm>
            <a:off x="7149370" y="2188568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100" name="文字方塊 99"/>
          <p:cNvSpPr txBox="1"/>
          <p:nvPr/>
        </p:nvSpPr>
        <p:spPr>
          <a:xfrm>
            <a:off x="687846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1011308" y="2200526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102" name="文字方塊 101"/>
          <p:cNvSpPr txBox="1"/>
          <p:nvPr/>
        </p:nvSpPr>
        <p:spPr>
          <a:xfrm>
            <a:off x="1282210" y="2200526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103" name="文字方塊 102"/>
          <p:cNvSpPr txBox="1"/>
          <p:nvPr/>
        </p:nvSpPr>
        <p:spPr>
          <a:xfrm>
            <a:off x="2014768" y="2200526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b</a:t>
            </a:r>
            <a:endParaRPr lang="zh-TW" altLang="en-US" sz="3000" dirty="0"/>
          </a:p>
        </p:txBody>
      </p:sp>
      <p:sp>
        <p:nvSpPr>
          <p:cNvPr id="104" name="文字方塊 103"/>
          <p:cNvSpPr txBox="1"/>
          <p:nvPr/>
        </p:nvSpPr>
        <p:spPr>
          <a:xfrm>
            <a:off x="1783940" y="2200526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105" name="文字方塊 104"/>
          <p:cNvSpPr txBox="1"/>
          <p:nvPr/>
        </p:nvSpPr>
        <p:spPr>
          <a:xfrm>
            <a:off x="1513038" y="2200526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106" name="文字方塊 105"/>
          <p:cNvSpPr txBox="1"/>
          <p:nvPr/>
        </p:nvSpPr>
        <p:spPr>
          <a:xfrm>
            <a:off x="5289905" y="2171975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a</a:t>
            </a:r>
            <a:endParaRPr lang="zh-TW" altLang="en-US" sz="3000" dirty="0"/>
          </a:p>
        </p:txBody>
      </p:sp>
      <p:sp>
        <p:nvSpPr>
          <p:cNvPr id="107" name="文字方塊 106"/>
          <p:cNvSpPr txBox="1"/>
          <p:nvPr/>
        </p:nvSpPr>
        <p:spPr>
          <a:xfrm>
            <a:off x="7759162" y="2195879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/>
              <p:cNvSpPr txBox="1"/>
              <p:nvPr/>
            </p:nvSpPr>
            <p:spPr>
              <a:xfrm>
                <a:off x="1087979" y="18686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8" name="文字方塊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79" y="1868687"/>
                <a:ext cx="200376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3587779" y="1839928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79" y="1839928"/>
                <a:ext cx="343043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/>
              <p:cNvSpPr txBox="1"/>
              <p:nvPr/>
            </p:nvSpPr>
            <p:spPr>
              <a:xfrm>
                <a:off x="3892454" y="1834009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0" name="文字方塊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454" y="1834009"/>
                <a:ext cx="343043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/>
              <p:cNvSpPr txBox="1"/>
              <p:nvPr/>
            </p:nvSpPr>
            <p:spPr>
              <a:xfrm>
                <a:off x="6449954" y="1853450"/>
                <a:ext cx="272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 smtClean="0"/>
                  <a:t>1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111" name="文字方塊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954" y="1853450"/>
                <a:ext cx="272510" cy="307777"/>
              </a:xfrm>
              <a:prstGeom prst="rect">
                <a:avLst/>
              </a:prstGeom>
              <a:blipFill rotWithShape="0">
                <a:blip r:embed="rId12"/>
                <a:stretch>
                  <a:fillRect l="-31111" t="-25490" r="-55556" b="-490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文字方塊 111"/>
          <p:cNvSpPr txBox="1"/>
          <p:nvPr/>
        </p:nvSpPr>
        <p:spPr>
          <a:xfrm>
            <a:off x="637673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91770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79976" y="2196726"/>
            <a:ext cx="8395347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148739" y="1851063"/>
                <a:ext cx="272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 smtClean="0"/>
                  <a:t>0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739" y="1851063"/>
                <a:ext cx="272510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34091" t="-26000" r="-56818" b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8089878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75061" y="2195074"/>
            <a:ext cx="1644722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661521" y="2196726"/>
            <a:ext cx="1651510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6170544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440639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弧形 12"/>
          <p:cNvSpPr/>
          <p:nvPr/>
        </p:nvSpPr>
        <p:spPr>
          <a:xfrm flipV="1">
            <a:off x="6440639" y="2596249"/>
            <a:ext cx="1379144" cy="39729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522265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265" y="2935066"/>
                <a:ext cx="250068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/>
          <p:cNvCxnSpPr/>
          <p:nvPr/>
        </p:nvCxnSpPr>
        <p:spPr>
          <a:xfrm>
            <a:off x="6726204" y="219507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弧形 22"/>
          <p:cNvSpPr/>
          <p:nvPr/>
        </p:nvSpPr>
        <p:spPr>
          <a:xfrm flipV="1">
            <a:off x="3929019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/>
          <p:nvPr/>
        </p:nvCxnSpPr>
        <p:spPr>
          <a:xfrm>
            <a:off x="3924502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4175415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033710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710" y="2935066"/>
                <a:ext cx="250068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15490" y="1071081"/>
                <a:ext cx="1132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90" y="1071081"/>
                <a:ext cx="1132939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/>
          <p:cNvCxnSpPr/>
          <p:nvPr/>
        </p:nvCxnSpPr>
        <p:spPr>
          <a:xfrm>
            <a:off x="1035048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1318283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16" idx="2"/>
          </p:cNvCxnSpPr>
          <p:nvPr/>
        </p:nvCxnSpPr>
        <p:spPr>
          <a:xfrm flipH="1">
            <a:off x="1180730" y="1440413"/>
            <a:ext cx="1230" cy="36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628852" y="2935066"/>
                <a:ext cx="25006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852" y="2935066"/>
                <a:ext cx="250068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31707" r="-31707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弧形 33"/>
          <p:cNvSpPr/>
          <p:nvPr/>
        </p:nvSpPr>
        <p:spPr>
          <a:xfrm flipV="1">
            <a:off x="1035606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/>
          <p:nvPr/>
        </p:nvCxnSpPr>
        <p:spPr>
          <a:xfrm>
            <a:off x="2452472" y="219865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191819" y="1044447"/>
                <a:ext cx="1132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819" y="1044447"/>
                <a:ext cx="1132939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單箭頭接點 36"/>
          <p:cNvCxnSpPr>
            <a:stCxn id="36" idx="2"/>
          </p:cNvCxnSpPr>
          <p:nvPr/>
        </p:nvCxnSpPr>
        <p:spPr>
          <a:xfrm flipH="1">
            <a:off x="3758288" y="1413779"/>
            <a:ext cx="1" cy="360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3617384" y="2169660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387065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4141556" y="2169660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41" name="文字方塊 40"/>
          <p:cNvSpPr txBox="1"/>
          <p:nvPr/>
        </p:nvSpPr>
        <p:spPr>
          <a:xfrm>
            <a:off x="487411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4643286" y="2169660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4372384" y="2169660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6123468" y="2188568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/>
              <a:t>a</a:t>
            </a:r>
            <a:endParaRPr lang="zh-TW" altLang="en-US" sz="3000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637673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6647640" y="2188568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47" name="文字方塊 46"/>
          <p:cNvSpPr txBox="1"/>
          <p:nvPr/>
        </p:nvSpPr>
        <p:spPr>
          <a:xfrm>
            <a:off x="738019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48" name="文字方塊 47"/>
          <p:cNvSpPr txBox="1"/>
          <p:nvPr/>
        </p:nvSpPr>
        <p:spPr>
          <a:xfrm>
            <a:off x="7149370" y="2188568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6878468" y="2188568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58" name="文字方塊 57"/>
          <p:cNvSpPr txBox="1"/>
          <p:nvPr/>
        </p:nvSpPr>
        <p:spPr>
          <a:xfrm>
            <a:off x="1011308" y="2200526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1282210" y="2200526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2014768" y="2200526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a</a:t>
            </a:r>
            <a:endParaRPr lang="zh-TW" altLang="en-US" sz="3000" dirty="0"/>
          </a:p>
        </p:txBody>
      </p:sp>
      <p:sp>
        <p:nvSpPr>
          <p:cNvPr id="61" name="文字方塊 60"/>
          <p:cNvSpPr txBox="1"/>
          <p:nvPr/>
        </p:nvSpPr>
        <p:spPr>
          <a:xfrm>
            <a:off x="1783940" y="2200526"/>
            <a:ext cx="3465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c</a:t>
            </a:r>
            <a:endParaRPr lang="zh-TW" altLang="en-US" sz="3000" dirty="0"/>
          </a:p>
        </p:txBody>
      </p:sp>
      <p:sp>
        <p:nvSpPr>
          <p:cNvPr id="62" name="文字方塊 61"/>
          <p:cNvSpPr txBox="1"/>
          <p:nvPr/>
        </p:nvSpPr>
        <p:spPr>
          <a:xfrm>
            <a:off x="1513038" y="2200526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1649526" y="4279038"/>
                <a:ext cx="2534861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𝑠𝑢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3  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= bcbcaxxxxxxxx</a:t>
                </a:r>
              </a:p>
              <a:p>
                <a:endParaRPr lang="en-US" altLang="zh-TW" dirty="0" smtClean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𝑠𝑢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= </a:t>
                </a:r>
                <a:r>
                  <a:rPr lang="en-US" altLang="zh-TW" dirty="0" err="1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bcbcbaxxxxx</a:t>
                </a:r>
                <a:endParaRPr lang="en-US" altLang="zh-TW" dirty="0" smtClean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endParaRPr lang="en-US" altLang="zh-TW" dirty="0" smtClean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𝑠𝑢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微軟正黑體" panose="020B0604030504040204" pitchFamily="34" charset="-12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= </a:t>
                </a:r>
                <a:r>
                  <a:rPr lang="en-US" altLang="zh-TW" dirty="0" err="1" smtClean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bcbcbbxxxxx</a:t>
                </a:r>
                <a:endParaRPr lang="en-US" altLang="zh-TW" dirty="0" smtClean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9526" y="4279038"/>
                <a:ext cx="2534861" cy="1477328"/>
              </a:xfrm>
              <a:prstGeom prst="rect">
                <a:avLst/>
              </a:prstGeom>
              <a:blipFill rotWithShape="0">
                <a:blip r:embed="rId9"/>
                <a:stretch>
                  <a:fillRect t="-2479" r="-1928" b="-5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49"/>
          <p:cNvSpPr txBox="1"/>
          <p:nvPr/>
        </p:nvSpPr>
        <p:spPr>
          <a:xfrm>
            <a:off x="5289905" y="2171975"/>
            <a:ext cx="36901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a</a:t>
            </a:r>
            <a:endParaRPr lang="zh-TW" altLang="en-US" sz="30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7759162" y="2195879"/>
            <a:ext cx="386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/>
              <a:t>b</a:t>
            </a:r>
            <a:endParaRPr lang="zh-TW" altLang="en-US" sz="3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074782" y="39185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字典排序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/>
              <p:cNvSpPr txBox="1"/>
              <p:nvPr/>
            </p:nvSpPr>
            <p:spPr>
              <a:xfrm>
                <a:off x="1087979" y="1868687"/>
                <a:ext cx="2003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979" y="1868687"/>
                <a:ext cx="200376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27273" r="-30303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/>
              <p:cNvSpPr txBox="1"/>
              <p:nvPr/>
            </p:nvSpPr>
            <p:spPr>
              <a:xfrm>
                <a:off x="3587779" y="1839928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3" name="文字方塊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79" y="1839928"/>
                <a:ext cx="343043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/>
              <p:cNvSpPr txBox="1"/>
              <p:nvPr/>
            </p:nvSpPr>
            <p:spPr>
              <a:xfrm>
                <a:off x="3892454" y="1834009"/>
                <a:ext cx="3430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文字方塊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454" y="1834009"/>
                <a:ext cx="343043" cy="307777"/>
              </a:xfrm>
              <a:prstGeom prst="rect">
                <a:avLst/>
              </a:prstGeom>
              <a:blipFill rotWithShape="0">
                <a:blip r:embed="rId12"/>
                <a:stretch>
                  <a:fillRect l="-17857" r="-16071" b="-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/>
              <p:cNvSpPr txBox="1"/>
              <p:nvPr/>
            </p:nvSpPr>
            <p:spPr>
              <a:xfrm>
                <a:off x="6449954" y="1853450"/>
                <a:ext cx="2725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000" dirty="0" smtClean="0"/>
                  <a:t>1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66" name="文字方塊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954" y="1853450"/>
                <a:ext cx="272510" cy="307777"/>
              </a:xfrm>
              <a:prstGeom prst="rect">
                <a:avLst/>
              </a:prstGeom>
              <a:blipFill rotWithShape="0">
                <a:blip r:embed="rId13"/>
                <a:stretch>
                  <a:fillRect l="-31111" t="-25490" r="-55556" b="-490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矩形 66"/>
              <p:cNvSpPr/>
              <p:nvPr/>
            </p:nvSpPr>
            <p:spPr>
              <a:xfrm>
                <a:off x="4730465" y="4833036"/>
                <a:ext cx="25980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𝑝𝑟𝑒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&lt;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b="1" i="0" dirty="0" smtClean="0">
                    <a:latin typeface="+mj-lt"/>
                  </a:rPr>
                  <a:t> should  be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 11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7" name="矩形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465" y="4833036"/>
                <a:ext cx="2598084" cy="369332"/>
              </a:xfrm>
              <a:prstGeom prst="rect">
                <a:avLst/>
              </a:prstGeom>
              <a:blipFill rotWithShape="0">
                <a:blip r:embed="rId1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028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79976" y="2196726"/>
            <a:ext cx="8395347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35" y="2282250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6069768" y="1771481"/>
                <a:ext cx="37087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500" dirty="0" smtClean="0"/>
                  <a:t>-1</a:t>
                </a:r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768" y="1771481"/>
                <a:ext cx="370871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29508" t="-23810" r="-49180" b="-492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8089878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175061" y="2195074"/>
            <a:ext cx="1644722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661521" y="2196726"/>
            <a:ext cx="1651510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6170544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6440639" y="219672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弧形 12"/>
          <p:cNvSpPr/>
          <p:nvPr/>
        </p:nvSpPr>
        <p:spPr>
          <a:xfrm flipV="1">
            <a:off x="6440639" y="2596249"/>
            <a:ext cx="1379144" cy="39729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522265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265" y="2935066"/>
                <a:ext cx="193002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56250" r="-50000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接點 21"/>
          <p:cNvCxnSpPr/>
          <p:nvPr/>
        </p:nvCxnSpPr>
        <p:spPr>
          <a:xfrm>
            <a:off x="6726204" y="219507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6529625" y="1758305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625" y="1758305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40000" r="-33333" b="-46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弧形 22"/>
          <p:cNvSpPr/>
          <p:nvPr/>
        </p:nvSpPr>
        <p:spPr>
          <a:xfrm flipV="1">
            <a:off x="3929019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/>
          <p:nvPr/>
        </p:nvCxnSpPr>
        <p:spPr>
          <a:xfrm>
            <a:off x="3924502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4175415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985932" y="3879779"/>
                <a:ext cx="4832990" cy="1538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𝑤h𝑖𝑙𝑒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𝑝𝑟𝑒</m:t>
                              </m:r>
                            </m:e>
                            <m:sub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5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zh-TW" altLang="en-US" sz="2500" dirty="0"/>
                            <m:t> 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altLang="zh-TW" sz="2500" b="0" dirty="0" smtClean="0"/>
              </a:p>
              <a:p>
                <a:r>
                  <a:rPr lang="en-US" altLang="zh-TW" sz="250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500" b="0" i="1" smtClean="0">
                        <a:latin typeface="Cambria Math" panose="02040503050406030204" pitchFamily="18" charset="0"/>
                      </a:rPr>
                      <m:t>++;</m:t>
                    </m:r>
                  </m:oMath>
                </a14:m>
                <a:endParaRPr lang="en-US" altLang="zh-TW" sz="2500" b="0" i="1" dirty="0" smtClean="0">
                  <a:latin typeface="Cambria Math" panose="02040503050406030204" pitchFamily="18" charset="0"/>
                </a:endParaRPr>
              </a:p>
              <a:p>
                <a:endParaRPr lang="en-US" altLang="zh-TW" sz="2500" b="0" i="0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2500" b="0" i="0" smtClean="0">
                              <a:latin typeface="Cambria Math" panose="02040503050406030204" pitchFamily="18" charset="0"/>
                            </a:rPr>
                            <m:t>LPF</m:t>
                          </m:r>
                        </m:e>
                        <m:sub>
                          <m:r>
                            <a:rPr lang="en-US" altLang="zh-TW" sz="25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5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  <m: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altLang="zh-TW" sz="2500" b="0" i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TW" sz="2500" b="0" dirty="0" smtClean="0"/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932" y="3879779"/>
                <a:ext cx="4832990" cy="1538883"/>
              </a:xfrm>
              <a:prstGeom prst="rect">
                <a:avLst/>
              </a:prstGeom>
              <a:blipFill rotWithShape="0">
                <a:blip r:embed="rId6"/>
                <a:stretch>
                  <a:fillRect b="-67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7033710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710" y="2935066"/>
                <a:ext cx="193002" cy="384721"/>
              </a:xfrm>
              <a:prstGeom prst="rect">
                <a:avLst/>
              </a:prstGeom>
              <a:blipFill rotWithShape="0">
                <a:blip r:embed="rId7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 flipH="1">
            <a:off x="7824476" y="2190136"/>
            <a:ext cx="280871" cy="547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93307" y="1499281"/>
                <a:ext cx="9575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07" y="1499281"/>
                <a:ext cx="957506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/>
          <p:cNvCxnSpPr/>
          <p:nvPr/>
        </p:nvCxnSpPr>
        <p:spPr>
          <a:xfrm>
            <a:off x="1035048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>
            <a:off x="1318283" y="220753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16" idx="2"/>
          </p:cNvCxnSpPr>
          <p:nvPr/>
        </p:nvCxnSpPr>
        <p:spPr>
          <a:xfrm>
            <a:off x="1172060" y="1868613"/>
            <a:ext cx="0" cy="32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1628852" y="293506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i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852" y="2935066"/>
                <a:ext cx="193002" cy="384721"/>
              </a:xfrm>
              <a:prstGeom prst="rect">
                <a:avLst/>
              </a:prstGeom>
              <a:blipFill rotWithShape="0">
                <a:blip r:embed="rId9"/>
                <a:stretch>
                  <a:fillRect l="-53125" r="-53125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弧形 33"/>
          <p:cNvSpPr/>
          <p:nvPr/>
        </p:nvSpPr>
        <p:spPr>
          <a:xfrm flipV="1">
            <a:off x="1035606" y="2561599"/>
            <a:ext cx="1390232" cy="431948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/>
          <p:nvPr/>
        </p:nvCxnSpPr>
        <p:spPr>
          <a:xfrm>
            <a:off x="2434716" y="219865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3067527" y="1461691"/>
                <a:ext cx="13614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𝑝𝑟𝑒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527" y="1461691"/>
                <a:ext cx="1361463" cy="369332"/>
              </a:xfrm>
              <a:prstGeom prst="rect">
                <a:avLst/>
              </a:prstGeom>
              <a:blipFill rotWithShape="0"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單箭頭接點 36"/>
          <p:cNvCxnSpPr>
            <a:stCxn id="36" idx="2"/>
          </p:cNvCxnSpPr>
          <p:nvPr/>
        </p:nvCxnSpPr>
        <p:spPr>
          <a:xfrm>
            <a:off x="3748259" y="1831023"/>
            <a:ext cx="11042" cy="325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 flipH="1">
            <a:off x="2447980" y="2192067"/>
            <a:ext cx="280871" cy="547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31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05" y="641921"/>
            <a:ext cx="5989631" cy="5155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281211" y="852784"/>
                <a:ext cx="4343305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Time complexity</a:t>
                </a:r>
              </a:p>
              <a:p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𝐿𝑃</m:t>
                      </m:r>
                      <m:sSub>
                        <m:sSub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dirty="0">
                          <a:latin typeface="Cambria Math" panose="02040503050406030204" pitchFamily="18" charset="0"/>
                        </a:rPr>
                        <m:t>只會遞增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，從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TW" altLang="en-US" i="1" dirty="0" smtClean="0">
                          <a:latin typeface="Cambria Math" panose="02040503050406030204" pitchFamily="18" charset="0"/>
                        </a:rPr>
                        <m:t>逐漸增加到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TW" dirty="0" smtClean="0"/>
              </a:p>
              <a:p>
                <a:r>
                  <a:rPr lang="zh-TW" altLang="en-US" dirty="0" smtClean="0"/>
                  <a:t>這個</a:t>
                </a:r>
                <a:r>
                  <a:rPr lang="en-US" altLang="zh-TW" dirty="0" smtClean="0"/>
                  <a:t>while</a:t>
                </a:r>
                <a:r>
                  <a:rPr lang="zh-TW" altLang="en-US" dirty="0" smtClean="0"/>
                  <a:t>迴圈總共執行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TW" altLang="en-US" dirty="0" smtClean="0"/>
                  <a:t>次</a:t>
                </a:r>
                <a:endParaRPr lang="en-US" altLang="zh-TW" dirty="0" smtClean="0"/>
              </a:p>
              <a:p>
                <a:endParaRPr lang="en-US" altLang="zh-TW" dirty="0"/>
              </a:p>
              <a:p>
                <a:r>
                  <a:rPr lang="en-US" altLang="zh-TW" dirty="0" smtClean="0"/>
                  <a:t>	</a:t>
                </a:r>
                <a:r>
                  <a:rPr lang="zh-TW" altLang="en-US" dirty="0" smtClean="0"/>
                  <a:t>因此時間複雜度為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211" y="852784"/>
                <a:ext cx="4343305" cy="1754326"/>
              </a:xfrm>
              <a:prstGeom prst="rect">
                <a:avLst/>
              </a:prstGeom>
              <a:blipFill rotWithShape="0">
                <a:blip r:embed="rId3"/>
                <a:stretch>
                  <a:fillRect l="-1122" t="-2083" b="-4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單箭頭接點 6"/>
          <p:cNvCxnSpPr/>
          <p:nvPr/>
        </p:nvCxnSpPr>
        <p:spPr>
          <a:xfrm flipH="1">
            <a:off x="4608214" y="1973655"/>
            <a:ext cx="672997" cy="39835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65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147694" y="99379"/>
            <a:ext cx="5509693" cy="462431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An</a:t>
            </a:r>
            <a:r>
              <a:rPr lang="zh-TW" altLang="en-US" dirty="0" smtClean="0"/>
              <a:t> </a:t>
            </a:r>
            <a:r>
              <a:rPr lang="en-US" altLang="zh-TW" dirty="0" smtClean="0"/>
              <a:t>algorithm</a:t>
            </a:r>
            <a:r>
              <a:rPr lang="zh-TW" altLang="en-US" dirty="0" smtClean="0"/>
              <a:t> </a:t>
            </a:r>
            <a:r>
              <a:rPr lang="en-US" altLang="zh-TW" dirty="0" smtClean="0"/>
              <a:t>using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LCP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800619" y="2345893"/>
            <a:ext cx="5495454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266464" y="2420609"/>
                <a:ext cx="3187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464" y="2420609"/>
                <a:ext cx="318742" cy="384721"/>
              </a:xfrm>
              <a:prstGeom prst="rect">
                <a:avLst/>
              </a:prstGeom>
              <a:blipFill rotWithShape="0">
                <a:blip r:embed="rId2"/>
                <a:stretch>
                  <a:fillRect l="-13462" r="-9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748283" y="1912103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283" y="1912103"/>
                <a:ext cx="183320" cy="384721"/>
              </a:xfrm>
              <a:prstGeom prst="rect">
                <a:avLst/>
              </a:prstGeom>
              <a:blipFill rotWithShape="0">
                <a:blip r:embed="rId3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6617054" y="2345893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02237" y="2344241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508292" y="2345893"/>
            <a:ext cx="1919334" cy="534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>
            <a:off x="4697720" y="2345893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4967815" y="2345893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弧形 11"/>
          <p:cNvSpPr/>
          <p:nvPr/>
        </p:nvSpPr>
        <p:spPr>
          <a:xfrm flipV="1">
            <a:off x="2508292" y="2745417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弧形 12"/>
          <p:cNvSpPr/>
          <p:nvPr/>
        </p:nvSpPr>
        <p:spPr>
          <a:xfrm flipV="1">
            <a:off x="4697720" y="2745417"/>
            <a:ext cx="1919334" cy="439823"/>
          </a:xfrm>
          <a:prstGeom prst="arc">
            <a:avLst>
              <a:gd name="adj1" fmla="val 10726867"/>
              <a:gd name="adj2" fmla="val 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5565727" y="3200043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727" y="3200043"/>
                <a:ext cx="183320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40000" r="-36667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376299" y="3185240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299" y="3185240"/>
                <a:ext cx="183320" cy="384721"/>
              </a:xfrm>
              <a:prstGeom prst="rect">
                <a:avLst/>
              </a:prstGeom>
              <a:blipFill rotWithShape="0">
                <a:blip r:embed="rId5"/>
                <a:stretch>
                  <a:fillRect l="-43333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單箭頭接點 15"/>
          <p:cNvCxnSpPr>
            <a:stCxn id="6" idx="3"/>
          </p:cNvCxnSpPr>
          <p:nvPr/>
        </p:nvCxnSpPr>
        <p:spPr>
          <a:xfrm flipV="1">
            <a:off x="4931603" y="2101441"/>
            <a:ext cx="1477230" cy="3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697719" y="3658611"/>
            <a:ext cx="2598353" cy="5341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508291" y="4662479"/>
            <a:ext cx="4787781" cy="53415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/>
              <p:cNvSpPr txBox="1"/>
              <p:nvPr/>
            </p:nvSpPr>
            <p:spPr>
              <a:xfrm>
                <a:off x="4748283" y="3235018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283" y="3235018"/>
                <a:ext cx="183320" cy="384721"/>
              </a:xfrm>
              <a:prstGeom prst="rect">
                <a:avLst/>
              </a:prstGeom>
              <a:blipFill rotWithShape="0">
                <a:blip r:embed="rId6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/>
          <p:cNvCxnSpPr/>
          <p:nvPr/>
        </p:nvCxnSpPr>
        <p:spPr>
          <a:xfrm>
            <a:off x="4967815" y="3668808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798587" y="5621184"/>
                <a:ext cx="72580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altLang="zh-TW" sz="2000" dirty="0" smtClean="0"/>
                  <a:t> = the length of  the longest common prefix between these suffixes.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87" y="5621184"/>
                <a:ext cx="7258077" cy="400110"/>
              </a:xfrm>
              <a:prstGeom prst="rect">
                <a:avLst/>
              </a:prstGeom>
              <a:blipFill rotWithShape="0">
                <a:blip r:embed="rId7"/>
                <a:stretch>
                  <a:fillRect t="-7576" r="-504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32219" y="3701095"/>
                <a:ext cx="826124" cy="4770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19" y="3701095"/>
                <a:ext cx="826124" cy="477054"/>
              </a:xfrm>
              <a:prstGeom prst="rect">
                <a:avLst/>
              </a:prstGeom>
              <a:blipFill rotWithShape="0">
                <a:blip r:embed="rId8"/>
                <a:stretch>
                  <a:fillRect b="-179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632219" y="4662479"/>
                <a:ext cx="842410" cy="5080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dirty="0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altLang="zh-TW" sz="25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5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sz="25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19" y="4662479"/>
                <a:ext cx="842410" cy="508024"/>
              </a:xfrm>
              <a:prstGeom prst="rect">
                <a:avLst/>
              </a:prstGeom>
              <a:blipFill rotWithShape="0">
                <a:blip r:embed="rId9"/>
                <a:stretch>
                  <a:fillRect b="-9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/>
              <p:cNvSpPr txBox="1"/>
              <p:nvPr/>
            </p:nvSpPr>
            <p:spPr>
              <a:xfrm>
                <a:off x="2556730" y="1922834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3" name="文字方塊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30" y="1922834"/>
                <a:ext cx="193002" cy="384721"/>
              </a:xfrm>
              <a:prstGeom prst="rect">
                <a:avLst/>
              </a:prstGeom>
              <a:blipFill rotWithShape="0">
                <a:blip r:embed="rId10"/>
                <a:stretch>
                  <a:fillRect l="-53125" r="-53125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接點 23"/>
          <p:cNvCxnSpPr/>
          <p:nvPr/>
        </p:nvCxnSpPr>
        <p:spPr>
          <a:xfrm>
            <a:off x="2776262" y="2356624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2567461" y="4238886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461" y="4238886"/>
                <a:ext cx="193002" cy="384721"/>
              </a:xfrm>
              <a:prstGeom prst="rect">
                <a:avLst/>
              </a:prstGeom>
              <a:blipFill rotWithShape="0">
                <a:blip r:embed="rId11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接點 25"/>
          <p:cNvCxnSpPr/>
          <p:nvPr/>
        </p:nvCxnSpPr>
        <p:spPr>
          <a:xfrm>
            <a:off x="2786993" y="4672676"/>
            <a:ext cx="0" cy="534155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566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883042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𝑆𝐴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883042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531748" y="4394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37" idx="0"/>
            <a:endCxn id="38" idx="3"/>
          </p:cNvCxnSpPr>
          <p:nvPr/>
        </p:nvCxnSpPr>
        <p:spPr>
          <a:xfrm flipV="1">
            <a:off x="5307790" y="911889"/>
            <a:ext cx="304356" cy="3610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38" idx="5"/>
            <a:endCxn id="39" idx="0"/>
          </p:cNvCxnSpPr>
          <p:nvPr/>
        </p:nvCxnSpPr>
        <p:spPr>
          <a:xfrm>
            <a:off x="6000340" y="911889"/>
            <a:ext cx="304356" cy="2479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192426" y="2616822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127249" y="1915557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79471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0023703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0023703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531748" y="439485"/>
            <a:ext cx="548990" cy="55345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37" idx="0"/>
            <a:endCxn id="38" idx="3"/>
          </p:cNvCxnSpPr>
          <p:nvPr/>
        </p:nvCxnSpPr>
        <p:spPr>
          <a:xfrm flipV="1">
            <a:off x="5307790" y="911889"/>
            <a:ext cx="304356" cy="3610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38" idx="5"/>
            <a:endCxn id="39" idx="0"/>
          </p:cNvCxnSpPr>
          <p:nvPr/>
        </p:nvCxnSpPr>
        <p:spPr>
          <a:xfrm>
            <a:off x="6000340" y="911889"/>
            <a:ext cx="304356" cy="2479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192426" y="2616822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127249" y="1915557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864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5531748" y="439485"/>
            <a:ext cx="548990" cy="55345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37" idx="0"/>
            <a:endCxn id="38" idx="3"/>
          </p:cNvCxnSpPr>
          <p:nvPr/>
        </p:nvCxnSpPr>
        <p:spPr>
          <a:xfrm flipV="1">
            <a:off x="5307790" y="911889"/>
            <a:ext cx="304356" cy="3610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38" idx="5"/>
            <a:endCxn id="39" idx="0"/>
          </p:cNvCxnSpPr>
          <p:nvPr/>
        </p:nvCxnSpPr>
        <p:spPr>
          <a:xfrm>
            <a:off x="6000340" y="911889"/>
            <a:ext cx="304356" cy="2479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192426" y="2616822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2" name="文字方塊 81"/>
          <p:cNvSpPr txBox="1"/>
          <p:nvPr/>
        </p:nvSpPr>
        <p:spPr>
          <a:xfrm>
            <a:off x="6127249" y="1915557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03002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510966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cxnSp>
        <p:nvCxnSpPr>
          <p:cNvPr id="3" name="直線接點 2"/>
          <p:cNvCxnSpPr>
            <a:stCxn id="37" idx="7"/>
            <a:endCxn id="39" idx="3"/>
          </p:cNvCxnSpPr>
          <p:nvPr/>
        </p:nvCxnSpPr>
        <p:spPr>
          <a:xfrm flipV="1">
            <a:off x="5501887" y="3863316"/>
            <a:ext cx="608712" cy="7403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28138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510966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cxnSp>
        <p:nvCxnSpPr>
          <p:cNvPr id="3" name="直線接點 2"/>
          <p:cNvCxnSpPr>
            <a:stCxn id="37" idx="7"/>
            <a:endCxn id="39" idx="3"/>
          </p:cNvCxnSpPr>
          <p:nvPr/>
        </p:nvCxnSpPr>
        <p:spPr>
          <a:xfrm flipV="1">
            <a:off x="5501887" y="3863316"/>
            <a:ext cx="608712" cy="7403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2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70997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70997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37936" y="1046067"/>
            <a:ext cx="548990" cy="55345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4" idx="3"/>
          </p:cNvCxnSpPr>
          <p:nvPr/>
        </p:nvCxnSpPr>
        <p:spPr>
          <a:xfrm flipV="1">
            <a:off x="3508075" y="1518471"/>
            <a:ext cx="110259" cy="3737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34" idx="5"/>
            <a:endCxn id="35" idx="1"/>
          </p:cNvCxnSpPr>
          <p:nvPr/>
        </p:nvCxnSpPr>
        <p:spPr>
          <a:xfrm>
            <a:off x="4006528" y="1518471"/>
            <a:ext cx="110259" cy="477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316069" y="3011073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8" name="文字方塊 77"/>
          <p:cNvSpPr txBox="1"/>
          <p:nvPr/>
        </p:nvSpPr>
        <p:spPr>
          <a:xfrm>
            <a:off x="4047903" y="151741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510966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cxnSp>
        <p:nvCxnSpPr>
          <p:cNvPr id="3" name="直線接點 2"/>
          <p:cNvCxnSpPr>
            <a:stCxn id="37" idx="7"/>
            <a:endCxn id="39" idx="3"/>
          </p:cNvCxnSpPr>
          <p:nvPr/>
        </p:nvCxnSpPr>
        <p:spPr>
          <a:xfrm flipV="1">
            <a:off x="5501887" y="3863316"/>
            <a:ext cx="608712" cy="7403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26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70997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altLang="zh-TW" sz="1500" dirty="0" smtClean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𝐿𝑃𝐹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altLang="zh-TW" sz="150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500" b="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zh-TW" altLang="en-US" sz="1500" dirty="0"/>
                        </a:p>
                      </a:txBody>
                      <a:tcPr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1709972"/>
                  </p:ext>
                </p:extLst>
              </p:nvPr>
            </p:nvGraphicFramePr>
            <p:xfrm>
              <a:off x="108645" y="1204188"/>
              <a:ext cx="1870029" cy="5562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21846"/>
                    <a:gridCol w="948183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658" t="-1639" r="-103947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98077" t="-1639" r="-1282" b="-14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sz="1800" dirty="0" smtClean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p:sp>
        <p:nvSpPr>
          <p:cNvPr id="31" name="橢圓 30"/>
          <p:cNvSpPr/>
          <p:nvPr/>
        </p:nvSpPr>
        <p:spPr>
          <a:xfrm>
            <a:off x="2042577" y="3173640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8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2" name="橢圓 31"/>
          <p:cNvSpPr/>
          <p:nvPr/>
        </p:nvSpPr>
        <p:spPr>
          <a:xfrm>
            <a:off x="2541030" y="240408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9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3" name="橢圓 32"/>
          <p:cNvSpPr/>
          <p:nvPr/>
        </p:nvSpPr>
        <p:spPr>
          <a:xfrm>
            <a:off x="3039483" y="5174447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3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5" name="橢圓 34"/>
          <p:cNvSpPr/>
          <p:nvPr/>
        </p:nvSpPr>
        <p:spPr>
          <a:xfrm>
            <a:off x="4036389" y="191520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6" name="橢圓 35"/>
          <p:cNvSpPr/>
          <p:nvPr/>
        </p:nvSpPr>
        <p:spPr>
          <a:xfrm>
            <a:off x="4534842" y="6242765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0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033295" y="4522596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4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6030201" y="339091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7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0" name="橢圓 39"/>
          <p:cNvSpPr/>
          <p:nvPr/>
        </p:nvSpPr>
        <p:spPr>
          <a:xfrm>
            <a:off x="6528654" y="559996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2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7027107" y="1435372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11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7525560" y="3807371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6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8024013" y="5925883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>
                <a:solidFill>
                  <a:schemeClr val="tx1"/>
                </a:solidFill>
              </a:rPr>
              <a:t>1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46" name="橢圓 45"/>
          <p:cNvSpPr/>
          <p:nvPr/>
        </p:nvSpPr>
        <p:spPr>
          <a:xfrm>
            <a:off x="8522471" y="4178568"/>
            <a:ext cx="548990" cy="55345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dirty="0" smtClean="0">
                <a:solidFill>
                  <a:schemeClr val="tx1"/>
                </a:solidFill>
              </a:rPr>
              <a:t>5</a:t>
            </a:r>
            <a:endParaRPr lang="zh-TW" altLang="en-US" sz="1500" dirty="0">
              <a:solidFill>
                <a:schemeClr val="tx1"/>
              </a:solidFill>
            </a:endParaRPr>
          </a:p>
        </p:txBody>
      </p:sp>
      <p:cxnSp>
        <p:nvCxnSpPr>
          <p:cNvPr id="48" name="直線接點 47"/>
          <p:cNvCxnSpPr>
            <a:stCxn id="31" idx="7"/>
            <a:endCxn id="32" idx="3"/>
          </p:cNvCxnSpPr>
          <p:nvPr/>
        </p:nvCxnSpPr>
        <p:spPr>
          <a:xfrm flipV="1">
            <a:off x="2511169" y="2876489"/>
            <a:ext cx="110259" cy="378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32" idx="5"/>
            <a:endCxn id="33" idx="0"/>
          </p:cNvCxnSpPr>
          <p:nvPr/>
        </p:nvCxnSpPr>
        <p:spPr>
          <a:xfrm>
            <a:off x="3009622" y="2876489"/>
            <a:ext cx="304356" cy="22979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33" idx="7"/>
            <a:endCxn id="35" idx="3"/>
          </p:cNvCxnSpPr>
          <p:nvPr/>
        </p:nvCxnSpPr>
        <p:spPr>
          <a:xfrm flipV="1">
            <a:off x="3508075" y="2387606"/>
            <a:ext cx="608712" cy="286789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35" idx="4"/>
            <a:endCxn id="36" idx="1"/>
          </p:cNvCxnSpPr>
          <p:nvPr/>
        </p:nvCxnSpPr>
        <p:spPr>
          <a:xfrm>
            <a:off x="4310884" y="2468658"/>
            <a:ext cx="304356" cy="3855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36" idx="0"/>
            <a:endCxn id="37" idx="3"/>
          </p:cNvCxnSpPr>
          <p:nvPr/>
        </p:nvCxnSpPr>
        <p:spPr>
          <a:xfrm flipV="1">
            <a:off x="4809337" y="4995000"/>
            <a:ext cx="304356" cy="12477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線接點 65"/>
          <p:cNvCxnSpPr>
            <a:stCxn id="39" idx="4"/>
            <a:endCxn id="40" idx="1"/>
          </p:cNvCxnSpPr>
          <p:nvPr/>
        </p:nvCxnSpPr>
        <p:spPr>
          <a:xfrm>
            <a:off x="6304696" y="3944368"/>
            <a:ext cx="304356" cy="1736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接點 67"/>
          <p:cNvCxnSpPr>
            <a:stCxn id="40" idx="7"/>
            <a:endCxn id="41" idx="3"/>
          </p:cNvCxnSpPr>
          <p:nvPr/>
        </p:nvCxnSpPr>
        <p:spPr>
          <a:xfrm flipV="1">
            <a:off x="6997246" y="1907776"/>
            <a:ext cx="110259" cy="37732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1" idx="5"/>
            <a:endCxn id="42" idx="0"/>
          </p:cNvCxnSpPr>
          <p:nvPr/>
        </p:nvCxnSpPr>
        <p:spPr>
          <a:xfrm>
            <a:off x="7495699" y="1907776"/>
            <a:ext cx="304356" cy="18995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線接點 71"/>
          <p:cNvCxnSpPr>
            <a:stCxn id="42" idx="4"/>
            <a:endCxn id="43" idx="1"/>
          </p:cNvCxnSpPr>
          <p:nvPr/>
        </p:nvCxnSpPr>
        <p:spPr>
          <a:xfrm>
            <a:off x="7800055" y="4360827"/>
            <a:ext cx="304356" cy="1646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43" idx="7"/>
            <a:endCxn id="46" idx="4"/>
          </p:cNvCxnSpPr>
          <p:nvPr/>
        </p:nvCxnSpPr>
        <p:spPr>
          <a:xfrm flipV="1">
            <a:off x="8492605" y="4732024"/>
            <a:ext cx="304361" cy="127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333905" y="284949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76" name="文字方塊 75"/>
          <p:cNvSpPr txBox="1"/>
          <p:nvPr/>
        </p:nvSpPr>
        <p:spPr>
          <a:xfrm>
            <a:off x="2870283" y="374282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77" name="文字方塊 76"/>
          <p:cNvSpPr txBox="1"/>
          <p:nvPr/>
        </p:nvSpPr>
        <p:spPr>
          <a:xfrm>
            <a:off x="3564924" y="365996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4402133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4917931" y="5422849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1" name="文字方塊 80"/>
          <p:cNvSpPr txBox="1"/>
          <p:nvPr/>
        </p:nvSpPr>
        <p:spPr>
          <a:xfrm>
            <a:off x="5510966" y="3944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0</a:t>
            </a:r>
            <a:endParaRPr lang="zh-TW" altLang="en-US" sz="1500" dirty="0"/>
          </a:p>
        </p:txBody>
      </p:sp>
      <p:sp>
        <p:nvSpPr>
          <p:cNvPr id="83" name="文字方塊 82"/>
          <p:cNvSpPr txBox="1"/>
          <p:nvPr/>
        </p:nvSpPr>
        <p:spPr>
          <a:xfrm>
            <a:off x="6193227" y="4570441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3</a:t>
            </a:r>
            <a:endParaRPr lang="zh-TW" altLang="en-US" sz="1500" dirty="0"/>
          </a:p>
        </p:txBody>
      </p:sp>
      <p:sp>
        <p:nvSpPr>
          <p:cNvPr id="84" name="文字方塊 83"/>
          <p:cNvSpPr txBox="1"/>
          <p:nvPr/>
        </p:nvSpPr>
        <p:spPr>
          <a:xfrm>
            <a:off x="6810202" y="3450368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2</a:t>
            </a:r>
            <a:endParaRPr lang="zh-TW" altLang="en-US" sz="1500" dirty="0"/>
          </a:p>
        </p:txBody>
      </p:sp>
      <p:sp>
        <p:nvSpPr>
          <p:cNvPr id="85" name="文字方塊 84"/>
          <p:cNvSpPr txBox="1"/>
          <p:nvPr/>
        </p:nvSpPr>
        <p:spPr>
          <a:xfrm>
            <a:off x="7644460" y="269599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1</a:t>
            </a:r>
            <a:endParaRPr lang="zh-TW" altLang="en-US" sz="1500" dirty="0"/>
          </a:p>
        </p:txBody>
      </p:sp>
      <p:sp>
        <p:nvSpPr>
          <p:cNvPr id="86" name="文字方塊 85"/>
          <p:cNvSpPr txBox="1"/>
          <p:nvPr/>
        </p:nvSpPr>
        <p:spPr>
          <a:xfrm>
            <a:off x="7677738" y="4941676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/>
              <a:t>4</a:t>
            </a:r>
            <a:endParaRPr lang="zh-TW" altLang="en-US" sz="15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8691294" y="5217130"/>
            <a:ext cx="2744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00" dirty="0" smtClean="0"/>
              <a:t>2</a:t>
            </a:r>
            <a:endParaRPr lang="zh-TW" altLang="en-US" sz="1500" dirty="0"/>
          </a:p>
        </p:txBody>
      </p:sp>
      <p:cxnSp>
        <p:nvCxnSpPr>
          <p:cNvPr id="3" name="直線接點 2"/>
          <p:cNvCxnSpPr>
            <a:stCxn id="37" idx="7"/>
            <a:endCxn id="39" idx="3"/>
          </p:cNvCxnSpPr>
          <p:nvPr/>
        </p:nvCxnSpPr>
        <p:spPr>
          <a:xfrm flipV="1">
            <a:off x="5501887" y="3863316"/>
            <a:ext cx="608712" cy="74033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68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1"/>
          <p:cNvSpPr txBox="1">
            <a:spLocks/>
          </p:cNvSpPr>
          <p:nvPr/>
        </p:nvSpPr>
        <p:spPr>
          <a:xfrm>
            <a:off x="147694" y="99379"/>
            <a:ext cx="5509693" cy="462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mtClean="0"/>
              <a:t>An</a:t>
            </a:r>
            <a:r>
              <a:rPr lang="zh-TW" altLang="en-US" smtClean="0"/>
              <a:t> </a:t>
            </a:r>
            <a:r>
              <a:rPr lang="en-US" altLang="zh-TW" smtClean="0"/>
              <a:t>algorithm</a:t>
            </a:r>
            <a:r>
              <a:rPr lang="zh-TW" altLang="en-US" smtClean="0"/>
              <a:t> </a:t>
            </a:r>
            <a:r>
              <a:rPr lang="en-US" altLang="zh-TW" smtClean="0"/>
              <a:t>using</a:t>
            </a:r>
            <a:r>
              <a:rPr lang="zh-TW" altLang="en-US" smtClean="0"/>
              <a:t> </a:t>
            </a:r>
            <a:r>
              <a:rPr lang="en-US" altLang="zh-TW" smtClean="0"/>
              <a:t>LCP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147694" y="792838"/>
                <a:ext cx="8765669" cy="14987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Use a stack to store unprocessed vertices and the stack contains pairs of the from</a:t>
                </a:r>
              </a:p>
              <a:p>
                <a:r>
                  <a:rPr lang="en-US" altLang="zh-TW" dirty="0" smtClean="0"/>
                  <a:t>(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𝑙𝑒𝑛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𝑝𝑜𝑠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).</a:t>
                </a:r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𝑝𝑜𝑠</m:t>
                    </m:r>
                  </m:oMath>
                </a14:m>
                <a:r>
                  <a:rPr lang="en-US" altLang="zh-TW" dirty="0" smtClean="0"/>
                  <a:t> is a position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𝑆𝐴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altLang="zh-TW" dirty="0" smtClean="0"/>
                  <a:t> stores the longest common prefix between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𝑠𝑢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𝑝𝑜𝑠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suffix to the node right.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94" y="792838"/>
                <a:ext cx="8765669" cy="1498744"/>
              </a:xfrm>
              <a:prstGeom prst="rect">
                <a:avLst/>
              </a:prstGeom>
              <a:blipFill rotWithShape="0">
                <a:blip r:embed="rId2"/>
                <a:stretch>
                  <a:fillRect l="-556" t="-2033" b="-4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49" y="2595037"/>
            <a:ext cx="4827800" cy="41950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406502" y="4074851"/>
                <a:ext cx="3240348" cy="648069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𝐿𝑃𝐹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 is a permutation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𝐿𝐶𝑃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</a:rPr>
                  <a:t>.</a:t>
                </a:r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502" y="4074851"/>
                <a:ext cx="3240348" cy="64806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75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1"/>
          <p:cNvSpPr txBox="1">
            <a:spLocks/>
          </p:cNvSpPr>
          <p:nvPr/>
        </p:nvSpPr>
        <p:spPr>
          <a:xfrm>
            <a:off x="245349" y="303564"/>
            <a:ext cx="7646900" cy="1471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Applications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Lempel-Ziv factorization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325002" y="1870376"/>
                <a:ext cx="8614731" cy="1846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is the longest prefix </a:t>
                </a:r>
              </a:p>
              <a:p>
                <a:r>
                  <a:rPr lang="en-US" altLang="zh-TW" sz="3000" dirty="0"/>
                  <a:t> </a:t>
                </a:r>
                <a:r>
                  <a:rPr lang="en-US" altLang="zh-TW" sz="3000" dirty="0" smtClean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that has another occurrence to the left.</a:t>
                </a:r>
              </a:p>
              <a:p>
                <a:endParaRPr lang="en-US" altLang="zh-TW" sz="3000" dirty="0"/>
              </a:p>
              <a:p>
                <a:r>
                  <a:rPr lang="en-US" altLang="zh-TW" sz="3000" dirty="0" smtClean="0"/>
                  <a:t>For example, </a:t>
                </a:r>
                <a:r>
                  <a:rPr lang="en-US" altLang="zh-TW" sz="3000" dirty="0" err="1" smtClean="0"/>
                  <a:t>abbaabbbaaabab</a:t>
                </a:r>
                <a:r>
                  <a:rPr lang="en-US" altLang="zh-TW" sz="3000" dirty="0" smtClean="0"/>
                  <a:t> -&gt; </a:t>
                </a:r>
                <a:r>
                  <a:rPr lang="en-US" altLang="zh-TW" sz="3000" dirty="0" err="1" smtClean="0"/>
                  <a:t>a.b.b.a.abb.baa.ab.ab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02" y="1870376"/>
                <a:ext cx="8614731" cy="1846659"/>
              </a:xfrm>
              <a:prstGeom prst="rect">
                <a:avLst/>
              </a:prstGeom>
              <a:blipFill rotWithShape="0">
                <a:blip r:embed="rId2"/>
                <a:stretch>
                  <a:fillRect l="-2689" t="-6601" r="-2619" b="-118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l="14260" r="15201" b="19095"/>
          <a:stretch/>
        </p:blipFill>
        <p:spPr>
          <a:xfrm>
            <a:off x="126748" y="4220382"/>
            <a:ext cx="4209861" cy="19178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902452" y="4558420"/>
                <a:ext cx="33198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𝐿𝑍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=[0,1,2,3,4,7,10,12]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2452" y="4558420"/>
                <a:ext cx="3319820" cy="384721"/>
              </a:xfrm>
              <a:prstGeom prst="rect">
                <a:avLst/>
              </a:prstGeom>
              <a:blipFill rotWithShape="0">
                <a:blip r:embed="rId4"/>
                <a:stretch>
                  <a:fillRect l="-1835" t="-1587" r="-3119" b="-36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29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標題 1"/>
          <p:cNvSpPr txBox="1">
            <a:spLocks/>
          </p:cNvSpPr>
          <p:nvPr/>
        </p:nvSpPr>
        <p:spPr>
          <a:xfrm>
            <a:off x="245349" y="303564"/>
            <a:ext cx="7646900" cy="1471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Applications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Computing runs in linear time 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/>
              <p:cNvSpPr txBox="1"/>
              <p:nvPr/>
            </p:nvSpPr>
            <p:spPr>
              <a:xfrm>
                <a:off x="325002" y="1870376"/>
                <a:ext cx="8770350" cy="3863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3000" dirty="0" smtClean="0"/>
                  <a:t>is called a repetition and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3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sz="3000" dirty="0" smtClean="0"/>
                  <a:t> </a:t>
                </a:r>
                <a:r>
                  <a:rPr lang="en-US" altLang="zh-TW" sz="3000" smtClean="0"/>
                  <a:t>is </a:t>
                </a:r>
                <a:r>
                  <a:rPr lang="en-US" altLang="zh-TW" sz="3000" smtClean="0"/>
                  <a:t>an </a:t>
                </a:r>
                <a:r>
                  <a:rPr lang="en-US" altLang="zh-TW" sz="3000" dirty="0" smtClean="0"/>
                  <a:t>integer.</a:t>
                </a:r>
              </a:p>
              <a:p>
                <a:endParaRPr lang="en-US" altLang="zh-TW" sz="3000" dirty="0"/>
              </a:p>
              <a:p>
                <a:r>
                  <a:rPr lang="en-US" altLang="zh-TW" sz="3000" dirty="0" smtClean="0"/>
                  <a:t>Example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𝑎𝑎𝑏𝑎𝑏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𝑎𝑎𝑏𝑎𝑏𝑎𝑎</m:t>
                    </m:r>
                  </m:oMath>
                </a14:m>
                <a:endParaRPr lang="en-US" altLang="zh-TW" sz="3000" b="0" dirty="0" smtClean="0"/>
              </a:p>
              <a:p>
                <a:endParaRPr lang="en-US" altLang="zh-TW" sz="3000" dirty="0" smtClean="0"/>
              </a:p>
              <a:p>
                <a:r>
                  <a:rPr lang="en-US" altLang="zh-TW" sz="3000" dirty="0" smtClean="0"/>
                  <a:t>Lempel-Ziv factorization :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3000" dirty="0" smtClean="0"/>
              </a:p>
              <a:p>
                <a:endParaRPr lang="en-US" altLang="zh-TW" sz="3000" dirty="0"/>
              </a:p>
              <a:p>
                <a:r>
                  <a:rPr lang="en-US" altLang="zh-TW" sz="3000" dirty="0"/>
                  <a:t>T</a:t>
                </a:r>
                <a:r>
                  <a:rPr lang="en-US" altLang="zh-TW" sz="3000" dirty="0" smtClean="0"/>
                  <a:t>he runs of a string of length n over an integer alphabet </a:t>
                </a:r>
              </a:p>
              <a:p>
                <a:r>
                  <a:rPr lang="en-US" altLang="zh-TW" sz="3000" dirty="0"/>
                  <a:t>c</a:t>
                </a:r>
                <a:r>
                  <a:rPr lang="en-US" altLang="zh-TW" sz="3000" dirty="0" smtClean="0"/>
                  <a:t>an be computed in </a:t>
                </a:r>
                <a14:m>
                  <m:oMath xmlns:m="http://schemas.openxmlformats.org/officeDocument/2006/math"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3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3000" dirty="0" smtClean="0"/>
                  <a:t> time.</a:t>
                </a:r>
              </a:p>
            </p:txBody>
          </p:sp>
        </mc:Choice>
        <mc:Fallback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02" y="1870376"/>
                <a:ext cx="8770350" cy="3863750"/>
              </a:xfrm>
              <a:prstGeom prst="rect">
                <a:avLst/>
              </a:prstGeom>
              <a:blipFill rotWithShape="0">
                <a:blip r:embed="rId2"/>
                <a:stretch>
                  <a:fillRect l="-2641" t="-3155" r="-1737" b="-50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12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15941</TotalTime>
  <Words>1707</Words>
  <Application>Microsoft Office PowerPoint</Application>
  <PresentationFormat>如螢幕大小 (4:3)</PresentationFormat>
  <Paragraphs>1207</Paragraphs>
  <Slides>33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41" baseType="lpstr">
      <vt:lpstr>微軟正黑體</vt:lpstr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Computing Longest Previous Factor in Linear Time and Applications</vt:lpstr>
      <vt:lpstr>Abstract</vt:lpstr>
      <vt:lpstr>Longest Previous Factor (LPF)</vt:lpstr>
      <vt:lpstr>Longest Previous Factor (LPF)</vt:lpstr>
      <vt:lpstr>Suffix Array</vt:lpstr>
      <vt:lpstr>Suffix Array</vt:lpstr>
      <vt:lpstr>Longest Common Prefix (LCP)</vt:lpstr>
      <vt:lpstr>A direct algorithm for computing LPF from the suffix array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An algorithm using LCP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Bit-String Longest-Common-Subsequence Algorithm</dc:title>
  <dc:creator>YanLee</dc:creator>
  <cp:lastModifiedBy>pplab-class</cp:lastModifiedBy>
  <cp:revision>327</cp:revision>
  <dcterms:created xsi:type="dcterms:W3CDTF">2016-10-24T04:50:56Z</dcterms:created>
  <dcterms:modified xsi:type="dcterms:W3CDTF">2017-10-03T11:03:22Z</dcterms:modified>
</cp:coreProperties>
</file>