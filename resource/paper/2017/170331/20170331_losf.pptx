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5" r:id="rId10"/>
    <p:sldId id="267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88876" autoAdjust="0"/>
  </p:normalViewPr>
  <p:slideViewPr>
    <p:cSldViewPr snapToGrid="0">
      <p:cViewPr varScale="1">
        <p:scale>
          <a:sx n="75" d="100"/>
          <a:sy n="75" d="100"/>
        </p:scale>
        <p:origin x="78" y="97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791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601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1914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0188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9362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174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6115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102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2017/3/30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substrings with k mismatches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99144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Tomas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Flouri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Emanuele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Giaquinta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Kassian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Kobert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</a:p>
          <a:p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Esko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Ukkonen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fr-FR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Processing Letters</a:t>
            </a:r>
          </a:p>
          <a:p>
            <a:r>
              <a:rPr lang="fr-FR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Volume 115, Issues 6–8, June–August 2015, Pages </a:t>
            </a:r>
            <a:r>
              <a:rPr lang="fr-FR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643–647</a:t>
            </a: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Presenter: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Shou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-Fu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Date:2017/03/31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substring with k-mismatches problem is to ﬁnd, given two strings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longest substring 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the Hamming distance between 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≤ k. We introduce a practical O (nm) time and O (1) space solution for this problem, where n and m are the lengths of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respectively. This algorithm can also be used to compute the matching statistics with k-mismatches of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 (nm) time and O (m) space. Moreover, we also present a theoretical solution for the k = 1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which runs in O (n log m) time, assuming m ≤ n, and uses O (m) space, improving over the existing O (nm) time and O (m) space bound of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Babenko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Starikovskaya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[1].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substrings with k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mismatches </a:t>
            </a:r>
            <a:b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(k-LCF)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find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pair of strings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... i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m−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 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... i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− 1] such that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... i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− 1] 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... i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m−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 differ in at most k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positions and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string length m is maximized.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(i.e., |{i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≤ i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m −1 : 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= 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+(i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− i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)]}| ≤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2400" dirty="0" smtClean="0">
              <a:latin typeface="Simplified Arabic Fixed" panose="02070309020205020404" pitchFamily="49" charset="-78"/>
              <a:cs typeface="Simplified Arabic Fixed" panose="02070309020205020404" pitchFamily="49" charset="-78"/>
            </a:endParaRPr>
          </a:p>
          <a:p>
            <a:pPr>
              <a:buNone/>
            </a:pPr>
            <a:endParaRPr lang="en-US" altLang="zh-TW" sz="2400" dirty="0" smtClean="0">
              <a:latin typeface="Simplified Arabic Fixed" panose="02070309020205020404" pitchFamily="49" charset="-78"/>
              <a:cs typeface="Simplified Arabic Fixed" panose="02070309020205020404" pitchFamily="49" charset="-78"/>
            </a:endParaRPr>
          </a:p>
          <a:p>
            <a:pPr>
              <a:buNone/>
            </a:pPr>
            <a:r>
              <a:rPr lang="en-US" altLang="zh-TW" sz="2400" dirty="0" smtClean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k=2</a:t>
            </a:r>
            <a:endParaRPr lang="en-US" altLang="zh-TW" sz="2400" dirty="0">
              <a:latin typeface="Simplified Arabic Fixed" panose="02070309020205020404" pitchFamily="49" charset="-78"/>
              <a:cs typeface="Simplified Arabic Fixed" panose="02070309020205020404" pitchFamily="49" charset="-78"/>
            </a:endParaRPr>
          </a:p>
          <a:p>
            <a:pPr>
              <a:buNone/>
            </a:pPr>
            <a:r>
              <a:rPr lang="en-US" altLang="zh-TW" sz="24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S</a:t>
            </a:r>
            <a:r>
              <a:rPr lang="en-US" altLang="zh-TW" sz="2400" baseline="-250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1</a:t>
            </a:r>
            <a:r>
              <a:rPr lang="zh-TW" altLang="en-US" sz="2400" baseline="-250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 </a:t>
            </a:r>
            <a:r>
              <a:rPr lang="en-US" altLang="zh-TW" sz="24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= b </a:t>
            </a:r>
            <a:r>
              <a:rPr lang="en-US" altLang="zh-TW" sz="2400" u="sng" dirty="0">
                <a:solidFill>
                  <a:srgbClr val="FF0000"/>
                </a:solidFill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a</a:t>
            </a:r>
            <a:r>
              <a:rPr lang="en-US" altLang="zh-TW" sz="2400" u="sng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 f a </a:t>
            </a:r>
            <a:r>
              <a:rPr lang="en-US" altLang="zh-TW" sz="2400" u="sng" dirty="0">
                <a:solidFill>
                  <a:srgbClr val="FF0000"/>
                </a:solidFill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d a</a:t>
            </a:r>
            <a:r>
              <a:rPr lang="en-US" altLang="zh-TW" sz="2400" u="sng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 </a:t>
            </a:r>
          </a:p>
          <a:p>
            <a:pPr>
              <a:buNone/>
            </a:pPr>
            <a:r>
              <a:rPr lang="en-US" altLang="zh-TW" sz="24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S</a:t>
            </a:r>
            <a:r>
              <a:rPr lang="en-US" altLang="zh-TW" sz="2400" baseline="-250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2 </a:t>
            </a:r>
            <a:r>
              <a:rPr lang="en-US" altLang="zh-TW" sz="24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= </a:t>
            </a:r>
            <a:r>
              <a:rPr lang="en-US" altLang="zh-TW" sz="2400" u="sng" dirty="0">
                <a:solidFill>
                  <a:srgbClr val="FF0000"/>
                </a:solidFill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a</a:t>
            </a:r>
            <a:r>
              <a:rPr lang="en-US" altLang="zh-TW" sz="2400" u="sng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 b c </a:t>
            </a:r>
            <a:r>
              <a:rPr lang="en-US" altLang="zh-TW" sz="2400" u="sng" dirty="0">
                <a:solidFill>
                  <a:srgbClr val="FF0000"/>
                </a:solidFill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d a</a:t>
            </a:r>
            <a:r>
              <a:rPr lang="en-US" altLang="zh-TW" sz="24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 </a:t>
            </a:r>
            <a:r>
              <a:rPr lang="en-US" altLang="zh-TW" sz="2400" dirty="0" err="1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a</a:t>
            </a:r>
            <a:endParaRPr lang="en-US" altLang="zh-TW" sz="2400" dirty="0">
              <a:latin typeface="Simplified Arabic Fixed" panose="02070309020205020404" pitchFamily="49" charset="-78"/>
              <a:cs typeface="Simplified Arabic Fixed" panose="02070309020205020404" pitchFamily="49" charset="-78"/>
            </a:endParaRPr>
          </a:p>
          <a:p>
            <a:pPr>
              <a:buNone/>
            </a:pPr>
            <a:endParaRPr lang="zh-TW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9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substrings with k mismatches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47851"/>
            <a:ext cx="80772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The idea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 iterate over the φ matrix diagonal-wise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compute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a ﬁxed(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∈ {(0, 0), (0, 1), . . . , (0, m − 1)}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∪{(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0), (2, 0), . . . , (n − 1, 0)}, the values 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 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p, j + p), for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p &lt; min(n −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 − j), i.e., the diagonal starting at 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zh-TW" sz="2400" dirty="0">
              <a:latin typeface="Simplified Arabic Fixed" panose="02070309020205020404" pitchFamily="49" charset="-78"/>
              <a:cs typeface="Simplified Arabic Fixed" panose="02070309020205020404" pitchFamily="49" charset="-78"/>
            </a:endParaRPr>
          </a:p>
          <a:p>
            <a:pPr algn="ctr">
              <a:buNone/>
            </a:pPr>
            <a:r>
              <a:rPr lang="en-US" altLang="zh-TW" sz="24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k=2</a:t>
            </a:r>
          </a:p>
          <a:p>
            <a:pPr algn="ctr">
              <a:buNone/>
            </a:pPr>
            <a:r>
              <a:rPr lang="en-US" altLang="zh-TW" sz="24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S</a:t>
            </a:r>
            <a:r>
              <a:rPr lang="en-US" altLang="zh-TW" sz="2400" baseline="-250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1</a:t>
            </a:r>
            <a:r>
              <a:rPr lang="zh-TW" altLang="en-US" sz="2400" baseline="-250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 </a:t>
            </a:r>
            <a:r>
              <a:rPr lang="en-US" altLang="zh-TW" sz="24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= b a f a d a </a:t>
            </a:r>
          </a:p>
          <a:p>
            <a:pPr algn="ctr">
              <a:buNone/>
            </a:pPr>
            <a:r>
              <a:rPr lang="en-US" altLang="zh-TW" sz="24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S</a:t>
            </a:r>
            <a:r>
              <a:rPr lang="en-US" altLang="zh-TW" sz="2400" baseline="-250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2 </a:t>
            </a:r>
            <a:r>
              <a:rPr lang="en-US" altLang="zh-TW" sz="24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= a b c d a </a:t>
            </a:r>
            <a:r>
              <a:rPr lang="en-US" altLang="zh-TW" sz="2400" dirty="0" err="1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a</a:t>
            </a:r>
            <a:endParaRPr lang="en-US" altLang="zh-TW" sz="2400" dirty="0">
              <a:latin typeface="Simplified Arabic Fixed" panose="02070309020205020404" pitchFamily="49" charset="-78"/>
              <a:cs typeface="Simplified Arabic Fixed" panose="02070309020205020404" pitchFamily="49" charset="-78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324070"/>
              </p:ext>
            </p:extLst>
          </p:nvPr>
        </p:nvGraphicFramePr>
        <p:xfrm>
          <a:off x="628648" y="4867276"/>
          <a:ext cx="766445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7409"/>
                <a:gridCol w="1277409"/>
                <a:gridCol w="1277409"/>
                <a:gridCol w="1277409"/>
                <a:gridCol w="1277409"/>
                <a:gridCol w="127740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(0, 1)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(1, 2)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(2, 3)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(3, 4)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(4, 5)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queue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empty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1-&gt;2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1-&gt;2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2-&gt;4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maxlength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87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substrings with k mismatches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(nm)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queue contains at most k elements at any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43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substrings with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mismatches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Given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S, a pair of substrings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pair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S[p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=S[p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..q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 A repeated pair ((p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left-maximal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(right-maximal) if S[p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− 1]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S[p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− 1] (S[q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+ 1] ≠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S[q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+ 1]).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 c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 c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x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894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k-repeats problem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Let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∗ be the don’t care symbol,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., a symbol that matches any symbol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∑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k-repeat 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string of the form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e>
                      <m:sup>
                        <m:r>
                          <a:rPr lang="en-US" altLang="zh-TW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TW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matches more than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substring of S, where u, v ∈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∑ 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∗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k &gt; 0.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400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abcdabc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aef</a:t>
                </a:r>
                <a:r>
                  <a:rPr lang="en-US" altLang="zh-TW" sz="2400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abcgabc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2-repeats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a,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e>
                      <m:sup>
                        <m: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e>
                      <m:sup>
                        <m: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159" t="-21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151029" y="5699909"/>
            <a:ext cx="6091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Longest repeats with a block of k don’t cares</a:t>
            </a:r>
          </a:p>
          <a:p>
            <a:pPr algn="ctr">
              <a:buNone/>
            </a:pPr>
            <a:r>
              <a:rPr lang="en-US" altLang="zh-TW" sz="14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Maxime</a:t>
            </a: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Crochemore</a:t>
            </a: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Costas S. Iliopoulos, </a:t>
            </a:r>
            <a:r>
              <a:rPr lang="en-US" altLang="zh-TW" sz="14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Manal</a:t>
            </a: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Mohamed, Marie-France </a:t>
            </a:r>
            <a:r>
              <a:rPr lang="en-US" altLang="zh-TW" sz="14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Sagot</a:t>
            </a:r>
            <a:endParaRPr lang="en-US" altLang="zh-TW" sz="1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 362 (2006) 248 – 254</a:t>
            </a:r>
          </a:p>
          <a:p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8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k-repeats problem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fact, all right-maximal repeats in x are represented naturally by the suffix tree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S.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Similarly, all left-maximal repeats of x are represented by the suffix tree of </a:t>
                </a:r>
                <a14:m>
                  <m:oMath xmlns:m="http://schemas.openxmlformats.org/officeDocument/2006/math">
                    <m:acc>
                      <m:accPr>
                        <m:chr m:val="⃖"/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159" t="-1961" r="-11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52174" y="5584806"/>
            <a:ext cx="6091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Longest repeats with a block of k don’t cares</a:t>
            </a:r>
          </a:p>
          <a:p>
            <a:pPr algn="ctr">
              <a:buNone/>
            </a:pPr>
            <a:r>
              <a:rPr lang="en-US" altLang="zh-TW" sz="14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Maxime</a:t>
            </a: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Crochemore</a:t>
            </a: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Costas S. Iliopoulos, </a:t>
            </a:r>
            <a:r>
              <a:rPr lang="en-US" altLang="zh-TW" sz="14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Manal</a:t>
            </a: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Mohamed, Marie-France </a:t>
            </a:r>
            <a:r>
              <a:rPr lang="en-US" altLang="zh-TW" sz="14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Sagot</a:t>
            </a:r>
            <a:endParaRPr lang="en-US" altLang="zh-TW" sz="1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 362 (2006) 248 – 254</a:t>
            </a:r>
          </a:p>
          <a:p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15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k-repeats problem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8572"/>
            <a:ext cx="4622800" cy="286151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412" y="1114285"/>
            <a:ext cx="4627588" cy="3203715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177800" y="956231"/>
            <a:ext cx="2957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If k </a:t>
            </a:r>
            <a:r>
              <a:rPr lang="en-US" altLang="zh-TW" dirty="0"/>
              <a:t>= 1 and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gcctaxxxgcata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12700" y="4783177"/>
                <a:ext cx="8712200" cy="2086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Finally, calculate the length of the k-repeat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acc>
                      <m:accPr>
                        <m:chr m:val="⃖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TW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label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acc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label(v), which is equal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depth(u) + k + depth(v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node u in 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(</a:t>
                </a:r>
                <a14:m>
                  <m:oMath xmlns:m="http://schemas.openxmlformats.org/officeDocument/2006/math">
                    <m:acc>
                      <m:accPr>
                        <m:chr m:val="⃖"/>
                        <m:ctrlPr>
                          <a:rPr lang="en-US" altLang="zh-TW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labelled by ‘cg’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modified leaf-list of u is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LL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acc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{4, 12}. </a:t>
                </a: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node v be the lowest common ancestor of nodes 4 and 12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 (x), label(v) = ‘ta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∗ ta is a 1-repeat. Since it is the longest 1-repeat in x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length equals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" y="4783177"/>
                <a:ext cx="8712200" cy="2086020"/>
              </a:xfrm>
              <a:prstGeom prst="rect">
                <a:avLst/>
              </a:prstGeom>
              <a:blipFill rotWithShape="0">
                <a:blip r:embed="rId5"/>
                <a:stretch>
                  <a:fillRect l="-560" b="-3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324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substrings with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mismatches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idea is to reduce the 1-LCF problem to the one of 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computing the longest 1-repeats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S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modiﬁed version of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all-longest-k-repeats by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Crochemore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et al.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ﬁnd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longest k-repeats of a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=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case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runs in O (n log m) time, assuming m ≤ n, and uses O (m)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41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33891</TotalTime>
  <Words>455</Words>
  <Application>Microsoft Office PowerPoint</Application>
  <PresentationFormat>如螢幕大小 (4:3)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Simplified Arabic Fixed</vt:lpstr>
      <vt:lpstr>Times New Roman</vt:lpstr>
      <vt:lpstr>Office 佈景主題</vt:lpstr>
      <vt:lpstr>Longest common substrings with k mismatches</vt:lpstr>
      <vt:lpstr>Abstract</vt:lpstr>
      <vt:lpstr>Longest common substrings with k mismatches  (k-LCF)</vt:lpstr>
      <vt:lpstr>Longest common substrings with k mismatches</vt:lpstr>
      <vt:lpstr>Longest common substrings with k mismatches</vt:lpstr>
      <vt:lpstr>Longest common substrings with 1 mismatches</vt:lpstr>
      <vt:lpstr>The longest k-repeats problem</vt:lpstr>
      <vt:lpstr>The longest k-repeats problem</vt:lpstr>
      <vt:lpstr>The longest k-repeats problem</vt:lpstr>
      <vt:lpstr>Longest common substrings with 1 mismatches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much</cp:lastModifiedBy>
  <cp:revision>364</cp:revision>
  <dcterms:created xsi:type="dcterms:W3CDTF">2016-04-23T07:31:56Z</dcterms:created>
  <dcterms:modified xsi:type="dcterms:W3CDTF">2017-03-31T07:42:54Z</dcterms:modified>
</cp:coreProperties>
</file>