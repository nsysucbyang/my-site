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601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278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153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87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4881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6592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20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8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56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989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823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62794-ACC6-425A-B8B1-3765354439B0}" type="datetimeFigureOut">
              <a:rPr lang="zh-TW" altLang="en-US" smtClean="0"/>
              <a:t>2017/3/31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7DEC1-5A0B-4AD6-AFF6-86920A4889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81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Stock Price Prediction Using Reinforcement Learning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80237" y="3783552"/>
            <a:ext cx="11031523" cy="1655762"/>
          </a:xfrm>
        </p:spPr>
        <p:txBody>
          <a:bodyPr/>
          <a:lstStyle/>
          <a:p>
            <a:r>
              <a:rPr lang="en-US" altLang="zh-TW" dirty="0"/>
              <a:t>Jae Won Lee</a:t>
            </a:r>
          </a:p>
          <a:p>
            <a:r>
              <a:rPr lang="en-US" altLang="zh-TW" dirty="0"/>
              <a:t>Proceeding of International Society for Industrial Ecology, Leiden Netherlands, 2001.</a:t>
            </a:r>
          </a:p>
          <a:p>
            <a:r>
              <a:rPr lang="en-US" altLang="zh-TW" dirty="0"/>
              <a:t>IEEE International Symposium on, Volume 1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623731" y="5712903"/>
            <a:ext cx="2944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Presentor</a:t>
            </a:r>
            <a:r>
              <a:rPr lang="en-US" altLang="zh-TW" dirty="0"/>
              <a:t>: Shih-Jhan Huang</a:t>
            </a:r>
          </a:p>
          <a:p>
            <a:r>
              <a:rPr lang="en-US" altLang="zh-TW" dirty="0"/>
              <a:t>Date: 2017/3/31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4311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/>
              <a:t>Recently, numerous investigations for stock price prediction and portfolio management using machine learning have been trying to develop efficient mechanical trading systems. But these systems have a limitation in that they are mainly based on the supervised learning which is not so</a:t>
            </a:r>
            <a:r>
              <a:rPr lang="en-US" altLang="zh-TW" b="1" i="1" dirty="0"/>
              <a:t> </a:t>
            </a:r>
            <a:r>
              <a:rPr lang="en-US" altLang="zh-TW" dirty="0"/>
              <a:t>adequate for learning problems with long-term goals and delayed rewards. This paper proposes a method of applying reinforcement learning, suitable for modeling and learning various kinds of interactions in real situations, to the problem of stock price prediction.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6000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5639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/>
              <a:t>The stock price prediction problem is considered as Markov process which can be optimized by reinforcement learning based algorithm. TD(0), a reinforcement learning algorithm which learns only from experiences, is adopted and function approximation by artificial neural network is performed to learn the values of states each of which corresponds to a stock price trend at a given time. An experimental result based on the Korean stock market is presented to evaluate the performance of the proposed method.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6226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Reinforcement Learning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9181"/>
            <a:ext cx="6649006" cy="4351338"/>
          </a:xfrm>
        </p:spPr>
      </p:pic>
      <p:sp>
        <p:nvSpPr>
          <p:cNvPr id="6" name="文字方塊 5"/>
          <p:cNvSpPr txBox="1"/>
          <p:nvPr/>
        </p:nvSpPr>
        <p:spPr>
          <a:xfrm>
            <a:off x="7734649" y="2449800"/>
            <a:ext cx="417771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t+1 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r(</a:t>
            </a:r>
            <a:r>
              <a:rPr lang="en-US" altLang="zh-TW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TW" sz="2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t+1 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l-GR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TW" sz="2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lang="en-US" altLang="zh-TW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TW" sz="2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l-GR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5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altLang="zh-TW" sz="25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only on the current state and action, not on earlier states or actions. </a:t>
            </a:r>
          </a:p>
          <a:p>
            <a:endParaRPr lang="en-US" altLang="zh-TW" sz="2500" dirty="0"/>
          </a:p>
          <a:p>
            <a:endParaRPr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27007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907" y="2019236"/>
            <a:ext cx="3310624" cy="1269249"/>
          </a:xfr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906" y="3288485"/>
            <a:ext cx="5061167" cy="1317072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906" y="4849322"/>
            <a:ext cx="2652742" cy="729357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019" y="4849322"/>
            <a:ext cx="2157054" cy="177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38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Temporal-difference (TD) Algorithm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655" y="2575107"/>
            <a:ext cx="4200078" cy="843280"/>
          </a:xfrm>
        </p:spPr>
      </p:pic>
      <p:cxnSp>
        <p:nvCxnSpPr>
          <p:cNvPr id="7" name="直線接點 6"/>
          <p:cNvCxnSpPr/>
          <p:nvPr/>
        </p:nvCxnSpPr>
        <p:spPr>
          <a:xfrm>
            <a:off x="1434517" y="3418387"/>
            <a:ext cx="380860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群組 12"/>
          <p:cNvGrpSpPr/>
          <p:nvPr/>
        </p:nvGrpSpPr>
        <p:grpSpPr>
          <a:xfrm>
            <a:off x="6936957" y="2717720"/>
            <a:ext cx="3913639" cy="2961627"/>
            <a:chOff x="6257449" y="2575107"/>
            <a:chExt cx="3913639" cy="2961627"/>
          </a:xfrm>
        </p:grpSpPr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7449" y="2575107"/>
              <a:ext cx="3913639" cy="1500451"/>
            </a:xfrm>
            <a:prstGeom prst="rect">
              <a:avLst/>
            </a:prstGeom>
          </p:spPr>
        </p:pic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942" y="4075558"/>
              <a:ext cx="2767102" cy="1461176"/>
            </a:xfrm>
            <a:prstGeom prst="rect">
              <a:avLst/>
            </a:prstGeom>
          </p:spPr>
        </p:pic>
      </p:grpSp>
      <p:sp>
        <p:nvSpPr>
          <p:cNvPr id="12" name="文字方塊 11"/>
          <p:cNvSpPr txBox="1"/>
          <p:nvPr/>
        </p:nvSpPr>
        <p:spPr>
          <a:xfrm>
            <a:off x="678768" y="3632433"/>
            <a:ext cx="55786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0070C0"/>
                </a:solidFill>
              </a:rPr>
              <a:t>If </a:t>
            </a:r>
            <a:r>
              <a:rPr lang="el-GR" altLang="zh-TW" b="1" dirty="0">
                <a:solidFill>
                  <a:srgbClr val="0070C0"/>
                </a:solidFill>
                <a:latin typeface="Calibri" panose="020F0502020204030204" pitchFamily="34" charset="0"/>
              </a:rPr>
              <a:t>ϒ</a:t>
            </a:r>
            <a:r>
              <a:rPr lang="en-US" altLang="zh-TW" b="1" dirty="0">
                <a:solidFill>
                  <a:srgbClr val="0070C0"/>
                </a:solidFill>
              </a:rPr>
              <a:t> = 0: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only the immediate reward.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the price rate of change of the next day, is reflected to the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y close to 0 </a:t>
            </a:r>
            <a:r>
              <a:rPr lang="en-US" altLang="zh-TW" dirty="0"/>
              <a:t>is </a:t>
            </a:r>
            <a:r>
              <a:rPr lang="en-US" altLang="zh-TW" dirty="0"/>
              <a:t>suitable for short-term prediction. </a:t>
            </a:r>
          </a:p>
          <a:p>
            <a:endParaRPr lang="en-US" altLang="zh-TW" dirty="0"/>
          </a:p>
          <a:p>
            <a:r>
              <a:rPr lang="en-US" altLang="zh-TW" b="1" dirty="0">
                <a:solidFill>
                  <a:srgbClr val="0070C0"/>
                </a:solidFill>
              </a:rPr>
              <a:t>if </a:t>
            </a:r>
            <a:r>
              <a:rPr lang="el-GR" altLang="zh-TW" b="1" dirty="0">
                <a:solidFill>
                  <a:srgbClr val="0070C0"/>
                </a:solidFill>
                <a:latin typeface="Calibri" panose="020F0502020204030204" pitchFamily="34" charset="0"/>
              </a:rPr>
              <a:t>ϒ</a:t>
            </a:r>
            <a:r>
              <a:rPr lang="en-US" altLang="zh-TW" b="1" dirty="0">
                <a:solidFill>
                  <a:srgbClr val="0070C0"/>
                </a:solidFill>
              </a:rPr>
              <a:t> = 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all the rewards after the state are treated equally regardless of the temporal distance from that state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y close to 1 is suitable for long-term prediction.</a:t>
            </a:r>
          </a:p>
        </p:txBody>
      </p:sp>
    </p:spTree>
    <p:extLst>
      <p:ext uri="{BB962C8B-B14F-4D97-AF65-F5344CB8AC3E}">
        <p14:creationId xmlns:p14="http://schemas.microsoft.com/office/powerpoint/2010/main" val="37541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State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490" y="2386974"/>
            <a:ext cx="3653310" cy="2462752"/>
          </a:xfrm>
        </p:spPr>
      </p:pic>
      <p:grpSp>
        <p:nvGrpSpPr>
          <p:cNvPr id="9" name="群組 8"/>
          <p:cNvGrpSpPr/>
          <p:nvPr/>
        </p:nvGrpSpPr>
        <p:grpSpPr>
          <a:xfrm>
            <a:off x="1156212" y="3034837"/>
            <a:ext cx="5437535" cy="1167025"/>
            <a:chOff x="1407882" y="2792579"/>
            <a:chExt cx="5013492" cy="1150247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7882" y="2792579"/>
              <a:ext cx="5013492" cy="1150247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5033394" y="2792579"/>
              <a:ext cx="377505" cy="504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3066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Reward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369" y="2865805"/>
            <a:ext cx="3396461" cy="1001520"/>
          </a:xfr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593" y="1690688"/>
            <a:ext cx="3619888" cy="397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33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182" y="1690688"/>
            <a:ext cx="5067280" cy="4351338"/>
          </a:xfr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43" y="2494226"/>
            <a:ext cx="5130356" cy="2744261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4194495" y="4974672"/>
            <a:ext cx="864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3981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344</Words>
  <Application>Microsoft Office PowerPoint</Application>
  <PresentationFormat>寬螢幕</PresentationFormat>
  <Paragraphs>28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新細明體</vt:lpstr>
      <vt:lpstr>Arial</vt:lpstr>
      <vt:lpstr>Calibri</vt:lpstr>
      <vt:lpstr>Calibri Light</vt:lpstr>
      <vt:lpstr>Times New Roman</vt:lpstr>
      <vt:lpstr>Office 佈景主題</vt:lpstr>
      <vt:lpstr>Stock Price Prediction Using Reinforcement Learning</vt:lpstr>
      <vt:lpstr>Abstract(1/2)</vt:lpstr>
      <vt:lpstr>Abstract(2/2)</vt:lpstr>
      <vt:lpstr>Reinforcement Learning</vt:lpstr>
      <vt:lpstr>PowerPoint 簡報</vt:lpstr>
      <vt:lpstr>Temporal-difference (TD) Algorithm</vt:lpstr>
      <vt:lpstr>State</vt:lpstr>
      <vt:lpstr>Reward</vt:lpstr>
      <vt:lpstr>Experimental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Price Prediction Using Reinforcement Learning</dc:title>
  <dc:creator>jhan</dc:creator>
  <cp:lastModifiedBy>jhan</cp:lastModifiedBy>
  <cp:revision>23</cp:revision>
  <dcterms:created xsi:type="dcterms:W3CDTF">2017-03-31T09:49:00Z</dcterms:created>
  <dcterms:modified xsi:type="dcterms:W3CDTF">2017-03-31T11:40:21Z</dcterms:modified>
</cp:coreProperties>
</file>