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46"/>
  </p:normalViewPr>
  <p:slideViewPr>
    <p:cSldViewPr snapToGrid="0" snapToObjects="1">
      <p:cViewPr varScale="1">
        <p:scale>
          <a:sx n="70" d="100"/>
          <a:sy n="70" d="100"/>
        </p:scale>
        <p:origin x="27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699938-FDE4-4F3D-8713-59CAB06C0FEC}" type="datetimeFigureOut">
              <a:rPr lang="zh-TW" altLang="en-US" smtClean="0"/>
              <a:t>2017/11/7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F9432B-8711-43AF-BAF5-C211020540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6139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9432B-8711-43AF-BAF5-C211020540ED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8189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 smtClean="0"/>
              <a:t>按一下以編輯母片副標題樣式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FC974-0254-F043-95EE-F434973562BD}" type="datetimeFigureOut">
              <a:rPr kumimoji="1" lang="zh-TW" altLang="en-US" smtClean="0"/>
              <a:t>2017/11/7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554CF-F451-E34B-8C46-D3049751D3E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2430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FC974-0254-F043-95EE-F434973562BD}" type="datetimeFigureOut">
              <a:rPr kumimoji="1" lang="zh-TW" altLang="en-US" smtClean="0"/>
              <a:t>2017/11/7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554CF-F451-E34B-8C46-D3049751D3E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80628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FC974-0254-F043-95EE-F434973562BD}" type="datetimeFigureOut">
              <a:rPr kumimoji="1" lang="zh-TW" altLang="en-US" smtClean="0"/>
              <a:t>2017/11/7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554CF-F451-E34B-8C46-D3049751D3E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67051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FC974-0254-F043-95EE-F434973562BD}" type="datetimeFigureOut">
              <a:rPr kumimoji="1" lang="zh-TW" altLang="en-US" smtClean="0"/>
              <a:t>2017/11/7</a:t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554CF-F451-E34B-8C46-D3049751D3E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2842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FC974-0254-F043-95EE-F434973562BD}" type="datetimeFigureOut">
              <a:rPr kumimoji="1" lang="zh-TW" altLang="en-US" smtClean="0"/>
              <a:t>2017/11/7</a:t>
            </a:fld>
            <a:endParaRPr kumimoji="1"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554CF-F451-E34B-8C46-D3049751D3E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23820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FC974-0254-F043-95EE-F434973562BD}" type="datetimeFigureOut">
              <a:rPr kumimoji="1" lang="zh-TW" altLang="en-US" smtClean="0"/>
              <a:t>2017/11/7</a:t>
            </a:fld>
            <a:endParaRPr kumimoji="1"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554CF-F451-E34B-8C46-D3049751D3E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33791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FC974-0254-F043-95EE-F434973562BD}" type="datetimeFigureOut">
              <a:rPr kumimoji="1" lang="zh-TW" altLang="en-US" smtClean="0"/>
              <a:t>2017/11/7</a:t>
            </a:fld>
            <a:endParaRPr kumimoji="1"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554CF-F451-E34B-8C46-D3049751D3E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06029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FC974-0254-F043-95EE-F434973562BD}" type="datetimeFigureOut">
              <a:rPr kumimoji="1" lang="zh-TW" altLang="en-US" smtClean="0"/>
              <a:t>2017/11/7</a:t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554CF-F451-E34B-8C46-D3049751D3E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01692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FC974-0254-F043-95EE-F434973562BD}" type="datetimeFigureOut">
              <a:rPr kumimoji="1" lang="zh-TW" altLang="en-US" smtClean="0"/>
              <a:t>2017/11/7</a:t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554CF-F451-E34B-8C46-D3049751D3E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07412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FC974-0254-F043-95EE-F434973562BD}" type="datetimeFigureOut">
              <a:rPr kumimoji="1" lang="zh-TW" altLang="en-US" smtClean="0"/>
              <a:t>2017/11/7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554CF-F451-E34B-8C46-D3049751D3E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7484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FC974-0254-F043-95EE-F434973562BD}" type="datetimeFigureOut">
              <a:rPr kumimoji="1" lang="zh-TW" altLang="en-US" smtClean="0"/>
              <a:t>2017/11/7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554CF-F451-E34B-8C46-D3049751D3E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36928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EFC974-0254-F043-95EE-F434973562BD}" type="datetimeFigureOut">
              <a:rPr kumimoji="1" lang="zh-TW" altLang="en-US" smtClean="0"/>
              <a:t>2017/11/7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554CF-F451-E34B-8C46-D3049751D3E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79942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zh.wikipedia.org/wiki/%E8%B6%B3%E7%90%83" TargetMode="External"/><Relationship Id="rId3" Type="http://schemas.openxmlformats.org/officeDocument/2006/relationships/hyperlink" Target="https://zh.wikipedia.org/wiki/%E5%8C%88%E7%89%99%E5%88%A9" TargetMode="External"/><Relationship Id="rId7" Type="http://schemas.openxmlformats.org/officeDocument/2006/relationships/hyperlink" Target="https://zh.wikipedia.org/wiki/%E5%9B%B4%E6%A3%8B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zh.wikipedia.org/wiki/%E5%9B%BD%E9%99%85%E8%B1%A1%E6%A3%8B" TargetMode="External"/><Relationship Id="rId11" Type="http://schemas.openxmlformats.org/officeDocument/2006/relationships/hyperlink" Target="https://zh.wikipedia.org/wiki/%E9%AD%94%E5%85%BD%E4%B8%96%E7%95%8C" TargetMode="External"/><Relationship Id="rId5" Type="http://schemas.openxmlformats.org/officeDocument/2006/relationships/hyperlink" Target="https://zh.wikipedia.org/wiki/%E7%89%A9%E7%90%86%E5%AD%A6%E5%AE%B6" TargetMode="External"/><Relationship Id="rId10" Type="http://schemas.openxmlformats.org/officeDocument/2006/relationships/hyperlink" Target="https://zh.wikipedia.org/wiki/%E8%8B%B1%E9%9B%84%E8%81%AF%E7%9B%9F" TargetMode="External"/><Relationship Id="rId4" Type="http://schemas.openxmlformats.org/officeDocument/2006/relationships/hyperlink" Target="https://zh.wikipedia.org/wiki/%E7%BE%8E%E5%9B%BD" TargetMode="External"/><Relationship Id="rId9" Type="http://schemas.openxmlformats.org/officeDocument/2006/relationships/hyperlink" Target="https://zh.wikipedia.org/wiki/%E7%AF%AE%E7%90%83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/>
              <a:t>Mastering the game of Go without human knowledge </a:t>
            </a:r>
            <a:endParaRPr kumimoji="1"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David </a:t>
            </a:r>
            <a:r>
              <a:rPr lang="en-US" altLang="zh-TW" dirty="0" smtClean="0"/>
              <a:t>Silver, </a:t>
            </a:r>
            <a:r>
              <a:rPr lang="en-US" altLang="zh-TW" dirty="0"/>
              <a:t>Julian </a:t>
            </a:r>
            <a:r>
              <a:rPr lang="en-US" altLang="zh-TW" dirty="0" err="1" smtClean="0"/>
              <a:t>Schrittwieser</a:t>
            </a:r>
            <a:r>
              <a:rPr lang="en-US" altLang="zh-TW" dirty="0" smtClean="0"/>
              <a:t>, </a:t>
            </a:r>
            <a:r>
              <a:rPr lang="en-US" altLang="zh-TW" dirty="0"/>
              <a:t>Karen </a:t>
            </a:r>
            <a:r>
              <a:rPr lang="en-US" altLang="zh-TW" dirty="0" err="1" smtClean="0"/>
              <a:t>Simonyan</a:t>
            </a:r>
            <a:r>
              <a:rPr lang="en-US" altLang="zh-TW" dirty="0" smtClean="0"/>
              <a:t>, </a:t>
            </a:r>
            <a:r>
              <a:rPr lang="en-US" altLang="zh-TW" dirty="0" err="1"/>
              <a:t>ioannis</a:t>
            </a:r>
            <a:r>
              <a:rPr lang="en-US" altLang="zh-TW" dirty="0"/>
              <a:t> </a:t>
            </a:r>
            <a:r>
              <a:rPr lang="en-US" altLang="zh-TW" dirty="0" err="1" smtClean="0"/>
              <a:t>Antonoglou</a:t>
            </a:r>
            <a:r>
              <a:rPr lang="en-US" altLang="zh-TW" dirty="0" smtClean="0"/>
              <a:t>, </a:t>
            </a:r>
            <a:r>
              <a:rPr lang="en-US" altLang="zh-TW" dirty="0"/>
              <a:t>Aja </a:t>
            </a:r>
            <a:r>
              <a:rPr lang="en-US" altLang="zh-TW" dirty="0" smtClean="0"/>
              <a:t>Huang, </a:t>
            </a:r>
            <a:r>
              <a:rPr lang="en-US" altLang="zh-TW" dirty="0"/>
              <a:t>Arthur </a:t>
            </a:r>
            <a:r>
              <a:rPr lang="en-US" altLang="zh-TW" dirty="0" err="1" smtClean="0"/>
              <a:t>Guez</a:t>
            </a:r>
            <a:r>
              <a:rPr lang="en-US" altLang="zh-TW" dirty="0" smtClean="0"/>
              <a:t>,</a:t>
            </a:r>
            <a:r>
              <a:rPr lang="en-US" altLang="zh-TW" dirty="0"/>
              <a:t> </a:t>
            </a:r>
            <a:r>
              <a:rPr lang="en-US" altLang="zh-TW" dirty="0" smtClean="0"/>
              <a:t>Thomas Hubert, </a:t>
            </a:r>
            <a:r>
              <a:rPr lang="en-US" altLang="zh-TW" dirty="0"/>
              <a:t>Lucas </a:t>
            </a:r>
            <a:r>
              <a:rPr lang="en-US" altLang="zh-TW" dirty="0" smtClean="0"/>
              <a:t>baker, </a:t>
            </a:r>
            <a:r>
              <a:rPr lang="en-US" altLang="zh-TW" dirty="0"/>
              <a:t>Matthew </a:t>
            </a:r>
            <a:r>
              <a:rPr lang="en-US" altLang="zh-TW" dirty="0" smtClean="0"/>
              <a:t>Lai, </a:t>
            </a:r>
            <a:r>
              <a:rPr lang="en-US" altLang="zh-TW" dirty="0"/>
              <a:t>Adrian </a:t>
            </a:r>
            <a:r>
              <a:rPr lang="en-US" altLang="zh-TW" dirty="0" err="1" smtClean="0"/>
              <a:t>bolton</a:t>
            </a:r>
            <a:r>
              <a:rPr lang="en-US" altLang="zh-TW" dirty="0" smtClean="0"/>
              <a:t>, </a:t>
            </a:r>
            <a:r>
              <a:rPr lang="en-US" altLang="zh-TW" dirty="0" err="1"/>
              <a:t>Yutian</a:t>
            </a:r>
            <a:r>
              <a:rPr lang="en-US" altLang="zh-TW" dirty="0"/>
              <a:t> </a:t>
            </a:r>
            <a:r>
              <a:rPr lang="en-US" altLang="zh-TW" dirty="0" err="1" smtClean="0"/>
              <a:t>chen</a:t>
            </a:r>
            <a:r>
              <a:rPr lang="en-US" altLang="zh-TW" dirty="0" smtClean="0"/>
              <a:t>, </a:t>
            </a:r>
            <a:r>
              <a:rPr lang="en-US" altLang="zh-TW" dirty="0"/>
              <a:t>Timothy </a:t>
            </a:r>
            <a:r>
              <a:rPr lang="en-US" altLang="zh-TW" dirty="0" err="1" smtClean="0"/>
              <a:t>Lillicrap</a:t>
            </a:r>
            <a:r>
              <a:rPr lang="en-US" altLang="zh-TW" dirty="0" smtClean="0"/>
              <a:t>, </a:t>
            </a:r>
            <a:r>
              <a:rPr lang="en-US" altLang="zh-TW" dirty="0"/>
              <a:t>Fan </a:t>
            </a:r>
            <a:r>
              <a:rPr lang="en-US" altLang="zh-TW" dirty="0" smtClean="0"/>
              <a:t>Hui, </a:t>
            </a:r>
            <a:r>
              <a:rPr lang="en-US" altLang="zh-TW" dirty="0"/>
              <a:t>Laurent </a:t>
            </a:r>
            <a:r>
              <a:rPr lang="en-US" altLang="zh-TW" dirty="0" err="1" smtClean="0"/>
              <a:t>Sifre</a:t>
            </a:r>
            <a:r>
              <a:rPr lang="en-US" altLang="zh-TW" dirty="0" smtClean="0"/>
              <a:t>, </a:t>
            </a:r>
            <a:r>
              <a:rPr lang="en-US" altLang="zh-TW" dirty="0"/>
              <a:t>George van den </a:t>
            </a:r>
            <a:r>
              <a:rPr lang="en-US" altLang="zh-TW" dirty="0" err="1" smtClean="0"/>
              <a:t>Driessche</a:t>
            </a:r>
            <a:r>
              <a:rPr lang="en-US" altLang="zh-TW" dirty="0" smtClean="0"/>
              <a:t>, </a:t>
            </a:r>
            <a:r>
              <a:rPr lang="en-US" altLang="zh-TW" dirty="0" err="1"/>
              <a:t>Thore</a:t>
            </a:r>
            <a:r>
              <a:rPr lang="en-US" altLang="zh-TW" dirty="0"/>
              <a:t> </a:t>
            </a:r>
            <a:r>
              <a:rPr lang="en-US" altLang="zh-TW" dirty="0" smtClean="0"/>
              <a:t>Graepel </a:t>
            </a:r>
            <a:r>
              <a:rPr lang="en-US" altLang="zh-TW" dirty="0"/>
              <a:t>&amp; </a:t>
            </a:r>
            <a:r>
              <a:rPr lang="en-US" altLang="zh-TW" dirty="0" err="1"/>
              <a:t>Demis</a:t>
            </a:r>
            <a:r>
              <a:rPr lang="en-US" altLang="zh-TW" dirty="0"/>
              <a:t> </a:t>
            </a:r>
            <a:r>
              <a:rPr lang="en-US" altLang="zh-TW" dirty="0" smtClean="0"/>
              <a:t>Hassabis</a:t>
            </a:r>
          </a:p>
          <a:p>
            <a:r>
              <a:rPr lang="is-IS" altLang="zh-TW" dirty="0"/>
              <a:t>Nature 550, 354–359 (19 October 2017)</a:t>
            </a:r>
            <a:endParaRPr lang="en-US" altLang="zh-TW" dirty="0" smtClean="0"/>
          </a:p>
          <a:p>
            <a:endParaRPr kumimoji="1"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7620000" y="5838589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indent="457200">
              <a:defRPr sz="3200"/>
            </a:pPr>
            <a:r>
              <a:rPr lang="de-DE" altLang="zh-TW" sz="2400" dirty="0" err="1"/>
              <a:t>Presenter</a:t>
            </a:r>
            <a:r>
              <a:rPr lang="zh-TW" altLang="de-DE" sz="2400" dirty="0">
                <a:latin typeface="微軟正黑體"/>
                <a:ea typeface="微軟正黑體"/>
                <a:cs typeface="微軟正黑體"/>
                <a:sym typeface="微軟正黑體"/>
              </a:rPr>
              <a:t>：</a:t>
            </a:r>
            <a:r>
              <a:rPr lang="de-DE" altLang="zh-TW" sz="2400" dirty="0" err="1">
                <a:sym typeface="微軟正黑體"/>
              </a:rPr>
              <a:t>Jia</a:t>
            </a:r>
            <a:r>
              <a:rPr lang="de-DE" altLang="zh-TW" sz="2400" dirty="0"/>
              <a:t>-Hong Liu</a:t>
            </a:r>
            <a:endParaRPr lang="de-DE" altLang="zh-TW" sz="2400" dirty="0">
              <a:latin typeface="Liberation Sans Narrow"/>
              <a:ea typeface="Liberation Sans Narrow"/>
              <a:cs typeface="Liberation Sans Narrow"/>
              <a:sym typeface="Liberation Sans Narrow"/>
            </a:endParaRPr>
          </a:p>
          <a:p>
            <a:pPr lvl="1" indent="457200">
              <a:defRPr sz="3200"/>
            </a:pPr>
            <a:r>
              <a:rPr lang="de-DE" altLang="zh-TW" sz="2400" dirty="0"/>
              <a:t>Date</a:t>
            </a:r>
            <a:r>
              <a:rPr lang="zh-TW" altLang="de-DE" sz="2400" dirty="0">
                <a:latin typeface="微軟正黑體"/>
                <a:ea typeface="微軟正黑體"/>
                <a:cs typeface="微軟正黑體"/>
                <a:sym typeface="微軟正黑體"/>
              </a:rPr>
              <a:t>：</a:t>
            </a:r>
            <a:r>
              <a:rPr lang="en-US" altLang="zh-TW" sz="2400" dirty="0" smtClean="0"/>
              <a:t>2017/11/7</a:t>
            </a:r>
            <a:endParaRPr lang="de-DE" altLang="zh-TW" sz="2400" dirty="0"/>
          </a:p>
        </p:txBody>
      </p:sp>
    </p:spTree>
    <p:extLst>
      <p:ext uri="{BB962C8B-B14F-4D97-AF65-F5344CB8AC3E}">
        <p14:creationId xmlns:p14="http://schemas.microsoft.com/office/powerpoint/2010/main" val="246106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/>
              <a:t>Abstract(1/3)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4000" b="1" dirty="0"/>
              <a:t>A long-standing goal of artificial intelligence is an algorithm that learns, </a:t>
            </a:r>
            <a:r>
              <a:rPr lang="en-US" altLang="zh-TW" sz="4000" b="1" i="1" dirty="0"/>
              <a:t>tabula rasa</a:t>
            </a:r>
            <a:r>
              <a:rPr lang="en-US" altLang="zh-TW" sz="4000" b="1" dirty="0"/>
              <a:t>, superhuman proficiency in challenging domains. Recently, </a:t>
            </a:r>
            <a:r>
              <a:rPr lang="en-US" altLang="zh-TW" sz="4000" b="1" dirty="0" err="1"/>
              <a:t>AlphaGo</a:t>
            </a:r>
            <a:r>
              <a:rPr lang="en-US" altLang="zh-TW" sz="4000" b="1" dirty="0"/>
              <a:t> became the first program to defeat a world champion in the game of Go. The tree search in </a:t>
            </a:r>
            <a:r>
              <a:rPr lang="en-US" altLang="zh-TW" sz="4000" b="1" dirty="0" err="1"/>
              <a:t>AlphaGo</a:t>
            </a:r>
            <a:r>
              <a:rPr lang="en-US" altLang="zh-TW" sz="4000" b="1" dirty="0"/>
              <a:t> evaluated positions and selected moves using deep neural networks. </a:t>
            </a:r>
            <a:endParaRPr kumimoji="1" lang="zh-TW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472452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/>
              <a:t>Abstract(2/3</a:t>
            </a:r>
            <a:r>
              <a:rPr lang="en-US" altLang="zh-TW" dirty="0"/>
              <a:t>)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3600" b="1" dirty="0" smtClean="0"/>
              <a:t>These neural networks were trained by supervised learning from human expert moves, and by reinforcement learning from self-play. Here we introduce an algorithm based solely on reinforcement learning, without human data, guidance or domain knowledge beyond game rules. </a:t>
            </a:r>
            <a:r>
              <a:rPr lang="en-US" altLang="zh-TW" sz="3600" b="1" dirty="0" err="1" smtClean="0"/>
              <a:t>AlphaGo</a:t>
            </a:r>
            <a:r>
              <a:rPr lang="en-US" altLang="zh-TW" sz="3600" b="1" dirty="0" smtClean="0"/>
              <a:t> becomes its own teacher: a neural network is trained to predict </a:t>
            </a:r>
            <a:r>
              <a:rPr lang="en-US" altLang="zh-TW" sz="3600" b="1" dirty="0" err="1" smtClean="0"/>
              <a:t>AlphaGo’s</a:t>
            </a:r>
            <a:r>
              <a:rPr lang="en-US" altLang="zh-TW" sz="3600" b="1" dirty="0" smtClean="0"/>
              <a:t> own move selections and also the winner of </a:t>
            </a:r>
            <a:r>
              <a:rPr lang="en-US" altLang="zh-TW" sz="3600" b="1" dirty="0" err="1" smtClean="0"/>
              <a:t>AlphaGo’s</a:t>
            </a:r>
            <a:r>
              <a:rPr lang="en-US" altLang="zh-TW" sz="3600" b="1" dirty="0" smtClean="0"/>
              <a:t> games. </a:t>
            </a:r>
            <a:endParaRPr kumimoji="1"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055775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/>
              <a:t>Abstract(3/3</a:t>
            </a:r>
            <a:r>
              <a:rPr lang="en-US" altLang="zh-TW" dirty="0"/>
              <a:t>)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sz="3600" b="1" dirty="0" smtClean="0"/>
              <a:t>This neural network improves the strength of the tree search, resulting in higher quality move selection and stronger self-play in the next iteration. Starting </a:t>
            </a:r>
            <a:r>
              <a:rPr lang="en-US" altLang="zh-TW" sz="3600" b="1" i="1" dirty="0" smtClean="0"/>
              <a:t>tabula rasa</a:t>
            </a:r>
            <a:r>
              <a:rPr lang="en-US" altLang="zh-TW" sz="3600" b="1" dirty="0" smtClean="0"/>
              <a:t>, our new program </a:t>
            </a:r>
            <a:r>
              <a:rPr lang="en-US" altLang="zh-TW" sz="3600" b="1" dirty="0" err="1" smtClean="0"/>
              <a:t>AlphaGo</a:t>
            </a:r>
            <a:r>
              <a:rPr lang="en-US" altLang="zh-TW" sz="3600" b="1" dirty="0" smtClean="0"/>
              <a:t> Zero achieved superhuman performance, winning 100–0 against the previously published, champion-defeating </a:t>
            </a:r>
            <a:r>
              <a:rPr lang="en-US" altLang="zh-TW" sz="3600" b="1" dirty="0" err="1" smtClean="0"/>
              <a:t>AlphaGo</a:t>
            </a:r>
            <a:r>
              <a:rPr lang="en-US" altLang="zh-TW" sz="3600" b="1" dirty="0" smtClean="0"/>
              <a:t>. </a:t>
            </a:r>
            <a:endParaRPr lang="en-US" altLang="zh-TW" sz="3600" dirty="0" smtClean="0">
              <a:effectLst/>
            </a:endParaRP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52734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TW" dirty="0" smtClean="0"/>
              <a:t>Residual Neural Network</a:t>
            </a:r>
            <a:endParaRPr kumimoji="1"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6980" y="3959887"/>
            <a:ext cx="4508500" cy="248920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8976" y="1502040"/>
            <a:ext cx="1874823" cy="4915694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7038" y="2512663"/>
            <a:ext cx="1943100" cy="342900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7038" y="3021922"/>
            <a:ext cx="584200" cy="330200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2188" y="3021922"/>
            <a:ext cx="406400" cy="292100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06038" y="3021922"/>
            <a:ext cx="965200" cy="330200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4238" y="1953234"/>
            <a:ext cx="6223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853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Monte Carlo tree </a:t>
            </a:r>
            <a:r>
              <a:rPr lang="en-US" altLang="zh-TW" dirty="0" smtClean="0"/>
              <a:t>search</a:t>
            </a:r>
            <a:r>
              <a:rPr lang="en-US" altLang="zh-TW" b="1" dirty="0" smtClean="0"/>
              <a:t> </a:t>
            </a:r>
            <a:r>
              <a:rPr lang="en-US" altLang="zh-TW" dirty="0"/>
              <a:t>in</a:t>
            </a:r>
            <a:r>
              <a:rPr lang="en-US" altLang="zh-TW" b="1" dirty="0"/>
              <a:t> </a:t>
            </a:r>
            <a:r>
              <a:rPr lang="en-US" altLang="zh-TW" dirty="0" err="1"/>
              <a:t>AlphaGo</a:t>
            </a:r>
            <a:r>
              <a:rPr lang="en-US" altLang="zh-TW" dirty="0"/>
              <a:t> Zero </a:t>
            </a:r>
            <a:endParaRPr kumimoji="1"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5432" y="2227581"/>
            <a:ext cx="10515600" cy="2942637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6280439"/>
            <a:ext cx="2804049" cy="509827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2248" y="6359883"/>
            <a:ext cx="1967466" cy="430383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732" y="5669011"/>
            <a:ext cx="5016500" cy="457200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6717" y="5707111"/>
            <a:ext cx="4781550" cy="427618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731" y="5144409"/>
            <a:ext cx="2945355" cy="370374"/>
          </a:xfrm>
          <a:prstGeom prst="rect">
            <a:avLst/>
          </a:prstGeom>
        </p:spPr>
      </p:pic>
      <p:pic>
        <p:nvPicPr>
          <p:cNvPr id="15" name="圖片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50807" y="1623916"/>
            <a:ext cx="1689647" cy="404046"/>
          </a:xfrm>
          <a:prstGeom prst="rect">
            <a:avLst/>
          </a:prstGeom>
        </p:spPr>
      </p:pic>
      <p:pic>
        <p:nvPicPr>
          <p:cNvPr id="16" name="圖片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58986" y="1550931"/>
            <a:ext cx="5316195" cy="46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690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8391" y="6137323"/>
            <a:ext cx="7264400" cy="58420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8457" y="121408"/>
            <a:ext cx="6553200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57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4684" y="733804"/>
            <a:ext cx="8727540" cy="4351338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171433" y="5360457"/>
            <a:ext cx="987643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rgbClr val="222222"/>
                </a:solidFill>
                <a:latin typeface="Arial" charset="0"/>
              </a:rPr>
              <a:t>ELO</a:t>
            </a:r>
            <a:r>
              <a:rPr lang="zh-TW" altLang="en-US" b="1" dirty="0">
                <a:solidFill>
                  <a:srgbClr val="222222"/>
                </a:solidFill>
                <a:latin typeface="Arial" charset="0"/>
              </a:rPr>
              <a:t>等級分制度</a:t>
            </a:r>
            <a:r>
              <a:rPr lang="zh-TW" altLang="en-US" dirty="0">
                <a:solidFill>
                  <a:srgbClr val="222222"/>
                </a:solidFill>
                <a:latin typeface="Arial" charset="0"/>
              </a:rPr>
              <a:t>是指由</a:t>
            </a:r>
            <a:r>
              <a:rPr lang="zh-TW" altLang="en-US" dirty="0">
                <a:solidFill>
                  <a:srgbClr val="0B0080"/>
                </a:solidFill>
                <a:latin typeface="Arial" charset="0"/>
                <a:hlinkClick r:id="rId3" tooltip="匈牙利"/>
              </a:rPr>
              <a:t>匈牙利</a:t>
            </a:r>
            <a:r>
              <a:rPr lang="zh-TW" altLang="en-US" dirty="0">
                <a:solidFill>
                  <a:srgbClr val="222222"/>
                </a:solidFill>
                <a:latin typeface="Arial" charset="0"/>
              </a:rPr>
              <a:t>裔</a:t>
            </a:r>
            <a:r>
              <a:rPr lang="zh-TW" altLang="en-US" dirty="0">
                <a:solidFill>
                  <a:srgbClr val="0B0080"/>
                </a:solidFill>
                <a:latin typeface="Arial" charset="0"/>
                <a:hlinkClick r:id="rId4" tooltip="美國"/>
              </a:rPr>
              <a:t>美國</a:t>
            </a:r>
            <a:r>
              <a:rPr lang="zh-TW" altLang="en-US" dirty="0">
                <a:solidFill>
                  <a:srgbClr val="0B0080"/>
                </a:solidFill>
                <a:latin typeface="Arial" charset="0"/>
                <a:hlinkClick r:id="rId5" tooltip="物理學家"/>
              </a:rPr>
              <a:t>物理學家</a:t>
            </a:r>
            <a:r>
              <a:rPr lang="en-US" altLang="zh-TW" dirty="0">
                <a:solidFill>
                  <a:srgbClr val="222222"/>
                </a:solidFill>
                <a:latin typeface="Arial" charset="0"/>
              </a:rPr>
              <a:t>Arpad </a:t>
            </a:r>
            <a:r>
              <a:rPr lang="en-US" altLang="zh-TW" dirty="0" err="1">
                <a:solidFill>
                  <a:srgbClr val="222222"/>
                </a:solidFill>
                <a:latin typeface="Arial" charset="0"/>
              </a:rPr>
              <a:t>Elo</a:t>
            </a:r>
            <a:r>
              <a:rPr lang="zh-TW" altLang="en-US" dirty="0">
                <a:solidFill>
                  <a:srgbClr val="222222"/>
                </a:solidFill>
                <a:latin typeface="Arial" charset="0"/>
              </a:rPr>
              <a:t>創建的一個衡量各類對弈活動水準的評價方法，是當今對弈水準評估的公認的權威方法。被廣泛用於</a:t>
            </a:r>
            <a:r>
              <a:rPr lang="zh-TW" altLang="en-US" dirty="0">
                <a:solidFill>
                  <a:srgbClr val="0B0080"/>
                </a:solidFill>
                <a:latin typeface="Arial" charset="0"/>
                <a:hlinkClick r:id="rId6" tooltip="西洋棋"/>
              </a:rPr>
              <a:t>西洋棋</a:t>
            </a:r>
            <a:r>
              <a:rPr lang="zh-TW" altLang="en-US" dirty="0">
                <a:solidFill>
                  <a:srgbClr val="222222"/>
                </a:solidFill>
                <a:latin typeface="Arial" charset="0"/>
              </a:rPr>
              <a:t>、</a:t>
            </a:r>
            <a:r>
              <a:rPr lang="zh-TW" altLang="en-US" dirty="0">
                <a:solidFill>
                  <a:srgbClr val="0B0080"/>
                </a:solidFill>
                <a:latin typeface="Arial" charset="0"/>
                <a:hlinkClick r:id="rId7" tooltip="圍棋"/>
              </a:rPr>
              <a:t>圍棋</a:t>
            </a:r>
            <a:r>
              <a:rPr lang="zh-TW" altLang="en-US" dirty="0">
                <a:solidFill>
                  <a:srgbClr val="222222"/>
                </a:solidFill>
                <a:latin typeface="Arial" charset="0"/>
              </a:rPr>
              <a:t>、</a:t>
            </a:r>
            <a:r>
              <a:rPr lang="zh-TW" altLang="en-US" dirty="0">
                <a:solidFill>
                  <a:srgbClr val="0B0080"/>
                </a:solidFill>
                <a:latin typeface="Arial" charset="0"/>
                <a:hlinkClick r:id="rId8" tooltip="足球"/>
              </a:rPr>
              <a:t>足球</a:t>
            </a:r>
            <a:r>
              <a:rPr lang="zh-TW" altLang="en-US" dirty="0">
                <a:solidFill>
                  <a:srgbClr val="222222"/>
                </a:solidFill>
                <a:latin typeface="Arial" charset="0"/>
              </a:rPr>
              <a:t>、</a:t>
            </a:r>
            <a:r>
              <a:rPr lang="zh-TW" altLang="en-US" dirty="0">
                <a:solidFill>
                  <a:srgbClr val="0B0080"/>
                </a:solidFill>
                <a:latin typeface="Arial" charset="0"/>
                <a:hlinkClick r:id="rId9" tooltip="籃球"/>
              </a:rPr>
              <a:t>籃球</a:t>
            </a:r>
            <a:r>
              <a:rPr lang="zh-TW" altLang="en-US" dirty="0">
                <a:solidFill>
                  <a:srgbClr val="222222"/>
                </a:solidFill>
                <a:latin typeface="Arial" charset="0"/>
              </a:rPr>
              <a:t>等運動。線上遊戲</a:t>
            </a:r>
            <a:r>
              <a:rPr lang="zh-TW" altLang="en-US" dirty="0">
                <a:solidFill>
                  <a:srgbClr val="0B0080"/>
                </a:solidFill>
                <a:latin typeface="Arial" charset="0"/>
                <a:hlinkClick r:id="rId10" tooltip="英雄聯盟"/>
              </a:rPr>
              <a:t>英雄聯盟</a:t>
            </a:r>
            <a:r>
              <a:rPr lang="zh-TW" altLang="en-US" dirty="0">
                <a:solidFill>
                  <a:srgbClr val="222222"/>
                </a:solidFill>
                <a:latin typeface="Arial" charset="0"/>
              </a:rPr>
              <a:t>、</a:t>
            </a:r>
            <a:r>
              <a:rPr lang="zh-TW" altLang="en-US" dirty="0">
                <a:solidFill>
                  <a:srgbClr val="0B0080"/>
                </a:solidFill>
                <a:latin typeface="Arial" charset="0"/>
                <a:hlinkClick r:id="rId11" tooltip="魔獸世界"/>
              </a:rPr>
              <a:t>魔獸世界</a:t>
            </a:r>
            <a:r>
              <a:rPr lang="zh-TW" altLang="en-US" dirty="0">
                <a:solidFill>
                  <a:srgbClr val="222222"/>
                </a:solidFill>
                <a:latin typeface="Arial" charset="0"/>
              </a:rPr>
              <a:t>內的競技對戰系統也採用此分級制度。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4457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TW" dirty="0" smtClean="0"/>
              <a:t>result</a:t>
            </a:r>
            <a:endParaRPr kumimoji="1"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1966" y="2244459"/>
            <a:ext cx="8832501" cy="3749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975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1888</TotalTime>
  <Words>328</Words>
  <Application>Microsoft Office PowerPoint</Application>
  <PresentationFormat>寬螢幕</PresentationFormat>
  <Paragraphs>16</Paragraphs>
  <Slides>9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Liberation Sans Narrow</vt:lpstr>
      <vt:lpstr>微軟正黑體</vt:lpstr>
      <vt:lpstr>新細明體</vt:lpstr>
      <vt:lpstr>Arial</vt:lpstr>
      <vt:lpstr>Calibri</vt:lpstr>
      <vt:lpstr>Calibri Light</vt:lpstr>
      <vt:lpstr>Office 佈景主題</vt:lpstr>
      <vt:lpstr>Mastering the game of Go without human knowledge </vt:lpstr>
      <vt:lpstr>Abstract(1/3)</vt:lpstr>
      <vt:lpstr>Abstract(2/3)</vt:lpstr>
      <vt:lpstr>Abstract(3/3)</vt:lpstr>
      <vt:lpstr>Residual Neural Network</vt:lpstr>
      <vt:lpstr>Monte Carlo tree search in AlphaGo Zero </vt:lpstr>
      <vt:lpstr>PowerPoint 簡報</vt:lpstr>
      <vt:lpstr>PowerPoint 簡報</vt:lpstr>
      <vt:lpstr>result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the game of Go without human knowledge </dc:title>
  <dc:creator>M053040058</dc:creator>
  <cp:lastModifiedBy>pplab-class</cp:lastModifiedBy>
  <cp:revision>21</cp:revision>
  <dcterms:created xsi:type="dcterms:W3CDTF">2017-10-27T01:58:56Z</dcterms:created>
  <dcterms:modified xsi:type="dcterms:W3CDTF">2017-11-07T10:26:47Z</dcterms:modified>
</cp:coreProperties>
</file>