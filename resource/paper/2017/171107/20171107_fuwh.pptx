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8" r:id="rId3"/>
    <p:sldId id="260" r:id="rId4"/>
    <p:sldId id="267" r:id="rId5"/>
    <p:sldId id="265" r:id="rId6"/>
    <p:sldId id="261" r:id="rId7"/>
    <p:sldId id="263" r:id="rId8"/>
    <p:sldId id="264" r:id="rId9"/>
  </p:sldIdLst>
  <p:sldSz cx="10080625" cy="7559675"/>
  <p:notesSz cx="7559675" cy="106918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hfu" initials="w" lastIdx="2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AEFF7"/>
          </a:solidFill>
        </a:fill>
      </a:tcStyle>
    </a:wholeTbl>
    <a:band1H>
      <a:tcStyle>
        <a:tcBdr/>
        <a:fill>
          <a:solidFill>
            <a:srgbClr val="D2DEEF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2DEEF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5B9BD5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5B9BD5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5B9BD5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5B9BD5"/>
          </a:solidFill>
        </a:fill>
      </a:tcStyle>
    </a:band1H>
    <a:band1V>
      <a:tcStyle>
        <a:tcBdr/>
        <a:fill>
          <a:solidFill>
            <a:srgbClr val="5B9BD5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5B9BD5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E8B1032C-EA38-4F05-BA0D-38AFFFC7BED3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70AD47"/>
          </a:solidFill>
        </a:fill>
      </a:tcStyle>
    </a:band1H>
    <a:band1V>
      <a:tcStyle>
        <a:tcBdr/>
        <a:fill>
          <a:solidFill>
            <a:srgbClr val="70AD47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70AD47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ED7D31"/>
          </a:solidFill>
        </a:fill>
      </a:tcStyle>
    </a:band1H>
    <a:band1V>
      <a:tcStyle>
        <a:tcBdr/>
        <a:fill>
          <a:solidFill>
            <a:srgbClr val="ED7D31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ED7D3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EB344D84-9AFB-497E-A393-DC336BA19D2E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A5A5A5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A5A5A5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深色樣式 2 - 輔色 3/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44" autoAdjust="0"/>
    <p:restoredTop sz="81305" autoAdjust="0"/>
  </p:normalViewPr>
  <p:slideViewPr>
    <p:cSldViewPr snapToGrid="0">
      <p:cViewPr varScale="1">
        <p:scale>
          <a:sx n="55" d="100"/>
          <a:sy n="55" d="100"/>
        </p:scale>
        <p:origin x="1572" y="72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quarter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2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3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non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0227E8C-9554-460F-B633-51D5AD774E1F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微軟正黑體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55139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17"/>
            <a:ext cx="5345280" cy="4008958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備忘稿版面配置區 2"/>
          <p:cNvSpPr txBox="1">
            <a:spLocks noGrp="1"/>
          </p:cNvSpPr>
          <p:nvPr>
            <p:ph type="body" sz="quarter" idx="3"/>
          </p:nvPr>
        </p:nvSpPr>
        <p:spPr>
          <a:xfrm>
            <a:off x="755998" y="5078522"/>
            <a:ext cx="6047640" cy="481104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頁首版面配置區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idx="1"/>
          </p:nvPr>
        </p:nvSpPr>
        <p:spPr>
          <a:xfrm>
            <a:off x="4278962" y="0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4"/>
          </p:nvPr>
        </p:nvSpPr>
        <p:spPr>
          <a:xfrm>
            <a:off x="0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5"/>
          </p:nvPr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78A57073-AB8B-4F7A-BB5E-FAEF8A970D7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133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微軟正黑體" pitchFamily="2"/>
        <a:cs typeface="Mang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6"/>
          <p:cNvSpPr txBox="1"/>
          <p:nvPr/>
        </p:nvSpPr>
        <p:spPr>
          <a:xfrm>
            <a:off x="4278962" y="10157402"/>
            <a:ext cx="3280684" cy="5342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4E8A48-0BB3-4429-A23E-981E055DBE4D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新細明體" pitchFamily="2"/>
              <a:cs typeface="Tahoma" pitchFamily="2"/>
            </a:endParaRPr>
          </a:p>
        </p:txBody>
      </p:sp>
      <p:sp>
        <p:nvSpPr>
          <p:cNvPr id="3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4" name="備忘稿版面配置區 2"/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altLang="zh-TW" dirty="0"/>
              <a:t>Saito Takeshi </a:t>
            </a:r>
            <a:r>
              <a:rPr lang="zh-TW" altLang="en-US" dirty="0"/>
              <a:t>齊藤武</a:t>
            </a:r>
            <a:endParaRPr lang="en-US" altLang="zh-TW" dirty="0"/>
          </a:p>
          <a:p>
            <a:r>
              <a:rPr lang="en-US" altLang="zh-TW" dirty="0"/>
              <a:t>Aoki </a:t>
            </a:r>
            <a:r>
              <a:rPr lang="en-US" altLang="zh-TW" dirty="0" err="1"/>
              <a:t>Kimiya</a:t>
            </a:r>
            <a:r>
              <a:rPr lang="en-US" altLang="zh-TW" dirty="0"/>
              <a:t> </a:t>
            </a:r>
            <a:r>
              <a:rPr lang="zh-TW" altLang="en-US" dirty="0"/>
              <a:t>青木公也</a:t>
            </a:r>
            <a:endParaRPr lang="en-US" altLang="zh-TW" dirty="0"/>
          </a:p>
          <a:p>
            <a:r>
              <a:rPr lang="en-US" altLang="zh-TW" dirty="0"/>
              <a:t>Kaneko </a:t>
            </a:r>
            <a:r>
              <a:rPr lang="en-US" altLang="zh-TW" dirty="0" err="1"/>
              <a:t>Toyohisa</a:t>
            </a:r>
            <a:r>
              <a:rPr lang="en-US" altLang="zh-TW" dirty="0"/>
              <a:t> </a:t>
            </a:r>
            <a:r>
              <a:rPr lang="zh-TW" altLang="en-US" dirty="0"/>
              <a:t>金子豐久</a:t>
            </a:r>
          </a:p>
        </p:txBody>
      </p:sp>
    </p:spTree>
    <p:extLst>
      <p:ext uri="{BB962C8B-B14F-4D97-AF65-F5344CB8AC3E}">
        <p14:creationId xmlns:p14="http://schemas.microsoft.com/office/powerpoint/2010/main" val="1574662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106488" y="812800"/>
            <a:ext cx="5345112" cy="4008438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baseline="0" dirty="0"/>
              <a:t>Central moment?</a:t>
            </a:r>
          </a:p>
          <a:p>
            <a:endParaRPr lang="en-US" altLang="zh-TW" baseline="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78A57073-AB8B-4F7A-BB5E-FAEF8A970D70}" type="slidenum">
              <a:rPr lang="en-US" altLang="zh-TW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147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ctrTitle"/>
          </p:nvPr>
        </p:nvSpPr>
        <p:spPr>
          <a:xfrm>
            <a:off x="1260472" y="1236661"/>
            <a:ext cx="7559673" cy="2632072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副標題 2"/>
          <p:cNvSpPr txBox="1">
            <a:spLocks noGrp="1"/>
          </p:cNvSpPr>
          <p:nvPr>
            <p:ph type="subTitle" idx="1"/>
          </p:nvPr>
        </p:nvSpPr>
        <p:spPr>
          <a:xfrm>
            <a:off x="1260472" y="3970333"/>
            <a:ext cx="7559673" cy="1825627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zh-TW"/>
              <a:t>按一下以編輯母片副標題樣式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E6BFC27-068B-4B72-92F7-9C821F0A3E7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8842836-F473-4F88-8FC5-E6506225DA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692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87391" y="1884358"/>
            <a:ext cx="8694736" cy="3144841"/>
          </a:xfrm>
        </p:spPr>
        <p:txBody>
          <a:bodyPr anchor="b"/>
          <a:lstStyle>
            <a:lvl1pPr>
              <a:defRPr lang="zh-TW" sz="60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87391" y="5059366"/>
            <a:ext cx="8694736" cy="165258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6D477E-DD58-4DE2-94A6-FBA23A9245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223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503240" y="1768477"/>
            <a:ext cx="4459291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5114925" y="1768477"/>
            <a:ext cx="4460872" cy="438467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72D141D-6966-43C1-8EB1-BB4818DFA3B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8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403222"/>
            <a:ext cx="8694736" cy="1460497"/>
          </a:xfrm>
        </p:spPr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693736" y="1852610"/>
            <a:ext cx="4265611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4" name="內容版面配置區 3"/>
          <p:cNvSpPr txBox="1">
            <a:spLocks noGrp="1"/>
          </p:cNvSpPr>
          <p:nvPr>
            <p:ph idx="2"/>
          </p:nvPr>
        </p:nvSpPr>
        <p:spPr>
          <a:xfrm>
            <a:off x="693736" y="2760665"/>
            <a:ext cx="4265611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5" name="文字版面配置區 4"/>
          <p:cNvSpPr txBox="1">
            <a:spLocks noGrp="1"/>
          </p:cNvSpPr>
          <p:nvPr>
            <p:ph type="body" idx="3"/>
          </p:nvPr>
        </p:nvSpPr>
        <p:spPr>
          <a:xfrm>
            <a:off x="5103815" y="1852610"/>
            <a:ext cx="4284658" cy="908054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6" name="內容版面配置區 5"/>
          <p:cNvSpPr txBox="1">
            <a:spLocks noGrp="1"/>
          </p:cNvSpPr>
          <p:nvPr>
            <p:ph idx="4"/>
          </p:nvPr>
        </p:nvSpPr>
        <p:spPr>
          <a:xfrm>
            <a:off x="5103815" y="2760665"/>
            <a:ext cx="4284658" cy="406241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7" name="日期版面配置區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頁尾版面配置區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投影片編號版面配置區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D382990-A4FF-4906-9C3D-CE47CFC3DCA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414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日期版面配置區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頁尾版面配置區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投影片編號版面配置區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3CCA10-4506-4689-B9C6-7A25C650BAF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26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頁尾版面配置區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投影片編號版面配置區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A413963-2284-408C-A1F3-BA9C90A14B4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10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內容版面配置區 2"/>
          <p:cNvSpPr txBox="1">
            <a:spLocks noGrp="1"/>
          </p:cNvSpPr>
          <p:nvPr>
            <p:ph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059FB30-6DA3-498A-B3E4-39789FBB38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77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>
          <a:xfrm>
            <a:off x="693736" y="503240"/>
            <a:ext cx="3251204" cy="1765304"/>
          </a:xfrm>
        </p:spPr>
        <p:txBody>
          <a:bodyPr anchor="b"/>
          <a:lstStyle>
            <a:lvl1pPr>
              <a:defRPr lang="zh-TW" sz="3200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圖片版面配置區 2"/>
          <p:cNvSpPr txBox="1">
            <a:spLocks noGrp="1"/>
          </p:cNvSpPr>
          <p:nvPr>
            <p:ph type="pic" idx="1"/>
          </p:nvPr>
        </p:nvSpPr>
        <p:spPr>
          <a:xfrm>
            <a:off x="4286249" y="1089022"/>
            <a:ext cx="5102223" cy="5372100"/>
          </a:xfrm>
        </p:spPr>
        <p:txBody>
          <a:bodyPr/>
          <a:lstStyle>
            <a:lvl1pPr>
              <a:defRPr lang="en-US"/>
            </a:lvl1pPr>
          </a:lstStyle>
          <a:p>
            <a:pPr lvl="0"/>
            <a:endParaRPr lang="en-US"/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2"/>
          </p:nvPr>
        </p:nvSpPr>
        <p:spPr>
          <a:xfrm>
            <a:off x="693736" y="2268534"/>
            <a:ext cx="3251204" cy="4200525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zh-TW"/>
              <a:t>按一下以編輯母片文字樣式</a:t>
            </a:r>
          </a:p>
        </p:txBody>
      </p:sp>
      <p:sp>
        <p:nvSpPr>
          <p:cNvPr id="5" name="日期版面配置區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頁尾版面配置區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投影片編號版面配置區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2DDE591-0FAF-4F51-A0C1-3BEDC4250AE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15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0523178-8C3C-4D5B-987E-9C6DE9B0522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70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 txBox="1">
            <a:spLocks noGrp="1"/>
          </p:cNvSpPr>
          <p:nvPr>
            <p:ph type="title" orient="vert"/>
          </p:nvPr>
        </p:nvSpPr>
        <p:spPr>
          <a:xfrm>
            <a:off x="7308854" y="301623"/>
            <a:ext cx="2266953" cy="5851529"/>
          </a:xfrm>
        </p:spPr>
        <p:txBody>
          <a:bodyPr vert="eaVert"/>
          <a:lstStyle>
            <a:lvl1pPr>
              <a:defRPr lang="zh-TW"/>
            </a:lvl1pPr>
          </a:lstStyle>
          <a:p>
            <a:pPr lvl="0"/>
            <a:r>
              <a:rPr lang="zh-TW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 txBox="1">
            <a:spLocks noGrp="1"/>
          </p:cNvSpPr>
          <p:nvPr>
            <p:ph type="body" orient="vert" idx="1"/>
          </p:nvPr>
        </p:nvSpPr>
        <p:spPr>
          <a:xfrm>
            <a:off x="503240" y="301623"/>
            <a:ext cx="6653210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83D96B-BEA4-46BB-A345-50D7E40AC1B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08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>
            <a:spLocks noGrp="1"/>
          </p:cNvSpPr>
          <p:nvPr>
            <p:ph type="title"/>
          </p:nvPr>
        </p:nvSpPr>
        <p:spPr>
          <a:xfrm>
            <a:off x="503998" y="301322"/>
            <a:ext cx="9071643" cy="12621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1"/>
          </p:nvPr>
        </p:nvSpPr>
        <p:spPr>
          <a:xfrm>
            <a:off x="503998" y="1769043"/>
            <a:ext cx="9071643" cy="43844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4" name="日期版面配置區 3"/>
          <p:cNvSpPr txBox="1">
            <a:spLocks noGrp="1"/>
          </p:cNvSpPr>
          <p:nvPr>
            <p:ph type="dt" sz="half" idx="2"/>
          </p:nvPr>
        </p:nvSpPr>
        <p:spPr>
          <a:xfrm>
            <a:off x="503998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頁尾版面配置區 4"/>
          <p:cNvSpPr txBox="1">
            <a:spLocks noGrp="1"/>
          </p:cNvSpPr>
          <p:nvPr>
            <p:ph type="ftr" sz="quarter" idx="3"/>
          </p:nvPr>
        </p:nvSpPr>
        <p:spPr>
          <a:xfrm>
            <a:off x="3447361" y="6887160"/>
            <a:ext cx="3194995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投影片編號版面配置區 5"/>
          <p:cNvSpPr txBox="1">
            <a:spLocks noGrp="1"/>
          </p:cNvSpPr>
          <p:nvPr>
            <p:ph type="sldNum" sz="quarter" idx="4"/>
          </p:nvPr>
        </p:nvSpPr>
        <p:spPr>
          <a:xfrm>
            <a:off x="7227362" y="6887160"/>
            <a:ext cx="2348279" cy="521281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新細明體" pitchFamily="2"/>
                <a:cs typeface="Tahoma" pitchFamily="2"/>
              </a:defRPr>
            </a:lvl1pPr>
          </a:lstStyle>
          <a:p>
            <a:pPr lvl="0"/>
            <a:fld id="{FA3188D1-A64F-4C0D-9118-94DC8B17CC66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zh-TW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微軟正黑體" pitchFamily="2"/>
          <a:cs typeface="Mang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4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20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zh-TW" sz="1800" b="0" i="0" u="none" strike="noStrike" kern="1200" cap="none" spc="0" baseline="0">
          <a:solidFill>
            <a:srgbClr val="000000"/>
          </a:solidFill>
          <a:uFillTx/>
          <a:latin typeface="Calibri"/>
          <a:ea typeface="新細明體" pitchFamily="1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140.117.156.238/course/CSSV/2011/%E7%9B%A3%E6%8E%A7%E8%A6%96%E8%A8%8A_ch3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 noGrp="1"/>
          </p:cNvSpPr>
          <p:nvPr>
            <p:ph type="title" idx="4294967295"/>
          </p:nvPr>
        </p:nvSpPr>
        <p:spPr>
          <a:xfrm>
            <a:off x="576354" y="3722884"/>
            <a:ext cx="9071643" cy="1246495"/>
          </a:xfrm>
        </p:spPr>
        <p:txBody>
          <a:bodyPr>
            <a:spAutoFit/>
          </a:bodyPr>
          <a:lstStyle/>
          <a:p>
            <a:pPr lvl="0"/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Proceedings of the 17th International Conference on Pattern Recognition (ICPR), 2004, Cambridge, UK,</a:t>
            </a:r>
            <a:b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</a:br>
            <a:r>
              <a:rPr lang="en-US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Takeshi </a:t>
            </a:r>
            <a:r>
              <a:rPr lang="en-US" altLang="zh-TW" sz="2700" b="1" dirty="0" err="1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Saitoh</a:t>
            </a:r>
            <a:r>
              <a:rPr lang="pt-BR" altLang="zh-TW" sz="2700" b="1" dirty="0">
                <a:solidFill>
                  <a:srgbClr val="898989"/>
                </a:solidFill>
                <a:latin typeface="Sitka Subheading" panose="02000505000000020004" pitchFamily="2" charset="0"/>
                <a:ea typeface="新細明體" pitchFamily="2"/>
              </a:rPr>
              <a:t>,Kimiya Aoki, and Toyohisa kaneko</a:t>
            </a:r>
            <a:endParaRPr lang="en-US" sz="2700" b="1" dirty="0">
              <a:solidFill>
                <a:srgbClr val="898989"/>
              </a:solidFill>
              <a:latin typeface="Sitka Subheading" panose="02000505000000020004" pitchFamily="2" charset="0"/>
              <a:ea typeface="新細明體" pitchFamily="2"/>
            </a:endParaRPr>
          </a:p>
        </p:txBody>
      </p:sp>
      <p:sp>
        <p:nvSpPr>
          <p:cNvPr id="3" name="文字版面配置區 2"/>
          <p:cNvSpPr txBox="1">
            <a:spLocks noGrp="1"/>
          </p:cNvSpPr>
          <p:nvPr>
            <p:ph type="body" idx="4294967295"/>
          </p:nvPr>
        </p:nvSpPr>
        <p:spPr>
          <a:xfrm>
            <a:off x="206352" y="1774168"/>
            <a:ext cx="9811648" cy="1948716"/>
          </a:xfrm>
        </p:spPr>
        <p:txBody>
          <a:bodyPr anchorCtr="1"/>
          <a:lstStyle/>
          <a:p>
            <a:pPr algn="l"/>
            <a:r>
              <a:rPr lang="en-US" sz="4000" b="1" dirty="0">
                <a:latin typeface="Cambria Math" panose="02040503050406030204" pitchFamily="18" charset="0"/>
                <a:ea typeface="Cambria Math" panose="02040503050406030204" pitchFamily="18" charset="0"/>
                <a:cs typeface="Ebrima" panose="02000000000000000000" pitchFamily="2" charset="0"/>
              </a:rPr>
              <a:t>Automatic Recognition of Blooming Flowers</a:t>
            </a:r>
          </a:p>
        </p:txBody>
      </p:sp>
      <p:sp>
        <p:nvSpPr>
          <p:cNvPr id="4" name="文字版面配置區 3"/>
          <p:cNvSpPr txBox="1">
            <a:spLocks noGrp="1"/>
          </p:cNvSpPr>
          <p:nvPr>
            <p:ph type="body" idx="4294967295"/>
          </p:nvPr>
        </p:nvSpPr>
        <p:spPr>
          <a:xfrm>
            <a:off x="740006" y="6277059"/>
            <a:ext cx="9071643" cy="1159806"/>
          </a:xfrm>
        </p:spPr>
        <p:txBody>
          <a:bodyPr/>
          <a:lstStyle/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Presenter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Wei-</a:t>
            </a:r>
            <a:r>
              <a:rPr lang="en-US" altLang="zh-TW" dirty="0" err="1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Hao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 Fu</a:t>
            </a:r>
            <a:endParaRPr lang="en-US" dirty="0">
              <a:highlight>
                <a:scrgbClr r="0" g="0" b="0">
                  <a:alpha val="0"/>
                </a:scrgbClr>
              </a:highlight>
              <a:latin typeface="Liberation Sans Narrow" pitchFamily="34"/>
              <a:ea typeface="微軟正黑體" pitchFamily="34"/>
              <a:cs typeface="Mangal" pitchFamily="2"/>
            </a:endParaRPr>
          </a:p>
          <a:p>
            <a:pPr lvl="1" algn="r" hangingPunct="0">
              <a:spcBef>
                <a:spcPts val="1415"/>
              </a:spcBef>
              <a:buNone/>
            </a:pP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Date</a:t>
            </a:r>
            <a:r>
              <a:rPr 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：</a:t>
            </a:r>
            <a:r>
              <a:rPr lang="en-US" altLang="zh-TW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2017</a:t>
            </a:r>
            <a:r>
              <a:rPr lang="en-US" dirty="0">
                <a:highlight>
                  <a:scrgbClr r="0" g="0" b="0">
                    <a:alpha val="0"/>
                  </a:scrgbClr>
                </a:highlight>
                <a:latin typeface="Liberation Sans Narrow" pitchFamily="34"/>
                <a:ea typeface="微軟正黑體" pitchFamily="34"/>
                <a:cs typeface="Mangal" pitchFamily="2"/>
              </a:rPr>
              <a:t>/11/07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Abstract (1/2)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660183"/>
            <a:ext cx="9071643" cy="5639398"/>
          </a:xfrm>
        </p:spPr>
        <p:txBody>
          <a:bodyPr/>
          <a:lstStyle/>
          <a:p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This paper describes an automatic method for recognizing a blooming flower based on a photograph taken with a digital camera in natural scene. The problem of identifying an object against the background is known to be difficult. In this paper, we employ a photograph where the object (a blooming flower) is focused but the background is defocused. For extracting a flower region, we propose a new method that extracts a boundary by selecting a route with minimizing a sum of the local cost divided by the route length. Experiments were conducted for 600 pictures (20 pictures each for 30 species). A successful boundary extraction rate of 97% and a flower recognition rate of 90% were obtained.</a:t>
            </a:r>
          </a:p>
          <a:p>
            <a:endParaRPr lang="en-US" altLang="zh-TW" sz="31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4120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Extraction method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660183"/>
            <a:ext cx="9071643" cy="574825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Intelligent Scissors (IS)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3</a:t>
            </a:fld>
            <a:endParaRPr lang="zh-TW" altLang="en-US" dirty="0"/>
          </a:p>
        </p:txBody>
      </p:sp>
      <p:pic>
        <p:nvPicPr>
          <p:cNvPr id="1026" name="Picture 2" descr="Using Intelligent Scissors">
            <a:extLst>
              <a:ext uri="{FF2B5EF4-FFF2-40B4-BE49-F238E27FC236}">
                <a16:creationId xmlns:a16="http://schemas.microsoft.com/office/drawing/2014/main" xmlns="" id="{AF145A61-9D89-4724-9D47-FBA1BCE75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069" y="2538824"/>
            <a:ext cx="3619500" cy="399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xmlns="" id="{9CEFFAE6-8616-47BD-B857-FD9E1116871E}"/>
              </a:ext>
            </a:extLst>
          </p:cNvPr>
          <p:cNvSpPr txBox="1"/>
          <p:nvPr/>
        </p:nvSpPr>
        <p:spPr>
          <a:xfrm>
            <a:off x="2070031" y="6517828"/>
            <a:ext cx="5939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Reference: https://docs.gimp.org/en/gimp-tool-iscissors.html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2301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Extraction method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660183"/>
            <a:ext cx="9071643" cy="574825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Intelligent Scissors (IS)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Laplacian Zero-Crossing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Gradient Magnitude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Gradient Direction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4</a:t>
            </a:fld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xmlns="" id="{AF8B6112-BC36-4E8E-932B-0B0AF7CE3885}"/>
              </a:ext>
            </a:extLst>
          </p:cNvPr>
          <p:cNvSpPr txBox="1"/>
          <p:nvPr/>
        </p:nvSpPr>
        <p:spPr>
          <a:xfrm>
            <a:off x="726233" y="6821339"/>
            <a:ext cx="8627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/>
              <a:t>Reference: </a:t>
            </a:r>
            <a:r>
              <a:rPr lang="en-US" altLang="zh-TW" sz="1400" dirty="0">
                <a:hlinkClick r:id="rId2"/>
              </a:rPr>
              <a:t>http://140.117.156.238/course/CSSV/2011/%</a:t>
            </a:r>
            <a:r>
              <a:rPr lang="en-US" altLang="zh-TW" sz="1400" dirty="0" smtClean="0">
                <a:hlinkClick r:id="rId2"/>
              </a:rPr>
              <a:t>E7%9B%A3%E6%8E%A7%E8%A6%96%E8%A8%8A_ch3.pdf</a:t>
            </a:r>
            <a:endParaRPr lang="en-US" altLang="zh-TW" sz="1400" dirty="0" smtClean="0"/>
          </a:p>
          <a:p>
            <a:r>
              <a:rPr lang="en-US" altLang="zh-TW" sz="1400" dirty="0"/>
              <a:t>40.117.156.238/course/CSSV/2011/</a:t>
            </a:r>
            <a:r>
              <a:rPr lang="zh-TW" altLang="en-US" sz="1400" dirty="0"/>
              <a:t>監控視訊</a:t>
            </a:r>
            <a:r>
              <a:rPr lang="en-US" altLang="zh-TW" sz="1400" dirty="0"/>
              <a:t>_ch3.pdf</a:t>
            </a:r>
            <a:endParaRPr lang="zh-TW" altLang="en-US" sz="1400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xmlns="" id="{99372977-833D-46FB-A024-549C3F769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6550"/>
            <a:ext cx="10080625" cy="327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2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Extraction method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660183"/>
            <a:ext cx="9071643" cy="574825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Normalized cost (NC)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5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47CD6CC3-9050-4EA8-B21E-0B1072D5A5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154" y="2639431"/>
            <a:ext cx="4950943" cy="366541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xmlns="" id="{E596FEE7-EFBC-4D8D-8101-854310109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136" y="2639431"/>
            <a:ext cx="6723365" cy="461407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xmlns="" id="{07B7E5DC-6BF1-4E93-96FA-0B4D5EA1A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712" y="2960505"/>
            <a:ext cx="5457825" cy="3971925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xmlns="" id="{A1B1E0AF-FFBD-4226-887A-1106708F3D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97094"/>
            <a:ext cx="10080625" cy="320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4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Feature selection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660183"/>
            <a:ext cx="9071643" cy="574825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Shape features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ratio of the average width over the average height.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number of petals.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central moment.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roundness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6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C43B43D1-2B3F-4642-A2EC-47BAAF022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073" y="4293274"/>
            <a:ext cx="7522421" cy="311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4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Feature selection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660183"/>
            <a:ext cx="9071643" cy="574825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Color features</a:t>
            </a:r>
          </a:p>
          <a:p>
            <a:pPr marL="1200150" lvl="1" indent="-514350">
              <a:buFont typeface="+mj-lt"/>
              <a:buAutoNum type="arabicPeriod" startAt="5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x coordinate of the largest color cell.</a:t>
            </a:r>
          </a:p>
          <a:p>
            <a:pPr marL="1200150" lvl="1" indent="-514350">
              <a:buFont typeface="+mj-lt"/>
              <a:buAutoNum type="arabicPeriod" startAt="5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y coordinate of the largest color cell.</a:t>
            </a:r>
          </a:p>
          <a:p>
            <a:pPr marL="1200150" lvl="1" indent="-514350">
              <a:buFont typeface="+mj-lt"/>
              <a:buAutoNum type="arabicPeriod" startAt="5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ratio of the largest color cell.</a:t>
            </a:r>
          </a:p>
          <a:p>
            <a:pPr marL="1200150" lvl="1" indent="-514350">
              <a:buFont typeface="+mj-lt"/>
              <a:buAutoNum type="arabicPeriod" startAt="5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x coordinate of the second largest color cell.</a:t>
            </a:r>
          </a:p>
          <a:p>
            <a:pPr marL="1200150" lvl="1" indent="-514350">
              <a:buFont typeface="+mj-lt"/>
              <a:buAutoNum type="arabicPeriod" startAt="5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y coordinate of the second largest color cell.</a:t>
            </a:r>
          </a:p>
          <a:p>
            <a:pPr marL="1200150" lvl="1" indent="-514350">
              <a:buFont typeface="+mj-lt"/>
              <a:buAutoNum type="arabicPeriod" startAt="5"/>
            </a:pPr>
            <a:r>
              <a:rPr lang="en-US" altLang="zh-TW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The ratio of the second largest color cell.</a:t>
            </a:r>
          </a:p>
          <a:p>
            <a:pPr marL="1143000" lvl="1" indent="-457200">
              <a:buFont typeface="+mj-lt"/>
              <a:buAutoNum type="arabicPeriod" startAt="5"/>
            </a:pPr>
            <a:endParaRPr lang="en-US" altLang="zh-TW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7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FD4CC6B9-DA3A-4D05-B8B4-0E08BB690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016" y="4893288"/>
            <a:ext cx="2731914" cy="235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5666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03998" y="285556"/>
            <a:ext cx="9071643" cy="1262155"/>
          </a:xfrm>
        </p:spPr>
        <p:txBody>
          <a:bodyPr/>
          <a:lstStyle/>
          <a:p>
            <a:r>
              <a:rPr lang="en-US" altLang="zh-TW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Experiment</a:t>
            </a:r>
            <a:endParaRPr lang="zh-TW" altLang="en-US" b="1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03998" y="1660183"/>
            <a:ext cx="9071643" cy="574825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dirty="0">
                <a:latin typeface="Cambria Math" panose="02040503050406030204" pitchFamily="18" charset="0"/>
                <a:ea typeface="Cambria Math" panose="02040503050406030204" pitchFamily="18" charset="0"/>
              </a:rPr>
              <a:t>Dataset: 20 pictures each for 30 species.</a:t>
            </a:r>
            <a:endParaRPr lang="en-US" altLang="zh-TW" sz="2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8"/>
          </p:nvPr>
        </p:nvSpPr>
        <p:spPr/>
        <p:txBody>
          <a:bodyPr/>
          <a:lstStyle/>
          <a:p>
            <a:pPr lvl="0"/>
            <a:fld id="{68842836-F473-4F88-8FC5-E6506225DA8A}" type="slidenum">
              <a:rPr lang="en-US" altLang="zh-TW" smtClean="0"/>
              <a:t>8</a:t>
            </a:fld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xmlns="" id="{1B35953E-076A-4474-BEE0-2055C502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9026" y="2186578"/>
            <a:ext cx="7292460" cy="5221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354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25018</TotalTime>
  <Words>330</Words>
  <Application>Microsoft Office PowerPoint</Application>
  <PresentationFormat>自訂</PresentationFormat>
  <Paragraphs>47</Paragraphs>
  <Slides>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21" baseType="lpstr">
      <vt:lpstr>Liberation Sans</vt:lpstr>
      <vt:lpstr>Liberation Sans Narrow</vt:lpstr>
      <vt:lpstr>Liberation Serif</vt:lpstr>
      <vt:lpstr>Sitka Subheading</vt:lpstr>
      <vt:lpstr>微軟正黑體</vt:lpstr>
      <vt:lpstr>新細明體</vt:lpstr>
      <vt:lpstr>Arial</vt:lpstr>
      <vt:lpstr>Calibri</vt:lpstr>
      <vt:lpstr>Cambria Math</vt:lpstr>
      <vt:lpstr>Ebrima</vt:lpstr>
      <vt:lpstr>Mangal</vt:lpstr>
      <vt:lpstr>Tahoma</vt:lpstr>
      <vt:lpstr>預設</vt:lpstr>
      <vt:lpstr>Proceedings of the 17th International Conference on Pattern Recognition (ICPR), 2004, Cambridge, UK, Takeshi Saitoh,Kimiya Aoki, and Toyohisa kaneko</vt:lpstr>
      <vt:lpstr>Abstract (1/2)</vt:lpstr>
      <vt:lpstr>Extraction method</vt:lpstr>
      <vt:lpstr>Extraction method</vt:lpstr>
      <vt:lpstr>Extraction method</vt:lpstr>
      <vt:lpstr>Feature selection</vt:lpstr>
      <vt:lpstr>Feature selection</vt:lpstr>
      <vt:lpstr>Experiment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Communications of the ACM June 1975 Volume 18 Number 6 D.S. Hirschberg Princeton University</dc:title>
  <dc:creator>Shecil</dc:creator>
  <cp:lastModifiedBy>pplab-class</cp:lastModifiedBy>
  <cp:revision>346</cp:revision>
  <dcterms:created xsi:type="dcterms:W3CDTF">2015-10-08T13:19:19Z</dcterms:created>
  <dcterms:modified xsi:type="dcterms:W3CDTF">2017-11-07T12:56:50Z</dcterms:modified>
</cp:coreProperties>
</file>