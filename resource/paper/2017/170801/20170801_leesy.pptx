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2" r:id="rId5"/>
    <p:sldId id="261" r:id="rId6"/>
    <p:sldId id="260" r:id="rId7"/>
    <p:sldId id="273" r:id="rId8"/>
    <p:sldId id="272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4" r:id="rId18"/>
    <p:sldId id="275" r:id="rId19"/>
    <p:sldId id="276" r:id="rId20"/>
    <p:sldId id="277" r:id="rId21"/>
    <p:sldId id="278" r:id="rId22"/>
    <p:sldId id="279" r:id="rId23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中等深淺樣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中等深淺樣式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505E3EF-67EA-436B-97B2-0124C06EBD24}" styleName="中等深淺樣式 4 - 輔色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16DA210-FB5B-4158-B5E0-FEB733F419BA}" styleName="淺色樣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淺色樣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47" autoAdjust="0"/>
    <p:restoredTop sz="94660"/>
  </p:normalViewPr>
  <p:slideViewPr>
    <p:cSldViewPr snapToGrid="0">
      <p:cViewPr varScale="1">
        <p:scale>
          <a:sx n="79" d="100"/>
          <a:sy n="79" d="100"/>
        </p:scale>
        <p:origin x="94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2017/8/1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04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2017/8/1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872486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2017/8/1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7291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2017/8/1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9483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2017/8/1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71948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2017/8/1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530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2017/8/1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5807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2017/8/1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99603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2017/8/1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87219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2017/8/1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8200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2017/8/1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183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E010FB-2E68-4D6F-963D-E2C0D8E7433A}" type="datetimeFigureOut">
              <a:rPr lang="zh-TW" altLang="en-US" smtClean="0"/>
              <a:t>2017/8/1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8705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0.png"/><Relationship Id="rId7" Type="http://schemas.openxmlformats.org/officeDocument/2006/relationships/image" Target="../media/image19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0.png"/><Relationship Id="rId5" Type="http://schemas.openxmlformats.org/officeDocument/2006/relationships/image" Target="../media/image170.png"/><Relationship Id="rId4" Type="http://schemas.openxmlformats.org/officeDocument/2006/relationships/image" Target="../media/image160.png"/><Relationship Id="rId9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7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0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0.png"/><Relationship Id="rId5" Type="http://schemas.openxmlformats.org/officeDocument/2006/relationships/image" Target="../media/image37.png"/><Relationship Id="rId4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0.png"/><Relationship Id="rId5" Type="http://schemas.openxmlformats.org/officeDocument/2006/relationships/image" Target="../media/image37.pn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42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0.png"/><Relationship Id="rId5" Type="http://schemas.openxmlformats.org/officeDocument/2006/relationships/image" Target="../media/image37.pn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685800"/>
            <a:ext cx="7772400" cy="2257425"/>
          </a:xfrm>
        </p:spPr>
        <p:txBody>
          <a:bodyPr>
            <a:normAutofit/>
          </a:bodyPr>
          <a:lstStyle/>
          <a:p>
            <a:r>
              <a:rPr lang="en-US" altLang="zh-TW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FOGSAA: Fast Optimal </a:t>
            </a:r>
            <a:r>
              <a:rPr lang="en-US" altLang="zh-TW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Global Sequence </a:t>
            </a:r>
            <a:r>
              <a:rPr lang="en-US" altLang="zh-TW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Alignment Algorithm</a:t>
            </a:r>
            <a:endParaRPr lang="zh-TW" alt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771524" y="3516074"/>
            <a:ext cx="7877174" cy="1655762"/>
          </a:xfrm>
        </p:spPr>
        <p:txBody>
          <a:bodyPr>
            <a:normAutofit/>
          </a:bodyPr>
          <a:lstStyle/>
          <a:p>
            <a:r>
              <a:rPr lang="fr-FR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Angana </a:t>
            </a:r>
            <a:r>
              <a:rPr lang="fr-FR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Chakraborty </a:t>
            </a:r>
            <a:r>
              <a:rPr lang="fr-FR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fr-FR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Sanghamitra </a:t>
            </a:r>
            <a:r>
              <a:rPr lang="fr-FR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Bandyopadhyay</a:t>
            </a:r>
          </a:p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Scientific reports 3 </a:t>
            </a:r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1746 (2013)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4479634" y="44849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副標題 2"/>
          <p:cNvSpPr txBox="1">
            <a:spLocks/>
          </p:cNvSpPr>
          <p:nvPr/>
        </p:nvSpPr>
        <p:spPr>
          <a:xfrm>
            <a:off x="1281111" y="5312807"/>
            <a:ext cx="6858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 : </a:t>
            </a:r>
            <a:r>
              <a:rPr lang="en-US" altLang="zh-TW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Shie</a:t>
            </a:r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-Yan Lee</a:t>
            </a:r>
          </a:p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2017/8/1</a:t>
            </a:r>
          </a:p>
          <a:p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7520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08138" y="365126"/>
            <a:ext cx="7886700" cy="1325563"/>
          </a:xfrm>
        </p:spPr>
        <p:txBody>
          <a:bodyPr/>
          <a:lstStyle/>
          <a:p>
            <a:r>
              <a:rPr lang="en-US" altLang="zh-TW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08138" y="1606550"/>
            <a:ext cx="8712037" cy="435133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article we propose a Fast Optimal Global Sequence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Alignment Algorithm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FOGSAA, which aligns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pair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nucleotide/protein sequences faster than any optimal global alignment method including the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widely used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Needleman-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Wunsch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(NW) algorithm. FOGSAA is applicable for all types of sequences, with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any scoring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scheme, and with or without affine gap penalty. Compared to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NW, FOGSAA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achieves a time gain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 (70–90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)% for highly similar nucleotide sequences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(&gt; 80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 similarity), and (54–70)% for sequences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having (30–80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)% similarity. For other sequences, it terminates with an approximate score. For protein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sequences, the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time gain is between (25–40)%. Compared to three heuristic global alignment methods,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quality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alignment is improved by about 23%–53%. FOGSAA is, in general, suitable for aligning any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two sequences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defined over a finite alphabet set, where the quality of the global alignment is of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supreme importance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6294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85750" y="174627"/>
            <a:ext cx="5915025" cy="873124"/>
          </a:xfrm>
        </p:spPr>
        <p:txBody>
          <a:bodyPr/>
          <a:lstStyle/>
          <a:p>
            <a:r>
              <a:rPr lang="en-US" altLang="zh-TW" dirty="0" smtClean="0"/>
              <a:t>Problem definition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/>
              <p:cNvSpPr txBox="1"/>
              <p:nvPr/>
            </p:nvSpPr>
            <p:spPr>
              <a:xfrm>
                <a:off x="1358731" y="1345084"/>
                <a:ext cx="368499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5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5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TW" sz="25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8731" y="1345084"/>
                <a:ext cx="368499" cy="384721"/>
              </a:xfrm>
              <a:prstGeom prst="rect">
                <a:avLst/>
              </a:prstGeom>
              <a:blipFill rotWithShape="0">
                <a:blip r:embed="rId2"/>
                <a:stretch>
                  <a:fillRect l="-20000" r="-8333" b="-1428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/>
              <p:cNvSpPr txBox="1"/>
              <p:nvPr/>
            </p:nvSpPr>
            <p:spPr>
              <a:xfrm>
                <a:off x="1358731" y="2354734"/>
                <a:ext cx="375936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5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5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TW" sz="25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8731" y="2354734"/>
                <a:ext cx="375936" cy="384721"/>
              </a:xfrm>
              <a:prstGeom prst="rect">
                <a:avLst/>
              </a:prstGeom>
              <a:blipFill rotWithShape="0">
                <a:blip r:embed="rId3"/>
                <a:stretch>
                  <a:fillRect l="-19355" r="-6452" b="-158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5"/>
          <p:cNvSpPr/>
          <p:nvPr/>
        </p:nvSpPr>
        <p:spPr>
          <a:xfrm>
            <a:off x="1882607" y="1345084"/>
            <a:ext cx="1661110" cy="38472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500" dirty="0" smtClean="0">
                <a:solidFill>
                  <a:schemeClr val="tx1"/>
                </a:solidFill>
              </a:rPr>
              <a:t>ACCGTCAA</a:t>
            </a:r>
            <a:endParaRPr lang="zh-TW" altLang="en-US" sz="2500" dirty="0">
              <a:solidFill>
                <a:schemeClr val="tx1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1882606" y="2354734"/>
            <a:ext cx="1976690" cy="38472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500" dirty="0" smtClean="0">
                <a:solidFill>
                  <a:schemeClr val="tx1"/>
                </a:solidFill>
              </a:rPr>
              <a:t>ACATCAGATA</a:t>
            </a:r>
            <a:endParaRPr lang="zh-TW" altLang="en-US" sz="25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/>
              <p:cNvSpPr txBox="1"/>
              <p:nvPr/>
            </p:nvSpPr>
            <p:spPr>
              <a:xfrm>
                <a:off x="1351294" y="3370101"/>
                <a:ext cx="368499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5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5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TW" sz="25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9" name="文字方塊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1294" y="3370101"/>
                <a:ext cx="368499" cy="384721"/>
              </a:xfrm>
              <a:prstGeom prst="rect">
                <a:avLst/>
              </a:prstGeom>
              <a:blipFill rotWithShape="0">
                <a:blip r:embed="rId4"/>
                <a:stretch>
                  <a:fillRect l="-20000" r="-8333" b="-1428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/>
              <p:cNvSpPr txBox="1"/>
              <p:nvPr/>
            </p:nvSpPr>
            <p:spPr>
              <a:xfrm>
                <a:off x="1351294" y="4379751"/>
                <a:ext cx="375936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5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5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TW" sz="25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10" name="文字方塊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1294" y="4379751"/>
                <a:ext cx="375936" cy="384721"/>
              </a:xfrm>
              <a:prstGeom prst="rect">
                <a:avLst/>
              </a:prstGeom>
              <a:blipFill rotWithShape="0">
                <a:blip r:embed="rId5"/>
                <a:stretch>
                  <a:fillRect l="-19672" r="-8197" b="-140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矩形 10"/>
          <p:cNvSpPr/>
          <p:nvPr/>
        </p:nvSpPr>
        <p:spPr>
          <a:xfrm>
            <a:off x="1882605" y="3364384"/>
            <a:ext cx="285751" cy="38472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500" dirty="0" smtClean="0">
                <a:solidFill>
                  <a:schemeClr val="tx1"/>
                </a:solidFill>
              </a:rPr>
              <a:t>A</a:t>
            </a:r>
            <a:endParaRPr lang="zh-TW" altLang="en-US" sz="2500" dirty="0">
              <a:solidFill>
                <a:schemeClr val="tx1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882604" y="4459759"/>
            <a:ext cx="285751" cy="38472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500">
                <a:solidFill>
                  <a:schemeClr val="tx1"/>
                </a:solidFill>
              </a:rPr>
              <a:t>A</a:t>
            </a:r>
            <a:endParaRPr lang="zh-TW" altLang="en-US" sz="2500" dirty="0"/>
          </a:p>
        </p:txBody>
      </p:sp>
      <p:cxnSp>
        <p:nvCxnSpPr>
          <p:cNvPr id="14" name="直線接點 13"/>
          <p:cNvCxnSpPr>
            <a:stCxn id="11" idx="2"/>
            <a:endCxn id="12" idx="0"/>
          </p:cNvCxnSpPr>
          <p:nvPr/>
        </p:nvCxnSpPr>
        <p:spPr>
          <a:xfrm flipH="1">
            <a:off x="2025480" y="3749105"/>
            <a:ext cx="1" cy="710654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2341059" y="3364384"/>
            <a:ext cx="285751" cy="38472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500" dirty="0">
                <a:solidFill>
                  <a:schemeClr val="tx1"/>
                </a:solidFill>
              </a:rPr>
              <a:t>C</a:t>
            </a:r>
            <a:endParaRPr lang="zh-TW" altLang="en-US" sz="2500" dirty="0"/>
          </a:p>
        </p:txBody>
      </p:sp>
      <p:sp>
        <p:nvSpPr>
          <p:cNvPr id="16" name="矩形 15"/>
          <p:cNvSpPr/>
          <p:nvPr/>
        </p:nvSpPr>
        <p:spPr>
          <a:xfrm>
            <a:off x="2341058" y="4459759"/>
            <a:ext cx="285751" cy="38472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500" dirty="0" smtClean="0">
                <a:solidFill>
                  <a:schemeClr val="tx1"/>
                </a:solidFill>
              </a:rPr>
              <a:t>-</a:t>
            </a:r>
            <a:endParaRPr lang="zh-TW" altLang="en-US" sz="2500" dirty="0">
              <a:solidFill>
                <a:schemeClr val="tx1"/>
              </a:solidFill>
            </a:endParaRPr>
          </a:p>
        </p:txBody>
      </p:sp>
      <p:cxnSp>
        <p:nvCxnSpPr>
          <p:cNvPr id="17" name="直線接點 16"/>
          <p:cNvCxnSpPr>
            <a:stCxn id="15" idx="2"/>
            <a:endCxn id="16" idx="0"/>
          </p:cNvCxnSpPr>
          <p:nvPr/>
        </p:nvCxnSpPr>
        <p:spPr>
          <a:xfrm flipH="1">
            <a:off x="2483934" y="3749105"/>
            <a:ext cx="1" cy="710654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2799513" y="3364384"/>
            <a:ext cx="285751" cy="38472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500" dirty="0" smtClean="0">
                <a:solidFill>
                  <a:schemeClr val="tx1"/>
                </a:solidFill>
              </a:rPr>
              <a:t>C</a:t>
            </a:r>
            <a:endParaRPr lang="zh-TW" altLang="en-US" sz="2500" dirty="0"/>
          </a:p>
        </p:txBody>
      </p:sp>
      <p:sp>
        <p:nvSpPr>
          <p:cNvPr id="19" name="矩形 18"/>
          <p:cNvSpPr/>
          <p:nvPr/>
        </p:nvSpPr>
        <p:spPr>
          <a:xfrm>
            <a:off x="2799512" y="4459759"/>
            <a:ext cx="285751" cy="38472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500" dirty="0">
                <a:solidFill>
                  <a:schemeClr val="tx1"/>
                </a:solidFill>
              </a:rPr>
              <a:t>C</a:t>
            </a:r>
            <a:endParaRPr lang="zh-TW" altLang="en-US" sz="2500" dirty="0"/>
          </a:p>
        </p:txBody>
      </p:sp>
      <p:cxnSp>
        <p:nvCxnSpPr>
          <p:cNvPr id="20" name="直線接點 19"/>
          <p:cNvCxnSpPr>
            <a:stCxn id="18" idx="2"/>
            <a:endCxn id="19" idx="0"/>
          </p:cNvCxnSpPr>
          <p:nvPr/>
        </p:nvCxnSpPr>
        <p:spPr>
          <a:xfrm flipH="1">
            <a:off x="2942388" y="3749105"/>
            <a:ext cx="1" cy="710654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3257967" y="3364384"/>
            <a:ext cx="285751" cy="38472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500" dirty="0" smtClean="0">
                <a:solidFill>
                  <a:schemeClr val="tx1"/>
                </a:solidFill>
              </a:rPr>
              <a:t>G</a:t>
            </a:r>
            <a:endParaRPr lang="zh-TW" altLang="en-US" sz="2500" dirty="0"/>
          </a:p>
        </p:txBody>
      </p:sp>
      <p:sp>
        <p:nvSpPr>
          <p:cNvPr id="22" name="矩形 21"/>
          <p:cNvSpPr/>
          <p:nvPr/>
        </p:nvSpPr>
        <p:spPr>
          <a:xfrm>
            <a:off x="3257966" y="4459759"/>
            <a:ext cx="285751" cy="38472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500" dirty="0">
                <a:solidFill>
                  <a:schemeClr val="tx1"/>
                </a:solidFill>
              </a:rPr>
              <a:t>A</a:t>
            </a:r>
            <a:endParaRPr lang="zh-TW" altLang="en-US" sz="2500" dirty="0"/>
          </a:p>
        </p:txBody>
      </p:sp>
      <p:cxnSp>
        <p:nvCxnSpPr>
          <p:cNvPr id="23" name="直線接點 22"/>
          <p:cNvCxnSpPr>
            <a:stCxn id="21" idx="2"/>
            <a:endCxn id="22" idx="0"/>
          </p:cNvCxnSpPr>
          <p:nvPr/>
        </p:nvCxnSpPr>
        <p:spPr>
          <a:xfrm flipH="1">
            <a:off x="3400842" y="3749105"/>
            <a:ext cx="1" cy="710654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3716421" y="3364384"/>
            <a:ext cx="285751" cy="38472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500" dirty="0">
                <a:solidFill>
                  <a:schemeClr val="tx1"/>
                </a:solidFill>
              </a:rPr>
              <a:t>T</a:t>
            </a:r>
            <a:endParaRPr lang="zh-TW" altLang="en-US" sz="2500" dirty="0"/>
          </a:p>
        </p:txBody>
      </p:sp>
      <p:sp>
        <p:nvSpPr>
          <p:cNvPr id="25" name="矩形 24"/>
          <p:cNvSpPr/>
          <p:nvPr/>
        </p:nvSpPr>
        <p:spPr>
          <a:xfrm>
            <a:off x="3716420" y="4459759"/>
            <a:ext cx="285751" cy="38472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500" dirty="0" smtClean="0">
                <a:solidFill>
                  <a:schemeClr val="tx1"/>
                </a:solidFill>
              </a:rPr>
              <a:t>T</a:t>
            </a:r>
            <a:endParaRPr lang="zh-TW" altLang="en-US" sz="2500" dirty="0"/>
          </a:p>
        </p:txBody>
      </p:sp>
      <p:cxnSp>
        <p:nvCxnSpPr>
          <p:cNvPr id="26" name="直線接點 25"/>
          <p:cNvCxnSpPr>
            <a:stCxn id="24" idx="2"/>
            <a:endCxn id="25" idx="0"/>
          </p:cNvCxnSpPr>
          <p:nvPr/>
        </p:nvCxnSpPr>
        <p:spPr>
          <a:xfrm flipH="1">
            <a:off x="3859296" y="3749105"/>
            <a:ext cx="1" cy="710654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矩形 26"/>
          <p:cNvSpPr/>
          <p:nvPr/>
        </p:nvSpPr>
        <p:spPr>
          <a:xfrm>
            <a:off x="4174875" y="3364384"/>
            <a:ext cx="285751" cy="38472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500" dirty="0" smtClean="0">
                <a:solidFill>
                  <a:schemeClr val="tx1"/>
                </a:solidFill>
              </a:rPr>
              <a:t>-</a:t>
            </a:r>
            <a:endParaRPr lang="zh-TW" altLang="en-US" sz="2500" dirty="0">
              <a:solidFill>
                <a:schemeClr val="tx1"/>
              </a:solidFill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4174874" y="4459759"/>
            <a:ext cx="285751" cy="38472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500" dirty="0" smtClean="0">
                <a:solidFill>
                  <a:schemeClr val="tx1"/>
                </a:solidFill>
              </a:rPr>
              <a:t>C</a:t>
            </a:r>
            <a:endParaRPr lang="zh-TW" altLang="en-US" sz="2500" dirty="0"/>
          </a:p>
        </p:txBody>
      </p:sp>
      <p:cxnSp>
        <p:nvCxnSpPr>
          <p:cNvPr id="29" name="直線接點 28"/>
          <p:cNvCxnSpPr>
            <a:stCxn id="27" idx="2"/>
            <a:endCxn id="28" idx="0"/>
          </p:cNvCxnSpPr>
          <p:nvPr/>
        </p:nvCxnSpPr>
        <p:spPr>
          <a:xfrm flipH="1">
            <a:off x="4317750" y="3749105"/>
            <a:ext cx="1" cy="710654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矩形 29"/>
          <p:cNvSpPr/>
          <p:nvPr/>
        </p:nvSpPr>
        <p:spPr>
          <a:xfrm>
            <a:off x="4633329" y="3364384"/>
            <a:ext cx="285751" cy="38472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500" dirty="0" smtClean="0">
                <a:solidFill>
                  <a:schemeClr val="tx1"/>
                </a:solidFill>
              </a:rPr>
              <a:t>-</a:t>
            </a:r>
            <a:endParaRPr lang="zh-TW" altLang="en-US" sz="2500" dirty="0">
              <a:solidFill>
                <a:schemeClr val="tx1"/>
              </a:solidFill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4633328" y="4459759"/>
            <a:ext cx="285751" cy="38472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500" dirty="0">
                <a:solidFill>
                  <a:schemeClr val="tx1"/>
                </a:solidFill>
              </a:rPr>
              <a:t>A</a:t>
            </a:r>
            <a:endParaRPr lang="zh-TW" altLang="en-US" sz="2500" dirty="0"/>
          </a:p>
        </p:txBody>
      </p:sp>
      <p:cxnSp>
        <p:nvCxnSpPr>
          <p:cNvPr id="32" name="直線接點 31"/>
          <p:cNvCxnSpPr>
            <a:stCxn id="30" idx="2"/>
            <a:endCxn id="31" idx="0"/>
          </p:cNvCxnSpPr>
          <p:nvPr/>
        </p:nvCxnSpPr>
        <p:spPr>
          <a:xfrm flipH="1">
            <a:off x="4776204" y="3749105"/>
            <a:ext cx="1" cy="710654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矩形 32"/>
          <p:cNvSpPr/>
          <p:nvPr/>
        </p:nvSpPr>
        <p:spPr>
          <a:xfrm>
            <a:off x="5091783" y="3364384"/>
            <a:ext cx="285751" cy="38472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500" dirty="0" smtClean="0">
                <a:solidFill>
                  <a:schemeClr val="tx1"/>
                </a:solidFill>
              </a:rPr>
              <a:t>-</a:t>
            </a:r>
            <a:endParaRPr lang="zh-TW" altLang="en-US" sz="2500" dirty="0">
              <a:solidFill>
                <a:schemeClr val="tx1"/>
              </a:solidFill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5091782" y="4459759"/>
            <a:ext cx="285751" cy="38472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500" dirty="0" smtClean="0">
                <a:solidFill>
                  <a:schemeClr val="tx1"/>
                </a:solidFill>
              </a:rPr>
              <a:t>G</a:t>
            </a:r>
            <a:endParaRPr lang="zh-TW" altLang="en-US" sz="2500" dirty="0"/>
          </a:p>
        </p:txBody>
      </p:sp>
      <p:cxnSp>
        <p:nvCxnSpPr>
          <p:cNvPr id="35" name="直線接點 34"/>
          <p:cNvCxnSpPr>
            <a:stCxn id="33" idx="2"/>
            <a:endCxn id="34" idx="0"/>
          </p:cNvCxnSpPr>
          <p:nvPr/>
        </p:nvCxnSpPr>
        <p:spPr>
          <a:xfrm flipH="1">
            <a:off x="5234658" y="3749105"/>
            <a:ext cx="1" cy="710654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矩形 35"/>
          <p:cNvSpPr/>
          <p:nvPr/>
        </p:nvSpPr>
        <p:spPr>
          <a:xfrm>
            <a:off x="5550237" y="3364384"/>
            <a:ext cx="285751" cy="38472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500" dirty="0">
                <a:solidFill>
                  <a:schemeClr val="tx1"/>
                </a:solidFill>
              </a:rPr>
              <a:t>C</a:t>
            </a:r>
            <a:endParaRPr lang="zh-TW" altLang="en-US" sz="2500" dirty="0"/>
          </a:p>
        </p:txBody>
      </p:sp>
      <p:sp>
        <p:nvSpPr>
          <p:cNvPr id="37" name="矩形 36"/>
          <p:cNvSpPr/>
          <p:nvPr/>
        </p:nvSpPr>
        <p:spPr>
          <a:xfrm>
            <a:off x="5550236" y="4459759"/>
            <a:ext cx="285751" cy="38472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500" dirty="0">
                <a:solidFill>
                  <a:schemeClr val="tx1"/>
                </a:solidFill>
              </a:rPr>
              <a:t>C</a:t>
            </a:r>
            <a:endParaRPr lang="zh-TW" altLang="en-US" sz="2500" dirty="0">
              <a:solidFill>
                <a:schemeClr val="tx1"/>
              </a:solidFill>
            </a:endParaRPr>
          </a:p>
        </p:txBody>
      </p:sp>
      <p:cxnSp>
        <p:nvCxnSpPr>
          <p:cNvPr id="38" name="直線接點 37"/>
          <p:cNvCxnSpPr>
            <a:stCxn id="36" idx="2"/>
            <a:endCxn id="37" idx="0"/>
          </p:cNvCxnSpPr>
          <p:nvPr/>
        </p:nvCxnSpPr>
        <p:spPr>
          <a:xfrm flipH="1">
            <a:off x="5693112" y="3749105"/>
            <a:ext cx="1" cy="710654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矩形 38"/>
          <p:cNvSpPr/>
          <p:nvPr/>
        </p:nvSpPr>
        <p:spPr>
          <a:xfrm>
            <a:off x="6008694" y="3364384"/>
            <a:ext cx="285751" cy="38472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500" dirty="0" smtClean="0">
                <a:solidFill>
                  <a:schemeClr val="tx1"/>
                </a:solidFill>
              </a:rPr>
              <a:t>A</a:t>
            </a:r>
            <a:endParaRPr lang="zh-TW" altLang="en-US" sz="2500" dirty="0">
              <a:solidFill>
                <a:schemeClr val="tx1"/>
              </a:solidFill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6008693" y="4459759"/>
            <a:ext cx="285751" cy="38472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500" dirty="0">
                <a:solidFill>
                  <a:schemeClr val="tx1"/>
                </a:solidFill>
              </a:rPr>
              <a:t>T</a:t>
            </a:r>
            <a:endParaRPr lang="zh-TW" altLang="en-US" sz="2500" dirty="0"/>
          </a:p>
        </p:txBody>
      </p:sp>
      <p:cxnSp>
        <p:nvCxnSpPr>
          <p:cNvPr id="41" name="直線接點 40"/>
          <p:cNvCxnSpPr>
            <a:stCxn id="39" idx="2"/>
            <a:endCxn id="40" idx="0"/>
          </p:cNvCxnSpPr>
          <p:nvPr/>
        </p:nvCxnSpPr>
        <p:spPr>
          <a:xfrm flipH="1">
            <a:off x="6151569" y="3749105"/>
            <a:ext cx="1" cy="710654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矩形 41"/>
          <p:cNvSpPr/>
          <p:nvPr/>
        </p:nvSpPr>
        <p:spPr>
          <a:xfrm>
            <a:off x="6437319" y="3364384"/>
            <a:ext cx="285751" cy="38472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500" dirty="0">
                <a:solidFill>
                  <a:schemeClr val="tx1"/>
                </a:solidFill>
              </a:rPr>
              <a:t>A</a:t>
            </a:r>
            <a:endParaRPr lang="zh-TW" altLang="en-US" sz="2500" dirty="0">
              <a:solidFill>
                <a:schemeClr val="tx1"/>
              </a:solidFill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6437318" y="4459759"/>
            <a:ext cx="285751" cy="38472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500" dirty="0">
                <a:solidFill>
                  <a:schemeClr val="tx1"/>
                </a:solidFill>
              </a:rPr>
              <a:t>A</a:t>
            </a:r>
            <a:endParaRPr lang="zh-TW" altLang="en-US" sz="2500" dirty="0"/>
          </a:p>
        </p:txBody>
      </p:sp>
      <p:cxnSp>
        <p:nvCxnSpPr>
          <p:cNvPr id="44" name="直線接點 43"/>
          <p:cNvCxnSpPr>
            <a:stCxn id="42" idx="2"/>
            <a:endCxn id="43" idx="0"/>
          </p:cNvCxnSpPr>
          <p:nvPr/>
        </p:nvCxnSpPr>
        <p:spPr>
          <a:xfrm flipH="1">
            <a:off x="6580194" y="3749105"/>
            <a:ext cx="1" cy="710654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/>
              <p:cNvSpPr txBox="1"/>
              <p:nvPr/>
            </p:nvSpPr>
            <p:spPr>
              <a:xfrm>
                <a:off x="3602709" y="1376937"/>
                <a:ext cx="20954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8" name="文字方塊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2709" y="1376937"/>
                <a:ext cx="209545" cy="307777"/>
              </a:xfrm>
              <a:prstGeom prst="rect">
                <a:avLst/>
              </a:prstGeom>
              <a:blipFill rotWithShape="0">
                <a:blip r:embed="rId6"/>
                <a:stretch>
                  <a:fillRect l="-17647" r="-1470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字方塊 44"/>
              <p:cNvSpPr txBox="1"/>
              <p:nvPr/>
            </p:nvSpPr>
            <p:spPr>
              <a:xfrm>
                <a:off x="3898003" y="2403072"/>
                <a:ext cx="276871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45" name="文字方塊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8003" y="2403072"/>
                <a:ext cx="276871" cy="307777"/>
              </a:xfrm>
              <a:prstGeom prst="rect">
                <a:avLst/>
              </a:prstGeom>
              <a:blipFill rotWithShape="0">
                <a:blip r:embed="rId7"/>
                <a:stretch>
                  <a:fillRect l="-10870" r="-1087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6217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85750" y="174627"/>
            <a:ext cx="5915025" cy="873124"/>
          </a:xfrm>
        </p:spPr>
        <p:txBody>
          <a:bodyPr/>
          <a:lstStyle/>
          <a:p>
            <a:r>
              <a:rPr lang="en-US" altLang="zh-TW" dirty="0" smtClean="0"/>
              <a:t>Scoring scheme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/>
              <p:cNvSpPr txBox="1"/>
              <p:nvPr/>
            </p:nvSpPr>
            <p:spPr>
              <a:xfrm>
                <a:off x="1132219" y="1179351"/>
                <a:ext cx="368499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5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5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TW" sz="25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9" name="文字方塊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2219" y="1179351"/>
                <a:ext cx="368499" cy="384721"/>
              </a:xfrm>
              <a:prstGeom prst="rect">
                <a:avLst/>
              </a:prstGeom>
              <a:blipFill rotWithShape="0">
                <a:blip r:embed="rId2"/>
                <a:stretch>
                  <a:fillRect l="-20000" r="-8333" b="-140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/>
              <p:cNvSpPr txBox="1"/>
              <p:nvPr/>
            </p:nvSpPr>
            <p:spPr>
              <a:xfrm>
                <a:off x="1132219" y="2189001"/>
                <a:ext cx="375936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5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5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TW" sz="25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10" name="文字方塊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2219" y="2189001"/>
                <a:ext cx="375936" cy="384721"/>
              </a:xfrm>
              <a:prstGeom prst="rect">
                <a:avLst/>
              </a:prstGeom>
              <a:blipFill rotWithShape="0">
                <a:blip r:embed="rId3"/>
                <a:stretch>
                  <a:fillRect l="-19672" r="-8197" b="-158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矩形 10"/>
          <p:cNvSpPr/>
          <p:nvPr/>
        </p:nvSpPr>
        <p:spPr>
          <a:xfrm>
            <a:off x="1663530" y="1173634"/>
            <a:ext cx="285751" cy="38472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500" dirty="0" smtClean="0">
                <a:solidFill>
                  <a:schemeClr val="tx1"/>
                </a:solidFill>
              </a:rPr>
              <a:t>A</a:t>
            </a:r>
            <a:endParaRPr lang="zh-TW" altLang="en-US" sz="2500" dirty="0">
              <a:solidFill>
                <a:schemeClr val="tx1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663529" y="2269009"/>
            <a:ext cx="285751" cy="38472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500">
                <a:solidFill>
                  <a:schemeClr val="tx1"/>
                </a:solidFill>
              </a:rPr>
              <a:t>A</a:t>
            </a:r>
            <a:endParaRPr lang="zh-TW" altLang="en-US" sz="2500" dirty="0"/>
          </a:p>
        </p:txBody>
      </p:sp>
      <p:cxnSp>
        <p:nvCxnSpPr>
          <p:cNvPr id="14" name="直線接點 13"/>
          <p:cNvCxnSpPr>
            <a:stCxn id="11" idx="2"/>
            <a:endCxn id="12" idx="0"/>
          </p:cNvCxnSpPr>
          <p:nvPr/>
        </p:nvCxnSpPr>
        <p:spPr>
          <a:xfrm flipH="1">
            <a:off x="1806405" y="1558355"/>
            <a:ext cx="1" cy="710654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2121984" y="1173634"/>
            <a:ext cx="285751" cy="38472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500" dirty="0">
                <a:solidFill>
                  <a:schemeClr val="tx1"/>
                </a:solidFill>
              </a:rPr>
              <a:t>C</a:t>
            </a:r>
            <a:endParaRPr lang="zh-TW" altLang="en-US" sz="2500" dirty="0"/>
          </a:p>
        </p:txBody>
      </p:sp>
      <p:sp>
        <p:nvSpPr>
          <p:cNvPr id="16" name="矩形 15"/>
          <p:cNvSpPr/>
          <p:nvPr/>
        </p:nvSpPr>
        <p:spPr>
          <a:xfrm>
            <a:off x="2121983" y="2269009"/>
            <a:ext cx="285751" cy="38472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500" dirty="0" smtClean="0">
                <a:solidFill>
                  <a:schemeClr val="tx1"/>
                </a:solidFill>
              </a:rPr>
              <a:t>-</a:t>
            </a:r>
            <a:endParaRPr lang="zh-TW" altLang="en-US" sz="2500" dirty="0">
              <a:solidFill>
                <a:schemeClr val="tx1"/>
              </a:solidFill>
            </a:endParaRPr>
          </a:p>
        </p:txBody>
      </p:sp>
      <p:cxnSp>
        <p:nvCxnSpPr>
          <p:cNvPr id="17" name="直線接點 16"/>
          <p:cNvCxnSpPr>
            <a:stCxn id="15" idx="2"/>
            <a:endCxn id="16" idx="0"/>
          </p:cNvCxnSpPr>
          <p:nvPr/>
        </p:nvCxnSpPr>
        <p:spPr>
          <a:xfrm flipH="1">
            <a:off x="2264859" y="1558355"/>
            <a:ext cx="1" cy="710654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2580438" y="1173634"/>
            <a:ext cx="285751" cy="38472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500" dirty="0" smtClean="0">
                <a:solidFill>
                  <a:schemeClr val="tx1"/>
                </a:solidFill>
              </a:rPr>
              <a:t>C</a:t>
            </a:r>
            <a:endParaRPr lang="zh-TW" altLang="en-US" sz="2500" dirty="0"/>
          </a:p>
        </p:txBody>
      </p:sp>
      <p:sp>
        <p:nvSpPr>
          <p:cNvPr id="19" name="矩形 18"/>
          <p:cNvSpPr/>
          <p:nvPr/>
        </p:nvSpPr>
        <p:spPr>
          <a:xfrm>
            <a:off x="2580437" y="2269009"/>
            <a:ext cx="285751" cy="38472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500" dirty="0">
                <a:solidFill>
                  <a:schemeClr val="tx1"/>
                </a:solidFill>
              </a:rPr>
              <a:t>C</a:t>
            </a:r>
            <a:endParaRPr lang="zh-TW" altLang="en-US" sz="2500" dirty="0"/>
          </a:p>
        </p:txBody>
      </p:sp>
      <p:cxnSp>
        <p:nvCxnSpPr>
          <p:cNvPr id="20" name="直線接點 19"/>
          <p:cNvCxnSpPr>
            <a:stCxn id="18" idx="2"/>
            <a:endCxn id="19" idx="0"/>
          </p:cNvCxnSpPr>
          <p:nvPr/>
        </p:nvCxnSpPr>
        <p:spPr>
          <a:xfrm flipH="1">
            <a:off x="2723313" y="1558355"/>
            <a:ext cx="1" cy="710654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3038892" y="1173634"/>
            <a:ext cx="285751" cy="38472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500" dirty="0" smtClean="0">
                <a:solidFill>
                  <a:schemeClr val="tx1"/>
                </a:solidFill>
              </a:rPr>
              <a:t>G</a:t>
            </a:r>
            <a:endParaRPr lang="zh-TW" altLang="en-US" sz="2500" dirty="0"/>
          </a:p>
        </p:txBody>
      </p:sp>
      <p:sp>
        <p:nvSpPr>
          <p:cNvPr id="22" name="矩形 21"/>
          <p:cNvSpPr/>
          <p:nvPr/>
        </p:nvSpPr>
        <p:spPr>
          <a:xfrm>
            <a:off x="3038891" y="2269009"/>
            <a:ext cx="285751" cy="38472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500" dirty="0">
                <a:solidFill>
                  <a:schemeClr val="tx1"/>
                </a:solidFill>
              </a:rPr>
              <a:t>A</a:t>
            </a:r>
            <a:endParaRPr lang="zh-TW" altLang="en-US" sz="2500" dirty="0"/>
          </a:p>
        </p:txBody>
      </p:sp>
      <p:cxnSp>
        <p:nvCxnSpPr>
          <p:cNvPr id="23" name="直線接點 22"/>
          <p:cNvCxnSpPr>
            <a:stCxn id="21" idx="2"/>
            <a:endCxn id="22" idx="0"/>
          </p:cNvCxnSpPr>
          <p:nvPr/>
        </p:nvCxnSpPr>
        <p:spPr>
          <a:xfrm flipH="1">
            <a:off x="3181767" y="1558355"/>
            <a:ext cx="1" cy="710654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3497346" y="1173634"/>
            <a:ext cx="285751" cy="38472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500" dirty="0">
                <a:solidFill>
                  <a:schemeClr val="tx1"/>
                </a:solidFill>
              </a:rPr>
              <a:t>T</a:t>
            </a:r>
            <a:endParaRPr lang="zh-TW" altLang="en-US" sz="2500" dirty="0"/>
          </a:p>
        </p:txBody>
      </p:sp>
      <p:sp>
        <p:nvSpPr>
          <p:cNvPr id="25" name="矩形 24"/>
          <p:cNvSpPr/>
          <p:nvPr/>
        </p:nvSpPr>
        <p:spPr>
          <a:xfrm>
            <a:off x="3497345" y="2269009"/>
            <a:ext cx="285751" cy="38472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500" dirty="0" smtClean="0">
                <a:solidFill>
                  <a:schemeClr val="tx1"/>
                </a:solidFill>
              </a:rPr>
              <a:t>T</a:t>
            </a:r>
            <a:endParaRPr lang="zh-TW" altLang="en-US" sz="2500" dirty="0"/>
          </a:p>
        </p:txBody>
      </p:sp>
      <p:cxnSp>
        <p:nvCxnSpPr>
          <p:cNvPr id="26" name="直線接點 25"/>
          <p:cNvCxnSpPr>
            <a:stCxn id="24" idx="2"/>
            <a:endCxn id="25" idx="0"/>
          </p:cNvCxnSpPr>
          <p:nvPr/>
        </p:nvCxnSpPr>
        <p:spPr>
          <a:xfrm flipH="1">
            <a:off x="3640221" y="1558355"/>
            <a:ext cx="1" cy="710654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矩形 26"/>
          <p:cNvSpPr/>
          <p:nvPr/>
        </p:nvSpPr>
        <p:spPr>
          <a:xfrm>
            <a:off x="3955800" y="1173634"/>
            <a:ext cx="285751" cy="38472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500" dirty="0" smtClean="0">
                <a:solidFill>
                  <a:schemeClr val="tx1"/>
                </a:solidFill>
              </a:rPr>
              <a:t>-</a:t>
            </a:r>
            <a:endParaRPr lang="zh-TW" altLang="en-US" sz="2500" dirty="0">
              <a:solidFill>
                <a:schemeClr val="tx1"/>
              </a:solidFill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3955799" y="2269009"/>
            <a:ext cx="285751" cy="38472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500" dirty="0" smtClean="0">
                <a:solidFill>
                  <a:schemeClr val="tx1"/>
                </a:solidFill>
              </a:rPr>
              <a:t>C</a:t>
            </a:r>
            <a:endParaRPr lang="zh-TW" altLang="en-US" sz="2500" dirty="0"/>
          </a:p>
        </p:txBody>
      </p:sp>
      <p:cxnSp>
        <p:nvCxnSpPr>
          <p:cNvPr id="29" name="直線接點 28"/>
          <p:cNvCxnSpPr>
            <a:stCxn id="27" idx="2"/>
            <a:endCxn id="28" idx="0"/>
          </p:cNvCxnSpPr>
          <p:nvPr/>
        </p:nvCxnSpPr>
        <p:spPr>
          <a:xfrm flipH="1">
            <a:off x="4098675" y="1558355"/>
            <a:ext cx="1" cy="710654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矩形 29"/>
          <p:cNvSpPr/>
          <p:nvPr/>
        </p:nvSpPr>
        <p:spPr>
          <a:xfrm>
            <a:off x="4414254" y="1173634"/>
            <a:ext cx="285751" cy="38472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500" dirty="0" smtClean="0">
                <a:solidFill>
                  <a:schemeClr val="tx1"/>
                </a:solidFill>
              </a:rPr>
              <a:t>-</a:t>
            </a:r>
            <a:endParaRPr lang="zh-TW" altLang="en-US" sz="2500" dirty="0">
              <a:solidFill>
                <a:schemeClr val="tx1"/>
              </a:solidFill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4414253" y="2269009"/>
            <a:ext cx="285751" cy="38472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500" dirty="0">
                <a:solidFill>
                  <a:schemeClr val="tx1"/>
                </a:solidFill>
              </a:rPr>
              <a:t>A</a:t>
            </a:r>
            <a:endParaRPr lang="zh-TW" altLang="en-US" sz="2500" dirty="0"/>
          </a:p>
        </p:txBody>
      </p:sp>
      <p:cxnSp>
        <p:nvCxnSpPr>
          <p:cNvPr id="32" name="直線接點 31"/>
          <p:cNvCxnSpPr>
            <a:stCxn id="30" idx="2"/>
            <a:endCxn id="31" idx="0"/>
          </p:cNvCxnSpPr>
          <p:nvPr/>
        </p:nvCxnSpPr>
        <p:spPr>
          <a:xfrm flipH="1">
            <a:off x="4557129" y="1558355"/>
            <a:ext cx="1" cy="710654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矩形 32"/>
          <p:cNvSpPr/>
          <p:nvPr/>
        </p:nvSpPr>
        <p:spPr>
          <a:xfrm>
            <a:off x="4872708" y="1173634"/>
            <a:ext cx="285751" cy="38472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500" dirty="0" smtClean="0">
                <a:solidFill>
                  <a:schemeClr val="tx1"/>
                </a:solidFill>
              </a:rPr>
              <a:t>-</a:t>
            </a:r>
            <a:endParaRPr lang="zh-TW" altLang="en-US" sz="2500" dirty="0">
              <a:solidFill>
                <a:schemeClr val="tx1"/>
              </a:solidFill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4872707" y="2269009"/>
            <a:ext cx="285751" cy="38472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500" dirty="0" smtClean="0">
                <a:solidFill>
                  <a:schemeClr val="tx1"/>
                </a:solidFill>
              </a:rPr>
              <a:t>G</a:t>
            </a:r>
            <a:endParaRPr lang="zh-TW" altLang="en-US" sz="2500" dirty="0"/>
          </a:p>
        </p:txBody>
      </p:sp>
      <p:cxnSp>
        <p:nvCxnSpPr>
          <p:cNvPr id="35" name="直線接點 34"/>
          <p:cNvCxnSpPr>
            <a:stCxn id="33" idx="2"/>
            <a:endCxn id="34" idx="0"/>
          </p:cNvCxnSpPr>
          <p:nvPr/>
        </p:nvCxnSpPr>
        <p:spPr>
          <a:xfrm flipH="1">
            <a:off x="5015583" y="1558355"/>
            <a:ext cx="1" cy="710654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矩形 35"/>
          <p:cNvSpPr/>
          <p:nvPr/>
        </p:nvSpPr>
        <p:spPr>
          <a:xfrm>
            <a:off x="5331162" y="1173634"/>
            <a:ext cx="285751" cy="38472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500" dirty="0">
                <a:solidFill>
                  <a:schemeClr val="tx1"/>
                </a:solidFill>
              </a:rPr>
              <a:t>C</a:t>
            </a:r>
            <a:endParaRPr lang="zh-TW" altLang="en-US" sz="2500" dirty="0"/>
          </a:p>
        </p:txBody>
      </p:sp>
      <p:sp>
        <p:nvSpPr>
          <p:cNvPr id="37" name="矩形 36"/>
          <p:cNvSpPr/>
          <p:nvPr/>
        </p:nvSpPr>
        <p:spPr>
          <a:xfrm>
            <a:off x="5331161" y="2269009"/>
            <a:ext cx="285751" cy="38472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500" dirty="0">
                <a:solidFill>
                  <a:schemeClr val="tx1"/>
                </a:solidFill>
              </a:rPr>
              <a:t>C</a:t>
            </a:r>
            <a:endParaRPr lang="zh-TW" altLang="en-US" sz="2500" dirty="0">
              <a:solidFill>
                <a:schemeClr val="tx1"/>
              </a:solidFill>
            </a:endParaRPr>
          </a:p>
        </p:txBody>
      </p:sp>
      <p:cxnSp>
        <p:nvCxnSpPr>
          <p:cNvPr id="38" name="直線接點 37"/>
          <p:cNvCxnSpPr>
            <a:stCxn id="36" idx="2"/>
            <a:endCxn id="37" idx="0"/>
          </p:cNvCxnSpPr>
          <p:nvPr/>
        </p:nvCxnSpPr>
        <p:spPr>
          <a:xfrm flipH="1">
            <a:off x="5474037" y="1558355"/>
            <a:ext cx="1" cy="710654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矩形 38"/>
          <p:cNvSpPr/>
          <p:nvPr/>
        </p:nvSpPr>
        <p:spPr>
          <a:xfrm>
            <a:off x="5789619" y="1173634"/>
            <a:ext cx="285751" cy="38472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500" dirty="0" smtClean="0">
                <a:solidFill>
                  <a:schemeClr val="tx1"/>
                </a:solidFill>
              </a:rPr>
              <a:t>A</a:t>
            </a:r>
            <a:endParaRPr lang="zh-TW" altLang="en-US" sz="2500" dirty="0">
              <a:solidFill>
                <a:schemeClr val="tx1"/>
              </a:solidFill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5789618" y="2269009"/>
            <a:ext cx="285751" cy="38472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500" dirty="0">
                <a:solidFill>
                  <a:schemeClr val="tx1"/>
                </a:solidFill>
              </a:rPr>
              <a:t>T</a:t>
            </a:r>
            <a:endParaRPr lang="zh-TW" altLang="en-US" sz="2500" dirty="0"/>
          </a:p>
        </p:txBody>
      </p:sp>
      <p:cxnSp>
        <p:nvCxnSpPr>
          <p:cNvPr id="41" name="直線接點 40"/>
          <p:cNvCxnSpPr>
            <a:stCxn id="39" idx="2"/>
            <a:endCxn id="40" idx="0"/>
          </p:cNvCxnSpPr>
          <p:nvPr/>
        </p:nvCxnSpPr>
        <p:spPr>
          <a:xfrm flipH="1">
            <a:off x="5932494" y="1558355"/>
            <a:ext cx="1" cy="710654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矩形 41"/>
          <p:cNvSpPr/>
          <p:nvPr/>
        </p:nvSpPr>
        <p:spPr>
          <a:xfrm>
            <a:off x="6218244" y="1173634"/>
            <a:ext cx="285751" cy="38472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500" dirty="0">
                <a:solidFill>
                  <a:schemeClr val="tx1"/>
                </a:solidFill>
              </a:rPr>
              <a:t>A</a:t>
            </a:r>
            <a:endParaRPr lang="zh-TW" altLang="en-US" sz="2500" dirty="0">
              <a:solidFill>
                <a:schemeClr val="tx1"/>
              </a:solidFill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6218243" y="2269009"/>
            <a:ext cx="285751" cy="38472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500" dirty="0">
                <a:solidFill>
                  <a:schemeClr val="tx1"/>
                </a:solidFill>
              </a:rPr>
              <a:t>A</a:t>
            </a:r>
            <a:endParaRPr lang="zh-TW" altLang="en-US" sz="2500" dirty="0"/>
          </a:p>
        </p:txBody>
      </p:sp>
      <p:cxnSp>
        <p:nvCxnSpPr>
          <p:cNvPr id="44" name="直線接點 43"/>
          <p:cNvCxnSpPr>
            <a:stCxn id="42" idx="2"/>
            <a:endCxn id="43" idx="0"/>
          </p:cNvCxnSpPr>
          <p:nvPr/>
        </p:nvCxnSpPr>
        <p:spPr>
          <a:xfrm flipH="1">
            <a:off x="6361119" y="1558355"/>
            <a:ext cx="1" cy="710654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字方塊 47"/>
              <p:cNvSpPr txBox="1"/>
              <p:nvPr/>
            </p:nvSpPr>
            <p:spPr>
              <a:xfrm>
                <a:off x="1508155" y="3012711"/>
                <a:ext cx="3893502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dirty="0"/>
                  <a:t>A</a:t>
                </a:r>
                <a:r>
                  <a:rPr lang="en-US" altLang="zh-TW" sz="2000" dirty="0" smtClean="0"/>
                  <a:t>lignment : </a:t>
                </a:r>
                <a:r>
                  <a:rPr lang="en-US" altLang="zh-TW" sz="2000" dirty="0" smtClean="0">
                    <a:solidFill>
                      <a:srgbClr val="00B050"/>
                    </a:solidFill>
                  </a:rPr>
                  <a:t>match  </a:t>
                </a:r>
                <a:r>
                  <a:rPr lang="en-US" altLang="zh-TW" sz="2000" dirty="0" smtClean="0">
                    <a:solidFill>
                      <a:srgbClr val="C00000"/>
                    </a:solidFill>
                  </a:rPr>
                  <a:t>mismatch  </a:t>
                </a:r>
                <a:r>
                  <a:rPr lang="en-US" altLang="zh-TW" sz="2000" dirty="0" smtClean="0">
                    <a:solidFill>
                      <a:srgbClr val="0070C0"/>
                    </a:solidFill>
                  </a:rPr>
                  <a:t>gap</a:t>
                </a:r>
              </a:p>
              <a:p>
                <a:endParaRPr lang="en-US" altLang="zh-TW" sz="2000" dirty="0" smtClean="0"/>
              </a:p>
              <a:p>
                <a:r>
                  <a:rPr lang="en-US" altLang="zh-TW" sz="2000" dirty="0" smtClean="0"/>
                  <a:t>         Score </a:t>
                </a:r>
                <a:r>
                  <a:rPr lang="en-US" altLang="zh-TW" sz="2000" dirty="0"/>
                  <a:t>: </a:t>
                </a:r>
                <a:r>
                  <a:rPr lang="en-US" altLang="zh-TW" sz="2000" dirty="0" smtClean="0"/>
                  <a:t>   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altLang="zh-TW" sz="2000" dirty="0" smtClean="0">
                    <a:solidFill>
                      <a:srgbClr val="00B050"/>
                    </a:solidFill>
                  </a:rPr>
                  <a:t>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zh-TW" sz="20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altLang="zh-TW" sz="2000" dirty="0" smtClean="0">
                    <a:solidFill>
                      <a:srgbClr val="C00000"/>
                    </a:solidFill>
                  </a:rPr>
                  <a:t>         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zh-TW" altLang="en-US" sz="2000" dirty="0" smtClean="0">
                    <a:solidFill>
                      <a:srgbClr val="00B050"/>
                    </a:solidFill>
                  </a:rPr>
                  <a:t>  </a:t>
                </a:r>
                <a:r>
                  <a:rPr lang="en-US" altLang="zh-TW" sz="2000" dirty="0" smtClean="0"/>
                  <a:t> </a:t>
                </a:r>
                <a:endParaRPr lang="zh-TW" altLang="en-US" sz="2000" dirty="0"/>
              </a:p>
            </p:txBody>
          </p:sp>
        </mc:Choice>
        <mc:Fallback xmlns="">
          <p:sp>
            <p:nvSpPr>
              <p:cNvPr id="48" name="文字方塊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8155" y="3012711"/>
                <a:ext cx="3893502" cy="1015663"/>
              </a:xfrm>
              <a:prstGeom prst="rect">
                <a:avLst/>
              </a:prstGeom>
              <a:blipFill rotWithShape="0">
                <a:blip r:embed="rId4"/>
                <a:stretch>
                  <a:fillRect l="-1565" t="-2994" b="-95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/>
              <p:cNvSpPr/>
              <p:nvPr/>
            </p:nvSpPr>
            <p:spPr>
              <a:xfrm>
                <a:off x="1949280" y="4471021"/>
                <a:ext cx="450790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sz="2000" dirty="0" smtClean="0"/>
                  <a:t>Score of this alignment :</a:t>
                </a:r>
                <a:r>
                  <a:rPr lang="en-US" altLang="zh-TW" sz="2000" dirty="0">
                    <a:solidFill>
                      <a:srgbClr val="00B05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0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altLang="zh-TW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zh-TW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TW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TW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zh-TW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altLang="zh-TW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+4</m:t>
                    </m:r>
                    <m:r>
                      <a:rPr lang="en-US" altLang="zh-TW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US" altLang="zh-TW" sz="2000" dirty="0" smtClean="0"/>
              </a:p>
            </p:txBody>
          </p:sp>
        </mc:Choice>
        <mc:Fallback xmlns=""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9280" y="4471021"/>
                <a:ext cx="4507901" cy="400110"/>
              </a:xfrm>
              <a:prstGeom prst="rect">
                <a:avLst/>
              </a:prstGeom>
              <a:blipFill rotWithShape="0">
                <a:blip r:embed="rId5"/>
                <a:stretch>
                  <a:fillRect l="-1488" t="-7576" b="-2575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04726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85750" y="174626"/>
            <a:ext cx="8248650" cy="1024747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Scoring scheme : affine gap penalty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/>
              <p:cNvSpPr txBox="1"/>
              <p:nvPr/>
            </p:nvSpPr>
            <p:spPr>
              <a:xfrm>
                <a:off x="1132219" y="1179351"/>
                <a:ext cx="368499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5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5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TW" sz="25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9" name="文字方塊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2219" y="1179351"/>
                <a:ext cx="368499" cy="384721"/>
              </a:xfrm>
              <a:prstGeom prst="rect">
                <a:avLst/>
              </a:prstGeom>
              <a:blipFill rotWithShape="0">
                <a:blip r:embed="rId2"/>
                <a:stretch>
                  <a:fillRect l="-20000" r="-8333" b="-140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/>
              <p:cNvSpPr txBox="1"/>
              <p:nvPr/>
            </p:nvSpPr>
            <p:spPr>
              <a:xfrm>
                <a:off x="1132219" y="2189001"/>
                <a:ext cx="375936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5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5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TW" sz="25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10" name="文字方塊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2219" y="2189001"/>
                <a:ext cx="375936" cy="384721"/>
              </a:xfrm>
              <a:prstGeom prst="rect">
                <a:avLst/>
              </a:prstGeom>
              <a:blipFill rotWithShape="0">
                <a:blip r:embed="rId3"/>
                <a:stretch>
                  <a:fillRect l="-19672" r="-8197" b="-158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矩形 10"/>
          <p:cNvSpPr/>
          <p:nvPr/>
        </p:nvSpPr>
        <p:spPr>
          <a:xfrm>
            <a:off x="1663530" y="1173634"/>
            <a:ext cx="285751" cy="38472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500" dirty="0" smtClean="0">
                <a:solidFill>
                  <a:schemeClr val="tx1"/>
                </a:solidFill>
              </a:rPr>
              <a:t>A</a:t>
            </a:r>
            <a:endParaRPr lang="zh-TW" altLang="en-US" sz="2500" dirty="0">
              <a:solidFill>
                <a:schemeClr val="tx1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663529" y="2269009"/>
            <a:ext cx="285751" cy="38472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500">
                <a:solidFill>
                  <a:schemeClr val="tx1"/>
                </a:solidFill>
              </a:rPr>
              <a:t>A</a:t>
            </a:r>
            <a:endParaRPr lang="zh-TW" altLang="en-US" sz="2500" dirty="0"/>
          </a:p>
        </p:txBody>
      </p:sp>
      <p:cxnSp>
        <p:nvCxnSpPr>
          <p:cNvPr id="14" name="直線接點 13"/>
          <p:cNvCxnSpPr>
            <a:stCxn id="11" idx="2"/>
            <a:endCxn id="12" idx="0"/>
          </p:cNvCxnSpPr>
          <p:nvPr/>
        </p:nvCxnSpPr>
        <p:spPr>
          <a:xfrm flipH="1">
            <a:off x="1806405" y="1558355"/>
            <a:ext cx="1" cy="710654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2121984" y="1173634"/>
            <a:ext cx="285751" cy="38472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500" dirty="0">
                <a:solidFill>
                  <a:schemeClr val="tx1"/>
                </a:solidFill>
              </a:rPr>
              <a:t>C</a:t>
            </a:r>
            <a:endParaRPr lang="zh-TW" altLang="en-US" sz="2500" dirty="0"/>
          </a:p>
        </p:txBody>
      </p:sp>
      <p:sp>
        <p:nvSpPr>
          <p:cNvPr id="16" name="矩形 15"/>
          <p:cNvSpPr/>
          <p:nvPr/>
        </p:nvSpPr>
        <p:spPr>
          <a:xfrm>
            <a:off x="2121983" y="2269009"/>
            <a:ext cx="285751" cy="38472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500" dirty="0" smtClean="0">
                <a:solidFill>
                  <a:schemeClr val="tx1"/>
                </a:solidFill>
              </a:rPr>
              <a:t>-</a:t>
            </a:r>
            <a:endParaRPr lang="zh-TW" altLang="en-US" sz="2500" dirty="0">
              <a:solidFill>
                <a:schemeClr val="tx1"/>
              </a:solidFill>
            </a:endParaRPr>
          </a:p>
        </p:txBody>
      </p:sp>
      <p:cxnSp>
        <p:nvCxnSpPr>
          <p:cNvPr id="17" name="直線接點 16"/>
          <p:cNvCxnSpPr>
            <a:stCxn id="15" idx="2"/>
            <a:endCxn id="16" idx="0"/>
          </p:cNvCxnSpPr>
          <p:nvPr/>
        </p:nvCxnSpPr>
        <p:spPr>
          <a:xfrm flipH="1">
            <a:off x="2264859" y="1558355"/>
            <a:ext cx="1" cy="710654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2580438" y="1173634"/>
            <a:ext cx="285751" cy="38472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500" dirty="0" smtClean="0">
                <a:solidFill>
                  <a:schemeClr val="tx1"/>
                </a:solidFill>
              </a:rPr>
              <a:t>C</a:t>
            </a:r>
            <a:endParaRPr lang="zh-TW" altLang="en-US" sz="2500" dirty="0"/>
          </a:p>
        </p:txBody>
      </p:sp>
      <p:sp>
        <p:nvSpPr>
          <p:cNvPr id="19" name="矩形 18"/>
          <p:cNvSpPr/>
          <p:nvPr/>
        </p:nvSpPr>
        <p:spPr>
          <a:xfrm>
            <a:off x="2580437" y="2269009"/>
            <a:ext cx="285751" cy="38472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500" dirty="0">
                <a:solidFill>
                  <a:schemeClr val="tx1"/>
                </a:solidFill>
              </a:rPr>
              <a:t>C</a:t>
            </a:r>
            <a:endParaRPr lang="zh-TW" altLang="en-US" sz="2500" dirty="0"/>
          </a:p>
        </p:txBody>
      </p:sp>
      <p:cxnSp>
        <p:nvCxnSpPr>
          <p:cNvPr id="20" name="直線接點 19"/>
          <p:cNvCxnSpPr>
            <a:stCxn id="18" idx="2"/>
            <a:endCxn id="19" idx="0"/>
          </p:cNvCxnSpPr>
          <p:nvPr/>
        </p:nvCxnSpPr>
        <p:spPr>
          <a:xfrm flipH="1">
            <a:off x="2723313" y="1558355"/>
            <a:ext cx="1" cy="710654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3038892" y="1173634"/>
            <a:ext cx="285751" cy="38472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500" dirty="0" smtClean="0">
                <a:solidFill>
                  <a:schemeClr val="tx1"/>
                </a:solidFill>
              </a:rPr>
              <a:t>G</a:t>
            </a:r>
            <a:endParaRPr lang="zh-TW" altLang="en-US" sz="2500" dirty="0"/>
          </a:p>
        </p:txBody>
      </p:sp>
      <p:sp>
        <p:nvSpPr>
          <p:cNvPr id="22" name="矩形 21"/>
          <p:cNvSpPr/>
          <p:nvPr/>
        </p:nvSpPr>
        <p:spPr>
          <a:xfrm>
            <a:off x="3038891" y="2269009"/>
            <a:ext cx="285751" cy="38472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500" dirty="0">
                <a:solidFill>
                  <a:schemeClr val="tx1"/>
                </a:solidFill>
              </a:rPr>
              <a:t>A</a:t>
            </a:r>
            <a:endParaRPr lang="zh-TW" altLang="en-US" sz="2500" dirty="0"/>
          </a:p>
        </p:txBody>
      </p:sp>
      <p:cxnSp>
        <p:nvCxnSpPr>
          <p:cNvPr id="23" name="直線接點 22"/>
          <p:cNvCxnSpPr>
            <a:stCxn id="21" idx="2"/>
            <a:endCxn id="22" idx="0"/>
          </p:cNvCxnSpPr>
          <p:nvPr/>
        </p:nvCxnSpPr>
        <p:spPr>
          <a:xfrm flipH="1">
            <a:off x="3181767" y="1558355"/>
            <a:ext cx="1" cy="710654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3497346" y="1173634"/>
            <a:ext cx="285751" cy="38472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500" dirty="0">
                <a:solidFill>
                  <a:schemeClr val="tx1"/>
                </a:solidFill>
              </a:rPr>
              <a:t>T</a:t>
            </a:r>
            <a:endParaRPr lang="zh-TW" altLang="en-US" sz="2500" dirty="0"/>
          </a:p>
        </p:txBody>
      </p:sp>
      <p:sp>
        <p:nvSpPr>
          <p:cNvPr id="25" name="矩形 24"/>
          <p:cNvSpPr/>
          <p:nvPr/>
        </p:nvSpPr>
        <p:spPr>
          <a:xfrm>
            <a:off x="3497345" y="2269009"/>
            <a:ext cx="285751" cy="38472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500" dirty="0" smtClean="0">
                <a:solidFill>
                  <a:schemeClr val="tx1"/>
                </a:solidFill>
              </a:rPr>
              <a:t>T</a:t>
            </a:r>
            <a:endParaRPr lang="zh-TW" altLang="en-US" sz="2500" dirty="0"/>
          </a:p>
        </p:txBody>
      </p:sp>
      <p:cxnSp>
        <p:nvCxnSpPr>
          <p:cNvPr id="26" name="直線接點 25"/>
          <p:cNvCxnSpPr>
            <a:stCxn id="24" idx="2"/>
            <a:endCxn id="25" idx="0"/>
          </p:cNvCxnSpPr>
          <p:nvPr/>
        </p:nvCxnSpPr>
        <p:spPr>
          <a:xfrm flipH="1">
            <a:off x="3640221" y="1558355"/>
            <a:ext cx="1" cy="710654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矩形 26"/>
          <p:cNvSpPr/>
          <p:nvPr/>
        </p:nvSpPr>
        <p:spPr>
          <a:xfrm>
            <a:off x="3955800" y="1173634"/>
            <a:ext cx="285751" cy="38472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500" dirty="0" smtClean="0">
                <a:solidFill>
                  <a:schemeClr val="tx1"/>
                </a:solidFill>
              </a:rPr>
              <a:t>-</a:t>
            </a:r>
            <a:endParaRPr lang="zh-TW" altLang="en-US" sz="2500" dirty="0">
              <a:solidFill>
                <a:schemeClr val="tx1"/>
              </a:solidFill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3955799" y="2269009"/>
            <a:ext cx="285751" cy="38472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500" dirty="0" smtClean="0">
                <a:solidFill>
                  <a:schemeClr val="tx1"/>
                </a:solidFill>
              </a:rPr>
              <a:t>C</a:t>
            </a:r>
            <a:endParaRPr lang="zh-TW" altLang="en-US" sz="2500" dirty="0"/>
          </a:p>
        </p:txBody>
      </p:sp>
      <p:cxnSp>
        <p:nvCxnSpPr>
          <p:cNvPr id="29" name="直線接點 28"/>
          <p:cNvCxnSpPr>
            <a:stCxn id="27" idx="2"/>
            <a:endCxn id="28" idx="0"/>
          </p:cNvCxnSpPr>
          <p:nvPr/>
        </p:nvCxnSpPr>
        <p:spPr>
          <a:xfrm flipH="1">
            <a:off x="4098675" y="1558355"/>
            <a:ext cx="1" cy="710654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矩形 29"/>
          <p:cNvSpPr/>
          <p:nvPr/>
        </p:nvSpPr>
        <p:spPr>
          <a:xfrm>
            <a:off x="4414254" y="1173634"/>
            <a:ext cx="285751" cy="38472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500" dirty="0" smtClean="0">
                <a:solidFill>
                  <a:schemeClr val="tx1"/>
                </a:solidFill>
              </a:rPr>
              <a:t>-</a:t>
            </a:r>
            <a:endParaRPr lang="zh-TW" altLang="en-US" sz="2500" dirty="0">
              <a:solidFill>
                <a:schemeClr val="tx1"/>
              </a:solidFill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4414253" y="2269009"/>
            <a:ext cx="285751" cy="38472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500" dirty="0">
                <a:solidFill>
                  <a:schemeClr val="tx1"/>
                </a:solidFill>
              </a:rPr>
              <a:t>A</a:t>
            </a:r>
            <a:endParaRPr lang="zh-TW" altLang="en-US" sz="2500" dirty="0"/>
          </a:p>
        </p:txBody>
      </p:sp>
      <p:cxnSp>
        <p:nvCxnSpPr>
          <p:cNvPr id="32" name="直線接點 31"/>
          <p:cNvCxnSpPr>
            <a:stCxn id="30" idx="2"/>
            <a:endCxn id="31" idx="0"/>
          </p:cNvCxnSpPr>
          <p:nvPr/>
        </p:nvCxnSpPr>
        <p:spPr>
          <a:xfrm flipH="1">
            <a:off x="4557129" y="1558355"/>
            <a:ext cx="1" cy="710654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矩形 32"/>
          <p:cNvSpPr/>
          <p:nvPr/>
        </p:nvSpPr>
        <p:spPr>
          <a:xfrm>
            <a:off x="4872708" y="1173634"/>
            <a:ext cx="285751" cy="38472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500" dirty="0" smtClean="0">
                <a:solidFill>
                  <a:schemeClr val="tx1"/>
                </a:solidFill>
              </a:rPr>
              <a:t>-</a:t>
            </a:r>
            <a:endParaRPr lang="zh-TW" altLang="en-US" sz="2500" dirty="0">
              <a:solidFill>
                <a:schemeClr val="tx1"/>
              </a:solidFill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4872707" y="2269009"/>
            <a:ext cx="285751" cy="38472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500" dirty="0" smtClean="0">
                <a:solidFill>
                  <a:schemeClr val="tx1"/>
                </a:solidFill>
              </a:rPr>
              <a:t>G</a:t>
            </a:r>
            <a:endParaRPr lang="zh-TW" altLang="en-US" sz="2500" dirty="0"/>
          </a:p>
        </p:txBody>
      </p:sp>
      <p:cxnSp>
        <p:nvCxnSpPr>
          <p:cNvPr id="35" name="直線接點 34"/>
          <p:cNvCxnSpPr>
            <a:stCxn id="33" idx="2"/>
            <a:endCxn id="34" idx="0"/>
          </p:cNvCxnSpPr>
          <p:nvPr/>
        </p:nvCxnSpPr>
        <p:spPr>
          <a:xfrm flipH="1">
            <a:off x="5015583" y="1558355"/>
            <a:ext cx="1" cy="710654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矩形 35"/>
          <p:cNvSpPr/>
          <p:nvPr/>
        </p:nvSpPr>
        <p:spPr>
          <a:xfrm>
            <a:off x="5331162" y="1173634"/>
            <a:ext cx="285751" cy="38472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500" dirty="0">
                <a:solidFill>
                  <a:schemeClr val="tx1"/>
                </a:solidFill>
              </a:rPr>
              <a:t>C</a:t>
            </a:r>
            <a:endParaRPr lang="zh-TW" altLang="en-US" sz="2500" dirty="0"/>
          </a:p>
        </p:txBody>
      </p:sp>
      <p:sp>
        <p:nvSpPr>
          <p:cNvPr id="37" name="矩形 36"/>
          <p:cNvSpPr/>
          <p:nvPr/>
        </p:nvSpPr>
        <p:spPr>
          <a:xfrm>
            <a:off x="5331161" y="2269009"/>
            <a:ext cx="285751" cy="38472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500" dirty="0">
                <a:solidFill>
                  <a:schemeClr val="tx1"/>
                </a:solidFill>
              </a:rPr>
              <a:t>C</a:t>
            </a:r>
            <a:endParaRPr lang="zh-TW" altLang="en-US" sz="2500" dirty="0">
              <a:solidFill>
                <a:schemeClr val="tx1"/>
              </a:solidFill>
            </a:endParaRPr>
          </a:p>
        </p:txBody>
      </p:sp>
      <p:cxnSp>
        <p:nvCxnSpPr>
          <p:cNvPr id="38" name="直線接點 37"/>
          <p:cNvCxnSpPr>
            <a:stCxn id="36" idx="2"/>
            <a:endCxn id="37" idx="0"/>
          </p:cNvCxnSpPr>
          <p:nvPr/>
        </p:nvCxnSpPr>
        <p:spPr>
          <a:xfrm flipH="1">
            <a:off x="5474037" y="1558355"/>
            <a:ext cx="1" cy="710654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矩形 38"/>
          <p:cNvSpPr/>
          <p:nvPr/>
        </p:nvSpPr>
        <p:spPr>
          <a:xfrm>
            <a:off x="5789619" y="1173634"/>
            <a:ext cx="285751" cy="38472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500" dirty="0" smtClean="0">
                <a:solidFill>
                  <a:schemeClr val="tx1"/>
                </a:solidFill>
              </a:rPr>
              <a:t>A</a:t>
            </a:r>
            <a:endParaRPr lang="zh-TW" altLang="en-US" sz="2500" dirty="0">
              <a:solidFill>
                <a:schemeClr val="tx1"/>
              </a:solidFill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5789618" y="2269009"/>
            <a:ext cx="285751" cy="38472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500" dirty="0">
                <a:solidFill>
                  <a:schemeClr val="tx1"/>
                </a:solidFill>
              </a:rPr>
              <a:t>T</a:t>
            </a:r>
            <a:endParaRPr lang="zh-TW" altLang="en-US" sz="2500" dirty="0"/>
          </a:p>
        </p:txBody>
      </p:sp>
      <p:cxnSp>
        <p:nvCxnSpPr>
          <p:cNvPr id="41" name="直線接點 40"/>
          <p:cNvCxnSpPr>
            <a:stCxn id="39" idx="2"/>
            <a:endCxn id="40" idx="0"/>
          </p:cNvCxnSpPr>
          <p:nvPr/>
        </p:nvCxnSpPr>
        <p:spPr>
          <a:xfrm flipH="1">
            <a:off x="5932494" y="1558355"/>
            <a:ext cx="1" cy="710654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矩形 41"/>
          <p:cNvSpPr/>
          <p:nvPr/>
        </p:nvSpPr>
        <p:spPr>
          <a:xfrm>
            <a:off x="6218244" y="1173634"/>
            <a:ext cx="285751" cy="38472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500" dirty="0">
                <a:solidFill>
                  <a:schemeClr val="tx1"/>
                </a:solidFill>
              </a:rPr>
              <a:t>A</a:t>
            </a:r>
            <a:endParaRPr lang="zh-TW" altLang="en-US" sz="2500" dirty="0">
              <a:solidFill>
                <a:schemeClr val="tx1"/>
              </a:solidFill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6218243" y="2269009"/>
            <a:ext cx="285751" cy="38472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500" dirty="0">
                <a:solidFill>
                  <a:schemeClr val="tx1"/>
                </a:solidFill>
              </a:rPr>
              <a:t>A</a:t>
            </a:r>
            <a:endParaRPr lang="zh-TW" altLang="en-US" sz="2500" dirty="0"/>
          </a:p>
        </p:txBody>
      </p:sp>
      <p:cxnSp>
        <p:nvCxnSpPr>
          <p:cNvPr id="44" name="直線接點 43"/>
          <p:cNvCxnSpPr>
            <a:stCxn id="42" idx="2"/>
            <a:endCxn id="43" idx="0"/>
          </p:cNvCxnSpPr>
          <p:nvPr/>
        </p:nvCxnSpPr>
        <p:spPr>
          <a:xfrm flipH="1">
            <a:off x="6361119" y="1558355"/>
            <a:ext cx="1" cy="710654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字方塊 47"/>
              <p:cNvSpPr txBox="1"/>
              <p:nvPr/>
            </p:nvSpPr>
            <p:spPr>
              <a:xfrm>
                <a:off x="1508155" y="3012711"/>
                <a:ext cx="5910657" cy="16312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dirty="0" smtClean="0"/>
                  <a:t>Alignment : </a:t>
                </a:r>
                <a:r>
                  <a:rPr lang="en-US" altLang="zh-TW" sz="2000" dirty="0" smtClean="0">
                    <a:solidFill>
                      <a:srgbClr val="00B050"/>
                    </a:solidFill>
                  </a:rPr>
                  <a:t>match  </a:t>
                </a:r>
                <a:r>
                  <a:rPr lang="en-US" altLang="zh-TW" sz="2000" dirty="0" smtClean="0">
                    <a:solidFill>
                      <a:srgbClr val="C00000"/>
                    </a:solidFill>
                  </a:rPr>
                  <a:t>mismatch  </a:t>
                </a:r>
                <a:r>
                  <a:rPr lang="en-US" altLang="zh-TW" sz="2000" dirty="0" smtClean="0">
                    <a:solidFill>
                      <a:srgbClr val="0070C0"/>
                    </a:solidFill>
                  </a:rPr>
                  <a:t>gap-open  gap-extension</a:t>
                </a:r>
              </a:p>
              <a:p>
                <a:endParaRPr lang="en-US" altLang="zh-TW" sz="2000" dirty="0" smtClean="0"/>
              </a:p>
              <a:p>
                <a:r>
                  <a:rPr lang="en-US" altLang="zh-TW" sz="2000" dirty="0" smtClean="0"/>
                  <a:t>         Score </a:t>
                </a:r>
                <a:r>
                  <a:rPr lang="en-US" altLang="zh-TW" sz="2000" dirty="0"/>
                  <a:t>: </a:t>
                </a:r>
                <a:r>
                  <a:rPr lang="en-US" altLang="zh-TW" sz="2000" dirty="0" smtClean="0"/>
                  <a:t>   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altLang="zh-TW" sz="2000" dirty="0" smtClean="0">
                    <a:solidFill>
                      <a:srgbClr val="00B050"/>
                    </a:solidFill>
                  </a:rPr>
                  <a:t>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zh-TW" sz="20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altLang="zh-TW" sz="2000" dirty="0" smtClean="0">
                    <a:solidFill>
                      <a:srgbClr val="C00000"/>
                    </a:solidFill>
                  </a:rPr>
                  <a:t>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TW" sz="20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zh-TW" altLang="en-US" sz="2000" dirty="0" smtClean="0">
                    <a:solidFill>
                      <a:srgbClr val="00B050"/>
                    </a:solidFill>
                  </a:rPr>
                  <a:t>              </a:t>
                </a:r>
                <a:r>
                  <a:rPr lang="en-US" altLang="zh-TW" sz="2000" dirty="0" smtClean="0"/>
                  <a:t>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TW" sz="20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</m:oMath>
                </a14:m>
                <a:endParaRPr lang="en-US" altLang="zh-TW" sz="2000" dirty="0" smtClean="0"/>
              </a:p>
              <a:p>
                <a:endParaRPr lang="en-US" altLang="zh-TW" sz="2000" dirty="0" smtClean="0"/>
              </a:p>
              <a:p>
                <a:r>
                  <a:rPr lang="en-US" altLang="zh-TW" sz="2000" dirty="0"/>
                  <a:t> </a:t>
                </a:r>
                <a:r>
                  <a:rPr lang="en-US" altLang="zh-TW" sz="2000" dirty="0" smtClean="0"/>
                  <a:t>                                          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TW" sz="20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n-US" altLang="zh-TW" sz="2000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TW" sz="2000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zh-TW" sz="2000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altLang="zh-TW" sz="20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TW" sz="20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</m:oMath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48" name="文字方塊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8155" y="3012711"/>
                <a:ext cx="5910657" cy="1631216"/>
              </a:xfrm>
              <a:prstGeom prst="rect">
                <a:avLst/>
              </a:prstGeom>
              <a:blipFill rotWithShape="0">
                <a:blip r:embed="rId4"/>
                <a:stretch>
                  <a:fillRect l="-1031" t="-1866" r="-3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/>
              <p:cNvSpPr/>
              <p:nvPr/>
            </p:nvSpPr>
            <p:spPr>
              <a:xfrm>
                <a:off x="1323539" y="5002908"/>
                <a:ext cx="583602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sz="2000" dirty="0" smtClean="0"/>
                  <a:t>Score of this alignment :</a:t>
                </a:r>
                <a:r>
                  <a:rPr lang="en-US" altLang="zh-TW" sz="2000" dirty="0">
                    <a:solidFill>
                      <a:srgbClr val="00B05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0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altLang="zh-TW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zh-TW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TW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TW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zh-TW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altLang="zh-TW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TW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TW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n-US" altLang="zh-TW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+2</m:t>
                    </m:r>
                    <m:sSub>
                      <m:sSub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</m:oMath>
                </a14:m>
                <a:endParaRPr lang="en-US" altLang="zh-TW" sz="2000" dirty="0" smtClean="0"/>
              </a:p>
            </p:txBody>
          </p:sp>
        </mc:Choice>
        <mc:Fallback xmlns=""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3539" y="5002908"/>
                <a:ext cx="5836021" cy="400110"/>
              </a:xfrm>
              <a:prstGeom prst="rect">
                <a:avLst/>
              </a:prstGeom>
              <a:blipFill rotWithShape="0">
                <a:blip r:embed="rId5"/>
                <a:stretch>
                  <a:fillRect l="-1045" t="-9231" b="-276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0761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80975" y="307977"/>
            <a:ext cx="8753475" cy="873124"/>
          </a:xfrm>
        </p:spPr>
        <p:txBody>
          <a:bodyPr>
            <a:normAutofit/>
          </a:bodyPr>
          <a:lstStyle/>
          <a:p>
            <a:r>
              <a:rPr lang="en-US" altLang="zh-TW" b="1" dirty="0"/>
              <a:t>Needleman–</a:t>
            </a:r>
            <a:r>
              <a:rPr lang="en-US" altLang="zh-TW" b="1" dirty="0" err="1"/>
              <a:t>Wunsch</a:t>
            </a:r>
            <a:r>
              <a:rPr lang="en-US" altLang="zh-TW" b="1" dirty="0"/>
              <a:t> </a:t>
            </a:r>
            <a:r>
              <a:rPr lang="en-US" altLang="zh-TW" b="1" dirty="0" smtClean="0"/>
              <a:t>algorithm(1970)</a:t>
            </a:r>
            <a:endParaRPr lang="zh-TW" altLang="en-US" sz="3300" dirty="0"/>
          </a:p>
        </p:txBody>
      </p:sp>
      <p:sp>
        <p:nvSpPr>
          <p:cNvPr id="3" name="文字方塊 2"/>
          <p:cNvSpPr txBox="1"/>
          <p:nvPr/>
        </p:nvSpPr>
        <p:spPr>
          <a:xfrm>
            <a:off x="741940" y="1284664"/>
            <a:ext cx="4714367" cy="24006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3000" dirty="0" smtClean="0"/>
              <a:t>Global sequence alignment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3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30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3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3000" dirty="0" smtClean="0"/>
              <a:t>Dynamic Programming</a:t>
            </a:r>
            <a:endParaRPr lang="zh-TW" altLang="en-US" sz="3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/>
              <p:cNvSpPr txBox="1"/>
              <p:nvPr/>
            </p:nvSpPr>
            <p:spPr>
              <a:xfrm>
                <a:off x="1562805" y="1838662"/>
                <a:ext cx="3893502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dirty="0" smtClean="0"/>
                  <a:t>Alignment : </a:t>
                </a:r>
                <a:r>
                  <a:rPr lang="en-US" altLang="zh-TW" sz="2000" dirty="0" smtClean="0">
                    <a:solidFill>
                      <a:srgbClr val="00B050"/>
                    </a:solidFill>
                  </a:rPr>
                  <a:t>match  </a:t>
                </a:r>
                <a:r>
                  <a:rPr lang="en-US" altLang="zh-TW" sz="2000" dirty="0" smtClean="0">
                    <a:solidFill>
                      <a:srgbClr val="C00000"/>
                    </a:solidFill>
                  </a:rPr>
                  <a:t>mismatch  </a:t>
                </a:r>
                <a:r>
                  <a:rPr lang="en-US" altLang="zh-TW" sz="2000" dirty="0" smtClean="0">
                    <a:solidFill>
                      <a:srgbClr val="0070C0"/>
                    </a:solidFill>
                  </a:rPr>
                  <a:t>gap</a:t>
                </a:r>
              </a:p>
              <a:p>
                <a:endParaRPr lang="en-US" altLang="zh-TW" sz="2000" dirty="0" smtClean="0"/>
              </a:p>
              <a:p>
                <a:r>
                  <a:rPr lang="en-US" altLang="zh-TW" sz="2000" dirty="0" smtClean="0"/>
                  <a:t>         Score </a:t>
                </a:r>
                <a:r>
                  <a:rPr lang="en-US" altLang="zh-TW" sz="2000" dirty="0"/>
                  <a:t>: </a:t>
                </a:r>
                <a:r>
                  <a:rPr lang="en-US" altLang="zh-TW" sz="2000" dirty="0" smtClean="0"/>
                  <a:t>   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altLang="zh-TW" sz="2000" dirty="0" smtClean="0">
                    <a:solidFill>
                      <a:srgbClr val="00B050"/>
                    </a:solidFill>
                  </a:rPr>
                  <a:t>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zh-TW" sz="20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altLang="zh-TW" sz="2000" dirty="0" smtClean="0">
                    <a:solidFill>
                      <a:srgbClr val="C00000"/>
                    </a:solidFill>
                  </a:rPr>
                  <a:t>         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zh-TW" altLang="en-US" sz="2000" dirty="0" smtClean="0">
                    <a:solidFill>
                      <a:srgbClr val="00B050"/>
                    </a:solidFill>
                  </a:rPr>
                  <a:t>  </a:t>
                </a:r>
                <a:r>
                  <a:rPr lang="en-US" altLang="zh-TW" sz="2000" dirty="0" smtClean="0"/>
                  <a:t> </a:t>
                </a:r>
                <a:endParaRPr lang="zh-TW" altLang="en-US" sz="2000" dirty="0"/>
              </a:p>
            </p:txBody>
          </p:sp>
        </mc:Choice>
        <mc:Fallback xmlns="">
          <p:sp>
            <p:nvSpPr>
              <p:cNvPr id="16" name="文字方塊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2805" y="1838662"/>
                <a:ext cx="3893502" cy="1015663"/>
              </a:xfrm>
              <a:prstGeom prst="rect">
                <a:avLst/>
              </a:prstGeom>
              <a:blipFill rotWithShape="0">
                <a:blip r:embed="rId2"/>
                <a:stretch>
                  <a:fillRect l="-1565" t="-3614" b="-102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2805" y="3685321"/>
            <a:ext cx="4385479" cy="3181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965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upload.wikimedia.org/wikipedia/commons/3/3f/Needleman-Wunsch_pairwise_sequence_alignment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484"/>
          <a:stretch/>
        </p:blipFill>
        <p:spPr bwMode="auto">
          <a:xfrm>
            <a:off x="971731" y="2865555"/>
            <a:ext cx="5075649" cy="4086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80975" y="307977"/>
            <a:ext cx="8753475" cy="873124"/>
          </a:xfrm>
        </p:spPr>
        <p:txBody>
          <a:bodyPr>
            <a:normAutofit/>
          </a:bodyPr>
          <a:lstStyle/>
          <a:p>
            <a:r>
              <a:rPr lang="en-US" altLang="zh-TW" b="1" dirty="0"/>
              <a:t>Needleman–</a:t>
            </a:r>
            <a:r>
              <a:rPr lang="en-US" altLang="zh-TW" b="1" dirty="0" err="1"/>
              <a:t>Wunsch</a:t>
            </a:r>
            <a:r>
              <a:rPr lang="en-US" altLang="zh-TW" b="1" dirty="0"/>
              <a:t> </a:t>
            </a:r>
            <a:r>
              <a:rPr lang="en-US" altLang="zh-TW" b="1" dirty="0" smtClean="0"/>
              <a:t>algorithm(1970)</a:t>
            </a:r>
            <a:endParaRPr lang="zh-TW" altLang="en-US" sz="3300" dirty="0"/>
          </a:p>
        </p:txBody>
      </p:sp>
      <p:sp>
        <p:nvSpPr>
          <p:cNvPr id="3" name="文字方塊 2"/>
          <p:cNvSpPr txBox="1"/>
          <p:nvPr/>
        </p:nvSpPr>
        <p:spPr>
          <a:xfrm>
            <a:off x="741940" y="1284664"/>
            <a:ext cx="471436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3000" dirty="0" smtClean="0"/>
              <a:t>Global sequence alignment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3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3000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/>
              <p:cNvSpPr txBox="1"/>
              <p:nvPr/>
            </p:nvSpPr>
            <p:spPr>
              <a:xfrm>
                <a:off x="1562805" y="1838662"/>
                <a:ext cx="3949414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dirty="0" smtClean="0"/>
                  <a:t>Alignment : </a:t>
                </a:r>
                <a:r>
                  <a:rPr lang="en-US" altLang="zh-TW" sz="2000" dirty="0" smtClean="0">
                    <a:solidFill>
                      <a:srgbClr val="00B050"/>
                    </a:solidFill>
                  </a:rPr>
                  <a:t>match  </a:t>
                </a:r>
                <a:r>
                  <a:rPr lang="en-US" altLang="zh-TW" sz="2000" dirty="0" smtClean="0">
                    <a:solidFill>
                      <a:srgbClr val="C00000"/>
                    </a:solidFill>
                  </a:rPr>
                  <a:t>mismatch    </a:t>
                </a:r>
                <a:r>
                  <a:rPr lang="en-US" altLang="zh-TW" sz="2000" dirty="0" smtClean="0">
                    <a:solidFill>
                      <a:srgbClr val="0070C0"/>
                    </a:solidFill>
                  </a:rPr>
                  <a:t>gap</a:t>
                </a:r>
              </a:p>
              <a:p>
                <a:endParaRPr lang="en-US" altLang="zh-TW" sz="2000" dirty="0" smtClean="0"/>
              </a:p>
              <a:p>
                <a:r>
                  <a:rPr lang="en-US" altLang="zh-TW" sz="2000" dirty="0" smtClean="0"/>
                  <a:t>         Score </a:t>
                </a:r>
                <a:r>
                  <a:rPr lang="en-US" altLang="zh-TW" sz="2000" dirty="0"/>
                  <a:t>: </a:t>
                </a:r>
                <a:r>
                  <a:rPr lang="en-US" altLang="zh-TW" sz="2000" dirty="0" smtClean="0"/>
                  <a:t>    </a:t>
                </a:r>
                <a14:m>
                  <m:oMath xmlns:m="http://schemas.openxmlformats.org/officeDocument/2006/math">
                    <m:r>
                      <a:rPr lang="en-US" altLang="zh-TW" sz="2000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TW" sz="2000" dirty="0" smtClean="0">
                    <a:solidFill>
                      <a:srgbClr val="00B050"/>
                    </a:solidFill>
                  </a:rPr>
                  <a:t>            </a:t>
                </a:r>
                <a14:m>
                  <m:oMath xmlns:m="http://schemas.openxmlformats.org/officeDocument/2006/math">
                    <m:r>
                      <a:rPr lang="en-US" altLang="zh-TW" sz="20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altLang="zh-TW" sz="2000" dirty="0" smtClean="0">
                    <a:solidFill>
                      <a:srgbClr val="C00000"/>
                    </a:solidFill>
                  </a:rPr>
                  <a:t>          </a:t>
                </a:r>
                <a14:m>
                  <m:oMath xmlns:m="http://schemas.openxmlformats.org/officeDocument/2006/math">
                    <m:r>
                      <a:rPr lang="en-US" altLang="zh-TW" sz="2000" b="0" i="0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zh-TW" altLang="en-US" sz="2000" dirty="0" smtClean="0">
                    <a:solidFill>
                      <a:srgbClr val="00B050"/>
                    </a:solidFill>
                  </a:rPr>
                  <a:t>  </a:t>
                </a:r>
                <a:r>
                  <a:rPr lang="en-US" altLang="zh-TW" sz="2000" dirty="0" smtClean="0"/>
                  <a:t> </a:t>
                </a:r>
                <a:endParaRPr lang="zh-TW" altLang="en-US" sz="2000" dirty="0"/>
              </a:p>
            </p:txBody>
          </p:sp>
        </mc:Choice>
        <mc:Fallback xmlns=""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2805" y="1838662"/>
                <a:ext cx="3949414" cy="1015663"/>
              </a:xfrm>
              <a:prstGeom prst="rect">
                <a:avLst/>
              </a:prstGeom>
              <a:blipFill rotWithShape="0">
                <a:blip r:embed="rId3"/>
                <a:stretch>
                  <a:fillRect l="-1543" t="-3614" b="-102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2875382"/>
                  </p:ext>
                </p:extLst>
              </p:nvPr>
            </p:nvGraphicFramePr>
            <p:xfrm>
              <a:off x="6047380" y="5946380"/>
              <a:ext cx="3096621" cy="7924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44069"/>
                    <a:gridCol w="344069"/>
                    <a:gridCol w="344069"/>
                    <a:gridCol w="344069"/>
                    <a:gridCol w="344069"/>
                    <a:gridCol w="344069"/>
                    <a:gridCol w="344069"/>
                    <a:gridCol w="344069"/>
                    <a:gridCol w="344069"/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000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zh-TW" sz="20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0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G</a:t>
                          </a:r>
                          <a:endParaRPr lang="zh-TW" altLang="en-US" sz="20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T</a:t>
                          </a:r>
                          <a:endParaRPr lang="zh-TW" altLang="en-US" sz="20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-</a:t>
                          </a:r>
                          <a:endParaRPr lang="zh-TW" altLang="en-US" sz="20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G</a:t>
                          </a:r>
                          <a:endParaRPr lang="zh-TW" altLang="en-US" sz="20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U</a:t>
                          </a:r>
                          <a:endParaRPr lang="zh-TW" altLang="en-US" sz="20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000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zh-TW" sz="20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0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G</a:t>
                          </a:r>
                          <a:endParaRPr lang="zh-TW" altLang="en-US" sz="20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-</a:t>
                          </a:r>
                          <a:endParaRPr lang="zh-TW" altLang="en-US" sz="20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T</a:t>
                          </a:r>
                          <a:endParaRPr lang="zh-TW" altLang="en-US" sz="20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T</a:t>
                          </a:r>
                          <a:endParaRPr lang="zh-TW" altLang="en-US" sz="20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2875382"/>
                  </p:ext>
                </p:extLst>
              </p:nvPr>
            </p:nvGraphicFramePr>
            <p:xfrm>
              <a:off x="6047380" y="5946380"/>
              <a:ext cx="3096621" cy="7924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44069"/>
                    <a:gridCol w="344069"/>
                    <a:gridCol w="344069"/>
                    <a:gridCol w="344069"/>
                    <a:gridCol w="344069"/>
                    <a:gridCol w="344069"/>
                    <a:gridCol w="344069"/>
                    <a:gridCol w="344069"/>
                    <a:gridCol w="344069"/>
                  </a:tblGrid>
                  <a:tr h="3962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4"/>
                          <a:stretch>
                            <a:fillRect t="-7576" r="-791228" b="-1242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G</a:t>
                          </a:r>
                          <a:endParaRPr lang="zh-TW" altLang="en-US" sz="20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T</a:t>
                          </a:r>
                          <a:endParaRPr lang="zh-TW" altLang="en-US" sz="20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-</a:t>
                          </a:r>
                          <a:endParaRPr lang="zh-TW" altLang="en-US" sz="20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G</a:t>
                          </a:r>
                          <a:endParaRPr lang="zh-TW" altLang="en-US" sz="20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U</a:t>
                          </a:r>
                          <a:endParaRPr lang="zh-TW" altLang="en-US" sz="20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3962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4"/>
                          <a:stretch>
                            <a:fillRect t="-109231" r="-791228" b="-2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G</a:t>
                          </a:r>
                          <a:endParaRPr lang="zh-TW" altLang="en-US" sz="20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-</a:t>
                          </a:r>
                          <a:endParaRPr lang="zh-TW" altLang="en-US" sz="20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T</a:t>
                          </a:r>
                          <a:endParaRPr lang="zh-TW" altLang="en-US" sz="20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T</a:t>
                          </a:r>
                          <a:endParaRPr lang="zh-TW" altLang="en-US" sz="20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C</a:t>
                          </a:r>
                          <a:endParaRPr lang="zh-TW" altLang="en-US" sz="20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A</a:t>
                          </a:r>
                          <a:endParaRPr lang="zh-TW" altLang="en-US" sz="20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499385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80975" y="307977"/>
            <a:ext cx="8753475" cy="873124"/>
          </a:xfrm>
        </p:spPr>
        <p:txBody>
          <a:bodyPr>
            <a:normAutofit fontScale="90000"/>
          </a:bodyPr>
          <a:lstStyle/>
          <a:p>
            <a:r>
              <a:rPr lang="en-US" altLang="zh-TW" b="1" dirty="0" smtClean="0"/>
              <a:t>FOGSAA</a:t>
            </a:r>
            <a:br>
              <a:rPr lang="en-US" altLang="zh-TW" b="1" dirty="0" smtClean="0"/>
            </a:br>
            <a:r>
              <a:rPr lang="en-US" altLang="zh-TW" sz="3300" dirty="0" smtClean="0"/>
              <a:t>Fast Optimal Global Sequence Alignment Algorithm</a:t>
            </a:r>
            <a:endParaRPr lang="zh-TW" altLang="en-US" sz="3300" dirty="0"/>
          </a:p>
        </p:txBody>
      </p:sp>
      <p:sp>
        <p:nvSpPr>
          <p:cNvPr id="3" name="文字方塊 2"/>
          <p:cNvSpPr txBox="1"/>
          <p:nvPr/>
        </p:nvSpPr>
        <p:spPr>
          <a:xfrm>
            <a:off x="741940" y="1284664"/>
            <a:ext cx="405899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3000" dirty="0" smtClean="0"/>
              <a:t>Branch and bound tree</a:t>
            </a:r>
            <a:endParaRPr lang="zh-TW" altLang="en-US" sz="3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圓角矩形 4"/>
              <p:cNvSpPr/>
              <p:nvPr/>
            </p:nvSpPr>
            <p:spPr>
              <a:xfrm>
                <a:off x="1004887" y="2652416"/>
                <a:ext cx="1333500" cy="1304925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 smtClean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dirty="0" smtClean="0">
                    <a:solidFill>
                      <a:schemeClr val="tx1"/>
                    </a:solidFill>
                  </a:rPr>
                  <a:t>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𝑇𝑦𝑝𝑒</m:t>
                      </m:r>
                    </m:oMath>
                  </m:oMathPara>
                </a14:m>
                <a:endParaRPr lang="en-US" altLang="zh-TW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𝑃𝑟𝑆</m:t>
                      </m:r>
                    </m:oMath>
                  </m:oMathPara>
                </a14:m>
                <a:endParaRPr lang="en-US" altLang="zh-TW" b="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altLang="zh-TW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TW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TW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圓角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4887" y="2652416"/>
                <a:ext cx="1333500" cy="1304925"/>
              </a:xfrm>
              <a:prstGeom prst="roundRect">
                <a:avLst/>
              </a:prstGeom>
              <a:blipFill rotWithShape="0"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字方塊 5"/>
          <p:cNvSpPr txBox="1"/>
          <p:nvPr/>
        </p:nvSpPr>
        <p:spPr>
          <a:xfrm>
            <a:off x="1380788" y="1919765"/>
            <a:ext cx="581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root</a:t>
            </a:r>
            <a:endParaRPr lang="zh-TW" altLang="en-US" dirty="0"/>
          </a:p>
        </p:txBody>
      </p:sp>
      <p:cxnSp>
        <p:nvCxnSpPr>
          <p:cNvPr id="8" name="直線單箭頭接點 7"/>
          <p:cNvCxnSpPr>
            <a:stCxn id="6" idx="2"/>
            <a:endCxn id="5" idx="0"/>
          </p:cNvCxnSpPr>
          <p:nvPr/>
        </p:nvCxnSpPr>
        <p:spPr>
          <a:xfrm>
            <a:off x="1671637" y="2289097"/>
            <a:ext cx="0" cy="3633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線單箭頭接點 9"/>
          <p:cNvCxnSpPr/>
          <p:nvPr/>
        </p:nvCxnSpPr>
        <p:spPr>
          <a:xfrm flipH="1">
            <a:off x="809625" y="3957341"/>
            <a:ext cx="418442" cy="5905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線單箭頭接點 10"/>
          <p:cNvCxnSpPr>
            <a:stCxn id="5" idx="2"/>
          </p:cNvCxnSpPr>
          <p:nvPr/>
        </p:nvCxnSpPr>
        <p:spPr>
          <a:xfrm>
            <a:off x="1671637" y="3957341"/>
            <a:ext cx="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/>
          <p:nvPr/>
        </p:nvCxnSpPr>
        <p:spPr>
          <a:xfrm>
            <a:off x="2114550" y="3957341"/>
            <a:ext cx="342900" cy="5905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圓角矩形 17"/>
              <p:cNvSpPr/>
              <p:nvPr/>
            </p:nvSpPr>
            <p:spPr>
              <a:xfrm>
                <a:off x="1380788" y="6075077"/>
                <a:ext cx="642938" cy="547984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800" dirty="0" smtClean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sz="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800" dirty="0" smtClean="0">
                    <a:solidFill>
                      <a:schemeClr val="tx1"/>
                    </a:solidFill>
                  </a:rPr>
                  <a:t>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𝑇𝑦𝑝𝑒</m:t>
                      </m:r>
                    </m:oMath>
                  </m:oMathPara>
                </a14:m>
                <a:endParaRPr lang="en-US" altLang="zh-TW" sz="80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𝑃𝑟𝑆</m:t>
                      </m:r>
                    </m:oMath>
                  </m:oMathPara>
                </a14:m>
                <a:endParaRPr lang="en-US" altLang="zh-TW" sz="800" b="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altLang="zh-TW" sz="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TW" sz="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TW" sz="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altLang="zh-TW" sz="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圓角矩形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0788" y="6075077"/>
                <a:ext cx="642938" cy="547984"/>
              </a:xfrm>
              <a:prstGeom prst="round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圓角矩形 18"/>
              <p:cNvSpPr/>
              <p:nvPr/>
            </p:nvSpPr>
            <p:spPr>
              <a:xfrm>
                <a:off x="427563" y="4547891"/>
                <a:ext cx="642938" cy="547984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800" dirty="0" smtClean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sz="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800" dirty="0" smtClean="0">
                    <a:solidFill>
                      <a:schemeClr val="tx1"/>
                    </a:solidFill>
                  </a:rPr>
                  <a:t>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𝑇𝑦𝑝𝑒</m:t>
                      </m:r>
                    </m:oMath>
                  </m:oMathPara>
                </a14:m>
                <a:endParaRPr lang="en-US" altLang="zh-TW" sz="80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𝑃𝑟𝑆</m:t>
                      </m:r>
                    </m:oMath>
                  </m:oMathPara>
                </a14:m>
                <a:endParaRPr lang="en-US" altLang="zh-TW" sz="800" b="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altLang="zh-TW" sz="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TW" sz="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TW" sz="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altLang="zh-TW" sz="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圓角矩形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563" y="4547891"/>
                <a:ext cx="642938" cy="547984"/>
              </a:xfrm>
              <a:prstGeom prst="round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圓角矩形 19"/>
              <p:cNvSpPr/>
              <p:nvPr/>
            </p:nvSpPr>
            <p:spPr>
              <a:xfrm>
                <a:off x="2235736" y="4552357"/>
                <a:ext cx="642938" cy="547984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800" dirty="0" smtClean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sz="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800" dirty="0" smtClean="0">
                    <a:solidFill>
                      <a:schemeClr val="tx1"/>
                    </a:solidFill>
                  </a:rPr>
                  <a:t>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𝑇𝑦𝑝𝑒</m:t>
                      </m:r>
                    </m:oMath>
                  </m:oMathPara>
                </a14:m>
                <a:endParaRPr lang="en-US" altLang="zh-TW" sz="80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𝑃𝑟𝑆</m:t>
                      </m:r>
                    </m:oMath>
                  </m:oMathPara>
                </a14:m>
                <a:endParaRPr lang="en-US" altLang="zh-TW" sz="800" b="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altLang="zh-TW" sz="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TW" sz="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TW" sz="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altLang="zh-TW" sz="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圓角矩形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5736" y="4552357"/>
                <a:ext cx="642938" cy="547984"/>
              </a:xfrm>
              <a:prstGeom prst="round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圓角矩形 20"/>
              <p:cNvSpPr/>
              <p:nvPr/>
            </p:nvSpPr>
            <p:spPr>
              <a:xfrm>
                <a:off x="1371342" y="4886685"/>
                <a:ext cx="642938" cy="547984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800" dirty="0" smtClean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sz="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800" dirty="0" smtClean="0">
                    <a:solidFill>
                      <a:schemeClr val="tx1"/>
                    </a:solidFill>
                  </a:rPr>
                  <a:t>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𝑇𝑦𝑝𝑒</m:t>
                      </m:r>
                    </m:oMath>
                  </m:oMathPara>
                </a14:m>
                <a:endParaRPr lang="en-US" altLang="zh-TW" sz="80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𝑃𝑟𝑆</m:t>
                      </m:r>
                    </m:oMath>
                  </m:oMathPara>
                </a14:m>
                <a:endParaRPr lang="en-US" altLang="zh-TW" sz="800" b="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altLang="zh-TW" sz="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TW" sz="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TW" sz="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altLang="zh-TW" sz="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圓角矩形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342" y="4886685"/>
                <a:ext cx="642938" cy="547984"/>
              </a:xfrm>
              <a:prstGeom prst="round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直線接點 22"/>
          <p:cNvCxnSpPr/>
          <p:nvPr/>
        </p:nvCxnSpPr>
        <p:spPr>
          <a:xfrm flipH="1">
            <a:off x="1692811" y="5475765"/>
            <a:ext cx="9446" cy="545145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/>
          <p:cNvSpPr/>
          <p:nvPr/>
        </p:nvSpPr>
        <p:spPr>
          <a:xfrm>
            <a:off x="3081114" y="1993702"/>
            <a:ext cx="6405785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500" dirty="0" smtClean="0"/>
              <a:t>A path from the root to the leaf represents</a:t>
            </a:r>
          </a:p>
          <a:p>
            <a:r>
              <a:rPr lang="en-US" altLang="zh-TW" sz="2500" dirty="0" smtClean="0"/>
              <a:t>a way to align the sequences.</a:t>
            </a:r>
            <a:endParaRPr lang="en-US" altLang="zh-TW" sz="2500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03622" y="2959738"/>
            <a:ext cx="2477955" cy="3663323"/>
          </a:xfrm>
          <a:prstGeom prst="rect">
            <a:avLst/>
          </a:prstGeom>
        </p:spPr>
      </p:pic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5584534"/>
              </p:ext>
            </p:extLst>
          </p:nvPr>
        </p:nvGraphicFramePr>
        <p:xfrm>
          <a:off x="5338579" y="5830581"/>
          <a:ext cx="1498743" cy="792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9581"/>
                <a:gridCol w="499581"/>
                <a:gridCol w="499581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A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C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G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A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-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G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4506747"/>
              </p:ext>
            </p:extLst>
          </p:nvPr>
        </p:nvGraphicFramePr>
        <p:xfrm>
          <a:off x="6377277" y="3291248"/>
          <a:ext cx="2274354" cy="125664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37177"/>
                <a:gridCol w="1137177"/>
              </a:tblGrid>
              <a:tr h="418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Match</a:t>
                      </a:r>
                      <a:endParaRPr lang="zh-TW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8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Mismatch</a:t>
                      </a:r>
                      <a:endParaRPr lang="zh-TW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-1</a:t>
                      </a:r>
                      <a:endParaRPr lang="zh-TW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18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Gap</a:t>
                      </a:r>
                      <a:endParaRPr lang="zh-TW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-2</a:t>
                      </a:r>
                      <a:endParaRPr lang="zh-TW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7336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80975" y="307977"/>
            <a:ext cx="8753475" cy="873124"/>
          </a:xfrm>
        </p:spPr>
        <p:txBody>
          <a:bodyPr>
            <a:normAutofit fontScale="90000"/>
          </a:bodyPr>
          <a:lstStyle/>
          <a:p>
            <a:r>
              <a:rPr lang="en-US" altLang="zh-TW" b="1" dirty="0" smtClean="0"/>
              <a:t>FOGSAA</a:t>
            </a:r>
            <a:br>
              <a:rPr lang="en-US" altLang="zh-TW" b="1" dirty="0" smtClean="0"/>
            </a:br>
            <a:r>
              <a:rPr lang="en-US" altLang="zh-TW" sz="3300" dirty="0" smtClean="0"/>
              <a:t>Fast Optimal Global Sequence Alignment Algorithm</a:t>
            </a:r>
            <a:endParaRPr lang="zh-TW" altLang="en-US" sz="3300" dirty="0"/>
          </a:p>
        </p:txBody>
      </p:sp>
      <p:sp>
        <p:nvSpPr>
          <p:cNvPr id="3" name="文字方塊 2"/>
          <p:cNvSpPr txBox="1"/>
          <p:nvPr/>
        </p:nvSpPr>
        <p:spPr>
          <a:xfrm>
            <a:off x="741940" y="1284664"/>
            <a:ext cx="405899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3000" dirty="0" smtClean="0"/>
              <a:t>Branch and bound tree</a:t>
            </a:r>
            <a:endParaRPr lang="zh-TW" altLang="en-US" sz="3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圓角矩形 4"/>
              <p:cNvSpPr/>
              <p:nvPr/>
            </p:nvSpPr>
            <p:spPr>
              <a:xfrm>
                <a:off x="1004887" y="2652416"/>
                <a:ext cx="1333500" cy="1304925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 smtClean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dirty="0" smtClean="0">
                    <a:solidFill>
                      <a:schemeClr val="tx1"/>
                    </a:solidFill>
                  </a:rPr>
                  <a:t>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𝑇𝑦𝑝𝑒</m:t>
                      </m:r>
                    </m:oMath>
                  </m:oMathPara>
                </a14:m>
                <a:endParaRPr lang="en-US" altLang="zh-TW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𝑃𝑟𝑆</m:t>
                      </m:r>
                    </m:oMath>
                  </m:oMathPara>
                </a14:m>
                <a:endParaRPr lang="en-US" altLang="zh-TW" b="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altLang="zh-TW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TW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TW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圓角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4887" y="2652416"/>
                <a:ext cx="1333500" cy="1304925"/>
              </a:xfrm>
              <a:prstGeom prst="roundRect">
                <a:avLst/>
              </a:prstGeom>
              <a:blipFill rotWithShape="0"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字方塊 5"/>
          <p:cNvSpPr txBox="1"/>
          <p:nvPr/>
        </p:nvSpPr>
        <p:spPr>
          <a:xfrm>
            <a:off x="1380788" y="1919765"/>
            <a:ext cx="581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root</a:t>
            </a:r>
            <a:endParaRPr lang="zh-TW" altLang="en-US" dirty="0"/>
          </a:p>
        </p:txBody>
      </p:sp>
      <p:cxnSp>
        <p:nvCxnSpPr>
          <p:cNvPr id="8" name="直線單箭頭接點 7"/>
          <p:cNvCxnSpPr>
            <a:stCxn id="6" idx="2"/>
            <a:endCxn id="5" idx="0"/>
          </p:cNvCxnSpPr>
          <p:nvPr/>
        </p:nvCxnSpPr>
        <p:spPr>
          <a:xfrm>
            <a:off x="1671637" y="2289097"/>
            <a:ext cx="0" cy="3633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矩形 26"/>
              <p:cNvSpPr/>
              <p:nvPr/>
            </p:nvSpPr>
            <p:spPr>
              <a:xfrm>
                <a:off x="2771439" y="2489270"/>
                <a:ext cx="4715212" cy="4770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TW" sz="25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5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2500" dirty="0"/>
                  <a:t>) : two pointer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sz="25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altLang="zh-TW" sz="2500" dirty="0"/>
              </a:p>
            </p:txBody>
          </p:sp>
        </mc:Choice>
        <mc:Fallback xmlns="">
          <p:sp>
            <p:nvSpPr>
              <p:cNvPr id="27" name="矩形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1439" y="2489270"/>
                <a:ext cx="4715212" cy="477054"/>
              </a:xfrm>
              <a:prstGeom prst="rect">
                <a:avLst/>
              </a:prstGeom>
              <a:blipFill rotWithShape="0">
                <a:blip r:embed="rId3"/>
                <a:stretch>
                  <a:fillRect l="-2199" t="-8861" b="-2911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/>
              <p:cNvSpPr txBox="1"/>
              <p:nvPr/>
            </p:nvSpPr>
            <p:spPr>
              <a:xfrm>
                <a:off x="3635206" y="3812059"/>
                <a:ext cx="368499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5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5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TW" sz="25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15" name="文字方塊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5206" y="3812059"/>
                <a:ext cx="368499" cy="384721"/>
              </a:xfrm>
              <a:prstGeom prst="rect">
                <a:avLst/>
              </a:prstGeom>
              <a:blipFill rotWithShape="0">
                <a:blip r:embed="rId4"/>
                <a:stretch>
                  <a:fillRect l="-19672" r="-8197" b="-158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/>
              <p:cNvSpPr txBox="1"/>
              <p:nvPr/>
            </p:nvSpPr>
            <p:spPr>
              <a:xfrm>
                <a:off x="3635206" y="5031259"/>
                <a:ext cx="375936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5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5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TW" sz="25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16" name="文字方塊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5206" y="5031259"/>
                <a:ext cx="375936" cy="384721"/>
              </a:xfrm>
              <a:prstGeom prst="rect">
                <a:avLst/>
              </a:prstGeom>
              <a:blipFill rotWithShape="0">
                <a:blip r:embed="rId5"/>
                <a:stretch>
                  <a:fillRect l="-19355" r="-8065" b="-158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矩形 16"/>
          <p:cNvSpPr/>
          <p:nvPr/>
        </p:nvSpPr>
        <p:spPr>
          <a:xfrm>
            <a:off x="4159082" y="3812059"/>
            <a:ext cx="1661110" cy="38472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500" dirty="0" smtClean="0">
                <a:solidFill>
                  <a:schemeClr val="tx1"/>
                </a:solidFill>
              </a:rPr>
              <a:t>ACCGTCAA</a:t>
            </a:r>
            <a:endParaRPr lang="zh-TW" altLang="en-US" sz="2500" dirty="0">
              <a:solidFill>
                <a:schemeClr val="tx1"/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4159081" y="5031259"/>
            <a:ext cx="1976690" cy="38472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500" dirty="0" smtClean="0">
                <a:solidFill>
                  <a:schemeClr val="tx1"/>
                </a:solidFill>
              </a:rPr>
              <a:t>ACATCAGATA</a:t>
            </a:r>
            <a:endParaRPr lang="zh-TW" altLang="en-US" sz="25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/>
              <p:cNvSpPr txBox="1"/>
              <p:nvPr/>
            </p:nvSpPr>
            <p:spPr>
              <a:xfrm>
                <a:off x="5879184" y="3843912"/>
                <a:ext cx="20954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9" name="文字方塊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9184" y="3843912"/>
                <a:ext cx="209545" cy="307777"/>
              </a:xfrm>
              <a:prstGeom prst="rect">
                <a:avLst/>
              </a:prstGeom>
              <a:blipFill rotWithShape="0">
                <a:blip r:embed="rId6"/>
                <a:stretch>
                  <a:fillRect l="-14286" r="-1428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/>
              <p:cNvSpPr txBox="1"/>
              <p:nvPr/>
            </p:nvSpPr>
            <p:spPr>
              <a:xfrm>
                <a:off x="6174478" y="5079597"/>
                <a:ext cx="276871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0" name="文字方塊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4478" y="5079597"/>
                <a:ext cx="276871" cy="307777"/>
              </a:xfrm>
              <a:prstGeom prst="rect">
                <a:avLst/>
              </a:prstGeom>
              <a:blipFill rotWithShape="0">
                <a:blip r:embed="rId7"/>
                <a:stretch>
                  <a:fillRect l="-13333" r="-1111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直線單箭頭接點 6"/>
          <p:cNvCxnSpPr/>
          <p:nvPr/>
        </p:nvCxnSpPr>
        <p:spPr>
          <a:xfrm flipH="1">
            <a:off x="4371975" y="3514725"/>
            <a:ext cx="9525" cy="2973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矩形 20"/>
              <p:cNvSpPr/>
              <p:nvPr/>
            </p:nvSpPr>
            <p:spPr>
              <a:xfrm>
                <a:off x="4159081" y="3189372"/>
                <a:ext cx="45743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1" name="矩形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9081" y="3189372"/>
                <a:ext cx="457433" cy="369332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直線單箭頭接點 22"/>
          <p:cNvCxnSpPr/>
          <p:nvPr/>
        </p:nvCxnSpPr>
        <p:spPr>
          <a:xfrm flipH="1">
            <a:off x="4753311" y="4733925"/>
            <a:ext cx="9525" cy="2973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矩形 23"/>
              <p:cNvSpPr/>
              <p:nvPr/>
            </p:nvSpPr>
            <p:spPr>
              <a:xfrm>
                <a:off x="4540417" y="4408572"/>
                <a:ext cx="46275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4" name="矩形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0417" y="4408572"/>
                <a:ext cx="462755" cy="369332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6625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80975" y="307977"/>
            <a:ext cx="8753475" cy="873124"/>
          </a:xfrm>
        </p:spPr>
        <p:txBody>
          <a:bodyPr>
            <a:normAutofit fontScale="90000"/>
          </a:bodyPr>
          <a:lstStyle/>
          <a:p>
            <a:r>
              <a:rPr lang="en-US" altLang="zh-TW" b="1" dirty="0" smtClean="0"/>
              <a:t>FOGSAA</a:t>
            </a:r>
            <a:br>
              <a:rPr lang="en-US" altLang="zh-TW" b="1" dirty="0" smtClean="0"/>
            </a:br>
            <a:r>
              <a:rPr lang="en-US" altLang="zh-TW" sz="3300" dirty="0" smtClean="0"/>
              <a:t>Fast Optimal Global Sequence Alignment Algorithm</a:t>
            </a:r>
            <a:endParaRPr lang="zh-TW" altLang="en-US" sz="3300" dirty="0"/>
          </a:p>
        </p:txBody>
      </p:sp>
      <p:sp>
        <p:nvSpPr>
          <p:cNvPr id="3" name="文字方塊 2"/>
          <p:cNvSpPr txBox="1"/>
          <p:nvPr/>
        </p:nvSpPr>
        <p:spPr>
          <a:xfrm>
            <a:off x="741940" y="1284664"/>
            <a:ext cx="405899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3000" dirty="0" smtClean="0"/>
              <a:t>Branch and bound tree</a:t>
            </a:r>
            <a:endParaRPr lang="zh-TW" altLang="en-US" sz="3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圓角矩形 4"/>
              <p:cNvSpPr/>
              <p:nvPr/>
            </p:nvSpPr>
            <p:spPr>
              <a:xfrm>
                <a:off x="1004887" y="2652416"/>
                <a:ext cx="1333500" cy="1304925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 smtClean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dirty="0" smtClean="0">
                    <a:solidFill>
                      <a:schemeClr val="tx1"/>
                    </a:solidFill>
                  </a:rPr>
                  <a:t>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𝑇𝑦𝑝𝑒</m:t>
                      </m:r>
                    </m:oMath>
                  </m:oMathPara>
                </a14:m>
                <a:endParaRPr lang="en-US" altLang="zh-TW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𝑃𝑟𝑆</m:t>
                      </m:r>
                    </m:oMath>
                  </m:oMathPara>
                </a14:m>
                <a:endParaRPr lang="en-US" altLang="zh-TW" b="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altLang="zh-TW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TW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TW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圓角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4887" y="2652416"/>
                <a:ext cx="1333500" cy="1304925"/>
              </a:xfrm>
              <a:prstGeom prst="roundRect">
                <a:avLst/>
              </a:prstGeom>
              <a:blipFill rotWithShape="0"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字方塊 5"/>
          <p:cNvSpPr txBox="1"/>
          <p:nvPr/>
        </p:nvSpPr>
        <p:spPr>
          <a:xfrm>
            <a:off x="1380788" y="1919765"/>
            <a:ext cx="581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root</a:t>
            </a:r>
            <a:endParaRPr lang="zh-TW" altLang="en-US" dirty="0"/>
          </a:p>
        </p:txBody>
      </p:sp>
      <p:cxnSp>
        <p:nvCxnSpPr>
          <p:cNvPr id="8" name="直線單箭頭接點 7"/>
          <p:cNvCxnSpPr>
            <a:stCxn id="6" idx="2"/>
            <a:endCxn id="5" idx="0"/>
          </p:cNvCxnSpPr>
          <p:nvPr/>
        </p:nvCxnSpPr>
        <p:spPr>
          <a:xfrm>
            <a:off x="1671637" y="2289097"/>
            <a:ext cx="0" cy="3633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矩形 26"/>
              <p:cNvSpPr/>
              <p:nvPr/>
            </p:nvSpPr>
            <p:spPr>
              <a:xfrm>
                <a:off x="2771438" y="2489270"/>
                <a:ext cx="6405785" cy="163121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500" i="1" dirty="0" smtClean="0">
                        <a:latin typeface="Cambria Math" panose="02040503050406030204" pitchFamily="18" charset="0"/>
                      </a:rPr>
                      <m:t>𝑇𝑦𝑝𝑒</m:t>
                    </m:r>
                  </m:oMath>
                </a14:m>
                <a:r>
                  <a:rPr lang="en-US" altLang="zh-TW" sz="2500" dirty="0" smtClean="0"/>
                  <a:t> :  type of alignment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TW" sz="2500" i="1" dirty="0">
                        <a:latin typeface="Cambria Math" panose="02040503050406030204" pitchFamily="18" charset="0"/>
                      </a:rPr>
                      <m:t>𝑇𝑦𝑝𝑒</m:t>
                    </m:r>
                  </m:oMath>
                </a14:m>
                <a:r>
                  <a:rPr lang="en-US" altLang="zh-TW" sz="2500" dirty="0"/>
                  <a:t>=1 indicates a match or mismatch (</a:t>
                </a:r>
                <a:r>
                  <a:rPr lang="en-US" altLang="zh-TW" sz="2500" dirty="0" err="1"/>
                  <a:t>a,b</a:t>
                </a:r>
                <a:r>
                  <a:rPr lang="en-US" altLang="zh-TW" sz="2500" dirty="0"/>
                  <a:t>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TW" sz="2500" i="1" dirty="0">
                        <a:latin typeface="Cambria Math" panose="02040503050406030204" pitchFamily="18" charset="0"/>
                      </a:rPr>
                      <m:t>𝑇𝑦𝑝𝑒</m:t>
                    </m:r>
                  </m:oMath>
                </a14:m>
                <a:r>
                  <a:rPr lang="en-US" altLang="zh-TW" sz="2500" dirty="0"/>
                  <a:t>=2 indicates a gap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2500" dirty="0"/>
                  <a:t> (a, - 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TW" sz="2500" i="1" dirty="0">
                        <a:latin typeface="Cambria Math" panose="02040503050406030204" pitchFamily="18" charset="0"/>
                      </a:rPr>
                      <m:t>𝑇𝑦𝑝𝑒</m:t>
                    </m:r>
                  </m:oMath>
                </a14:m>
                <a:r>
                  <a:rPr lang="en-US" altLang="zh-TW" sz="2500" dirty="0"/>
                  <a:t>=3 indicates a gap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sz="2500" dirty="0"/>
                  <a:t> ( -, b</a:t>
                </a:r>
                <a:r>
                  <a:rPr lang="en-US" altLang="zh-TW" sz="2500" dirty="0" smtClean="0"/>
                  <a:t>)</a:t>
                </a:r>
                <a:endParaRPr lang="en-US" altLang="zh-TW" sz="2500" dirty="0"/>
              </a:p>
            </p:txBody>
          </p:sp>
        </mc:Choice>
        <mc:Fallback xmlns="">
          <p:sp>
            <p:nvSpPr>
              <p:cNvPr id="27" name="矩形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1438" y="2489270"/>
                <a:ext cx="6405785" cy="1631216"/>
              </a:xfrm>
              <a:prstGeom prst="rect">
                <a:avLst/>
              </a:prstGeom>
              <a:blipFill rotWithShape="0">
                <a:blip r:embed="rId3"/>
                <a:stretch>
                  <a:fillRect l="-857" t="-2612" r="-381" b="-78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9503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80975" y="307977"/>
            <a:ext cx="8753475" cy="873124"/>
          </a:xfrm>
        </p:spPr>
        <p:txBody>
          <a:bodyPr>
            <a:normAutofit fontScale="90000"/>
          </a:bodyPr>
          <a:lstStyle/>
          <a:p>
            <a:r>
              <a:rPr lang="en-US" altLang="zh-TW" b="1" dirty="0" smtClean="0"/>
              <a:t>FOGSAA</a:t>
            </a:r>
            <a:br>
              <a:rPr lang="en-US" altLang="zh-TW" b="1" dirty="0" smtClean="0"/>
            </a:br>
            <a:r>
              <a:rPr lang="en-US" altLang="zh-TW" sz="3300" dirty="0" smtClean="0"/>
              <a:t>Fast Optimal Global Sequence Alignment Algorithm</a:t>
            </a:r>
            <a:endParaRPr lang="zh-TW" altLang="en-US" sz="3300" dirty="0"/>
          </a:p>
        </p:txBody>
      </p:sp>
      <p:sp>
        <p:nvSpPr>
          <p:cNvPr id="3" name="文字方塊 2"/>
          <p:cNvSpPr txBox="1"/>
          <p:nvPr/>
        </p:nvSpPr>
        <p:spPr>
          <a:xfrm>
            <a:off x="741940" y="1284664"/>
            <a:ext cx="405899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3000" dirty="0" smtClean="0"/>
              <a:t>Branch and bound tree</a:t>
            </a:r>
            <a:endParaRPr lang="zh-TW" altLang="en-US" sz="3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圓角矩形 4"/>
              <p:cNvSpPr/>
              <p:nvPr/>
            </p:nvSpPr>
            <p:spPr>
              <a:xfrm>
                <a:off x="1004887" y="2652416"/>
                <a:ext cx="1333500" cy="1304925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 smtClean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dirty="0" smtClean="0">
                    <a:solidFill>
                      <a:schemeClr val="tx1"/>
                    </a:solidFill>
                  </a:rPr>
                  <a:t>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𝑇𝑦𝑝𝑒</m:t>
                      </m:r>
                    </m:oMath>
                  </m:oMathPara>
                </a14:m>
                <a:endParaRPr lang="en-US" altLang="zh-TW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𝑃𝑟𝑆</m:t>
                      </m:r>
                    </m:oMath>
                  </m:oMathPara>
                </a14:m>
                <a:endParaRPr lang="en-US" altLang="zh-TW" b="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altLang="zh-TW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TW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TW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圓角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4887" y="2652416"/>
                <a:ext cx="1333500" cy="1304925"/>
              </a:xfrm>
              <a:prstGeom prst="roundRect">
                <a:avLst/>
              </a:prstGeom>
              <a:blipFill rotWithShape="0"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字方塊 5"/>
          <p:cNvSpPr txBox="1"/>
          <p:nvPr/>
        </p:nvSpPr>
        <p:spPr>
          <a:xfrm>
            <a:off x="1380788" y="1919765"/>
            <a:ext cx="581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root</a:t>
            </a:r>
            <a:endParaRPr lang="zh-TW" altLang="en-US" dirty="0"/>
          </a:p>
        </p:txBody>
      </p:sp>
      <p:cxnSp>
        <p:nvCxnSpPr>
          <p:cNvPr id="8" name="直線單箭頭接點 7"/>
          <p:cNvCxnSpPr>
            <a:stCxn id="6" idx="2"/>
            <a:endCxn id="5" idx="0"/>
          </p:cNvCxnSpPr>
          <p:nvPr/>
        </p:nvCxnSpPr>
        <p:spPr>
          <a:xfrm>
            <a:off x="1671637" y="2289097"/>
            <a:ext cx="0" cy="3633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矩形 26"/>
              <p:cNvSpPr/>
              <p:nvPr/>
            </p:nvSpPr>
            <p:spPr>
              <a:xfrm>
                <a:off x="2771438" y="2489270"/>
                <a:ext cx="6405785" cy="4770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500" i="1" dirty="0">
                        <a:latin typeface="Cambria Math" panose="02040503050406030204" pitchFamily="18" charset="0"/>
                      </a:rPr>
                      <m:t>𝑃𝑟𝑆</m:t>
                    </m:r>
                  </m:oMath>
                </a14:m>
                <a:r>
                  <a:rPr lang="en-US" altLang="zh-TW" sz="2500" dirty="0"/>
                  <a:t> : present score of alignment</a:t>
                </a:r>
              </a:p>
            </p:txBody>
          </p:sp>
        </mc:Choice>
        <mc:Fallback xmlns="">
          <p:sp>
            <p:nvSpPr>
              <p:cNvPr id="27" name="矩形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1438" y="2489270"/>
                <a:ext cx="6405785" cy="477054"/>
              </a:xfrm>
              <a:prstGeom prst="rect">
                <a:avLst/>
              </a:prstGeom>
              <a:blipFill rotWithShape="0">
                <a:blip r:embed="rId3"/>
                <a:stretch>
                  <a:fillRect l="-286" t="-8861" b="-2911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圖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2800" y="3304878"/>
            <a:ext cx="3194026" cy="969615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3263" y="4614982"/>
            <a:ext cx="4338638" cy="1364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812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80975" y="307977"/>
            <a:ext cx="8753475" cy="873124"/>
          </a:xfrm>
        </p:spPr>
        <p:txBody>
          <a:bodyPr>
            <a:normAutofit fontScale="90000"/>
          </a:bodyPr>
          <a:lstStyle/>
          <a:p>
            <a:r>
              <a:rPr lang="en-US" altLang="zh-TW" b="1" dirty="0" smtClean="0"/>
              <a:t>FOGSAA</a:t>
            </a:r>
            <a:br>
              <a:rPr lang="en-US" altLang="zh-TW" b="1" dirty="0" smtClean="0"/>
            </a:br>
            <a:r>
              <a:rPr lang="en-US" altLang="zh-TW" sz="3300" dirty="0" smtClean="0"/>
              <a:t>Fast Optimal Global Sequence Alignment Algorithm</a:t>
            </a:r>
            <a:endParaRPr lang="zh-TW" altLang="en-US" sz="3300" dirty="0"/>
          </a:p>
        </p:txBody>
      </p:sp>
      <p:sp>
        <p:nvSpPr>
          <p:cNvPr id="3" name="文字方塊 2"/>
          <p:cNvSpPr txBox="1"/>
          <p:nvPr/>
        </p:nvSpPr>
        <p:spPr>
          <a:xfrm>
            <a:off x="741940" y="1284664"/>
            <a:ext cx="405899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3000" dirty="0" smtClean="0"/>
              <a:t>Branch and bound tree</a:t>
            </a:r>
            <a:endParaRPr lang="zh-TW" altLang="en-US" sz="3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圓角矩形 4"/>
              <p:cNvSpPr/>
              <p:nvPr/>
            </p:nvSpPr>
            <p:spPr>
              <a:xfrm>
                <a:off x="1004887" y="2652416"/>
                <a:ext cx="1333500" cy="1304925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 smtClean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dirty="0" smtClean="0">
                    <a:solidFill>
                      <a:schemeClr val="tx1"/>
                    </a:solidFill>
                  </a:rPr>
                  <a:t>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𝑇𝑦𝑝𝑒</m:t>
                      </m:r>
                    </m:oMath>
                  </m:oMathPara>
                </a14:m>
                <a:endParaRPr lang="en-US" altLang="zh-TW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𝑃𝑟𝑆</m:t>
                      </m:r>
                    </m:oMath>
                  </m:oMathPara>
                </a14:m>
                <a:endParaRPr lang="en-US" altLang="zh-TW" b="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altLang="zh-TW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TW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TW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圓角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4887" y="2652416"/>
                <a:ext cx="1333500" cy="1304925"/>
              </a:xfrm>
              <a:prstGeom prst="roundRect">
                <a:avLst/>
              </a:prstGeom>
              <a:blipFill rotWithShape="0"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字方塊 5"/>
          <p:cNvSpPr txBox="1"/>
          <p:nvPr/>
        </p:nvSpPr>
        <p:spPr>
          <a:xfrm>
            <a:off x="1380788" y="1919765"/>
            <a:ext cx="581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root</a:t>
            </a:r>
            <a:endParaRPr lang="zh-TW" altLang="en-US" dirty="0"/>
          </a:p>
        </p:txBody>
      </p:sp>
      <p:cxnSp>
        <p:nvCxnSpPr>
          <p:cNvPr id="8" name="直線單箭頭接點 7"/>
          <p:cNvCxnSpPr>
            <a:stCxn id="6" idx="2"/>
            <a:endCxn id="5" idx="0"/>
          </p:cNvCxnSpPr>
          <p:nvPr/>
        </p:nvCxnSpPr>
        <p:spPr>
          <a:xfrm>
            <a:off x="1671637" y="2289097"/>
            <a:ext cx="0" cy="3633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矩形 26"/>
              <p:cNvSpPr/>
              <p:nvPr/>
            </p:nvSpPr>
            <p:spPr>
              <a:xfrm>
                <a:off x="2771438" y="2489270"/>
                <a:ext cx="6405785" cy="86177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5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en-US" altLang="zh-TW" sz="25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</m:oMath>
                </a14:m>
                <a:r>
                  <a:rPr lang="en-US" altLang="zh-TW" sz="2500" dirty="0"/>
                  <a:t> : fitness </a:t>
                </a:r>
                <a:r>
                  <a:rPr lang="en-US" altLang="zh-TW" sz="2500" dirty="0" smtClean="0"/>
                  <a:t>score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en-US" altLang="zh-TW" sz="25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TW" sz="2500" i="1"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</m:oMath>
                </a14:m>
                <a:r>
                  <a:rPr lang="en-US" altLang="zh-TW" sz="2500" dirty="0" smtClean="0"/>
                  <a:t> : future score from this node</a:t>
                </a:r>
                <a:endParaRPr lang="en-US" altLang="zh-TW" sz="2500" dirty="0"/>
              </a:p>
            </p:txBody>
          </p:sp>
        </mc:Choice>
        <mc:Fallback xmlns="">
          <p:sp>
            <p:nvSpPr>
              <p:cNvPr id="27" name="矩形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1438" y="2489270"/>
                <a:ext cx="6405785" cy="861774"/>
              </a:xfrm>
              <a:prstGeom prst="rect">
                <a:avLst/>
              </a:prstGeom>
              <a:blipFill rotWithShape="0">
                <a:blip r:embed="rId3"/>
                <a:stretch>
                  <a:fillRect l="-286" t="-4930" b="-1549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圖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6137" y="3589289"/>
            <a:ext cx="2024063" cy="976646"/>
          </a:xfrm>
          <a:prstGeom prst="rect">
            <a:avLst/>
          </a:prstGeom>
        </p:spPr>
      </p:pic>
      <p:pic>
        <p:nvPicPr>
          <p:cNvPr id="10" name="圖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2337" y="4804181"/>
            <a:ext cx="4252913" cy="147045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/>
              <p:cNvSpPr txBox="1"/>
              <p:nvPr/>
            </p:nvSpPr>
            <p:spPr>
              <a:xfrm>
                <a:off x="481012" y="4580028"/>
                <a:ext cx="368499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5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5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TW" sz="25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12" name="文字方塊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012" y="4580028"/>
                <a:ext cx="368499" cy="384721"/>
              </a:xfrm>
              <a:prstGeom prst="rect">
                <a:avLst/>
              </a:prstGeom>
              <a:blipFill rotWithShape="0">
                <a:blip r:embed="rId6"/>
                <a:stretch>
                  <a:fillRect l="-20000" r="-8333" b="-158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/>
              <p:cNvSpPr txBox="1"/>
              <p:nvPr/>
            </p:nvSpPr>
            <p:spPr>
              <a:xfrm>
                <a:off x="481012" y="5799228"/>
                <a:ext cx="375936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5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5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TW" sz="25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13" name="文字方塊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012" y="5799228"/>
                <a:ext cx="375936" cy="384721"/>
              </a:xfrm>
              <a:prstGeom prst="rect">
                <a:avLst/>
              </a:prstGeom>
              <a:blipFill rotWithShape="0">
                <a:blip r:embed="rId7"/>
                <a:stretch>
                  <a:fillRect l="-19355" r="-6452" b="-158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矩形 13"/>
          <p:cNvSpPr/>
          <p:nvPr/>
        </p:nvSpPr>
        <p:spPr>
          <a:xfrm>
            <a:off x="1004887" y="4580028"/>
            <a:ext cx="757238" cy="38472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500" dirty="0">
              <a:solidFill>
                <a:schemeClr val="tx1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004887" y="5799228"/>
            <a:ext cx="918881" cy="38472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500" dirty="0">
              <a:solidFill>
                <a:schemeClr val="tx1"/>
              </a:solidFill>
            </a:endParaRPr>
          </a:p>
        </p:txBody>
      </p:sp>
      <p:sp>
        <p:nvSpPr>
          <p:cNvPr id="11" name="弧形 10"/>
          <p:cNvSpPr/>
          <p:nvPr/>
        </p:nvSpPr>
        <p:spPr>
          <a:xfrm>
            <a:off x="1671637" y="4301468"/>
            <a:ext cx="994361" cy="488959"/>
          </a:xfrm>
          <a:prstGeom prst="arc">
            <a:avLst>
              <a:gd name="adj1" fmla="val 10784501"/>
              <a:gd name="adj2" fmla="val 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弧形 22"/>
          <p:cNvSpPr/>
          <p:nvPr/>
        </p:nvSpPr>
        <p:spPr>
          <a:xfrm>
            <a:off x="1962486" y="5503533"/>
            <a:ext cx="1019091" cy="497217"/>
          </a:xfrm>
          <a:prstGeom prst="arc">
            <a:avLst>
              <a:gd name="adj1" fmla="val 10784501"/>
              <a:gd name="adj2" fmla="val 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矩形 23"/>
              <p:cNvSpPr/>
              <p:nvPr/>
            </p:nvSpPr>
            <p:spPr>
              <a:xfrm>
                <a:off x="2041993" y="3976673"/>
                <a:ext cx="45743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4" name="矩形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1993" y="3976673"/>
                <a:ext cx="457433" cy="369332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矩形 24"/>
              <p:cNvSpPr/>
              <p:nvPr/>
            </p:nvSpPr>
            <p:spPr>
              <a:xfrm>
                <a:off x="2243314" y="5174529"/>
                <a:ext cx="46609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5" name="矩形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3314" y="5174529"/>
                <a:ext cx="466090" cy="369332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矩形 25"/>
          <p:cNvSpPr/>
          <p:nvPr/>
        </p:nvSpPr>
        <p:spPr>
          <a:xfrm>
            <a:off x="1671638" y="4580028"/>
            <a:ext cx="994360" cy="38472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500" dirty="0">
              <a:solidFill>
                <a:schemeClr val="tx1"/>
              </a:solidFill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1923768" y="5799228"/>
            <a:ext cx="1057809" cy="38472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5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8119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80975" y="307977"/>
            <a:ext cx="8753475" cy="873124"/>
          </a:xfrm>
        </p:spPr>
        <p:txBody>
          <a:bodyPr>
            <a:normAutofit fontScale="90000"/>
          </a:bodyPr>
          <a:lstStyle/>
          <a:p>
            <a:r>
              <a:rPr lang="en-US" altLang="zh-TW" b="1" dirty="0" smtClean="0"/>
              <a:t>FOGSAA</a:t>
            </a:r>
            <a:br>
              <a:rPr lang="en-US" altLang="zh-TW" b="1" dirty="0" smtClean="0"/>
            </a:br>
            <a:r>
              <a:rPr lang="en-US" altLang="zh-TW" sz="3300" dirty="0" smtClean="0"/>
              <a:t>Fast Optimal Global Sequence Alignment Algorithm</a:t>
            </a:r>
            <a:endParaRPr lang="zh-TW" altLang="en-US" sz="3300" dirty="0"/>
          </a:p>
        </p:txBody>
      </p:sp>
      <p:sp>
        <p:nvSpPr>
          <p:cNvPr id="3" name="文字方塊 2"/>
          <p:cNvSpPr txBox="1"/>
          <p:nvPr/>
        </p:nvSpPr>
        <p:spPr>
          <a:xfrm>
            <a:off x="741940" y="1284664"/>
            <a:ext cx="405899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3000" dirty="0" smtClean="0"/>
              <a:t>Branch and bound tree</a:t>
            </a:r>
            <a:endParaRPr lang="zh-TW" altLang="en-US" sz="3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圓角矩形 4"/>
              <p:cNvSpPr/>
              <p:nvPr/>
            </p:nvSpPr>
            <p:spPr>
              <a:xfrm>
                <a:off x="1004887" y="2652416"/>
                <a:ext cx="1333500" cy="1304925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 smtClean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dirty="0" smtClean="0">
                    <a:solidFill>
                      <a:schemeClr val="tx1"/>
                    </a:solidFill>
                  </a:rPr>
                  <a:t>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𝑇𝑦𝑝𝑒</m:t>
                      </m:r>
                    </m:oMath>
                  </m:oMathPara>
                </a14:m>
                <a:endParaRPr lang="en-US" altLang="zh-TW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𝑃𝑟𝑆</m:t>
                      </m:r>
                    </m:oMath>
                  </m:oMathPara>
                </a14:m>
                <a:endParaRPr lang="en-US" altLang="zh-TW" b="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altLang="zh-TW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TW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TW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圓角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4887" y="2652416"/>
                <a:ext cx="1333500" cy="1304925"/>
              </a:xfrm>
              <a:prstGeom prst="roundRect">
                <a:avLst/>
              </a:prstGeom>
              <a:blipFill rotWithShape="0"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字方塊 5"/>
          <p:cNvSpPr txBox="1"/>
          <p:nvPr/>
        </p:nvSpPr>
        <p:spPr>
          <a:xfrm>
            <a:off x="1380788" y="1919765"/>
            <a:ext cx="581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root</a:t>
            </a:r>
            <a:endParaRPr lang="zh-TW" altLang="en-US" dirty="0"/>
          </a:p>
        </p:txBody>
      </p:sp>
      <p:cxnSp>
        <p:nvCxnSpPr>
          <p:cNvPr id="8" name="直線單箭頭接點 7"/>
          <p:cNvCxnSpPr>
            <a:stCxn id="6" idx="2"/>
            <a:endCxn id="5" idx="0"/>
          </p:cNvCxnSpPr>
          <p:nvPr/>
        </p:nvCxnSpPr>
        <p:spPr>
          <a:xfrm>
            <a:off x="1671637" y="2289097"/>
            <a:ext cx="0" cy="3633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線單箭頭接點 9"/>
          <p:cNvCxnSpPr/>
          <p:nvPr/>
        </p:nvCxnSpPr>
        <p:spPr>
          <a:xfrm flipH="1">
            <a:off x="809625" y="3957341"/>
            <a:ext cx="418442" cy="5905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線單箭頭接點 10"/>
          <p:cNvCxnSpPr>
            <a:stCxn id="5" idx="2"/>
          </p:cNvCxnSpPr>
          <p:nvPr/>
        </p:nvCxnSpPr>
        <p:spPr>
          <a:xfrm>
            <a:off x="1671637" y="3957341"/>
            <a:ext cx="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/>
          <p:nvPr/>
        </p:nvCxnSpPr>
        <p:spPr>
          <a:xfrm>
            <a:off x="2114550" y="3957341"/>
            <a:ext cx="342900" cy="5905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圓角矩形 18"/>
              <p:cNvSpPr/>
              <p:nvPr/>
            </p:nvSpPr>
            <p:spPr>
              <a:xfrm>
                <a:off x="427563" y="4547891"/>
                <a:ext cx="642938" cy="547984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800" dirty="0" smtClean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sz="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800" dirty="0" smtClean="0">
                    <a:solidFill>
                      <a:schemeClr val="tx1"/>
                    </a:solidFill>
                  </a:rPr>
                  <a:t>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𝑇𝑦𝑝𝑒</m:t>
                      </m:r>
                    </m:oMath>
                  </m:oMathPara>
                </a14:m>
                <a:endParaRPr lang="en-US" altLang="zh-TW" sz="80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𝑃𝑟𝑆</m:t>
                      </m:r>
                    </m:oMath>
                  </m:oMathPara>
                </a14:m>
                <a:endParaRPr lang="en-US" altLang="zh-TW" sz="800" b="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altLang="zh-TW" sz="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TW" sz="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TW" sz="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altLang="zh-TW" sz="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圓角矩形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563" y="4547891"/>
                <a:ext cx="642938" cy="547984"/>
              </a:xfrm>
              <a:prstGeom prst="round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圓角矩形 19"/>
              <p:cNvSpPr/>
              <p:nvPr/>
            </p:nvSpPr>
            <p:spPr>
              <a:xfrm>
                <a:off x="2235736" y="4552357"/>
                <a:ext cx="642938" cy="547984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800" dirty="0" smtClean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sz="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800" dirty="0" smtClean="0">
                    <a:solidFill>
                      <a:schemeClr val="tx1"/>
                    </a:solidFill>
                  </a:rPr>
                  <a:t>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𝑇𝑦𝑝𝑒</m:t>
                      </m:r>
                    </m:oMath>
                  </m:oMathPara>
                </a14:m>
                <a:endParaRPr lang="en-US" altLang="zh-TW" sz="80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𝑃𝑟𝑆</m:t>
                      </m:r>
                    </m:oMath>
                  </m:oMathPara>
                </a14:m>
                <a:endParaRPr lang="en-US" altLang="zh-TW" sz="800" b="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altLang="zh-TW" sz="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TW" sz="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TW" sz="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altLang="zh-TW" sz="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圓角矩形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5736" y="4552357"/>
                <a:ext cx="642938" cy="547984"/>
              </a:xfrm>
              <a:prstGeom prst="round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圓角矩形 20"/>
              <p:cNvSpPr/>
              <p:nvPr/>
            </p:nvSpPr>
            <p:spPr>
              <a:xfrm>
                <a:off x="1371342" y="4886685"/>
                <a:ext cx="642938" cy="547984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800" dirty="0" smtClean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sz="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800" dirty="0" smtClean="0">
                    <a:solidFill>
                      <a:schemeClr val="tx1"/>
                    </a:solidFill>
                  </a:rPr>
                  <a:t>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𝑇𝑦𝑝𝑒</m:t>
                      </m:r>
                    </m:oMath>
                  </m:oMathPara>
                </a14:m>
                <a:endParaRPr lang="en-US" altLang="zh-TW" sz="80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𝑃𝑟𝑆</m:t>
                      </m:r>
                    </m:oMath>
                  </m:oMathPara>
                </a14:m>
                <a:endParaRPr lang="en-US" altLang="zh-TW" sz="800" b="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altLang="zh-TW" sz="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TW" sz="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TW" sz="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altLang="zh-TW" sz="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圓角矩形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342" y="4886685"/>
                <a:ext cx="642938" cy="547984"/>
              </a:xfrm>
              <a:prstGeom prst="round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矩形 26"/>
              <p:cNvSpPr/>
              <p:nvPr/>
            </p:nvSpPr>
            <p:spPr>
              <a:xfrm>
                <a:off x="2878674" y="1993702"/>
                <a:ext cx="6405785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TW" sz="2500" dirty="0" smtClean="0"/>
                  <a:t>a priority queue ordered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8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sz="28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sz="2800" i="1" dirty="0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endParaRPr lang="en-US" altLang="zh-TW" sz="2500" dirty="0"/>
              </a:p>
            </p:txBody>
          </p:sp>
        </mc:Choice>
        <mc:Fallback xmlns="">
          <p:sp>
            <p:nvSpPr>
              <p:cNvPr id="27" name="矩形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8674" y="1993702"/>
                <a:ext cx="6405785" cy="523220"/>
              </a:xfrm>
              <a:prstGeom prst="rect">
                <a:avLst/>
              </a:prstGeom>
              <a:blipFill rotWithShape="0">
                <a:blip r:embed="rId5"/>
                <a:stretch>
                  <a:fillRect l="-1522" t="-1163" b="-255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圓角矩形 15"/>
              <p:cNvSpPr/>
              <p:nvPr/>
            </p:nvSpPr>
            <p:spPr>
              <a:xfrm>
                <a:off x="3648411" y="2995316"/>
                <a:ext cx="914064" cy="847725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 smtClean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1200" dirty="0" smtClean="0">
                    <a:solidFill>
                      <a:schemeClr val="tx1"/>
                    </a:solidFill>
                  </a:rPr>
                  <a:t>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𝑇𝑦𝑝𝑒</m:t>
                      </m:r>
                    </m:oMath>
                  </m:oMathPara>
                </a14:m>
                <a:endParaRPr lang="en-US" altLang="zh-TW" sz="120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𝑃𝑟𝑆</m:t>
                      </m:r>
                    </m:oMath>
                  </m:oMathPara>
                </a14:m>
                <a:endParaRPr lang="en-US" altLang="zh-TW" sz="1200" b="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altLang="zh-TW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TW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TW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altLang="zh-TW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圓角矩形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8411" y="2995316"/>
                <a:ext cx="914064" cy="847725"/>
              </a:xfrm>
              <a:prstGeom prst="round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圓角矩形 34"/>
              <p:cNvSpPr/>
              <p:nvPr/>
            </p:nvSpPr>
            <p:spPr>
              <a:xfrm>
                <a:off x="3903824" y="2995316"/>
                <a:ext cx="914064" cy="847725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 smtClean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1200" dirty="0" smtClean="0">
                    <a:solidFill>
                      <a:schemeClr val="tx1"/>
                    </a:solidFill>
                  </a:rPr>
                  <a:t>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𝑇𝑦𝑝𝑒</m:t>
                      </m:r>
                    </m:oMath>
                  </m:oMathPara>
                </a14:m>
                <a:endParaRPr lang="en-US" altLang="zh-TW" sz="120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𝑃𝑟𝑆</m:t>
                      </m:r>
                    </m:oMath>
                  </m:oMathPara>
                </a14:m>
                <a:endParaRPr lang="en-US" altLang="zh-TW" sz="1200" b="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altLang="zh-TW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TW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TW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altLang="zh-TW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圓角矩形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3824" y="2995316"/>
                <a:ext cx="914064" cy="847725"/>
              </a:xfrm>
              <a:prstGeom prst="round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圓角矩形 35"/>
              <p:cNvSpPr/>
              <p:nvPr/>
            </p:nvSpPr>
            <p:spPr>
              <a:xfrm>
                <a:off x="4159237" y="2995316"/>
                <a:ext cx="914064" cy="847725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 smtClean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1200" dirty="0" smtClean="0">
                    <a:solidFill>
                      <a:schemeClr val="tx1"/>
                    </a:solidFill>
                  </a:rPr>
                  <a:t>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𝑇𝑦𝑝𝑒</m:t>
                      </m:r>
                    </m:oMath>
                  </m:oMathPara>
                </a14:m>
                <a:endParaRPr lang="en-US" altLang="zh-TW" sz="120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𝑃𝑟𝑆</m:t>
                      </m:r>
                    </m:oMath>
                  </m:oMathPara>
                </a14:m>
                <a:endParaRPr lang="en-US" altLang="zh-TW" sz="1200" b="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altLang="zh-TW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TW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TW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altLang="zh-TW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" name="圓角矩形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9237" y="2995316"/>
                <a:ext cx="914064" cy="847725"/>
              </a:xfrm>
              <a:prstGeom prst="round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圓角矩形 36"/>
              <p:cNvSpPr/>
              <p:nvPr/>
            </p:nvSpPr>
            <p:spPr>
              <a:xfrm>
                <a:off x="4414650" y="2995316"/>
                <a:ext cx="914064" cy="847725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 smtClean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1200" dirty="0" smtClean="0">
                    <a:solidFill>
                      <a:schemeClr val="tx1"/>
                    </a:solidFill>
                  </a:rPr>
                  <a:t>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𝑇𝑦𝑝𝑒</m:t>
                      </m:r>
                    </m:oMath>
                  </m:oMathPara>
                </a14:m>
                <a:endParaRPr lang="en-US" altLang="zh-TW" sz="120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𝑃𝑟𝑆</m:t>
                      </m:r>
                    </m:oMath>
                  </m:oMathPara>
                </a14:m>
                <a:endParaRPr lang="en-US" altLang="zh-TW" sz="1200" b="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altLang="zh-TW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TW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TW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altLang="zh-TW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圓角矩形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4650" y="2995316"/>
                <a:ext cx="914064" cy="847725"/>
              </a:xfrm>
              <a:prstGeom prst="round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圓角矩形 37"/>
              <p:cNvSpPr/>
              <p:nvPr/>
            </p:nvSpPr>
            <p:spPr>
              <a:xfrm>
                <a:off x="4670063" y="2995316"/>
                <a:ext cx="914064" cy="847725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 smtClean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1200" dirty="0" smtClean="0">
                    <a:solidFill>
                      <a:schemeClr val="tx1"/>
                    </a:solidFill>
                  </a:rPr>
                  <a:t>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𝑇𝑦𝑝𝑒</m:t>
                      </m:r>
                    </m:oMath>
                  </m:oMathPara>
                </a14:m>
                <a:endParaRPr lang="en-US" altLang="zh-TW" sz="120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𝑃𝑟𝑆</m:t>
                      </m:r>
                    </m:oMath>
                  </m:oMathPara>
                </a14:m>
                <a:endParaRPr lang="en-US" altLang="zh-TW" sz="1200" b="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altLang="zh-TW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TW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TW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altLang="zh-TW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8" name="圓角矩形 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0063" y="2995316"/>
                <a:ext cx="914064" cy="847725"/>
              </a:xfrm>
              <a:prstGeom prst="round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圓角矩形 38"/>
              <p:cNvSpPr/>
              <p:nvPr/>
            </p:nvSpPr>
            <p:spPr>
              <a:xfrm>
                <a:off x="4925476" y="2995316"/>
                <a:ext cx="914064" cy="847725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 smtClean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1200" dirty="0" smtClean="0">
                    <a:solidFill>
                      <a:schemeClr val="tx1"/>
                    </a:solidFill>
                  </a:rPr>
                  <a:t>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𝑇𝑦𝑝𝑒</m:t>
                      </m:r>
                    </m:oMath>
                  </m:oMathPara>
                </a14:m>
                <a:endParaRPr lang="en-US" altLang="zh-TW" sz="120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𝑃𝑟𝑆</m:t>
                      </m:r>
                    </m:oMath>
                  </m:oMathPara>
                </a14:m>
                <a:endParaRPr lang="en-US" altLang="zh-TW" sz="1200" b="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altLang="zh-TW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TW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TW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altLang="zh-TW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9" name="圓角矩形 3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5476" y="2995316"/>
                <a:ext cx="914064" cy="847725"/>
              </a:xfrm>
              <a:prstGeom prst="round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圓角矩形 39"/>
              <p:cNvSpPr/>
              <p:nvPr/>
            </p:nvSpPr>
            <p:spPr>
              <a:xfrm>
                <a:off x="5180889" y="2995316"/>
                <a:ext cx="914064" cy="847725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 smtClean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1200" dirty="0" smtClean="0">
                    <a:solidFill>
                      <a:schemeClr val="tx1"/>
                    </a:solidFill>
                  </a:rPr>
                  <a:t>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𝑇𝑦𝑝𝑒</m:t>
                      </m:r>
                    </m:oMath>
                  </m:oMathPara>
                </a14:m>
                <a:endParaRPr lang="en-US" altLang="zh-TW" sz="120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𝑃𝑟𝑆</m:t>
                      </m:r>
                    </m:oMath>
                  </m:oMathPara>
                </a14:m>
                <a:endParaRPr lang="en-US" altLang="zh-TW" sz="1200" b="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altLang="zh-TW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TW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TW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altLang="zh-TW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圓角矩形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0889" y="2995316"/>
                <a:ext cx="914064" cy="847725"/>
              </a:xfrm>
              <a:prstGeom prst="round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圓角矩形 40"/>
              <p:cNvSpPr/>
              <p:nvPr/>
            </p:nvSpPr>
            <p:spPr>
              <a:xfrm>
                <a:off x="5436302" y="2995316"/>
                <a:ext cx="914064" cy="847725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 smtClean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1200" dirty="0" smtClean="0">
                    <a:solidFill>
                      <a:schemeClr val="tx1"/>
                    </a:solidFill>
                  </a:rPr>
                  <a:t>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𝑇𝑦𝑝𝑒</m:t>
                      </m:r>
                    </m:oMath>
                  </m:oMathPara>
                </a14:m>
                <a:endParaRPr lang="en-US" altLang="zh-TW" sz="120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𝑃𝑟𝑆</m:t>
                      </m:r>
                    </m:oMath>
                  </m:oMathPara>
                </a14:m>
                <a:endParaRPr lang="en-US" altLang="zh-TW" sz="1200" b="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altLang="zh-TW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TW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TW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altLang="zh-TW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" name="圓角矩形 4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6302" y="2995316"/>
                <a:ext cx="914064" cy="847725"/>
              </a:xfrm>
              <a:prstGeom prst="round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圓角矩形 46"/>
              <p:cNvSpPr/>
              <p:nvPr/>
            </p:nvSpPr>
            <p:spPr>
              <a:xfrm>
                <a:off x="5691715" y="2995316"/>
                <a:ext cx="914064" cy="847725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 smtClean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1200" dirty="0" smtClean="0">
                    <a:solidFill>
                      <a:schemeClr val="tx1"/>
                    </a:solidFill>
                  </a:rPr>
                  <a:t>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𝑇𝑦𝑝𝑒</m:t>
                      </m:r>
                    </m:oMath>
                  </m:oMathPara>
                </a14:m>
                <a:endParaRPr lang="en-US" altLang="zh-TW" sz="120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𝑃𝑟𝑆</m:t>
                      </m:r>
                    </m:oMath>
                  </m:oMathPara>
                </a14:m>
                <a:endParaRPr lang="en-US" altLang="zh-TW" sz="1200" b="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altLang="zh-TW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TW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TW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altLang="zh-TW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7" name="圓角矩形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1715" y="2995316"/>
                <a:ext cx="914064" cy="847725"/>
              </a:xfrm>
              <a:prstGeom prst="round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圓角矩形 47"/>
              <p:cNvSpPr/>
              <p:nvPr/>
            </p:nvSpPr>
            <p:spPr>
              <a:xfrm>
                <a:off x="5947128" y="2995316"/>
                <a:ext cx="914064" cy="847725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 smtClean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1200" dirty="0" smtClean="0">
                    <a:solidFill>
                      <a:schemeClr val="tx1"/>
                    </a:solidFill>
                  </a:rPr>
                  <a:t>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𝑇𝑦𝑝𝑒</m:t>
                      </m:r>
                    </m:oMath>
                  </m:oMathPara>
                </a14:m>
                <a:endParaRPr lang="en-US" altLang="zh-TW" sz="120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𝑃𝑟𝑆</m:t>
                      </m:r>
                    </m:oMath>
                  </m:oMathPara>
                </a14:m>
                <a:endParaRPr lang="en-US" altLang="zh-TW" sz="1200" b="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altLang="zh-TW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TW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TW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altLang="zh-TW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8" name="圓角矩形 4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7128" y="2995316"/>
                <a:ext cx="914064" cy="847725"/>
              </a:xfrm>
              <a:prstGeom prst="roundRect">
                <a:avLst/>
              </a:prstGeom>
              <a:blipFill rotWithShape="0"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圓角矩形 50"/>
              <p:cNvSpPr/>
              <p:nvPr/>
            </p:nvSpPr>
            <p:spPr>
              <a:xfrm>
                <a:off x="6202541" y="2995316"/>
                <a:ext cx="914064" cy="847725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 smtClean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1200" dirty="0" smtClean="0">
                    <a:solidFill>
                      <a:schemeClr val="tx1"/>
                    </a:solidFill>
                  </a:rPr>
                  <a:t>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𝑇𝑦𝑝𝑒</m:t>
                      </m:r>
                    </m:oMath>
                  </m:oMathPara>
                </a14:m>
                <a:endParaRPr lang="en-US" altLang="zh-TW" sz="120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𝑃𝑟𝑆</m:t>
                      </m:r>
                    </m:oMath>
                  </m:oMathPara>
                </a14:m>
                <a:endParaRPr lang="en-US" altLang="zh-TW" sz="1200" b="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altLang="zh-TW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TW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TW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altLang="zh-TW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1" name="圓角矩形 5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2541" y="2995316"/>
                <a:ext cx="914064" cy="847725"/>
              </a:xfrm>
              <a:prstGeom prst="round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圓角矩形 51"/>
              <p:cNvSpPr/>
              <p:nvPr/>
            </p:nvSpPr>
            <p:spPr>
              <a:xfrm>
                <a:off x="6457950" y="2995316"/>
                <a:ext cx="914064" cy="847725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 smtClean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1200" dirty="0" smtClean="0">
                    <a:solidFill>
                      <a:schemeClr val="tx1"/>
                    </a:solidFill>
                  </a:rPr>
                  <a:t>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𝑇𝑦𝑝𝑒</m:t>
                      </m:r>
                    </m:oMath>
                  </m:oMathPara>
                </a14:m>
                <a:endParaRPr lang="en-US" altLang="zh-TW" sz="120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𝑃𝑟𝑆</m:t>
                      </m:r>
                    </m:oMath>
                  </m:oMathPara>
                </a14:m>
                <a:endParaRPr lang="en-US" altLang="zh-TW" sz="1200" b="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altLang="zh-TW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TW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TW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altLang="zh-TW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2" name="圓角矩形 5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7950" y="2995316"/>
                <a:ext cx="914064" cy="847725"/>
              </a:xfrm>
              <a:prstGeom prst="round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直線單箭頭接點 6"/>
          <p:cNvCxnSpPr/>
          <p:nvPr/>
        </p:nvCxnSpPr>
        <p:spPr>
          <a:xfrm flipH="1">
            <a:off x="7372014" y="3419475"/>
            <a:ext cx="4381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文字方塊 52"/>
          <p:cNvSpPr txBox="1"/>
          <p:nvPr/>
        </p:nvSpPr>
        <p:spPr>
          <a:xfrm>
            <a:off x="7808062" y="3234512"/>
            <a:ext cx="11198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best node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5641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80975" y="307977"/>
            <a:ext cx="8753475" cy="873124"/>
          </a:xfrm>
        </p:spPr>
        <p:txBody>
          <a:bodyPr>
            <a:normAutofit fontScale="90000"/>
          </a:bodyPr>
          <a:lstStyle/>
          <a:p>
            <a:r>
              <a:rPr lang="en-US" altLang="zh-TW" b="1" dirty="0" smtClean="0"/>
              <a:t>FOGSAA</a:t>
            </a:r>
            <a:br>
              <a:rPr lang="en-US" altLang="zh-TW" b="1" dirty="0" smtClean="0"/>
            </a:br>
            <a:r>
              <a:rPr lang="en-US" altLang="zh-TW" sz="3300" dirty="0" smtClean="0"/>
              <a:t>Fast Optimal Global Sequence Alignment Algorithm</a:t>
            </a:r>
            <a:endParaRPr lang="zh-TW" altLang="en-US" sz="3300" dirty="0"/>
          </a:p>
        </p:txBody>
      </p:sp>
      <p:sp>
        <p:nvSpPr>
          <p:cNvPr id="3" name="文字方塊 2"/>
          <p:cNvSpPr txBox="1"/>
          <p:nvPr/>
        </p:nvSpPr>
        <p:spPr>
          <a:xfrm>
            <a:off x="741940" y="1284664"/>
            <a:ext cx="405899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3000" dirty="0" smtClean="0"/>
              <a:t>Branch and bound tree</a:t>
            </a:r>
            <a:endParaRPr lang="zh-TW" altLang="en-US" sz="3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圓角矩形 4"/>
              <p:cNvSpPr/>
              <p:nvPr/>
            </p:nvSpPr>
            <p:spPr>
              <a:xfrm>
                <a:off x="1004887" y="2652416"/>
                <a:ext cx="1333500" cy="1304925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 smtClean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dirty="0" smtClean="0">
                    <a:solidFill>
                      <a:schemeClr val="tx1"/>
                    </a:solidFill>
                  </a:rPr>
                  <a:t>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𝑇𝑦𝑝𝑒</m:t>
                      </m:r>
                    </m:oMath>
                  </m:oMathPara>
                </a14:m>
                <a:endParaRPr lang="en-US" altLang="zh-TW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𝑃𝑟𝑆</m:t>
                      </m:r>
                    </m:oMath>
                  </m:oMathPara>
                </a14:m>
                <a:endParaRPr lang="en-US" altLang="zh-TW" b="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altLang="zh-TW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TW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TW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圓角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4887" y="2652416"/>
                <a:ext cx="1333500" cy="1304925"/>
              </a:xfrm>
              <a:prstGeom prst="roundRect">
                <a:avLst/>
              </a:prstGeom>
              <a:blipFill rotWithShape="0"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字方塊 5"/>
          <p:cNvSpPr txBox="1"/>
          <p:nvPr/>
        </p:nvSpPr>
        <p:spPr>
          <a:xfrm>
            <a:off x="1380788" y="1919765"/>
            <a:ext cx="581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root</a:t>
            </a:r>
            <a:endParaRPr lang="zh-TW" altLang="en-US" dirty="0"/>
          </a:p>
        </p:txBody>
      </p:sp>
      <p:cxnSp>
        <p:nvCxnSpPr>
          <p:cNvPr id="8" name="直線單箭頭接點 7"/>
          <p:cNvCxnSpPr>
            <a:stCxn id="6" idx="2"/>
            <a:endCxn id="5" idx="0"/>
          </p:cNvCxnSpPr>
          <p:nvPr/>
        </p:nvCxnSpPr>
        <p:spPr>
          <a:xfrm>
            <a:off x="1671637" y="2289097"/>
            <a:ext cx="0" cy="3633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線單箭頭接點 9"/>
          <p:cNvCxnSpPr/>
          <p:nvPr/>
        </p:nvCxnSpPr>
        <p:spPr>
          <a:xfrm flipH="1">
            <a:off x="809625" y="3957341"/>
            <a:ext cx="418442" cy="5905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線單箭頭接點 10"/>
          <p:cNvCxnSpPr>
            <a:stCxn id="5" idx="2"/>
          </p:cNvCxnSpPr>
          <p:nvPr/>
        </p:nvCxnSpPr>
        <p:spPr>
          <a:xfrm>
            <a:off x="1671637" y="3957341"/>
            <a:ext cx="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/>
          <p:nvPr/>
        </p:nvCxnSpPr>
        <p:spPr>
          <a:xfrm>
            <a:off x="2114550" y="3957341"/>
            <a:ext cx="342900" cy="5905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圓角矩形 18"/>
              <p:cNvSpPr/>
              <p:nvPr/>
            </p:nvSpPr>
            <p:spPr>
              <a:xfrm>
                <a:off x="427563" y="4547891"/>
                <a:ext cx="642938" cy="547984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800" dirty="0" smtClean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sz="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800" dirty="0" smtClean="0">
                    <a:solidFill>
                      <a:schemeClr val="tx1"/>
                    </a:solidFill>
                  </a:rPr>
                  <a:t>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𝑇𝑦𝑝𝑒</m:t>
                      </m:r>
                    </m:oMath>
                  </m:oMathPara>
                </a14:m>
                <a:endParaRPr lang="en-US" altLang="zh-TW" sz="80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𝑃𝑟𝑆</m:t>
                      </m:r>
                    </m:oMath>
                  </m:oMathPara>
                </a14:m>
                <a:endParaRPr lang="en-US" altLang="zh-TW" sz="800" b="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altLang="zh-TW" sz="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TW" sz="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TW" sz="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altLang="zh-TW" sz="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圓角矩形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563" y="4547891"/>
                <a:ext cx="642938" cy="547984"/>
              </a:xfrm>
              <a:prstGeom prst="round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圓角矩形 19"/>
              <p:cNvSpPr/>
              <p:nvPr/>
            </p:nvSpPr>
            <p:spPr>
              <a:xfrm>
                <a:off x="2235736" y="4552357"/>
                <a:ext cx="642938" cy="547984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800" dirty="0" smtClean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sz="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800" dirty="0" smtClean="0">
                    <a:solidFill>
                      <a:schemeClr val="tx1"/>
                    </a:solidFill>
                  </a:rPr>
                  <a:t>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𝑇𝑦𝑝𝑒</m:t>
                      </m:r>
                    </m:oMath>
                  </m:oMathPara>
                </a14:m>
                <a:endParaRPr lang="en-US" altLang="zh-TW" sz="80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𝑃𝑟𝑆</m:t>
                      </m:r>
                    </m:oMath>
                  </m:oMathPara>
                </a14:m>
                <a:endParaRPr lang="en-US" altLang="zh-TW" sz="800" b="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altLang="zh-TW" sz="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TW" sz="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TW" sz="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altLang="zh-TW" sz="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圓角矩形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5736" y="4552357"/>
                <a:ext cx="642938" cy="547984"/>
              </a:xfrm>
              <a:prstGeom prst="round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圓角矩形 20"/>
              <p:cNvSpPr/>
              <p:nvPr/>
            </p:nvSpPr>
            <p:spPr>
              <a:xfrm>
                <a:off x="1371342" y="4886685"/>
                <a:ext cx="642938" cy="547984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800" dirty="0" smtClean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sz="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800" dirty="0" smtClean="0">
                    <a:solidFill>
                      <a:schemeClr val="tx1"/>
                    </a:solidFill>
                  </a:rPr>
                  <a:t>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𝑇𝑦𝑝𝑒</m:t>
                      </m:r>
                    </m:oMath>
                  </m:oMathPara>
                </a14:m>
                <a:endParaRPr lang="en-US" altLang="zh-TW" sz="80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𝑃𝑟𝑆</m:t>
                      </m:r>
                    </m:oMath>
                  </m:oMathPara>
                </a14:m>
                <a:endParaRPr lang="en-US" altLang="zh-TW" sz="800" b="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altLang="zh-TW" sz="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TW" sz="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TW" sz="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altLang="zh-TW" sz="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圓角矩形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342" y="4886685"/>
                <a:ext cx="642938" cy="547984"/>
              </a:xfrm>
              <a:prstGeom prst="round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圓角矩形 36"/>
              <p:cNvSpPr/>
              <p:nvPr/>
            </p:nvSpPr>
            <p:spPr>
              <a:xfrm>
                <a:off x="155924" y="5835079"/>
                <a:ext cx="914064" cy="847725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 smtClean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1200" dirty="0" smtClean="0">
                    <a:solidFill>
                      <a:schemeClr val="tx1"/>
                    </a:solidFill>
                  </a:rPr>
                  <a:t>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𝑇𝑦𝑝𝑒</m:t>
                      </m:r>
                    </m:oMath>
                  </m:oMathPara>
                </a14:m>
                <a:endParaRPr lang="en-US" altLang="zh-TW" sz="120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𝑃𝑟𝑆</m:t>
                      </m:r>
                    </m:oMath>
                  </m:oMathPara>
                </a14:m>
                <a:endParaRPr lang="en-US" altLang="zh-TW" sz="1200" b="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altLang="zh-TW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TW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TW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altLang="zh-TW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圓角矩形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924" y="5835079"/>
                <a:ext cx="914064" cy="847725"/>
              </a:xfrm>
              <a:prstGeom prst="round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圓角矩形 37"/>
              <p:cNvSpPr/>
              <p:nvPr/>
            </p:nvSpPr>
            <p:spPr>
              <a:xfrm>
                <a:off x="411337" y="5835079"/>
                <a:ext cx="914064" cy="847725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 smtClean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1200" dirty="0" smtClean="0">
                    <a:solidFill>
                      <a:schemeClr val="tx1"/>
                    </a:solidFill>
                  </a:rPr>
                  <a:t>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𝑇𝑦𝑝𝑒</m:t>
                      </m:r>
                    </m:oMath>
                  </m:oMathPara>
                </a14:m>
                <a:endParaRPr lang="en-US" altLang="zh-TW" sz="120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𝑃𝑟𝑆</m:t>
                      </m:r>
                    </m:oMath>
                  </m:oMathPara>
                </a14:m>
                <a:endParaRPr lang="en-US" altLang="zh-TW" sz="1200" b="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altLang="zh-TW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TW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TW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altLang="zh-TW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8" name="圓角矩形 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337" y="5835079"/>
                <a:ext cx="914064" cy="847725"/>
              </a:xfrm>
              <a:prstGeom prst="round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圓角矩形 38"/>
              <p:cNvSpPr/>
              <p:nvPr/>
            </p:nvSpPr>
            <p:spPr>
              <a:xfrm>
                <a:off x="666750" y="5835079"/>
                <a:ext cx="914064" cy="847725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 smtClean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1200" dirty="0" smtClean="0">
                    <a:solidFill>
                      <a:schemeClr val="tx1"/>
                    </a:solidFill>
                  </a:rPr>
                  <a:t>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𝑇𝑦𝑝𝑒</m:t>
                      </m:r>
                    </m:oMath>
                  </m:oMathPara>
                </a14:m>
                <a:endParaRPr lang="en-US" altLang="zh-TW" sz="120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𝑃𝑟𝑆</m:t>
                      </m:r>
                    </m:oMath>
                  </m:oMathPara>
                </a14:m>
                <a:endParaRPr lang="en-US" altLang="zh-TW" sz="1200" b="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altLang="zh-TW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TW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TW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altLang="zh-TW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9" name="圓角矩形 3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750" y="5835079"/>
                <a:ext cx="914064" cy="847725"/>
              </a:xfrm>
              <a:prstGeom prst="round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圓角矩形 39"/>
              <p:cNvSpPr/>
              <p:nvPr/>
            </p:nvSpPr>
            <p:spPr>
              <a:xfrm>
                <a:off x="922163" y="5835079"/>
                <a:ext cx="914064" cy="847725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 smtClean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1200" dirty="0" smtClean="0">
                    <a:solidFill>
                      <a:schemeClr val="tx1"/>
                    </a:solidFill>
                  </a:rPr>
                  <a:t>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𝑇𝑦𝑝𝑒</m:t>
                      </m:r>
                    </m:oMath>
                  </m:oMathPara>
                </a14:m>
                <a:endParaRPr lang="en-US" altLang="zh-TW" sz="120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𝑃𝑟𝑆</m:t>
                      </m:r>
                    </m:oMath>
                  </m:oMathPara>
                </a14:m>
                <a:endParaRPr lang="en-US" altLang="zh-TW" sz="1200" b="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altLang="zh-TW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TW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TW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altLang="zh-TW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圓角矩形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163" y="5835079"/>
                <a:ext cx="914064" cy="847725"/>
              </a:xfrm>
              <a:prstGeom prst="round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圓角矩形 40"/>
              <p:cNvSpPr/>
              <p:nvPr/>
            </p:nvSpPr>
            <p:spPr>
              <a:xfrm>
                <a:off x="1177576" y="5835079"/>
                <a:ext cx="914064" cy="847725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 smtClean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1200" dirty="0" smtClean="0">
                    <a:solidFill>
                      <a:schemeClr val="tx1"/>
                    </a:solidFill>
                  </a:rPr>
                  <a:t>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𝑇𝑦𝑝𝑒</m:t>
                      </m:r>
                    </m:oMath>
                  </m:oMathPara>
                </a14:m>
                <a:endParaRPr lang="en-US" altLang="zh-TW" sz="120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𝑃𝑟𝑆</m:t>
                      </m:r>
                    </m:oMath>
                  </m:oMathPara>
                </a14:m>
                <a:endParaRPr lang="en-US" altLang="zh-TW" sz="1200" b="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altLang="zh-TW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TW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TW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altLang="zh-TW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" name="圓角矩形 4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7576" y="5835079"/>
                <a:ext cx="914064" cy="847725"/>
              </a:xfrm>
              <a:prstGeom prst="round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圓角矩形 46"/>
              <p:cNvSpPr/>
              <p:nvPr/>
            </p:nvSpPr>
            <p:spPr>
              <a:xfrm>
                <a:off x="1432989" y="5835079"/>
                <a:ext cx="914064" cy="847725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 smtClean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1200" dirty="0" smtClean="0">
                    <a:solidFill>
                      <a:schemeClr val="tx1"/>
                    </a:solidFill>
                  </a:rPr>
                  <a:t>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𝑇𝑦𝑝𝑒</m:t>
                      </m:r>
                    </m:oMath>
                  </m:oMathPara>
                </a14:m>
                <a:endParaRPr lang="en-US" altLang="zh-TW" sz="120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𝑃𝑟𝑆</m:t>
                      </m:r>
                    </m:oMath>
                  </m:oMathPara>
                </a14:m>
                <a:endParaRPr lang="en-US" altLang="zh-TW" sz="1200" b="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altLang="zh-TW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TW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TW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altLang="zh-TW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7" name="圓角矩形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2989" y="5835079"/>
                <a:ext cx="914064" cy="847725"/>
              </a:xfrm>
              <a:prstGeom prst="round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圓角矩形 47"/>
              <p:cNvSpPr/>
              <p:nvPr/>
            </p:nvSpPr>
            <p:spPr>
              <a:xfrm>
                <a:off x="1688402" y="5835079"/>
                <a:ext cx="914064" cy="847725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 smtClean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1200" dirty="0" smtClean="0">
                    <a:solidFill>
                      <a:schemeClr val="tx1"/>
                    </a:solidFill>
                  </a:rPr>
                  <a:t>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𝑇𝑦𝑝𝑒</m:t>
                      </m:r>
                    </m:oMath>
                  </m:oMathPara>
                </a14:m>
                <a:endParaRPr lang="en-US" altLang="zh-TW" sz="120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𝑃𝑟𝑆</m:t>
                      </m:r>
                    </m:oMath>
                  </m:oMathPara>
                </a14:m>
                <a:endParaRPr lang="en-US" altLang="zh-TW" sz="1200" b="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altLang="zh-TW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TW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TW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altLang="zh-TW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8" name="圓角矩形 4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8402" y="5835079"/>
                <a:ext cx="914064" cy="847725"/>
              </a:xfrm>
              <a:prstGeom prst="round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圓角矩形 50"/>
              <p:cNvSpPr/>
              <p:nvPr/>
            </p:nvSpPr>
            <p:spPr>
              <a:xfrm>
                <a:off x="1943815" y="5835079"/>
                <a:ext cx="914064" cy="847725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 smtClean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1200" dirty="0" smtClean="0">
                    <a:solidFill>
                      <a:schemeClr val="tx1"/>
                    </a:solidFill>
                  </a:rPr>
                  <a:t>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𝑇𝑦𝑝𝑒</m:t>
                      </m:r>
                    </m:oMath>
                  </m:oMathPara>
                </a14:m>
                <a:endParaRPr lang="en-US" altLang="zh-TW" sz="120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𝑃𝑟𝑆</m:t>
                      </m:r>
                    </m:oMath>
                  </m:oMathPara>
                </a14:m>
                <a:endParaRPr lang="en-US" altLang="zh-TW" sz="1200" b="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altLang="zh-TW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TW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TW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altLang="zh-TW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1" name="圓角矩形 5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3815" y="5835079"/>
                <a:ext cx="914064" cy="847725"/>
              </a:xfrm>
              <a:prstGeom prst="round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圓角矩形 51"/>
              <p:cNvSpPr/>
              <p:nvPr/>
            </p:nvSpPr>
            <p:spPr>
              <a:xfrm>
                <a:off x="2199224" y="5835079"/>
                <a:ext cx="914064" cy="847725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 smtClean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1200" dirty="0" smtClean="0">
                    <a:solidFill>
                      <a:schemeClr val="tx1"/>
                    </a:solidFill>
                  </a:rPr>
                  <a:t>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𝑇𝑦𝑝𝑒</m:t>
                      </m:r>
                    </m:oMath>
                  </m:oMathPara>
                </a14:m>
                <a:endParaRPr lang="en-US" altLang="zh-TW" sz="120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𝑃𝑟𝑆</m:t>
                      </m:r>
                    </m:oMath>
                  </m:oMathPara>
                </a14:m>
                <a:endParaRPr lang="en-US" altLang="zh-TW" sz="1200" b="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altLang="zh-TW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TW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TW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altLang="zh-TW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2" name="圓角矩形 5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9224" y="5835079"/>
                <a:ext cx="914064" cy="847725"/>
              </a:xfrm>
              <a:prstGeom prst="round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直線單箭頭接點 6"/>
          <p:cNvCxnSpPr/>
          <p:nvPr/>
        </p:nvCxnSpPr>
        <p:spPr>
          <a:xfrm flipV="1">
            <a:off x="2900362" y="3692299"/>
            <a:ext cx="2280096" cy="25666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圓角矩形 24"/>
              <p:cNvSpPr/>
              <p:nvPr/>
            </p:nvSpPr>
            <p:spPr>
              <a:xfrm>
                <a:off x="5201253" y="2190538"/>
                <a:ext cx="1333500" cy="1304925"/>
              </a:xfrm>
              <a:prstGeom prst="round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 smtClean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dirty="0" smtClean="0">
                    <a:solidFill>
                      <a:schemeClr val="tx1"/>
                    </a:solidFill>
                  </a:rPr>
                  <a:t>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𝑇𝑦𝑝𝑒</m:t>
                      </m:r>
                    </m:oMath>
                  </m:oMathPara>
                </a14:m>
                <a:endParaRPr lang="en-US" altLang="zh-TW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𝑃𝑟𝑆</m:t>
                      </m:r>
                    </m:oMath>
                  </m:oMathPara>
                </a14:m>
                <a:endParaRPr lang="en-US" altLang="zh-TW" b="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altLang="zh-TW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TW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TW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圓角矩形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1253" y="2190538"/>
                <a:ext cx="1333500" cy="1304925"/>
              </a:xfrm>
              <a:prstGeom prst="roundRect">
                <a:avLst/>
              </a:prstGeom>
              <a:blipFill rotWithShape="0">
                <a:blip r:embed="rId7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40536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80975" y="307977"/>
            <a:ext cx="8753475" cy="873124"/>
          </a:xfrm>
        </p:spPr>
        <p:txBody>
          <a:bodyPr>
            <a:normAutofit fontScale="90000"/>
          </a:bodyPr>
          <a:lstStyle/>
          <a:p>
            <a:r>
              <a:rPr lang="en-US" altLang="zh-TW" b="1" dirty="0" smtClean="0"/>
              <a:t>FOGSAA</a:t>
            </a:r>
            <a:br>
              <a:rPr lang="en-US" altLang="zh-TW" b="1" dirty="0" smtClean="0"/>
            </a:br>
            <a:r>
              <a:rPr lang="en-US" altLang="zh-TW" sz="3300" dirty="0" smtClean="0"/>
              <a:t>Fast Optimal Global Sequence Alignment Algorithm</a:t>
            </a:r>
            <a:endParaRPr lang="zh-TW" altLang="en-US" sz="3300" dirty="0"/>
          </a:p>
        </p:txBody>
      </p:sp>
      <p:sp>
        <p:nvSpPr>
          <p:cNvPr id="3" name="文字方塊 2"/>
          <p:cNvSpPr txBox="1"/>
          <p:nvPr/>
        </p:nvSpPr>
        <p:spPr>
          <a:xfrm>
            <a:off x="741940" y="1284664"/>
            <a:ext cx="405899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3000" dirty="0" smtClean="0"/>
              <a:t>Branch and bound tree</a:t>
            </a:r>
            <a:endParaRPr lang="zh-TW" altLang="en-US" sz="3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圓角矩形 4"/>
              <p:cNvSpPr/>
              <p:nvPr/>
            </p:nvSpPr>
            <p:spPr>
              <a:xfrm>
                <a:off x="1004887" y="2652416"/>
                <a:ext cx="1333500" cy="1304925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 smtClean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dirty="0" smtClean="0">
                    <a:solidFill>
                      <a:schemeClr val="tx1"/>
                    </a:solidFill>
                  </a:rPr>
                  <a:t>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𝑇𝑦𝑝𝑒</m:t>
                      </m:r>
                    </m:oMath>
                  </m:oMathPara>
                </a14:m>
                <a:endParaRPr lang="en-US" altLang="zh-TW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𝑃𝑟𝑆</m:t>
                      </m:r>
                    </m:oMath>
                  </m:oMathPara>
                </a14:m>
                <a:endParaRPr lang="en-US" altLang="zh-TW" b="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altLang="zh-TW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TW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TW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圓角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4887" y="2652416"/>
                <a:ext cx="1333500" cy="1304925"/>
              </a:xfrm>
              <a:prstGeom prst="roundRect">
                <a:avLst/>
              </a:prstGeom>
              <a:blipFill rotWithShape="0"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字方塊 5"/>
          <p:cNvSpPr txBox="1"/>
          <p:nvPr/>
        </p:nvSpPr>
        <p:spPr>
          <a:xfrm>
            <a:off x="1380788" y="1919765"/>
            <a:ext cx="581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root</a:t>
            </a:r>
            <a:endParaRPr lang="zh-TW" altLang="en-US" dirty="0"/>
          </a:p>
        </p:txBody>
      </p:sp>
      <p:cxnSp>
        <p:nvCxnSpPr>
          <p:cNvPr id="8" name="直線單箭頭接點 7"/>
          <p:cNvCxnSpPr>
            <a:stCxn id="6" idx="2"/>
            <a:endCxn id="5" idx="0"/>
          </p:cNvCxnSpPr>
          <p:nvPr/>
        </p:nvCxnSpPr>
        <p:spPr>
          <a:xfrm>
            <a:off x="1671637" y="2289097"/>
            <a:ext cx="0" cy="3633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線單箭頭接點 9"/>
          <p:cNvCxnSpPr/>
          <p:nvPr/>
        </p:nvCxnSpPr>
        <p:spPr>
          <a:xfrm flipH="1">
            <a:off x="809625" y="3957341"/>
            <a:ext cx="418442" cy="5905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線單箭頭接點 10"/>
          <p:cNvCxnSpPr>
            <a:stCxn id="5" idx="2"/>
          </p:cNvCxnSpPr>
          <p:nvPr/>
        </p:nvCxnSpPr>
        <p:spPr>
          <a:xfrm>
            <a:off x="1671637" y="3957341"/>
            <a:ext cx="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/>
          <p:nvPr/>
        </p:nvCxnSpPr>
        <p:spPr>
          <a:xfrm>
            <a:off x="2114550" y="3957341"/>
            <a:ext cx="342900" cy="5905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圓角矩形 18"/>
              <p:cNvSpPr/>
              <p:nvPr/>
            </p:nvSpPr>
            <p:spPr>
              <a:xfrm>
                <a:off x="427563" y="4547891"/>
                <a:ext cx="642938" cy="547984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800" dirty="0" smtClean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sz="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800" dirty="0" smtClean="0">
                    <a:solidFill>
                      <a:schemeClr val="tx1"/>
                    </a:solidFill>
                  </a:rPr>
                  <a:t>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𝑇𝑦𝑝𝑒</m:t>
                      </m:r>
                    </m:oMath>
                  </m:oMathPara>
                </a14:m>
                <a:endParaRPr lang="en-US" altLang="zh-TW" sz="80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𝑃𝑟𝑆</m:t>
                      </m:r>
                    </m:oMath>
                  </m:oMathPara>
                </a14:m>
                <a:endParaRPr lang="en-US" altLang="zh-TW" sz="800" b="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altLang="zh-TW" sz="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TW" sz="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TW" sz="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altLang="zh-TW" sz="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圓角矩形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563" y="4547891"/>
                <a:ext cx="642938" cy="547984"/>
              </a:xfrm>
              <a:prstGeom prst="round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圓角矩形 19"/>
              <p:cNvSpPr/>
              <p:nvPr/>
            </p:nvSpPr>
            <p:spPr>
              <a:xfrm>
                <a:off x="2235736" y="4552357"/>
                <a:ext cx="642938" cy="547984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800" dirty="0" smtClean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sz="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800" dirty="0" smtClean="0">
                    <a:solidFill>
                      <a:schemeClr val="tx1"/>
                    </a:solidFill>
                  </a:rPr>
                  <a:t>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𝑇𝑦𝑝𝑒</m:t>
                      </m:r>
                    </m:oMath>
                  </m:oMathPara>
                </a14:m>
                <a:endParaRPr lang="en-US" altLang="zh-TW" sz="80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𝑃𝑟𝑆</m:t>
                      </m:r>
                    </m:oMath>
                  </m:oMathPara>
                </a14:m>
                <a:endParaRPr lang="en-US" altLang="zh-TW" sz="800" b="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altLang="zh-TW" sz="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TW" sz="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TW" sz="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altLang="zh-TW" sz="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圓角矩形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5736" y="4552357"/>
                <a:ext cx="642938" cy="547984"/>
              </a:xfrm>
              <a:prstGeom prst="round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圓角矩形 20"/>
              <p:cNvSpPr/>
              <p:nvPr/>
            </p:nvSpPr>
            <p:spPr>
              <a:xfrm>
                <a:off x="1371342" y="4886685"/>
                <a:ext cx="642938" cy="547984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800" dirty="0" smtClean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sz="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800" dirty="0" smtClean="0">
                    <a:solidFill>
                      <a:schemeClr val="tx1"/>
                    </a:solidFill>
                  </a:rPr>
                  <a:t>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𝑇𝑦𝑝𝑒</m:t>
                      </m:r>
                    </m:oMath>
                  </m:oMathPara>
                </a14:m>
                <a:endParaRPr lang="en-US" altLang="zh-TW" sz="80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𝑃𝑟𝑆</m:t>
                      </m:r>
                    </m:oMath>
                  </m:oMathPara>
                </a14:m>
                <a:endParaRPr lang="en-US" altLang="zh-TW" sz="800" b="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altLang="zh-TW" sz="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TW" sz="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TW" sz="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altLang="zh-TW" sz="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圓角矩形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342" y="4886685"/>
                <a:ext cx="642938" cy="547984"/>
              </a:xfrm>
              <a:prstGeom prst="round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圓角矩形 36"/>
              <p:cNvSpPr/>
              <p:nvPr/>
            </p:nvSpPr>
            <p:spPr>
              <a:xfrm>
                <a:off x="155924" y="5835079"/>
                <a:ext cx="914064" cy="847725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 smtClean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1200" dirty="0" smtClean="0">
                    <a:solidFill>
                      <a:schemeClr val="tx1"/>
                    </a:solidFill>
                  </a:rPr>
                  <a:t>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𝑇𝑦𝑝𝑒</m:t>
                      </m:r>
                    </m:oMath>
                  </m:oMathPara>
                </a14:m>
                <a:endParaRPr lang="en-US" altLang="zh-TW" sz="120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𝑃𝑟𝑆</m:t>
                      </m:r>
                    </m:oMath>
                  </m:oMathPara>
                </a14:m>
                <a:endParaRPr lang="en-US" altLang="zh-TW" sz="1200" b="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altLang="zh-TW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TW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TW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altLang="zh-TW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圓角矩形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924" y="5835079"/>
                <a:ext cx="914064" cy="847725"/>
              </a:xfrm>
              <a:prstGeom prst="round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圓角矩形 37"/>
              <p:cNvSpPr/>
              <p:nvPr/>
            </p:nvSpPr>
            <p:spPr>
              <a:xfrm>
                <a:off x="411337" y="5835079"/>
                <a:ext cx="914064" cy="847725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 smtClean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1200" dirty="0" smtClean="0">
                    <a:solidFill>
                      <a:schemeClr val="tx1"/>
                    </a:solidFill>
                  </a:rPr>
                  <a:t>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𝑇𝑦𝑝𝑒</m:t>
                      </m:r>
                    </m:oMath>
                  </m:oMathPara>
                </a14:m>
                <a:endParaRPr lang="en-US" altLang="zh-TW" sz="120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𝑃𝑟𝑆</m:t>
                      </m:r>
                    </m:oMath>
                  </m:oMathPara>
                </a14:m>
                <a:endParaRPr lang="en-US" altLang="zh-TW" sz="1200" b="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altLang="zh-TW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TW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TW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altLang="zh-TW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8" name="圓角矩形 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337" y="5835079"/>
                <a:ext cx="914064" cy="847725"/>
              </a:xfrm>
              <a:prstGeom prst="round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圓角矩形 38"/>
              <p:cNvSpPr/>
              <p:nvPr/>
            </p:nvSpPr>
            <p:spPr>
              <a:xfrm>
                <a:off x="666750" y="5835079"/>
                <a:ext cx="914064" cy="847725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 smtClean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1200" dirty="0" smtClean="0">
                    <a:solidFill>
                      <a:schemeClr val="tx1"/>
                    </a:solidFill>
                  </a:rPr>
                  <a:t>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𝑇𝑦𝑝𝑒</m:t>
                      </m:r>
                    </m:oMath>
                  </m:oMathPara>
                </a14:m>
                <a:endParaRPr lang="en-US" altLang="zh-TW" sz="120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𝑃𝑟𝑆</m:t>
                      </m:r>
                    </m:oMath>
                  </m:oMathPara>
                </a14:m>
                <a:endParaRPr lang="en-US" altLang="zh-TW" sz="1200" b="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altLang="zh-TW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TW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TW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altLang="zh-TW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9" name="圓角矩形 3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750" y="5835079"/>
                <a:ext cx="914064" cy="847725"/>
              </a:xfrm>
              <a:prstGeom prst="round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圓角矩形 39"/>
              <p:cNvSpPr/>
              <p:nvPr/>
            </p:nvSpPr>
            <p:spPr>
              <a:xfrm>
                <a:off x="922163" y="5835079"/>
                <a:ext cx="914064" cy="847725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 smtClean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1200" dirty="0" smtClean="0">
                    <a:solidFill>
                      <a:schemeClr val="tx1"/>
                    </a:solidFill>
                  </a:rPr>
                  <a:t>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𝑇𝑦𝑝𝑒</m:t>
                      </m:r>
                    </m:oMath>
                  </m:oMathPara>
                </a14:m>
                <a:endParaRPr lang="en-US" altLang="zh-TW" sz="120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𝑃𝑟𝑆</m:t>
                      </m:r>
                    </m:oMath>
                  </m:oMathPara>
                </a14:m>
                <a:endParaRPr lang="en-US" altLang="zh-TW" sz="1200" b="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altLang="zh-TW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TW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TW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altLang="zh-TW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圓角矩形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163" y="5835079"/>
                <a:ext cx="914064" cy="847725"/>
              </a:xfrm>
              <a:prstGeom prst="round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圓角矩形 40"/>
              <p:cNvSpPr/>
              <p:nvPr/>
            </p:nvSpPr>
            <p:spPr>
              <a:xfrm>
                <a:off x="1177576" y="5835079"/>
                <a:ext cx="914064" cy="847725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 smtClean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1200" dirty="0" smtClean="0">
                    <a:solidFill>
                      <a:schemeClr val="tx1"/>
                    </a:solidFill>
                  </a:rPr>
                  <a:t>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𝑇𝑦𝑝𝑒</m:t>
                      </m:r>
                    </m:oMath>
                  </m:oMathPara>
                </a14:m>
                <a:endParaRPr lang="en-US" altLang="zh-TW" sz="120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𝑃𝑟𝑆</m:t>
                      </m:r>
                    </m:oMath>
                  </m:oMathPara>
                </a14:m>
                <a:endParaRPr lang="en-US" altLang="zh-TW" sz="1200" b="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altLang="zh-TW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TW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TW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altLang="zh-TW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" name="圓角矩形 4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7576" y="5835079"/>
                <a:ext cx="914064" cy="847725"/>
              </a:xfrm>
              <a:prstGeom prst="round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圓角矩形 46"/>
              <p:cNvSpPr/>
              <p:nvPr/>
            </p:nvSpPr>
            <p:spPr>
              <a:xfrm>
                <a:off x="1432989" y="5835079"/>
                <a:ext cx="914064" cy="847725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 smtClean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1200" dirty="0" smtClean="0">
                    <a:solidFill>
                      <a:schemeClr val="tx1"/>
                    </a:solidFill>
                  </a:rPr>
                  <a:t>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𝑇𝑦𝑝𝑒</m:t>
                      </m:r>
                    </m:oMath>
                  </m:oMathPara>
                </a14:m>
                <a:endParaRPr lang="en-US" altLang="zh-TW" sz="120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𝑃𝑟𝑆</m:t>
                      </m:r>
                    </m:oMath>
                  </m:oMathPara>
                </a14:m>
                <a:endParaRPr lang="en-US" altLang="zh-TW" sz="1200" b="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altLang="zh-TW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TW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TW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altLang="zh-TW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7" name="圓角矩形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2989" y="5835079"/>
                <a:ext cx="914064" cy="847725"/>
              </a:xfrm>
              <a:prstGeom prst="round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圓角矩形 47"/>
              <p:cNvSpPr/>
              <p:nvPr/>
            </p:nvSpPr>
            <p:spPr>
              <a:xfrm>
                <a:off x="1688402" y="5835079"/>
                <a:ext cx="914064" cy="847725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 smtClean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1200" dirty="0" smtClean="0">
                    <a:solidFill>
                      <a:schemeClr val="tx1"/>
                    </a:solidFill>
                  </a:rPr>
                  <a:t>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𝑇𝑦𝑝𝑒</m:t>
                      </m:r>
                    </m:oMath>
                  </m:oMathPara>
                </a14:m>
                <a:endParaRPr lang="en-US" altLang="zh-TW" sz="120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𝑃𝑟𝑆</m:t>
                      </m:r>
                    </m:oMath>
                  </m:oMathPara>
                </a14:m>
                <a:endParaRPr lang="en-US" altLang="zh-TW" sz="1200" b="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altLang="zh-TW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TW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TW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altLang="zh-TW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8" name="圓角矩形 4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8402" y="5835079"/>
                <a:ext cx="914064" cy="847725"/>
              </a:xfrm>
              <a:prstGeom prst="round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圓角矩形 50"/>
              <p:cNvSpPr/>
              <p:nvPr/>
            </p:nvSpPr>
            <p:spPr>
              <a:xfrm>
                <a:off x="1943815" y="5835079"/>
                <a:ext cx="914064" cy="847725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 smtClean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1200" dirty="0" smtClean="0">
                    <a:solidFill>
                      <a:schemeClr val="tx1"/>
                    </a:solidFill>
                  </a:rPr>
                  <a:t>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𝑇𝑦𝑝𝑒</m:t>
                      </m:r>
                    </m:oMath>
                  </m:oMathPara>
                </a14:m>
                <a:endParaRPr lang="en-US" altLang="zh-TW" sz="120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𝑃𝑟𝑆</m:t>
                      </m:r>
                    </m:oMath>
                  </m:oMathPara>
                </a14:m>
                <a:endParaRPr lang="en-US" altLang="zh-TW" sz="1200" b="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altLang="zh-TW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TW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TW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altLang="zh-TW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1" name="圓角矩形 5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3815" y="5835079"/>
                <a:ext cx="914064" cy="847725"/>
              </a:xfrm>
              <a:prstGeom prst="round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圓角矩形 51"/>
              <p:cNvSpPr/>
              <p:nvPr/>
            </p:nvSpPr>
            <p:spPr>
              <a:xfrm>
                <a:off x="2199224" y="5835079"/>
                <a:ext cx="914064" cy="847725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 smtClean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1200" dirty="0" smtClean="0">
                    <a:solidFill>
                      <a:schemeClr val="tx1"/>
                    </a:solidFill>
                  </a:rPr>
                  <a:t>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𝑇𝑦𝑝𝑒</m:t>
                      </m:r>
                    </m:oMath>
                  </m:oMathPara>
                </a14:m>
                <a:endParaRPr lang="en-US" altLang="zh-TW" sz="120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𝑃𝑟𝑆</m:t>
                      </m:r>
                    </m:oMath>
                  </m:oMathPara>
                </a14:m>
                <a:endParaRPr lang="en-US" altLang="zh-TW" sz="1200" b="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altLang="zh-TW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TW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TW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altLang="zh-TW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2" name="圓角矩形 5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9224" y="5835079"/>
                <a:ext cx="914064" cy="847725"/>
              </a:xfrm>
              <a:prstGeom prst="round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直線單箭頭接點 6"/>
          <p:cNvCxnSpPr>
            <a:endCxn id="42" idx="0"/>
          </p:cNvCxnSpPr>
          <p:nvPr/>
        </p:nvCxnSpPr>
        <p:spPr>
          <a:xfrm flipH="1">
            <a:off x="4176277" y="3422405"/>
            <a:ext cx="1129821" cy="8302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圓角矩形 24"/>
              <p:cNvSpPr/>
              <p:nvPr/>
            </p:nvSpPr>
            <p:spPr>
              <a:xfrm>
                <a:off x="5201253" y="2190538"/>
                <a:ext cx="1333500" cy="1304925"/>
              </a:xfrm>
              <a:prstGeom prst="round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 smtClean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dirty="0" smtClean="0">
                    <a:solidFill>
                      <a:schemeClr val="tx1"/>
                    </a:solidFill>
                  </a:rPr>
                  <a:t>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𝑇𝑦𝑝𝑒</m:t>
                      </m:r>
                    </m:oMath>
                  </m:oMathPara>
                </a14:m>
                <a:endParaRPr lang="en-US" altLang="zh-TW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𝑃𝑟𝑆</m:t>
                      </m:r>
                    </m:oMath>
                  </m:oMathPara>
                </a14:m>
                <a:endParaRPr lang="en-US" altLang="zh-TW" b="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altLang="zh-TW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TW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TW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圓角矩形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1253" y="2190538"/>
                <a:ext cx="1333500" cy="1304925"/>
              </a:xfrm>
              <a:prstGeom prst="roundRect">
                <a:avLst/>
              </a:prstGeom>
              <a:blipFill rotWithShape="0">
                <a:blip r:embed="rId7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直線單箭頭接點 27"/>
          <p:cNvCxnSpPr>
            <a:endCxn id="35" idx="0"/>
          </p:cNvCxnSpPr>
          <p:nvPr/>
        </p:nvCxnSpPr>
        <p:spPr>
          <a:xfrm>
            <a:off x="6477470" y="3422405"/>
            <a:ext cx="1440964" cy="7073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直線單箭頭接點 31"/>
          <p:cNvCxnSpPr>
            <a:stCxn id="25" idx="2"/>
            <a:endCxn id="36" idx="0"/>
          </p:cNvCxnSpPr>
          <p:nvPr/>
        </p:nvCxnSpPr>
        <p:spPr>
          <a:xfrm>
            <a:off x="5868003" y="3495463"/>
            <a:ext cx="158739" cy="10346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圓角矩形 34"/>
              <p:cNvSpPr/>
              <p:nvPr/>
            </p:nvSpPr>
            <p:spPr>
              <a:xfrm>
                <a:off x="7251684" y="4129744"/>
                <a:ext cx="1333500" cy="1304925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 smtClean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altLang="zh-TW" dirty="0" smtClean="0">
                    <a:solidFill>
                      <a:schemeClr val="tx1"/>
                    </a:solidFill>
                  </a:rPr>
                  <a:t>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altLang="zh-TW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𝑃𝑟𝑆</m:t>
                      </m:r>
                    </m:oMath>
                  </m:oMathPara>
                </a14:m>
                <a:endParaRPr lang="en-US" altLang="zh-TW" b="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altLang="zh-TW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TW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TW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圓角矩形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1684" y="4129744"/>
                <a:ext cx="1333500" cy="1304925"/>
              </a:xfrm>
              <a:prstGeom prst="roundRect">
                <a:avLst/>
              </a:prstGeom>
              <a:blipFill rotWithShape="0">
                <a:blip r:embed="rId8"/>
                <a:stretch>
                  <a:fillRect r="-409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圓角矩形 35"/>
              <p:cNvSpPr/>
              <p:nvPr/>
            </p:nvSpPr>
            <p:spPr>
              <a:xfrm>
                <a:off x="5214802" y="4530154"/>
                <a:ext cx="1623879" cy="1304925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 smtClean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+1,</m:t>
                    </m:r>
                    <m:sSub>
                      <m:sSubPr>
                        <m:ctrlP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dirty="0" smtClean="0">
                    <a:solidFill>
                      <a:schemeClr val="tx1"/>
                    </a:solidFill>
                  </a:rPr>
                  <a:t>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altLang="zh-TW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𝑃𝑟𝑆</m:t>
                      </m:r>
                    </m:oMath>
                  </m:oMathPara>
                </a14:m>
                <a:endParaRPr lang="en-US" altLang="zh-TW" b="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altLang="zh-TW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TW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TW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" name="圓角矩形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4802" y="4530154"/>
                <a:ext cx="1623879" cy="1304925"/>
              </a:xfrm>
              <a:prstGeom prst="roundRect">
                <a:avLst/>
              </a:prstGeom>
              <a:blipFill rotWithShape="0"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圓角矩形 41"/>
              <p:cNvSpPr/>
              <p:nvPr/>
            </p:nvSpPr>
            <p:spPr>
              <a:xfrm>
                <a:off x="3299038" y="4252616"/>
                <a:ext cx="1754478" cy="1304925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 smtClean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+1,</m:t>
                    </m:r>
                    <m:sSub>
                      <m:sSubPr>
                        <m:ctrlP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altLang="zh-TW" dirty="0" smtClean="0">
                    <a:solidFill>
                      <a:schemeClr val="tx1"/>
                    </a:solidFill>
                  </a:rPr>
                  <a:t>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altLang="zh-TW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𝑃𝑟𝑆</m:t>
                      </m:r>
                    </m:oMath>
                  </m:oMathPara>
                </a14:m>
                <a:endParaRPr lang="en-US" altLang="zh-TW" b="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altLang="zh-TW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TW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TW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2" name="圓角矩形 4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9038" y="4252616"/>
                <a:ext cx="1754478" cy="1304925"/>
              </a:xfrm>
              <a:prstGeom prst="roundRect">
                <a:avLst/>
              </a:prstGeom>
              <a:blipFill rotWithShape="0">
                <a:blip r:embed="rId10"/>
                <a:stretch>
                  <a:fillRect r="-310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454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80975" y="307977"/>
            <a:ext cx="8753475" cy="873124"/>
          </a:xfrm>
        </p:spPr>
        <p:txBody>
          <a:bodyPr>
            <a:normAutofit fontScale="90000"/>
          </a:bodyPr>
          <a:lstStyle/>
          <a:p>
            <a:r>
              <a:rPr lang="en-US" altLang="zh-TW" b="1" dirty="0" smtClean="0"/>
              <a:t>FOGSAA</a:t>
            </a:r>
            <a:br>
              <a:rPr lang="en-US" altLang="zh-TW" b="1" dirty="0" smtClean="0"/>
            </a:br>
            <a:r>
              <a:rPr lang="en-US" altLang="zh-TW" sz="3300" dirty="0" smtClean="0"/>
              <a:t>Fast Optimal Global Sequence Alignment Algorithm</a:t>
            </a:r>
            <a:endParaRPr lang="zh-TW" altLang="en-US" sz="3300" dirty="0"/>
          </a:p>
        </p:txBody>
      </p:sp>
      <p:sp>
        <p:nvSpPr>
          <p:cNvPr id="3" name="文字方塊 2"/>
          <p:cNvSpPr txBox="1"/>
          <p:nvPr/>
        </p:nvSpPr>
        <p:spPr>
          <a:xfrm>
            <a:off x="741940" y="1284664"/>
            <a:ext cx="405899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3000" dirty="0" smtClean="0"/>
              <a:t>Branch and bound tree</a:t>
            </a:r>
            <a:endParaRPr lang="zh-TW" altLang="en-US" sz="3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圓角矩形 4"/>
              <p:cNvSpPr/>
              <p:nvPr/>
            </p:nvSpPr>
            <p:spPr>
              <a:xfrm>
                <a:off x="1004887" y="2652416"/>
                <a:ext cx="1333500" cy="1304925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 smtClean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dirty="0" smtClean="0">
                    <a:solidFill>
                      <a:schemeClr val="tx1"/>
                    </a:solidFill>
                  </a:rPr>
                  <a:t>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𝑇𝑦𝑝𝑒</m:t>
                      </m:r>
                    </m:oMath>
                  </m:oMathPara>
                </a14:m>
                <a:endParaRPr lang="en-US" altLang="zh-TW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𝑃𝑟𝑆</m:t>
                      </m:r>
                    </m:oMath>
                  </m:oMathPara>
                </a14:m>
                <a:endParaRPr lang="en-US" altLang="zh-TW" b="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altLang="zh-TW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TW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TW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圓角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4887" y="2652416"/>
                <a:ext cx="1333500" cy="1304925"/>
              </a:xfrm>
              <a:prstGeom prst="roundRect">
                <a:avLst/>
              </a:prstGeom>
              <a:blipFill rotWithShape="0"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字方塊 5"/>
          <p:cNvSpPr txBox="1"/>
          <p:nvPr/>
        </p:nvSpPr>
        <p:spPr>
          <a:xfrm>
            <a:off x="1380788" y="1919765"/>
            <a:ext cx="581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root</a:t>
            </a:r>
            <a:endParaRPr lang="zh-TW" altLang="en-US" dirty="0"/>
          </a:p>
        </p:txBody>
      </p:sp>
      <p:cxnSp>
        <p:nvCxnSpPr>
          <p:cNvPr id="8" name="直線單箭頭接點 7"/>
          <p:cNvCxnSpPr>
            <a:stCxn id="6" idx="2"/>
            <a:endCxn id="5" idx="0"/>
          </p:cNvCxnSpPr>
          <p:nvPr/>
        </p:nvCxnSpPr>
        <p:spPr>
          <a:xfrm>
            <a:off x="1671637" y="2289097"/>
            <a:ext cx="0" cy="3633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線單箭頭接點 9"/>
          <p:cNvCxnSpPr/>
          <p:nvPr/>
        </p:nvCxnSpPr>
        <p:spPr>
          <a:xfrm flipH="1">
            <a:off x="809625" y="3957341"/>
            <a:ext cx="418442" cy="5905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線單箭頭接點 10"/>
          <p:cNvCxnSpPr>
            <a:stCxn id="5" idx="2"/>
          </p:cNvCxnSpPr>
          <p:nvPr/>
        </p:nvCxnSpPr>
        <p:spPr>
          <a:xfrm>
            <a:off x="1671637" y="3957341"/>
            <a:ext cx="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/>
          <p:nvPr/>
        </p:nvCxnSpPr>
        <p:spPr>
          <a:xfrm>
            <a:off x="2114550" y="3957341"/>
            <a:ext cx="342900" cy="5905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圓角矩形 18"/>
              <p:cNvSpPr/>
              <p:nvPr/>
            </p:nvSpPr>
            <p:spPr>
              <a:xfrm>
                <a:off x="427563" y="4547891"/>
                <a:ext cx="642938" cy="547984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800" dirty="0" smtClean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sz="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800" dirty="0" smtClean="0">
                    <a:solidFill>
                      <a:schemeClr val="tx1"/>
                    </a:solidFill>
                  </a:rPr>
                  <a:t>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𝑇𝑦𝑝𝑒</m:t>
                      </m:r>
                    </m:oMath>
                  </m:oMathPara>
                </a14:m>
                <a:endParaRPr lang="en-US" altLang="zh-TW" sz="80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𝑃𝑟𝑆</m:t>
                      </m:r>
                    </m:oMath>
                  </m:oMathPara>
                </a14:m>
                <a:endParaRPr lang="en-US" altLang="zh-TW" sz="800" b="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altLang="zh-TW" sz="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TW" sz="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TW" sz="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altLang="zh-TW" sz="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圓角矩形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563" y="4547891"/>
                <a:ext cx="642938" cy="547984"/>
              </a:xfrm>
              <a:prstGeom prst="round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圓角矩形 19"/>
              <p:cNvSpPr/>
              <p:nvPr/>
            </p:nvSpPr>
            <p:spPr>
              <a:xfrm>
                <a:off x="2235736" y="4552357"/>
                <a:ext cx="642938" cy="547984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800" dirty="0" smtClean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sz="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800" dirty="0" smtClean="0">
                    <a:solidFill>
                      <a:schemeClr val="tx1"/>
                    </a:solidFill>
                  </a:rPr>
                  <a:t>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𝑇𝑦𝑝𝑒</m:t>
                      </m:r>
                    </m:oMath>
                  </m:oMathPara>
                </a14:m>
                <a:endParaRPr lang="en-US" altLang="zh-TW" sz="80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𝑃𝑟𝑆</m:t>
                      </m:r>
                    </m:oMath>
                  </m:oMathPara>
                </a14:m>
                <a:endParaRPr lang="en-US" altLang="zh-TW" sz="800" b="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altLang="zh-TW" sz="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TW" sz="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TW" sz="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altLang="zh-TW" sz="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圓角矩形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5736" y="4552357"/>
                <a:ext cx="642938" cy="547984"/>
              </a:xfrm>
              <a:prstGeom prst="round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圓角矩形 20"/>
              <p:cNvSpPr/>
              <p:nvPr/>
            </p:nvSpPr>
            <p:spPr>
              <a:xfrm>
                <a:off x="1371342" y="4886685"/>
                <a:ext cx="642938" cy="547984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800" dirty="0" smtClean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sz="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800" dirty="0" smtClean="0">
                    <a:solidFill>
                      <a:schemeClr val="tx1"/>
                    </a:solidFill>
                  </a:rPr>
                  <a:t>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𝑇𝑦𝑝𝑒</m:t>
                      </m:r>
                    </m:oMath>
                  </m:oMathPara>
                </a14:m>
                <a:endParaRPr lang="en-US" altLang="zh-TW" sz="80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𝑃𝑟𝑆</m:t>
                      </m:r>
                    </m:oMath>
                  </m:oMathPara>
                </a14:m>
                <a:endParaRPr lang="en-US" altLang="zh-TW" sz="800" b="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altLang="zh-TW" sz="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TW" sz="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TW" sz="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altLang="zh-TW" sz="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圓角矩形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342" y="4886685"/>
                <a:ext cx="642938" cy="547984"/>
              </a:xfrm>
              <a:prstGeom prst="round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圓角矩形 36"/>
              <p:cNvSpPr/>
              <p:nvPr/>
            </p:nvSpPr>
            <p:spPr>
              <a:xfrm>
                <a:off x="155924" y="5835079"/>
                <a:ext cx="914064" cy="847725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 smtClean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1200" dirty="0" smtClean="0">
                    <a:solidFill>
                      <a:schemeClr val="tx1"/>
                    </a:solidFill>
                  </a:rPr>
                  <a:t>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𝑇𝑦𝑝𝑒</m:t>
                      </m:r>
                    </m:oMath>
                  </m:oMathPara>
                </a14:m>
                <a:endParaRPr lang="en-US" altLang="zh-TW" sz="120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𝑃𝑟𝑆</m:t>
                      </m:r>
                    </m:oMath>
                  </m:oMathPara>
                </a14:m>
                <a:endParaRPr lang="en-US" altLang="zh-TW" sz="1200" b="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altLang="zh-TW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TW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TW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altLang="zh-TW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圓角矩形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924" y="5835079"/>
                <a:ext cx="914064" cy="847725"/>
              </a:xfrm>
              <a:prstGeom prst="round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圓角矩形 37"/>
              <p:cNvSpPr/>
              <p:nvPr/>
            </p:nvSpPr>
            <p:spPr>
              <a:xfrm>
                <a:off x="411337" y="5835079"/>
                <a:ext cx="914064" cy="847725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 smtClean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1200" dirty="0" smtClean="0">
                    <a:solidFill>
                      <a:schemeClr val="tx1"/>
                    </a:solidFill>
                  </a:rPr>
                  <a:t>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𝑇𝑦𝑝𝑒</m:t>
                      </m:r>
                    </m:oMath>
                  </m:oMathPara>
                </a14:m>
                <a:endParaRPr lang="en-US" altLang="zh-TW" sz="120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𝑃𝑟𝑆</m:t>
                      </m:r>
                    </m:oMath>
                  </m:oMathPara>
                </a14:m>
                <a:endParaRPr lang="en-US" altLang="zh-TW" sz="1200" b="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altLang="zh-TW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TW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TW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altLang="zh-TW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8" name="圓角矩形 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337" y="5835079"/>
                <a:ext cx="914064" cy="847725"/>
              </a:xfrm>
              <a:prstGeom prst="round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圓角矩形 38"/>
              <p:cNvSpPr/>
              <p:nvPr/>
            </p:nvSpPr>
            <p:spPr>
              <a:xfrm>
                <a:off x="666750" y="5835079"/>
                <a:ext cx="914064" cy="847725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 smtClean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1200" dirty="0" smtClean="0">
                    <a:solidFill>
                      <a:schemeClr val="tx1"/>
                    </a:solidFill>
                  </a:rPr>
                  <a:t>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𝑇𝑦𝑝𝑒</m:t>
                      </m:r>
                    </m:oMath>
                  </m:oMathPara>
                </a14:m>
                <a:endParaRPr lang="en-US" altLang="zh-TW" sz="120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𝑃𝑟𝑆</m:t>
                      </m:r>
                    </m:oMath>
                  </m:oMathPara>
                </a14:m>
                <a:endParaRPr lang="en-US" altLang="zh-TW" sz="1200" b="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altLang="zh-TW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TW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TW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altLang="zh-TW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9" name="圓角矩形 3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750" y="5835079"/>
                <a:ext cx="914064" cy="847725"/>
              </a:xfrm>
              <a:prstGeom prst="round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圓角矩形 39"/>
              <p:cNvSpPr/>
              <p:nvPr/>
            </p:nvSpPr>
            <p:spPr>
              <a:xfrm>
                <a:off x="922163" y="5835079"/>
                <a:ext cx="914064" cy="847725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 smtClean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1200" dirty="0" smtClean="0">
                    <a:solidFill>
                      <a:schemeClr val="tx1"/>
                    </a:solidFill>
                  </a:rPr>
                  <a:t>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𝑇𝑦𝑝𝑒</m:t>
                      </m:r>
                    </m:oMath>
                  </m:oMathPara>
                </a14:m>
                <a:endParaRPr lang="en-US" altLang="zh-TW" sz="120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𝑃𝑟𝑆</m:t>
                      </m:r>
                    </m:oMath>
                  </m:oMathPara>
                </a14:m>
                <a:endParaRPr lang="en-US" altLang="zh-TW" sz="1200" b="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altLang="zh-TW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TW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TW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altLang="zh-TW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圓角矩形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163" y="5835079"/>
                <a:ext cx="914064" cy="847725"/>
              </a:xfrm>
              <a:prstGeom prst="round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圓角矩形 40"/>
              <p:cNvSpPr/>
              <p:nvPr/>
            </p:nvSpPr>
            <p:spPr>
              <a:xfrm>
                <a:off x="1177576" y="5835079"/>
                <a:ext cx="914064" cy="847725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 smtClean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1200" dirty="0" smtClean="0">
                    <a:solidFill>
                      <a:schemeClr val="tx1"/>
                    </a:solidFill>
                  </a:rPr>
                  <a:t>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𝑇𝑦𝑝𝑒</m:t>
                      </m:r>
                    </m:oMath>
                  </m:oMathPara>
                </a14:m>
                <a:endParaRPr lang="en-US" altLang="zh-TW" sz="120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𝑃𝑟𝑆</m:t>
                      </m:r>
                    </m:oMath>
                  </m:oMathPara>
                </a14:m>
                <a:endParaRPr lang="en-US" altLang="zh-TW" sz="1200" b="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altLang="zh-TW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TW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TW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altLang="zh-TW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" name="圓角矩形 4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7576" y="5835079"/>
                <a:ext cx="914064" cy="847725"/>
              </a:xfrm>
              <a:prstGeom prst="round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圓角矩形 46"/>
              <p:cNvSpPr/>
              <p:nvPr/>
            </p:nvSpPr>
            <p:spPr>
              <a:xfrm>
                <a:off x="1432989" y="5835079"/>
                <a:ext cx="914064" cy="847725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 smtClean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1200" dirty="0" smtClean="0">
                    <a:solidFill>
                      <a:schemeClr val="tx1"/>
                    </a:solidFill>
                  </a:rPr>
                  <a:t>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𝑇𝑦𝑝𝑒</m:t>
                      </m:r>
                    </m:oMath>
                  </m:oMathPara>
                </a14:m>
                <a:endParaRPr lang="en-US" altLang="zh-TW" sz="120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𝑃𝑟𝑆</m:t>
                      </m:r>
                    </m:oMath>
                  </m:oMathPara>
                </a14:m>
                <a:endParaRPr lang="en-US" altLang="zh-TW" sz="1200" b="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altLang="zh-TW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TW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TW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altLang="zh-TW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7" name="圓角矩形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2989" y="5835079"/>
                <a:ext cx="914064" cy="847725"/>
              </a:xfrm>
              <a:prstGeom prst="round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圓角矩形 47"/>
              <p:cNvSpPr/>
              <p:nvPr/>
            </p:nvSpPr>
            <p:spPr>
              <a:xfrm>
                <a:off x="1688402" y="5835079"/>
                <a:ext cx="914064" cy="847725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 smtClean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1200" dirty="0" smtClean="0">
                    <a:solidFill>
                      <a:schemeClr val="tx1"/>
                    </a:solidFill>
                  </a:rPr>
                  <a:t>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𝑇𝑦𝑝𝑒</m:t>
                      </m:r>
                    </m:oMath>
                  </m:oMathPara>
                </a14:m>
                <a:endParaRPr lang="en-US" altLang="zh-TW" sz="120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𝑃𝑟𝑆</m:t>
                      </m:r>
                    </m:oMath>
                  </m:oMathPara>
                </a14:m>
                <a:endParaRPr lang="en-US" altLang="zh-TW" sz="1200" b="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altLang="zh-TW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TW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TW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altLang="zh-TW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8" name="圓角矩形 4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8402" y="5835079"/>
                <a:ext cx="914064" cy="847725"/>
              </a:xfrm>
              <a:prstGeom prst="round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圓角矩形 50"/>
              <p:cNvSpPr/>
              <p:nvPr/>
            </p:nvSpPr>
            <p:spPr>
              <a:xfrm>
                <a:off x="1943815" y="5835079"/>
                <a:ext cx="914064" cy="847725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 smtClean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1200" dirty="0" smtClean="0">
                    <a:solidFill>
                      <a:schemeClr val="tx1"/>
                    </a:solidFill>
                  </a:rPr>
                  <a:t>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𝑇𝑦𝑝𝑒</m:t>
                      </m:r>
                    </m:oMath>
                  </m:oMathPara>
                </a14:m>
                <a:endParaRPr lang="en-US" altLang="zh-TW" sz="120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𝑃𝑟𝑆</m:t>
                      </m:r>
                    </m:oMath>
                  </m:oMathPara>
                </a14:m>
                <a:endParaRPr lang="en-US" altLang="zh-TW" sz="1200" b="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altLang="zh-TW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TW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TW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altLang="zh-TW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1" name="圓角矩形 5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3815" y="5835079"/>
                <a:ext cx="914064" cy="847725"/>
              </a:xfrm>
              <a:prstGeom prst="round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圓角矩形 51"/>
              <p:cNvSpPr/>
              <p:nvPr/>
            </p:nvSpPr>
            <p:spPr>
              <a:xfrm>
                <a:off x="2199224" y="5835079"/>
                <a:ext cx="914064" cy="847725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 smtClean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1200" dirty="0" smtClean="0">
                    <a:solidFill>
                      <a:schemeClr val="tx1"/>
                    </a:solidFill>
                  </a:rPr>
                  <a:t>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𝑇𝑦𝑝𝑒</m:t>
                      </m:r>
                    </m:oMath>
                  </m:oMathPara>
                </a14:m>
                <a:endParaRPr lang="en-US" altLang="zh-TW" sz="120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𝑃𝑟𝑆</m:t>
                      </m:r>
                    </m:oMath>
                  </m:oMathPara>
                </a14:m>
                <a:endParaRPr lang="en-US" altLang="zh-TW" sz="1200" b="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altLang="zh-TW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TW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TW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altLang="zh-TW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2" name="圓角矩形 5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9224" y="5835079"/>
                <a:ext cx="914064" cy="847725"/>
              </a:xfrm>
              <a:prstGeom prst="round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直線單箭頭接點 6"/>
          <p:cNvCxnSpPr>
            <a:endCxn id="42" idx="0"/>
          </p:cNvCxnSpPr>
          <p:nvPr/>
        </p:nvCxnSpPr>
        <p:spPr>
          <a:xfrm flipH="1">
            <a:off x="4176277" y="3422405"/>
            <a:ext cx="1129821" cy="8302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圓角矩形 24"/>
              <p:cNvSpPr/>
              <p:nvPr/>
            </p:nvSpPr>
            <p:spPr>
              <a:xfrm>
                <a:off x="5201253" y="2190538"/>
                <a:ext cx="1333500" cy="1304925"/>
              </a:xfrm>
              <a:prstGeom prst="round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 smtClean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dirty="0" smtClean="0">
                    <a:solidFill>
                      <a:schemeClr val="tx1"/>
                    </a:solidFill>
                  </a:rPr>
                  <a:t>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𝑇𝑦𝑝𝑒</m:t>
                      </m:r>
                    </m:oMath>
                  </m:oMathPara>
                </a14:m>
                <a:endParaRPr lang="en-US" altLang="zh-TW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𝑃𝑟𝑆</m:t>
                      </m:r>
                    </m:oMath>
                  </m:oMathPara>
                </a14:m>
                <a:endParaRPr lang="en-US" altLang="zh-TW" b="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altLang="zh-TW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TW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TW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圓角矩形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1253" y="2190538"/>
                <a:ext cx="1333500" cy="1304925"/>
              </a:xfrm>
              <a:prstGeom prst="roundRect">
                <a:avLst/>
              </a:prstGeom>
              <a:blipFill rotWithShape="0">
                <a:blip r:embed="rId7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直線單箭頭接點 27"/>
          <p:cNvCxnSpPr>
            <a:endCxn id="35" idx="0"/>
          </p:cNvCxnSpPr>
          <p:nvPr/>
        </p:nvCxnSpPr>
        <p:spPr>
          <a:xfrm>
            <a:off x="6477470" y="3422405"/>
            <a:ext cx="1440964" cy="7073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直線單箭頭接點 31"/>
          <p:cNvCxnSpPr>
            <a:stCxn id="25" idx="2"/>
            <a:endCxn id="36" idx="0"/>
          </p:cNvCxnSpPr>
          <p:nvPr/>
        </p:nvCxnSpPr>
        <p:spPr>
          <a:xfrm>
            <a:off x="5868003" y="3495463"/>
            <a:ext cx="158739" cy="10346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圓角矩形 34"/>
              <p:cNvSpPr/>
              <p:nvPr/>
            </p:nvSpPr>
            <p:spPr>
              <a:xfrm>
                <a:off x="7251684" y="4129744"/>
                <a:ext cx="1333500" cy="1304925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 smtClean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altLang="zh-TW" dirty="0" smtClean="0">
                    <a:solidFill>
                      <a:schemeClr val="tx1"/>
                    </a:solidFill>
                  </a:rPr>
                  <a:t>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altLang="zh-TW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𝑃𝑟𝑆</m:t>
                      </m:r>
                    </m:oMath>
                  </m:oMathPara>
                </a14:m>
                <a:endParaRPr lang="en-US" altLang="zh-TW" b="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altLang="zh-TW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TW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TW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圓角矩形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1684" y="4129744"/>
                <a:ext cx="1333500" cy="1304925"/>
              </a:xfrm>
              <a:prstGeom prst="roundRect">
                <a:avLst/>
              </a:prstGeom>
              <a:blipFill rotWithShape="0">
                <a:blip r:embed="rId8"/>
                <a:stretch>
                  <a:fillRect r="-409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圓角矩形 35"/>
              <p:cNvSpPr/>
              <p:nvPr/>
            </p:nvSpPr>
            <p:spPr>
              <a:xfrm>
                <a:off x="5214802" y="4530154"/>
                <a:ext cx="1623879" cy="1304925"/>
              </a:xfrm>
              <a:prstGeom prst="round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 smtClean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+1,</m:t>
                    </m:r>
                    <m:sSub>
                      <m:sSubPr>
                        <m:ctrlP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dirty="0" smtClean="0">
                    <a:solidFill>
                      <a:schemeClr val="tx1"/>
                    </a:solidFill>
                  </a:rPr>
                  <a:t>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altLang="zh-TW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𝑃𝑟𝑆</m:t>
                      </m:r>
                    </m:oMath>
                  </m:oMathPara>
                </a14:m>
                <a:endParaRPr lang="en-US" altLang="zh-TW" b="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altLang="zh-TW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TW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TW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" name="圓角矩形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4802" y="4530154"/>
                <a:ext cx="1623879" cy="1304925"/>
              </a:xfrm>
              <a:prstGeom prst="roundRect">
                <a:avLst/>
              </a:prstGeom>
              <a:blipFill rotWithShape="0">
                <a:blip r:embed="rId9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圓角矩形 41"/>
              <p:cNvSpPr/>
              <p:nvPr/>
            </p:nvSpPr>
            <p:spPr>
              <a:xfrm>
                <a:off x="3299038" y="4252616"/>
                <a:ext cx="1754478" cy="1304925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 smtClean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+1,</m:t>
                    </m:r>
                    <m:sSub>
                      <m:sSubPr>
                        <m:ctrlP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altLang="zh-TW" dirty="0" smtClean="0">
                    <a:solidFill>
                      <a:schemeClr val="tx1"/>
                    </a:solidFill>
                  </a:rPr>
                  <a:t>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altLang="zh-TW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𝑃𝑟𝑆</m:t>
                      </m:r>
                    </m:oMath>
                  </m:oMathPara>
                </a14:m>
                <a:endParaRPr lang="en-US" altLang="zh-TW" b="0" dirty="0" smtClean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altLang="zh-TW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TW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TW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2" name="圓角矩形 4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9038" y="4252616"/>
                <a:ext cx="1754478" cy="1304925"/>
              </a:xfrm>
              <a:prstGeom prst="roundRect">
                <a:avLst/>
              </a:prstGeom>
              <a:blipFill rotWithShape="0">
                <a:blip r:embed="rId10"/>
                <a:stretch>
                  <a:fillRect r="-310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右彎箭號 3"/>
          <p:cNvSpPr/>
          <p:nvPr/>
        </p:nvSpPr>
        <p:spPr>
          <a:xfrm rot="10800000">
            <a:off x="3220872" y="5910491"/>
            <a:ext cx="2913454" cy="649996"/>
          </a:xfrm>
          <a:prstGeom prst="bentArrow">
            <a:avLst>
              <a:gd name="adj1" fmla="val 22551"/>
              <a:gd name="adj2" fmla="val 23164"/>
              <a:gd name="adj3" fmla="val 50000"/>
              <a:gd name="adj4" fmla="val 23750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5158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80975" y="307977"/>
            <a:ext cx="8753475" cy="873124"/>
          </a:xfrm>
        </p:spPr>
        <p:txBody>
          <a:bodyPr>
            <a:normAutofit fontScale="90000"/>
          </a:bodyPr>
          <a:lstStyle/>
          <a:p>
            <a:r>
              <a:rPr lang="en-US" altLang="zh-TW" b="1" dirty="0" smtClean="0"/>
              <a:t>FOGSAA</a:t>
            </a:r>
            <a:br>
              <a:rPr lang="en-US" altLang="zh-TW" b="1" dirty="0" smtClean="0"/>
            </a:br>
            <a:r>
              <a:rPr lang="en-US" altLang="zh-TW" sz="3300" dirty="0" smtClean="0"/>
              <a:t>Fast Optimal Global Sequence Alignment Algorithm</a:t>
            </a:r>
            <a:endParaRPr lang="zh-TW" altLang="en-US" sz="3300" dirty="0"/>
          </a:p>
        </p:txBody>
      </p:sp>
      <p:sp>
        <p:nvSpPr>
          <p:cNvPr id="3" name="文字方塊 2"/>
          <p:cNvSpPr txBox="1"/>
          <p:nvPr/>
        </p:nvSpPr>
        <p:spPr>
          <a:xfrm>
            <a:off x="741940" y="1284664"/>
            <a:ext cx="7026475" cy="24006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3000" dirty="0" smtClean="0"/>
              <a:t>End of this algorithm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altLang="zh-TW" sz="3000" dirty="0" smtClean="0"/>
              <a:t>Find a way to align these sequences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altLang="zh-TW" sz="3000" dirty="0" smtClean="0"/>
              <a:t>If less than 30% similarity, </a:t>
            </a:r>
          </a:p>
          <a:p>
            <a:pPr lvl="1"/>
            <a:r>
              <a:rPr lang="en-US" altLang="zh-TW" sz="3000" dirty="0"/>
              <a:t> </a:t>
            </a:r>
            <a:r>
              <a:rPr lang="en-US" altLang="zh-TW" sz="3000" dirty="0" smtClean="0"/>
              <a:t>     terminate with an approximate score </a:t>
            </a:r>
          </a:p>
          <a:p>
            <a:pPr lvl="1"/>
            <a:r>
              <a:rPr lang="en-US" altLang="zh-TW" sz="3000" dirty="0"/>
              <a:t>	</a:t>
            </a:r>
            <a:r>
              <a:rPr lang="en-US" altLang="zh-TW" sz="3000" dirty="0" smtClean="0"/>
              <a:t>(the best score obtained so far).</a:t>
            </a:r>
            <a:endParaRPr lang="zh-TW" altLang="en-US" sz="3000" dirty="0"/>
          </a:p>
        </p:txBody>
      </p:sp>
    </p:spTree>
    <p:extLst>
      <p:ext uri="{BB962C8B-B14F-4D97-AF65-F5344CB8AC3E}">
        <p14:creationId xmlns:p14="http://schemas.microsoft.com/office/powerpoint/2010/main" val="3717655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80975" y="307977"/>
            <a:ext cx="8753475" cy="873124"/>
          </a:xfrm>
        </p:spPr>
        <p:txBody>
          <a:bodyPr>
            <a:normAutofit/>
          </a:bodyPr>
          <a:lstStyle/>
          <a:p>
            <a:r>
              <a:rPr lang="en-US" altLang="zh-TW" b="1" dirty="0" smtClean="0"/>
              <a:t>Time complexity</a:t>
            </a:r>
            <a:endParaRPr lang="zh-TW" altLang="en-US" sz="33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/>
              <p:cNvSpPr txBox="1"/>
              <p:nvPr/>
            </p:nvSpPr>
            <p:spPr>
              <a:xfrm>
                <a:off x="741940" y="1284664"/>
                <a:ext cx="4819717" cy="37856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TW" sz="3000" dirty="0" smtClean="0"/>
                  <a:t>Time complexity of FOGSAA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zh-TW" sz="3000" dirty="0" smtClean="0"/>
                  <a:t>Worst case 	: </a:t>
                </a:r>
                <a14:m>
                  <m:oMath xmlns:m="http://schemas.openxmlformats.org/officeDocument/2006/math">
                    <m:r>
                      <a:rPr lang="en-US" altLang="zh-TW" sz="30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sz="3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3000" b="0" i="1" smtClean="0">
                            <a:latin typeface="Cambria Math" panose="02040503050406030204" pitchFamily="18" charset="0"/>
                          </a:rPr>
                          <m:t>𝑚𝑛</m:t>
                        </m:r>
                      </m:e>
                    </m:d>
                  </m:oMath>
                </a14:m>
                <a:endParaRPr lang="en-US" altLang="zh-TW" sz="3000" b="0" dirty="0" smtClean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zh-TW" sz="3000" dirty="0" smtClean="0"/>
                  <a:t>Best case 	: </a:t>
                </a:r>
                <a14:m>
                  <m:oMath xmlns:m="http://schemas.openxmlformats.org/officeDocument/2006/math">
                    <m:r>
                      <a:rPr lang="en-US" altLang="zh-TW" sz="30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3000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TW" sz="3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sz="30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altLang="zh-TW" sz="3000" dirty="0" smtClean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altLang="zh-TW" sz="3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TW" sz="3000" dirty="0" smtClean="0"/>
                  <a:t>Time complexity </a:t>
                </a:r>
                <a:r>
                  <a:rPr lang="en-US" altLang="zh-TW" sz="3000" dirty="0"/>
                  <a:t>of </a:t>
                </a:r>
                <a:r>
                  <a:rPr lang="en-US" altLang="zh-TW" sz="3000" dirty="0" smtClean="0"/>
                  <a:t>NW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zh-TW" sz="3000" dirty="0" smtClean="0"/>
                  <a:t>Worst case 	 : </a:t>
                </a:r>
                <a14:m>
                  <m:oMath xmlns:m="http://schemas.openxmlformats.org/officeDocument/2006/math">
                    <m:r>
                      <a:rPr lang="en-US" altLang="zh-TW" sz="30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3000" i="1">
                            <a:latin typeface="Cambria Math" panose="02040503050406030204" pitchFamily="18" charset="0"/>
                          </a:rPr>
                          <m:t>𝑚𝑛</m:t>
                        </m:r>
                      </m:e>
                    </m:d>
                  </m:oMath>
                </a14:m>
                <a:endParaRPr lang="en-US" altLang="zh-TW" sz="3000" dirty="0" smtClean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zh-TW" sz="3000" dirty="0" smtClean="0"/>
                  <a:t>Best case 	 : </a:t>
                </a:r>
                <a14:m>
                  <m:oMath xmlns:m="http://schemas.openxmlformats.org/officeDocument/2006/math">
                    <m:r>
                      <a:rPr lang="en-US" altLang="zh-TW" sz="30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3000" i="1">
                            <a:latin typeface="Cambria Math" panose="02040503050406030204" pitchFamily="18" charset="0"/>
                          </a:rPr>
                          <m:t>𝑚𝑛</m:t>
                        </m:r>
                      </m:e>
                    </m:d>
                  </m:oMath>
                </a14:m>
                <a:endParaRPr lang="en-US" altLang="zh-TW" sz="3000" dirty="0" smtClean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zh-TW" sz="3000" dirty="0" smtClean="0"/>
                  <a:t>Average case : </a:t>
                </a:r>
                <a14:m>
                  <m:oMath xmlns:m="http://schemas.openxmlformats.org/officeDocument/2006/math">
                    <m:r>
                      <a:rPr lang="en-US" altLang="zh-TW" sz="30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3000" i="1">
                            <a:latin typeface="Cambria Math" panose="02040503050406030204" pitchFamily="18" charset="0"/>
                          </a:rPr>
                          <m:t>𝑚𝑛</m:t>
                        </m:r>
                      </m:e>
                    </m:d>
                  </m:oMath>
                </a14:m>
                <a:endParaRPr lang="en-US" altLang="zh-TW" sz="3000" dirty="0"/>
              </a:p>
            </p:txBody>
          </p:sp>
        </mc:Choice>
        <mc:Fallback xmlns="">
          <p:sp>
            <p:nvSpPr>
              <p:cNvPr id="3" name="文字方塊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940" y="1284664"/>
                <a:ext cx="4819717" cy="3785652"/>
              </a:xfrm>
              <a:prstGeom prst="rect">
                <a:avLst/>
              </a:prstGeom>
              <a:blipFill rotWithShape="0">
                <a:blip r:embed="rId2"/>
                <a:stretch>
                  <a:fillRect l="-2658" t="-1932" r="-2278" b="-418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6381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80975" y="307977"/>
            <a:ext cx="8753475" cy="873124"/>
          </a:xfrm>
        </p:spPr>
        <p:txBody>
          <a:bodyPr>
            <a:normAutofit/>
          </a:bodyPr>
          <a:lstStyle/>
          <a:p>
            <a:r>
              <a:rPr lang="en-US" altLang="zh-TW" b="1" dirty="0" smtClean="0"/>
              <a:t>Result</a:t>
            </a:r>
            <a:endParaRPr lang="zh-TW" altLang="en-US" sz="3300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570" y="1181101"/>
            <a:ext cx="8501880" cy="5318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488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80975" y="307977"/>
            <a:ext cx="8753475" cy="873124"/>
          </a:xfrm>
        </p:spPr>
        <p:txBody>
          <a:bodyPr>
            <a:normAutofit/>
          </a:bodyPr>
          <a:lstStyle/>
          <a:p>
            <a:r>
              <a:rPr lang="en-US" altLang="zh-TW" b="1" dirty="0" smtClean="0"/>
              <a:t>Result</a:t>
            </a:r>
            <a:endParaRPr lang="zh-TW" altLang="en-US" sz="3300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857" y="1411921"/>
            <a:ext cx="8430213" cy="5042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727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80975" y="307977"/>
            <a:ext cx="8753475" cy="873124"/>
          </a:xfrm>
        </p:spPr>
        <p:txBody>
          <a:bodyPr>
            <a:normAutofit/>
          </a:bodyPr>
          <a:lstStyle/>
          <a:p>
            <a:r>
              <a:rPr lang="en-US" altLang="zh-TW" b="1" dirty="0" smtClean="0"/>
              <a:t>Result</a:t>
            </a:r>
            <a:endParaRPr lang="zh-TW" altLang="en-US" sz="3300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6694" y="1525896"/>
            <a:ext cx="7417874" cy="3845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175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80975" y="307977"/>
            <a:ext cx="8753475" cy="873124"/>
          </a:xfrm>
        </p:spPr>
        <p:txBody>
          <a:bodyPr>
            <a:normAutofit/>
          </a:bodyPr>
          <a:lstStyle/>
          <a:p>
            <a:r>
              <a:rPr lang="en-US" altLang="zh-TW" b="1" dirty="0" smtClean="0"/>
              <a:t>Result</a:t>
            </a:r>
            <a:endParaRPr lang="zh-TW" altLang="en-US" sz="3300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526" y="274606"/>
            <a:ext cx="5196206" cy="6583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587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7615</TotalTime>
  <Words>754</Words>
  <Application>Microsoft Office PowerPoint</Application>
  <PresentationFormat>如螢幕大小 (4:3)</PresentationFormat>
  <Paragraphs>504</Paragraphs>
  <Slides>22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22</vt:i4>
      </vt:variant>
    </vt:vector>
  </HeadingPairs>
  <TitlesOfParts>
    <vt:vector size="29" baseType="lpstr"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FOGSAA: Fast Optimal Global Sequence Alignment Algorithm</vt:lpstr>
      <vt:lpstr>Abstract</vt:lpstr>
      <vt:lpstr>Problem definition</vt:lpstr>
      <vt:lpstr>Scoring scheme</vt:lpstr>
      <vt:lpstr>Scoring scheme : affine gap penalty</vt:lpstr>
      <vt:lpstr>Needleman–Wunsch algorithm(1970)</vt:lpstr>
      <vt:lpstr>Needleman–Wunsch algorithm(1970)</vt:lpstr>
      <vt:lpstr>FOGSAA Fast Optimal Global Sequence Alignment Algorithm</vt:lpstr>
      <vt:lpstr>FOGSAA Fast Optimal Global Sequence Alignment Algorithm</vt:lpstr>
      <vt:lpstr>FOGSAA Fast Optimal Global Sequence Alignment Algorithm</vt:lpstr>
      <vt:lpstr>FOGSAA Fast Optimal Global Sequence Alignment Algorithm</vt:lpstr>
      <vt:lpstr>FOGSAA Fast Optimal Global Sequence Alignment Algorithm</vt:lpstr>
      <vt:lpstr>FOGSAA Fast Optimal Global Sequence Alignment Algorithm</vt:lpstr>
      <vt:lpstr>FOGSAA Fast Optimal Global Sequence Alignment Algorithm</vt:lpstr>
      <vt:lpstr>FOGSAA Fast Optimal Global Sequence Alignment Algorithm</vt:lpstr>
      <vt:lpstr>FOGSAA Fast Optimal Global Sequence Alignment Algorithm</vt:lpstr>
      <vt:lpstr>FOGSAA Fast Optimal Global Sequence Alignment Algorithm</vt:lpstr>
      <vt:lpstr>Time complexity</vt:lpstr>
      <vt:lpstr>Result</vt:lpstr>
      <vt:lpstr>Result</vt:lpstr>
      <vt:lpstr>Result</vt:lpstr>
      <vt:lpstr>Result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Bit-String Longest-Common-Subsequence Algorithm</dc:title>
  <dc:creator>YanLee</dc:creator>
  <cp:lastModifiedBy>pplab-class</cp:lastModifiedBy>
  <cp:revision>235</cp:revision>
  <dcterms:created xsi:type="dcterms:W3CDTF">2016-10-24T04:50:56Z</dcterms:created>
  <dcterms:modified xsi:type="dcterms:W3CDTF">2017-08-01T12:10:07Z</dcterms:modified>
</cp:coreProperties>
</file>