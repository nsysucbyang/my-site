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46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3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075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46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58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679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24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15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4604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993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81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5F0AE-DBB8-464C-8E93-282F3DDA85A6}" type="datetimeFigureOut">
              <a:rPr lang="zh-TW" altLang="en-US" smtClean="0"/>
              <a:t>2017/8/1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E131C-E417-472F-977E-F3A125E26C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193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0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10" Type="http://schemas.openxmlformats.org/officeDocument/2006/relationships/slide" Target="slide9.xml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10" Type="http://schemas.openxmlformats.org/officeDocument/2006/relationships/slide" Target="slide9.xml"/><Relationship Id="rId4" Type="http://schemas.openxmlformats.org/officeDocument/2006/relationships/image" Target="../media/image8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slide" Target="slide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image" Target="../media/image22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378939"/>
            <a:ext cx="9144000" cy="2892903"/>
          </a:xfrm>
        </p:spPr>
        <p:txBody>
          <a:bodyPr>
            <a:normAutofit/>
          </a:bodyPr>
          <a:lstStyle/>
          <a:p>
            <a:r>
              <a:rPr lang="en-US" altLang="zh-TW" dirty="0"/>
              <a:t>Dynamic Programming Treatment of the Travelling Salesman Problem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271843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zh-TW" dirty="0"/>
              <a:t>Richard Bellman</a:t>
            </a:r>
            <a:endParaRPr lang="it-IT" altLang="zh-TW" dirty="0"/>
          </a:p>
          <a:p>
            <a:r>
              <a:rPr lang="en-US" altLang="zh-TW" sz="2000" dirty="0"/>
              <a:t>Journal of the ACM, Vol.9, pp.61-63 (1962)</a:t>
            </a:r>
            <a:endParaRPr lang="zh-TW" altLang="en-US" sz="2000" dirty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98973" y="4927605"/>
            <a:ext cx="31738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Hsuan-Tsung</a:t>
            </a:r>
            <a:r>
              <a:rPr lang="en-US" altLang="zh-TW" sz="2000" dirty="0"/>
              <a:t> Chiu</a:t>
            </a:r>
          </a:p>
          <a:p>
            <a:r>
              <a:rPr lang="en-US" altLang="zh-TW" sz="2000" dirty="0"/>
              <a:t>Date:2017/08/01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9732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248CA5-AE62-4B2E-ABD9-14A89CF6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Travelling Salesman Problem</a:t>
            </a:r>
            <a:endParaRPr lang="zh-TW" altLang="en-US" dirty="0"/>
          </a:p>
        </p:txBody>
      </p:sp>
      <p:pic>
        <p:nvPicPr>
          <p:cNvPr id="5" name="圖形 4" descr="跑步">
            <a:extLst>
              <a:ext uri="{FF2B5EF4-FFF2-40B4-BE49-F238E27FC236}">
                <a16:creationId xmlns:a16="http://schemas.microsoft.com/office/drawing/2014/main" id="{A153F731-676C-4A9E-9074-41498FCEB4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7375755" y="1897794"/>
            <a:ext cx="645428" cy="645428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4BF1B84E-E16B-4EC7-85F7-3D0C98F8A9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6662" y="1830878"/>
            <a:ext cx="771785" cy="771785"/>
          </a:xfrm>
          <a:prstGeom prst="rect">
            <a:avLst/>
          </a:prstGeom>
        </p:spPr>
      </p:pic>
      <p:pic>
        <p:nvPicPr>
          <p:cNvPr id="9" name="圖形 8" descr="城市">
            <a:extLst>
              <a:ext uri="{FF2B5EF4-FFF2-40B4-BE49-F238E27FC236}">
                <a16:creationId xmlns:a16="http://schemas.microsoft.com/office/drawing/2014/main" id="{6AF35021-CE1B-4400-9B4C-0E44E1E4CF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7679" y="2482423"/>
            <a:ext cx="771785" cy="771785"/>
          </a:xfrm>
          <a:prstGeom prst="rect">
            <a:avLst/>
          </a:prstGeom>
        </p:spPr>
      </p:pic>
      <p:pic>
        <p:nvPicPr>
          <p:cNvPr id="10" name="圖形 9" descr="城市">
            <a:extLst>
              <a:ext uri="{FF2B5EF4-FFF2-40B4-BE49-F238E27FC236}">
                <a16:creationId xmlns:a16="http://schemas.microsoft.com/office/drawing/2014/main" id="{38671622-5A82-4456-9ED5-F3348146AC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3421" y="3637677"/>
            <a:ext cx="771785" cy="771785"/>
          </a:xfrm>
          <a:prstGeom prst="rect">
            <a:avLst/>
          </a:prstGeom>
        </p:spPr>
      </p:pic>
      <p:pic>
        <p:nvPicPr>
          <p:cNvPr id="11" name="圖形 10" descr="城市">
            <a:extLst>
              <a:ext uri="{FF2B5EF4-FFF2-40B4-BE49-F238E27FC236}">
                <a16:creationId xmlns:a16="http://schemas.microsoft.com/office/drawing/2014/main" id="{3E8B0D78-C2B0-4CD5-A744-1FB2D738D0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7442" y="5257121"/>
            <a:ext cx="771785" cy="771785"/>
          </a:xfrm>
          <a:prstGeom prst="rect">
            <a:avLst/>
          </a:prstGeom>
        </p:spPr>
      </p:pic>
      <p:pic>
        <p:nvPicPr>
          <p:cNvPr id="12" name="圖形 11" descr="城市">
            <a:extLst>
              <a:ext uri="{FF2B5EF4-FFF2-40B4-BE49-F238E27FC236}">
                <a16:creationId xmlns:a16="http://schemas.microsoft.com/office/drawing/2014/main" id="{EF7F5EC4-EEE5-457D-8936-9E7B77668E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8834" y="3724362"/>
            <a:ext cx="771785" cy="771785"/>
          </a:xfrm>
          <a:prstGeom prst="rect">
            <a:avLst/>
          </a:prstGeom>
        </p:spPr>
      </p:pic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8F2A3D5A-34E9-4EEC-B23E-7A9C284BB2FD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flipH="1">
            <a:off x="2199314" y="2216771"/>
            <a:ext cx="1107348" cy="1420906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1AD6E377-AD50-42BD-98D6-FFB4E01E1914}"/>
              </a:ext>
            </a:extLst>
          </p:cNvPr>
          <p:cNvCxnSpPr>
            <a:cxnSpLocks/>
            <a:stCxn id="10" idx="2"/>
            <a:endCxn id="11" idx="1"/>
          </p:cNvCxnSpPr>
          <p:nvPr/>
        </p:nvCxnSpPr>
        <p:spPr>
          <a:xfrm>
            <a:off x="2199314" y="4409462"/>
            <a:ext cx="1708128" cy="1233552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973DBFEC-2017-40E6-B76B-ED5559E93E35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4293335" y="4496147"/>
            <a:ext cx="461392" cy="760974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C1DB2EEE-FDD3-48FD-A793-539816BD753D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4078447" y="2216771"/>
            <a:ext cx="1349232" cy="651545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127D55-22E2-4345-B8A0-D2A97107ED7C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4754727" y="3254208"/>
            <a:ext cx="1058845" cy="470154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51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5121 -0.09583 L -0.69601 0.29676 L -0.32917 0.60625 L -0.27309 0.30046 L -0.11892 0.10232 L -0.45121 -0.09583 Z " pathEditMode="relative" rAng="0" ptsTypes="AAAAAA">
                                      <p:cBhvr>
                                        <p:cTn id="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35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 descr="城市">
            <a:extLst>
              <a:ext uri="{FF2B5EF4-FFF2-40B4-BE49-F238E27FC236}">
                <a16:creationId xmlns:a16="http://schemas.microsoft.com/office/drawing/2014/main" id="{F8191369-CD12-4A4F-BAEC-1F7C3074EB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8840" y="2007759"/>
            <a:ext cx="771785" cy="771785"/>
          </a:xfrm>
          <a:prstGeom prst="rect">
            <a:avLst/>
          </a:prstGeom>
        </p:spPr>
      </p:pic>
      <p:pic>
        <p:nvPicPr>
          <p:cNvPr id="5" name="圖形 4" descr="城市">
            <a:extLst>
              <a:ext uri="{FF2B5EF4-FFF2-40B4-BE49-F238E27FC236}">
                <a16:creationId xmlns:a16="http://schemas.microsoft.com/office/drawing/2014/main" id="{6F85CFB0-10CE-4C0A-8CF4-861E51BF16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9857" y="2659304"/>
            <a:ext cx="771785" cy="771785"/>
          </a:xfrm>
          <a:prstGeom prst="rect">
            <a:avLst/>
          </a:prstGeom>
        </p:spPr>
      </p:pic>
      <p:pic>
        <p:nvPicPr>
          <p:cNvPr id="6" name="圖形 5" descr="城市">
            <a:extLst>
              <a:ext uri="{FF2B5EF4-FFF2-40B4-BE49-F238E27FC236}">
                <a16:creationId xmlns:a16="http://schemas.microsoft.com/office/drawing/2014/main" id="{56A4368F-B53C-4E86-A112-7082A118C4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599" y="3814558"/>
            <a:ext cx="771785" cy="771785"/>
          </a:xfrm>
          <a:prstGeom prst="rect">
            <a:avLst/>
          </a:prstGeom>
        </p:spPr>
      </p:pic>
      <p:pic>
        <p:nvPicPr>
          <p:cNvPr id="7" name="圖形 6" descr="城市">
            <a:extLst>
              <a:ext uri="{FF2B5EF4-FFF2-40B4-BE49-F238E27FC236}">
                <a16:creationId xmlns:a16="http://schemas.microsoft.com/office/drawing/2014/main" id="{138464CE-F5D4-4143-9CDF-C707014A4C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9620" y="5434002"/>
            <a:ext cx="771785" cy="771785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36145382-D18F-4DF1-A520-B9D11D3D47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1012" y="3901243"/>
            <a:ext cx="771785" cy="771785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CC67B55-3CD8-44B5-AC73-EDCB977968C7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091492" y="2393652"/>
            <a:ext cx="1107348" cy="142090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DF34DD7-937B-4E37-AAF3-D183EC16BA2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70625" y="2393652"/>
            <a:ext cx="1349232" cy="65154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F9913CF-1D6D-4F52-AA6F-389C40CF6E31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584733" y="2779544"/>
            <a:ext cx="1062172" cy="1121699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E92D5DB-0BF1-4DED-9BA3-57C29BFBFAD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584733" y="2779544"/>
            <a:ext cx="600780" cy="265445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CAF0F492-943C-4F7D-B67D-56D99549BD5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646905" y="3431089"/>
            <a:ext cx="1058845" cy="47015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09E9AD98-6139-4D46-ACAA-6AB65FCDBDCA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3571405" y="3431089"/>
            <a:ext cx="1134345" cy="238880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46CDECF6-5F8E-4990-8DB5-B2D4965C70E3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1477384" y="3045197"/>
            <a:ext cx="2842473" cy="115525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9984A43F-936D-4B06-8AC2-8A8B7182B89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3185513" y="4673028"/>
            <a:ext cx="461392" cy="760974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93210634-21C2-42B5-A6D3-F75D2CF16A20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1477384" y="4200451"/>
            <a:ext cx="1783628" cy="86685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AC18A6D7-C2B4-411B-B076-7E22DCA84525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1091492" y="4586343"/>
            <a:ext cx="1708128" cy="123355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91D29F4-9D00-4EF7-AD41-FD35CC8C2C5D}"/>
                  </a:ext>
                </a:extLst>
              </p:cNvPr>
              <p:cNvSpPr txBox="1"/>
              <p:nvPr/>
            </p:nvSpPr>
            <p:spPr>
              <a:xfrm>
                <a:off x="5569373" y="2407513"/>
                <a:ext cx="3044744" cy="1705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C91D29F4-9D00-4EF7-AD41-FD35CC8C2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373" y="2407513"/>
                <a:ext cx="3044744" cy="17057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標題 1">
            <a:extLst/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/>
              <a:t>Dynamic Programming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821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 descr="城市">
            <a:extLst>
              <a:ext uri="{FF2B5EF4-FFF2-40B4-BE49-F238E27FC236}">
                <a16:creationId xmlns:a16="http://schemas.microsoft.com/office/drawing/2014/main" id="{39337576-37BE-495E-9397-3FFE6B38D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6093" y="1067480"/>
            <a:ext cx="771785" cy="771785"/>
          </a:xfrm>
          <a:prstGeom prst="rect">
            <a:avLst/>
          </a:prstGeom>
        </p:spPr>
      </p:pic>
      <p:pic>
        <p:nvPicPr>
          <p:cNvPr id="5" name="圖形 4" descr="城市">
            <a:extLst>
              <a:ext uri="{FF2B5EF4-FFF2-40B4-BE49-F238E27FC236}">
                <a16:creationId xmlns:a16="http://schemas.microsoft.com/office/drawing/2014/main" id="{7A6078F6-C53D-4BA1-985E-15B49F4483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110" y="1719025"/>
            <a:ext cx="771785" cy="771785"/>
          </a:xfrm>
          <a:prstGeom prst="rect">
            <a:avLst/>
          </a:prstGeom>
        </p:spPr>
      </p:pic>
      <p:pic>
        <p:nvPicPr>
          <p:cNvPr id="6" name="圖形 5" descr="城市">
            <a:extLst>
              <a:ext uri="{FF2B5EF4-FFF2-40B4-BE49-F238E27FC236}">
                <a16:creationId xmlns:a16="http://schemas.microsoft.com/office/drawing/2014/main" id="{16F384BB-F7A9-4CB5-9FEC-B73809E2D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2852" y="2874279"/>
            <a:ext cx="771785" cy="771785"/>
          </a:xfrm>
          <a:prstGeom prst="rect">
            <a:avLst/>
          </a:prstGeom>
        </p:spPr>
      </p:pic>
      <p:pic>
        <p:nvPicPr>
          <p:cNvPr id="7" name="圖形 6" descr="城市">
            <a:extLst>
              <a:ext uri="{FF2B5EF4-FFF2-40B4-BE49-F238E27FC236}">
                <a16:creationId xmlns:a16="http://schemas.microsoft.com/office/drawing/2014/main" id="{CAD31555-9E9F-4D56-95A4-058C7AF4C3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6873" y="4493723"/>
            <a:ext cx="771785" cy="771785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9FF6DB9D-E4CE-4E0B-8400-6138DB4C27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8265" y="2960964"/>
            <a:ext cx="771785" cy="771785"/>
          </a:xfrm>
          <a:prstGeom prst="rect">
            <a:avLst/>
          </a:prstGeom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C80756-8629-4BA6-A998-588DF120A0F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664158" y="2490810"/>
            <a:ext cx="1058845" cy="4701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19BE92F-AF1D-4E6A-BA4A-CCFD6FBD4794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3588658" y="2490810"/>
            <a:ext cx="1134345" cy="23888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A20DB29-DBD8-439B-9C0D-4962442085A6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1494637" y="2104918"/>
            <a:ext cx="2842473" cy="1155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446A37D-A960-40A9-ADF2-DB6284016EE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3202766" y="3732749"/>
            <a:ext cx="461392" cy="76097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6A9B98D-90C3-4F51-B87C-DF53FA18BB81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1494637" y="3260172"/>
            <a:ext cx="1783628" cy="866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8AB52E9-F3BD-4046-9C07-91D8516CF7CB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1108745" y="3646064"/>
            <a:ext cx="1708128" cy="123355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0D08383-5BB6-48D9-8A5C-691779DAB6AA}"/>
                  </a:ext>
                </a:extLst>
              </p:cNvPr>
              <p:cNvSpPr txBox="1"/>
              <p:nvPr/>
            </p:nvSpPr>
            <p:spPr>
              <a:xfrm>
                <a:off x="5686342" y="458103"/>
                <a:ext cx="3044744" cy="1705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0D08383-5BB6-48D9-8A5C-691779DA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342" y="458103"/>
                <a:ext cx="3044744" cy="17057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FC57F6-011D-4848-86DC-FC10F86F1C3F}"/>
                  </a:ext>
                </a:extLst>
              </p:cNvPr>
              <p:cNvSpPr txBox="1"/>
              <p:nvPr/>
            </p:nvSpPr>
            <p:spPr>
              <a:xfrm>
                <a:off x="5929622" y="3402287"/>
                <a:ext cx="2342564" cy="1477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2,0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zh-TW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altLang="zh-TW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sz="24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altLang="zh-TW" sz="2400" dirty="0"/>
                  <a:t> </a:t>
                </a: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20FC57F6-011D-4848-86DC-FC10F86F1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622" y="3402287"/>
                <a:ext cx="2342564" cy="1477328"/>
              </a:xfrm>
              <a:prstGeom prst="rect">
                <a:avLst/>
              </a:prstGeom>
              <a:blipFill>
                <a:blip r:embed="rId7"/>
                <a:stretch>
                  <a:fillRect b="-16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953B3A-62EB-40D2-A064-4B8FE87594D0}"/>
              </a:ext>
            </a:extLst>
          </p:cNvPr>
          <p:cNvSpPr txBox="1"/>
          <p:nvPr/>
        </p:nvSpPr>
        <p:spPr>
          <a:xfrm>
            <a:off x="2515187" y="8075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D439EF5-2B97-41CA-982D-B52281410C03}"/>
              </a:ext>
            </a:extLst>
          </p:cNvPr>
          <p:cNvSpPr txBox="1"/>
          <p:nvPr/>
        </p:nvSpPr>
        <p:spPr>
          <a:xfrm>
            <a:off x="578774" y="287113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D70753-2033-46EF-81E3-33723289E33E}"/>
              </a:ext>
            </a:extLst>
          </p:cNvPr>
          <p:cNvSpPr txBox="1"/>
          <p:nvPr/>
        </p:nvSpPr>
        <p:spPr>
          <a:xfrm>
            <a:off x="3005737" y="51651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DFDE8D-AAFE-4C15-84E7-3AB3BE33AE01}"/>
              </a:ext>
            </a:extLst>
          </p:cNvPr>
          <p:cNvSpPr txBox="1"/>
          <p:nvPr/>
        </p:nvSpPr>
        <p:spPr>
          <a:xfrm>
            <a:off x="3976649" y="28807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41F21B6-3179-4896-A036-4893E8A07225}"/>
              </a:ext>
            </a:extLst>
          </p:cNvPr>
          <p:cNvSpPr txBox="1"/>
          <p:nvPr/>
        </p:nvSpPr>
        <p:spPr>
          <a:xfrm>
            <a:off x="4915956" y="14533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27" name="動作按鈕: 返回 26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3B0139C-0685-4210-856A-7CE73AA7711C}"/>
              </a:ext>
            </a:extLst>
          </p:cNvPr>
          <p:cNvSpPr/>
          <p:nvPr/>
        </p:nvSpPr>
        <p:spPr>
          <a:xfrm>
            <a:off x="8554917" y="6224631"/>
            <a:ext cx="352337" cy="352337"/>
          </a:xfrm>
          <a:prstGeom prst="actionButtonRetur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111D5416-FD59-4FE3-A263-51ECE89C065F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flipH="1">
            <a:off x="1108745" y="1453373"/>
            <a:ext cx="1107348" cy="142090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22AAFCF9-C780-49BE-B40D-F23E2828CC0F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601986" y="1839265"/>
            <a:ext cx="1062172" cy="11216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4D21FC8F-E5F6-4312-B36D-18AB6A2FC9A4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601986" y="1839265"/>
            <a:ext cx="600780" cy="2654458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E10DAE7-713D-440D-964D-46F0A5A56413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87878" y="1453373"/>
            <a:ext cx="1349232" cy="651545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005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 descr="城市">
            <a:extLst>
              <a:ext uri="{FF2B5EF4-FFF2-40B4-BE49-F238E27FC236}">
                <a16:creationId xmlns:a16="http://schemas.microsoft.com/office/drawing/2014/main" id="{39337576-37BE-495E-9397-3FFE6B38D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6093" y="1067480"/>
            <a:ext cx="771785" cy="771785"/>
          </a:xfrm>
          <a:prstGeom prst="rect">
            <a:avLst/>
          </a:prstGeom>
        </p:spPr>
      </p:pic>
      <p:pic>
        <p:nvPicPr>
          <p:cNvPr id="5" name="圖形 4" descr="城市">
            <a:extLst>
              <a:ext uri="{FF2B5EF4-FFF2-40B4-BE49-F238E27FC236}">
                <a16:creationId xmlns:a16="http://schemas.microsoft.com/office/drawing/2014/main" id="{7A6078F6-C53D-4BA1-985E-15B49F4483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110" y="1719025"/>
            <a:ext cx="771785" cy="771785"/>
          </a:xfrm>
          <a:prstGeom prst="rect">
            <a:avLst/>
          </a:prstGeom>
        </p:spPr>
      </p:pic>
      <p:pic>
        <p:nvPicPr>
          <p:cNvPr id="6" name="圖形 5" descr="城市">
            <a:extLst>
              <a:ext uri="{FF2B5EF4-FFF2-40B4-BE49-F238E27FC236}">
                <a16:creationId xmlns:a16="http://schemas.microsoft.com/office/drawing/2014/main" id="{16F384BB-F7A9-4CB5-9FEC-B73809E2DC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852" y="2874279"/>
            <a:ext cx="771785" cy="771785"/>
          </a:xfrm>
          <a:prstGeom prst="rect">
            <a:avLst/>
          </a:prstGeom>
        </p:spPr>
      </p:pic>
      <p:pic>
        <p:nvPicPr>
          <p:cNvPr id="7" name="圖形 6" descr="城市">
            <a:extLst>
              <a:ext uri="{FF2B5EF4-FFF2-40B4-BE49-F238E27FC236}">
                <a16:creationId xmlns:a16="http://schemas.microsoft.com/office/drawing/2014/main" id="{CAD31555-9E9F-4D56-95A4-058C7AF4C3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6873" y="4493723"/>
            <a:ext cx="771785" cy="771785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9FF6DB9D-E4CE-4E0B-8400-6138DB4C27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8265" y="2960964"/>
            <a:ext cx="771785" cy="771785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A07FDBE-3FE3-4342-A4E7-CEE1E29217CA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flipH="1">
            <a:off x="1108745" y="1453373"/>
            <a:ext cx="1107348" cy="14209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842CAB6-D72F-4E06-9478-CA2F1F145A9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87878" y="1453373"/>
            <a:ext cx="1349232" cy="65154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932FA0E-CCF2-47B7-B73A-F4903507A12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601986" y="1839265"/>
            <a:ext cx="1062172" cy="112169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C80756-8629-4BA6-A998-588DF120A0F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664158" y="2490810"/>
            <a:ext cx="1058845" cy="4701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19BE92F-AF1D-4E6A-BA4A-CCFD6FBD4794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3588658" y="2490810"/>
            <a:ext cx="1134345" cy="23888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A20DB29-DBD8-439B-9C0D-4962442085A6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1494637" y="2104918"/>
            <a:ext cx="2842473" cy="1155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7446A37D-A960-40A9-ADF2-DB6284016EE1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3202766" y="3732749"/>
            <a:ext cx="461392" cy="76097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6A9B98D-90C3-4F51-B87C-DF53FA18BB81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1494637" y="3260172"/>
            <a:ext cx="1783628" cy="866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0D08383-5BB6-48D9-8A5C-691779DAB6AA}"/>
                  </a:ext>
                </a:extLst>
              </p:cNvPr>
              <p:cNvSpPr txBox="1"/>
              <p:nvPr/>
            </p:nvSpPr>
            <p:spPr>
              <a:xfrm>
                <a:off x="5686342" y="458103"/>
                <a:ext cx="3044744" cy="1705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5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45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e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F0D08383-5BB6-48D9-8A5C-691779DAB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6342" y="458103"/>
                <a:ext cx="3044744" cy="1705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953B3A-62EB-40D2-A064-4B8FE87594D0}"/>
              </a:ext>
            </a:extLst>
          </p:cNvPr>
          <p:cNvSpPr txBox="1"/>
          <p:nvPr/>
        </p:nvSpPr>
        <p:spPr>
          <a:xfrm>
            <a:off x="2515187" y="8075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D439EF5-2B97-41CA-982D-B52281410C03}"/>
              </a:ext>
            </a:extLst>
          </p:cNvPr>
          <p:cNvSpPr txBox="1"/>
          <p:nvPr/>
        </p:nvSpPr>
        <p:spPr>
          <a:xfrm>
            <a:off x="578774" y="287113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D70753-2033-46EF-81E3-33723289E33E}"/>
              </a:ext>
            </a:extLst>
          </p:cNvPr>
          <p:cNvSpPr txBox="1"/>
          <p:nvPr/>
        </p:nvSpPr>
        <p:spPr>
          <a:xfrm>
            <a:off x="3005737" y="51651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DFDE8D-AAFE-4C15-84E7-3AB3BE33AE01}"/>
              </a:ext>
            </a:extLst>
          </p:cNvPr>
          <p:cNvSpPr txBox="1"/>
          <p:nvPr/>
        </p:nvSpPr>
        <p:spPr>
          <a:xfrm>
            <a:off x="3976649" y="28807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41F21B6-3179-4896-A036-4893E8A07225}"/>
              </a:ext>
            </a:extLst>
          </p:cNvPr>
          <p:cNvSpPr txBox="1"/>
          <p:nvPr/>
        </p:nvSpPr>
        <p:spPr>
          <a:xfrm>
            <a:off x="4915956" y="14533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0ED774B-724E-42CD-96D1-10482C40219E}"/>
                  </a:ext>
                </a:extLst>
              </p:cNvPr>
              <p:cNvSpPr txBox="1"/>
              <p:nvPr/>
            </p:nvSpPr>
            <p:spPr>
              <a:xfrm>
                <a:off x="4696007" y="2799524"/>
                <a:ext cx="4520340" cy="3777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2,{3}</m:t>
                                </m:r>
                              </m:e>
                            </m:d>
                            <m: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2,3</m:t>
                                </m:r>
                              </m:sub>
                            </m:sSub>
                            <m: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3,0</m:t>
                                </m:r>
                              </m:sub>
                            </m:sSub>
                            <m:r>
                              <a:rPr lang="en-US" altLang="zh-TW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=25+5</m:t>
                            </m:r>
                          </m: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3,{2}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=25+10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sz="20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2,{4}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=35+5</m:t>
                            </m:r>
                          </m:e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4,{2}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=35+15</m:t>
                            </m:r>
                            <m:r>
                              <m:rPr>
                                <m:nor/>
                              </m:rPr>
                              <a:rPr lang="en-US" altLang="zh-TW" sz="2000" dirty="0"/>
                              <m:t>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2,5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2,{5}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=30+5</m:t>
                            </m:r>
                          </m: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5,{2}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=30+20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3,{4}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=40+10</m:t>
                            </m:r>
                          </m: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4,{3}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=40+15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3,{5}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=45+10</m:t>
                            </m:r>
                          </m: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5,{3}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=45+20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TW" sz="2000" b="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4,{5}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=50+15</m:t>
                            </m:r>
                          </m:e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5,{4}</m:t>
                                </m:r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=50+20</m:t>
                            </m:r>
                          </m:e>
                        </m:eqArr>
                      </m:e>
                    </m:d>
                  </m:oMath>
                </a14:m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80ED774B-724E-42CD-96D1-10482C402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07" y="2799524"/>
                <a:ext cx="4520340" cy="3777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動作按鈕: 返回 30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C7545E4F-8BDD-4D86-B9EA-788B74CA766F}"/>
              </a:ext>
            </a:extLst>
          </p:cNvPr>
          <p:cNvSpPr/>
          <p:nvPr/>
        </p:nvSpPr>
        <p:spPr>
          <a:xfrm>
            <a:off x="8554917" y="6224631"/>
            <a:ext cx="352337" cy="352337"/>
          </a:xfrm>
          <a:prstGeom prst="actionButtonRetur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DC1D537B-8CA9-4432-8A69-445C6C7850CD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1108745" y="3646064"/>
            <a:ext cx="1708128" cy="123355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CC61B355-A5F8-48AA-B542-7F092A9DF75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601986" y="1839265"/>
            <a:ext cx="600780" cy="265445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89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 descr="城市">
            <a:extLst>
              <a:ext uri="{FF2B5EF4-FFF2-40B4-BE49-F238E27FC236}">
                <a16:creationId xmlns:a16="http://schemas.microsoft.com/office/drawing/2014/main" id="{39337576-37BE-495E-9397-3FFE6B38D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6093" y="1067480"/>
            <a:ext cx="771785" cy="771785"/>
          </a:xfrm>
          <a:prstGeom prst="rect">
            <a:avLst/>
          </a:prstGeom>
        </p:spPr>
      </p:pic>
      <p:pic>
        <p:nvPicPr>
          <p:cNvPr id="5" name="圖形 4" descr="城市">
            <a:extLst>
              <a:ext uri="{FF2B5EF4-FFF2-40B4-BE49-F238E27FC236}">
                <a16:creationId xmlns:a16="http://schemas.microsoft.com/office/drawing/2014/main" id="{7A6078F6-C53D-4BA1-985E-15B49F4483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7110" y="1719025"/>
            <a:ext cx="771785" cy="771785"/>
          </a:xfrm>
          <a:prstGeom prst="rect">
            <a:avLst/>
          </a:prstGeom>
        </p:spPr>
      </p:pic>
      <p:pic>
        <p:nvPicPr>
          <p:cNvPr id="6" name="圖形 5" descr="城市">
            <a:extLst>
              <a:ext uri="{FF2B5EF4-FFF2-40B4-BE49-F238E27FC236}">
                <a16:creationId xmlns:a16="http://schemas.microsoft.com/office/drawing/2014/main" id="{16F384BB-F7A9-4CB5-9FEC-B73809E2DC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852" y="2874279"/>
            <a:ext cx="771785" cy="771785"/>
          </a:xfrm>
          <a:prstGeom prst="rect">
            <a:avLst/>
          </a:prstGeom>
        </p:spPr>
      </p:pic>
      <p:pic>
        <p:nvPicPr>
          <p:cNvPr id="7" name="圖形 6" descr="城市">
            <a:extLst>
              <a:ext uri="{FF2B5EF4-FFF2-40B4-BE49-F238E27FC236}">
                <a16:creationId xmlns:a16="http://schemas.microsoft.com/office/drawing/2014/main" id="{CAD31555-9E9F-4D56-95A4-058C7AF4C38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6873" y="4493723"/>
            <a:ext cx="771785" cy="771785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9FF6DB9D-E4CE-4E0B-8400-6138DB4C27C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8265" y="2960964"/>
            <a:ext cx="771785" cy="771785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A07FDBE-3FE3-4342-A4E7-CEE1E29217CA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flipH="1">
            <a:off x="1108745" y="1453373"/>
            <a:ext cx="1107348" cy="14209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842CAB6-D72F-4E06-9478-CA2F1F145A9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987878" y="1453373"/>
            <a:ext cx="1349232" cy="65154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932FA0E-CCF2-47B7-B73A-F4903507A129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601986" y="1839265"/>
            <a:ext cx="1062172" cy="1121699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368049-C755-4F50-A856-C60A2C3F58E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601986" y="1839265"/>
            <a:ext cx="600780" cy="265445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C80756-8629-4BA6-A998-588DF120A0F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664158" y="2490810"/>
            <a:ext cx="1058845" cy="4701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19BE92F-AF1D-4E6A-BA4A-CCFD6FBD4794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3588658" y="2490810"/>
            <a:ext cx="1134345" cy="23888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A20DB29-DBD8-439B-9C0D-4962442085A6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1494637" y="2104918"/>
            <a:ext cx="2842473" cy="11552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6A9B98D-90C3-4F51-B87C-DF53FA18BB81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1494637" y="3260172"/>
            <a:ext cx="1783628" cy="866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18AB52E9-F3BD-4046-9C07-91D8516CF7CB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1108745" y="3646064"/>
            <a:ext cx="1708128" cy="1233552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953B3A-62EB-40D2-A064-4B8FE87594D0}"/>
              </a:ext>
            </a:extLst>
          </p:cNvPr>
          <p:cNvSpPr txBox="1"/>
          <p:nvPr/>
        </p:nvSpPr>
        <p:spPr>
          <a:xfrm>
            <a:off x="2515187" y="8075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D439EF5-2B97-41CA-982D-B52281410C03}"/>
              </a:ext>
            </a:extLst>
          </p:cNvPr>
          <p:cNvSpPr txBox="1"/>
          <p:nvPr/>
        </p:nvSpPr>
        <p:spPr>
          <a:xfrm>
            <a:off x="578774" y="287113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D70753-2033-46EF-81E3-33723289E33E}"/>
              </a:ext>
            </a:extLst>
          </p:cNvPr>
          <p:cNvSpPr txBox="1"/>
          <p:nvPr/>
        </p:nvSpPr>
        <p:spPr>
          <a:xfrm>
            <a:off x="3005737" y="51651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DFDE8D-AAFE-4C15-84E7-3AB3BE33AE01}"/>
              </a:ext>
            </a:extLst>
          </p:cNvPr>
          <p:cNvSpPr txBox="1"/>
          <p:nvPr/>
        </p:nvSpPr>
        <p:spPr>
          <a:xfrm>
            <a:off x="3976649" y="288070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41F21B6-3179-4896-A036-4893E8A07225}"/>
              </a:ext>
            </a:extLst>
          </p:cNvPr>
          <p:cNvSpPr txBox="1"/>
          <p:nvPr/>
        </p:nvSpPr>
        <p:spPr>
          <a:xfrm>
            <a:off x="4915956" y="145337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EE32FAD-4602-4022-A435-639DB91EC438}"/>
                  </a:ext>
                </a:extLst>
              </p:cNvPr>
              <p:cNvSpPr txBox="1"/>
              <p:nvPr/>
            </p:nvSpPr>
            <p:spPr>
              <a:xfrm>
                <a:off x="4050050" y="3287787"/>
                <a:ext cx="5163529" cy="30712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2,3,4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altLang="zh-TW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3,4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(3,{4})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2,4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+(4,{3})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2,4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3,2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(2,{4})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3,4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+(4,{2})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4,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4,2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(2,{3})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4,3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+(3,{2})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altLang="zh-TW" sz="20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2,3,5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,4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EE32FAD-4602-4022-A435-639DB91EC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050" y="3287787"/>
                <a:ext cx="5163529" cy="307129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FE67E15-9395-4917-BFD0-A766AC9FA01B}"/>
                  </a:ext>
                </a:extLst>
              </p:cNvPr>
              <p:cNvSpPr txBox="1"/>
              <p:nvPr/>
            </p:nvSpPr>
            <p:spPr>
              <a:xfrm>
                <a:off x="4049899" y="3287787"/>
                <a:ext cx="5113003" cy="3379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2,3,4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en-US" altLang="zh-TW" sz="20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3,4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altLang="zh-TW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,3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(3,{4})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2,4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+(4,{3})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2,4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3,2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(2,{4})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3,4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+(4,{2})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  <m:e>
                            <m:d>
                              <m:d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4,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4,2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(2,{3})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4,3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+(3,{2})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en-US" altLang="zh-TW" sz="2000" dirty="0"/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2,3,5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2,4,5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endParaRPr lang="en-US" altLang="zh-TW" sz="2000" dirty="0"/>
              </a:p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3,4,5</m:t>
                        </m:r>
                      </m:e>
                    </m:d>
                  </m:oMath>
                </a14:m>
                <a:r>
                  <a:rPr lang="zh-TW" altLang="en-US" sz="2000" dirty="0"/>
                  <a:t> </a:t>
                </a: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EFE67E15-9395-4917-BFD0-A766AC9FA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899" y="3287787"/>
                <a:ext cx="5113003" cy="33790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動作按鈕: 返回 31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EA8FDE48-F8D1-425B-B04A-C98CF00CDC2A}"/>
              </a:ext>
            </a:extLst>
          </p:cNvPr>
          <p:cNvSpPr/>
          <p:nvPr/>
        </p:nvSpPr>
        <p:spPr>
          <a:xfrm>
            <a:off x="8554917" y="6224631"/>
            <a:ext cx="352337" cy="352337"/>
          </a:xfrm>
          <a:prstGeom prst="actionButtonRetur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A05AF1CA-B041-4D9F-AA8B-EC6C057636E7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601986" y="1839265"/>
            <a:ext cx="1062172" cy="112169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1772DBA6-9547-41B6-B975-051DD7C4AC72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3202766" y="3732749"/>
            <a:ext cx="461392" cy="76097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16739634-6F54-454A-A6DF-26BA31B5E486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1108745" y="3646064"/>
            <a:ext cx="1708128" cy="123355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CC1DFED7-27E5-41DC-9A68-9D788915BD4A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601986" y="1839265"/>
            <a:ext cx="600780" cy="265445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C26FED1E-537E-4FAE-A160-764CDD4C9FC6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3202766" y="3732749"/>
            <a:ext cx="461392" cy="76097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52">
            <a:extLst>
              <a:ext uri="{FF2B5EF4-FFF2-40B4-BE49-F238E27FC236}">
                <a16:creationId xmlns:a16="http://schemas.microsoft.com/office/drawing/2014/main" id="{10D47C19-A0DE-42FA-8E1B-9AA403375924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1494637" y="3260172"/>
            <a:ext cx="1783628" cy="8668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28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形 3" descr="城市">
            <a:extLst>
              <a:ext uri="{FF2B5EF4-FFF2-40B4-BE49-F238E27FC236}">
                <a16:creationId xmlns:a16="http://schemas.microsoft.com/office/drawing/2014/main" id="{39337576-37BE-495E-9397-3FFE6B38D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977" y="924868"/>
            <a:ext cx="771785" cy="771785"/>
          </a:xfrm>
          <a:prstGeom prst="rect">
            <a:avLst/>
          </a:prstGeom>
        </p:spPr>
      </p:pic>
      <p:pic>
        <p:nvPicPr>
          <p:cNvPr id="5" name="圖形 4" descr="城市">
            <a:extLst>
              <a:ext uri="{FF2B5EF4-FFF2-40B4-BE49-F238E27FC236}">
                <a16:creationId xmlns:a16="http://schemas.microsoft.com/office/drawing/2014/main" id="{7A6078F6-C53D-4BA1-985E-15B49F4483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7994" y="1576413"/>
            <a:ext cx="771785" cy="771785"/>
          </a:xfrm>
          <a:prstGeom prst="rect">
            <a:avLst/>
          </a:prstGeom>
        </p:spPr>
      </p:pic>
      <p:pic>
        <p:nvPicPr>
          <p:cNvPr id="6" name="圖形 5" descr="城市">
            <a:extLst>
              <a:ext uri="{FF2B5EF4-FFF2-40B4-BE49-F238E27FC236}">
                <a16:creationId xmlns:a16="http://schemas.microsoft.com/office/drawing/2014/main" id="{16F384BB-F7A9-4CB5-9FEC-B73809E2D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736" y="2731667"/>
            <a:ext cx="771785" cy="771785"/>
          </a:xfrm>
          <a:prstGeom prst="rect">
            <a:avLst/>
          </a:prstGeom>
        </p:spPr>
      </p:pic>
      <p:pic>
        <p:nvPicPr>
          <p:cNvPr id="7" name="圖形 6" descr="城市">
            <a:extLst>
              <a:ext uri="{FF2B5EF4-FFF2-40B4-BE49-F238E27FC236}">
                <a16:creationId xmlns:a16="http://schemas.microsoft.com/office/drawing/2014/main" id="{CAD31555-9E9F-4D56-95A4-058C7AF4C3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47757" y="4351111"/>
            <a:ext cx="771785" cy="771785"/>
          </a:xfrm>
          <a:prstGeom prst="rect">
            <a:avLst/>
          </a:prstGeom>
        </p:spPr>
      </p:pic>
      <p:pic>
        <p:nvPicPr>
          <p:cNvPr id="8" name="圖形 7" descr="城市">
            <a:extLst>
              <a:ext uri="{FF2B5EF4-FFF2-40B4-BE49-F238E27FC236}">
                <a16:creationId xmlns:a16="http://schemas.microsoft.com/office/drawing/2014/main" id="{9FF6DB9D-E4CE-4E0B-8400-6138DB4C27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9149" y="2818352"/>
            <a:ext cx="771785" cy="771785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A07FDBE-3FE3-4342-A4E7-CEE1E29217CA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flipH="1">
            <a:off x="739629" y="1310761"/>
            <a:ext cx="1107348" cy="14209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7842CAB6-D72F-4E06-9478-CA2F1F145A9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618762" y="1310761"/>
            <a:ext cx="1349232" cy="65154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50368049-C755-4F50-A856-C60A2C3F58E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2232870" y="1696653"/>
            <a:ext cx="600780" cy="265445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BC80756-8629-4BA6-A998-588DF120A0FE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295042" y="2348198"/>
            <a:ext cx="1058845" cy="4701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19BE92F-AF1D-4E6A-BA4A-CCFD6FBD4794}"/>
              </a:ext>
            </a:extLst>
          </p:cNvPr>
          <p:cNvCxnSpPr>
            <a:cxnSpLocks/>
            <a:stCxn id="5" idx="2"/>
            <a:endCxn id="7" idx="3"/>
          </p:cNvCxnSpPr>
          <p:nvPr/>
        </p:nvCxnSpPr>
        <p:spPr>
          <a:xfrm flipH="1">
            <a:off x="3219542" y="2348198"/>
            <a:ext cx="1134345" cy="23888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A6A9B98D-90C3-4F51-B87C-DF53FA18BB81}"/>
              </a:ext>
            </a:extLst>
          </p:cNvPr>
          <p:cNvCxnSpPr>
            <a:cxnSpLocks/>
            <a:stCxn id="8" idx="1"/>
            <a:endCxn id="6" idx="3"/>
          </p:cNvCxnSpPr>
          <p:nvPr/>
        </p:nvCxnSpPr>
        <p:spPr>
          <a:xfrm flipH="1" flipV="1">
            <a:off x="1125521" y="3117560"/>
            <a:ext cx="1783628" cy="866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9953B3A-62EB-40D2-A064-4B8FE87594D0}"/>
              </a:ext>
            </a:extLst>
          </p:cNvPr>
          <p:cNvSpPr txBox="1"/>
          <p:nvPr/>
        </p:nvSpPr>
        <p:spPr>
          <a:xfrm>
            <a:off x="2146071" y="66497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D439EF5-2B97-41CA-982D-B52281410C03}"/>
              </a:ext>
            </a:extLst>
          </p:cNvPr>
          <p:cNvSpPr txBox="1"/>
          <p:nvPr/>
        </p:nvSpPr>
        <p:spPr>
          <a:xfrm>
            <a:off x="209658" y="272852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DD70753-2033-46EF-81E3-33723289E33E}"/>
              </a:ext>
            </a:extLst>
          </p:cNvPr>
          <p:cNvSpPr txBox="1"/>
          <p:nvPr/>
        </p:nvSpPr>
        <p:spPr>
          <a:xfrm>
            <a:off x="2636621" y="50224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CDFDE8D-AAFE-4C15-84E7-3AB3BE33AE01}"/>
              </a:ext>
            </a:extLst>
          </p:cNvPr>
          <p:cNvSpPr txBox="1"/>
          <p:nvPr/>
        </p:nvSpPr>
        <p:spPr>
          <a:xfrm>
            <a:off x="3607533" y="27380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41F21B6-3179-4896-A036-4893E8A07225}"/>
              </a:ext>
            </a:extLst>
          </p:cNvPr>
          <p:cNvSpPr txBox="1"/>
          <p:nvPr/>
        </p:nvSpPr>
        <p:spPr>
          <a:xfrm>
            <a:off x="4546840" y="13107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2ABE9C-866F-4D84-AAC4-1168076406D4}"/>
                  </a:ext>
                </a:extLst>
              </p:cNvPr>
              <p:cNvSpPr txBox="1"/>
              <p:nvPr/>
            </p:nvSpPr>
            <p:spPr>
              <a:xfrm>
                <a:off x="3347605" y="2451877"/>
                <a:ext cx="5872249" cy="4062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2,3,4,5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5,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2,3,4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0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solidFill>
                                                      <a:srgbClr val="FF000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5,2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TW" sz="20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(2,{3,4})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5,3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+(3,{2,4})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5,4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+(4,{2,3})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2,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3,4,5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2,3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(3,{4,5})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2,4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+(4,{3,5})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2,5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+(5,{3,4})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3,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2,4,5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3,2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(2,{4,5})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3,4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+(4,{2,5})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3,5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+(5,{2,4})</m:t>
                                      </m:r>
                                    </m:e>
                                  </m:eqArr>
                                </m:e>
                              </m:d>
                            </m:e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4,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2,3,5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eqArr>
                                    <m:eqArr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eqArr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4,2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(2,{3,5})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000" i="1">
                                                    <a:latin typeface="Cambria Math" panose="02040503050406030204" pitchFamily="18" charset="0"/>
                                                  </a:rPr>
                                                  <m:t>4,3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+(3,{2,5})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4,5</m:t>
                                          </m:r>
                                        </m:sub>
                                      </m:s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+(5,{2,3})</m:t>
                                      </m:r>
                                    </m:e>
                                  </m:eqAr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2ABE9C-866F-4D84-AAC4-11680764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605" y="2451877"/>
                <a:ext cx="5872249" cy="40628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動作按鈕: 返回 2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F65E3055-BBFB-445F-AAC1-08C4192D32A9}"/>
              </a:ext>
            </a:extLst>
          </p:cNvPr>
          <p:cNvSpPr/>
          <p:nvPr/>
        </p:nvSpPr>
        <p:spPr>
          <a:xfrm>
            <a:off x="8622029" y="304249"/>
            <a:ext cx="352337" cy="352337"/>
          </a:xfrm>
          <a:prstGeom prst="actionButtonRetur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A68605DB-2B38-4AC4-97EB-A94D4C946BB8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 flipH="1">
            <a:off x="2833650" y="3590137"/>
            <a:ext cx="461392" cy="76097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962139B2-7AFF-492B-B85C-AC724EA2F7D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32870" y="1696653"/>
            <a:ext cx="1114735" cy="112169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41C0465A-C11C-41E9-ADEC-3A23E0DA1D49}"/>
              </a:ext>
            </a:extLst>
          </p:cNvPr>
          <p:cNvCxnSpPr>
            <a:cxnSpLocks/>
            <a:stCxn id="7" idx="1"/>
            <a:endCxn id="6" idx="2"/>
          </p:cNvCxnSpPr>
          <p:nvPr/>
        </p:nvCxnSpPr>
        <p:spPr>
          <a:xfrm flipH="1" flipV="1">
            <a:off x="739629" y="3503452"/>
            <a:ext cx="1708128" cy="123355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D31689C3-8F21-409C-9036-5C0D362BCAE3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1125521" y="1962306"/>
            <a:ext cx="2842473" cy="115525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06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2ABE9C-866F-4D84-AAC4-1168076406D4}"/>
                  </a:ext>
                </a:extLst>
              </p:cNvPr>
              <p:cNvSpPr txBox="1"/>
              <p:nvPr/>
            </p:nvSpPr>
            <p:spPr>
              <a:xfrm>
                <a:off x="5192474" y="3117559"/>
                <a:ext cx="28941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1,2,3,4,5</m:t>
                          </m:r>
                        </m:e>
                      </m:d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2,3,4,5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12ABE9C-866F-4D84-AAC4-116807640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474" y="3117559"/>
                <a:ext cx="2894190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動作按鈕: 返回 2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AF1C8EB-5D4A-436D-9092-0C522350CD5F}"/>
              </a:ext>
            </a:extLst>
          </p:cNvPr>
          <p:cNvSpPr/>
          <p:nvPr/>
        </p:nvSpPr>
        <p:spPr>
          <a:xfrm>
            <a:off x="8554917" y="6224631"/>
            <a:ext cx="352337" cy="352337"/>
          </a:xfrm>
          <a:prstGeom prst="actionButtonReturn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形 27" descr="城市">
            <a:extLst>
              <a:ext uri="{FF2B5EF4-FFF2-40B4-BE49-F238E27FC236}">
                <a16:creationId xmlns:a16="http://schemas.microsoft.com/office/drawing/2014/main" id="{63F56794-65F1-4E2E-9E2F-601DC894D7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46977" y="924868"/>
            <a:ext cx="771785" cy="771785"/>
          </a:xfrm>
          <a:prstGeom prst="rect">
            <a:avLst/>
          </a:prstGeom>
        </p:spPr>
      </p:pic>
      <p:pic>
        <p:nvPicPr>
          <p:cNvPr id="29" name="圖形 28" descr="城市">
            <a:extLst>
              <a:ext uri="{FF2B5EF4-FFF2-40B4-BE49-F238E27FC236}">
                <a16:creationId xmlns:a16="http://schemas.microsoft.com/office/drawing/2014/main" id="{10ABB2EE-81A2-4752-8134-BE749CD71F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7994" y="1576413"/>
            <a:ext cx="771785" cy="771785"/>
          </a:xfrm>
          <a:prstGeom prst="rect">
            <a:avLst/>
          </a:prstGeom>
        </p:spPr>
      </p:pic>
      <p:pic>
        <p:nvPicPr>
          <p:cNvPr id="30" name="圖形 29" descr="城市">
            <a:extLst>
              <a:ext uri="{FF2B5EF4-FFF2-40B4-BE49-F238E27FC236}">
                <a16:creationId xmlns:a16="http://schemas.microsoft.com/office/drawing/2014/main" id="{7F876104-8BA7-469C-9A17-69FE128F2FB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736" y="2731667"/>
            <a:ext cx="771785" cy="771785"/>
          </a:xfrm>
          <a:prstGeom prst="rect">
            <a:avLst/>
          </a:prstGeom>
        </p:spPr>
      </p:pic>
      <p:pic>
        <p:nvPicPr>
          <p:cNvPr id="31" name="圖形 30" descr="城市">
            <a:extLst>
              <a:ext uri="{FF2B5EF4-FFF2-40B4-BE49-F238E27FC236}">
                <a16:creationId xmlns:a16="http://schemas.microsoft.com/office/drawing/2014/main" id="{55004DD7-D5FF-4678-8B96-F1F237509E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47757" y="4351111"/>
            <a:ext cx="771785" cy="771785"/>
          </a:xfrm>
          <a:prstGeom prst="rect">
            <a:avLst/>
          </a:prstGeom>
        </p:spPr>
      </p:pic>
      <p:pic>
        <p:nvPicPr>
          <p:cNvPr id="32" name="圖形 31" descr="城市">
            <a:extLst>
              <a:ext uri="{FF2B5EF4-FFF2-40B4-BE49-F238E27FC236}">
                <a16:creationId xmlns:a16="http://schemas.microsoft.com/office/drawing/2014/main" id="{0DCE0610-238B-4CEE-A1F5-A55A731B5B4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9149" y="2818352"/>
            <a:ext cx="771785" cy="771785"/>
          </a:xfrm>
          <a:prstGeom prst="rect">
            <a:avLst/>
          </a:prstGeom>
        </p:spPr>
      </p:pic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330E84D-79D0-4A6D-888B-5BF3028A71FB}"/>
              </a:ext>
            </a:extLst>
          </p:cNvPr>
          <p:cNvCxnSpPr>
            <a:cxnSpLocks/>
            <a:stCxn id="28" idx="1"/>
            <a:endCxn id="30" idx="0"/>
          </p:cNvCxnSpPr>
          <p:nvPr/>
        </p:nvCxnSpPr>
        <p:spPr>
          <a:xfrm flipH="1">
            <a:off x="739629" y="1310761"/>
            <a:ext cx="1107348" cy="14209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556215A8-F12D-4560-BBED-61E42467A0F5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2232870" y="1696653"/>
            <a:ext cx="600780" cy="2654458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4682DE23-4BFB-4894-A8D9-773EA3FE6BCB}"/>
              </a:ext>
            </a:extLst>
          </p:cNvPr>
          <p:cNvCxnSpPr>
            <a:cxnSpLocks/>
            <a:stCxn id="29" idx="2"/>
            <a:endCxn id="32" idx="0"/>
          </p:cNvCxnSpPr>
          <p:nvPr/>
        </p:nvCxnSpPr>
        <p:spPr>
          <a:xfrm flipH="1">
            <a:off x="3295042" y="2348198"/>
            <a:ext cx="1058845" cy="470154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86279B7-8FA8-40F4-828A-F71D4A50EC3E}"/>
              </a:ext>
            </a:extLst>
          </p:cNvPr>
          <p:cNvCxnSpPr>
            <a:cxnSpLocks/>
            <a:stCxn id="29" idx="2"/>
            <a:endCxn id="31" idx="3"/>
          </p:cNvCxnSpPr>
          <p:nvPr/>
        </p:nvCxnSpPr>
        <p:spPr>
          <a:xfrm flipH="1">
            <a:off x="3219542" y="2348198"/>
            <a:ext cx="1134345" cy="238880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E87508F7-3353-461D-8DDD-DB666AFFEA43}"/>
              </a:ext>
            </a:extLst>
          </p:cNvPr>
          <p:cNvCxnSpPr>
            <a:cxnSpLocks/>
            <a:stCxn id="32" idx="1"/>
            <a:endCxn id="30" idx="3"/>
          </p:cNvCxnSpPr>
          <p:nvPr/>
        </p:nvCxnSpPr>
        <p:spPr>
          <a:xfrm flipH="1" flipV="1">
            <a:off x="1125521" y="3117560"/>
            <a:ext cx="1783628" cy="86685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1D690EC8-A519-4213-BB3B-483C570CBBB6}"/>
              </a:ext>
            </a:extLst>
          </p:cNvPr>
          <p:cNvSpPr txBox="1"/>
          <p:nvPr/>
        </p:nvSpPr>
        <p:spPr>
          <a:xfrm>
            <a:off x="2146071" y="66497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6410A93-6113-4302-A4B2-4D2D43F43B8F}"/>
              </a:ext>
            </a:extLst>
          </p:cNvPr>
          <p:cNvSpPr txBox="1"/>
          <p:nvPr/>
        </p:nvSpPr>
        <p:spPr>
          <a:xfrm>
            <a:off x="209658" y="272852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DECB2278-8795-44AF-93AF-D82832A89CA0}"/>
              </a:ext>
            </a:extLst>
          </p:cNvPr>
          <p:cNvSpPr txBox="1"/>
          <p:nvPr/>
        </p:nvSpPr>
        <p:spPr>
          <a:xfrm>
            <a:off x="2636621" y="50224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AE2B1CA-FEAB-4B2A-9492-55F294BBC20D}"/>
              </a:ext>
            </a:extLst>
          </p:cNvPr>
          <p:cNvSpPr txBox="1"/>
          <p:nvPr/>
        </p:nvSpPr>
        <p:spPr>
          <a:xfrm>
            <a:off x="3607533" y="27380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E06001C0-3CFF-4220-B85B-B1114F3C845F}"/>
              </a:ext>
            </a:extLst>
          </p:cNvPr>
          <p:cNvSpPr txBox="1"/>
          <p:nvPr/>
        </p:nvSpPr>
        <p:spPr>
          <a:xfrm>
            <a:off x="4546840" y="131076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38A4AB1C-C47F-483E-BD67-FA4F890013EE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flipH="1">
            <a:off x="2833650" y="3590137"/>
            <a:ext cx="461392" cy="76097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0DF901AF-9EC2-413D-86BD-D82B7CEC4645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2232870" y="1696653"/>
            <a:ext cx="1114735" cy="112169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7E041ABC-457F-42A9-A328-80D220713FFD}"/>
              </a:ext>
            </a:extLst>
          </p:cNvPr>
          <p:cNvCxnSpPr>
            <a:cxnSpLocks/>
            <a:stCxn id="31" idx="1"/>
            <a:endCxn id="30" idx="2"/>
          </p:cNvCxnSpPr>
          <p:nvPr/>
        </p:nvCxnSpPr>
        <p:spPr>
          <a:xfrm flipH="1" flipV="1">
            <a:off x="739629" y="3503452"/>
            <a:ext cx="1708128" cy="123355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>
            <a:extLst>
              <a:ext uri="{FF2B5EF4-FFF2-40B4-BE49-F238E27FC236}">
                <a16:creationId xmlns:a16="http://schemas.microsoft.com/office/drawing/2014/main" id="{92954C29-3186-4BCF-8872-3AAA85786220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1125521" y="1962306"/>
            <a:ext cx="2842473" cy="115525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DE4B7394-6D98-460B-AB52-34942CCE2316}"/>
              </a:ext>
            </a:extLst>
          </p:cNvPr>
          <p:cNvCxnSpPr>
            <a:cxnSpLocks/>
            <a:stCxn id="29" idx="1"/>
            <a:endCxn id="28" idx="3"/>
          </p:cNvCxnSpPr>
          <p:nvPr/>
        </p:nvCxnSpPr>
        <p:spPr>
          <a:xfrm flipH="1" flipV="1">
            <a:off x="2618762" y="1310761"/>
            <a:ext cx="1349232" cy="651545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01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4966F-4813-4A86-A1FA-DC46982B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2B8A76-DD56-44FA-AE39-F35000271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hlinkClick r:id="rId2" action="ppaction://hlinksldjump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hlinkClick r:id="rId2" action="ppaction://hlinksldjump"/>
                      </a:rPr>
                      <m:t>−1</m:t>
                    </m:r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hlinkClick r:id="rId3" action="ppaction://hlinksldjump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hlinkClick r:id="rId3" action="ppaction://hlinksldjump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3" action="ppaction://hlinksldjump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3" action="ppaction://hlinksldjump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3" action="ppaction://hlinksldjump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hlinkClick r:id="rId3" action="ppaction://hlinksldjump"/>
                      </a:rPr>
                      <m:t>×2×1</m:t>
                    </m:r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hlinkClick r:id="rId4" action="ppaction://hlinksldjump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hlinkClick r:id="rId4" action="ppaction://hlinksldjump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4" action="ppaction://hlinksldjump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4" action="ppaction://hlinksldjump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4" action="ppaction://hlinksldjump"/>
                              </a:rPr>
                              <m:t>3</m:t>
                            </m:r>
                          </m:e>
                        </m:eqAr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hlinkClick r:id="rId4" action="ppaction://hlinksldjump"/>
                      </a:rPr>
                      <m:t>×3×2</m:t>
                    </m:r>
                  </m:oMath>
                </a14:m>
                <a:endParaRPr lang="en-US" altLang="zh-TW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hlinkClick r:id="rId5" action="ppaction://hlinksldjump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hlinkClick r:id="rId5" action="ppaction://hlinksldjump"/>
                              </a:rPr>
                            </m:ctrlPr>
                          </m:eqArr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5" action="ppaction://hlinksldjump"/>
                              </a:rPr>
                              <m:t>𝑛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5" action="ppaction://hlinksldjump"/>
                              </a:rPr>
                              <m:t>−1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hlinkClick r:id="rId5" action="ppaction://hlinksldjump"/>
                              </a:rPr>
                              <m:t>4</m:t>
                            </m:r>
                          </m:e>
                        </m:eqAr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hlinkClick r:id="rId5" action="ppaction://hlinksldjump"/>
                      </a:rPr>
                      <m:t>×4×3</m:t>
                    </m:r>
                  </m:oMath>
                </a14:m>
                <a:endParaRPr lang="en-US" altLang="zh-TW" b="0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hlinkClick r:id="rId6" action="ppaction://hlinksldjump"/>
                      </a:rPr>
                      <m:t>1×(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hlinkClick r:id="rId6" action="ppaction://hlinksldjump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hlinkClick r:id="rId6" action="ppaction://hlinksldjump"/>
                      </a:rPr>
                      <m:t>−1)</m:t>
                    </m:r>
                  </m:oMath>
                </a14:m>
                <a:endParaRPr lang="en-US" altLang="zh-TW" b="0" dirty="0"/>
              </a:p>
              <a:p>
                <a:pPr marL="514350" indent="-514350">
                  <a:buFont typeface="+mj-lt"/>
                  <a:buAutoNum type="arabicParenR"/>
                </a:pPr>
                <a:endParaRPr lang="en-US" altLang="zh-TW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b="0" dirty="0"/>
              </a:p>
              <a:p>
                <a:pPr marL="514350" indent="-514350">
                  <a:buFont typeface="+mj-lt"/>
                  <a:buAutoNum type="arabicParenR"/>
                </a:pPr>
                <a:endParaRPr lang="en-US" altLang="zh-TW" dirty="0"/>
              </a:p>
              <a:p>
                <a:pPr marL="514350" indent="-514350">
                  <a:buFont typeface="+mj-lt"/>
                  <a:buAutoNum type="arabicParenR"/>
                </a:pPr>
                <a:endParaRPr lang="en-US" altLang="zh-TW" dirty="0"/>
              </a:p>
              <a:p>
                <a:pPr marL="514350" indent="-514350">
                  <a:buFont typeface="+mj-lt"/>
                  <a:buAutoNum type="arabicParenR"/>
                </a:pPr>
                <a:endParaRPr lang="en-US" altLang="zh-TW" b="0" dirty="0"/>
              </a:p>
              <a:p>
                <a:pPr marL="514350" indent="-514350">
                  <a:buFont typeface="+mj-lt"/>
                  <a:buAutoNum type="arabicParenR"/>
                </a:pPr>
                <a:endParaRPr lang="en-US" altLang="zh-TW" b="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2B8A76-DD56-44FA-AE39-F35000271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622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1884</TotalTime>
  <Words>668</Words>
  <Application>Microsoft Office PowerPoint</Application>
  <PresentationFormat>如螢幕大小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Wingdings</vt:lpstr>
      <vt:lpstr>Office 佈景主題</vt:lpstr>
      <vt:lpstr>Dynamic Programming Treatment of the Travelling Salesman Problem</vt:lpstr>
      <vt:lpstr>Travelling Salesman Problem</vt:lpstr>
      <vt:lpstr>Dynamic Programming</vt:lpstr>
      <vt:lpstr>PowerPoint 簡報</vt:lpstr>
      <vt:lpstr>PowerPoint 簡報</vt:lpstr>
      <vt:lpstr>PowerPoint 簡報</vt:lpstr>
      <vt:lpstr>PowerPoint 簡報</vt:lpstr>
      <vt:lpstr>PowerPoint 簡報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APX-completeness results for cubic graphs</dc:title>
  <dc:creator>sizuka</dc:creator>
  <cp:lastModifiedBy>sizuka</cp:lastModifiedBy>
  <cp:revision>116</cp:revision>
  <dcterms:created xsi:type="dcterms:W3CDTF">2016-06-06T14:33:25Z</dcterms:created>
  <dcterms:modified xsi:type="dcterms:W3CDTF">2017-08-01T10:26:46Z</dcterms:modified>
</cp:coreProperties>
</file>