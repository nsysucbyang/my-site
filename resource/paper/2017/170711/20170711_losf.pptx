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73" r:id="rId14"/>
    <p:sldId id="268" r:id="rId15"/>
    <p:sldId id="274" r:id="rId16"/>
    <p:sldId id="269" r:id="rId17"/>
    <p:sldId id="275" r:id="rId18"/>
    <p:sldId id="276" r:id="rId19"/>
    <p:sldId id="277" r:id="rId20"/>
    <p:sldId id="270" r:id="rId21"/>
    <p:sldId id="271" r:id="rId22"/>
    <p:sldId id="278" r:id="rId23"/>
    <p:sldId id="279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0" autoAdjust="0"/>
    <p:restoredTop sz="88876" autoAdjust="0"/>
  </p:normalViewPr>
  <p:slideViewPr>
    <p:cSldViewPr snapToGrid="0">
      <p:cViewPr varScale="1">
        <p:scale>
          <a:sx n="78" d="100"/>
          <a:sy n="78" d="100"/>
        </p:scale>
        <p:origin x="54" y="85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258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210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900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132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6556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881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6404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529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42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81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691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2584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4203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317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53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826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606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426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0670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8208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5497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2017/7/9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 Linear and Parallel Multiple Longest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Subsequences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(MLCS) Algorithm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060448"/>
            <a:ext cx="8353402" cy="4111751"/>
          </a:xfrm>
        </p:spPr>
        <p:txBody>
          <a:bodyPr>
            <a:noAutofit/>
          </a:bodyPr>
          <a:lstStyle/>
          <a:p>
            <a:r>
              <a:rPr lang="en-US" altLang="zh-TW" dirty="0" err="1" smtClean="0"/>
              <a:t>Yanni</a:t>
            </a:r>
            <a:r>
              <a:rPr lang="en-US" altLang="zh-TW" dirty="0" smtClean="0"/>
              <a:t> Li, </a:t>
            </a:r>
            <a:r>
              <a:rPr lang="en-US" altLang="zh-TW" dirty="0" err="1" smtClean="0"/>
              <a:t>Hui</a:t>
            </a:r>
            <a:r>
              <a:rPr lang="en-US" altLang="zh-TW" dirty="0" smtClean="0"/>
              <a:t> Li, </a:t>
            </a:r>
            <a:r>
              <a:rPr lang="en-US" altLang="zh-TW" dirty="0" err="1" smtClean="0"/>
              <a:t>Tihua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Duan</a:t>
            </a:r>
            <a:r>
              <a:rPr lang="en-US" altLang="zh-TW" dirty="0" smtClean="0"/>
              <a:t>, </a:t>
            </a:r>
          </a:p>
          <a:p>
            <a:r>
              <a:rPr lang="en-US" altLang="zh-TW" dirty="0" smtClean="0"/>
              <a:t>Sheng Wang, </a:t>
            </a:r>
            <a:r>
              <a:rPr lang="en-US" altLang="zh-TW" dirty="0" err="1" smtClean="0"/>
              <a:t>Zhi</a:t>
            </a:r>
            <a:r>
              <a:rPr lang="en-US" altLang="zh-TW" dirty="0" smtClean="0"/>
              <a:t> Wang, Yang Cheng</a:t>
            </a:r>
          </a:p>
          <a:p>
            <a:endParaRPr lang="en-US" altLang="zh-TW" dirty="0" smtClean="0"/>
          </a:p>
          <a:p>
            <a:r>
              <a:rPr lang="en-US" altLang="zh-TW" dirty="0"/>
              <a:t> </a:t>
            </a:r>
            <a:r>
              <a:rPr lang="en-US" altLang="zh-TW" dirty="0"/>
              <a:t>KDD '16 Proceedings of the 22nd ACM SIGKDD International Conference on Knowledge Discovery and Data Mining</a:t>
            </a:r>
          </a:p>
          <a:p>
            <a:r>
              <a:rPr lang="en-US" altLang="zh-TW" dirty="0"/>
              <a:t>Pages 1725-1734 </a:t>
            </a:r>
          </a:p>
          <a:p>
            <a:r>
              <a:rPr lang="en-US" altLang="zh-TW" dirty="0"/>
              <a:t>San Francisco, California, USA — August 13 - 17, 2016 </a:t>
            </a:r>
            <a:endParaRPr lang="en-US" altLang="zh-TW" dirty="0" smtClean="0"/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Date:2017/07/11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2392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Information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various applications is often expressed as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sequences over a ﬁnite alphabet (e.g., DNA or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sequences). In Big Data era, the lengths and sizes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these sequences are growing explosively, leading to grand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for the classical NP-hard problem, namely search-</a:t>
            </a:r>
          </a:p>
          <a:p>
            <a:pPr>
              <a:buNone/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Multiple Longest Common Subsequences (MLC-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) from multiple sequences. In this paper, we ﬁrst unveil the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that the state-of-the-art MLCS algorithms are unable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applied to long and large-scale sequences alignments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84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004468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 their defects and tackle the longer and large-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or even big sequences alignments, based on the pro-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posed novel problem-solving model and various strategies,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parallel topological sorting, optimal calculating, reuse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intermediate results, subsection calculation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serializa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buNone/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etc., we present a novel parallel MLCS algorithm. Ex-</a:t>
            </a:r>
          </a:p>
          <a:p>
            <a:pPr>
              <a:buNone/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haustive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experiments on the datasets of both synthetic and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biological sequences demonstrate that both the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space of the proposed algorithm are only linear in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dominants from aligned sequences, and the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algorithm signiﬁcantly outperforms the state-of-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the-art MLCS algorithms, being applicable to longer and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sequences alignments.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LCS/MLCS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past forty years, in order to eﬃciently tackle the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LCS/MLCS problem, various types of LCS/MLCS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buNone/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rithms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tools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SAMtools1 , BLAST2 ,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Clustal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Omega3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 been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proposed, which can be divided into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categories: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and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dominant-</a:t>
            </a:r>
          </a:p>
          <a:p>
            <a:pPr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point-based algorithms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TGACGATC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 = ATGCTCAG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CTAGTACG  over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= {A, C, G, T },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4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MLCSs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length 4,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namely MLCS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AGTC,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MLCS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TGTC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MLCS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TGAG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MLCS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TGCG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8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5072" y="-101639"/>
            <a:ext cx="877824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MLCS-DAG(Directed Acyclic Graph)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= TGACGATC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,S2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ATGCTCAG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CTAGTACG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133600"/>
            <a:ext cx="7239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0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Problem-Solving Model: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NCSG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= TGACGATC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,S2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ATGCTCAG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CTAGTACG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52" y="1755648"/>
            <a:ext cx="6845504" cy="5102352"/>
          </a:xfrm>
          <a:prstGeom prst="rect">
            <a:avLst/>
          </a:prstGeom>
        </p:spPr>
      </p:pic>
      <p:sp>
        <p:nvSpPr>
          <p:cNvPr id="9" name="動作按鈕: 返回 8">
            <a:hlinkClick r:id="" action="ppaction://hlinkshowjump?jump=lastslideviewed" highlightClick="1"/>
          </p:cNvPr>
          <p:cNvSpPr/>
          <p:nvPr/>
        </p:nvSpPr>
        <p:spPr>
          <a:xfrm>
            <a:off x="8587438" y="6327648"/>
            <a:ext cx="556562" cy="530352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434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Strategy to Mine MLCSs: Forward/ Back-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 Topological Sorting on NCSG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552434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= TGACGATC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,S2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ATGCTCAG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CTAGTACG</a:t>
            </a: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82926"/>
            <a:ext cx="76104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Strategy to Mine MLCSs: Forward/ Back-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 Topological Sorting on NCSG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= TGACGATC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,S2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ATGCTCAG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CTAGTACG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non-critical points in the NCSG are now identiﬁed and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easily removed.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028012"/>
            <a:ext cx="74104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2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28451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against the Challenges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07264" y="1699412"/>
                <a:ext cx="8936736" cy="5387824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Deﬁnition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6: Given a NCSG, a dominant is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called the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dominant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NCSG, if and only if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dominant belongs to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dominants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has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minimal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coordinates values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compared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 1-level dominants.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subgraph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Sub-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</a:t>
                </a:r>
                <a:r>
                  <a:rPr lang="en-US" altLang="zh-TW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constructed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starting from optimal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dominant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Sub-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</a:t>
                </a:r>
                <a:r>
                  <a:rPr lang="en-US" altLang="zh-TW" sz="24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altLang="zh-TW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called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:r>
                  <a:rPr lang="en-US" altLang="zh-TW" sz="24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subgraph</a:t>
                </a:r>
                <a:r>
                  <a:rPr lang="en-US" altLang="zh-TW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NCSG.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1699412"/>
                <a:ext cx="8936736" cy="5387824"/>
              </a:xfrm>
              <a:blipFill rotWithShape="0">
                <a:blip r:embed="rId3"/>
                <a:stretch>
                  <a:fillRect l="-10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043" y="926542"/>
            <a:ext cx="6599301" cy="2600223"/>
          </a:xfrm>
          <a:prstGeom prst="rect">
            <a:avLst/>
          </a:prstGeom>
        </p:spPr>
      </p:pic>
      <p:sp>
        <p:nvSpPr>
          <p:cNvPr id="6" name="動作按鈕: 返回 5">
            <a:hlinkClick r:id="rId5" action="ppaction://hlinksldjump" highlightClick="1"/>
          </p:cNvPr>
          <p:cNvSpPr/>
          <p:nvPr/>
        </p:nvSpPr>
        <p:spPr>
          <a:xfrm>
            <a:off x="8604123" y="3413556"/>
            <a:ext cx="548640" cy="503556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動作按鈕: 返回 7">
            <a:hlinkClick r:id="" action="ppaction://hlinkshowjump?jump=lastslideviewed" highlightClick="1"/>
          </p:cNvPr>
          <p:cNvSpPr/>
          <p:nvPr/>
        </p:nvSpPr>
        <p:spPr>
          <a:xfrm>
            <a:off x="8537067" y="6309677"/>
            <a:ext cx="585216" cy="548323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93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1: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Successor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99" y="1945808"/>
            <a:ext cx="7889177" cy="477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9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2: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DM(Index, Point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We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a bidirectional hash table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DM(Index, Point)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wherein 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-dimensional coordinates 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dominant 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serial number corresponding 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dominant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 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(0, 0, 0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 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(3, 1, 3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 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(4, 4, 1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(2, 3, 4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,(1, 2, 2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 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,(3, 7, 3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6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,(4, 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,(7, 5, 5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,(5, 8, 4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(5, 8, 8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 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</a:p>
          <a:p>
            <a:pPr>
              <a:buNone/>
            </a:pP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3, 7, 6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(8, 6, 7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(∞, ∞, ∞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(5, 3, </a:t>
            </a:r>
            <a:endParaRPr lang="pt-BR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(7, 2, 5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(6, 7, 6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 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(8, 4, 7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(6, 7, 3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(7, 5, 2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〉</a:t>
            </a:r>
            <a:r>
              <a:rPr lang="pt-BR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  <a:endParaRPr lang="en-US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60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3162" y="1333652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2: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DM(Index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Point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-1632109" y="6492875"/>
            <a:ext cx="2057400" cy="365125"/>
          </a:xfrm>
        </p:spPr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動作按鈕: 返回 6">
            <a:hlinkClick r:id="" action="ppaction://hlinkshowjump?jump=lastslideviewed" highlightClick="1"/>
          </p:cNvPr>
          <p:cNvSpPr/>
          <p:nvPr/>
        </p:nvSpPr>
        <p:spPr>
          <a:xfrm>
            <a:off x="0" y="5944552"/>
            <a:ext cx="585216" cy="548323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088" y="940897"/>
            <a:ext cx="6534912" cy="586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6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800" y="1333652"/>
            <a:ext cx="821055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3: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Optimal Calculation and Reuse of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Results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Our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experiments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 the fact that the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</a:t>
            </a:r>
            <a:r>
              <a:rPr lang="en-US" altLang="zh-TW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Sub-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NCSG</a:t>
            </a:r>
            <a:r>
              <a:rPr lang="en-US" altLang="zh-TW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NCSG not only contains most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dominants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NCSG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(45%-97%, average 88%, see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1), but also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most of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MLCSs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(75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%-100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85%).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the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dominant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2, 2) shown in Fig. 3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three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MLCSs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sequences S1 , S2 and S3 ,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3 out of 4 MLCSs, accounting for 75%.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動作按鈕: 返回 6">
            <a:hlinkClick r:id="rId3" action="ppaction://hlinksldjump" highlightClick="1"/>
          </p:cNvPr>
          <p:cNvSpPr/>
          <p:nvPr/>
        </p:nvSpPr>
        <p:spPr>
          <a:xfrm>
            <a:off x="8205216" y="4572000"/>
            <a:ext cx="419862" cy="400659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動作按鈕: 返回 7">
            <a:hlinkClick r:id="rId4" action="ppaction://hlinksldjump" highlightClick="1"/>
          </p:cNvPr>
          <p:cNvSpPr/>
          <p:nvPr/>
        </p:nvSpPr>
        <p:spPr>
          <a:xfrm>
            <a:off x="8186166" y="3188308"/>
            <a:ext cx="438912" cy="402336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34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33652"/>
                <a:ext cx="8210550" cy="5387824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Strategy 3: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Optimal Calculation and Reuse of Intermediate </a:t>
                </a:r>
              </a:p>
              <a:p>
                <a:pPr>
                  <a:buNone/>
                </a:pP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Results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altLang="zh-TW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the NCSG in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following manner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arenR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={0, 0, ..., 0} and perform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457200" indent="-457200">
                  <a:buAutoNum type="arabicParenR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optimal dominant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  <a:p>
                <a:pPr marL="457200" indent="-457200">
                  <a:buAutoNum type="arabicParenR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optimal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subgraph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Sub-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</a:t>
                </a:r>
                <a:r>
                  <a:rPr lang="en-US" altLang="zh-TW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the step called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:r>
                  <a:rPr lang="en-US" altLang="zh-TW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calculating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layer the Sub-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</a:t>
                </a:r>
                <a:r>
                  <a:rPr lang="en-US" altLang="zh-TW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Algorithm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ForwardTopSort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remove all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non-critical dominants on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Sub-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</a:t>
                </a:r>
                <a:r>
                  <a:rPr lang="en-US" altLang="zh-TW" sz="24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Algorithm 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BackwardTopSort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resulting in an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optimized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</a:t>
                </a:r>
                <a:r>
                  <a:rPr lang="en-US" altLang="zh-TW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.,all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dominants are key points in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optimized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NCSG</a:t>
                </a:r>
                <a:r>
                  <a:rPr lang="en-US" altLang="zh-TW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33652"/>
                <a:ext cx="8210550" cy="5387824"/>
              </a:xfrm>
              <a:blipFill rotWithShape="0">
                <a:blip r:embed="rId3"/>
                <a:stretch>
                  <a:fillRect l="-1114" t="-1584" r="-668" b="-35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動作按鈕: 返回 10">
            <a:hlinkClick r:id="rId4" action="ppaction://hlinksldjump" highlightClick="1"/>
          </p:cNvPr>
          <p:cNvSpPr/>
          <p:nvPr/>
        </p:nvSpPr>
        <p:spPr>
          <a:xfrm>
            <a:off x="8558784" y="6264911"/>
            <a:ext cx="585216" cy="593089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04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800" y="1333652"/>
            <a:ext cx="821055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3: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Optimal Calculation and Reuse of Intermediate </a:t>
            </a: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Results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Sub-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NCSG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dominants from the optimal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Sub-</a:t>
            </a:r>
          </a:p>
          <a:p>
            <a:pPr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NCSG</a:t>
            </a:r>
            <a:r>
              <a:rPr lang="en-US" altLang="zh-TW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,which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already been computed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steps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reuse of intermediate results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of further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discussion,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1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- 6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zh-TW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3 are denoted 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OptCalReusing1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1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- 4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6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(not including step 5))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OptCalReusing2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lang="en-US" altLang="zh-TW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動作按鈕: 返回 6">
            <a:hlinkClick r:id="rId3" action="ppaction://hlinksldjump" highlightClick="1"/>
          </p:cNvPr>
          <p:cNvSpPr/>
          <p:nvPr/>
        </p:nvSpPr>
        <p:spPr>
          <a:xfrm>
            <a:off x="8558784" y="3434475"/>
            <a:ext cx="585216" cy="593089"/>
          </a:xfrm>
          <a:prstGeom prst="actionButtonRetur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66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64261" y="968527"/>
            <a:ext cx="8137398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4: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Subsection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we split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sequences 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TGACGATC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ATCGTCAG into two subsections 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TGAC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ATCG with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GATC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=TCAG 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their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subscripts 4.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物件序列化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簡單來說就是將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物件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變成資料流，可以將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物件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存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成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檔案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可以儲存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在硬碟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None/>
            </a:pPr>
            <a:r>
              <a:rPr lang="zh-TW" altLang="en-US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物件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反序列化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就是將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檔案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還原成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物件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，並拿來使用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當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物件需要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封包的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傳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送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、遠端服務甚至是網路資料流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都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運用了序列化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技術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None/>
            </a:pP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17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5760" y="-321095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0452" y="702583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4: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Subsection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TGACGATC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ATCGTCAG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LcParenBoth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function OptCalReusing2 ()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function OptCalReusing1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as no dominant is lost from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ﬁrst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subsection), we can construct the ﬁrst subsection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sub-graph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NCSG, denoted as Sub-NCSG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(Fig. 8(a)),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serialize the constructed Sub-NCSG</a:t>
            </a:r>
            <a:r>
              <a:rPr lang="en-US" altLang="zh-TW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(left part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shown in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8(b))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disk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52" y="1599197"/>
            <a:ext cx="6816198" cy="322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6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4: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Subsection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TGACGATC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ATCGTCAG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Next, we continue constructing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subsection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Sub-NCSG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calling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OptCalReusing1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(right part shown in Fig. 8(b)).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" y="2356625"/>
            <a:ext cx="84677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6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4: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Subsection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TGACGATC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ATCGTCAG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Secondly, we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deserialize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Sub-NCSG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Sub-NCSG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Sub-NCSG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∪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optimized Sub-NCSG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in Fig. 8(c)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,and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continue backward sorting the Sub-NCSG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BackwardSortTop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356625"/>
            <a:ext cx="84391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8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Algorithm RLP_MLCS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652"/>
            <a:ext cx="7886700" cy="53878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5: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Multiple Concurrent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  <a:p>
            <a:pPr>
              <a:buNone/>
            </a:pP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optimal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NCSG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aligned sequences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always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MLCSs, ranging from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75%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concurrently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non-optimal </a:t>
            </a:r>
            <a:endParaRPr lang="en-US" altLang="zh-TW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NCSG</a:t>
            </a:r>
            <a:r>
              <a:rPr lang="en-US" altLang="zh-TW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non-optimal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dominants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results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optimal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NCSG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(called multiple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) so as to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further improve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eﬃciency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93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Parallel MLCS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04" y="1049280"/>
            <a:ext cx="6273546" cy="567219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04544" y="1950720"/>
            <a:ext cx="6182106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213104" y="2974848"/>
            <a:ext cx="6419088" cy="154228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067562" y="4616044"/>
            <a:ext cx="6710934" cy="21054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18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37425"/>
            <a:ext cx="775335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01639"/>
            <a:ext cx="926592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47" y="1414463"/>
            <a:ext cx="766762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6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47312</TotalTime>
  <Words>1256</Words>
  <Application>Microsoft Office PowerPoint</Application>
  <PresentationFormat>如螢幕大小 (4:3)</PresentationFormat>
  <Paragraphs>244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A Real Linear and Parallel Multiple Longest Common Subsequences (MLCS) Algorithm</vt:lpstr>
      <vt:lpstr>Abstract(1/2)</vt:lpstr>
      <vt:lpstr>Abstract(2/2)</vt:lpstr>
      <vt:lpstr>LCS/MLCS</vt:lpstr>
      <vt:lpstr>MLCS-DAG(Directed Acyclic Graph)</vt:lpstr>
      <vt:lpstr>A Novel Problem-Solving Model: NCSG</vt:lpstr>
      <vt:lpstr>A Strategy to Mine MLCSs: Forward/ Back- ward Topological Sorting on NCSG</vt:lpstr>
      <vt:lpstr>A Strategy to Mine MLCSs: Forward/ Back- ward Topological Sorting on NCSG</vt:lpstr>
      <vt:lpstr>Strategies against the Challenges</vt:lpstr>
      <vt:lpstr>A Parallel Algorithm RLP_MLCS</vt:lpstr>
      <vt:lpstr>A Parallel Algorithm RLP_MLCS</vt:lpstr>
      <vt:lpstr>A Parallel Algorithm RLP_MLCS</vt:lpstr>
      <vt:lpstr>A Parallel Algorithm RLP_MLCS</vt:lpstr>
      <vt:lpstr>A Parallel Algorithm RLP_MLCS</vt:lpstr>
      <vt:lpstr>A Parallel Algorithm RLP_MLCS</vt:lpstr>
      <vt:lpstr>A Parallel Algorithm RLP_MLCS</vt:lpstr>
      <vt:lpstr>A Parallel Algorithm RLP_MLCS</vt:lpstr>
      <vt:lpstr>A Parallel Algorithm RLP_MLCS</vt:lpstr>
      <vt:lpstr>A Parallel Algorithm RLP_MLCS</vt:lpstr>
      <vt:lpstr>A Parallel Algorithm RLP_MLCS</vt:lpstr>
      <vt:lpstr>A Novel Parallel MLCS Algorithm</vt:lpstr>
      <vt:lpstr>Experimental Results</vt:lpstr>
      <vt:lpstr>Experimental Results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much</cp:lastModifiedBy>
  <cp:revision>475</cp:revision>
  <dcterms:created xsi:type="dcterms:W3CDTF">2016-04-23T07:31:56Z</dcterms:created>
  <dcterms:modified xsi:type="dcterms:W3CDTF">2017-07-11T10:25:41Z</dcterms:modified>
</cp:coreProperties>
</file>