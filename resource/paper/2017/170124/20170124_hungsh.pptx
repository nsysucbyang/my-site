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97" r:id="rId4"/>
    <p:sldId id="263" r:id="rId5"/>
    <p:sldId id="298" r:id="rId6"/>
    <p:sldId id="299" r:id="rId7"/>
    <p:sldId id="300" r:id="rId8"/>
    <p:sldId id="301" r:id="rId9"/>
    <p:sldId id="302" r:id="rId10"/>
    <p:sldId id="262" r:id="rId1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angHuai" initials="S" lastIdx="1" clrIdx="0">
    <p:extLst>
      <p:ext uri="{19B8F6BF-5375-455C-9EA6-DF929625EA0E}">
        <p15:presenceInfo xmlns:p15="http://schemas.microsoft.com/office/powerpoint/2012/main" userId="SiangHua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4C1A8A3-306A-4EB7-A6B1-4F7E0EB9C5D6}" styleName="中等深淺樣式 3 - 輔色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8" autoAdjust="0"/>
    <p:restoredTop sz="90698" autoAdjust="0"/>
  </p:normalViewPr>
  <p:slideViewPr>
    <p:cSldViewPr showGuides="1">
      <p:cViewPr varScale="1">
        <p:scale>
          <a:sx n="105" d="100"/>
          <a:sy n="105" d="100"/>
        </p:scale>
        <p:origin x="1800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CE63A-BC02-48AE-AD61-DEBFD4CD7A65}" type="datetimeFigureOut">
              <a:rPr lang="zh-TW" altLang="en-US" smtClean="0"/>
              <a:t>2017/1/24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AC61C5-6144-4B51-874B-9068A2E119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7172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AC61C5-6144-4B51-874B-9068A2E119E1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3924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45F2B-D50C-428F-9E1B-3EA57954334E}" type="datetime1">
              <a:rPr lang="zh-TW" altLang="en-US" smtClean="0"/>
              <a:t>2017/1/24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0230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8BA86-FFD5-4191-BE14-2242F3A963FB}" type="datetime1">
              <a:rPr lang="zh-TW" altLang="en-US" smtClean="0"/>
              <a:t>2017/1/24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1932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997DB-FE0C-44AD-8220-97B334E47226}" type="datetime1">
              <a:rPr lang="zh-TW" altLang="en-US" smtClean="0"/>
              <a:t>2017/1/24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7651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6E74-7577-4E95-904A-1389A1EE14EC}" type="datetime1">
              <a:rPr lang="zh-TW" altLang="en-US" smtClean="0"/>
              <a:t>2017/1/24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0674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2DA43-54E5-4159-8D24-7599593EEF71}" type="datetime1">
              <a:rPr lang="zh-TW" altLang="en-US" smtClean="0"/>
              <a:t>2017/1/24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9399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8608D-AE12-402D-A232-D49EA7567D97}" type="datetime1">
              <a:rPr lang="zh-TW" altLang="en-US" smtClean="0"/>
              <a:t>2017/1/24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8315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8594C-0EC6-4616-AA89-51CF22CF926A}" type="datetime1">
              <a:rPr lang="zh-TW" altLang="en-US" smtClean="0"/>
              <a:t>2017/1/24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1395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A8FE4-E4EF-4472-84D1-D13C2E57E5E4}" type="datetime1">
              <a:rPr lang="zh-TW" altLang="en-US" smtClean="0"/>
              <a:t>2017/1/24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4510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CC58B-3596-4B02-A477-AA9C456BAED0}" type="datetime1">
              <a:rPr lang="zh-TW" altLang="en-US" smtClean="0"/>
              <a:t>2017/1/24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48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AE385-6693-4EC2-84D7-9DF4218B9FE5}" type="datetime1">
              <a:rPr lang="zh-TW" altLang="en-US" smtClean="0"/>
              <a:t>2017/1/24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5438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7F467-6F87-49D9-8F57-A31E8D94BAD1}" type="datetime1">
              <a:rPr lang="zh-TW" altLang="en-US" smtClean="0"/>
              <a:t>2017/1/24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7697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B6EED0-F0C7-4BC1-9843-277DBD85C3AB}" type="datetime1">
              <a:rPr lang="zh-TW" altLang="en-US" smtClean="0"/>
              <a:t>2017/1/24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7838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764704"/>
            <a:ext cx="7772400" cy="1470025"/>
          </a:xfrm>
        </p:spPr>
        <p:txBody>
          <a:bodyPr>
            <a:no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Algorithm and Applications to Sequence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Alignment with Weighted Constraints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23528" y="3068960"/>
            <a:ext cx="7992888" cy="1752600"/>
          </a:xfrm>
        </p:spPr>
        <p:txBody>
          <a:bodyPr>
            <a:normAutofit/>
          </a:bodyPr>
          <a:lstStyle/>
          <a:p>
            <a:r>
              <a:rPr lang="en-US" altLang="zh-TW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Yung-</a:t>
            </a:r>
            <a:r>
              <a:rPr lang="en-US" altLang="zh-TW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Hsing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Peng, Chang-</a:t>
            </a:r>
            <a:r>
              <a:rPr lang="en-US" altLang="zh-TW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Biau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Yang, </a:t>
            </a:r>
            <a:r>
              <a:rPr lang="en-US" altLang="zh-TW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Kuo-Tsung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Tseng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TW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Kuo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-Si Huang</a:t>
            </a:r>
          </a:p>
          <a:p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Foundations of Computer Science</a:t>
            </a:r>
          </a:p>
          <a:p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Vol. 21, No. 1 (2010) </a:t>
            </a:r>
            <a:r>
              <a:rPr lang="en-US" altLang="zh-TW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51-59</a:t>
            </a:r>
            <a:endParaRPr lang="en-US" altLang="zh-TW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826060" y="4821560"/>
            <a:ext cx="29878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Siang-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Huai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Hung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2017/01/24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3640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507288" cy="56612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two sequences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 constrained sequence C, a longest common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subsequence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restriction to C is called a constrained longest common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subsequence of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C. At the same time, an optimal alignment of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restriction to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is called a constrained pairwise sequence alignment of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C.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algorithms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shown that the constrained longest common subsequence problem is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special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of the constrained pairwise sequence alignment problem, and that both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them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solved in O(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rnm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time, where r, n, and m represent the lengths of C,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S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respectively. In this paper, we extend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constrained pairwise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alignment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 more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version, called weighted constrained pairwise sequence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 which some constraints might be ignored.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1463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507288" cy="56612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40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altLang="zh-TW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an O(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rnm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)-time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solving the weighted constrained pairwise sequence alignment problem,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then show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our extension can be adopted to solve some constraint-related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that cannot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solved by previous algorithms for the constrained longest common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subsequence problem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the constrained pairwise sequence alignment problem. Therefore, in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contrast to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results, our extension is a new and suitable model for sequence analysis.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3575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435572" y="1313430"/>
            <a:ext cx="608064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cccccgg</a:t>
            </a:r>
            <a:r>
              <a:rPr lang="en-US" altLang="zh-TW" sz="4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aga</a:t>
            </a:r>
            <a:endParaRPr lang="en-US" altLang="zh-TW" sz="4400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4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</a:t>
            </a:r>
            <a:r>
              <a:rPr lang="en-US" altLang="zh-TW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sz="4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accccc</a:t>
            </a:r>
            <a:endParaRPr lang="en-US" altLang="zh-TW" sz="4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</a:t>
            </a:r>
            <a:endParaRPr lang="en-US" altLang="zh-TW" sz="4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 = </a:t>
            </a:r>
            <a:r>
              <a:rPr lang="en-US" altLang="zh-TW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ccccc</a:t>
            </a:r>
            <a:endParaRPr lang="en-US" altLang="zh-TW" sz="4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CLCS = </a:t>
            </a:r>
            <a:r>
              <a:rPr lang="en-US" altLang="zh-TW" sz="4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aga</a:t>
            </a:r>
            <a:endParaRPr lang="en-US" altLang="zh-TW" sz="4400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Constrained 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6605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Alignment with Weighted Constraints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202818"/>
            <a:ext cx="7355160" cy="2308992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455" y="3461374"/>
            <a:ext cx="8944545" cy="307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181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 = </a:t>
                </a:r>
                <a:r>
                  <a:rPr lang="en-US" altLang="zh-TW" dirty="0" err="1" smtClean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cccccgg</a:t>
                </a:r>
                <a:r>
                  <a:rPr lang="en-US" altLang="zh-TW" b="1" dirty="0" err="1" smtClean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ag</a:t>
                </a:r>
                <a:r>
                  <a:rPr lang="en-US" altLang="zh-TW" dirty="0" smtClean="0">
                    <a:latin typeface="Courier New" panose="02070309020205020404" pitchFamily="49" charset="0"/>
                    <a:cs typeface="Courier New" panose="02070309020205020404" pitchFamily="49" charset="0"/>
                  </a:rPr>
                  <a:t>-</a:t>
                </a:r>
                <a:r>
                  <a:rPr lang="en-US" altLang="zh-TW" b="1" dirty="0" smtClean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r>
                  <a:rPr lang="en-US" altLang="zh-TW" dirty="0" smtClean="0">
                    <a:latin typeface="Courier New" panose="02070309020205020404" pitchFamily="49" charset="0"/>
                    <a:cs typeface="Courier New" panose="02070309020205020404" pitchFamily="49" charset="0"/>
                  </a:rPr>
                  <a:t>------</a:t>
                </a:r>
                <a:endParaRPr lang="en-US" altLang="zh-TW" u="sng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B = </a:t>
                </a:r>
                <a:r>
                  <a:rPr lang="en-US" altLang="zh-TW" dirty="0" smtClean="0">
                    <a:latin typeface="Courier New" panose="02070309020205020404" pitchFamily="49" charset="0"/>
                    <a:cs typeface="Courier New" panose="02070309020205020404" pitchFamily="49" charset="0"/>
                  </a:rPr>
                  <a:t>-------</a:t>
                </a:r>
                <a:r>
                  <a:rPr lang="en-US" altLang="zh-TW" b="1" dirty="0" err="1" smtClean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ag</a:t>
                </a:r>
                <a:r>
                  <a:rPr lang="en-US" altLang="zh-TW" dirty="0" err="1" smtClean="0">
                    <a:latin typeface="Courier New" panose="02070309020205020404" pitchFamily="49" charset="0"/>
                    <a:cs typeface="Courier New" panose="02070309020205020404" pitchFamily="49" charset="0"/>
                  </a:rPr>
                  <a:t>g</a:t>
                </a:r>
                <a:r>
                  <a:rPr lang="en-US" altLang="zh-TW" b="1" dirty="0" err="1" smtClean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r>
                  <a:rPr lang="en-US" altLang="zh-TW" dirty="0" err="1" smtClean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accccc</a:t>
                </a:r>
                <a:endParaRPr lang="en-US" altLang="zh-TW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 = </a:t>
                </a:r>
                <a:r>
                  <a:rPr lang="en-US" altLang="zh-TW" dirty="0" smtClean="0">
                    <a:latin typeface="Courier New" panose="02070309020205020404" pitchFamily="49" charset="0"/>
                    <a:cs typeface="Courier New" panose="02070309020205020404" pitchFamily="49" charset="0"/>
                  </a:rPr>
                  <a:t>-------</a:t>
                </a:r>
                <a:r>
                  <a:rPr lang="en-US" altLang="zh-TW" b="1" dirty="0" smtClean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ag</a:t>
                </a:r>
                <a:r>
                  <a:rPr lang="en-US" altLang="zh-TW" dirty="0" smtClean="0">
                    <a:latin typeface="Courier New" panose="02070309020205020404" pitchFamily="49" charset="0"/>
                    <a:cs typeface="Courier New" panose="02070309020205020404" pitchFamily="49" charset="0"/>
                  </a:rPr>
                  <a:t>--------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𝑓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𝑆</m:t>
                          </m:r>
                          <m:r>
                            <a:rPr lang="en-US" altLang="zh-TW" b="0" i="1" baseline="-25000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1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𝑖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sSup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,</m:t>
                              </m:r>
                            </m:e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′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sSup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−</m:t>
                              </m:r>
                            </m:e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=0,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𝑓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′</m:t>
                          </m:r>
                          <m:sSup>
                            <m:s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sSup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−</m:t>
                              </m:r>
                            </m:e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𝑆</m:t>
                          </m:r>
                          <m:r>
                            <a:rPr lang="en-US" altLang="zh-TW" b="0" i="1" baseline="-25000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2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𝑗</m:t>
                              </m:r>
                            </m:e>
                          </m:d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=0</m:t>
                      </m:r>
                    </m:oMath>
                  </m:oMathPara>
                </a14:m>
                <a:endParaRPr lang="en-US" altLang="zh-TW" b="0" i="1" dirty="0" smtClean="0">
                  <a:latin typeface="Cambria Math" panose="02040503050406030204" pitchFamily="18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𝑓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𝑆</m:t>
                          </m:r>
                          <m:r>
                            <a:rPr lang="en-US" altLang="zh-TW" b="0" i="1" baseline="-25000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1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𝑆</m:t>
                          </m:r>
                          <m:r>
                            <a:rPr lang="en-US" altLang="zh-TW" b="0" i="1" baseline="-25000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2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𝑗</m:t>
                              </m:r>
                            </m:e>
                          </m:d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=0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𝑖𝑓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𝑆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1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𝑖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𝑆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2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altLang="zh-TW" b="0" dirty="0" smtClean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𝑓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𝑆</m:t>
                          </m:r>
                          <m:r>
                            <a:rPr lang="en-US" altLang="zh-TW" b="0" i="1" baseline="-25000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1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𝑆</m:t>
                          </m:r>
                          <m:r>
                            <a:rPr lang="en-US" altLang="zh-TW" b="0" i="1" baseline="-25000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2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𝑗</m:t>
                              </m:r>
                            </m:e>
                          </m:d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= 1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𝑖𝑓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𝑆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1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𝑖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𝑆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2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[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]</m:t>
                      </m:r>
                    </m:oMath>
                  </m:oMathPara>
                </a14:m>
                <a:endParaRPr lang="en-US" altLang="zh-TW" b="0" i="1" dirty="0" smtClean="0">
                  <a:latin typeface="Cambria Math" panose="02040503050406030204" pitchFamily="18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l-GR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δ</m:t>
                      </m:r>
                      <m:r>
                        <m:rPr>
                          <m:nor/>
                        </m:rP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m:rPr>
                          <m:nor/>
                        </m:rP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k</m:t>
                      </m:r>
                      <m:r>
                        <m:rPr>
                          <m:nor/>
                        </m:rP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] = 0</m:t>
                      </m:r>
                      <m:r>
                        <m:rPr>
                          <m:nor/>
                        </m:rP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l-GR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σ</m:t>
                      </m:r>
                      <m:r>
                        <m:rPr>
                          <m:nor/>
                        </m:rP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m:rPr>
                          <m:nor/>
                        </m:rP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k</m:t>
                      </m:r>
                      <m:r>
                        <m:rPr>
                          <m:nor/>
                        </m:rP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] = </m:t>
                      </m:r>
                      <m:r>
                        <m:rPr>
                          <m:nor/>
                        </m:rP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11</m:t>
                      </m:r>
                    </m:oMath>
                  </m:oMathPara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4027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 = </a:t>
            </a:r>
            <a:r>
              <a:rPr lang="en-US" altLang="zh-TW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cccccgg</a:t>
            </a:r>
            <a:r>
              <a:rPr lang="en-US" altLang="zh-TW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</a:t>
            </a:r>
            <a:r>
              <a:rPr lang="en-US" altLang="zh-TW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zh-TW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zh-TW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------</a:t>
            </a:r>
            <a:endParaRPr lang="en-US" altLang="zh-TW" sz="24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B = -------</a:t>
            </a:r>
            <a:r>
              <a:rPr lang="en-US" altLang="zh-TW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</a:t>
            </a:r>
            <a:r>
              <a:rPr lang="en-US" altLang="zh-TW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altLang="zh-TW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zh-TW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accccc</a:t>
            </a:r>
            <a:endParaRPr lang="en-US" altLang="zh-TW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 = -------</a:t>
            </a:r>
            <a:r>
              <a:rPr lang="en-US" altLang="zh-TW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</a:t>
            </a:r>
            <a:r>
              <a:rPr lang="en-US" altLang="zh-TW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zh-TW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</a:t>
            </a:r>
          </a:p>
          <a:p>
            <a:pPr marL="0" indent="0">
              <a:buNone/>
            </a:pPr>
            <a:endParaRPr lang="en-US" altLang="zh-TW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zh-TW" sz="2000" dirty="0" smtClean="0"/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endParaRPr lang="en-US" altLang="zh-TW" sz="2000" dirty="0" smtClean="0"/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endParaRPr lang="en-US" altLang="zh-TW" sz="2000" dirty="0" smtClean="0"/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endParaRPr lang="en-US" altLang="zh-TW" sz="2000" dirty="0" smtClean="0"/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endParaRPr lang="en-US" altLang="zh-TW" sz="2000" dirty="0" smtClean="0"/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endParaRPr lang="en-US" altLang="zh-TW" sz="2000" dirty="0" smtClean="0"/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k = 0                                                             k = 1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7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003248"/>
              </p:ext>
            </p:extLst>
          </p:nvPr>
        </p:nvGraphicFramePr>
        <p:xfrm>
          <a:off x="35500" y="1484784"/>
          <a:ext cx="4464492" cy="438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2041"/>
                <a:gridCol w="372041"/>
                <a:gridCol w="372041"/>
                <a:gridCol w="372041"/>
                <a:gridCol w="372041"/>
                <a:gridCol w="372041"/>
                <a:gridCol w="372041"/>
                <a:gridCol w="372041"/>
                <a:gridCol w="372041"/>
                <a:gridCol w="372041"/>
                <a:gridCol w="372041"/>
                <a:gridCol w="372041"/>
              </a:tblGrid>
              <a:tr h="278254"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78254"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78254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78254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78254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7444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7444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7444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7444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7444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7444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7444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525811"/>
              </p:ext>
            </p:extLst>
          </p:nvPr>
        </p:nvGraphicFramePr>
        <p:xfrm>
          <a:off x="4565758" y="1485952"/>
          <a:ext cx="4464492" cy="438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2041"/>
                <a:gridCol w="372041"/>
                <a:gridCol w="372041"/>
                <a:gridCol w="372041"/>
                <a:gridCol w="372041"/>
                <a:gridCol w="372041"/>
                <a:gridCol w="372041"/>
                <a:gridCol w="372041"/>
                <a:gridCol w="372041"/>
                <a:gridCol w="372041"/>
                <a:gridCol w="372041"/>
                <a:gridCol w="372041"/>
              </a:tblGrid>
              <a:tr h="278254"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78254"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78254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78254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78254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7444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7444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7444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7444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7444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7444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7444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9666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 = </a:t>
            </a:r>
            <a:r>
              <a:rPr lang="en-US" altLang="zh-TW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cccccgg</a:t>
            </a:r>
            <a:r>
              <a:rPr lang="en-US" altLang="zh-TW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</a:t>
            </a:r>
            <a:r>
              <a:rPr lang="en-US" altLang="zh-TW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zh-TW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zh-TW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------</a:t>
            </a:r>
            <a:endParaRPr lang="en-US" altLang="zh-TW" sz="24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B = -------</a:t>
            </a:r>
            <a:r>
              <a:rPr lang="en-US" altLang="zh-TW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</a:t>
            </a:r>
            <a:r>
              <a:rPr lang="en-US" altLang="zh-TW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altLang="zh-TW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zh-TW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accccc</a:t>
            </a:r>
            <a:endParaRPr lang="en-US" altLang="zh-TW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 = -------</a:t>
            </a:r>
            <a:r>
              <a:rPr lang="en-US" altLang="zh-TW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</a:t>
            </a:r>
            <a:r>
              <a:rPr lang="en-US" altLang="zh-TW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--------</a:t>
            </a:r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                                            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 = 2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8</a:t>
            </a:fld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046476"/>
              </p:ext>
            </p:extLst>
          </p:nvPr>
        </p:nvGraphicFramePr>
        <p:xfrm>
          <a:off x="2339754" y="1556792"/>
          <a:ext cx="4464492" cy="438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2041"/>
                <a:gridCol w="372041"/>
                <a:gridCol w="372041"/>
                <a:gridCol w="372041"/>
                <a:gridCol w="372041"/>
                <a:gridCol w="372041"/>
                <a:gridCol w="372041"/>
                <a:gridCol w="372041"/>
                <a:gridCol w="372041"/>
                <a:gridCol w="372041"/>
                <a:gridCol w="372041"/>
                <a:gridCol w="372041"/>
              </a:tblGrid>
              <a:tr h="278254"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78254"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78254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78254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78254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7444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7444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7444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7444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7444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7444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7444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4002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507288" cy="51212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First: </a:t>
                </a:r>
              </a:p>
              <a:p>
                <a:pPr marL="0" indent="0">
                  <a:buNone/>
                </a:pPr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Finding a sequence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zh-TW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e>
                    </m:acc>
                  </m:oMath>
                </a14:m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 covers the most constraints, where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e>
                    </m:acc>
                  </m:oMath>
                </a14:m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longest common subsequence of S</a:t>
                </a:r>
                <a:r>
                  <a:rPr lang="en-US" altLang="zh-TW" sz="28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S</a:t>
                </a:r>
                <a:r>
                  <a:rPr lang="en-US" altLang="zh-TW" sz="28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Second:</a:t>
                </a:r>
              </a:p>
              <a:p>
                <a:pPr marL="0" indent="0">
                  <a:buNone/>
                </a:pPr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Allowing hierarchical constraints, which means the constraints can be classified into several levels according to their importance.</a:t>
                </a:r>
              </a:p>
              <a:p>
                <a:pPr marL="0" indent="0">
                  <a:buNone/>
                </a:pPr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Third:</a:t>
                </a:r>
              </a:p>
              <a:p>
                <a:pPr marL="0" indent="0">
                  <a:buNone/>
                </a:pPr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Solving the decision version of the DCLCS problem.</a:t>
                </a:r>
                <a:endPara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507288" cy="5121275"/>
              </a:xfrm>
              <a:blipFill rotWithShape="0">
                <a:blip r:embed="rId2"/>
                <a:stretch>
                  <a:fillRect l="-1791" t="-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1800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95736" y="2852936"/>
            <a:ext cx="4752528" cy="8640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listening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5175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6416</TotalTime>
  <Words>798</Words>
  <Application>Microsoft Office PowerPoint</Application>
  <PresentationFormat>如螢幕大小 (4:3)</PresentationFormat>
  <Paragraphs>496</Paragraphs>
  <Slides>10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7" baseType="lpstr">
      <vt:lpstr>新細明體</vt:lpstr>
      <vt:lpstr>Arial</vt:lpstr>
      <vt:lpstr>Calibri</vt:lpstr>
      <vt:lpstr>Cambria Math</vt:lpstr>
      <vt:lpstr>Courier New</vt:lpstr>
      <vt:lpstr>Times New Roman</vt:lpstr>
      <vt:lpstr>Office 佈景主題</vt:lpstr>
      <vt:lpstr>An Algorithm and Applications to Sequence Alignment with Weighted Constraints</vt:lpstr>
      <vt:lpstr>Abstract(1/2)</vt:lpstr>
      <vt:lpstr>Abstract(2/2)</vt:lpstr>
      <vt:lpstr>Constrained LCS</vt:lpstr>
      <vt:lpstr>Sequence Alignment with Weighted Constraints</vt:lpstr>
      <vt:lpstr>PowerPoint 簡報</vt:lpstr>
      <vt:lpstr>PowerPoint 簡報</vt:lpstr>
      <vt:lpstr>PowerPoint 簡報</vt:lpstr>
      <vt:lpstr>Applications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Longest Common Subsequence Algorithm Suitable for Similar Text Strings</dc:title>
  <dc:creator>yotsuki</dc:creator>
  <cp:lastModifiedBy>SiangHuai</cp:lastModifiedBy>
  <cp:revision>241</cp:revision>
  <dcterms:created xsi:type="dcterms:W3CDTF">2014-03-03T17:19:54Z</dcterms:created>
  <dcterms:modified xsi:type="dcterms:W3CDTF">2017-01-24T08:13:22Z</dcterms:modified>
</cp:coreProperties>
</file>