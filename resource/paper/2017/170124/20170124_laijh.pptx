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5"/>
  </p:notesMasterIdLst>
  <p:sldIdLst>
    <p:sldId id="257" r:id="rId3"/>
    <p:sldId id="259" r:id="rId4"/>
    <p:sldId id="258" r:id="rId5"/>
    <p:sldId id="265" r:id="rId6"/>
    <p:sldId id="266" r:id="rId7"/>
    <p:sldId id="261" r:id="rId8"/>
    <p:sldId id="260" r:id="rId9"/>
    <p:sldId id="262" r:id="rId10"/>
    <p:sldId id="263" r:id="rId11"/>
    <p:sldId id="264" r:id="rId12"/>
    <p:sldId id="267"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16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1E462-4504-42F1-B253-31247411BB68}" type="datetimeFigureOut">
              <a:rPr lang="zh-TW" altLang="en-US" smtClean="0"/>
              <a:t>2017/1/24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B6ADA-3EB6-44F4-96B0-D2577FE54FC7}" type="slidenum">
              <a:rPr lang="zh-TW" altLang="en-US" smtClean="0"/>
              <a:t>‹#›</a:t>
            </a:fld>
            <a:endParaRPr lang="zh-TW" altLang="en-US"/>
          </a:p>
        </p:txBody>
      </p:sp>
    </p:spTree>
    <p:extLst>
      <p:ext uri="{BB962C8B-B14F-4D97-AF65-F5344CB8AC3E}">
        <p14:creationId xmlns:p14="http://schemas.microsoft.com/office/powerpoint/2010/main" val="246938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044E8A48-0BB3-4429-A23E-981E055DBE4D}" type="slidenum">
              <a:rPr kern="0">
                <a:solidFill>
                  <a:srgbClr val="000000"/>
                </a:solidFill>
              </a:rPr>
              <a:pPr algn="r" hangingPunct="0">
                <a:defRPr sz="1800" b="0" i="0" u="none" strike="noStrike" kern="0" cap="none" spc="0" baseline="0">
                  <a:solidFill>
                    <a:srgbClr val="000000"/>
                  </a:solidFill>
                  <a:uFillTx/>
                </a:defRPr>
              </a:pPr>
              <a:t>1</a:t>
            </a:fld>
            <a:endParaRPr lang="en-US" sz="1400" kern="0">
              <a:solidFill>
                <a:srgbClr val="000000"/>
              </a:solidFill>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800329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061746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798024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482400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39851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934823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02344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278893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290534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259908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045961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722845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901052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124268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209682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187185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8" name="頁尾版面配置區 7"/>
          <p:cNvSpPr>
            <a:spLocks noGrp="1"/>
          </p:cNvSpPr>
          <p:nvPr>
            <p:ph type="ftr" sz="quarter" idx="11"/>
          </p:nvPr>
        </p:nvSpPr>
        <p:spPr/>
        <p:txBody>
          <a:bodyPr/>
          <a:lstStyle/>
          <a:p>
            <a:endParaRPr lang="zh-TW" altLang="en-US">
              <a:solidFill>
                <a:prstClr val="black">
                  <a:tint val="75000"/>
                </a:prstClr>
              </a:solidFill>
            </a:endParaRPr>
          </a:p>
        </p:txBody>
      </p:sp>
      <p:sp>
        <p:nvSpPr>
          <p:cNvPr id="9" name="投影片編號版面配置區 8"/>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847329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4" name="頁尾版面配置區 3"/>
          <p:cNvSpPr>
            <a:spLocks noGrp="1"/>
          </p:cNvSpPr>
          <p:nvPr>
            <p:ph type="ftr" sz="quarter" idx="11"/>
          </p:nvPr>
        </p:nvSpPr>
        <p:spPr/>
        <p:txBody>
          <a:bodyPr/>
          <a:lstStyle/>
          <a:p>
            <a:endParaRPr lang="zh-TW" altLang="en-US">
              <a:solidFill>
                <a:prstClr val="black">
                  <a:tint val="75000"/>
                </a:prstClr>
              </a:solidFill>
            </a:endParaRPr>
          </a:p>
        </p:txBody>
      </p:sp>
      <p:sp>
        <p:nvSpPr>
          <p:cNvPr id="5" name="投影片編號版面配置區 4"/>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859615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3" name="頁尾版面配置區 2"/>
          <p:cNvSpPr>
            <a:spLocks noGrp="1"/>
          </p:cNvSpPr>
          <p:nvPr>
            <p:ph type="ftr" sz="quarter" idx="11"/>
          </p:nvPr>
        </p:nvSpPr>
        <p:spPr/>
        <p:txBody>
          <a:bodyPr/>
          <a:lstStyle/>
          <a:p>
            <a:endParaRPr lang="zh-TW" altLang="en-US">
              <a:solidFill>
                <a:prstClr val="black">
                  <a:tint val="75000"/>
                </a:prstClr>
              </a:solidFill>
            </a:endParaRPr>
          </a:p>
        </p:txBody>
      </p:sp>
      <p:sp>
        <p:nvSpPr>
          <p:cNvPr id="4" name="投影片編號版面配置區 3"/>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4066624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013169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6" name="頁尾版面配置區 5"/>
          <p:cNvSpPr>
            <a:spLocks noGrp="1"/>
          </p:cNvSpPr>
          <p:nvPr>
            <p:ph type="ftr" sz="quarter" idx="11"/>
          </p:nvPr>
        </p:nvSpPr>
        <p:spPr/>
        <p:txBody>
          <a:bodyPr/>
          <a:lstStyle/>
          <a:p>
            <a:endParaRPr lang="zh-TW" altLang="en-US">
              <a:solidFill>
                <a:prstClr val="black">
                  <a:tint val="75000"/>
                </a:prstClr>
              </a:solidFill>
            </a:endParaRPr>
          </a:p>
        </p:txBody>
      </p:sp>
      <p:sp>
        <p:nvSpPr>
          <p:cNvPr id="7" name="投影片編號版面配置區 6"/>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6371605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58475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11"/>
          </p:nvPr>
        </p:nvSpPr>
        <p:spPr/>
        <p:txBody>
          <a:bodyPr/>
          <a:lstStyle/>
          <a:p>
            <a:endParaRPr lang="zh-TW" altLang="en-US">
              <a:solidFill>
                <a:prstClr val="black">
                  <a:tint val="75000"/>
                </a:prstClr>
              </a:solidFill>
            </a:endParaRPr>
          </a:p>
        </p:txBody>
      </p:sp>
      <p:sp>
        <p:nvSpPr>
          <p:cNvPr id="6" name="投影片編號版面配置區 5"/>
          <p:cNvSpPr>
            <a:spLocks noGrp="1"/>
          </p:cNvSpPr>
          <p:nvPr>
            <p:ph type="sldNum" sz="quarter" idx="12"/>
          </p:nvPr>
        </p:nvSpPr>
        <p:spPr/>
        <p:txBody>
          <a:body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2665774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36643818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308494-D09C-4163-A279-DEAA5259EAB0}" type="datetimeFigureOut">
              <a:rPr lang="zh-TW" altLang="en-US" smtClean="0">
                <a:solidFill>
                  <a:prstClr val="black">
                    <a:tint val="75000"/>
                  </a:prstClr>
                </a:solidFill>
              </a:rPr>
              <a:pPr/>
              <a:t>2017/1/24</a:t>
            </a:fld>
            <a:endParaRPr lang="zh-TW" altLang="en-US">
              <a:solidFill>
                <a:prstClr val="black">
                  <a:tint val="75000"/>
                </a:prstClr>
              </a:solidFill>
            </a:endParaRPr>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solidFill>
                <a:prstClr val="black">
                  <a:tint val="75000"/>
                </a:prstClr>
              </a:solidFill>
            </a:endParaRPr>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8FCA5-C013-469D-96FD-8C7519FAE67F}" type="slidenum">
              <a:rPr lang="zh-TW" altLang="en-US" smtClean="0">
                <a:solidFill>
                  <a:prstClr val="black">
                    <a:tint val="75000"/>
                  </a:prstClr>
                </a:solidFill>
              </a:rPr>
              <a:pPr/>
              <a:t>‹#›</a:t>
            </a:fld>
            <a:endParaRPr lang="zh-TW" altLang="en-US">
              <a:solidFill>
                <a:prstClr val="black">
                  <a:tint val="75000"/>
                </a:prstClr>
              </a:solidFill>
            </a:endParaRPr>
          </a:p>
        </p:txBody>
      </p:sp>
    </p:spTree>
    <p:extLst>
      <p:ext uri="{BB962C8B-B14F-4D97-AF65-F5344CB8AC3E}">
        <p14:creationId xmlns:p14="http://schemas.microsoft.com/office/powerpoint/2010/main" val="12169916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5" Type="http://schemas.openxmlformats.org/officeDocument/2006/relationships/image" Target="../media/image50.png"/><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0.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1086108" y="2906091"/>
            <a:ext cx="10201013" cy="1449115"/>
          </a:xfrm>
        </p:spPr>
        <p:txBody>
          <a:bodyPr wrap="square">
            <a:spAutoFit/>
          </a:bodyPr>
          <a:lstStyle/>
          <a:p>
            <a:pPr lvl="0" algn="ctr"/>
            <a:r>
              <a:rPr lang="en-US" altLang="zh-TW" sz="2449" b="1" dirty="0" err="1">
                <a:solidFill>
                  <a:srgbClr val="898989"/>
                </a:solidFill>
                <a:highlight>
                  <a:scrgbClr r="0" g="0" b="0">
                    <a:alpha val="0"/>
                  </a:scrgbClr>
                </a:highlight>
                <a:latin typeface="Liberation Sans Narrow" pitchFamily="34"/>
                <a:ea typeface="新細明體" pitchFamily="2"/>
                <a:cs typeface="Mangal" pitchFamily="2"/>
              </a:rPr>
              <a:t>Haibo</a:t>
            </a: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 He and Edwardo A. Garcia</a:t>
            </a:r>
            <a:br>
              <a:rPr lang="en-US" altLang="zh-TW" sz="2449" b="1" dirty="0">
                <a:solidFill>
                  <a:srgbClr val="898989"/>
                </a:solidFill>
                <a:highlight>
                  <a:scrgbClr r="0" g="0" b="0">
                    <a:alpha val="0"/>
                  </a:scrgbClr>
                </a:highlight>
                <a:latin typeface="Liberation Sans Narrow" pitchFamily="34"/>
                <a:ea typeface="新細明體" pitchFamily="2"/>
                <a:cs typeface="Mangal" pitchFamily="2"/>
              </a:rPr>
            </a:b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IEEE Transactions </a:t>
            </a: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o</a:t>
            </a:r>
            <a:r>
              <a:rPr lang="en-US" altLang="zh-TW" sz="2449" b="1" dirty="0" smtClean="0">
                <a:solidFill>
                  <a:srgbClr val="898989"/>
                </a:solidFill>
                <a:highlight>
                  <a:scrgbClr r="0" g="0" b="0">
                    <a:alpha val="0"/>
                  </a:scrgbClr>
                </a:highlight>
                <a:latin typeface="Liberation Sans Narrow" pitchFamily="34"/>
                <a:ea typeface="新細明體" pitchFamily="2"/>
                <a:cs typeface="Mangal" pitchFamily="2"/>
              </a:rPr>
              <a:t>n </a:t>
            </a: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Knowledge </a:t>
            </a:r>
            <a:r>
              <a:rPr lang="en-US" altLang="zh-TW" sz="2449" b="1" dirty="0" smtClean="0">
                <a:solidFill>
                  <a:srgbClr val="898989"/>
                </a:solidFill>
                <a:highlight>
                  <a:scrgbClr r="0" g="0" b="0">
                    <a:alpha val="0"/>
                  </a:scrgbClr>
                </a:highlight>
                <a:latin typeface="Liberation Sans Narrow" pitchFamily="34"/>
                <a:ea typeface="新細明體" pitchFamily="2"/>
                <a:cs typeface="Mangal" pitchFamily="2"/>
              </a:rPr>
              <a:t>and </a:t>
            </a: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Data Engineering,</a:t>
            </a:r>
            <a:br>
              <a:rPr lang="en-US" altLang="zh-TW" sz="2449" b="1" dirty="0">
                <a:solidFill>
                  <a:srgbClr val="898989"/>
                </a:solidFill>
                <a:highlight>
                  <a:scrgbClr r="0" g="0" b="0">
                    <a:alpha val="0"/>
                  </a:scrgbClr>
                </a:highlight>
                <a:latin typeface="Liberation Sans Narrow" pitchFamily="34"/>
                <a:ea typeface="新細明體" pitchFamily="2"/>
                <a:cs typeface="Mangal" pitchFamily="2"/>
              </a:rPr>
            </a:b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21(9):1263-1284, 2009 </a:t>
            </a:r>
            <a:r>
              <a:rPr lang="en-US" altLang="zh-TW" sz="2449" b="1" dirty="0">
                <a:solidFill>
                  <a:srgbClr val="898989"/>
                </a:solidFill>
                <a:latin typeface="Liberation Sans Narrow" pitchFamily="34"/>
                <a:ea typeface="新細明體" pitchFamily="2"/>
              </a:rPr>
              <a:t/>
            </a:r>
            <a:br>
              <a:rPr lang="en-US" altLang="zh-TW" sz="2449" b="1" dirty="0">
                <a:solidFill>
                  <a:srgbClr val="898989"/>
                </a:solidFill>
                <a:latin typeface="Liberation Sans Narrow" pitchFamily="34"/>
                <a:ea typeface="新細明體" pitchFamily="2"/>
              </a:rPr>
            </a:br>
            <a:endParaRPr lang="en-US" sz="2449" b="1" dirty="0">
              <a:solidFill>
                <a:srgbClr val="898989"/>
              </a:solidFill>
              <a:latin typeface="Liberation Sans Narrow" pitchFamily="34"/>
              <a:ea typeface="新細明體" pitchFamily="2"/>
            </a:endParaRPr>
          </a:p>
        </p:txBody>
      </p:sp>
      <p:sp>
        <p:nvSpPr>
          <p:cNvPr id="3" name="文字版面配置區 2"/>
          <p:cNvSpPr txBox="1">
            <a:spLocks noGrp="1"/>
          </p:cNvSpPr>
          <p:nvPr>
            <p:ph type="body" idx="4294967295"/>
          </p:nvPr>
        </p:nvSpPr>
        <p:spPr>
          <a:xfrm>
            <a:off x="395416" y="849121"/>
            <a:ext cx="11582399" cy="1897136"/>
          </a:xfrm>
        </p:spPr>
        <p:txBody>
          <a:bodyPr anchorCtr="1">
            <a:normAutofit/>
          </a:bodyPr>
          <a:lstStyle/>
          <a:p>
            <a:pPr marL="0" lvl="0" indent="0" algn="ctr">
              <a:buNone/>
            </a:pPr>
            <a:r>
              <a:rPr lang="en-US" altLang="zh-TW" sz="4800" b="1" dirty="0"/>
              <a:t>Learning from Imbalanced Data</a:t>
            </a:r>
          </a:p>
        </p:txBody>
      </p:sp>
      <p:sp>
        <p:nvSpPr>
          <p:cNvPr id="4" name="文字版面配置區 3"/>
          <p:cNvSpPr txBox="1">
            <a:spLocks noGrp="1"/>
          </p:cNvSpPr>
          <p:nvPr>
            <p:ph type="body" idx="4294967295"/>
          </p:nvPr>
        </p:nvSpPr>
        <p:spPr>
          <a:xfrm>
            <a:off x="2162522" y="4515041"/>
            <a:ext cx="8229630" cy="1897136"/>
          </a:xfrm>
        </p:spPr>
        <p:txBody>
          <a:bodyPr>
            <a:normAutofit lnSpcReduction="10000"/>
          </a:bodyPr>
          <a:lstStyle/>
          <a:p>
            <a:pPr lvl="1" algn="r" hangingPunct="0">
              <a:spcBef>
                <a:spcPts val="1284"/>
              </a:spcBef>
              <a:buNone/>
            </a:pPr>
            <a:endParaRPr lang="en-US" sz="2903" dirty="0">
              <a:highlight>
                <a:scrgbClr r="0" g="0" b="0">
                  <a:alpha val="0"/>
                </a:scrgbClr>
              </a:highlight>
              <a:latin typeface="+mj-lt"/>
              <a:ea typeface="微軟正黑體" pitchFamily="2"/>
              <a:cs typeface="Mangal" pitchFamily="2"/>
            </a:endParaRPr>
          </a:p>
          <a:p>
            <a:pPr lvl="1" algn="r" hangingPunct="0">
              <a:spcBef>
                <a:spcPts val="1284"/>
              </a:spcBef>
              <a:buNone/>
            </a:pPr>
            <a:endParaRPr lang="en-US" sz="2903" dirty="0">
              <a:highlight>
                <a:scrgbClr r="0" g="0" b="0">
                  <a:alpha val="0"/>
                </a:scrgbClr>
              </a:highlight>
              <a:latin typeface="+mj-lt"/>
              <a:ea typeface="微軟正黑體" pitchFamily="2"/>
              <a:cs typeface="Mangal" pitchFamily="2"/>
            </a:endParaRPr>
          </a:p>
          <a:p>
            <a:pPr lvl="1" algn="r" hangingPunct="0">
              <a:spcBef>
                <a:spcPts val="1284"/>
              </a:spcBef>
              <a:buNone/>
            </a:pPr>
            <a:r>
              <a:rPr lang="en-US" dirty="0">
                <a:highlight>
                  <a:scrgbClr r="0" g="0" b="0">
                    <a:alpha val="0"/>
                  </a:scrgbClr>
                </a:highlight>
                <a:latin typeface="+mj-lt"/>
                <a:ea typeface="微軟正黑體" pitchFamily="34"/>
                <a:cs typeface="Mangal" pitchFamily="2"/>
              </a:rPr>
              <a:t>Presenter</a:t>
            </a:r>
            <a:r>
              <a:rPr lang="zh-TW" dirty="0">
                <a:highlight>
                  <a:scrgbClr r="0" g="0" b="0">
                    <a:alpha val="0"/>
                  </a:scrgbClr>
                </a:highlight>
                <a:latin typeface="+mj-lt"/>
                <a:ea typeface="微軟正黑體" pitchFamily="34"/>
                <a:cs typeface="Mangal" pitchFamily="2"/>
              </a:rPr>
              <a:t>：</a:t>
            </a:r>
            <a:r>
              <a:rPr lang="en-US" dirty="0" err="1">
                <a:highlight>
                  <a:scrgbClr r="0" g="0" b="0">
                    <a:alpha val="0"/>
                  </a:scrgbClr>
                </a:highlight>
                <a:latin typeface="+mj-lt"/>
                <a:ea typeface="微軟正黑體" pitchFamily="34"/>
                <a:cs typeface="Mangal" pitchFamily="2"/>
              </a:rPr>
              <a:t>Jyun-Hao</a:t>
            </a:r>
            <a:r>
              <a:rPr lang="en-US" dirty="0">
                <a:highlight>
                  <a:scrgbClr r="0" g="0" b="0">
                    <a:alpha val="0"/>
                  </a:scrgbClr>
                </a:highlight>
                <a:latin typeface="+mj-lt"/>
                <a:ea typeface="微軟正黑體" pitchFamily="34"/>
                <a:cs typeface="Mangal" pitchFamily="2"/>
              </a:rPr>
              <a:t> Lai</a:t>
            </a:r>
          </a:p>
          <a:p>
            <a:pPr lvl="1" algn="r" hangingPunct="0">
              <a:spcBef>
                <a:spcPts val="1284"/>
              </a:spcBef>
              <a:buNone/>
            </a:pPr>
            <a:r>
              <a:rPr lang="en-US" dirty="0">
                <a:highlight>
                  <a:scrgbClr r="0" g="0" b="0">
                    <a:alpha val="0"/>
                  </a:scrgbClr>
                </a:highlight>
                <a:latin typeface="+mj-lt"/>
                <a:ea typeface="微軟正黑體" pitchFamily="34"/>
                <a:cs typeface="Mangal" pitchFamily="2"/>
              </a:rPr>
              <a:t>Date</a:t>
            </a:r>
            <a:r>
              <a:rPr lang="zh-TW" dirty="0">
                <a:highlight>
                  <a:scrgbClr r="0" g="0" b="0">
                    <a:alpha val="0"/>
                  </a:scrgbClr>
                </a:highlight>
                <a:latin typeface="+mj-lt"/>
                <a:ea typeface="微軟正黑體" pitchFamily="34"/>
                <a:cs typeface="Mangal" pitchFamily="2"/>
              </a:rPr>
              <a:t>：</a:t>
            </a:r>
            <a:r>
              <a:rPr lang="en-US" altLang="zh-TW" dirty="0">
                <a:highlight>
                  <a:scrgbClr r="0" g="0" b="0">
                    <a:alpha val="0"/>
                  </a:scrgbClr>
                </a:highlight>
                <a:latin typeface="+mj-lt"/>
                <a:ea typeface="微軟正黑體" pitchFamily="34"/>
                <a:cs typeface="Mangal" pitchFamily="2"/>
              </a:rPr>
              <a:t>2017</a:t>
            </a:r>
            <a:r>
              <a:rPr lang="en-US" dirty="0">
                <a:highlight>
                  <a:scrgbClr r="0" g="0" b="0">
                    <a:alpha val="0"/>
                  </a:scrgbClr>
                </a:highlight>
                <a:latin typeface="+mj-lt"/>
                <a:ea typeface="微軟正黑體" pitchFamily="34"/>
                <a:cs typeface="Mangal" pitchFamily="2"/>
              </a:rPr>
              <a:t> / 01 / 24</a:t>
            </a:r>
          </a:p>
        </p:txBody>
      </p:sp>
    </p:spTree>
    <p:extLst>
      <p:ext uri="{BB962C8B-B14F-4D97-AF65-F5344CB8AC3E}">
        <p14:creationId xmlns:p14="http://schemas.microsoft.com/office/powerpoint/2010/main" val="3545297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09560" y="68562"/>
            <a:ext cx="10515600" cy="1325563"/>
          </a:xfrm>
        </p:spPr>
        <p:txBody>
          <a:bodyPr/>
          <a:lstStyle/>
          <a:p>
            <a:r>
              <a:rPr lang="en-US" altLang="zh-TW" b="1" dirty="0"/>
              <a:t>Abstract(1/2)</a:t>
            </a:r>
            <a:endParaRPr lang="zh-TW" altLang="en-US" dirty="0"/>
          </a:p>
        </p:txBody>
      </p:sp>
      <p:sp>
        <p:nvSpPr>
          <p:cNvPr id="3" name="內容版面配置區 2"/>
          <p:cNvSpPr>
            <a:spLocks noGrp="1"/>
          </p:cNvSpPr>
          <p:nvPr>
            <p:ph idx="1"/>
          </p:nvPr>
        </p:nvSpPr>
        <p:spPr>
          <a:xfrm>
            <a:off x="609560" y="1228166"/>
            <a:ext cx="11384732" cy="5013243"/>
          </a:xfrm>
        </p:spPr>
        <p:txBody>
          <a:bodyPr>
            <a:normAutofit fontScale="92500" lnSpcReduction="10000"/>
          </a:bodyPr>
          <a:lstStyle/>
          <a:p>
            <a:pPr marL="0" indent="0">
              <a:buNone/>
            </a:pPr>
            <a:r>
              <a:rPr lang="en-US" altLang="zh-TW" sz="3300" dirty="0">
                <a:latin typeface="Cambria Math" panose="02040503050406030204" pitchFamily="18" charset="0"/>
              </a:rPr>
              <a:t>With the continuous expansion of data availability in many large-scale, complex, and networked systems, such as surveillance, security, Internet, and finance, it becomes critical to advance the fundamental understanding of knowledge discovery and analysis from raw data to support decision-making processes. Although existing knowledge discovery and data engineering techniques have shown great success in many real-world applications, the problem of learning from imbalanced data is a relatively new challenge that has attracted growing attention from both academia and industry. The imbalanced learning problem is concerned with the performance of learning algorithms in the presence of underrepresented data and severe class distribution skews. </a:t>
            </a:r>
            <a:endParaRPr lang="en-US" altLang="zh-TW" sz="3200" dirty="0">
              <a:latin typeface="Cambria Math" panose="02040503050406030204" pitchFamily="18" charset="0"/>
            </a:endParaRPr>
          </a:p>
        </p:txBody>
      </p:sp>
    </p:spTree>
    <p:extLst>
      <p:ext uri="{BB962C8B-B14F-4D97-AF65-F5344CB8AC3E}">
        <p14:creationId xmlns:p14="http://schemas.microsoft.com/office/powerpoint/2010/main" val="1096422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09560" y="68562"/>
            <a:ext cx="10515600" cy="1325563"/>
          </a:xfrm>
        </p:spPr>
        <p:txBody>
          <a:bodyPr/>
          <a:lstStyle/>
          <a:p>
            <a:r>
              <a:rPr lang="en-US" altLang="zh-TW" b="1" dirty="0"/>
              <a:t>Abstract(2/2)</a:t>
            </a:r>
            <a:endParaRPr lang="zh-TW" altLang="en-US" dirty="0"/>
          </a:p>
        </p:txBody>
      </p:sp>
      <p:sp>
        <p:nvSpPr>
          <p:cNvPr id="3" name="內容版面配置區 2"/>
          <p:cNvSpPr>
            <a:spLocks noGrp="1"/>
          </p:cNvSpPr>
          <p:nvPr>
            <p:ph idx="1"/>
          </p:nvPr>
        </p:nvSpPr>
        <p:spPr>
          <a:xfrm>
            <a:off x="609560" y="1228166"/>
            <a:ext cx="11384732" cy="5013243"/>
          </a:xfrm>
        </p:spPr>
        <p:txBody>
          <a:bodyPr>
            <a:normAutofit fontScale="92500" lnSpcReduction="10000"/>
          </a:bodyPr>
          <a:lstStyle/>
          <a:p>
            <a:pPr marL="0" indent="0">
              <a:buNone/>
            </a:pPr>
            <a:r>
              <a:rPr lang="en-US" altLang="zh-TW" sz="3300" dirty="0">
                <a:latin typeface="Cambria Math" panose="02040503050406030204" pitchFamily="18" charset="0"/>
              </a:rPr>
              <a:t>Due to the inherent complex characteristics of imbalanced data sets, learning from such data requires new understandings, principles, algorithms, and tools to transform vast amounts of raw data efficiently into information and knowledge representation. In this paper, we provide a comprehensive review of the development of research in learning from imbalanced data. Our focus is to provide a critical review of the nature of the problem, the state-of-the-art technologies, and the current assessment metrics used to evaluate learning performance under the imbalanced learning scenario. Furthermore, in order to stimulate future research in this field, we also highlight the major opportunities and challenges, as well as potential important research directions for learning from imbalanced data.</a:t>
            </a:r>
            <a:endParaRPr lang="en-US" altLang="zh-TW" sz="3200" dirty="0">
              <a:latin typeface="Cambria Math" panose="02040503050406030204" pitchFamily="18" charset="0"/>
            </a:endParaRPr>
          </a:p>
        </p:txBody>
      </p:sp>
    </p:spTree>
    <p:extLst>
      <p:ext uri="{BB962C8B-B14F-4D97-AF65-F5344CB8AC3E}">
        <p14:creationId xmlns:p14="http://schemas.microsoft.com/office/powerpoint/2010/main" val="35996088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svds.com/wp-content/uploads/2016/08/messy.png"/>
          <p:cNvPicPr>
            <a:picLocks noChangeAspect="1" noChangeArrowheads="1"/>
          </p:cNvPicPr>
          <p:nvPr/>
        </p:nvPicPr>
        <p:blipFill rotWithShape="1">
          <a:blip r:embed="rId2">
            <a:extLst>
              <a:ext uri="{28A0092B-C50C-407E-A947-70E740481C1C}">
                <a14:useLocalDpi xmlns:a14="http://schemas.microsoft.com/office/drawing/2010/main" val="0"/>
              </a:ext>
            </a:extLst>
          </a:blip>
          <a:srcRect r="1" b="295"/>
          <a:stretch/>
        </p:blipFill>
        <p:spPr bwMode="auto">
          <a:xfrm>
            <a:off x="4943085" y="1229578"/>
            <a:ext cx="6624459" cy="4540907"/>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a:xfrm>
            <a:off x="199008" y="214205"/>
            <a:ext cx="10515600" cy="1325563"/>
          </a:xfrm>
        </p:spPr>
        <p:txBody>
          <a:bodyPr>
            <a:normAutofit/>
          </a:bodyPr>
          <a:lstStyle/>
          <a:p>
            <a:r>
              <a:rPr lang="en-US" altLang="zh-TW" b="1" dirty="0">
                <a:solidFill>
                  <a:srgbClr val="0B5394"/>
                </a:solidFill>
                <a:latin typeface="Cambria Math" panose="02040503050406030204" pitchFamily="18" charset="0"/>
                <a:ea typeface="Cambria Math" panose="02040503050406030204" pitchFamily="18" charset="0"/>
              </a:rPr>
              <a:t>Class-Imbalance</a:t>
            </a:r>
            <a:endParaRPr lang="zh-TW" altLang="en-US" b="1" dirty="0">
              <a:solidFill>
                <a:srgbClr val="0B5394"/>
              </a:solidFill>
              <a:latin typeface="Cambria Math" panose="02040503050406030204" pitchFamily="18" charset="0"/>
            </a:endParaRPr>
          </a:p>
        </p:txBody>
      </p:sp>
      <p:sp>
        <p:nvSpPr>
          <p:cNvPr id="3" name="內容版面配置區 2"/>
          <p:cNvSpPr>
            <a:spLocks noGrp="1"/>
          </p:cNvSpPr>
          <p:nvPr>
            <p:ph idx="1"/>
          </p:nvPr>
        </p:nvSpPr>
        <p:spPr>
          <a:xfrm>
            <a:off x="465337" y="1674704"/>
            <a:ext cx="3797807" cy="4351338"/>
          </a:xfrm>
        </p:spPr>
        <p:txBody>
          <a:bodyPr>
            <a:normAutofit/>
          </a:bodyPr>
          <a:lstStyle/>
          <a:p>
            <a:pPr marL="0" indent="0">
              <a:buNone/>
            </a:pPr>
            <a:r>
              <a:rPr lang="en-US" altLang="zh-TW" sz="2000" b="1" dirty="0">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分類學習方法都有一個共同的假設，即不同的類別之間樣本數目相同或者彼此差異不大，但若差別很大，則會對學習的過程造成困擾。</a:t>
            </a:r>
            <a:endParaRPr lang="en-US" altLang="zh-TW" sz="2000" b="1" dirty="0">
              <a:latin typeface="微軟正黑體" panose="020B0604030504040204" pitchFamily="34" charset="-120"/>
              <a:ea typeface="微軟正黑體" panose="020B0604030504040204" pitchFamily="34" charset="-120"/>
            </a:endParaRPr>
          </a:p>
          <a:p>
            <a:pPr marL="0" indent="0">
              <a:buNone/>
            </a:pPr>
            <a:r>
              <a:rPr lang="en-US" altLang="zh-TW" sz="2000" b="1" dirty="0">
                <a:latin typeface="微軟正黑體" panose="020B0604030504040204" pitchFamily="34" charset="-120"/>
                <a:ea typeface="微軟正黑體" panose="020B0604030504040204" pitchFamily="34" charset="-120"/>
              </a:rPr>
              <a:t>	</a:t>
            </a:r>
            <a:r>
              <a:rPr lang="zh-TW" altLang="en-US" sz="2000" b="1" dirty="0">
                <a:latin typeface="微軟正黑體" panose="020B0604030504040204" pitchFamily="34" charset="-120"/>
                <a:ea typeface="微軟正黑體" panose="020B0604030504040204" pitchFamily="34" charset="-120"/>
              </a:rPr>
              <a:t>例如，對於一個二元分類，有</a:t>
            </a:r>
            <a:r>
              <a:rPr lang="en-US" altLang="zh-TW" sz="2000" b="1" dirty="0">
                <a:latin typeface="Cambria Math" panose="02040503050406030204" pitchFamily="18" charset="0"/>
                <a:ea typeface="Cambria Math" panose="02040503050406030204" pitchFamily="18" charset="0"/>
              </a:rPr>
              <a:t>998</a:t>
            </a:r>
            <a:r>
              <a:rPr lang="zh-TW" altLang="en-US" sz="2000" b="1" dirty="0">
                <a:latin typeface="微軟正黑體" panose="020B0604030504040204" pitchFamily="34" charset="-120"/>
                <a:ea typeface="微軟正黑體" panose="020B0604030504040204" pitchFamily="34" charset="-120"/>
              </a:rPr>
              <a:t>個反例</a:t>
            </a:r>
            <a:r>
              <a:rPr lang="en-US" altLang="zh-TW" sz="2000" b="1" dirty="0">
                <a:latin typeface="微軟正黑體" panose="020B0604030504040204" pitchFamily="34" charset="-120"/>
                <a:ea typeface="微軟正黑體" panose="020B0604030504040204" pitchFamily="34" charset="-120"/>
              </a:rPr>
              <a:t>(</a:t>
            </a:r>
            <a:r>
              <a:rPr lang="en-US" altLang="zh-TW" sz="2000" b="1" dirty="0">
                <a:latin typeface="Cambria Math" panose="02040503050406030204" pitchFamily="18" charset="0"/>
                <a:ea typeface="Cambria Math" panose="02040503050406030204" pitchFamily="18" charset="0"/>
              </a:rPr>
              <a:t>False</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，但正例</a:t>
            </a:r>
            <a:r>
              <a:rPr lang="en-US" altLang="zh-TW" sz="2000" b="1" dirty="0">
                <a:latin typeface="微軟正黑體" panose="020B0604030504040204" pitchFamily="34" charset="-120"/>
                <a:ea typeface="微軟正黑體" panose="020B0604030504040204" pitchFamily="34" charset="-120"/>
              </a:rPr>
              <a:t>(</a:t>
            </a:r>
            <a:r>
              <a:rPr lang="en-US" altLang="zh-TW" sz="2000" b="1" dirty="0">
                <a:latin typeface="Cambria Math" panose="02040503050406030204" pitchFamily="18" charset="0"/>
                <a:ea typeface="Cambria Math" panose="02040503050406030204" pitchFamily="18" charset="0"/>
              </a:rPr>
              <a:t>True</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只有一個，那麼分類器</a:t>
            </a:r>
            <a:r>
              <a:rPr lang="en-US" altLang="zh-TW" sz="2000" b="1" dirty="0">
                <a:latin typeface="微軟正黑體" panose="020B0604030504040204" pitchFamily="34" charset="-120"/>
                <a:ea typeface="微軟正黑體" panose="020B0604030504040204" pitchFamily="34" charset="-120"/>
              </a:rPr>
              <a:t>(</a:t>
            </a:r>
            <a:r>
              <a:rPr lang="en-US" altLang="zh-TW" sz="2000" b="1" dirty="0">
                <a:latin typeface="Cambria Math" panose="02040503050406030204" pitchFamily="18" charset="0"/>
                <a:ea typeface="Cambria Math" panose="02040503050406030204" pitchFamily="18" charset="0"/>
              </a:rPr>
              <a:t>classifier</a:t>
            </a:r>
            <a:r>
              <a:rPr lang="en-US" altLang="zh-TW" sz="2000" b="1" dirty="0">
                <a:latin typeface="微軟正黑體" panose="020B0604030504040204" pitchFamily="34" charset="-120"/>
                <a:ea typeface="微軟正黑體" panose="020B0604030504040204" pitchFamily="34" charset="-120"/>
              </a:rPr>
              <a:t>)</a:t>
            </a:r>
            <a:r>
              <a:rPr lang="zh-TW" altLang="en-US" sz="2000" b="1" dirty="0">
                <a:latin typeface="微軟正黑體" panose="020B0604030504040204" pitchFamily="34" charset="-120"/>
                <a:ea typeface="微軟正黑體" panose="020B0604030504040204" pitchFamily="34" charset="-120"/>
              </a:rPr>
              <a:t>只需要返回一個永遠都是負例的預測，就能達到</a:t>
            </a:r>
            <a:r>
              <a:rPr lang="en-US" altLang="zh-TW" sz="2000" b="1" dirty="0">
                <a:latin typeface="Cambria Math" panose="02040503050406030204" pitchFamily="18" charset="0"/>
                <a:ea typeface="Cambria Math" panose="02040503050406030204" pitchFamily="18" charset="0"/>
              </a:rPr>
              <a:t>99.8%</a:t>
            </a:r>
            <a:r>
              <a:rPr lang="zh-TW" altLang="en-US" sz="2000" b="1" dirty="0">
                <a:latin typeface="微軟正黑體" panose="020B0604030504040204" pitchFamily="34" charset="-120"/>
                <a:ea typeface="微軟正黑體" panose="020B0604030504040204" pitchFamily="34" charset="-120"/>
              </a:rPr>
              <a:t>預測，然而這樣的學習器往往沒有價值，因為他無法預測正例。</a:t>
            </a:r>
            <a:endParaRPr lang="en-US" altLang="zh-TW" sz="2000" b="1" dirty="0">
              <a:latin typeface="微軟正黑體" panose="020B0604030504040204" pitchFamily="34" charset="-120"/>
              <a:ea typeface="微軟正黑體" panose="020B0604030504040204" pitchFamily="34" charset="-120"/>
            </a:endParaRPr>
          </a:p>
          <a:p>
            <a:endParaRPr lang="en-US" altLang="zh-TW" sz="20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9280334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7986" y="143184"/>
            <a:ext cx="10515600" cy="1325563"/>
          </a:xfrm>
        </p:spPr>
        <p:txBody>
          <a:bodyPr/>
          <a:lstStyle/>
          <a:p>
            <a:r>
              <a:rPr lang="en-US" altLang="zh-TW" b="1" dirty="0">
                <a:solidFill>
                  <a:srgbClr val="0B5394"/>
                </a:solidFill>
                <a:latin typeface="Cambria Math" panose="02040503050406030204" pitchFamily="18" charset="0"/>
                <a:ea typeface="Cambria Math" panose="02040503050406030204" pitchFamily="18" charset="0"/>
              </a:rPr>
              <a:t>Symbol</a:t>
            </a:r>
            <a:endParaRPr lang="zh-TW" altLang="en-US" b="1" dirty="0">
              <a:solidFill>
                <a:srgbClr val="0B5394"/>
              </a:solidFill>
              <a:latin typeface="Cambria Math" panose="02040503050406030204" pitchFamily="18" charset="0"/>
            </a:endParaRPr>
          </a:p>
        </p:txBody>
      </p:sp>
      <p:sp>
        <p:nvSpPr>
          <p:cNvPr id="4" name="文字方塊 3"/>
          <p:cNvSpPr txBox="1"/>
          <p:nvPr/>
        </p:nvSpPr>
        <p:spPr>
          <a:xfrm>
            <a:off x="127986" y="1743941"/>
            <a:ext cx="11997195"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首先資料是不平衡的，因此佔多數的資料我們稱作</a:t>
            </a:r>
            <a:r>
              <a:rPr lang="en-US" altLang="zh-TW" sz="2400" b="1" dirty="0">
                <a:solidFill>
                  <a:srgbClr val="002060"/>
                </a:solidFill>
                <a:latin typeface="Cambria Math" panose="02040503050406030204" pitchFamily="18" charset="0"/>
                <a:ea typeface="Cambria Math" panose="02040503050406030204" pitchFamily="18" charset="0"/>
              </a:rPr>
              <a:t>majority</a:t>
            </a:r>
            <a:r>
              <a:rPr lang="zh-TW" altLang="en-US" sz="2400" b="1" dirty="0"/>
              <a:t>，</a:t>
            </a:r>
            <a:r>
              <a:rPr lang="zh-TW" altLang="en-US" sz="2400" b="1" dirty="0">
                <a:latin typeface="微軟正黑體" panose="020B0604030504040204" pitchFamily="34" charset="-120"/>
                <a:ea typeface="微軟正黑體" panose="020B0604030504040204" pitchFamily="34" charset="-120"/>
              </a:rPr>
              <a:t>少數的資料稱作</a:t>
            </a:r>
            <a:r>
              <a:rPr lang="en-US" altLang="zh-TW" sz="2400" b="1" dirty="0">
                <a:solidFill>
                  <a:srgbClr val="FF0000"/>
                </a:solidFill>
                <a:latin typeface="Cambria Math" panose="02040503050406030204" pitchFamily="18" charset="0"/>
                <a:ea typeface="Cambria Math" panose="02040503050406030204" pitchFamily="18" charset="0"/>
              </a:rPr>
              <a:t>minority</a:t>
            </a:r>
            <a:r>
              <a:rPr lang="zh-TW" altLang="en-US" sz="2400" b="1" dirty="0">
                <a:latin typeface="Cambria Math" panose="02040503050406030204" pitchFamily="18" charset="0"/>
                <a:ea typeface="Cambria Math" panose="02040503050406030204" pitchFamily="18" charset="0"/>
              </a:rPr>
              <a:t>。</a:t>
            </a:r>
            <a:endParaRPr lang="zh-TW" altLang="en-US" sz="2400" b="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5" name="文字方塊 4"/>
              <p:cNvSpPr txBox="1"/>
              <p:nvPr/>
            </p:nvSpPr>
            <p:spPr>
              <a:xfrm>
                <a:off x="127986" y="2754666"/>
                <a:ext cx="8918852" cy="496674"/>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整個</a:t>
                </a:r>
                <a:r>
                  <a:rPr lang="en-US" altLang="zh-TW" sz="2400" b="1" dirty="0">
                    <a:latin typeface="Cambria Math" panose="02040503050406030204" pitchFamily="18" charset="0"/>
                    <a:ea typeface="Cambria Math" panose="02040503050406030204" pitchFamily="18" charset="0"/>
                  </a:rPr>
                  <a:t>training</a:t>
                </a:r>
                <a:r>
                  <a:rPr lang="zh-TW" altLang="en-US" sz="2400" b="1" dirty="0">
                    <a:latin typeface="Cambria Math" panose="02040503050406030204" pitchFamily="18" charset="0"/>
                    <a:ea typeface="微軟正黑體" panose="020B0604030504040204" pitchFamily="34" charset="-120"/>
                  </a:rPr>
                  <a:t> </a:t>
                </a:r>
                <a:r>
                  <a:rPr lang="en-US" altLang="zh-TW" sz="2400" b="1" dirty="0">
                    <a:latin typeface="Cambria Math" panose="02040503050406030204" pitchFamily="18" charset="0"/>
                    <a:ea typeface="Cambria Math" panose="02040503050406030204" pitchFamily="18" charset="0"/>
                  </a:rPr>
                  <a:t>set</a:t>
                </a:r>
                <a:r>
                  <a:rPr lang="zh-TW" altLang="en-US" sz="2400" b="1" dirty="0">
                    <a:latin typeface="微軟正黑體" panose="020B0604030504040204" pitchFamily="34" charset="-120"/>
                    <a:ea typeface="微軟正黑體" panose="020B0604030504040204" pitchFamily="34" charset="-120"/>
                  </a:rPr>
                  <a:t> 另為</a:t>
                </a:r>
                <a:r>
                  <a:rPr lang="en-US" altLang="zh-TW" sz="2400" b="1" dirty="0">
                    <a:latin typeface="微軟正黑體" panose="020B0604030504040204" pitchFamily="34" charset="-120"/>
                    <a:ea typeface="微軟正黑體" panose="020B0604030504040204" pitchFamily="34" charset="-120"/>
                  </a:rPr>
                  <a:t>S</a:t>
                </a:r>
                <a:r>
                  <a:rPr lang="zh-TW" altLang="en-US" sz="2400" b="1" dirty="0">
                    <a:latin typeface="微軟正黑體" panose="020B0604030504040204" pitchFamily="34" charset="-120"/>
                    <a:ea typeface="微軟正黑體" panose="020B0604030504040204" pitchFamily="34" charset="-120"/>
                  </a:rPr>
                  <a:t>，</a:t>
                </a:r>
                <a:r>
                  <a:rPr lang="en-US" altLang="zh-TW" sz="2400" b="1" dirty="0">
                    <a:latin typeface="微軟正黑體" panose="020B0604030504040204" pitchFamily="34" charset="-120"/>
                    <a:ea typeface="微軟正黑體" panose="020B0604030504040204" pitchFamily="34" charset="-120"/>
                  </a:rPr>
                  <a:t> </a:t>
                </a:r>
                <a:r>
                  <a:rPr lang="en-US" altLang="zh-TW" sz="2400" b="1" dirty="0">
                    <a:solidFill>
                      <a:srgbClr val="002060"/>
                    </a:solidFill>
                    <a:latin typeface="Cambria Math" panose="02040503050406030204" pitchFamily="18" charset="0"/>
                    <a:ea typeface="Cambria Math" panose="02040503050406030204" pitchFamily="18" charset="0"/>
                  </a:rPr>
                  <a:t>majority</a:t>
                </a:r>
                <a:r>
                  <a:rPr lang="zh-TW" altLang="en-US" sz="2400" b="1" dirty="0">
                    <a:latin typeface="微軟正黑體" panose="020B0604030504040204" pitchFamily="34" charset="-120"/>
                    <a:ea typeface="微軟正黑體" panose="020B0604030504040204" pitchFamily="34" charset="-120"/>
                  </a:rPr>
                  <a:t>簡稱</a:t>
                </a:r>
                <a14:m>
                  <m:oMath xmlns:m="http://schemas.openxmlformats.org/officeDocument/2006/math">
                    <m:sSub>
                      <m:sSubPr>
                        <m:ctrlPr>
                          <a:rPr lang="en-US" altLang="zh-TW" sz="2400" b="1" i="1" smtClean="0">
                            <a:solidFill>
                              <a:srgbClr val="002060"/>
                            </a:solidFill>
                            <a:latin typeface="Cambria Math" panose="02040503050406030204" pitchFamily="18" charset="0"/>
                            <a:ea typeface="Cambria Math" panose="02040503050406030204" pitchFamily="18" charset="0"/>
                          </a:rPr>
                        </m:ctrlPr>
                      </m:sSubPr>
                      <m:e>
                        <m:r>
                          <a:rPr lang="en-US" altLang="zh-TW" sz="2400" b="1" i="1" smtClean="0">
                            <a:solidFill>
                              <a:srgbClr val="002060"/>
                            </a:solidFill>
                            <a:latin typeface="Cambria Math" panose="02040503050406030204" pitchFamily="18" charset="0"/>
                            <a:ea typeface="Cambria Math" panose="02040503050406030204" pitchFamily="18" charset="0"/>
                          </a:rPr>
                          <m:t>𝑺</m:t>
                        </m:r>
                      </m:e>
                      <m:sub>
                        <m:r>
                          <a:rPr lang="en-US" altLang="zh-TW" sz="2400" b="1" i="1" smtClean="0">
                            <a:solidFill>
                              <a:srgbClr val="002060"/>
                            </a:solidFill>
                            <a:latin typeface="Cambria Math" panose="02040503050406030204" pitchFamily="18" charset="0"/>
                            <a:ea typeface="Cambria Math" panose="02040503050406030204" pitchFamily="18" charset="0"/>
                          </a:rPr>
                          <m:t>𝒎𝒂𝒋</m:t>
                        </m:r>
                      </m:sub>
                    </m:sSub>
                    <m:r>
                      <a:rPr lang="zh-TW" altLang="en-US" sz="2400" b="1" i="1">
                        <a:latin typeface="Cambria Math" panose="02040503050406030204" pitchFamily="18" charset="0"/>
                        <a:ea typeface="Cambria Math" panose="02040503050406030204" pitchFamily="18" charset="0"/>
                      </a:rPr>
                      <m:t>，</m:t>
                    </m:r>
                  </m:oMath>
                </a14:m>
                <a:r>
                  <a:rPr lang="en-US" altLang="zh-TW" sz="2400" b="1" dirty="0">
                    <a:solidFill>
                      <a:srgbClr val="FF0000"/>
                    </a:solidFill>
                    <a:latin typeface="Cambria Math" panose="02040503050406030204" pitchFamily="18" charset="0"/>
                    <a:ea typeface="Cambria Math" panose="02040503050406030204" pitchFamily="18" charset="0"/>
                  </a:rPr>
                  <a:t>minority</a:t>
                </a:r>
                <a:r>
                  <a:rPr lang="zh-TW" altLang="en-US" sz="2400" b="1" dirty="0">
                    <a:latin typeface="微軟正黑體" panose="020B0604030504040204" pitchFamily="34" charset="-120"/>
                    <a:ea typeface="微軟正黑體" panose="020B0604030504040204" pitchFamily="34" charset="-120"/>
                  </a:rPr>
                  <a:t>簡稱</a:t>
                </a:r>
                <a14:m>
                  <m:oMath xmlns:m="http://schemas.openxmlformats.org/officeDocument/2006/math">
                    <m:sSub>
                      <m:sSubPr>
                        <m:ctrlPr>
                          <a:rPr lang="en-US" altLang="zh-TW" sz="2400" b="1" i="1" smtClean="0">
                            <a:solidFill>
                              <a:srgbClr val="FF0000"/>
                            </a:solidFill>
                            <a:latin typeface="Cambria Math" panose="02040503050406030204" pitchFamily="18" charset="0"/>
                            <a:ea typeface="Cambria Math" panose="02040503050406030204" pitchFamily="18" charset="0"/>
                          </a:rPr>
                        </m:ctrlPr>
                      </m:sSubPr>
                      <m:e>
                        <m:r>
                          <a:rPr lang="en-US" altLang="zh-TW" sz="2400" b="1" i="1">
                            <a:solidFill>
                              <a:srgbClr val="FF0000"/>
                            </a:solidFill>
                            <a:latin typeface="Cambria Math" panose="02040503050406030204" pitchFamily="18" charset="0"/>
                            <a:ea typeface="Cambria Math" panose="02040503050406030204" pitchFamily="18" charset="0"/>
                          </a:rPr>
                          <m:t>𝑺</m:t>
                        </m:r>
                      </m:e>
                      <m:sub>
                        <m:r>
                          <a:rPr lang="en-US" altLang="zh-TW" sz="2400" b="1" i="1">
                            <a:solidFill>
                              <a:srgbClr val="FF0000"/>
                            </a:solidFill>
                            <a:latin typeface="Cambria Math" panose="02040503050406030204" pitchFamily="18" charset="0"/>
                            <a:ea typeface="Cambria Math" panose="02040503050406030204" pitchFamily="18" charset="0"/>
                          </a:rPr>
                          <m:t>𝒎</m:t>
                        </m:r>
                        <m:r>
                          <a:rPr lang="en-US" altLang="zh-TW" sz="2400" b="1" i="1" smtClean="0">
                            <a:solidFill>
                              <a:srgbClr val="FF0000"/>
                            </a:solidFill>
                            <a:latin typeface="Cambria Math" panose="02040503050406030204" pitchFamily="18" charset="0"/>
                            <a:ea typeface="Cambria Math" panose="02040503050406030204" pitchFamily="18" charset="0"/>
                          </a:rPr>
                          <m:t>𝒊𝒏</m:t>
                        </m:r>
                      </m:sub>
                    </m:sSub>
                  </m:oMath>
                </a14:m>
                <a:r>
                  <a:rPr lang="zh-TW" altLang="en-US" sz="2400" b="1" dirty="0">
                    <a:latin typeface="Cambria Math" panose="02040503050406030204" pitchFamily="18" charset="0"/>
                    <a:ea typeface="Cambria Math" panose="02040503050406030204" pitchFamily="18" charset="0"/>
                  </a:rPr>
                  <a:t> 。</a:t>
                </a:r>
                <a:endParaRPr lang="zh-TW" altLang="en-US" sz="2400" b="1" dirty="0">
                  <a:latin typeface="微軟正黑體" panose="020B0604030504040204" pitchFamily="34" charset="-120"/>
                  <a:ea typeface="微軟正黑體" panose="020B0604030504040204" pitchFamily="34" charset="-120"/>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27986" y="2754666"/>
                <a:ext cx="8918852" cy="496674"/>
              </a:xfrm>
              <a:prstGeom prst="rect">
                <a:avLst/>
              </a:prstGeom>
              <a:blipFill>
                <a:blip r:embed="rId2"/>
                <a:stretch>
                  <a:fillRect l="-1094" t="-11111" r="-137" b="-209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27986" y="3645386"/>
                <a:ext cx="7447680" cy="523092"/>
              </a:xfrm>
              <a:prstGeom prst="rect">
                <a:avLst/>
              </a:prstGeom>
            </p:spPr>
            <p:txBody>
              <a:bodyPr wrap="none">
                <a:spAutoFit/>
              </a:bodyPr>
              <a:lstStyle/>
              <a:p>
                <a14:m>
                  <m:oMath xmlns:m="http://schemas.openxmlformats.org/officeDocument/2006/math">
                    <m:sSub>
                      <m:sSubPr>
                        <m:ctrlPr>
                          <a:rPr lang="en-US" altLang="zh-TW" sz="2400" b="1" i="1" smtClean="0">
                            <a:solidFill>
                              <a:srgbClr val="002060"/>
                            </a:solidFill>
                            <a:latin typeface="Cambria Math" panose="02040503050406030204" pitchFamily="18" charset="0"/>
                            <a:ea typeface="Cambria Math" panose="02040503050406030204" pitchFamily="18" charset="0"/>
                          </a:rPr>
                        </m:ctrlPr>
                      </m:sSubPr>
                      <m:e>
                        <m:r>
                          <a:rPr lang="en-US" altLang="zh-TW" sz="2400" b="1" i="1">
                            <a:solidFill>
                              <a:srgbClr val="002060"/>
                            </a:solidFill>
                            <a:latin typeface="Cambria Math" panose="02040503050406030204" pitchFamily="18" charset="0"/>
                            <a:ea typeface="Cambria Math" panose="02040503050406030204" pitchFamily="18" charset="0"/>
                          </a:rPr>
                          <m:t>𝑺</m:t>
                        </m:r>
                      </m:e>
                      <m:sub>
                        <m:r>
                          <a:rPr lang="en-US" altLang="zh-TW" sz="2400" b="1" i="1">
                            <a:solidFill>
                              <a:srgbClr val="002060"/>
                            </a:solidFill>
                            <a:latin typeface="Cambria Math" panose="02040503050406030204" pitchFamily="18" charset="0"/>
                            <a:ea typeface="Cambria Math" panose="02040503050406030204" pitchFamily="18" charset="0"/>
                          </a:rPr>
                          <m:t>𝒎𝒂𝒋</m:t>
                        </m:r>
                      </m:sub>
                    </m:sSub>
                  </m:oMath>
                </a14:m>
                <a:r>
                  <a:rPr lang="zh-TW" altLang="en-US" sz="2400" b="1" dirty="0">
                    <a:latin typeface="微軟正黑體" panose="020B0604030504040204" pitchFamily="34" charset="-120"/>
                    <a:ea typeface="微軟正黑體" panose="020B0604030504040204" pitchFamily="34" charset="-120"/>
                  </a:rPr>
                  <a:t>的數量表示為</a:t>
                </a:r>
                <a14:m>
                  <m:oMath xmlns:m="http://schemas.openxmlformats.org/officeDocument/2006/math">
                    <m:d>
                      <m:dPr>
                        <m:begChr m:val="|"/>
                        <m:endChr m:val="|"/>
                        <m:ctrlPr>
                          <a:rPr lang="en-US" altLang="zh-TW" sz="2400" b="1" i="1" smtClean="0">
                            <a:latin typeface="Cambria Math" panose="02040503050406030204" pitchFamily="18" charset="0"/>
                            <a:ea typeface="微軟正黑體" panose="020B0604030504040204" pitchFamily="34" charset="-120"/>
                          </a:rPr>
                        </m:ctrlPr>
                      </m:dPr>
                      <m:e>
                        <m:sSub>
                          <m:sSubPr>
                            <m:ctrlPr>
                              <a:rPr lang="en-US" altLang="zh-TW" sz="2400" b="1" i="1">
                                <a:solidFill>
                                  <a:srgbClr val="002060"/>
                                </a:solidFill>
                                <a:latin typeface="Cambria Math" panose="02040503050406030204" pitchFamily="18" charset="0"/>
                                <a:ea typeface="Cambria Math" panose="02040503050406030204" pitchFamily="18" charset="0"/>
                              </a:rPr>
                            </m:ctrlPr>
                          </m:sSubPr>
                          <m:e>
                            <m:r>
                              <a:rPr lang="en-US" altLang="zh-TW" sz="2400" b="1" i="1">
                                <a:solidFill>
                                  <a:srgbClr val="002060"/>
                                </a:solidFill>
                                <a:latin typeface="Cambria Math" panose="02040503050406030204" pitchFamily="18" charset="0"/>
                                <a:ea typeface="Cambria Math" panose="02040503050406030204" pitchFamily="18" charset="0"/>
                              </a:rPr>
                              <m:t>𝑺</m:t>
                            </m:r>
                          </m:e>
                          <m:sub>
                            <m:r>
                              <a:rPr lang="en-US" altLang="zh-TW" sz="2400" b="1" i="1">
                                <a:solidFill>
                                  <a:srgbClr val="002060"/>
                                </a:solidFill>
                                <a:latin typeface="Cambria Math" panose="02040503050406030204" pitchFamily="18" charset="0"/>
                                <a:ea typeface="Cambria Math" panose="02040503050406030204" pitchFamily="18" charset="0"/>
                              </a:rPr>
                              <m:t>𝒎𝒂𝒋</m:t>
                            </m:r>
                          </m:sub>
                        </m:sSub>
                      </m:e>
                    </m:d>
                  </m:oMath>
                </a14:m>
                <a:r>
                  <a:rPr lang="zh-TW" altLang="en-US" sz="2400" b="1"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2400" b="1" i="1" smtClean="0">
                            <a:solidFill>
                              <a:srgbClr val="FF0000"/>
                            </a:solidFill>
                            <a:latin typeface="Cambria Math" panose="02040503050406030204" pitchFamily="18" charset="0"/>
                            <a:ea typeface="Cambria Math" panose="02040503050406030204" pitchFamily="18" charset="0"/>
                          </a:rPr>
                        </m:ctrlPr>
                      </m:sSubPr>
                      <m:e>
                        <m:r>
                          <a:rPr lang="en-US" altLang="zh-TW" sz="2400" b="1" i="1">
                            <a:solidFill>
                              <a:srgbClr val="FF0000"/>
                            </a:solidFill>
                            <a:latin typeface="Cambria Math" panose="02040503050406030204" pitchFamily="18" charset="0"/>
                            <a:ea typeface="Cambria Math" panose="02040503050406030204" pitchFamily="18" charset="0"/>
                          </a:rPr>
                          <m:t>𝑺</m:t>
                        </m:r>
                      </m:e>
                      <m:sub>
                        <m:r>
                          <a:rPr lang="en-US" altLang="zh-TW" sz="2400" b="1" i="1">
                            <a:solidFill>
                              <a:srgbClr val="FF0000"/>
                            </a:solidFill>
                            <a:latin typeface="Cambria Math" panose="02040503050406030204" pitchFamily="18" charset="0"/>
                            <a:ea typeface="Cambria Math" panose="02040503050406030204" pitchFamily="18" charset="0"/>
                          </a:rPr>
                          <m:t>𝒎𝒊𝒏</m:t>
                        </m:r>
                      </m:sub>
                    </m:sSub>
                  </m:oMath>
                </a14:m>
                <a:r>
                  <a:rPr lang="zh-TW" altLang="en-US" sz="2400" b="1" dirty="0">
                    <a:latin typeface="微軟正黑體" panose="020B0604030504040204" pitchFamily="34" charset="-120"/>
                    <a:ea typeface="微軟正黑體" panose="020B0604030504040204" pitchFamily="34" charset="-120"/>
                  </a:rPr>
                  <a:t>的數量表示為</a:t>
                </a:r>
                <a14:m>
                  <m:oMath xmlns:m="http://schemas.openxmlformats.org/officeDocument/2006/math">
                    <m:d>
                      <m:dPr>
                        <m:begChr m:val="|"/>
                        <m:endChr m:val="|"/>
                        <m:ctrlPr>
                          <a:rPr lang="en-US" altLang="zh-TW" sz="2400" b="1" i="1">
                            <a:latin typeface="Cambria Math" panose="02040503050406030204" pitchFamily="18" charset="0"/>
                            <a:ea typeface="微軟正黑體" panose="020B0604030504040204" pitchFamily="34" charset="-120"/>
                          </a:rPr>
                        </m:ctrlPr>
                      </m:dPr>
                      <m:e>
                        <m:sSub>
                          <m:sSubPr>
                            <m:ctrlPr>
                              <a:rPr lang="en-US" altLang="zh-TW" sz="2400" b="1" i="1">
                                <a:solidFill>
                                  <a:srgbClr val="FF0000"/>
                                </a:solidFill>
                                <a:latin typeface="Cambria Math" panose="02040503050406030204" pitchFamily="18" charset="0"/>
                                <a:ea typeface="Cambria Math" panose="02040503050406030204" pitchFamily="18" charset="0"/>
                              </a:rPr>
                            </m:ctrlPr>
                          </m:sSubPr>
                          <m:e>
                            <m:r>
                              <a:rPr lang="en-US" altLang="zh-TW" sz="2400" b="1" i="1">
                                <a:solidFill>
                                  <a:srgbClr val="FF0000"/>
                                </a:solidFill>
                                <a:latin typeface="Cambria Math" panose="02040503050406030204" pitchFamily="18" charset="0"/>
                                <a:ea typeface="Cambria Math" panose="02040503050406030204" pitchFamily="18" charset="0"/>
                              </a:rPr>
                              <m:t>𝑺</m:t>
                            </m:r>
                          </m:e>
                          <m:sub>
                            <m:r>
                              <a:rPr lang="en-US" altLang="zh-TW" sz="2400" b="1" i="1">
                                <a:solidFill>
                                  <a:srgbClr val="FF0000"/>
                                </a:solidFill>
                                <a:latin typeface="Cambria Math" panose="02040503050406030204" pitchFamily="18" charset="0"/>
                                <a:ea typeface="Cambria Math" panose="02040503050406030204" pitchFamily="18" charset="0"/>
                              </a:rPr>
                              <m:t>𝒎𝒊𝒏</m:t>
                            </m:r>
                          </m:sub>
                        </m:sSub>
                      </m:e>
                    </m:d>
                  </m:oMath>
                </a14:m>
                <a:r>
                  <a:rPr lang="zh-TW" altLang="en-US" sz="2400" b="1" dirty="0">
                    <a:latin typeface="Cambria Math" panose="02040503050406030204" pitchFamily="18" charset="0"/>
                    <a:ea typeface="Cambria Math" panose="02040503050406030204" pitchFamily="18" charset="0"/>
                  </a:rPr>
                  <a:t> 。</a:t>
                </a:r>
                <a:endParaRPr lang="zh-TW" altLang="en-US" sz="2400" b="1" dirty="0">
                  <a:latin typeface="微軟正黑體" panose="020B0604030504040204" pitchFamily="34" charset="-120"/>
                  <a:ea typeface="微軟正黑體" panose="020B0604030504040204" pitchFamily="34" charset="-120"/>
                </a:endParaRPr>
              </a:p>
            </p:txBody>
          </p:sp>
        </mc:Choice>
        <mc:Fallback xmlns="">
          <p:sp>
            <p:nvSpPr>
              <p:cNvPr id="7" name="矩形 6"/>
              <p:cNvSpPr>
                <a:spLocks noRot="1" noChangeAspect="1" noMove="1" noResize="1" noEditPoints="1" noAdjustHandles="1" noChangeArrowheads="1" noChangeShapeType="1" noTextEdit="1"/>
              </p:cNvSpPr>
              <p:nvPr/>
            </p:nvSpPr>
            <p:spPr>
              <a:xfrm>
                <a:off x="127986" y="3645386"/>
                <a:ext cx="7447680" cy="523092"/>
              </a:xfrm>
              <a:prstGeom prst="rect">
                <a:avLst/>
              </a:prstGeom>
              <a:blipFill>
                <a:blip r:embed="rId3"/>
                <a:stretch>
                  <a:fillRect t="-4651" r="-327" b="-1860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161215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228600" y="326490"/>
                <a:ext cx="10515600" cy="3389833"/>
              </a:xfrm>
            </p:spPr>
            <p:txBody>
              <a:bodyPr/>
              <a:lstStyle/>
              <a:p>
                <a:r>
                  <a:rPr lang="en-US" altLang="zh-TW" b="1" dirty="0">
                    <a:solidFill>
                      <a:srgbClr val="00B050"/>
                    </a:solidFill>
                    <a:latin typeface="Cambria Math" panose="02040503050406030204" pitchFamily="18" charset="0"/>
                    <a:ea typeface="Cambria Math" panose="02040503050406030204" pitchFamily="18" charset="0"/>
                  </a:rPr>
                  <a:t>Over-Sampling</a:t>
                </a:r>
                <a:r>
                  <a:rPr lang="en-US" altLang="zh-TW" b="1" dirty="0">
                    <a:solidFill>
                      <a:srgbClr val="0B5394"/>
                    </a:solidFill>
                    <a:latin typeface="Helvetica Neue Light"/>
                  </a:rPr>
                  <a:t/>
                </a:r>
                <a:br>
                  <a:rPr lang="en-US" altLang="zh-TW" b="1" dirty="0">
                    <a:solidFill>
                      <a:srgbClr val="0B5394"/>
                    </a:solidFill>
                    <a:latin typeface="Helvetica Neue Light"/>
                  </a:rPr>
                </a:br>
                <a:r>
                  <a:rPr lang="zh-TW" altLang="en-US" dirty="0">
                    <a:latin typeface="微軟正黑體" panose="020B0604030504040204" pitchFamily="34" charset="-120"/>
                    <a:ea typeface="微軟正黑體" panose="020B0604030504040204" pitchFamily="34" charset="-120"/>
                  </a:rPr>
                  <a:t>就是把少的變多的，從</a:t>
                </a:r>
                <a14:m>
                  <m:oMath xmlns:m="http://schemas.openxmlformats.org/officeDocument/2006/math">
                    <m:sSub>
                      <m:sSubPr>
                        <m:ctrlPr>
                          <a:rPr lang="en-US" altLang="zh-TW" b="0"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隨機挑選並加入</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sSub>
                  </m:oMath>
                </a14:m>
                <a:r>
                  <a:rPr lang="zh-TW" altLang="en-US" dirty="0"/>
                  <a:t>，</a:t>
                </a:r>
                <a:r>
                  <a:rPr lang="zh-TW" altLang="en-US" dirty="0">
                    <a:latin typeface="微軟正黑體" panose="020B0604030504040204" pitchFamily="34" charset="-120"/>
                    <a:ea typeface="微軟正黑體" panose="020B0604030504040204" pitchFamily="34" charset="-120"/>
                  </a:rPr>
                  <a:t>通常增加的量是</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𝑚𝑎𝑗</m:t>
                            </m:r>
                          </m:sub>
                        </m:sSub>
                      </m:e>
                    </m:d>
                    <m:r>
                      <a:rPr lang="en-US" altLang="zh-TW" i="1">
                        <a:latin typeface="Cambria Math" panose="02040503050406030204" pitchFamily="18" charset="0"/>
                      </a:rPr>
                      <m:t>−</m:t>
                    </m:r>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𝑚𝑖𝑛</m:t>
                            </m:r>
                          </m:sub>
                        </m:sSub>
                      </m:e>
                    </m:d>
                  </m:oMath>
                </a14:m>
                <a:r>
                  <a:rPr lang="zh-TW" altLang="en-US" dirty="0"/>
                  <a:t>。</a:t>
                </a:r>
                <a:endParaRPr lang="en-US" altLang="zh-TW" dirty="0"/>
              </a:p>
              <a:p>
                <a:endParaRPr lang="en-US" altLang="zh-TW" dirty="0"/>
              </a:p>
              <a:p>
                <a:r>
                  <a:rPr lang="en-US" altLang="zh-TW" b="1" dirty="0">
                    <a:solidFill>
                      <a:srgbClr val="0B5394"/>
                    </a:solidFill>
                    <a:latin typeface="Cambria Math" panose="02040503050406030204" pitchFamily="18" charset="0"/>
                    <a:ea typeface="Cambria Math" panose="02040503050406030204" pitchFamily="18" charset="0"/>
                  </a:rPr>
                  <a:t>Under-Sampling</a:t>
                </a:r>
                <a:r>
                  <a:rPr lang="en-US" altLang="zh-TW" dirty="0"/>
                  <a:t/>
                </a:r>
                <a:br>
                  <a:rPr lang="en-US" altLang="zh-TW" dirty="0"/>
                </a:br>
                <a:r>
                  <a:rPr lang="zh-TW" altLang="en-US" dirty="0">
                    <a:latin typeface="微軟正黑體" panose="020B0604030504040204" pitchFamily="34" charset="-120"/>
                    <a:ea typeface="微軟正黑體" panose="020B0604030504040204" pitchFamily="34" charset="-120"/>
                  </a:rPr>
                  <a:t>和</a:t>
                </a:r>
                <a:r>
                  <a:rPr lang="en-US" altLang="zh-TW" dirty="0">
                    <a:latin typeface="Cambria Math" panose="02040503050406030204" pitchFamily="18" charset="0"/>
                    <a:ea typeface="Cambria Math" panose="02040503050406030204" pitchFamily="18" charset="0"/>
                  </a:rPr>
                  <a:t>Over-Sample</a:t>
                </a:r>
                <a:r>
                  <a:rPr lang="zh-TW" altLang="en-US" dirty="0">
                    <a:latin typeface="微軟正黑體" panose="020B0604030504040204" pitchFamily="34" charset="-120"/>
                    <a:ea typeface="微軟正黑體" panose="020B0604030504040204" pitchFamily="34" charset="-120"/>
                  </a:rPr>
                  <a:t>相反，從</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m:t>
                        </m:r>
                        <m:r>
                          <a:rPr lang="en-US" altLang="zh-TW" b="0" i="1" smtClean="0">
                            <a:latin typeface="Cambria Math" panose="02040503050406030204" pitchFamily="18" charset="0"/>
                          </a:rPr>
                          <m:t>𝑎𝑗</m:t>
                        </m:r>
                      </m:sub>
                    </m:sSub>
                  </m:oMath>
                </a14:m>
                <a:r>
                  <a:rPr lang="zh-TW" altLang="en-US" dirty="0" smtClean="0">
                    <a:latin typeface="微軟正黑體" panose="020B0604030504040204" pitchFamily="34" charset="-120"/>
                    <a:ea typeface="微軟正黑體" panose="020B0604030504040204" pitchFamily="34" charset="-120"/>
                  </a:rPr>
                  <a:t>隨機</a:t>
                </a:r>
                <a:r>
                  <a:rPr lang="zh-TW" altLang="en-US" dirty="0">
                    <a:latin typeface="微軟正黑體" panose="020B0604030504040204" pitchFamily="34" charset="-120"/>
                    <a:ea typeface="微軟正黑體" panose="020B0604030504040204" pitchFamily="34" charset="-120"/>
                  </a:rPr>
                  <a:t>刪</a:t>
                </a:r>
                <a14:m>
                  <m:oMath xmlns:m="http://schemas.openxmlformats.org/officeDocument/2006/math">
                    <m:r>
                      <a:rPr lang="zh-TW" altLang="en-US" i="1">
                        <a:latin typeface="Cambria Math" panose="02040503050406030204" pitchFamily="18" charset="0"/>
                      </a:rPr>
                      <m:t>減</m:t>
                    </m:r>
                  </m:oMath>
                </a14:m>
                <a:r>
                  <a:rPr lang="zh-TW" altLang="en-US" dirty="0"/>
                  <a:t> ，</a:t>
                </a:r>
                <a:r>
                  <a:rPr lang="zh-TW" altLang="en-US" dirty="0">
                    <a:latin typeface="微軟正黑體" panose="020B0604030504040204" pitchFamily="34" charset="-120"/>
                    <a:ea typeface="微軟正黑體" panose="020B0604030504040204" pitchFamily="34" charset="-120"/>
                  </a:rPr>
                  <a:t>通常把樣本除去到跟</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的數量一樣。</a:t>
                </a:r>
                <a:endParaRPr lang="en-US" altLang="zh-TW" dirty="0">
                  <a:latin typeface="微軟正黑體" panose="020B0604030504040204" pitchFamily="34" charset="-120"/>
                  <a:ea typeface="微軟正黑體" panose="020B0604030504040204" pitchFamily="34" charset="-12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228600" y="326490"/>
                <a:ext cx="10515600" cy="3389833"/>
              </a:xfrm>
              <a:blipFill rotWithShape="0">
                <a:blip r:embed="rId2"/>
                <a:stretch>
                  <a:fillRect l="-1043" t="-3237" r="-116"/>
                </a:stretch>
              </a:blipFill>
            </p:spPr>
            <p:txBody>
              <a:bodyPr/>
              <a:lstStyle/>
              <a:p>
                <a:r>
                  <a:rPr lang="zh-TW" altLang="en-US">
                    <a:noFill/>
                  </a:rPr>
                  <a:t> </a:t>
                </a:r>
              </a:p>
            </p:txBody>
          </p:sp>
        </mc:Fallback>
      </mc:AlternateContent>
      <p:sp>
        <p:nvSpPr>
          <p:cNvPr id="2" name="文字方塊 1"/>
          <p:cNvSpPr txBox="1"/>
          <p:nvPr/>
        </p:nvSpPr>
        <p:spPr>
          <a:xfrm>
            <a:off x="228600" y="4130141"/>
            <a:ext cx="9982541" cy="954107"/>
          </a:xfrm>
          <a:prstGeom prst="rect">
            <a:avLst/>
          </a:prstGeom>
          <a:noFill/>
        </p:spPr>
        <p:txBody>
          <a:bodyPr wrap="none" rtlCol="0">
            <a:spAutoFit/>
          </a:bodyPr>
          <a:lstStyle/>
          <a:p>
            <a:r>
              <a:rPr lang="en-US" altLang="zh-TW" sz="2800" b="1" dirty="0">
                <a:solidFill>
                  <a:srgbClr val="00B050"/>
                </a:solidFill>
                <a:latin typeface="Cambria Math" panose="02040503050406030204" pitchFamily="18" charset="0"/>
                <a:ea typeface="Cambria Math" panose="02040503050406030204" pitchFamily="18" charset="0"/>
              </a:rPr>
              <a:t>Over-Sample</a:t>
            </a:r>
            <a:r>
              <a:rPr lang="zh-TW" altLang="en-US" sz="2800" dirty="0">
                <a:latin typeface="微軟正黑體" panose="020B0604030504040204" pitchFamily="34" charset="-120"/>
                <a:ea typeface="微軟正黑體" panose="020B0604030504040204" pitchFamily="34" charset="-120"/>
              </a:rPr>
              <a:t>由於會重覆採樣，因此可能會有</a:t>
            </a:r>
            <a:r>
              <a:rPr lang="en-US" altLang="zh-TW" sz="2400" dirty="0"/>
              <a:t>over-fitting</a:t>
            </a:r>
            <a:r>
              <a:rPr lang="zh-TW" altLang="en-US" sz="2800" dirty="0">
                <a:latin typeface="微軟正黑體" panose="020B0604030504040204" pitchFamily="34" charset="-120"/>
                <a:ea typeface="微軟正黑體" panose="020B0604030504040204" pitchFamily="34" charset="-120"/>
              </a:rPr>
              <a:t>的問題，</a:t>
            </a:r>
            <a:endParaRPr lang="en-US" altLang="zh-TW" sz="2800" dirty="0">
              <a:latin typeface="微軟正黑體" panose="020B0604030504040204" pitchFamily="34" charset="-120"/>
              <a:ea typeface="微軟正黑體" panose="020B0604030504040204" pitchFamily="34" charset="-120"/>
            </a:endParaRPr>
          </a:p>
          <a:p>
            <a:r>
              <a:rPr lang="en-US" altLang="zh-TW" sz="2400" b="1" dirty="0">
                <a:solidFill>
                  <a:srgbClr val="0B5394"/>
                </a:solidFill>
                <a:latin typeface="Cambria Math" panose="02040503050406030204" pitchFamily="18" charset="0"/>
                <a:ea typeface="Cambria Math" panose="02040503050406030204" pitchFamily="18" charset="0"/>
              </a:rPr>
              <a:t>Under-Sample</a:t>
            </a:r>
            <a:r>
              <a:rPr lang="zh-TW" altLang="en-US" sz="2800" dirty="0">
                <a:latin typeface="微軟正黑體" panose="020B0604030504040204" pitchFamily="34" charset="-120"/>
                <a:ea typeface="微軟正黑體" panose="020B0604030504040204" pitchFamily="34" charset="-120"/>
              </a:rPr>
              <a:t>則是可能會刪掉一些重要的樣本。</a:t>
            </a:r>
          </a:p>
        </p:txBody>
      </p:sp>
    </p:spTree>
    <p:extLst>
      <p:ext uri="{BB962C8B-B14F-4D97-AF65-F5344CB8AC3E}">
        <p14:creationId xmlns:p14="http://schemas.microsoft.com/office/powerpoint/2010/main" val="30587051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4141" y="126228"/>
            <a:ext cx="11279659" cy="1325563"/>
          </a:xfrm>
        </p:spPr>
        <p:txBody>
          <a:bodyPr/>
          <a:lstStyle/>
          <a:p>
            <a:r>
              <a:rPr lang="en-US" altLang="zh-TW" b="1" dirty="0">
                <a:solidFill>
                  <a:srgbClr val="0B5394"/>
                </a:solidFill>
                <a:latin typeface="Cambria Math" panose="02040503050406030204" pitchFamily="18" charset="0"/>
                <a:ea typeface="Cambria Math" panose="02040503050406030204" pitchFamily="18" charset="0"/>
              </a:rPr>
              <a:t>SMOTE</a:t>
            </a:r>
            <a:endParaRPr lang="zh-TW" altLang="en-US"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40043" y="1339592"/>
                <a:ext cx="11747157" cy="1996732"/>
              </a:xfrm>
            </p:spPr>
            <p:txBody>
              <a:bodyPr>
                <a:normAutofit/>
              </a:bodyPr>
              <a:lstStyle/>
              <a:p>
                <a:pPr marL="0" indent="0">
                  <a:buNone/>
                </a:pPr>
                <a:r>
                  <a:rPr lang="zh-TW" altLang="en-US" dirty="0">
                    <a:latin typeface="微軟正黑體" panose="020B0604030504040204" pitchFamily="34" charset="-120"/>
                    <a:ea typeface="微軟正黑體" panose="020B0604030504040204" pitchFamily="34" charset="-120"/>
                  </a:rPr>
                  <a:t>利用</a:t>
                </a:r>
                <a:r>
                  <a:rPr lang="en-US" altLang="zh-TW" dirty="0">
                    <a:latin typeface="Cambria Math" panose="02040503050406030204" pitchFamily="18" charset="0"/>
                    <a:ea typeface="Cambria Math" panose="02040503050406030204" pitchFamily="18" charset="0"/>
                  </a:rPr>
                  <a:t>K-NN</a:t>
                </a:r>
                <a:r>
                  <a:rPr lang="zh-TW" altLang="en-US" dirty="0">
                    <a:latin typeface="微軟正黑體" panose="020B0604030504040204" pitchFamily="34" charset="-120"/>
                    <a:ea typeface="微軟正黑體" panose="020B0604030504040204" pitchFamily="34" charset="-120"/>
                  </a:rPr>
                  <a:t>來產生新的</a:t>
                </a:r>
                <a:r>
                  <a:rPr lang="en-US" altLang="zh-TW" dirty="0">
                    <a:latin typeface="Cambria Math" panose="02040503050406030204" pitchFamily="18" charset="0"/>
                    <a:ea typeface="Cambria Math" panose="02040503050406030204" pitchFamily="18" charset="0"/>
                  </a:rPr>
                  <a:t>sample</a:t>
                </a:r>
                <a:r>
                  <a:rPr lang="zh-TW" altLang="en-US" dirty="0">
                    <a:latin typeface="微軟正黑體" panose="020B0604030504040204" pitchFamily="34" charset="-120"/>
                    <a:ea typeface="微軟正黑體" panose="020B0604030504040204" pitchFamily="34" charset="-120"/>
                  </a:rPr>
                  <a:t>，假設是</a:t>
                </a:r>
                <a:r>
                  <a:rPr lang="en-US" altLang="zh-TW" dirty="0">
                    <a:latin typeface="Cambria Math" panose="02040503050406030204" pitchFamily="18" charset="0"/>
                    <a:ea typeface="Cambria Math" panose="02040503050406030204" pitchFamily="18" charset="0"/>
                  </a:rPr>
                  <a:t>6-NN</a:t>
                </a:r>
                <a:r>
                  <a:rPr lang="zh-TW" altLang="en-US" dirty="0"/>
                  <a:t>，</a:t>
                </a:r>
                <a:r>
                  <a:rPr lang="zh-TW" altLang="en-US" dirty="0">
                    <a:latin typeface="微軟正黑體" panose="020B0604030504040204" pitchFamily="34" charset="-120"/>
                    <a:ea typeface="微軟正黑體" panose="020B0604030504040204" pitchFamily="34" charset="-120"/>
                  </a:rPr>
                  <a:t>從</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隨機挑一個點</a:t>
                </a:r>
                <a14:m>
                  <m:oMath xmlns:m="http://schemas.openxmlformats.org/officeDocument/2006/math">
                    <m:sSub>
                      <m:sSubPr>
                        <m:ctrlPr>
                          <a:rPr lang="en-US" altLang="zh-TW" i="1" smtClean="0">
                            <a:solidFill>
                              <a:srgbClr val="C00000"/>
                            </a:solidFill>
                            <a:latin typeface="Cambria Math" panose="02040503050406030204" pitchFamily="18" charset="0"/>
                            <a:ea typeface="微軟正黑體" panose="020B0604030504040204" pitchFamily="34" charset="-120"/>
                          </a:rPr>
                        </m:ctrlPr>
                      </m:sSubPr>
                      <m:e>
                        <m:r>
                          <a:rPr lang="en-US" altLang="zh-TW">
                            <a:solidFill>
                              <a:srgbClr val="C00000"/>
                            </a:solidFill>
                            <a:latin typeface="Cambria Math" panose="02040503050406030204" pitchFamily="18" charset="0"/>
                            <a:ea typeface="微軟正黑體" panose="020B0604030504040204" pitchFamily="34" charset="-120"/>
                          </a:rPr>
                          <m:t>𝑥</m:t>
                        </m:r>
                      </m:e>
                      <m:sub>
                        <m:r>
                          <a:rPr lang="en-US" altLang="zh-TW">
                            <a:solidFill>
                              <a:srgbClr val="C00000"/>
                            </a:solidFill>
                            <a:latin typeface="Cambria Math" panose="02040503050406030204" pitchFamily="18" charset="0"/>
                            <a:ea typeface="微軟正黑體" panose="020B0604030504040204" pitchFamily="34" charset="-120"/>
                          </a:rPr>
                          <m:t>𝑖</m:t>
                        </m:r>
                      </m:sub>
                    </m:sSub>
                    <m:r>
                      <a:rPr lang="zh-TW" altLang="en-US">
                        <a:latin typeface="Cambria Math" panose="02040503050406030204" pitchFamily="18" charset="0"/>
                        <a:ea typeface="微軟正黑體" panose="020B0604030504040204" pitchFamily="34" charset="-120"/>
                      </a:rPr>
                      <m:t>。</m:t>
                    </m:r>
                  </m:oMath>
                </a14:m>
                <a:r>
                  <a:rPr lang="zh-TW" altLang="en-US" dirty="0">
                    <a:latin typeface="微軟正黑體" panose="020B0604030504040204" pitchFamily="34" charset="-120"/>
                    <a:ea typeface="微軟正黑體" panose="020B0604030504040204" pitchFamily="34" charset="-120"/>
                  </a:rPr>
                  <a:t>根據</a:t>
                </a:r>
                <a:r>
                  <a:rPr lang="en-US" altLang="zh-TW" dirty="0">
                    <a:latin typeface="Cambria Math" panose="02040503050406030204" pitchFamily="18" charset="0"/>
                    <a:ea typeface="Cambria Math" panose="02040503050406030204" pitchFamily="18" charset="0"/>
                  </a:rPr>
                  <a:t>6-NN</a:t>
                </a:r>
                <a:r>
                  <a:rPr lang="zh-TW" altLang="en-US" dirty="0">
                    <a:latin typeface="微軟正黑體" panose="020B0604030504040204" pitchFamily="34" charset="-120"/>
                    <a:ea typeface="微軟正黑體" panose="020B0604030504040204" pitchFamily="34" charset="-120"/>
                  </a:rPr>
                  <a:t>，他會選擇離他最近的</a:t>
                </a:r>
                <a:r>
                  <a:rPr lang="en-US" altLang="zh-TW" dirty="0">
                    <a:latin typeface="Cambria Math" panose="02040503050406030204" pitchFamily="18" charset="0"/>
                    <a:ea typeface="Cambria Math" panose="02040503050406030204" pitchFamily="18" charset="0"/>
                  </a:rPr>
                  <a:t>6</a:t>
                </a:r>
                <a:r>
                  <a:rPr lang="zh-TW" altLang="en-US" dirty="0">
                    <a:latin typeface="微軟正黑體" panose="020B0604030504040204" pitchFamily="34" charset="-120"/>
                    <a:ea typeface="微軟正黑體" panose="020B0604030504040204" pitchFamily="34" charset="-120"/>
                  </a:rPr>
                  <a:t>個點，這邊我們只選</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的點</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忽略</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𝑚𝑎𝑗</m:t>
                        </m:r>
                      </m:sub>
                    </m:sSub>
                  </m:oMath>
                </a14:m>
                <a:r>
                  <a:rPr lang="en-US" altLang="zh-TW" dirty="0">
                    <a:latin typeface="微軟正黑體" panose="020B0604030504040204" pitchFamily="34" charset="-120"/>
                    <a:ea typeface="微軟正黑體" panose="020B0604030504040204" pitchFamily="34" charset="-120"/>
                  </a:rPr>
                  <a:t>)</a:t>
                </a:r>
                <a:r>
                  <a:rPr lang="zh-TW" altLang="en-US" dirty="0"/>
                  <a:t>，</a:t>
                </a:r>
                <a:r>
                  <a:rPr lang="zh-TW" altLang="en-US" dirty="0">
                    <a:latin typeface="微軟正黑體" panose="020B0604030504040204" pitchFamily="34" charset="-120"/>
                    <a:ea typeface="微軟正黑體" panose="020B0604030504040204" pitchFamily="34" charset="-120"/>
                  </a:rPr>
                  <a:t>再從這</a:t>
                </a:r>
                <a:r>
                  <a:rPr lang="en-US" altLang="zh-TW" dirty="0">
                    <a:latin typeface="Cambria Math" panose="02040503050406030204" pitchFamily="18" charset="0"/>
                    <a:ea typeface="Cambria Math" panose="02040503050406030204" pitchFamily="18" charset="0"/>
                  </a:rPr>
                  <a:t>6</a:t>
                </a:r>
                <a:r>
                  <a:rPr lang="zh-TW" altLang="en-US" dirty="0">
                    <a:latin typeface="微軟正黑體" panose="020B0604030504040204" pitchFamily="34" charset="-120"/>
                    <a:ea typeface="微軟正黑體" panose="020B0604030504040204" pitchFamily="34" charset="-120"/>
                  </a:rPr>
                  <a:t>個點中任一選一個點，令為</a:t>
                </a:r>
                <a14:m>
                  <m:oMath xmlns:m="http://schemas.openxmlformats.org/officeDocument/2006/math">
                    <m:sSub>
                      <m:sSubPr>
                        <m:ctrlPr>
                          <a:rPr lang="en-US" altLang="zh-TW" i="1" smtClean="0">
                            <a:solidFill>
                              <a:srgbClr val="00B050"/>
                            </a:solidFill>
                            <a:latin typeface="Cambria Math" panose="02040503050406030204" pitchFamily="18" charset="0"/>
                          </a:rPr>
                        </m:ctrlPr>
                      </m:sSubPr>
                      <m:e>
                        <m:acc>
                          <m:accPr>
                            <m:chr m:val="̂"/>
                            <m:ctrlPr>
                              <a:rPr lang="en-US" altLang="zh-TW" i="1" smtClean="0">
                                <a:solidFill>
                                  <a:srgbClr val="00B050"/>
                                </a:solidFill>
                                <a:latin typeface="Cambria Math" panose="02040503050406030204" pitchFamily="18" charset="0"/>
                              </a:rPr>
                            </m:ctrlPr>
                          </m:accPr>
                          <m:e>
                            <m:r>
                              <a:rPr lang="en-US" altLang="zh-TW" b="0" i="1" smtClean="0">
                                <a:solidFill>
                                  <a:srgbClr val="00B050"/>
                                </a:solidFill>
                                <a:latin typeface="Cambria Math" panose="02040503050406030204" pitchFamily="18" charset="0"/>
                              </a:rPr>
                              <m:t>𝑥</m:t>
                            </m:r>
                          </m:e>
                        </m:acc>
                      </m:e>
                      <m:sub>
                        <m:r>
                          <a:rPr lang="en-US" altLang="zh-TW" b="0" i="1" smtClean="0">
                            <a:solidFill>
                              <a:srgbClr val="00B050"/>
                            </a:solidFill>
                            <a:latin typeface="Cambria Math" panose="02040503050406030204" pitchFamily="18" charset="0"/>
                          </a:rPr>
                          <m:t>𝑖</m:t>
                        </m:r>
                      </m:sub>
                    </m:sSub>
                  </m:oMath>
                </a14:m>
                <a:r>
                  <a:rPr lang="zh-TW" altLang="en-US" dirty="0"/>
                  <a:t>，</a:t>
                </a:r>
                <a:r>
                  <a:rPr lang="zh-TW" altLang="en-US" dirty="0">
                    <a:latin typeface="微軟正黑體" panose="020B0604030504040204" pitchFamily="34" charset="-120"/>
                    <a:ea typeface="微軟正黑體" panose="020B0604030504040204" pitchFamily="34" charset="-120"/>
                  </a:rPr>
                  <a:t>然後在</a:t>
                </a:r>
                <a14:m>
                  <m:oMath xmlns:m="http://schemas.openxmlformats.org/officeDocument/2006/math">
                    <m:sSub>
                      <m:sSubPr>
                        <m:ctrlPr>
                          <a:rPr lang="en-US" altLang="zh-TW" i="1">
                            <a:solidFill>
                              <a:srgbClr val="C00000"/>
                            </a:solidFill>
                            <a:latin typeface="Cambria Math" panose="02040503050406030204" pitchFamily="18" charset="0"/>
                            <a:ea typeface="微軟正黑體" panose="020B0604030504040204" pitchFamily="34" charset="-120"/>
                          </a:rPr>
                        </m:ctrlPr>
                      </m:sSubPr>
                      <m:e>
                        <m:r>
                          <a:rPr lang="en-US" altLang="zh-TW">
                            <a:solidFill>
                              <a:srgbClr val="C00000"/>
                            </a:solidFill>
                            <a:latin typeface="Cambria Math" panose="02040503050406030204" pitchFamily="18" charset="0"/>
                            <a:ea typeface="微軟正黑體" panose="020B0604030504040204" pitchFamily="34" charset="-120"/>
                          </a:rPr>
                          <m:t>𝑥</m:t>
                        </m:r>
                      </m:e>
                      <m:sub>
                        <m:r>
                          <a:rPr lang="en-US" altLang="zh-TW">
                            <a:solidFill>
                              <a:srgbClr val="C00000"/>
                            </a:solidFill>
                            <a:latin typeface="Cambria Math" panose="02040503050406030204" pitchFamily="18" charset="0"/>
                            <a:ea typeface="微軟正黑體" panose="020B0604030504040204" pitchFamily="34" charset="-120"/>
                          </a:rPr>
                          <m:t>𝑖</m:t>
                        </m:r>
                      </m:sub>
                    </m:sSub>
                  </m:oMath>
                </a14:m>
                <a:r>
                  <a:rPr lang="zh-TW" altLang="en-US" dirty="0"/>
                  <a:t>，</a:t>
                </a:r>
                <a14:m>
                  <m:oMath xmlns:m="http://schemas.openxmlformats.org/officeDocument/2006/math">
                    <m:sSub>
                      <m:sSubPr>
                        <m:ctrlPr>
                          <a:rPr lang="en-US" altLang="zh-TW" i="1" smtClean="0">
                            <a:solidFill>
                              <a:srgbClr val="00B050"/>
                            </a:solidFill>
                            <a:latin typeface="Cambria Math" panose="02040503050406030204" pitchFamily="18" charset="0"/>
                          </a:rPr>
                        </m:ctrlPr>
                      </m:sSubPr>
                      <m:e>
                        <m:acc>
                          <m:accPr>
                            <m:chr m:val="̂"/>
                            <m:ctrlPr>
                              <a:rPr lang="en-US" altLang="zh-TW" i="1">
                                <a:solidFill>
                                  <a:srgbClr val="00B050"/>
                                </a:solidFill>
                                <a:latin typeface="Cambria Math" panose="02040503050406030204" pitchFamily="18" charset="0"/>
                              </a:rPr>
                            </m:ctrlPr>
                          </m:accPr>
                          <m:e>
                            <m:r>
                              <a:rPr lang="en-US" altLang="zh-TW" i="1">
                                <a:solidFill>
                                  <a:srgbClr val="00B050"/>
                                </a:solidFill>
                                <a:latin typeface="Cambria Math" panose="02040503050406030204" pitchFamily="18" charset="0"/>
                              </a:rPr>
                              <m:t>𝑥</m:t>
                            </m:r>
                          </m:e>
                        </m:acc>
                      </m:e>
                      <m:sub>
                        <m:r>
                          <a:rPr lang="en-US" altLang="zh-TW" i="1">
                            <a:solidFill>
                              <a:srgbClr val="00B050"/>
                            </a:solidFill>
                            <a:latin typeface="Cambria Math" panose="02040503050406030204" pitchFamily="18" charset="0"/>
                          </a:rPr>
                          <m:t>𝑖</m:t>
                        </m:r>
                      </m:sub>
                    </m:sSub>
                  </m:oMath>
                </a14:m>
                <a:r>
                  <a:rPr lang="zh-TW" altLang="en-US" dirty="0">
                    <a:latin typeface="微軟正黑體" panose="020B0604030504040204" pitchFamily="34" charset="-120"/>
                    <a:ea typeface="微軟正黑體" panose="020B0604030504040204" pitchFamily="34" charset="-120"/>
                  </a:rPr>
                  <a:t>之間隨機挑選一個點加入</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40043" y="1339592"/>
                <a:ext cx="11747157" cy="1996732"/>
              </a:xfrm>
              <a:blipFill>
                <a:blip r:embed="rId2"/>
                <a:stretch>
                  <a:fillRect l="-1090" t="-5810" r="-519"/>
                </a:stretch>
              </a:blipFill>
            </p:spPr>
            <p:txBody>
              <a:bodyPr/>
              <a:lstStyle/>
              <a:p>
                <a:r>
                  <a:rPr lang="zh-TW" altLang="en-US">
                    <a:noFill/>
                  </a:rPr>
                  <a:t> </a:t>
                </a:r>
              </a:p>
            </p:txBody>
          </p:sp>
        </mc:Fallback>
      </mc:AlternateContent>
      <p:pic>
        <p:nvPicPr>
          <p:cNvPr id="4" name="圖片 3"/>
          <p:cNvPicPr>
            <a:picLocks noChangeAspect="1"/>
          </p:cNvPicPr>
          <p:nvPr/>
        </p:nvPicPr>
        <p:blipFill>
          <a:blip r:embed="rId3"/>
          <a:stretch>
            <a:fillRect/>
          </a:stretch>
        </p:blipFill>
        <p:spPr>
          <a:xfrm>
            <a:off x="5333967" y="3006811"/>
            <a:ext cx="6315107" cy="3498764"/>
          </a:xfrm>
          <a:prstGeom prst="rect">
            <a:avLst/>
          </a:prstGeom>
        </p:spPr>
      </p:pic>
      <mc:AlternateContent xmlns:mc="http://schemas.openxmlformats.org/markup-compatibility/2006" xmlns:a14="http://schemas.microsoft.com/office/drawing/2010/main">
        <mc:Choice Requires="a14">
          <p:sp>
            <p:nvSpPr>
              <p:cNvPr id="6" name="文字方塊 5"/>
              <p:cNvSpPr txBox="1"/>
              <p:nvPr/>
            </p:nvSpPr>
            <p:spPr>
              <a:xfrm>
                <a:off x="937833" y="3692086"/>
                <a:ext cx="3704669" cy="400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600" i="1" smtClean="0">
                              <a:latin typeface="Cambria Math" panose="02040503050406030204" pitchFamily="18" charset="0"/>
                            </a:rPr>
                          </m:ctrlPr>
                        </m:sSubPr>
                        <m:e>
                          <m:r>
                            <a:rPr lang="en-US" altLang="zh-TW" sz="2600" b="0" i="1" smtClean="0">
                              <a:latin typeface="Cambria Math" panose="02040503050406030204" pitchFamily="18" charset="0"/>
                            </a:rPr>
                            <m:t>𝑥</m:t>
                          </m:r>
                        </m:e>
                        <m:sub>
                          <m:r>
                            <a:rPr lang="en-US" altLang="zh-TW" sz="2600" b="0" i="1" smtClean="0">
                              <a:latin typeface="Cambria Math" panose="02040503050406030204" pitchFamily="18" charset="0"/>
                            </a:rPr>
                            <m:t>𝑛𝑒𝑤</m:t>
                          </m:r>
                        </m:sub>
                      </m:sSub>
                      <m:r>
                        <a:rPr lang="en-US" altLang="zh-TW" sz="2600" b="0" i="1" smtClean="0">
                          <a:latin typeface="Cambria Math" panose="02040503050406030204" pitchFamily="18" charset="0"/>
                        </a:rPr>
                        <m:t>=</m:t>
                      </m:r>
                      <m:sSub>
                        <m:sSubPr>
                          <m:ctrlPr>
                            <a:rPr lang="en-US" altLang="zh-TW" sz="2600" i="1" smtClean="0">
                              <a:latin typeface="Cambria Math" panose="02040503050406030204" pitchFamily="18" charset="0"/>
                            </a:rPr>
                          </m:ctrlPr>
                        </m:sSubPr>
                        <m:e>
                          <m:r>
                            <a:rPr lang="en-US" altLang="zh-TW" sz="2600" i="1">
                              <a:latin typeface="Cambria Math" panose="02040503050406030204" pitchFamily="18" charset="0"/>
                            </a:rPr>
                            <m:t>𝑥</m:t>
                          </m:r>
                        </m:e>
                        <m:sub>
                          <m:r>
                            <a:rPr lang="en-US" altLang="zh-TW" sz="2600" i="1">
                              <a:latin typeface="Cambria Math" panose="02040503050406030204" pitchFamily="18" charset="0"/>
                            </a:rPr>
                            <m:t>𝑖</m:t>
                          </m:r>
                        </m:sub>
                      </m:sSub>
                      <m:r>
                        <a:rPr lang="en-US" altLang="zh-TW" sz="2600" b="0" i="1" smtClean="0">
                          <a:latin typeface="Cambria Math" panose="02040503050406030204" pitchFamily="18" charset="0"/>
                        </a:rPr>
                        <m:t>+(</m:t>
                      </m:r>
                      <m:sSub>
                        <m:sSubPr>
                          <m:ctrlPr>
                            <a:rPr lang="en-US" altLang="zh-TW" sz="2600" i="1" smtClean="0">
                              <a:latin typeface="Cambria Math" panose="02040503050406030204" pitchFamily="18" charset="0"/>
                            </a:rPr>
                          </m:ctrlPr>
                        </m:sSubPr>
                        <m:e>
                          <m:acc>
                            <m:accPr>
                              <m:chr m:val="̂"/>
                              <m:ctrlPr>
                                <a:rPr lang="en-US" altLang="zh-TW" sz="2600" i="1" smtClean="0">
                                  <a:latin typeface="Cambria Math" panose="02040503050406030204" pitchFamily="18" charset="0"/>
                                </a:rPr>
                              </m:ctrlPr>
                            </m:accPr>
                            <m:e>
                              <m:r>
                                <a:rPr lang="en-US" altLang="zh-TW" sz="2600" b="0" i="1" smtClean="0">
                                  <a:latin typeface="Cambria Math" panose="02040503050406030204" pitchFamily="18" charset="0"/>
                                </a:rPr>
                                <m:t>𝑥</m:t>
                              </m:r>
                            </m:e>
                          </m:acc>
                        </m:e>
                        <m:sub>
                          <m:r>
                            <a:rPr lang="en-US" altLang="zh-TW" sz="2600" b="0" i="1" smtClean="0">
                              <a:latin typeface="Cambria Math" panose="02040503050406030204" pitchFamily="18" charset="0"/>
                            </a:rPr>
                            <m:t>𝑖</m:t>
                          </m:r>
                        </m:sub>
                      </m:sSub>
                      <m:r>
                        <a:rPr lang="en-US" altLang="zh-TW" sz="2600" b="0" i="1" smtClean="0">
                          <a:latin typeface="Cambria Math" panose="02040503050406030204" pitchFamily="18" charset="0"/>
                        </a:rPr>
                        <m:t>−</m:t>
                      </m:r>
                      <m:sSub>
                        <m:sSubPr>
                          <m:ctrlPr>
                            <a:rPr lang="en-US" altLang="zh-TW" sz="2600" i="1" smtClean="0">
                              <a:latin typeface="Cambria Math" panose="02040503050406030204" pitchFamily="18" charset="0"/>
                            </a:rPr>
                          </m:ctrlPr>
                        </m:sSubPr>
                        <m:e>
                          <m:r>
                            <a:rPr lang="en-US" altLang="zh-TW" sz="2600" i="1">
                              <a:latin typeface="Cambria Math" panose="02040503050406030204" pitchFamily="18" charset="0"/>
                            </a:rPr>
                            <m:t>𝑥</m:t>
                          </m:r>
                        </m:e>
                        <m:sub>
                          <m:r>
                            <a:rPr lang="en-US" altLang="zh-TW" sz="2600" i="1">
                              <a:latin typeface="Cambria Math" panose="02040503050406030204" pitchFamily="18" charset="0"/>
                            </a:rPr>
                            <m:t>𝑖</m:t>
                          </m:r>
                        </m:sub>
                      </m:sSub>
                      <m:r>
                        <a:rPr lang="en-US" altLang="zh-TW" sz="2600" b="0" i="1" smtClean="0">
                          <a:latin typeface="Cambria Math" panose="02040503050406030204" pitchFamily="18" charset="0"/>
                        </a:rPr>
                        <m:t>)</m:t>
                      </m:r>
                      <m:r>
                        <a:rPr lang="en-US" altLang="zh-TW" sz="2600" b="0" i="1" smtClean="0">
                          <a:latin typeface="Cambria Math" panose="02040503050406030204" pitchFamily="18" charset="0"/>
                          <a:ea typeface="Cambria Math" panose="02040503050406030204" pitchFamily="18" charset="0"/>
                        </a:rPr>
                        <m:t>×</m:t>
                      </m:r>
                      <m:r>
                        <a:rPr lang="zh-TW" altLang="en-US" sz="2600" b="0" i="1" smtClean="0">
                          <a:latin typeface="Cambria Math" panose="02040503050406030204" pitchFamily="18" charset="0"/>
                          <a:ea typeface="Cambria Math" panose="02040503050406030204" pitchFamily="18" charset="0"/>
                        </a:rPr>
                        <m:t>𝛼</m:t>
                      </m:r>
                    </m:oMath>
                  </m:oMathPara>
                </a14:m>
                <a:endParaRPr lang="zh-TW" altLang="en-US" sz="26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937833" y="3692086"/>
                <a:ext cx="3704669"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516158" y="4263292"/>
                <a:ext cx="2441694" cy="369332"/>
              </a:xfrm>
              <a:prstGeom prst="rect">
                <a:avLst/>
              </a:prstGeom>
            </p:spPr>
            <p:txBody>
              <a:bodyPr wrap="none">
                <a:spAutoFit/>
              </a:bodyPr>
              <a:lstStyle/>
              <a:p>
                <a14:m>
                  <m:oMath xmlns:m="http://schemas.openxmlformats.org/officeDocument/2006/math">
                    <m:r>
                      <a:rPr lang="zh-TW" altLang="en-US" b="0" i="1" smtClean="0">
                        <a:latin typeface="Cambria Math" panose="02040503050406030204" pitchFamily="18" charset="0"/>
                        <a:ea typeface="Cambria Math" panose="02040503050406030204" pitchFamily="18" charset="0"/>
                      </a:rPr>
                      <m:t>𝛼</m:t>
                    </m:r>
                    <m:r>
                      <a:rPr lang="zh-TW" altLang="en-US" i="1">
                        <a:latin typeface="Cambria Math" panose="02040503050406030204" pitchFamily="18" charset="0"/>
                        <a:ea typeface="Cambria Math" panose="02040503050406030204" pitchFamily="18" charset="0"/>
                      </a:rPr>
                      <m:t>是</m:t>
                    </m:r>
                    <m:r>
                      <a:rPr lang="en-US" altLang="zh-TW" i="1">
                        <a:latin typeface="Cambria Math" panose="02040503050406030204" pitchFamily="18" charset="0"/>
                        <a:ea typeface="Cambria Math" panose="02040503050406030204" pitchFamily="18" charset="0"/>
                      </a:rPr>
                      <m:t>[0,</m:t>
                    </m:r>
                    <m:r>
                      <a:rPr lang="zh-TW" altLang="en-US" i="1">
                        <a:latin typeface="Cambria Math" panose="02040503050406030204" pitchFamily="18" charset="0"/>
                        <a:ea typeface="Cambria Math" panose="02040503050406030204" pitchFamily="18" charset="0"/>
                      </a:rPr>
                      <m:t> </m:t>
                    </m:r>
                    <m:r>
                      <a:rPr lang="en-US" altLang="zh-TW" i="1">
                        <a:latin typeface="Cambria Math" panose="02040503050406030204" pitchFamily="18" charset="0"/>
                        <a:ea typeface="Cambria Math" panose="02040503050406030204" pitchFamily="18" charset="0"/>
                      </a:rPr>
                      <m:t>1]</m:t>
                    </m:r>
                    <m:r>
                      <a:rPr lang="zh-TW" altLang="en-US" i="1">
                        <a:latin typeface="Cambria Math" panose="02040503050406030204" pitchFamily="18" charset="0"/>
                      </a:rPr>
                      <m:t>之間的</m:t>
                    </m:r>
                  </m:oMath>
                </a14:m>
                <a:r>
                  <a:rPr lang="zh-TW" altLang="en-US" dirty="0"/>
                  <a:t>實數值</a:t>
                </a:r>
              </a:p>
            </p:txBody>
          </p:sp>
        </mc:Choice>
        <mc:Fallback xmlns="">
          <p:sp>
            <p:nvSpPr>
              <p:cNvPr id="7" name="矩形 6"/>
              <p:cNvSpPr>
                <a:spLocks noRot="1" noChangeAspect="1" noMove="1" noResize="1" noEditPoints="1" noAdjustHandles="1" noChangeArrowheads="1" noChangeShapeType="1" noTextEdit="1"/>
              </p:cNvSpPr>
              <p:nvPr/>
            </p:nvSpPr>
            <p:spPr>
              <a:xfrm>
                <a:off x="1516158" y="4263292"/>
                <a:ext cx="2441694" cy="369332"/>
              </a:xfrm>
              <a:prstGeom prst="rect">
                <a:avLst/>
              </a:prstGeom>
              <a:blipFill>
                <a:blip r:embed="rId5"/>
                <a:stretch>
                  <a:fillRect t="-8197" r="-1500"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182404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6794" y="134465"/>
            <a:ext cx="10515600" cy="1325563"/>
          </a:xfrm>
        </p:spPr>
        <p:txBody>
          <a:bodyPr/>
          <a:lstStyle/>
          <a:p>
            <a:r>
              <a:rPr lang="en-US" altLang="zh-TW" b="1" dirty="0">
                <a:solidFill>
                  <a:srgbClr val="0B5394"/>
                </a:solidFill>
                <a:latin typeface="Cambria Math" panose="02040503050406030204" pitchFamily="18" charset="0"/>
                <a:ea typeface="Cambria Math" panose="02040503050406030204" pitchFamily="18" charset="0"/>
              </a:rPr>
              <a:t>Borderline-SMOTE</a:t>
            </a:r>
            <a:endParaRPr lang="zh-TW" altLang="en-US"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54460" y="1257214"/>
                <a:ext cx="11757454" cy="934051"/>
              </a:xfrm>
            </p:spPr>
            <p:txBody>
              <a:bodyPr>
                <a:normAutofit/>
              </a:bodyPr>
              <a:lstStyle/>
              <a:p>
                <a:r>
                  <a:rPr lang="zh-TW" altLang="en-US" sz="2600" dirty="0">
                    <a:latin typeface="微軟正黑體" panose="020B0604030504040204" pitchFamily="34" charset="-120"/>
                    <a:ea typeface="微軟正黑體" panose="020B0604030504040204" pitchFamily="34" charset="-120"/>
                  </a:rPr>
                  <a:t>一樣用</a:t>
                </a:r>
                <a:r>
                  <a:rPr lang="en-US" altLang="zh-TW" sz="2600" dirty="0"/>
                  <a:t>K-NN</a:t>
                </a:r>
                <a:r>
                  <a:rPr lang="zh-TW" altLang="en-US" sz="2600" dirty="0"/>
                  <a:t>找</a:t>
                </a:r>
                <a14:m>
                  <m:oMath xmlns:m="http://schemas.openxmlformats.org/officeDocument/2006/math">
                    <m:sSub>
                      <m:sSubPr>
                        <m:ctrlPr>
                          <a:rPr lang="en-US" altLang="zh-TW" sz="2600" i="1">
                            <a:latin typeface="Cambria Math" panose="02040503050406030204" pitchFamily="18" charset="0"/>
                          </a:rPr>
                        </m:ctrlPr>
                      </m:sSubPr>
                      <m:e>
                        <m:r>
                          <a:rPr lang="en-US" altLang="zh-TW" sz="2600" i="1">
                            <a:latin typeface="Cambria Math" panose="02040503050406030204" pitchFamily="18" charset="0"/>
                          </a:rPr>
                          <m:t>𝑆</m:t>
                        </m:r>
                      </m:e>
                      <m:sub>
                        <m:r>
                          <a:rPr lang="en-US" altLang="zh-TW" sz="2600" i="1">
                            <a:latin typeface="Cambria Math" panose="02040503050406030204" pitchFamily="18" charset="0"/>
                          </a:rPr>
                          <m:t>𝑚𝑖𝑛</m:t>
                        </m:r>
                      </m:sub>
                    </m:sSub>
                  </m:oMath>
                </a14:m>
                <a:r>
                  <a:rPr lang="zh-TW" altLang="en-US" sz="2600" dirty="0"/>
                  <a:t>週邊的</a:t>
                </a:r>
                <a:r>
                  <a:rPr lang="en-US" altLang="zh-TW" sz="2600" dirty="0">
                    <a:latin typeface="Cambria Math" panose="02040503050406030204" pitchFamily="18" charset="0"/>
                    <a:ea typeface="Cambria Math" panose="02040503050406030204" pitchFamily="18" charset="0"/>
                  </a:rPr>
                  <a:t>Sample</a:t>
                </a:r>
                <a:r>
                  <a:rPr lang="zh-TW" altLang="en-US" sz="2600" dirty="0"/>
                  <a:t>，但是這次不忽略</a:t>
                </a:r>
                <a14:m>
                  <m:oMath xmlns:m="http://schemas.openxmlformats.org/officeDocument/2006/math">
                    <m:sSub>
                      <m:sSubPr>
                        <m:ctrlPr>
                          <a:rPr lang="en-US" altLang="zh-TW" sz="2600" i="1">
                            <a:latin typeface="Cambria Math" panose="02040503050406030204" pitchFamily="18" charset="0"/>
                          </a:rPr>
                        </m:ctrlPr>
                      </m:sSubPr>
                      <m:e>
                        <m:r>
                          <a:rPr lang="en-US" altLang="zh-TW" sz="2600" i="1">
                            <a:latin typeface="Cambria Math" panose="02040503050406030204" pitchFamily="18" charset="0"/>
                          </a:rPr>
                          <m:t>𝑆</m:t>
                        </m:r>
                      </m:e>
                      <m:sub>
                        <m:r>
                          <a:rPr lang="en-US" altLang="zh-TW" sz="2600" i="1">
                            <a:latin typeface="Cambria Math" panose="02040503050406030204" pitchFamily="18" charset="0"/>
                          </a:rPr>
                          <m:t>𝑚𝑎𝑗</m:t>
                        </m:r>
                      </m:sub>
                    </m:sSub>
                  </m:oMath>
                </a14:m>
                <a:r>
                  <a:rPr lang="zh-TW" altLang="en-US" sz="2600" dirty="0"/>
                  <a:t>，找到後代入公式：</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54460" y="1257214"/>
                <a:ext cx="11757454" cy="934051"/>
              </a:xfrm>
              <a:blipFill>
                <a:blip r:embed="rId2"/>
                <a:stretch>
                  <a:fillRect l="-778" t="-98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3650955" y="1947347"/>
                <a:ext cx="4926349" cy="630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solidFill>
                                <a:schemeClr val="tx1"/>
                              </a:solidFill>
                              <a:latin typeface="Cambria Math" panose="02040503050406030204" pitchFamily="18" charset="0"/>
                            </a:rPr>
                          </m:ctrlPr>
                        </m:fPr>
                        <m:num>
                          <m:r>
                            <a:rPr lang="en-US" altLang="zh-TW" sz="2400" b="0" i="1" smtClean="0">
                              <a:solidFill>
                                <a:schemeClr val="tx1"/>
                              </a:solidFill>
                              <a:latin typeface="Cambria Math" panose="02040503050406030204" pitchFamily="18" charset="0"/>
                            </a:rPr>
                            <m:t>𝑚</m:t>
                          </m:r>
                        </m:num>
                        <m:den>
                          <m:r>
                            <a:rPr lang="en-US" altLang="zh-TW" sz="2400" b="0" i="1" smtClean="0">
                              <a:solidFill>
                                <a:schemeClr val="tx1"/>
                              </a:solidFill>
                              <a:latin typeface="Cambria Math" panose="02040503050406030204" pitchFamily="18" charset="0"/>
                            </a:rPr>
                            <m:t>2</m:t>
                          </m:r>
                        </m:den>
                      </m:f>
                      <m:r>
                        <a:rPr lang="en-US" altLang="zh-TW" sz="2400" b="0" i="1" smtClean="0">
                          <a:solidFill>
                            <a:schemeClr val="tx1"/>
                          </a:solidFill>
                          <a:latin typeface="Cambria Math" panose="02040503050406030204" pitchFamily="18" charset="0"/>
                          <a:ea typeface="Cambria Math" panose="02040503050406030204" pitchFamily="18" charset="0"/>
                        </a:rPr>
                        <m:t>≤</m:t>
                      </m:r>
                      <m:sSub>
                        <m:sSubPr>
                          <m:ctrlPr>
                            <a:rPr lang="en-US" altLang="zh-TW" sz="2400" i="1" smtClean="0">
                              <a:solidFill>
                                <a:schemeClr val="tx1"/>
                              </a:solidFill>
                              <a:latin typeface="Cambria Math" panose="02040503050406030204" pitchFamily="18" charset="0"/>
                              <a:ea typeface="Cambria Math" panose="02040503050406030204" pitchFamily="18" charset="0"/>
                            </a:rPr>
                          </m:ctrlPr>
                        </m:sSubPr>
                        <m:e>
                          <m:r>
                            <a:rPr lang="zh-TW" altLang="en-US" sz="2400" b="0" i="1">
                              <a:solidFill>
                                <a:schemeClr val="tx1"/>
                              </a:solidFill>
                              <a:latin typeface="Cambria Math" panose="02040503050406030204" pitchFamily="18" charset="0"/>
                              <a:ea typeface="Cambria Math" panose="02040503050406030204" pitchFamily="18" charset="0"/>
                            </a:rPr>
                            <m:t>𝑆</m:t>
                          </m:r>
                        </m:e>
                        <m:sub>
                          <m:r>
                            <a:rPr lang="en-US" altLang="zh-TW" sz="2400" b="0" i="1" smtClean="0">
                              <a:solidFill>
                                <a:schemeClr val="tx1"/>
                              </a:solidFill>
                              <a:latin typeface="Cambria Math" panose="02040503050406030204" pitchFamily="18" charset="0"/>
                              <a:ea typeface="Cambria Math" panose="02040503050406030204" pitchFamily="18" charset="0"/>
                            </a:rPr>
                            <m:t>𝑖</m:t>
                          </m:r>
                          <m:r>
                            <a:rPr lang="en-US" altLang="zh-TW" sz="2400" b="0" i="1" smtClean="0">
                              <a:solidFill>
                                <a:schemeClr val="tx1"/>
                              </a:solidFill>
                              <a:latin typeface="Cambria Math" panose="02040503050406030204" pitchFamily="18" charset="0"/>
                              <a:ea typeface="Cambria Math" panose="02040503050406030204" pitchFamily="18" charset="0"/>
                            </a:rPr>
                            <m:t>:</m:t>
                          </m:r>
                          <m:r>
                            <a:rPr lang="en-US" altLang="zh-TW" sz="2400" b="0" i="1" smtClean="0">
                              <a:solidFill>
                                <a:schemeClr val="tx1"/>
                              </a:solidFill>
                              <a:latin typeface="Cambria Math" panose="02040503050406030204" pitchFamily="18" charset="0"/>
                              <a:ea typeface="Cambria Math" panose="02040503050406030204" pitchFamily="18" charset="0"/>
                            </a:rPr>
                            <m:t>𝑚</m:t>
                          </m:r>
                          <m:r>
                            <a:rPr lang="en-US" altLang="zh-TW" sz="2400" b="0" i="1" smtClean="0">
                              <a:solidFill>
                                <a:schemeClr val="tx1"/>
                              </a:solidFill>
                              <a:latin typeface="Cambria Math" panose="02040503050406030204" pitchFamily="18" charset="0"/>
                              <a:ea typeface="Cambria Math" panose="02040503050406030204" pitchFamily="18" charset="0"/>
                            </a:rPr>
                            <m:t>−</m:t>
                          </m:r>
                          <m:r>
                            <a:rPr lang="en-US" altLang="zh-TW" sz="2400" b="0" i="1" smtClean="0">
                              <a:solidFill>
                                <a:schemeClr val="tx1"/>
                              </a:solidFill>
                              <a:latin typeface="Cambria Math" panose="02040503050406030204" pitchFamily="18" charset="0"/>
                              <a:ea typeface="Cambria Math" panose="02040503050406030204" pitchFamily="18" charset="0"/>
                            </a:rPr>
                            <m:t>𝑛𝑛</m:t>
                          </m:r>
                        </m:sub>
                      </m:sSub>
                      <m:r>
                        <a:rPr lang="en-US" altLang="zh-TW" sz="2400" b="0" i="1" smtClean="0">
                          <a:solidFill>
                            <a:schemeClr val="tx1"/>
                          </a:solidFill>
                          <a:latin typeface="Cambria Math" panose="02040503050406030204" pitchFamily="18" charset="0"/>
                          <a:ea typeface="Cambria Math" panose="02040503050406030204" pitchFamily="18" charset="0"/>
                        </a:rPr>
                        <m:t>∩</m:t>
                      </m:r>
                      <m:sSub>
                        <m:sSubPr>
                          <m:ctrlPr>
                            <a:rPr lang="en-US" altLang="zh-TW" sz="2400" i="1" smtClean="0">
                              <a:solidFill>
                                <a:schemeClr val="tx1"/>
                              </a:solidFill>
                              <a:latin typeface="Cambria Math" panose="02040503050406030204" pitchFamily="18" charset="0"/>
                              <a:ea typeface="Cambria Math" panose="02040503050406030204" pitchFamily="18" charset="0"/>
                            </a:rPr>
                          </m:ctrlPr>
                        </m:sSubPr>
                        <m:e>
                          <m:r>
                            <a:rPr lang="zh-TW" altLang="en-US" sz="2400" b="0" i="1">
                              <a:solidFill>
                                <a:schemeClr val="tx1"/>
                              </a:solidFill>
                              <a:latin typeface="Cambria Math" panose="02040503050406030204" pitchFamily="18" charset="0"/>
                              <a:ea typeface="Cambria Math" panose="02040503050406030204" pitchFamily="18" charset="0"/>
                            </a:rPr>
                            <m:t>𝑆</m:t>
                          </m:r>
                        </m:e>
                        <m:sub>
                          <m:r>
                            <a:rPr lang="en-US" altLang="zh-TW" sz="2400" b="0" i="1" smtClean="0">
                              <a:solidFill>
                                <a:schemeClr val="tx1"/>
                              </a:solidFill>
                              <a:latin typeface="Cambria Math" panose="02040503050406030204" pitchFamily="18" charset="0"/>
                              <a:ea typeface="Cambria Math" panose="02040503050406030204" pitchFamily="18" charset="0"/>
                            </a:rPr>
                            <m:t>𝑚𝑎𝑗</m:t>
                          </m:r>
                        </m:sub>
                      </m:sSub>
                      <m:r>
                        <a:rPr lang="en-US" altLang="zh-TW" sz="2400" b="0" i="1" smtClean="0">
                          <a:solidFill>
                            <a:schemeClr val="tx1"/>
                          </a:solidFill>
                          <a:latin typeface="Cambria Math" panose="02040503050406030204" pitchFamily="18" charset="0"/>
                          <a:ea typeface="Cambria Math" panose="02040503050406030204" pitchFamily="18" charset="0"/>
                        </a:rPr>
                        <m:t>&lt;</m:t>
                      </m:r>
                      <m:r>
                        <a:rPr lang="en-US" altLang="zh-TW" sz="2400" b="0" i="1" smtClean="0">
                          <a:solidFill>
                            <a:schemeClr val="tx1"/>
                          </a:solidFill>
                          <a:latin typeface="Cambria Math" panose="02040503050406030204" pitchFamily="18" charset="0"/>
                          <a:ea typeface="Cambria Math" panose="02040503050406030204" pitchFamily="18" charset="0"/>
                        </a:rPr>
                        <m:t>𝑚</m:t>
                      </m:r>
                      <m:r>
                        <a:rPr lang="en-US" altLang="zh-TW" sz="2400" b="0" i="1" smtClean="0">
                          <a:solidFill>
                            <a:schemeClr val="tx1"/>
                          </a:solidFill>
                          <a:latin typeface="Cambria Math" panose="02040503050406030204" pitchFamily="18" charset="0"/>
                          <a:ea typeface="Cambria Math" panose="02040503050406030204" pitchFamily="18" charset="0"/>
                        </a:rPr>
                        <m:t>,其中</m:t>
                      </m:r>
                      <m:r>
                        <a:rPr lang="en-US" altLang="zh-TW" sz="2400" b="0" i="1" smtClean="0">
                          <a:solidFill>
                            <a:schemeClr val="tx1"/>
                          </a:solidFill>
                          <a:latin typeface="Cambria Math" panose="02040503050406030204" pitchFamily="18" charset="0"/>
                          <a:ea typeface="Cambria Math" panose="02040503050406030204" pitchFamily="18" charset="0"/>
                        </a:rPr>
                        <m:t>𝑘</m:t>
                      </m:r>
                      <m:r>
                        <a:rPr lang="en-US" altLang="zh-TW" sz="2400" b="0" i="1" smtClean="0">
                          <a:solidFill>
                            <a:schemeClr val="tx1"/>
                          </a:solidFill>
                          <a:latin typeface="Cambria Math" panose="02040503050406030204" pitchFamily="18" charset="0"/>
                          <a:ea typeface="Cambria Math" panose="02040503050406030204" pitchFamily="18" charset="0"/>
                        </a:rPr>
                        <m:t>=</m:t>
                      </m:r>
                      <m:r>
                        <a:rPr lang="en-US" altLang="zh-TW" sz="2400" b="0" i="1" smtClean="0">
                          <a:solidFill>
                            <a:schemeClr val="tx1"/>
                          </a:solidFill>
                          <a:latin typeface="Cambria Math" panose="02040503050406030204" pitchFamily="18" charset="0"/>
                          <a:ea typeface="Cambria Math" panose="02040503050406030204" pitchFamily="18" charset="0"/>
                        </a:rPr>
                        <m:t>𝑚</m:t>
                      </m:r>
                    </m:oMath>
                  </m:oMathPara>
                </a14:m>
                <a:endParaRPr lang="zh-TW" altLang="en-US" sz="2400" dirty="0">
                  <a:solidFill>
                    <a:schemeClr val="tx1"/>
                  </a:solidFill>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3650955" y="1947347"/>
                <a:ext cx="4926349" cy="630109"/>
              </a:xfrm>
              <a:prstGeom prst="rect">
                <a:avLst/>
              </a:prstGeom>
              <a:blipFill rotWithShape="0">
                <a:blip r:embed="rId3"/>
                <a:stretch>
                  <a:fillRect/>
                </a:stretch>
              </a:blipFill>
            </p:spPr>
            <p:txBody>
              <a:bodyPr/>
              <a:lstStyle/>
              <a:p>
                <a:r>
                  <a:rPr lang="zh-TW" altLang="en-US">
                    <a:noFill/>
                  </a:rPr>
                  <a:t> </a:t>
                </a:r>
              </a:p>
            </p:txBody>
          </p:sp>
        </mc:Fallback>
      </mc:AlternateContent>
      <p:pic>
        <p:nvPicPr>
          <p:cNvPr id="6" name="圖片 5"/>
          <p:cNvPicPr>
            <a:picLocks noChangeAspect="1"/>
          </p:cNvPicPr>
          <p:nvPr/>
        </p:nvPicPr>
        <p:blipFill>
          <a:blip r:embed="rId4"/>
          <a:stretch>
            <a:fillRect/>
          </a:stretch>
        </p:blipFill>
        <p:spPr>
          <a:xfrm>
            <a:off x="4642506" y="3064775"/>
            <a:ext cx="7549494" cy="3438317"/>
          </a:xfrm>
          <a:prstGeom prst="rect">
            <a:avLst/>
          </a:prstGeom>
        </p:spPr>
      </p:pic>
      <mc:AlternateContent xmlns:mc="http://schemas.openxmlformats.org/markup-compatibility/2006" xmlns:a14="http://schemas.microsoft.com/office/drawing/2010/main">
        <mc:Choice Requires="a14">
          <p:sp>
            <p:nvSpPr>
              <p:cNvPr id="14" name="文字方塊 13"/>
              <p:cNvSpPr txBox="1"/>
              <p:nvPr/>
            </p:nvSpPr>
            <p:spPr>
              <a:xfrm>
                <a:off x="154460" y="3064775"/>
                <a:ext cx="4115614" cy="1037785"/>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如果這些點在 </a:t>
                </a:r>
                <a14:m>
                  <m:oMath xmlns:m="http://schemas.openxmlformats.org/officeDocument/2006/math">
                    <m:f>
                      <m:fPr>
                        <m:ctrlPr>
                          <a:rPr lang="en-US" altLang="zh-TW" i="1">
                            <a:latin typeface="Cambria Math" panose="02040503050406030204" pitchFamily="18" charset="0"/>
                            <a:ea typeface="微軟正黑體" panose="020B0604030504040204" pitchFamily="34" charset="-120"/>
                          </a:rPr>
                        </m:ctrlPr>
                      </m:fPr>
                      <m:num>
                        <m:r>
                          <a:rPr lang="en-US" altLang="zh-TW">
                            <a:latin typeface="Cambria Math" panose="02040503050406030204" pitchFamily="18" charset="0"/>
                            <a:ea typeface="微軟正黑體" panose="020B0604030504040204" pitchFamily="34" charset="-120"/>
                          </a:rPr>
                          <m:t>𝑚</m:t>
                        </m:r>
                      </m:num>
                      <m:den>
                        <m:r>
                          <a:rPr lang="en-US" altLang="zh-TW">
                            <a:latin typeface="Cambria Math" panose="02040503050406030204" pitchFamily="18" charset="0"/>
                            <a:ea typeface="微軟正黑體" panose="020B0604030504040204" pitchFamily="34" charset="-120"/>
                          </a:rPr>
                          <m:t>2</m:t>
                        </m:r>
                      </m:den>
                    </m:f>
                    <m:r>
                      <a:rPr lang="en-US" altLang="zh-TW">
                        <a:latin typeface="Cambria Math" panose="02040503050406030204" pitchFamily="18" charset="0"/>
                        <a:ea typeface="微軟正黑體" panose="020B0604030504040204" pitchFamily="34" charset="-120"/>
                      </a:rPr>
                      <m:t>~</m:t>
                    </m:r>
                    <m:r>
                      <a:rPr lang="en-US" altLang="zh-TW">
                        <a:latin typeface="Cambria Math" panose="02040503050406030204" pitchFamily="18" charset="0"/>
                        <a:ea typeface="微軟正黑體" panose="020B0604030504040204" pitchFamily="34" charset="-120"/>
                      </a:rPr>
                      <m:t>𝑚</m:t>
                    </m:r>
                    <m:r>
                      <a:rPr lang="zh-TW" altLang="en-US" i="1" smtClean="0">
                        <a:latin typeface="Cambria Math" panose="02040503050406030204" pitchFamily="18" charset="0"/>
                        <a:ea typeface="微軟正黑體" panose="020B0604030504040204" pitchFamily="34" charset="-120"/>
                      </a:rPr>
                      <m:t> </m:t>
                    </m:r>
                    <m:r>
                      <a:rPr lang="zh-TW" altLang="en-US">
                        <a:latin typeface="Cambria Math" panose="02040503050406030204" pitchFamily="18" charset="0"/>
                        <a:ea typeface="微軟正黑體" panose="020B0604030504040204" pitchFamily="34" charset="-120"/>
                      </a:rPr>
                      <m:t>之間，</m:t>
                    </m:r>
                    <m:r>
                      <a:rPr lang="zh-TW" altLang="en-US" dirty="0">
                        <a:latin typeface="Cambria Math" panose="02040503050406030204" pitchFamily="18" charset="0"/>
                        <a:ea typeface="微軟正黑體" panose="020B0604030504040204" pitchFamily="34" charset="-120"/>
                      </a:rPr>
                      <m:t>表示該樣本</m:t>
                    </m:r>
                  </m:oMath>
                </a14:m>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靠近決策邊界，或者在</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𝑚𝑎𝑗</m:t>
                        </m:r>
                      </m:sub>
                    </m:sSub>
                  </m:oMath>
                </a14:m>
                <a:r>
                  <a:rPr lang="zh-TW" altLang="en-US" dirty="0">
                    <a:latin typeface="微軟正黑體" panose="020B0604030504040204" pitchFamily="34" charset="-120"/>
                    <a:ea typeface="微軟正黑體" panose="020B0604030504040204" pitchFamily="34" charset="-120"/>
                  </a:rPr>
                  <a:t>範圍，會有</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點危險。</a:t>
                </a:r>
                <a:r>
                  <a:rPr lang="en-US" altLang="zh-TW" dirty="0"/>
                  <a:t>(</a:t>
                </a:r>
                <a14:m>
                  <m:oMath xmlns:m="http://schemas.openxmlformats.org/officeDocument/2006/math">
                    <m:r>
                      <a:rPr lang="en-US" altLang="zh-TW" i="1" dirty="0" smtClean="0">
                        <a:solidFill>
                          <a:srgbClr val="C00000"/>
                        </a:solidFill>
                        <a:latin typeface="Cambria Math" panose="02040503050406030204" pitchFamily="18" charset="0"/>
                      </a:rPr>
                      <m:t>𝐷𝐴𝑁𝐺𝐸𝑅</m:t>
                    </m:r>
                  </m:oMath>
                </a14:m>
                <a:r>
                  <a:rPr lang="en-US" altLang="zh-TW" dirty="0"/>
                  <a:t>)</a:t>
                </a:r>
                <a:endParaRPr lang="zh-TW" altLang="en-US"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154460" y="3064775"/>
                <a:ext cx="4115614" cy="1037785"/>
              </a:xfrm>
              <a:prstGeom prst="rect">
                <a:avLst/>
              </a:prstGeom>
              <a:blipFill>
                <a:blip r:embed="rId5"/>
                <a:stretch>
                  <a:fillRect l="-1185" t="-1176" r="-741" b="-8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54460" y="4266713"/>
                <a:ext cx="6096000" cy="738472"/>
              </a:xfrm>
              <a:prstGeom prst="rect">
                <a:avLst/>
              </a:prstGeom>
            </p:spPr>
            <p:txBody>
              <a:bodyPr>
                <a:spAutoFit/>
              </a:bodyPr>
              <a:lstStyle/>
              <a:p>
                <a:r>
                  <a:rPr lang="zh-TW" altLang="en-US" dirty="0">
                    <a:latin typeface="微軟正黑體" panose="020B0604030504040204" pitchFamily="34" charset="-120"/>
                    <a:ea typeface="微軟正黑體" panose="020B0604030504040204" pitchFamily="34" charset="-120"/>
                  </a:rPr>
                  <a:t>如果今天少於 </a:t>
                </a:r>
                <a14:m>
                  <m:oMath xmlns:m="http://schemas.openxmlformats.org/officeDocument/2006/math">
                    <m:f>
                      <m:fPr>
                        <m:ctrlPr>
                          <a:rPr lang="en-US" altLang="zh-TW"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𝑚</m:t>
                        </m:r>
                      </m:num>
                      <m:den>
                        <m:r>
                          <a:rPr lang="en-US" altLang="zh-TW" b="0" i="1" smtClean="0">
                            <a:solidFill>
                              <a:schemeClr val="tx1"/>
                            </a:solidFill>
                            <a:latin typeface="Cambria Math" panose="02040503050406030204" pitchFamily="18" charset="0"/>
                          </a:rPr>
                          <m:t>2</m:t>
                        </m:r>
                      </m:den>
                    </m:f>
                  </m:oMath>
                </a14:m>
                <a:r>
                  <a:rPr lang="zh-TW" altLang="en-US" dirty="0">
                    <a:latin typeface="微軟正黑體" panose="020B0604030504040204" pitchFamily="34" charset="-120"/>
                    <a:ea typeface="微軟正黑體" panose="020B0604030504040204" pitchFamily="34" charset="-120"/>
                  </a:rPr>
                  <a:t> ，表示這些點的範圍還在 </a:t>
                </a:r>
                <a:endParaRPr lang="en-US" altLang="zh-TW" dirty="0">
                  <a:latin typeface="微軟正黑體" panose="020B0604030504040204" pitchFamily="34" charset="-120"/>
                  <a:ea typeface="微軟正黑體" panose="020B0604030504040204" pitchFamily="34" charset="-120"/>
                </a:endParaRPr>
              </a:p>
              <a:p>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r>
                  <a:rPr lang="zh-TW" altLang="en-US" dirty="0">
                    <a:latin typeface="微軟正黑體" panose="020B0604030504040204" pitchFamily="34" charset="-120"/>
                    <a:ea typeface="微軟正黑體" panose="020B0604030504040204" pitchFamily="34" charset="-120"/>
                  </a:rPr>
                  <a:t>的分佈之內，是安全的。</a:t>
                </a:r>
                <a:r>
                  <a:rPr lang="en-US" altLang="zh-TW" dirty="0"/>
                  <a:t>(</a:t>
                </a:r>
                <a:r>
                  <a:rPr lang="en-US" altLang="zh-TW" dirty="0">
                    <a:solidFill>
                      <a:srgbClr val="00B050"/>
                    </a:solidFill>
                    <a:latin typeface="Cambria Math" panose="02040503050406030204" pitchFamily="18" charset="0"/>
                    <a:ea typeface="Cambria Math" panose="02040503050406030204" pitchFamily="18" charset="0"/>
                  </a:rPr>
                  <a:t>SAFE</a:t>
                </a:r>
                <a:r>
                  <a:rPr lang="en-US" altLang="zh-TW" dirty="0"/>
                  <a:t>)</a:t>
                </a:r>
              </a:p>
            </p:txBody>
          </p:sp>
        </mc:Choice>
        <mc:Fallback xmlns="">
          <p:sp>
            <p:nvSpPr>
              <p:cNvPr id="15" name="矩形 14"/>
              <p:cNvSpPr>
                <a:spLocks noRot="1" noChangeAspect="1" noMove="1" noResize="1" noEditPoints="1" noAdjustHandles="1" noChangeArrowheads="1" noChangeShapeType="1" noTextEdit="1"/>
              </p:cNvSpPr>
              <p:nvPr/>
            </p:nvSpPr>
            <p:spPr>
              <a:xfrm>
                <a:off x="154460" y="4266713"/>
                <a:ext cx="6096000" cy="738472"/>
              </a:xfrm>
              <a:prstGeom prst="rect">
                <a:avLst/>
              </a:prstGeom>
              <a:blipFill>
                <a:blip r:embed="rId6"/>
                <a:stretch>
                  <a:fillRect l="-800" t="-826" b="-1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154460" y="5169338"/>
                <a:ext cx="6096000" cy="945643"/>
              </a:xfrm>
              <a:prstGeom prst="rect">
                <a:avLst/>
              </a:prstGeom>
            </p:spPr>
            <p:txBody>
              <a:bodyPr>
                <a:spAutoFit/>
              </a:bodyPr>
              <a:lstStyle/>
              <a:p>
                <a:r>
                  <a:rPr lang="zh-TW" altLang="en-US" dirty="0">
                    <a:latin typeface="微軟正黑體" panose="020B0604030504040204" pitchFamily="34" charset="-120"/>
                    <a:ea typeface="微軟正黑體" panose="020B0604030504040204" pitchFamily="34" charset="-120"/>
                  </a:rPr>
                  <a:t>如果今天這些點跟 </a:t>
                </a:r>
                <a14:m>
                  <m:oMath xmlns:m="http://schemas.openxmlformats.org/officeDocument/2006/math">
                    <m:r>
                      <a:rPr lang="en-US" altLang="zh-TW" b="0" i="1" smtClean="0">
                        <a:solidFill>
                          <a:schemeClr val="tx1"/>
                        </a:solidFill>
                        <a:latin typeface="Cambria Math" panose="02040503050406030204" pitchFamily="18" charset="0"/>
                      </a:rPr>
                      <m:t>𝑚</m:t>
                    </m:r>
                  </m:oMath>
                </a14:m>
                <a:r>
                  <a:rPr lang="en-US" altLang="zh-TW" b="0" i="0" dirty="0">
                    <a:solidFill>
                      <a:srgbClr val="333333"/>
                    </a:solidFill>
                    <a:effectLst/>
                    <a:latin typeface="Helvetica Neue Light"/>
                  </a:rPr>
                  <a:t> </a:t>
                </a:r>
                <a:r>
                  <a:rPr lang="zh-TW" altLang="en-US" dirty="0">
                    <a:latin typeface="微軟正黑體" panose="020B0604030504040204" pitchFamily="34" charset="-120"/>
                    <a:ea typeface="微軟正黑體" panose="020B0604030504040204" pitchFamily="34" charset="-120"/>
                  </a:rPr>
                  <a:t>一樣多，也就是</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𝑚𝑖𝑛</m:t>
                        </m:r>
                      </m:sub>
                    </m:sSub>
                  </m:oMath>
                </a14:m>
                <a:endParaRPr lang="en-US" altLang="zh-TW" i="0" dirty="0">
                  <a:latin typeface="Helvetica Neue Light"/>
                </a:endParaRPr>
              </a:p>
              <a:p>
                <a:r>
                  <a:rPr lang="zh-TW" altLang="en-US" dirty="0">
                    <a:latin typeface="微軟正黑體" panose="020B0604030504040204" pitchFamily="34" charset="-120"/>
                    <a:ea typeface="微軟正黑體" panose="020B0604030504040204" pitchFamily="34" charset="-120"/>
                  </a:rPr>
                  <a:t>的點周遭全都是</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𝑚𝑎𝑗</m:t>
                        </m:r>
                      </m:sub>
                    </m:sSub>
                  </m:oMath>
                </a14:m>
                <a:r>
                  <a:rPr lang="zh-TW" altLang="en-US" dirty="0">
                    <a:latin typeface="微軟正黑體" panose="020B0604030504040204" pitchFamily="34" charset="-120"/>
                    <a:ea typeface="微軟正黑體" panose="020B0604030504040204" pitchFamily="34" charset="-120"/>
                  </a:rPr>
                  <a:t>的點，那這點很有可能</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其實是錯誤的 </a:t>
                </a:r>
                <a:r>
                  <a:rPr lang="en-US" altLang="zh-TW" b="0" i="0" dirty="0">
                    <a:solidFill>
                      <a:srgbClr val="333333"/>
                    </a:solidFill>
                    <a:effectLst/>
                    <a:latin typeface="Cambria Math" panose="02040503050406030204" pitchFamily="18" charset="0"/>
                    <a:ea typeface="Cambria Math" panose="02040503050406030204" pitchFamily="18" charset="0"/>
                  </a:rPr>
                  <a:t>sample</a:t>
                </a:r>
                <a:r>
                  <a:rPr lang="en-US" altLang="zh-TW" b="0" i="0" dirty="0">
                    <a:solidFill>
                      <a:srgbClr val="333333"/>
                    </a:solidFill>
                    <a:effectLst/>
                    <a:latin typeface="Helvetica Neue Light"/>
                  </a:rPr>
                  <a:t> (</a:t>
                </a:r>
                <a:r>
                  <a:rPr lang="en-US" altLang="zh-TW" b="1" i="0" dirty="0">
                    <a:solidFill>
                      <a:srgbClr val="BF9000"/>
                    </a:solidFill>
                    <a:effectLst/>
                    <a:latin typeface="Cambria Math" panose="02040503050406030204" pitchFamily="18" charset="0"/>
                    <a:ea typeface="Cambria Math" panose="02040503050406030204" pitchFamily="18" charset="0"/>
                  </a:rPr>
                  <a:t>NOISE</a:t>
                </a:r>
                <a:r>
                  <a:rPr lang="en-US" altLang="zh-TW" b="0" i="0" dirty="0">
                    <a:solidFill>
                      <a:srgbClr val="333333"/>
                    </a:solidFill>
                    <a:effectLst/>
                    <a:latin typeface="Helvetica Neue Light"/>
                  </a:rPr>
                  <a:t>)</a:t>
                </a:r>
                <a:endParaRPr lang="zh-TW" altLang="en-US" dirty="0"/>
              </a:p>
            </p:txBody>
          </p:sp>
        </mc:Choice>
        <mc:Fallback xmlns="">
          <p:sp>
            <p:nvSpPr>
              <p:cNvPr id="16" name="矩形 15"/>
              <p:cNvSpPr>
                <a:spLocks noRot="1" noChangeAspect="1" noMove="1" noResize="1" noEditPoints="1" noAdjustHandles="1" noChangeArrowheads="1" noChangeShapeType="1" noTextEdit="1"/>
              </p:cNvSpPr>
              <p:nvPr/>
            </p:nvSpPr>
            <p:spPr>
              <a:xfrm>
                <a:off x="154460" y="5169338"/>
                <a:ext cx="6096000" cy="945643"/>
              </a:xfrm>
              <a:prstGeom prst="rect">
                <a:avLst/>
              </a:prstGeom>
              <a:blipFill>
                <a:blip r:embed="rId7"/>
                <a:stretch>
                  <a:fillRect l="-800" t="-4516" b="-103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20992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6795" y="117990"/>
            <a:ext cx="10515600" cy="1325563"/>
          </a:xfrm>
        </p:spPr>
        <p:txBody>
          <a:bodyPr/>
          <a:lstStyle/>
          <a:p>
            <a:r>
              <a:rPr lang="en-US" altLang="zh-TW" b="1" dirty="0">
                <a:solidFill>
                  <a:srgbClr val="0B5394"/>
                </a:solidFill>
                <a:latin typeface="Cambria Math" panose="02040503050406030204" pitchFamily="18" charset="0"/>
                <a:ea typeface="Cambria Math" panose="02040503050406030204" pitchFamily="18" charset="0"/>
              </a:rPr>
              <a:t>Easy-Ensemble</a:t>
            </a:r>
            <a:endParaRPr lang="zh-TW" altLang="en-US"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96794" y="1141884"/>
                <a:ext cx="12095205" cy="1164711"/>
              </a:xfrm>
            </p:spPr>
            <p:txBody>
              <a:bodyPr>
                <a:normAutofit fontScale="92500"/>
              </a:bodyPr>
              <a:lstStyle/>
              <a:p>
                <a:r>
                  <a:rPr lang="zh-TW" altLang="en-US" dirty="0">
                    <a:latin typeface="微軟正黑體" panose="020B0604030504040204" pitchFamily="34" charset="-120"/>
                    <a:ea typeface="微軟正黑體" panose="020B0604030504040204" pitchFamily="34" charset="-120"/>
                  </a:rPr>
                  <a:t>由於</a:t>
                </a:r>
                <a14:m>
                  <m:oMath xmlns:m="http://schemas.openxmlformats.org/officeDocument/2006/math">
                    <m:d>
                      <m:dPr>
                        <m:begChr m:val="|"/>
                        <m:endChr m:val="|"/>
                        <m:ctrlPr>
                          <a:rPr lang="en-US" altLang="zh-TW"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𝑚𝑎𝑗</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𝑚𝑖𝑛</m:t>
                            </m:r>
                          </m:sub>
                        </m:sSub>
                      </m:e>
                    </m:d>
                  </m:oMath>
                </a14:m>
                <a:r>
                  <a:rPr lang="zh-TW" altLang="en-US" dirty="0">
                    <a:latin typeface="微軟正黑體" panose="020B0604030504040204" pitchFamily="34" charset="-120"/>
                    <a:ea typeface="微軟正黑體" panose="020B0604030504040204" pitchFamily="34" charset="-120"/>
                  </a:rPr>
                  <a:t>，所以我們就產生多個</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𝑚𝑎𝑗</m:t>
                        </m:r>
                      </m:sub>
                    </m:sSub>
                  </m:oMath>
                </a14:m>
                <a:r>
                  <a:rPr lang="zh-TW" altLang="en-US" dirty="0">
                    <a:latin typeface="微軟正黑體" panose="020B0604030504040204" pitchFamily="34" charset="-120"/>
                    <a:ea typeface="微軟正黑體" panose="020B0604030504040204" pitchFamily="34" charset="-120"/>
                  </a:rPr>
                  <a:t>且</a:t>
                </a:r>
                <a14:m>
                  <m:oMath xmlns:m="http://schemas.openxmlformats.org/officeDocument/2006/math">
                    <m:d>
                      <m:dPr>
                        <m:begChr m:val="|"/>
                        <m:endChr m:val="|"/>
                        <m:ctrlPr>
                          <a:rPr lang="en-US" altLang="zh-TW" i="1" dirty="0" smtClean="0">
                            <a:latin typeface="Cambria Math" panose="02040503050406030204" pitchFamily="18" charset="0"/>
                          </a:rPr>
                        </m:ctrlPr>
                      </m:dPr>
                      <m:e>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i="1">
                                <a:latin typeface="Cambria Math" panose="02040503050406030204" pitchFamily="18" charset="0"/>
                              </a:rPr>
                              <m:t>𝑚𝑎𝑗</m:t>
                            </m:r>
                          </m:sub>
                        </m:sSub>
                      </m:e>
                    </m:d>
                    <m:r>
                      <a:rPr lang="en-US" altLang="zh-TW" i="1" dirty="0">
                        <a:latin typeface="Cambria Math" panose="02040503050406030204" pitchFamily="18" charset="0"/>
                      </a:rPr>
                      <m:t>=</m:t>
                    </m:r>
                    <m:d>
                      <m:dPr>
                        <m:begChr m:val="|"/>
                        <m:endChr m:val="|"/>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b="0" i="1" dirty="0" smtClean="0">
                                <a:latin typeface="Cambria Math" panose="02040503050406030204" pitchFamily="18" charset="0"/>
                              </a:rPr>
                              <m:t>𝑚𝑖𝑛</m:t>
                            </m:r>
                          </m:sub>
                        </m:sSub>
                      </m:e>
                    </m:d>
                  </m:oMath>
                </a14:m>
                <a:r>
                  <a:rPr lang="en-US" altLang="zh-TW" dirty="0"/>
                  <a:t/>
                </a:r>
                <a:br>
                  <a:rPr lang="en-US" altLang="zh-TW" dirty="0"/>
                </a:br>
                <a:r>
                  <a:rPr lang="zh-TW" altLang="en-US" dirty="0">
                    <a:latin typeface="微軟正黑體" panose="020B0604030504040204" pitchFamily="34" charset="-120"/>
                    <a:ea typeface="微軟正黑體" panose="020B0604030504040204" pitchFamily="34" charset="-120"/>
                  </a:rPr>
                  <a:t>然後將每</a:t>
                </a:r>
                <a14:m>
                  <m:oMath xmlns:m="http://schemas.openxmlformats.org/officeDocument/2006/math">
                    <m:r>
                      <a:rPr lang="zh-TW" altLang="en-US">
                        <a:latin typeface="Cambria Math" panose="02040503050406030204" pitchFamily="18" charset="0"/>
                        <a:ea typeface="微軟正黑體" panose="020B0604030504040204" pitchFamily="34" charset="-120"/>
                      </a:rPr>
                      <m:t>個</m:t>
                    </m:r>
                    <m:sSub>
                      <m:sSubPr>
                        <m:ctrlPr>
                          <a:rPr lang="en-US" altLang="zh-TW" i="1">
                            <a:latin typeface="Cambria Math" panose="02040503050406030204" pitchFamily="18" charset="0"/>
                            <a:ea typeface="微軟正黑體" panose="020B0604030504040204" pitchFamily="34" charset="-120"/>
                          </a:rPr>
                        </m:ctrlPr>
                      </m:sSubPr>
                      <m:e>
                        <m:r>
                          <a:rPr lang="en-US" altLang="zh-TW">
                            <a:latin typeface="Cambria Math" panose="02040503050406030204" pitchFamily="18" charset="0"/>
                            <a:ea typeface="微軟正黑體" panose="020B0604030504040204" pitchFamily="34" charset="-120"/>
                          </a:rPr>
                          <m:t>𝑆</m:t>
                        </m:r>
                      </m:e>
                      <m:sub>
                        <m:r>
                          <a:rPr lang="en-US" altLang="zh-TW">
                            <a:latin typeface="Cambria Math" panose="02040503050406030204" pitchFamily="18" charset="0"/>
                            <a:ea typeface="微軟正黑體" panose="020B0604030504040204" pitchFamily="34" charset="-120"/>
                          </a:rPr>
                          <m:t>𝑚𝑎𝑗</m:t>
                        </m:r>
                      </m:sub>
                    </m:sSub>
                    <m:r>
                      <a:rPr lang="zh-TW" altLang="en-US">
                        <a:latin typeface="Cambria Math" panose="02040503050406030204" pitchFamily="18" charset="0"/>
                        <a:ea typeface="微軟正黑體" panose="020B0604030504040204" pitchFamily="34" charset="-120"/>
                      </a:rPr>
                      <m:t>和</m:t>
                    </m:r>
                    <m:sSub>
                      <m:sSubPr>
                        <m:ctrlPr>
                          <a:rPr lang="en-US" altLang="zh-TW" i="1">
                            <a:latin typeface="Cambria Math" panose="02040503050406030204" pitchFamily="18" charset="0"/>
                            <a:ea typeface="微軟正黑體" panose="020B0604030504040204" pitchFamily="34" charset="-120"/>
                          </a:rPr>
                        </m:ctrlPr>
                      </m:sSubPr>
                      <m:e>
                        <m:r>
                          <a:rPr lang="en-US" altLang="zh-TW">
                            <a:latin typeface="Cambria Math" panose="02040503050406030204" pitchFamily="18" charset="0"/>
                            <a:ea typeface="微軟正黑體" panose="020B0604030504040204" pitchFamily="34" charset="-120"/>
                          </a:rPr>
                          <m:t>𝑆</m:t>
                        </m:r>
                      </m:e>
                      <m:sub>
                        <m:r>
                          <a:rPr lang="en-US" altLang="zh-TW">
                            <a:latin typeface="Cambria Math" panose="02040503050406030204" pitchFamily="18" charset="0"/>
                            <a:ea typeface="微軟正黑體" panose="020B0604030504040204" pitchFamily="34" charset="-120"/>
                          </a:rPr>
                          <m:t>𝑚𝑖𝑛</m:t>
                        </m:r>
                      </m:sub>
                    </m:sSub>
                    <m:r>
                      <a:rPr lang="zh-TW" altLang="en-US">
                        <a:latin typeface="Cambria Math" panose="02040503050406030204" pitchFamily="18" charset="0"/>
                        <a:ea typeface="微軟正黑體" panose="020B0604030504040204" pitchFamily="34" charset="-120"/>
                      </a:rPr>
                      <m:t>合併來</m:t>
                    </m:r>
                    <m:r>
                      <m:rPr>
                        <m:sty m:val="p"/>
                      </m:rPr>
                      <a:rPr lang="en-US" altLang="zh-TW">
                        <a:latin typeface="Cambria Math" panose="02040503050406030204" pitchFamily="18" charset="0"/>
                        <a:ea typeface="微軟正黑體" panose="020B0604030504040204" pitchFamily="34" charset="-120"/>
                      </a:rPr>
                      <m:t>training</m:t>
                    </m:r>
                    <m:r>
                      <a:rPr lang="zh-TW" altLang="en-US">
                        <a:latin typeface="Cambria Math" panose="02040503050406030204" pitchFamily="18" charset="0"/>
                        <a:ea typeface="微軟正黑體" panose="020B0604030504040204" pitchFamily="34" charset="-120"/>
                      </a:rPr>
                      <m:t>，</m:t>
                    </m:r>
                  </m:oMath>
                </a14:m>
                <a:r>
                  <a:rPr lang="zh-TW" altLang="en-US" dirty="0">
                    <a:latin typeface="微軟正黑體" panose="020B0604030504040204" pitchFamily="34" charset="-120"/>
                    <a:ea typeface="微軟正黑體" panose="020B0604030504040204" pitchFamily="34" charset="-120"/>
                  </a:rPr>
                  <a:t>最後用</a:t>
                </a:r>
                <a:r>
                  <a:rPr lang="zh-TW" altLang="en-US" dirty="0"/>
                  <a:t> </a:t>
                </a:r>
                <a:r>
                  <a:rPr lang="en-US" altLang="zh-TW" dirty="0"/>
                  <a:t>ensemble (vote) </a:t>
                </a:r>
                <a:r>
                  <a:rPr lang="zh-TW" altLang="en-US" dirty="0">
                    <a:latin typeface="微軟正黑體" panose="020B0604030504040204" pitchFamily="34" charset="-120"/>
                    <a:ea typeface="微軟正黑體" panose="020B0604030504040204" pitchFamily="34" charset="-120"/>
                  </a:rPr>
                  <a:t>的結果來判定。</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96794" y="1141884"/>
                <a:ext cx="12095205" cy="1164711"/>
              </a:xfrm>
              <a:blipFill>
                <a:blip r:embed="rId2"/>
                <a:stretch>
                  <a:fillRect l="-806" t="-52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96793" y="1962398"/>
                <a:ext cx="11182998" cy="688394"/>
              </a:xfrm>
              <a:prstGeom prst="rect">
                <a:avLst/>
              </a:prstGeom>
              <a:noFill/>
            </p:spPr>
            <p:txBody>
              <a:bodyPr wrap="none" rtlCol="0">
                <a:spAutoFit/>
              </a:bodyPr>
              <a:lstStyle/>
              <a:p>
                <a:r>
                  <a:rPr lang="en-US" altLang="zh-TW" dirty="0">
                    <a:solidFill>
                      <a:srgbClr val="C00000"/>
                    </a:solidFill>
                  </a:rPr>
                  <a:t>Example:</a:t>
                </a:r>
              </a:p>
              <a:p>
                <a:r>
                  <a:rPr lang="zh-TW" altLang="en-US" dirty="0">
                    <a:latin typeface="微軟正黑體" panose="020B0604030504040204" pitchFamily="34" charset="-120"/>
                    <a:ea typeface="微軟正黑體" panose="020B0604030504040204" pitchFamily="34" charset="-120"/>
                  </a:rPr>
                  <a:t>假設</a:t>
                </a:r>
                <a14:m>
                  <m:oMath xmlns:m="http://schemas.openxmlformats.org/officeDocument/2006/math">
                    <m:d>
                      <m:dPr>
                        <m:begChr m:val="|"/>
                        <m:endChr m:val="|"/>
                        <m:ctrlPr>
                          <a:rPr lang="en-US" altLang="zh-TW" i="1" dirty="0">
                            <a:latin typeface="Cambria Math" panose="02040503050406030204" pitchFamily="18" charset="0"/>
                            <a:ea typeface="微軟正黑體" panose="020B0604030504040204" pitchFamily="34" charset="-120"/>
                          </a:rPr>
                        </m:ctrlPr>
                      </m:dPr>
                      <m:e>
                        <m:sSub>
                          <m:sSubPr>
                            <m:ctrlPr>
                              <a:rPr lang="en-US" altLang="zh-TW" i="1" dirty="0">
                                <a:latin typeface="Cambria Math" panose="02040503050406030204" pitchFamily="18" charset="0"/>
                                <a:ea typeface="微軟正黑體" panose="020B0604030504040204" pitchFamily="34" charset="-120"/>
                              </a:rPr>
                            </m:ctrlPr>
                          </m:sSubPr>
                          <m:e>
                            <m:r>
                              <a:rPr lang="en-US" altLang="zh-TW" dirty="0">
                                <a:latin typeface="Cambria Math" panose="02040503050406030204" pitchFamily="18" charset="0"/>
                                <a:ea typeface="微軟正黑體" panose="020B0604030504040204" pitchFamily="34" charset="-120"/>
                              </a:rPr>
                              <m:t>𝑆</m:t>
                            </m:r>
                          </m:e>
                          <m:sub>
                            <m:r>
                              <a:rPr lang="en-US" altLang="zh-TW">
                                <a:latin typeface="Cambria Math" panose="02040503050406030204" pitchFamily="18" charset="0"/>
                                <a:ea typeface="微軟正黑體" panose="020B0604030504040204" pitchFamily="34" charset="-120"/>
                              </a:rPr>
                              <m:t>𝑚𝑎𝑗</m:t>
                            </m:r>
                          </m:sub>
                        </m:sSub>
                      </m:e>
                    </m:d>
                    <m:r>
                      <a:rPr lang="en-US" altLang="zh-TW">
                        <a:latin typeface="Cambria Math" panose="02040503050406030204" pitchFamily="18" charset="0"/>
                        <a:ea typeface="微軟正黑體" panose="020B0604030504040204" pitchFamily="34" charset="-120"/>
                      </a:rPr>
                      <m:t> </m:t>
                    </m:r>
                    <m:r>
                      <a:rPr lang="en-US" altLang="zh-TW" dirty="0">
                        <a:latin typeface="Cambria Math" panose="02040503050406030204" pitchFamily="18" charset="0"/>
                        <a:ea typeface="微軟正黑體" panose="020B0604030504040204" pitchFamily="34" charset="-120"/>
                      </a:rPr>
                      <m:t>:</m:t>
                    </m:r>
                    <m:d>
                      <m:dPr>
                        <m:begChr m:val="|"/>
                        <m:endChr m:val="|"/>
                        <m:ctrlPr>
                          <a:rPr lang="en-US" altLang="zh-TW" i="1" dirty="0">
                            <a:latin typeface="Cambria Math" panose="02040503050406030204" pitchFamily="18" charset="0"/>
                            <a:ea typeface="微軟正黑體" panose="020B0604030504040204" pitchFamily="34" charset="-120"/>
                          </a:rPr>
                        </m:ctrlPr>
                      </m:dPr>
                      <m:e>
                        <m:sSub>
                          <m:sSubPr>
                            <m:ctrlPr>
                              <a:rPr lang="en-US" altLang="zh-TW" i="1" dirty="0">
                                <a:latin typeface="Cambria Math" panose="02040503050406030204" pitchFamily="18" charset="0"/>
                                <a:ea typeface="微軟正黑體" panose="020B0604030504040204" pitchFamily="34" charset="-120"/>
                              </a:rPr>
                            </m:ctrlPr>
                          </m:sSubPr>
                          <m:e>
                            <m:r>
                              <a:rPr lang="en-US" altLang="zh-TW" dirty="0">
                                <a:latin typeface="Cambria Math" panose="02040503050406030204" pitchFamily="18" charset="0"/>
                                <a:ea typeface="微軟正黑體" panose="020B0604030504040204" pitchFamily="34" charset="-120"/>
                              </a:rPr>
                              <m:t>𝑆</m:t>
                            </m:r>
                          </m:e>
                          <m:sub>
                            <m:r>
                              <a:rPr lang="en-US" altLang="zh-TW" dirty="0">
                                <a:latin typeface="Cambria Math" panose="02040503050406030204" pitchFamily="18" charset="0"/>
                                <a:ea typeface="微軟正黑體" panose="020B0604030504040204" pitchFamily="34" charset="-120"/>
                              </a:rPr>
                              <m:t>𝑚𝑖𝑛</m:t>
                            </m:r>
                          </m:sub>
                        </m:sSub>
                      </m:e>
                    </m:d>
                    <m:r>
                      <a:rPr lang="en-US" altLang="zh-TW" dirty="0">
                        <a:latin typeface="Cambria Math" panose="02040503050406030204" pitchFamily="18" charset="0"/>
                        <a:ea typeface="微軟正黑體" panose="020B0604030504040204" pitchFamily="34" charset="-120"/>
                      </a:rPr>
                      <m:t>=10 :1</m:t>
                    </m:r>
                    <m:r>
                      <a:rPr lang="zh-TW" altLang="en-US" dirty="0">
                        <a:latin typeface="Cambria Math" panose="02040503050406030204" pitchFamily="18" charset="0"/>
                        <a:ea typeface="微軟正黑體" panose="020B0604030504040204" pitchFamily="34" charset="-120"/>
                      </a:rPr>
                      <m:t>，那麼就將</m:t>
                    </m:r>
                    <m:sSub>
                      <m:sSubPr>
                        <m:ctrlPr>
                          <a:rPr lang="en-US" altLang="zh-TW" i="1" dirty="0">
                            <a:latin typeface="Cambria Math" panose="02040503050406030204" pitchFamily="18" charset="0"/>
                            <a:ea typeface="微軟正黑體" panose="020B0604030504040204" pitchFamily="34" charset="-120"/>
                          </a:rPr>
                        </m:ctrlPr>
                      </m:sSubPr>
                      <m:e>
                        <m:r>
                          <a:rPr lang="en-US" altLang="zh-TW" dirty="0">
                            <a:latin typeface="Cambria Math" panose="02040503050406030204" pitchFamily="18" charset="0"/>
                            <a:ea typeface="微軟正黑體" panose="020B0604030504040204" pitchFamily="34" charset="-120"/>
                          </a:rPr>
                          <m:t>𝑆</m:t>
                        </m:r>
                      </m:e>
                      <m:sub>
                        <m:r>
                          <a:rPr lang="en-US" altLang="zh-TW">
                            <a:latin typeface="Cambria Math" panose="02040503050406030204" pitchFamily="18" charset="0"/>
                            <a:ea typeface="微軟正黑體" panose="020B0604030504040204" pitchFamily="34" charset="-120"/>
                          </a:rPr>
                          <m:t>𝑚𝑎𝑗</m:t>
                        </m:r>
                      </m:sub>
                    </m:sSub>
                  </m:oMath>
                </a14:m>
                <a:r>
                  <a:rPr lang="zh-TW" altLang="en-US" dirty="0">
                    <a:latin typeface="微軟正黑體" panose="020B0604030504040204" pitchFamily="34" charset="-120"/>
                    <a:ea typeface="微軟正黑體" panose="020B0604030504040204" pitchFamily="34" charset="-120"/>
                  </a:rPr>
                  <a:t>切成不同的</a:t>
                </a:r>
                <a:r>
                  <a:rPr lang="en-US" altLang="zh-TW" dirty="0"/>
                  <a:t>10</a:t>
                </a:r>
                <a:r>
                  <a:rPr lang="zh-TW" altLang="en-US" dirty="0">
                    <a:latin typeface="微軟正黑體" panose="020B0604030504040204" pitchFamily="34" charset="-120"/>
                    <a:ea typeface="微軟正黑體" panose="020B0604030504040204" pitchFamily="34" charset="-120"/>
                  </a:rPr>
                  <a:t>份</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i="1">
                            <a:latin typeface="Cambria Math" panose="02040503050406030204" pitchFamily="18" charset="0"/>
                          </a:rPr>
                          <m:t>𝑚𝑎𝑗</m:t>
                        </m:r>
                      </m:sub>
                    </m:sSub>
                  </m:oMath>
                </a14:m>
                <a:r>
                  <a:rPr lang="zh-TW" altLang="en-US" dirty="0"/>
                  <a:t>，</a:t>
                </a:r>
                <a:r>
                  <a:rPr lang="zh-TW" altLang="en-US" dirty="0">
                    <a:latin typeface="微軟正黑體" panose="020B0604030504040204" pitchFamily="34" charset="-120"/>
                    <a:ea typeface="微軟正黑體" panose="020B0604030504040204" pitchFamily="34" charset="-120"/>
                  </a:rPr>
                  <a:t>然後建立</a:t>
                </a:r>
                <a:r>
                  <a:rPr lang="en-US" altLang="zh-TW" dirty="0"/>
                  <a:t>10</a:t>
                </a:r>
                <a:r>
                  <a:rPr lang="zh-TW" altLang="en-US" dirty="0">
                    <a:latin typeface="微軟正黑體" panose="020B0604030504040204" pitchFamily="34" charset="-120"/>
                    <a:ea typeface="微軟正黑體" panose="020B0604030504040204" pitchFamily="34" charset="-120"/>
                  </a:rPr>
                  <a:t>個</a:t>
                </a:r>
                <a:r>
                  <a:rPr lang="en-US" altLang="zh-TW" dirty="0">
                    <a:latin typeface="Cambria Math" panose="02040503050406030204" pitchFamily="18" charset="0"/>
                    <a:ea typeface="Cambria Math" panose="02040503050406030204" pitchFamily="18" charset="0"/>
                  </a:rPr>
                  <a:t>classifier</a:t>
                </a:r>
                <a:r>
                  <a:rPr lang="zh-TW" altLang="en-US" dirty="0">
                    <a:latin typeface="微軟正黑體" panose="020B0604030504040204" pitchFamily="34" charset="-120"/>
                    <a:ea typeface="微軟正黑體" panose="020B0604030504040204" pitchFamily="34" charset="-120"/>
                  </a:rPr>
                  <a:t>來訓練</a:t>
                </a:r>
                <a14:m>
                  <m:oMath xmlns:m="http://schemas.openxmlformats.org/officeDocument/2006/math">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i="1">
                            <a:latin typeface="Cambria Math" panose="02040503050406030204" pitchFamily="18" charset="0"/>
                          </a:rPr>
                          <m:t>𝑚𝑎𝑗</m:t>
                        </m:r>
                      </m:sub>
                    </m:sSub>
                    <m:r>
                      <a:rPr lang="en-US" altLang="zh-TW" i="1" smtClean="0">
                        <a:latin typeface="Cambria Math" panose="02040503050406030204" pitchFamily="18" charset="0"/>
                        <a:ea typeface="Cambria Math" panose="02040503050406030204" pitchFamily="18" charset="0"/>
                      </a:rPr>
                      <m:t>∪</m:t>
                    </m:r>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𝑆</m:t>
                        </m:r>
                      </m:e>
                      <m:sub>
                        <m:r>
                          <a:rPr lang="en-US" altLang="zh-TW" b="0" i="1" dirty="0" smtClean="0">
                            <a:latin typeface="Cambria Math" panose="02040503050406030204" pitchFamily="18" charset="0"/>
                          </a:rPr>
                          <m:t>𝑚𝑖𝑛</m:t>
                        </m:r>
                      </m:sub>
                    </m:sSub>
                    <m:r>
                      <a:rPr lang="zh-TW" altLang="en-US" i="1" dirty="0">
                        <a:latin typeface="Cambria Math" panose="02040503050406030204" pitchFamily="18" charset="0"/>
                      </a:rPr>
                      <m:t>。</m:t>
                    </m:r>
                  </m:oMath>
                </a14:m>
                <a:endParaRPr lang="en-US" altLang="zh-TW" dirty="0"/>
              </a:p>
            </p:txBody>
          </p:sp>
        </mc:Choice>
        <mc:Fallback xmlns="">
          <p:sp>
            <p:nvSpPr>
              <p:cNvPr id="27" name="文字方塊 26"/>
              <p:cNvSpPr txBox="1">
                <a:spLocks noRot="1" noChangeAspect="1" noMove="1" noResize="1" noEditPoints="1" noAdjustHandles="1" noChangeArrowheads="1" noChangeShapeType="1" noTextEdit="1"/>
              </p:cNvSpPr>
              <p:nvPr/>
            </p:nvSpPr>
            <p:spPr>
              <a:xfrm>
                <a:off x="96793" y="1962398"/>
                <a:ext cx="11182998" cy="688394"/>
              </a:xfrm>
              <a:prstGeom prst="rect">
                <a:avLst/>
              </a:prstGeom>
              <a:blipFill>
                <a:blip r:embed="rId3"/>
                <a:stretch>
                  <a:fillRect l="-491" t="-5310" b="-10619"/>
                </a:stretch>
              </a:blipFill>
            </p:spPr>
            <p:txBody>
              <a:bodyPr/>
              <a:lstStyle/>
              <a:p>
                <a:r>
                  <a:rPr lang="zh-TW" altLang="en-US">
                    <a:noFill/>
                  </a:rPr>
                  <a:t> </a:t>
                </a:r>
              </a:p>
            </p:txBody>
          </p:sp>
        </mc:Fallback>
      </mc:AlternateContent>
      <p:pic>
        <p:nvPicPr>
          <p:cNvPr id="1026" name="Picture 2" descr="http://cdn.iguang.co/22c037fc/mmbiz/3nSIH8I6cxvV6BI9wvwvV7obnO0wnbuCtjdCObib8A81PkddaMREks6TmtfvMuR81icHhCibwwWpyafh3XvWibghvg/0?wx_fmt=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2692" y="2805707"/>
            <a:ext cx="4727575" cy="37968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8" name="圖片 27"/>
          <p:cNvPicPr>
            <a:picLocks noChangeAspect="1"/>
          </p:cNvPicPr>
          <p:nvPr/>
        </p:nvPicPr>
        <p:blipFill>
          <a:blip r:embed="rId5"/>
          <a:stretch>
            <a:fillRect/>
          </a:stretch>
        </p:blipFill>
        <p:spPr>
          <a:xfrm>
            <a:off x="939113" y="2805707"/>
            <a:ext cx="4876800" cy="3643305"/>
          </a:xfrm>
          <a:prstGeom prst="rect">
            <a:avLst/>
          </a:prstGeom>
        </p:spPr>
      </p:pic>
    </p:spTree>
    <p:extLst>
      <p:ext uri="{BB962C8B-B14F-4D97-AF65-F5344CB8AC3E}">
        <p14:creationId xmlns:p14="http://schemas.microsoft.com/office/powerpoint/2010/main" val="3981742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09026" y="188956"/>
            <a:ext cx="10515600" cy="1325563"/>
          </a:xfrm>
        </p:spPr>
        <p:txBody>
          <a:bodyPr>
            <a:normAutofit/>
          </a:bodyPr>
          <a:lstStyle/>
          <a:p>
            <a:r>
              <a:rPr lang="en-US" altLang="zh-TW" b="1" dirty="0" err="1">
                <a:solidFill>
                  <a:srgbClr val="0B5394"/>
                </a:solidFill>
                <a:latin typeface="Cambria Math" panose="02040503050406030204" pitchFamily="18" charset="0"/>
                <a:ea typeface="Cambria Math" panose="02040503050406030204" pitchFamily="18" charset="0"/>
              </a:rPr>
              <a:t>Tomek</a:t>
            </a:r>
            <a:r>
              <a:rPr lang="en-US" altLang="zh-TW" b="1" dirty="0">
                <a:solidFill>
                  <a:srgbClr val="0B5394"/>
                </a:solidFill>
                <a:latin typeface="Cambria Math" panose="02040503050406030204" pitchFamily="18" charset="0"/>
                <a:ea typeface="Cambria Math" panose="02040503050406030204" pitchFamily="18" charset="0"/>
              </a:rPr>
              <a:t>-Links</a:t>
            </a:r>
            <a:endParaRPr lang="zh-TW" altLang="en-US" b="1" dirty="0">
              <a:solidFill>
                <a:srgbClr val="0B5394"/>
              </a:solidFill>
              <a:latin typeface="Cambria Math" panose="02040503050406030204" pitchFamily="18" charset="0"/>
              <a:ea typeface="Cambria Math" panose="02040503050406030204" pitchFamily="18" charset="0"/>
            </a:endParaRPr>
          </a:p>
        </p:txBody>
      </p:sp>
      <p:pic>
        <p:nvPicPr>
          <p:cNvPr id="4" name="圖片 3"/>
          <p:cNvPicPr>
            <a:picLocks noChangeAspect="1"/>
          </p:cNvPicPr>
          <p:nvPr/>
        </p:nvPicPr>
        <p:blipFill>
          <a:blip r:embed="rId2"/>
          <a:stretch>
            <a:fillRect/>
          </a:stretch>
        </p:blipFill>
        <p:spPr>
          <a:xfrm>
            <a:off x="6264830" y="1498107"/>
            <a:ext cx="5768314" cy="4983060"/>
          </a:xfrm>
          <a:prstGeom prst="rect">
            <a:avLst/>
          </a:prstGeom>
        </p:spPr>
      </p:pic>
      <mc:AlternateContent xmlns:mc="http://schemas.openxmlformats.org/markup-compatibility/2006" xmlns:a14="http://schemas.microsoft.com/office/drawing/2010/main">
        <mc:Choice Requires="a14">
          <p:sp>
            <p:nvSpPr>
              <p:cNvPr id="5" name="內容版面配置區 2"/>
              <p:cNvSpPr txBox="1">
                <a:spLocks/>
              </p:cNvSpPr>
              <p:nvPr/>
            </p:nvSpPr>
            <p:spPr>
              <a:xfrm>
                <a:off x="0" y="3232461"/>
                <a:ext cx="6685327" cy="7246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𝑑</m:t>
                      </m:r>
                      <m:d>
                        <m:dPr>
                          <m:ctrlPr>
                            <a:rPr lang="en-US" altLang="zh-TW" sz="2400" i="1" smtClean="0">
                              <a:latin typeface="Cambria Math" panose="02040503050406030204" pitchFamily="18" charset="0"/>
                            </a:rPr>
                          </m:ctrlPr>
                        </m:dPr>
                        <m:e>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𝑥</m:t>
                              </m:r>
                            </m:e>
                            <m:sub>
                              <m:r>
                                <a:rPr lang="en-US" altLang="zh-TW" sz="2400" i="1" smtClean="0">
                                  <a:latin typeface="Cambria Math" panose="02040503050406030204" pitchFamily="18" charset="0"/>
                                </a:rPr>
                                <m:t>𝑖</m:t>
                              </m:r>
                            </m:sub>
                          </m:sSub>
                          <m:r>
                            <a:rPr lang="en-US" altLang="zh-TW" sz="2400" i="1" smtClean="0">
                              <a:latin typeface="Cambria Math" panose="02040503050406030204" pitchFamily="18" charset="0"/>
                            </a:rPr>
                            <m:t>, </m:t>
                          </m:r>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𝑥</m:t>
                              </m:r>
                            </m:e>
                            <m:sub>
                              <m:r>
                                <a:rPr lang="en-US" altLang="zh-TW" sz="2400" i="1" smtClean="0">
                                  <a:latin typeface="Cambria Math" panose="02040503050406030204" pitchFamily="18" charset="0"/>
                                </a:rPr>
                                <m:t>𝑗</m:t>
                              </m:r>
                            </m:sub>
                          </m:sSub>
                        </m:e>
                      </m:d>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𝑡h𝑒</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𝑑𝑖𝑠𝑡𝑎𝑛𝑐𝑒</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𝑏𝑒𝑡𝑤𝑒𝑒𝑛</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 </m:t>
                          </m:r>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𝑎𝑛𝑑</m:t>
                      </m:r>
                      <m:r>
                        <a:rPr lang="en-US" altLang="zh-TW" sz="2400" b="0" i="1" smtClean="0">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𝑗</m:t>
                          </m:r>
                        </m:sub>
                      </m:sSub>
                    </m:oMath>
                  </m:oMathPara>
                </a14:m>
                <a:endParaRPr lang="zh-TW" altLang="en-US" sz="2400" dirty="0"/>
              </a:p>
            </p:txBody>
          </p:sp>
        </mc:Choice>
        <mc:Fallback xmlns="">
          <p:sp>
            <p:nvSpPr>
              <p:cNvPr id="5" name="內容版面配置區 2"/>
              <p:cNvSpPr txBox="1">
                <a:spLocks noRot="1" noChangeAspect="1" noMove="1" noResize="1" noEditPoints="1" noAdjustHandles="1" noChangeArrowheads="1" noChangeShapeType="1" noTextEdit="1"/>
              </p:cNvSpPr>
              <p:nvPr/>
            </p:nvSpPr>
            <p:spPr>
              <a:xfrm>
                <a:off x="0" y="3232461"/>
                <a:ext cx="6685327" cy="72462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843035" y="2029145"/>
                <a:ext cx="4787786" cy="517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TW" sz="2400" i="1" smtClean="0">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𝑗</m:t>
                              </m:r>
                            </m:sub>
                          </m:sSub>
                        </m:e>
                      </m:d>
                      <m:r>
                        <a:rPr lang="en-US" altLang="zh-TW" sz="2400" i="1">
                          <a:latin typeface="Cambria Math" panose="02040503050406030204" pitchFamily="18" charset="0"/>
                        </a:rPr>
                        <m:t>, </m:t>
                      </m:r>
                      <m:r>
                        <a:rPr lang="en-US" altLang="zh-TW" sz="2400" i="1">
                          <a:latin typeface="Cambria Math" panose="02040503050406030204" pitchFamily="18" charset="0"/>
                        </a:rPr>
                        <m:t>𝑤h𝑒𝑟𝑒</m:t>
                      </m:r>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𝑆</m:t>
                          </m:r>
                        </m:e>
                        <m:sub>
                          <m:r>
                            <a:rPr lang="en-US" altLang="zh-TW" sz="2400" i="1">
                              <a:latin typeface="Cambria Math" panose="02040503050406030204" pitchFamily="18" charset="0"/>
                              <a:ea typeface="Cambria Math" panose="02040503050406030204" pitchFamily="18" charset="0"/>
                            </a:rPr>
                            <m:t>𝑚𝑖𝑛</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𝑗</m:t>
                          </m:r>
                        </m:sub>
                      </m:sSub>
                      <m:r>
                        <a:rPr lang="en-US" altLang="zh-TW" sz="2400" i="1">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𝑆</m:t>
                          </m:r>
                        </m:e>
                        <m:sub>
                          <m:r>
                            <a:rPr lang="en-US" altLang="zh-TW" sz="2400" i="1">
                              <a:latin typeface="Cambria Math" panose="02040503050406030204" pitchFamily="18" charset="0"/>
                              <a:ea typeface="Cambria Math" panose="02040503050406030204" pitchFamily="18" charset="0"/>
                            </a:rPr>
                            <m:t>𝑚𝑎𝑗</m:t>
                          </m:r>
                        </m:sub>
                      </m:sSub>
                    </m:oMath>
                  </m:oMathPara>
                </a14:m>
                <a:endParaRPr lang="zh-TW"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843035" y="2029145"/>
                <a:ext cx="4787786" cy="51783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209026" y="2648716"/>
                <a:ext cx="140217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C00000"/>
                          </a:solidFill>
                          <a:latin typeface="Cambria Math" panose="02040503050406030204" pitchFamily="18" charset="0"/>
                        </a:rPr>
                        <m:t>𝐷𝑒𝑓𝑖𝑛𝑒</m:t>
                      </m:r>
                      <m:r>
                        <a:rPr lang="en-US" altLang="zh-TW" sz="2400" b="0" i="1" smtClean="0">
                          <a:solidFill>
                            <a:srgbClr val="C00000"/>
                          </a:solidFill>
                          <a:latin typeface="Cambria Math" panose="02040503050406030204" pitchFamily="18" charset="0"/>
                        </a:rPr>
                        <m:t> :</m:t>
                      </m:r>
                    </m:oMath>
                  </m:oMathPara>
                </a14:m>
                <a:endParaRPr lang="zh-TW" altLang="en-US" sz="2400" dirty="0">
                  <a:solidFill>
                    <a:srgbClr val="C00000"/>
                  </a:solidFill>
                </a:endParaRPr>
              </a:p>
            </p:txBody>
          </p:sp>
        </mc:Choice>
        <mc:Fallback xmlns="">
          <p:sp>
            <p:nvSpPr>
              <p:cNvPr id="8" name="矩形 7"/>
              <p:cNvSpPr>
                <a:spLocks noRot="1" noChangeAspect="1" noMove="1" noResize="1" noEditPoints="1" noAdjustHandles="1" noChangeArrowheads="1" noChangeShapeType="1" noTextEdit="1"/>
              </p:cNvSpPr>
              <p:nvPr/>
            </p:nvSpPr>
            <p:spPr>
              <a:xfrm>
                <a:off x="209026" y="2648716"/>
                <a:ext cx="1402179" cy="461665"/>
              </a:xfrm>
              <a:prstGeom prst="rect">
                <a:avLst/>
              </a:prstGeom>
              <a:blipFill>
                <a:blip r:embed="rId5"/>
                <a:stretch>
                  <a:fillRect l="-435" b="-17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09026" y="3989637"/>
                <a:ext cx="6055804" cy="83106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smtClean="0">
                          <a:solidFill>
                            <a:srgbClr val="C00000"/>
                          </a:solidFill>
                          <a:latin typeface="Cambria Math" panose="02040503050406030204" pitchFamily="18" charset="0"/>
                        </a:rPr>
                        <m:t>𝑇𝑜𝑚𝑒𝑘</m:t>
                      </m:r>
                      <m:r>
                        <a:rPr lang="en-US" altLang="zh-TW" sz="2400" b="0" i="1" smtClean="0">
                          <a:solidFill>
                            <a:srgbClr val="C00000"/>
                          </a:solidFill>
                          <a:latin typeface="Cambria Math" panose="02040503050406030204" pitchFamily="18" charset="0"/>
                        </a:rPr>
                        <m:t>−</m:t>
                      </m:r>
                      <m:r>
                        <a:rPr lang="en-US" altLang="zh-TW" sz="2400" b="0" i="1" smtClean="0">
                          <a:solidFill>
                            <a:srgbClr val="C00000"/>
                          </a:solidFill>
                          <a:latin typeface="Cambria Math" panose="02040503050406030204" pitchFamily="18" charset="0"/>
                        </a:rPr>
                        <m:t>𝐿𝑖𝑛𝑘𝑠</m:t>
                      </m:r>
                      <m:r>
                        <a:rPr lang="en-US" altLang="zh-TW" sz="2400" b="0" i="1" smtClean="0">
                          <a:solidFill>
                            <a:srgbClr val="C00000"/>
                          </a:solidFill>
                          <a:latin typeface="Cambria Math" panose="02040503050406030204" pitchFamily="18" charset="0"/>
                        </a:rPr>
                        <m:t>:</m:t>
                      </m:r>
                    </m:oMath>
                    <m:oMath xmlns:m="http://schemas.openxmlformats.org/officeDocument/2006/math">
                      <m:r>
                        <a:rPr lang="en-US" altLang="zh-TW" sz="2400" b="0" i="1" smtClean="0">
                          <a:solidFill>
                            <a:schemeClr val="tx1"/>
                          </a:solidFill>
                          <a:latin typeface="Cambria Math" panose="02040503050406030204" pitchFamily="18" charset="0"/>
                        </a:rPr>
                        <m:t>𝑡h𝑒𝑟𝑒</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𝑖𝑠</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𝑛𝑜</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𝑖𝑛𝑠𝑡𝑎𝑛𝑐𝑒</m:t>
                      </m:r>
                      <m:r>
                        <a:rPr lang="en-US" altLang="zh-TW" sz="2400" b="0" i="1" smtClean="0">
                          <a:solidFill>
                            <a:schemeClr val="tx1"/>
                          </a:solidFill>
                          <a:latin typeface="Cambria Math" panose="02040503050406030204" pitchFamily="18" charset="0"/>
                        </a:rPr>
                        <m:t> </m:t>
                      </m:r>
                      <m:sSub>
                        <m:sSubPr>
                          <m:ctrlPr>
                            <a:rPr lang="en-US" altLang="zh-TW" sz="2400" i="1">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𝑥</m:t>
                          </m:r>
                        </m:e>
                        <m:sub>
                          <m:r>
                            <a:rPr lang="en-US" altLang="zh-TW" sz="2400" b="0" i="1" smtClean="0">
                              <a:solidFill>
                                <a:schemeClr val="tx1"/>
                              </a:solidFill>
                              <a:latin typeface="Cambria Math" panose="02040503050406030204" pitchFamily="18" charset="0"/>
                            </a:rPr>
                            <m:t>𝑘</m:t>
                          </m:r>
                        </m:sub>
                      </m:sSub>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𝑠𝑢𝑐h</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𝑡h𝑎𝑡</m:t>
                      </m:r>
                    </m:oMath>
                  </m:oMathPara>
                </a14:m>
                <a:r>
                  <a:rPr lang="en-US" altLang="zh-TW" sz="2400" b="0" dirty="0"/>
                  <a:t/>
                </a:r>
                <a:br>
                  <a:rPr lang="en-US" altLang="zh-TW" sz="2400" b="0" dirty="0"/>
                </a:br>
                <a:endParaRPr lang="zh-TW" altLang="en-US" sz="2400" dirty="0">
                  <a:solidFill>
                    <a:srgbClr val="C0000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209026" y="3989637"/>
                <a:ext cx="6055804" cy="831061"/>
              </a:xfrm>
              <a:prstGeom prst="rect">
                <a:avLst/>
              </a:prstGeom>
              <a:blipFill>
                <a:blip r:embed="rId6"/>
                <a:stretch>
                  <a:fillRect l="-302" b="-7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7869" y="4874181"/>
                <a:ext cx="5966698" cy="5178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rgbClr val="00B050"/>
                          </a:solidFill>
                          <a:latin typeface="Cambria Math" panose="02040503050406030204" pitchFamily="18" charset="0"/>
                        </a:rPr>
                        <m:t>𝑑</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𝑖</m:t>
                              </m:r>
                            </m:sub>
                          </m:sSub>
                          <m:r>
                            <a:rPr lang="en-US" altLang="zh-TW" sz="2400" i="1">
                              <a:solidFill>
                                <a:srgbClr val="00B050"/>
                              </a:solidFill>
                              <a:latin typeface="Cambria Math" panose="02040503050406030204" pitchFamily="18" charset="0"/>
                            </a:rPr>
                            <m:t>, </m:t>
                          </m:r>
                          <m:sSub>
                            <m:sSubPr>
                              <m:ctrlPr>
                                <a:rPr lang="en-US" altLang="zh-TW" sz="2400" i="1">
                                  <a:solidFill>
                                    <a:srgbClr val="00B050"/>
                                  </a:solidFill>
                                  <a:latin typeface="Cambria Math" panose="02040503050406030204" pitchFamily="18" charset="0"/>
                                </a:rPr>
                              </m:ctrlPr>
                            </m:sSub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𝑘</m:t>
                              </m:r>
                            </m:sub>
                          </m:sSub>
                        </m:e>
                      </m:d>
                      <m:r>
                        <a:rPr lang="en-US" altLang="zh-TW" sz="2400" i="1">
                          <a:solidFill>
                            <a:srgbClr val="00B050"/>
                          </a:solidFill>
                          <a:latin typeface="Cambria Math" panose="02040503050406030204" pitchFamily="18" charset="0"/>
                          <a:ea typeface="Cambria Math" panose="02040503050406030204" pitchFamily="18" charset="0"/>
                        </a:rPr>
                        <m:t>&lt;</m:t>
                      </m:r>
                      <m:r>
                        <a:rPr lang="en-US" altLang="zh-TW" sz="2400" i="1">
                          <a:solidFill>
                            <a:srgbClr val="00B050"/>
                          </a:solidFill>
                          <a:latin typeface="Cambria Math" panose="02040503050406030204" pitchFamily="18" charset="0"/>
                        </a:rPr>
                        <m:t>𝑑</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𝑖</m:t>
                              </m:r>
                            </m:sub>
                          </m:sSub>
                          <m:r>
                            <a:rPr lang="en-US" altLang="zh-TW" sz="2400" i="1">
                              <a:solidFill>
                                <a:srgbClr val="00B050"/>
                              </a:solidFill>
                              <a:latin typeface="Cambria Math" panose="02040503050406030204" pitchFamily="18" charset="0"/>
                            </a:rPr>
                            <m:t>, </m:t>
                          </m:r>
                          <m:sSub>
                            <m:sSubPr>
                              <m:ctrlPr>
                                <a:rPr lang="en-US" altLang="zh-TW" sz="2400" i="1">
                                  <a:solidFill>
                                    <a:srgbClr val="00B050"/>
                                  </a:solidFill>
                                  <a:latin typeface="Cambria Math" panose="02040503050406030204" pitchFamily="18" charset="0"/>
                                </a:rPr>
                              </m:ctrlPr>
                            </m:sSub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𝑗</m:t>
                              </m:r>
                            </m:sub>
                          </m:sSub>
                        </m:e>
                      </m:d>
                      <m:r>
                        <a:rPr lang="en-US" altLang="zh-TW" sz="2400" i="1">
                          <a:latin typeface="Cambria Math" panose="02040503050406030204" pitchFamily="18" charset="0"/>
                        </a:rPr>
                        <m:t> </m:t>
                      </m:r>
                      <m:r>
                        <a:rPr lang="en-US" altLang="zh-TW" sz="2400" i="1">
                          <a:latin typeface="Cambria Math" panose="02040503050406030204" pitchFamily="18" charset="0"/>
                        </a:rPr>
                        <m:t>𝑜𝑟</m:t>
                      </m:r>
                      <m:r>
                        <a:rPr lang="en-US" altLang="zh-TW" sz="2400" i="1">
                          <a:latin typeface="Cambria Math" panose="02040503050406030204" pitchFamily="18" charset="0"/>
                        </a:rPr>
                        <m:t> </m:t>
                      </m:r>
                      <m:r>
                        <a:rPr lang="en-US" altLang="zh-TW" sz="2400" i="1" smtClean="0">
                          <a:solidFill>
                            <a:srgbClr val="00B0F0"/>
                          </a:solidFill>
                          <a:latin typeface="Cambria Math" panose="02040503050406030204" pitchFamily="18" charset="0"/>
                        </a:rPr>
                        <m:t>𝑑</m:t>
                      </m:r>
                      <m:d>
                        <m:dPr>
                          <m:ctrlPr>
                            <a:rPr lang="en-US" altLang="zh-TW" sz="2400" i="1">
                              <a:solidFill>
                                <a:srgbClr val="00B0F0"/>
                              </a:solidFill>
                              <a:latin typeface="Cambria Math" panose="02040503050406030204" pitchFamily="18" charset="0"/>
                            </a:rPr>
                          </m:ctrlPr>
                        </m:dPr>
                        <m:e>
                          <m:sSub>
                            <m:sSubPr>
                              <m:ctrlPr>
                                <a:rPr lang="en-US" altLang="zh-TW" sz="2400" i="1">
                                  <a:solidFill>
                                    <a:srgbClr val="00B0F0"/>
                                  </a:solidFill>
                                  <a:latin typeface="Cambria Math" panose="02040503050406030204" pitchFamily="18" charset="0"/>
                                </a:rPr>
                              </m:ctrlPr>
                            </m:sSubPr>
                            <m:e>
                              <m:r>
                                <a:rPr lang="en-US" altLang="zh-TW" sz="2400" i="1">
                                  <a:solidFill>
                                    <a:srgbClr val="00B0F0"/>
                                  </a:solidFill>
                                  <a:latin typeface="Cambria Math" panose="02040503050406030204" pitchFamily="18" charset="0"/>
                                </a:rPr>
                                <m:t>𝑥</m:t>
                              </m:r>
                            </m:e>
                            <m:sub>
                              <m:r>
                                <a:rPr lang="en-US" altLang="zh-TW" sz="2400" b="0" i="1" smtClean="0">
                                  <a:solidFill>
                                    <a:srgbClr val="00B0F0"/>
                                  </a:solidFill>
                                  <a:latin typeface="Cambria Math" panose="02040503050406030204" pitchFamily="18" charset="0"/>
                                </a:rPr>
                                <m:t>𝑗</m:t>
                              </m:r>
                            </m:sub>
                          </m:sSub>
                          <m:r>
                            <a:rPr lang="en-US" altLang="zh-TW" sz="2400" i="1">
                              <a:solidFill>
                                <a:srgbClr val="00B0F0"/>
                              </a:solidFill>
                              <a:latin typeface="Cambria Math" panose="02040503050406030204" pitchFamily="18" charset="0"/>
                            </a:rPr>
                            <m:t>, </m:t>
                          </m:r>
                          <m:sSub>
                            <m:sSubPr>
                              <m:ctrlPr>
                                <a:rPr lang="en-US" altLang="zh-TW" sz="2400" i="1">
                                  <a:solidFill>
                                    <a:srgbClr val="00B0F0"/>
                                  </a:solidFill>
                                  <a:latin typeface="Cambria Math" panose="02040503050406030204" pitchFamily="18" charset="0"/>
                                </a:rPr>
                              </m:ctrlPr>
                            </m:sSubPr>
                            <m:e>
                              <m:r>
                                <a:rPr lang="en-US" altLang="zh-TW" sz="2400" i="1">
                                  <a:solidFill>
                                    <a:srgbClr val="00B0F0"/>
                                  </a:solidFill>
                                  <a:latin typeface="Cambria Math" panose="02040503050406030204" pitchFamily="18" charset="0"/>
                                </a:rPr>
                                <m:t>𝑥</m:t>
                              </m:r>
                            </m:e>
                            <m:sub>
                              <m:r>
                                <a:rPr lang="en-US" altLang="zh-TW" sz="2400" i="1">
                                  <a:solidFill>
                                    <a:srgbClr val="00B0F0"/>
                                  </a:solidFill>
                                  <a:latin typeface="Cambria Math" panose="02040503050406030204" pitchFamily="18" charset="0"/>
                                </a:rPr>
                                <m:t>𝑘</m:t>
                              </m:r>
                            </m:sub>
                          </m:sSub>
                        </m:e>
                      </m:d>
                      <m:r>
                        <a:rPr lang="en-US" altLang="zh-TW" sz="2400" i="1">
                          <a:solidFill>
                            <a:srgbClr val="00B0F0"/>
                          </a:solidFill>
                          <a:latin typeface="Cambria Math" panose="02040503050406030204" pitchFamily="18" charset="0"/>
                          <a:ea typeface="Cambria Math" panose="02040503050406030204" pitchFamily="18" charset="0"/>
                        </a:rPr>
                        <m:t>&lt;</m:t>
                      </m:r>
                      <m:r>
                        <a:rPr lang="en-US" altLang="zh-TW" sz="2400" i="1">
                          <a:solidFill>
                            <a:srgbClr val="00B0F0"/>
                          </a:solidFill>
                          <a:latin typeface="Cambria Math" panose="02040503050406030204" pitchFamily="18" charset="0"/>
                        </a:rPr>
                        <m:t>𝑑</m:t>
                      </m:r>
                      <m:d>
                        <m:dPr>
                          <m:ctrlPr>
                            <a:rPr lang="en-US" altLang="zh-TW" sz="2400" i="1">
                              <a:solidFill>
                                <a:srgbClr val="00B0F0"/>
                              </a:solidFill>
                              <a:latin typeface="Cambria Math" panose="02040503050406030204" pitchFamily="18" charset="0"/>
                            </a:rPr>
                          </m:ctrlPr>
                        </m:dPr>
                        <m:e>
                          <m:sSub>
                            <m:sSubPr>
                              <m:ctrlPr>
                                <a:rPr lang="en-US" altLang="zh-TW" sz="2400" i="1">
                                  <a:solidFill>
                                    <a:srgbClr val="00B0F0"/>
                                  </a:solidFill>
                                  <a:latin typeface="Cambria Math" panose="02040503050406030204" pitchFamily="18" charset="0"/>
                                </a:rPr>
                              </m:ctrlPr>
                            </m:sSubPr>
                            <m:e>
                              <m:r>
                                <a:rPr lang="en-US" altLang="zh-TW" sz="2400" i="1">
                                  <a:solidFill>
                                    <a:srgbClr val="00B0F0"/>
                                  </a:solidFill>
                                  <a:latin typeface="Cambria Math" panose="02040503050406030204" pitchFamily="18" charset="0"/>
                                </a:rPr>
                                <m:t>𝑥</m:t>
                              </m:r>
                            </m:e>
                            <m:sub>
                              <m:r>
                                <a:rPr lang="en-US" altLang="zh-TW" sz="2400" i="1">
                                  <a:solidFill>
                                    <a:srgbClr val="00B0F0"/>
                                  </a:solidFill>
                                  <a:latin typeface="Cambria Math" panose="02040503050406030204" pitchFamily="18" charset="0"/>
                                </a:rPr>
                                <m:t>𝑖</m:t>
                              </m:r>
                            </m:sub>
                          </m:sSub>
                          <m:r>
                            <a:rPr lang="en-US" altLang="zh-TW" sz="2400" i="1">
                              <a:solidFill>
                                <a:srgbClr val="00B0F0"/>
                              </a:solidFill>
                              <a:latin typeface="Cambria Math" panose="02040503050406030204" pitchFamily="18" charset="0"/>
                            </a:rPr>
                            <m:t>, </m:t>
                          </m:r>
                          <m:sSub>
                            <m:sSubPr>
                              <m:ctrlPr>
                                <a:rPr lang="en-US" altLang="zh-TW" sz="2400" i="1">
                                  <a:solidFill>
                                    <a:srgbClr val="00B0F0"/>
                                  </a:solidFill>
                                  <a:latin typeface="Cambria Math" panose="02040503050406030204" pitchFamily="18" charset="0"/>
                                </a:rPr>
                              </m:ctrlPr>
                            </m:sSubPr>
                            <m:e>
                              <m:r>
                                <a:rPr lang="en-US" altLang="zh-TW" sz="2400" i="1">
                                  <a:solidFill>
                                    <a:srgbClr val="00B0F0"/>
                                  </a:solidFill>
                                  <a:latin typeface="Cambria Math" panose="02040503050406030204" pitchFamily="18" charset="0"/>
                                </a:rPr>
                                <m:t>𝑥</m:t>
                              </m:r>
                            </m:e>
                            <m:sub>
                              <m:r>
                                <a:rPr lang="en-US" altLang="zh-TW" sz="2400" i="1">
                                  <a:solidFill>
                                    <a:srgbClr val="00B0F0"/>
                                  </a:solidFill>
                                  <a:latin typeface="Cambria Math" panose="02040503050406030204" pitchFamily="18" charset="0"/>
                                </a:rPr>
                                <m:t>𝑗</m:t>
                              </m:r>
                            </m:sub>
                          </m:sSub>
                        </m:e>
                      </m:d>
                    </m:oMath>
                  </m:oMathPara>
                </a14:m>
                <a:endParaRPr lang="zh-TW"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27869" y="4874181"/>
                <a:ext cx="5966698" cy="51783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27869" y="1558913"/>
                <a:ext cx="94801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C00000"/>
                          </a:solidFill>
                          <a:latin typeface="Cambria Math" panose="02040503050406030204" pitchFamily="18" charset="0"/>
                        </a:rPr>
                        <m:t>𝑃𝑎𝑖𝑟</m:t>
                      </m:r>
                      <m:r>
                        <a:rPr lang="en-US" altLang="zh-TW" sz="2400" b="0" i="1" smtClean="0">
                          <a:solidFill>
                            <a:srgbClr val="C00000"/>
                          </a:solidFill>
                          <a:latin typeface="Cambria Math" panose="02040503050406030204" pitchFamily="18" charset="0"/>
                        </a:rPr>
                        <m:t>:</m:t>
                      </m:r>
                    </m:oMath>
                  </m:oMathPara>
                </a14:m>
                <a:endParaRPr lang="zh-TW" altLang="en-US" sz="2400" dirty="0">
                  <a:solidFill>
                    <a:srgbClr val="C00000"/>
                  </a:solidFill>
                </a:endParaRPr>
              </a:p>
            </p:txBody>
          </p:sp>
        </mc:Choice>
        <mc:Fallback xmlns="">
          <p:sp>
            <p:nvSpPr>
              <p:cNvPr id="11" name="矩形 10"/>
              <p:cNvSpPr>
                <a:spLocks noRot="1" noChangeAspect="1" noMove="1" noResize="1" noEditPoints="1" noAdjustHandles="1" noChangeArrowheads="1" noChangeShapeType="1" noTextEdit="1"/>
              </p:cNvSpPr>
              <p:nvPr/>
            </p:nvSpPr>
            <p:spPr>
              <a:xfrm>
                <a:off x="327869" y="1558913"/>
                <a:ext cx="948016" cy="461665"/>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01955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6134677" y="303591"/>
            <a:ext cx="5735590"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圖片 3"/>
          <p:cNvPicPr>
            <a:picLocks noChangeAspect="1"/>
          </p:cNvPicPr>
          <p:nvPr/>
        </p:nvPicPr>
        <p:blipFill>
          <a:blip r:embed="rId2"/>
          <a:stretch>
            <a:fillRect/>
          </a:stretch>
        </p:blipFill>
        <p:spPr>
          <a:xfrm>
            <a:off x="178392" y="572625"/>
            <a:ext cx="5713411" cy="5627709"/>
          </a:xfrm>
          <a:prstGeom prst="rect">
            <a:avLst/>
          </a:prstGeom>
        </p:spPr>
      </p:pic>
      <p:sp>
        <p:nvSpPr>
          <p:cNvPr id="2" name="標題 1"/>
          <p:cNvSpPr>
            <a:spLocks noGrp="1"/>
          </p:cNvSpPr>
          <p:nvPr>
            <p:ph type="title"/>
          </p:nvPr>
        </p:nvSpPr>
        <p:spPr>
          <a:xfrm>
            <a:off x="6392598" y="640263"/>
            <a:ext cx="5221266" cy="1344975"/>
          </a:xfrm>
        </p:spPr>
        <p:txBody>
          <a:bodyPr>
            <a:normAutofit fontScale="90000"/>
          </a:bodyPr>
          <a:lstStyle/>
          <a:p>
            <a:r>
              <a:rPr lang="en-US" altLang="zh-TW" b="1" dirty="0">
                <a:solidFill>
                  <a:srgbClr val="0B5394"/>
                </a:solidFill>
                <a:latin typeface="Cambria Math" panose="02040503050406030204" pitchFamily="18" charset="0"/>
                <a:ea typeface="Cambria Math" panose="02040503050406030204" pitchFamily="18" charset="0"/>
              </a:rPr>
              <a:t>Cluster-Based Sampling Method (CBO)</a:t>
            </a:r>
            <a:endParaRPr lang="zh-TW" altLang="en-US" b="1" dirty="0">
              <a:solidFill>
                <a:srgbClr val="0B5394"/>
              </a:solidFill>
              <a:latin typeface="Cambria Math" panose="02040503050406030204" pitchFamily="18" charset="0"/>
            </a:endParaRPr>
          </a:p>
        </p:txBody>
      </p:sp>
      <p:sp>
        <p:nvSpPr>
          <p:cNvPr id="3" name="內容版面配置區 2"/>
          <p:cNvSpPr>
            <a:spLocks noGrp="1"/>
          </p:cNvSpPr>
          <p:nvPr>
            <p:ph idx="1"/>
          </p:nvPr>
        </p:nvSpPr>
        <p:spPr>
          <a:xfrm>
            <a:off x="6391903" y="2121763"/>
            <a:ext cx="5235490" cy="3773010"/>
          </a:xfrm>
        </p:spPr>
        <p:txBody>
          <a:bodyPr>
            <a:normAutofit/>
          </a:bodyPr>
          <a:lstStyle/>
          <a:p>
            <a:pPr marL="0" indent="0">
              <a:buNone/>
            </a:pPr>
            <a:r>
              <a:rPr lang="en-US" altLang="zh-TW" sz="2000" dirty="0">
                <a:latin typeface="微軟正黑體" panose="020B0604030504040204" pitchFamily="34" charset="-120"/>
                <a:ea typeface="微軟正黑體" panose="020B0604030504040204" pitchFamily="34" charset="-120"/>
              </a:rPr>
              <a:t>	</a:t>
            </a:r>
            <a:r>
              <a:rPr lang="zh-TW" altLang="en-US" sz="2000" dirty="0">
                <a:latin typeface="微軟正黑體" panose="020B0604030504040204" pitchFamily="34" charset="-120"/>
                <a:ea typeface="微軟正黑體" panose="020B0604030504040204" pitchFamily="34" charset="-120"/>
              </a:rPr>
              <a:t>首先，先做</a:t>
            </a:r>
            <a:r>
              <a:rPr lang="en-US" altLang="zh-TW" sz="2000" dirty="0">
                <a:latin typeface="Cambria Math" panose="02040503050406030204" pitchFamily="18" charset="0"/>
                <a:ea typeface="Cambria Math" panose="02040503050406030204" pitchFamily="18" charset="0"/>
              </a:rPr>
              <a:t>K-means</a:t>
            </a:r>
            <a:r>
              <a:rPr lang="zh-TW" altLang="en-US" sz="2000" dirty="0">
                <a:latin typeface="微軟正黑體" panose="020B0604030504040204" pitchFamily="34" charset="-120"/>
                <a:ea typeface="微軟正黑體" panose="020B0604030504040204" pitchFamily="34" charset="-120"/>
              </a:rPr>
              <a:t> ，先從各個類別挑出 </a:t>
            </a:r>
            <a:r>
              <a:rPr lang="en-US" altLang="zh-TW" sz="2000" dirty="0">
                <a:latin typeface="Cambria Math" panose="02040503050406030204" pitchFamily="18" charset="0"/>
                <a:ea typeface="Cambria Math" panose="02040503050406030204" pitchFamily="18" charset="0"/>
              </a:rPr>
              <a:t>K </a:t>
            </a:r>
            <a:r>
              <a:rPr lang="zh-TW" altLang="en-US" sz="2000" dirty="0">
                <a:latin typeface="微軟正黑體" panose="020B0604030504040204" pitchFamily="34" charset="-120"/>
                <a:ea typeface="微軟正黑體" panose="020B0604030504040204" pitchFamily="34" charset="-120"/>
              </a:rPr>
              <a:t>個</a:t>
            </a:r>
            <a:r>
              <a:rPr lang="en-US" altLang="zh-TW" sz="2000" dirty="0">
                <a:latin typeface="Cambria Math" panose="02040503050406030204" pitchFamily="18" charset="0"/>
                <a:ea typeface="Cambria Math" panose="02040503050406030204" pitchFamily="18" charset="0"/>
              </a:rPr>
              <a:t>samples</a:t>
            </a:r>
            <a:r>
              <a:rPr lang="zh-TW" altLang="en-US" sz="2000" dirty="0">
                <a:latin typeface="微軟正黑體" panose="020B0604030504040204" pitchFamily="34" charset="-120"/>
                <a:ea typeface="微軟正黑體" panose="020B0604030504040204" pitchFamily="34" charset="-120"/>
              </a:rPr>
              <a:t>然後根據各個類別挑出來的</a:t>
            </a:r>
            <a:r>
              <a:rPr lang="en-US" altLang="zh-TW" sz="2000" dirty="0"/>
              <a:t>K</a:t>
            </a:r>
            <a:r>
              <a:rPr lang="zh-TW" altLang="en-US" sz="2000" dirty="0">
                <a:latin typeface="微軟正黑體" panose="020B0604030504040204" pitchFamily="34" charset="-120"/>
                <a:ea typeface="微軟正黑體" panose="020B0604030504040204" pitchFamily="34" charset="-120"/>
              </a:rPr>
              <a:t>個</a:t>
            </a:r>
            <a:r>
              <a:rPr lang="en-US" altLang="zh-TW" sz="2000" dirty="0">
                <a:latin typeface="Cambria Math" panose="02040503050406030204" pitchFamily="18" charset="0"/>
                <a:ea typeface="Cambria Math" panose="02040503050406030204" pitchFamily="18" charset="0"/>
              </a:rPr>
              <a:t>samples</a:t>
            </a:r>
            <a:r>
              <a:rPr lang="zh-TW" altLang="en-US" sz="2000" dirty="0">
                <a:latin typeface="微軟正黑體" panose="020B0604030504040204" pitchFamily="34" charset="-120"/>
                <a:ea typeface="微軟正黑體" panose="020B0604030504040204" pitchFamily="34" charset="-120"/>
              </a:rPr>
              <a:t>，算出各個類別的中心點 </a:t>
            </a:r>
            <a:r>
              <a:rPr lang="en-US" altLang="zh-TW" sz="2000" dirty="0">
                <a:latin typeface="Cambria Math" panose="02040503050406030204" pitchFamily="18" charset="0"/>
                <a:ea typeface="Cambria Math" panose="02040503050406030204" pitchFamily="18" charset="0"/>
              </a:rPr>
              <a:t>(mean)</a:t>
            </a:r>
            <a:r>
              <a:rPr lang="zh-TW" altLang="en-US" sz="2000" dirty="0">
                <a:latin typeface="微軟正黑體" panose="020B0604030504040204" pitchFamily="34" charset="-120"/>
                <a:ea typeface="微軟正黑體" panose="020B0604030504040204" pitchFamily="34" charset="-120"/>
              </a:rPr>
              <a:t>然後開始把沒挑過得 </a:t>
            </a:r>
            <a:r>
              <a:rPr lang="en-US" altLang="zh-TW" sz="2000" dirty="0">
                <a:latin typeface="Cambria Math" panose="02040503050406030204" pitchFamily="18" charset="0"/>
                <a:ea typeface="Cambria Math" panose="02040503050406030204" pitchFamily="18" charset="0"/>
              </a:rPr>
              <a:t>sample</a:t>
            </a:r>
            <a:r>
              <a:rPr lang="en-US" altLang="zh-TW" sz="2000" dirty="0"/>
              <a:t> </a:t>
            </a:r>
            <a:r>
              <a:rPr lang="zh-TW" altLang="en-US" sz="2000" dirty="0">
                <a:latin typeface="微軟正黑體" panose="020B0604030504040204" pitchFamily="34" charset="-120"/>
                <a:ea typeface="微軟正黑體" panose="020B0604030504040204" pitchFamily="34" charset="-120"/>
              </a:rPr>
              <a:t>加進來，一加一個，接著調整中心點。</a:t>
            </a: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000" dirty="0">
                <a:latin typeface="微軟正黑體" panose="020B0604030504040204" pitchFamily="34" charset="-120"/>
                <a:ea typeface="微軟正黑體" panose="020B0604030504040204" pitchFamily="34" charset="-120"/>
              </a:rPr>
              <a:t>	</a:t>
            </a:r>
            <a:r>
              <a:rPr lang="zh-TW" altLang="en-US" sz="2000" dirty="0">
                <a:latin typeface="微軟正黑體" panose="020B0604030504040204" pitchFamily="34" charset="-120"/>
                <a:ea typeface="微軟正黑體" panose="020B0604030504040204" pitchFamily="34" charset="-120"/>
              </a:rPr>
              <a:t>漸漸地開始會有些類別的</a:t>
            </a:r>
            <a:r>
              <a:rPr lang="en-US" altLang="zh-TW" sz="2000" dirty="0">
                <a:latin typeface="Cambria Math" panose="02040503050406030204" pitchFamily="18" charset="0"/>
                <a:ea typeface="Cambria Math" panose="02040503050406030204" pitchFamily="18" charset="0"/>
              </a:rPr>
              <a:t>sample</a:t>
            </a:r>
            <a:r>
              <a:rPr lang="zh-TW" altLang="en-US" sz="2000" dirty="0">
                <a:latin typeface="微軟正黑體" panose="020B0604030504040204" pitchFamily="34" charset="-120"/>
                <a:ea typeface="微軟正黑體" panose="020B0604030504040204" pitchFamily="34" charset="-120"/>
              </a:rPr>
              <a:t>不夠，我們就開始做 </a:t>
            </a:r>
            <a:r>
              <a:rPr lang="en-US" altLang="zh-TW" sz="2000" dirty="0">
                <a:latin typeface="Cambria Math" panose="02040503050406030204" pitchFamily="18" charset="0"/>
                <a:ea typeface="Cambria Math" panose="02040503050406030204" pitchFamily="18" charset="0"/>
              </a:rPr>
              <a:t>over-sampling(SMOTE)</a:t>
            </a:r>
            <a:r>
              <a:rPr lang="zh-TW" altLang="en-US" sz="2000" dirty="0">
                <a:latin typeface="Cambria Math" panose="02040503050406030204" pitchFamily="18" charset="0"/>
                <a:ea typeface="Cambria Math" panose="02040503050406030204" pitchFamily="18" charset="0"/>
              </a:rPr>
              <a:t>。</a:t>
            </a:r>
            <a:endParaRPr lang="zh-TW" altLang="en-US" sz="2000" dirty="0"/>
          </a:p>
        </p:txBody>
      </p:sp>
    </p:spTree>
    <p:extLst>
      <p:ext uri="{BB962C8B-B14F-4D97-AF65-F5344CB8AC3E}">
        <p14:creationId xmlns:p14="http://schemas.microsoft.com/office/powerpoint/2010/main" val="152562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30337" y="217034"/>
            <a:ext cx="5364684" cy="2834076"/>
          </a:xfrm>
          <a:prstGeom prst="rect">
            <a:avLst/>
          </a:prstGeom>
        </p:spPr>
      </p:pic>
      <p:pic>
        <p:nvPicPr>
          <p:cNvPr id="5" name="圖片 4"/>
          <p:cNvPicPr>
            <a:picLocks noChangeAspect="1"/>
          </p:cNvPicPr>
          <p:nvPr/>
        </p:nvPicPr>
        <p:blipFill>
          <a:blip r:embed="rId3"/>
          <a:stretch>
            <a:fillRect/>
          </a:stretch>
        </p:blipFill>
        <p:spPr>
          <a:xfrm>
            <a:off x="1837839" y="3296670"/>
            <a:ext cx="3162300" cy="1990725"/>
          </a:xfrm>
          <a:prstGeom prst="rect">
            <a:avLst/>
          </a:prstGeom>
        </p:spPr>
      </p:pic>
      <p:pic>
        <p:nvPicPr>
          <p:cNvPr id="7" name="圖片 6"/>
          <p:cNvPicPr>
            <a:picLocks noChangeAspect="1"/>
          </p:cNvPicPr>
          <p:nvPr/>
        </p:nvPicPr>
        <p:blipFill>
          <a:blip r:embed="rId4"/>
          <a:stretch>
            <a:fillRect/>
          </a:stretch>
        </p:blipFill>
        <p:spPr>
          <a:xfrm>
            <a:off x="5918913" y="853362"/>
            <a:ext cx="5467350" cy="5048250"/>
          </a:xfrm>
          <a:prstGeom prst="rect">
            <a:avLst/>
          </a:prstGeom>
        </p:spPr>
      </p:pic>
      <mc:AlternateContent xmlns:mc="http://schemas.openxmlformats.org/markup-compatibility/2006" xmlns:a14="http://schemas.microsoft.com/office/drawing/2010/main">
        <mc:Choice Requires="a14">
          <p:sp>
            <p:nvSpPr>
              <p:cNvPr id="8" name="文字方塊 7"/>
              <p:cNvSpPr txBox="1"/>
              <p:nvPr/>
            </p:nvSpPr>
            <p:spPr>
              <a:xfrm>
                <a:off x="130337" y="5736664"/>
                <a:ext cx="279878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𝑇𝑃</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𝑟𝑎𝑡𝑒</m:t>
                      </m:r>
                      <m:r>
                        <a:rPr lang="en-US" altLang="zh-TW" sz="2200" b="0" i="1" smtClean="0">
                          <a:latin typeface="Cambria Math" panose="02040503050406030204" pitchFamily="18" charset="0"/>
                        </a:rPr>
                        <m:t>= </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𝑇𝑃</m:t>
                          </m:r>
                        </m:num>
                        <m:den>
                          <m:r>
                            <a:rPr lang="en-US" altLang="zh-TW" sz="2200" b="0" i="1" smtClean="0">
                              <a:latin typeface="Cambria Math" panose="02040503050406030204" pitchFamily="18" charset="0"/>
                            </a:rPr>
                            <m:t>𝑇𝑃</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𝐹𝑁</m:t>
                          </m:r>
                        </m:den>
                      </m:f>
                    </m:oMath>
                  </m:oMathPara>
                </a14:m>
                <a:endParaRPr lang="zh-TW" altLang="en-US" sz="22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30337" y="5736664"/>
                <a:ext cx="2798780" cy="63953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3418989" y="5736664"/>
                <a:ext cx="2803588"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𝐹𝑃</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𝑟𝑎𝑡𝑒</m:t>
                      </m:r>
                      <m:r>
                        <a:rPr lang="en-US" altLang="zh-TW" sz="2200" b="0" i="1" smtClean="0">
                          <a:latin typeface="Cambria Math" panose="02040503050406030204" pitchFamily="18" charset="0"/>
                        </a:rPr>
                        <m:t>= </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𝐹𝑃</m:t>
                          </m:r>
                        </m:num>
                        <m:den>
                          <m:r>
                            <a:rPr lang="en-US" altLang="zh-TW" sz="2200" b="0" i="1" smtClean="0">
                              <a:latin typeface="Cambria Math" panose="02040503050406030204" pitchFamily="18" charset="0"/>
                            </a:rPr>
                            <m:t>𝑇𝑁</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𝐹𝑃</m:t>
                          </m:r>
                        </m:den>
                      </m:f>
                    </m:oMath>
                  </m:oMathPara>
                </a14:m>
                <a:endParaRPr lang="zh-TW" altLang="en-US" sz="22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3418989" y="5736664"/>
                <a:ext cx="2803588" cy="63953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7476080" y="576363"/>
                <a:ext cx="23530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i="1" smtClean="0">
                              <a:latin typeface="Cambria Math" panose="02040503050406030204" pitchFamily="18" charset="0"/>
                            </a:rPr>
                          </m:ctrlPr>
                        </m:dPr>
                        <m:e>
                          <m:r>
                            <a:rPr lang="en-US" altLang="zh-TW" b="0" i="1" smtClean="0">
                              <a:latin typeface="Cambria Math" panose="02040503050406030204" pitchFamily="18" charset="0"/>
                            </a:rPr>
                            <m:t>𝐹𝑃</m:t>
                          </m:r>
                          <m:r>
                            <a:rPr lang="en-US" altLang="zh-TW" b="0" i="1" smtClean="0">
                              <a:latin typeface="Cambria Math" panose="02040503050406030204" pitchFamily="18" charset="0"/>
                            </a:rPr>
                            <m:t>−</m:t>
                          </m:r>
                          <m:r>
                            <a:rPr lang="en-US" altLang="zh-TW" b="0" i="1" smtClean="0">
                              <a:latin typeface="Cambria Math" panose="02040503050406030204" pitchFamily="18" charset="0"/>
                            </a:rPr>
                            <m:t>𝑟𝑎𝑡𝑒</m:t>
                          </m:r>
                          <m:r>
                            <a:rPr lang="en-US" altLang="zh-TW" b="0" i="1" smtClean="0">
                              <a:latin typeface="Cambria Math" panose="02040503050406030204" pitchFamily="18" charset="0"/>
                            </a:rPr>
                            <m:t>,</m:t>
                          </m:r>
                          <m:r>
                            <a:rPr lang="en-US" altLang="zh-TW" b="0" i="1" smtClean="0">
                              <a:latin typeface="Cambria Math" panose="02040503050406030204" pitchFamily="18" charset="0"/>
                            </a:rPr>
                            <m:t>𝑇𝑃</m:t>
                          </m:r>
                          <m:r>
                            <a:rPr lang="en-US" altLang="zh-TW" b="0" i="1" smtClean="0">
                              <a:latin typeface="Cambria Math" panose="02040503050406030204" pitchFamily="18" charset="0"/>
                            </a:rPr>
                            <m:t>−</m:t>
                          </m:r>
                          <m:r>
                            <a:rPr lang="en-US" altLang="zh-TW" b="0" i="1" smtClean="0">
                              <a:latin typeface="Cambria Math" panose="02040503050406030204" pitchFamily="18" charset="0"/>
                            </a:rPr>
                            <m:t>𝑟𝑎𝑡𝑒</m:t>
                          </m:r>
                        </m:e>
                      </m:d>
                    </m:oMath>
                  </m:oMathPara>
                </a14:m>
                <a:endParaRPr lang="zh-TW" altLang="en-US"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7476080" y="576363"/>
                <a:ext cx="2353016" cy="276999"/>
              </a:xfrm>
              <a:prstGeom prst="rect">
                <a:avLst/>
              </a:prstGeom>
              <a:blipFill>
                <a:blip r:embed="rId7"/>
                <a:stretch>
                  <a:fillRect b="-6667"/>
                </a:stretch>
              </a:blipFill>
            </p:spPr>
            <p:txBody>
              <a:bodyPr/>
              <a:lstStyle/>
              <a:p>
                <a:r>
                  <a:rPr lang="zh-TW" altLang="en-US">
                    <a:noFill/>
                  </a:rPr>
                  <a:t> </a:t>
                </a:r>
              </a:p>
            </p:txBody>
          </p:sp>
        </mc:Fallback>
      </mc:AlternateContent>
      <p:sp>
        <p:nvSpPr>
          <p:cNvPr id="11" name="文字方塊 10"/>
          <p:cNvSpPr txBox="1"/>
          <p:nvPr/>
        </p:nvSpPr>
        <p:spPr>
          <a:xfrm>
            <a:off x="7927596" y="6056431"/>
            <a:ext cx="2191626" cy="369332"/>
          </a:xfrm>
          <a:prstGeom prst="rect">
            <a:avLst/>
          </a:prstGeom>
          <a:noFill/>
        </p:spPr>
        <p:txBody>
          <a:bodyPr wrap="none" rtlCol="0">
            <a:spAutoFit/>
          </a:bodyPr>
          <a:lstStyle/>
          <a:p>
            <a:r>
              <a:rPr lang="zh-TW" altLang="en-US" dirty="0">
                <a:latin typeface="微軟正黑體" panose="020B0604030504040204" pitchFamily="34" charset="-120"/>
                <a:ea typeface="微軟正黑體" panose="020B0604030504040204" pitchFamily="34" charset="-120"/>
              </a:rPr>
              <a:t>越靠近</a:t>
            </a:r>
            <a:r>
              <a:rPr lang="en-US" altLang="zh-TW" dirty="0">
                <a:solidFill>
                  <a:srgbClr val="FF0000"/>
                </a:solidFill>
                <a:latin typeface="Cambria Math" panose="02040503050406030204" pitchFamily="18" charset="0"/>
                <a:ea typeface="Cambria Math" panose="02040503050406030204" pitchFamily="18" charset="0"/>
              </a:rPr>
              <a:t>A</a:t>
            </a:r>
            <a:r>
              <a:rPr lang="zh-TW" altLang="en-US" dirty="0">
                <a:latin typeface="微軟正黑體" panose="020B0604030504040204" pitchFamily="34" charset="-120"/>
                <a:ea typeface="微軟正黑體" panose="020B0604030504040204" pitchFamily="34" charset="-120"/>
              </a:rPr>
              <a:t>點表現越好</a:t>
            </a:r>
          </a:p>
        </p:txBody>
      </p:sp>
    </p:spTree>
    <p:extLst>
      <p:ext uri="{BB962C8B-B14F-4D97-AF65-F5344CB8AC3E}">
        <p14:creationId xmlns:p14="http://schemas.microsoft.com/office/powerpoint/2010/main" val="3200364598"/>
      </p:ext>
    </p:extLst>
  </p:cSld>
  <p:clrMapOvr>
    <a:masterClrMapping/>
  </p:clrMapOvr>
</p:sld>
</file>

<file path=ppt/theme/theme1.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413</Words>
  <Application>Microsoft Office PowerPoint</Application>
  <PresentationFormat>寬螢幕</PresentationFormat>
  <Paragraphs>56</Paragraphs>
  <Slides>12</Slides>
  <Notes>1</Notes>
  <HiddenSlides>0</HiddenSlides>
  <MMClips>0</MMClips>
  <ScaleCrop>false</ScaleCrop>
  <HeadingPairs>
    <vt:vector size="6" baseType="variant">
      <vt:variant>
        <vt:lpstr>使用字型</vt:lpstr>
      </vt:variant>
      <vt:variant>
        <vt:i4>11</vt:i4>
      </vt:variant>
      <vt:variant>
        <vt:lpstr>佈景主題</vt:lpstr>
      </vt:variant>
      <vt:variant>
        <vt:i4>2</vt:i4>
      </vt:variant>
      <vt:variant>
        <vt:lpstr>投影片標題</vt:lpstr>
      </vt:variant>
      <vt:variant>
        <vt:i4>12</vt:i4>
      </vt:variant>
    </vt:vector>
  </HeadingPairs>
  <TitlesOfParts>
    <vt:vector size="25" baseType="lpstr">
      <vt:lpstr>Helvetica Neue Light</vt:lpstr>
      <vt:lpstr>Liberation Sans Narrow</vt:lpstr>
      <vt:lpstr>Liberation Serif</vt:lpstr>
      <vt:lpstr>微軟正黑體</vt:lpstr>
      <vt:lpstr>新細明體</vt:lpstr>
      <vt:lpstr>Arial</vt:lpstr>
      <vt:lpstr>Calibri</vt:lpstr>
      <vt:lpstr>Calibri Light</vt:lpstr>
      <vt:lpstr>Cambria Math</vt:lpstr>
      <vt:lpstr>Mangal</vt:lpstr>
      <vt:lpstr>Tahoma</vt:lpstr>
      <vt:lpstr>1_Office 佈景主題</vt:lpstr>
      <vt:lpstr>Office 佈景主題</vt:lpstr>
      <vt:lpstr>Haibo He and Edwardo A. Garcia IEEE Transactions on Knowledge and Data Engineering, 21(9):1263-1284, 2009  </vt:lpstr>
      <vt:lpstr>Abstract(1/2)</vt:lpstr>
      <vt:lpstr>Abstract(2/2)</vt:lpstr>
      <vt:lpstr>Class-Imbalance</vt:lpstr>
      <vt:lpstr>Symbol</vt:lpstr>
      <vt:lpstr>PowerPoint 簡報</vt:lpstr>
      <vt:lpstr>SMOTE</vt:lpstr>
      <vt:lpstr>Borderline-SMOTE</vt:lpstr>
      <vt:lpstr>Easy-Ensemble</vt:lpstr>
      <vt:lpstr>Tomek-Links</vt:lpstr>
      <vt:lpstr>Cluster-Based Sampling Method (CBO)</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Proceedings of the 1st International Workshop on Multiple Classifier Systems (MCS), 1-15, Cagliari, Italy.</dc:title>
  <dc:creator>賴駿豪</dc:creator>
  <cp:lastModifiedBy>pplab-class</cp:lastModifiedBy>
  <cp:revision>56</cp:revision>
  <dcterms:created xsi:type="dcterms:W3CDTF">2017-01-22T14:15:43Z</dcterms:created>
  <dcterms:modified xsi:type="dcterms:W3CDTF">2017-01-24T06:32:32Z</dcterms:modified>
</cp:coreProperties>
</file>