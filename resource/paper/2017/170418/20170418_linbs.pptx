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7" r:id="rId3"/>
    <p:sldId id="292" r:id="rId4"/>
    <p:sldId id="319" r:id="rId5"/>
    <p:sldId id="320" r:id="rId6"/>
    <p:sldId id="321" r:id="rId7"/>
    <p:sldId id="322" r:id="rId8"/>
    <p:sldId id="323" r:id="rId9"/>
    <p:sldId id="324" r:id="rId10"/>
    <p:sldId id="329" r:id="rId11"/>
    <p:sldId id="326" r:id="rId12"/>
    <p:sldId id="327" r:id="rId13"/>
    <p:sldId id="328"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99CC"/>
    <a:srgbClr val="00FFFF"/>
    <a:srgbClr val="C5C0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中等深淺樣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39" autoAdjust="0"/>
    <p:restoredTop sz="94660"/>
  </p:normalViewPr>
  <p:slideViewPr>
    <p:cSldViewPr snapToGrid="0">
      <p:cViewPr varScale="1">
        <p:scale>
          <a:sx n="79" d="100"/>
          <a:sy n="79" d="100"/>
        </p:scale>
        <p:origin x="84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F118B5-9F64-4BCF-B1EE-1FDC52667EE1}" type="datetimeFigureOut">
              <a:rPr lang="zh-TW" altLang="en-US" smtClean="0"/>
              <a:t>2017/4/18</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C9B0B-B10D-49AA-966C-9C58E0B863DF}" type="slidenum">
              <a:rPr lang="zh-TW" altLang="en-US" smtClean="0"/>
              <a:t>‹#›</a:t>
            </a:fld>
            <a:endParaRPr lang="zh-TW" altLang="en-US"/>
          </a:p>
        </p:txBody>
      </p:sp>
    </p:spTree>
    <p:extLst>
      <p:ext uri="{BB962C8B-B14F-4D97-AF65-F5344CB8AC3E}">
        <p14:creationId xmlns:p14="http://schemas.microsoft.com/office/powerpoint/2010/main" val="2609497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669385C0-1FCA-4A75-9F23-6295E7490FEE}" type="datetime1">
              <a:rPr lang="zh-TW" altLang="en-US" smtClean="0"/>
              <a:t>2017/4/18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778676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A42E0020-C82E-415B-9299-1A25D7552E73}" type="datetime1">
              <a:rPr lang="zh-TW" altLang="en-US" smtClean="0"/>
              <a:t>2017/4/18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615088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05E9755A-A3D0-49B7-B750-A84F0F8C3152}" type="datetime1">
              <a:rPr lang="zh-TW" altLang="en-US" smtClean="0"/>
              <a:t>2017/4/18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319045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177FF536-6844-4449-BA87-F2BF5DABF104}" type="datetime1">
              <a:rPr lang="zh-TW" altLang="en-US" smtClean="0"/>
              <a:t>2017/4/18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839354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ACF50BCE-4D5B-445D-9EBF-D040FF475579}" type="datetime1">
              <a:rPr lang="zh-TW" altLang="en-US" smtClean="0"/>
              <a:t>2017/4/18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371187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A9293B6D-3892-4D58-A340-8C410260F3D7}" type="datetime1">
              <a:rPr lang="zh-TW" altLang="en-US" smtClean="0"/>
              <a:t>2017/4/18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1060125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B735E-8418-4C4A-BC7E-83B7EA882B5A}" type="datetime1">
              <a:rPr lang="zh-TW" altLang="en-US" smtClean="0"/>
              <a:t>2017/4/18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01649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1C2C0A7B-C3EA-46E9-832E-F519368F0FB0}" type="datetime1">
              <a:rPr lang="zh-TW" altLang="en-US" smtClean="0"/>
              <a:t>2017/4/18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2819419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8CACC982-7446-446B-8F17-73F2858A31F6}" type="datetime1">
              <a:rPr lang="zh-TW" altLang="en-US" smtClean="0"/>
              <a:t>2017/4/18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226180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7A87670E-D1D9-4108-B311-ADAABD8B0D32}" type="datetime1">
              <a:rPr lang="zh-TW" altLang="en-US" smtClean="0"/>
              <a:t>2017/4/18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4123520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646D0F84-786D-4EF2-8481-140225BF3227}" type="datetime1">
              <a:rPr lang="zh-TW" altLang="en-US" smtClean="0"/>
              <a:t>2017/4/18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3700096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FEB57B-0D0F-41CB-A932-683E565E4EE2}" type="datetime1">
              <a:rPr lang="zh-TW" altLang="en-US" smtClean="0"/>
              <a:t>2017/4/18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29359-40AB-419B-8FBB-45C7471E1ED3}" type="slidenum">
              <a:rPr lang="zh-TW" altLang="en-US" smtClean="0"/>
              <a:t>‹#›</a:t>
            </a:fld>
            <a:endParaRPr lang="zh-TW" altLang="en-US"/>
          </a:p>
        </p:txBody>
      </p:sp>
    </p:spTree>
    <p:extLst>
      <p:ext uri="{BB962C8B-B14F-4D97-AF65-F5344CB8AC3E}">
        <p14:creationId xmlns:p14="http://schemas.microsoft.com/office/powerpoint/2010/main" val="88030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720722" y="1230178"/>
            <a:ext cx="7772400" cy="1470025"/>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TW" sz="3200" dirty="0" smtClean="0">
                <a:latin typeface="Times New Roman" panose="02020603050405020304" pitchFamily="18" charset="0"/>
                <a:ea typeface="Arial Unicode MS" pitchFamily="34" charset="-120"/>
                <a:cs typeface="Times New Roman" panose="02020603050405020304" pitchFamily="18" charset="0"/>
              </a:rPr>
              <a:t>Locating Longest Common Subsequences with Limited Penalty</a:t>
            </a:r>
            <a:endParaRPr lang="zh-TW" altLang="en-US" sz="3200" dirty="0">
              <a:latin typeface="Times New Roman" panose="02020603050405020304" pitchFamily="18" charset="0"/>
              <a:ea typeface="Arial Unicode MS" pitchFamily="34" charset="-120"/>
              <a:cs typeface="Times New Roman" panose="02020603050405020304" pitchFamily="18" charset="0"/>
            </a:endParaRPr>
          </a:p>
        </p:txBody>
      </p:sp>
      <p:sp>
        <p:nvSpPr>
          <p:cNvPr id="5" name="副標題 2"/>
          <p:cNvSpPr txBox="1">
            <a:spLocks/>
          </p:cNvSpPr>
          <p:nvPr/>
        </p:nvSpPr>
        <p:spPr>
          <a:xfrm>
            <a:off x="1406522" y="3019431"/>
            <a:ext cx="6400800" cy="479425"/>
          </a:xfrm>
          <a:prstGeom prst="rect">
            <a:avLst/>
          </a:prstGeom>
        </p:spPr>
        <p:txBody>
          <a:bodyPr>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TW" sz="2000" dirty="0" smtClean="0"/>
              <a:t>Bin Wang, </a:t>
            </a:r>
            <a:r>
              <a:rPr lang="en-US" altLang="zh-TW" sz="2000" dirty="0" err="1" smtClean="0"/>
              <a:t>Xiaochun</a:t>
            </a:r>
            <a:r>
              <a:rPr lang="en-US" altLang="zh-TW" sz="2000" dirty="0" smtClean="0"/>
              <a:t> Yang and </a:t>
            </a:r>
            <a:r>
              <a:rPr lang="en-US" altLang="zh-TW" sz="2000" dirty="0" err="1" smtClean="0"/>
              <a:t>Jinxu</a:t>
            </a:r>
            <a:r>
              <a:rPr lang="en-US" altLang="zh-TW" sz="2000" dirty="0" smtClean="0"/>
              <a:t> Li</a:t>
            </a:r>
            <a:endParaRPr lang="en-US" altLang="zh-TW" sz="2000" dirty="0"/>
          </a:p>
        </p:txBody>
      </p:sp>
      <p:graphicFrame>
        <p:nvGraphicFramePr>
          <p:cNvPr id="6" name="表格 5"/>
          <p:cNvGraphicFramePr>
            <a:graphicFrameLocks noGrp="1"/>
          </p:cNvGraphicFramePr>
          <p:nvPr>
            <p:extLst>
              <p:ext uri="{D42A27DB-BD31-4B8C-83A1-F6EECF244321}">
                <p14:modId xmlns:p14="http://schemas.microsoft.com/office/powerpoint/2010/main" val="4057688921"/>
              </p:ext>
            </p:extLst>
          </p:nvPr>
        </p:nvGraphicFramePr>
        <p:xfrm>
          <a:off x="2312119" y="3818084"/>
          <a:ext cx="4589606" cy="846860"/>
        </p:xfrm>
        <a:graphic>
          <a:graphicData uri="http://schemas.openxmlformats.org/drawingml/2006/table">
            <a:tbl>
              <a:tblPr/>
              <a:tblGrid>
                <a:gridCol w="4589606"/>
              </a:tblGrid>
              <a:tr h="846860">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lang="en-US" altLang="zh-TW" sz="1800" b="0" i="0" kern="1200" dirty="0" smtClean="0">
                          <a:solidFill>
                            <a:schemeClr val="tx1"/>
                          </a:solidFill>
                          <a:effectLst/>
                          <a:latin typeface="+mn-lt"/>
                          <a:ea typeface="+mn-ea"/>
                          <a:cs typeface="+mn-cs"/>
                        </a:rPr>
                        <a:t>22</a:t>
                      </a:r>
                      <a:r>
                        <a:rPr lang="en-US" altLang="zh-TW" sz="1800" b="0" i="0" kern="1200" baseline="30000" dirty="0" smtClean="0">
                          <a:solidFill>
                            <a:schemeClr val="tx1"/>
                          </a:solidFill>
                          <a:effectLst/>
                          <a:latin typeface="+mn-lt"/>
                          <a:ea typeface="+mn-ea"/>
                          <a:cs typeface="+mn-cs"/>
                        </a:rPr>
                        <a:t>nd</a:t>
                      </a:r>
                      <a:r>
                        <a:rPr lang="en-US" altLang="zh-TW" sz="1800" b="0" i="0" kern="1200" dirty="0" smtClean="0">
                          <a:solidFill>
                            <a:schemeClr val="tx1"/>
                          </a:solidFill>
                          <a:effectLst/>
                          <a:latin typeface="+mn-lt"/>
                          <a:ea typeface="+mn-ea"/>
                          <a:cs typeface="+mn-cs"/>
                        </a:rPr>
                        <a:t> International Conference on Database Systems for Advanced Applications, Suzhou, China, 2017, pp. 187-201</a:t>
                      </a:r>
                    </a:p>
                  </a:txBody>
                  <a:tcPr marL="95251" marR="9525" marT="9523" marB="9523">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2982910" y="5253638"/>
            <a:ext cx="3248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ctr" eaLnBrk="1" hangingPunct="1">
              <a:spcBef>
                <a:spcPct val="0"/>
              </a:spcBef>
              <a:buFontTx/>
              <a:buNone/>
            </a:pPr>
            <a:r>
              <a:rPr lang="en-US" altLang="zh-TW" sz="1800" dirty="0"/>
              <a:t>Presenter:  </a:t>
            </a:r>
            <a:r>
              <a:rPr lang="en-US" altLang="zh-TW" sz="1800" dirty="0" smtClean="0"/>
              <a:t>Bi-</a:t>
            </a:r>
            <a:r>
              <a:rPr lang="en-US" altLang="zh-TW" sz="1800" dirty="0" err="1" smtClean="0"/>
              <a:t>Shiang</a:t>
            </a:r>
            <a:r>
              <a:rPr lang="en-US" altLang="zh-TW" sz="1800" dirty="0" smtClean="0"/>
              <a:t> Lin</a:t>
            </a:r>
            <a:endParaRPr lang="en-US" altLang="zh-TW" sz="1800" dirty="0"/>
          </a:p>
          <a:p>
            <a:pPr algn="ctr" eaLnBrk="1" hangingPunct="1">
              <a:spcBef>
                <a:spcPct val="0"/>
              </a:spcBef>
              <a:buFontTx/>
              <a:buNone/>
            </a:pPr>
            <a:r>
              <a:rPr lang="en-US" altLang="zh-TW" sz="1800" dirty="0"/>
              <a:t>Date:</a:t>
            </a:r>
            <a:fld id="{F3590F60-3E7B-48AD-979A-345F224951B5}" type="datetime1">
              <a:rPr lang="zh-TW" altLang="en-US" sz="1800"/>
              <a:pPr algn="ctr" eaLnBrk="1" hangingPunct="1">
                <a:spcBef>
                  <a:spcPct val="0"/>
                </a:spcBef>
                <a:buFontTx/>
                <a:buNone/>
              </a:pPr>
              <a:t>2017/4/18</a:t>
            </a:fld>
            <a:endParaRPr lang="zh-TW" altLang="en-US" sz="1800" dirty="0"/>
          </a:p>
        </p:txBody>
      </p:sp>
      <p:sp>
        <p:nvSpPr>
          <p:cNvPr id="2" name="投影片編號版面配置區 1"/>
          <p:cNvSpPr>
            <a:spLocks noGrp="1"/>
          </p:cNvSpPr>
          <p:nvPr>
            <p:ph type="sldNum" sz="quarter" idx="12"/>
          </p:nvPr>
        </p:nvSpPr>
        <p:spPr/>
        <p:txBody>
          <a:bodyPr/>
          <a:lstStyle/>
          <a:p>
            <a:fld id="{0C029359-40AB-419B-8FBB-45C7471E1ED3}" type="slidenum">
              <a:rPr lang="zh-TW" altLang="en-US" smtClean="0"/>
              <a:t>1</a:t>
            </a:fld>
            <a:endParaRPr lang="zh-TW" altLang="en-US"/>
          </a:p>
        </p:txBody>
      </p:sp>
    </p:spTree>
    <p:extLst>
      <p:ext uri="{BB962C8B-B14F-4D97-AF65-F5344CB8AC3E}">
        <p14:creationId xmlns:p14="http://schemas.microsoft.com/office/powerpoint/2010/main" val="1494669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Abstract(1/3)</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3" name="內容版面配置區 2"/>
          <p:cNvSpPr>
            <a:spLocks noGrp="1"/>
          </p:cNvSpPr>
          <p:nvPr>
            <p:ph idx="1"/>
          </p:nvPr>
        </p:nvSpPr>
        <p:spPr>
          <a:xfrm>
            <a:off x="628650" y="1825625"/>
            <a:ext cx="7886700" cy="4713720"/>
          </a:xfrm>
        </p:spPr>
        <p:txBody>
          <a:bodyPr anchor="t" anchorCtr="0">
            <a:normAutofit/>
          </a:bodyPr>
          <a:lstStyle/>
          <a:p>
            <a:pPr marL="0" indent="0" algn="just">
              <a:lnSpc>
                <a:spcPct val="150000"/>
              </a:lnSpc>
              <a:buNone/>
            </a:pPr>
            <a:r>
              <a:rPr lang="en-US" altLang="zh-TW" sz="2700" dirty="0" smtClean="0">
                <a:latin typeface="Times New Roman" panose="02020603050405020304" pitchFamily="18" charset="0"/>
                <a:cs typeface="Times New Roman" panose="02020603050405020304" pitchFamily="18" charset="0"/>
              </a:rPr>
              <a:t>Locating longest common subsequences is a typical and important problem. The original version of locating longest common subsequences stretches a longer alignment between a query and a database sequence finds all alignments corresponding to the maximal length of common subsequences.</a:t>
            </a: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2</a:t>
            </a:fld>
            <a:endParaRPr lang="zh-TW" altLang="en-US"/>
          </a:p>
        </p:txBody>
      </p:sp>
    </p:spTree>
    <p:extLst>
      <p:ext uri="{BB962C8B-B14F-4D97-AF65-F5344CB8AC3E}">
        <p14:creationId xmlns:p14="http://schemas.microsoft.com/office/powerpoint/2010/main" val="12975597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Abstract(2/3)</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3" name="內容版面配置區 2"/>
          <p:cNvSpPr>
            <a:spLocks noGrp="1"/>
          </p:cNvSpPr>
          <p:nvPr>
            <p:ph idx="1"/>
          </p:nvPr>
        </p:nvSpPr>
        <p:spPr>
          <a:xfrm>
            <a:off x="628650" y="1825625"/>
            <a:ext cx="7886700" cy="4713720"/>
          </a:xfrm>
        </p:spPr>
        <p:txBody>
          <a:bodyPr anchor="t" anchorCtr="0">
            <a:normAutofit lnSpcReduction="10000"/>
          </a:bodyPr>
          <a:lstStyle/>
          <a:p>
            <a:pPr marL="0" indent="0" algn="just">
              <a:lnSpc>
                <a:spcPct val="150000"/>
              </a:lnSpc>
              <a:buNone/>
            </a:pPr>
            <a:r>
              <a:rPr lang="en-US" altLang="zh-TW" sz="2700" dirty="0" smtClean="0">
                <a:latin typeface="Times New Roman" panose="02020603050405020304" pitchFamily="18" charset="0"/>
                <a:cs typeface="Times New Roman" panose="02020603050405020304" pitchFamily="18" charset="0"/>
              </a:rPr>
              <a:t>However, the original version produces a lot of results, some of which are meaningless in practical applications and rise to a lot of time overhead. In this paper, we firstly define longest common subsequences with limited penalty to compute the longest common subsequences whose penalty values are not larger than a threshold </a:t>
            </a:r>
            <a:r>
              <a:rPr lang="el-GR" altLang="zh-TW" sz="2700" dirty="0" smtClean="0">
                <a:latin typeface="Times New Roman" panose="02020603050405020304" pitchFamily="18" charset="0"/>
                <a:cs typeface="Times New Roman" panose="02020603050405020304" pitchFamily="18" charset="0"/>
              </a:rPr>
              <a:t>τ</a:t>
            </a:r>
            <a:r>
              <a:rPr lang="en-US" altLang="zh-TW" sz="2700" dirty="0">
                <a:latin typeface="Times New Roman" panose="02020603050405020304" pitchFamily="18" charset="0"/>
                <a:cs typeface="Times New Roman" panose="02020603050405020304" pitchFamily="18" charset="0"/>
              </a:rPr>
              <a:t>. This helps us to find answers with good locality. </a:t>
            </a:r>
            <a:endParaRPr lang="en-US" altLang="zh-TW" sz="2700" dirty="0" smtClean="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3</a:t>
            </a:fld>
            <a:endParaRPr lang="zh-TW" altLang="en-US"/>
          </a:p>
        </p:txBody>
      </p:sp>
    </p:spTree>
    <p:extLst>
      <p:ext uri="{BB962C8B-B14F-4D97-AF65-F5344CB8AC3E}">
        <p14:creationId xmlns:p14="http://schemas.microsoft.com/office/powerpoint/2010/main" val="40104676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Abstract(3/3)</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3" name="內容版面配置區 2"/>
          <p:cNvSpPr>
            <a:spLocks noGrp="1"/>
          </p:cNvSpPr>
          <p:nvPr>
            <p:ph idx="1"/>
          </p:nvPr>
        </p:nvSpPr>
        <p:spPr>
          <a:xfrm>
            <a:off x="628650" y="1825625"/>
            <a:ext cx="7886700" cy="4713720"/>
          </a:xfrm>
        </p:spPr>
        <p:txBody>
          <a:bodyPr anchor="t" anchorCtr="0">
            <a:normAutofit fontScale="92500" lnSpcReduction="20000"/>
          </a:bodyPr>
          <a:lstStyle/>
          <a:p>
            <a:pPr marL="0" indent="0" algn="just">
              <a:lnSpc>
                <a:spcPct val="150000"/>
              </a:lnSpc>
              <a:buNone/>
            </a:pPr>
            <a:r>
              <a:rPr lang="en-US" altLang="zh-TW" sz="2700" dirty="0" smtClean="0">
                <a:latin typeface="Times New Roman" panose="02020603050405020304" pitchFamily="18" charset="0"/>
                <a:cs typeface="Times New Roman" panose="02020603050405020304" pitchFamily="18" charset="0"/>
              </a:rPr>
              <a:t>We focus on the efficiency of this problem. We propose a basic approach for finding longest common subsequences with limited penalty. We further analyze features of longest common subsequences with limited penalty, and based on it we propose a filter-refine approach to reduce number of candidates. We also adopt suffix array to efficiently generate common substrings, which helps calculating the problem. Experimental results on three real data sets show the effectiveness and efficiency of our algorithms.</a:t>
            </a: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4</a:t>
            </a:fld>
            <a:endParaRPr lang="zh-TW" altLang="en-US"/>
          </a:p>
        </p:txBody>
      </p:sp>
    </p:spTree>
    <p:extLst>
      <p:ext uri="{BB962C8B-B14F-4D97-AF65-F5344CB8AC3E}">
        <p14:creationId xmlns:p14="http://schemas.microsoft.com/office/powerpoint/2010/main" val="11655541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0"/>
            <a:ext cx="7886700" cy="1325563"/>
          </a:xfrm>
        </p:spPr>
        <p:txBody>
          <a:bodyPr/>
          <a:lstStyle/>
          <a:p>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LCS with limited penalty (</a:t>
            </a:r>
            <a:r>
              <a:rPr lang="en-US" altLang="zh-TW" dirty="0" err="1" smtClean="0">
                <a:latin typeface="Times New Roman" panose="02020603050405020304" pitchFamily="18" charset="0"/>
                <a:ea typeface="KaiTi" panose="02010609060101010101" pitchFamily="49" charset="-122"/>
                <a:cs typeface="Times New Roman" panose="02020603050405020304" pitchFamily="18" charset="0"/>
              </a:rPr>
              <a:t>LCSp</a:t>
            </a:r>
            <a:r>
              <a:rPr lang="en-US" altLang="zh-TW" dirty="0" smtClean="0">
                <a:latin typeface="Times New Roman" panose="02020603050405020304" pitchFamily="18" charset="0"/>
                <a:ea typeface="KaiTi" panose="02010609060101010101" pitchFamily="49" charset="-122"/>
                <a:cs typeface="Times New Roman" panose="02020603050405020304" pitchFamily="18" charset="0"/>
              </a:rPr>
              <a:t>)</a:t>
            </a:r>
            <a:endParaRPr lang="zh-TW" altLang="en-US" dirty="0">
              <a:latin typeface="Times New Roman" panose="02020603050405020304" pitchFamily="18" charset="0"/>
              <a:ea typeface="KaiT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074307"/>
                <a:ext cx="7886700" cy="4713720"/>
              </a:xfrm>
            </p:spPr>
            <p:txBody>
              <a:bodyPr anchor="t" anchorCtr="0">
                <a:normAutofit/>
              </a:bodyPr>
              <a:lstStyle/>
              <a:p>
                <a:pPr marL="0" indent="0" algn="just">
                  <a:lnSpc>
                    <a:spcPct val="150000"/>
                  </a:lnSpc>
                  <a:buNone/>
                </a:pPr>
                <a:r>
                  <a:rPr lang="en-US" altLang="zh-TW" sz="2700" dirty="0" smtClean="0">
                    <a:latin typeface="Times New Roman" panose="02020603050405020304" pitchFamily="18" charset="0"/>
                    <a:cs typeface="Times New Roman" panose="02020603050405020304" pitchFamily="18" charset="0"/>
                  </a:rPr>
                  <a:t>Find LCS with penalty </a:t>
                </a:r>
                <a14:m>
                  <m:oMath xmlns:m="http://schemas.openxmlformats.org/officeDocument/2006/math">
                    <m:r>
                      <a:rPr lang="en-US" altLang="zh-TW" sz="27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700" b="0" i="1" smtClean="0">
                        <a:latin typeface="Cambria Math" panose="02040503050406030204" pitchFamily="18" charset="0"/>
                        <a:ea typeface="Cambria Math" panose="02040503050406030204" pitchFamily="18" charset="0"/>
                        <a:cs typeface="Times New Roman" panose="02020603050405020304" pitchFamily="18" charset="0"/>
                      </a:rPr>
                      <m:t> </m:t>
                    </m:r>
                    <m:r>
                      <a:rPr lang="zh-TW" altLang="en-US" sz="2700" b="0" i="1" smtClean="0">
                        <a:latin typeface="Cambria Math" panose="02040503050406030204" pitchFamily="18" charset="0"/>
                        <a:ea typeface="Cambria Math" panose="02040503050406030204" pitchFamily="18" charset="0"/>
                        <a:cs typeface="Times New Roman" panose="02020603050405020304" pitchFamily="18" charset="0"/>
                      </a:rPr>
                      <m:t>𝜏</m:t>
                    </m:r>
                  </m:oMath>
                </a14:m>
                <a:r>
                  <a:rPr lang="en-US" altLang="zh-TW" sz="2700" dirty="0" smtClean="0">
                    <a:latin typeface="Times New Roman" panose="02020603050405020304" pitchFamily="18" charset="0"/>
                    <a:cs typeface="Times New Roman" panose="02020603050405020304" pitchFamily="18" charset="0"/>
                  </a:rPr>
                  <a:t> </a:t>
                </a:r>
                <a:r>
                  <a:rPr lang="en-US" altLang="zh-TW" sz="2700" dirty="0" smtClean="0">
                    <a:solidFill>
                      <a:schemeClr val="bg1">
                        <a:lumMod val="75000"/>
                      </a:schemeClr>
                    </a:solidFill>
                    <a:latin typeface="Times New Roman" panose="02020603050405020304" pitchFamily="18" charset="0"/>
                    <a:cs typeface="Times New Roman" panose="02020603050405020304" pitchFamily="18" charset="0"/>
                  </a:rPr>
                  <a:t>(limited penalty)</a:t>
                </a:r>
              </a:p>
              <a:p>
                <a:pPr marL="0" indent="0" algn="just">
                  <a:lnSpc>
                    <a:spcPct val="150000"/>
                  </a:lnSpc>
                  <a:buNone/>
                </a:pPr>
                <a:r>
                  <a:rPr lang="en-US" altLang="zh-TW" sz="2700" dirty="0" smtClean="0">
                    <a:latin typeface="Times New Roman" panose="02020603050405020304" pitchFamily="18" charset="0"/>
                    <a:cs typeface="Times New Roman" panose="02020603050405020304" pitchFamily="18" charset="0"/>
                  </a:rPr>
                  <a:t>Penalty of mismatch = </a:t>
                </a:r>
                <a14:m>
                  <m:oMath xmlns:m="http://schemas.openxmlformats.org/officeDocument/2006/math">
                    <m:r>
                      <a:rPr lang="zh-TW" altLang="en-US" sz="2700" i="1" smtClean="0">
                        <a:latin typeface="Cambria Math" panose="02040503050406030204" pitchFamily="18" charset="0"/>
                        <a:cs typeface="Times New Roman" panose="02020603050405020304" pitchFamily="18" charset="0"/>
                      </a:rPr>
                      <m:t>𝛼</m:t>
                    </m:r>
                  </m:oMath>
                </a14:m>
                <a:r>
                  <a:rPr lang="en-US" altLang="zh-TW" sz="2700" dirty="0" smtClean="0">
                    <a:latin typeface="Times New Roman" panose="02020603050405020304" pitchFamily="18" charset="0"/>
                    <a:cs typeface="Times New Roman" panose="02020603050405020304" pitchFamily="18" charset="0"/>
                  </a:rPr>
                  <a:t>, space = </a:t>
                </a:r>
                <a14:m>
                  <m:oMath xmlns:m="http://schemas.openxmlformats.org/officeDocument/2006/math">
                    <m:r>
                      <a:rPr lang="zh-TW" altLang="en-US" sz="2700" i="1" smtClean="0">
                        <a:latin typeface="Cambria Math" panose="02040503050406030204" pitchFamily="18" charset="0"/>
                        <a:cs typeface="Times New Roman" panose="02020603050405020304" pitchFamily="18" charset="0"/>
                      </a:rPr>
                      <m:t>𝛽</m:t>
                    </m:r>
                  </m:oMath>
                </a14:m>
                <a:r>
                  <a:rPr lang="en-US" altLang="zh-TW" sz="2700" dirty="0" smtClean="0">
                    <a:latin typeface="Times New Roman" panose="02020603050405020304" pitchFamily="18" charset="0"/>
                    <a:cs typeface="Times New Roman" panose="02020603050405020304" pitchFamily="18" charset="0"/>
                  </a:rPr>
                  <a:t>.</a:t>
                </a:r>
              </a:p>
              <a:p>
                <a:pPr marL="0" indent="0" algn="just">
                  <a:lnSpc>
                    <a:spcPct val="150000"/>
                  </a:lnSpc>
                  <a:buNone/>
                </a:pPr>
                <a14:m>
                  <m:oMathPara xmlns:m="http://schemas.openxmlformats.org/officeDocument/2006/math">
                    <m:oMathParaPr>
                      <m:jc m:val="left"/>
                    </m:oMathParaPr>
                    <m:oMath xmlns:m="http://schemas.openxmlformats.org/officeDocument/2006/math">
                      <m:r>
                        <a:rPr lang="en-US" altLang="zh-TW" sz="2700" b="0" i="1" smtClean="0">
                          <a:solidFill>
                            <a:srgbClr val="FF0000"/>
                          </a:solidFill>
                          <a:latin typeface="Cambria Math" panose="02040503050406030204" pitchFamily="18" charset="0"/>
                          <a:cs typeface="Times New Roman" panose="02020603050405020304" pitchFamily="18" charset="0"/>
                        </a:rPr>
                        <m:t>2</m:t>
                      </m:r>
                      <m:r>
                        <a:rPr lang="zh-TW" altLang="en-US" sz="2700" b="0" i="1" smtClean="0">
                          <a:solidFill>
                            <a:srgbClr val="FF0000"/>
                          </a:solidFill>
                          <a:latin typeface="Cambria Math" panose="02040503050406030204" pitchFamily="18" charset="0"/>
                          <a:cs typeface="Times New Roman" panose="02020603050405020304" pitchFamily="18" charset="0"/>
                        </a:rPr>
                        <m:t>𝛽</m:t>
                      </m:r>
                      <m:r>
                        <a:rPr lang="en-US" altLang="zh-TW" sz="2700" b="0" i="1" smtClean="0">
                          <a:solidFill>
                            <a:srgbClr val="FF0000"/>
                          </a:solidFill>
                          <a:latin typeface="Cambria Math" panose="02040503050406030204" pitchFamily="18" charset="0"/>
                          <a:cs typeface="Times New Roman" panose="02020603050405020304" pitchFamily="18" charset="0"/>
                        </a:rPr>
                        <m:t>+(</m:t>
                      </m:r>
                      <m:r>
                        <a:rPr lang="zh-TW" altLang="en-US" sz="2700" i="1">
                          <a:solidFill>
                            <a:srgbClr val="FF0000"/>
                          </a:solidFill>
                          <a:latin typeface="Cambria Math" panose="02040503050406030204" pitchFamily="18" charset="0"/>
                          <a:cs typeface="Times New Roman" panose="02020603050405020304" pitchFamily="18" charset="0"/>
                        </a:rPr>
                        <m:t>𝛼</m:t>
                      </m:r>
                      <m:r>
                        <a:rPr lang="en-US" altLang="zh-TW" sz="2700" b="0" i="1" smtClean="0">
                          <a:solidFill>
                            <a:srgbClr val="FF0000"/>
                          </a:solidFill>
                          <a:latin typeface="Cambria Math" panose="02040503050406030204" pitchFamily="18" charset="0"/>
                          <a:cs typeface="Times New Roman" panose="02020603050405020304" pitchFamily="18" charset="0"/>
                        </a:rPr>
                        <m:t>+4</m:t>
                      </m:r>
                      <m:r>
                        <a:rPr lang="zh-TW" altLang="en-US" sz="2700" b="0" i="1" smtClean="0">
                          <a:solidFill>
                            <a:srgbClr val="FF0000"/>
                          </a:solidFill>
                          <a:latin typeface="Cambria Math" panose="02040503050406030204" pitchFamily="18" charset="0"/>
                          <a:cs typeface="Times New Roman" panose="02020603050405020304" pitchFamily="18" charset="0"/>
                        </a:rPr>
                        <m:t>𝛽</m:t>
                      </m:r>
                      <m:r>
                        <a:rPr lang="en-US" altLang="zh-TW" sz="2700" b="0" i="1" smtClean="0">
                          <a:solidFill>
                            <a:srgbClr val="FF0000"/>
                          </a:solidFill>
                          <a:latin typeface="Cambria Math" panose="02040503050406030204" pitchFamily="18" charset="0"/>
                          <a:cs typeface="Times New Roman" panose="02020603050405020304" pitchFamily="18" charset="0"/>
                        </a:rPr>
                        <m:t>)</m:t>
                      </m:r>
                    </m:oMath>
                  </m:oMathPara>
                </a14:m>
                <a:endParaRPr lang="en-US" altLang="zh-TW" sz="2700" dirty="0" smtClean="0">
                  <a:solidFill>
                    <a:srgbClr val="FF0000"/>
                  </a:solidFill>
                  <a:latin typeface="Courier New" panose="02070309020205020404" pitchFamily="49" charset="0"/>
                  <a:cs typeface="Courier New" panose="02070309020205020404" pitchFamily="49" charset="0"/>
                </a:endParaRPr>
              </a:p>
              <a:p>
                <a:pPr marL="0" indent="0" algn="just">
                  <a:lnSpc>
                    <a:spcPct val="150000"/>
                  </a:lnSpc>
                  <a:buNone/>
                </a:pPr>
                <a14:m>
                  <m:oMathPara xmlns:m="http://schemas.openxmlformats.org/officeDocument/2006/math">
                    <m:oMathParaPr>
                      <m:jc m:val="left"/>
                    </m:oMathParaPr>
                    <m:oMath xmlns:m="http://schemas.openxmlformats.org/officeDocument/2006/math">
                      <m:r>
                        <a:rPr lang="en-US" altLang="zh-TW" sz="2700" i="1" smtClean="0">
                          <a:solidFill>
                            <a:srgbClr val="0070C0"/>
                          </a:solidFill>
                          <a:latin typeface="Cambria Math" panose="02040503050406030204" pitchFamily="18" charset="0"/>
                          <a:cs typeface="Times New Roman" panose="02020603050405020304" pitchFamily="18" charset="0"/>
                        </a:rPr>
                        <m:t>2</m:t>
                      </m:r>
                      <m:r>
                        <a:rPr lang="zh-TW" altLang="en-US" sz="2700" i="1">
                          <a:solidFill>
                            <a:srgbClr val="0070C0"/>
                          </a:solidFill>
                          <a:latin typeface="Cambria Math" panose="02040503050406030204" pitchFamily="18" charset="0"/>
                          <a:cs typeface="Times New Roman" panose="02020603050405020304" pitchFamily="18" charset="0"/>
                        </a:rPr>
                        <m:t>𝛼</m:t>
                      </m:r>
                      <m:r>
                        <a:rPr lang="en-US" altLang="zh-TW" sz="2700" i="1">
                          <a:solidFill>
                            <a:srgbClr val="0070C0"/>
                          </a:solidFill>
                          <a:latin typeface="Cambria Math" panose="02040503050406030204" pitchFamily="18" charset="0"/>
                          <a:cs typeface="Times New Roman" panose="02020603050405020304" pitchFamily="18" charset="0"/>
                        </a:rPr>
                        <m:t>+</m:t>
                      </m:r>
                      <m:d>
                        <m:dPr>
                          <m:ctrlPr>
                            <a:rPr lang="en-US" altLang="zh-TW" sz="2700" i="1">
                              <a:solidFill>
                                <a:srgbClr val="0070C0"/>
                              </a:solidFill>
                              <a:latin typeface="Cambria Math" panose="02040503050406030204" pitchFamily="18" charset="0"/>
                              <a:cs typeface="Times New Roman" panose="02020603050405020304" pitchFamily="18" charset="0"/>
                            </a:rPr>
                          </m:ctrlPr>
                        </m:dPr>
                        <m:e>
                          <m:r>
                            <a:rPr lang="zh-TW" altLang="en-US" sz="2700" i="1">
                              <a:solidFill>
                                <a:srgbClr val="0070C0"/>
                              </a:solidFill>
                              <a:latin typeface="Cambria Math" panose="02040503050406030204" pitchFamily="18" charset="0"/>
                              <a:cs typeface="Times New Roman" panose="02020603050405020304" pitchFamily="18" charset="0"/>
                            </a:rPr>
                            <m:t>𝛼</m:t>
                          </m:r>
                          <m:r>
                            <a:rPr lang="en-US" altLang="zh-TW" sz="2700" i="1">
                              <a:solidFill>
                                <a:srgbClr val="0070C0"/>
                              </a:solidFill>
                              <a:latin typeface="Cambria Math" panose="02040503050406030204" pitchFamily="18" charset="0"/>
                              <a:cs typeface="Times New Roman" panose="02020603050405020304" pitchFamily="18" charset="0"/>
                            </a:rPr>
                            <m:t>+</m:t>
                          </m:r>
                          <m:r>
                            <a:rPr lang="en-US" altLang="zh-TW" sz="2700" b="0" i="1" smtClean="0">
                              <a:solidFill>
                                <a:srgbClr val="0070C0"/>
                              </a:solidFill>
                              <a:latin typeface="Cambria Math" panose="02040503050406030204" pitchFamily="18" charset="0"/>
                              <a:cs typeface="Times New Roman" panose="02020603050405020304" pitchFamily="18" charset="0"/>
                            </a:rPr>
                            <m:t>2</m:t>
                          </m:r>
                          <m:r>
                            <a:rPr lang="zh-TW" altLang="en-US" sz="2700" i="1">
                              <a:solidFill>
                                <a:srgbClr val="0070C0"/>
                              </a:solidFill>
                              <a:latin typeface="Cambria Math" panose="02040503050406030204" pitchFamily="18" charset="0"/>
                              <a:cs typeface="Times New Roman" panose="02020603050405020304" pitchFamily="18" charset="0"/>
                            </a:rPr>
                            <m:t>𝛽</m:t>
                          </m:r>
                        </m:e>
                      </m:d>
                    </m:oMath>
                  </m:oMathPara>
                </a14:m>
                <a:endParaRPr lang="en-US" altLang="zh-TW" sz="2700" dirty="0" smtClean="0">
                  <a:latin typeface="Courier New" panose="02070309020205020404" pitchFamily="49" charset="0"/>
                  <a:cs typeface="Courier New" panose="02070309020205020404" pitchFamily="49" charset="0"/>
                </a:endParaRPr>
              </a:p>
              <a:p>
                <a:pPr marL="0" indent="0" algn="just">
                  <a:lnSpc>
                    <a:spcPct val="150000"/>
                  </a:lnSpc>
                  <a:buNone/>
                </a:pPr>
                <a:endParaRPr lang="en-US" altLang="zh-TW" sz="2700" dirty="0">
                  <a:latin typeface="Courier New" panose="02070309020205020404" pitchFamily="49" charset="0"/>
                  <a:cs typeface="Courier New" panose="02070309020205020404" pitchFamily="49"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074307"/>
                <a:ext cx="7886700" cy="4713720"/>
              </a:xfrm>
              <a:blipFill rotWithShape="0">
                <a:blip r:embed="rId2"/>
                <a:stretch>
                  <a:fillRect l="-1468"/>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a:xfrm>
            <a:off x="6187014" y="6415619"/>
            <a:ext cx="2057400" cy="365125"/>
          </a:xfrm>
        </p:spPr>
        <p:txBody>
          <a:bodyPr/>
          <a:lstStyle/>
          <a:p>
            <a:fld id="{0C029359-40AB-419B-8FBB-45C7471E1ED3}" type="slidenum">
              <a:rPr lang="zh-TW" altLang="en-US" smtClean="0"/>
              <a:t>5</a:t>
            </a:fld>
            <a:endParaRPr lang="zh-TW" altLang="en-US"/>
          </a:p>
        </p:txBody>
      </p:sp>
      <p:pic>
        <p:nvPicPr>
          <p:cNvPr id="18" name="圖片 17"/>
          <p:cNvPicPr>
            <a:picLocks noChangeAspect="1"/>
          </p:cNvPicPr>
          <p:nvPr/>
        </p:nvPicPr>
        <p:blipFill>
          <a:blip r:embed="rId3"/>
          <a:stretch>
            <a:fillRect/>
          </a:stretch>
        </p:blipFill>
        <p:spPr>
          <a:xfrm>
            <a:off x="3293531" y="2539933"/>
            <a:ext cx="5579533" cy="4205573"/>
          </a:xfrm>
          <a:prstGeom prst="rect">
            <a:avLst/>
          </a:prstGeom>
        </p:spPr>
      </p:pic>
      <p:sp>
        <p:nvSpPr>
          <p:cNvPr id="21" name="橢圓 20"/>
          <p:cNvSpPr/>
          <p:nvPr/>
        </p:nvSpPr>
        <p:spPr>
          <a:xfrm>
            <a:off x="5012264" y="4851401"/>
            <a:ext cx="120650" cy="1354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4487330" y="3623734"/>
            <a:ext cx="120650" cy="1354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7374464" y="6110819"/>
            <a:ext cx="120650" cy="1354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p:cNvSpPr/>
          <p:nvPr/>
        </p:nvSpPr>
        <p:spPr>
          <a:xfrm>
            <a:off x="5655730" y="4851400"/>
            <a:ext cx="120650" cy="13546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p:cNvSpPr/>
          <p:nvPr/>
        </p:nvSpPr>
        <p:spPr>
          <a:xfrm>
            <a:off x="4607980" y="3755495"/>
            <a:ext cx="120650" cy="13546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p:nvSpPr>
        <p:spPr>
          <a:xfrm>
            <a:off x="7496172" y="6195485"/>
            <a:ext cx="120650" cy="13546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p:cNvSpPr/>
          <p:nvPr/>
        </p:nvSpPr>
        <p:spPr>
          <a:xfrm>
            <a:off x="3589864" y="4013201"/>
            <a:ext cx="211667" cy="533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p:cNvSpPr/>
          <p:nvPr/>
        </p:nvSpPr>
        <p:spPr>
          <a:xfrm>
            <a:off x="5610221" y="2575171"/>
            <a:ext cx="1425576" cy="2512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p:nvSpPr>
        <p:spPr>
          <a:xfrm>
            <a:off x="3589864" y="5173132"/>
            <a:ext cx="211666" cy="3047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543675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0C029359-40AB-419B-8FBB-45C7471E1ED3}" type="slidenum">
              <a:rPr lang="zh-TW" altLang="en-US" smtClean="0"/>
              <a:t>6</a:t>
            </a:fld>
            <a:endParaRPr lang="zh-TW" altLang="en-US"/>
          </a:p>
        </p:txBody>
      </p:sp>
      <p:pic>
        <p:nvPicPr>
          <p:cNvPr id="5" name="圖片 4"/>
          <p:cNvPicPr>
            <a:picLocks noChangeAspect="1"/>
          </p:cNvPicPr>
          <p:nvPr/>
        </p:nvPicPr>
        <p:blipFill>
          <a:blip r:embed="rId2"/>
          <a:stretch>
            <a:fillRect/>
          </a:stretch>
        </p:blipFill>
        <p:spPr>
          <a:xfrm>
            <a:off x="827617" y="251557"/>
            <a:ext cx="7543800" cy="5686139"/>
          </a:xfrm>
          <a:prstGeom prst="rect">
            <a:avLst/>
          </a:prstGeom>
        </p:spPr>
      </p:pic>
    </p:spTree>
    <p:extLst>
      <p:ext uri="{BB962C8B-B14F-4D97-AF65-F5344CB8AC3E}">
        <p14:creationId xmlns:p14="http://schemas.microsoft.com/office/powerpoint/2010/main" val="26016009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0C029359-40AB-419B-8FBB-45C7471E1ED3}" type="slidenum">
              <a:rPr lang="zh-TW" altLang="en-US" smtClean="0"/>
              <a:t>7</a:t>
            </a:fld>
            <a:endParaRPr lang="zh-TW" altLang="en-US"/>
          </a:p>
        </p:txBody>
      </p:sp>
      <p:pic>
        <p:nvPicPr>
          <p:cNvPr id="5" name="圖片 4"/>
          <p:cNvPicPr>
            <a:picLocks noChangeAspect="1"/>
          </p:cNvPicPr>
          <p:nvPr/>
        </p:nvPicPr>
        <p:blipFill>
          <a:blip r:embed="rId2"/>
          <a:stretch>
            <a:fillRect/>
          </a:stretch>
        </p:blipFill>
        <p:spPr>
          <a:xfrm>
            <a:off x="153714" y="158752"/>
            <a:ext cx="8892339" cy="5706533"/>
          </a:xfrm>
          <a:prstGeom prst="rect">
            <a:avLst/>
          </a:prstGeom>
        </p:spPr>
      </p:pic>
      <mc:AlternateContent xmlns:mc="http://schemas.openxmlformats.org/markup-compatibility/2006" xmlns:a14="http://schemas.microsoft.com/office/drawing/2010/main">
        <mc:Choice Requires="a14">
          <p:sp>
            <p:nvSpPr>
              <p:cNvPr id="6" name="文字方塊 5"/>
              <p:cNvSpPr txBox="1"/>
              <p:nvPr/>
            </p:nvSpPr>
            <p:spPr>
              <a:xfrm>
                <a:off x="827617" y="6077248"/>
                <a:ext cx="694600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i="1" dirty="0" smtClean="0">
                          <a:latin typeface="Cambria Math" panose="02040503050406030204" pitchFamily="18" charset="0"/>
                        </a:rPr>
                        <m:t>𝑂</m:t>
                      </m:r>
                      <m:d>
                        <m:dPr>
                          <m:ctrlPr>
                            <a:rPr lang="en-US" altLang="zh-TW" sz="2400" i="1" dirty="0" smtClean="0">
                              <a:latin typeface="Cambria Math" panose="02040503050406030204" pitchFamily="18" charset="0"/>
                            </a:rPr>
                          </m:ctrlPr>
                        </m:dPr>
                        <m:e>
                          <m:sSup>
                            <m:sSupPr>
                              <m:ctrlPr>
                                <a:rPr lang="en-US" altLang="zh-TW" sz="2400" i="1" dirty="0" smtClean="0">
                                  <a:latin typeface="Cambria Math" panose="02040503050406030204" pitchFamily="18" charset="0"/>
                                </a:rPr>
                              </m:ctrlPr>
                            </m:sSupPr>
                            <m:e>
                              <m:r>
                                <a:rPr lang="en-US" altLang="zh-TW" sz="2400" b="0" i="1" dirty="0" smtClean="0">
                                  <a:latin typeface="Cambria Math" panose="02040503050406030204" pitchFamily="18" charset="0"/>
                                </a:rPr>
                                <m:t>𝑘</m:t>
                              </m:r>
                            </m:e>
                            <m:sup>
                              <m:r>
                                <a:rPr lang="en-US" altLang="zh-TW" sz="2400" b="0" i="1" dirty="0" smtClean="0">
                                  <a:latin typeface="Cambria Math" panose="02040503050406030204" pitchFamily="18" charset="0"/>
                                </a:rPr>
                                <m:t>2</m:t>
                              </m:r>
                            </m:sup>
                          </m:sSup>
                        </m:e>
                      </m:d>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𝑡𝑖𝑚𝑒</m:t>
                      </m:r>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𝑘</m:t>
                      </m:r>
                      <m:r>
                        <a:rPr lang="en-US" altLang="zh-TW" sz="2400" b="0" i="1" dirty="0" smtClean="0">
                          <a:latin typeface="Cambria Math" panose="02040503050406030204" pitchFamily="18" charset="0"/>
                        </a:rPr>
                        <m:t>=</m:t>
                      </m:r>
                      <m:r>
                        <a:rPr lang="en-US" altLang="zh-TW" sz="2400" b="0" i="1" dirty="0" smtClean="0">
                          <a:latin typeface="Cambria Math" panose="02040503050406030204" pitchFamily="18" charset="0"/>
                        </a:rPr>
                        <m:t>𝑛𝑢𝑚𝑏𝑒𝑟</m:t>
                      </m:r>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𝑜𝑓</m:t>
                      </m:r>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𝑐𝑜𝑚𝑚𝑜𝑛</m:t>
                      </m:r>
                      <m:r>
                        <a:rPr lang="en-US" altLang="zh-TW" sz="2400" b="0" i="1" dirty="0" smtClean="0">
                          <a:latin typeface="Cambria Math" panose="02040503050406030204" pitchFamily="18" charset="0"/>
                        </a:rPr>
                        <m:t> </m:t>
                      </m:r>
                      <m:r>
                        <a:rPr lang="en-US" altLang="zh-TW" sz="2400" b="0" i="1" dirty="0" smtClean="0">
                          <a:latin typeface="Cambria Math" panose="02040503050406030204" pitchFamily="18" charset="0"/>
                        </a:rPr>
                        <m:t>𝑠𝑢𝑏𝑠𝑡𝑟𝑖𝑛𝑔𝑠</m:t>
                      </m:r>
                      <m:r>
                        <a:rPr lang="en-US" altLang="zh-TW" sz="2400" b="0" i="1" dirty="0" smtClean="0">
                          <a:latin typeface="Cambria Math" panose="02040503050406030204" pitchFamily="18" charset="0"/>
                        </a:rPr>
                        <m:t>.</m:t>
                      </m:r>
                    </m:oMath>
                  </m:oMathPara>
                </a14:m>
                <a:endParaRPr lang="zh-TW" altLang="en-US"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827617" y="6077248"/>
                <a:ext cx="6946004" cy="461665"/>
              </a:xfrm>
              <a:prstGeom prst="rect">
                <a:avLst/>
              </a:prstGeom>
              <a:blipFill rotWithShape="0">
                <a:blip r:embed="rId3"/>
                <a:stretch>
                  <a:fillRect b="-17105"/>
                </a:stretch>
              </a:blipFill>
            </p:spPr>
            <p:txBody>
              <a:bodyPr/>
              <a:lstStyle/>
              <a:p>
                <a:r>
                  <a:rPr lang="zh-TW" altLang="en-US">
                    <a:noFill/>
                  </a:rPr>
                  <a:t> </a:t>
                </a:r>
              </a:p>
            </p:txBody>
          </p:sp>
        </mc:Fallback>
      </mc:AlternateContent>
      <p:sp>
        <p:nvSpPr>
          <p:cNvPr id="7" name="橢圓 6"/>
          <p:cNvSpPr/>
          <p:nvPr/>
        </p:nvSpPr>
        <p:spPr>
          <a:xfrm>
            <a:off x="313267" y="2328333"/>
            <a:ext cx="279400" cy="254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313267" y="2885018"/>
            <a:ext cx="279400" cy="254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793272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latin typeface="Times New Roman" panose="02020603050405020304" pitchFamily="18" charset="0"/>
                <a:cs typeface="Times New Roman" panose="02020603050405020304" pitchFamily="18" charset="0"/>
              </a:rPr>
              <a:t>Pruning (useless concatenation)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smtClean="0">
                    <a:latin typeface="Times New Roman" panose="02020603050405020304" pitchFamily="18" charset="0"/>
                    <a:cs typeface="Times New Roman" panose="02020603050405020304" pitchFamily="18" charset="0"/>
                  </a:rPr>
                  <a:t>if  </a:t>
                </a:r>
                <a14:m>
                  <m:oMath xmlns:m="http://schemas.openxmlformats.org/officeDocument/2006/math">
                    <m:r>
                      <a:rPr lang="zh-TW" altLang="en-US" i="1">
                        <a:latin typeface="Cambria Math" panose="02040503050406030204" pitchFamily="18" charset="0"/>
                        <a:ea typeface="Cambria Math" panose="02040503050406030204" pitchFamily="18" charset="0"/>
                        <a:cs typeface="Times New Roman" panose="02020603050405020304" pitchFamily="18" charset="0"/>
                      </a:rPr>
                      <m:t>𝜏</m:t>
                    </m:r>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4, not legal</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391" t="-238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0C029359-40AB-419B-8FBB-45C7471E1ED3}" type="slidenum">
              <a:rPr lang="zh-TW" altLang="en-US" smtClean="0"/>
              <a:t>8</a:t>
            </a:fld>
            <a:endParaRPr lang="zh-TW" altLang="en-US"/>
          </a:p>
        </p:txBody>
      </p:sp>
      <p:pic>
        <p:nvPicPr>
          <p:cNvPr id="5" name="圖片 4"/>
          <p:cNvPicPr>
            <a:picLocks noChangeAspect="1"/>
          </p:cNvPicPr>
          <p:nvPr/>
        </p:nvPicPr>
        <p:blipFill>
          <a:blip r:embed="rId3"/>
          <a:stretch>
            <a:fillRect/>
          </a:stretch>
        </p:blipFill>
        <p:spPr>
          <a:xfrm>
            <a:off x="3716868" y="2388180"/>
            <a:ext cx="5205598" cy="3923719"/>
          </a:xfrm>
          <a:prstGeom prst="rect">
            <a:avLst/>
          </a:prstGeom>
        </p:spPr>
      </p:pic>
      <p:sp>
        <p:nvSpPr>
          <p:cNvPr id="6" name="矩形 5"/>
          <p:cNvSpPr/>
          <p:nvPr/>
        </p:nvSpPr>
        <p:spPr>
          <a:xfrm>
            <a:off x="3996266" y="4851399"/>
            <a:ext cx="186265" cy="2286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5875868" y="2388180"/>
            <a:ext cx="1354664" cy="2286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5291663" y="4504267"/>
            <a:ext cx="120650" cy="1354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7537450" y="5715001"/>
            <a:ext cx="120650" cy="1354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1464847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Pruning (early termination)</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9</a:t>
            </a:fld>
            <a:endParaRPr lang="zh-TW" altLang="en-US"/>
          </a:p>
        </p:txBody>
      </p:sp>
      <p:pic>
        <p:nvPicPr>
          <p:cNvPr id="10" name="圖片 9"/>
          <p:cNvPicPr>
            <a:picLocks noChangeAspect="1"/>
          </p:cNvPicPr>
          <p:nvPr/>
        </p:nvPicPr>
        <p:blipFill>
          <a:blip r:embed="rId2"/>
          <a:stretch>
            <a:fillRect/>
          </a:stretch>
        </p:blipFill>
        <p:spPr>
          <a:xfrm>
            <a:off x="167606" y="4626240"/>
            <a:ext cx="4765244" cy="2159530"/>
          </a:xfrm>
          <a:prstGeom prst="rect">
            <a:avLst/>
          </a:prstGeom>
        </p:spPr>
      </p:pic>
      <p:pic>
        <p:nvPicPr>
          <p:cNvPr id="5" name="圖片 4"/>
          <p:cNvPicPr>
            <a:picLocks noChangeAspect="1"/>
          </p:cNvPicPr>
          <p:nvPr/>
        </p:nvPicPr>
        <p:blipFill>
          <a:blip r:embed="rId3"/>
          <a:stretch>
            <a:fillRect/>
          </a:stretch>
        </p:blipFill>
        <p:spPr>
          <a:xfrm>
            <a:off x="3938402" y="1461081"/>
            <a:ext cx="5205598" cy="3923719"/>
          </a:xfrm>
          <a:prstGeom prst="rect">
            <a:avLst/>
          </a:prstGeom>
        </p:spPr>
      </p:pic>
      <p:sp>
        <p:nvSpPr>
          <p:cNvPr id="11" name="橢圓 10"/>
          <p:cNvSpPr/>
          <p:nvPr/>
        </p:nvSpPr>
        <p:spPr>
          <a:xfrm>
            <a:off x="1842395" y="4690534"/>
            <a:ext cx="120650" cy="1354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5063063" y="2463800"/>
            <a:ext cx="120650" cy="1354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107281" y="5590911"/>
            <a:ext cx="120650" cy="13546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5517483" y="3584310"/>
            <a:ext cx="120650" cy="13546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1842395" y="5587472"/>
            <a:ext cx="120650" cy="13546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6126531" y="3584310"/>
            <a:ext cx="120650" cy="13546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3577509" y="5587472"/>
            <a:ext cx="120650" cy="13546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橢圓 18"/>
          <p:cNvSpPr/>
          <p:nvPr/>
        </p:nvSpPr>
        <p:spPr>
          <a:xfrm>
            <a:off x="6989578" y="2786644"/>
            <a:ext cx="120650" cy="13546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p:cNvSpPr/>
          <p:nvPr/>
        </p:nvSpPr>
        <p:spPr>
          <a:xfrm>
            <a:off x="1029043" y="6460600"/>
            <a:ext cx="120650" cy="135467"/>
          </a:xfrm>
          <a:prstGeom prst="ellipse">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20"/>
          <p:cNvSpPr/>
          <p:nvPr/>
        </p:nvSpPr>
        <p:spPr>
          <a:xfrm>
            <a:off x="7743112" y="4799543"/>
            <a:ext cx="120650" cy="135467"/>
          </a:xfrm>
          <a:prstGeom prst="ellipse">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2722376" y="6479649"/>
            <a:ext cx="120650" cy="13546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8708311" y="3821112"/>
            <a:ext cx="120650" cy="13546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5" name="內容版面配置區 2"/>
              <p:cNvSpPr>
                <a:spLocks noGrp="1"/>
              </p:cNvSpPr>
              <p:nvPr>
                <p:ph idx="1"/>
              </p:nvPr>
            </p:nvSpPr>
            <p:spPr>
              <a:xfrm>
                <a:off x="628650" y="1825625"/>
                <a:ext cx="7886700" cy="4351338"/>
              </a:xfrm>
            </p:spPr>
            <p:txBody>
              <a:bodyPr/>
              <a:lstStyle/>
              <a:p>
                <a:r>
                  <a:rPr lang="en-US" altLang="zh-TW" dirty="0" smtClean="0">
                    <a:latin typeface="Times New Roman" panose="02020603050405020304" pitchFamily="18" charset="0"/>
                    <a:cs typeface="Times New Roman" panose="02020603050405020304" pitchFamily="18" charset="0"/>
                  </a:rPr>
                  <a:t>DFS</a:t>
                </a:r>
              </a:p>
              <a:p>
                <a:r>
                  <a:rPr lang="en-US" altLang="zh-TW" dirty="0" smtClean="0">
                    <a:latin typeface="Times New Roman" panose="02020603050405020304" pitchFamily="18" charset="0"/>
                    <a:cs typeface="Times New Roman" panose="02020603050405020304" pitchFamily="18" charset="0"/>
                  </a:rPr>
                  <a:t>if  </a:t>
                </a:r>
                <a14:m>
                  <m:oMath xmlns:m="http://schemas.openxmlformats.org/officeDocument/2006/math">
                    <m:r>
                      <a:rPr lang="zh-TW" altLang="en-US" i="1">
                        <a:latin typeface="Cambria Math" panose="02040503050406030204" pitchFamily="18" charset="0"/>
                        <a:ea typeface="Cambria Math" panose="02040503050406030204" pitchFamily="18" charset="0"/>
                        <a:cs typeface="Times New Roman" panose="02020603050405020304" pitchFamily="18" charset="0"/>
                      </a:rPr>
                      <m:t>𝜏</m:t>
                    </m:r>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3</a:t>
                </a:r>
              </a:p>
            </p:txBody>
          </p:sp>
        </mc:Choice>
        <mc:Fallback xmlns="">
          <p:sp>
            <p:nvSpPr>
              <p:cNvPr id="25" name="內容版面配置區 2"/>
              <p:cNvSpPr>
                <a:spLocks noGrp="1" noRot="1" noChangeAspect="1" noMove="1" noResize="1" noEditPoints="1" noAdjustHandles="1" noChangeArrowheads="1" noChangeShapeType="1" noTextEdit="1"/>
              </p:cNvSpPr>
              <p:nvPr>
                <p:ph idx="1"/>
              </p:nvPr>
            </p:nvSpPr>
            <p:spPr>
              <a:xfrm>
                <a:off x="628650" y="1825625"/>
                <a:ext cx="7886700" cy="4351338"/>
              </a:xfrm>
              <a:blipFill rotWithShape="0">
                <a:blip r:embed="rId4"/>
                <a:stretch>
                  <a:fillRect l="-1391"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85739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0C029359-40AB-419B-8FBB-45C7471E1ED3}" type="slidenum">
              <a:rPr lang="zh-TW" altLang="en-US" smtClean="0"/>
              <a:t>10</a:t>
            </a:fld>
            <a:endParaRPr lang="zh-TW" altLang="en-US"/>
          </a:p>
        </p:txBody>
      </p:sp>
      <p:pic>
        <p:nvPicPr>
          <p:cNvPr id="10" name="圖片 9"/>
          <p:cNvPicPr>
            <a:picLocks noChangeAspect="1"/>
          </p:cNvPicPr>
          <p:nvPr/>
        </p:nvPicPr>
        <p:blipFill>
          <a:blip r:embed="rId2"/>
          <a:stretch>
            <a:fillRect/>
          </a:stretch>
        </p:blipFill>
        <p:spPr>
          <a:xfrm>
            <a:off x="167606" y="4626240"/>
            <a:ext cx="4765244" cy="2159530"/>
          </a:xfrm>
          <a:prstGeom prst="rect">
            <a:avLst/>
          </a:prstGeom>
        </p:spPr>
      </p:pic>
      <p:pic>
        <p:nvPicPr>
          <p:cNvPr id="7" name="圖片 6"/>
          <p:cNvPicPr>
            <a:picLocks noChangeAspect="1"/>
          </p:cNvPicPr>
          <p:nvPr/>
        </p:nvPicPr>
        <p:blipFill>
          <a:blip r:embed="rId3"/>
          <a:stretch>
            <a:fillRect/>
          </a:stretch>
        </p:blipFill>
        <p:spPr>
          <a:xfrm>
            <a:off x="679670" y="1037844"/>
            <a:ext cx="7991031" cy="3144012"/>
          </a:xfrm>
          <a:prstGeom prst="rect">
            <a:avLst/>
          </a:prstGeom>
        </p:spPr>
      </p:pic>
    </p:spTree>
    <p:extLst>
      <p:ext uri="{BB962C8B-B14F-4D97-AF65-F5344CB8AC3E}">
        <p14:creationId xmlns:p14="http://schemas.microsoft.com/office/powerpoint/2010/main" val="1387360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Find common substrings</a:t>
            </a:r>
            <a:endParaRPr lang="zh-TW" altLang="en-US" dirty="0"/>
          </a:p>
        </p:txBody>
      </p:sp>
      <p:sp>
        <p:nvSpPr>
          <p:cNvPr id="3" name="內容版面配置區 2"/>
          <p:cNvSpPr>
            <a:spLocks noGrp="1"/>
          </p:cNvSpPr>
          <p:nvPr>
            <p:ph idx="1"/>
          </p:nvPr>
        </p:nvSpPr>
        <p:spPr/>
        <p:txBody>
          <a:bodyPr/>
          <a:lstStyle/>
          <a:p>
            <a:r>
              <a:rPr lang="en-US" altLang="zh-TW" dirty="0" smtClean="0">
                <a:latin typeface="Times New Roman" panose="02020603050405020304" pitchFamily="18" charset="0"/>
                <a:cs typeface="Times New Roman" panose="02020603050405020304" pitchFamily="18" charset="0"/>
              </a:rPr>
              <a:t>With suffix array, common substrings can be found in linear time.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11</a:t>
            </a:fld>
            <a:endParaRPr lang="zh-TW" altLang="en-US"/>
          </a:p>
        </p:txBody>
      </p:sp>
      <p:pic>
        <p:nvPicPr>
          <p:cNvPr id="6" name="圖片 5"/>
          <p:cNvPicPr>
            <a:picLocks noChangeAspect="1"/>
          </p:cNvPicPr>
          <p:nvPr/>
        </p:nvPicPr>
        <p:blipFill>
          <a:blip r:embed="rId2"/>
          <a:stretch>
            <a:fillRect/>
          </a:stretch>
        </p:blipFill>
        <p:spPr>
          <a:xfrm>
            <a:off x="536026" y="2987675"/>
            <a:ext cx="3533775" cy="933450"/>
          </a:xfrm>
          <a:prstGeom prst="rect">
            <a:avLst/>
          </a:prstGeom>
        </p:spPr>
      </p:pic>
      <p:pic>
        <p:nvPicPr>
          <p:cNvPr id="7" name="圖片 6"/>
          <p:cNvPicPr>
            <a:picLocks noChangeAspect="1"/>
          </p:cNvPicPr>
          <p:nvPr/>
        </p:nvPicPr>
        <p:blipFill>
          <a:blip r:embed="rId3"/>
          <a:stretch>
            <a:fillRect/>
          </a:stretch>
        </p:blipFill>
        <p:spPr>
          <a:xfrm>
            <a:off x="4061846" y="2319867"/>
            <a:ext cx="3503120" cy="4538133"/>
          </a:xfrm>
          <a:prstGeom prst="rect">
            <a:avLst/>
          </a:prstGeom>
        </p:spPr>
      </p:pic>
      <p:sp>
        <p:nvSpPr>
          <p:cNvPr id="8" name="矩形 7"/>
          <p:cNvSpPr/>
          <p:nvPr/>
        </p:nvSpPr>
        <p:spPr>
          <a:xfrm>
            <a:off x="4690534" y="3318404"/>
            <a:ext cx="237067" cy="2719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4690534" y="3615794"/>
            <a:ext cx="237067" cy="271992"/>
          </a:xfrm>
          <a:prstGeom prst="rect">
            <a:avLst/>
          </a:prstGeom>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
        <p:nvSpPr>
          <p:cNvPr id="10" name="矩形 9"/>
          <p:cNvSpPr/>
          <p:nvPr/>
        </p:nvSpPr>
        <p:spPr>
          <a:xfrm>
            <a:off x="1341926" y="2995877"/>
            <a:ext cx="237067" cy="2719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2973329" y="2997200"/>
            <a:ext cx="237067" cy="271992"/>
          </a:xfrm>
          <a:prstGeom prst="rect">
            <a:avLst/>
          </a:prstGeom>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
        <p:nvSpPr>
          <p:cNvPr id="12" name="矩形 11"/>
          <p:cNvSpPr/>
          <p:nvPr/>
        </p:nvSpPr>
        <p:spPr>
          <a:xfrm>
            <a:off x="6127750" y="3590395"/>
            <a:ext cx="239183" cy="871537"/>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
        <p:nvSpPr>
          <p:cNvPr id="13" name="矩形 12"/>
          <p:cNvSpPr/>
          <p:nvPr/>
        </p:nvSpPr>
        <p:spPr>
          <a:xfrm>
            <a:off x="1341925" y="3318404"/>
            <a:ext cx="478408" cy="289983"/>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
        <p:nvSpPr>
          <p:cNvPr id="14" name="矩形 13"/>
          <p:cNvSpPr/>
          <p:nvPr/>
        </p:nvSpPr>
        <p:spPr>
          <a:xfrm>
            <a:off x="2240411" y="3318404"/>
            <a:ext cx="478408" cy="289983"/>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
        <p:nvSpPr>
          <p:cNvPr id="15" name="矩形 14"/>
          <p:cNvSpPr/>
          <p:nvPr/>
        </p:nvSpPr>
        <p:spPr>
          <a:xfrm>
            <a:off x="2982752" y="3317344"/>
            <a:ext cx="478408" cy="289983"/>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
        <p:nvSpPr>
          <p:cNvPr id="16" name="矩形 15"/>
          <p:cNvSpPr/>
          <p:nvPr/>
        </p:nvSpPr>
        <p:spPr>
          <a:xfrm>
            <a:off x="648128" y="3309408"/>
            <a:ext cx="478408" cy="289983"/>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
        <p:nvSpPr>
          <p:cNvPr id="17" name="矩形 16"/>
          <p:cNvSpPr/>
          <p:nvPr/>
        </p:nvSpPr>
        <p:spPr>
          <a:xfrm>
            <a:off x="6912997" y="3309408"/>
            <a:ext cx="239183" cy="871537"/>
          </a:xfrm>
          <a:prstGeom prst="rect">
            <a:avLst/>
          </a:prstGeom>
          <a:noFill/>
          <a:ln>
            <a:solidFill>
              <a:srgbClr val="FF00FF"/>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
        <p:nvSpPr>
          <p:cNvPr id="18" name="矩形 17"/>
          <p:cNvSpPr/>
          <p:nvPr/>
        </p:nvSpPr>
        <p:spPr>
          <a:xfrm>
            <a:off x="6963798" y="3605742"/>
            <a:ext cx="239183" cy="871537"/>
          </a:xfrm>
          <a:prstGeom prst="rect">
            <a:avLst/>
          </a:prstGeom>
          <a:noFill/>
          <a:ln>
            <a:solidFill>
              <a:srgbClr val="FF00FF"/>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1473677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Experiments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𝐿𝐷</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𝑙𝑜𝑐𝑎𝑙𝑖𝑡𝑦</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𝑑𝑒𝑔𝑟𝑒𝑒</m:t>
                        </m:r>
                      </m:e>
                    </m:d>
                    <m:r>
                      <a:rPr lang="en-US" altLang="zh-TW" b="0" i="1" smtClean="0">
                        <a:latin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𝑎𝑣𝑔</m:t>
                        </m:r>
                        <m:r>
                          <a:rPr lang="en-US" altLang="zh-TW" b="0" i="1" smtClean="0">
                            <a:latin typeface="Cambria Math" panose="02040503050406030204" pitchFamily="18" charset="0"/>
                            <a:cs typeface="Times New Roman" panose="02020603050405020304" pitchFamily="18" charset="0"/>
                          </a:rPr>
                          <m:t>(</m:t>
                        </m:r>
                        <m:nary>
                          <m:naryPr>
                            <m:chr m:val="∑"/>
                            <m:subHide m:val="on"/>
                            <m:supHide m:val="on"/>
                            <m:ctrlPr>
                              <a:rPr lang="en-US" altLang="zh-TW" b="0" i="1" smtClean="0">
                                <a:latin typeface="Cambria Math" panose="02040503050406030204" pitchFamily="18" charset="0"/>
                                <a:cs typeface="Times New Roman" panose="02020603050405020304" pitchFamily="18" charset="0"/>
                              </a:rPr>
                            </m:ctrlPr>
                          </m:naryPr>
                          <m:sub/>
                          <m:sup/>
                          <m:e>
                            <m:r>
                              <a:rPr lang="en-US" altLang="zh-TW" i="1">
                                <a:latin typeface="Cambria Math" panose="02040503050406030204" pitchFamily="18" charset="0"/>
                                <a:cs typeface="Times New Roman" panose="02020603050405020304" pitchFamily="18" charset="0"/>
                              </a:rPr>
                              <m:t>𝑙</m:t>
                            </m:r>
                            <m:d>
                              <m:dPr>
                                <m:ctrlPr>
                                  <a:rPr lang="en-US" altLang="zh-TW" i="1">
                                    <a:latin typeface="Cambria Math" panose="02040503050406030204" pitchFamily="18" charset="0"/>
                                    <a:cs typeface="Times New Roman" panose="02020603050405020304" pitchFamily="18" charset="0"/>
                                  </a:rPr>
                                </m:ctrlPr>
                              </m:dPr>
                              <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𝑙𝑐𝑠</m:t>
                                    </m:r>
                                  </m:e>
                                  <m:sub>
                                    <m:r>
                                      <a:rPr lang="en-US" altLang="zh-TW" i="1">
                                        <a:latin typeface="Cambria Math" panose="02040503050406030204" pitchFamily="18" charset="0"/>
                                        <a:cs typeface="Times New Roman" panose="02020603050405020304" pitchFamily="18" charset="0"/>
                                      </a:rPr>
                                      <m:t>𝑝</m:t>
                                    </m:r>
                                  </m:sub>
                                </m:sSub>
                              </m:e>
                            </m:d>
                          </m:e>
                        </m:nary>
                        <m:r>
                          <a:rPr lang="en-US" altLang="zh-TW" b="0" i="1" smtClean="0">
                            <a:latin typeface="Cambria Math" panose="02040503050406030204" pitchFamily="18" charset="0"/>
                            <a:cs typeface="Times New Roman" panose="02020603050405020304" pitchFamily="18" charset="0"/>
                          </a:rPr>
                          <m:t>)</m:t>
                        </m:r>
                      </m:num>
                      <m:den>
                        <m:r>
                          <a:rPr lang="en-US" altLang="zh-TW" i="1">
                            <a:latin typeface="Cambria Math" panose="02040503050406030204" pitchFamily="18" charset="0"/>
                            <a:cs typeface="Times New Roman" panose="02020603050405020304" pitchFamily="18" charset="0"/>
                          </a:rPr>
                          <m:t>𝑎𝑣𝑔</m:t>
                        </m:r>
                        <m:r>
                          <a:rPr lang="en-US" altLang="zh-TW" i="1">
                            <a:latin typeface="Cambria Math" panose="02040503050406030204" pitchFamily="18" charset="0"/>
                            <a:cs typeface="Times New Roman" panose="02020603050405020304" pitchFamily="18" charset="0"/>
                          </a:rPr>
                          <m:t>(</m:t>
                        </m:r>
                        <m:nary>
                          <m:naryPr>
                            <m:chr m:val="∑"/>
                            <m:subHide m:val="on"/>
                            <m:supHide m:val="on"/>
                            <m:ctrlPr>
                              <a:rPr lang="en-US" altLang="zh-TW" i="1">
                                <a:latin typeface="Cambria Math" panose="02040503050406030204" pitchFamily="18" charset="0"/>
                                <a:cs typeface="Times New Roman" panose="02020603050405020304" pitchFamily="18" charset="0"/>
                              </a:rPr>
                            </m:ctrlPr>
                          </m:naryPr>
                          <m:sub/>
                          <m:sup/>
                          <m:e>
                            <m:r>
                              <a:rPr lang="en-US" altLang="zh-TW" i="1">
                                <a:latin typeface="Cambria Math" panose="02040503050406030204" pitchFamily="18" charset="0"/>
                                <a:cs typeface="Times New Roman" panose="02020603050405020304" pitchFamily="18" charset="0"/>
                              </a:rPr>
                              <m:t>𝑙</m:t>
                            </m:r>
                            <m:d>
                              <m:dPr>
                                <m:ctrlPr>
                                  <a:rPr lang="en-US" altLang="zh-TW" i="1">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𝑙𝑐𝑠</m:t>
                                </m:r>
                              </m:e>
                            </m:d>
                          </m:e>
                        </m:nary>
                        <m:r>
                          <a:rPr lang="en-US" altLang="zh-TW" b="0" i="1" smtClean="0">
                            <a:latin typeface="Cambria Math" panose="02040503050406030204" pitchFamily="18" charset="0"/>
                            <a:cs typeface="Times New Roman" panose="02020603050405020304" pitchFamily="18" charset="0"/>
                          </a:rPr>
                          <m:t>−</m:t>
                        </m:r>
                        <m:nary>
                          <m:naryPr>
                            <m:chr m:val="∑"/>
                            <m:subHide m:val="on"/>
                            <m:supHide m:val="on"/>
                            <m:ctrlPr>
                              <a:rPr lang="en-US" altLang="zh-TW" i="1">
                                <a:latin typeface="Cambria Math" panose="02040503050406030204" pitchFamily="18" charset="0"/>
                                <a:cs typeface="Times New Roman" panose="02020603050405020304" pitchFamily="18" charset="0"/>
                              </a:rPr>
                            </m:ctrlPr>
                          </m:naryPr>
                          <m:sub/>
                          <m:sup/>
                          <m:e>
                            <m:r>
                              <a:rPr lang="en-US" altLang="zh-TW" i="1">
                                <a:latin typeface="Cambria Math" panose="02040503050406030204" pitchFamily="18" charset="0"/>
                                <a:cs typeface="Times New Roman" panose="02020603050405020304" pitchFamily="18" charset="0"/>
                              </a:rPr>
                              <m:t>𝑙</m:t>
                            </m:r>
                            <m:d>
                              <m:dPr>
                                <m:ctrlPr>
                                  <a:rPr lang="en-US" altLang="zh-TW" i="1">
                                    <a:latin typeface="Cambria Math" panose="02040503050406030204" pitchFamily="18" charset="0"/>
                                    <a:cs typeface="Times New Roman" panose="02020603050405020304" pitchFamily="18" charset="0"/>
                                  </a:rPr>
                                </m:ctrlPr>
                              </m:dPr>
                              <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𝑙𝑐𝑠</m:t>
                                    </m:r>
                                  </m:e>
                                  <m:sub>
                                    <m:r>
                                      <a:rPr lang="en-US" altLang="zh-TW" i="1">
                                        <a:latin typeface="Cambria Math" panose="02040503050406030204" pitchFamily="18" charset="0"/>
                                        <a:cs typeface="Times New Roman" panose="02020603050405020304" pitchFamily="18" charset="0"/>
                                      </a:rPr>
                                      <m:t>𝑝</m:t>
                                    </m:r>
                                  </m:sub>
                                </m:sSub>
                              </m:e>
                            </m:d>
                          </m:e>
                        </m:nary>
                        <m:r>
                          <a:rPr lang="en-US" altLang="zh-TW" b="0" i="1" smtClean="0">
                            <a:latin typeface="Cambria Math" panose="02040503050406030204" pitchFamily="18" charset="0"/>
                            <a:cs typeface="Times New Roman" panose="02020603050405020304" pitchFamily="18" charset="0"/>
                          </a:rPr>
                          <m:t>)</m:t>
                        </m:r>
                      </m:den>
                    </m:f>
                  </m:oMath>
                </a14:m>
                <a:endParaRPr lang="en-US" altLang="zh-TW" dirty="0" smtClean="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0C029359-40AB-419B-8FBB-45C7471E1ED3}" type="slidenum">
              <a:rPr lang="zh-TW" altLang="en-US" smtClean="0"/>
              <a:t>12</a:t>
            </a:fld>
            <a:endParaRPr lang="zh-TW" altLang="en-US"/>
          </a:p>
        </p:txBody>
      </p:sp>
      <p:pic>
        <p:nvPicPr>
          <p:cNvPr id="17" name="圖片 16"/>
          <p:cNvPicPr>
            <a:picLocks noChangeAspect="1"/>
          </p:cNvPicPr>
          <p:nvPr/>
        </p:nvPicPr>
        <p:blipFill>
          <a:blip r:embed="rId3"/>
          <a:stretch>
            <a:fillRect/>
          </a:stretch>
        </p:blipFill>
        <p:spPr>
          <a:xfrm>
            <a:off x="2502164" y="2797519"/>
            <a:ext cx="4139671" cy="3741394"/>
          </a:xfrm>
          <a:prstGeom prst="rect">
            <a:avLst/>
          </a:prstGeom>
        </p:spPr>
      </p:pic>
    </p:spTree>
    <p:extLst>
      <p:ext uri="{BB962C8B-B14F-4D97-AF65-F5344CB8AC3E}">
        <p14:creationId xmlns:p14="http://schemas.microsoft.com/office/powerpoint/2010/main" val="401358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Experiments</a:t>
            </a:r>
            <a:endParaRPr lang="zh-TW" altLang="en-US" dirty="0"/>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13</a:t>
            </a:fld>
            <a:endParaRPr lang="zh-TW" altLang="en-US"/>
          </a:p>
        </p:txBody>
      </p:sp>
      <p:pic>
        <p:nvPicPr>
          <p:cNvPr id="7" name="圖片 6"/>
          <p:cNvPicPr>
            <a:picLocks noChangeAspect="1"/>
          </p:cNvPicPr>
          <p:nvPr/>
        </p:nvPicPr>
        <p:blipFill>
          <a:blip r:embed="rId2"/>
          <a:stretch>
            <a:fillRect/>
          </a:stretch>
        </p:blipFill>
        <p:spPr>
          <a:xfrm>
            <a:off x="2175404" y="1690689"/>
            <a:ext cx="4793192" cy="3994327"/>
          </a:xfrm>
          <a:prstGeom prst="rect">
            <a:avLst/>
          </a:prstGeom>
        </p:spPr>
      </p:pic>
      <p:sp>
        <p:nvSpPr>
          <p:cNvPr id="9" name="橢圓 8"/>
          <p:cNvSpPr/>
          <p:nvPr/>
        </p:nvSpPr>
        <p:spPr>
          <a:xfrm>
            <a:off x="5601595" y="2455334"/>
            <a:ext cx="120650" cy="1354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6778461" y="3854184"/>
            <a:ext cx="120650" cy="1354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5212681" y="2221178"/>
            <a:ext cx="120650" cy="13546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6778461" y="3687852"/>
            <a:ext cx="120650" cy="135467"/>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5132637" y="2670837"/>
            <a:ext cx="120650" cy="13546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6778461" y="2045295"/>
            <a:ext cx="120650" cy="13546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5011987" y="2926844"/>
            <a:ext cx="120650" cy="13546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6768938" y="2335127"/>
            <a:ext cx="120650" cy="13546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776383653"/>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9216</TotalTime>
  <Words>341</Words>
  <Application>Microsoft Office PowerPoint</Application>
  <PresentationFormat>如螢幕大小 (4:3)</PresentationFormat>
  <Paragraphs>40</Paragraphs>
  <Slides>13</Slides>
  <Notes>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13</vt:i4>
      </vt:variant>
    </vt:vector>
  </HeadingPairs>
  <TitlesOfParts>
    <vt:vector size="23" baseType="lpstr">
      <vt:lpstr>Arial Unicode MS</vt:lpstr>
      <vt:lpstr>KaiTi</vt:lpstr>
      <vt:lpstr>新細明體</vt:lpstr>
      <vt:lpstr>Arial</vt:lpstr>
      <vt:lpstr>Calibri</vt:lpstr>
      <vt:lpstr>Calibri Light</vt:lpstr>
      <vt:lpstr>Cambria Math</vt:lpstr>
      <vt:lpstr>Courier New</vt:lpstr>
      <vt:lpstr>Times New Roman</vt:lpstr>
      <vt:lpstr>Office 佈景主題</vt:lpstr>
      <vt:lpstr>PowerPoint 簡報</vt:lpstr>
      <vt:lpstr>Abstract(1/3)</vt:lpstr>
      <vt:lpstr>Abstract(2/3)</vt:lpstr>
      <vt:lpstr>Abstract(3/3)</vt:lpstr>
      <vt:lpstr>LCS with limited penalty (LCSp)</vt:lpstr>
      <vt:lpstr>PowerPoint 簡報</vt:lpstr>
      <vt:lpstr>PowerPoint 簡報</vt:lpstr>
      <vt:lpstr>Pruning (useless concatenation)</vt:lpstr>
      <vt:lpstr>Pruning (early termination)</vt:lpstr>
      <vt:lpstr>PowerPoint 簡報</vt:lpstr>
      <vt:lpstr>Find common substrings</vt:lpstr>
      <vt:lpstr>Experiments</vt:lpstr>
      <vt:lpstr>Experiments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Bebe</dc:creator>
  <cp:lastModifiedBy>pplab-class</cp:lastModifiedBy>
  <cp:revision>1037</cp:revision>
  <dcterms:created xsi:type="dcterms:W3CDTF">2015-06-30T03:57:49Z</dcterms:created>
  <dcterms:modified xsi:type="dcterms:W3CDTF">2017-04-18T11:29:59Z</dcterms:modified>
</cp:coreProperties>
</file>