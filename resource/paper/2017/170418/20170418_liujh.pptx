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1" r:id="rId6"/>
    <p:sldId id="260" r:id="rId7"/>
    <p:sldId id="262" r:id="rId8"/>
    <p:sldId id="275" r:id="rId9"/>
    <p:sldId id="263" r:id="rId10"/>
    <p:sldId id="264" r:id="rId11"/>
    <p:sldId id="265" r:id="rId12"/>
    <p:sldId id="267" r:id="rId13"/>
    <p:sldId id="268" r:id="rId14"/>
    <p:sldId id="274" r:id="rId15"/>
    <p:sldId id="269" r:id="rId16"/>
    <p:sldId id="270" r:id="rId17"/>
    <p:sldId id="271" r:id="rId18"/>
    <p:sldId id="272" r:id="rId19"/>
    <p:sldId id="273"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3526" autoAdjust="0"/>
  </p:normalViewPr>
  <p:slideViewPr>
    <p:cSldViewPr snapToGrid="0" snapToObjects="1">
      <p:cViewPr varScale="1">
        <p:scale>
          <a:sx n="78" d="100"/>
          <a:sy n="78" d="100"/>
        </p:scale>
        <p:origin x="2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34EE79-E24C-ED4D-BE91-D0E947147CE0}" type="datetimeFigureOut">
              <a:rPr kumimoji="1" lang="zh-TW" altLang="en-US" smtClean="0"/>
              <a:t>2017/4/18</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5BD168-5E8A-2C48-9CB8-9C22AAE5494F}" type="slidenum">
              <a:rPr kumimoji="1" lang="zh-TW" altLang="en-US" smtClean="0"/>
              <a:t>‹#›</a:t>
            </a:fld>
            <a:endParaRPr kumimoji="1" lang="zh-TW" altLang="en-US"/>
          </a:p>
        </p:txBody>
      </p:sp>
    </p:spTree>
    <p:extLst>
      <p:ext uri="{BB962C8B-B14F-4D97-AF65-F5344CB8AC3E}">
        <p14:creationId xmlns:p14="http://schemas.microsoft.com/office/powerpoint/2010/main" val="2052856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10"/>
          </p:nvPr>
        </p:nvSpPr>
        <p:spPr/>
        <p:txBody>
          <a:bodyPr/>
          <a:lstStyle/>
          <a:p>
            <a:fld id="{E35BD168-5E8A-2C48-9CB8-9C22AAE5494F}" type="slidenum">
              <a:rPr kumimoji="1" lang="zh-TW" altLang="en-US" smtClean="0"/>
              <a:t>4</a:t>
            </a:fld>
            <a:endParaRPr kumimoji="1" lang="zh-TW" altLang="en-US"/>
          </a:p>
        </p:txBody>
      </p:sp>
    </p:spTree>
    <p:extLst>
      <p:ext uri="{BB962C8B-B14F-4D97-AF65-F5344CB8AC3E}">
        <p14:creationId xmlns:p14="http://schemas.microsoft.com/office/powerpoint/2010/main" val="894032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5BD168-5E8A-2C48-9CB8-9C22AAE5494F}" type="slidenum">
              <a:rPr kumimoji="1" lang="zh-TW" altLang="en-US" smtClean="0"/>
              <a:t>13</a:t>
            </a:fld>
            <a:endParaRPr kumimoji="1" lang="zh-TW" altLang="en-US"/>
          </a:p>
        </p:txBody>
      </p:sp>
    </p:spTree>
    <p:extLst>
      <p:ext uri="{BB962C8B-B14F-4D97-AF65-F5344CB8AC3E}">
        <p14:creationId xmlns:p14="http://schemas.microsoft.com/office/powerpoint/2010/main" val="1570252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5BD168-5E8A-2C48-9CB8-9C22AAE5494F}" type="slidenum">
              <a:rPr kumimoji="1" lang="zh-TW" altLang="en-US" smtClean="0"/>
              <a:t>14</a:t>
            </a:fld>
            <a:endParaRPr kumimoji="1" lang="zh-TW" altLang="en-US"/>
          </a:p>
        </p:txBody>
      </p:sp>
    </p:spTree>
    <p:extLst>
      <p:ext uri="{BB962C8B-B14F-4D97-AF65-F5344CB8AC3E}">
        <p14:creationId xmlns:p14="http://schemas.microsoft.com/office/powerpoint/2010/main" val="411959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a:t>
            </a:r>
            <a:r>
              <a:rPr lang="zh-TW" altLang="en-US" dirty="0"/>
              <a:t>年</a:t>
            </a:r>
            <a:endParaRPr lang="en-US" dirty="0"/>
          </a:p>
        </p:txBody>
      </p:sp>
      <p:sp>
        <p:nvSpPr>
          <p:cNvPr id="4" name="Slide Number Placeholder 3"/>
          <p:cNvSpPr>
            <a:spLocks noGrp="1"/>
          </p:cNvSpPr>
          <p:nvPr>
            <p:ph type="sldNum" sz="quarter" idx="10"/>
          </p:nvPr>
        </p:nvSpPr>
        <p:spPr/>
        <p:txBody>
          <a:bodyPr/>
          <a:lstStyle/>
          <a:p>
            <a:fld id="{E35BD168-5E8A-2C48-9CB8-9C22AAE5494F}" type="slidenum">
              <a:rPr kumimoji="1" lang="zh-TW" altLang="en-US" smtClean="0"/>
              <a:t>17</a:t>
            </a:fld>
            <a:endParaRPr kumimoji="1" lang="zh-TW" altLang="en-US"/>
          </a:p>
        </p:txBody>
      </p:sp>
    </p:spTree>
    <p:extLst>
      <p:ext uri="{BB962C8B-B14F-4D97-AF65-F5344CB8AC3E}">
        <p14:creationId xmlns:p14="http://schemas.microsoft.com/office/powerpoint/2010/main" val="936712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Citigroup (Finance),</a:t>
            </a:r>
          </a:p>
          <a:p>
            <a:r>
              <a:rPr lang="en-US" altLang="zh-TW" sz="1200" b="0" i="0" u="none" strike="noStrike" kern="1200" baseline="0" dirty="0">
                <a:solidFill>
                  <a:schemeClr val="tx1"/>
                </a:solidFill>
                <a:latin typeface="+mn-lt"/>
                <a:ea typeface="+mn-ea"/>
                <a:cs typeface="+mn-cs"/>
              </a:rPr>
              <a:t>General Motors (Automotive), Wyeth (Healthcare), IBM (Information</a:t>
            </a:r>
          </a:p>
          <a:p>
            <a:r>
              <a:rPr lang="en-US" altLang="zh-TW" sz="1200" b="0" i="0" u="none" strike="noStrike" kern="1200" baseline="0" dirty="0">
                <a:solidFill>
                  <a:schemeClr val="tx1"/>
                </a:solidFill>
                <a:latin typeface="+mn-lt"/>
                <a:ea typeface="+mn-ea"/>
                <a:cs typeface="+mn-cs"/>
              </a:rPr>
              <a:t>Technology) and Walmart (Variety Stores)</a:t>
            </a:r>
            <a:endParaRPr lang="en-US" dirty="0"/>
          </a:p>
        </p:txBody>
      </p:sp>
      <p:sp>
        <p:nvSpPr>
          <p:cNvPr id="4" name="Slide Number Placeholder 3"/>
          <p:cNvSpPr>
            <a:spLocks noGrp="1"/>
          </p:cNvSpPr>
          <p:nvPr>
            <p:ph type="sldNum" sz="quarter" idx="10"/>
          </p:nvPr>
        </p:nvSpPr>
        <p:spPr/>
        <p:txBody>
          <a:bodyPr/>
          <a:lstStyle/>
          <a:p>
            <a:fld id="{E35BD168-5E8A-2C48-9CB8-9C22AAE5494F}" type="slidenum">
              <a:rPr kumimoji="1" lang="zh-TW" altLang="en-US" smtClean="0"/>
              <a:t>18</a:t>
            </a:fld>
            <a:endParaRPr kumimoji="1" lang="zh-TW" altLang="en-US"/>
          </a:p>
        </p:txBody>
      </p:sp>
    </p:spTree>
    <p:extLst>
      <p:ext uri="{BB962C8B-B14F-4D97-AF65-F5344CB8AC3E}">
        <p14:creationId xmlns:p14="http://schemas.microsoft.com/office/powerpoint/2010/main" val="1502945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5BD168-5E8A-2C48-9CB8-9C22AAE5494F}" type="slidenum">
              <a:rPr kumimoji="1" lang="zh-TW" altLang="en-US" smtClean="0"/>
              <a:t>19</a:t>
            </a:fld>
            <a:endParaRPr kumimoji="1" lang="zh-TW" altLang="en-US"/>
          </a:p>
        </p:txBody>
      </p:sp>
    </p:spTree>
    <p:extLst>
      <p:ext uri="{BB962C8B-B14F-4D97-AF65-F5344CB8AC3E}">
        <p14:creationId xmlns:p14="http://schemas.microsoft.com/office/powerpoint/2010/main" val="1163336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200252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內容版面配置區 2"/>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1032849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98776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132712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8" name="頁尾版面配置區 7"/>
          <p:cNvSpPr>
            <a:spLocks noGrp="1"/>
          </p:cNvSpPr>
          <p:nvPr>
            <p:ph type="ftr" sz="quarter" idx="11"/>
          </p:nvPr>
        </p:nvSpPr>
        <p:spPr/>
        <p:txBody>
          <a:bodyPr/>
          <a:lstStyle/>
          <a:p>
            <a:endParaRPr kumimoji="1" lang="zh-TW" altLang="en-US"/>
          </a:p>
        </p:txBody>
      </p:sp>
      <p:sp>
        <p:nvSpPr>
          <p:cNvPr id="9" name="投影片編號版面配置區 8"/>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1227893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日期版面配置區 2"/>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4" name="頁尾版面配置區 3"/>
          <p:cNvSpPr>
            <a:spLocks noGrp="1"/>
          </p:cNvSpPr>
          <p:nvPr>
            <p:ph type="ftr" sz="quarter" idx="11"/>
          </p:nvPr>
        </p:nvSpPr>
        <p:spPr/>
        <p:txBody>
          <a:bodyPr/>
          <a:lstStyle/>
          <a:p>
            <a:endParaRPr kumimoji="1" lang="zh-TW" altLang="en-US"/>
          </a:p>
        </p:txBody>
      </p:sp>
      <p:sp>
        <p:nvSpPr>
          <p:cNvPr id="5" name="投影片編號版面配置區 4"/>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2040413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3" name="頁尾版面配置區 2"/>
          <p:cNvSpPr>
            <a:spLocks noGrp="1"/>
          </p:cNvSpPr>
          <p:nvPr>
            <p:ph type="ftr" sz="quarter" idx="11"/>
          </p:nvPr>
        </p:nvSpPr>
        <p:spPr/>
        <p:txBody>
          <a:bodyPr/>
          <a:lstStyle/>
          <a:p>
            <a:endParaRPr kumimoji="1" lang="zh-TW" altLang="en-US"/>
          </a:p>
        </p:txBody>
      </p:sp>
      <p:sp>
        <p:nvSpPr>
          <p:cNvPr id="4" name="投影片編號版面配置區 3"/>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59032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29597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1382191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1157393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F072578F-DE48-2A48-BAAA-3F2A849AC635}" type="datetimeFigureOut">
              <a:rPr kumimoji="1" lang="zh-TW" altLang="en-US" smtClean="0"/>
              <a:t>2017/4/18</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397461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72578F-DE48-2A48-BAAA-3F2A849AC635}" type="datetimeFigureOut">
              <a:rPr kumimoji="1" lang="zh-TW" altLang="en-US" smtClean="0"/>
              <a:t>2017/4/18</a:t>
            </a:fld>
            <a:endParaRPr kumimoji="1"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5F9D0B-5877-4348-8FCD-D69A2DB917A9}" type="slidenum">
              <a:rPr kumimoji="1" lang="zh-TW" altLang="en-US" smtClean="0"/>
              <a:t>‹#›</a:t>
            </a:fld>
            <a:endParaRPr kumimoji="1" lang="zh-TW" altLang="en-US"/>
          </a:p>
        </p:txBody>
      </p:sp>
    </p:spTree>
    <p:extLst>
      <p:ext uri="{BB962C8B-B14F-4D97-AF65-F5344CB8AC3E}">
        <p14:creationId xmlns:p14="http://schemas.microsoft.com/office/powerpoint/2010/main" val="752703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kumimoji="1" lang="en-US" altLang="zh-TW" dirty="0"/>
              <a:t>Stock trading with cycles A financial application of ANFIS and reinforcement learning</a:t>
            </a:r>
            <a:endParaRPr kumimoji="1" lang="zh-TW" altLang="en-US" dirty="0"/>
          </a:p>
        </p:txBody>
      </p:sp>
      <p:sp>
        <p:nvSpPr>
          <p:cNvPr id="3" name="副標題 2"/>
          <p:cNvSpPr>
            <a:spLocks noGrp="1"/>
          </p:cNvSpPr>
          <p:nvPr>
            <p:ph type="subTitle" idx="1"/>
          </p:nvPr>
        </p:nvSpPr>
        <p:spPr/>
        <p:txBody>
          <a:bodyPr anchor="ctr">
            <a:normAutofit/>
          </a:bodyPr>
          <a:lstStyle/>
          <a:p>
            <a:pPr lvl="1"/>
            <a:r>
              <a:rPr lang="en-US" altLang="zh-TW" sz="2400" dirty="0"/>
              <a:t>Expert Systems with Applications</a:t>
            </a:r>
            <a:r>
              <a:rPr lang="zh-TW" altLang="en-US" sz="2400" dirty="0"/>
              <a:t> </a:t>
            </a:r>
            <a:r>
              <a:rPr lang="en-US" altLang="zh-TW" sz="2400" dirty="0"/>
              <a:t>Volume 38, Issue 5, May 2011, Pages 4741–4755</a:t>
            </a:r>
          </a:p>
          <a:p>
            <a:r>
              <a:rPr lang="en-US" altLang="zh-TW" dirty="0" err="1"/>
              <a:t>Zhiyong</a:t>
            </a:r>
            <a:r>
              <a:rPr lang="en-US" altLang="zh-TW" dirty="0"/>
              <a:t> Tan, Chai </a:t>
            </a:r>
            <a:r>
              <a:rPr lang="en-US" altLang="zh-TW" dirty="0" err="1"/>
              <a:t>Quek</a:t>
            </a:r>
            <a:r>
              <a:rPr lang="en-US" altLang="zh-TW" dirty="0"/>
              <a:t>, Philip Y.K. Cheng</a:t>
            </a:r>
          </a:p>
        </p:txBody>
      </p:sp>
      <p:sp>
        <p:nvSpPr>
          <p:cNvPr id="4" name="矩形 3"/>
          <p:cNvSpPr/>
          <p:nvPr/>
        </p:nvSpPr>
        <p:spPr>
          <a:xfrm>
            <a:off x="6714698" y="5849210"/>
            <a:ext cx="4189864" cy="830997"/>
          </a:xfrm>
          <a:prstGeom prst="rect">
            <a:avLst/>
          </a:prstGeom>
        </p:spPr>
        <p:txBody>
          <a:bodyPr wrap="square">
            <a:spAutoFit/>
          </a:bodyPr>
          <a:lstStyle/>
          <a:p>
            <a:pPr lvl="1" indent="457200">
              <a:defRPr sz="3200"/>
            </a:pPr>
            <a:r>
              <a:rPr lang="de-DE" altLang="zh-TW" sz="2400" dirty="0" err="1"/>
              <a:t>Presenter</a:t>
            </a:r>
            <a:r>
              <a:rPr lang="zh-TW" altLang="de-DE" sz="2400" dirty="0">
                <a:latin typeface="微軟正黑體"/>
                <a:ea typeface="微軟正黑體"/>
                <a:cs typeface="微軟正黑體"/>
                <a:sym typeface="微軟正黑體"/>
              </a:rPr>
              <a:t>：</a:t>
            </a:r>
            <a:r>
              <a:rPr lang="de-DE" altLang="zh-TW" sz="2400" dirty="0" err="1">
                <a:sym typeface="微軟正黑體"/>
              </a:rPr>
              <a:t>Jia</a:t>
            </a:r>
            <a:r>
              <a:rPr lang="de-DE" altLang="zh-TW" sz="2400" dirty="0"/>
              <a:t>-Hong Liu</a:t>
            </a:r>
            <a:endParaRPr lang="de-DE" altLang="zh-TW" sz="2400" dirty="0">
              <a:latin typeface="Liberation Sans Narrow"/>
              <a:ea typeface="Liberation Sans Narrow"/>
              <a:cs typeface="Liberation Sans Narrow"/>
              <a:sym typeface="Liberation Sans Narrow"/>
            </a:endParaRPr>
          </a:p>
          <a:p>
            <a:pPr lvl="1" indent="457200">
              <a:defRPr sz="3200"/>
            </a:pPr>
            <a:r>
              <a:rPr lang="de-DE" altLang="zh-TW" sz="2400" dirty="0"/>
              <a:t>Date</a:t>
            </a:r>
            <a:r>
              <a:rPr lang="zh-TW" altLang="de-DE" sz="2400" dirty="0">
                <a:latin typeface="微軟正黑體"/>
                <a:ea typeface="微軟正黑體"/>
                <a:cs typeface="微軟正黑體"/>
                <a:sym typeface="微軟正黑體"/>
              </a:rPr>
              <a:t>：</a:t>
            </a:r>
            <a:r>
              <a:rPr lang="en-US" altLang="zh-TW" sz="2400" dirty="0"/>
              <a:t>2017/3/6</a:t>
            </a:r>
            <a:endParaRPr lang="de-DE" altLang="zh-TW" sz="2400" dirty="0"/>
          </a:p>
        </p:txBody>
      </p:sp>
    </p:spTree>
    <p:extLst>
      <p:ext uri="{BB962C8B-B14F-4D97-AF65-F5344CB8AC3E}">
        <p14:creationId xmlns:p14="http://schemas.microsoft.com/office/powerpoint/2010/main" val="1458784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Abstract(1/2) </a:t>
            </a:r>
            <a:endParaRPr kumimoji="1" lang="zh-TW" altLang="en-US" dirty="0"/>
          </a:p>
        </p:txBody>
      </p:sp>
      <p:sp>
        <p:nvSpPr>
          <p:cNvPr id="3" name="內容版面配置區 2"/>
          <p:cNvSpPr>
            <a:spLocks noGrp="1"/>
          </p:cNvSpPr>
          <p:nvPr>
            <p:ph idx="1"/>
          </p:nvPr>
        </p:nvSpPr>
        <p:spPr/>
        <p:txBody>
          <a:bodyPr>
            <a:normAutofit/>
          </a:bodyPr>
          <a:lstStyle/>
          <a:p>
            <a:r>
              <a:rPr lang="en-US" altLang="zh-TW" dirty="0"/>
              <a:t>Based on the principles of technical analysis, this paper proposes an artificial intelligence model, which employs the Adaptive Network Fuzzy Inference System (ANFIS) supplemented by the use of reinforcement learning (RL) as a non-arbitrage algorithmic trading system. The novel intelligent trading system is capable of identifying a change in a primary trend for trading and investment decisions. It dynamically determines the periods for momentum and moving averages using the RL paradigm and also appropriately shifting the cycle using ANFIS-RL to address the delay in the predicted cycle. </a:t>
            </a:r>
            <a:endParaRPr kumimoji="1" lang="zh-TW" altLang="en-US" dirty="0"/>
          </a:p>
        </p:txBody>
      </p:sp>
    </p:spTree>
    <p:extLst>
      <p:ext uri="{BB962C8B-B14F-4D97-AF65-F5344CB8AC3E}">
        <p14:creationId xmlns:p14="http://schemas.microsoft.com/office/powerpoint/2010/main" val="2110836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r>
              <a:rPr lang="en-US" altLang="zh-TW" dirty="0"/>
              <a:t>This is used as a proxy to determine the best point in time to go LONG and visa versa for SHORT. When this is coupled with a group of stocks, we derive a simple form of ‘‘riding the cycles – waves”. These are the derived features of the underlying stock movement. It provides a learning framework to trade on cycles. Initial experimental results are encouraging. Firstly, the proposed framework is able to outperform DENFIS and RSPOP in terms of true error and correlation. Secondly, based on the test trading with five US stocks, the proposed trading system is able to beat the market by about 50 percentage points over a period of 13 years. </a:t>
            </a:r>
          </a:p>
        </p:txBody>
      </p:sp>
      <p:sp>
        <p:nvSpPr>
          <p:cNvPr id="5" name="標題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dirty="0"/>
              <a:t>Abstract(2/2) </a:t>
            </a:r>
            <a:endParaRPr kumimoji="1" lang="zh-TW" altLang="en-US" dirty="0"/>
          </a:p>
        </p:txBody>
      </p:sp>
    </p:spTree>
    <p:extLst>
      <p:ext uri="{BB962C8B-B14F-4D97-AF65-F5344CB8AC3E}">
        <p14:creationId xmlns:p14="http://schemas.microsoft.com/office/powerpoint/2010/main" val="113170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t>Design of the trading system </a:t>
            </a:r>
            <a:endParaRPr kumimoji="1" lang="zh-TW" altLang="en-US" dirty="0"/>
          </a:p>
        </p:txBody>
      </p:sp>
      <p:pic>
        <p:nvPicPr>
          <p:cNvPr id="4" name="圖片 3"/>
          <p:cNvPicPr>
            <a:picLocks noChangeAspect="1"/>
          </p:cNvPicPr>
          <p:nvPr/>
        </p:nvPicPr>
        <p:blipFill>
          <a:blip r:embed="rId3"/>
          <a:stretch>
            <a:fillRect/>
          </a:stretch>
        </p:blipFill>
        <p:spPr>
          <a:xfrm>
            <a:off x="2294656" y="1978747"/>
            <a:ext cx="7602688" cy="4314408"/>
          </a:xfrm>
          <a:prstGeom prst="rect">
            <a:avLst/>
          </a:prstGeom>
        </p:spPr>
      </p:pic>
    </p:spTree>
    <p:extLst>
      <p:ext uri="{BB962C8B-B14F-4D97-AF65-F5344CB8AC3E}">
        <p14:creationId xmlns:p14="http://schemas.microsoft.com/office/powerpoint/2010/main" val="671262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kumimoji="1" lang="en-US" altLang="zh-TW" dirty="0"/>
              <a:t>Cycle </a:t>
            </a:r>
            <a:r>
              <a:rPr kumimoji="1" lang="en-US" altLang="zh-TW" dirty="0" err="1"/>
              <a:t>Tunner</a:t>
            </a:r>
            <a:endParaRPr kumimoji="1" lang="zh-TW" altLang="en-US" dirty="0"/>
          </a:p>
        </p:txBody>
      </p:sp>
      <mc:AlternateContent xmlns:mc="http://schemas.openxmlformats.org/markup-compatibility/2006" xmlns:a14="http://schemas.microsoft.com/office/drawing/2010/main">
        <mc:Choice Requires="a14">
          <p:sp>
            <p:nvSpPr>
              <p:cNvPr id="9" name="文字方塊 8"/>
              <p:cNvSpPr txBox="1"/>
              <p:nvPr/>
            </p:nvSpPr>
            <p:spPr>
              <a:xfrm>
                <a:off x="-512606" y="3003423"/>
                <a:ext cx="4194960" cy="8107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zh-TW" altLang="en-US" sz="2800" i="1" dirty="0" smtClean="0">
                              <a:latin typeface="Cambria Math" panose="02040503050406030204" pitchFamily="18" charset="0"/>
                            </a:rPr>
                          </m:ctrlPr>
                        </m:sSubPr>
                        <m:e>
                          <m:r>
                            <a:rPr lang="en-US" altLang="zh-TW" sz="2800" b="0" i="1" dirty="0" smtClean="0">
                              <a:latin typeface="Cambria Math" charset="0"/>
                            </a:rPr>
                            <m:t>𝑀𝑂𝑁</m:t>
                          </m:r>
                        </m:e>
                        <m:sub>
                          <m:r>
                            <a:rPr lang="en-US" altLang="zh-TW" sz="2800" b="0" i="1" dirty="0" smtClean="0">
                              <a:latin typeface="Cambria Math" panose="02040503050406030204" pitchFamily="18" charset="0"/>
                            </a:rPr>
                            <m:t>𝑡</m:t>
                          </m:r>
                        </m:sub>
                      </m:sSub>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𝑝</m:t>
                              </m:r>
                            </m:e>
                            <m:sub>
                              <m:r>
                                <a:rPr lang="en-US" altLang="zh-TW" sz="2800" b="0" i="1" smtClean="0">
                                  <a:latin typeface="Cambria Math" panose="02040503050406030204" pitchFamily="18" charset="0"/>
                                </a:rPr>
                                <m:t>𝑡</m:t>
                              </m:r>
                            </m:sub>
                          </m:sSub>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𝑝</m:t>
                              </m:r>
                            </m:e>
                            <m:sub>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m:t>
                              </m:r>
                              <m:r>
                                <a:rPr lang="en-US" altLang="zh-TW" sz="2800" b="0" i="1" smtClean="0">
                                  <a:latin typeface="Cambria Math" charset="0"/>
                                </a:rPr>
                                <m:t>𝑚𝑜𝑛</m:t>
                              </m:r>
                            </m:sub>
                          </m:sSub>
                        </m:num>
                        <m:den>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𝑝</m:t>
                              </m:r>
                            </m:e>
                            <m:sub>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m:t>
                              </m:r>
                              <m:r>
                                <a:rPr lang="en-US" altLang="zh-TW" sz="2800" b="0" i="1" smtClean="0">
                                  <a:latin typeface="Cambria Math" charset="0"/>
                                </a:rPr>
                                <m:t>𝑚𝑜𝑛</m:t>
                              </m:r>
                            </m:sub>
                          </m:sSub>
                        </m:den>
                      </m:f>
                    </m:oMath>
                  </m:oMathPara>
                </a14:m>
                <a:endParaRPr lang="zh-TW" altLang="en-US" sz="28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512606" y="3003423"/>
                <a:ext cx="4194960" cy="810735"/>
              </a:xfrm>
              <a:prstGeom prst="rect">
                <a:avLst/>
              </a:prstGeom>
              <a:blipFill rotWithShape="0">
                <a:blip r:embed="rId2"/>
                <a:stretch>
                  <a:fillRect/>
                </a:stretch>
              </a:blipFill>
            </p:spPr>
            <p:txBody>
              <a:bodyPr/>
              <a:lstStyle/>
              <a:p>
                <a:r>
                  <a:rPr lang="en-US">
                    <a:noFill/>
                  </a:rPr>
                  <a:t> </a:t>
                </a:r>
              </a:p>
            </p:txBody>
          </p:sp>
        </mc:Fallback>
      </mc:AlternateContent>
      <p:pic>
        <p:nvPicPr>
          <p:cNvPr id="8" name="圖片 10"/>
          <p:cNvPicPr>
            <a:picLocks noChangeAspect="1"/>
          </p:cNvPicPr>
          <p:nvPr/>
        </p:nvPicPr>
        <p:blipFill>
          <a:blip r:embed="rId3"/>
          <a:stretch>
            <a:fillRect/>
          </a:stretch>
        </p:blipFill>
        <p:spPr>
          <a:xfrm>
            <a:off x="7718504" y="1690688"/>
            <a:ext cx="4340645" cy="2783315"/>
          </a:xfrm>
          <a:prstGeom prst="rect">
            <a:avLst/>
          </a:prstGeom>
        </p:spPr>
      </p:pic>
      <p:pic>
        <p:nvPicPr>
          <p:cNvPr id="10" name="圖片 11"/>
          <p:cNvPicPr>
            <a:picLocks noChangeAspect="1"/>
          </p:cNvPicPr>
          <p:nvPr/>
        </p:nvPicPr>
        <p:blipFill>
          <a:blip r:embed="rId4"/>
          <a:stretch>
            <a:fillRect/>
          </a:stretch>
        </p:blipFill>
        <p:spPr>
          <a:xfrm>
            <a:off x="8197493" y="4978699"/>
            <a:ext cx="3382666" cy="1073215"/>
          </a:xfrm>
          <a:prstGeom prst="rect">
            <a:avLst/>
          </a:prstGeom>
        </p:spPr>
      </p:pic>
      <mc:AlternateContent xmlns:mc="http://schemas.openxmlformats.org/markup-compatibility/2006" xmlns:a14="http://schemas.microsoft.com/office/drawing/2010/main">
        <mc:Choice Requires="a14">
          <p:sp>
            <p:nvSpPr>
              <p:cNvPr id="11" name="矩形 10"/>
              <p:cNvSpPr/>
              <p:nvPr/>
            </p:nvSpPr>
            <p:spPr>
              <a:xfrm>
                <a:off x="-118152" y="4023142"/>
                <a:ext cx="9554252" cy="9017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𝐶𝑦𝑐𝑙𝑒</m:t>
                          </m:r>
                        </m:e>
                        <m:sub>
                          <m:r>
                            <a:rPr lang="en-US" altLang="zh-TW" sz="2800" b="0" i="1" smtClean="0">
                              <a:latin typeface="Cambria Math" panose="02040503050406030204" pitchFamily="18" charset="0"/>
                            </a:rPr>
                            <m:t>𝑡</m:t>
                          </m:r>
                        </m:sub>
                      </m:sSub>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sSub>
                            <m:sSubPr>
                              <m:ctrlPr>
                                <a:rPr lang="en-US" altLang="zh-TW" sz="2800" b="0" i="1" smtClean="0">
                                  <a:latin typeface="Cambria Math" panose="02040503050406030204" pitchFamily="18" charset="0"/>
                                </a:rPr>
                              </m:ctrlPr>
                            </m:sSubPr>
                            <m:e>
                              <m:r>
                                <a:rPr lang="en-US" altLang="zh-TW" sz="2800" b="0" i="1" smtClean="0">
                                  <a:latin typeface="Cambria Math" charset="0"/>
                                </a:rPr>
                                <m:t>𝑀𝑂𝑁</m:t>
                              </m:r>
                            </m:e>
                            <m:sub>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m:t>
                              </m:r>
                              <m:r>
                                <a:rPr lang="en-US" altLang="zh-TW" sz="2800" b="0" i="1" smtClean="0">
                                  <a:latin typeface="Cambria Math" charset="0"/>
                                </a:rPr>
                                <m:t>𝑚𝑎</m:t>
                              </m:r>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b="0" i="1" smtClean="0">
                                  <a:latin typeface="Cambria Math" charset="0"/>
                                </a:rPr>
                                <m:t>𝑀𝑂𝑁</m:t>
                              </m:r>
                            </m:e>
                            <m:sub>
                              <m:r>
                                <a:rPr lang="en-US" altLang="zh-TW" sz="2800" i="1">
                                  <a:latin typeface="Cambria Math" panose="02040503050406030204" pitchFamily="18" charset="0"/>
                                </a:rPr>
                                <m:t>𝑡</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𝑚𝑎</m:t>
                              </m:r>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b="0" i="1" smtClean="0">
                                  <a:latin typeface="Cambria Math" charset="0"/>
                                </a:rPr>
                                <m:t>𝑀𝑂𝑁</m:t>
                              </m:r>
                            </m:e>
                            <m:sub>
                              <m:r>
                                <a:rPr lang="en-US" altLang="zh-TW" sz="2800" i="1">
                                  <a:latin typeface="Cambria Math" panose="02040503050406030204" pitchFamily="18" charset="0"/>
                                </a:rPr>
                                <m:t>𝑡</m:t>
                              </m:r>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b="0" i="1" smtClean="0">
                                  <a:latin typeface="Cambria Math" charset="0"/>
                                </a:rPr>
                                <m:t>𝑀𝑂𝑁</m:t>
                              </m:r>
                            </m:e>
                            <m:sub>
                              <m:r>
                                <a:rPr lang="en-US" altLang="zh-TW" sz="2800" i="1">
                                  <a:latin typeface="Cambria Math" panose="02040503050406030204" pitchFamily="18" charset="0"/>
                                </a:rPr>
                                <m:t>𝑡</m:t>
                              </m:r>
                            </m:sub>
                          </m:sSub>
                        </m:num>
                        <m:den>
                          <m:r>
                            <a:rPr lang="en-US" altLang="zh-TW" sz="2800" b="0" i="1" smtClean="0">
                              <a:latin typeface="Cambria Math" charset="0"/>
                            </a:rPr>
                            <m:t>𝑚𝑎</m:t>
                          </m:r>
                        </m:den>
                      </m:f>
                    </m:oMath>
                  </m:oMathPara>
                </a14:m>
                <a:endParaRPr lang="zh-TW" altLang="en-US" sz="2800" dirty="0"/>
              </a:p>
            </p:txBody>
          </p:sp>
        </mc:Choice>
        <mc:Fallback xmlns="">
          <p:sp>
            <p:nvSpPr>
              <p:cNvPr id="11" name="矩形 10"/>
              <p:cNvSpPr>
                <a:spLocks noRot="1" noChangeAspect="1" noMove="1" noResize="1" noEditPoints="1" noAdjustHandles="1" noChangeArrowheads="1" noChangeShapeType="1" noTextEdit="1"/>
              </p:cNvSpPr>
              <p:nvPr/>
            </p:nvSpPr>
            <p:spPr>
              <a:xfrm>
                <a:off x="-118152" y="4023142"/>
                <a:ext cx="9554252" cy="901722"/>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35653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kumimoji="1" lang="en-US" altLang="zh-TW" dirty="0"/>
              <a:t>Cycle </a:t>
            </a:r>
            <a:r>
              <a:rPr kumimoji="1" lang="en-US" altLang="zh-TW" dirty="0" err="1"/>
              <a:t>Tunner</a:t>
            </a:r>
            <a:endParaRPr kumimoji="1" lang="zh-TW" altLang="en-US" dirty="0"/>
          </a:p>
        </p:txBody>
      </p:sp>
      <p:pic>
        <p:nvPicPr>
          <p:cNvPr id="7" name="圖片 6"/>
          <p:cNvPicPr>
            <a:picLocks noChangeAspect="1"/>
          </p:cNvPicPr>
          <p:nvPr/>
        </p:nvPicPr>
        <p:blipFill>
          <a:blip r:embed="rId2"/>
          <a:stretch>
            <a:fillRect/>
          </a:stretch>
        </p:blipFill>
        <p:spPr>
          <a:xfrm>
            <a:off x="838200" y="2187018"/>
            <a:ext cx="3693226" cy="596885"/>
          </a:xfrm>
          <a:prstGeom prst="rect">
            <a:avLst/>
          </a:prstGeom>
        </p:spPr>
      </p:pic>
      <p:pic>
        <p:nvPicPr>
          <p:cNvPr id="8" name="圖片 7"/>
          <p:cNvPicPr>
            <a:picLocks noChangeAspect="1"/>
          </p:cNvPicPr>
          <p:nvPr/>
        </p:nvPicPr>
        <p:blipFill>
          <a:blip r:embed="rId3"/>
          <a:stretch>
            <a:fillRect/>
          </a:stretch>
        </p:blipFill>
        <p:spPr>
          <a:xfrm>
            <a:off x="338076" y="3240067"/>
            <a:ext cx="5545777" cy="1233936"/>
          </a:xfrm>
          <a:prstGeom prst="rect">
            <a:avLst/>
          </a:prstGeom>
        </p:spPr>
      </p:pic>
      <p:pic>
        <p:nvPicPr>
          <p:cNvPr id="11" name="圖片 10"/>
          <p:cNvPicPr>
            <a:picLocks noChangeAspect="1"/>
          </p:cNvPicPr>
          <p:nvPr/>
        </p:nvPicPr>
        <p:blipFill>
          <a:blip r:embed="rId4"/>
          <a:stretch>
            <a:fillRect/>
          </a:stretch>
        </p:blipFill>
        <p:spPr>
          <a:xfrm>
            <a:off x="6448504" y="1690688"/>
            <a:ext cx="4340645" cy="2783315"/>
          </a:xfrm>
          <a:prstGeom prst="rect">
            <a:avLst/>
          </a:prstGeom>
        </p:spPr>
      </p:pic>
      <p:pic>
        <p:nvPicPr>
          <p:cNvPr id="12" name="圖片 11"/>
          <p:cNvPicPr>
            <a:picLocks noChangeAspect="1"/>
          </p:cNvPicPr>
          <p:nvPr/>
        </p:nvPicPr>
        <p:blipFill>
          <a:blip r:embed="rId5"/>
          <a:stretch>
            <a:fillRect/>
          </a:stretch>
        </p:blipFill>
        <p:spPr>
          <a:xfrm>
            <a:off x="6927493" y="4978699"/>
            <a:ext cx="3382666" cy="1073215"/>
          </a:xfrm>
          <a:prstGeom prst="rect">
            <a:avLst/>
          </a:prstGeom>
        </p:spPr>
      </p:pic>
      <p:cxnSp>
        <p:nvCxnSpPr>
          <p:cNvPr id="5" name="Straight Connector 4"/>
          <p:cNvCxnSpPr>
            <a:stCxn id="24" idx="4"/>
          </p:cNvCxnSpPr>
          <p:nvPr/>
        </p:nvCxnSpPr>
        <p:spPr>
          <a:xfrm>
            <a:off x="8498479" y="4312900"/>
            <a:ext cx="62" cy="4134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25" idx="4"/>
          </p:cNvCxnSpPr>
          <p:nvPr/>
        </p:nvCxnSpPr>
        <p:spPr>
          <a:xfrm flipH="1">
            <a:off x="8645720" y="4252388"/>
            <a:ext cx="8283" cy="4739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23" idx="0"/>
          </p:cNvCxnSpPr>
          <p:nvPr/>
        </p:nvCxnSpPr>
        <p:spPr>
          <a:xfrm flipH="1">
            <a:off x="8337177" y="4131364"/>
            <a:ext cx="10604" cy="59498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853083" y="3667221"/>
            <a:ext cx="0" cy="10591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9" idx="4"/>
          </p:cNvCxnSpPr>
          <p:nvPr/>
        </p:nvCxnSpPr>
        <p:spPr>
          <a:xfrm flipH="1">
            <a:off x="7342095" y="3016251"/>
            <a:ext cx="13448" cy="17101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9143261" y="3434872"/>
            <a:ext cx="0" cy="129147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7" idx="0"/>
          </p:cNvCxnSpPr>
          <p:nvPr/>
        </p:nvCxnSpPr>
        <p:spPr>
          <a:xfrm>
            <a:off x="9654249" y="2283841"/>
            <a:ext cx="0" cy="24425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7295031" y="2895227"/>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800931" y="3667221"/>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287269" y="4131364"/>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437967" y="4191876"/>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593491" y="4131364"/>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82749" y="3374360"/>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593737" y="2283841"/>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9525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6055854" y="2522917"/>
            <a:ext cx="5259845" cy="3132822"/>
          </a:xfrm>
          <a:prstGeom prst="rect">
            <a:avLst/>
          </a:prstGeom>
        </p:spPr>
      </p:pic>
      <p:pic>
        <p:nvPicPr>
          <p:cNvPr id="6" name="Picture 5"/>
          <p:cNvPicPr>
            <a:picLocks noChangeAspect="1"/>
          </p:cNvPicPr>
          <p:nvPr/>
        </p:nvPicPr>
        <p:blipFill>
          <a:blip r:embed="rId3"/>
          <a:stretch>
            <a:fillRect/>
          </a:stretch>
        </p:blipFill>
        <p:spPr>
          <a:xfrm>
            <a:off x="6055854" y="1886179"/>
            <a:ext cx="4944031" cy="452198"/>
          </a:xfrm>
          <a:prstGeom prst="rect">
            <a:avLst/>
          </a:prstGeom>
        </p:spPr>
      </p:pic>
      <p:sp>
        <p:nvSpPr>
          <p:cNvPr id="10" name="標題 1"/>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en-US" altLang="zh-TW" dirty="0"/>
              <a:t>Cycle </a:t>
            </a:r>
            <a:r>
              <a:rPr kumimoji="1" lang="en-US" altLang="zh-TW" dirty="0" err="1"/>
              <a:t>Tunner</a:t>
            </a:r>
            <a:endParaRPr kumimoji="1" lang="zh-TW" altLang="en-US" dirty="0"/>
          </a:p>
        </p:txBody>
      </p:sp>
      <p:pic>
        <p:nvPicPr>
          <p:cNvPr id="13" name="圖片 2"/>
          <p:cNvPicPr>
            <a:picLocks noChangeAspect="1"/>
          </p:cNvPicPr>
          <p:nvPr/>
        </p:nvPicPr>
        <p:blipFill>
          <a:blip r:embed="rId4"/>
          <a:stretch>
            <a:fillRect/>
          </a:stretch>
        </p:blipFill>
        <p:spPr>
          <a:xfrm>
            <a:off x="313809" y="2522917"/>
            <a:ext cx="5519182" cy="2498655"/>
          </a:xfrm>
          <a:prstGeom prst="rect">
            <a:avLst/>
          </a:prstGeom>
        </p:spPr>
      </p:pic>
      <p:pic>
        <p:nvPicPr>
          <p:cNvPr id="11" name="Picture 10"/>
          <p:cNvPicPr>
            <a:picLocks noChangeAspect="1"/>
          </p:cNvPicPr>
          <p:nvPr/>
        </p:nvPicPr>
        <p:blipFill>
          <a:blip r:embed="rId5"/>
          <a:stretch>
            <a:fillRect/>
          </a:stretch>
        </p:blipFill>
        <p:spPr>
          <a:xfrm>
            <a:off x="6055854" y="5840279"/>
            <a:ext cx="2235200" cy="774700"/>
          </a:xfrm>
          <a:prstGeom prst="rect">
            <a:avLst/>
          </a:prstGeom>
        </p:spPr>
      </p:pic>
      <p:pic>
        <p:nvPicPr>
          <p:cNvPr id="2" name="Picture 1"/>
          <p:cNvPicPr>
            <a:picLocks noChangeAspect="1"/>
          </p:cNvPicPr>
          <p:nvPr/>
        </p:nvPicPr>
        <p:blipFill>
          <a:blip r:embed="rId6"/>
          <a:stretch>
            <a:fillRect/>
          </a:stretch>
        </p:blipFill>
        <p:spPr>
          <a:xfrm>
            <a:off x="873360" y="2112278"/>
            <a:ext cx="3405717" cy="361501"/>
          </a:xfrm>
          <a:prstGeom prst="rect">
            <a:avLst/>
          </a:prstGeom>
        </p:spPr>
      </p:pic>
      <p:sp>
        <p:nvSpPr>
          <p:cNvPr id="14" name="Oval 8"/>
          <p:cNvSpPr/>
          <p:nvPr/>
        </p:nvSpPr>
        <p:spPr>
          <a:xfrm>
            <a:off x="873361" y="4671892"/>
            <a:ext cx="234477" cy="2344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8"/>
          <p:cNvSpPr/>
          <p:nvPr/>
        </p:nvSpPr>
        <p:spPr>
          <a:xfrm>
            <a:off x="3438761" y="4252792"/>
            <a:ext cx="234477" cy="2344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542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64137" y="3957530"/>
            <a:ext cx="2832100" cy="660400"/>
          </a:xfrm>
          <a:prstGeom prst="rect">
            <a:avLst/>
          </a:prstGeom>
        </p:spPr>
      </p:pic>
      <p:pic>
        <p:nvPicPr>
          <p:cNvPr id="5" name="Picture 4"/>
          <p:cNvPicPr>
            <a:picLocks noChangeAspect="1"/>
          </p:cNvPicPr>
          <p:nvPr/>
        </p:nvPicPr>
        <p:blipFill>
          <a:blip r:embed="rId3"/>
          <a:stretch>
            <a:fillRect/>
          </a:stretch>
        </p:blipFill>
        <p:spPr>
          <a:xfrm>
            <a:off x="464137" y="4881997"/>
            <a:ext cx="2832100" cy="698500"/>
          </a:xfrm>
          <a:prstGeom prst="rect">
            <a:avLst/>
          </a:prstGeom>
        </p:spPr>
      </p:pic>
      <p:pic>
        <p:nvPicPr>
          <p:cNvPr id="6" name="Picture 5"/>
          <p:cNvPicPr>
            <a:picLocks noChangeAspect="1"/>
          </p:cNvPicPr>
          <p:nvPr/>
        </p:nvPicPr>
        <p:blipFill>
          <a:blip r:embed="rId4"/>
          <a:stretch>
            <a:fillRect/>
          </a:stretch>
        </p:blipFill>
        <p:spPr>
          <a:xfrm>
            <a:off x="1642013" y="5714374"/>
            <a:ext cx="5562600" cy="1003300"/>
          </a:xfrm>
          <a:prstGeom prst="rect">
            <a:avLst/>
          </a:prstGeom>
        </p:spPr>
      </p:pic>
      <p:pic>
        <p:nvPicPr>
          <p:cNvPr id="7" name="Picture 6"/>
          <p:cNvPicPr>
            <a:picLocks noChangeAspect="1"/>
          </p:cNvPicPr>
          <p:nvPr/>
        </p:nvPicPr>
        <p:blipFill>
          <a:blip r:embed="rId5"/>
          <a:stretch>
            <a:fillRect/>
          </a:stretch>
        </p:blipFill>
        <p:spPr>
          <a:xfrm>
            <a:off x="384713" y="6038224"/>
            <a:ext cx="1257300" cy="355600"/>
          </a:xfrm>
          <a:prstGeom prst="rect">
            <a:avLst/>
          </a:prstGeom>
        </p:spPr>
      </p:pic>
    </p:spTree>
    <p:extLst>
      <p:ext uri="{BB962C8B-B14F-4D97-AF65-F5344CB8AC3E}">
        <p14:creationId xmlns:p14="http://schemas.microsoft.com/office/powerpoint/2010/main" val="1655845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en-US" altLang="zh-TW" dirty="0"/>
              <a:t>Cycle Shift</a:t>
            </a:r>
            <a:endParaRPr kumimoji="1" lang="zh-TW" altLang="en-US" dirty="0"/>
          </a:p>
        </p:txBody>
      </p:sp>
      <p:pic>
        <p:nvPicPr>
          <p:cNvPr id="8" name="Content Placeholder 3"/>
          <p:cNvPicPr>
            <a:picLocks noGrp="1" noChangeAspect="1"/>
          </p:cNvPicPr>
          <p:nvPr>
            <p:ph idx="1"/>
          </p:nvPr>
        </p:nvPicPr>
        <p:blipFill>
          <a:blip r:embed="rId2"/>
          <a:stretch>
            <a:fillRect/>
          </a:stretch>
        </p:blipFill>
        <p:spPr>
          <a:xfrm>
            <a:off x="425197" y="1516062"/>
            <a:ext cx="5254837" cy="4351338"/>
          </a:xfrm>
          <a:prstGeom prst="rect">
            <a:avLst/>
          </a:prstGeom>
        </p:spPr>
      </p:pic>
      <p:pic>
        <p:nvPicPr>
          <p:cNvPr id="9" name="Picture 8"/>
          <p:cNvPicPr>
            <a:picLocks noChangeAspect="1"/>
          </p:cNvPicPr>
          <p:nvPr/>
        </p:nvPicPr>
        <p:blipFill>
          <a:blip r:embed="rId3"/>
          <a:stretch>
            <a:fillRect/>
          </a:stretch>
        </p:blipFill>
        <p:spPr>
          <a:xfrm>
            <a:off x="5680034" y="1498600"/>
            <a:ext cx="5673766" cy="4368800"/>
          </a:xfrm>
          <a:prstGeom prst="rect">
            <a:avLst/>
          </a:prstGeom>
        </p:spPr>
      </p:pic>
    </p:spTree>
    <p:extLst>
      <p:ext uri="{BB962C8B-B14F-4D97-AF65-F5344CB8AC3E}">
        <p14:creationId xmlns:p14="http://schemas.microsoft.com/office/powerpoint/2010/main" val="1091306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838200" y="2678112"/>
            <a:ext cx="6581522" cy="1722437"/>
          </a:xfrm>
          <a:prstGeom prst="rect">
            <a:avLst/>
          </a:prstGeom>
        </p:spPr>
      </p:pic>
      <p:pic>
        <p:nvPicPr>
          <p:cNvPr id="7" name="Picture 6"/>
          <p:cNvPicPr>
            <a:picLocks noChangeAspect="1"/>
          </p:cNvPicPr>
          <p:nvPr/>
        </p:nvPicPr>
        <p:blipFill>
          <a:blip r:embed="rId3"/>
          <a:stretch>
            <a:fillRect/>
          </a:stretch>
        </p:blipFill>
        <p:spPr>
          <a:xfrm>
            <a:off x="838200" y="4881215"/>
            <a:ext cx="5086351" cy="1013516"/>
          </a:xfrm>
          <a:prstGeom prst="rect">
            <a:avLst/>
          </a:prstGeom>
        </p:spPr>
      </p:pic>
      <p:sp>
        <p:nvSpPr>
          <p:cNvPr id="10" name="標題 1"/>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en-US" altLang="zh-TW" dirty="0"/>
              <a:t>Cycle Shift</a:t>
            </a:r>
            <a:endParaRPr kumimoji="1" lang="zh-TW" altLang="en-US" dirty="0"/>
          </a:p>
        </p:txBody>
      </p:sp>
    </p:spTree>
    <p:extLst>
      <p:ext uri="{BB962C8B-B14F-4D97-AF65-F5344CB8AC3E}">
        <p14:creationId xmlns:p14="http://schemas.microsoft.com/office/powerpoint/2010/main" val="456353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4199317" y="1811712"/>
            <a:ext cx="6836166" cy="3094883"/>
          </a:xfrm>
          <a:prstGeom prst="rect">
            <a:avLst/>
          </a:prstGeom>
        </p:spPr>
      </p:pic>
      <p:sp>
        <p:nvSpPr>
          <p:cNvPr id="2" name="標題 1"/>
          <p:cNvSpPr>
            <a:spLocks noGrp="1"/>
          </p:cNvSpPr>
          <p:nvPr>
            <p:ph type="title"/>
          </p:nvPr>
        </p:nvSpPr>
        <p:spPr/>
        <p:txBody>
          <a:bodyPr/>
          <a:lstStyle/>
          <a:p>
            <a:pPr algn="ctr"/>
            <a:r>
              <a:rPr lang="en-US" altLang="zh-TW" dirty="0"/>
              <a:t>Adaptive Network Fuzzy Inference System (ANFIS)</a:t>
            </a:r>
            <a:endParaRPr lang="zh-TW" altLang="en-US" dirty="0"/>
          </a:p>
        </p:txBody>
      </p:sp>
      <p:sp>
        <p:nvSpPr>
          <p:cNvPr id="6" name="Oval 8"/>
          <p:cNvSpPr/>
          <p:nvPr/>
        </p:nvSpPr>
        <p:spPr>
          <a:xfrm>
            <a:off x="8124034" y="4094450"/>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p:cNvSpPr/>
          <p:nvPr/>
        </p:nvSpPr>
        <p:spPr>
          <a:xfrm>
            <a:off x="9885841" y="1917607"/>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8"/>
          <p:cNvSpPr/>
          <p:nvPr/>
        </p:nvSpPr>
        <p:spPr>
          <a:xfrm>
            <a:off x="5580737" y="3973426"/>
            <a:ext cx="121024" cy="12102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494845" y="2619088"/>
            <a:ext cx="121024" cy="12102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8"/>
          <p:cNvSpPr/>
          <p:nvPr/>
        </p:nvSpPr>
        <p:spPr>
          <a:xfrm>
            <a:off x="7375352" y="3359153"/>
            <a:ext cx="121024" cy="121024"/>
          </a:xfrm>
          <a:prstGeom prst="ellipse">
            <a:avLst/>
          </a:prstGeom>
          <a:solidFill>
            <a:schemeClr val="accent5">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線單箭頭接點 10"/>
          <p:cNvCxnSpPr>
            <a:cxnSpLocks/>
          </p:cNvCxnSpPr>
          <p:nvPr/>
        </p:nvCxnSpPr>
        <p:spPr>
          <a:xfrm flipV="1">
            <a:off x="5701761" y="3516216"/>
            <a:ext cx="1673591" cy="51772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cxnSpLocks/>
          </p:cNvCxnSpPr>
          <p:nvPr/>
        </p:nvCxnSpPr>
        <p:spPr>
          <a:xfrm>
            <a:off x="6586445" y="2679600"/>
            <a:ext cx="788907" cy="6795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cxnSpLocks/>
          </p:cNvCxnSpPr>
          <p:nvPr/>
        </p:nvCxnSpPr>
        <p:spPr>
          <a:xfrm>
            <a:off x="7496376" y="3516216"/>
            <a:ext cx="627658" cy="57823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2" name="圖片 21"/>
          <p:cNvPicPr>
            <a:picLocks noChangeAspect="1"/>
          </p:cNvPicPr>
          <p:nvPr/>
        </p:nvPicPr>
        <p:blipFill>
          <a:blip r:embed="rId3"/>
          <a:stretch>
            <a:fillRect/>
          </a:stretch>
        </p:blipFill>
        <p:spPr>
          <a:xfrm>
            <a:off x="139018" y="2386575"/>
            <a:ext cx="3872425" cy="1093602"/>
          </a:xfrm>
          <a:prstGeom prst="rect">
            <a:avLst/>
          </a:prstGeom>
        </p:spPr>
      </p:pic>
      <p:pic>
        <p:nvPicPr>
          <p:cNvPr id="23" name="圖片 22"/>
          <p:cNvPicPr>
            <a:picLocks noChangeAspect="1"/>
          </p:cNvPicPr>
          <p:nvPr/>
        </p:nvPicPr>
        <p:blipFill>
          <a:blip r:embed="rId4"/>
          <a:stretch>
            <a:fillRect/>
          </a:stretch>
        </p:blipFill>
        <p:spPr>
          <a:xfrm>
            <a:off x="151920" y="4015595"/>
            <a:ext cx="3195714" cy="798929"/>
          </a:xfrm>
          <a:prstGeom prst="rect">
            <a:avLst/>
          </a:prstGeom>
        </p:spPr>
      </p:pic>
      <p:pic>
        <p:nvPicPr>
          <p:cNvPr id="24" name="圖片 23"/>
          <p:cNvPicPr>
            <a:picLocks noChangeAspect="1"/>
          </p:cNvPicPr>
          <p:nvPr/>
        </p:nvPicPr>
        <p:blipFill>
          <a:blip r:embed="rId5"/>
          <a:stretch>
            <a:fillRect/>
          </a:stretch>
        </p:blipFill>
        <p:spPr>
          <a:xfrm>
            <a:off x="151920" y="5076845"/>
            <a:ext cx="3064509" cy="340501"/>
          </a:xfrm>
          <a:prstGeom prst="rect">
            <a:avLst/>
          </a:prstGeom>
        </p:spPr>
      </p:pic>
    </p:spTree>
    <p:extLst>
      <p:ext uri="{BB962C8B-B14F-4D97-AF65-F5344CB8AC3E}">
        <p14:creationId xmlns:p14="http://schemas.microsoft.com/office/powerpoint/2010/main" val="3150422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4199317" y="1811712"/>
            <a:ext cx="6836166" cy="3094883"/>
          </a:xfrm>
          <a:prstGeom prst="rect">
            <a:avLst/>
          </a:prstGeom>
        </p:spPr>
      </p:pic>
      <p:sp>
        <p:nvSpPr>
          <p:cNvPr id="2" name="標題 1"/>
          <p:cNvSpPr>
            <a:spLocks noGrp="1"/>
          </p:cNvSpPr>
          <p:nvPr>
            <p:ph type="title"/>
          </p:nvPr>
        </p:nvSpPr>
        <p:spPr/>
        <p:txBody>
          <a:bodyPr/>
          <a:lstStyle/>
          <a:p>
            <a:pPr algn="ctr"/>
            <a:r>
              <a:rPr lang="en-US" altLang="zh-TW" dirty="0"/>
              <a:t>Adaptive Network Fuzzy Inference System (ANFIS)</a:t>
            </a:r>
            <a:endParaRPr lang="zh-TW" altLang="en-US" dirty="0"/>
          </a:p>
        </p:txBody>
      </p:sp>
      <p:sp>
        <p:nvSpPr>
          <p:cNvPr id="7" name="Oval 8"/>
          <p:cNvSpPr/>
          <p:nvPr/>
        </p:nvSpPr>
        <p:spPr>
          <a:xfrm>
            <a:off x="9885841" y="1917607"/>
            <a:ext cx="121024" cy="12102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8"/>
          <p:cNvSpPr/>
          <p:nvPr/>
        </p:nvSpPr>
        <p:spPr>
          <a:xfrm>
            <a:off x="6828493" y="2518234"/>
            <a:ext cx="121024" cy="12102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8098195" y="4076107"/>
            <a:ext cx="121024" cy="12102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8"/>
          <p:cNvSpPr/>
          <p:nvPr/>
        </p:nvSpPr>
        <p:spPr>
          <a:xfrm>
            <a:off x="8709576" y="3338859"/>
            <a:ext cx="121024" cy="121024"/>
          </a:xfrm>
          <a:prstGeom prst="ellipse">
            <a:avLst/>
          </a:prstGeom>
          <a:solidFill>
            <a:schemeClr val="accent5">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直線單箭頭接點 10"/>
          <p:cNvCxnSpPr>
            <a:cxnSpLocks/>
            <a:endCxn id="7" idx="3"/>
          </p:cNvCxnSpPr>
          <p:nvPr/>
        </p:nvCxnSpPr>
        <p:spPr>
          <a:xfrm flipV="1">
            <a:off x="8897450" y="2020907"/>
            <a:ext cx="1006115" cy="13179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cxnSpLocks/>
          </p:cNvCxnSpPr>
          <p:nvPr/>
        </p:nvCxnSpPr>
        <p:spPr>
          <a:xfrm flipH="1" flipV="1">
            <a:off x="6949517" y="2578747"/>
            <a:ext cx="1760059" cy="76659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cxnSpLocks/>
            <a:endCxn id="9" idx="7"/>
          </p:cNvCxnSpPr>
          <p:nvPr/>
        </p:nvCxnSpPr>
        <p:spPr>
          <a:xfrm flipH="1">
            <a:off x="8201495" y="3448644"/>
            <a:ext cx="508082" cy="6451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2" name="圖片 21"/>
          <p:cNvPicPr>
            <a:picLocks noChangeAspect="1"/>
          </p:cNvPicPr>
          <p:nvPr/>
        </p:nvPicPr>
        <p:blipFill>
          <a:blip r:embed="rId3"/>
          <a:stretch>
            <a:fillRect/>
          </a:stretch>
        </p:blipFill>
        <p:spPr>
          <a:xfrm>
            <a:off x="139018" y="2386575"/>
            <a:ext cx="3872425" cy="1093602"/>
          </a:xfrm>
          <a:prstGeom prst="rect">
            <a:avLst/>
          </a:prstGeom>
        </p:spPr>
      </p:pic>
      <p:pic>
        <p:nvPicPr>
          <p:cNvPr id="23" name="圖片 22"/>
          <p:cNvPicPr>
            <a:picLocks noChangeAspect="1"/>
          </p:cNvPicPr>
          <p:nvPr/>
        </p:nvPicPr>
        <p:blipFill>
          <a:blip r:embed="rId4"/>
          <a:stretch>
            <a:fillRect/>
          </a:stretch>
        </p:blipFill>
        <p:spPr>
          <a:xfrm>
            <a:off x="151920" y="4015595"/>
            <a:ext cx="3195714" cy="798929"/>
          </a:xfrm>
          <a:prstGeom prst="rect">
            <a:avLst/>
          </a:prstGeom>
        </p:spPr>
      </p:pic>
      <p:pic>
        <p:nvPicPr>
          <p:cNvPr id="24" name="圖片 23"/>
          <p:cNvPicPr>
            <a:picLocks noChangeAspect="1"/>
          </p:cNvPicPr>
          <p:nvPr/>
        </p:nvPicPr>
        <p:blipFill>
          <a:blip r:embed="rId5"/>
          <a:stretch>
            <a:fillRect/>
          </a:stretch>
        </p:blipFill>
        <p:spPr>
          <a:xfrm>
            <a:off x="151920" y="5076845"/>
            <a:ext cx="3064509" cy="340501"/>
          </a:xfrm>
          <a:prstGeom prst="rect">
            <a:avLst/>
          </a:prstGeom>
        </p:spPr>
      </p:pic>
    </p:spTree>
    <p:extLst>
      <p:ext uri="{BB962C8B-B14F-4D97-AF65-F5344CB8AC3E}">
        <p14:creationId xmlns:p14="http://schemas.microsoft.com/office/powerpoint/2010/main" val="1629924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Learning to trade </a:t>
            </a:r>
          </a:p>
        </p:txBody>
      </p:sp>
      <p:pic>
        <p:nvPicPr>
          <p:cNvPr id="4" name="Content Placeholder 3"/>
          <p:cNvPicPr>
            <a:picLocks noGrp="1" noChangeAspect="1"/>
          </p:cNvPicPr>
          <p:nvPr>
            <p:ph idx="1"/>
          </p:nvPr>
        </p:nvPicPr>
        <p:blipFill>
          <a:blip r:embed="rId3"/>
          <a:stretch>
            <a:fillRect/>
          </a:stretch>
        </p:blipFill>
        <p:spPr>
          <a:xfrm>
            <a:off x="838200" y="1734740"/>
            <a:ext cx="6956388" cy="943239"/>
          </a:xfrm>
          <a:prstGeom prst="rect">
            <a:avLst/>
          </a:prstGeom>
        </p:spPr>
      </p:pic>
      <p:pic>
        <p:nvPicPr>
          <p:cNvPr id="5" name="Picture 4"/>
          <p:cNvPicPr>
            <a:picLocks noChangeAspect="1"/>
          </p:cNvPicPr>
          <p:nvPr/>
        </p:nvPicPr>
        <p:blipFill>
          <a:blip r:embed="rId4"/>
          <a:stretch>
            <a:fillRect/>
          </a:stretch>
        </p:blipFill>
        <p:spPr>
          <a:xfrm>
            <a:off x="7794588" y="1990458"/>
            <a:ext cx="3203970" cy="484321"/>
          </a:xfrm>
          <a:prstGeom prst="rect">
            <a:avLst/>
          </a:prstGeom>
        </p:spPr>
      </p:pic>
      <p:pic>
        <p:nvPicPr>
          <p:cNvPr id="6" name="Picture 5"/>
          <p:cNvPicPr>
            <a:picLocks noChangeAspect="1"/>
          </p:cNvPicPr>
          <p:nvPr/>
        </p:nvPicPr>
        <p:blipFill>
          <a:blip r:embed="rId5"/>
          <a:stretch>
            <a:fillRect/>
          </a:stretch>
        </p:blipFill>
        <p:spPr>
          <a:xfrm>
            <a:off x="838200" y="2940659"/>
            <a:ext cx="7057040" cy="408118"/>
          </a:xfrm>
          <a:prstGeom prst="rect">
            <a:avLst/>
          </a:prstGeom>
        </p:spPr>
      </p:pic>
      <p:pic>
        <p:nvPicPr>
          <p:cNvPr id="8" name="圖片 2"/>
          <p:cNvPicPr>
            <a:picLocks noChangeAspect="1"/>
          </p:cNvPicPr>
          <p:nvPr/>
        </p:nvPicPr>
        <p:blipFill>
          <a:blip r:embed="rId6"/>
          <a:stretch>
            <a:fillRect/>
          </a:stretch>
        </p:blipFill>
        <p:spPr>
          <a:xfrm>
            <a:off x="4376505" y="3763117"/>
            <a:ext cx="6836166" cy="3094883"/>
          </a:xfrm>
          <a:prstGeom prst="rect">
            <a:avLst/>
          </a:prstGeom>
        </p:spPr>
      </p:pic>
      <p:sp>
        <p:nvSpPr>
          <p:cNvPr id="9" name="Oval 8"/>
          <p:cNvSpPr>
            <a:spLocks/>
          </p:cNvSpPr>
          <p:nvPr/>
        </p:nvSpPr>
        <p:spPr>
          <a:xfrm>
            <a:off x="8656458" y="5058903"/>
            <a:ext cx="180000" cy="180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直線單箭頭接點 14"/>
          <p:cNvCxnSpPr>
            <a:cxnSpLocks/>
            <a:stCxn id="9" idx="2"/>
          </p:cNvCxnSpPr>
          <p:nvPr/>
        </p:nvCxnSpPr>
        <p:spPr>
          <a:xfrm flipH="1" flipV="1">
            <a:off x="7581600" y="4961049"/>
            <a:ext cx="1074858" cy="18785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4"/>
          <p:cNvCxnSpPr>
            <a:cxnSpLocks/>
            <a:stCxn id="9" idx="2"/>
          </p:cNvCxnSpPr>
          <p:nvPr/>
        </p:nvCxnSpPr>
        <p:spPr>
          <a:xfrm flipH="1">
            <a:off x="6096002" y="5148903"/>
            <a:ext cx="2560456" cy="463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14"/>
          <p:cNvCxnSpPr>
            <a:cxnSpLocks/>
          </p:cNvCxnSpPr>
          <p:nvPr/>
        </p:nvCxnSpPr>
        <p:spPr>
          <a:xfrm flipH="1" flipV="1">
            <a:off x="4932000" y="4980775"/>
            <a:ext cx="3725240" cy="21627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3" name="Oval 32"/>
          <p:cNvSpPr>
            <a:spLocks/>
          </p:cNvSpPr>
          <p:nvPr/>
        </p:nvSpPr>
        <p:spPr>
          <a:xfrm>
            <a:off x="7402382" y="4861186"/>
            <a:ext cx="180000" cy="180000"/>
          </a:xfrm>
          <a:prstGeom prst="ellips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4" name="Oval 33"/>
          <p:cNvSpPr>
            <a:spLocks/>
          </p:cNvSpPr>
          <p:nvPr/>
        </p:nvSpPr>
        <p:spPr>
          <a:xfrm>
            <a:off x="5986800" y="5126772"/>
            <a:ext cx="180000" cy="180000"/>
          </a:xfrm>
          <a:prstGeom prst="ellips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6" name="Oval 35"/>
          <p:cNvSpPr>
            <a:spLocks/>
          </p:cNvSpPr>
          <p:nvPr/>
        </p:nvSpPr>
        <p:spPr>
          <a:xfrm>
            <a:off x="4782833" y="4874917"/>
            <a:ext cx="180000" cy="180000"/>
          </a:xfrm>
          <a:prstGeom prst="ellips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9" name="TextBox 38"/>
          <p:cNvSpPr txBox="1"/>
          <p:nvPr/>
        </p:nvSpPr>
        <p:spPr>
          <a:xfrm>
            <a:off x="8092813" y="4642165"/>
            <a:ext cx="1119922" cy="369332"/>
          </a:xfrm>
          <a:prstGeom prst="rect">
            <a:avLst/>
          </a:prstGeom>
          <a:noFill/>
        </p:spPr>
        <p:txBody>
          <a:bodyPr wrap="none" rtlCol="0">
            <a:spAutoFit/>
          </a:bodyPr>
          <a:lstStyle/>
          <a:p>
            <a:r>
              <a:rPr lang="en-US" dirty="0" err="1"/>
              <a:t>State</a:t>
            </a:r>
            <a:r>
              <a:rPr lang="en-US" baseline="-25000" dirty="0" err="1"/>
              <a:t>current</a:t>
            </a:r>
            <a:endParaRPr lang="en-US" baseline="-25000" dirty="0"/>
          </a:p>
        </p:txBody>
      </p:sp>
      <p:sp>
        <p:nvSpPr>
          <p:cNvPr id="40" name="TextBox 39"/>
          <p:cNvSpPr txBox="1"/>
          <p:nvPr/>
        </p:nvSpPr>
        <p:spPr>
          <a:xfrm>
            <a:off x="6801745" y="4108977"/>
            <a:ext cx="1317284" cy="369332"/>
          </a:xfrm>
          <a:prstGeom prst="rect">
            <a:avLst/>
          </a:prstGeom>
          <a:noFill/>
        </p:spPr>
        <p:txBody>
          <a:bodyPr wrap="none" rtlCol="0">
            <a:spAutoFit/>
          </a:bodyPr>
          <a:lstStyle/>
          <a:p>
            <a:r>
              <a:rPr lang="en-US" dirty="0"/>
              <a:t>Past Trend</a:t>
            </a:r>
            <a:r>
              <a:rPr lang="en-US" baseline="-25000" dirty="0"/>
              <a:t>30</a:t>
            </a:r>
          </a:p>
        </p:txBody>
      </p:sp>
      <p:sp>
        <p:nvSpPr>
          <p:cNvPr id="41" name="TextBox 40"/>
          <p:cNvSpPr txBox="1"/>
          <p:nvPr/>
        </p:nvSpPr>
        <p:spPr>
          <a:xfrm>
            <a:off x="5494860" y="4120495"/>
            <a:ext cx="1317284" cy="369332"/>
          </a:xfrm>
          <a:prstGeom prst="rect">
            <a:avLst/>
          </a:prstGeom>
          <a:noFill/>
        </p:spPr>
        <p:txBody>
          <a:bodyPr wrap="none" rtlCol="0">
            <a:spAutoFit/>
          </a:bodyPr>
          <a:lstStyle/>
          <a:p>
            <a:r>
              <a:rPr lang="en-US"/>
              <a:t>Past Trend</a:t>
            </a:r>
            <a:r>
              <a:rPr lang="en-US" baseline="-25000"/>
              <a:t>70</a:t>
            </a:r>
            <a:endParaRPr lang="en-US" baseline="-25000" dirty="0"/>
          </a:p>
        </p:txBody>
      </p:sp>
      <p:sp>
        <p:nvSpPr>
          <p:cNvPr id="42" name="TextBox 41"/>
          <p:cNvSpPr txBox="1"/>
          <p:nvPr/>
        </p:nvSpPr>
        <p:spPr>
          <a:xfrm>
            <a:off x="4214191" y="4089984"/>
            <a:ext cx="1317284" cy="553998"/>
          </a:xfrm>
          <a:prstGeom prst="rect">
            <a:avLst/>
          </a:prstGeom>
          <a:noFill/>
        </p:spPr>
        <p:txBody>
          <a:bodyPr wrap="none" rtlCol="0">
            <a:spAutoFit/>
          </a:bodyPr>
          <a:lstStyle/>
          <a:p>
            <a:r>
              <a:rPr lang="en-US" dirty="0"/>
              <a:t>Past Trend</a:t>
            </a:r>
            <a:r>
              <a:rPr lang="en-US" baseline="-25000" dirty="0"/>
              <a:t>90</a:t>
            </a:r>
          </a:p>
          <a:p>
            <a:endParaRPr lang="en-US" baseline="-25000" dirty="0"/>
          </a:p>
        </p:txBody>
      </p:sp>
      <p:cxnSp>
        <p:nvCxnSpPr>
          <p:cNvPr id="43" name="直線單箭頭接點 14"/>
          <p:cNvCxnSpPr>
            <a:cxnSpLocks/>
            <a:endCxn id="36" idx="0"/>
          </p:cNvCxnSpPr>
          <p:nvPr/>
        </p:nvCxnSpPr>
        <p:spPr>
          <a:xfrm flipH="1">
            <a:off x="4872833" y="4392690"/>
            <a:ext cx="4894" cy="48222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14"/>
          <p:cNvCxnSpPr>
            <a:cxnSpLocks/>
            <a:endCxn id="34" idx="0"/>
          </p:cNvCxnSpPr>
          <p:nvPr/>
        </p:nvCxnSpPr>
        <p:spPr>
          <a:xfrm flipH="1">
            <a:off x="6076800" y="4468959"/>
            <a:ext cx="4894" cy="657813"/>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14"/>
          <p:cNvCxnSpPr>
            <a:cxnSpLocks/>
          </p:cNvCxnSpPr>
          <p:nvPr/>
        </p:nvCxnSpPr>
        <p:spPr>
          <a:xfrm flipH="1">
            <a:off x="7487488" y="4403116"/>
            <a:ext cx="4894" cy="48222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842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Learning to buy</a:t>
            </a:r>
          </a:p>
        </p:txBody>
      </p:sp>
      <p:pic>
        <p:nvPicPr>
          <p:cNvPr id="4" name="Content Placeholder 3"/>
          <p:cNvPicPr>
            <a:picLocks noGrp="1" noChangeAspect="1"/>
          </p:cNvPicPr>
          <p:nvPr>
            <p:ph idx="1"/>
          </p:nvPr>
        </p:nvPicPr>
        <p:blipFill>
          <a:blip r:embed="rId3"/>
          <a:stretch>
            <a:fillRect/>
          </a:stretch>
        </p:blipFill>
        <p:spPr>
          <a:xfrm>
            <a:off x="838200" y="1734740"/>
            <a:ext cx="6956388" cy="943239"/>
          </a:xfrm>
          <a:prstGeom prst="rect">
            <a:avLst/>
          </a:prstGeom>
        </p:spPr>
      </p:pic>
      <p:pic>
        <p:nvPicPr>
          <p:cNvPr id="5" name="Picture 4"/>
          <p:cNvPicPr>
            <a:picLocks noChangeAspect="1"/>
          </p:cNvPicPr>
          <p:nvPr/>
        </p:nvPicPr>
        <p:blipFill>
          <a:blip r:embed="rId4"/>
          <a:stretch>
            <a:fillRect/>
          </a:stretch>
        </p:blipFill>
        <p:spPr>
          <a:xfrm>
            <a:off x="7794588" y="1990458"/>
            <a:ext cx="3203970" cy="484321"/>
          </a:xfrm>
          <a:prstGeom prst="rect">
            <a:avLst/>
          </a:prstGeom>
        </p:spPr>
      </p:pic>
      <p:pic>
        <p:nvPicPr>
          <p:cNvPr id="6" name="Picture 5"/>
          <p:cNvPicPr>
            <a:picLocks noChangeAspect="1"/>
          </p:cNvPicPr>
          <p:nvPr/>
        </p:nvPicPr>
        <p:blipFill>
          <a:blip r:embed="rId5"/>
          <a:stretch>
            <a:fillRect/>
          </a:stretch>
        </p:blipFill>
        <p:spPr>
          <a:xfrm>
            <a:off x="838200" y="2940659"/>
            <a:ext cx="7057040" cy="408118"/>
          </a:xfrm>
          <a:prstGeom prst="rect">
            <a:avLst/>
          </a:prstGeom>
        </p:spPr>
      </p:pic>
      <p:pic>
        <p:nvPicPr>
          <p:cNvPr id="8" name="圖片 2"/>
          <p:cNvPicPr>
            <a:picLocks noChangeAspect="1"/>
          </p:cNvPicPr>
          <p:nvPr/>
        </p:nvPicPr>
        <p:blipFill>
          <a:blip r:embed="rId6"/>
          <a:stretch>
            <a:fillRect/>
          </a:stretch>
        </p:blipFill>
        <p:spPr>
          <a:xfrm>
            <a:off x="4376505" y="3763117"/>
            <a:ext cx="6836166" cy="3094883"/>
          </a:xfrm>
          <a:prstGeom prst="rect">
            <a:avLst/>
          </a:prstGeom>
        </p:spPr>
      </p:pic>
      <p:sp>
        <p:nvSpPr>
          <p:cNvPr id="9" name="Oval 8"/>
          <p:cNvSpPr/>
          <p:nvPr/>
        </p:nvSpPr>
        <p:spPr>
          <a:xfrm>
            <a:off x="6862358" y="4301830"/>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0130492" y="3763841"/>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722871" y="5111437"/>
            <a:ext cx="511679" cy="369332"/>
          </a:xfrm>
          <a:prstGeom prst="rect">
            <a:avLst/>
          </a:prstGeom>
          <a:noFill/>
        </p:spPr>
        <p:txBody>
          <a:bodyPr wrap="none" rtlCol="0">
            <a:spAutoFit/>
          </a:bodyPr>
          <a:lstStyle/>
          <a:p>
            <a:r>
              <a:rPr lang="en-US" dirty="0"/>
              <a:t>Sell</a:t>
            </a:r>
          </a:p>
        </p:txBody>
      </p:sp>
      <p:sp>
        <p:nvSpPr>
          <p:cNvPr id="12" name="TextBox 11"/>
          <p:cNvSpPr txBox="1"/>
          <p:nvPr/>
        </p:nvSpPr>
        <p:spPr>
          <a:xfrm>
            <a:off x="9991005" y="4778649"/>
            <a:ext cx="511679" cy="369332"/>
          </a:xfrm>
          <a:prstGeom prst="rect">
            <a:avLst/>
          </a:prstGeom>
          <a:noFill/>
        </p:spPr>
        <p:txBody>
          <a:bodyPr wrap="none" rtlCol="0">
            <a:spAutoFit/>
          </a:bodyPr>
          <a:lstStyle/>
          <a:p>
            <a:r>
              <a:rPr lang="en-US" dirty="0"/>
              <a:t>Sell</a:t>
            </a:r>
          </a:p>
        </p:txBody>
      </p:sp>
      <p:sp>
        <p:nvSpPr>
          <p:cNvPr id="14" name="TextBox 13"/>
          <p:cNvSpPr txBox="1"/>
          <p:nvPr/>
        </p:nvSpPr>
        <p:spPr>
          <a:xfrm>
            <a:off x="5434518" y="4941226"/>
            <a:ext cx="524503" cy="369332"/>
          </a:xfrm>
          <a:prstGeom prst="rect">
            <a:avLst/>
          </a:prstGeom>
          <a:noFill/>
        </p:spPr>
        <p:txBody>
          <a:bodyPr wrap="none" rtlCol="0">
            <a:spAutoFit/>
          </a:bodyPr>
          <a:lstStyle/>
          <a:p>
            <a:r>
              <a:rPr lang="en-US" dirty="0"/>
              <a:t>Bye</a:t>
            </a:r>
          </a:p>
        </p:txBody>
      </p:sp>
      <p:sp>
        <p:nvSpPr>
          <p:cNvPr id="15" name="TextBox 14"/>
          <p:cNvSpPr txBox="1"/>
          <p:nvPr/>
        </p:nvSpPr>
        <p:spPr>
          <a:xfrm>
            <a:off x="9178159" y="4500251"/>
            <a:ext cx="524503" cy="369332"/>
          </a:xfrm>
          <a:prstGeom prst="rect">
            <a:avLst/>
          </a:prstGeom>
          <a:noFill/>
        </p:spPr>
        <p:txBody>
          <a:bodyPr wrap="none" rtlCol="0">
            <a:spAutoFit/>
          </a:bodyPr>
          <a:lstStyle/>
          <a:p>
            <a:r>
              <a:rPr lang="en-US" dirty="0"/>
              <a:t>Bye</a:t>
            </a:r>
          </a:p>
        </p:txBody>
      </p:sp>
      <p:sp>
        <p:nvSpPr>
          <p:cNvPr id="16" name="Oval 15"/>
          <p:cNvSpPr/>
          <p:nvPr/>
        </p:nvSpPr>
        <p:spPr>
          <a:xfrm>
            <a:off x="5580415" y="5345322"/>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8308427" y="5067955"/>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779556" y="4855888"/>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633657" y="4243659"/>
            <a:ext cx="524503" cy="369332"/>
          </a:xfrm>
          <a:prstGeom prst="rect">
            <a:avLst/>
          </a:prstGeom>
          <a:noFill/>
        </p:spPr>
        <p:txBody>
          <a:bodyPr wrap="none" rtlCol="0">
            <a:spAutoFit/>
          </a:bodyPr>
          <a:lstStyle/>
          <a:p>
            <a:r>
              <a:rPr lang="en-US" dirty="0"/>
              <a:t>Bye</a:t>
            </a:r>
          </a:p>
        </p:txBody>
      </p:sp>
      <p:sp>
        <p:nvSpPr>
          <p:cNvPr id="22" name="Oval 21"/>
          <p:cNvSpPr/>
          <p:nvPr/>
        </p:nvSpPr>
        <p:spPr>
          <a:xfrm>
            <a:off x="6863563" y="4877087"/>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直線單箭頭接點 14"/>
          <p:cNvCxnSpPr>
            <a:cxnSpLocks/>
            <a:stCxn id="20" idx="6"/>
            <a:endCxn id="22" idx="2"/>
          </p:cNvCxnSpPr>
          <p:nvPr/>
        </p:nvCxnSpPr>
        <p:spPr>
          <a:xfrm>
            <a:off x="5012263" y="4991335"/>
            <a:ext cx="1851300" cy="211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14"/>
          <p:cNvCxnSpPr>
            <a:cxnSpLocks/>
            <a:endCxn id="22" idx="3"/>
          </p:cNvCxnSpPr>
          <p:nvPr/>
        </p:nvCxnSpPr>
        <p:spPr>
          <a:xfrm flipV="1">
            <a:off x="5813122" y="5108309"/>
            <a:ext cx="1084520" cy="37246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14"/>
          <p:cNvCxnSpPr>
            <a:cxnSpLocks/>
            <a:stCxn id="29" idx="6"/>
            <a:endCxn id="33" idx="3"/>
          </p:cNvCxnSpPr>
          <p:nvPr/>
        </p:nvCxnSpPr>
        <p:spPr>
          <a:xfrm flipV="1">
            <a:off x="9556765" y="4708766"/>
            <a:ext cx="607806" cy="35918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9324058" y="4932508"/>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8186809" y="4662519"/>
            <a:ext cx="524503" cy="369332"/>
          </a:xfrm>
          <a:prstGeom prst="rect">
            <a:avLst/>
          </a:prstGeom>
          <a:noFill/>
        </p:spPr>
        <p:txBody>
          <a:bodyPr wrap="none" rtlCol="0">
            <a:spAutoFit/>
          </a:bodyPr>
          <a:lstStyle/>
          <a:p>
            <a:r>
              <a:rPr lang="en-US" dirty="0"/>
              <a:t>Bye</a:t>
            </a:r>
          </a:p>
        </p:txBody>
      </p:sp>
      <p:sp>
        <p:nvSpPr>
          <p:cNvPr id="33" name="Oval 32"/>
          <p:cNvSpPr/>
          <p:nvPr/>
        </p:nvSpPr>
        <p:spPr>
          <a:xfrm>
            <a:off x="10130492" y="4477544"/>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直線單箭頭接點 14"/>
          <p:cNvCxnSpPr>
            <a:cxnSpLocks/>
            <a:stCxn id="18" idx="7"/>
            <a:endCxn id="33" idx="2"/>
          </p:cNvCxnSpPr>
          <p:nvPr/>
        </p:nvCxnSpPr>
        <p:spPr>
          <a:xfrm flipV="1">
            <a:off x="8507055" y="4612991"/>
            <a:ext cx="1623437" cy="49463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391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Learning to sell</a:t>
            </a:r>
          </a:p>
        </p:txBody>
      </p:sp>
      <p:pic>
        <p:nvPicPr>
          <p:cNvPr id="4" name="圖片 2"/>
          <p:cNvPicPr>
            <a:picLocks noChangeAspect="1"/>
          </p:cNvPicPr>
          <p:nvPr/>
        </p:nvPicPr>
        <p:blipFill>
          <a:blip r:embed="rId2"/>
          <a:stretch>
            <a:fillRect/>
          </a:stretch>
        </p:blipFill>
        <p:spPr>
          <a:xfrm>
            <a:off x="4376505" y="3763117"/>
            <a:ext cx="6836166" cy="3094883"/>
          </a:xfrm>
          <a:prstGeom prst="rect">
            <a:avLst/>
          </a:prstGeom>
        </p:spPr>
      </p:pic>
      <p:sp>
        <p:nvSpPr>
          <p:cNvPr id="5" name="Oval 4"/>
          <p:cNvSpPr/>
          <p:nvPr/>
        </p:nvSpPr>
        <p:spPr>
          <a:xfrm>
            <a:off x="5118225" y="6401563"/>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8284759" y="5961296"/>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3"/>
          <p:cNvPicPr>
            <a:picLocks noGrp="1" noChangeAspect="1"/>
          </p:cNvPicPr>
          <p:nvPr>
            <p:ph idx="1"/>
          </p:nvPr>
        </p:nvPicPr>
        <p:blipFill>
          <a:blip r:embed="rId3"/>
          <a:stretch>
            <a:fillRect/>
          </a:stretch>
        </p:blipFill>
        <p:spPr>
          <a:xfrm>
            <a:off x="838200" y="1734740"/>
            <a:ext cx="6956388" cy="943239"/>
          </a:xfrm>
          <a:prstGeom prst="rect">
            <a:avLst/>
          </a:prstGeom>
        </p:spPr>
      </p:pic>
      <p:pic>
        <p:nvPicPr>
          <p:cNvPr id="9" name="Picture 8"/>
          <p:cNvPicPr>
            <a:picLocks noChangeAspect="1"/>
          </p:cNvPicPr>
          <p:nvPr/>
        </p:nvPicPr>
        <p:blipFill>
          <a:blip r:embed="rId4"/>
          <a:stretch>
            <a:fillRect/>
          </a:stretch>
        </p:blipFill>
        <p:spPr>
          <a:xfrm>
            <a:off x="838200" y="2940659"/>
            <a:ext cx="7057040" cy="408118"/>
          </a:xfrm>
          <a:prstGeom prst="rect">
            <a:avLst/>
          </a:prstGeom>
        </p:spPr>
      </p:pic>
      <p:sp>
        <p:nvSpPr>
          <p:cNvPr id="10" name="TextBox 9"/>
          <p:cNvSpPr txBox="1"/>
          <p:nvPr/>
        </p:nvSpPr>
        <p:spPr>
          <a:xfrm>
            <a:off x="4972326" y="4580157"/>
            <a:ext cx="524503" cy="369332"/>
          </a:xfrm>
          <a:prstGeom prst="rect">
            <a:avLst/>
          </a:prstGeom>
          <a:noFill/>
        </p:spPr>
        <p:txBody>
          <a:bodyPr wrap="none" rtlCol="0">
            <a:spAutoFit/>
          </a:bodyPr>
          <a:lstStyle/>
          <a:p>
            <a:r>
              <a:rPr lang="en-US" dirty="0"/>
              <a:t>Bye</a:t>
            </a:r>
          </a:p>
        </p:txBody>
      </p:sp>
      <p:sp>
        <p:nvSpPr>
          <p:cNvPr id="11" name="TextBox 10"/>
          <p:cNvSpPr txBox="1"/>
          <p:nvPr/>
        </p:nvSpPr>
        <p:spPr>
          <a:xfrm>
            <a:off x="8138860" y="4677541"/>
            <a:ext cx="524503" cy="369332"/>
          </a:xfrm>
          <a:prstGeom prst="rect">
            <a:avLst/>
          </a:prstGeom>
          <a:noFill/>
        </p:spPr>
        <p:txBody>
          <a:bodyPr wrap="none" rtlCol="0">
            <a:spAutoFit/>
          </a:bodyPr>
          <a:lstStyle/>
          <a:p>
            <a:r>
              <a:rPr lang="en-US" dirty="0"/>
              <a:t>Bye</a:t>
            </a:r>
          </a:p>
        </p:txBody>
      </p:sp>
      <p:sp>
        <p:nvSpPr>
          <p:cNvPr id="12" name="TextBox 11"/>
          <p:cNvSpPr txBox="1"/>
          <p:nvPr/>
        </p:nvSpPr>
        <p:spPr>
          <a:xfrm>
            <a:off x="6658022" y="4210825"/>
            <a:ext cx="511679" cy="369332"/>
          </a:xfrm>
          <a:prstGeom prst="rect">
            <a:avLst/>
          </a:prstGeom>
          <a:noFill/>
        </p:spPr>
        <p:txBody>
          <a:bodyPr wrap="none" rtlCol="0">
            <a:spAutoFit/>
          </a:bodyPr>
          <a:lstStyle/>
          <a:p>
            <a:r>
              <a:rPr lang="en-US" dirty="0"/>
              <a:t>Sell</a:t>
            </a:r>
          </a:p>
        </p:txBody>
      </p:sp>
      <p:sp>
        <p:nvSpPr>
          <p:cNvPr id="13" name="TextBox 12"/>
          <p:cNvSpPr txBox="1"/>
          <p:nvPr/>
        </p:nvSpPr>
        <p:spPr>
          <a:xfrm>
            <a:off x="9547808" y="4210825"/>
            <a:ext cx="511679" cy="369332"/>
          </a:xfrm>
          <a:prstGeom prst="rect">
            <a:avLst/>
          </a:prstGeom>
          <a:noFill/>
        </p:spPr>
        <p:txBody>
          <a:bodyPr wrap="none" rtlCol="0">
            <a:spAutoFit/>
          </a:bodyPr>
          <a:lstStyle/>
          <a:p>
            <a:r>
              <a:rPr lang="en-US" dirty="0"/>
              <a:t>Sell</a:t>
            </a:r>
          </a:p>
        </p:txBody>
      </p:sp>
      <p:pic>
        <p:nvPicPr>
          <p:cNvPr id="14" name="Picture 13"/>
          <p:cNvPicPr>
            <a:picLocks noChangeAspect="1"/>
          </p:cNvPicPr>
          <p:nvPr/>
        </p:nvPicPr>
        <p:blipFill>
          <a:blip r:embed="rId5"/>
          <a:stretch>
            <a:fillRect/>
          </a:stretch>
        </p:blipFill>
        <p:spPr>
          <a:xfrm>
            <a:off x="7794588" y="1990458"/>
            <a:ext cx="3203970" cy="484321"/>
          </a:xfrm>
          <a:prstGeom prst="rect">
            <a:avLst/>
          </a:prstGeom>
        </p:spPr>
      </p:pic>
      <p:sp>
        <p:nvSpPr>
          <p:cNvPr id="16" name="Oval 15"/>
          <p:cNvSpPr/>
          <p:nvPr/>
        </p:nvSpPr>
        <p:spPr>
          <a:xfrm>
            <a:off x="7118839" y="4618576"/>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9705309" y="4580157"/>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6028304" y="4267783"/>
            <a:ext cx="511679" cy="369332"/>
          </a:xfrm>
          <a:prstGeom prst="rect">
            <a:avLst/>
          </a:prstGeom>
          <a:noFill/>
        </p:spPr>
        <p:txBody>
          <a:bodyPr wrap="none" rtlCol="0">
            <a:spAutoFit/>
          </a:bodyPr>
          <a:lstStyle/>
          <a:p>
            <a:r>
              <a:rPr lang="en-US" dirty="0"/>
              <a:t>Sell</a:t>
            </a:r>
          </a:p>
        </p:txBody>
      </p:sp>
      <p:sp>
        <p:nvSpPr>
          <p:cNvPr id="24" name="Oval 23"/>
          <p:cNvSpPr/>
          <p:nvPr/>
        </p:nvSpPr>
        <p:spPr>
          <a:xfrm>
            <a:off x="6167789" y="4931081"/>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10319504" y="3841493"/>
            <a:ext cx="511679" cy="369332"/>
          </a:xfrm>
          <a:prstGeom prst="rect">
            <a:avLst/>
          </a:prstGeom>
          <a:noFill/>
        </p:spPr>
        <p:txBody>
          <a:bodyPr wrap="none" rtlCol="0">
            <a:spAutoFit/>
          </a:bodyPr>
          <a:lstStyle/>
          <a:p>
            <a:r>
              <a:rPr lang="en-US" dirty="0"/>
              <a:t>Sell</a:t>
            </a:r>
          </a:p>
        </p:txBody>
      </p:sp>
      <p:sp>
        <p:nvSpPr>
          <p:cNvPr id="26" name="Oval 25"/>
          <p:cNvSpPr/>
          <p:nvPr/>
        </p:nvSpPr>
        <p:spPr>
          <a:xfrm>
            <a:off x="10458989" y="4504791"/>
            <a:ext cx="232707" cy="27089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097057" y="5064592"/>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8284759" y="5064592"/>
            <a:ext cx="232707" cy="270894"/>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直線單箭頭接點 14"/>
          <p:cNvCxnSpPr>
            <a:cxnSpLocks/>
            <a:endCxn id="24" idx="2"/>
          </p:cNvCxnSpPr>
          <p:nvPr/>
        </p:nvCxnSpPr>
        <p:spPr>
          <a:xfrm flipV="1">
            <a:off x="5350932" y="5066528"/>
            <a:ext cx="816857" cy="7849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14"/>
          <p:cNvCxnSpPr>
            <a:cxnSpLocks/>
            <a:stCxn id="27" idx="7"/>
            <a:endCxn id="16" idx="2"/>
          </p:cNvCxnSpPr>
          <p:nvPr/>
        </p:nvCxnSpPr>
        <p:spPr>
          <a:xfrm flipV="1">
            <a:off x="5295685" y="4754023"/>
            <a:ext cx="1823154" cy="35024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14"/>
          <p:cNvCxnSpPr>
            <a:cxnSpLocks/>
            <a:endCxn id="18" idx="3"/>
          </p:cNvCxnSpPr>
          <p:nvPr/>
        </p:nvCxnSpPr>
        <p:spPr>
          <a:xfrm flipV="1">
            <a:off x="8539100" y="4811379"/>
            <a:ext cx="1200288" cy="3582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14"/>
          <p:cNvCxnSpPr>
            <a:cxnSpLocks/>
            <a:endCxn id="26" idx="3"/>
          </p:cNvCxnSpPr>
          <p:nvPr/>
        </p:nvCxnSpPr>
        <p:spPr>
          <a:xfrm flipV="1">
            <a:off x="8539100" y="4736013"/>
            <a:ext cx="1953968" cy="52937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2415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Decision making process </a:t>
            </a:r>
          </a:p>
        </p:txBody>
      </p:sp>
      <p:pic>
        <p:nvPicPr>
          <p:cNvPr id="4" name="Content Placeholder 3"/>
          <p:cNvPicPr>
            <a:picLocks noGrp="1" noChangeAspect="1"/>
          </p:cNvPicPr>
          <p:nvPr>
            <p:ph idx="1"/>
          </p:nvPr>
        </p:nvPicPr>
        <p:blipFill>
          <a:blip r:embed="rId2"/>
          <a:stretch>
            <a:fillRect/>
          </a:stretch>
        </p:blipFill>
        <p:spPr>
          <a:xfrm>
            <a:off x="1261533" y="1859227"/>
            <a:ext cx="6488905" cy="951706"/>
          </a:xfrm>
          <a:prstGeom prst="rect">
            <a:avLst/>
          </a:prstGeom>
        </p:spPr>
      </p:pic>
      <p:pic>
        <p:nvPicPr>
          <p:cNvPr id="5" name="Picture 4"/>
          <p:cNvPicPr>
            <a:picLocks noChangeAspect="1"/>
          </p:cNvPicPr>
          <p:nvPr/>
        </p:nvPicPr>
        <p:blipFill>
          <a:blip r:embed="rId3"/>
          <a:stretch>
            <a:fillRect/>
          </a:stretch>
        </p:blipFill>
        <p:spPr>
          <a:xfrm>
            <a:off x="1264105" y="3524997"/>
            <a:ext cx="6059107" cy="728133"/>
          </a:xfrm>
          <a:prstGeom prst="rect">
            <a:avLst/>
          </a:prstGeom>
        </p:spPr>
      </p:pic>
      <p:pic>
        <p:nvPicPr>
          <p:cNvPr id="6" name="Picture 5"/>
          <p:cNvPicPr>
            <a:picLocks noChangeAspect="1"/>
          </p:cNvPicPr>
          <p:nvPr/>
        </p:nvPicPr>
        <p:blipFill>
          <a:blip r:embed="rId4"/>
          <a:stretch>
            <a:fillRect/>
          </a:stretch>
        </p:blipFill>
        <p:spPr>
          <a:xfrm>
            <a:off x="1289903" y="4253130"/>
            <a:ext cx="9996866" cy="795867"/>
          </a:xfrm>
          <a:prstGeom prst="rect">
            <a:avLst/>
          </a:prstGeom>
        </p:spPr>
      </p:pic>
      <p:pic>
        <p:nvPicPr>
          <p:cNvPr id="7" name="Picture 6"/>
          <p:cNvPicPr>
            <a:picLocks noChangeAspect="1"/>
          </p:cNvPicPr>
          <p:nvPr/>
        </p:nvPicPr>
        <p:blipFill>
          <a:blip r:embed="rId5"/>
          <a:stretch>
            <a:fillRect/>
          </a:stretch>
        </p:blipFill>
        <p:spPr>
          <a:xfrm>
            <a:off x="1235735" y="5697276"/>
            <a:ext cx="4682372" cy="784755"/>
          </a:xfrm>
          <a:prstGeom prst="rect">
            <a:avLst/>
          </a:prstGeom>
        </p:spPr>
      </p:pic>
      <p:sp>
        <p:nvSpPr>
          <p:cNvPr id="8" name="TextBox 7"/>
          <p:cNvSpPr txBox="1"/>
          <p:nvPr/>
        </p:nvSpPr>
        <p:spPr>
          <a:xfrm>
            <a:off x="1289903" y="3115559"/>
            <a:ext cx="2968136" cy="830997"/>
          </a:xfrm>
          <a:prstGeom prst="rect">
            <a:avLst/>
          </a:prstGeom>
          <a:noFill/>
        </p:spPr>
        <p:txBody>
          <a:bodyPr wrap="square" rtlCol="0">
            <a:spAutoFit/>
          </a:bodyPr>
          <a:lstStyle/>
          <a:p>
            <a:r>
              <a:rPr lang="en-US" sz="2400" dirty="0"/>
              <a:t>Buy stopping criteria </a:t>
            </a:r>
          </a:p>
          <a:p>
            <a:endParaRPr lang="en-US" sz="2400" dirty="0"/>
          </a:p>
        </p:txBody>
      </p:sp>
      <p:sp>
        <p:nvSpPr>
          <p:cNvPr id="9" name="TextBox 8"/>
          <p:cNvSpPr txBox="1"/>
          <p:nvPr/>
        </p:nvSpPr>
        <p:spPr>
          <a:xfrm>
            <a:off x="1261533" y="5299343"/>
            <a:ext cx="2968136" cy="830997"/>
          </a:xfrm>
          <a:prstGeom prst="rect">
            <a:avLst/>
          </a:prstGeom>
          <a:noFill/>
        </p:spPr>
        <p:txBody>
          <a:bodyPr wrap="square" rtlCol="0">
            <a:spAutoFit/>
          </a:bodyPr>
          <a:lstStyle/>
          <a:p>
            <a:r>
              <a:rPr lang="en-US" sz="2400"/>
              <a:t>Sell </a:t>
            </a:r>
            <a:r>
              <a:rPr lang="en-US" sz="2400" dirty="0"/>
              <a:t>stopping criteria </a:t>
            </a:r>
          </a:p>
          <a:p>
            <a:endParaRPr lang="en-US" sz="2400" dirty="0"/>
          </a:p>
        </p:txBody>
      </p:sp>
    </p:spTree>
    <p:extLst>
      <p:ext uri="{BB962C8B-B14F-4D97-AF65-F5344CB8AC3E}">
        <p14:creationId xmlns:p14="http://schemas.microsoft.com/office/powerpoint/2010/main" val="2003563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Result</a:t>
            </a:r>
          </a:p>
        </p:txBody>
      </p:sp>
      <p:pic>
        <p:nvPicPr>
          <p:cNvPr id="4" name="Content Placeholder 3"/>
          <p:cNvPicPr>
            <a:picLocks noGrp="1" noChangeAspect="1"/>
          </p:cNvPicPr>
          <p:nvPr>
            <p:ph idx="1"/>
          </p:nvPr>
        </p:nvPicPr>
        <p:blipFill>
          <a:blip r:embed="rId3"/>
          <a:stretch>
            <a:fillRect/>
          </a:stretch>
        </p:blipFill>
        <p:spPr>
          <a:xfrm>
            <a:off x="2351179" y="1882510"/>
            <a:ext cx="7489642" cy="4264289"/>
          </a:xfrm>
          <a:prstGeom prst="rect">
            <a:avLst/>
          </a:prstGeom>
        </p:spPr>
      </p:pic>
    </p:spTree>
    <p:extLst>
      <p:ext uri="{BB962C8B-B14F-4D97-AF65-F5344CB8AC3E}">
        <p14:creationId xmlns:p14="http://schemas.microsoft.com/office/powerpoint/2010/main" val="557102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Result</a:t>
            </a:r>
          </a:p>
        </p:txBody>
      </p:sp>
      <p:pic>
        <p:nvPicPr>
          <p:cNvPr id="5" name="Content Placeholder 4"/>
          <p:cNvPicPr>
            <a:picLocks noGrp="1" noChangeAspect="1"/>
          </p:cNvPicPr>
          <p:nvPr>
            <p:ph idx="1"/>
          </p:nvPr>
        </p:nvPicPr>
        <p:blipFill>
          <a:blip r:embed="rId3"/>
          <a:stretch>
            <a:fillRect/>
          </a:stretch>
        </p:blipFill>
        <p:spPr>
          <a:xfrm>
            <a:off x="2819400" y="3569494"/>
            <a:ext cx="6553200" cy="3048000"/>
          </a:xfrm>
          <a:prstGeom prst="rect">
            <a:avLst/>
          </a:prstGeom>
        </p:spPr>
      </p:pic>
      <p:pic>
        <p:nvPicPr>
          <p:cNvPr id="6" name="Picture 5"/>
          <p:cNvPicPr>
            <a:picLocks noChangeAspect="1"/>
          </p:cNvPicPr>
          <p:nvPr/>
        </p:nvPicPr>
        <p:blipFill>
          <a:blip r:embed="rId4"/>
          <a:stretch>
            <a:fillRect/>
          </a:stretch>
        </p:blipFill>
        <p:spPr>
          <a:xfrm>
            <a:off x="2819400" y="1215760"/>
            <a:ext cx="6553200" cy="2082800"/>
          </a:xfrm>
          <a:prstGeom prst="rect">
            <a:avLst/>
          </a:prstGeom>
        </p:spPr>
      </p:pic>
      <p:sp>
        <p:nvSpPr>
          <p:cNvPr id="8" name="TextBox 7"/>
          <p:cNvSpPr txBox="1"/>
          <p:nvPr/>
        </p:nvSpPr>
        <p:spPr>
          <a:xfrm>
            <a:off x="2922894" y="5620026"/>
            <a:ext cx="6084000" cy="612000"/>
          </a:xfrm>
          <a:prstGeom prst="rect">
            <a:avLst/>
          </a:prstGeom>
          <a:solidFill>
            <a:schemeClr val="bg1"/>
          </a:solidFill>
        </p:spPr>
        <p:txBody>
          <a:bodyPr wrap="square" rtlCol="0">
            <a:spAutoFit/>
          </a:bodyPr>
          <a:lstStyle/>
          <a:p>
            <a:r>
              <a:rPr lang="en-US" sz="1400" dirty="0"/>
              <a:t>General Motors 203.95     100.00          6                 5.87                            34.75</a:t>
            </a:r>
          </a:p>
        </p:txBody>
      </p:sp>
      <p:sp>
        <p:nvSpPr>
          <p:cNvPr id="3" name="矩形 2"/>
          <p:cNvSpPr/>
          <p:nvPr/>
        </p:nvSpPr>
        <p:spPr>
          <a:xfrm>
            <a:off x="1797635" y="2477002"/>
            <a:ext cx="910827" cy="369332"/>
          </a:xfrm>
          <a:prstGeom prst="rect">
            <a:avLst/>
          </a:prstGeom>
        </p:spPr>
        <p:txBody>
          <a:bodyPr wrap="none">
            <a:spAutoFit/>
          </a:bodyPr>
          <a:lstStyle/>
          <a:p>
            <a:r>
              <a:rPr lang="en-US" altLang="zh-TW" dirty="0"/>
              <a:t>Finance</a:t>
            </a:r>
            <a:endParaRPr lang="zh-TW" altLang="en-US" dirty="0"/>
          </a:p>
        </p:txBody>
      </p:sp>
      <p:sp>
        <p:nvSpPr>
          <p:cNvPr id="4" name="矩形 3"/>
          <p:cNvSpPr/>
          <p:nvPr/>
        </p:nvSpPr>
        <p:spPr>
          <a:xfrm>
            <a:off x="1474475" y="2953247"/>
            <a:ext cx="1289456" cy="369332"/>
          </a:xfrm>
          <a:prstGeom prst="rect">
            <a:avLst/>
          </a:prstGeom>
        </p:spPr>
        <p:txBody>
          <a:bodyPr wrap="none">
            <a:spAutoFit/>
          </a:bodyPr>
          <a:lstStyle/>
          <a:p>
            <a:r>
              <a:rPr lang="en-US" altLang="zh-TW" dirty="0"/>
              <a:t>Automotive</a:t>
            </a:r>
            <a:endParaRPr lang="zh-TW" altLang="en-US" dirty="0"/>
          </a:p>
        </p:txBody>
      </p:sp>
      <p:sp>
        <p:nvSpPr>
          <p:cNvPr id="7" name="矩形 6"/>
          <p:cNvSpPr/>
          <p:nvPr/>
        </p:nvSpPr>
        <p:spPr>
          <a:xfrm>
            <a:off x="1558280" y="2715125"/>
            <a:ext cx="1205651" cy="369332"/>
          </a:xfrm>
          <a:prstGeom prst="rect">
            <a:avLst/>
          </a:prstGeom>
        </p:spPr>
        <p:txBody>
          <a:bodyPr wrap="none">
            <a:spAutoFit/>
          </a:bodyPr>
          <a:lstStyle/>
          <a:p>
            <a:r>
              <a:rPr lang="en-US" altLang="zh-TW" dirty="0"/>
              <a:t>Healthcare</a:t>
            </a:r>
            <a:endParaRPr lang="zh-TW" altLang="en-US" dirty="0"/>
          </a:p>
        </p:txBody>
      </p:sp>
      <p:sp>
        <p:nvSpPr>
          <p:cNvPr id="10" name="矩形 9"/>
          <p:cNvSpPr/>
          <p:nvPr/>
        </p:nvSpPr>
        <p:spPr>
          <a:xfrm>
            <a:off x="1208038" y="2241187"/>
            <a:ext cx="1479829" cy="369332"/>
          </a:xfrm>
          <a:prstGeom prst="rect">
            <a:avLst/>
          </a:prstGeom>
        </p:spPr>
        <p:txBody>
          <a:bodyPr wrap="none">
            <a:spAutoFit/>
          </a:bodyPr>
          <a:lstStyle/>
          <a:p>
            <a:r>
              <a:rPr lang="en-US" altLang="zh-TW" dirty="0"/>
              <a:t>Variety Stores</a:t>
            </a:r>
            <a:endParaRPr lang="zh-TW" altLang="en-US" dirty="0"/>
          </a:p>
        </p:txBody>
      </p:sp>
    </p:spTree>
    <p:extLst>
      <p:ext uri="{BB962C8B-B14F-4D97-AF65-F5344CB8AC3E}">
        <p14:creationId xmlns:p14="http://schemas.microsoft.com/office/powerpoint/2010/main" val="695521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Trading with dynamic asset switching strategy </a:t>
            </a:r>
          </a:p>
        </p:txBody>
      </p:sp>
      <p:pic>
        <p:nvPicPr>
          <p:cNvPr id="4" name="Content Placeholder 3"/>
          <p:cNvPicPr>
            <a:picLocks noGrp="1" noChangeAspect="1"/>
          </p:cNvPicPr>
          <p:nvPr>
            <p:ph idx="1"/>
          </p:nvPr>
        </p:nvPicPr>
        <p:blipFill>
          <a:blip r:embed="rId3"/>
          <a:stretch>
            <a:fillRect/>
          </a:stretch>
        </p:blipFill>
        <p:spPr>
          <a:xfrm>
            <a:off x="0" y="2341827"/>
            <a:ext cx="12049367" cy="2687374"/>
          </a:xfrm>
          <a:prstGeom prst="rect">
            <a:avLst/>
          </a:prstGeom>
        </p:spPr>
      </p:pic>
    </p:spTree>
    <p:extLst>
      <p:ext uri="{BB962C8B-B14F-4D97-AF65-F5344CB8AC3E}">
        <p14:creationId xmlns:p14="http://schemas.microsoft.com/office/powerpoint/2010/main" val="132311188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11274</TotalTime>
  <Words>452</Words>
  <Application>Microsoft Office PowerPoint</Application>
  <PresentationFormat>寬螢幕</PresentationFormat>
  <Paragraphs>59</Paragraphs>
  <Slides>19</Slides>
  <Notes>6</Notes>
  <HiddenSlides>1</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19</vt:i4>
      </vt:variant>
    </vt:vector>
  </HeadingPairs>
  <TitlesOfParts>
    <vt:vector size="27" baseType="lpstr">
      <vt:lpstr>Liberation Sans Narrow</vt:lpstr>
      <vt:lpstr>微軟正黑體</vt:lpstr>
      <vt:lpstr>新細明體</vt:lpstr>
      <vt:lpstr>Arial</vt:lpstr>
      <vt:lpstr>Calibri</vt:lpstr>
      <vt:lpstr>Calibri Light</vt:lpstr>
      <vt:lpstr>Cambria Math</vt:lpstr>
      <vt:lpstr>Office 佈景主題</vt:lpstr>
      <vt:lpstr>Stock trading with cycles A financial application of ANFIS and reinforcement learning</vt:lpstr>
      <vt:lpstr>Abstract(1/2) </vt:lpstr>
      <vt:lpstr>Abstract(2/2) </vt:lpstr>
      <vt:lpstr>Design of the trading system </vt:lpstr>
      <vt:lpstr>Cycle Tunner</vt:lpstr>
      <vt:lpstr>Cycle Tunner</vt:lpstr>
      <vt:lpstr>PowerPoint 簡報</vt:lpstr>
      <vt:lpstr>PowerPoint 簡報</vt:lpstr>
      <vt:lpstr>Cycle Shift</vt:lpstr>
      <vt:lpstr>Cycle Shift</vt:lpstr>
      <vt:lpstr>Adaptive Network Fuzzy Inference System (ANFIS)</vt:lpstr>
      <vt:lpstr>Adaptive Network Fuzzy Inference System (ANFIS)</vt:lpstr>
      <vt:lpstr>Learning to trade </vt:lpstr>
      <vt:lpstr>Learning to buy</vt:lpstr>
      <vt:lpstr>Learning to sell</vt:lpstr>
      <vt:lpstr>Decision making process </vt:lpstr>
      <vt:lpstr>Result</vt:lpstr>
      <vt:lpstr>Result</vt:lpstr>
      <vt:lpstr>Trading with dynamic asset switching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trading with cycles A financial application of ANFIS and reinforcement learning</dc:title>
  <dc:creator>M053040058</dc:creator>
  <cp:lastModifiedBy>ike.liu</cp:lastModifiedBy>
  <cp:revision>56</cp:revision>
  <dcterms:created xsi:type="dcterms:W3CDTF">2017-03-06T13:11:49Z</dcterms:created>
  <dcterms:modified xsi:type="dcterms:W3CDTF">2017-04-18T09:12:44Z</dcterms:modified>
</cp:coreProperties>
</file>