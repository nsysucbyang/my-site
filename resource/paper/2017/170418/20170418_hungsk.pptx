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8"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2"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219D83-574D-4BF7-979B-67D13FA83DA6}" type="datetimeFigureOut">
              <a:rPr lang="zh-TW" altLang="en-US" smtClean="0"/>
              <a:t>2017/4/18</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666B9F-018D-4298-B5CA-F5C40A1947EF}" type="slidenum">
              <a:rPr lang="zh-TW" altLang="en-US" smtClean="0"/>
              <a:t>‹#›</a:t>
            </a:fld>
            <a:endParaRPr lang="zh-TW" altLang="en-US"/>
          </a:p>
        </p:txBody>
      </p:sp>
    </p:spTree>
    <p:extLst>
      <p:ext uri="{BB962C8B-B14F-4D97-AF65-F5344CB8AC3E}">
        <p14:creationId xmlns:p14="http://schemas.microsoft.com/office/powerpoint/2010/main" val="366585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A666B9F-018D-4298-B5CA-F5C40A1947EF}" type="slidenum">
              <a:rPr lang="zh-TW" altLang="en-US" smtClean="0"/>
              <a:t>1</a:t>
            </a:fld>
            <a:endParaRPr lang="zh-TW" altLang="en-US"/>
          </a:p>
        </p:txBody>
      </p:sp>
    </p:spTree>
    <p:extLst>
      <p:ext uri="{BB962C8B-B14F-4D97-AF65-F5344CB8AC3E}">
        <p14:creationId xmlns:p14="http://schemas.microsoft.com/office/powerpoint/2010/main" val="1007809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B5DBD2D5-1630-4A48-827E-3E4C472A167C}" type="datetimeFigureOut">
              <a:rPr lang="zh-TW" altLang="en-US" smtClean="0"/>
              <a:t>2017/4/18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91A2E1-E330-49BF-B73E-43FA73C26061}" type="slidenum">
              <a:rPr lang="zh-TW" altLang="en-US" smtClean="0"/>
              <a:t>‹#›</a:t>
            </a:fld>
            <a:endParaRPr lang="zh-TW" altLang="en-US"/>
          </a:p>
        </p:txBody>
      </p:sp>
    </p:spTree>
    <p:extLst>
      <p:ext uri="{BB962C8B-B14F-4D97-AF65-F5344CB8AC3E}">
        <p14:creationId xmlns:p14="http://schemas.microsoft.com/office/powerpoint/2010/main" val="1047620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5DBD2D5-1630-4A48-827E-3E4C472A167C}" type="datetimeFigureOut">
              <a:rPr lang="zh-TW" altLang="en-US" smtClean="0"/>
              <a:t>2017/4/18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91A2E1-E330-49BF-B73E-43FA73C26061}" type="slidenum">
              <a:rPr lang="zh-TW" altLang="en-US" smtClean="0"/>
              <a:t>‹#›</a:t>
            </a:fld>
            <a:endParaRPr lang="zh-TW" altLang="en-US"/>
          </a:p>
        </p:txBody>
      </p:sp>
    </p:spTree>
    <p:extLst>
      <p:ext uri="{BB962C8B-B14F-4D97-AF65-F5344CB8AC3E}">
        <p14:creationId xmlns:p14="http://schemas.microsoft.com/office/powerpoint/2010/main" val="4125286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B5DBD2D5-1630-4A48-827E-3E4C472A167C}" type="datetimeFigureOut">
              <a:rPr lang="zh-TW" altLang="en-US" smtClean="0"/>
              <a:t>2017/4/18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91A2E1-E330-49BF-B73E-43FA73C26061}" type="slidenum">
              <a:rPr lang="zh-TW" altLang="en-US" smtClean="0"/>
              <a:t>‹#›</a:t>
            </a:fld>
            <a:endParaRPr lang="zh-TW" altLang="en-US"/>
          </a:p>
        </p:txBody>
      </p:sp>
    </p:spTree>
    <p:extLst>
      <p:ext uri="{BB962C8B-B14F-4D97-AF65-F5344CB8AC3E}">
        <p14:creationId xmlns:p14="http://schemas.microsoft.com/office/powerpoint/2010/main" val="1084327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B5DBD2D5-1630-4A48-827E-3E4C472A167C}" type="datetimeFigureOut">
              <a:rPr lang="zh-TW" altLang="en-US" smtClean="0"/>
              <a:t>2017/4/18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191A2E1-E330-49BF-B73E-43FA73C26061}" type="slidenum">
              <a:rPr lang="zh-TW" altLang="en-US" smtClean="0"/>
              <a:t>‹#›</a:t>
            </a:fld>
            <a:endParaRPr lang="zh-TW" altLang="en-US"/>
          </a:p>
        </p:txBody>
      </p:sp>
    </p:spTree>
    <p:extLst>
      <p:ext uri="{BB962C8B-B14F-4D97-AF65-F5344CB8AC3E}">
        <p14:creationId xmlns:p14="http://schemas.microsoft.com/office/powerpoint/2010/main" val="1880788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B5DBD2D5-1630-4A48-827E-3E4C472A167C}" type="datetimeFigureOut">
              <a:rPr lang="zh-TW" altLang="en-US" smtClean="0"/>
              <a:t>2017/4/18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191A2E1-E330-49BF-B73E-43FA73C26061}" type="slidenum">
              <a:rPr lang="zh-TW" altLang="en-US" smtClean="0"/>
              <a:t>‹#›</a:t>
            </a:fld>
            <a:endParaRPr lang="zh-TW" altLang="en-US"/>
          </a:p>
        </p:txBody>
      </p:sp>
    </p:spTree>
    <p:extLst>
      <p:ext uri="{BB962C8B-B14F-4D97-AF65-F5344CB8AC3E}">
        <p14:creationId xmlns:p14="http://schemas.microsoft.com/office/powerpoint/2010/main" val="1769976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B5DBD2D5-1630-4A48-827E-3E4C472A167C}" type="datetimeFigureOut">
              <a:rPr lang="zh-TW" altLang="en-US" smtClean="0"/>
              <a:t>2017/4/18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191A2E1-E330-49BF-B73E-43FA73C26061}" type="slidenum">
              <a:rPr lang="zh-TW" altLang="en-US" smtClean="0"/>
              <a:t>‹#›</a:t>
            </a:fld>
            <a:endParaRPr lang="zh-TW" altLang="en-US"/>
          </a:p>
        </p:txBody>
      </p:sp>
    </p:spTree>
    <p:extLst>
      <p:ext uri="{BB962C8B-B14F-4D97-AF65-F5344CB8AC3E}">
        <p14:creationId xmlns:p14="http://schemas.microsoft.com/office/powerpoint/2010/main" val="1618141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5DBD2D5-1630-4A48-827E-3E4C472A167C}" type="datetimeFigureOut">
              <a:rPr lang="zh-TW" altLang="en-US" smtClean="0"/>
              <a:t>2017/4/18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191A2E1-E330-49BF-B73E-43FA73C26061}" type="slidenum">
              <a:rPr lang="zh-TW" altLang="en-US" smtClean="0"/>
              <a:t>‹#›</a:t>
            </a:fld>
            <a:endParaRPr lang="zh-TW" altLang="en-US"/>
          </a:p>
        </p:txBody>
      </p:sp>
    </p:spTree>
    <p:extLst>
      <p:ext uri="{BB962C8B-B14F-4D97-AF65-F5344CB8AC3E}">
        <p14:creationId xmlns:p14="http://schemas.microsoft.com/office/powerpoint/2010/main" val="1048432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B5DBD2D5-1630-4A48-827E-3E4C472A167C}" type="datetimeFigureOut">
              <a:rPr lang="zh-TW" altLang="en-US" smtClean="0"/>
              <a:t>2017/4/18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191A2E1-E330-49BF-B73E-43FA73C26061}" type="slidenum">
              <a:rPr lang="zh-TW" altLang="en-US" smtClean="0"/>
              <a:t>‹#›</a:t>
            </a:fld>
            <a:endParaRPr lang="zh-TW" altLang="en-US"/>
          </a:p>
        </p:txBody>
      </p:sp>
    </p:spTree>
    <p:extLst>
      <p:ext uri="{BB962C8B-B14F-4D97-AF65-F5344CB8AC3E}">
        <p14:creationId xmlns:p14="http://schemas.microsoft.com/office/powerpoint/2010/main" val="217069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B5DBD2D5-1630-4A48-827E-3E4C472A167C}" type="datetimeFigureOut">
              <a:rPr lang="zh-TW" altLang="en-US" smtClean="0"/>
              <a:t>2017/4/18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191A2E1-E330-49BF-B73E-43FA73C26061}" type="slidenum">
              <a:rPr lang="zh-TW" altLang="en-US" smtClean="0"/>
              <a:t>‹#›</a:t>
            </a:fld>
            <a:endParaRPr lang="zh-TW" altLang="en-US"/>
          </a:p>
        </p:txBody>
      </p:sp>
    </p:spTree>
    <p:extLst>
      <p:ext uri="{BB962C8B-B14F-4D97-AF65-F5344CB8AC3E}">
        <p14:creationId xmlns:p14="http://schemas.microsoft.com/office/powerpoint/2010/main" val="30415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5DBD2D5-1630-4A48-827E-3E4C472A167C}" type="datetimeFigureOut">
              <a:rPr lang="zh-TW" altLang="en-US" smtClean="0"/>
              <a:t>2017/4/18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91A2E1-E330-49BF-B73E-43FA73C26061}" type="slidenum">
              <a:rPr lang="zh-TW" altLang="en-US" smtClean="0"/>
              <a:t>‹#›</a:t>
            </a:fld>
            <a:endParaRPr lang="zh-TW" altLang="en-US"/>
          </a:p>
        </p:txBody>
      </p:sp>
    </p:spTree>
    <p:extLst>
      <p:ext uri="{BB962C8B-B14F-4D97-AF65-F5344CB8AC3E}">
        <p14:creationId xmlns:p14="http://schemas.microsoft.com/office/powerpoint/2010/main" val="3222004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5DBD2D5-1630-4A48-827E-3E4C472A167C}" type="datetimeFigureOut">
              <a:rPr lang="zh-TW" altLang="en-US" smtClean="0"/>
              <a:t>2017/4/18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91A2E1-E330-49BF-B73E-43FA73C26061}" type="slidenum">
              <a:rPr lang="zh-TW" altLang="en-US" smtClean="0"/>
              <a:t>‹#›</a:t>
            </a:fld>
            <a:endParaRPr lang="zh-TW" altLang="en-US"/>
          </a:p>
        </p:txBody>
      </p:sp>
    </p:spTree>
    <p:extLst>
      <p:ext uri="{BB962C8B-B14F-4D97-AF65-F5344CB8AC3E}">
        <p14:creationId xmlns:p14="http://schemas.microsoft.com/office/powerpoint/2010/main" val="2940543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DBD2D5-1630-4A48-827E-3E4C472A167C}" type="datetimeFigureOut">
              <a:rPr lang="zh-TW" altLang="en-US" smtClean="0"/>
              <a:t>2017/4/18</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91A2E1-E330-49BF-B73E-43FA73C26061}" type="slidenum">
              <a:rPr lang="zh-TW" altLang="en-US" smtClean="0"/>
              <a:t>‹#›</a:t>
            </a:fld>
            <a:endParaRPr lang="zh-TW" altLang="en-US"/>
          </a:p>
        </p:txBody>
      </p:sp>
    </p:spTree>
    <p:extLst>
      <p:ext uri="{BB962C8B-B14F-4D97-AF65-F5344CB8AC3E}">
        <p14:creationId xmlns:p14="http://schemas.microsoft.com/office/powerpoint/2010/main" val="4116497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355745"/>
            <a:ext cx="9144000" cy="2387600"/>
          </a:xfrm>
        </p:spPr>
        <p:txBody>
          <a:bodyPr>
            <a:normAutofit fontScale="90000"/>
          </a:bodyPr>
          <a:lstStyle/>
          <a:p>
            <a:r>
              <a:rPr lang="en-US" altLang="zh-TW" dirty="0"/>
              <a:t>Fast and Accurate Time Series Classification with WEASEL</a:t>
            </a:r>
            <a:endParaRPr lang="zh-TW" altLang="en-US" dirty="0"/>
          </a:p>
        </p:txBody>
      </p:sp>
      <p:sp>
        <p:nvSpPr>
          <p:cNvPr id="3" name="副標題 2"/>
          <p:cNvSpPr>
            <a:spLocks noGrp="1"/>
          </p:cNvSpPr>
          <p:nvPr>
            <p:ph type="subTitle" idx="1"/>
          </p:nvPr>
        </p:nvSpPr>
        <p:spPr>
          <a:xfrm>
            <a:off x="1524000" y="3602038"/>
            <a:ext cx="9144000" cy="1200871"/>
          </a:xfrm>
        </p:spPr>
        <p:txBody>
          <a:bodyPr/>
          <a:lstStyle/>
          <a:p>
            <a:r>
              <a:rPr lang="en-US" altLang="zh-TW" dirty="0"/>
              <a:t>Patrick </a:t>
            </a:r>
            <a:r>
              <a:rPr lang="en-US" altLang="zh-TW" dirty="0" err="1"/>
              <a:t>Schäfer</a:t>
            </a:r>
            <a:r>
              <a:rPr lang="en-US" altLang="zh-TW" dirty="0"/>
              <a:t>, Ulf </a:t>
            </a:r>
            <a:r>
              <a:rPr lang="en-US" altLang="zh-TW" dirty="0" err="1"/>
              <a:t>Leser</a:t>
            </a:r>
            <a:endParaRPr lang="en-US" altLang="zh-TW" dirty="0"/>
          </a:p>
          <a:p>
            <a:r>
              <a:rPr lang="en-US" altLang="zh-TW" dirty="0" smtClean="0"/>
              <a:t>arXiv:1701</a:t>
            </a:r>
            <a:endParaRPr lang="zh-TW" altLang="en-US" dirty="0"/>
          </a:p>
        </p:txBody>
      </p:sp>
      <p:sp>
        <p:nvSpPr>
          <p:cNvPr id="4" name="副標題 2"/>
          <p:cNvSpPr txBox="1">
            <a:spLocks/>
          </p:cNvSpPr>
          <p:nvPr/>
        </p:nvSpPr>
        <p:spPr>
          <a:xfrm>
            <a:off x="1524000" y="4914868"/>
            <a:ext cx="9144000" cy="145379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t>Presenter : Shu-Kai Hung</a:t>
            </a:r>
          </a:p>
          <a:p>
            <a:r>
              <a:rPr lang="en-US" altLang="zh-TW" dirty="0"/>
              <a:t>Date : 2017/4/18</a:t>
            </a:r>
            <a:endParaRPr lang="zh-TW" altLang="en-US" dirty="0"/>
          </a:p>
        </p:txBody>
      </p:sp>
    </p:spTree>
    <p:extLst>
      <p:ext uri="{BB962C8B-B14F-4D97-AF65-F5344CB8AC3E}">
        <p14:creationId xmlns:p14="http://schemas.microsoft.com/office/powerpoint/2010/main" val="34541556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Abstract(1/2)</a:t>
            </a:r>
            <a:endParaRPr lang="zh-TW" altLang="en-US" dirty="0"/>
          </a:p>
        </p:txBody>
      </p:sp>
      <p:sp>
        <p:nvSpPr>
          <p:cNvPr id="3" name="內容版面配置區 2"/>
          <p:cNvSpPr>
            <a:spLocks noGrp="1"/>
          </p:cNvSpPr>
          <p:nvPr>
            <p:ph idx="1"/>
          </p:nvPr>
        </p:nvSpPr>
        <p:spPr/>
        <p:txBody>
          <a:bodyPr>
            <a:normAutofit lnSpcReduction="10000"/>
          </a:bodyPr>
          <a:lstStyle/>
          <a:p>
            <a:pPr marL="0" indent="0">
              <a:buNone/>
            </a:pPr>
            <a:r>
              <a:rPr lang="en-US" altLang="zh-TW" dirty="0"/>
              <a:t>Time series (TS) occur in many scientific and commercial applications, ranging from earth surveillance to industry automation to the smart grids. An important type of TS analysis is classification, which can, for instance, improve energy load forecasting in smart grids by detecting the types of electronic devices based on their energy consumption profiles recorded by automatic sensors. Such sensor-driven applications are very often characterized by (a) very long TS and (b) very large TS datasets needing classification. However, current methods to time series classification (TSC) cannot cope with such data volumes at acceptable accuracy, they are either scalable but offer only inferior classification quality, or they achieve state-of-the-art classification quality but cannot scale to large data volumes.</a:t>
            </a:r>
          </a:p>
          <a:p>
            <a:pPr marL="0" indent="0">
              <a:buNone/>
            </a:pPr>
            <a:endParaRPr lang="zh-TW" altLang="en-US" dirty="0"/>
          </a:p>
        </p:txBody>
      </p:sp>
    </p:spTree>
    <p:extLst>
      <p:ext uri="{BB962C8B-B14F-4D97-AF65-F5344CB8AC3E}">
        <p14:creationId xmlns:p14="http://schemas.microsoft.com/office/powerpoint/2010/main" val="21902162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Abstract(2/2)</a:t>
            </a:r>
            <a:endParaRPr lang="zh-TW" altLang="en-US" dirty="0"/>
          </a:p>
        </p:txBody>
      </p:sp>
      <p:sp>
        <p:nvSpPr>
          <p:cNvPr id="3" name="內容版面配置區 2"/>
          <p:cNvSpPr>
            <a:spLocks noGrp="1"/>
          </p:cNvSpPr>
          <p:nvPr>
            <p:ph idx="1"/>
          </p:nvPr>
        </p:nvSpPr>
        <p:spPr/>
        <p:txBody>
          <a:bodyPr>
            <a:normAutofit fontScale="92500" lnSpcReduction="20000"/>
          </a:bodyPr>
          <a:lstStyle/>
          <a:p>
            <a:pPr marL="0" indent="0">
              <a:buNone/>
            </a:pPr>
            <a:r>
              <a:rPr lang="en-US" altLang="zh-TW" dirty="0"/>
              <a:t>In this paper, we present WEASEL (Word </a:t>
            </a:r>
            <a:r>
              <a:rPr lang="en-US" altLang="zh-TW" dirty="0" err="1"/>
              <a:t>ExtrAction</a:t>
            </a:r>
            <a:r>
              <a:rPr lang="en-US" altLang="zh-TW" dirty="0"/>
              <a:t> for time </a:t>
            </a:r>
            <a:r>
              <a:rPr lang="en-US" altLang="zh-TW" dirty="0" err="1"/>
              <a:t>SEries</a:t>
            </a:r>
            <a:r>
              <a:rPr lang="en-US" altLang="zh-TW" dirty="0"/>
              <a:t> </a:t>
            </a:r>
            <a:r>
              <a:rPr lang="en-US" altLang="zh-TW" dirty="0" err="1"/>
              <a:t>cLassification</a:t>
            </a:r>
            <a:r>
              <a:rPr lang="en-US" altLang="zh-TW" dirty="0"/>
              <a:t>), a novel TSC method which is both scalable and accurate. Like other state-of-the-art TSC methods, WEASEL transforms time series into feature vectors, using a sliding-window approach, which are then analyzed through a machine learning classifier. The novelty of WEASEL lies in its specific method for deriving features, resulting in a much smaller yet much more discriminative feature set. On the popular UCR benchmark of 85 TS datasets, WEASEL is more accurate than the best current non-ensemble algorithms at orders-of-magnitude lower classification and training times, and it is almost as accurate as ensemble classifiers, whose computational complexity makes them inapplicable even for midsize datasets. The outstanding robustness of WEASEL is also confirmed by experiments on two real smart grid datasets, where it out-of-the-box achieves almost the same accuracy as highly tuned, domain-specific methods.</a:t>
            </a:r>
            <a:endParaRPr lang="zh-TW" altLang="en-US" dirty="0"/>
          </a:p>
        </p:txBody>
      </p:sp>
    </p:spTree>
    <p:extLst>
      <p:ext uri="{BB962C8B-B14F-4D97-AF65-F5344CB8AC3E}">
        <p14:creationId xmlns:p14="http://schemas.microsoft.com/office/powerpoint/2010/main" val="395491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909493"/>
          </a:xfrm>
        </p:spPr>
        <p:txBody>
          <a:bodyPr>
            <a:normAutofit fontScale="90000"/>
          </a:bodyPr>
          <a:lstStyle/>
          <a:p>
            <a:r>
              <a:rPr lang="en-US" altLang="zh-TW" dirty="0"/>
              <a:t>Bag-of-Pattern Symbolic Aggregate </a:t>
            </a:r>
            <a:r>
              <a:rPr lang="en-US" altLang="zh-TW" dirty="0" err="1"/>
              <a:t>approXimation</a:t>
            </a:r>
            <a:r>
              <a:rPr lang="en-US" altLang="zh-TW" dirty="0"/>
              <a:t> (BOP)</a:t>
            </a:r>
            <a:endParaRPr lang="zh-TW" altLang="en-US" dirty="0"/>
          </a:p>
        </p:txBody>
      </p:sp>
      <p:sp>
        <p:nvSpPr>
          <p:cNvPr id="3" name="內容版面配置區 2"/>
          <p:cNvSpPr>
            <a:spLocks noGrp="1"/>
          </p:cNvSpPr>
          <p:nvPr>
            <p:ph idx="1"/>
          </p:nvPr>
        </p:nvSpPr>
        <p:spPr>
          <a:xfrm>
            <a:off x="838200" y="1403927"/>
            <a:ext cx="10515600" cy="4773036"/>
          </a:xfrm>
        </p:spPr>
        <p:txBody>
          <a:bodyPr/>
          <a:lstStyle/>
          <a:p>
            <a:r>
              <a:rPr lang="en-US" altLang="zh-TW" dirty="0"/>
              <a:t>Sample =&gt; time series</a:t>
            </a:r>
          </a:p>
          <a:p>
            <a:r>
              <a:rPr lang="en-US" altLang="zh-TW" dirty="0"/>
              <a:t>Window =&gt; fixed length</a:t>
            </a:r>
          </a:p>
          <a:p>
            <a:r>
              <a:rPr lang="en-US" altLang="zh-TW" dirty="0"/>
              <a:t>Discretization </a:t>
            </a:r>
            <a:r>
              <a:rPr lang="zh-TW" altLang="en-US" dirty="0"/>
              <a:t>轉換成字母</a:t>
            </a:r>
            <a:endParaRPr lang="en-US" altLang="zh-TW" dirty="0"/>
          </a:p>
          <a:p>
            <a:pPr marL="0" indent="0">
              <a:buNone/>
            </a:pPr>
            <a:r>
              <a:rPr lang="en-US" altLang="zh-TW" dirty="0"/>
              <a:t>Symbolic Aggregate approximation</a:t>
            </a:r>
          </a:p>
          <a:p>
            <a:pPr marL="0" indent="0">
              <a:buNone/>
            </a:pPr>
            <a:r>
              <a:rPr lang="en-US" altLang="zh-TW" dirty="0"/>
              <a:t>(SAX )</a:t>
            </a:r>
          </a:p>
          <a:p>
            <a:r>
              <a:rPr lang="en-US" altLang="zh-TW" dirty="0"/>
              <a:t>Bag-of-Pattern model</a:t>
            </a:r>
          </a:p>
          <a:p>
            <a:pPr marL="0" indent="0">
              <a:buNone/>
            </a:pPr>
            <a:r>
              <a:rPr lang="en-US" altLang="zh-TW" dirty="0"/>
              <a:t>Count </a:t>
            </a:r>
            <a:r>
              <a:rPr lang="zh-TW" altLang="en-US" dirty="0"/>
              <a:t>每個字母的數量做出的</a:t>
            </a:r>
            <a:endParaRPr lang="en-US" altLang="zh-TW" dirty="0"/>
          </a:p>
          <a:p>
            <a:pPr marL="0" indent="0">
              <a:buNone/>
            </a:pPr>
            <a:r>
              <a:rPr lang="zh-TW" altLang="en-US" dirty="0"/>
              <a:t>長條圖</a:t>
            </a:r>
          </a:p>
        </p:txBody>
      </p:sp>
      <p:pic>
        <p:nvPicPr>
          <p:cNvPr id="5" name="圖片 4"/>
          <p:cNvPicPr>
            <a:picLocks noChangeAspect="1"/>
          </p:cNvPicPr>
          <p:nvPr/>
        </p:nvPicPr>
        <p:blipFill>
          <a:blip r:embed="rId2"/>
          <a:stretch>
            <a:fillRect/>
          </a:stretch>
        </p:blipFill>
        <p:spPr>
          <a:xfrm>
            <a:off x="5984009" y="960438"/>
            <a:ext cx="5562600" cy="5819053"/>
          </a:xfrm>
          <a:prstGeom prst="rect">
            <a:avLst/>
          </a:prstGeom>
        </p:spPr>
      </p:pic>
    </p:spTree>
    <p:extLst>
      <p:ext uri="{BB962C8B-B14F-4D97-AF65-F5344CB8AC3E}">
        <p14:creationId xmlns:p14="http://schemas.microsoft.com/office/powerpoint/2010/main" val="2862908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73545" y="596035"/>
            <a:ext cx="10515600" cy="752474"/>
          </a:xfrm>
        </p:spPr>
        <p:txBody>
          <a:bodyPr>
            <a:normAutofit fontScale="90000"/>
          </a:bodyPr>
          <a:lstStyle/>
          <a:p>
            <a:pPr marL="0" indent="0"/>
            <a:r>
              <a:rPr lang="en-US" altLang="zh-TW" dirty="0"/>
              <a:t>Symbolic Aggregate approximation(SAX )</a:t>
            </a:r>
            <a:br>
              <a:rPr lang="en-US" altLang="zh-TW" dirty="0"/>
            </a:br>
            <a:endParaRPr lang="zh-TW" altLang="en-US" dirty="0"/>
          </a:p>
        </p:txBody>
      </p:sp>
      <p:sp>
        <p:nvSpPr>
          <p:cNvPr id="3" name="內容版面配置區 2"/>
          <p:cNvSpPr>
            <a:spLocks noGrp="1"/>
          </p:cNvSpPr>
          <p:nvPr>
            <p:ph idx="1"/>
          </p:nvPr>
        </p:nvSpPr>
        <p:spPr>
          <a:xfrm>
            <a:off x="838200" y="1062182"/>
            <a:ext cx="10515600" cy="5114781"/>
          </a:xfrm>
        </p:spPr>
        <p:txBody>
          <a:bodyPr/>
          <a:lstStyle/>
          <a:p>
            <a:endParaRPr lang="zh-TW" altLang="en-US" dirty="0"/>
          </a:p>
        </p:txBody>
      </p:sp>
      <p:cxnSp>
        <p:nvCxnSpPr>
          <p:cNvPr id="5" name="直線接點 4"/>
          <p:cNvCxnSpPr/>
          <p:nvPr/>
        </p:nvCxnSpPr>
        <p:spPr>
          <a:xfrm>
            <a:off x="1431636" y="1348509"/>
            <a:ext cx="27709" cy="5320146"/>
          </a:xfrm>
          <a:prstGeom prst="line">
            <a:avLst/>
          </a:prstGeom>
        </p:spPr>
        <p:style>
          <a:lnRef idx="3">
            <a:schemeClr val="accent1"/>
          </a:lnRef>
          <a:fillRef idx="0">
            <a:schemeClr val="accent1"/>
          </a:fillRef>
          <a:effectRef idx="2">
            <a:schemeClr val="accent1"/>
          </a:effectRef>
          <a:fontRef idx="minor">
            <a:schemeClr val="tx1"/>
          </a:fontRef>
        </p:style>
      </p:cxnSp>
      <p:cxnSp>
        <p:nvCxnSpPr>
          <p:cNvPr id="7" name="直線接點 6"/>
          <p:cNvCxnSpPr/>
          <p:nvPr/>
        </p:nvCxnSpPr>
        <p:spPr>
          <a:xfrm flipV="1">
            <a:off x="120073" y="5264727"/>
            <a:ext cx="11233727" cy="27709"/>
          </a:xfrm>
          <a:prstGeom prst="line">
            <a:avLst/>
          </a:prstGeom>
        </p:spPr>
        <p:style>
          <a:lnRef idx="3">
            <a:schemeClr val="accent1"/>
          </a:lnRef>
          <a:fillRef idx="0">
            <a:schemeClr val="accent1"/>
          </a:fillRef>
          <a:effectRef idx="2">
            <a:schemeClr val="accent1"/>
          </a:effectRef>
          <a:fontRef idx="minor">
            <a:schemeClr val="tx1"/>
          </a:fontRef>
        </p:style>
      </p:cxnSp>
      <p:cxnSp>
        <p:nvCxnSpPr>
          <p:cNvPr id="9" name="直線接點 8"/>
          <p:cNvCxnSpPr/>
          <p:nvPr/>
        </p:nvCxnSpPr>
        <p:spPr>
          <a:xfrm>
            <a:off x="1348509" y="3906982"/>
            <a:ext cx="249382" cy="0"/>
          </a:xfrm>
          <a:prstGeom prst="line">
            <a:avLst/>
          </a:prstGeom>
        </p:spPr>
        <p:style>
          <a:lnRef idx="3">
            <a:schemeClr val="dk1"/>
          </a:lnRef>
          <a:fillRef idx="0">
            <a:schemeClr val="dk1"/>
          </a:fillRef>
          <a:effectRef idx="2">
            <a:schemeClr val="dk1"/>
          </a:effectRef>
          <a:fontRef idx="minor">
            <a:schemeClr val="tx1"/>
          </a:fontRef>
        </p:style>
      </p:cxnSp>
      <p:cxnSp>
        <p:nvCxnSpPr>
          <p:cNvPr id="11" name="直線接點 10"/>
          <p:cNvCxnSpPr/>
          <p:nvPr/>
        </p:nvCxnSpPr>
        <p:spPr>
          <a:xfrm>
            <a:off x="1334654" y="4668982"/>
            <a:ext cx="249382" cy="0"/>
          </a:xfrm>
          <a:prstGeom prst="line">
            <a:avLst/>
          </a:prstGeom>
        </p:spPr>
        <p:style>
          <a:lnRef idx="3">
            <a:schemeClr val="dk1"/>
          </a:lnRef>
          <a:fillRef idx="0">
            <a:schemeClr val="dk1"/>
          </a:fillRef>
          <a:effectRef idx="2">
            <a:schemeClr val="dk1"/>
          </a:effectRef>
          <a:fontRef idx="minor">
            <a:schemeClr val="tx1"/>
          </a:fontRef>
        </p:style>
      </p:cxnSp>
      <p:cxnSp>
        <p:nvCxnSpPr>
          <p:cNvPr id="12" name="直線接點 11"/>
          <p:cNvCxnSpPr/>
          <p:nvPr/>
        </p:nvCxnSpPr>
        <p:spPr>
          <a:xfrm>
            <a:off x="1348509" y="3191164"/>
            <a:ext cx="249382" cy="0"/>
          </a:xfrm>
          <a:prstGeom prst="line">
            <a:avLst/>
          </a:prstGeom>
        </p:spPr>
        <p:style>
          <a:lnRef idx="3">
            <a:schemeClr val="dk1"/>
          </a:lnRef>
          <a:fillRef idx="0">
            <a:schemeClr val="dk1"/>
          </a:fillRef>
          <a:effectRef idx="2">
            <a:schemeClr val="dk1"/>
          </a:effectRef>
          <a:fontRef idx="minor">
            <a:schemeClr val="tx1"/>
          </a:fontRef>
        </p:style>
      </p:cxnSp>
      <p:cxnSp>
        <p:nvCxnSpPr>
          <p:cNvPr id="13" name="直線接點 12"/>
          <p:cNvCxnSpPr/>
          <p:nvPr/>
        </p:nvCxnSpPr>
        <p:spPr>
          <a:xfrm>
            <a:off x="1348509" y="2521528"/>
            <a:ext cx="249382" cy="0"/>
          </a:xfrm>
          <a:prstGeom prst="line">
            <a:avLst/>
          </a:prstGeom>
        </p:spPr>
        <p:style>
          <a:lnRef idx="3">
            <a:schemeClr val="dk1"/>
          </a:lnRef>
          <a:fillRef idx="0">
            <a:schemeClr val="dk1"/>
          </a:fillRef>
          <a:effectRef idx="2">
            <a:schemeClr val="dk1"/>
          </a:effectRef>
          <a:fontRef idx="minor">
            <a:schemeClr val="tx1"/>
          </a:fontRef>
        </p:style>
      </p:cxnSp>
      <p:sp>
        <p:nvSpPr>
          <p:cNvPr id="14" name="文字方塊 13"/>
          <p:cNvSpPr txBox="1"/>
          <p:nvPr/>
        </p:nvSpPr>
        <p:spPr>
          <a:xfrm>
            <a:off x="872097" y="2336862"/>
            <a:ext cx="476412" cy="369332"/>
          </a:xfrm>
          <a:prstGeom prst="rect">
            <a:avLst/>
          </a:prstGeom>
          <a:noFill/>
        </p:spPr>
        <p:txBody>
          <a:bodyPr wrap="none" rtlCol="0">
            <a:spAutoFit/>
          </a:bodyPr>
          <a:lstStyle/>
          <a:p>
            <a:r>
              <a:rPr lang="en-US" altLang="zh-TW" dirty="0"/>
              <a:t>1.0</a:t>
            </a:r>
            <a:endParaRPr lang="zh-TW" altLang="en-US" dirty="0"/>
          </a:p>
        </p:txBody>
      </p:sp>
      <p:sp>
        <p:nvSpPr>
          <p:cNvPr id="15" name="文字方塊 14"/>
          <p:cNvSpPr txBox="1"/>
          <p:nvPr/>
        </p:nvSpPr>
        <p:spPr>
          <a:xfrm>
            <a:off x="855149" y="2987675"/>
            <a:ext cx="476412" cy="369332"/>
          </a:xfrm>
          <a:prstGeom prst="rect">
            <a:avLst/>
          </a:prstGeom>
          <a:noFill/>
        </p:spPr>
        <p:txBody>
          <a:bodyPr wrap="none" rtlCol="0">
            <a:spAutoFit/>
          </a:bodyPr>
          <a:lstStyle/>
          <a:p>
            <a:r>
              <a:rPr lang="en-US" altLang="zh-TW" dirty="0"/>
              <a:t>0.5</a:t>
            </a:r>
            <a:endParaRPr lang="zh-TW" altLang="en-US" dirty="0"/>
          </a:p>
        </p:txBody>
      </p:sp>
      <p:sp>
        <p:nvSpPr>
          <p:cNvPr id="16" name="文字方塊 15"/>
          <p:cNvSpPr txBox="1"/>
          <p:nvPr/>
        </p:nvSpPr>
        <p:spPr>
          <a:xfrm>
            <a:off x="855149" y="3731674"/>
            <a:ext cx="476412" cy="369332"/>
          </a:xfrm>
          <a:prstGeom prst="rect">
            <a:avLst/>
          </a:prstGeom>
          <a:noFill/>
        </p:spPr>
        <p:txBody>
          <a:bodyPr wrap="none" rtlCol="0">
            <a:spAutoFit/>
          </a:bodyPr>
          <a:lstStyle/>
          <a:p>
            <a:r>
              <a:rPr lang="en-US" altLang="zh-TW" dirty="0"/>
              <a:t>0.0</a:t>
            </a:r>
            <a:endParaRPr lang="zh-TW" altLang="en-US" dirty="0"/>
          </a:p>
        </p:txBody>
      </p:sp>
      <p:sp>
        <p:nvSpPr>
          <p:cNvPr id="17" name="文字方塊 16"/>
          <p:cNvSpPr txBox="1"/>
          <p:nvPr/>
        </p:nvSpPr>
        <p:spPr>
          <a:xfrm>
            <a:off x="799100" y="4415698"/>
            <a:ext cx="546945" cy="369332"/>
          </a:xfrm>
          <a:prstGeom prst="rect">
            <a:avLst/>
          </a:prstGeom>
          <a:noFill/>
        </p:spPr>
        <p:txBody>
          <a:bodyPr wrap="none" rtlCol="0">
            <a:spAutoFit/>
          </a:bodyPr>
          <a:lstStyle/>
          <a:p>
            <a:r>
              <a:rPr lang="en-US" altLang="zh-TW" dirty="0"/>
              <a:t>-0.5</a:t>
            </a:r>
            <a:endParaRPr lang="zh-TW" altLang="en-US" dirty="0"/>
          </a:p>
        </p:txBody>
      </p:sp>
      <p:sp>
        <p:nvSpPr>
          <p:cNvPr id="18" name="手繪多邊形 17"/>
          <p:cNvSpPr/>
          <p:nvPr/>
        </p:nvSpPr>
        <p:spPr>
          <a:xfrm>
            <a:off x="1911927" y="2579753"/>
            <a:ext cx="7798232" cy="1919108"/>
          </a:xfrm>
          <a:custGeom>
            <a:avLst/>
            <a:gdLst>
              <a:gd name="connsiteX0" fmla="*/ 0 w 7798232"/>
              <a:gd name="connsiteY0" fmla="*/ 883883 h 1919108"/>
              <a:gd name="connsiteX1" fmla="*/ 646546 w 7798232"/>
              <a:gd name="connsiteY1" fmla="*/ 34138 h 1919108"/>
              <a:gd name="connsiteX2" fmla="*/ 2355273 w 7798232"/>
              <a:gd name="connsiteY2" fmla="*/ 1918356 h 1919108"/>
              <a:gd name="connsiteX3" fmla="*/ 4821382 w 7798232"/>
              <a:gd name="connsiteY3" fmla="*/ 265047 h 1919108"/>
              <a:gd name="connsiteX4" fmla="*/ 7389091 w 7798232"/>
              <a:gd name="connsiteY4" fmla="*/ 459011 h 1919108"/>
              <a:gd name="connsiteX5" fmla="*/ 7758546 w 7798232"/>
              <a:gd name="connsiteY5" fmla="*/ 523665 h 1919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98232" h="1919108">
                <a:moveTo>
                  <a:pt x="0" y="883883"/>
                </a:moveTo>
                <a:cubicBezTo>
                  <a:pt x="127000" y="372804"/>
                  <a:pt x="254001" y="-138274"/>
                  <a:pt x="646546" y="34138"/>
                </a:cubicBezTo>
                <a:cubicBezTo>
                  <a:pt x="1039091" y="206550"/>
                  <a:pt x="1659467" y="1879871"/>
                  <a:pt x="2355273" y="1918356"/>
                </a:cubicBezTo>
                <a:cubicBezTo>
                  <a:pt x="3051079" y="1956841"/>
                  <a:pt x="3982412" y="508271"/>
                  <a:pt x="4821382" y="265047"/>
                </a:cubicBezTo>
                <a:cubicBezTo>
                  <a:pt x="5660352" y="21823"/>
                  <a:pt x="6899564" y="415908"/>
                  <a:pt x="7389091" y="459011"/>
                </a:cubicBezTo>
                <a:cubicBezTo>
                  <a:pt x="7878618" y="502114"/>
                  <a:pt x="7818582" y="512889"/>
                  <a:pt x="7758546" y="523665"/>
                </a:cubicBezTo>
              </a:path>
            </a:pathLst>
          </a:cu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zh-TW" altLang="en-US"/>
          </a:p>
        </p:txBody>
      </p:sp>
      <p:cxnSp>
        <p:nvCxnSpPr>
          <p:cNvPr id="20" name="直線接點 19"/>
          <p:cNvCxnSpPr/>
          <p:nvPr/>
        </p:nvCxnSpPr>
        <p:spPr>
          <a:xfrm>
            <a:off x="3241964" y="5116945"/>
            <a:ext cx="0" cy="295564"/>
          </a:xfrm>
          <a:prstGeom prst="line">
            <a:avLst/>
          </a:prstGeom>
        </p:spPr>
        <p:style>
          <a:lnRef idx="3">
            <a:schemeClr val="dk1"/>
          </a:lnRef>
          <a:fillRef idx="0">
            <a:schemeClr val="dk1"/>
          </a:fillRef>
          <a:effectRef idx="2">
            <a:schemeClr val="dk1"/>
          </a:effectRef>
          <a:fontRef idx="minor">
            <a:schemeClr val="tx1"/>
          </a:fontRef>
        </p:style>
      </p:cxnSp>
      <p:cxnSp>
        <p:nvCxnSpPr>
          <p:cNvPr id="21" name="直線接點 20"/>
          <p:cNvCxnSpPr/>
          <p:nvPr/>
        </p:nvCxnSpPr>
        <p:spPr>
          <a:xfrm>
            <a:off x="5287819" y="5144654"/>
            <a:ext cx="0" cy="295564"/>
          </a:xfrm>
          <a:prstGeom prst="line">
            <a:avLst/>
          </a:prstGeom>
        </p:spPr>
        <p:style>
          <a:lnRef idx="3">
            <a:schemeClr val="dk1"/>
          </a:lnRef>
          <a:fillRef idx="0">
            <a:schemeClr val="dk1"/>
          </a:fillRef>
          <a:effectRef idx="2">
            <a:schemeClr val="dk1"/>
          </a:effectRef>
          <a:fontRef idx="minor">
            <a:schemeClr val="tx1"/>
          </a:fontRef>
        </p:style>
      </p:cxnSp>
      <p:cxnSp>
        <p:nvCxnSpPr>
          <p:cNvPr id="22" name="直線接點 21"/>
          <p:cNvCxnSpPr/>
          <p:nvPr/>
        </p:nvCxnSpPr>
        <p:spPr>
          <a:xfrm>
            <a:off x="7278256" y="5130799"/>
            <a:ext cx="0" cy="295564"/>
          </a:xfrm>
          <a:prstGeom prst="line">
            <a:avLst/>
          </a:prstGeom>
        </p:spPr>
        <p:style>
          <a:lnRef idx="3">
            <a:schemeClr val="dk1"/>
          </a:lnRef>
          <a:fillRef idx="0">
            <a:schemeClr val="dk1"/>
          </a:fillRef>
          <a:effectRef idx="2">
            <a:schemeClr val="dk1"/>
          </a:effectRef>
          <a:fontRef idx="minor">
            <a:schemeClr val="tx1"/>
          </a:fontRef>
        </p:style>
      </p:cxnSp>
      <p:cxnSp>
        <p:nvCxnSpPr>
          <p:cNvPr id="23" name="直線接點 22"/>
          <p:cNvCxnSpPr/>
          <p:nvPr/>
        </p:nvCxnSpPr>
        <p:spPr>
          <a:xfrm>
            <a:off x="8954656" y="5116945"/>
            <a:ext cx="0" cy="295564"/>
          </a:xfrm>
          <a:prstGeom prst="line">
            <a:avLst/>
          </a:prstGeom>
        </p:spPr>
        <p:style>
          <a:lnRef idx="3">
            <a:schemeClr val="dk1"/>
          </a:lnRef>
          <a:fillRef idx="0">
            <a:schemeClr val="dk1"/>
          </a:fillRef>
          <a:effectRef idx="2">
            <a:schemeClr val="dk1"/>
          </a:effectRef>
          <a:fontRef idx="minor">
            <a:schemeClr val="tx1"/>
          </a:fontRef>
        </p:style>
      </p:cxnSp>
      <p:cxnSp>
        <p:nvCxnSpPr>
          <p:cNvPr id="27" name="直線接點 26"/>
          <p:cNvCxnSpPr/>
          <p:nvPr/>
        </p:nvCxnSpPr>
        <p:spPr>
          <a:xfrm>
            <a:off x="1787236" y="5094448"/>
            <a:ext cx="0" cy="295564"/>
          </a:xfrm>
          <a:prstGeom prst="line">
            <a:avLst/>
          </a:prstGeom>
        </p:spPr>
        <p:style>
          <a:lnRef idx="3">
            <a:schemeClr val="dk1"/>
          </a:lnRef>
          <a:fillRef idx="0">
            <a:schemeClr val="dk1"/>
          </a:fillRef>
          <a:effectRef idx="2">
            <a:schemeClr val="dk1"/>
          </a:effectRef>
          <a:fontRef idx="minor">
            <a:schemeClr val="tx1"/>
          </a:fontRef>
        </p:style>
      </p:cxnSp>
      <p:cxnSp>
        <p:nvCxnSpPr>
          <p:cNvPr id="29" name="直線接點 28"/>
          <p:cNvCxnSpPr/>
          <p:nvPr/>
        </p:nvCxnSpPr>
        <p:spPr>
          <a:xfrm>
            <a:off x="1787236" y="2987675"/>
            <a:ext cx="1260764"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30" name="直線接點 29"/>
          <p:cNvCxnSpPr/>
          <p:nvPr/>
        </p:nvCxnSpPr>
        <p:spPr>
          <a:xfrm flipV="1">
            <a:off x="3241964" y="4174836"/>
            <a:ext cx="2026305" cy="36657"/>
          </a:xfrm>
          <a:prstGeom prst="line">
            <a:avLst/>
          </a:prstGeom>
        </p:spPr>
        <p:style>
          <a:lnRef idx="3">
            <a:schemeClr val="accent2"/>
          </a:lnRef>
          <a:fillRef idx="0">
            <a:schemeClr val="accent2"/>
          </a:fillRef>
          <a:effectRef idx="2">
            <a:schemeClr val="accent2"/>
          </a:effectRef>
          <a:fontRef idx="minor">
            <a:schemeClr val="tx1"/>
          </a:fontRef>
        </p:style>
      </p:cxnSp>
      <p:sp>
        <p:nvSpPr>
          <p:cNvPr id="32" name="文字方塊 31"/>
          <p:cNvSpPr txBox="1"/>
          <p:nvPr/>
        </p:nvSpPr>
        <p:spPr>
          <a:xfrm>
            <a:off x="929072" y="4046366"/>
            <a:ext cx="295274" cy="369332"/>
          </a:xfrm>
          <a:prstGeom prst="rect">
            <a:avLst/>
          </a:prstGeom>
          <a:noFill/>
        </p:spPr>
        <p:txBody>
          <a:bodyPr wrap="none" rtlCol="0">
            <a:spAutoFit/>
          </a:bodyPr>
          <a:lstStyle/>
          <a:p>
            <a:r>
              <a:rPr lang="en-US" altLang="zh-TW" dirty="0">
                <a:solidFill>
                  <a:srgbClr val="FF0000"/>
                </a:solidFill>
              </a:rPr>
              <a:t>a</a:t>
            </a:r>
            <a:endParaRPr lang="zh-TW" altLang="en-US" dirty="0">
              <a:solidFill>
                <a:srgbClr val="FF0000"/>
              </a:solidFill>
            </a:endParaRPr>
          </a:p>
        </p:txBody>
      </p:sp>
      <p:sp>
        <p:nvSpPr>
          <p:cNvPr id="33" name="文字方塊 32"/>
          <p:cNvSpPr txBox="1"/>
          <p:nvPr/>
        </p:nvSpPr>
        <p:spPr>
          <a:xfrm>
            <a:off x="941872" y="3354641"/>
            <a:ext cx="306494" cy="369332"/>
          </a:xfrm>
          <a:prstGeom prst="rect">
            <a:avLst/>
          </a:prstGeom>
          <a:noFill/>
        </p:spPr>
        <p:txBody>
          <a:bodyPr wrap="none" rtlCol="0">
            <a:spAutoFit/>
          </a:bodyPr>
          <a:lstStyle/>
          <a:p>
            <a:r>
              <a:rPr lang="en-US" altLang="zh-TW" dirty="0">
                <a:solidFill>
                  <a:srgbClr val="FF0000"/>
                </a:solidFill>
              </a:rPr>
              <a:t>b</a:t>
            </a:r>
            <a:endParaRPr lang="zh-TW" altLang="en-US" dirty="0">
              <a:solidFill>
                <a:srgbClr val="FF0000"/>
              </a:solidFill>
            </a:endParaRPr>
          </a:p>
        </p:txBody>
      </p:sp>
      <p:sp>
        <p:nvSpPr>
          <p:cNvPr id="34" name="文字方塊 33"/>
          <p:cNvSpPr txBox="1"/>
          <p:nvPr/>
        </p:nvSpPr>
        <p:spPr>
          <a:xfrm>
            <a:off x="946371" y="2667132"/>
            <a:ext cx="282450" cy="369332"/>
          </a:xfrm>
          <a:prstGeom prst="rect">
            <a:avLst/>
          </a:prstGeom>
          <a:noFill/>
        </p:spPr>
        <p:txBody>
          <a:bodyPr wrap="none" rtlCol="0">
            <a:spAutoFit/>
          </a:bodyPr>
          <a:lstStyle/>
          <a:p>
            <a:r>
              <a:rPr lang="en-US" altLang="zh-TW" dirty="0">
                <a:solidFill>
                  <a:srgbClr val="FF0000"/>
                </a:solidFill>
              </a:rPr>
              <a:t>c</a:t>
            </a:r>
            <a:endParaRPr lang="zh-TW" altLang="en-US" dirty="0">
              <a:solidFill>
                <a:srgbClr val="FF0000"/>
              </a:solidFill>
            </a:endParaRPr>
          </a:p>
        </p:txBody>
      </p:sp>
      <p:sp>
        <p:nvSpPr>
          <p:cNvPr id="35" name="文字方塊 34"/>
          <p:cNvSpPr txBox="1"/>
          <p:nvPr/>
        </p:nvSpPr>
        <p:spPr>
          <a:xfrm>
            <a:off x="2262909" y="2336862"/>
            <a:ext cx="282450" cy="369332"/>
          </a:xfrm>
          <a:prstGeom prst="rect">
            <a:avLst/>
          </a:prstGeom>
          <a:noFill/>
        </p:spPr>
        <p:txBody>
          <a:bodyPr wrap="none" rtlCol="0">
            <a:spAutoFit/>
          </a:bodyPr>
          <a:lstStyle/>
          <a:p>
            <a:r>
              <a:rPr lang="en-US" altLang="zh-TW" dirty="0">
                <a:solidFill>
                  <a:srgbClr val="FF0000"/>
                </a:solidFill>
              </a:rPr>
              <a:t>c</a:t>
            </a:r>
            <a:endParaRPr lang="zh-TW" altLang="en-US" dirty="0">
              <a:solidFill>
                <a:srgbClr val="FF0000"/>
              </a:solidFill>
            </a:endParaRPr>
          </a:p>
        </p:txBody>
      </p:sp>
      <p:sp>
        <p:nvSpPr>
          <p:cNvPr id="36" name="文字方塊 35"/>
          <p:cNvSpPr txBox="1"/>
          <p:nvPr/>
        </p:nvSpPr>
        <p:spPr>
          <a:xfrm>
            <a:off x="4093870" y="3770701"/>
            <a:ext cx="295274" cy="369332"/>
          </a:xfrm>
          <a:prstGeom prst="rect">
            <a:avLst/>
          </a:prstGeom>
          <a:noFill/>
        </p:spPr>
        <p:txBody>
          <a:bodyPr wrap="none" rtlCol="0">
            <a:spAutoFit/>
          </a:bodyPr>
          <a:lstStyle/>
          <a:p>
            <a:r>
              <a:rPr lang="en-US" altLang="zh-TW" dirty="0">
                <a:solidFill>
                  <a:srgbClr val="FF0000"/>
                </a:solidFill>
              </a:rPr>
              <a:t>a</a:t>
            </a:r>
            <a:endParaRPr lang="zh-TW" altLang="en-US" dirty="0">
              <a:solidFill>
                <a:srgbClr val="FF0000"/>
              </a:solidFill>
            </a:endParaRPr>
          </a:p>
        </p:txBody>
      </p:sp>
      <p:cxnSp>
        <p:nvCxnSpPr>
          <p:cNvPr id="38" name="直線接點 37"/>
          <p:cNvCxnSpPr/>
          <p:nvPr/>
        </p:nvCxnSpPr>
        <p:spPr>
          <a:xfrm>
            <a:off x="5268269" y="3354641"/>
            <a:ext cx="200998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40" name="直線接點 39"/>
          <p:cNvCxnSpPr/>
          <p:nvPr/>
        </p:nvCxnSpPr>
        <p:spPr>
          <a:xfrm>
            <a:off x="7213600" y="2844800"/>
            <a:ext cx="1741056" cy="9236"/>
          </a:xfrm>
          <a:prstGeom prst="line">
            <a:avLst/>
          </a:prstGeom>
        </p:spPr>
        <p:style>
          <a:lnRef idx="3">
            <a:schemeClr val="accent2"/>
          </a:lnRef>
          <a:fillRef idx="0">
            <a:schemeClr val="accent2"/>
          </a:fillRef>
          <a:effectRef idx="2">
            <a:schemeClr val="accent2"/>
          </a:effectRef>
          <a:fontRef idx="minor">
            <a:schemeClr val="tx1"/>
          </a:fontRef>
        </p:style>
      </p:cxnSp>
      <p:sp>
        <p:nvSpPr>
          <p:cNvPr id="42" name="文字方塊 41"/>
          <p:cNvSpPr txBox="1"/>
          <p:nvPr/>
        </p:nvSpPr>
        <p:spPr>
          <a:xfrm>
            <a:off x="6135084" y="2937286"/>
            <a:ext cx="306494" cy="369332"/>
          </a:xfrm>
          <a:prstGeom prst="rect">
            <a:avLst/>
          </a:prstGeom>
          <a:noFill/>
        </p:spPr>
        <p:txBody>
          <a:bodyPr wrap="none" rtlCol="0">
            <a:spAutoFit/>
          </a:bodyPr>
          <a:lstStyle/>
          <a:p>
            <a:r>
              <a:rPr lang="en-US" altLang="zh-TW" dirty="0">
                <a:solidFill>
                  <a:srgbClr val="FF0000"/>
                </a:solidFill>
              </a:rPr>
              <a:t>b</a:t>
            </a:r>
            <a:endParaRPr lang="zh-TW" altLang="en-US" dirty="0">
              <a:solidFill>
                <a:srgbClr val="FF0000"/>
              </a:solidFill>
            </a:endParaRPr>
          </a:p>
        </p:txBody>
      </p:sp>
      <p:sp>
        <p:nvSpPr>
          <p:cNvPr id="43" name="文字方塊 42"/>
          <p:cNvSpPr txBox="1"/>
          <p:nvPr/>
        </p:nvSpPr>
        <p:spPr>
          <a:xfrm>
            <a:off x="7930881" y="2491641"/>
            <a:ext cx="282450" cy="369332"/>
          </a:xfrm>
          <a:prstGeom prst="rect">
            <a:avLst/>
          </a:prstGeom>
          <a:noFill/>
        </p:spPr>
        <p:txBody>
          <a:bodyPr wrap="none" rtlCol="0">
            <a:spAutoFit/>
          </a:bodyPr>
          <a:lstStyle/>
          <a:p>
            <a:r>
              <a:rPr lang="en-US" altLang="zh-TW" dirty="0">
                <a:solidFill>
                  <a:srgbClr val="FF0000"/>
                </a:solidFill>
              </a:rPr>
              <a:t>c</a:t>
            </a:r>
            <a:endParaRPr lang="zh-TW" altLang="en-US" dirty="0">
              <a:solidFill>
                <a:srgbClr val="FF0000"/>
              </a:solidFill>
            </a:endParaRPr>
          </a:p>
        </p:txBody>
      </p:sp>
    </p:spTree>
    <p:extLst>
      <p:ext uri="{BB962C8B-B14F-4D97-AF65-F5344CB8AC3E}">
        <p14:creationId xmlns:p14="http://schemas.microsoft.com/office/powerpoint/2010/main" val="1451450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44839"/>
          </a:xfrm>
        </p:spPr>
        <p:txBody>
          <a:bodyPr>
            <a:normAutofit fontScale="90000"/>
          </a:bodyPr>
          <a:lstStyle/>
          <a:p>
            <a:r>
              <a:rPr lang="en-US" altLang="zh-TW" dirty="0"/>
              <a:t>Symbolic Fourier Approximation(SFA )</a:t>
            </a:r>
            <a:br>
              <a:rPr lang="en-US" altLang="zh-TW" dirty="0"/>
            </a:br>
            <a:endParaRPr lang="zh-TW" altLang="en-US" dirty="0"/>
          </a:p>
        </p:txBody>
      </p:sp>
      <p:pic>
        <p:nvPicPr>
          <p:cNvPr id="4" name="內容版面配置區 3"/>
          <p:cNvPicPr>
            <a:picLocks noGrp="1" noChangeAspect="1"/>
          </p:cNvPicPr>
          <p:nvPr>
            <p:ph idx="1"/>
          </p:nvPr>
        </p:nvPicPr>
        <p:blipFill>
          <a:blip r:embed="rId2"/>
          <a:stretch>
            <a:fillRect/>
          </a:stretch>
        </p:blipFill>
        <p:spPr>
          <a:xfrm>
            <a:off x="757381" y="992336"/>
            <a:ext cx="8543637" cy="5698350"/>
          </a:xfrm>
          <a:prstGeom prst="rect">
            <a:avLst/>
          </a:prstGeom>
        </p:spPr>
      </p:pic>
    </p:spTree>
    <p:extLst>
      <p:ext uri="{BB962C8B-B14F-4D97-AF65-F5344CB8AC3E}">
        <p14:creationId xmlns:p14="http://schemas.microsoft.com/office/powerpoint/2010/main" val="2929780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WEASEL(Word </a:t>
            </a:r>
            <a:r>
              <a:rPr lang="en-US" altLang="zh-TW" dirty="0" err="1"/>
              <a:t>ExtrAction</a:t>
            </a:r>
            <a:r>
              <a:rPr lang="en-US" altLang="zh-TW" dirty="0"/>
              <a:t> for time </a:t>
            </a:r>
            <a:r>
              <a:rPr lang="en-US" altLang="zh-TW" dirty="0" err="1"/>
              <a:t>SEries</a:t>
            </a:r>
            <a:r>
              <a:rPr lang="en-US" altLang="zh-TW" dirty="0"/>
              <a:t> </a:t>
            </a:r>
            <a:r>
              <a:rPr lang="en-US" altLang="zh-TW" dirty="0" err="1"/>
              <a:t>cLassification</a:t>
            </a:r>
            <a:r>
              <a:rPr lang="en-US" altLang="zh-TW" dirty="0"/>
              <a:t>)</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fontScale="92500" lnSpcReduction="10000"/>
              </a:bodyPr>
              <a:lstStyle/>
              <a:p>
                <a:pPr marL="514350" indent="-514350">
                  <a:buAutoNum type="arabicPeriod"/>
                </a:pPr>
                <a:r>
                  <a:rPr lang="en-US" altLang="zh-TW" b="1" dirty="0"/>
                  <a:t>Discriminative feature generation </a:t>
                </a:r>
                <a:r>
                  <a:rPr lang="en-US" altLang="zh-TW" dirty="0"/>
                  <a:t>: determines discriminative Fourier coefficients using the ANOVA f-test &amp; information gain</a:t>
                </a:r>
              </a:p>
              <a:p>
                <a:pPr marL="0" indent="0">
                  <a:buNone/>
                </a:pPr>
                <a:endParaRPr lang="en-US" altLang="zh-TW" dirty="0"/>
              </a:p>
              <a:p>
                <a:pPr marL="0" indent="0">
                  <a:buNone/>
                </a:pPr>
                <a:r>
                  <a:rPr lang="en-US" altLang="zh-TW" dirty="0"/>
                  <a:t>2. </a:t>
                </a:r>
                <a:r>
                  <a:rPr lang="en-US" altLang="zh-TW" b="1" dirty="0"/>
                  <a:t>Co-occurring words </a:t>
                </a:r>
                <a:r>
                  <a:rPr lang="en-US" altLang="zh-TW" dirty="0"/>
                  <a:t>: local order is encoded into the model(bi-gram).</a:t>
                </a:r>
              </a:p>
              <a:p>
                <a:pPr marL="0" indent="0">
                  <a:buNone/>
                </a:pPr>
                <a:endParaRPr lang="en-US" altLang="zh-TW" dirty="0"/>
              </a:p>
              <a:p>
                <a:pPr marL="0" indent="0">
                  <a:buNone/>
                </a:pPr>
                <a:r>
                  <a:rPr lang="en-US" altLang="zh-TW" dirty="0"/>
                  <a:t>3. </a:t>
                </a:r>
                <a:r>
                  <a:rPr lang="en-US" altLang="zh-TW" b="1" dirty="0"/>
                  <a:t>Variable-length windows </a:t>
                </a:r>
                <a:r>
                  <a:rPr lang="en-US" altLang="zh-TW" dirty="0"/>
                  <a:t>: Not fixed length</a:t>
                </a:r>
              </a:p>
              <a:p>
                <a:pPr marL="0" indent="0">
                  <a:buNone/>
                </a:pPr>
                <a:endParaRPr lang="en-US" altLang="zh-TW" dirty="0"/>
              </a:p>
              <a:p>
                <a:pPr marL="0" indent="0">
                  <a:buNone/>
                </a:pPr>
                <a:r>
                  <a:rPr lang="en-US" altLang="zh-TW" dirty="0"/>
                  <a:t>4</a:t>
                </a:r>
                <a:r>
                  <a:rPr lang="en-US" altLang="zh-TW" b="1" dirty="0"/>
                  <a:t>. Feature selection </a:t>
                </a:r>
                <a:r>
                  <a:rPr lang="en-US" altLang="zh-TW" dirty="0"/>
                  <a:t>: Use Chi-Squared test</a:t>
                </a:r>
                <a:r>
                  <a:rPr lang="zh-TW" altLang="en-US" dirty="0"/>
                  <a:t> </a:t>
                </a:r>
                <a:r>
                  <a:rPr lang="en-US" altLang="zh-TW" dirty="0"/>
                  <a:t>to be filter</a:t>
                </a:r>
              </a:p>
              <a:p>
                <a:r>
                  <a:rPr lang="en-US" altLang="zh-TW" dirty="0"/>
                  <a:t>BOP feature space is O</a:t>
                </a:r>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m:t>
                        </m:r>
                        <m:r>
                          <a:rPr lang="en-US" altLang="zh-TW" b="0" i="1" smtClean="0">
                            <a:latin typeface="Cambria Math" panose="02040503050406030204" pitchFamily="18" charset="0"/>
                          </a:rPr>
                          <m:t>𝑐</m:t>
                        </m:r>
                      </m:e>
                      <m:sup>
                        <m:r>
                          <a:rPr lang="en-US" altLang="zh-TW" b="0" i="1" smtClean="0">
                            <a:latin typeface="Cambria Math" panose="02040503050406030204" pitchFamily="18" charset="0"/>
                          </a:rPr>
                          <m:t>𝑙</m:t>
                        </m:r>
                      </m:sup>
                    </m:sSup>
                  </m:oMath>
                </a14:m>
                <a:r>
                  <a:rPr lang="en-US" altLang="zh-TW" dirty="0"/>
                  <a:t>), word length </a:t>
                </a:r>
                <a14:m>
                  <m:oMath xmlns:m="http://schemas.openxmlformats.org/officeDocument/2006/math">
                    <m:r>
                      <a:rPr lang="en-US" altLang="zh-TW" i="1" dirty="0" smtClean="0">
                        <a:latin typeface="Cambria Math" panose="02040503050406030204" pitchFamily="18" charset="0"/>
                      </a:rPr>
                      <m:t>𝑙</m:t>
                    </m:r>
                    <m:r>
                      <a:rPr lang="en-US" altLang="zh-TW" i="1" dirty="0" smtClean="0">
                        <a:latin typeface="Cambria Math" panose="02040503050406030204" pitchFamily="18" charset="0"/>
                      </a:rPr>
                      <m:t> </m:t>
                    </m:r>
                  </m:oMath>
                </a14:m>
                <a:r>
                  <a:rPr lang="en-US" altLang="zh-TW" dirty="0"/>
                  <a:t>and </a:t>
                </a:r>
                <a14:m>
                  <m:oMath xmlns:m="http://schemas.openxmlformats.org/officeDocument/2006/math">
                    <m:r>
                      <a:rPr lang="en-US" altLang="zh-TW" i="1" dirty="0" smtClean="0">
                        <a:latin typeface="Cambria Math" panose="02040503050406030204" pitchFamily="18" charset="0"/>
                      </a:rPr>
                      <m:t>𝑐</m:t>
                    </m:r>
                  </m:oMath>
                </a14:m>
                <a:r>
                  <a:rPr lang="en-US" altLang="zh-TW" dirty="0"/>
                  <a:t> symbols</a:t>
                </a:r>
              </a:p>
              <a:p>
                <a:r>
                  <a:rPr lang="en-US" altLang="zh-TW" dirty="0"/>
                  <a:t> WEASEL : bi-gram + variable length(n) =&gt; space O</a:t>
                </a:r>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m:t>
                        </m:r>
                        <m:r>
                          <a:rPr lang="en-US" altLang="zh-TW" b="0" i="1" smtClean="0">
                            <a:latin typeface="Cambria Math" panose="02040503050406030204" pitchFamily="18" charset="0"/>
                          </a:rPr>
                          <m:t>𝑐</m:t>
                        </m:r>
                      </m:e>
                      <m:sup>
                        <m:r>
                          <a:rPr lang="en-US" altLang="zh-TW" b="0" i="1" smtClean="0">
                            <a:latin typeface="Cambria Math" panose="02040503050406030204" pitchFamily="18" charset="0"/>
                          </a:rPr>
                          <m:t>2</m:t>
                        </m:r>
                        <m:r>
                          <a:rPr lang="en-US" altLang="zh-TW" b="0" i="1" smtClean="0">
                            <a:latin typeface="Cambria Math" panose="02040503050406030204" pitchFamily="18" charset="0"/>
                          </a:rPr>
                          <m:t>𝑙</m:t>
                        </m:r>
                      </m:sup>
                    </m:sSup>
                    <m:r>
                      <a:rPr lang="en-US" altLang="zh-TW" b="0" i="1" smtClean="0">
                        <a:latin typeface="Cambria Math" panose="02040503050406030204" pitchFamily="18" charset="0"/>
                      </a:rPr>
                      <m:t>∗</m:t>
                    </m:r>
                    <m:r>
                      <a:rPr lang="en-US" altLang="zh-TW" b="0" i="1" smtClean="0">
                        <a:latin typeface="Cambria Math" panose="02040503050406030204" pitchFamily="18" charset="0"/>
                      </a:rPr>
                      <m:t>𝑛</m:t>
                    </m:r>
                  </m:oMath>
                </a14:m>
                <a:r>
                  <a:rPr lang="en-US" altLang="zh-TW" dirty="0"/>
                  <a:t>), </a:t>
                </a:r>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101" t="-2941" b="-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29682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946439"/>
          </a:xfrm>
        </p:spPr>
        <p:txBody>
          <a:bodyPr>
            <a:normAutofit/>
          </a:bodyPr>
          <a:lstStyle/>
          <a:p>
            <a:r>
              <a:rPr lang="en-US" altLang="zh-TW" b="1" dirty="0"/>
              <a:t>one-way ANOVA F-test</a:t>
            </a:r>
            <a:endParaRPr lang="zh-TW" altLang="en-US" b="1"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616364"/>
                <a:ext cx="10515600" cy="5172363"/>
              </a:xfrm>
            </p:spPr>
            <p:txBody>
              <a:bodyPr/>
              <a:lstStyle/>
              <a:p>
                <a:r>
                  <a:rPr lang="en-US" altLang="zh-TW" dirty="0" smtClean="0"/>
                  <a:t>F-value is then defined as: F = </a:t>
                </a:r>
                <a14:m>
                  <m:oMath xmlns:m="http://schemas.openxmlformats.org/officeDocument/2006/math">
                    <m:f>
                      <m:fPr>
                        <m:ctrlPr>
                          <a:rPr lang="en-US" altLang="zh-TW" i="1" smtClean="0">
                            <a:latin typeface="Cambria Math" panose="02040503050406030204" pitchFamily="18" charset="0"/>
                          </a:rPr>
                        </m:ctrlPr>
                      </m:fPr>
                      <m:num>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𝑀𝑆</m:t>
                            </m:r>
                          </m:e>
                          <m:sub>
                            <m:r>
                              <a:rPr lang="en-US" altLang="zh-TW" b="0" i="1" smtClean="0">
                                <a:latin typeface="Cambria Math" panose="02040503050406030204" pitchFamily="18" charset="0"/>
                              </a:rPr>
                              <m:t>𝐵</m:t>
                            </m:r>
                          </m:sub>
                        </m:sSub>
                      </m:num>
                      <m:den>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𝑀𝑆</m:t>
                            </m:r>
                          </m:e>
                          <m:sub>
                            <m:r>
                              <a:rPr lang="en-US" altLang="zh-TW" b="0" i="1" smtClean="0">
                                <a:latin typeface="Cambria Math" panose="02040503050406030204" pitchFamily="18" charset="0"/>
                              </a:rPr>
                              <m:t>𝑊</m:t>
                            </m:r>
                          </m:sub>
                        </m:sSub>
                      </m:den>
                    </m:f>
                  </m:oMath>
                </a14:m>
                <a:r>
                  <a:rPr lang="en-US" altLang="zh-TW"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𝑀𝑆</m:t>
                        </m:r>
                      </m:e>
                      <m:sub>
                        <m:r>
                          <a:rPr lang="en-US" altLang="zh-TW" b="0" i="1" smtClean="0">
                            <a:latin typeface="Cambria Math" panose="02040503050406030204" pitchFamily="18" charset="0"/>
                          </a:rPr>
                          <m:t>𝐵</m:t>
                        </m:r>
                      </m:sub>
                    </m:sSub>
                  </m:oMath>
                </a14:m>
                <a:r>
                  <a:rPr lang="en-US" altLang="zh-TW" dirty="0"/>
                  <a:t> : mean square between,</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 </m:t>
                        </m:r>
                        <m:r>
                          <a:rPr lang="en-US" altLang="zh-TW" b="0" i="1" smtClean="0">
                            <a:latin typeface="Cambria Math" panose="02040503050406030204" pitchFamily="18" charset="0"/>
                          </a:rPr>
                          <m:t>𝑀𝑆</m:t>
                        </m:r>
                      </m:e>
                      <m:sub>
                        <m:r>
                          <a:rPr lang="en-US" altLang="zh-TW" b="0" i="1" smtClean="0">
                            <a:latin typeface="Cambria Math" panose="02040503050406030204" pitchFamily="18" charset="0"/>
                          </a:rPr>
                          <m:t>𝑊</m:t>
                        </m:r>
                      </m:sub>
                    </m:sSub>
                  </m:oMath>
                </a14:m>
                <a:r>
                  <a:rPr lang="en-US" altLang="zh-TW" dirty="0"/>
                  <a:t> = mean square within.</a:t>
                </a:r>
              </a:p>
              <a:p>
                <a:pPr marL="0" indent="0">
                  <a:buNone/>
                </a:pPr>
                <a:endParaRPr lang="en-US" altLang="zh-TW" dirty="0"/>
              </a:p>
              <a:p>
                <a:r>
                  <a:rPr lang="en-US" altLang="zh-TW" dirty="0"/>
                  <a:t>If there is no difference between the group means, the</a:t>
                </a:r>
              </a:p>
              <a:p>
                <a:pPr marL="0" indent="0">
                  <a:buNone/>
                </a:pPr>
                <a:r>
                  <a:rPr lang="en-US" altLang="zh-TW" dirty="0"/>
                  <a:t>F-value is close to or below 1.</a:t>
                </a:r>
              </a:p>
              <a:p>
                <a:pPr marL="0" indent="0">
                  <a:buNone/>
                </a:pPr>
                <a:endParaRPr lang="en-US" altLang="zh-TW" dirty="0"/>
              </a:p>
              <a:p>
                <a:pPr marL="0" indent="0">
                  <a:buNone/>
                </a:pPr>
                <a:r>
                  <a:rPr lang="en-US" altLang="zh-TW" dirty="0"/>
                  <a:t>Quantization</a:t>
                </a:r>
                <a:r>
                  <a:rPr lang="zh-TW" altLang="en-US" dirty="0"/>
                  <a:t> </a:t>
                </a:r>
                <a:r>
                  <a:rPr lang="en-US" altLang="zh-TW" dirty="0"/>
                  <a:t>: </a:t>
                </a:r>
                <a:r>
                  <a:rPr lang="zh-TW" altLang="en-US" dirty="0"/>
                  <a:t>由 </a:t>
                </a:r>
                <a:r>
                  <a:rPr lang="en-US" altLang="zh-TW" dirty="0"/>
                  <a:t>information gain </a:t>
                </a:r>
                <a:r>
                  <a:rPr lang="zh-TW" altLang="en-US" dirty="0"/>
                  <a:t>去決定</a:t>
                </a:r>
                <a:endParaRPr lang="en-US" altLang="zh-TW"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616364"/>
                <a:ext cx="10515600" cy="5172363"/>
              </a:xfrm>
              <a:blipFill rotWithShape="0">
                <a:blip r:embed="rId2"/>
                <a:stretch>
                  <a:fillRect l="-1217" t="-23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7589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1564673" y="568324"/>
            <a:ext cx="8194641" cy="5786293"/>
          </a:xfrm>
          <a:prstGeom prst="rect">
            <a:avLst/>
          </a:prstGeom>
        </p:spPr>
      </p:pic>
    </p:spTree>
    <p:extLst>
      <p:ext uri="{BB962C8B-B14F-4D97-AF65-F5344CB8AC3E}">
        <p14:creationId xmlns:p14="http://schemas.microsoft.com/office/powerpoint/2010/main" val="2830846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Chi-square </a:t>
            </a:r>
            <a:endParaRPr lang="zh-TW" altLang="en-US" dirty="0"/>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3052650296"/>
              </p:ext>
            </p:extLst>
          </p:nvPr>
        </p:nvGraphicFramePr>
        <p:xfrm>
          <a:off x="1605581" y="1339273"/>
          <a:ext cx="4610492" cy="1494415"/>
        </p:xfrm>
        <a:graphic>
          <a:graphicData uri="http://schemas.openxmlformats.org/drawingml/2006/table">
            <a:tbl>
              <a:tblPr firstRow="1" firstCol="1" lastRow="1" lastCol="1" bandRow="1" bandCol="1">
                <a:tableStyleId>{5C22544A-7EE6-4342-B048-85BDC9FD1C3A}</a:tableStyleId>
              </a:tblPr>
              <a:tblGrid>
                <a:gridCol w="1309424">
                  <a:extLst>
                    <a:ext uri="{9D8B030D-6E8A-4147-A177-3AD203B41FA5}">
                      <a16:colId xmlns="" xmlns:a16="http://schemas.microsoft.com/office/drawing/2014/main" val="939582825"/>
                    </a:ext>
                  </a:extLst>
                </a:gridCol>
                <a:gridCol w="1320427">
                  <a:extLst>
                    <a:ext uri="{9D8B030D-6E8A-4147-A177-3AD203B41FA5}">
                      <a16:colId xmlns="" xmlns:a16="http://schemas.microsoft.com/office/drawing/2014/main" val="1555543837"/>
                    </a:ext>
                  </a:extLst>
                </a:gridCol>
                <a:gridCol w="1100356">
                  <a:extLst>
                    <a:ext uri="{9D8B030D-6E8A-4147-A177-3AD203B41FA5}">
                      <a16:colId xmlns="" xmlns:a16="http://schemas.microsoft.com/office/drawing/2014/main" val="397896255"/>
                    </a:ext>
                  </a:extLst>
                </a:gridCol>
                <a:gridCol w="880285">
                  <a:extLst>
                    <a:ext uri="{9D8B030D-6E8A-4147-A177-3AD203B41FA5}">
                      <a16:colId xmlns="" xmlns:a16="http://schemas.microsoft.com/office/drawing/2014/main" val="1340532415"/>
                    </a:ext>
                  </a:extLst>
                </a:gridCol>
              </a:tblGrid>
              <a:tr h="298883">
                <a:tc>
                  <a:txBody>
                    <a:bodyPr/>
                    <a:lstStyle/>
                    <a:p>
                      <a:pPr algn="just">
                        <a:lnSpc>
                          <a:spcPts val="1800"/>
                        </a:lnSpc>
                        <a:spcAft>
                          <a:spcPts val="0"/>
                        </a:spcAft>
                      </a:pPr>
                      <a:r>
                        <a:rPr lang="en-US" sz="1400">
                          <a:effectLst/>
                        </a:rPr>
                        <a:t> </a:t>
                      </a:r>
                      <a:endParaRPr lang="zh-TW" sz="1200">
                        <a:effectLst/>
                        <a:latin typeface="Times New Roman" panose="02020603050405020304" pitchFamily="18" charset="0"/>
                        <a:ea typeface="細明體" panose="02020509000000000000" pitchFamily="49" charset="-120"/>
                      </a:endParaRPr>
                    </a:p>
                  </a:txBody>
                  <a:tcPr marL="68580" marR="68580" marT="0" marB="0"/>
                </a:tc>
                <a:tc gridSpan="2">
                  <a:txBody>
                    <a:bodyPr/>
                    <a:lstStyle/>
                    <a:p>
                      <a:pPr algn="ctr">
                        <a:lnSpc>
                          <a:spcPts val="1800"/>
                        </a:lnSpc>
                        <a:spcAft>
                          <a:spcPts val="0"/>
                        </a:spcAft>
                      </a:pPr>
                      <a:r>
                        <a:rPr lang="en-US" sz="1400" dirty="0">
                          <a:effectLst/>
                        </a:rPr>
                        <a:t> </a:t>
                      </a:r>
                      <a:r>
                        <a:rPr lang="zh-TW" sz="1400" dirty="0">
                          <a:effectLst/>
                        </a:rPr>
                        <a:t>性別</a:t>
                      </a:r>
                      <a:endParaRPr lang="zh-TW" sz="1200" dirty="0">
                        <a:effectLst/>
                        <a:latin typeface="Times New Roman" panose="02020603050405020304" pitchFamily="18" charset="0"/>
                        <a:ea typeface="細明體" panose="02020509000000000000" pitchFamily="49" charset="-120"/>
                      </a:endParaRPr>
                    </a:p>
                  </a:txBody>
                  <a:tcPr marL="68580" marR="68580" marT="0" marB="0"/>
                </a:tc>
                <a:tc hMerge="1">
                  <a:txBody>
                    <a:bodyPr/>
                    <a:lstStyle/>
                    <a:p>
                      <a:endParaRPr lang="zh-TW" altLang="en-US"/>
                    </a:p>
                  </a:txBody>
                  <a:tcPr/>
                </a:tc>
                <a:tc>
                  <a:txBody>
                    <a:bodyPr/>
                    <a:lstStyle/>
                    <a:p>
                      <a:pPr algn="just">
                        <a:lnSpc>
                          <a:spcPts val="1800"/>
                        </a:lnSpc>
                        <a:spcAft>
                          <a:spcPts val="0"/>
                        </a:spcAft>
                      </a:pPr>
                      <a:r>
                        <a:rPr lang="en-US" sz="1400" dirty="0">
                          <a:effectLst/>
                        </a:rPr>
                        <a:t> </a:t>
                      </a:r>
                      <a:endParaRPr lang="zh-TW" sz="1200" dirty="0">
                        <a:effectLst/>
                        <a:latin typeface="Times New Roman" panose="02020603050405020304" pitchFamily="18" charset="0"/>
                        <a:ea typeface="細明體" panose="02020509000000000000" pitchFamily="49" charset="-120"/>
                      </a:endParaRPr>
                    </a:p>
                  </a:txBody>
                  <a:tcPr marL="68580" marR="68580" marT="0" marB="0"/>
                </a:tc>
                <a:extLst>
                  <a:ext uri="{0D108BD9-81ED-4DB2-BD59-A6C34878D82A}">
                    <a16:rowId xmlns="" xmlns:a16="http://schemas.microsoft.com/office/drawing/2014/main" val="269449593"/>
                  </a:ext>
                </a:extLst>
              </a:tr>
              <a:tr h="298883">
                <a:tc>
                  <a:txBody>
                    <a:bodyPr/>
                    <a:lstStyle/>
                    <a:p>
                      <a:pPr algn="just">
                        <a:lnSpc>
                          <a:spcPts val="1800"/>
                        </a:lnSpc>
                        <a:spcAft>
                          <a:spcPts val="0"/>
                        </a:spcAft>
                      </a:pPr>
                      <a:r>
                        <a:rPr lang="zh-TW" sz="1400">
                          <a:effectLst/>
                        </a:rPr>
                        <a:t>教育程度</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zh-TW" sz="1400">
                          <a:effectLst/>
                        </a:rPr>
                        <a:t>男</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zh-TW" sz="1400" dirty="0">
                          <a:effectLst/>
                        </a:rPr>
                        <a:t>女</a:t>
                      </a:r>
                      <a:endParaRPr lang="zh-TW" sz="1200" dirty="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zh-TW" sz="1400" dirty="0">
                          <a:effectLst/>
                        </a:rPr>
                        <a:t>合計</a:t>
                      </a:r>
                      <a:endParaRPr lang="zh-TW" sz="1200" dirty="0">
                        <a:effectLst/>
                        <a:latin typeface="Times New Roman" panose="02020603050405020304" pitchFamily="18" charset="0"/>
                        <a:ea typeface="細明體" panose="02020509000000000000" pitchFamily="49" charset="-120"/>
                      </a:endParaRPr>
                    </a:p>
                  </a:txBody>
                  <a:tcPr marL="68580" marR="68580" marT="0" marB="0"/>
                </a:tc>
                <a:extLst>
                  <a:ext uri="{0D108BD9-81ED-4DB2-BD59-A6C34878D82A}">
                    <a16:rowId xmlns="" xmlns:a16="http://schemas.microsoft.com/office/drawing/2014/main" val="3993561874"/>
                  </a:ext>
                </a:extLst>
              </a:tr>
              <a:tr h="298883">
                <a:tc>
                  <a:txBody>
                    <a:bodyPr/>
                    <a:lstStyle/>
                    <a:p>
                      <a:pPr algn="just">
                        <a:lnSpc>
                          <a:spcPts val="1800"/>
                        </a:lnSpc>
                        <a:spcAft>
                          <a:spcPts val="0"/>
                        </a:spcAft>
                      </a:pPr>
                      <a:r>
                        <a:rPr lang="zh-TW" sz="1400">
                          <a:effectLst/>
                        </a:rPr>
                        <a:t>大</a:t>
                      </a:r>
                      <a:r>
                        <a:rPr lang="en-US" sz="1400">
                          <a:effectLst/>
                        </a:rPr>
                        <a:t>    </a:t>
                      </a:r>
                      <a:r>
                        <a:rPr lang="zh-TW" sz="1400">
                          <a:effectLst/>
                        </a:rPr>
                        <a:t>專</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dirty="0">
                          <a:effectLst/>
                        </a:rPr>
                        <a:t>30</a:t>
                      </a:r>
                      <a:endParaRPr lang="zh-TW" sz="1200" dirty="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dirty="0">
                          <a:effectLst/>
                        </a:rPr>
                        <a:t>10</a:t>
                      </a:r>
                      <a:endParaRPr lang="zh-TW" sz="1200" dirty="0">
                        <a:effectLst/>
                        <a:latin typeface="Times New Roman" panose="02020603050405020304" pitchFamily="18" charset="0"/>
                        <a:ea typeface="細明體" panose="02020509000000000000" pitchFamily="49" charset="-120"/>
                      </a:endParaRPr>
                    </a:p>
                  </a:txBody>
                  <a:tcPr marL="68580" marR="68580" marT="0" marB="0"/>
                </a:tc>
                <a:tc>
                  <a:txBody>
                    <a:bodyPr/>
                    <a:lstStyle/>
                    <a:p>
                      <a:pPr indent="177800" algn="just">
                        <a:lnSpc>
                          <a:spcPts val="1800"/>
                        </a:lnSpc>
                        <a:spcAft>
                          <a:spcPts val="0"/>
                        </a:spcAft>
                      </a:pPr>
                      <a:r>
                        <a:rPr lang="en-US" sz="1400" dirty="0">
                          <a:effectLst/>
                        </a:rPr>
                        <a:t>40</a:t>
                      </a:r>
                      <a:endParaRPr lang="zh-TW" sz="1200" dirty="0">
                        <a:effectLst/>
                        <a:latin typeface="Times New Roman" panose="02020603050405020304" pitchFamily="18" charset="0"/>
                        <a:ea typeface="細明體" panose="02020509000000000000" pitchFamily="49" charset="-120"/>
                      </a:endParaRPr>
                    </a:p>
                  </a:txBody>
                  <a:tcPr marL="68580" marR="68580" marT="0" marB="0"/>
                </a:tc>
                <a:extLst>
                  <a:ext uri="{0D108BD9-81ED-4DB2-BD59-A6C34878D82A}">
                    <a16:rowId xmlns="" xmlns:a16="http://schemas.microsoft.com/office/drawing/2014/main" val="4171293155"/>
                  </a:ext>
                </a:extLst>
              </a:tr>
              <a:tr h="298883">
                <a:tc>
                  <a:txBody>
                    <a:bodyPr/>
                    <a:lstStyle/>
                    <a:p>
                      <a:pPr algn="just">
                        <a:lnSpc>
                          <a:spcPts val="1800"/>
                        </a:lnSpc>
                        <a:spcAft>
                          <a:spcPts val="0"/>
                        </a:spcAft>
                      </a:pPr>
                      <a:r>
                        <a:rPr lang="zh-TW" sz="1400">
                          <a:effectLst/>
                        </a:rPr>
                        <a:t>大專以下</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dirty="0">
                          <a:effectLst/>
                        </a:rPr>
                        <a:t>25</a:t>
                      </a:r>
                      <a:endParaRPr lang="zh-TW" sz="1200" dirty="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a:effectLst/>
                        </a:rPr>
                        <a:t>35</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indent="177800" algn="just">
                        <a:lnSpc>
                          <a:spcPts val="1800"/>
                        </a:lnSpc>
                        <a:spcAft>
                          <a:spcPts val="0"/>
                        </a:spcAft>
                      </a:pPr>
                      <a:r>
                        <a:rPr lang="en-US" sz="1400">
                          <a:effectLst/>
                        </a:rPr>
                        <a:t>60</a:t>
                      </a:r>
                      <a:endParaRPr lang="zh-TW" sz="1200">
                        <a:effectLst/>
                        <a:latin typeface="Times New Roman" panose="02020603050405020304" pitchFamily="18" charset="0"/>
                        <a:ea typeface="細明體" panose="02020509000000000000" pitchFamily="49" charset="-120"/>
                      </a:endParaRPr>
                    </a:p>
                  </a:txBody>
                  <a:tcPr marL="68580" marR="68580" marT="0" marB="0"/>
                </a:tc>
                <a:extLst>
                  <a:ext uri="{0D108BD9-81ED-4DB2-BD59-A6C34878D82A}">
                    <a16:rowId xmlns="" xmlns:a16="http://schemas.microsoft.com/office/drawing/2014/main" val="2782687947"/>
                  </a:ext>
                </a:extLst>
              </a:tr>
              <a:tr h="298883">
                <a:tc>
                  <a:txBody>
                    <a:bodyPr/>
                    <a:lstStyle/>
                    <a:p>
                      <a:pPr algn="just">
                        <a:lnSpc>
                          <a:spcPts val="1800"/>
                        </a:lnSpc>
                        <a:spcAft>
                          <a:spcPts val="0"/>
                        </a:spcAft>
                      </a:pPr>
                      <a:r>
                        <a:rPr lang="zh-TW" sz="1400">
                          <a:effectLst/>
                        </a:rPr>
                        <a:t>合計</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a:effectLst/>
                        </a:rPr>
                        <a:t>55</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a:effectLst/>
                        </a:rPr>
                        <a:t>45</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dirty="0">
                          <a:effectLst/>
                        </a:rPr>
                        <a:t>100</a:t>
                      </a:r>
                      <a:endParaRPr lang="zh-TW" sz="1200" dirty="0">
                        <a:effectLst/>
                        <a:latin typeface="Times New Roman" panose="02020603050405020304" pitchFamily="18" charset="0"/>
                        <a:ea typeface="細明體" panose="02020509000000000000" pitchFamily="49" charset="-120"/>
                      </a:endParaRPr>
                    </a:p>
                  </a:txBody>
                  <a:tcPr marL="68580" marR="68580" marT="0" marB="0"/>
                </a:tc>
                <a:extLst>
                  <a:ext uri="{0D108BD9-81ED-4DB2-BD59-A6C34878D82A}">
                    <a16:rowId xmlns="" xmlns:a16="http://schemas.microsoft.com/office/drawing/2014/main" val="1279226706"/>
                  </a:ext>
                </a:extLst>
              </a:tr>
            </a:tbl>
          </a:graphicData>
        </a:graphic>
      </p:graphicFrame>
      <mc:AlternateContent xmlns:mc="http://schemas.openxmlformats.org/markup-compatibility/2006" xmlns:a14="http://schemas.microsoft.com/office/drawing/2010/main">
        <mc:Choice Requires="a14">
          <p:sp>
            <p:nvSpPr>
              <p:cNvPr id="6" name="文字方塊 5"/>
              <p:cNvSpPr txBox="1"/>
              <p:nvPr/>
            </p:nvSpPr>
            <p:spPr>
              <a:xfrm>
                <a:off x="838200" y="2964873"/>
                <a:ext cx="6085127" cy="4401205"/>
              </a:xfrm>
              <a:prstGeom prst="rect">
                <a:avLst/>
              </a:prstGeom>
              <a:noFill/>
            </p:spPr>
            <p:txBody>
              <a:bodyPr wrap="none" rtlCol="0">
                <a:spAutoFit/>
              </a:bodyPr>
              <a:lstStyle/>
              <a:p>
                <a:pPr lvl="0" indent="177800" eaLnBrk="0" fontAlgn="base" hangingPunct="0">
                  <a:spcBef>
                    <a:spcPct val="0"/>
                  </a:spcBef>
                  <a:spcAft>
                    <a:spcPct val="0"/>
                  </a:spcAft>
                </a:pPr>
                <a:r>
                  <a:rPr lang="zh-TW" altLang="en-US" dirty="0">
                    <a:latin typeface="標楷體" panose="03000509000000000000" pitchFamily="65" charset="-120"/>
                    <a:ea typeface="標楷體" panose="03000509000000000000" pitchFamily="65" charset="-120"/>
                    <a:cs typeface="Times New Roman" panose="02020603050405020304" pitchFamily="18" charset="0"/>
                  </a:rPr>
                  <a:t>性別與教育程度  </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N=100</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endParaRPr kumimoji="0" lang="en-US" altLang="zh-TW" sz="1000" b="0" i="0" u="none" strike="noStrike" cap="none" normalizeH="0" baseline="0" dirty="0">
                  <a:ln>
                    <a:noFill/>
                  </a:ln>
                  <a:solidFill>
                    <a:schemeClr val="tx1"/>
                  </a:solidFill>
                  <a:effectLst/>
                </a:endParaRPr>
              </a:p>
              <a:p>
                <a:pPr lvl="0" indent="177800" eaLnBrk="0" fontAlgn="base" hangingPunct="0">
                  <a:spcBef>
                    <a:spcPct val="0"/>
                  </a:spcBef>
                  <a:spcAft>
                    <a:spcPct val="0"/>
                  </a:spcAft>
                </a:pP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1</a:t>
                </a:r>
                <a:r>
                  <a:rPr lang="zh-TW" altLang="en-US" dirty="0">
                    <a:latin typeface="標楷體" panose="03000509000000000000" pitchFamily="65" charset="-120"/>
                    <a:ea typeface="標楷體" panose="03000509000000000000" pitchFamily="65" charset="-120"/>
                    <a:cs typeface="Times New Roman" panose="02020603050405020304" pitchFamily="18" charset="0"/>
                  </a:rPr>
                  <a:t>、基本假定：</a:t>
                </a:r>
                <a:endParaRPr kumimoji="0" lang="zh-TW" altLang="en-US" sz="1000" b="0" i="0" u="none" strike="noStrike" cap="none" normalizeH="0" baseline="0" dirty="0">
                  <a:ln>
                    <a:noFill/>
                  </a:ln>
                  <a:solidFill>
                    <a:schemeClr val="tx1"/>
                  </a:solidFill>
                  <a:effectLst/>
                </a:endParaRPr>
              </a:p>
              <a:p>
                <a:pPr lvl="0" indent="177800" eaLnBrk="0" fontAlgn="base" hangingPunct="0">
                  <a:spcBef>
                    <a:spcPct val="0"/>
                  </a:spcBef>
                  <a:spcAft>
                    <a:spcPct val="0"/>
                  </a:spcAft>
                </a:pP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Model</a:t>
                </a:r>
                <a:r>
                  <a:rPr lang="zh-TW" altLang="en-US" dirty="0">
                    <a:latin typeface="標楷體" panose="03000509000000000000" pitchFamily="65" charset="-120"/>
                    <a:ea typeface="標楷體" panose="03000509000000000000" pitchFamily="65" charset="-120"/>
                    <a:cs typeface="Times New Roman" panose="02020603050405020304" pitchFamily="18" charset="0"/>
                  </a:rPr>
                  <a:t>：獨立隨機樣本</a:t>
                </a:r>
                <a:r>
                  <a:rPr lang="en-US" altLang="zh-TW" dirty="0">
                    <a:latin typeface="標楷體" panose="03000509000000000000" pitchFamily="65" charset="-120"/>
                    <a:ea typeface="標楷體" panose="03000509000000000000" pitchFamily="65" charset="-120"/>
                    <a:cs typeface="Times New Roman" panose="02020603050405020304" pitchFamily="18" charset="0"/>
                  </a:rPr>
                  <a:t>            </a:t>
                </a:r>
              </a:p>
              <a:p>
                <a:pPr lvl="0" indent="177800" eaLnBrk="0" fontAlgn="base" hangingPunct="0">
                  <a:spcBef>
                    <a:spcPct val="0"/>
                  </a:spcBef>
                  <a:spcAft>
                    <a:spcPct val="0"/>
                  </a:spcAft>
                </a:pPr>
                <a:r>
                  <a:rPr lang="en-US" altLang="zh-TW" dirty="0">
                    <a:latin typeface="標楷體" panose="03000509000000000000" pitchFamily="65" charset="-120"/>
                    <a:ea typeface="標楷體" panose="03000509000000000000" pitchFamily="65" charset="-120"/>
                    <a:cs typeface="Times New Roman" panose="02020603050405020304" pitchFamily="18" charset="0"/>
                  </a:rPr>
                  <a:t>	</a:t>
                </a:r>
                <a:r>
                  <a:rPr lang="zh-TW" altLang="en-US" dirty="0">
                    <a:latin typeface="標楷體" panose="03000509000000000000" pitchFamily="65" charset="-120"/>
                    <a:ea typeface="標楷體" panose="03000509000000000000" pitchFamily="65" charset="-120"/>
                    <a:cs typeface="Times New Roman" panose="02020603050405020304" pitchFamily="18" charset="0"/>
                  </a:rPr>
                  <a:t>測量尺度為名目</a:t>
                </a:r>
                <a:endParaRPr kumimoji="0" lang="en-US" altLang="zh-TW" sz="1000" b="0" i="0" u="none" strike="noStrike" cap="none" normalizeH="0" baseline="0" dirty="0">
                  <a:ln>
                    <a:noFill/>
                  </a:ln>
                  <a:solidFill>
                    <a:schemeClr val="tx1"/>
                  </a:solidFill>
                  <a:effectLst/>
                </a:endParaRPr>
              </a:p>
              <a:p>
                <a:pPr lvl="0" indent="177800" eaLnBrk="0" fontAlgn="base" hangingPunct="0">
                  <a:spcBef>
                    <a:spcPct val="0"/>
                  </a:spcBef>
                  <a:spcAft>
                    <a:spcPct val="0"/>
                  </a:spcAft>
                </a:pPr>
                <a:r>
                  <a:rPr lang="en-US" altLang="zh-TW" dirty="0">
                    <a:latin typeface="標楷體" panose="03000509000000000000" pitchFamily="65" charset="-120"/>
                    <a:ea typeface="標楷體" panose="03000509000000000000" pitchFamily="65" charset="-120"/>
                    <a:cs typeface="Times New Roman" panose="02020603050405020304" pitchFamily="18" charset="0"/>
                  </a:rPr>
                  <a:t>     </a:t>
                </a:r>
                <a:endParaRPr kumimoji="0" lang="en-US" altLang="zh-TW" sz="1000" b="0" i="0" u="none" strike="noStrike" cap="none" normalizeH="0" baseline="0" dirty="0">
                  <a:ln>
                    <a:noFill/>
                  </a:ln>
                  <a:solidFill>
                    <a:schemeClr val="tx1"/>
                  </a:solidFill>
                  <a:effectLst/>
                </a:endParaRPr>
              </a:p>
              <a:p>
                <a:pPr lvl="0" indent="177800" eaLnBrk="0" fontAlgn="base" hangingPunct="0">
                  <a:spcBef>
                    <a:spcPct val="0"/>
                  </a:spcBef>
                  <a:spcAft>
                    <a:spcPct val="0"/>
                  </a:spcAft>
                </a:pP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2</a:t>
                </a:r>
                <a:r>
                  <a:rPr lang="zh-TW" altLang="en-US" dirty="0">
                    <a:latin typeface="標楷體" panose="03000509000000000000" pitchFamily="65" charset="-120"/>
                    <a:ea typeface="標楷體" panose="03000509000000000000" pitchFamily="65" charset="-120"/>
                    <a:cs typeface="Times New Roman" panose="02020603050405020304" pitchFamily="18" charset="0"/>
                  </a:rPr>
                  <a:t>、虛無假設：</a:t>
                </a:r>
              </a:p>
              <a:p>
                <a:pPr lvl="0" indent="177800" eaLnBrk="0" fontAlgn="base" hangingPunct="0">
                  <a:spcBef>
                    <a:spcPct val="0"/>
                  </a:spcBef>
                  <a:spcAft>
                    <a:spcPct val="0"/>
                  </a:spcAft>
                </a:pP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H</a:t>
                </a:r>
                <a:r>
                  <a:rPr lang="en-US" altLang="zh-TW" baseline="-30000" dirty="0">
                    <a:latin typeface="Times New Roman" panose="02020603050405020304" pitchFamily="18" charset="0"/>
                    <a:ea typeface="標楷體" panose="03000509000000000000" pitchFamily="65" charset="-120"/>
                    <a:cs typeface="Times New Roman" panose="02020603050405020304" pitchFamily="18" charset="0"/>
                  </a:rPr>
                  <a:t>o</a:t>
                </a:r>
                <a:r>
                  <a:rPr lang="zh-TW" altLang="en-US" dirty="0">
                    <a:latin typeface="標楷體" panose="03000509000000000000" pitchFamily="65" charset="-120"/>
                    <a:ea typeface="標楷體" panose="03000509000000000000" pitchFamily="65" charset="-120"/>
                    <a:cs typeface="Times New Roman" panose="02020603050405020304" pitchFamily="18" charset="0"/>
                  </a:rPr>
                  <a:t>：兩變項是獨立的</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r>
                  <a:rPr lang="zh-TW" altLang="en-US" dirty="0">
                    <a:latin typeface="標楷體" panose="03000509000000000000" pitchFamily="65" charset="-120"/>
                    <a:ea typeface="標楷體" panose="03000509000000000000" pitchFamily="65" charset="-120"/>
                    <a:cs typeface="Times New Roman" panose="02020603050405020304" pitchFamily="18" charset="0"/>
                  </a:rPr>
                  <a:t>性別與教育程度無關</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r>
                  <a:rPr lang="zh-TW" altLang="en-US" dirty="0">
                    <a:latin typeface="標楷體" panose="03000509000000000000" pitchFamily="65" charset="-120"/>
                    <a:ea typeface="標楷體" panose="03000509000000000000" pitchFamily="65" charset="-120"/>
                    <a:cs typeface="Times New Roman" panose="02020603050405020304" pitchFamily="18" charset="0"/>
                  </a:rPr>
                  <a:t>。</a:t>
                </a: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pPr lvl="0" indent="177800" eaLnBrk="0" fontAlgn="base" hangingPunct="0">
                  <a:spcBef>
                    <a:spcPct val="0"/>
                  </a:spcBef>
                  <a:spcAft>
                    <a:spcPct val="0"/>
                  </a:spcAft>
                </a:pP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kumimoji="0" lang="en-US" altLang="zh-TW"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3</a:t>
                </a:r>
                <a:r>
                  <a:rPr kumimoji="0" lang="zh-TW" altLang="en-US"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 </a:t>
                </a:r>
                <a:r>
                  <a:rPr kumimoji="0" lang="en-US" altLang="zh-TW"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55</a:t>
                </a:r>
                <a:r>
                  <a:rPr lang="zh-TW" altLang="en-US" dirty="0">
                    <a:latin typeface="標楷體" panose="03000509000000000000" pitchFamily="65" charset="-120"/>
                    <a:ea typeface="標楷體" panose="03000509000000000000" pitchFamily="65" charset="-120"/>
                    <a:cs typeface="Times New Roman" panose="02020603050405020304" pitchFamily="18" charset="0"/>
                  </a:rPr>
                  <a:t> * </a:t>
                </a:r>
                <a:r>
                  <a:rPr lang="en-US" altLang="zh-TW" dirty="0">
                    <a:latin typeface="標楷體" panose="03000509000000000000" pitchFamily="65" charset="-120"/>
                    <a:ea typeface="標楷體" panose="03000509000000000000" pitchFamily="65" charset="-120"/>
                    <a:cs typeface="Times New Roman" panose="02020603050405020304" pitchFamily="18" charset="0"/>
                  </a:rPr>
                  <a:t>60/100</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33</a:t>
                </a:r>
              </a:p>
              <a:p>
                <a:pPr lvl="0" indent="177800" eaLnBrk="0" fontAlgn="base" hangingPunct="0">
                  <a:spcBef>
                    <a:spcPct val="0"/>
                  </a:spcBef>
                  <a:spcAft>
                    <a:spcPct val="0"/>
                  </a:spcAft>
                </a:pPr>
                <a:endParaRPr kumimoji="0" lang="en-US" altLang="zh-TW"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endParaRPr>
              </a:p>
              <a:p>
                <a:pPr lvl="0" indent="177800" eaLnBrk="0" fontAlgn="base" hangingPunct="0">
                  <a:spcBef>
                    <a:spcPct val="0"/>
                  </a:spcBef>
                  <a:spcAft>
                    <a:spcPct val="0"/>
                  </a:spcAft>
                </a:pP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4</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14:m>
                  <m:oMath xmlns:m="http://schemas.openxmlformats.org/officeDocument/2006/math">
                    <m:sSup>
                      <m:s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i="1">
                            <a:latin typeface="Cambria Math" panose="02040503050406030204" pitchFamily="18" charset="0"/>
                            <a:ea typeface="標楷體" panose="03000509000000000000" pitchFamily="65" charset="-120"/>
                            <a:cs typeface="Times New Roman" panose="02020603050405020304" pitchFamily="18" charset="0"/>
                          </a:rPr>
                          <m:t>(3</m:t>
                        </m:r>
                        <m:r>
                          <a:rPr lang="en-US" altLang="zh-TW" i="1" smtClean="0">
                            <a:latin typeface="Cambria Math" panose="02040503050406030204" pitchFamily="18" charset="0"/>
                            <a:ea typeface="標楷體" panose="03000509000000000000" pitchFamily="65" charset="-120"/>
                            <a:cs typeface="Times New Roman" panose="02020603050405020304" pitchFamily="18" charset="0"/>
                          </a:rPr>
                          <m:t>0</m:t>
                        </m:r>
                        <m:r>
                          <a:rPr lang="en-US" altLang="zh-TW" i="1">
                            <a:latin typeface="Cambria Math" panose="02040503050406030204" pitchFamily="18" charset="0"/>
                            <a:ea typeface="標楷體" panose="03000509000000000000" pitchFamily="65" charset="-120"/>
                            <a:cs typeface="Times New Roman" panose="02020603050405020304" pitchFamily="18" charset="0"/>
                          </a:rPr>
                          <m:t>−</m:t>
                        </m:r>
                        <m:r>
                          <a:rPr lang="en-US" altLang="zh-TW" i="1" smtClean="0">
                            <a:latin typeface="Cambria Math" panose="02040503050406030204" pitchFamily="18" charset="0"/>
                            <a:ea typeface="標楷體" panose="03000509000000000000" pitchFamily="65" charset="-120"/>
                            <a:cs typeface="Times New Roman" panose="02020603050405020304" pitchFamily="18" charset="0"/>
                          </a:rPr>
                          <m:t>2</m:t>
                        </m:r>
                        <m:r>
                          <a:rPr lang="en-US" altLang="zh-TW" i="1">
                            <a:latin typeface="Cambria Math" panose="02040503050406030204" pitchFamily="18" charset="0"/>
                            <a:ea typeface="標楷體" panose="03000509000000000000" pitchFamily="65" charset="-120"/>
                            <a:cs typeface="Times New Roman" panose="02020603050405020304" pitchFamily="18" charset="0"/>
                          </a:rPr>
                          <m:t>2</m:t>
                        </m:r>
                        <m:r>
                          <a:rPr lang="en-US" altLang="zh-TW" i="1" smtClean="0">
                            <a:latin typeface="Cambria Math" panose="02040503050406030204" pitchFamily="18" charset="0"/>
                            <a:ea typeface="標楷體" panose="03000509000000000000" pitchFamily="65" charset="-120"/>
                            <a:cs typeface="Times New Roman" panose="02020603050405020304" pitchFamily="18" charset="0"/>
                          </a:rPr>
                          <m:t>)</m:t>
                        </m:r>
                      </m:e>
                      <m:sup>
                        <m:r>
                          <a:rPr lang="en-US" altLang="zh-TW" i="1">
                            <a:latin typeface="Cambria Math" panose="02040503050406030204" pitchFamily="18" charset="0"/>
                            <a:ea typeface="標楷體" panose="03000509000000000000" pitchFamily="65" charset="-120"/>
                            <a:cs typeface="Times New Roman" panose="02020603050405020304" pitchFamily="18" charset="0"/>
                          </a:rPr>
                          <m:t>2</m:t>
                        </m:r>
                      </m:sup>
                    </m:sSup>
                  </m:oMath>
                </a14:m>
                <a:r>
                  <a:rPr lang="en-US" altLang="zh-TW" dirty="0">
                    <a:latin typeface="標楷體" panose="03000509000000000000" pitchFamily="65" charset="-120"/>
                    <a:ea typeface="標楷體" panose="03000509000000000000" pitchFamily="65" charset="-120"/>
                    <a:cs typeface="Times New Roman" panose="02020603050405020304" pitchFamily="18" charset="0"/>
                  </a:rPr>
                  <a:t>/22</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14:m>
                  <m:oMath xmlns:m="http://schemas.openxmlformats.org/officeDocument/2006/math">
                    <m:sSup>
                      <m:s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i="1">
                            <a:latin typeface="Cambria Math" panose="02040503050406030204" pitchFamily="18" charset="0"/>
                            <a:ea typeface="標楷體" panose="03000509000000000000" pitchFamily="65" charset="-120"/>
                            <a:cs typeface="Times New Roman" panose="02020603050405020304" pitchFamily="18" charset="0"/>
                          </a:rPr>
                          <m:t>(1</m:t>
                        </m:r>
                        <m:r>
                          <a:rPr lang="en-US" altLang="zh-TW" i="1" smtClean="0">
                            <a:latin typeface="Cambria Math" panose="02040503050406030204" pitchFamily="18" charset="0"/>
                            <a:ea typeface="標楷體" panose="03000509000000000000" pitchFamily="65" charset="-120"/>
                            <a:cs typeface="Times New Roman" panose="02020603050405020304" pitchFamily="18" charset="0"/>
                          </a:rPr>
                          <m:t>0</m:t>
                        </m:r>
                        <m:r>
                          <a:rPr lang="en-US" altLang="zh-TW" i="1">
                            <a:latin typeface="Cambria Math" panose="02040503050406030204" pitchFamily="18" charset="0"/>
                            <a:ea typeface="標楷體" panose="03000509000000000000" pitchFamily="65" charset="-120"/>
                            <a:cs typeface="Times New Roman" panose="02020603050405020304" pitchFamily="18" charset="0"/>
                          </a:rPr>
                          <m:t>−18</m:t>
                        </m:r>
                        <m:r>
                          <a:rPr lang="en-US" altLang="zh-TW" i="1" smtClean="0">
                            <a:latin typeface="Cambria Math" panose="02040503050406030204" pitchFamily="18" charset="0"/>
                            <a:ea typeface="標楷體" panose="03000509000000000000" pitchFamily="65" charset="-120"/>
                            <a:cs typeface="Times New Roman" panose="02020603050405020304" pitchFamily="18" charset="0"/>
                          </a:rPr>
                          <m:t>)</m:t>
                        </m:r>
                      </m:e>
                      <m:sup>
                        <m:r>
                          <a:rPr lang="en-US" altLang="zh-TW" i="1">
                            <a:latin typeface="Cambria Math" panose="02040503050406030204" pitchFamily="18" charset="0"/>
                            <a:ea typeface="標楷體" panose="03000509000000000000" pitchFamily="65" charset="-120"/>
                            <a:cs typeface="Times New Roman" panose="02020603050405020304" pitchFamily="18" charset="0"/>
                          </a:rPr>
                          <m:t>2</m:t>
                        </m:r>
                      </m:sup>
                    </m:sSup>
                  </m:oMath>
                </a14:m>
                <a:r>
                  <a:rPr lang="en-US" altLang="zh-TW" dirty="0">
                    <a:latin typeface="標楷體" panose="03000509000000000000" pitchFamily="65" charset="-120"/>
                    <a:ea typeface="標楷體" panose="03000509000000000000" pitchFamily="65" charset="-120"/>
                    <a:cs typeface="Times New Roman" panose="02020603050405020304" pitchFamily="18" charset="0"/>
                  </a:rPr>
                  <a:t>/18</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14:m>
                  <m:oMath xmlns:m="http://schemas.openxmlformats.org/officeDocument/2006/math">
                    <m:sSup>
                      <m:s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i="1">
                            <a:latin typeface="Cambria Math" panose="02040503050406030204" pitchFamily="18" charset="0"/>
                            <a:ea typeface="標楷體" panose="03000509000000000000" pitchFamily="65" charset="-120"/>
                            <a:cs typeface="Times New Roman" panose="02020603050405020304" pitchFamily="18" charset="0"/>
                          </a:rPr>
                          <m:t>(25−33</m:t>
                        </m:r>
                        <m:r>
                          <a:rPr lang="en-US" altLang="zh-TW" i="1" smtClean="0">
                            <a:latin typeface="Cambria Math" panose="02040503050406030204" pitchFamily="18" charset="0"/>
                            <a:ea typeface="標楷體" panose="03000509000000000000" pitchFamily="65" charset="-120"/>
                            <a:cs typeface="Times New Roman" panose="02020603050405020304" pitchFamily="18" charset="0"/>
                          </a:rPr>
                          <m:t>)</m:t>
                        </m:r>
                      </m:e>
                      <m:sup>
                        <m:r>
                          <a:rPr lang="en-US" altLang="zh-TW" i="1">
                            <a:latin typeface="Cambria Math" panose="02040503050406030204" pitchFamily="18" charset="0"/>
                            <a:ea typeface="標楷體" panose="03000509000000000000" pitchFamily="65" charset="-120"/>
                            <a:cs typeface="Times New Roman" panose="02020603050405020304" pitchFamily="18" charset="0"/>
                          </a:rPr>
                          <m:t>2</m:t>
                        </m:r>
                      </m:sup>
                    </m:sSup>
                  </m:oMath>
                </a14:m>
                <a:r>
                  <a:rPr lang="en-US" altLang="zh-TW" dirty="0">
                    <a:latin typeface="標楷體" panose="03000509000000000000" pitchFamily="65" charset="-120"/>
                    <a:ea typeface="標楷體" panose="03000509000000000000" pitchFamily="65" charset="-120"/>
                    <a:cs typeface="Times New Roman" panose="02020603050405020304" pitchFamily="18" charset="0"/>
                  </a:rPr>
                  <a:t>/33</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p>
              <a:p>
                <a:pPr lvl="0" indent="177800" eaLnBrk="0" fontAlgn="base" hangingPunct="0">
                  <a:spcBef>
                    <a:spcPct val="0"/>
                  </a:spcBef>
                  <a:spcAft>
                    <a:spcPct val="0"/>
                  </a:spcAft>
                </a:pPr>
                <a14:m>
                  <m:oMath xmlns:m="http://schemas.openxmlformats.org/officeDocument/2006/math">
                    <m:sSup>
                      <m:s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i="1">
                            <a:latin typeface="Cambria Math" panose="02040503050406030204" pitchFamily="18" charset="0"/>
                            <a:ea typeface="標楷體" panose="03000509000000000000" pitchFamily="65" charset="-120"/>
                            <a:cs typeface="Times New Roman" panose="02020603050405020304" pitchFamily="18" charset="0"/>
                          </a:rPr>
                          <m:t>(35−</m:t>
                        </m:r>
                        <m:r>
                          <a:rPr lang="en-US" altLang="zh-TW" i="1" smtClean="0">
                            <a:latin typeface="Cambria Math" panose="02040503050406030204" pitchFamily="18" charset="0"/>
                            <a:ea typeface="標楷體" panose="03000509000000000000" pitchFamily="65" charset="-120"/>
                            <a:cs typeface="Times New Roman" panose="02020603050405020304" pitchFamily="18" charset="0"/>
                          </a:rPr>
                          <m:t>2</m:t>
                        </m:r>
                        <m:r>
                          <a:rPr lang="en-US" altLang="zh-TW" i="1">
                            <a:latin typeface="Cambria Math" panose="02040503050406030204" pitchFamily="18" charset="0"/>
                            <a:ea typeface="標楷體" panose="03000509000000000000" pitchFamily="65" charset="-120"/>
                            <a:cs typeface="Times New Roman" panose="02020603050405020304" pitchFamily="18" charset="0"/>
                          </a:rPr>
                          <m:t>7</m:t>
                        </m:r>
                        <m:r>
                          <a:rPr lang="en-US" altLang="zh-TW" i="1" smtClean="0">
                            <a:latin typeface="Cambria Math" panose="02040503050406030204" pitchFamily="18" charset="0"/>
                            <a:ea typeface="標楷體" panose="03000509000000000000" pitchFamily="65" charset="-120"/>
                            <a:cs typeface="Times New Roman" panose="02020603050405020304" pitchFamily="18" charset="0"/>
                          </a:rPr>
                          <m:t>)</m:t>
                        </m:r>
                      </m:e>
                      <m:sup>
                        <m:r>
                          <a:rPr lang="en-US" altLang="zh-TW" i="1">
                            <a:latin typeface="Cambria Math" panose="02040503050406030204" pitchFamily="18" charset="0"/>
                            <a:ea typeface="標楷體" panose="03000509000000000000" pitchFamily="65" charset="-120"/>
                            <a:cs typeface="Times New Roman" panose="02020603050405020304" pitchFamily="18" charset="0"/>
                          </a:rPr>
                          <m:t>2</m:t>
                        </m:r>
                      </m:sup>
                    </m:sSup>
                  </m:oMath>
                </a14:m>
                <a:r>
                  <a:rPr lang="en-US" altLang="zh-TW" dirty="0">
                    <a:latin typeface="標楷體" panose="03000509000000000000" pitchFamily="65" charset="-120"/>
                    <a:ea typeface="標楷體" panose="03000509000000000000" pitchFamily="65" charset="-120"/>
                    <a:cs typeface="Times New Roman" panose="02020603050405020304" pitchFamily="18" charset="0"/>
                  </a:rPr>
                  <a:t>/27</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10.78</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&gt;</a:t>
                </a:r>
                <a:r>
                  <a:rPr lang="zh-TW" altLang="en-US"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dirty="0">
                    <a:latin typeface="標楷體" panose="03000509000000000000" pitchFamily="65" charset="-120"/>
                    <a:ea typeface="標楷體" panose="03000509000000000000" pitchFamily="65" charset="-120"/>
                    <a:cs typeface="Times New Roman" panose="02020603050405020304" pitchFamily="18" charset="0"/>
                  </a:rPr>
                  <a:t>3.84</a:t>
                </a:r>
              </a:p>
              <a:p>
                <a:pPr lvl="0" indent="177800" eaLnBrk="0" fontAlgn="base" hangingPunct="0">
                  <a:spcBef>
                    <a:spcPct val="0"/>
                  </a:spcBef>
                  <a:spcAft>
                    <a:spcPct val="0"/>
                  </a:spcAft>
                </a:pPr>
                <a:endParaRPr kumimoji="0" lang="en-US" altLang="zh-TW"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endParaRPr>
              </a:p>
              <a:p>
                <a:r>
                  <a:rPr lang="zh-TW" altLang="en-US" b="1" dirty="0"/>
                  <a:t>自由度</a:t>
                </a:r>
                <a:r>
                  <a:rPr lang="en-US" altLang="zh-TW" b="1" dirty="0"/>
                  <a:t>(</a:t>
                </a:r>
                <a:r>
                  <a:rPr lang="en-US" altLang="zh-TW" b="1" dirty="0" err="1"/>
                  <a:t>df</a:t>
                </a:r>
                <a:r>
                  <a:rPr lang="en-US" altLang="zh-TW" b="1" dirty="0"/>
                  <a:t>)</a:t>
                </a:r>
                <a:r>
                  <a:rPr lang="zh-TW" altLang="en-US" b="1" dirty="0"/>
                  <a:t> </a:t>
                </a:r>
                <a:r>
                  <a:rPr lang="en-US" altLang="zh-TW" b="1" dirty="0"/>
                  <a:t>:</a:t>
                </a:r>
                <a:r>
                  <a:rPr lang="zh-TW" altLang="en-US" b="1" dirty="0"/>
                  <a:t> </a:t>
                </a:r>
                <a:r>
                  <a:rPr lang="en-US" altLang="zh-TW" b="1" dirty="0"/>
                  <a:t>(r-1)*(c-1)</a:t>
                </a:r>
                <a:r>
                  <a:rPr lang="zh-TW" altLang="en-US" b="1" dirty="0"/>
                  <a:t> </a:t>
                </a:r>
                <a:r>
                  <a:rPr lang="en-US" altLang="zh-TW" b="1" dirty="0"/>
                  <a:t>2</a:t>
                </a:r>
                <a:r>
                  <a:rPr lang="zh-TW" altLang="en-US" b="1" dirty="0"/>
                  <a:t>*</a:t>
                </a:r>
                <a:r>
                  <a:rPr lang="en-US" altLang="zh-TW" b="1" dirty="0"/>
                  <a:t>2</a:t>
                </a:r>
                <a:r>
                  <a:rPr lang="zh-TW" altLang="en-US" b="1" dirty="0"/>
                  <a:t>表格 其</a:t>
                </a:r>
                <a:r>
                  <a:rPr lang="en-US" altLang="zh-TW" b="1" dirty="0"/>
                  <a:t>Gamma</a:t>
                </a:r>
                <a:r>
                  <a:rPr lang="zh-TW" altLang="en-US" b="1" dirty="0"/>
                  <a:t>分配 即為</a:t>
                </a:r>
                <a:r>
                  <a:rPr lang="en-US" altLang="zh-TW" b="1" dirty="0"/>
                  <a:t>3.84</a:t>
                </a:r>
              </a:p>
              <a:p>
                <a:pPr lvl="0" indent="177800" eaLnBrk="0" fontAlgn="base" hangingPunct="0">
                  <a:spcBef>
                    <a:spcPct val="0"/>
                  </a:spcBef>
                  <a:spcAft>
                    <a:spcPct val="0"/>
                  </a:spcAft>
                </a:pPr>
                <a:endParaRPr kumimoji="0" lang="en-US" altLang="zh-TW"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endParaRPr>
              </a:p>
              <a:p>
                <a:pPr lvl="0" indent="177800" eaLnBrk="0" fontAlgn="base" hangingPunct="0">
                  <a:spcBef>
                    <a:spcPct val="0"/>
                  </a:spcBef>
                  <a:spcAft>
                    <a:spcPct val="0"/>
                  </a:spcAft>
                </a:pPr>
                <a:r>
                  <a:rPr kumimoji="0" lang="zh-TW" altLang="en-US" sz="1000" b="0" i="0" u="none" strike="noStrike" cap="none" normalizeH="0" baseline="0" dirty="0">
                    <a:ln>
                      <a:noFill/>
                    </a:ln>
                    <a:solidFill>
                      <a:schemeClr val="tx1"/>
                    </a:solidFill>
                    <a:effectLst/>
                  </a:rPr>
                  <a:t> </a:t>
                </a:r>
                <a:endParaRPr kumimoji="0" lang="zh-TW" altLang="en-US" sz="2400" b="0" i="0" u="none" strike="noStrike" cap="none" normalizeH="0" baseline="0" dirty="0">
                  <a:ln>
                    <a:noFill/>
                  </a:ln>
                  <a:solidFill>
                    <a:schemeClr val="tx1"/>
                  </a:solidFill>
                  <a:effectLst/>
                  <a:latin typeface="Arial" panose="020B0604020202020204" pitchFamily="34" charset="0"/>
                </a:endParaRPr>
              </a:p>
              <a:p>
                <a:endParaRPr lang="zh-TW" altLang="en-US"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838200" y="2964873"/>
                <a:ext cx="6085127" cy="4401205"/>
              </a:xfrm>
              <a:prstGeom prst="rect">
                <a:avLst/>
              </a:prstGeom>
              <a:blipFill>
                <a:blip r:embed="rId2"/>
                <a:stretch>
                  <a:fillRect l="-902" t="-831"/>
                </a:stretch>
              </a:blipFill>
            </p:spPr>
            <p:txBody>
              <a:bodyPr/>
              <a:lstStyle/>
              <a:p>
                <a:r>
                  <a:rPr lang="zh-TW" altLang="en-US">
                    <a:noFill/>
                  </a:rPr>
                  <a:t> </a:t>
                </a:r>
              </a:p>
            </p:txBody>
          </p:sp>
        </mc:Fallback>
      </mc:AlternateContent>
      <p:graphicFrame>
        <p:nvGraphicFramePr>
          <p:cNvPr id="7" name="表格 6"/>
          <p:cNvGraphicFramePr>
            <a:graphicFrameLocks noGrp="1"/>
          </p:cNvGraphicFramePr>
          <p:nvPr>
            <p:extLst>
              <p:ext uri="{D42A27DB-BD31-4B8C-83A1-F6EECF244321}">
                <p14:modId xmlns:p14="http://schemas.microsoft.com/office/powerpoint/2010/main" val="2924389595"/>
              </p:ext>
            </p:extLst>
          </p:nvPr>
        </p:nvGraphicFramePr>
        <p:xfrm>
          <a:off x="6891828" y="1339273"/>
          <a:ext cx="4461971" cy="1494417"/>
        </p:xfrm>
        <a:graphic>
          <a:graphicData uri="http://schemas.openxmlformats.org/drawingml/2006/table">
            <a:tbl>
              <a:tblPr firstRow="1" firstCol="1" lastRow="1" lastCol="1" bandRow="1" bandCol="1">
                <a:tableStyleId>{5C22544A-7EE6-4342-B048-85BDC9FD1C3A}</a:tableStyleId>
              </a:tblPr>
              <a:tblGrid>
                <a:gridCol w="1267242">
                  <a:extLst>
                    <a:ext uri="{9D8B030D-6E8A-4147-A177-3AD203B41FA5}">
                      <a16:colId xmlns="" xmlns:a16="http://schemas.microsoft.com/office/drawing/2014/main" val="2620244125"/>
                    </a:ext>
                  </a:extLst>
                </a:gridCol>
                <a:gridCol w="1277891">
                  <a:extLst>
                    <a:ext uri="{9D8B030D-6E8A-4147-A177-3AD203B41FA5}">
                      <a16:colId xmlns="" xmlns:a16="http://schemas.microsoft.com/office/drawing/2014/main" val="2239676517"/>
                    </a:ext>
                  </a:extLst>
                </a:gridCol>
                <a:gridCol w="1064910">
                  <a:extLst>
                    <a:ext uri="{9D8B030D-6E8A-4147-A177-3AD203B41FA5}">
                      <a16:colId xmlns="" xmlns:a16="http://schemas.microsoft.com/office/drawing/2014/main" val="1588152607"/>
                    </a:ext>
                  </a:extLst>
                </a:gridCol>
                <a:gridCol w="851928">
                  <a:extLst>
                    <a:ext uri="{9D8B030D-6E8A-4147-A177-3AD203B41FA5}">
                      <a16:colId xmlns="" xmlns:a16="http://schemas.microsoft.com/office/drawing/2014/main" val="1918443649"/>
                    </a:ext>
                  </a:extLst>
                </a:gridCol>
              </a:tblGrid>
              <a:tr h="299830">
                <a:tc>
                  <a:txBody>
                    <a:bodyPr/>
                    <a:lstStyle/>
                    <a:p>
                      <a:pPr algn="just">
                        <a:lnSpc>
                          <a:spcPts val="1800"/>
                        </a:lnSpc>
                        <a:spcAft>
                          <a:spcPts val="0"/>
                        </a:spcAft>
                      </a:pPr>
                      <a:r>
                        <a:rPr lang="en-US" sz="1400">
                          <a:effectLst/>
                        </a:rPr>
                        <a:t> </a:t>
                      </a:r>
                      <a:endParaRPr lang="zh-TW" sz="1200">
                        <a:effectLst/>
                        <a:latin typeface="Times New Roman" panose="02020603050405020304" pitchFamily="18" charset="0"/>
                        <a:ea typeface="細明體" panose="02020509000000000000" pitchFamily="49" charset="-120"/>
                      </a:endParaRPr>
                    </a:p>
                  </a:txBody>
                  <a:tcPr marL="68580" marR="68580" marT="0" marB="0"/>
                </a:tc>
                <a:tc gridSpan="2">
                  <a:txBody>
                    <a:bodyPr/>
                    <a:lstStyle/>
                    <a:p>
                      <a:pPr algn="ctr">
                        <a:lnSpc>
                          <a:spcPts val="1800"/>
                        </a:lnSpc>
                        <a:spcAft>
                          <a:spcPts val="0"/>
                        </a:spcAft>
                      </a:pPr>
                      <a:r>
                        <a:rPr lang="en-US" sz="1400">
                          <a:effectLst/>
                        </a:rPr>
                        <a:t> </a:t>
                      </a:r>
                      <a:r>
                        <a:rPr lang="zh-TW" sz="1400">
                          <a:effectLst/>
                        </a:rPr>
                        <a:t>性別</a:t>
                      </a:r>
                      <a:endParaRPr lang="zh-TW" sz="1200">
                        <a:effectLst/>
                        <a:latin typeface="Times New Roman" panose="02020603050405020304" pitchFamily="18" charset="0"/>
                        <a:ea typeface="細明體" panose="02020509000000000000" pitchFamily="49" charset="-120"/>
                      </a:endParaRPr>
                    </a:p>
                  </a:txBody>
                  <a:tcPr marL="68580" marR="68580" marT="0" marB="0"/>
                </a:tc>
                <a:tc hMerge="1">
                  <a:txBody>
                    <a:bodyPr/>
                    <a:lstStyle/>
                    <a:p>
                      <a:endParaRPr lang="zh-TW" altLang="en-US"/>
                    </a:p>
                  </a:txBody>
                  <a:tcPr/>
                </a:tc>
                <a:tc>
                  <a:txBody>
                    <a:bodyPr/>
                    <a:lstStyle/>
                    <a:p>
                      <a:pPr algn="just">
                        <a:lnSpc>
                          <a:spcPts val="1800"/>
                        </a:lnSpc>
                        <a:spcAft>
                          <a:spcPts val="0"/>
                        </a:spcAft>
                      </a:pPr>
                      <a:r>
                        <a:rPr lang="en-US" sz="1400">
                          <a:effectLst/>
                        </a:rPr>
                        <a:t> </a:t>
                      </a:r>
                      <a:endParaRPr lang="zh-TW" sz="1200">
                        <a:effectLst/>
                        <a:latin typeface="Times New Roman" panose="02020603050405020304" pitchFamily="18" charset="0"/>
                        <a:ea typeface="細明體" panose="02020509000000000000" pitchFamily="49" charset="-120"/>
                      </a:endParaRPr>
                    </a:p>
                  </a:txBody>
                  <a:tcPr marL="68580" marR="68580" marT="0" marB="0"/>
                </a:tc>
                <a:extLst>
                  <a:ext uri="{0D108BD9-81ED-4DB2-BD59-A6C34878D82A}">
                    <a16:rowId xmlns="" xmlns:a16="http://schemas.microsoft.com/office/drawing/2014/main" val="1416825019"/>
                  </a:ext>
                </a:extLst>
              </a:tr>
              <a:tr h="295097">
                <a:tc>
                  <a:txBody>
                    <a:bodyPr/>
                    <a:lstStyle/>
                    <a:p>
                      <a:pPr algn="just">
                        <a:lnSpc>
                          <a:spcPts val="1800"/>
                        </a:lnSpc>
                        <a:spcAft>
                          <a:spcPts val="0"/>
                        </a:spcAft>
                      </a:pPr>
                      <a:r>
                        <a:rPr lang="zh-TW" sz="1400">
                          <a:effectLst/>
                        </a:rPr>
                        <a:t>教育程度</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zh-TW" sz="1400">
                          <a:effectLst/>
                        </a:rPr>
                        <a:t>男</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zh-TW" sz="1400">
                          <a:effectLst/>
                        </a:rPr>
                        <a:t>女</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zh-TW" sz="1400">
                          <a:effectLst/>
                        </a:rPr>
                        <a:t>合計</a:t>
                      </a:r>
                      <a:endParaRPr lang="zh-TW" sz="1200">
                        <a:effectLst/>
                        <a:latin typeface="Times New Roman" panose="02020603050405020304" pitchFamily="18" charset="0"/>
                        <a:ea typeface="細明體" panose="02020509000000000000" pitchFamily="49" charset="-120"/>
                      </a:endParaRPr>
                    </a:p>
                  </a:txBody>
                  <a:tcPr marL="68580" marR="68580" marT="0" marB="0"/>
                </a:tc>
                <a:extLst>
                  <a:ext uri="{0D108BD9-81ED-4DB2-BD59-A6C34878D82A}">
                    <a16:rowId xmlns="" xmlns:a16="http://schemas.microsoft.com/office/drawing/2014/main" val="582459090"/>
                  </a:ext>
                </a:extLst>
              </a:tr>
              <a:tr h="299830">
                <a:tc>
                  <a:txBody>
                    <a:bodyPr/>
                    <a:lstStyle/>
                    <a:p>
                      <a:pPr algn="just">
                        <a:lnSpc>
                          <a:spcPts val="1800"/>
                        </a:lnSpc>
                        <a:spcAft>
                          <a:spcPts val="0"/>
                        </a:spcAft>
                      </a:pPr>
                      <a:r>
                        <a:rPr lang="zh-TW" sz="1400">
                          <a:effectLst/>
                        </a:rPr>
                        <a:t>大</a:t>
                      </a:r>
                      <a:r>
                        <a:rPr lang="en-US" sz="1400">
                          <a:effectLst/>
                        </a:rPr>
                        <a:t>    </a:t>
                      </a:r>
                      <a:r>
                        <a:rPr lang="zh-TW" sz="1400">
                          <a:effectLst/>
                        </a:rPr>
                        <a:t>專</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dirty="0">
                          <a:effectLst/>
                        </a:rPr>
                        <a:t>22</a:t>
                      </a:r>
                      <a:endParaRPr lang="zh-TW" sz="1200" dirty="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a:effectLst/>
                        </a:rPr>
                        <a:t>18</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indent="177800" algn="just">
                        <a:lnSpc>
                          <a:spcPts val="1800"/>
                        </a:lnSpc>
                        <a:spcAft>
                          <a:spcPts val="0"/>
                        </a:spcAft>
                      </a:pPr>
                      <a:r>
                        <a:rPr lang="en-US" sz="1400">
                          <a:effectLst/>
                        </a:rPr>
                        <a:t>40</a:t>
                      </a:r>
                      <a:endParaRPr lang="zh-TW" sz="1200">
                        <a:effectLst/>
                        <a:latin typeface="Times New Roman" panose="02020603050405020304" pitchFamily="18" charset="0"/>
                        <a:ea typeface="細明體" panose="02020509000000000000" pitchFamily="49" charset="-120"/>
                      </a:endParaRPr>
                    </a:p>
                  </a:txBody>
                  <a:tcPr marL="68580" marR="68580" marT="0" marB="0"/>
                </a:tc>
                <a:extLst>
                  <a:ext uri="{0D108BD9-81ED-4DB2-BD59-A6C34878D82A}">
                    <a16:rowId xmlns="" xmlns:a16="http://schemas.microsoft.com/office/drawing/2014/main" val="2674647719"/>
                  </a:ext>
                </a:extLst>
              </a:tr>
              <a:tr h="299830">
                <a:tc>
                  <a:txBody>
                    <a:bodyPr/>
                    <a:lstStyle/>
                    <a:p>
                      <a:pPr algn="just">
                        <a:lnSpc>
                          <a:spcPts val="1800"/>
                        </a:lnSpc>
                        <a:spcAft>
                          <a:spcPts val="0"/>
                        </a:spcAft>
                      </a:pPr>
                      <a:r>
                        <a:rPr lang="zh-TW" sz="1400">
                          <a:effectLst/>
                        </a:rPr>
                        <a:t>大專以下</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dirty="0">
                          <a:effectLst/>
                        </a:rPr>
                        <a:t>33</a:t>
                      </a:r>
                      <a:endParaRPr lang="zh-TW" sz="1200" dirty="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a:effectLst/>
                        </a:rPr>
                        <a:t>27</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indent="177800" algn="just">
                        <a:lnSpc>
                          <a:spcPts val="1800"/>
                        </a:lnSpc>
                        <a:spcAft>
                          <a:spcPts val="0"/>
                        </a:spcAft>
                      </a:pPr>
                      <a:r>
                        <a:rPr lang="en-US" sz="1400">
                          <a:effectLst/>
                        </a:rPr>
                        <a:t>60</a:t>
                      </a:r>
                      <a:endParaRPr lang="zh-TW" sz="1200">
                        <a:effectLst/>
                        <a:latin typeface="Times New Roman" panose="02020603050405020304" pitchFamily="18" charset="0"/>
                        <a:ea typeface="細明體" panose="02020509000000000000" pitchFamily="49" charset="-120"/>
                      </a:endParaRPr>
                    </a:p>
                  </a:txBody>
                  <a:tcPr marL="68580" marR="68580" marT="0" marB="0"/>
                </a:tc>
                <a:extLst>
                  <a:ext uri="{0D108BD9-81ED-4DB2-BD59-A6C34878D82A}">
                    <a16:rowId xmlns="" xmlns:a16="http://schemas.microsoft.com/office/drawing/2014/main" val="3404089266"/>
                  </a:ext>
                </a:extLst>
              </a:tr>
              <a:tr h="299830">
                <a:tc>
                  <a:txBody>
                    <a:bodyPr/>
                    <a:lstStyle/>
                    <a:p>
                      <a:pPr algn="just">
                        <a:lnSpc>
                          <a:spcPts val="1800"/>
                        </a:lnSpc>
                        <a:spcAft>
                          <a:spcPts val="0"/>
                        </a:spcAft>
                      </a:pPr>
                      <a:r>
                        <a:rPr lang="zh-TW" sz="1400">
                          <a:effectLst/>
                        </a:rPr>
                        <a:t>合計</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a:effectLst/>
                        </a:rPr>
                        <a:t>55</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a:effectLst/>
                        </a:rPr>
                        <a:t>45</a:t>
                      </a:r>
                      <a:endParaRPr lang="zh-TW" sz="1200">
                        <a:effectLst/>
                        <a:latin typeface="Times New Roman" panose="02020603050405020304" pitchFamily="18" charset="0"/>
                        <a:ea typeface="細明體" panose="02020509000000000000" pitchFamily="49" charset="-120"/>
                      </a:endParaRPr>
                    </a:p>
                  </a:txBody>
                  <a:tcPr marL="68580" marR="68580" marT="0" marB="0"/>
                </a:tc>
                <a:tc>
                  <a:txBody>
                    <a:bodyPr/>
                    <a:lstStyle/>
                    <a:p>
                      <a:pPr algn="ctr">
                        <a:lnSpc>
                          <a:spcPts val="1800"/>
                        </a:lnSpc>
                        <a:spcAft>
                          <a:spcPts val="0"/>
                        </a:spcAft>
                      </a:pPr>
                      <a:r>
                        <a:rPr lang="en-US" sz="1400" dirty="0">
                          <a:effectLst/>
                        </a:rPr>
                        <a:t>100</a:t>
                      </a:r>
                      <a:endParaRPr lang="zh-TW" sz="1200" dirty="0">
                        <a:effectLst/>
                        <a:latin typeface="Times New Roman" panose="02020603050405020304" pitchFamily="18" charset="0"/>
                        <a:ea typeface="細明體" panose="02020509000000000000" pitchFamily="49" charset="-120"/>
                      </a:endParaRPr>
                    </a:p>
                  </a:txBody>
                  <a:tcPr marL="68580" marR="68580" marT="0" marB="0"/>
                </a:tc>
                <a:extLst>
                  <a:ext uri="{0D108BD9-81ED-4DB2-BD59-A6C34878D82A}">
                    <a16:rowId xmlns="" xmlns:a16="http://schemas.microsoft.com/office/drawing/2014/main" val="1782587274"/>
                  </a:ext>
                </a:extLst>
              </a:tr>
            </a:tbl>
          </a:graphicData>
        </a:graphic>
      </p:graphicFrame>
      <p:sp>
        <p:nvSpPr>
          <p:cNvPr id="8" name="文字方塊 7"/>
          <p:cNvSpPr txBox="1"/>
          <p:nvPr/>
        </p:nvSpPr>
        <p:spPr>
          <a:xfrm>
            <a:off x="991058" y="1431636"/>
            <a:ext cx="461665" cy="1200727"/>
          </a:xfrm>
          <a:prstGeom prst="rect">
            <a:avLst/>
          </a:prstGeom>
          <a:noFill/>
        </p:spPr>
        <p:txBody>
          <a:bodyPr vert="eaVert" wrap="square" rtlCol="0">
            <a:spAutoFit/>
          </a:bodyPr>
          <a:lstStyle/>
          <a:p>
            <a:r>
              <a:rPr lang="zh-TW" altLang="en-US" dirty="0"/>
              <a:t>實際值</a:t>
            </a:r>
          </a:p>
        </p:txBody>
      </p:sp>
      <p:sp>
        <p:nvSpPr>
          <p:cNvPr id="9" name="文字方塊 8"/>
          <p:cNvSpPr txBox="1"/>
          <p:nvPr/>
        </p:nvSpPr>
        <p:spPr>
          <a:xfrm>
            <a:off x="6368931" y="1398588"/>
            <a:ext cx="461665" cy="882794"/>
          </a:xfrm>
          <a:prstGeom prst="rect">
            <a:avLst/>
          </a:prstGeom>
          <a:noFill/>
        </p:spPr>
        <p:txBody>
          <a:bodyPr vert="eaVert" wrap="square" rtlCol="0">
            <a:spAutoFit/>
          </a:bodyPr>
          <a:lstStyle/>
          <a:p>
            <a:r>
              <a:rPr lang="zh-TW" altLang="en-US" dirty="0"/>
              <a:t>期待值</a:t>
            </a:r>
          </a:p>
        </p:txBody>
      </p:sp>
    </p:spTree>
    <p:extLst>
      <p:ext uri="{BB962C8B-B14F-4D97-AF65-F5344CB8AC3E}">
        <p14:creationId xmlns:p14="http://schemas.microsoft.com/office/powerpoint/2010/main" val="2865713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6" name="內容版面配置區 5"/>
          <p:cNvPicPr>
            <a:picLocks noGrp="1" noChangeAspect="1"/>
          </p:cNvPicPr>
          <p:nvPr>
            <p:ph idx="1"/>
          </p:nvPr>
        </p:nvPicPr>
        <p:blipFill>
          <a:blip r:embed="rId2"/>
          <a:stretch>
            <a:fillRect/>
          </a:stretch>
        </p:blipFill>
        <p:spPr>
          <a:xfrm>
            <a:off x="2437650" y="440171"/>
            <a:ext cx="6964968" cy="6236216"/>
          </a:xfrm>
          <a:prstGeom prst="rect">
            <a:avLst/>
          </a:prstGeom>
        </p:spPr>
      </p:pic>
    </p:spTree>
    <p:extLst>
      <p:ext uri="{BB962C8B-B14F-4D97-AF65-F5344CB8AC3E}">
        <p14:creationId xmlns:p14="http://schemas.microsoft.com/office/powerpoint/2010/main" val="4127445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 Result</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2450497" y="1469016"/>
            <a:ext cx="5982303" cy="4608470"/>
          </a:xfrm>
          <a:prstGeom prst="rect">
            <a:avLst/>
          </a:prstGeom>
        </p:spPr>
      </p:pic>
    </p:spTree>
    <p:extLst>
      <p:ext uri="{BB962C8B-B14F-4D97-AF65-F5344CB8AC3E}">
        <p14:creationId xmlns:p14="http://schemas.microsoft.com/office/powerpoint/2010/main" val="312555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275261" y="365124"/>
            <a:ext cx="11460649" cy="5518439"/>
          </a:xfrm>
          <a:prstGeom prst="rect">
            <a:avLst/>
          </a:prstGeom>
        </p:spPr>
      </p:pic>
    </p:spTree>
    <p:extLst>
      <p:ext uri="{BB962C8B-B14F-4D97-AF65-F5344CB8AC3E}">
        <p14:creationId xmlns:p14="http://schemas.microsoft.com/office/powerpoint/2010/main" val="301220851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3251</TotalTime>
  <Words>504</Words>
  <Application>Microsoft Office PowerPoint</Application>
  <PresentationFormat>寬螢幕</PresentationFormat>
  <Paragraphs>106</Paragraphs>
  <Slides>13</Slides>
  <Notes>1</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13</vt:i4>
      </vt:variant>
    </vt:vector>
  </HeadingPairs>
  <TitlesOfParts>
    <vt:vector size="22" baseType="lpstr">
      <vt:lpstr>細明體</vt:lpstr>
      <vt:lpstr>新細明體</vt:lpstr>
      <vt:lpstr>標楷體</vt:lpstr>
      <vt:lpstr>Arial</vt:lpstr>
      <vt:lpstr>Calibri</vt:lpstr>
      <vt:lpstr>Calibri Light</vt:lpstr>
      <vt:lpstr>Cambria Math</vt:lpstr>
      <vt:lpstr>Times New Roman</vt:lpstr>
      <vt:lpstr>Office 佈景主題</vt:lpstr>
      <vt:lpstr>Fast and Accurate Time Series Classification with WEASEL</vt:lpstr>
      <vt:lpstr>Abstract(1/2)</vt:lpstr>
      <vt:lpstr>Abstract(2/2)</vt:lpstr>
      <vt:lpstr>Bag-of-Pattern Symbolic Aggregate approXimation (BOP)</vt:lpstr>
      <vt:lpstr>Symbolic Aggregate approximation(SAX ) </vt:lpstr>
      <vt:lpstr>Symbolic Fourier Approximation(SFA ) </vt:lpstr>
      <vt:lpstr>WEASEL(Word ExtrAction for time SEries cLassification)</vt:lpstr>
      <vt:lpstr>one-way ANOVA F-test</vt:lpstr>
      <vt:lpstr>PowerPoint 簡報</vt:lpstr>
      <vt:lpstr>Chi-square </vt:lpstr>
      <vt:lpstr>PowerPoint 簡報</vt:lpstr>
      <vt:lpstr>Experiment Result</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Time Series Classification with WEASEL</dc:title>
  <dc:creator>andy</dc:creator>
  <cp:lastModifiedBy>pplab-class</cp:lastModifiedBy>
  <cp:revision>25</cp:revision>
  <dcterms:created xsi:type="dcterms:W3CDTF">2017-04-16T04:23:26Z</dcterms:created>
  <dcterms:modified xsi:type="dcterms:W3CDTF">2017-04-18T12:27:21Z</dcterms:modified>
</cp:coreProperties>
</file>