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6" r:id="rId15"/>
    <p:sldId id="270" r:id="rId16"/>
    <p:sldId id="273" r:id="rId17"/>
    <p:sldId id="272" r:id="rId18"/>
    <p:sldId id="271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2428875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/>
            </a:lvl2pPr>
          </a:lstStyle>
          <a:p>
            <a:pPr lvl="0"/>
            <a:endParaRPr lang="en-US" altLang="zh-TW" dirty="0" smtClean="0"/>
          </a:p>
          <a:p>
            <a:pPr lvl="0"/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29A3-BD5B-4B14-819B-AB0FC2C94630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1708-7B1F-4D5A-96A4-61092F522D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628650" y="4389438"/>
            <a:ext cx="7886700" cy="1298575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en-US" altLang="zh-TW" dirty="0" smtClean="0"/>
          </a:p>
          <a:p>
            <a:pPr lvl="0"/>
            <a:r>
              <a:rPr lang="en-US" altLang="zh-TW" dirty="0" smtClean="0"/>
              <a:t>	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925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12.png"/><Relationship Id="rId5" Type="http://schemas.openxmlformats.org/officeDocument/2006/relationships/image" Target="../media/image20.png"/><Relationship Id="rId10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2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0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2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3.png"/><Relationship Id="rId3" Type="http://schemas.openxmlformats.org/officeDocument/2006/relationships/image" Target="../media/image29.png"/><Relationship Id="rId7" Type="http://schemas.openxmlformats.org/officeDocument/2006/relationships/image" Target="../media/image20.png"/><Relationship Id="rId12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13.png"/><Relationship Id="rId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8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3.png"/><Relationship Id="rId3" Type="http://schemas.openxmlformats.org/officeDocument/2006/relationships/image" Target="../media/image29.png"/><Relationship Id="rId7" Type="http://schemas.openxmlformats.org/officeDocument/2006/relationships/image" Target="../media/image20.png"/><Relationship Id="rId12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13.png"/><Relationship Id="rId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36.png"/><Relationship Id="rId5" Type="http://schemas.openxmlformats.org/officeDocument/2006/relationships/image" Target="../media/image12.png"/><Relationship Id="rId10" Type="http://schemas.openxmlformats.org/officeDocument/2006/relationships/image" Target="../media/image35.png"/><Relationship Id="rId4" Type="http://schemas.openxmlformats.org/officeDocument/2006/relationships/image" Target="../media/image13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90.png"/><Relationship Id="rId7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png"/><Relationship Id="rId11" Type="http://schemas.openxmlformats.org/officeDocument/2006/relationships/image" Target="../media/image84.png"/><Relationship Id="rId5" Type="http://schemas.openxmlformats.org/officeDocument/2006/relationships/image" Target="../media/image81.png"/><Relationship Id="rId10" Type="http://schemas.openxmlformats.org/officeDocument/2006/relationships/image" Target="../media/image87.png"/><Relationship Id="rId4" Type="http://schemas.openxmlformats.org/officeDocument/2006/relationships/image" Target="../media/image80.png"/><Relationship Id="rId9" Type="http://schemas.openxmlformats.org/officeDocument/2006/relationships/image" Target="../media/image8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90.png"/><Relationship Id="rId7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png"/><Relationship Id="rId11" Type="http://schemas.openxmlformats.org/officeDocument/2006/relationships/image" Target="../media/image91.png"/><Relationship Id="rId5" Type="http://schemas.openxmlformats.org/officeDocument/2006/relationships/image" Target="../media/image81.png"/><Relationship Id="rId10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3" Type="http://schemas.openxmlformats.org/officeDocument/2006/relationships/image" Target="../media/image101.png"/><Relationship Id="rId21" Type="http://schemas.openxmlformats.org/officeDocument/2006/relationships/image" Target="../media/image114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image" Target="../media/image100.png"/><Relationship Id="rId16" Type="http://schemas.openxmlformats.org/officeDocument/2006/relationships/image" Target="../media/image107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19" Type="http://schemas.openxmlformats.org/officeDocument/2006/relationships/image" Target="../media/image117.png"/><Relationship Id="rId4" Type="http://schemas.openxmlformats.org/officeDocument/2006/relationships/image" Target="../media/image102.png"/><Relationship Id="rId9" Type="http://schemas.openxmlformats.org/officeDocument/2006/relationships/image" Target="../media/image99.png"/><Relationship Id="rId14" Type="http://schemas.openxmlformats.org/officeDocument/2006/relationships/image" Target="../media/image1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100.png"/><Relationship Id="rId4" Type="http://schemas.openxmlformats.org/officeDocument/2006/relationships/image" Target="../media/image103.png"/><Relationship Id="rId9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2.png"/><Relationship Id="rId7" Type="http://schemas.openxmlformats.org/officeDocument/2006/relationships/image" Target="../media/image12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371725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Very Fast String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Algorithm Based on Condensed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Grabowski, Szymon, Simone Faro, and Emanuele Giaquinta. </a:t>
            </a:r>
            <a:endParaRPr lang="fr-FR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Aspects in Information and Management. AAIM 2016. Lecture Notes in Computer Science,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ol.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9778.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2017/6/27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8138" y="1606550"/>
            <a:ext cx="850248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matching is the problem of finding all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substrings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text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correspond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given pattern. It’s one of the most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investigated problem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mainly due to its various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fields. In recent years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solutions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focused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efficiency and flexibility of the searching procedure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techniques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speed-up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solutions. In this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we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a simple and very efficient algorithm for string matching.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seen as an extension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Skip-Search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condensed alphabets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aim of reducing the number of verifications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phase. From our experimental results it turns out that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new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obtains in most cases the best running time when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against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effective algorithms in literature. This makes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algorithm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flexible solutions in practical cases.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39261" y="2443910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61" y="2443910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295187" y="1450061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87" y="1450061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/>
              <p:cNvSpPr/>
              <p:nvPr/>
            </p:nvSpPr>
            <p:spPr>
              <a:xfrm>
                <a:off x="1914526" y="1516426"/>
                <a:ext cx="12573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526" y="1516426"/>
                <a:ext cx="1257300" cy="3289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914526" y="2510275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526" y="2510275"/>
                <a:ext cx="5705474" cy="3289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2543176" y="2224525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314701" y="2224525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5876926" y="2224525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39261" y="2443910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61" y="2443910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295187" y="1450061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87" y="1450061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/>
              <p:cNvSpPr/>
              <p:nvPr/>
            </p:nvSpPr>
            <p:spPr>
              <a:xfrm>
                <a:off x="1914526" y="1516426"/>
                <a:ext cx="12573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526" y="1516426"/>
                <a:ext cx="1257300" cy="3289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914526" y="2510275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526" y="2510275"/>
                <a:ext cx="5705474" cy="3289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2543176" y="2224525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314701" y="2224525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5876926" y="2224525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543176" y="2510275"/>
            <a:ext cx="0" cy="1036985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3314701" y="2510275"/>
            <a:ext cx="0" cy="1874886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5876926" y="2510275"/>
            <a:ext cx="0" cy="271278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543176" y="3218323"/>
                <a:ext cx="12573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176" y="3218323"/>
                <a:ext cx="1257300" cy="3289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3314701" y="4056224"/>
                <a:ext cx="12573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1" y="4056224"/>
                <a:ext cx="1257300" cy="32893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5876926" y="4894125"/>
                <a:ext cx="12573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926" y="4894125"/>
                <a:ext cx="1257300" cy="32893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/>
          <p:cNvCxnSpPr/>
          <p:nvPr/>
        </p:nvCxnSpPr>
        <p:spPr>
          <a:xfrm>
            <a:off x="3800476" y="2510275"/>
            <a:ext cx="0" cy="1036985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4572002" y="2513936"/>
            <a:ext cx="0" cy="1871225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7134226" y="2510275"/>
            <a:ext cx="0" cy="271278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2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910432" y="217932"/>
                <a:ext cx="100956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432" y="217932"/>
                <a:ext cx="1009561" cy="3289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6910432" y="844066"/>
                <a:ext cx="2100218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432" y="844066"/>
                <a:ext cx="2100218" cy="3289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69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732972" y="2634761"/>
                <a:ext cx="366311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positions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char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2634761"/>
                <a:ext cx="3663119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998" r="-333" b="-313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789777"/>
                  </p:ext>
                </p:extLst>
              </p:nvPr>
            </p:nvGraphicFramePr>
            <p:xfrm>
              <a:off x="924416" y="3199508"/>
              <a:ext cx="2203412" cy="18867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1706"/>
                    <a:gridCol w="1101706"/>
                  </a:tblGrid>
                  <a:tr h="471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471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71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71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789777"/>
                  </p:ext>
                </p:extLst>
              </p:nvPr>
            </p:nvGraphicFramePr>
            <p:xfrm>
              <a:off x="924416" y="3199508"/>
              <a:ext cx="2203412" cy="18867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1706"/>
                    <a:gridCol w="1101706"/>
                  </a:tblGrid>
                  <a:tr h="471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49" t="-1282" r="-100549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1105" t="-1282" r="-1105" b="-301282"/>
                          </a:stretch>
                        </a:blipFill>
                      </a:tcPr>
                    </a:tc>
                  </a:tr>
                  <a:tr h="471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49" t="-101282" r="-100549" b="-2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71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49" t="-203896" r="-100549" b="-1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71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549" t="-300000" r="-100549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𝐶𝐴𝐵𝐴𝐶𝐵𝐴𝐴𝐵𝐴𝐶𝐶𝐴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8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28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471" r="-101667" b="-3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833" t="-1471" r="-1667" b="-301471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01471" r="-101667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204478" r="-101667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300000" r="-101667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19" name="直線單箭頭接點 18"/>
          <p:cNvCxnSpPr/>
          <p:nvPr/>
        </p:nvCxnSpPr>
        <p:spPr>
          <a:xfrm>
            <a:off x="2857953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358696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859439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4389211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087994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994" y="3416459"/>
                <a:ext cx="46775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blipFill rotWithShape="0">
                <a:blip r:embed="rId7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10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12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00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−1 , 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 , 2 ,  … , 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examine substring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blipFill rotWithShape="0">
                <a:blip r:embed="rId13"/>
                <a:stretch>
                  <a:fillRect l="-2195" t="-5556" r="-1405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90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471" r="-101667" b="-3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833" t="-1471" r="-1667" b="-301471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01471" r="-101667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204478" r="-101667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300000" r="-101667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00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−1 , 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 , 2 ,  … , 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examine substring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blipFill rotWithShape="0">
                <a:blip r:embed="rId3"/>
                <a:stretch>
                  <a:fillRect l="-2195" t="-5556" r="-1405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087994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994" y="3416459"/>
                <a:ext cx="46775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2616508" y="3490686"/>
            <a:ext cx="395206" cy="2920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22980" y="4357316"/>
            <a:ext cx="1459140" cy="4246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2814111" y="4397468"/>
            <a:ext cx="0" cy="57856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2531887" y="4899792"/>
                <a:ext cx="636997" cy="3300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887" y="4899792"/>
                <a:ext cx="636997" cy="330035"/>
              </a:xfrm>
              <a:prstGeom prst="rect">
                <a:avLst/>
              </a:prstGeom>
              <a:blipFill rotWithShape="0">
                <a:blip r:embed="rId8"/>
                <a:stretch>
                  <a:fillRect l="-8411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blipFill rotWithShape="0">
                <a:blip r:embed="rId9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12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14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/>
          <p:cNvCxnSpPr/>
          <p:nvPr/>
        </p:nvCxnSpPr>
        <p:spPr>
          <a:xfrm>
            <a:off x="2857953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3358696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3859439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389211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45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471" r="-101667" b="-3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833" t="-1471" r="-1667" b="-301471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01471" r="-101667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204478" r="-101667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300000" r="-101667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00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−1 , 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 , 2 ,  … , 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examine substring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blipFill rotWithShape="0">
                <a:blip r:embed="rId3"/>
                <a:stretch>
                  <a:fillRect l="-2195" t="-5556" r="-1405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087994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994" y="3416459"/>
                <a:ext cx="46775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617159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159" y="3416459"/>
                <a:ext cx="46775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124509" y="3490686"/>
            <a:ext cx="395206" cy="2920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22980" y="3950920"/>
            <a:ext cx="1459140" cy="4246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 flipH="1">
            <a:off x="3321872" y="4397468"/>
            <a:ext cx="240" cy="112578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192285" y="4703846"/>
                <a:ext cx="636997" cy="3300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285" y="4703846"/>
                <a:ext cx="636997" cy="330035"/>
              </a:xfrm>
              <a:prstGeom prst="rect">
                <a:avLst/>
              </a:prstGeom>
              <a:blipFill rotWithShape="0">
                <a:blip r:embed="rId8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blipFill rotWithShape="0">
                <a:blip r:embed="rId9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12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14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單箭頭接點 34"/>
          <p:cNvCxnSpPr/>
          <p:nvPr/>
        </p:nvCxnSpPr>
        <p:spPr>
          <a:xfrm>
            <a:off x="2857953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3358696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3859439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4389211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2849552" y="5358237"/>
                <a:ext cx="636997" cy="3300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552" y="5358237"/>
                <a:ext cx="636997" cy="330035"/>
              </a:xfrm>
              <a:prstGeom prst="rect">
                <a:avLst/>
              </a:prstGeom>
              <a:blipFill rotWithShape="0">
                <a:blip r:embed="rId15"/>
                <a:stretch>
                  <a:fillRect l="-7477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85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471" r="-101667" b="-3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833" t="-1471" r="-1667" b="-301471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01471" r="-101667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204478" r="-101667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300000" r="-101667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00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−1 , 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 , 2 ,  … , 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examine substring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 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blipFill rotWithShape="0">
                <a:blip r:embed="rId3"/>
                <a:stretch>
                  <a:fillRect l="-2195" t="-5556" r="-1405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109765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765" y="3416459"/>
                <a:ext cx="46775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634321" y="3490686"/>
            <a:ext cx="395206" cy="2920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22980" y="4359131"/>
            <a:ext cx="1459140" cy="4246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11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13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>
            <a:off x="2857953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3358696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3859439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4389211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3848305" y="4388537"/>
            <a:ext cx="0" cy="57856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3566081" y="4890861"/>
                <a:ext cx="636997" cy="3300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081" y="4890861"/>
                <a:ext cx="636997" cy="330035"/>
              </a:xfrm>
              <a:prstGeom prst="rect">
                <a:avLst/>
              </a:prstGeom>
              <a:blipFill rotWithShape="0">
                <a:blip r:embed="rId14"/>
                <a:stretch>
                  <a:fillRect l="-8491" r="-943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67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5061734"/>
                  </p:ext>
                </p:extLst>
              </p:nvPr>
            </p:nvGraphicFramePr>
            <p:xfrm>
              <a:off x="122980" y="3546401"/>
              <a:ext cx="1459140" cy="1645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570"/>
                    <a:gridCol w="729570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471" r="-101667" b="-3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833" t="-1471" r="-1667" b="-301471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101471" r="-101667" b="-20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0 , 2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204478" r="-101667" b="-104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33" t="-300000" r="-101667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00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−1 , 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 , 2 ,  … ,  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b="0" i="0" dirty="0" smtClean="0">
                    <a:latin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examine substring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 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2634761"/>
                <a:ext cx="6944337" cy="766428"/>
              </a:xfrm>
              <a:prstGeom prst="rect">
                <a:avLst/>
              </a:prstGeom>
              <a:blipFill rotWithShape="0">
                <a:blip r:embed="rId3"/>
                <a:stretch>
                  <a:fillRect l="-2195" t="-5556" r="-1405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030" y="4068531"/>
                <a:ext cx="2314951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08" y="3416459"/>
                <a:ext cx="46775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109765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765" y="3416459"/>
                <a:ext cx="46775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645" y="3416459"/>
                <a:ext cx="467756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764" y="3401189"/>
                <a:ext cx="560218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4205821" y="3490686"/>
            <a:ext cx="395206" cy="2920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22980" y="4778231"/>
            <a:ext cx="1459140" cy="4246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11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13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>
            <a:off x="2857953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3358696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3859439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4389211" y="3782781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40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67" y="777701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94" y="151567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53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9" y="217930"/>
                <a:ext cx="636997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9434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92" y="1323840"/>
                <a:ext cx="255922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𝐶𝐴𝐵𝐴𝐶𝐴𝐵𝐴𝐵𝐴𝐶𝐶𝐴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28" y="910429"/>
                <a:ext cx="2314951" cy="328937"/>
              </a:xfrm>
              <a:prstGeom prst="rect">
                <a:avLst/>
              </a:prstGeom>
              <a:blipFill rotWithShape="0">
                <a:blip r:embed="rId6"/>
                <a:stretch>
                  <a:fillRect l="-210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3005027" y="3715385"/>
            <a:ext cx="3683920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>
            <a:off x="3771729" y="3447328"/>
            <a:ext cx="0" cy="26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527142" y="2962909"/>
                <a:ext cx="4891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142" y="2962909"/>
                <a:ext cx="489173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50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單箭頭接點 27"/>
          <p:cNvCxnSpPr/>
          <p:nvPr/>
        </p:nvCxnSpPr>
        <p:spPr>
          <a:xfrm>
            <a:off x="4852673" y="3456092"/>
            <a:ext cx="0" cy="26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4608086" y="2971673"/>
                <a:ext cx="496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086" y="2971673"/>
                <a:ext cx="49629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469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/>
          <p:cNvCxnSpPr/>
          <p:nvPr/>
        </p:nvCxnSpPr>
        <p:spPr>
          <a:xfrm>
            <a:off x="5854849" y="3447328"/>
            <a:ext cx="0" cy="26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5610262" y="2962909"/>
                <a:ext cx="496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62" y="2962909"/>
                <a:ext cx="49629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439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/>
          <p:cNvSpPr/>
          <p:nvPr/>
        </p:nvSpPr>
        <p:spPr>
          <a:xfrm>
            <a:off x="4679173" y="5054425"/>
            <a:ext cx="1023276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12" name="直線接點 11"/>
          <p:cNvCxnSpPr/>
          <p:nvPr/>
        </p:nvCxnSpPr>
        <p:spPr>
          <a:xfrm>
            <a:off x="3983846" y="3724148"/>
            <a:ext cx="0" cy="285690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5702449" y="3724148"/>
            <a:ext cx="0" cy="285690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978215" y="4388930"/>
            <a:ext cx="1023276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328694" y="5708361"/>
            <a:ext cx="1023276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605994" y="316138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780773" y="371538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4700273" y="4388169"/>
            <a:ext cx="301218" cy="3796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682802" y="5061714"/>
            <a:ext cx="301218" cy="3796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679173" y="5710597"/>
            <a:ext cx="301218" cy="3796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2649686" y="4385840"/>
                <a:ext cx="1262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𝑢𝑏𝑠𝑡𝑟𝑖𝑛𝑔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686" y="4385840"/>
                <a:ext cx="1262653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2649686" y="5072026"/>
                <a:ext cx="1262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𝑢𝑏𝑠𝑡𝑟𝑖𝑛𝑔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686" y="5072026"/>
                <a:ext cx="1262653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2675827" y="5721667"/>
                <a:ext cx="1262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𝑢𝑏𝑠𝑡𝑟𝑖𝑛𝑔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827" y="5721667"/>
                <a:ext cx="1262653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95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2972" y="1280545"/>
                <a:ext cx="3808030" cy="2569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phase</a:t>
                </a:r>
                <a:r>
                  <a:rPr lang="zh-TW" altLang="en-US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3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3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3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Searching </a:t>
                </a:r>
                <a:r>
                  <a:rPr lang="en-US" altLang="zh-TW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</a:t>
                </a:r>
                <a:r>
                  <a:rPr lang="zh-TW" alt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3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3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 case : </a:t>
                </a:r>
                <a14:m>
                  <m:oMath xmlns:m="http://schemas.openxmlformats.org/officeDocument/2006/math">
                    <m:r>
                      <a:rPr lang="en-US" altLang="zh-TW" sz="23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TW" alt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1280545"/>
                <a:ext cx="3808030" cy="2569934"/>
              </a:xfrm>
              <a:prstGeom prst="rect">
                <a:avLst/>
              </a:prstGeom>
              <a:blipFill rotWithShape="0">
                <a:blip r:embed="rId2"/>
                <a:stretch>
                  <a:fillRect l="-1920" t="-18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70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31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458967" y="1539701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967" y="1539701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214894" y="913567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894" y="913567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6736989" y="979930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989" y="979930"/>
                <a:ext cx="636997" cy="3289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5433992" y="2085840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992" y="2085840"/>
                <a:ext cx="255922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5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706328" y="1672429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328" y="1672429"/>
                <a:ext cx="2314951" cy="3289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39292" y="2909824"/>
                <a:ext cx="8238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Arrange all the substrings of length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in a  </a:t>
                </a:r>
                <a:r>
                  <a:rPr lang="en-US" altLang="zh-TW" sz="2400" dirty="0" err="1" smtClean="0"/>
                  <a:t>trie</a:t>
                </a: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92" y="2909824"/>
                <a:ext cx="823866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109" t="-10526" r="-222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80975" y="3466276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3466276"/>
                <a:ext cx="1491434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6557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703070" y="3532639"/>
                <a:ext cx="1773555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𝐵𝐶𝐵𝐴𝐶𝐵𝐴𝐴𝐵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070" y="3532639"/>
                <a:ext cx="1773555" cy="328937"/>
              </a:xfrm>
              <a:prstGeom prst="rect">
                <a:avLst/>
              </a:prstGeom>
              <a:blipFill rotWithShape="0">
                <a:blip r:embed="rId9"/>
                <a:stretch>
                  <a:fillRect b="-54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812908" y="3431042"/>
                <a:ext cx="21064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908" y="3431042"/>
                <a:ext cx="2106410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913234" y="4401421"/>
                <a:ext cx="594073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34" y="4401421"/>
                <a:ext cx="594073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913041" y="4938731"/>
                <a:ext cx="5944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41" y="4938731"/>
                <a:ext cx="594458" cy="4154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16440" y="5207386"/>
                <a:ext cx="58766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40" y="5207386"/>
                <a:ext cx="587661" cy="41549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910733" y="5744694"/>
                <a:ext cx="59907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33" y="5744694"/>
                <a:ext cx="599075" cy="41549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916247" y="5476041"/>
                <a:ext cx="58804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𝐴𝐴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47" y="5476041"/>
                <a:ext cx="588046" cy="41549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915542" y="4670076"/>
                <a:ext cx="589457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𝐶𝐵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542" y="4670076"/>
                <a:ext cx="589457" cy="41549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左大括弧 3"/>
          <p:cNvSpPr/>
          <p:nvPr/>
        </p:nvSpPr>
        <p:spPr>
          <a:xfrm>
            <a:off x="439292" y="4539103"/>
            <a:ext cx="476250" cy="1490118"/>
          </a:xfrm>
          <a:prstGeom prst="leftBrace">
            <a:avLst>
              <a:gd name="adj1" fmla="val 443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82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TW" altLang="en-US" sz="3200" dirty="0" smtClean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前綴樹 </a:t>
            </a:r>
            <a:r>
              <a:rPr lang="en-US" altLang="zh-TW" sz="3200" dirty="0" smtClean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TW" altLang="en-US" sz="3200" dirty="0" smtClean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 字典樹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1259" y="1597521"/>
            <a:ext cx="266130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A , to , tea , ted , </a:t>
            </a:r>
          </a:p>
          <a:p>
            <a:r>
              <a:rPr lang="en-US" altLang="zh-TW" sz="2800" dirty="0" smtClean="0"/>
              <a:t>ten , 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 , inn , in</a:t>
            </a:r>
          </a:p>
          <a:p>
            <a:endParaRPr lang="zh-TW" altLang="en-US" sz="28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7" y="1159371"/>
            <a:ext cx="5200794" cy="469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162019" y="1190554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19" y="1190554"/>
                <a:ext cx="1491434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6557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群組 96"/>
          <p:cNvGrpSpPr/>
          <p:nvPr/>
        </p:nvGrpSpPr>
        <p:grpSpPr>
          <a:xfrm>
            <a:off x="1111103" y="1694292"/>
            <a:ext cx="1070516" cy="1758771"/>
            <a:chOff x="368278" y="1646638"/>
            <a:chExt cx="1070516" cy="1758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842220" y="1646638"/>
                  <a:ext cx="594073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m:oMathPara>
                  </a14:m>
                  <a:endParaRPr lang="zh-TW" altLang="en-US" sz="2100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220" y="1646638"/>
                  <a:ext cx="594073" cy="41549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/>
                <p:cNvSpPr/>
                <p:nvPr/>
              </p:nvSpPr>
              <p:spPr>
                <a:xfrm>
                  <a:off x="842027" y="2183948"/>
                  <a:ext cx="594458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1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TW" altLang="en-US" sz="2100" dirty="0"/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027" y="2183948"/>
                  <a:ext cx="594458" cy="41549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/>
                <p:cNvSpPr/>
                <p:nvPr/>
              </p:nvSpPr>
              <p:spPr>
                <a:xfrm>
                  <a:off x="845426" y="2452603"/>
                  <a:ext cx="587661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m:oMathPara>
                  </a14:m>
                  <a:endParaRPr lang="zh-TW" altLang="en-US" sz="2100" dirty="0"/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26" y="2452603"/>
                  <a:ext cx="587661" cy="41549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/>
                <p:cNvSpPr/>
                <p:nvPr/>
              </p:nvSpPr>
              <p:spPr>
                <a:xfrm>
                  <a:off x="839719" y="2989911"/>
                  <a:ext cx="599075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m:oMathPara>
                  </a14:m>
                  <a:endParaRPr lang="zh-TW" altLang="en-US" sz="2100" dirty="0"/>
                </a:p>
              </p:txBody>
            </p:sp>
          </mc:Choice>
          <mc:Fallback xmlns="">
            <p:sp>
              <p:nvSpPr>
                <p:cNvPr id="17" name="矩形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719" y="2989911"/>
                  <a:ext cx="599075" cy="41549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/>
                <p:cNvSpPr/>
                <p:nvPr/>
              </p:nvSpPr>
              <p:spPr>
                <a:xfrm>
                  <a:off x="845233" y="2721258"/>
                  <a:ext cx="588046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𝐴𝐴</m:t>
                        </m:r>
                      </m:oMath>
                    </m:oMathPara>
                  </a14:m>
                  <a:endParaRPr lang="zh-TW" altLang="en-US" sz="2100" dirty="0"/>
                </a:p>
              </p:txBody>
            </p:sp>
          </mc:Choice>
          <mc:Fallback xmlns="">
            <p:sp>
              <p:nvSpPr>
                <p:cNvPr id="18" name="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233" y="2721258"/>
                  <a:ext cx="588046" cy="41549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844528" y="1915293"/>
                  <a:ext cx="589457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𝐶𝐵</m:t>
                        </m:r>
                      </m:oMath>
                    </m:oMathPara>
                  </a14:m>
                  <a:endParaRPr lang="zh-TW" altLang="en-US" sz="2100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528" y="1915293"/>
                  <a:ext cx="589457" cy="41549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左大括弧 3"/>
            <p:cNvSpPr/>
            <p:nvPr/>
          </p:nvSpPr>
          <p:spPr>
            <a:xfrm>
              <a:off x="368278" y="1784320"/>
              <a:ext cx="476250" cy="1490118"/>
            </a:xfrm>
            <a:prstGeom prst="leftBrace">
              <a:avLst>
                <a:gd name="adj1" fmla="val 44333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橢圓 4"/>
          <p:cNvSpPr/>
          <p:nvPr/>
        </p:nvSpPr>
        <p:spPr>
          <a:xfrm>
            <a:off x="6522820" y="925749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>
            <a:stCxn id="5" idx="3"/>
            <a:endCxn id="34" idx="7"/>
          </p:cNvCxnSpPr>
          <p:nvPr/>
        </p:nvCxnSpPr>
        <p:spPr>
          <a:xfrm flipH="1">
            <a:off x="5919050" y="1324566"/>
            <a:ext cx="672196" cy="6592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5" idx="4"/>
            <a:endCxn id="35" idx="0"/>
          </p:cNvCxnSpPr>
          <p:nvPr/>
        </p:nvCxnSpPr>
        <p:spPr>
          <a:xfrm>
            <a:off x="6756442" y="1392992"/>
            <a:ext cx="1" cy="8462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5" idx="5"/>
            <a:endCxn id="36" idx="1"/>
          </p:cNvCxnSpPr>
          <p:nvPr/>
        </p:nvCxnSpPr>
        <p:spPr>
          <a:xfrm>
            <a:off x="6921637" y="1324566"/>
            <a:ext cx="675109" cy="6472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520233" y="1915433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6522821" y="2239283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7528320" y="1903396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939868" y="1331950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868" y="1331950"/>
                <a:ext cx="39607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6414029" y="1675569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029" y="1675569"/>
                <a:ext cx="39607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7107043" y="130623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043" y="1306237"/>
                <a:ext cx="396070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橢圓 43"/>
          <p:cNvSpPr/>
          <p:nvPr/>
        </p:nvSpPr>
        <p:spPr>
          <a:xfrm>
            <a:off x="4278308" y="2595742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4835928" y="3055011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單箭頭接點 47"/>
          <p:cNvCxnSpPr>
            <a:stCxn id="34" idx="2"/>
            <a:endCxn id="44" idx="7"/>
          </p:cNvCxnSpPr>
          <p:nvPr/>
        </p:nvCxnSpPr>
        <p:spPr>
          <a:xfrm flipH="1">
            <a:off x="4677125" y="2149055"/>
            <a:ext cx="843108" cy="5151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34" idx="3"/>
            <a:endCxn id="45" idx="7"/>
          </p:cNvCxnSpPr>
          <p:nvPr/>
        </p:nvCxnSpPr>
        <p:spPr>
          <a:xfrm flipH="1">
            <a:off x="5234745" y="2314250"/>
            <a:ext cx="353914" cy="809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橢圓 54"/>
          <p:cNvSpPr/>
          <p:nvPr/>
        </p:nvSpPr>
        <p:spPr>
          <a:xfrm>
            <a:off x="6394730" y="3288633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/>
          <p:cNvSpPr/>
          <p:nvPr/>
        </p:nvSpPr>
        <p:spPr>
          <a:xfrm>
            <a:off x="7222649" y="3091931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單箭頭接點 56"/>
          <p:cNvCxnSpPr>
            <a:stCxn id="35" idx="3"/>
            <a:endCxn id="55" idx="0"/>
          </p:cNvCxnSpPr>
          <p:nvPr/>
        </p:nvCxnSpPr>
        <p:spPr>
          <a:xfrm>
            <a:off x="6591247" y="2638100"/>
            <a:ext cx="37105" cy="6505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35" idx="5"/>
            <a:endCxn id="56" idx="1"/>
          </p:cNvCxnSpPr>
          <p:nvPr/>
        </p:nvCxnSpPr>
        <p:spPr>
          <a:xfrm>
            <a:off x="6921638" y="2638100"/>
            <a:ext cx="369437" cy="5222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橢圓 62"/>
          <p:cNvSpPr/>
          <p:nvPr/>
        </p:nvSpPr>
        <p:spPr>
          <a:xfrm>
            <a:off x="8156983" y="2886888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4" name="直線單箭頭接點 63"/>
          <p:cNvCxnSpPr>
            <a:stCxn id="36" idx="5"/>
            <a:endCxn id="63" idx="1"/>
          </p:cNvCxnSpPr>
          <p:nvPr/>
        </p:nvCxnSpPr>
        <p:spPr>
          <a:xfrm>
            <a:off x="7927137" y="2302213"/>
            <a:ext cx="298272" cy="653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4869091" y="2035662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091" y="2035662"/>
                <a:ext cx="396070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橢圓 81"/>
          <p:cNvSpPr/>
          <p:nvPr/>
        </p:nvSpPr>
        <p:spPr>
          <a:xfrm>
            <a:off x="5622548" y="3268779"/>
            <a:ext cx="467243" cy="4672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3" name="直線單箭頭接點 82"/>
          <p:cNvCxnSpPr>
            <a:stCxn id="34" idx="5"/>
            <a:endCxn id="82" idx="0"/>
          </p:cNvCxnSpPr>
          <p:nvPr/>
        </p:nvCxnSpPr>
        <p:spPr>
          <a:xfrm flipH="1">
            <a:off x="5856170" y="2314250"/>
            <a:ext cx="62880" cy="9545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6240244" y="2760348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44" y="2760348"/>
                <a:ext cx="396070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/>
              <p:cNvSpPr txBox="1"/>
              <p:nvPr/>
            </p:nvSpPr>
            <p:spPr>
              <a:xfrm>
                <a:off x="5108739" y="2517556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7" name="文字方塊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739" y="2517556"/>
                <a:ext cx="39607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/>
              <p:cNvSpPr txBox="1"/>
              <p:nvPr/>
            </p:nvSpPr>
            <p:spPr>
              <a:xfrm>
                <a:off x="8014736" y="2314250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8" name="文字方塊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736" y="2314250"/>
                <a:ext cx="396070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/>
              <p:cNvSpPr txBox="1"/>
              <p:nvPr/>
            </p:nvSpPr>
            <p:spPr>
              <a:xfrm>
                <a:off x="5812636" y="2619185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9" name="文字方塊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636" y="2619185"/>
                <a:ext cx="396070" cy="36933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/>
              <p:cNvSpPr txBox="1"/>
              <p:nvPr/>
            </p:nvSpPr>
            <p:spPr>
              <a:xfrm>
                <a:off x="7009237" y="2611012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0" name="文字方塊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237" y="2611012"/>
                <a:ext cx="396070" cy="36933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5" name="表格 9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290746"/>
                  </p:ext>
                </p:extLst>
              </p:nvPr>
            </p:nvGraphicFramePr>
            <p:xfrm>
              <a:off x="780543" y="3595698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𝑠𝑢𝑏𝑠𝑡𝑟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𝐴𝐴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6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7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𝐴𝐶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3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𝐵𝐴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1 , 4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5" name="表格 9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290746"/>
                  </p:ext>
                </p:extLst>
              </p:nvPr>
            </p:nvGraphicFramePr>
            <p:xfrm>
              <a:off x="780543" y="3595698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1471" r="-10067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101361" t="-1471" r="-1361" b="-625000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102985" r="-100676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6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200000" r="-100676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7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300000" r="-100676" b="-3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3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400000" r="-100676" b="-2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507463" r="-100676" b="-129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8"/>
                          <a:stretch>
                            <a:fillRect l="-676" t="-598529" r="-100676" b="-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1 , 4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/>
              <p:cNvSpPr/>
              <p:nvPr/>
            </p:nvSpPr>
            <p:spPr>
              <a:xfrm>
                <a:off x="1653453" y="1262363"/>
                <a:ext cx="1773555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𝐵𝐶𝐵𝐴𝐶𝐵𝐴𝐴𝐵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矩形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453" y="1262363"/>
                <a:ext cx="1773555" cy="328937"/>
              </a:xfrm>
              <a:prstGeom prst="rect">
                <a:avLst/>
              </a:prstGeom>
              <a:blipFill rotWithShape="0">
                <a:blip r:embed="rId19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/>
              <p:cNvSpPr/>
              <p:nvPr/>
            </p:nvSpPr>
            <p:spPr>
              <a:xfrm>
                <a:off x="7164784" y="3141307"/>
                <a:ext cx="594073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98" name="矩形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784" y="3141307"/>
                <a:ext cx="594073" cy="41549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/>
              <p:cNvSpPr/>
              <p:nvPr/>
            </p:nvSpPr>
            <p:spPr>
              <a:xfrm>
                <a:off x="8095102" y="2934509"/>
                <a:ext cx="589457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𝐶𝐵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99" name="矩形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102" y="2934509"/>
                <a:ext cx="589457" cy="415498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/>
              <p:cNvSpPr/>
              <p:nvPr/>
            </p:nvSpPr>
            <p:spPr>
              <a:xfrm>
                <a:off x="6319359" y="3327396"/>
                <a:ext cx="5944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0" name="矩形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359" y="3327396"/>
                <a:ext cx="594458" cy="415498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/>
              <p:cNvSpPr/>
              <p:nvPr/>
            </p:nvSpPr>
            <p:spPr>
              <a:xfrm>
                <a:off x="5543226" y="3328205"/>
                <a:ext cx="58766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1" name="矩形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226" y="3328205"/>
                <a:ext cx="587661" cy="415498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/>
              <p:cNvSpPr/>
              <p:nvPr/>
            </p:nvSpPr>
            <p:spPr>
              <a:xfrm>
                <a:off x="4206033" y="2645049"/>
                <a:ext cx="58804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𝐴𝐴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2" name="矩形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033" y="2645049"/>
                <a:ext cx="588046" cy="415498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/>
              <p:cNvSpPr/>
              <p:nvPr/>
            </p:nvSpPr>
            <p:spPr>
              <a:xfrm>
                <a:off x="4754953" y="3103152"/>
                <a:ext cx="59907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3" name="矩形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953" y="3103152"/>
                <a:ext cx="599075" cy="415498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94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163028" y="4043543"/>
                <a:ext cx="334254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𝐵𝐶𝐶𝐴𝐵𝐶𝐵𝐴𝐶𝐵𝐴𝐴𝐵𝐴𝐵𝐴𝐵𝐶𝐴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028" y="4043543"/>
                <a:ext cx="3342547" cy="328937"/>
              </a:xfrm>
              <a:prstGeom prst="rect">
                <a:avLst/>
              </a:prstGeom>
              <a:blipFill rotWithShape="0">
                <a:blip r:embed="rId2"/>
                <a:stretch>
                  <a:fillRect l="-1455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/>
          <p:cNvCxnSpPr/>
          <p:nvPr/>
        </p:nvCxnSpPr>
        <p:spPr>
          <a:xfrm flipH="1">
            <a:off x="3844474" y="4050331"/>
            <a:ext cx="31730" cy="167134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3876204" y="5049201"/>
            <a:ext cx="6778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4395186" y="4059645"/>
            <a:ext cx="0" cy="114333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4744041" y="4059645"/>
            <a:ext cx="0" cy="111829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5409729" y="4059856"/>
            <a:ext cx="0" cy="172181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4554092" y="1694264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092" y="1694264"/>
                <a:ext cx="105323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86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4310019" y="1062988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019" y="1062988"/>
                <a:ext cx="149143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5801453" y="1826992"/>
                <a:ext cx="334254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𝐵𝐶𝐶𝐴𝐵𝐶𝐵𝐴𝐶𝐵𝐴𝐴𝐵𝐴𝐵𝐴𝐵𝐶𝐴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453" y="1826992"/>
                <a:ext cx="3342547" cy="328937"/>
              </a:xfrm>
              <a:prstGeom prst="rect">
                <a:avLst/>
              </a:prstGeom>
              <a:blipFill rotWithShape="0">
                <a:blip r:embed="rId5"/>
                <a:stretch>
                  <a:fillRect l="-1455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747299"/>
                  </p:ext>
                </p:extLst>
              </p:nvPr>
            </p:nvGraphicFramePr>
            <p:xfrm>
              <a:off x="247650" y="3605223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𝑠𝑢𝑏𝑠𝑡𝑟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𝐴𝐴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6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7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𝐴𝐶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3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𝐵𝐴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1 , 4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747299"/>
                  </p:ext>
                </p:extLst>
              </p:nvPr>
            </p:nvGraphicFramePr>
            <p:xfrm>
              <a:off x="247650" y="3605223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1471" r="-10067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1361" t="-1471" r="-1361" b="-625000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102985" r="-100676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6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200000" r="-100676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7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304478" r="-100676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3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398529" r="-100676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505970" r="-100676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597059" r="-100676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1 , 4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808730" y="1144323"/>
                <a:ext cx="1773555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𝐵𝐶𝐵𝐴𝐶𝐵𝐴𝐴𝐵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730" y="1144323"/>
                <a:ext cx="1773555" cy="328937"/>
              </a:xfrm>
              <a:prstGeom prst="rect">
                <a:avLst/>
              </a:prstGeom>
              <a:blipFill rotWithShape="0">
                <a:blip r:embed="rId7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143887" y="2546267"/>
                <a:ext cx="709886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Look into buckets of text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TW" sz="2400" b="0" dirty="0" smtClean="0"/>
                  <a:t>, and examine.</a:t>
                </a:r>
              </a:p>
              <a:p>
                <a:r>
                  <a:rPr lang="en-US" altLang="zh-TW" sz="2400" dirty="0"/>
                  <a:t>	(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−1,  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=1,2,3,…)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887" y="2546267"/>
                <a:ext cx="7098866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1375" t="-5882" r="-430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226233" y="3377264"/>
                <a:ext cx="4150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233" y="3377264"/>
                <a:ext cx="415049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/>
          <p:cNvCxnSpPr/>
          <p:nvPr/>
        </p:nvCxnSpPr>
        <p:spPr>
          <a:xfrm>
            <a:off x="4467678" y="3743586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354147" y="4874046"/>
                <a:ext cx="43799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47" y="4874046"/>
                <a:ext cx="437990" cy="328937"/>
              </a:xfrm>
              <a:prstGeom prst="rect">
                <a:avLst/>
              </a:prstGeom>
              <a:blipFill rotWithShape="0">
                <a:blip r:embed="rId10"/>
                <a:stretch>
                  <a:fillRect l="-14865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844474" y="5557209"/>
                <a:ext cx="1651162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𝐵𝐶𝐵𝐴𝐶𝐵𝐴𝐴𝐵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474" y="5557209"/>
                <a:ext cx="1651162" cy="328937"/>
              </a:xfrm>
              <a:prstGeom prst="rect">
                <a:avLst/>
              </a:prstGeom>
              <a:blipFill rotWithShape="0">
                <a:blip r:embed="rId11"/>
                <a:stretch>
                  <a:fillRect l="-3663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/>
          <p:cNvSpPr txBox="1"/>
          <p:nvPr/>
        </p:nvSpPr>
        <p:spPr>
          <a:xfrm>
            <a:off x="3998851" y="47403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3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7648" y="4842717"/>
            <a:ext cx="1792475" cy="4013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70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163028" y="4043543"/>
                <a:ext cx="334254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𝐵𝐶𝐶𝐴𝐵𝐶𝐵𝐴𝐶𝐵𝐴𝐴𝐵𝐴𝐵𝐴𝐵𝐶𝐴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028" y="4043543"/>
                <a:ext cx="3342547" cy="328937"/>
              </a:xfrm>
              <a:prstGeom prst="rect">
                <a:avLst/>
              </a:prstGeom>
              <a:blipFill rotWithShape="0">
                <a:blip r:embed="rId2"/>
                <a:stretch>
                  <a:fillRect l="-1455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/>
          <p:nvPr/>
        </p:nvCxnSpPr>
        <p:spPr>
          <a:xfrm>
            <a:off x="4523904" y="5049201"/>
            <a:ext cx="138159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5738211" y="4059645"/>
            <a:ext cx="0" cy="114333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087066" y="4059645"/>
            <a:ext cx="0" cy="111829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23904" y="4050331"/>
            <a:ext cx="0" cy="225521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086004" y="4059856"/>
            <a:ext cx="0" cy="232159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32972" y="1280545"/>
            <a:ext cx="28761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phase</a:t>
            </a:r>
          </a:p>
          <a:p>
            <a:pPr lvl="1"/>
            <a:endParaRPr lang="en-US" altLang="zh-TW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phase</a:t>
            </a:r>
          </a:p>
          <a:p>
            <a:pPr lvl="1"/>
            <a:endParaRPr lang="zh-TW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4554092" y="1694264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092" y="1694264"/>
                <a:ext cx="105323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86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4310019" y="1062988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019" y="1062988"/>
                <a:ext cx="149143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5801453" y="1826992"/>
                <a:ext cx="334254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𝐵𝐶𝐶𝐴𝐵𝐶𝐵𝐴𝐶𝐵𝐴𝐴𝐵𝐴𝐵𝐴𝐵𝐶𝐴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453" y="1826992"/>
                <a:ext cx="3342547" cy="328937"/>
              </a:xfrm>
              <a:prstGeom prst="rect">
                <a:avLst/>
              </a:prstGeom>
              <a:blipFill rotWithShape="0">
                <a:blip r:embed="rId5"/>
                <a:stretch>
                  <a:fillRect l="-1455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747299"/>
                  </p:ext>
                </p:extLst>
              </p:nvPr>
            </p:nvGraphicFramePr>
            <p:xfrm>
              <a:off x="247650" y="3605223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𝑠𝑢𝑏𝑠𝑡𝑟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𝐴𝐴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6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7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𝐴𝐶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3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𝐵𝐴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1 , 4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747299"/>
                  </p:ext>
                </p:extLst>
              </p:nvPr>
            </p:nvGraphicFramePr>
            <p:xfrm>
              <a:off x="247650" y="3605223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1471" r="-10067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1361" t="-1471" r="-1361" b="-625000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102985" r="-100676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6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200000" r="-100676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7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304478" r="-100676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3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398529" r="-100676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505970" r="-100676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0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676" t="-597059" r="-100676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1 , 4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808730" y="1144323"/>
                <a:ext cx="1773555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𝐵𝐶𝐵𝐴𝐶𝐵𝐴𝐴𝐵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730" y="1144323"/>
                <a:ext cx="1773555" cy="328937"/>
              </a:xfrm>
              <a:prstGeom prst="rect">
                <a:avLst/>
              </a:prstGeom>
              <a:blipFill rotWithShape="0">
                <a:blip r:embed="rId7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143887" y="2546267"/>
                <a:ext cx="709886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Look into buckets of text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TW" sz="2400" b="0" dirty="0" smtClean="0"/>
                  <a:t>, and examine.</a:t>
                </a:r>
              </a:p>
              <a:p>
                <a:r>
                  <a:rPr lang="en-US" altLang="zh-TW" sz="2400" dirty="0"/>
                  <a:t>	(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−1,  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=1,2,3,…)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887" y="2546267"/>
                <a:ext cx="7098866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1375" t="-5882" r="-430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588308" y="3377264"/>
                <a:ext cx="4203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308" y="3377264"/>
                <a:ext cx="420371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/>
          <p:cNvCxnSpPr/>
          <p:nvPr/>
        </p:nvCxnSpPr>
        <p:spPr>
          <a:xfrm>
            <a:off x="5829753" y="3743586"/>
            <a:ext cx="0" cy="2857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697172" y="4874046"/>
                <a:ext cx="388832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172" y="4874046"/>
                <a:ext cx="388832" cy="328937"/>
              </a:xfrm>
              <a:prstGeom prst="rect">
                <a:avLst/>
              </a:prstGeom>
              <a:blipFill rotWithShape="0">
                <a:blip r:embed="rId10"/>
                <a:stretch>
                  <a:fillRect l="-18462" r="-16923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523905" y="5992715"/>
                <a:ext cx="15621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𝐶𝐵𝐴𝐴𝐵𝐴𝐵𝐴𝐵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905" y="5992715"/>
                <a:ext cx="1562100" cy="328937"/>
              </a:xfrm>
              <a:prstGeom prst="rect">
                <a:avLst/>
              </a:prstGeom>
              <a:blipFill rotWithShape="0">
                <a:blip r:embed="rId11"/>
                <a:stretch>
                  <a:fillRect l="-4651" r="-5039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5002558" y="4764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7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7648" y="4433142"/>
            <a:ext cx="1792475" cy="4013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17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24075" y="2200910"/>
            <a:ext cx="4285223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>
            <a:off x="2979580" y="1960644"/>
            <a:ext cx="0" cy="26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734993" y="1476225"/>
                <a:ext cx="4891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93" y="1476225"/>
                <a:ext cx="489173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250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單箭頭接點 27"/>
          <p:cNvCxnSpPr/>
          <p:nvPr/>
        </p:nvCxnSpPr>
        <p:spPr>
          <a:xfrm>
            <a:off x="4481198" y="1941617"/>
            <a:ext cx="0" cy="26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4236611" y="1457198"/>
                <a:ext cx="496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11" y="1457198"/>
                <a:ext cx="49629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2469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/>
          <p:cNvCxnSpPr/>
          <p:nvPr/>
        </p:nvCxnSpPr>
        <p:spPr>
          <a:xfrm>
            <a:off x="6065769" y="1919511"/>
            <a:ext cx="0" cy="26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5821182" y="1435092"/>
                <a:ext cx="496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182" y="1435092"/>
                <a:ext cx="496290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469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/>
          <p:cNvSpPr/>
          <p:nvPr/>
        </p:nvSpPr>
        <p:spPr>
          <a:xfrm>
            <a:off x="4328797" y="3539950"/>
            <a:ext cx="1621301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12" name="直線接點 11"/>
          <p:cNvCxnSpPr/>
          <p:nvPr/>
        </p:nvCxnSpPr>
        <p:spPr>
          <a:xfrm>
            <a:off x="3117071" y="2209673"/>
            <a:ext cx="0" cy="357200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5950099" y="2228700"/>
            <a:ext cx="0" cy="355297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117071" y="2874455"/>
            <a:ext cx="1759727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600591" y="4193886"/>
            <a:ext cx="1704834" cy="379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234519" y="164691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6409298" y="220090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4328798" y="2873694"/>
            <a:ext cx="548002" cy="3796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11326" y="3547239"/>
            <a:ext cx="565473" cy="3796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307697" y="4196122"/>
            <a:ext cx="569101" cy="3796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1782911" y="2871365"/>
                <a:ext cx="1262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𝑢𝑏𝑠𝑡𝑟𝑖𝑛𝑔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911" y="2871365"/>
                <a:ext cx="1262653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1782911" y="3557551"/>
                <a:ext cx="1262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𝑢𝑏𝑠𝑡𝑟𝑖𝑛𝑔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911" y="3557551"/>
                <a:ext cx="126265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1809052" y="4207192"/>
                <a:ext cx="1262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𝑢𝑏𝑠𝑡𝑟𝑖𝑛𝑔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052" y="4207192"/>
                <a:ext cx="1262653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弧形 1"/>
          <p:cNvSpPr/>
          <p:nvPr/>
        </p:nvSpPr>
        <p:spPr>
          <a:xfrm rot="10800000">
            <a:off x="4307696" y="4400146"/>
            <a:ext cx="569101" cy="390525"/>
          </a:xfrm>
          <a:prstGeom prst="arc">
            <a:avLst>
              <a:gd name="adj1" fmla="val 11072883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428834" y="4758504"/>
                <a:ext cx="3170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834" y="4758504"/>
                <a:ext cx="31701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/>
          <p:cNvSpPr txBox="1"/>
          <p:nvPr/>
        </p:nvSpPr>
        <p:spPr>
          <a:xfrm>
            <a:off x="1561405" y="218756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425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the Alpha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2972" y="1280545"/>
                <a:ext cx="5198859" cy="2000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 case : </a:t>
                </a:r>
                <a14:m>
                  <m:oMath xmlns:m="http://schemas.openxmlformats.org/officeDocument/2006/math">
                    <m:r>
                      <a:rPr lang="en-US" altLang="zh-TW" sz="23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time complexity :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0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TW" alt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1280545"/>
                <a:ext cx="5198859" cy="2000291"/>
              </a:xfrm>
              <a:prstGeom prst="rect">
                <a:avLst/>
              </a:prstGeom>
              <a:blipFill rotWithShape="0">
                <a:blip r:embed="rId2"/>
                <a:stretch>
                  <a:fillRect l="-1407" t="-24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43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Fast Variant of 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400073" y="2544367"/>
                <a:ext cx="8582002" cy="1154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phase</a:t>
                </a:r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indexes all subsequences of the length </a:t>
                </a:r>
                <a14:m>
                  <m:oMath xmlns:m="http://schemas.openxmlformats.org/officeDocument/2006/math">
                    <m:r>
                      <a:rPr lang="en-US" altLang="zh-TW" sz="23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pattern </a:t>
                </a:r>
                <a14:m>
                  <m:oMath xmlns:m="http://schemas.openxmlformats.org/officeDocument/2006/math">
                    <m:r>
                      <a:rPr lang="en-US" altLang="zh-TW" sz="23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	 (substring of length </a:t>
                </a:r>
                <a14:m>
                  <m:oMath xmlns:m="http://schemas.openxmlformats.org/officeDocument/2006/math">
                    <m:r>
                      <a:rPr lang="en-US" altLang="zh-TW" sz="23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converted into a numeric value.)</a:t>
                </a: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3" y="2544367"/>
                <a:ext cx="8582002" cy="1154162"/>
              </a:xfrm>
              <a:prstGeom prst="rect">
                <a:avLst/>
              </a:prstGeom>
              <a:blipFill rotWithShape="0">
                <a:blip r:embed="rId2"/>
                <a:stretch>
                  <a:fillRect l="-853" t="-4211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1038248" y="1915480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248" y="1915480"/>
                <a:ext cx="105323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86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819150" y="1264084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1264084"/>
                <a:ext cx="149143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2341245" y="1330447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245" y="1330447"/>
                <a:ext cx="636997" cy="3289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844634" y="1330447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634" y="1330447"/>
                <a:ext cx="255922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2310584" y="2022946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584" y="2022946"/>
                <a:ext cx="2314951" cy="32893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4844634" y="1814241"/>
                <a:ext cx="29007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c</a:t>
                </a:r>
                <a:r>
                  <a:rPr lang="en-US" altLang="zh-TW" sz="2400" b="0" dirty="0" err="1" smtClean="0"/>
                  <a:t>onst</a:t>
                </a:r>
                <a:r>
                  <a:rPr lang="en-US" altLang="zh-TW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(1≤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634" y="1814241"/>
                <a:ext cx="2900794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3361" t="-10667" r="-630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5974" y="3865751"/>
            <a:ext cx="3280842" cy="1023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2224859" y="5083525"/>
                <a:ext cx="975541" cy="32893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859" y="5083525"/>
                <a:ext cx="975541" cy="328937"/>
              </a:xfrm>
              <a:prstGeom prst="rect">
                <a:avLst/>
              </a:prstGeom>
              <a:blipFill rotWithShape="0">
                <a:blip r:embed="rId10"/>
                <a:stretch>
                  <a:fillRect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200400" y="5083525"/>
                <a:ext cx="975541" cy="32893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083525"/>
                <a:ext cx="975541" cy="328937"/>
              </a:xfrm>
              <a:prstGeom prst="rect">
                <a:avLst/>
              </a:prstGeom>
              <a:blipFill rotWithShape="0">
                <a:blip r:embed="rId11"/>
                <a:stretch>
                  <a:fillRect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4175941" y="5083524"/>
                <a:ext cx="975541" cy="3289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TW" sz="2100" dirty="0" smtClean="0">
                    <a:solidFill>
                      <a:schemeClr val="tx1"/>
                    </a:solidFill>
                  </a:rPr>
                  <a:t>…</a:t>
                </a:r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941" y="5083524"/>
                <a:ext cx="975541" cy="328937"/>
              </a:xfrm>
              <a:prstGeom prst="rect">
                <a:avLst/>
              </a:prstGeom>
              <a:blipFill rotWithShape="0">
                <a:blip r:embed="rId12"/>
                <a:stretch>
                  <a:fillRect t="-21429" b="-46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5151482" y="5083524"/>
                <a:ext cx="975541" cy="32893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82" y="5083524"/>
                <a:ext cx="975541" cy="328937"/>
              </a:xfrm>
              <a:prstGeom prst="rect">
                <a:avLst/>
              </a:prstGeom>
              <a:blipFill rotWithShape="0">
                <a:blip r:embed="rId13"/>
                <a:stretch>
                  <a:fillRect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6124247" y="5083524"/>
                <a:ext cx="975541" cy="32893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247" y="5083524"/>
                <a:ext cx="975541" cy="328937"/>
              </a:xfrm>
              <a:prstGeom prst="rect">
                <a:avLst/>
              </a:prstGeom>
              <a:blipFill rotWithShape="0">
                <a:blip r:embed="rId14"/>
                <a:stretch>
                  <a:fillRect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738081" y="4986382"/>
                <a:ext cx="4725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81" y="4986382"/>
                <a:ext cx="472502" cy="52322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038248" y="6177491"/>
                <a:ext cx="3280385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  <m:r>
                        <a:rPr lang="en-US" altLang="zh-TW" sz="23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3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𝑐𝑜𝑚𝑝𝑙𝑒𝑥𝑖𝑡𝑦</m:t>
                      </m:r>
                      <m:r>
                        <a:rPr lang="en-US" altLang="zh-TW" sz="23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:</m:t>
                      </m:r>
                      <m:r>
                        <a:rPr lang="en-US" altLang="zh-TW" sz="23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3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3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248" y="6177491"/>
                <a:ext cx="3280385" cy="446276"/>
              </a:xfrm>
              <a:prstGeom prst="rect">
                <a:avLst/>
              </a:prstGeom>
              <a:blipFill rotWithShape="0">
                <a:blip r:embed="rId16"/>
                <a:stretch>
                  <a:fillRect b="-148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440421" y="5333311"/>
                <a:ext cx="5130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21" y="5333311"/>
                <a:ext cx="513089" cy="461665"/>
              </a:xfrm>
              <a:prstGeom prst="rect">
                <a:avLst/>
              </a:prstGeom>
              <a:blipFill rotWithShape="0">
                <a:blip r:embed="rId1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3413186" y="5375516"/>
                <a:ext cx="8064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86" y="5375516"/>
                <a:ext cx="806439" cy="461665"/>
              </a:xfrm>
              <a:prstGeom prst="rect">
                <a:avLst/>
              </a:prstGeom>
              <a:blipFill rotWithShape="0">
                <a:blip r:embed="rId1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5116007" y="5363192"/>
                <a:ext cx="1111394" cy="490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007" y="5363192"/>
                <a:ext cx="1111394" cy="490199"/>
              </a:xfrm>
              <a:prstGeom prst="rect">
                <a:avLst/>
              </a:prstGeom>
              <a:blipFill rotWithShape="0">
                <a:blip r:embed="rId1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6082023" y="5383886"/>
                <a:ext cx="1111394" cy="490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023" y="5383886"/>
                <a:ext cx="1111394" cy="490199"/>
              </a:xfrm>
              <a:prstGeom prst="rect">
                <a:avLst/>
              </a:prstGeom>
              <a:blipFill rotWithShape="0">
                <a:blip r:embed="rId20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458920" y="5021423"/>
                <a:ext cx="700513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 smtClean="0"/>
                  <a:t>-bit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20" y="5021423"/>
                <a:ext cx="700513" cy="453137"/>
              </a:xfrm>
              <a:prstGeom prst="rect">
                <a:avLst/>
              </a:prstGeom>
              <a:blipFill rotWithShape="0">
                <a:blip r:embed="rId21"/>
                <a:stretch>
                  <a:fillRect r="-7895" b="-202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27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Fast Variant of 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1038248" y="1915480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248" y="1915480"/>
                <a:ext cx="105323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67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819150" y="1264084"/>
                <a:ext cx="149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1264084"/>
                <a:ext cx="14914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1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2341245" y="1330447"/>
                <a:ext cx="636997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245" y="1330447"/>
                <a:ext cx="636997" cy="3289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844634" y="1330447"/>
                <a:ext cx="25592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Size of alphabet   </a:t>
                </a:r>
                <a14:m>
                  <m:oMath xmlns:m="http://schemas.openxmlformats.org/officeDocument/2006/math"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634" y="1330447"/>
                <a:ext cx="255922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81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2310584" y="2022946"/>
                <a:ext cx="2314951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584" y="2022946"/>
                <a:ext cx="2314951" cy="32893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4844634" y="1814241"/>
                <a:ext cx="29007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c</a:t>
                </a:r>
                <a:r>
                  <a:rPr lang="en-US" altLang="zh-TW" sz="2400" b="0" dirty="0" err="1" smtClean="0"/>
                  <a:t>onst</a:t>
                </a:r>
                <a:r>
                  <a:rPr lang="en-US" altLang="zh-TW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(1≤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634" y="1814241"/>
                <a:ext cx="2900794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3361" t="-10667" r="-630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37" y="4312496"/>
            <a:ext cx="5953125" cy="657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438743"/>
                  </p:ext>
                </p:extLst>
              </p:nvPr>
            </p:nvGraphicFramePr>
            <p:xfrm>
              <a:off x="6967537" y="3865751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...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1233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11 , 5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1234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1235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2 , 9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…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438743"/>
                  </p:ext>
                </p:extLst>
              </p:nvPr>
            </p:nvGraphicFramePr>
            <p:xfrm>
              <a:off x="6967537" y="3865751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676" t="-1471" r="-101351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0676" t="-1471" r="-1351" b="-625000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...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676" t="-200000" r="-101351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11 , 5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676" t="-304478" r="-101351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676" t="-398529" r="-101351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2 , 9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676" t="-505970" r="-101351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…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400073" y="2544367"/>
                <a:ext cx="8582002" cy="1154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phase</a:t>
                </a:r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indexes all subsequences of the length </a:t>
                </a:r>
                <a14:m>
                  <m:oMath xmlns:m="http://schemas.openxmlformats.org/officeDocument/2006/math">
                    <m:r>
                      <a:rPr lang="en-US" altLang="zh-TW" sz="23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pattern </a:t>
                </a:r>
                <a14:m>
                  <m:oMath xmlns:m="http://schemas.openxmlformats.org/officeDocument/2006/math">
                    <m:r>
                      <a:rPr lang="en-US" altLang="zh-TW" sz="23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	 (substring of length </a:t>
                </a:r>
                <a14:m>
                  <m:oMath xmlns:m="http://schemas.openxmlformats.org/officeDocument/2006/math">
                    <m:r>
                      <a:rPr lang="en-US" altLang="zh-TW" sz="23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converted into a numeric value.)</a:t>
                </a: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3" y="2544367"/>
                <a:ext cx="8582002" cy="1154162"/>
              </a:xfrm>
              <a:prstGeom prst="rect">
                <a:avLst/>
              </a:prstGeom>
              <a:blipFill rotWithShape="0">
                <a:blip r:embed="rId10"/>
                <a:stretch>
                  <a:fillRect l="-853" t="-4211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69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939358" y="3281132"/>
            <a:ext cx="4604566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Fast Variant of 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695655"/>
                  </p:ext>
                </p:extLst>
              </p:nvPr>
            </p:nvGraphicFramePr>
            <p:xfrm>
              <a:off x="251410" y="2117845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...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1233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11 , 5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1234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1235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2 , 9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…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695655"/>
                  </p:ext>
                </p:extLst>
              </p:nvPr>
            </p:nvGraphicFramePr>
            <p:xfrm>
              <a:off x="251410" y="2117845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1471" r="-10067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1361" t="-1471" r="-1361" b="-625000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...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200000" r="-100676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11 , 5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304478" r="-100676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398529" r="-100676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2 , 9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505970" r="-100676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…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文字方塊 11"/>
          <p:cNvSpPr txBox="1"/>
          <p:nvPr/>
        </p:nvSpPr>
        <p:spPr>
          <a:xfrm>
            <a:off x="518110" y="1048942"/>
            <a:ext cx="858200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phase</a:t>
            </a:r>
          </a:p>
          <a:p>
            <a:r>
              <a:rPr lang="en-US" altLang="zh-TW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candidate substrings</a:t>
            </a:r>
            <a:endParaRPr lang="en-US" altLang="zh-TW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667022" y="3173666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2" y="3173666"/>
                <a:ext cx="105323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302" t="-10667" r="-581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667022" y="2043114"/>
                <a:ext cx="51390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=1,2,3,…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2" y="2043114"/>
                <a:ext cx="513909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718974" y="2604797"/>
                <a:ext cx="44024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974" y="2604797"/>
                <a:ext cx="440249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4939099" y="3004907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弧形 21"/>
          <p:cNvSpPr/>
          <p:nvPr/>
        </p:nvSpPr>
        <p:spPr>
          <a:xfrm rot="10800000">
            <a:off x="4920047" y="4025484"/>
            <a:ext cx="696314" cy="400205"/>
          </a:xfrm>
          <a:prstGeom prst="arc">
            <a:avLst>
              <a:gd name="adj1" fmla="val 10806930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111249" y="4425689"/>
                <a:ext cx="369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49" y="4425689"/>
                <a:ext cx="36958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/>
          <p:cNvCxnSpPr/>
          <p:nvPr/>
        </p:nvCxnSpPr>
        <p:spPr>
          <a:xfrm>
            <a:off x="5610225" y="3296963"/>
            <a:ext cx="0" cy="76963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4939098" y="3281132"/>
            <a:ext cx="0" cy="76963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4401947" y="4066594"/>
            <a:ext cx="518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4002410" y="3873255"/>
                <a:ext cx="49302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410" y="3873255"/>
                <a:ext cx="493020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/>
          <p:nvPr/>
        </p:nvCxnSpPr>
        <p:spPr>
          <a:xfrm flipH="1" flipV="1">
            <a:off x="1866900" y="4025484"/>
            <a:ext cx="2135511" cy="47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1866900" y="4091856"/>
            <a:ext cx="3066062" cy="90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941429" y="3277161"/>
            <a:ext cx="671127" cy="328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39098" y="3886294"/>
            <a:ext cx="671127" cy="328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50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400549" y="5125793"/>
            <a:ext cx="1733551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39358" y="3281132"/>
            <a:ext cx="4604566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Fast Variant of the Skip Search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695655"/>
                  </p:ext>
                </p:extLst>
              </p:nvPr>
            </p:nvGraphicFramePr>
            <p:xfrm>
              <a:off x="251410" y="2117845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zh-TW" alt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2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2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...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1233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11 , 5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1234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1235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2 , 9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3739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…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695655"/>
                  </p:ext>
                </p:extLst>
              </p:nvPr>
            </p:nvGraphicFramePr>
            <p:xfrm>
              <a:off x="251410" y="2117845"/>
              <a:ext cx="1792474" cy="288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6237"/>
                    <a:gridCol w="896237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1471" r="-10067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1361" t="-1471" r="-1361" b="-625000"/>
                          </a:stretch>
                        </a:blipFill>
                      </a:tcPr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...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200000" r="-100676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11 , 5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304478" r="-100676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25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398529" r="-100676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2 , 9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76" t="-505970" r="-100676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i="1" smtClean="0"/>
                            <a:t>…</a:t>
                          </a:r>
                          <a:endParaRPr lang="zh-TW" altLang="en-US" sz="21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100" dirty="0" smtClean="0"/>
                            <a:t>…</a:t>
                          </a:r>
                          <a:endParaRPr lang="zh-TW" altLang="en-US" sz="21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文字方塊 11"/>
          <p:cNvSpPr txBox="1"/>
          <p:nvPr/>
        </p:nvSpPr>
        <p:spPr>
          <a:xfrm>
            <a:off x="518110" y="1048942"/>
            <a:ext cx="858200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phase</a:t>
            </a:r>
          </a:p>
          <a:p>
            <a:r>
              <a:rPr lang="en-US" altLang="zh-TW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candidate substrings</a:t>
            </a:r>
            <a:endParaRPr lang="en-US" altLang="zh-TW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667022" y="3173666"/>
                <a:ext cx="1053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text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2" y="3173666"/>
                <a:ext cx="105323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302" t="-10667" r="-581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667022" y="2043114"/>
                <a:ext cx="51390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=1,2,3,…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22" y="2043114"/>
                <a:ext cx="513909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718974" y="2604797"/>
                <a:ext cx="44024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974" y="2604797"/>
                <a:ext cx="440249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4939099" y="3004907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939098" y="3886294"/>
            <a:ext cx="671127" cy="328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22" name="弧形 21"/>
          <p:cNvSpPr/>
          <p:nvPr/>
        </p:nvSpPr>
        <p:spPr>
          <a:xfrm rot="10800000">
            <a:off x="4920047" y="4025484"/>
            <a:ext cx="696314" cy="400205"/>
          </a:xfrm>
          <a:prstGeom prst="arc">
            <a:avLst>
              <a:gd name="adj1" fmla="val 10806930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111249" y="4425689"/>
                <a:ext cx="369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49" y="4425689"/>
                <a:ext cx="36958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/>
          <p:cNvCxnSpPr/>
          <p:nvPr/>
        </p:nvCxnSpPr>
        <p:spPr>
          <a:xfrm>
            <a:off x="5610225" y="3296963"/>
            <a:ext cx="0" cy="76963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4939098" y="3281132"/>
            <a:ext cx="0" cy="76963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1866900" y="4091856"/>
            <a:ext cx="2541195" cy="1006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9098" y="5127537"/>
            <a:ext cx="671127" cy="328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39097" y="3277238"/>
            <a:ext cx="671127" cy="3289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4396172" y="3277238"/>
            <a:ext cx="4377" cy="2013024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127535" y="3228599"/>
            <a:ext cx="4377" cy="2013024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6252547" y="5103648"/>
                <a:ext cx="23129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c</a:t>
                </a:r>
                <a:r>
                  <a:rPr lang="en-US" altLang="zh-TW" sz="2400" dirty="0" smtClean="0"/>
                  <a:t>ompared with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547" y="5103648"/>
                <a:ext cx="2312941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422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弧形 31"/>
          <p:cNvSpPr/>
          <p:nvPr/>
        </p:nvSpPr>
        <p:spPr>
          <a:xfrm rot="10800000">
            <a:off x="4396171" y="5315146"/>
            <a:ext cx="1737927" cy="333698"/>
          </a:xfrm>
          <a:prstGeom prst="arc">
            <a:avLst>
              <a:gd name="adj1" fmla="val 10806930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5051777" y="5585732"/>
                <a:ext cx="4355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777" y="5585732"/>
                <a:ext cx="43550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01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this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2972" y="1280545"/>
                <a:ext cx="497802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phase: </a:t>
                </a:r>
                <a14:m>
                  <m:oMath xmlns:m="http://schemas.openxmlformats.org/officeDocument/2006/math">
                    <m:r>
                      <a:rPr lang="en-US" altLang="zh-TW" sz="23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3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TW" sz="23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sz="23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3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3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3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3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 </a:t>
                </a:r>
                <a:r>
                  <a:rPr lang="en-US" altLang="zh-TW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phase: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𝑤𝑜𝑟𝑠𝑡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TW" alt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2" y="1280545"/>
                <a:ext cx="4978029" cy="2646878"/>
              </a:xfrm>
              <a:prstGeom prst="rect">
                <a:avLst/>
              </a:prstGeom>
              <a:blipFill rotWithShape="0">
                <a:blip r:embed="rId2"/>
                <a:stretch>
                  <a:fillRect l="-1469" t="-1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45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012" y="393799"/>
            <a:ext cx="4509663" cy="311140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729710"/>
            <a:ext cx="7620000" cy="312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6886</TotalTime>
  <Words>859</Words>
  <Application>Microsoft Office PowerPoint</Application>
  <PresentationFormat>如螢幕大小 (4:3)</PresentationFormat>
  <Paragraphs>423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7" baseType="lpstr">
      <vt:lpstr>SimHei</vt:lpstr>
      <vt:lpstr>微軟正黑體</vt:lpstr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A Very Fast String Matching Algorithm Based on Condensed Alphabets</vt:lpstr>
      <vt:lpstr>Abstract</vt:lpstr>
      <vt:lpstr>String matching problem</vt:lpstr>
      <vt:lpstr>String matching problem</vt:lpstr>
      <vt:lpstr>The Skip Search Algorithm</vt:lpstr>
      <vt:lpstr>The Skip Search Algorithm</vt:lpstr>
      <vt:lpstr>The Skip Search Algorithm</vt:lpstr>
      <vt:lpstr>The Skip Search Algorithm</vt:lpstr>
      <vt:lpstr>The Skip Search Algorithm</vt:lpstr>
      <vt:lpstr>The Skip Search Algorithm</vt:lpstr>
      <vt:lpstr>The Skip Search Algorithm</vt:lpstr>
      <vt:lpstr>The Skip Search Algorithm</vt:lpstr>
      <vt:lpstr>Complexity of the Skip Search Algorithm</vt:lpstr>
      <vt:lpstr>The Alpha Skip Search Algorithm</vt:lpstr>
      <vt:lpstr>The Alpha Skip Search Algorithm</vt:lpstr>
      <vt:lpstr>Trie (前綴樹 / 字典樹)</vt:lpstr>
      <vt:lpstr>The Alpha Skip Search Algorithm</vt:lpstr>
      <vt:lpstr>The Alpha Skip Search Algorithm</vt:lpstr>
      <vt:lpstr>The Alpha Skip Search Algorithm</vt:lpstr>
      <vt:lpstr>The Alpha Skip Search Algorithm</vt:lpstr>
      <vt:lpstr>Complexity of the Alpha Skip Search Algorithm</vt:lpstr>
      <vt:lpstr>New Fast Variant of the Skip Search Algorithm</vt:lpstr>
      <vt:lpstr>New Fast Variant of the Skip Search Algorithm</vt:lpstr>
      <vt:lpstr>New Fast Variant of the Skip Search Algorithm</vt:lpstr>
      <vt:lpstr>New Fast Variant of the Skip Search Algorithm</vt:lpstr>
      <vt:lpstr>Complexity of this Algorithm</vt:lpstr>
      <vt:lpstr>Running time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198</cp:revision>
  <dcterms:created xsi:type="dcterms:W3CDTF">2016-10-24T04:50:56Z</dcterms:created>
  <dcterms:modified xsi:type="dcterms:W3CDTF">2017-06-27T10:58:35Z</dcterms:modified>
</cp:coreProperties>
</file>