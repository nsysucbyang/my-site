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sldIdLst>
    <p:sldId id="256" r:id="rId2"/>
    <p:sldId id="257" r:id="rId3"/>
    <p:sldId id="258" r:id="rId4"/>
    <p:sldId id="259" r:id="rId5"/>
    <p:sldId id="260" r:id="rId6"/>
    <p:sldId id="261" r:id="rId7"/>
    <p:sldId id="262" r:id="rId8"/>
    <p:sldId id="269" r:id="rId9"/>
    <p:sldId id="270" r:id="rId10"/>
    <p:sldId id="271" r:id="rId11"/>
    <p:sldId id="272" r:id="rId12"/>
    <p:sldId id="273" r:id="rId13"/>
    <p:sldId id="274" r:id="rId14"/>
    <p:sldId id="275" r:id="rId15"/>
    <p:sldId id="276" r:id="rId16"/>
    <p:sldId id="277" r:id="rId17"/>
    <p:sldId id="278" r:id="rId18"/>
    <p:sldId id="279" r:id="rId19"/>
    <p:sldId id="280" r:id="rId20"/>
    <p:sldId id="281" r:id="rId21"/>
    <p:sldId id="282" r:id="rId22"/>
    <p:sldId id="263" r:id="rId23"/>
    <p:sldId id="283" r:id="rId24"/>
  </p:sldIdLst>
  <p:sldSz cx="9144000" cy="6858000" type="screen4x3"/>
  <p:notesSz cx="6858000" cy="9144000"/>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預設章節" id="{A366A99C-F6FE-4D7C-88B0-C04AB08023D9}">
          <p14:sldIdLst>
            <p14:sldId id="256"/>
            <p14:sldId id="257"/>
            <p14:sldId id="258"/>
            <p14:sldId id="259"/>
            <p14:sldId id="260"/>
            <p14:sldId id="261"/>
            <p14:sldId id="262"/>
          </p14:sldIdLst>
        </p14:section>
        <p14:section name="AND uv" id="{32447EFD-F212-41BD-92F8-00D2EC4F55FD}">
          <p14:sldIdLst>
            <p14:sldId id="269"/>
            <p14:sldId id="270"/>
            <p14:sldId id="271"/>
            <p14:sldId id="272"/>
          </p14:sldIdLst>
        </p14:section>
        <p14:section name="AND u'vt" id="{31732E83-5212-4872-8811-2C39A5D7D098}">
          <p14:sldIdLst>
            <p14:sldId id="273"/>
            <p14:sldId id="274"/>
            <p14:sldId id="275"/>
            <p14:sldId id="276"/>
            <p14:sldId id="277"/>
          </p14:sldIdLst>
        </p14:section>
        <p14:section name="AND u'vt'" id="{839096FF-7C85-49AA-BEDE-81B32FECA6EA}">
          <p14:sldIdLst>
            <p14:sldId id="278"/>
            <p14:sldId id="279"/>
            <p14:sldId id="280"/>
            <p14:sldId id="281"/>
          </p14:sldIdLst>
        </p14:section>
        <p14:section name="u'v't'" id="{376AABF5-5C04-439C-9622-65649AD73ED3}">
          <p14:sldIdLst>
            <p14:sldId id="282"/>
          </p14:sldIdLst>
        </p14:section>
        <p14:section name="other gate" id="{E09E7616-96A0-4728-9892-94DF95F958D0}">
          <p14:sldIdLst>
            <p14:sldId id="263"/>
            <p14:sldId id="283"/>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F4B18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無樣式、無格線">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無樣式、表格格線">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14" autoAdjust="0"/>
    <p:restoredTop sz="94660"/>
  </p:normalViewPr>
  <p:slideViewPr>
    <p:cSldViewPr snapToGrid="0">
      <p:cViewPr>
        <p:scale>
          <a:sx n="100" d="100"/>
          <a:sy n="100" d="100"/>
        </p:scale>
        <p:origin x="1872" y="31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theme" Target="theme/theme1.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TW" altLang="en-US"/>
              <a:t>按一下以編輯母片標題樣式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TW" altLang="en-US"/>
              <a:t>按一下以編輯母片副標題樣式</a:t>
            </a:r>
            <a:endParaRPr lang="en-US" dirty="0"/>
          </a:p>
        </p:txBody>
      </p:sp>
      <p:sp>
        <p:nvSpPr>
          <p:cNvPr id="4" name="Date Placeholder 3"/>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11"/>
          </p:nvPr>
        </p:nvSpPr>
        <p:spPr/>
        <p:txBody>
          <a:bodyPr/>
          <a:lstStyle/>
          <a:p>
            <a:endParaRPr lang="zh-TW" altLang="en-US"/>
          </a:p>
        </p:txBody>
      </p:sp>
      <p:sp>
        <p:nvSpPr>
          <p:cNvPr id="6" name="Slide Number Placeholder 5"/>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71146191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TW" altLang="en-US"/>
              <a:t>按一下以編輯母片標題樣式</a:t>
            </a:r>
            <a:endParaRPr lang="en-US" dirty="0"/>
          </a:p>
        </p:txBody>
      </p:sp>
      <p:sp>
        <p:nvSpPr>
          <p:cNvPr id="3" name="Content Placeholder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Date Placeholder 3"/>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11"/>
          </p:nvPr>
        </p:nvSpPr>
        <p:spPr/>
        <p:txBody>
          <a:bodyPr/>
          <a:lstStyle/>
          <a:p>
            <a:endParaRPr lang="zh-TW" altLang="en-US"/>
          </a:p>
        </p:txBody>
      </p:sp>
      <p:sp>
        <p:nvSpPr>
          <p:cNvPr id="6" name="Slide Number Placeholder 5"/>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34073751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TW" altLang="en-US"/>
              <a:t>按一下以編輯母片標題樣式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TW" altLang="en-US"/>
              <a:t>按一下以編輯母片文字樣式</a:t>
            </a:r>
          </a:p>
        </p:txBody>
      </p:sp>
      <p:sp>
        <p:nvSpPr>
          <p:cNvPr id="4" name="Date Placeholder 3"/>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11"/>
          </p:nvPr>
        </p:nvSpPr>
        <p:spPr/>
        <p:txBody>
          <a:bodyPr/>
          <a:lstStyle/>
          <a:p>
            <a:endParaRPr lang="zh-TW" altLang="en-US"/>
          </a:p>
        </p:txBody>
      </p:sp>
      <p:sp>
        <p:nvSpPr>
          <p:cNvPr id="6" name="Slide Number Placeholder 5"/>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88107544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TW" altLang="en-US"/>
              <a:t>按一下以編輯母片標題樣式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5" name="Date Placeholder 4"/>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6" name="Footer Placeholder 5"/>
          <p:cNvSpPr>
            <a:spLocks noGrp="1"/>
          </p:cNvSpPr>
          <p:nvPr>
            <p:ph type="ftr" sz="quarter" idx="11"/>
          </p:nvPr>
        </p:nvSpPr>
        <p:spPr/>
        <p:txBody>
          <a:bodyPr/>
          <a:lstStyle/>
          <a:p>
            <a:endParaRPr lang="zh-TW" altLang="en-US"/>
          </a:p>
        </p:txBody>
      </p:sp>
      <p:sp>
        <p:nvSpPr>
          <p:cNvPr id="7" name="Slide Number Placeholder 6"/>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3004676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TW" altLang="en-US"/>
              <a:t>按一下以編輯母片標題樣式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Content Placeholder 3"/>
          <p:cNvSpPr>
            <a:spLocks noGrp="1"/>
          </p:cNvSpPr>
          <p:nvPr>
            <p:ph sz="half" idx="2"/>
          </p:nvPr>
        </p:nvSpPr>
        <p:spPr>
          <a:xfrm>
            <a:off x="629842" y="2505075"/>
            <a:ext cx="3868340" cy="36845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Content Placeholder 5"/>
          <p:cNvSpPr>
            <a:spLocks noGrp="1"/>
          </p:cNvSpPr>
          <p:nvPr>
            <p:ph sz="quarter" idx="4"/>
          </p:nvPr>
        </p:nvSpPr>
        <p:spPr>
          <a:xfrm>
            <a:off x="4629150" y="2505075"/>
            <a:ext cx="3887391" cy="36845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7" name="Date Placeholder 6"/>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8" name="Footer Placeholder 7"/>
          <p:cNvSpPr>
            <a:spLocks noGrp="1"/>
          </p:cNvSpPr>
          <p:nvPr>
            <p:ph type="ftr" sz="quarter" idx="11"/>
          </p:nvPr>
        </p:nvSpPr>
        <p:spPr/>
        <p:txBody>
          <a:bodyPr/>
          <a:lstStyle/>
          <a:p>
            <a:endParaRPr lang="zh-TW" altLang="en-US"/>
          </a:p>
        </p:txBody>
      </p:sp>
      <p:sp>
        <p:nvSpPr>
          <p:cNvPr id="9" name="Slide Number Placeholder 8"/>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86058665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TW" altLang="en-US"/>
              <a:t>按一下以編輯母片標題樣式</a:t>
            </a:r>
            <a:endParaRPr lang="en-US" dirty="0"/>
          </a:p>
        </p:txBody>
      </p:sp>
      <p:sp>
        <p:nvSpPr>
          <p:cNvPr id="3" name="Date Placeholder 2"/>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4" name="Footer Placeholder 3"/>
          <p:cNvSpPr>
            <a:spLocks noGrp="1"/>
          </p:cNvSpPr>
          <p:nvPr>
            <p:ph type="ftr" sz="quarter" idx="11"/>
          </p:nvPr>
        </p:nvSpPr>
        <p:spPr/>
        <p:txBody>
          <a:bodyPr/>
          <a:lstStyle/>
          <a:p>
            <a:endParaRPr lang="zh-TW" altLang="en-US"/>
          </a:p>
        </p:txBody>
      </p:sp>
      <p:sp>
        <p:nvSpPr>
          <p:cNvPr id="5" name="Slide Number Placeholder 4"/>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5967995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3" name="Footer Placeholder 2"/>
          <p:cNvSpPr>
            <a:spLocks noGrp="1"/>
          </p:cNvSpPr>
          <p:nvPr>
            <p:ph type="ftr" sz="quarter" idx="11"/>
          </p:nvPr>
        </p:nvSpPr>
        <p:spPr/>
        <p:txBody>
          <a:bodyPr/>
          <a:lstStyle/>
          <a:p>
            <a:endParaRPr lang="zh-TW" altLang="en-US"/>
          </a:p>
        </p:txBody>
      </p:sp>
      <p:sp>
        <p:nvSpPr>
          <p:cNvPr id="4" name="Slide Number Placeholder 3"/>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3562422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TW" altLang="en-US"/>
              <a:t>按一下以編輯母片標題樣式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a:t>按一下以編輯母片文字樣式</a:t>
            </a:r>
          </a:p>
        </p:txBody>
      </p:sp>
      <p:sp>
        <p:nvSpPr>
          <p:cNvPr id="5" name="Date Placeholder 4"/>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6" name="Footer Placeholder 5"/>
          <p:cNvSpPr>
            <a:spLocks noGrp="1"/>
          </p:cNvSpPr>
          <p:nvPr>
            <p:ph type="ftr" sz="quarter" idx="11"/>
          </p:nvPr>
        </p:nvSpPr>
        <p:spPr/>
        <p:txBody>
          <a:bodyPr/>
          <a:lstStyle/>
          <a:p>
            <a:endParaRPr lang="zh-TW" altLang="en-US"/>
          </a:p>
        </p:txBody>
      </p:sp>
      <p:sp>
        <p:nvSpPr>
          <p:cNvPr id="7" name="Slide Number Placeholder 6"/>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5646156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TW" altLang="en-US"/>
              <a:t>按一下以編輯母片標題樣式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TW" altLang="en-US"/>
              <a:t>按一下圖示以新增圖片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a:t>按一下以編輯母片文字樣式</a:t>
            </a:r>
          </a:p>
        </p:txBody>
      </p:sp>
      <p:sp>
        <p:nvSpPr>
          <p:cNvPr id="5" name="Date Placeholder 4"/>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6" name="Footer Placeholder 5"/>
          <p:cNvSpPr>
            <a:spLocks noGrp="1"/>
          </p:cNvSpPr>
          <p:nvPr>
            <p:ph type="ftr" sz="quarter" idx="11"/>
          </p:nvPr>
        </p:nvSpPr>
        <p:spPr/>
        <p:txBody>
          <a:bodyPr/>
          <a:lstStyle/>
          <a:p>
            <a:endParaRPr lang="zh-TW" altLang="en-US"/>
          </a:p>
        </p:txBody>
      </p:sp>
      <p:sp>
        <p:nvSpPr>
          <p:cNvPr id="7" name="Slide Number Placeholder 6"/>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47460489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TW" altLang="en-US"/>
              <a:t>按一下以編輯母片標題樣式</a:t>
            </a:r>
            <a:endParaRPr lang="en-US" dirty="0"/>
          </a:p>
        </p:txBody>
      </p:sp>
      <p:sp>
        <p:nvSpPr>
          <p:cNvPr id="3" name="Vertical Text Placeholder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Date Placeholder 3"/>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11"/>
          </p:nvPr>
        </p:nvSpPr>
        <p:spPr/>
        <p:txBody>
          <a:bodyPr/>
          <a:lstStyle/>
          <a:p>
            <a:endParaRPr lang="zh-TW" altLang="en-US"/>
          </a:p>
        </p:txBody>
      </p:sp>
      <p:sp>
        <p:nvSpPr>
          <p:cNvPr id="6" name="Slide Number Placeholder 5"/>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39699361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TW" altLang="en-US"/>
              <a:t>按一下以編輯母片標題樣式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Date Placeholder 3"/>
          <p:cNvSpPr>
            <a:spLocks noGrp="1"/>
          </p:cNvSpPr>
          <p:nvPr>
            <p:ph type="dt" sz="half" idx="10"/>
          </p:nvPr>
        </p:nvSpPr>
        <p:spPr/>
        <p:txBody>
          <a:body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11"/>
          </p:nvPr>
        </p:nvSpPr>
        <p:spPr/>
        <p:txBody>
          <a:bodyPr/>
          <a:lstStyle/>
          <a:p>
            <a:endParaRPr lang="zh-TW" altLang="en-US"/>
          </a:p>
        </p:txBody>
      </p:sp>
      <p:sp>
        <p:nvSpPr>
          <p:cNvPr id="6" name="Slide Number Placeholder 5"/>
          <p:cNvSpPr>
            <a:spLocks noGrp="1"/>
          </p:cNvSpPr>
          <p:nvPr>
            <p:ph type="sldNum" sz="quarter" idx="12"/>
          </p:nvPr>
        </p:nvSpPr>
        <p:spPr/>
        <p:txBody>
          <a:body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28718152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TW" altLang="en-US"/>
              <a:t>按一下以編輯母片標題樣式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F75F0AE-DBB8-464C-8E93-282F3DDA85A6}" type="datetimeFigureOut">
              <a:rPr lang="zh-TW" altLang="en-US" smtClean="0"/>
              <a:t>2017/6/26</a:t>
            </a:fld>
            <a:endParaRPr lang="zh-TW"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TW" alt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D4E131C-E417-472F-977E-F3A125E26C3F}" type="slidenum">
              <a:rPr lang="zh-TW" altLang="en-US" smtClean="0"/>
              <a:t>‹#›</a:t>
            </a:fld>
            <a:endParaRPr lang="zh-TW" altLang="en-US"/>
          </a:p>
        </p:txBody>
      </p:sp>
    </p:spTree>
    <p:extLst>
      <p:ext uri="{BB962C8B-B14F-4D97-AF65-F5344CB8AC3E}">
        <p14:creationId xmlns:p14="http://schemas.microsoft.com/office/powerpoint/2010/main" val="144193197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ctrTitle"/>
          </p:nvPr>
        </p:nvSpPr>
        <p:spPr>
          <a:xfrm>
            <a:off x="0" y="378939"/>
            <a:ext cx="9144000" cy="2892903"/>
          </a:xfrm>
        </p:spPr>
        <p:txBody>
          <a:bodyPr anchor="ctr">
            <a:normAutofit/>
          </a:bodyPr>
          <a:lstStyle/>
          <a:p>
            <a:r>
              <a:rPr lang="en-US" altLang="zh-TW" sz="5400" dirty="0"/>
              <a:t>Minesweeper is NP-Complete</a:t>
            </a:r>
          </a:p>
        </p:txBody>
      </p:sp>
      <p:sp>
        <p:nvSpPr>
          <p:cNvPr id="3" name="副標題 2"/>
          <p:cNvSpPr>
            <a:spLocks noGrp="1"/>
          </p:cNvSpPr>
          <p:nvPr>
            <p:ph type="subTitle" idx="1"/>
          </p:nvPr>
        </p:nvSpPr>
        <p:spPr>
          <a:xfrm>
            <a:off x="1143000" y="3271843"/>
            <a:ext cx="6858000" cy="1655762"/>
          </a:xfrm>
        </p:spPr>
        <p:txBody>
          <a:bodyPr>
            <a:normAutofit/>
          </a:bodyPr>
          <a:lstStyle/>
          <a:p>
            <a:pPr fontAlgn="ctr"/>
            <a:r>
              <a:rPr lang="en-US" altLang="zh-TW" dirty="0"/>
              <a:t>Richard Kaye</a:t>
            </a:r>
          </a:p>
          <a:p>
            <a:r>
              <a:rPr lang="en-US" altLang="zh-TW" dirty="0"/>
              <a:t>The Mathematical Intelligencer</a:t>
            </a:r>
            <a:r>
              <a:rPr lang="en-US" altLang="zh-TW" sz="2000" dirty="0"/>
              <a:t>, Vol.22, pp.9-15 (2000)</a:t>
            </a:r>
            <a:endParaRPr lang="zh-TW" altLang="en-US" sz="2000" dirty="0"/>
          </a:p>
          <a:p>
            <a:endParaRPr lang="zh-TW" altLang="en-US" dirty="0"/>
          </a:p>
        </p:txBody>
      </p:sp>
      <p:sp>
        <p:nvSpPr>
          <p:cNvPr id="5" name="文字方塊 4"/>
          <p:cNvSpPr txBox="1"/>
          <p:nvPr/>
        </p:nvSpPr>
        <p:spPr>
          <a:xfrm>
            <a:off x="2998973" y="4927605"/>
            <a:ext cx="3173818" cy="707886"/>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000" dirty="0"/>
              <a:t>Presenter: </a:t>
            </a:r>
            <a:r>
              <a:rPr lang="en-US" altLang="zh-TW" sz="2000" dirty="0" err="1"/>
              <a:t>Hsuan-Tsung</a:t>
            </a:r>
            <a:r>
              <a:rPr lang="en-US" altLang="zh-TW" sz="2000" dirty="0"/>
              <a:t> Chiu</a:t>
            </a:r>
          </a:p>
          <a:p>
            <a:r>
              <a:rPr lang="en-US" altLang="zh-TW" sz="2000" dirty="0"/>
              <a:t>Date:2017/06/27</a:t>
            </a:r>
            <a:endParaRPr lang="zh-TW" altLang="en-US" sz="2000" dirty="0"/>
          </a:p>
        </p:txBody>
      </p:sp>
    </p:spTree>
    <p:extLst>
      <p:ext uri="{BB962C8B-B14F-4D97-AF65-F5344CB8AC3E}">
        <p14:creationId xmlns:p14="http://schemas.microsoft.com/office/powerpoint/2010/main" val="409732311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Abstract</a:t>
            </a:r>
            <a:endParaRPr lang="zh-TW" altLang="en-US" dirty="0"/>
          </a:p>
        </p:txBody>
      </p:sp>
      <p:sp>
        <p:nvSpPr>
          <p:cNvPr id="3" name="內容版面配置區 2"/>
          <p:cNvSpPr>
            <a:spLocks noGrp="1"/>
          </p:cNvSpPr>
          <p:nvPr>
            <p:ph idx="1"/>
          </p:nvPr>
        </p:nvSpPr>
        <p:spPr>
          <a:xfrm>
            <a:off x="628650" y="1825625"/>
            <a:ext cx="8100822" cy="4351338"/>
          </a:xfrm>
        </p:spPr>
        <p:txBody>
          <a:bodyPr>
            <a:normAutofit/>
          </a:bodyPr>
          <a:lstStyle/>
          <a:p>
            <a:pPr marL="0" indent="0">
              <a:buNone/>
            </a:pPr>
            <a:r>
              <a:rPr lang="en-US" altLang="zh-TW" dirty="0"/>
              <a:t>Many of the ideas mentioned above may be illustrated effectively with a game many readers will be familiar with. Minesweeper comes with Microsoft’s Windows operating system. In it, the player is presented with an initially blank grid. Underneath each square there may be a mine, and the object of the game is to locate all these mines without being blown up.</a:t>
            </a:r>
            <a:endParaRPr lang="zh-TW" altLang="en-US" dirty="0"/>
          </a:p>
        </p:txBody>
      </p:sp>
    </p:spTree>
    <p:extLst>
      <p:ext uri="{BB962C8B-B14F-4D97-AF65-F5344CB8AC3E}">
        <p14:creationId xmlns:p14="http://schemas.microsoft.com/office/powerpoint/2010/main" val="357733186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Minesweeper (1/2)</a:t>
            </a:r>
            <a:endParaRPr lang="zh-TW" altLang="en-US" dirty="0"/>
          </a:p>
        </p:txBody>
      </p:sp>
      <p:pic>
        <p:nvPicPr>
          <p:cNvPr id="4" name="內容版面配置區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228340" y="1825625"/>
            <a:ext cx="6687319" cy="4351338"/>
          </a:xfrm>
        </p:spPr>
      </p:pic>
    </p:spTree>
    <p:extLst>
      <p:ext uri="{BB962C8B-B14F-4D97-AF65-F5344CB8AC3E}">
        <p14:creationId xmlns:p14="http://schemas.microsoft.com/office/powerpoint/2010/main" val="25476563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Minesweeper (2/2)</a:t>
            </a:r>
            <a:endParaRPr lang="zh-TW" altLang="en-US" dirty="0"/>
          </a:p>
        </p:txBody>
      </p:sp>
      <p:pic>
        <p:nvPicPr>
          <p:cNvPr id="4" name="內容版面配置區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628650" y="2287261"/>
            <a:ext cx="7886700" cy="3428066"/>
          </a:xfrm>
        </p:spPr>
      </p:pic>
    </p:spTree>
    <p:extLst>
      <p:ext uri="{BB962C8B-B14F-4D97-AF65-F5344CB8AC3E}">
        <p14:creationId xmlns:p14="http://schemas.microsoft.com/office/powerpoint/2010/main" val="219810376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Circuit satisfiability</a:t>
            </a:r>
          </a:p>
        </p:txBody>
      </p:sp>
      <p:pic>
        <p:nvPicPr>
          <p:cNvPr id="1028" name="Picture 4" descr="「Boolean Circuits」的圖片搜尋結果"/>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23608" y="1825625"/>
            <a:ext cx="5547863" cy="342896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www.ib-computing.net/images/gates.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8650" y="1825625"/>
            <a:ext cx="3810000" cy="3552825"/>
          </a:xfrm>
          <a:prstGeom prst="rect">
            <a:avLst/>
          </a:prstGeom>
          <a:noFill/>
          <a:extLst>
            <a:ext uri="{909E8E84-426E-40DD-AFC4-6F175D3DCCD1}">
              <a14:hiddenFill xmlns:a14="http://schemas.microsoft.com/office/drawing/2010/main">
                <a:solidFill>
                  <a:srgbClr val="FFFFFF"/>
                </a:solidFill>
              </a14:hiddenFill>
            </a:ext>
          </a:extLst>
        </p:spPr>
      </p:pic>
      <p:sp>
        <p:nvSpPr>
          <p:cNvPr id="10" name="橢圓 9"/>
          <p:cNvSpPr/>
          <p:nvPr/>
        </p:nvSpPr>
        <p:spPr>
          <a:xfrm>
            <a:off x="6686550" y="3743325"/>
            <a:ext cx="257175" cy="29527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28650" y="2333625"/>
            <a:ext cx="3810000" cy="4953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628650" y="3333748"/>
            <a:ext cx="3810000" cy="4953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26253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Wire</a:t>
            </a:r>
            <a:r>
              <a:rPr lang="zh-TW" altLang="en-US" dirty="0"/>
              <a:t>、</a:t>
            </a:r>
            <a:r>
              <a:rPr lang="en-US" altLang="zh-TW" dirty="0"/>
              <a:t>NOT</a:t>
            </a:r>
            <a:r>
              <a:rPr lang="zh-TW" altLang="en-US" dirty="0"/>
              <a:t> </a:t>
            </a:r>
            <a:r>
              <a:rPr lang="en-US" altLang="zh-TW" dirty="0"/>
              <a:t>Gate</a:t>
            </a:r>
            <a:endParaRPr lang="zh-TW" altLang="en-US" dirty="0"/>
          </a:p>
        </p:txBody>
      </p:sp>
      <p:graphicFrame>
        <p:nvGraphicFramePr>
          <p:cNvPr id="4" name="內容版面配置區 3"/>
          <p:cNvGraphicFramePr>
            <a:graphicFrameLocks noGrp="1"/>
          </p:cNvGraphicFramePr>
          <p:nvPr>
            <p:ph idx="1"/>
            <p:extLst>
              <p:ext uri="{D42A27DB-BD31-4B8C-83A1-F6EECF244321}">
                <p14:modId xmlns:p14="http://schemas.microsoft.com/office/powerpoint/2010/main" val="571642808"/>
              </p:ext>
            </p:extLst>
          </p:nvPr>
        </p:nvGraphicFramePr>
        <p:xfrm>
          <a:off x="628650" y="1825625"/>
          <a:ext cx="3600000" cy="109728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911021218"/>
                    </a:ext>
                  </a:extLst>
                </a:gridCol>
                <a:gridCol w="360000">
                  <a:extLst>
                    <a:ext uri="{9D8B030D-6E8A-4147-A177-3AD203B41FA5}">
                      <a16:colId xmlns:a16="http://schemas.microsoft.com/office/drawing/2014/main" val="1001035977"/>
                    </a:ext>
                  </a:extLst>
                </a:gridCol>
                <a:gridCol w="360000">
                  <a:extLst>
                    <a:ext uri="{9D8B030D-6E8A-4147-A177-3AD203B41FA5}">
                      <a16:colId xmlns:a16="http://schemas.microsoft.com/office/drawing/2014/main" val="1520293130"/>
                    </a:ext>
                  </a:extLst>
                </a:gridCol>
                <a:gridCol w="360000">
                  <a:extLst>
                    <a:ext uri="{9D8B030D-6E8A-4147-A177-3AD203B41FA5}">
                      <a16:colId xmlns:a16="http://schemas.microsoft.com/office/drawing/2014/main" val="1230179388"/>
                    </a:ext>
                  </a:extLst>
                </a:gridCol>
                <a:gridCol w="360000">
                  <a:extLst>
                    <a:ext uri="{9D8B030D-6E8A-4147-A177-3AD203B41FA5}">
                      <a16:colId xmlns:a16="http://schemas.microsoft.com/office/drawing/2014/main" val="351615028"/>
                    </a:ext>
                  </a:extLst>
                </a:gridCol>
                <a:gridCol w="360000">
                  <a:extLst>
                    <a:ext uri="{9D8B030D-6E8A-4147-A177-3AD203B41FA5}">
                      <a16:colId xmlns:a16="http://schemas.microsoft.com/office/drawing/2014/main" val="2854270101"/>
                    </a:ext>
                  </a:extLst>
                </a:gridCol>
                <a:gridCol w="360000">
                  <a:extLst>
                    <a:ext uri="{9D8B030D-6E8A-4147-A177-3AD203B41FA5}">
                      <a16:colId xmlns:a16="http://schemas.microsoft.com/office/drawing/2014/main" val="2871529531"/>
                    </a:ext>
                  </a:extLst>
                </a:gridCol>
                <a:gridCol w="360000">
                  <a:extLst>
                    <a:ext uri="{9D8B030D-6E8A-4147-A177-3AD203B41FA5}">
                      <a16:colId xmlns:a16="http://schemas.microsoft.com/office/drawing/2014/main" val="1668272850"/>
                    </a:ext>
                  </a:extLst>
                </a:gridCol>
                <a:gridCol w="360000">
                  <a:extLst>
                    <a:ext uri="{9D8B030D-6E8A-4147-A177-3AD203B41FA5}">
                      <a16:colId xmlns:a16="http://schemas.microsoft.com/office/drawing/2014/main" val="1305528032"/>
                    </a:ext>
                  </a:extLst>
                </a:gridCol>
                <a:gridCol w="360000">
                  <a:extLst>
                    <a:ext uri="{9D8B030D-6E8A-4147-A177-3AD203B41FA5}">
                      <a16:colId xmlns:a16="http://schemas.microsoft.com/office/drawing/2014/main" val="2056538314"/>
                    </a:ext>
                  </a:extLst>
                </a:gridCol>
              </a:tblGrid>
              <a:tr h="360000">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extLst>
                  <a:ext uri="{0D108BD9-81ED-4DB2-BD59-A6C34878D82A}">
                    <a16:rowId xmlns:a16="http://schemas.microsoft.com/office/drawing/2014/main" val="1459973716"/>
                  </a:ext>
                </a:extLst>
              </a:tr>
              <a:tr h="360000">
                <a:tc>
                  <a:txBody>
                    <a:bodyPr/>
                    <a:lstStyle/>
                    <a:p>
                      <a:pPr algn="ctr"/>
                      <a:r>
                        <a:rPr lang="en-US" altLang="zh-TW" b="1" dirty="0">
                          <a:solidFill>
                            <a:srgbClr val="00B0F0"/>
                          </a:solidFill>
                        </a:rPr>
                        <a:t>x</a:t>
                      </a:r>
                      <a:endParaRPr lang="zh-TW" altLang="en-US" b="1" dirty="0">
                        <a:solidFill>
                          <a:srgbClr val="00B0F0"/>
                        </a:solidFill>
                      </a:endParaRPr>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t>x’</a:t>
                      </a:r>
                      <a:endParaRPr lang="zh-TW" altLang="en-US" b="1" dirty="0"/>
                    </a:p>
                  </a:txBody>
                  <a:tcPr anchor="ctr"/>
                </a:tc>
                <a:tc>
                  <a:txBody>
                    <a:bodyPr/>
                    <a:lstStyle/>
                    <a:p>
                      <a:pPr algn="ctr"/>
                      <a:r>
                        <a:rPr lang="en-US" altLang="zh-TW" b="1" dirty="0"/>
                        <a:t>x</a:t>
                      </a:r>
                      <a:endParaRPr lang="zh-TW" altLang="en-US" b="1" dirty="0"/>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t>x’</a:t>
                      </a:r>
                      <a:endParaRPr lang="zh-TW" altLang="en-US" b="1" dirty="0"/>
                    </a:p>
                  </a:txBody>
                  <a:tcPr anchor="ctr"/>
                </a:tc>
                <a:tc>
                  <a:txBody>
                    <a:bodyPr/>
                    <a:lstStyle/>
                    <a:p>
                      <a:pPr algn="ctr"/>
                      <a:r>
                        <a:rPr lang="en-US" altLang="zh-TW" b="1" dirty="0"/>
                        <a:t>x</a:t>
                      </a:r>
                      <a:endParaRPr lang="zh-TW" altLang="en-US" b="1" dirty="0"/>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t>x’</a:t>
                      </a:r>
                      <a:endParaRPr lang="zh-TW" altLang="en-US" b="1" dirty="0"/>
                    </a:p>
                  </a:txBody>
                  <a:tcPr anchor="ctr"/>
                </a:tc>
                <a:tc>
                  <a:txBody>
                    <a:bodyPr/>
                    <a:lstStyle/>
                    <a:p>
                      <a:pPr algn="ctr"/>
                      <a:r>
                        <a:rPr lang="en-US" altLang="zh-TW" b="1" dirty="0">
                          <a:solidFill>
                            <a:srgbClr val="FF0000"/>
                          </a:solidFill>
                        </a:rPr>
                        <a:t>x</a:t>
                      </a:r>
                      <a:endParaRPr lang="zh-TW" altLang="en-US" b="1" dirty="0">
                        <a:solidFill>
                          <a:srgbClr val="FF0000"/>
                        </a:solidFill>
                      </a:endParaRPr>
                    </a:p>
                  </a:txBody>
                  <a:tcPr anchor="ctr"/>
                </a:tc>
                <a:extLst>
                  <a:ext uri="{0D108BD9-81ED-4DB2-BD59-A6C34878D82A}">
                    <a16:rowId xmlns:a16="http://schemas.microsoft.com/office/drawing/2014/main" val="1885847819"/>
                  </a:ext>
                </a:extLst>
              </a:tr>
              <a:tr h="360000">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tc>
                  <a:txBody>
                    <a:bodyPr/>
                    <a:lstStyle/>
                    <a:p>
                      <a:pPr algn="ct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lang="zh-TW" altLang="en-US" b="1" dirty="0">
                        <a:solidFill>
                          <a:srgbClr val="0000FF"/>
                        </a:solidFill>
                      </a:endParaRPr>
                    </a:p>
                  </a:txBody>
                  <a:tcPr anchor="ctr">
                    <a:solidFill>
                      <a:schemeClr val="bg1">
                        <a:lumMod val="75000"/>
                      </a:schemeClr>
                    </a:solidFill>
                  </a:tcPr>
                </a:tc>
                <a:extLst>
                  <a:ext uri="{0D108BD9-81ED-4DB2-BD59-A6C34878D82A}">
                    <a16:rowId xmlns:a16="http://schemas.microsoft.com/office/drawing/2014/main" val="2694865291"/>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073997021"/>
              </p:ext>
            </p:extLst>
          </p:nvPr>
        </p:nvGraphicFramePr>
        <p:xfrm>
          <a:off x="5751795" y="1487422"/>
          <a:ext cx="2160000" cy="256032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2698487889"/>
                    </a:ext>
                  </a:extLst>
                </a:gridCol>
                <a:gridCol w="360000">
                  <a:extLst>
                    <a:ext uri="{9D8B030D-6E8A-4147-A177-3AD203B41FA5}">
                      <a16:colId xmlns:a16="http://schemas.microsoft.com/office/drawing/2014/main" val="4218960778"/>
                    </a:ext>
                  </a:extLst>
                </a:gridCol>
                <a:gridCol w="360000">
                  <a:extLst>
                    <a:ext uri="{9D8B030D-6E8A-4147-A177-3AD203B41FA5}">
                      <a16:colId xmlns:a16="http://schemas.microsoft.com/office/drawing/2014/main" val="1759585093"/>
                    </a:ext>
                  </a:extLst>
                </a:gridCol>
                <a:gridCol w="360000">
                  <a:extLst>
                    <a:ext uri="{9D8B030D-6E8A-4147-A177-3AD203B41FA5}">
                      <a16:colId xmlns:a16="http://schemas.microsoft.com/office/drawing/2014/main" val="3257096307"/>
                    </a:ext>
                  </a:extLst>
                </a:gridCol>
                <a:gridCol w="360000">
                  <a:extLst>
                    <a:ext uri="{9D8B030D-6E8A-4147-A177-3AD203B41FA5}">
                      <a16:colId xmlns:a16="http://schemas.microsoft.com/office/drawing/2014/main" val="2431589910"/>
                    </a:ext>
                  </a:extLst>
                </a:gridCol>
                <a:gridCol w="360000">
                  <a:extLst>
                    <a:ext uri="{9D8B030D-6E8A-4147-A177-3AD203B41FA5}">
                      <a16:colId xmlns:a16="http://schemas.microsoft.com/office/drawing/2014/main" val="1863089968"/>
                    </a:ext>
                  </a:extLst>
                </a:gridCol>
              </a:tblGrid>
              <a:tr h="360000">
                <a:tc>
                  <a:txBody>
                    <a:bodyPr/>
                    <a:lstStyle/>
                    <a:p>
                      <a:pPr algn="ctr"/>
                      <a:endParaRPr lang="zh-TW" altLang="en-US" b="1" dirty="0">
                        <a:solidFill>
                          <a:srgbClr val="0000FF"/>
                        </a:solidFill>
                      </a:endParaRPr>
                    </a:p>
                  </a:txBody>
                  <a:tcPr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40334878"/>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extLst>
                  <a:ext uri="{0D108BD9-81ED-4DB2-BD59-A6C34878D82A}">
                    <a16:rowId xmlns:a16="http://schemas.microsoft.com/office/drawing/2014/main" val="4017674548"/>
                  </a:ext>
                </a:extLst>
              </a:tr>
              <a:tr h="360000">
                <a:tc>
                  <a:txBody>
                    <a:bodyPr/>
                    <a:lstStyle/>
                    <a:p>
                      <a:pPr algn="ctr"/>
                      <a:r>
                        <a:rPr lang="en-US" altLang="zh-TW" b="1" dirty="0">
                          <a:solidFill>
                            <a:srgbClr val="00B0F0"/>
                          </a:solidFill>
                        </a:rPr>
                        <a:t>x</a:t>
                      </a:r>
                      <a:endParaRPr lang="zh-TW" altLang="en-US" b="1" dirty="0">
                        <a:solidFill>
                          <a:srgbClr val="00B0F0"/>
                        </a:solidFill>
                      </a:endParaRPr>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extLst>
                  <a:ext uri="{0D108BD9-81ED-4DB2-BD59-A6C34878D82A}">
                    <a16:rowId xmlns:a16="http://schemas.microsoft.com/office/drawing/2014/main" val="2976067211"/>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extLst>
                  <a:ext uri="{0D108BD9-81ED-4DB2-BD59-A6C34878D82A}">
                    <a16:rowId xmlns:a16="http://schemas.microsoft.com/office/drawing/2014/main" val="2290536906"/>
                  </a:ext>
                </a:extLst>
              </a:tr>
              <a:tr h="360000">
                <a:tc>
                  <a:txBody>
                    <a:bodyPr/>
                    <a:lstStyle/>
                    <a:p>
                      <a:pPr algn="ctr"/>
                      <a:endParaRPr lang="zh-TW" altLang="en-US" b="1">
                        <a:solidFill>
                          <a:srgbClr val="0000FF"/>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973280083"/>
                  </a:ext>
                </a:extLst>
              </a:tr>
              <a:tr h="360000">
                <a:tc>
                  <a:txBody>
                    <a:bodyPr/>
                    <a:lstStyle/>
                    <a:p>
                      <a:pPr algn="ctr"/>
                      <a:endParaRPr lang="zh-TW" altLang="en-US" b="1">
                        <a:solidFill>
                          <a:srgbClr val="0000FF"/>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00644166"/>
                  </a:ext>
                </a:extLst>
              </a:tr>
              <a:tr h="360000">
                <a:tc>
                  <a:txBody>
                    <a:bodyPr/>
                    <a:lstStyle/>
                    <a:p>
                      <a:pPr algn="ctr"/>
                      <a:endParaRPr lang="zh-TW" altLang="en-US" b="1">
                        <a:solidFill>
                          <a:srgbClr val="0000FF"/>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FF0000"/>
                          </a:solidFill>
                        </a:rPr>
                        <a:t>x</a:t>
                      </a:r>
                      <a:endParaRPr lang="zh-TW" altLang="en-US" b="1" dirty="0">
                        <a:solidFill>
                          <a:srgbClr val="FF0000"/>
                        </a:solidFill>
                      </a:endParaRPr>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07622433"/>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1450517545"/>
              </p:ext>
            </p:extLst>
          </p:nvPr>
        </p:nvGraphicFramePr>
        <p:xfrm>
          <a:off x="628650" y="3331018"/>
          <a:ext cx="2160000" cy="18288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2422889261"/>
                    </a:ext>
                  </a:extLst>
                </a:gridCol>
                <a:gridCol w="360000">
                  <a:extLst>
                    <a:ext uri="{9D8B030D-6E8A-4147-A177-3AD203B41FA5}">
                      <a16:colId xmlns:a16="http://schemas.microsoft.com/office/drawing/2014/main" val="3740263056"/>
                    </a:ext>
                  </a:extLst>
                </a:gridCol>
                <a:gridCol w="360000">
                  <a:extLst>
                    <a:ext uri="{9D8B030D-6E8A-4147-A177-3AD203B41FA5}">
                      <a16:colId xmlns:a16="http://schemas.microsoft.com/office/drawing/2014/main" val="17810794"/>
                    </a:ext>
                  </a:extLst>
                </a:gridCol>
                <a:gridCol w="360000">
                  <a:extLst>
                    <a:ext uri="{9D8B030D-6E8A-4147-A177-3AD203B41FA5}">
                      <a16:colId xmlns:a16="http://schemas.microsoft.com/office/drawing/2014/main" val="4178272202"/>
                    </a:ext>
                  </a:extLst>
                </a:gridCol>
                <a:gridCol w="360000">
                  <a:extLst>
                    <a:ext uri="{9D8B030D-6E8A-4147-A177-3AD203B41FA5}">
                      <a16:colId xmlns:a16="http://schemas.microsoft.com/office/drawing/2014/main" val="612085744"/>
                    </a:ext>
                  </a:extLst>
                </a:gridCol>
                <a:gridCol w="360000">
                  <a:extLst>
                    <a:ext uri="{9D8B030D-6E8A-4147-A177-3AD203B41FA5}">
                      <a16:colId xmlns:a16="http://schemas.microsoft.com/office/drawing/2014/main" val="269931451"/>
                    </a:ext>
                  </a:extLst>
                </a:gridCol>
              </a:tblGrid>
              <a:tr h="360000">
                <a:tc>
                  <a:txBody>
                    <a:bodyPr/>
                    <a:lstStyle/>
                    <a:p>
                      <a:pPr algn="ctr"/>
                      <a:endParaRPr lang="zh-TW" altLang="en-US" b="1" dirty="0">
                        <a:solidFill>
                          <a:srgbClr val="0000FF"/>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03130349"/>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extLst>
                  <a:ext uri="{0D108BD9-81ED-4DB2-BD59-A6C34878D82A}">
                    <a16:rowId xmlns:a16="http://schemas.microsoft.com/office/drawing/2014/main" val="1421958709"/>
                  </a:ext>
                </a:extLst>
              </a:tr>
              <a:tr h="360000">
                <a:tc>
                  <a:txBody>
                    <a:bodyPr/>
                    <a:lstStyle/>
                    <a:p>
                      <a:pPr algn="ctr"/>
                      <a:r>
                        <a:rPr lang="en-US" altLang="zh-TW" b="1" dirty="0">
                          <a:solidFill>
                            <a:srgbClr val="00B0F0"/>
                          </a:solidFill>
                        </a:rPr>
                        <a:t>x</a:t>
                      </a:r>
                      <a:endParaRPr lang="zh-TW" altLang="en-US" b="1" dirty="0">
                        <a:solidFill>
                          <a:srgbClr val="00B0F0"/>
                        </a:solidFill>
                      </a:endParaRPr>
                    </a:p>
                  </a:txBody>
                  <a:tcPr anchor="ct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3</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3</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FF0000"/>
                          </a:solidFill>
                        </a:rPr>
                        <a:t>x’</a:t>
                      </a:r>
                      <a:endParaRPr lang="zh-TW" altLang="en-US" b="1" dirty="0">
                        <a:solidFill>
                          <a:srgbClr val="FF0000"/>
                        </a:solidFill>
                      </a:endParaRPr>
                    </a:p>
                  </a:txBody>
                  <a:tcPr anchor="ctr"/>
                </a:tc>
                <a:extLst>
                  <a:ext uri="{0D108BD9-81ED-4DB2-BD59-A6C34878D82A}">
                    <a16:rowId xmlns:a16="http://schemas.microsoft.com/office/drawing/2014/main" val="2538360145"/>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953895463"/>
                  </a:ext>
                </a:extLst>
              </a:tr>
              <a:tr h="360000">
                <a:tc>
                  <a:txBody>
                    <a:bodyPr/>
                    <a:lstStyle/>
                    <a:p>
                      <a:pPr algn="ctr"/>
                      <a:endParaRPr lang="zh-TW" altLang="en-US" b="1" dirty="0">
                        <a:solidFill>
                          <a:srgbClr val="0000FF"/>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18149354"/>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1929909422"/>
              </p:ext>
            </p:extLst>
          </p:nvPr>
        </p:nvGraphicFramePr>
        <p:xfrm>
          <a:off x="2788650" y="3331018"/>
          <a:ext cx="1800000" cy="18288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3846177288"/>
                    </a:ext>
                  </a:extLst>
                </a:gridCol>
                <a:gridCol w="360000">
                  <a:extLst>
                    <a:ext uri="{9D8B030D-6E8A-4147-A177-3AD203B41FA5}">
                      <a16:colId xmlns:a16="http://schemas.microsoft.com/office/drawing/2014/main" val="3738286502"/>
                    </a:ext>
                  </a:extLst>
                </a:gridCol>
                <a:gridCol w="360000">
                  <a:extLst>
                    <a:ext uri="{9D8B030D-6E8A-4147-A177-3AD203B41FA5}">
                      <a16:colId xmlns:a16="http://schemas.microsoft.com/office/drawing/2014/main" val="2241076543"/>
                    </a:ext>
                  </a:extLst>
                </a:gridCol>
                <a:gridCol w="360000">
                  <a:extLst>
                    <a:ext uri="{9D8B030D-6E8A-4147-A177-3AD203B41FA5}">
                      <a16:colId xmlns:a16="http://schemas.microsoft.com/office/drawing/2014/main" val="103108006"/>
                    </a:ext>
                  </a:extLst>
                </a:gridCol>
                <a:gridCol w="360000">
                  <a:extLst>
                    <a:ext uri="{9D8B030D-6E8A-4147-A177-3AD203B41FA5}">
                      <a16:colId xmlns:a16="http://schemas.microsoft.com/office/drawing/2014/main" val="2397066351"/>
                    </a:ext>
                  </a:extLst>
                </a:gridCol>
              </a:tblGrid>
              <a:tr h="360000">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03130349"/>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T w="12700" cap="flat" cmpd="sng" algn="ctr">
                      <a:solidFill>
                        <a:schemeClr val="tx1"/>
                      </a:solidFill>
                      <a:prstDash val="solid"/>
                      <a:round/>
                      <a:headEnd type="none" w="med" len="med"/>
                      <a:tailEnd type="none" w="med" len="med"/>
                    </a:lnT>
                    <a:solidFill>
                      <a:schemeClr val="bg1">
                        <a:lumMod val="75000"/>
                      </a:schemeClr>
                    </a:solidFill>
                  </a:tcPr>
                </a:tc>
                <a:extLst>
                  <a:ext uri="{0D108BD9-81ED-4DB2-BD59-A6C34878D82A}">
                    <a16:rowId xmlns:a16="http://schemas.microsoft.com/office/drawing/2014/main" val="1421958709"/>
                  </a:ext>
                </a:extLst>
              </a:tr>
              <a:tr h="360000">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3</a:t>
                      </a:r>
                      <a:endParaRPr lang="zh-TW" altLang="en-US" b="1" dirty="0">
                        <a:solidFill>
                          <a:srgbClr val="0000FF"/>
                        </a:solidFill>
                      </a:endParaRPr>
                    </a:p>
                  </a:txBody>
                  <a:tcPr anchor="ct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3</a:t>
                      </a:r>
                      <a:endParaRPr lang="zh-TW" altLang="en-US" b="1" dirty="0">
                        <a:solidFill>
                          <a:srgbClr val="0000FF"/>
                        </a:solidFill>
                      </a:endParaRPr>
                    </a:p>
                  </a:txBody>
                  <a:tcPr anchor="ctr"/>
                </a:tc>
                <a:tc>
                  <a:txBody>
                    <a:bodyPr/>
                    <a:lstStyle/>
                    <a:p>
                      <a:pPr algn="ctr"/>
                      <a:r>
                        <a:rPr lang="en-US" altLang="zh-TW" b="1" dirty="0">
                          <a:solidFill>
                            <a:srgbClr val="FF0000"/>
                          </a:solidFill>
                        </a:rPr>
                        <a:t>x</a:t>
                      </a:r>
                      <a:endParaRPr lang="zh-TW" altLang="en-US" b="1" dirty="0">
                        <a:solidFill>
                          <a:srgbClr val="FF0000"/>
                        </a:solidFill>
                      </a:endParaRPr>
                    </a:p>
                  </a:txBody>
                  <a:tcPr anchor="ctr"/>
                </a:tc>
                <a:extLst>
                  <a:ext uri="{0D108BD9-81ED-4DB2-BD59-A6C34878D82A}">
                    <a16:rowId xmlns:a16="http://schemas.microsoft.com/office/drawing/2014/main" val="2538360145"/>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953895463"/>
                  </a:ext>
                </a:extLst>
              </a:tr>
              <a:tr h="360000">
                <a:tc>
                  <a:txBody>
                    <a:bodyPr/>
                    <a:lstStyle/>
                    <a:p>
                      <a:pPr algn="ctr"/>
                      <a:endParaRPr lang="zh-TW" altLang="en-US" b="1" dirty="0">
                        <a:solidFill>
                          <a:srgbClr val="0000FF"/>
                        </a:solidFill>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R w="12700" cap="flat" cmpd="sng" algn="ctr">
                      <a:solidFill>
                        <a:schemeClr val="tx1"/>
                      </a:solidFill>
                      <a:prstDash val="solid"/>
                      <a:round/>
                      <a:headEnd type="none" w="med" len="med"/>
                      <a:tailEnd type="none" w="med" len="med"/>
                    </a:lnR>
                    <a:solidFill>
                      <a:schemeClr val="bg1">
                        <a:lumMod val="75000"/>
                      </a:schemeClr>
                    </a:solidFill>
                  </a:tcPr>
                </a:tc>
                <a:tc>
                  <a:txBody>
                    <a:bodyPr/>
                    <a:lstStyle/>
                    <a:p>
                      <a:pPr algn="ct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18149354"/>
                  </a:ext>
                </a:extLst>
              </a:tr>
            </a:tbl>
          </a:graphicData>
        </a:graphic>
      </p:graphicFrame>
      <p:graphicFrame>
        <p:nvGraphicFramePr>
          <p:cNvPr id="12" name="表格 11"/>
          <p:cNvGraphicFramePr>
            <a:graphicFrameLocks noGrp="1"/>
          </p:cNvGraphicFramePr>
          <p:nvPr>
            <p:extLst>
              <p:ext uri="{D42A27DB-BD31-4B8C-83A1-F6EECF244321}">
                <p14:modId xmlns:p14="http://schemas.microsoft.com/office/powerpoint/2010/main" val="1269278375"/>
              </p:ext>
            </p:extLst>
          </p:nvPr>
        </p:nvGraphicFramePr>
        <p:xfrm>
          <a:off x="5751795" y="4897352"/>
          <a:ext cx="1800000" cy="109728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3455859725"/>
                    </a:ext>
                  </a:extLst>
                </a:gridCol>
                <a:gridCol w="360000">
                  <a:extLst>
                    <a:ext uri="{9D8B030D-6E8A-4147-A177-3AD203B41FA5}">
                      <a16:colId xmlns:a16="http://schemas.microsoft.com/office/drawing/2014/main" val="737763962"/>
                    </a:ext>
                  </a:extLst>
                </a:gridCol>
                <a:gridCol w="360000">
                  <a:extLst>
                    <a:ext uri="{9D8B030D-6E8A-4147-A177-3AD203B41FA5}">
                      <a16:colId xmlns:a16="http://schemas.microsoft.com/office/drawing/2014/main" val="1220628989"/>
                    </a:ext>
                  </a:extLst>
                </a:gridCol>
                <a:gridCol w="360000">
                  <a:extLst>
                    <a:ext uri="{9D8B030D-6E8A-4147-A177-3AD203B41FA5}">
                      <a16:colId xmlns:a16="http://schemas.microsoft.com/office/drawing/2014/main" val="3927735952"/>
                    </a:ext>
                  </a:extLst>
                </a:gridCol>
                <a:gridCol w="360000">
                  <a:extLst>
                    <a:ext uri="{9D8B030D-6E8A-4147-A177-3AD203B41FA5}">
                      <a16:colId xmlns:a16="http://schemas.microsoft.com/office/drawing/2014/main" val="2824513546"/>
                    </a:ext>
                  </a:extLst>
                </a:gridCol>
              </a:tblGrid>
              <a:tr h="360000">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FF0000"/>
                          </a:solidFill>
                        </a:rPr>
                        <a:t>x</a:t>
                      </a:r>
                      <a:endParaRPr lang="zh-TW" altLang="en-US" b="1" dirty="0">
                        <a:solidFill>
                          <a:srgbClr val="FF0000"/>
                        </a:solidFill>
                      </a:endParaRPr>
                    </a:p>
                  </a:txBody>
                  <a:tcPr anchor="c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extLst>
                  <a:ext uri="{0D108BD9-81ED-4DB2-BD59-A6C34878D82A}">
                    <a16:rowId xmlns:a16="http://schemas.microsoft.com/office/drawing/2014/main" val="451115290"/>
                  </a:ext>
                </a:extLst>
              </a:tr>
              <a:tr h="360000">
                <a:tc>
                  <a:txBody>
                    <a:bodyPr/>
                    <a:lstStyle/>
                    <a:p>
                      <a:pPr algn="ctr"/>
                      <a:r>
                        <a:rPr lang="en-US" altLang="zh-TW" b="1" dirty="0">
                          <a:solidFill>
                            <a:srgbClr val="00B0F0"/>
                          </a:solidFill>
                        </a:rPr>
                        <a:t>x</a:t>
                      </a:r>
                      <a:endParaRPr lang="zh-TW" altLang="en-US" b="1" dirty="0">
                        <a:solidFill>
                          <a:srgbClr val="00B0F0"/>
                        </a:solidFill>
                      </a:endParaRPr>
                    </a:p>
                  </a:txBody>
                  <a:tcPr anchor="ctr"/>
                </a:tc>
                <a:tc>
                  <a:txBody>
                    <a:bodyPr/>
                    <a:lstStyle/>
                    <a:p>
                      <a:pPr algn="ctr"/>
                      <a:r>
                        <a:rPr lang="en-US" altLang="zh-TW" b="1" dirty="0">
                          <a:solidFill>
                            <a:srgbClr val="0000FF"/>
                          </a:solidFill>
                        </a:rPr>
                        <a:t>1</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chemeClr val="tx1"/>
                          </a:solidFill>
                        </a:rPr>
                        <a:t>x’</a:t>
                      </a:r>
                      <a:endParaRPr lang="zh-TW" altLang="en-US" b="1" dirty="0">
                        <a:solidFill>
                          <a:schemeClr val="tx1"/>
                        </a:solidFill>
                      </a:endParaRPr>
                    </a:p>
                  </a:txBody>
                  <a:tcPr anchor="ctr"/>
                </a:tc>
                <a:tc>
                  <a:txBody>
                    <a:bodyPr/>
                    <a:lstStyle/>
                    <a:p>
                      <a:pPr algn="ctr"/>
                      <a:r>
                        <a:rPr lang="en-US" altLang="zh-TW" b="1" dirty="0">
                          <a:solidFill>
                            <a:srgbClr val="0000FF"/>
                          </a:solidFill>
                        </a:rPr>
                        <a:t>2</a:t>
                      </a:r>
                      <a:endParaRPr lang="zh-TW" altLang="en-US" b="1" dirty="0">
                        <a:solidFill>
                          <a:srgbClr val="0000FF"/>
                        </a:solidFill>
                      </a:endParaRPr>
                    </a:p>
                  </a:txBody>
                  <a:tcPr anchor="ctr">
                    <a:solidFill>
                      <a:schemeClr val="bg1">
                        <a:lumMod val="75000"/>
                      </a:schemeClr>
                    </a:solidFill>
                  </a:tcPr>
                </a:tc>
                <a:tc>
                  <a:txBody>
                    <a:bodyPr/>
                    <a:lstStyle/>
                    <a:p>
                      <a:pPr algn="ctr"/>
                      <a:r>
                        <a:rPr lang="en-US" altLang="zh-TW" b="1" dirty="0">
                          <a:solidFill>
                            <a:srgbClr val="FF0000"/>
                          </a:solidFill>
                        </a:rPr>
                        <a:t>x’</a:t>
                      </a:r>
                      <a:endParaRPr lang="zh-TW" altLang="en-US" b="1" dirty="0">
                        <a:solidFill>
                          <a:srgbClr val="FF0000"/>
                        </a:solidFill>
                      </a:endParaRPr>
                    </a:p>
                  </a:txBody>
                  <a:tcPr anchor="ctr"/>
                </a:tc>
                <a:extLst>
                  <a:ext uri="{0D108BD9-81ED-4DB2-BD59-A6C34878D82A}">
                    <a16:rowId xmlns:a16="http://schemas.microsoft.com/office/drawing/2014/main" val="2504513421"/>
                  </a:ext>
                </a:extLst>
              </a:tr>
              <a:tr h="360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kumimoji="0" lang="zh-TW" altLang="en-US"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endParaRPr>
                    </a:p>
                  </a:txBody>
                  <a:tcPr anchor="ctr">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kumimoji="0" lang="zh-TW" altLang="en-US"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endParaRPr>
                    </a:p>
                  </a:txBody>
                  <a:tcPr anchor="ctr">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kumimoji="0" lang="zh-TW" altLang="en-US"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endParaRPr>
                    </a:p>
                  </a:txBody>
                  <a:tcPr anchor="ctr">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800" b="1" i="0" u="none" strike="noStrike" kern="1200" cap="none" spc="0" normalizeH="0" baseline="0" noProof="0" dirty="0">
                          <a:ln>
                            <a:noFill/>
                          </a:ln>
                          <a:solidFill>
                            <a:srgbClr val="FF0000"/>
                          </a:solidFill>
                          <a:effectLst/>
                          <a:uLnTx/>
                          <a:uFillTx/>
                          <a:latin typeface="Calibri" panose="020F0502020204030204"/>
                          <a:ea typeface="新細明體" panose="02020500000000000000" pitchFamily="18" charset="-120"/>
                          <a:cs typeface="+mn-cs"/>
                        </a:rPr>
                        <a:t>x</a:t>
                      </a:r>
                      <a:endParaRPr kumimoji="0" lang="zh-TW" altLang="en-US" sz="1800" b="1" i="0" u="none" strike="noStrike" kern="1200" cap="none" spc="0" normalizeH="0" baseline="0" noProof="0" dirty="0">
                        <a:ln>
                          <a:noFill/>
                        </a:ln>
                        <a:solidFill>
                          <a:srgbClr val="FF0000"/>
                        </a:solidFill>
                        <a:effectLst/>
                        <a:uLnTx/>
                        <a:uFillTx/>
                        <a:latin typeface="Calibri" panose="020F0502020204030204"/>
                        <a:ea typeface="新細明體" panose="02020500000000000000" pitchFamily="18" charset="-120"/>
                        <a:cs typeface="+mn-cs"/>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rPr>
                        <a:t>1</a:t>
                      </a:r>
                      <a:endParaRPr kumimoji="0" lang="zh-TW" altLang="en-US" sz="1800" b="1" i="0" u="none" strike="noStrike" kern="1200" cap="none" spc="0" normalizeH="0" baseline="0" noProof="0" dirty="0">
                        <a:ln>
                          <a:noFill/>
                        </a:ln>
                        <a:solidFill>
                          <a:srgbClr val="0000FF"/>
                        </a:solidFill>
                        <a:effectLst/>
                        <a:uLnTx/>
                        <a:uFillTx/>
                        <a:latin typeface="Calibri" panose="020F0502020204030204"/>
                        <a:ea typeface="新細明體" panose="02020500000000000000" pitchFamily="18" charset="-120"/>
                        <a:cs typeface="+mn-cs"/>
                      </a:endParaRPr>
                    </a:p>
                  </a:txBody>
                  <a:tcPr anchor="ctr">
                    <a:solidFill>
                      <a:schemeClr val="bg1">
                        <a:lumMod val="75000"/>
                      </a:schemeClr>
                    </a:solidFill>
                  </a:tcPr>
                </a:tc>
                <a:extLst>
                  <a:ext uri="{0D108BD9-81ED-4DB2-BD59-A6C34878D82A}">
                    <a16:rowId xmlns:a16="http://schemas.microsoft.com/office/drawing/2014/main" val="2899465938"/>
                  </a:ext>
                </a:extLst>
              </a:tr>
            </a:tbl>
          </a:graphicData>
        </a:graphic>
      </p:graphicFrame>
    </p:spTree>
    <p:extLst>
      <p:ext uri="{BB962C8B-B14F-4D97-AF65-F5344CB8AC3E}">
        <p14:creationId xmlns:p14="http://schemas.microsoft.com/office/powerpoint/2010/main" val="918646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2320378714"/>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2320378714"/>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Tree>
    <p:extLst>
      <p:ext uri="{BB962C8B-B14F-4D97-AF65-F5344CB8AC3E}">
        <p14:creationId xmlns:p14="http://schemas.microsoft.com/office/powerpoint/2010/main" val="81003984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70879103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70879103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2400300" y="35295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15475181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416531143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𝟑</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416531143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4210050" y="4624909"/>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284169852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1740961727"/>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𝟏</m:t>
                                    </m:r>
                                  </m:sub>
                                </m:sSub>
                              </m:oMath>
                            </m:oMathPara>
                          </a14:m>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𝟑</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1740961727"/>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857625" y="46344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39750532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1186423140"/>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𝟏</m:t>
                                    </m:r>
                                  </m:sub>
                                </m:sSub>
                              </m:oMath>
                            </m:oMathPara>
                          </a14:m>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𝟑</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1186423140"/>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495675" y="465348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407328148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1941183428"/>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1941183428"/>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2400300" y="35295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23591472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209869327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𝟏</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209869327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495675" y="4643959"/>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13171011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509335220"/>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𝟏</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𝟑</m:t>
                                    </m:r>
                                  </m:sub>
                                </m:sSub>
                              </m:oMath>
                            </m:oMathPara>
                          </a14:m>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509335220"/>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857625" y="4643959"/>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52971072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390353862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𝟏</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𝟑</m:t>
                                    </m:r>
                                  </m:sub>
                                </m:sSub>
                              </m:oMath>
                            </m:oMathPara>
                          </a14:m>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390353862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4219575" y="46344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55283878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𝟏</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𝟑</m:t>
                                    </m:r>
                                  </m:sub>
                                </m:sSub>
                              </m:oMath>
                            </m:oMathPara>
                          </a14:m>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Tree>
    <p:extLst>
      <p:ext uri="{BB962C8B-B14F-4D97-AF65-F5344CB8AC3E}">
        <p14:creationId xmlns:p14="http://schemas.microsoft.com/office/powerpoint/2010/main" val="21409419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3534628434"/>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3534628434"/>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2400300" y="35295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6861755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55088141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tx1"/>
                                        </a:solidFill>
                                        <a:latin typeface="Cambria Math" panose="02040503050406030204" pitchFamily="18" charset="0"/>
                                      </a:rPr>
                                    </m:ctrlPr>
                                  </m:sSubPr>
                                  <m:e>
                                    <m:r>
                                      <a:rPr lang="en-US" altLang="zh-TW" b="1" i="1" smtClean="0">
                                        <a:solidFill>
                                          <a:schemeClr val="tx1"/>
                                        </a:solidFill>
                                        <a:latin typeface="Cambria Math" panose="02040503050406030204" pitchFamily="18" charset="0"/>
                                      </a:rPr>
                                      <m:t>𝒃</m:t>
                                    </m:r>
                                  </m:e>
                                  <m:sub>
                                    <m:r>
                                      <a:rPr lang="en-US" altLang="zh-TW" b="1" i="1" smtClean="0">
                                        <a:solidFill>
                                          <a:schemeClr val="tx1"/>
                                        </a:solidFill>
                                        <a:latin typeface="Cambria Math" panose="02040503050406030204" pitchFamily="18" charset="0"/>
                                      </a:rPr>
                                      <m:t>𝟐</m:t>
                                    </m:r>
                                  </m:sub>
                                </m:sSub>
                              </m:oMath>
                            </m:oMathPara>
                          </a14:m>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tx1"/>
                                        </a:solidFill>
                                        <a:latin typeface="Cambria Math" panose="02040503050406030204" pitchFamily="18" charset="0"/>
                                      </a:rPr>
                                    </m:ctrlPr>
                                  </m:sSubPr>
                                  <m:e>
                                    <m:r>
                                      <a:rPr lang="en-US" altLang="zh-TW" b="1" i="1" smtClean="0">
                                        <a:solidFill>
                                          <a:schemeClr val="tx1"/>
                                        </a:solidFill>
                                        <a:latin typeface="Cambria Math" panose="02040503050406030204" pitchFamily="18" charset="0"/>
                                      </a:rPr>
                                      <m:t>𝒃</m:t>
                                    </m:r>
                                  </m:e>
                                  <m:sub>
                                    <m:r>
                                      <a:rPr lang="en-US" altLang="zh-TW" b="1" i="1" smtClean="0">
                                        <a:solidFill>
                                          <a:schemeClr val="tx1"/>
                                        </a:solidFill>
                                        <a:latin typeface="Cambria Math" panose="02040503050406030204" pitchFamily="18" charset="0"/>
                                      </a:rPr>
                                      <m:t>𝟑</m:t>
                                    </m:r>
                                  </m:sub>
                                </m:sSub>
                              </m:oMath>
                            </m:oMathPara>
                          </a14:m>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55088141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4219575" y="46344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03635514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3661564635"/>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tx1"/>
                                        </a:solidFill>
                                        <a:latin typeface="Cambria Math" panose="02040503050406030204" pitchFamily="18" charset="0"/>
                                      </a:rPr>
                                    </m:ctrlPr>
                                  </m:sSubPr>
                                  <m:e>
                                    <m:r>
                                      <a:rPr lang="en-US" altLang="zh-TW" b="1" i="1" smtClean="0">
                                        <a:solidFill>
                                          <a:schemeClr val="tx1"/>
                                        </a:solidFill>
                                        <a:latin typeface="Cambria Math" panose="02040503050406030204" pitchFamily="18" charset="0"/>
                                      </a:rPr>
                                      <m:t>𝒃</m:t>
                                    </m:r>
                                  </m:e>
                                  <m:sub>
                                    <m:r>
                                      <a:rPr lang="en-US" altLang="zh-TW" b="1" i="1" smtClean="0">
                                        <a:solidFill>
                                          <a:schemeClr val="tx1"/>
                                        </a:solidFill>
                                        <a:latin typeface="Cambria Math" panose="02040503050406030204" pitchFamily="18" charset="0"/>
                                      </a:rPr>
                                      <m:t>𝟐</m:t>
                                    </m:r>
                                  </m:sub>
                                </m:sSub>
                              </m:oMath>
                            </m:oMathPara>
                          </a14:m>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tx1"/>
                                        </a:solidFill>
                                        <a:latin typeface="Cambria Math" panose="02040503050406030204" pitchFamily="18" charset="0"/>
                                      </a:rPr>
                                    </m:ctrlPr>
                                  </m:sSubPr>
                                  <m:e>
                                    <m:r>
                                      <a:rPr lang="en-US" altLang="zh-TW" b="1" i="1" smtClean="0">
                                        <a:solidFill>
                                          <a:schemeClr val="tx1"/>
                                        </a:solidFill>
                                        <a:latin typeface="Cambria Math" panose="02040503050406030204" pitchFamily="18" charset="0"/>
                                      </a:rPr>
                                      <m:t>𝒃</m:t>
                                    </m:r>
                                  </m:e>
                                  <m:sub>
                                    <m:r>
                                      <a:rPr lang="en-US" altLang="zh-TW" b="1" i="1" smtClean="0">
                                        <a:solidFill>
                                          <a:schemeClr val="tx1"/>
                                        </a:solidFill>
                                        <a:latin typeface="Cambria Math" panose="02040503050406030204" pitchFamily="18" charset="0"/>
                                      </a:rPr>
                                      <m:t>𝟑</m:t>
                                    </m:r>
                                  </m:sub>
                                </m:sSub>
                              </m:oMath>
                            </m:oMathPara>
                          </a14:m>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3661564635"/>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495675" y="4643959"/>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7974615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201178160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𝟏</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chemeClr val="bg1">
                                            <a:lumMod val="50000"/>
                                          </a:schemeClr>
                                        </a:solidFill>
                                        <a:latin typeface="Cambria Math" panose="02040503050406030204" pitchFamily="18" charset="0"/>
                                      </a:rPr>
                                    </m:ctrlPr>
                                  </m:sSubPr>
                                  <m:e>
                                    <m:r>
                                      <a:rPr lang="en-US" altLang="zh-TW" b="1" i="1" smtClean="0">
                                        <a:solidFill>
                                          <a:schemeClr val="bg1">
                                            <a:lumMod val="50000"/>
                                          </a:schemeClr>
                                        </a:solidFill>
                                        <a:latin typeface="Cambria Math" panose="02040503050406030204" pitchFamily="18" charset="0"/>
                                      </a:rPr>
                                      <m:t>𝒃</m:t>
                                    </m:r>
                                  </m:e>
                                  <m:sub>
                                    <m:r>
                                      <a:rPr lang="en-US" altLang="zh-TW" b="1" i="1" smtClean="0">
                                        <a:solidFill>
                                          <a:schemeClr val="bg1">
                                            <a:lumMod val="50000"/>
                                          </a:schemeClr>
                                        </a:solidFill>
                                        <a:latin typeface="Cambria Math" panose="02040503050406030204" pitchFamily="18" charset="0"/>
                                      </a:rPr>
                                      <m:t>𝟐</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solidFill>
                                          <a:srgbClr val="FF0000"/>
                                        </a:solidFill>
                                        <a:latin typeface="Cambria Math" panose="02040503050406030204" pitchFamily="18" charset="0"/>
                                      </a:rPr>
                                    </m:ctrlPr>
                                  </m:sSubPr>
                                  <m:e>
                                    <m:r>
                                      <a:rPr lang="en-US" altLang="zh-TW" b="1" i="1" smtClean="0">
                                        <a:solidFill>
                                          <a:srgbClr val="FF0000"/>
                                        </a:solidFill>
                                        <a:latin typeface="Cambria Math" panose="02040503050406030204" pitchFamily="18" charset="0"/>
                                      </a:rPr>
                                      <m:t>𝒃</m:t>
                                    </m:r>
                                  </m:e>
                                  <m:sub>
                                    <m:r>
                                      <a:rPr lang="en-US" altLang="zh-TW" b="1" i="1" smtClean="0">
                                        <a:solidFill>
                                          <a:srgbClr val="FF0000"/>
                                        </a:solidFill>
                                        <a:latin typeface="Cambria Math" panose="02040503050406030204" pitchFamily="18" charset="0"/>
                                      </a:rPr>
                                      <m:t>𝟑</m:t>
                                    </m:r>
                                  </m:sub>
                                </m:sSub>
                              </m:oMath>
                            </m:oMathPara>
                          </a14:m>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2011781603"/>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3857625" y="4643959"/>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77497205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AND Gate</a:t>
            </a:r>
            <a:endParaRPr lang="zh-TW" altLang="en-US" dirty="0"/>
          </a:p>
        </p:txBody>
      </p:sp>
      <mc:AlternateContent xmlns:mc="http://schemas.openxmlformats.org/markup-compatibility/2006">
        <mc:Choice xmlns:a14="http://schemas.microsoft.com/office/drawing/2010/main" Requires="a14">
          <p:graphicFrame>
            <p:nvGraphicFramePr>
              <p:cNvPr id="7" name="表格 6"/>
              <p:cNvGraphicFramePr>
                <a:graphicFrameLocks noGrp="1"/>
              </p:cNvGraphicFramePr>
              <p:nvPr>
                <p:extLst>
                  <p:ext uri="{D42A27DB-BD31-4B8C-83A1-F6EECF244321}">
                    <p14:modId xmlns:p14="http://schemas.microsoft.com/office/powerpoint/2010/main" val="87920976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dirty="0" smtClean="0">
                                        <a:latin typeface="Cambria Math" panose="02040503050406030204" pitchFamily="18" charset="0"/>
                                      </a:rPr>
                                    </m:ctrlPr>
                                  </m:sSubPr>
                                  <m:e>
                                    <m:r>
                                      <a:rPr lang="en-US" altLang="zh-TW" b="1" i="1" dirty="0" smtClean="0">
                                        <a:latin typeface="Cambria Math" panose="02040503050406030204" pitchFamily="18" charset="0"/>
                                      </a:rPr>
                                      <m:t>𝒂</m:t>
                                    </m:r>
                                  </m:e>
                                  <m:sub>
                                    <m:r>
                                      <a:rPr lang="en-US" altLang="zh-TW" b="1" i="1" dirty="0"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000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𝒃</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000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000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Choice>
        <mc:Fallback>
          <p:graphicFrame>
            <p:nvGraphicFramePr>
              <p:cNvPr id="7" name="表格 6"/>
              <p:cNvGraphicFramePr>
                <a:graphicFrameLocks noGrp="1"/>
              </p:cNvGraphicFramePr>
              <p:nvPr>
                <p:extLst>
                  <p:ext uri="{D42A27DB-BD31-4B8C-83A1-F6EECF244321}">
                    <p14:modId xmlns:p14="http://schemas.microsoft.com/office/powerpoint/2010/main" val="879209766"/>
                  </p:ext>
                </p:extLst>
              </p:nvPr>
            </p:nvGraphicFramePr>
            <p:xfrm>
              <a:off x="612000" y="1334022"/>
              <a:ext cx="7920000" cy="548640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1677176427"/>
                        </a:ext>
                      </a:extLst>
                    </a:gridCol>
                    <a:gridCol w="360000">
                      <a:extLst>
                        <a:ext uri="{9D8B030D-6E8A-4147-A177-3AD203B41FA5}">
                          <a16:colId xmlns:a16="http://schemas.microsoft.com/office/drawing/2014/main" val="634421151"/>
                        </a:ext>
                      </a:extLst>
                    </a:gridCol>
                    <a:gridCol w="360000">
                      <a:extLst>
                        <a:ext uri="{9D8B030D-6E8A-4147-A177-3AD203B41FA5}">
                          <a16:colId xmlns:a16="http://schemas.microsoft.com/office/drawing/2014/main" val="3419891694"/>
                        </a:ext>
                      </a:extLst>
                    </a:gridCol>
                    <a:gridCol w="360000">
                      <a:extLst>
                        <a:ext uri="{9D8B030D-6E8A-4147-A177-3AD203B41FA5}">
                          <a16:colId xmlns:a16="http://schemas.microsoft.com/office/drawing/2014/main" val="2123646252"/>
                        </a:ext>
                      </a:extLst>
                    </a:gridCol>
                    <a:gridCol w="360000">
                      <a:extLst>
                        <a:ext uri="{9D8B030D-6E8A-4147-A177-3AD203B41FA5}">
                          <a16:colId xmlns:a16="http://schemas.microsoft.com/office/drawing/2014/main" val="519718886"/>
                        </a:ext>
                      </a:extLst>
                    </a:gridCol>
                    <a:gridCol w="360000">
                      <a:extLst>
                        <a:ext uri="{9D8B030D-6E8A-4147-A177-3AD203B41FA5}">
                          <a16:colId xmlns:a16="http://schemas.microsoft.com/office/drawing/2014/main" val="2412536314"/>
                        </a:ext>
                      </a:extLst>
                    </a:gridCol>
                    <a:gridCol w="360000">
                      <a:extLst>
                        <a:ext uri="{9D8B030D-6E8A-4147-A177-3AD203B41FA5}">
                          <a16:colId xmlns:a16="http://schemas.microsoft.com/office/drawing/2014/main" val="2531621000"/>
                        </a:ext>
                      </a:extLst>
                    </a:gridCol>
                    <a:gridCol w="360000">
                      <a:extLst>
                        <a:ext uri="{9D8B030D-6E8A-4147-A177-3AD203B41FA5}">
                          <a16:colId xmlns:a16="http://schemas.microsoft.com/office/drawing/2014/main" val="3073182832"/>
                        </a:ext>
                      </a:extLst>
                    </a:gridCol>
                    <a:gridCol w="360000">
                      <a:extLst>
                        <a:ext uri="{9D8B030D-6E8A-4147-A177-3AD203B41FA5}">
                          <a16:colId xmlns:a16="http://schemas.microsoft.com/office/drawing/2014/main" val="3141421364"/>
                        </a:ext>
                      </a:extLst>
                    </a:gridCol>
                    <a:gridCol w="360000">
                      <a:extLst>
                        <a:ext uri="{9D8B030D-6E8A-4147-A177-3AD203B41FA5}">
                          <a16:colId xmlns:a16="http://schemas.microsoft.com/office/drawing/2014/main" val="2041583896"/>
                        </a:ext>
                      </a:extLst>
                    </a:gridCol>
                    <a:gridCol w="360000">
                      <a:extLst>
                        <a:ext uri="{9D8B030D-6E8A-4147-A177-3AD203B41FA5}">
                          <a16:colId xmlns:a16="http://schemas.microsoft.com/office/drawing/2014/main" val="1537796162"/>
                        </a:ext>
                      </a:extLst>
                    </a:gridCol>
                    <a:gridCol w="360000">
                      <a:extLst>
                        <a:ext uri="{9D8B030D-6E8A-4147-A177-3AD203B41FA5}">
                          <a16:colId xmlns:a16="http://schemas.microsoft.com/office/drawing/2014/main" val="1134194158"/>
                        </a:ext>
                      </a:extLst>
                    </a:gridCol>
                    <a:gridCol w="360000">
                      <a:extLst>
                        <a:ext uri="{9D8B030D-6E8A-4147-A177-3AD203B41FA5}">
                          <a16:colId xmlns:a16="http://schemas.microsoft.com/office/drawing/2014/main" val="2076524027"/>
                        </a:ext>
                      </a:extLst>
                    </a:gridCol>
                    <a:gridCol w="360000">
                      <a:extLst>
                        <a:ext uri="{9D8B030D-6E8A-4147-A177-3AD203B41FA5}">
                          <a16:colId xmlns:a16="http://schemas.microsoft.com/office/drawing/2014/main" val="3222828189"/>
                        </a:ext>
                      </a:extLst>
                    </a:gridCol>
                    <a:gridCol w="360000">
                      <a:extLst>
                        <a:ext uri="{9D8B030D-6E8A-4147-A177-3AD203B41FA5}">
                          <a16:colId xmlns:a16="http://schemas.microsoft.com/office/drawing/2014/main" val="2306091509"/>
                        </a:ext>
                      </a:extLst>
                    </a:gridCol>
                    <a:gridCol w="360000">
                      <a:extLst>
                        <a:ext uri="{9D8B030D-6E8A-4147-A177-3AD203B41FA5}">
                          <a16:colId xmlns:a16="http://schemas.microsoft.com/office/drawing/2014/main" val="2967836695"/>
                        </a:ext>
                      </a:extLst>
                    </a:gridCol>
                    <a:gridCol w="360000">
                      <a:extLst>
                        <a:ext uri="{9D8B030D-6E8A-4147-A177-3AD203B41FA5}">
                          <a16:colId xmlns:a16="http://schemas.microsoft.com/office/drawing/2014/main" val="2292018201"/>
                        </a:ext>
                      </a:extLst>
                    </a:gridCol>
                    <a:gridCol w="360000">
                      <a:extLst>
                        <a:ext uri="{9D8B030D-6E8A-4147-A177-3AD203B41FA5}">
                          <a16:colId xmlns:a16="http://schemas.microsoft.com/office/drawing/2014/main" val="638471985"/>
                        </a:ext>
                      </a:extLst>
                    </a:gridCol>
                    <a:gridCol w="360000">
                      <a:extLst>
                        <a:ext uri="{9D8B030D-6E8A-4147-A177-3AD203B41FA5}">
                          <a16:colId xmlns:a16="http://schemas.microsoft.com/office/drawing/2014/main" val="1447133111"/>
                        </a:ext>
                      </a:extLst>
                    </a:gridCol>
                    <a:gridCol w="360000">
                      <a:extLst>
                        <a:ext uri="{9D8B030D-6E8A-4147-A177-3AD203B41FA5}">
                          <a16:colId xmlns:a16="http://schemas.microsoft.com/office/drawing/2014/main" val="2697150834"/>
                        </a:ext>
                      </a:extLst>
                    </a:gridCol>
                    <a:gridCol w="360000">
                      <a:extLst>
                        <a:ext uri="{9D8B030D-6E8A-4147-A177-3AD203B41FA5}">
                          <a16:colId xmlns:a16="http://schemas.microsoft.com/office/drawing/2014/main" val="1543274155"/>
                        </a:ext>
                      </a:extLst>
                    </a:gridCol>
                    <a:gridCol w="360000">
                      <a:extLst>
                        <a:ext uri="{9D8B030D-6E8A-4147-A177-3AD203B41FA5}">
                          <a16:colId xmlns:a16="http://schemas.microsoft.com/office/drawing/2014/main" val="4062113917"/>
                        </a:ext>
                      </a:extLst>
                    </a:gridCol>
                  </a:tblGrid>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307218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45160129"/>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88302608"/>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308333" r="-12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308333" r="-1105085" b="-1128333"/>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308333" r="-1005085" b="-1128333"/>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460948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59531041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6742435"/>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u</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u’</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s</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2496876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FF0000"/>
                              </a:solidFill>
                            </a:rPr>
                            <a: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t</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t</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26066389"/>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bg1">
                                  <a:lumMod val="50000"/>
                                </a:schemeClr>
                              </a:solidFill>
                            </a:rPr>
                            <a:t>v</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v’</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chemeClr val="bg1">
                                  <a:lumMod val="50000"/>
                                </a:schemeClr>
                              </a:solidFill>
                            </a:rPr>
                            <a:t>r</a:t>
                          </a:r>
                          <a:endParaRPr lang="zh-TW" altLang="en-US" b="1" dirty="0">
                            <a:solidFill>
                              <a:schemeClr val="bg1">
                                <a:lumMod val="50000"/>
                              </a:schemeClr>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46775831"/>
                      </a:ext>
                    </a:extLst>
                  </a:tr>
                  <a:tr h="365760">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62790942"/>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0783806"/>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110000" r="-12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3390" t="-1110000" r="-1105085" b="-326667"/>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103390" t="-1110000" r="-1005085" b="-326667"/>
                          </a:stretch>
                        </a:blip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195722390"/>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42202301"/>
                      </a:ext>
                    </a:extLst>
                  </a:tr>
                  <a:tr h="365760">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71982784"/>
                      </a:ext>
                    </a:extLst>
                  </a:tr>
                  <a:tr h="365760">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32688853"/>
                      </a:ext>
                    </a:extLst>
                  </a:tr>
                </a:tbl>
              </a:graphicData>
            </a:graphic>
          </p:graphicFrame>
        </mc:Fallback>
      </mc:AlternateContent>
      <p:sp>
        <p:nvSpPr>
          <p:cNvPr id="4" name="矩形 3"/>
          <p:cNvSpPr/>
          <p:nvPr/>
        </p:nvSpPr>
        <p:spPr>
          <a:xfrm>
            <a:off x="2400300" y="3529534"/>
            <a:ext cx="1076325" cy="10763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2506171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OR Gate</a:t>
            </a:r>
            <a:endParaRPr lang="zh-TW" altLang="en-US" dirty="0"/>
          </a:p>
        </p:txBody>
      </p:sp>
      <mc:AlternateContent xmlns:mc="http://schemas.openxmlformats.org/markup-compatibility/2006">
        <mc:Choice xmlns:a14="http://schemas.microsoft.com/office/drawing/2010/main" Requires="a14">
          <p:graphicFrame>
            <p:nvGraphicFramePr>
              <p:cNvPr id="4" name="表格 3"/>
              <p:cNvGraphicFramePr>
                <a:graphicFrameLocks noGrp="1"/>
              </p:cNvGraphicFramePr>
              <p:nvPr>
                <p:extLst>
                  <p:ext uri="{D42A27DB-BD31-4B8C-83A1-F6EECF244321}">
                    <p14:modId xmlns:p14="http://schemas.microsoft.com/office/powerpoint/2010/main" val="396815818"/>
                  </p:ext>
                </p:extLst>
              </p:nvPr>
            </p:nvGraphicFramePr>
            <p:xfrm>
              <a:off x="1692000" y="1616075"/>
              <a:ext cx="5760000" cy="475488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25267433"/>
                        </a:ext>
                      </a:extLst>
                    </a:gridCol>
                    <a:gridCol w="360000">
                      <a:extLst>
                        <a:ext uri="{9D8B030D-6E8A-4147-A177-3AD203B41FA5}">
                          <a16:colId xmlns:a16="http://schemas.microsoft.com/office/drawing/2014/main" val="122373294"/>
                        </a:ext>
                      </a:extLst>
                    </a:gridCol>
                    <a:gridCol w="360000">
                      <a:extLst>
                        <a:ext uri="{9D8B030D-6E8A-4147-A177-3AD203B41FA5}">
                          <a16:colId xmlns:a16="http://schemas.microsoft.com/office/drawing/2014/main" val="3455976856"/>
                        </a:ext>
                      </a:extLst>
                    </a:gridCol>
                    <a:gridCol w="360000">
                      <a:extLst>
                        <a:ext uri="{9D8B030D-6E8A-4147-A177-3AD203B41FA5}">
                          <a16:colId xmlns:a16="http://schemas.microsoft.com/office/drawing/2014/main" val="1409436696"/>
                        </a:ext>
                      </a:extLst>
                    </a:gridCol>
                    <a:gridCol w="360000">
                      <a:extLst>
                        <a:ext uri="{9D8B030D-6E8A-4147-A177-3AD203B41FA5}">
                          <a16:colId xmlns:a16="http://schemas.microsoft.com/office/drawing/2014/main" val="1097767730"/>
                        </a:ext>
                      </a:extLst>
                    </a:gridCol>
                    <a:gridCol w="360000">
                      <a:extLst>
                        <a:ext uri="{9D8B030D-6E8A-4147-A177-3AD203B41FA5}">
                          <a16:colId xmlns:a16="http://schemas.microsoft.com/office/drawing/2014/main" val="772611677"/>
                        </a:ext>
                      </a:extLst>
                    </a:gridCol>
                    <a:gridCol w="360000">
                      <a:extLst>
                        <a:ext uri="{9D8B030D-6E8A-4147-A177-3AD203B41FA5}">
                          <a16:colId xmlns:a16="http://schemas.microsoft.com/office/drawing/2014/main" val="2150315531"/>
                        </a:ext>
                      </a:extLst>
                    </a:gridCol>
                    <a:gridCol w="360000">
                      <a:extLst>
                        <a:ext uri="{9D8B030D-6E8A-4147-A177-3AD203B41FA5}">
                          <a16:colId xmlns:a16="http://schemas.microsoft.com/office/drawing/2014/main" val="3284136516"/>
                        </a:ext>
                      </a:extLst>
                    </a:gridCol>
                    <a:gridCol w="360000">
                      <a:extLst>
                        <a:ext uri="{9D8B030D-6E8A-4147-A177-3AD203B41FA5}">
                          <a16:colId xmlns:a16="http://schemas.microsoft.com/office/drawing/2014/main" val="1861729546"/>
                        </a:ext>
                      </a:extLst>
                    </a:gridCol>
                    <a:gridCol w="360000">
                      <a:extLst>
                        <a:ext uri="{9D8B030D-6E8A-4147-A177-3AD203B41FA5}">
                          <a16:colId xmlns:a16="http://schemas.microsoft.com/office/drawing/2014/main" val="2126715006"/>
                        </a:ext>
                      </a:extLst>
                    </a:gridCol>
                    <a:gridCol w="360000">
                      <a:extLst>
                        <a:ext uri="{9D8B030D-6E8A-4147-A177-3AD203B41FA5}">
                          <a16:colId xmlns:a16="http://schemas.microsoft.com/office/drawing/2014/main" val="2384181879"/>
                        </a:ext>
                      </a:extLst>
                    </a:gridCol>
                    <a:gridCol w="360000">
                      <a:extLst>
                        <a:ext uri="{9D8B030D-6E8A-4147-A177-3AD203B41FA5}">
                          <a16:colId xmlns:a16="http://schemas.microsoft.com/office/drawing/2014/main" val="1604040435"/>
                        </a:ext>
                      </a:extLst>
                    </a:gridCol>
                    <a:gridCol w="360000">
                      <a:extLst>
                        <a:ext uri="{9D8B030D-6E8A-4147-A177-3AD203B41FA5}">
                          <a16:colId xmlns:a16="http://schemas.microsoft.com/office/drawing/2014/main" val="802934978"/>
                        </a:ext>
                      </a:extLst>
                    </a:gridCol>
                    <a:gridCol w="360000">
                      <a:extLst>
                        <a:ext uri="{9D8B030D-6E8A-4147-A177-3AD203B41FA5}">
                          <a16:colId xmlns:a16="http://schemas.microsoft.com/office/drawing/2014/main" val="3839287856"/>
                        </a:ext>
                      </a:extLst>
                    </a:gridCol>
                    <a:gridCol w="360000">
                      <a:extLst>
                        <a:ext uri="{9D8B030D-6E8A-4147-A177-3AD203B41FA5}">
                          <a16:colId xmlns:a16="http://schemas.microsoft.com/office/drawing/2014/main" val="3551714678"/>
                        </a:ext>
                      </a:extLst>
                    </a:gridCol>
                    <a:gridCol w="360000">
                      <a:extLst>
                        <a:ext uri="{9D8B030D-6E8A-4147-A177-3AD203B41FA5}">
                          <a16:colId xmlns:a16="http://schemas.microsoft.com/office/drawing/2014/main" val="817287308"/>
                        </a:ext>
                      </a:extLst>
                    </a:gridCol>
                  </a:tblGrid>
                  <a:tr h="360000">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62667135"/>
                      </a:ext>
                    </a:extLst>
                  </a:tr>
                  <a:tr h="360000">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940406078"/>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267443869"/>
                      </a:ext>
                    </a:extLst>
                  </a:tr>
                  <a:tr h="360000">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6828010"/>
                      </a:ext>
                    </a:extLst>
                  </a:tr>
                  <a:tr h="360000">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270444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473491259"/>
                      </a:ext>
                    </a:extLst>
                  </a:tr>
                  <a:tr h="360000">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6</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913740"/>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720753232"/>
                      </a:ext>
                    </a:extLst>
                  </a:tr>
                  <a:tr h="360000">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066656511"/>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54997609"/>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𝟏</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𝟐</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14:m>
                            <m:oMathPara xmlns:m="http://schemas.openxmlformats.org/officeDocument/2006/math">
                              <m:oMathParaPr>
                                <m:jc m:val="centerGroup"/>
                              </m:oMathParaPr>
                              <m:oMath xmlns:m="http://schemas.openxmlformats.org/officeDocument/2006/math">
                                <m:sSub>
                                  <m:sSubPr>
                                    <m:ctrlPr>
                                      <a:rPr lang="en-US" altLang="zh-TW" b="1" i="1" smtClean="0">
                                        <a:latin typeface="Cambria Math" panose="02040503050406030204" pitchFamily="18" charset="0"/>
                                      </a:rPr>
                                    </m:ctrlPr>
                                  </m:sSubPr>
                                  <m:e>
                                    <m:r>
                                      <a:rPr lang="en-US" altLang="zh-TW" b="1" i="1" smtClean="0">
                                        <a:latin typeface="Cambria Math" panose="02040503050406030204" pitchFamily="18" charset="0"/>
                                      </a:rPr>
                                      <m:t>𝒂</m:t>
                                    </m:r>
                                  </m:e>
                                  <m:sub>
                                    <m:r>
                                      <a:rPr lang="en-US" altLang="zh-TW" b="1" i="1" smtClean="0">
                                        <a:latin typeface="Cambria Math" panose="02040503050406030204" pitchFamily="18" charset="0"/>
                                      </a:rPr>
                                      <m:t>𝟑</m:t>
                                    </m:r>
                                  </m:sub>
                                </m:sSub>
                              </m:oMath>
                            </m:oMathPara>
                          </a14:m>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530787416"/>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634158408"/>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090790438"/>
                      </a:ext>
                    </a:extLst>
                  </a:tr>
                </a:tbl>
              </a:graphicData>
            </a:graphic>
          </p:graphicFrame>
        </mc:Choice>
        <mc:Fallback>
          <p:graphicFrame>
            <p:nvGraphicFramePr>
              <p:cNvPr id="4" name="表格 3"/>
              <p:cNvGraphicFramePr>
                <a:graphicFrameLocks noGrp="1"/>
              </p:cNvGraphicFramePr>
              <p:nvPr>
                <p:extLst>
                  <p:ext uri="{D42A27DB-BD31-4B8C-83A1-F6EECF244321}">
                    <p14:modId xmlns:p14="http://schemas.microsoft.com/office/powerpoint/2010/main" val="396815818"/>
                  </p:ext>
                </p:extLst>
              </p:nvPr>
            </p:nvGraphicFramePr>
            <p:xfrm>
              <a:off x="1692000" y="1616075"/>
              <a:ext cx="5760000" cy="4754880"/>
            </p:xfrm>
            <a:graphic>
              <a:graphicData uri="http://schemas.openxmlformats.org/drawingml/2006/table">
                <a:tbl>
                  <a:tblPr firstRow="1" bandRow="1">
                    <a:tableStyleId>{5940675A-B579-460E-94D1-54222C63F5DA}</a:tableStyleId>
                  </a:tblPr>
                  <a:tblGrid>
                    <a:gridCol w="360000">
                      <a:extLst>
                        <a:ext uri="{9D8B030D-6E8A-4147-A177-3AD203B41FA5}">
                          <a16:colId xmlns:a16="http://schemas.microsoft.com/office/drawing/2014/main" val="25267433"/>
                        </a:ext>
                      </a:extLst>
                    </a:gridCol>
                    <a:gridCol w="360000">
                      <a:extLst>
                        <a:ext uri="{9D8B030D-6E8A-4147-A177-3AD203B41FA5}">
                          <a16:colId xmlns:a16="http://schemas.microsoft.com/office/drawing/2014/main" val="122373294"/>
                        </a:ext>
                      </a:extLst>
                    </a:gridCol>
                    <a:gridCol w="360000">
                      <a:extLst>
                        <a:ext uri="{9D8B030D-6E8A-4147-A177-3AD203B41FA5}">
                          <a16:colId xmlns:a16="http://schemas.microsoft.com/office/drawing/2014/main" val="3455976856"/>
                        </a:ext>
                      </a:extLst>
                    </a:gridCol>
                    <a:gridCol w="360000">
                      <a:extLst>
                        <a:ext uri="{9D8B030D-6E8A-4147-A177-3AD203B41FA5}">
                          <a16:colId xmlns:a16="http://schemas.microsoft.com/office/drawing/2014/main" val="1409436696"/>
                        </a:ext>
                      </a:extLst>
                    </a:gridCol>
                    <a:gridCol w="360000">
                      <a:extLst>
                        <a:ext uri="{9D8B030D-6E8A-4147-A177-3AD203B41FA5}">
                          <a16:colId xmlns:a16="http://schemas.microsoft.com/office/drawing/2014/main" val="1097767730"/>
                        </a:ext>
                      </a:extLst>
                    </a:gridCol>
                    <a:gridCol w="360000">
                      <a:extLst>
                        <a:ext uri="{9D8B030D-6E8A-4147-A177-3AD203B41FA5}">
                          <a16:colId xmlns:a16="http://schemas.microsoft.com/office/drawing/2014/main" val="772611677"/>
                        </a:ext>
                      </a:extLst>
                    </a:gridCol>
                    <a:gridCol w="360000">
                      <a:extLst>
                        <a:ext uri="{9D8B030D-6E8A-4147-A177-3AD203B41FA5}">
                          <a16:colId xmlns:a16="http://schemas.microsoft.com/office/drawing/2014/main" val="2150315531"/>
                        </a:ext>
                      </a:extLst>
                    </a:gridCol>
                    <a:gridCol w="360000">
                      <a:extLst>
                        <a:ext uri="{9D8B030D-6E8A-4147-A177-3AD203B41FA5}">
                          <a16:colId xmlns:a16="http://schemas.microsoft.com/office/drawing/2014/main" val="3284136516"/>
                        </a:ext>
                      </a:extLst>
                    </a:gridCol>
                    <a:gridCol w="360000">
                      <a:extLst>
                        <a:ext uri="{9D8B030D-6E8A-4147-A177-3AD203B41FA5}">
                          <a16:colId xmlns:a16="http://schemas.microsoft.com/office/drawing/2014/main" val="1861729546"/>
                        </a:ext>
                      </a:extLst>
                    </a:gridCol>
                    <a:gridCol w="360000">
                      <a:extLst>
                        <a:ext uri="{9D8B030D-6E8A-4147-A177-3AD203B41FA5}">
                          <a16:colId xmlns:a16="http://schemas.microsoft.com/office/drawing/2014/main" val="2126715006"/>
                        </a:ext>
                      </a:extLst>
                    </a:gridCol>
                    <a:gridCol w="360000">
                      <a:extLst>
                        <a:ext uri="{9D8B030D-6E8A-4147-A177-3AD203B41FA5}">
                          <a16:colId xmlns:a16="http://schemas.microsoft.com/office/drawing/2014/main" val="2384181879"/>
                        </a:ext>
                      </a:extLst>
                    </a:gridCol>
                    <a:gridCol w="360000">
                      <a:extLst>
                        <a:ext uri="{9D8B030D-6E8A-4147-A177-3AD203B41FA5}">
                          <a16:colId xmlns:a16="http://schemas.microsoft.com/office/drawing/2014/main" val="1604040435"/>
                        </a:ext>
                      </a:extLst>
                    </a:gridCol>
                    <a:gridCol w="360000">
                      <a:extLst>
                        <a:ext uri="{9D8B030D-6E8A-4147-A177-3AD203B41FA5}">
                          <a16:colId xmlns:a16="http://schemas.microsoft.com/office/drawing/2014/main" val="802934978"/>
                        </a:ext>
                      </a:extLst>
                    </a:gridCol>
                    <a:gridCol w="360000">
                      <a:extLst>
                        <a:ext uri="{9D8B030D-6E8A-4147-A177-3AD203B41FA5}">
                          <a16:colId xmlns:a16="http://schemas.microsoft.com/office/drawing/2014/main" val="3839287856"/>
                        </a:ext>
                      </a:extLst>
                    </a:gridCol>
                    <a:gridCol w="360000">
                      <a:extLst>
                        <a:ext uri="{9D8B030D-6E8A-4147-A177-3AD203B41FA5}">
                          <a16:colId xmlns:a16="http://schemas.microsoft.com/office/drawing/2014/main" val="3551714678"/>
                        </a:ext>
                      </a:extLst>
                    </a:gridCol>
                    <a:gridCol w="360000">
                      <a:extLst>
                        <a:ext uri="{9D8B030D-6E8A-4147-A177-3AD203B41FA5}">
                          <a16:colId xmlns:a16="http://schemas.microsoft.com/office/drawing/2014/main" val="817287308"/>
                        </a:ext>
                      </a:extLst>
                    </a:gridCol>
                  </a:tblGrid>
                  <a:tr h="365760">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62667135"/>
                      </a:ext>
                    </a:extLst>
                  </a:tr>
                  <a:tr h="365760">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940406078"/>
                      </a:ext>
                    </a:extLst>
                  </a:tr>
                  <a:tr h="36576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267443869"/>
                      </a:ext>
                    </a:extLst>
                  </a:tr>
                  <a:tr h="365760">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16828010"/>
                      </a:ext>
                    </a:extLst>
                  </a:tr>
                  <a:tr h="365760">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zh-TW" altLang="en-US"/>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270444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473491259"/>
                      </a:ext>
                    </a:extLst>
                  </a:tr>
                  <a:tr h="365760">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6</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chemeClr val="tx1"/>
                              </a:solidFill>
                            </a:rPr>
                            <a:t>r</a:t>
                          </a:r>
                          <a:endParaRPr lang="zh-TW" altLang="en-US"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TW" b="1" dirty="0">
                              <a:solidFill>
                                <a:srgbClr val="FF0000"/>
                              </a:solidFill>
                            </a:rPr>
                            <a:t>r</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913740"/>
                      </a:ext>
                    </a:extLst>
                  </a:tr>
                  <a:tr h="36576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720753232"/>
                      </a:ext>
                    </a:extLst>
                  </a:tr>
                  <a:tr h="365760">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endParaRPr lang="zh-TW" altLang="en-US"/>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066656511"/>
                      </a:ext>
                    </a:extLst>
                  </a:tr>
                  <a:tr h="36576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s’</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r</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ltLang="en-US"/>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endParaRPr lang="zh-TW" altLang="en-US"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354997609"/>
                      </a:ext>
                    </a:extLst>
                  </a:tr>
                  <a:tr h="36576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703390" t="-1010000" r="-805085" b="-225000"/>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3390" t="-1010000" r="-705085" b="-225000"/>
                          </a:stretch>
                        </a:blipFill>
                      </a:tcPr>
                    </a:tc>
                    <a:tc>
                      <a:txBody>
                        <a:bodyPr/>
                        <a:lstStyle/>
                        <a:p>
                          <a:endParaRPr lang="zh-TW"/>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903390" t="-1010000" r="-605085" b="-225000"/>
                          </a:stretch>
                        </a:blip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530787416"/>
                      </a:ext>
                    </a:extLst>
                  </a:tr>
                  <a:tr h="36576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634158408"/>
                      </a:ext>
                    </a:extLst>
                  </a:tr>
                  <a:tr h="36576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090790438"/>
                      </a:ext>
                    </a:extLst>
                  </a:tr>
                </a:tbl>
              </a:graphicData>
            </a:graphic>
          </p:graphicFrame>
        </mc:Fallback>
      </mc:AlternateContent>
    </p:spTree>
    <p:extLst>
      <p:ext uri="{BB962C8B-B14F-4D97-AF65-F5344CB8AC3E}">
        <p14:creationId xmlns:p14="http://schemas.microsoft.com/office/powerpoint/2010/main" val="100308590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XOR Gate</a:t>
            </a:r>
            <a:endParaRPr lang="zh-TW" altLang="en-US" dirty="0"/>
          </a:p>
        </p:txBody>
      </p:sp>
      <p:graphicFrame>
        <p:nvGraphicFramePr>
          <p:cNvPr id="4" name="表格 3"/>
          <p:cNvGraphicFramePr>
            <a:graphicFrameLocks noGrp="1"/>
          </p:cNvGraphicFramePr>
          <p:nvPr>
            <p:extLst>
              <p:ext uri="{D42A27DB-BD31-4B8C-83A1-F6EECF244321}">
                <p14:modId xmlns:p14="http://schemas.microsoft.com/office/powerpoint/2010/main" val="1710027526"/>
              </p:ext>
            </p:extLst>
          </p:nvPr>
        </p:nvGraphicFramePr>
        <p:xfrm>
          <a:off x="1818000" y="1301750"/>
          <a:ext cx="5508000" cy="5486400"/>
        </p:xfrm>
        <a:graphic>
          <a:graphicData uri="http://schemas.openxmlformats.org/drawingml/2006/table">
            <a:tbl>
              <a:tblPr firstRow="1" bandRow="1">
                <a:tableStyleId>{5940675A-B579-460E-94D1-54222C63F5DA}</a:tableStyleId>
              </a:tblPr>
              <a:tblGrid>
                <a:gridCol w="367200">
                  <a:extLst>
                    <a:ext uri="{9D8B030D-6E8A-4147-A177-3AD203B41FA5}">
                      <a16:colId xmlns:a16="http://schemas.microsoft.com/office/drawing/2014/main" val="3412845125"/>
                    </a:ext>
                  </a:extLst>
                </a:gridCol>
                <a:gridCol w="367200">
                  <a:extLst>
                    <a:ext uri="{9D8B030D-6E8A-4147-A177-3AD203B41FA5}">
                      <a16:colId xmlns:a16="http://schemas.microsoft.com/office/drawing/2014/main" val="3078947204"/>
                    </a:ext>
                  </a:extLst>
                </a:gridCol>
                <a:gridCol w="367200">
                  <a:extLst>
                    <a:ext uri="{9D8B030D-6E8A-4147-A177-3AD203B41FA5}">
                      <a16:colId xmlns:a16="http://schemas.microsoft.com/office/drawing/2014/main" val="1867165777"/>
                    </a:ext>
                  </a:extLst>
                </a:gridCol>
                <a:gridCol w="367200">
                  <a:extLst>
                    <a:ext uri="{9D8B030D-6E8A-4147-A177-3AD203B41FA5}">
                      <a16:colId xmlns:a16="http://schemas.microsoft.com/office/drawing/2014/main" val="2440671629"/>
                    </a:ext>
                  </a:extLst>
                </a:gridCol>
                <a:gridCol w="367200">
                  <a:extLst>
                    <a:ext uri="{9D8B030D-6E8A-4147-A177-3AD203B41FA5}">
                      <a16:colId xmlns:a16="http://schemas.microsoft.com/office/drawing/2014/main" val="1825579111"/>
                    </a:ext>
                  </a:extLst>
                </a:gridCol>
                <a:gridCol w="367200">
                  <a:extLst>
                    <a:ext uri="{9D8B030D-6E8A-4147-A177-3AD203B41FA5}">
                      <a16:colId xmlns:a16="http://schemas.microsoft.com/office/drawing/2014/main" val="3261262326"/>
                    </a:ext>
                  </a:extLst>
                </a:gridCol>
                <a:gridCol w="367200">
                  <a:extLst>
                    <a:ext uri="{9D8B030D-6E8A-4147-A177-3AD203B41FA5}">
                      <a16:colId xmlns:a16="http://schemas.microsoft.com/office/drawing/2014/main" val="2580368008"/>
                    </a:ext>
                  </a:extLst>
                </a:gridCol>
                <a:gridCol w="367200">
                  <a:extLst>
                    <a:ext uri="{9D8B030D-6E8A-4147-A177-3AD203B41FA5}">
                      <a16:colId xmlns:a16="http://schemas.microsoft.com/office/drawing/2014/main" val="349539001"/>
                    </a:ext>
                  </a:extLst>
                </a:gridCol>
                <a:gridCol w="367200">
                  <a:extLst>
                    <a:ext uri="{9D8B030D-6E8A-4147-A177-3AD203B41FA5}">
                      <a16:colId xmlns:a16="http://schemas.microsoft.com/office/drawing/2014/main" val="2124765992"/>
                    </a:ext>
                  </a:extLst>
                </a:gridCol>
                <a:gridCol w="367200">
                  <a:extLst>
                    <a:ext uri="{9D8B030D-6E8A-4147-A177-3AD203B41FA5}">
                      <a16:colId xmlns:a16="http://schemas.microsoft.com/office/drawing/2014/main" val="911701013"/>
                    </a:ext>
                  </a:extLst>
                </a:gridCol>
                <a:gridCol w="367200">
                  <a:extLst>
                    <a:ext uri="{9D8B030D-6E8A-4147-A177-3AD203B41FA5}">
                      <a16:colId xmlns:a16="http://schemas.microsoft.com/office/drawing/2014/main" val="2105991594"/>
                    </a:ext>
                  </a:extLst>
                </a:gridCol>
                <a:gridCol w="367200">
                  <a:extLst>
                    <a:ext uri="{9D8B030D-6E8A-4147-A177-3AD203B41FA5}">
                      <a16:colId xmlns:a16="http://schemas.microsoft.com/office/drawing/2014/main" val="2799326010"/>
                    </a:ext>
                  </a:extLst>
                </a:gridCol>
                <a:gridCol w="367200">
                  <a:extLst>
                    <a:ext uri="{9D8B030D-6E8A-4147-A177-3AD203B41FA5}">
                      <a16:colId xmlns:a16="http://schemas.microsoft.com/office/drawing/2014/main" val="3089036689"/>
                    </a:ext>
                  </a:extLst>
                </a:gridCol>
                <a:gridCol w="367200">
                  <a:extLst>
                    <a:ext uri="{9D8B030D-6E8A-4147-A177-3AD203B41FA5}">
                      <a16:colId xmlns:a16="http://schemas.microsoft.com/office/drawing/2014/main" val="1379793938"/>
                    </a:ext>
                  </a:extLst>
                </a:gridCol>
                <a:gridCol w="367200">
                  <a:extLst>
                    <a:ext uri="{9D8B030D-6E8A-4147-A177-3AD203B41FA5}">
                      <a16:colId xmlns:a16="http://schemas.microsoft.com/office/drawing/2014/main" val="3899813267"/>
                    </a:ext>
                  </a:extLst>
                </a:gridCol>
              </a:tblGrid>
              <a:tr h="360000">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11594184"/>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42384391"/>
                  </a:ext>
                </a:extLst>
              </a:tr>
              <a:tr h="360000">
                <a:tc>
                  <a:txBody>
                    <a:bodyPr/>
                    <a:lstStyle/>
                    <a:p>
                      <a:pPr algn="ctr"/>
                      <a:r>
                        <a:rPr lang="en-US" altLang="zh-TW" b="1" dirty="0">
                          <a:solidFill>
                            <a:srgbClr val="00B0F0"/>
                          </a:solidFill>
                        </a:rPr>
                        <a:t>u</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FF0000"/>
                          </a:solidFill>
                        </a:rPr>
                        <a:t>w</a:t>
                      </a:r>
                      <a:endParaRPr lang="zh-TW" altLang="en-US"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45256734"/>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900241518"/>
                  </a:ext>
                </a:extLst>
              </a:tr>
              <a:tr h="360000">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49001787"/>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u</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w</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5480416"/>
                  </a:ext>
                </a:extLst>
              </a:tr>
              <a:tr h="360000">
                <a:tc>
                  <a:txBody>
                    <a:bodyPr/>
                    <a:lstStyle/>
                    <a:p>
                      <a:pPr algn="ctr"/>
                      <a:r>
                        <a:rPr lang="en-US" altLang="zh-TW" b="1" dirty="0">
                          <a:solidFill>
                            <a:srgbClr val="00B0F0"/>
                          </a:solidFill>
                        </a:rPr>
                        <a:t>v</a:t>
                      </a:r>
                      <a:endParaRPr lang="zh-TW" altLang="en-US" b="1" dirty="0">
                        <a:solidFill>
                          <a:srgbClr val="00B0F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v’</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6</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6</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28108373"/>
                  </a:ext>
                </a:extLst>
              </a:tr>
              <a:tr h="360000">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966943944"/>
                  </a:ext>
                </a:extLst>
              </a:tr>
              <a:tr h="360000">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23447380"/>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614454966"/>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dirty="0"/>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28867110"/>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86413289"/>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4</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t>x</a:t>
                      </a:r>
                      <a:endParaRPr lang="zh-TW"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b="1" dirty="0">
                          <a:solidFill>
                            <a:srgbClr val="0000FF"/>
                          </a:solidFill>
                        </a:rPr>
                        <a:t>5</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781921056"/>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3</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9187319"/>
                  </a:ext>
                </a:extLst>
              </a:tr>
              <a:tr h="360000">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2</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altLang="zh-TW" b="1" dirty="0">
                          <a:solidFill>
                            <a:srgbClr val="0000FF"/>
                          </a:solidFill>
                        </a:rPr>
                        <a:t>1</a:t>
                      </a:r>
                      <a:endParaRPr lang="zh-TW" altLang="en-US" b="1" dirty="0">
                        <a:solidFill>
                          <a:srgbClr val="0000FF"/>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endParaRPr lang="zh-TW" altLang="en-US" b="1"/>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endParaRPr lang="zh-TW" altLang="en-US" b="1"/>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zh-TW" altLang="en-US" b="1"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57193088"/>
                  </a:ext>
                </a:extLst>
              </a:tr>
            </a:tbl>
          </a:graphicData>
        </a:graphic>
      </p:graphicFrame>
    </p:spTree>
    <p:extLst>
      <p:ext uri="{BB962C8B-B14F-4D97-AF65-F5344CB8AC3E}">
        <p14:creationId xmlns:p14="http://schemas.microsoft.com/office/powerpoint/2010/main" val="1315562709"/>
      </p:ext>
    </p:extLst>
  </p:cSld>
  <p:clrMapOvr>
    <a:masterClrMapping/>
  </p:clrMapOvr>
</p:sld>
</file>

<file path=ppt/theme/theme1.xml><?xml version="1.0" encoding="utf-8"?>
<a:theme xmlns:a="http://schemas.openxmlformats.org/drawingml/2006/main" name="Office 佈景主題">
  <a:themeElements>
    <a:clrScheme name="Office 佈景主題">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佈景主題">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佈景主題">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2618</TotalTime>
  <Words>4864</Words>
  <Application>Microsoft Office PowerPoint</Application>
  <PresentationFormat>如螢幕大小 (4:3)</PresentationFormat>
  <Paragraphs>4092</Paragraphs>
  <Slides>23</Slides>
  <Notes>0</Notes>
  <HiddenSlides>0</HiddenSlides>
  <MMClips>0</MMClips>
  <ScaleCrop>false</ScaleCrop>
  <HeadingPairs>
    <vt:vector size="6" baseType="variant">
      <vt:variant>
        <vt:lpstr>使用字型</vt:lpstr>
      </vt:variant>
      <vt:variant>
        <vt:i4>5</vt:i4>
      </vt:variant>
      <vt:variant>
        <vt:lpstr>佈景主題</vt:lpstr>
      </vt:variant>
      <vt:variant>
        <vt:i4>1</vt:i4>
      </vt:variant>
      <vt:variant>
        <vt:lpstr>投影片標題</vt:lpstr>
      </vt:variant>
      <vt:variant>
        <vt:i4>23</vt:i4>
      </vt:variant>
    </vt:vector>
  </HeadingPairs>
  <TitlesOfParts>
    <vt:vector size="29" baseType="lpstr">
      <vt:lpstr>新細明體</vt:lpstr>
      <vt:lpstr>Arial</vt:lpstr>
      <vt:lpstr>Calibri</vt:lpstr>
      <vt:lpstr>Calibri Light</vt:lpstr>
      <vt:lpstr>Cambria Math</vt:lpstr>
      <vt:lpstr>Office 佈景主題</vt:lpstr>
      <vt:lpstr>Minesweeper is NP-Complete</vt:lpstr>
      <vt:lpstr>Abstract</vt:lpstr>
      <vt:lpstr>Minesweeper (1/2)</vt:lpstr>
      <vt:lpstr>Minesweeper (2/2)</vt:lpstr>
      <vt:lpstr>Circuit satisfiability</vt:lpstr>
      <vt:lpstr>Wire、NOT Gate</vt:lpstr>
      <vt:lpstr>AND Gate</vt:lpstr>
      <vt:lpstr>AND Gate</vt:lpstr>
      <vt:lpstr>AND Gate</vt:lpstr>
      <vt:lpstr>AND Gate</vt:lpstr>
      <vt:lpstr>AND Gate</vt:lpstr>
      <vt:lpstr>AND Gate</vt:lpstr>
      <vt:lpstr>AND Gate</vt:lpstr>
      <vt:lpstr>AND Gate</vt:lpstr>
      <vt:lpstr>AND Gate</vt:lpstr>
      <vt:lpstr>AND Gate</vt:lpstr>
      <vt:lpstr>AND Gate</vt:lpstr>
      <vt:lpstr>AND Gate</vt:lpstr>
      <vt:lpstr>AND Gate</vt:lpstr>
      <vt:lpstr>AND Gate</vt:lpstr>
      <vt:lpstr>AND Gate</vt:lpstr>
      <vt:lpstr>OR Gate</vt:lpstr>
      <vt:lpstr>XOR Gate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Some APX-completeness results for cubic graphs</dc:title>
  <dc:creator>sizuka</dc:creator>
  <cp:lastModifiedBy>sizuka</cp:lastModifiedBy>
  <cp:revision>123</cp:revision>
  <dcterms:created xsi:type="dcterms:W3CDTF">2016-06-06T14:33:25Z</dcterms:created>
  <dcterms:modified xsi:type="dcterms:W3CDTF">2017-06-26T16:03:30Z</dcterms:modified>
</cp:coreProperties>
</file>