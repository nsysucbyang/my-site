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handoutMasterIdLst>
    <p:handoutMasterId r:id="rId27"/>
  </p:handoutMasterIdLst>
  <p:sldIdLst>
    <p:sldId id="256" r:id="rId2"/>
    <p:sldId id="265" r:id="rId3"/>
    <p:sldId id="291" r:id="rId4"/>
    <p:sldId id="292" r:id="rId5"/>
    <p:sldId id="293" r:id="rId6"/>
    <p:sldId id="261" r:id="rId7"/>
    <p:sldId id="260" r:id="rId8"/>
    <p:sldId id="286" r:id="rId9"/>
    <p:sldId id="270" r:id="rId10"/>
    <p:sldId id="284" r:id="rId11"/>
    <p:sldId id="285" r:id="rId12"/>
    <p:sldId id="271" r:id="rId13"/>
    <p:sldId id="274" r:id="rId14"/>
    <p:sldId id="275" r:id="rId15"/>
    <p:sldId id="276" r:id="rId16"/>
    <p:sldId id="277" r:id="rId17"/>
    <p:sldId id="278" r:id="rId18"/>
    <p:sldId id="262" r:id="rId19"/>
    <p:sldId id="268" r:id="rId20"/>
    <p:sldId id="281" r:id="rId21"/>
    <p:sldId id="279" r:id="rId22"/>
    <p:sldId id="280" r:id="rId23"/>
    <p:sldId id="267" r:id="rId24"/>
    <p:sldId id="29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52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46"/>
  </p:normalViewPr>
  <p:slideViewPr>
    <p:cSldViewPr snapToGrid="0" snapToObjects="1">
      <p:cViewPr varScale="1">
        <p:scale>
          <a:sx n="74" d="100"/>
          <a:sy n="74" d="100"/>
        </p:scale>
        <p:origin x="3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28DD12-871E-AA45-9BF8-08D96E2DE60E}" type="datetimeFigureOut">
              <a:rPr lang="en-US" smtClean="0"/>
              <a:t>6/27/2017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9660FB-697C-3248-B72B-C8F8BB1ED9D4}" type="slidenum">
              <a:rPr lang="en-US" smtClean="0"/>
              <a:t>‹#›</a:t>
            </a:fld>
            <a:endParaRPr lang="en-US"/>
          </a:p>
        </p:txBody>
      </p:sp>
    </p:spTree>
    <p:extLst>
      <p:ext uri="{BB962C8B-B14F-4D97-AF65-F5344CB8AC3E}">
        <p14:creationId xmlns:p14="http://schemas.microsoft.com/office/powerpoint/2010/main" val="2603209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5F0123-47F1-2B4E-BF11-5389AC746E31}" type="datetimeFigureOut">
              <a:rPr lang="en-US" smtClean="0"/>
              <a:t>6/27/2017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2774C8-2196-D24D-BE61-54AC72EDDCEA}" type="slidenum">
              <a:rPr lang="en-US" smtClean="0"/>
              <a:t>‹#›</a:t>
            </a:fld>
            <a:endParaRPr lang="en-US"/>
          </a:p>
        </p:txBody>
      </p:sp>
    </p:spTree>
    <p:extLst>
      <p:ext uri="{BB962C8B-B14F-4D97-AF65-F5344CB8AC3E}">
        <p14:creationId xmlns:p14="http://schemas.microsoft.com/office/powerpoint/2010/main" val="1164963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2774C8-2196-D24D-BE61-54AC72EDDCEA}" type="slidenum">
              <a:rPr lang="en-US" smtClean="0"/>
              <a:t>1</a:t>
            </a:fld>
            <a:endParaRPr lang="en-US"/>
          </a:p>
        </p:txBody>
      </p:sp>
    </p:spTree>
    <p:extLst>
      <p:ext uri="{BB962C8B-B14F-4D97-AF65-F5344CB8AC3E}">
        <p14:creationId xmlns:p14="http://schemas.microsoft.com/office/powerpoint/2010/main" val="177892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2774C8-2196-D24D-BE61-54AC72EDDCEA}" type="slidenum">
              <a:rPr lang="en-US" smtClean="0"/>
              <a:t>8</a:t>
            </a:fld>
            <a:endParaRPr lang="en-US"/>
          </a:p>
        </p:txBody>
      </p:sp>
    </p:spTree>
    <p:extLst>
      <p:ext uri="{BB962C8B-B14F-4D97-AF65-F5344CB8AC3E}">
        <p14:creationId xmlns:p14="http://schemas.microsoft.com/office/powerpoint/2010/main" val="509866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774C8-2196-D24D-BE61-54AC72EDDCEA}" type="slidenum">
              <a:rPr lang="en-US" smtClean="0"/>
              <a:t>19</a:t>
            </a:fld>
            <a:endParaRPr lang="en-US"/>
          </a:p>
        </p:txBody>
      </p:sp>
    </p:spTree>
    <p:extLst>
      <p:ext uri="{BB962C8B-B14F-4D97-AF65-F5344CB8AC3E}">
        <p14:creationId xmlns:p14="http://schemas.microsoft.com/office/powerpoint/2010/main" val="1994094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774C8-2196-D24D-BE61-54AC72EDDCEA}" type="slidenum">
              <a:rPr lang="en-US" smtClean="0"/>
              <a:t>21</a:t>
            </a:fld>
            <a:endParaRPr lang="en-US"/>
          </a:p>
        </p:txBody>
      </p:sp>
    </p:spTree>
    <p:extLst>
      <p:ext uri="{BB962C8B-B14F-4D97-AF65-F5344CB8AC3E}">
        <p14:creationId xmlns:p14="http://schemas.microsoft.com/office/powerpoint/2010/main" val="1367220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each run, </a:t>
            </a:r>
            <a:r>
              <a:rPr lang="en-US" sz="1200" i="1" kern="1200" dirty="0" err="1">
                <a:solidFill>
                  <a:schemeClr val="tx1"/>
                </a:solidFill>
                <a:effectLst/>
                <a:latin typeface="+mn-lt"/>
                <a:ea typeface="+mn-ea"/>
                <a:cs typeface="+mn-cs"/>
              </a:rPr>
              <a:t>T</a:t>
            </a:r>
            <a:r>
              <a:rPr lang="en-US" sz="1200" kern="1200" dirty="0" err="1">
                <a:solidFill>
                  <a:schemeClr val="tx1"/>
                </a:solidFill>
                <a:effectLst/>
                <a:latin typeface="+mn-lt"/>
                <a:ea typeface="+mn-ea"/>
                <a:cs typeface="+mn-cs"/>
              </a:rPr>
              <a:t>hc</a:t>
            </a:r>
            <a:r>
              <a:rPr lang="en-US" sz="1200" kern="1200" dirty="0">
                <a:solidFill>
                  <a:schemeClr val="tx1"/>
                </a:solidFill>
                <a:effectLst/>
                <a:latin typeface="+mn-lt"/>
                <a:ea typeface="+mn-ea"/>
                <a:cs typeface="+mn-cs"/>
              </a:rPr>
              <a:t> and </a:t>
            </a:r>
            <a:r>
              <a:rPr lang="en-US" sz="1200" i="1" kern="1200" dirty="0" err="1">
                <a:solidFill>
                  <a:schemeClr val="tx1"/>
                </a:solidFill>
                <a:effectLst/>
                <a:latin typeface="+mn-lt"/>
                <a:ea typeface="+mn-ea"/>
                <a:cs typeface="+mn-cs"/>
              </a:rPr>
              <a:t>T</a:t>
            </a:r>
            <a:r>
              <a:rPr lang="en-US" sz="1200" kern="1200" dirty="0" err="1">
                <a:solidFill>
                  <a:schemeClr val="tx1"/>
                </a:solidFill>
                <a:effectLst/>
                <a:latin typeface="+mn-lt"/>
                <a:ea typeface="+mn-ea"/>
                <a:cs typeface="+mn-cs"/>
              </a:rPr>
              <a:t>sd</a:t>
            </a:r>
            <a:r>
              <a:rPr lang="en-US" sz="1200" kern="1200" dirty="0">
                <a:solidFill>
                  <a:schemeClr val="tx1"/>
                </a:solidFill>
                <a:effectLst/>
                <a:latin typeface="+mn-lt"/>
                <a:ea typeface="+mn-ea"/>
                <a:cs typeface="+mn-cs"/>
              </a:rPr>
              <a:t> are tuned by a random combination of a range from 0.005 to 0.25 and we therefore can find the best results for each dataset. </a:t>
            </a:r>
            <a:endParaRPr lang="en-US" dirty="0"/>
          </a:p>
          <a:p>
            <a:endParaRPr lang="en-US" dirty="0"/>
          </a:p>
        </p:txBody>
      </p:sp>
      <p:sp>
        <p:nvSpPr>
          <p:cNvPr id="4" name="Slide Number Placeholder 3"/>
          <p:cNvSpPr>
            <a:spLocks noGrp="1"/>
          </p:cNvSpPr>
          <p:nvPr>
            <p:ph type="sldNum" sz="quarter" idx="10"/>
          </p:nvPr>
        </p:nvSpPr>
        <p:spPr/>
        <p:txBody>
          <a:bodyPr/>
          <a:lstStyle/>
          <a:p>
            <a:fld id="{072774C8-2196-D24D-BE61-54AC72EDDCEA}" type="slidenum">
              <a:rPr lang="en-US" smtClean="0"/>
              <a:t>23</a:t>
            </a:fld>
            <a:endParaRPr lang="en-US"/>
          </a:p>
        </p:txBody>
      </p:sp>
    </p:spTree>
    <p:extLst>
      <p:ext uri="{BB962C8B-B14F-4D97-AF65-F5344CB8AC3E}">
        <p14:creationId xmlns:p14="http://schemas.microsoft.com/office/powerpoint/2010/main" val="22570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E14609-D3FD-0343-8724-4CDF4BA630BE}" type="datetime1">
              <a:rPr lang="en-US" smtClean="0"/>
              <a:t>6/27/2017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D09EC2-3C1C-1643-A0E2-A9B1200FF76E}" type="slidenum">
              <a:rPr lang="en-US" smtClean="0"/>
              <a:t>‹#›</a:t>
            </a:fld>
            <a:endParaRPr lang="en-US"/>
          </a:p>
        </p:txBody>
      </p:sp>
    </p:spTree>
    <p:extLst>
      <p:ext uri="{BB962C8B-B14F-4D97-AF65-F5344CB8AC3E}">
        <p14:creationId xmlns:p14="http://schemas.microsoft.com/office/powerpoint/2010/main" val="52249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4CBAF1-E29F-E041-BA7E-9AEC0C5F80C1}" type="datetime1">
              <a:rPr lang="en-US" smtClean="0"/>
              <a:t>6/27/2017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D09EC2-3C1C-1643-A0E2-A9B1200FF76E}" type="slidenum">
              <a:rPr lang="en-US" smtClean="0"/>
              <a:t>‹#›</a:t>
            </a:fld>
            <a:endParaRPr lang="en-US"/>
          </a:p>
        </p:txBody>
      </p:sp>
    </p:spTree>
    <p:extLst>
      <p:ext uri="{BB962C8B-B14F-4D97-AF65-F5344CB8AC3E}">
        <p14:creationId xmlns:p14="http://schemas.microsoft.com/office/powerpoint/2010/main" val="589892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A567E8-4659-EA4D-B4B4-7FE7A5410AFE}" type="datetime1">
              <a:rPr lang="en-US" smtClean="0"/>
              <a:t>6/27/2017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D09EC2-3C1C-1643-A0E2-A9B1200FF76E}" type="slidenum">
              <a:rPr lang="en-US" smtClean="0"/>
              <a:t>‹#›</a:t>
            </a:fld>
            <a:endParaRPr lang="en-US"/>
          </a:p>
        </p:txBody>
      </p:sp>
    </p:spTree>
    <p:extLst>
      <p:ext uri="{BB962C8B-B14F-4D97-AF65-F5344CB8AC3E}">
        <p14:creationId xmlns:p14="http://schemas.microsoft.com/office/powerpoint/2010/main" val="1538934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4BD132D-5528-3A43-B328-FB35E0C96D01}" type="datetime1">
              <a:rPr lang="en-US" smtClean="0"/>
              <a:t>6/27/2017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D09EC2-3C1C-1643-A0E2-A9B1200FF76E}" type="slidenum">
              <a:rPr lang="en-US" smtClean="0"/>
              <a:t>‹#›</a:t>
            </a:fld>
            <a:endParaRPr lang="en-US"/>
          </a:p>
        </p:txBody>
      </p:sp>
    </p:spTree>
    <p:extLst>
      <p:ext uri="{BB962C8B-B14F-4D97-AF65-F5344CB8AC3E}">
        <p14:creationId xmlns:p14="http://schemas.microsoft.com/office/powerpoint/2010/main" val="581315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99EA089-41A8-734A-837F-C7A66CC1EB43}" type="datetime1">
              <a:rPr lang="en-US" smtClean="0"/>
              <a:t>6/27/2017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D09EC2-3C1C-1643-A0E2-A9B1200FF76E}" type="slidenum">
              <a:rPr lang="en-US" smtClean="0"/>
              <a:t>‹#›</a:t>
            </a:fld>
            <a:endParaRPr lang="en-US"/>
          </a:p>
        </p:txBody>
      </p:sp>
    </p:spTree>
    <p:extLst>
      <p:ext uri="{BB962C8B-B14F-4D97-AF65-F5344CB8AC3E}">
        <p14:creationId xmlns:p14="http://schemas.microsoft.com/office/powerpoint/2010/main" val="1267439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F44AA31-CEB0-034C-873F-084561722E66}" type="datetime1">
              <a:rPr lang="en-US" smtClean="0"/>
              <a:t>6/27/2017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D09EC2-3C1C-1643-A0E2-A9B1200FF76E}" type="slidenum">
              <a:rPr lang="en-US" smtClean="0"/>
              <a:t>‹#›</a:t>
            </a:fld>
            <a:endParaRPr lang="en-US"/>
          </a:p>
        </p:txBody>
      </p:sp>
    </p:spTree>
    <p:extLst>
      <p:ext uri="{BB962C8B-B14F-4D97-AF65-F5344CB8AC3E}">
        <p14:creationId xmlns:p14="http://schemas.microsoft.com/office/powerpoint/2010/main" val="965197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93F337-C54D-8449-AB8B-E6AC5C80B22E}" type="datetime1">
              <a:rPr lang="en-US" smtClean="0"/>
              <a:t>6/27/2017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D09EC2-3C1C-1643-A0E2-A9B1200FF76E}" type="slidenum">
              <a:rPr lang="en-US" smtClean="0"/>
              <a:t>‹#›</a:t>
            </a:fld>
            <a:endParaRPr lang="en-US"/>
          </a:p>
        </p:txBody>
      </p:sp>
    </p:spTree>
    <p:extLst>
      <p:ext uri="{BB962C8B-B14F-4D97-AF65-F5344CB8AC3E}">
        <p14:creationId xmlns:p14="http://schemas.microsoft.com/office/powerpoint/2010/main" val="2122497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6EC234-1D60-8F4B-843E-CA61D2BE4C85}" type="datetime1">
              <a:rPr lang="en-US" smtClean="0"/>
              <a:t>6/27/2017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D09EC2-3C1C-1643-A0E2-A9B1200FF76E}" type="slidenum">
              <a:rPr lang="en-US" smtClean="0"/>
              <a:t>‹#›</a:t>
            </a:fld>
            <a:endParaRPr lang="en-US"/>
          </a:p>
        </p:txBody>
      </p:sp>
    </p:spTree>
    <p:extLst>
      <p:ext uri="{BB962C8B-B14F-4D97-AF65-F5344CB8AC3E}">
        <p14:creationId xmlns:p14="http://schemas.microsoft.com/office/powerpoint/2010/main" val="963260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3CB1DFE-25C1-F548-AC7F-2C3511E71B93}" type="datetime1">
              <a:rPr lang="en-US" smtClean="0"/>
              <a:t>6/27/2017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D09EC2-3C1C-1643-A0E2-A9B1200FF76E}" type="slidenum">
              <a:rPr lang="en-US" smtClean="0"/>
              <a:t>‹#›</a:t>
            </a:fld>
            <a:endParaRPr lang="en-US"/>
          </a:p>
        </p:txBody>
      </p:sp>
    </p:spTree>
    <p:extLst>
      <p:ext uri="{BB962C8B-B14F-4D97-AF65-F5344CB8AC3E}">
        <p14:creationId xmlns:p14="http://schemas.microsoft.com/office/powerpoint/2010/main" val="1792803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5EC1F0-AB39-5949-B1D9-FBDDBD1C1C94}" type="datetime1">
              <a:rPr lang="en-US" smtClean="0"/>
              <a:t>6/27/2017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D09EC2-3C1C-1643-A0E2-A9B1200FF76E}" type="slidenum">
              <a:rPr lang="en-US" smtClean="0"/>
              <a:t>‹#›</a:t>
            </a:fld>
            <a:endParaRPr lang="en-US"/>
          </a:p>
        </p:txBody>
      </p:sp>
    </p:spTree>
    <p:extLst>
      <p:ext uri="{BB962C8B-B14F-4D97-AF65-F5344CB8AC3E}">
        <p14:creationId xmlns:p14="http://schemas.microsoft.com/office/powerpoint/2010/main" val="304129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F635E3-0FD5-E240-8480-81008672456D}" type="datetime1">
              <a:rPr lang="en-US" smtClean="0"/>
              <a:t>6/27/2017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D09EC2-3C1C-1643-A0E2-A9B1200FF76E}" type="slidenum">
              <a:rPr lang="en-US" smtClean="0"/>
              <a:t>‹#›</a:t>
            </a:fld>
            <a:endParaRPr lang="en-US"/>
          </a:p>
        </p:txBody>
      </p:sp>
    </p:spTree>
    <p:extLst>
      <p:ext uri="{BB962C8B-B14F-4D97-AF65-F5344CB8AC3E}">
        <p14:creationId xmlns:p14="http://schemas.microsoft.com/office/powerpoint/2010/main" val="497208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FF554-11C0-C040-8965-A42F234F06A3}" type="datetime1">
              <a:rPr lang="en-US" smtClean="0"/>
              <a:t>6/27/2017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D09EC2-3C1C-1643-A0E2-A9B1200FF76E}" type="slidenum">
              <a:rPr lang="en-US" smtClean="0"/>
              <a:t>‹#›</a:t>
            </a:fld>
            <a:endParaRPr lang="en-US"/>
          </a:p>
        </p:txBody>
      </p:sp>
    </p:spTree>
    <p:extLst>
      <p:ext uri="{BB962C8B-B14F-4D97-AF65-F5344CB8AC3E}">
        <p14:creationId xmlns:p14="http://schemas.microsoft.com/office/powerpoint/2010/main" val="10349937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tif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err="1"/>
              <a:t>Biclustering</a:t>
            </a:r>
            <a:r>
              <a:rPr lang="en-US" dirty="0"/>
              <a:t> Learning of Trading Rules </a:t>
            </a:r>
          </a:p>
        </p:txBody>
      </p:sp>
      <p:sp>
        <p:nvSpPr>
          <p:cNvPr id="3" name="Subtitle 2"/>
          <p:cNvSpPr>
            <a:spLocks noGrp="1"/>
          </p:cNvSpPr>
          <p:nvPr>
            <p:ph type="subTitle" idx="1"/>
          </p:nvPr>
        </p:nvSpPr>
        <p:spPr/>
        <p:txBody>
          <a:bodyPr/>
          <a:lstStyle/>
          <a:p>
            <a:r>
              <a:rPr lang="en-US" dirty="0" err="1"/>
              <a:t>Qinghua</a:t>
            </a:r>
            <a:r>
              <a:rPr lang="en-US" dirty="0"/>
              <a:t> Huang, Ting Wang, </a:t>
            </a:r>
            <a:r>
              <a:rPr lang="en-US" dirty="0" err="1"/>
              <a:t>Dacheng</a:t>
            </a:r>
            <a:r>
              <a:rPr lang="en-US" dirty="0"/>
              <a:t> Tao, </a:t>
            </a:r>
            <a:r>
              <a:rPr lang="en-US" i="1" dirty="0"/>
              <a:t>Senior Member, IEEE, </a:t>
            </a:r>
            <a:r>
              <a:rPr lang="en-US" dirty="0"/>
              <a:t>and </a:t>
            </a:r>
            <a:r>
              <a:rPr lang="en-US" dirty="0" err="1"/>
              <a:t>Xuelong</a:t>
            </a:r>
            <a:r>
              <a:rPr lang="en-US" dirty="0"/>
              <a:t> Li, </a:t>
            </a:r>
            <a:r>
              <a:rPr lang="en-US" i="1" dirty="0"/>
              <a:t>Fellow, IEEE </a:t>
            </a:r>
            <a:endParaRPr lang="en-US" dirty="0"/>
          </a:p>
          <a:p>
            <a:r>
              <a:rPr lang="en-US" dirty="0"/>
              <a:t>IEEE TRANSACTIONS ON CYBERNETICS, VOL. 45, NO. 10, </a:t>
            </a:r>
            <a:r>
              <a:rPr lang="en-US" dirty="0" smtClean="0"/>
              <a:t>pp. </a:t>
            </a:r>
            <a:r>
              <a:rPr lang="en-US" altLang="zh-TW" smtClean="0"/>
              <a:t>2287-2298, </a:t>
            </a:r>
            <a:r>
              <a:rPr lang="en-US" smtClean="0"/>
              <a:t>OCTOBER </a:t>
            </a:r>
            <a:r>
              <a:rPr lang="en-US" dirty="0"/>
              <a:t>2015 </a:t>
            </a:r>
          </a:p>
        </p:txBody>
      </p:sp>
      <p:sp>
        <p:nvSpPr>
          <p:cNvPr id="4" name="矩形 3"/>
          <p:cNvSpPr/>
          <p:nvPr/>
        </p:nvSpPr>
        <p:spPr>
          <a:xfrm>
            <a:off x="6714698" y="5849210"/>
            <a:ext cx="4189864" cy="830997"/>
          </a:xfrm>
          <a:prstGeom prst="rect">
            <a:avLst/>
          </a:prstGeom>
        </p:spPr>
        <p:txBody>
          <a:bodyPr wrap="square">
            <a:spAutoFit/>
          </a:bodyPr>
          <a:lstStyle/>
          <a:p>
            <a:pPr lvl="1" indent="457200">
              <a:defRPr sz="3200"/>
            </a:pPr>
            <a:r>
              <a:rPr lang="de-DE" altLang="zh-TW" sz="2400" dirty="0" err="1"/>
              <a:t>Presenter</a:t>
            </a:r>
            <a:r>
              <a:rPr lang="zh-TW" altLang="de-DE" sz="2400" dirty="0">
                <a:latin typeface="微軟正黑體"/>
                <a:ea typeface="微軟正黑體"/>
                <a:cs typeface="微軟正黑體"/>
                <a:sym typeface="微軟正黑體"/>
              </a:rPr>
              <a:t>：</a:t>
            </a:r>
            <a:r>
              <a:rPr lang="de-DE" altLang="zh-TW" sz="2400" dirty="0" err="1">
                <a:sym typeface="微軟正黑體"/>
              </a:rPr>
              <a:t>Jia</a:t>
            </a:r>
            <a:r>
              <a:rPr lang="de-DE" altLang="zh-TW" sz="2400" dirty="0"/>
              <a:t>-Hong Liu</a:t>
            </a:r>
            <a:endParaRPr lang="de-DE" altLang="zh-TW" sz="2400" dirty="0">
              <a:latin typeface="Liberation Sans Narrow"/>
              <a:ea typeface="Liberation Sans Narrow"/>
              <a:cs typeface="Liberation Sans Narrow"/>
              <a:sym typeface="Liberation Sans Narrow"/>
            </a:endParaRPr>
          </a:p>
          <a:p>
            <a:pPr lvl="1" indent="457200">
              <a:defRPr sz="3200"/>
            </a:pPr>
            <a:r>
              <a:rPr lang="de-DE" altLang="zh-TW" sz="2400" dirty="0"/>
              <a:t>Date</a:t>
            </a:r>
            <a:r>
              <a:rPr lang="zh-TW" altLang="de-DE" sz="2400" dirty="0">
                <a:latin typeface="微軟正黑體"/>
                <a:ea typeface="微軟正黑體"/>
                <a:cs typeface="微軟正黑體"/>
                <a:sym typeface="微軟正黑體"/>
              </a:rPr>
              <a:t>：</a:t>
            </a:r>
            <a:r>
              <a:rPr lang="en-US" altLang="zh-TW" sz="2400"/>
              <a:t>2017/6/27</a:t>
            </a:r>
            <a:endParaRPr lang="de-DE" altLang="zh-TW" sz="2400" dirty="0"/>
          </a:p>
        </p:txBody>
      </p:sp>
      <p:sp>
        <p:nvSpPr>
          <p:cNvPr id="5" name="Slide Number Placeholder 4"/>
          <p:cNvSpPr>
            <a:spLocks noGrp="1"/>
          </p:cNvSpPr>
          <p:nvPr>
            <p:ph type="sldNum" sz="quarter" idx="12"/>
          </p:nvPr>
        </p:nvSpPr>
        <p:spPr/>
        <p:txBody>
          <a:bodyPr/>
          <a:lstStyle/>
          <a:p>
            <a:fld id="{8FD09EC2-3C1C-1643-A0E2-A9B1200FF76E}" type="slidenum">
              <a:rPr lang="en-US" smtClean="0"/>
              <a:t>1</a:t>
            </a:fld>
            <a:endParaRPr lang="en-US" dirty="0"/>
          </a:p>
        </p:txBody>
      </p:sp>
    </p:spTree>
    <p:extLst>
      <p:ext uri="{BB962C8B-B14F-4D97-AF65-F5344CB8AC3E}">
        <p14:creationId xmlns:p14="http://schemas.microsoft.com/office/powerpoint/2010/main" val="7195990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Outline</a:t>
            </a:r>
          </a:p>
        </p:txBody>
      </p:sp>
      <p:sp>
        <p:nvSpPr>
          <p:cNvPr id="3" name="Content Placeholder 2"/>
          <p:cNvSpPr>
            <a:spLocks noGrp="1"/>
          </p:cNvSpPr>
          <p:nvPr>
            <p:ph idx="1"/>
          </p:nvPr>
        </p:nvSpPr>
        <p:spPr/>
        <p:txBody>
          <a:bodyPr/>
          <a:lstStyle/>
          <a:p>
            <a:pPr fontAlgn="base"/>
            <a:r>
              <a:rPr lang="en-US" dirty="0"/>
              <a:t>Technical analysis</a:t>
            </a:r>
          </a:p>
          <a:p>
            <a:pPr fontAlgn="base"/>
            <a:r>
              <a:rPr lang="en-US" dirty="0"/>
              <a:t>Preprocess</a:t>
            </a:r>
          </a:p>
          <a:p>
            <a:pPr fontAlgn="base"/>
            <a:r>
              <a:rPr lang="en-US" dirty="0" err="1"/>
              <a:t>Bicluster</a:t>
            </a:r>
            <a:r>
              <a:rPr lang="en-US" dirty="0"/>
              <a:t> method</a:t>
            </a:r>
          </a:p>
          <a:p>
            <a:pPr fontAlgn="base"/>
            <a:r>
              <a:rPr lang="en-US" dirty="0"/>
              <a:t>Result</a:t>
            </a:r>
          </a:p>
          <a:p>
            <a:endParaRPr lang="en-US" dirty="0"/>
          </a:p>
        </p:txBody>
      </p:sp>
      <p:sp>
        <p:nvSpPr>
          <p:cNvPr id="4" name="Slide Number Placeholder 3"/>
          <p:cNvSpPr>
            <a:spLocks noGrp="1"/>
          </p:cNvSpPr>
          <p:nvPr>
            <p:ph type="sldNum" sz="quarter" idx="12"/>
          </p:nvPr>
        </p:nvSpPr>
        <p:spPr/>
        <p:txBody>
          <a:bodyPr/>
          <a:lstStyle/>
          <a:p>
            <a:fld id="{8FD09EC2-3C1C-1643-A0E2-A9B1200FF76E}" type="slidenum">
              <a:rPr lang="en-US" smtClean="0"/>
              <a:t>2</a:t>
            </a:fld>
            <a:endParaRPr lang="en-US"/>
          </a:p>
        </p:txBody>
      </p:sp>
    </p:spTree>
    <p:extLst>
      <p:ext uri="{BB962C8B-B14F-4D97-AF65-F5344CB8AC3E}">
        <p14:creationId xmlns:p14="http://schemas.microsoft.com/office/powerpoint/2010/main" val="17866286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Abstract(1/3) </a:t>
            </a:r>
            <a:endParaRPr lang="en-US" dirty="0"/>
          </a:p>
        </p:txBody>
      </p:sp>
      <p:sp>
        <p:nvSpPr>
          <p:cNvPr id="3" name="Content Placeholder 2"/>
          <p:cNvSpPr>
            <a:spLocks noGrp="1"/>
          </p:cNvSpPr>
          <p:nvPr>
            <p:ph idx="1"/>
          </p:nvPr>
        </p:nvSpPr>
        <p:spPr/>
        <p:txBody>
          <a:bodyPr>
            <a:noAutofit/>
          </a:bodyPr>
          <a:lstStyle/>
          <a:p>
            <a:pPr marL="0" indent="0">
              <a:buNone/>
            </a:pPr>
            <a:r>
              <a:rPr lang="en-US" sz="3600" b="1" dirty="0"/>
              <a:t>Technical analysis with numerous indicators and patterns has been regarded as important evidence for making trading decisions in financial markets. However, it is extremely difficult for investors to find useful trading rules based on numerous technical indicators. This paper innovatively proposes the use of </a:t>
            </a:r>
            <a:r>
              <a:rPr lang="en-US" sz="3600" b="1" dirty="0" err="1"/>
              <a:t>biclustering</a:t>
            </a:r>
            <a:r>
              <a:rPr lang="en-US" sz="3600" b="1" dirty="0"/>
              <a:t> mining to discover effective technical trading patterns that contain a combination of indicators from historical financial data series. </a:t>
            </a:r>
            <a:endParaRPr lang="en-US" sz="3600" dirty="0"/>
          </a:p>
        </p:txBody>
      </p:sp>
      <p:sp>
        <p:nvSpPr>
          <p:cNvPr id="4" name="Slide Number Placeholder 3"/>
          <p:cNvSpPr>
            <a:spLocks noGrp="1"/>
          </p:cNvSpPr>
          <p:nvPr>
            <p:ph type="sldNum" sz="quarter" idx="12"/>
          </p:nvPr>
        </p:nvSpPr>
        <p:spPr/>
        <p:txBody>
          <a:bodyPr/>
          <a:lstStyle/>
          <a:p>
            <a:fld id="{8FD09EC2-3C1C-1643-A0E2-A9B1200FF76E}" type="slidenum">
              <a:rPr lang="en-US" smtClean="0"/>
              <a:t>3</a:t>
            </a:fld>
            <a:endParaRPr lang="en-US"/>
          </a:p>
        </p:txBody>
      </p:sp>
    </p:spTree>
    <p:extLst>
      <p:ext uri="{BB962C8B-B14F-4D97-AF65-F5344CB8AC3E}">
        <p14:creationId xmlns:p14="http://schemas.microsoft.com/office/powerpoint/2010/main" val="29957076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3600" b="1" dirty="0"/>
              <a:t>This is the first attempt to use </a:t>
            </a:r>
            <a:r>
              <a:rPr lang="en-US" sz="3600" b="1" dirty="0" err="1"/>
              <a:t>biclustering</a:t>
            </a:r>
            <a:r>
              <a:rPr lang="en-US" sz="3600" b="1" dirty="0"/>
              <a:t> algorithm on trading data. The mined patterns are regarded as trading rules and can be classified as three trading actions (i.e., the buy, the sell, and no-action signals) with respect to the maximum support. A modified </a:t>
            </a:r>
            <a:r>
              <a:rPr lang="en-US" sz="3600" b="1" i="1" dirty="0"/>
              <a:t>K </a:t>
            </a:r>
            <a:r>
              <a:rPr lang="en-US" sz="3600" b="1" dirty="0"/>
              <a:t>nearest neighborhood (</a:t>
            </a:r>
            <a:r>
              <a:rPr lang="en-US" sz="3600" b="1" i="1" dirty="0"/>
              <a:t>K</a:t>
            </a:r>
            <a:r>
              <a:rPr lang="en-US" sz="3600" b="1" dirty="0"/>
              <a:t>-NN) method is applied to classification of trading days in the testing period. </a:t>
            </a:r>
            <a:endParaRPr lang="en-US" sz="3600" dirty="0"/>
          </a:p>
        </p:txBody>
      </p:sp>
      <p:sp>
        <p:nvSpPr>
          <p:cNvPr id="4" name="Title 1"/>
          <p:cNvSpPr>
            <a:spLocks noGrp="1"/>
          </p:cNvSpPr>
          <p:nvPr>
            <p:ph type="title"/>
          </p:nvPr>
        </p:nvSpPr>
        <p:spPr/>
        <p:txBody>
          <a:bodyPr/>
          <a:lstStyle/>
          <a:p>
            <a:pPr algn="ctr"/>
            <a:r>
              <a:rPr lang="en-US" b="1" dirty="0"/>
              <a:t>Abstract(2/3) </a:t>
            </a:r>
            <a:endParaRPr lang="en-US" dirty="0"/>
          </a:p>
        </p:txBody>
      </p:sp>
      <p:sp>
        <p:nvSpPr>
          <p:cNvPr id="2" name="Slide Number Placeholder 1"/>
          <p:cNvSpPr>
            <a:spLocks noGrp="1"/>
          </p:cNvSpPr>
          <p:nvPr>
            <p:ph type="sldNum" sz="quarter" idx="12"/>
          </p:nvPr>
        </p:nvSpPr>
        <p:spPr/>
        <p:txBody>
          <a:bodyPr/>
          <a:lstStyle/>
          <a:p>
            <a:fld id="{8FD09EC2-3C1C-1643-A0E2-A9B1200FF76E}" type="slidenum">
              <a:rPr lang="en-US" smtClean="0"/>
              <a:t>4</a:t>
            </a:fld>
            <a:endParaRPr lang="en-US"/>
          </a:p>
        </p:txBody>
      </p:sp>
    </p:spTree>
    <p:extLst>
      <p:ext uri="{BB962C8B-B14F-4D97-AF65-F5344CB8AC3E}">
        <p14:creationId xmlns:p14="http://schemas.microsoft.com/office/powerpoint/2010/main" val="8145183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US" sz="3600" b="1" dirty="0"/>
              <a:t>The proposed method [called </a:t>
            </a:r>
            <a:r>
              <a:rPr lang="en-US" sz="3600" b="1" dirty="0" err="1"/>
              <a:t>biclustering</a:t>
            </a:r>
            <a:r>
              <a:rPr lang="en-US" sz="3600" b="1" dirty="0"/>
              <a:t> algorithm and the </a:t>
            </a:r>
            <a:r>
              <a:rPr lang="en-US" sz="3600" b="1" i="1" dirty="0"/>
              <a:t>K </a:t>
            </a:r>
            <a:r>
              <a:rPr lang="en-US" sz="3600" b="1" dirty="0"/>
              <a:t>nearest neighbor (BIC-</a:t>
            </a:r>
            <a:r>
              <a:rPr lang="en-US" sz="3600" b="1" i="1" dirty="0"/>
              <a:t>K</a:t>
            </a:r>
            <a:r>
              <a:rPr lang="en-US" sz="3600" b="1" dirty="0"/>
              <a:t>-NN)] was implemented on four historical datasets and the average performance was compared with the conventional buy-and-hold strategy and three previously reported intelligent trading systems. Experimental results demonstrate that the proposed trading system outperforms its counterparts and will be useful for investment in various financial markets. </a:t>
            </a:r>
            <a:endParaRPr lang="en-US" sz="3600" dirty="0"/>
          </a:p>
        </p:txBody>
      </p:sp>
      <p:sp>
        <p:nvSpPr>
          <p:cNvPr id="4" name="Title 1"/>
          <p:cNvSpPr>
            <a:spLocks noGrp="1"/>
          </p:cNvSpPr>
          <p:nvPr>
            <p:ph type="title"/>
          </p:nvPr>
        </p:nvSpPr>
        <p:spPr/>
        <p:txBody>
          <a:bodyPr/>
          <a:lstStyle/>
          <a:p>
            <a:pPr algn="ctr"/>
            <a:r>
              <a:rPr lang="en-US" b="1" dirty="0"/>
              <a:t>Abstract(3/3) </a:t>
            </a:r>
            <a:endParaRPr lang="en-US" dirty="0"/>
          </a:p>
        </p:txBody>
      </p:sp>
      <p:sp>
        <p:nvSpPr>
          <p:cNvPr id="2" name="Slide Number Placeholder 1"/>
          <p:cNvSpPr>
            <a:spLocks noGrp="1"/>
          </p:cNvSpPr>
          <p:nvPr>
            <p:ph type="sldNum" sz="quarter" idx="12"/>
          </p:nvPr>
        </p:nvSpPr>
        <p:spPr/>
        <p:txBody>
          <a:bodyPr/>
          <a:lstStyle/>
          <a:p>
            <a:fld id="{8FD09EC2-3C1C-1643-A0E2-A9B1200FF76E}" type="slidenum">
              <a:rPr lang="en-US" smtClean="0"/>
              <a:t>5</a:t>
            </a:fld>
            <a:endParaRPr lang="en-US"/>
          </a:p>
        </p:txBody>
      </p:sp>
    </p:spTree>
    <p:extLst>
      <p:ext uri="{BB962C8B-B14F-4D97-AF65-F5344CB8AC3E}">
        <p14:creationId xmlns:p14="http://schemas.microsoft.com/office/powerpoint/2010/main" val="33517628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Indicator</a:t>
            </a:r>
            <a:r>
              <a:rPr lang="zh-TW" altLang="en-US" dirty="0"/>
              <a:t> </a:t>
            </a:r>
            <a:r>
              <a:rPr lang="en-US" altLang="zh-TW" dirty="0"/>
              <a:t>Analysis</a:t>
            </a:r>
            <a:endParaRPr lang="en-US" dirty="0"/>
          </a:p>
        </p:txBody>
      </p:sp>
      <p:pic>
        <p:nvPicPr>
          <p:cNvPr id="5" name="Picture 4"/>
          <p:cNvPicPr>
            <a:picLocks noChangeAspect="1"/>
          </p:cNvPicPr>
          <p:nvPr/>
        </p:nvPicPr>
        <p:blipFill>
          <a:blip r:embed="rId2"/>
          <a:stretch>
            <a:fillRect/>
          </a:stretch>
        </p:blipFill>
        <p:spPr>
          <a:xfrm>
            <a:off x="838200" y="3098902"/>
            <a:ext cx="3657600" cy="3302806"/>
          </a:xfrm>
          <a:prstGeom prst="rect">
            <a:avLst/>
          </a:prstGeom>
        </p:spPr>
      </p:pic>
      <p:pic>
        <p:nvPicPr>
          <p:cNvPr id="6" name="Content Placeholder 5"/>
          <p:cNvPicPr>
            <a:picLocks noGrp="1" noChangeAspect="1"/>
          </p:cNvPicPr>
          <p:nvPr>
            <p:ph idx="1"/>
          </p:nvPr>
        </p:nvPicPr>
        <p:blipFill>
          <a:blip r:embed="rId3"/>
          <a:stretch>
            <a:fillRect/>
          </a:stretch>
        </p:blipFill>
        <p:spPr>
          <a:xfrm>
            <a:off x="4933161" y="2721205"/>
            <a:ext cx="6945573" cy="4058200"/>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4260829" y="1799221"/>
                <a:ext cx="7311334" cy="921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200" b="0" i="1" smtClean="0">
                              <a:latin typeface="Cambria Math" panose="02040503050406030204" pitchFamily="18" charset="0"/>
                            </a:rPr>
                          </m:ctrlPr>
                        </m:sSubPr>
                        <m:e>
                          <m:r>
                            <a:rPr lang="en-US" altLang="zh-TW" sz="3200" b="0" i="1" smtClean="0">
                              <a:latin typeface="Cambria Math" charset="0"/>
                            </a:rPr>
                            <m:t>𝑀𝐴</m:t>
                          </m:r>
                        </m:e>
                        <m:sub>
                          <m:r>
                            <a:rPr lang="en-US" altLang="zh-TW" sz="3200" b="0" i="1" smtClean="0">
                              <a:latin typeface="Cambria Math" charset="0"/>
                            </a:rPr>
                            <m:t>𝑛</m:t>
                          </m:r>
                        </m:sub>
                      </m:sSub>
                      <m:r>
                        <a:rPr lang="en-US" altLang="zh-TW" sz="3200" b="0" i="1" smtClean="0">
                          <a:latin typeface="Cambria Math" charset="0"/>
                        </a:rPr>
                        <m:t>=</m:t>
                      </m:r>
                      <m:f>
                        <m:fPr>
                          <m:ctrlPr>
                            <a:rPr lang="mr-IN" altLang="zh-TW" sz="3200" b="0" i="1" smtClean="0">
                              <a:latin typeface="Cambria Math" panose="02040503050406030204" pitchFamily="18" charset="0"/>
                            </a:rPr>
                          </m:ctrlPr>
                        </m:fPr>
                        <m:num>
                          <m:sSub>
                            <m:sSubPr>
                              <m:ctrlPr>
                                <a:rPr lang="en-US" altLang="zh-TW" sz="3200" i="1">
                                  <a:latin typeface="Cambria Math" panose="02040503050406030204" pitchFamily="18" charset="0"/>
                                </a:rPr>
                              </m:ctrlPr>
                            </m:sSubPr>
                            <m:e>
                              <m:r>
                                <a:rPr lang="en-US" altLang="zh-TW" sz="3200" i="1">
                                  <a:latin typeface="Cambria Math" charset="0"/>
                                </a:rPr>
                                <m:t>𝑃</m:t>
                              </m:r>
                            </m:e>
                            <m:sub>
                              <m:r>
                                <a:rPr lang="en-US" altLang="zh-TW" sz="3200" b="0" i="1" smtClean="0">
                                  <a:latin typeface="Cambria Math" charset="0"/>
                                </a:rPr>
                                <m:t>𝑡</m:t>
                              </m:r>
                              <m:r>
                                <a:rPr lang="en-US" altLang="zh-TW" sz="3200" b="0" i="1" smtClean="0">
                                  <a:latin typeface="Cambria Math" charset="0"/>
                                </a:rPr>
                                <m:t>−</m:t>
                              </m:r>
                              <m:r>
                                <a:rPr lang="en-US" altLang="zh-TW" sz="3200" b="0" i="1" smtClean="0">
                                  <a:latin typeface="Cambria Math" charset="0"/>
                                </a:rPr>
                                <m:t>𝑛</m:t>
                              </m:r>
                              <m:r>
                                <a:rPr lang="en-US" altLang="zh-TW" sz="3200" b="0" i="1" smtClean="0">
                                  <a:latin typeface="Cambria Math" charset="0"/>
                                </a:rPr>
                                <m:t>+1</m:t>
                              </m:r>
                            </m:sub>
                          </m:sSub>
                          <m:r>
                            <a:rPr lang="en-US" altLang="zh-TW" sz="3200" b="0" i="1" smtClean="0">
                              <a:latin typeface="Cambria Math" charset="0"/>
                            </a:rPr>
                            <m:t>+</m:t>
                          </m:r>
                          <m:sSub>
                            <m:sSubPr>
                              <m:ctrlPr>
                                <a:rPr lang="en-US" altLang="zh-TW" sz="3200" i="1">
                                  <a:latin typeface="Cambria Math" panose="02040503050406030204" pitchFamily="18" charset="0"/>
                                </a:rPr>
                              </m:ctrlPr>
                            </m:sSubPr>
                            <m:e>
                              <m:r>
                                <a:rPr lang="en-US" altLang="zh-TW" sz="3200" i="1">
                                  <a:latin typeface="Cambria Math" charset="0"/>
                                </a:rPr>
                                <m:t>𝑃</m:t>
                              </m:r>
                            </m:e>
                            <m:sub>
                              <m:r>
                                <a:rPr lang="en-US" altLang="zh-TW" sz="3200" i="1">
                                  <a:latin typeface="Cambria Math" charset="0"/>
                                </a:rPr>
                                <m:t>𝑡</m:t>
                              </m:r>
                              <m:r>
                                <a:rPr lang="en-US" altLang="zh-TW" sz="3200" i="1">
                                  <a:latin typeface="Cambria Math" charset="0"/>
                                </a:rPr>
                                <m:t>−</m:t>
                              </m:r>
                              <m:r>
                                <a:rPr lang="en-US" altLang="zh-TW" sz="3200" b="0" i="1" smtClean="0">
                                  <a:latin typeface="Cambria Math" charset="0"/>
                                </a:rPr>
                                <m:t>𝑛</m:t>
                              </m:r>
                              <m:r>
                                <a:rPr lang="en-US" altLang="zh-TW" sz="3200" b="0" i="1" smtClean="0">
                                  <a:latin typeface="Cambria Math" charset="0"/>
                                </a:rPr>
                                <m:t>+2</m:t>
                              </m:r>
                            </m:sub>
                          </m:sSub>
                          <m:r>
                            <a:rPr lang="en-US" altLang="zh-TW" sz="3200" b="0" i="1" smtClean="0">
                              <a:latin typeface="Cambria Math" charset="0"/>
                            </a:rPr>
                            <m:t>+…+</m:t>
                          </m:r>
                          <m:sSub>
                            <m:sSubPr>
                              <m:ctrlPr>
                                <a:rPr lang="en-US" altLang="zh-TW" sz="3200" b="0" i="1" smtClean="0">
                                  <a:latin typeface="Cambria Math" panose="02040503050406030204" pitchFamily="18" charset="0"/>
                                </a:rPr>
                              </m:ctrlPr>
                            </m:sSubPr>
                            <m:e>
                              <m:r>
                                <a:rPr lang="en-US" altLang="zh-TW" sz="3200" b="0" i="1" smtClean="0">
                                  <a:latin typeface="Cambria Math" charset="0"/>
                                </a:rPr>
                                <m:t>𝑃</m:t>
                              </m:r>
                            </m:e>
                            <m:sub>
                              <m:r>
                                <a:rPr lang="en-US" altLang="zh-TW" sz="3200" b="0" i="1" smtClean="0">
                                  <a:latin typeface="Cambria Math" charset="0"/>
                                </a:rPr>
                                <m:t>𝑡</m:t>
                              </m:r>
                              <m:r>
                                <a:rPr lang="en-US" altLang="zh-TW" sz="3200" b="0" i="1" smtClean="0">
                                  <a:latin typeface="Cambria Math" charset="0"/>
                                </a:rPr>
                                <m:t>−1</m:t>
                              </m:r>
                            </m:sub>
                          </m:sSub>
                          <m:r>
                            <a:rPr lang="en-US" altLang="zh-TW" sz="3200" b="0" i="1" smtClean="0">
                              <a:latin typeface="Cambria Math" charset="0"/>
                            </a:rPr>
                            <m:t>+</m:t>
                          </m:r>
                          <m:sSub>
                            <m:sSubPr>
                              <m:ctrlPr>
                                <a:rPr lang="en-US" altLang="zh-TW" sz="3200" b="0" i="1" smtClean="0">
                                  <a:latin typeface="Cambria Math" panose="02040503050406030204" pitchFamily="18" charset="0"/>
                                </a:rPr>
                              </m:ctrlPr>
                            </m:sSubPr>
                            <m:e>
                              <m:r>
                                <a:rPr lang="en-US" altLang="zh-TW" sz="3200" b="0" i="1" smtClean="0">
                                  <a:latin typeface="Cambria Math" charset="0"/>
                                </a:rPr>
                                <m:t>𝑃</m:t>
                              </m:r>
                            </m:e>
                            <m:sub>
                              <m:r>
                                <a:rPr lang="en-US" altLang="zh-TW" sz="3200" b="0" i="1" smtClean="0">
                                  <a:latin typeface="Cambria Math" charset="0"/>
                                </a:rPr>
                                <m:t>𝑡</m:t>
                              </m:r>
                            </m:sub>
                          </m:sSub>
                        </m:num>
                        <m:den>
                          <m:r>
                            <a:rPr lang="en-US" altLang="zh-TW" sz="3200" b="0" i="1" smtClean="0">
                              <a:latin typeface="Cambria Math" charset="0"/>
                            </a:rPr>
                            <m:t>𝑛</m:t>
                          </m:r>
                        </m:den>
                      </m:f>
                    </m:oMath>
                  </m:oMathPara>
                </a14:m>
                <a:endParaRPr lang="en-US" sz="3200" dirty="0"/>
              </a:p>
            </p:txBody>
          </p:sp>
        </mc:Choice>
        <mc:Fallback xmlns="">
          <p:sp>
            <p:nvSpPr>
              <p:cNvPr id="7" name="TextBox 6"/>
              <p:cNvSpPr txBox="1">
                <a:spLocks noRot="1" noChangeAspect="1" noMove="1" noResize="1" noEditPoints="1" noAdjustHandles="1" noChangeArrowheads="1" noChangeShapeType="1" noTextEdit="1"/>
              </p:cNvSpPr>
              <p:nvPr/>
            </p:nvSpPr>
            <p:spPr>
              <a:xfrm>
                <a:off x="4260829" y="1799221"/>
                <a:ext cx="7311334" cy="921984"/>
              </a:xfrm>
              <a:prstGeom prst="rect">
                <a:avLst/>
              </a:prstGeom>
              <a:blipFill rotWithShape="0">
                <a:blip r:embed="rId4"/>
                <a:stretch>
                  <a:fillRect/>
                </a:stretch>
              </a:blipFill>
            </p:spPr>
            <p:txBody>
              <a:bodyPr/>
              <a:lstStyle/>
              <a:p>
                <a:r>
                  <a:rPr lang="en-US">
                    <a:noFill/>
                  </a:rPr>
                  <a:t> </a:t>
                </a:r>
              </a:p>
            </p:txBody>
          </p:sp>
        </mc:Fallback>
      </mc:AlternateContent>
      <p:sp>
        <p:nvSpPr>
          <p:cNvPr id="8" name="TextBox 7"/>
          <p:cNvSpPr txBox="1"/>
          <p:nvPr/>
        </p:nvSpPr>
        <p:spPr>
          <a:xfrm>
            <a:off x="838200" y="2022184"/>
            <a:ext cx="3370996" cy="584775"/>
          </a:xfrm>
          <a:prstGeom prst="rect">
            <a:avLst/>
          </a:prstGeom>
          <a:noFill/>
        </p:spPr>
        <p:txBody>
          <a:bodyPr wrap="square" rtlCol="0">
            <a:spAutoFit/>
          </a:bodyPr>
          <a:lstStyle/>
          <a:p>
            <a:r>
              <a:rPr lang="en-US" sz="3200" b="1" dirty="0"/>
              <a:t>Moving Average</a:t>
            </a:r>
            <a:r>
              <a:rPr lang="zh-TW" altLang="en-US" sz="3200" b="1" dirty="0"/>
              <a:t>：</a:t>
            </a:r>
            <a:endParaRPr lang="en-US" sz="3200" b="1" dirty="0"/>
          </a:p>
        </p:txBody>
      </p:sp>
      <p:sp>
        <p:nvSpPr>
          <p:cNvPr id="3" name="Slide Number Placeholder 2"/>
          <p:cNvSpPr>
            <a:spLocks noGrp="1"/>
          </p:cNvSpPr>
          <p:nvPr>
            <p:ph type="sldNum" sz="quarter" idx="12"/>
          </p:nvPr>
        </p:nvSpPr>
        <p:spPr/>
        <p:txBody>
          <a:bodyPr/>
          <a:lstStyle/>
          <a:p>
            <a:fld id="{8FD09EC2-3C1C-1643-A0E2-A9B1200FF76E}" type="slidenum">
              <a:rPr lang="en-US" smtClean="0"/>
              <a:t>6</a:t>
            </a:fld>
            <a:endParaRPr lang="en-US"/>
          </a:p>
        </p:txBody>
      </p:sp>
    </p:spTree>
    <p:extLst>
      <p:ext uri="{BB962C8B-B14F-4D97-AF65-F5344CB8AC3E}">
        <p14:creationId xmlns:p14="http://schemas.microsoft.com/office/powerpoint/2010/main" val="11321290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preprocess</a:t>
            </a:r>
          </a:p>
        </p:txBody>
      </p:sp>
      <p:pic>
        <p:nvPicPr>
          <p:cNvPr id="4" name="Content Placeholder 3"/>
          <p:cNvPicPr>
            <a:picLocks noGrp="1" noChangeAspect="1"/>
          </p:cNvPicPr>
          <p:nvPr>
            <p:ph idx="1"/>
          </p:nvPr>
        </p:nvPicPr>
        <p:blipFill>
          <a:blip r:embed="rId2"/>
          <a:stretch>
            <a:fillRect/>
          </a:stretch>
        </p:blipFill>
        <p:spPr>
          <a:xfrm>
            <a:off x="2506134" y="1665725"/>
            <a:ext cx="6661076" cy="4718759"/>
          </a:xfrm>
          <a:prstGeom prst="rect">
            <a:avLst/>
          </a:prstGeom>
        </p:spPr>
      </p:pic>
      <p:sp>
        <p:nvSpPr>
          <p:cNvPr id="3" name="Slide Number Placeholder 2"/>
          <p:cNvSpPr>
            <a:spLocks noGrp="1"/>
          </p:cNvSpPr>
          <p:nvPr>
            <p:ph type="sldNum" sz="quarter" idx="12"/>
          </p:nvPr>
        </p:nvSpPr>
        <p:spPr/>
        <p:txBody>
          <a:bodyPr/>
          <a:lstStyle/>
          <a:p>
            <a:fld id="{8FD09EC2-3C1C-1643-A0E2-A9B1200FF76E}" type="slidenum">
              <a:rPr lang="en-US" smtClean="0"/>
              <a:t>7</a:t>
            </a:fld>
            <a:endParaRPr lang="en-US"/>
          </a:p>
        </p:txBody>
      </p:sp>
    </p:spTree>
    <p:extLst>
      <p:ext uri="{BB962C8B-B14F-4D97-AF65-F5344CB8AC3E}">
        <p14:creationId xmlns:p14="http://schemas.microsoft.com/office/powerpoint/2010/main" val="1707723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preprocess</a:t>
            </a:r>
          </a:p>
        </p:txBody>
      </p:sp>
      <p:graphicFrame>
        <p:nvGraphicFramePr>
          <p:cNvPr id="4" name="Content Placeholder 3"/>
          <p:cNvGraphicFramePr>
            <a:graphicFrameLocks/>
          </p:cNvGraphicFramePr>
          <p:nvPr>
            <p:extLst/>
          </p:nvPr>
        </p:nvGraphicFramePr>
        <p:xfrm>
          <a:off x="3174501" y="2093433"/>
          <a:ext cx="5726382" cy="407416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gridCol w="954397">
                  <a:extLst>
                    <a:ext uri="{9D8B030D-6E8A-4147-A177-3AD203B41FA5}">
                      <a16:colId xmlns:a16="http://schemas.microsoft.com/office/drawing/2014/main" xmlns="" val="20003"/>
                    </a:ext>
                  </a:extLst>
                </a:gridCol>
                <a:gridCol w="954397">
                  <a:extLst>
                    <a:ext uri="{9D8B030D-6E8A-4147-A177-3AD203B41FA5}">
                      <a16:colId xmlns:a16="http://schemas.microsoft.com/office/drawing/2014/main" xmlns="" val="20004"/>
                    </a:ext>
                  </a:extLst>
                </a:gridCol>
                <a:gridCol w="954397">
                  <a:extLst>
                    <a:ext uri="{9D8B030D-6E8A-4147-A177-3AD203B41FA5}">
                      <a16:colId xmlns:a16="http://schemas.microsoft.com/office/drawing/2014/main" xmlns="" val="20005"/>
                    </a:ext>
                  </a:extLst>
                </a:gridCol>
              </a:tblGrid>
              <a:tr h="370840">
                <a:tc>
                  <a:txBody>
                    <a:bodyPr/>
                    <a:lstStyle/>
                    <a:p>
                      <a:pPr algn="ctr"/>
                      <a:r>
                        <a:rPr lang="en-US" dirty="0"/>
                        <a:t>1/10</a:t>
                      </a:r>
                    </a:p>
                  </a:txBody>
                  <a:tcPr/>
                </a:tc>
                <a:tc>
                  <a:txBody>
                    <a:bodyPr/>
                    <a:lstStyle/>
                    <a:p>
                      <a:pPr algn="r" rtl="0" fontAlgn="ctr"/>
                      <a:r>
                        <a:rPr lang="en-US" sz="1800" b="0" i="0" u="none" strike="noStrike" dirty="0">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0"/>
                  </a:ext>
                </a:extLst>
              </a:tr>
              <a:tr h="370840">
                <a:tc>
                  <a:txBody>
                    <a:bodyPr/>
                    <a:lstStyle/>
                    <a:p>
                      <a:pPr algn="ctr"/>
                      <a:r>
                        <a:rPr lang="en-US" dirty="0"/>
                        <a:t>1/9</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1"/>
                  </a:ext>
                </a:extLst>
              </a:tr>
              <a:tr h="370840">
                <a:tc>
                  <a:txBody>
                    <a:bodyPr/>
                    <a:lstStyle/>
                    <a:p>
                      <a:pPr algn="ctr"/>
                      <a:r>
                        <a:rPr lang="en-US" dirty="0"/>
                        <a:t>1/8</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2"/>
                  </a:ext>
                </a:extLst>
              </a:tr>
              <a:tr h="370840">
                <a:tc>
                  <a:txBody>
                    <a:bodyPr/>
                    <a:lstStyle/>
                    <a:p>
                      <a:pPr algn="ctr"/>
                      <a:r>
                        <a:rPr lang="en-US" dirty="0"/>
                        <a:t>1/7</a:t>
                      </a:r>
                    </a:p>
                  </a:txBody>
                  <a:tcPr/>
                </a:tc>
                <a:tc>
                  <a:txBody>
                    <a:bodyPr/>
                    <a:lstStyle/>
                    <a:p>
                      <a:pPr algn="r" rtl="0" fontAlgn="ctr"/>
                      <a:r>
                        <a:rPr lang="cs-CZ" sz="1800" b="0" i="0" u="none" strike="noStrike">
                          <a:solidFill>
                            <a:srgbClr val="000000"/>
                          </a:solidFill>
                          <a:effectLst/>
                          <a:latin typeface="Calibri" charset="0"/>
                        </a:rPr>
                        <a:t>11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3"/>
                  </a:ext>
                </a:extLst>
              </a:tr>
              <a:tr h="370840">
                <a:tc>
                  <a:txBody>
                    <a:bodyPr/>
                    <a:lstStyle/>
                    <a:p>
                      <a:pPr algn="ctr"/>
                      <a:r>
                        <a:rPr lang="en-US" dirty="0"/>
                        <a:t>1/6</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10</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4"/>
                  </a:ext>
                </a:extLst>
              </a:tr>
              <a:tr h="370840">
                <a:tc>
                  <a:txBody>
                    <a:bodyPr/>
                    <a:lstStyle/>
                    <a:p>
                      <a:pPr algn="ctr"/>
                      <a:r>
                        <a:rPr lang="en-US" dirty="0"/>
                        <a:t>1/5</a:t>
                      </a:r>
                    </a:p>
                  </a:txBody>
                  <a:tcP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5"/>
                  </a:ext>
                </a:extLst>
              </a:tr>
              <a:tr h="370840">
                <a:tc>
                  <a:txBody>
                    <a:bodyPr/>
                    <a:lstStyle/>
                    <a:p>
                      <a:pPr algn="ctr"/>
                      <a:r>
                        <a:rPr lang="en-US" dirty="0"/>
                        <a:t>1/4</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6"/>
                  </a:ext>
                </a:extLst>
              </a:tr>
              <a:tr h="370840">
                <a:tc>
                  <a:txBody>
                    <a:bodyPr/>
                    <a:lstStyle/>
                    <a:p>
                      <a:pPr algn="ctr"/>
                      <a:r>
                        <a:rPr lang="en-US" dirty="0"/>
                        <a:t>1/3</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7"/>
                  </a:ext>
                </a:extLst>
              </a:tr>
              <a:tr h="370840">
                <a:tc>
                  <a:txBody>
                    <a:bodyPr/>
                    <a:lstStyle/>
                    <a:p>
                      <a:pPr algn="ctr"/>
                      <a:r>
                        <a:rPr lang="en-US" dirty="0"/>
                        <a:t>1/2</a:t>
                      </a:r>
                    </a:p>
                  </a:txBody>
                  <a:tcPr/>
                </a:tc>
                <a:tc>
                  <a:txBody>
                    <a:bodyPr/>
                    <a:lstStyle/>
                    <a:p>
                      <a:pPr algn="r" rtl="0" fontAlgn="ctr"/>
                      <a:r>
                        <a:rPr lang="en-US" sz="1800" b="0" i="0" u="none" strike="noStrike">
                          <a:solidFill>
                            <a:srgbClr val="000000"/>
                          </a:solidFill>
                          <a:effectLst/>
                          <a:latin typeface="Calibri" charset="0"/>
                        </a:rPr>
                        <a:t>90</a:t>
                      </a:r>
                    </a:p>
                  </a:txBody>
                  <a:tcPr marL="6350" marR="6350" marT="6350" marB="0" anchor="ct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rtl="0" fontAlgn="ctr"/>
                      <a:r>
                        <a:rPr lang="en-US" sz="1800" b="0" i="0" u="none" strike="noStrike">
                          <a:solidFill>
                            <a:srgbClr val="000000"/>
                          </a:solidFill>
                          <a:effectLst/>
                          <a:latin typeface="Calibri" charset="0"/>
                        </a:rPr>
                        <a:t>19</a:t>
                      </a:r>
                    </a:p>
                  </a:txBody>
                  <a:tcPr marL="6350" marR="6350" marT="6350" marB="0" anchor="ctr"/>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8"/>
                  </a:ext>
                </a:extLst>
              </a:tr>
              <a:tr h="0">
                <a:tc>
                  <a:txBody>
                    <a:bodyPr/>
                    <a:lstStyle/>
                    <a:p>
                      <a:pPr algn="ctr"/>
                      <a:r>
                        <a:rPr lang="en-US" dirty="0"/>
                        <a:t>1/1</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dirty="0">
                          <a:solidFill>
                            <a:srgbClr val="000000"/>
                          </a:solidFill>
                          <a:effectLst/>
                          <a:latin typeface="Calibri" charset="0"/>
                        </a:rPr>
                        <a:t>30</a:t>
                      </a:r>
                    </a:p>
                  </a:txBody>
                  <a:tcPr marL="6350" marR="6350" marT="6350" marB="0" anchor="ctr"/>
                </a:tc>
                <a:tc>
                  <a:txBody>
                    <a:bodyPr/>
                    <a:lstStyle/>
                    <a:p>
                      <a:pPr algn="r"/>
                      <a:r>
                        <a:rPr lang="en-US" dirty="0"/>
                        <a:t>1</a:t>
                      </a:r>
                    </a:p>
                  </a:txBody>
                  <a:tcPr/>
                </a:tc>
                <a:tc>
                  <a:txBody>
                    <a:bodyPr/>
                    <a:lstStyle/>
                    <a:p>
                      <a:pPr algn="r"/>
                      <a:r>
                        <a:rPr lang="en-US" dirty="0"/>
                        <a:t>1</a:t>
                      </a:r>
                    </a:p>
                  </a:txBody>
                  <a:tcPr/>
                </a:tc>
                <a:extLst>
                  <a:ext uri="{0D108BD9-81ED-4DB2-BD59-A6C34878D82A}">
                    <a16:rowId xmlns:a16="http://schemas.microsoft.com/office/drawing/2014/main" xmlns="" val="10009"/>
                  </a:ext>
                </a:extLst>
              </a:tr>
              <a:tr h="370840">
                <a:tc>
                  <a:txBody>
                    <a:bodyPr/>
                    <a:lstStyle/>
                    <a:p>
                      <a:pPr algn="ctr"/>
                      <a:endParaRPr lang="en-US" dirty="0"/>
                    </a:p>
                  </a:txBody>
                  <a:tcPr/>
                </a:tc>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ctr"/>
                      <a:r>
                        <a:rPr lang="en-US" dirty="0"/>
                        <a:t>trend</a:t>
                      </a:r>
                    </a:p>
                  </a:txBody>
                  <a:tcPr/>
                </a:tc>
                <a:tc>
                  <a:txBody>
                    <a:bodyPr/>
                    <a:lstStyle/>
                    <a:p>
                      <a:pPr algn="ctr"/>
                      <a:r>
                        <a:rPr lang="en-US" dirty="0"/>
                        <a:t>price</a:t>
                      </a:r>
                    </a:p>
                  </a:txBody>
                  <a:tcPr/>
                </a:tc>
                <a:extLst>
                  <a:ext uri="{0D108BD9-81ED-4DB2-BD59-A6C34878D82A}">
                    <a16:rowId xmlns:a16="http://schemas.microsoft.com/office/drawing/2014/main" xmlns="" val="10010"/>
                  </a:ext>
                </a:extLst>
              </a:tr>
            </a:tbl>
          </a:graphicData>
        </a:graphic>
      </p:graphicFrame>
      <p:sp>
        <p:nvSpPr>
          <p:cNvPr id="3" name="Slide Number Placeholder 2"/>
          <p:cNvSpPr>
            <a:spLocks noGrp="1"/>
          </p:cNvSpPr>
          <p:nvPr>
            <p:ph type="sldNum" sz="quarter" idx="12"/>
          </p:nvPr>
        </p:nvSpPr>
        <p:spPr/>
        <p:txBody>
          <a:bodyPr/>
          <a:lstStyle/>
          <a:p>
            <a:fld id="{8FD09EC2-3C1C-1643-A0E2-A9B1200FF76E}" type="slidenum">
              <a:rPr lang="en-US" smtClean="0"/>
              <a:t>8</a:t>
            </a:fld>
            <a:endParaRPr lang="en-US"/>
          </a:p>
        </p:txBody>
      </p:sp>
    </p:spTree>
    <p:extLst>
      <p:ext uri="{BB962C8B-B14F-4D97-AF65-F5344CB8AC3E}">
        <p14:creationId xmlns:p14="http://schemas.microsoft.com/office/powerpoint/2010/main" val="10227116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preprocess</a:t>
            </a:r>
          </a:p>
        </p:txBody>
      </p:sp>
      <p:graphicFrame>
        <p:nvGraphicFramePr>
          <p:cNvPr id="4" name="Content Placeholder 3"/>
          <p:cNvGraphicFramePr>
            <a:graphicFrameLocks/>
          </p:cNvGraphicFramePr>
          <p:nvPr>
            <p:extLst>
              <p:ext uri="{D42A27DB-BD31-4B8C-83A1-F6EECF244321}">
                <p14:modId xmlns:p14="http://schemas.microsoft.com/office/powerpoint/2010/main" val="2015792625"/>
              </p:ext>
            </p:extLst>
          </p:nvPr>
        </p:nvGraphicFramePr>
        <p:xfrm>
          <a:off x="3174501" y="2093433"/>
          <a:ext cx="5726382" cy="407416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gridCol w="954397">
                  <a:extLst>
                    <a:ext uri="{9D8B030D-6E8A-4147-A177-3AD203B41FA5}">
                      <a16:colId xmlns:a16="http://schemas.microsoft.com/office/drawing/2014/main" xmlns="" val="20003"/>
                    </a:ext>
                  </a:extLst>
                </a:gridCol>
                <a:gridCol w="954397">
                  <a:extLst>
                    <a:ext uri="{9D8B030D-6E8A-4147-A177-3AD203B41FA5}">
                      <a16:colId xmlns:a16="http://schemas.microsoft.com/office/drawing/2014/main" xmlns="" val="20004"/>
                    </a:ext>
                  </a:extLst>
                </a:gridCol>
                <a:gridCol w="954397">
                  <a:extLst>
                    <a:ext uri="{9D8B030D-6E8A-4147-A177-3AD203B41FA5}">
                      <a16:colId xmlns:a16="http://schemas.microsoft.com/office/drawing/2014/main" xmlns="" val="20005"/>
                    </a:ext>
                  </a:extLst>
                </a:gridCol>
              </a:tblGrid>
              <a:tr h="370840">
                <a:tc>
                  <a:txBody>
                    <a:bodyPr/>
                    <a:lstStyle/>
                    <a:p>
                      <a:pPr algn="ctr"/>
                      <a:r>
                        <a:rPr lang="en-US" dirty="0"/>
                        <a:t>1/10</a:t>
                      </a:r>
                    </a:p>
                  </a:txBody>
                  <a:tcPr/>
                </a:tc>
                <a:tc>
                  <a:txBody>
                    <a:bodyPr/>
                    <a:lstStyle/>
                    <a:p>
                      <a:pPr algn="r" rtl="0" fontAlgn="ctr"/>
                      <a:r>
                        <a:rPr lang="en-US" sz="1800" b="0" i="0" u="none" strike="noStrike" dirty="0">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0"/>
                  </a:ext>
                </a:extLst>
              </a:tr>
              <a:tr h="370840">
                <a:tc>
                  <a:txBody>
                    <a:bodyPr/>
                    <a:lstStyle/>
                    <a:p>
                      <a:pPr algn="ctr"/>
                      <a:r>
                        <a:rPr lang="en-US" dirty="0"/>
                        <a:t>1/9</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1"/>
                  </a:ext>
                </a:extLst>
              </a:tr>
              <a:tr h="370840">
                <a:tc>
                  <a:txBody>
                    <a:bodyPr/>
                    <a:lstStyle/>
                    <a:p>
                      <a:pPr algn="ctr"/>
                      <a:r>
                        <a:rPr lang="en-US" dirty="0"/>
                        <a:t>1/8</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2"/>
                  </a:ext>
                </a:extLst>
              </a:tr>
              <a:tr h="370840">
                <a:tc>
                  <a:txBody>
                    <a:bodyPr/>
                    <a:lstStyle/>
                    <a:p>
                      <a:pPr algn="ctr"/>
                      <a:r>
                        <a:rPr lang="en-US" dirty="0"/>
                        <a:t>1/7</a:t>
                      </a:r>
                    </a:p>
                  </a:txBody>
                  <a:tcPr/>
                </a:tc>
                <a:tc>
                  <a:txBody>
                    <a:bodyPr/>
                    <a:lstStyle/>
                    <a:p>
                      <a:pPr algn="r" rtl="0" fontAlgn="ctr"/>
                      <a:r>
                        <a:rPr lang="cs-CZ" sz="1800" b="0" i="0" u="none" strike="noStrike">
                          <a:solidFill>
                            <a:srgbClr val="000000"/>
                          </a:solidFill>
                          <a:effectLst/>
                          <a:latin typeface="Calibri" charset="0"/>
                        </a:rPr>
                        <a:t>11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3"/>
                  </a:ext>
                </a:extLst>
              </a:tr>
              <a:tr h="370840">
                <a:tc>
                  <a:txBody>
                    <a:bodyPr/>
                    <a:lstStyle/>
                    <a:p>
                      <a:pPr algn="ctr"/>
                      <a:r>
                        <a:rPr lang="en-US" dirty="0"/>
                        <a:t>1/6</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10</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4"/>
                  </a:ext>
                </a:extLst>
              </a:tr>
              <a:tr h="370840">
                <a:tc>
                  <a:txBody>
                    <a:bodyPr/>
                    <a:lstStyle/>
                    <a:p>
                      <a:pPr algn="ctr"/>
                      <a:r>
                        <a:rPr lang="en-US" dirty="0"/>
                        <a:t>1/5</a:t>
                      </a:r>
                    </a:p>
                  </a:txBody>
                  <a:tcP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5"/>
                  </a:ext>
                </a:extLst>
              </a:tr>
              <a:tr h="370840">
                <a:tc>
                  <a:txBody>
                    <a:bodyPr/>
                    <a:lstStyle/>
                    <a:p>
                      <a:pPr algn="ctr"/>
                      <a:r>
                        <a:rPr lang="en-US" dirty="0"/>
                        <a:t>1/4</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6"/>
                  </a:ext>
                </a:extLst>
              </a:tr>
              <a:tr h="370840">
                <a:tc>
                  <a:txBody>
                    <a:bodyPr/>
                    <a:lstStyle/>
                    <a:p>
                      <a:pPr algn="ctr"/>
                      <a:r>
                        <a:rPr lang="en-US" dirty="0"/>
                        <a:t>1/3</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7"/>
                  </a:ext>
                </a:extLst>
              </a:tr>
              <a:tr h="370840">
                <a:tc>
                  <a:txBody>
                    <a:bodyPr/>
                    <a:lstStyle/>
                    <a:p>
                      <a:pPr algn="ctr"/>
                      <a:r>
                        <a:rPr lang="en-US" dirty="0"/>
                        <a:t>1/2</a:t>
                      </a:r>
                    </a:p>
                  </a:txBody>
                  <a:tcPr/>
                </a:tc>
                <a:tc>
                  <a:txBody>
                    <a:bodyPr/>
                    <a:lstStyle/>
                    <a:p>
                      <a:pPr algn="r" rtl="0" fontAlgn="ctr"/>
                      <a:r>
                        <a:rPr lang="en-US" sz="1800" b="0" i="0" u="none" strike="noStrike">
                          <a:solidFill>
                            <a:srgbClr val="000000"/>
                          </a:solidFill>
                          <a:effectLst/>
                          <a:latin typeface="Calibri" charset="0"/>
                        </a:rPr>
                        <a:t>90</a:t>
                      </a:r>
                    </a:p>
                  </a:txBody>
                  <a:tcPr marL="6350" marR="6350" marT="6350" marB="0" anchor="ct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rtl="0" fontAlgn="ctr"/>
                      <a:r>
                        <a:rPr lang="en-US" sz="1800" b="0" i="0" u="none" strike="noStrike">
                          <a:solidFill>
                            <a:srgbClr val="000000"/>
                          </a:solidFill>
                          <a:effectLst/>
                          <a:latin typeface="Calibri" charset="0"/>
                        </a:rPr>
                        <a:t>19</a:t>
                      </a:r>
                    </a:p>
                  </a:txBody>
                  <a:tcPr marL="6350" marR="6350" marT="6350" marB="0" anchor="ctr"/>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8"/>
                  </a:ext>
                </a:extLst>
              </a:tr>
              <a:tr h="0">
                <a:tc>
                  <a:txBody>
                    <a:bodyPr/>
                    <a:lstStyle/>
                    <a:p>
                      <a:pPr algn="ctr"/>
                      <a:r>
                        <a:rPr lang="en-US" dirty="0"/>
                        <a:t>1/1</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dirty="0">
                          <a:solidFill>
                            <a:srgbClr val="000000"/>
                          </a:solidFill>
                          <a:effectLst/>
                          <a:latin typeface="Calibri" charset="0"/>
                        </a:rPr>
                        <a:t>30</a:t>
                      </a:r>
                    </a:p>
                  </a:txBody>
                  <a:tcPr marL="6350" marR="6350" marT="6350" marB="0" anchor="ctr"/>
                </a:tc>
                <a:tc>
                  <a:txBody>
                    <a:bodyPr/>
                    <a:lstStyle/>
                    <a:p>
                      <a:pPr algn="r"/>
                      <a:r>
                        <a:rPr lang="en-US" dirty="0"/>
                        <a:t>1</a:t>
                      </a:r>
                    </a:p>
                  </a:txBody>
                  <a:tcPr/>
                </a:tc>
                <a:tc>
                  <a:txBody>
                    <a:bodyPr/>
                    <a:lstStyle/>
                    <a:p>
                      <a:pPr algn="r"/>
                      <a:r>
                        <a:rPr lang="en-US" dirty="0"/>
                        <a:t>1</a:t>
                      </a:r>
                    </a:p>
                  </a:txBody>
                  <a:tcPr/>
                </a:tc>
                <a:extLst>
                  <a:ext uri="{0D108BD9-81ED-4DB2-BD59-A6C34878D82A}">
                    <a16:rowId xmlns:a16="http://schemas.microsoft.com/office/drawing/2014/main" xmlns="" val="10009"/>
                  </a:ext>
                </a:extLst>
              </a:tr>
              <a:tr h="370840">
                <a:tc>
                  <a:txBody>
                    <a:bodyPr/>
                    <a:lstStyle/>
                    <a:p>
                      <a:pPr algn="ctr"/>
                      <a:endParaRPr lang="en-US" dirty="0"/>
                    </a:p>
                  </a:txBody>
                  <a:tcPr/>
                </a:tc>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ctr"/>
                      <a:r>
                        <a:rPr lang="en-US" dirty="0"/>
                        <a:t>trend</a:t>
                      </a:r>
                    </a:p>
                  </a:txBody>
                  <a:tcPr/>
                </a:tc>
                <a:tc>
                  <a:txBody>
                    <a:bodyPr/>
                    <a:lstStyle/>
                    <a:p>
                      <a:pPr algn="ctr"/>
                      <a:r>
                        <a:rPr lang="en-US" dirty="0"/>
                        <a:t>price</a:t>
                      </a:r>
                    </a:p>
                  </a:txBody>
                  <a:tcPr/>
                </a:tc>
                <a:extLst>
                  <a:ext uri="{0D108BD9-81ED-4DB2-BD59-A6C34878D82A}">
                    <a16:rowId xmlns:a16="http://schemas.microsoft.com/office/drawing/2014/main" xmlns="" val="10010"/>
                  </a:ext>
                </a:extLst>
              </a:tr>
            </a:tbl>
          </a:graphicData>
        </a:graphic>
      </p:graphicFrame>
      <p:sp>
        <p:nvSpPr>
          <p:cNvPr id="5" name="Rectangle 4"/>
          <p:cNvSpPr/>
          <p:nvPr/>
        </p:nvSpPr>
        <p:spPr>
          <a:xfrm>
            <a:off x="7942997" y="4312694"/>
            <a:ext cx="957886" cy="147395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985111" y="5400503"/>
            <a:ext cx="957886" cy="3844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8FD09EC2-3C1C-1643-A0E2-A9B1200FF76E}" type="slidenum">
              <a:rPr lang="en-US" smtClean="0"/>
              <a:t>9</a:t>
            </a:fld>
            <a:endParaRPr lang="en-US"/>
          </a:p>
        </p:txBody>
      </p:sp>
    </p:spTree>
    <p:extLst>
      <p:ext uri="{BB962C8B-B14F-4D97-AF65-F5344CB8AC3E}">
        <p14:creationId xmlns:p14="http://schemas.microsoft.com/office/powerpoint/2010/main" val="15966696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preprocess</a:t>
            </a:r>
          </a:p>
        </p:txBody>
      </p:sp>
      <p:graphicFrame>
        <p:nvGraphicFramePr>
          <p:cNvPr id="4" name="Content Placeholder 3"/>
          <p:cNvGraphicFramePr>
            <a:graphicFrameLocks/>
          </p:cNvGraphicFramePr>
          <p:nvPr>
            <p:extLst/>
          </p:nvPr>
        </p:nvGraphicFramePr>
        <p:xfrm>
          <a:off x="3174501" y="2093433"/>
          <a:ext cx="5726382" cy="407416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gridCol w="954397">
                  <a:extLst>
                    <a:ext uri="{9D8B030D-6E8A-4147-A177-3AD203B41FA5}">
                      <a16:colId xmlns:a16="http://schemas.microsoft.com/office/drawing/2014/main" xmlns="" val="20003"/>
                    </a:ext>
                  </a:extLst>
                </a:gridCol>
                <a:gridCol w="954397">
                  <a:extLst>
                    <a:ext uri="{9D8B030D-6E8A-4147-A177-3AD203B41FA5}">
                      <a16:colId xmlns:a16="http://schemas.microsoft.com/office/drawing/2014/main" xmlns="" val="20004"/>
                    </a:ext>
                  </a:extLst>
                </a:gridCol>
                <a:gridCol w="954397">
                  <a:extLst>
                    <a:ext uri="{9D8B030D-6E8A-4147-A177-3AD203B41FA5}">
                      <a16:colId xmlns:a16="http://schemas.microsoft.com/office/drawing/2014/main" xmlns="" val="20005"/>
                    </a:ext>
                  </a:extLst>
                </a:gridCol>
              </a:tblGrid>
              <a:tr h="370840">
                <a:tc>
                  <a:txBody>
                    <a:bodyPr/>
                    <a:lstStyle/>
                    <a:p>
                      <a:pPr algn="ctr"/>
                      <a:r>
                        <a:rPr lang="en-US" dirty="0"/>
                        <a:t>1/10</a:t>
                      </a:r>
                    </a:p>
                  </a:txBody>
                  <a:tcPr/>
                </a:tc>
                <a:tc>
                  <a:txBody>
                    <a:bodyPr/>
                    <a:lstStyle/>
                    <a:p>
                      <a:pPr algn="r" rtl="0" fontAlgn="ctr"/>
                      <a:r>
                        <a:rPr lang="en-US" sz="1800" b="0" i="0" u="none" strike="noStrike" dirty="0">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0"/>
                  </a:ext>
                </a:extLst>
              </a:tr>
              <a:tr h="370840">
                <a:tc>
                  <a:txBody>
                    <a:bodyPr/>
                    <a:lstStyle/>
                    <a:p>
                      <a:pPr algn="ctr"/>
                      <a:r>
                        <a:rPr lang="en-US" dirty="0"/>
                        <a:t>1/9</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1"/>
                  </a:ext>
                </a:extLst>
              </a:tr>
              <a:tr h="370840">
                <a:tc>
                  <a:txBody>
                    <a:bodyPr/>
                    <a:lstStyle/>
                    <a:p>
                      <a:pPr algn="ctr"/>
                      <a:r>
                        <a:rPr lang="en-US" dirty="0"/>
                        <a:t>1/8</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2"/>
                  </a:ext>
                </a:extLst>
              </a:tr>
              <a:tr h="370840">
                <a:tc>
                  <a:txBody>
                    <a:bodyPr/>
                    <a:lstStyle/>
                    <a:p>
                      <a:pPr algn="ctr"/>
                      <a:r>
                        <a:rPr lang="en-US" dirty="0"/>
                        <a:t>1/7</a:t>
                      </a:r>
                    </a:p>
                  </a:txBody>
                  <a:tcPr/>
                </a:tc>
                <a:tc>
                  <a:txBody>
                    <a:bodyPr/>
                    <a:lstStyle/>
                    <a:p>
                      <a:pPr algn="r" rtl="0" fontAlgn="ctr"/>
                      <a:r>
                        <a:rPr lang="cs-CZ" sz="1800" b="0" i="0" u="none" strike="noStrike">
                          <a:solidFill>
                            <a:srgbClr val="000000"/>
                          </a:solidFill>
                          <a:effectLst/>
                          <a:latin typeface="Calibri" charset="0"/>
                        </a:rPr>
                        <a:t>11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3"/>
                  </a:ext>
                </a:extLst>
              </a:tr>
              <a:tr h="370840">
                <a:tc>
                  <a:txBody>
                    <a:bodyPr/>
                    <a:lstStyle/>
                    <a:p>
                      <a:pPr algn="ctr"/>
                      <a:r>
                        <a:rPr lang="en-US" dirty="0"/>
                        <a:t>1/6</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10</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4"/>
                  </a:ext>
                </a:extLst>
              </a:tr>
              <a:tr h="370840">
                <a:tc>
                  <a:txBody>
                    <a:bodyPr/>
                    <a:lstStyle/>
                    <a:p>
                      <a:pPr algn="ctr"/>
                      <a:r>
                        <a:rPr lang="en-US" dirty="0"/>
                        <a:t>1/5</a:t>
                      </a:r>
                    </a:p>
                  </a:txBody>
                  <a:tcP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5"/>
                  </a:ext>
                </a:extLst>
              </a:tr>
              <a:tr h="370840">
                <a:tc>
                  <a:txBody>
                    <a:bodyPr/>
                    <a:lstStyle/>
                    <a:p>
                      <a:pPr algn="ctr"/>
                      <a:r>
                        <a:rPr lang="en-US" dirty="0"/>
                        <a:t>1/4</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6"/>
                  </a:ext>
                </a:extLst>
              </a:tr>
              <a:tr h="370840">
                <a:tc>
                  <a:txBody>
                    <a:bodyPr/>
                    <a:lstStyle/>
                    <a:p>
                      <a:pPr algn="ctr"/>
                      <a:r>
                        <a:rPr lang="en-US" dirty="0"/>
                        <a:t>1/3</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7"/>
                  </a:ext>
                </a:extLst>
              </a:tr>
              <a:tr h="370840">
                <a:tc>
                  <a:txBody>
                    <a:bodyPr/>
                    <a:lstStyle/>
                    <a:p>
                      <a:pPr algn="ctr"/>
                      <a:r>
                        <a:rPr lang="en-US" dirty="0"/>
                        <a:t>1/2</a:t>
                      </a:r>
                    </a:p>
                  </a:txBody>
                  <a:tcPr/>
                </a:tc>
                <a:tc>
                  <a:txBody>
                    <a:bodyPr/>
                    <a:lstStyle/>
                    <a:p>
                      <a:pPr algn="r" rtl="0" fontAlgn="ctr"/>
                      <a:r>
                        <a:rPr lang="en-US" sz="1800" b="0" i="0" u="none" strike="noStrike">
                          <a:solidFill>
                            <a:srgbClr val="000000"/>
                          </a:solidFill>
                          <a:effectLst/>
                          <a:latin typeface="Calibri" charset="0"/>
                        </a:rPr>
                        <a:t>90</a:t>
                      </a:r>
                    </a:p>
                  </a:txBody>
                  <a:tcPr marL="6350" marR="6350" marT="6350" marB="0" anchor="ct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rtl="0" fontAlgn="ctr"/>
                      <a:r>
                        <a:rPr lang="en-US" sz="1800" b="0" i="0" u="none" strike="noStrike">
                          <a:solidFill>
                            <a:srgbClr val="000000"/>
                          </a:solidFill>
                          <a:effectLst/>
                          <a:latin typeface="Calibri" charset="0"/>
                        </a:rPr>
                        <a:t>19</a:t>
                      </a:r>
                    </a:p>
                  </a:txBody>
                  <a:tcPr marL="6350" marR="6350" marT="6350" marB="0" anchor="ctr"/>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8"/>
                  </a:ext>
                </a:extLst>
              </a:tr>
              <a:tr h="0">
                <a:tc>
                  <a:txBody>
                    <a:bodyPr/>
                    <a:lstStyle/>
                    <a:p>
                      <a:pPr algn="ctr"/>
                      <a:r>
                        <a:rPr lang="en-US" dirty="0"/>
                        <a:t>1/1</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dirty="0">
                          <a:solidFill>
                            <a:srgbClr val="000000"/>
                          </a:solidFill>
                          <a:effectLst/>
                          <a:latin typeface="Calibri" charset="0"/>
                        </a:rPr>
                        <a:t>30</a:t>
                      </a:r>
                    </a:p>
                  </a:txBody>
                  <a:tcPr marL="6350" marR="6350" marT="6350" marB="0" anchor="ctr"/>
                </a:tc>
                <a:tc>
                  <a:txBody>
                    <a:bodyPr/>
                    <a:lstStyle/>
                    <a:p>
                      <a:pPr algn="r"/>
                      <a:r>
                        <a:rPr lang="en-US" dirty="0"/>
                        <a:t>1</a:t>
                      </a:r>
                    </a:p>
                  </a:txBody>
                  <a:tcPr/>
                </a:tc>
                <a:tc>
                  <a:txBody>
                    <a:bodyPr/>
                    <a:lstStyle/>
                    <a:p>
                      <a:pPr algn="r"/>
                      <a:r>
                        <a:rPr lang="en-US" dirty="0"/>
                        <a:t>1</a:t>
                      </a:r>
                    </a:p>
                  </a:txBody>
                  <a:tcPr/>
                </a:tc>
                <a:extLst>
                  <a:ext uri="{0D108BD9-81ED-4DB2-BD59-A6C34878D82A}">
                    <a16:rowId xmlns:a16="http://schemas.microsoft.com/office/drawing/2014/main" xmlns="" val="10009"/>
                  </a:ext>
                </a:extLst>
              </a:tr>
              <a:tr h="370840">
                <a:tc>
                  <a:txBody>
                    <a:bodyPr/>
                    <a:lstStyle/>
                    <a:p>
                      <a:pPr algn="ctr"/>
                      <a:endParaRPr lang="en-US" dirty="0"/>
                    </a:p>
                  </a:txBody>
                  <a:tcPr/>
                </a:tc>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ctr"/>
                      <a:r>
                        <a:rPr lang="en-US" dirty="0"/>
                        <a:t>trend</a:t>
                      </a:r>
                    </a:p>
                  </a:txBody>
                  <a:tcPr/>
                </a:tc>
                <a:tc>
                  <a:txBody>
                    <a:bodyPr/>
                    <a:lstStyle/>
                    <a:p>
                      <a:pPr algn="ctr"/>
                      <a:r>
                        <a:rPr lang="en-US" dirty="0"/>
                        <a:t>price</a:t>
                      </a:r>
                    </a:p>
                  </a:txBody>
                  <a:tcPr/>
                </a:tc>
                <a:extLst>
                  <a:ext uri="{0D108BD9-81ED-4DB2-BD59-A6C34878D82A}">
                    <a16:rowId xmlns:a16="http://schemas.microsoft.com/office/drawing/2014/main" xmlns="" val="10010"/>
                  </a:ext>
                </a:extLst>
              </a:tr>
            </a:tbl>
          </a:graphicData>
        </a:graphic>
      </p:graphicFrame>
      <p:sp>
        <p:nvSpPr>
          <p:cNvPr id="5" name="Rectangle 4"/>
          <p:cNvSpPr/>
          <p:nvPr/>
        </p:nvSpPr>
        <p:spPr>
          <a:xfrm>
            <a:off x="7942997" y="2848761"/>
            <a:ext cx="957886" cy="147395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985111" y="3938306"/>
            <a:ext cx="957886" cy="3844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8FD09EC2-3C1C-1643-A0E2-A9B1200FF76E}" type="slidenum">
              <a:rPr lang="en-US" smtClean="0"/>
              <a:t>10</a:t>
            </a:fld>
            <a:endParaRPr lang="en-US"/>
          </a:p>
        </p:txBody>
      </p:sp>
    </p:spTree>
    <p:extLst>
      <p:ext uri="{BB962C8B-B14F-4D97-AF65-F5344CB8AC3E}">
        <p14:creationId xmlns:p14="http://schemas.microsoft.com/office/powerpoint/2010/main" val="1598796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preprocess</a:t>
            </a:r>
          </a:p>
        </p:txBody>
      </p:sp>
      <p:graphicFrame>
        <p:nvGraphicFramePr>
          <p:cNvPr id="4" name="Content Placeholder 3"/>
          <p:cNvGraphicFramePr>
            <a:graphicFrameLocks/>
          </p:cNvGraphicFramePr>
          <p:nvPr>
            <p:extLst/>
          </p:nvPr>
        </p:nvGraphicFramePr>
        <p:xfrm>
          <a:off x="3174501" y="2093433"/>
          <a:ext cx="5726382" cy="407416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gridCol w="954397">
                  <a:extLst>
                    <a:ext uri="{9D8B030D-6E8A-4147-A177-3AD203B41FA5}">
                      <a16:colId xmlns:a16="http://schemas.microsoft.com/office/drawing/2014/main" xmlns="" val="20003"/>
                    </a:ext>
                  </a:extLst>
                </a:gridCol>
                <a:gridCol w="954397">
                  <a:extLst>
                    <a:ext uri="{9D8B030D-6E8A-4147-A177-3AD203B41FA5}">
                      <a16:colId xmlns:a16="http://schemas.microsoft.com/office/drawing/2014/main" xmlns="" val="20004"/>
                    </a:ext>
                  </a:extLst>
                </a:gridCol>
                <a:gridCol w="954397">
                  <a:extLst>
                    <a:ext uri="{9D8B030D-6E8A-4147-A177-3AD203B41FA5}">
                      <a16:colId xmlns:a16="http://schemas.microsoft.com/office/drawing/2014/main" xmlns="" val="20005"/>
                    </a:ext>
                  </a:extLst>
                </a:gridCol>
              </a:tblGrid>
              <a:tr h="370840">
                <a:tc>
                  <a:txBody>
                    <a:bodyPr/>
                    <a:lstStyle/>
                    <a:p>
                      <a:pPr algn="ctr"/>
                      <a:r>
                        <a:rPr lang="en-US" dirty="0"/>
                        <a:t>1/10</a:t>
                      </a:r>
                    </a:p>
                  </a:txBody>
                  <a:tcPr/>
                </a:tc>
                <a:tc>
                  <a:txBody>
                    <a:bodyPr/>
                    <a:lstStyle/>
                    <a:p>
                      <a:pPr algn="r" rtl="0" fontAlgn="ctr"/>
                      <a:r>
                        <a:rPr lang="en-US" sz="1800" b="0" i="0" u="none" strike="noStrike" dirty="0">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0"/>
                  </a:ext>
                </a:extLst>
              </a:tr>
              <a:tr h="370840">
                <a:tc>
                  <a:txBody>
                    <a:bodyPr/>
                    <a:lstStyle/>
                    <a:p>
                      <a:pPr algn="ctr"/>
                      <a:r>
                        <a:rPr lang="en-US" dirty="0"/>
                        <a:t>1/9</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1"/>
                  </a:ext>
                </a:extLst>
              </a:tr>
              <a:tr h="370840">
                <a:tc>
                  <a:txBody>
                    <a:bodyPr/>
                    <a:lstStyle/>
                    <a:p>
                      <a:pPr algn="ctr"/>
                      <a:r>
                        <a:rPr lang="en-US" dirty="0"/>
                        <a:t>1/8</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2"/>
                  </a:ext>
                </a:extLst>
              </a:tr>
              <a:tr h="370840">
                <a:tc>
                  <a:txBody>
                    <a:bodyPr/>
                    <a:lstStyle/>
                    <a:p>
                      <a:pPr algn="ctr"/>
                      <a:r>
                        <a:rPr lang="en-US" dirty="0"/>
                        <a:t>1/7</a:t>
                      </a:r>
                    </a:p>
                  </a:txBody>
                  <a:tcPr/>
                </a:tc>
                <a:tc>
                  <a:txBody>
                    <a:bodyPr/>
                    <a:lstStyle/>
                    <a:p>
                      <a:pPr algn="r" rtl="0" fontAlgn="ctr"/>
                      <a:r>
                        <a:rPr lang="cs-CZ" sz="1800" b="0" i="0" u="none" strike="noStrike">
                          <a:solidFill>
                            <a:srgbClr val="000000"/>
                          </a:solidFill>
                          <a:effectLst/>
                          <a:latin typeface="Calibri" charset="0"/>
                        </a:rPr>
                        <a:t>11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3"/>
                  </a:ext>
                </a:extLst>
              </a:tr>
              <a:tr h="370840">
                <a:tc>
                  <a:txBody>
                    <a:bodyPr/>
                    <a:lstStyle/>
                    <a:p>
                      <a:pPr algn="ctr"/>
                      <a:r>
                        <a:rPr lang="en-US" dirty="0"/>
                        <a:t>1/6</a:t>
                      </a:r>
                    </a:p>
                  </a:txBody>
                  <a:tcPr/>
                </a:tc>
                <a:tc>
                  <a:txBody>
                    <a:bodyPr/>
                    <a:lstStyle/>
                    <a:p>
                      <a:pPr algn="r" rtl="0" fontAlgn="ctr"/>
                      <a:r>
                        <a:rPr lang="en-US" sz="1800" b="0" i="0" u="none" strike="noStrike">
                          <a:solidFill>
                            <a:srgbClr val="000000"/>
                          </a:solidFill>
                          <a:effectLst/>
                          <a:latin typeface="Calibri" charset="0"/>
                        </a:rPr>
                        <a:t>1</a:t>
                      </a:r>
                    </a:p>
                  </a:txBody>
                  <a:tcPr marL="6350" marR="6350" marT="6350" marB="0" anchor="ctr">
                    <a:noFill/>
                  </a:tcPr>
                </a:tc>
                <a:tc>
                  <a:txBody>
                    <a:bodyPr/>
                    <a:lstStyle/>
                    <a:p>
                      <a:pPr algn="r" rtl="0" fontAlgn="ctr"/>
                      <a:r>
                        <a:rPr lang="en-US" sz="1800" b="0" i="0" u="none" strike="noStrike">
                          <a:solidFill>
                            <a:srgbClr val="000000"/>
                          </a:solidFill>
                          <a:effectLst/>
                          <a:latin typeface="Calibri" charset="0"/>
                        </a:rPr>
                        <a:t>10</a:t>
                      </a:r>
                    </a:p>
                  </a:txBody>
                  <a:tcPr marL="6350" marR="6350" marT="6350" marB="0" anchor="ctr"/>
                </a:tc>
                <a:tc>
                  <a:txBody>
                    <a:bodyPr/>
                    <a:lstStyle/>
                    <a:p>
                      <a:pPr algn="r" rtl="0" fontAlgn="ctr"/>
                      <a:r>
                        <a:rPr lang="en-US" sz="1800" b="0" i="0" u="none" strike="noStrike">
                          <a:solidFill>
                            <a:srgbClr val="000000"/>
                          </a:solidFill>
                          <a:effectLst/>
                          <a:latin typeface="Calibri" charset="0"/>
                        </a:rPr>
                        <a:t>5</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4"/>
                  </a:ext>
                </a:extLst>
              </a:tr>
              <a:tr h="370840">
                <a:tc>
                  <a:txBody>
                    <a:bodyPr/>
                    <a:lstStyle/>
                    <a:p>
                      <a:pPr algn="ctr"/>
                      <a:r>
                        <a:rPr lang="en-US" dirty="0"/>
                        <a:t>1/5</a:t>
                      </a:r>
                    </a:p>
                  </a:txBody>
                  <a:tcP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5"/>
                  </a:ext>
                </a:extLst>
              </a:tr>
              <a:tr h="370840">
                <a:tc>
                  <a:txBody>
                    <a:bodyPr/>
                    <a:lstStyle/>
                    <a:p>
                      <a:pPr algn="ctr"/>
                      <a:r>
                        <a:rPr lang="en-US" dirty="0"/>
                        <a:t>1/4</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6"/>
                  </a:ext>
                </a:extLst>
              </a:tr>
              <a:tr h="370840">
                <a:tc>
                  <a:txBody>
                    <a:bodyPr/>
                    <a:lstStyle/>
                    <a:p>
                      <a:pPr algn="ctr"/>
                      <a:r>
                        <a:rPr lang="en-US" dirty="0"/>
                        <a:t>1/3</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a:solidFill>
                            <a:srgbClr val="000000"/>
                          </a:solidFill>
                          <a:effectLst/>
                          <a:latin typeface="Calibri" charset="0"/>
                        </a:rPr>
                        <a:t>3</a:t>
                      </a:r>
                    </a:p>
                  </a:txBody>
                  <a:tcPr marL="6350" marR="6350" marT="6350" marB="0" anchor="ctr"/>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7"/>
                  </a:ext>
                </a:extLst>
              </a:tr>
              <a:tr h="370840">
                <a:tc>
                  <a:txBody>
                    <a:bodyPr/>
                    <a:lstStyle/>
                    <a:p>
                      <a:pPr algn="ctr"/>
                      <a:r>
                        <a:rPr lang="en-US" dirty="0"/>
                        <a:t>1/2</a:t>
                      </a:r>
                    </a:p>
                  </a:txBody>
                  <a:tcPr/>
                </a:tc>
                <a:tc>
                  <a:txBody>
                    <a:bodyPr/>
                    <a:lstStyle/>
                    <a:p>
                      <a:pPr algn="r" rtl="0" fontAlgn="ctr"/>
                      <a:r>
                        <a:rPr lang="en-US" sz="1800" b="0" i="0" u="none" strike="noStrike">
                          <a:solidFill>
                            <a:srgbClr val="000000"/>
                          </a:solidFill>
                          <a:effectLst/>
                          <a:latin typeface="Calibri" charset="0"/>
                        </a:rPr>
                        <a:t>90</a:t>
                      </a:r>
                    </a:p>
                  </a:txBody>
                  <a:tcPr marL="6350" marR="6350" marT="6350" marB="0" anchor="ctr"/>
                </a:tc>
                <a:tc>
                  <a:txBody>
                    <a:bodyPr/>
                    <a:lstStyle/>
                    <a:p>
                      <a:pPr algn="r" rtl="0" fontAlgn="ctr"/>
                      <a:r>
                        <a:rPr lang="is-IS" sz="1800" b="0" i="0" u="none" strike="noStrike">
                          <a:solidFill>
                            <a:srgbClr val="000000"/>
                          </a:solidFill>
                          <a:effectLst/>
                          <a:latin typeface="Calibri" charset="0"/>
                        </a:rPr>
                        <a:t>20</a:t>
                      </a:r>
                    </a:p>
                  </a:txBody>
                  <a:tcPr marL="6350" marR="6350" marT="6350" marB="0" anchor="ctr"/>
                </a:tc>
                <a:tc>
                  <a:txBody>
                    <a:bodyPr/>
                    <a:lstStyle/>
                    <a:p>
                      <a:pPr algn="r" rtl="0" fontAlgn="ctr"/>
                      <a:r>
                        <a:rPr lang="en-US" sz="1800" b="0" i="0" u="none" strike="noStrike">
                          <a:solidFill>
                            <a:srgbClr val="000000"/>
                          </a:solidFill>
                          <a:effectLst/>
                          <a:latin typeface="Calibri" charset="0"/>
                        </a:rPr>
                        <a:t>19</a:t>
                      </a:r>
                    </a:p>
                  </a:txBody>
                  <a:tcPr marL="6350" marR="6350" marT="6350" marB="0" anchor="ctr"/>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8"/>
                  </a:ext>
                </a:extLst>
              </a:tr>
              <a:tr h="0">
                <a:tc>
                  <a:txBody>
                    <a:bodyPr/>
                    <a:lstStyle/>
                    <a:p>
                      <a:pPr algn="ctr"/>
                      <a:r>
                        <a:rPr lang="en-US" dirty="0"/>
                        <a:t>1/1</a:t>
                      </a:r>
                    </a:p>
                  </a:txBody>
                  <a:tcPr/>
                </a:tc>
                <a:tc>
                  <a:txBody>
                    <a:bodyPr/>
                    <a:lstStyle/>
                    <a:p>
                      <a:pPr algn="r" rtl="0" fontAlgn="ctr"/>
                      <a:r>
                        <a:rPr lang="en-US" sz="1800" b="0" i="0" u="none" strike="noStrike">
                          <a:solidFill>
                            <a:srgbClr val="000000"/>
                          </a:solidFill>
                          <a:effectLst/>
                          <a:latin typeface="Calibri" charset="0"/>
                        </a:rPr>
                        <a:t>9</a:t>
                      </a:r>
                    </a:p>
                  </a:txBody>
                  <a:tcPr marL="6350" marR="6350" marT="6350" marB="0" anchor="ctr"/>
                </a:tc>
                <a:tc>
                  <a:txBody>
                    <a:bodyPr/>
                    <a:lstStyle/>
                    <a:p>
                      <a:pPr algn="r" rtl="0" fontAlgn="ctr"/>
                      <a:r>
                        <a:rPr lang="en-US" sz="1800" b="0" i="0" u="none" strike="noStrike">
                          <a:solidFill>
                            <a:srgbClr val="000000"/>
                          </a:solidFill>
                          <a:effectLst/>
                          <a:latin typeface="Calibri" charset="0"/>
                        </a:rPr>
                        <a:t>7</a:t>
                      </a:r>
                    </a:p>
                  </a:txBody>
                  <a:tcPr marL="6350" marR="6350" marT="6350" marB="0" anchor="ctr"/>
                </a:tc>
                <a:tc>
                  <a:txBody>
                    <a:bodyPr/>
                    <a:lstStyle/>
                    <a:p>
                      <a:pPr algn="r" rtl="0" fontAlgn="ctr"/>
                      <a:r>
                        <a:rPr lang="en-US" sz="1800" b="0" i="0" u="none" strike="noStrike" dirty="0">
                          <a:solidFill>
                            <a:srgbClr val="000000"/>
                          </a:solidFill>
                          <a:effectLst/>
                          <a:latin typeface="Calibri" charset="0"/>
                        </a:rPr>
                        <a:t>30</a:t>
                      </a:r>
                    </a:p>
                  </a:txBody>
                  <a:tcPr marL="6350" marR="6350" marT="6350" marB="0" anchor="ctr"/>
                </a:tc>
                <a:tc>
                  <a:txBody>
                    <a:bodyPr/>
                    <a:lstStyle/>
                    <a:p>
                      <a:pPr algn="r"/>
                      <a:r>
                        <a:rPr lang="en-US" dirty="0"/>
                        <a:t>1</a:t>
                      </a:r>
                    </a:p>
                  </a:txBody>
                  <a:tcPr/>
                </a:tc>
                <a:tc>
                  <a:txBody>
                    <a:bodyPr/>
                    <a:lstStyle/>
                    <a:p>
                      <a:pPr algn="r"/>
                      <a:r>
                        <a:rPr lang="en-US" dirty="0"/>
                        <a:t>1</a:t>
                      </a:r>
                    </a:p>
                  </a:txBody>
                  <a:tcPr/>
                </a:tc>
                <a:extLst>
                  <a:ext uri="{0D108BD9-81ED-4DB2-BD59-A6C34878D82A}">
                    <a16:rowId xmlns:a16="http://schemas.microsoft.com/office/drawing/2014/main" xmlns="" val="10009"/>
                  </a:ext>
                </a:extLst>
              </a:tr>
              <a:tr h="370840">
                <a:tc>
                  <a:txBody>
                    <a:bodyPr/>
                    <a:lstStyle/>
                    <a:p>
                      <a:pPr algn="ctr"/>
                      <a:endParaRPr lang="en-US" dirty="0"/>
                    </a:p>
                  </a:txBody>
                  <a:tcPr/>
                </a:tc>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ctr"/>
                      <a:r>
                        <a:rPr lang="en-US" dirty="0"/>
                        <a:t>trend</a:t>
                      </a:r>
                    </a:p>
                  </a:txBody>
                  <a:tcPr/>
                </a:tc>
                <a:tc>
                  <a:txBody>
                    <a:bodyPr/>
                    <a:lstStyle/>
                    <a:p>
                      <a:pPr algn="ctr"/>
                      <a:r>
                        <a:rPr lang="en-US" dirty="0"/>
                        <a:t>price</a:t>
                      </a:r>
                    </a:p>
                  </a:txBody>
                  <a:tcPr/>
                </a:tc>
                <a:extLst>
                  <a:ext uri="{0D108BD9-81ED-4DB2-BD59-A6C34878D82A}">
                    <a16:rowId xmlns:a16="http://schemas.microsoft.com/office/drawing/2014/main" xmlns="" val="10010"/>
                  </a:ext>
                </a:extLst>
              </a:tr>
            </a:tbl>
          </a:graphicData>
        </a:graphic>
      </p:graphicFrame>
      <p:sp>
        <p:nvSpPr>
          <p:cNvPr id="5" name="Rectangle 4"/>
          <p:cNvSpPr/>
          <p:nvPr/>
        </p:nvSpPr>
        <p:spPr>
          <a:xfrm>
            <a:off x="7942997" y="1719939"/>
            <a:ext cx="957886" cy="147395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985111" y="2809484"/>
            <a:ext cx="957886" cy="3844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8FD09EC2-3C1C-1643-A0E2-A9B1200FF76E}" type="slidenum">
              <a:rPr lang="en-US" smtClean="0"/>
              <a:t>11</a:t>
            </a:fld>
            <a:endParaRPr lang="en-US"/>
          </a:p>
        </p:txBody>
      </p:sp>
    </p:spTree>
    <p:extLst>
      <p:ext uri="{BB962C8B-B14F-4D97-AF65-F5344CB8AC3E}">
        <p14:creationId xmlns:p14="http://schemas.microsoft.com/office/powerpoint/2010/main" val="5957393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preprocess</a:t>
            </a:r>
          </a:p>
        </p:txBody>
      </p:sp>
      <p:graphicFrame>
        <p:nvGraphicFramePr>
          <p:cNvPr id="4" name="Content Placeholder 3"/>
          <p:cNvGraphicFramePr>
            <a:graphicFrameLocks/>
          </p:cNvGraphicFramePr>
          <p:nvPr>
            <p:extLst>
              <p:ext uri="{D42A27DB-BD31-4B8C-83A1-F6EECF244321}">
                <p14:modId xmlns:p14="http://schemas.microsoft.com/office/powerpoint/2010/main" val="1088025263"/>
              </p:ext>
            </p:extLst>
          </p:nvPr>
        </p:nvGraphicFramePr>
        <p:xfrm>
          <a:off x="3174501" y="2093433"/>
          <a:ext cx="5726382" cy="407416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gridCol w="954397">
                  <a:extLst>
                    <a:ext uri="{9D8B030D-6E8A-4147-A177-3AD203B41FA5}">
                      <a16:colId xmlns:a16="http://schemas.microsoft.com/office/drawing/2014/main" xmlns="" val="20003"/>
                    </a:ext>
                  </a:extLst>
                </a:gridCol>
                <a:gridCol w="954397">
                  <a:extLst>
                    <a:ext uri="{9D8B030D-6E8A-4147-A177-3AD203B41FA5}">
                      <a16:colId xmlns:a16="http://schemas.microsoft.com/office/drawing/2014/main" xmlns="" val="20004"/>
                    </a:ext>
                  </a:extLst>
                </a:gridCol>
                <a:gridCol w="954397">
                  <a:extLst>
                    <a:ext uri="{9D8B030D-6E8A-4147-A177-3AD203B41FA5}">
                      <a16:colId xmlns:a16="http://schemas.microsoft.com/office/drawing/2014/main" xmlns="" val="20005"/>
                    </a:ext>
                  </a:extLst>
                </a:gridCol>
              </a:tblGrid>
              <a:tr h="370840">
                <a:tc>
                  <a:txBody>
                    <a:bodyPr/>
                    <a:lstStyle/>
                    <a:p>
                      <a:pPr algn="ctr"/>
                      <a:r>
                        <a:rPr lang="en-US" dirty="0"/>
                        <a:t>1/10</a:t>
                      </a:r>
                    </a:p>
                  </a:txBody>
                  <a:tcPr/>
                </a:tc>
                <a:tc>
                  <a:txBody>
                    <a:bodyPr/>
                    <a:lstStyle/>
                    <a:p>
                      <a:pPr algn="r" fontAlgn="b"/>
                      <a:r>
                        <a:rPr lang="nb-NO" sz="1800" b="0" i="0" u="none" strike="noStrike" dirty="0">
                          <a:solidFill>
                            <a:srgbClr val="000000"/>
                          </a:solidFill>
                          <a:effectLst/>
                          <a:latin typeface="Calibri" charset="0"/>
                        </a:rPr>
                        <a:t>0.01</a:t>
                      </a:r>
                    </a:p>
                  </a:txBody>
                  <a:tcPr marL="6350" marR="6350" marT="6350" marB="0" anchor="b">
                    <a:noFill/>
                  </a:tcPr>
                </a:tc>
                <a:tc>
                  <a:txBody>
                    <a:bodyPr/>
                    <a:lstStyle/>
                    <a:p>
                      <a:pPr algn="r" fontAlgn="b"/>
                      <a:r>
                        <a:rPr lang="pt-BR" sz="1800" b="0" i="0" u="none" strike="noStrike">
                          <a:solidFill>
                            <a:srgbClr val="000000"/>
                          </a:solidFill>
                          <a:effectLst/>
                          <a:latin typeface="Calibri" charset="0"/>
                        </a:rPr>
                        <a:t>0.05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0"/>
                  </a:ext>
                </a:extLst>
              </a:tr>
              <a:tr h="370840">
                <a:tc>
                  <a:txBody>
                    <a:bodyPr/>
                    <a:lstStyle/>
                    <a:p>
                      <a:pPr algn="ctr"/>
                      <a:r>
                        <a:rPr lang="en-US" dirty="0"/>
                        <a:t>1/9</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1"/>
                  </a:ext>
                </a:extLst>
              </a:tr>
              <a:tr h="370840">
                <a:tc>
                  <a:txBody>
                    <a:bodyPr/>
                    <a:lstStyle/>
                    <a:p>
                      <a:pPr algn="ctr"/>
                      <a:r>
                        <a:rPr lang="en-US" dirty="0"/>
                        <a:t>1/8</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2"/>
                  </a:ext>
                </a:extLst>
              </a:tr>
              <a:tr h="370840">
                <a:tc>
                  <a:txBody>
                    <a:bodyPr/>
                    <a:lstStyle/>
                    <a:p>
                      <a:pPr algn="ctr"/>
                      <a:r>
                        <a:rPr lang="en-US" dirty="0"/>
                        <a:t>1/7</a:t>
                      </a:r>
                    </a:p>
                  </a:txBody>
                  <a:tcPr/>
                </a:tc>
                <a:tc>
                  <a:txBody>
                    <a:bodyPr/>
                    <a:lstStyle/>
                    <a:p>
                      <a:pPr algn="r" fontAlgn="b"/>
                      <a:r>
                        <a:rPr lang="nb-NO" sz="1800" b="0" i="0" u="none" strike="noStrike">
                          <a:solidFill>
                            <a:srgbClr val="000000"/>
                          </a:solidFill>
                          <a:effectLst/>
                          <a:latin typeface="Calibri" charset="0"/>
                        </a:rPr>
                        <a:t>0.12</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0.67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3"/>
                  </a:ext>
                </a:extLst>
              </a:tr>
              <a:tr h="370840">
                <a:tc>
                  <a:txBody>
                    <a:bodyPr/>
                    <a:lstStyle/>
                    <a:p>
                      <a:pPr algn="ctr"/>
                      <a:r>
                        <a:rPr lang="en-US" dirty="0"/>
                        <a:t>1/6</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0.50</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4"/>
                  </a:ext>
                </a:extLst>
              </a:tr>
              <a:tr h="370840">
                <a:tc>
                  <a:txBody>
                    <a:bodyPr/>
                    <a:lstStyle/>
                    <a:p>
                      <a:pPr algn="ctr"/>
                      <a:r>
                        <a:rPr lang="en-US" dirty="0"/>
                        <a:t>1/5</a:t>
                      </a:r>
                    </a:p>
                  </a:txBody>
                  <a:tcPr/>
                </a:tc>
                <a:tc>
                  <a:txBody>
                    <a:bodyPr/>
                    <a:lstStyle/>
                    <a:p>
                      <a:pPr algn="r" fontAlgn="b"/>
                      <a:r>
                        <a:rPr lang="nb-NO" sz="1800" b="0" i="0" u="none" strike="noStrike">
                          <a:solidFill>
                            <a:srgbClr val="000000"/>
                          </a:solidFill>
                          <a:effectLst/>
                          <a:latin typeface="Calibri" charset="0"/>
                        </a:rPr>
                        <a:t>0.22</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5"/>
                  </a:ext>
                </a:extLst>
              </a:tr>
              <a:tr h="370840">
                <a:tc>
                  <a:txBody>
                    <a:bodyPr/>
                    <a:lstStyle/>
                    <a:p>
                      <a:pPr algn="ctr"/>
                      <a:r>
                        <a:rPr lang="en-US" dirty="0"/>
                        <a:t>1/4</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6"/>
                  </a:ext>
                </a:extLst>
              </a:tr>
              <a:tr h="370840">
                <a:tc>
                  <a:txBody>
                    <a:bodyPr/>
                    <a:lstStyle/>
                    <a:p>
                      <a:pPr algn="ctr"/>
                      <a:r>
                        <a:rPr lang="en-US" dirty="0"/>
                        <a:t>1/3</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7"/>
                  </a:ext>
                </a:extLst>
              </a:tr>
              <a:tr h="370840">
                <a:tc>
                  <a:txBody>
                    <a:bodyPr/>
                    <a:lstStyle/>
                    <a:p>
                      <a:pPr algn="ctr"/>
                      <a:r>
                        <a:rPr lang="en-US" dirty="0"/>
                        <a:t>1/2</a:t>
                      </a:r>
                    </a:p>
                  </a:txBody>
                  <a:tcPr/>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0.63</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8"/>
                  </a:ext>
                </a:extLst>
              </a:tr>
              <a:tr h="0">
                <a:tc>
                  <a:txBody>
                    <a:bodyPr/>
                    <a:lstStyle/>
                    <a:p>
                      <a:pPr algn="ctr"/>
                      <a:r>
                        <a:rPr lang="en-US" dirty="0"/>
                        <a:t>1/1</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dirty="0">
                          <a:solidFill>
                            <a:srgbClr val="000000"/>
                          </a:solidFill>
                          <a:effectLst/>
                          <a:latin typeface="Calibri" charset="0"/>
                        </a:rPr>
                        <a:t>1.00</a:t>
                      </a:r>
                    </a:p>
                  </a:txBody>
                  <a:tcPr marL="6350" marR="6350" marT="6350" marB="0" anchor="b"/>
                </a:tc>
                <a:tc>
                  <a:txBody>
                    <a:bodyPr/>
                    <a:lstStyle/>
                    <a:p>
                      <a:pPr algn="r"/>
                      <a:r>
                        <a:rPr lang="en-US" dirty="0"/>
                        <a:t>1</a:t>
                      </a:r>
                    </a:p>
                  </a:txBody>
                  <a:tcPr/>
                </a:tc>
                <a:tc>
                  <a:txBody>
                    <a:bodyPr/>
                    <a:lstStyle/>
                    <a:p>
                      <a:pPr algn="r"/>
                      <a:r>
                        <a:rPr lang="en-US" dirty="0"/>
                        <a:t>1</a:t>
                      </a:r>
                    </a:p>
                  </a:txBody>
                  <a:tcPr/>
                </a:tc>
                <a:extLst>
                  <a:ext uri="{0D108BD9-81ED-4DB2-BD59-A6C34878D82A}">
                    <a16:rowId xmlns:a16="http://schemas.microsoft.com/office/drawing/2014/main" xmlns="" val="10009"/>
                  </a:ext>
                </a:extLst>
              </a:tr>
              <a:tr h="370840">
                <a:tc>
                  <a:txBody>
                    <a:bodyPr/>
                    <a:lstStyle/>
                    <a:p>
                      <a:pPr algn="ctr"/>
                      <a:endParaRPr lang="en-US" dirty="0"/>
                    </a:p>
                  </a:txBody>
                  <a:tcPr/>
                </a:tc>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ctr"/>
                      <a:r>
                        <a:rPr lang="en-US" dirty="0"/>
                        <a:t>trend</a:t>
                      </a:r>
                    </a:p>
                  </a:txBody>
                  <a:tcPr/>
                </a:tc>
                <a:tc>
                  <a:txBody>
                    <a:bodyPr/>
                    <a:lstStyle/>
                    <a:p>
                      <a:pPr algn="ctr"/>
                      <a:r>
                        <a:rPr lang="en-US" dirty="0"/>
                        <a:t>price</a:t>
                      </a:r>
                    </a:p>
                  </a:txBody>
                  <a:tcPr/>
                </a:tc>
                <a:extLst>
                  <a:ext uri="{0D108BD9-81ED-4DB2-BD59-A6C34878D82A}">
                    <a16:rowId xmlns:a16="http://schemas.microsoft.com/office/drawing/2014/main" xmlns="" val="10010"/>
                  </a:ext>
                </a:extLst>
              </a:tr>
            </a:tbl>
          </a:graphicData>
        </a:graphic>
      </p:graphicFrame>
      <p:sp>
        <p:nvSpPr>
          <p:cNvPr id="3" name="Slide Number Placeholder 2"/>
          <p:cNvSpPr>
            <a:spLocks noGrp="1"/>
          </p:cNvSpPr>
          <p:nvPr>
            <p:ph type="sldNum" sz="quarter" idx="12"/>
          </p:nvPr>
        </p:nvSpPr>
        <p:spPr/>
        <p:txBody>
          <a:bodyPr/>
          <a:lstStyle/>
          <a:p>
            <a:fld id="{8FD09EC2-3C1C-1643-A0E2-A9B1200FF76E}" type="slidenum">
              <a:rPr lang="en-US" smtClean="0"/>
              <a:t>12</a:t>
            </a:fld>
            <a:endParaRPr lang="en-US"/>
          </a:p>
        </p:txBody>
      </p:sp>
    </p:spTree>
    <p:extLst>
      <p:ext uri="{BB962C8B-B14F-4D97-AF65-F5344CB8AC3E}">
        <p14:creationId xmlns:p14="http://schemas.microsoft.com/office/powerpoint/2010/main" val="2716924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fontAlgn="base"/>
            <a:r>
              <a:rPr lang="en-US" dirty="0" err="1"/>
              <a:t>Bicluster</a:t>
            </a:r>
            <a:r>
              <a:rPr lang="en-US" dirty="0"/>
              <a:t> method</a:t>
            </a:r>
          </a:p>
        </p:txBody>
      </p:sp>
      <p:sp>
        <p:nvSpPr>
          <p:cNvPr id="5" name="Rectangle 4"/>
          <p:cNvSpPr/>
          <p:nvPr/>
        </p:nvSpPr>
        <p:spPr>
          <a:xfrm>
            <a:off x="4135477" y="2082636"/>
            <a:ext cx="972025" cy="110469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135476" y="3576370"/>
            <a:ext cx="972025" cy="34125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135476" y="5430722"/>
            <a:ext cx="993190" cy="348359"/>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135476" y="4334183"/>
            <a:ext cx="972025" cy="727427"/>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p:cNvGraphicFramePr>
            <a:graphicFrameLocks/>
          </p:cNvGraphicFramePr>
          <p:nvPr>
            <p:extLst>
              <p:ext uri="{D42A27DB-BD31-4B8C-83A1-F6EECF244321}">
                <p14:modId xmlns:p14="http://schemas.microsoft.com/office/powerpoint/2010/main" val="211883331"/>
              </p:ext>
            </p:extLst>
          </p:nvPr>
        </p:nvGraphicFramePr>
        <p:xfrm>
          <a:off x="3174501" y="2093433"/>
          <a:ext cx="5726382" cy="407416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gridCol w="954397">
                  <a:extLst>
                    <a:ext uri="{9D8B030D-6E8A-4147-A177-3AD203B41FA5}">
                      <a16:colId xmlns:a16="http://schemas.microsoft.com/office/drawing/2014/main" xmlns="" val="20003"/>
                    </a:ext>
                  </a:extLst>
                </a:gridCol>
                <a:gridCol w="954397">
                  <a:extLst>
                    <a:ext uri="{9D8B030D-6E8A-4147-A177-3AD203B41FA5}">
                      <a16:colId xmlns:a16="http://schemas.microsoft.com/office/drawing/2014/main" xmlns="" val="20004"/>
                    </a:ext>
                  </a:extLst>
                </a:gridCol>
                <a:gridCol w="954397">
                  <a:extLst>
                    <a:ext uri="{9D8B030D-6E8A-4147-A177-3AD203B41FA5}">
                      <a16:colId xmlns:a16="http://schemas.microsoft.com/office/drawing/2014/main" xmlns="" val="20005"/>
                    </a:ext>
                  </a:extLst>
                </a:gridCol>
              </a:tblGrid>
              <a:tr h="370840">
                <a:tc>
                  <a:txBody>
                    <a:bodyPr/>
                    <a:lstStyle/>
                    <a:p>
                      <a:pPr algn="ctr"/>
                      <a:r>
                        <a:rPr lang="en-US" dirty="0"/>
                        <a:t>1/10</a:t>
                      </a:r>
                    </a:p>
                  </a:txBody>
                  <a:tcPr/>
                </a:tc>
                <a:tc>
                  <a:txBody>
                    <a:bodyPr/>
                    <a:lstStyle/>
                    <a:p>
                      <a:pPr algn="r" fontAlgn="b"/>
                      <a:r>
                        <a:rPr lang="nb-NO" sz="1800" b="0" i="0" u="none" strike="noStrike" dirty="0">
                          <a:solidFill>
                            <a:srgbClr val="000000"/>
                          </a:solidFill>
                          <a:effectLst/>
                          <a:latin typeface="Calibri" charset="0"/>
                        </a:rPr>
                        <a:t>0.01</a:t>
                      </a:r>
                    </a:p>
                  </a:txBody>
                  <a:tcPr marL="6350" marR="6350" marT="6350" marB="0" anchor="b">
                    <a:noFill/>
                  </a:tcPr>
                </a:tc>
                <a:tc>
                  <a:txBody>
                    <a:bodyPr/>
                    <a:lstStyle/>
                    <a:p>
                      <a:pPr algn="r" fontAlgn="b"/>
                      <a:r>
                        <a:rPr lang="pt-BR" sz="1800" b="0" i="0" u="none" strike="noStrike">
                          <a:solidFill>
                            <a:srgbClr val="000000"/>
                          </a:solidFill>
                          <a:effectLst/>
                          <a:latin typeface="Calibri" charset="0"/>
                        </a:rPr>
                        <a:t>0.05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0"/>
                  </a:ext>
                </a:extLst>
              </a:tr>
              <a:tr h="370840">
                <a:tc>
                  <a:txBody>
                    <a:bodyPr/>
                    <a:lstStyle/>
                    <a:p>
                      <a:pPr algn="ctr"/>
                      <a:r>
                        <a:rPr lang="en-US" dirty="0"/>
                        <a:t>1/9</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1"/>
                  </a:ext>
                </a:extLst>
              </a:tr>
              <a:tr h="370840">
                <a:tc>
                  <a:txBody>
                    <a:bodyPr/>
                    <a:lstStyle/>
                    <a:p>
                      <a:pPr algn="ctr"/>
                      <a:r>
                        <a:rPr lang="en-US" dirty="0"/>
                        <a:t>1/8</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2"/>
                  </a:ext>
                </a:extLst>
              </a:tr>
              <a:tr h="370840">
                <a:tc>
                  <a:txBody>
                    <a:bodyPr/>
                    <a:lstStyle/>
                    <a:p>
                      <a:pPr algn="ctr"/>
                      <a:r>
                        <a:rPr lang="en-US" dirty="0"/>
                        <a:t>1/7</a:t>
                      </a:r>
                    </a:p>
                  </a:txBody>
                  <a:tcPr/>
                </a:tc>
                <a:tc>
                  <a:txBody>
                    <a:bodyPr/>
                    <a:lstStyle/>
                    <a:p>
                      <a:pPr algn="r" fontAlgn="b"/>
                      <a:r>
                        <a:rPr lang="nb-NO" sz="1800" b="0" i="0" u="none" strike="noStrike">
                          <a:solidFill>
                            <a:srgbClr val="000000"/>
                          </a:solidFill>
                          <a:effectLst/>
                          <a:latin typeface="Calibri" charset="0"/>
                        </a:rPr>
                        <a:t>0.12</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0.67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3"/>
                  </a:ext>
                </a:extLst>
              </a:tr>
              <a:tr h="370840">
                <a:tc>
                  <a:txBody>
                    <a:bodyPr/>
                    <a:lstStyle/>
                    <a:p>
                      <a:pPr algn="ctr"/>
                      <a:r>
                        <a:rPr lang="en-US" dirty="0"/>
                        <a:t>1/6</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0.50</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4"/>
                  </a:ext>
                </a:extLst>
              </a:tr>
              <a:tr h="370840">
                <a:tc>
                  <a:txBody>
                    <a:bodyPr/>
                    <a:lstStyle/>
                    <a:p>
                      <a:pPr algn="ctr"/>
                      <a:r>
                        <a:rPr lang="en-US" dirty="0"/>
                        <a:t>1/5</a:t>
                      </a:r>
                    </a:p>
                  </a:txBody>
                  <a:tcPr/>
                </a:tc>
                <a:tc>
                  <a:txBody>
                    <a:bodyPr/>
                    <a:lstStyle/>
                    <a:p>
                      <a:pPr algn="r" fontAlgn="b"/>
                      <a:r>
                        <a:rPr lang="nb-NO" sz="1800" b="0" i="0" u="none" strike="noStrike">
                          <a:solidFill>
                            <a:srgbClr val="000000"/>
                          </a:solidFill>
                          <a:effectLst/>
                          <a:latin typeface="Calibri" charset="0"/>
                        </a:rPr>
                        <a:t>0.22</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5"/>
                  </a:ext>
                </a:extLst>
              </a:tr>
              <a:tr h="370840">
                <a:tc>
                  <a:txBody>
                    <a:bodyPr/>
                    <a:lstStyle/>
                    <a:p>
                      <a:pPr algn="ctr"/>
                      <a:r>
                        <a:rPr lang="en-US" dirty="0"/>
                        <a:t>1/4</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6"/>
                  </a:ext>
                </a:extLst>
              </a:tr>
              <a:tr h="370840">
                <a:tc>
                  <a:txBody>
                    <a:bodyPr/>
                    <a:lstStyle/>
                    <a:p>
                      <a:pPr algn="ctr"/>
                      <a:r>
                        <a:rPr lang="en-US" dirty="0"/>
                        <a:t>1/3</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7"/>
                  </a:ext>
                </a:extLst>
              </a:tr>
              <a:tr h="370840">
                <a:tc>
                  <a:txBody>
                    <a:bodyPr/>
                    <a:lstStyle/>
                    <a:p>
                      <a:pPr algn="ctr"/>
                      <a:r>
                        <a:rPr lang="en-US" dirty="0"/>
                        <a:t>1/2</a:t>
                      </a:r>
                    </a:p>
                  </a:txBody>
                  <a:tcPr/>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0.63</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8"/>
                  </a:ext>
                </a:extLst>
              </a:tr>
              <a:tr h="0">
                <a:tc>
                  <a:txBody>
                    <a:bodyPr/>
                    <a:lstStyle/>
                    <a:p>
                      <a:pPr algn="ctr"/>
                      <a:r>
                        <a:rPr lang="en-US" dirty="0"/>
                        <a:t>1/1</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dirty="0">
                          <a:solidFill>
                            <a:srgbClr val="000000"/>
                          </a:solidFill>
                          <a:effectLst/>
                          <a:latin typeface="Calibri" charset="0"/>
                        </a:rPr>
                        <a:t>1.00</a:t>
                      </a:r>
                    </a:p>
                  </a:txBody>
                  <a:tcPr marL="6350" marR="6350" marT="6350" marB="0" anchor="b"/>
                </a:tc>
                <a:tc>
                  <a:txBody>
                    <a:bodyPr/>
                    <a:lstStyle/>
                    <a:p>
                      <a:pPr algn="r"/>
                      <a:r>
                        <a:rPr lang="en-US" dirty="0"/>
                        <a:t>1</a:t>
                      </a:r>
                    </a:p>
                  </a:txBody>
                  <a:tcPr/>
                </a:tc>
                <a:tc>
                  <a:txBody>
                    <a:bodyPr/>
                    <a:lstStyle/>
                    <a:p>
                      <a:pPr algn="r"/>
                      <a:r>
                        <a:rPr lang="en-US" dirty="0"/>
                        <a:t>1</a:t>
                      </a:r>
                    </a:p>
                  </a:txBody>
                  <a:tcPr/>
                </a:tc>
                <a:extLst>
                  <a:ext uri="{0D108BD9-81ED-4DB2-BD59-A6C34878D82A}">
                    <a16:rowId xmlns:a16="http://schemas.microsoft.com/office/drawing/2014/main" xmlns="" val="10009"/>
                  </a:ext>
                </a:extLst>
              </a:tr>
              <a:tr h="370840">
                <a:tc>
                  <a:txBody>
                    <a:bodyPr/>
                    <a:lstStyle/>
                    <a:p>
                      <a:pPr algn="ctr"/>
                      <a:endParaRPr lang="en-US" dirty="0"/>
                    </a:p>
                  </a:txBody>
                  <a:tcPr/>
                </a:tc>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ctr"/>
                      <a:r>
                        <a:rPr lang="en-US" dirty="0"/>
                        <a:t>trend</a:t>
                      </a:r>
                    </a:p>
                  </a:txBody>
                  <a:tcPr/>
                </a:tc>
                <a:tc>
                  <a:txBody>
                    <a:bodyPr/>
                    <a:lstStyle/>
                    <a:p>
                      <a:pPr algn="ctr"/>
                      <a:r>
                        <a:rPr lang="en-US" dirty="0"/>
                        <a:t>price</a:t>
                      </a:r>
                    </a:p>
                  </a:txBody>
                  <a:tcPr/>
                </a:tc>
                <a:extLst>
                  <a:ext uri="{0D108BD9-81ED-4DB2-BD59-A6C34878D82A}">
                    <a16:rowId xmlns:a16="http://schemas.microsoft.com/office/drawing/2014/main" xmlns="" val="10010"/>
                  </a:ext>
                </a:extLst>
              </a:tr>
            </a:tbl>
          </a:graphicData>
        </a:graphic>
      </p:graphicFrame>
      <p:sp>
        <p:nvSpPr>
          <p:cNvPr id="3" name="Slide Number Placeholder 2"/>
          <p:cNvSpPr>
            <a:spLocks noGrp="1"/>
          </p:cNvSpPr>
          <p:nvPr>
            <p:ph type="sldNum" sz="quarter" idx="12"/>
          </p:nvPr>
        </p:nvSpPr>
        <p:spPr/>
        <p:txBody>
          <a:bodyPr/>
          <a:lstStyle/>
          <a:p>
            <a:fld id="{8FD09EC2-3C1C-1643-A0E2-A9B1200FF76E}" type="slidenum">
              <a:rPr lang="en-US" smtClean="0"/>
              <a:t>13</a:t>
            </a:fld>
            <a:endParaRPr lang="en-US"/>
          </a:p>
        </p:txBody>
      </p:sp>
    </p:spTree>
    <p:extLst>
      <p:ext uri="{BB962C8B-B14F-4D97-AF65-F5344CB8AC3E}">
        <p14:creationId xmlns:p14="http://schemas.microsoft.com/office/powerpoint/2010/main" val="19976979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Bicluster</a:t>
            </a:r>
            <a:r>
              <a:rPr lang="en-US" dirty="0"/>
              <a:t> method</a:t>
            </a:r>
          </a:p>
        </p:txBody>
      </p:sp>
      <p:sp>
        <p:nvSpPr>
          <p:cNvPr id="5" name="Rectangle 4"/>
          <p:cNvSpPr/>
          <p:nvPr/>
        </p:nvSpPr>
        <p:spPr>
          <a:xfrm>
            <a:off x="4135477" y="2082636"/>
            <a:ext cx="972025" cy="110469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135476" y="3576370"/>
            <a:ext cx="972025" cy="34125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135476" y="5430722"/>
            <a:ext cx="993190" cy="348359"/>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135476" y="4334183"/>
            <a:ext cx="972025" cy="727427"/>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052933" y="2490831"/>
            <a:ext cx="1015545" cy="1070032"/>
          </a:xfrm>
          <a:prstGeom prst="rect">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064220" y="3925038"/>
            <a:ext cx="1022257" cy="1157016"/>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085861" y="5430721"/>
            <a:ext cx="982617" cy="363867"/>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3"/>
          <p:cNvGraphicFramePr>
            <a:graphicFrameLocks/>
          </p:cNvGraphicFramePr>
          <p:nvPr>
            <p:extLst>
              <p:ext uri="{D42A27DB-BD31-4B8C-83A1-F6EECF244321}">
                <p14:modId xmlns:p14="http://schemas.microsoft.com/office/powerpoint/2010/main" val="927155340"/>
              </p:ext>
            </p:extLst>
          </p:nvPr>
        </p:nvGraphicFramePr>
        <p:xfrm>
          <a:off x="3174501" y="2093433"/>
          <a:ext cx="5726382" cy="407416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gridCol w="954397">
                  <a:extLst>
                    <a:ext uri="{9D8B030D-6E8A-4147-A177-3AD203B41FA5}">
                      <a16:colId xmlns:a16="http://schemas.microsoft.com/office/drawing/2014/main" xmlns="" val="20003"/>
                    </a:ext>
                  </a:extLst>
                </a:gridCol>
                <a:gridCol w="954397">
                  <a:extLst>
                    <a:ext uri="{9D8B030D-6E8A-4147-A177-3AD203B41FA5}">
                      <a16:colId xmlns:a16="http://schemas.microsoft.com/office/drawing/2014/main" xmlns="" val="20004"/>
                    </a:ext>
                  </a:extLst>
                </a:gridCol>
                <a:gridCol w="954397">
                  <a:extLst>
                    <a:ext uri="{9D8B030D-6E8A-4147-A177-3AD203B41FA5}">
                      <a16:colId xmlns:a16="http://schemas.microsoft.com/office/drawing/2014/main" xmlns="" val="20005"/>
                    </a:ext>
                  </a:extLst>
                </a:gridCol>
              </a:tblGrid>
              <a:tr h="370840">
                <a:tc>
                  <a:txBody>
                    <a:bodyPr/>
                    <a:lstStyle/>
                    <a:p>
                      <a:pPr algn="ctr"/>
                      <a:r>
                        <a:rPr lang="en-US" dirty="0"/>
                        <a:t>1/10</a:t>
                      </a:r>
                    </a:p>
                  </a:txBody>
                  <a:tcPr/>
                </a:tc>
                <a:tc>
                  <a:txBody>
                    <a:bodyPr/>
                    <a:lstStyle/>
                    <a:p>
                      <a:pPr algn="r" fontAlgn="b"/>
                      <a:r>
                        <a:rPr lang="nb-NO" sz="1800" b="0" i="0" u="none" strike="noStrike" dirty="0">
                          <a:solidFill>
                            <a:srgbClr val="000000"/>
                          </a:solidFill>
                          <a:effectLst/>
                          <a:latin typeface="Calibri" charset="0"/>
                        </a:rPr>
                        <a:t>0.01</a:t>
                      </a:r>
                    </a:p>
                  </a:txBody>
                  <a:tcPr marL="6350" marR="6350" marT="6350" marB="0" anchor="b">
                    <a:noFill/>
                  </a:tcPr>
                </a:tc>
                <a:tc>
                  <a:txBody>
                    <a:bodyPr/>
                    <a:lstStyle/>
                    <a:p>
                      <a:pPr algn="r" fontAlgn="b"/>
                      <a:r>
                        <a:rPr lang="pt-BR" sz="1800" b="0" i="0" u="none" strike="noStrike">
                          <a:solidFill>
                            <a:srgbClr val="000000"/>
                          </a:solidFill>
                          <a:effectLst/>
                          <a:latin typeface="Calibri" charset="0"/>
                        </a:rPr>
                        <a:t>0.05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0"/>
                  </a:ext>
                </a:extLst>
              </a:tr>
              <a:tr h="370840">
                <a:tc>
                  <a:txBody>
                    <a:bodyPr/>
                    <a:lstStyle/>
                    <a:p>
                      <a:pPr algn="ctr"/>
                      <a:r>
                        <a:rPr lang="en-US" dirty="0"/>
                        <a:t>1/9</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dirty="0">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1"/>
                  </a:ext>
                </a:extLst>
              </a:tr>
              <a:tr h="370840">
                <a:tc>
                  <a:txBody>
                    <a:bodyPr/>
                    <a:lstStyle/>
                    <a:p>
                      <a:pPr algn="ctr"/>
                      <a:r>
                        <a:rPr lang="en-US" dirty="0"/>
                        <a:t>1/8</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2"/>
                  </a:ext>
                </a:extLst>
              </a:tr>
              <a:tr h="370840">
                <a:tc>
                  <a:txBody>
                    <a:bodyPr/>
                    <a:lstStyle/>
                    <a:p>
                      <a:pPr algn="ctr"/>
                      <a:r>
                        <a:rPr lang="en-US" dirty="0"/>
                        <a:t>1/7</a:t>
                      </a:r>
                    </a:p>
                  </a:txBody>
                  <a:tcPr/>
                </a:tc>
                <a:tc>
                  <a:txBody>
                    <a:bodyPr/>
                    <a:lstStyle/>
                    <a:p>
                      <a:pPr algn="r" fontAlgn="b"/>
                      <a:r>
                        <a:rPr lang="nb-NO" sz="1800" b="0" i="0" u="none" strike="noStrike">
                          <a:solidFill>
                            <a:srgbClr val="000000"/>
                          </a:solidFill>
                          <a:effectLst/>
                          <a:latin typeface="Calibri" charset="0"/>
                        </a:rPr>
                        <a:t>0.12</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0.67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3"/>
                  </a:ext>
                </a:extLst>
              </a:tr>
              <a:tr h="370840">
                <a:tc>
                  <a:txBody>
                    <a:bodyPr/>
                    <a:lstStyle/>
                    <a:p>
                      <a:pPr algn="ctr"/>
                      <a:r>
                        <a:rPr lang="en-US" dirty="0"/>
                        <a:t>1/6</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0.50</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4"/>
                  </a:ext>
                </a:extLst>
              </a:tr>
              <a:tr h="370840">
                <a:tc>
                  <a:txBody>
                    <a:bodyPr/>
                    <a:lstStyle/>
                    <a:p>
                      <a:pPr algn="ctr"/>
                      <a:r>
                        <a:rPr lang="en-US" dirty="0"/>
                        <a:t>1/5</a:t>
                      </a:r>
                    </a:p>
                  </a:txBody>
                  <a:tcPr/>
                </a:tc>
                <a:tc>
                  <a:txBody>
                    <a:bodyPr/>
                    <a:lstStyle/>
                    <a:p>
                      <a:pPr algn="r" fontAlgn="b"/>
                      <a:r>
                        <a:rPr lang="nb-NO" sz="1800" b="0" i="0" u="none" strike="noStrike">
                          <a:solidFill>
                            <a:srgbClr val="000000"/>
                          </a:solidFill>
                          <a:effectLst/>
                          <a:latin typeface="Calibri" charset="0"/>
                        </a:rPr>
                        <a:t>0.22</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5"/>
                  </a:ext>
                </a:extLst>
              </a:tr>
              <a:tr h="370840">
                <a:tc>
                  <a:txBody>
                    <a:bodyPr/>
                    <a:lstStyle/>
                    <a:p>
                      <a:pPr algn="ctr"/>
                      <a:r>
                        <a:rPr lang="en-US" dirty="0"/>
                        <a:t>1/4</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6"/>
                  </a:ext>
                </a:extLst>
              </a:tr>
              <a:tr h="370840">
                <a:tc>
                  <a:txBody>
                    <a:bodyPr/>
                    <a:lstStyle/>
                    <a:p>
                      <a:pPr algn="ctr"/>
                      <a:r>
                        <a:rPr lang="en-US" dirty="0"/>
                        <a:t>1/3</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7"/>
                  </a:ext>
                </a:extLst>
              </a:tr>
              <a:tr h="370840">
                <a:tc>
                  <a:txBody>
                    <a:bodyPr/>
                    <a:lstStyle/>
                    <a:p>
                      <a:pPr algn="ctr"/>
                      <a:r>
                        <a:rPr lang="en-US" dirty="0"/>
                        <a:t>1/2</a:t>
                      </a:r>
                    </a:p>
                  </a:txBody>
                  <a:tcPr/>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0.63</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8"/>
                  </a:ext>
                </a:extLst>
              </a:tr>
              <a:tr h="0">
                <a:tc>
                  <a:txBody>
                    <a:bodyPr/>
                    <a:lstStyle/>
                    <a:p>
                      <a:pPr algn="ctr"/>
                      <a:r>
                        <a:rPr lang="en-US" dirty="0"/>
                        <a:t>1/1</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dirty="0">
                          <a:solidFill>
                            <a:srgbClr val="000000"/>
                          </a:solidFill>
                          <a:effectLst/>
                          <a:latin typeface="Calibri" charset="0"/>
                        </a:rPr>
                        <a:t>1.00</a:t>
                      </a:r>
                    </a:p>
                  </a:txBody>
                  <a:tcPr marL="6350" marR="6350" marT="6350" marB="0" anchor="b"/>
                </a:tc>
                <a:tc>
                  <a:txBody>
                    <a:bodyPr/>
                    <a:lstStyle/>
                    <a:p>
                      <a:pPr algn="r"/>
                      <a:r>
                        <a:rPr lang="en-US" dirty="0"/>
                        <a:t>1</a:t>
                      </a:r>
                    </a:p>
                  </a:txBody>
                  <a:tcPr/>
                </a:tc>
                <a:tc>
                  <a:txBody>
                    <a:bodyPr/>
                    <a:lstStyle/>
                    <a:p>
                      <a:pPr algn="r"/>
                      <a:r>
                        <a:rPr lang="en-US" dirty="0"/>
                        <a:t>1</a:t>
                      </a:r>
                    </a:p>
                  </a:txBody>
                  <a:tcPr/>
                </a:tc>
                <a:extLst>
                  <a:ext uri="{0D108BD9-81ED-4DB2-BD59-A6C34878D82A}">
                    <a16:rowId xmlns:a16="http://schemas.microsoft.com/office/drawing/2014/main" xmlns="" val="10009"/>
                  </a:ext>
                </a:extLst>
              </a:tr>
              <a:tr h="370840">
                <a:tc>
                  <a:txBody>
                    <a:bodyPr/>
                    <a:lstStyle/>
                    <a:p>
                      <a:pPr algn="ctr"/>
                      <a:endParaRPr lang="en-US" dirty="0"/>
                    </a:p>
                  </a:txBody>
                  <a:tcPr/>
                </a:tc>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ctr"/>
                      <a:r>
                        <a:rPr lang="en-US" dirty="0"/>
                        <a:t>trend</a:t>
                      </a:r>
                    </a:p>
                  </a:txBody>
                  <a:tcPr/>
                </a:tc>
                <a:tc>
                  <a:txBody>
                    <a:bodyPr/>
                    <a:lstStyle/>
                    <a:p>
                      <a:pPr algn="ctr"/>
                      <a:r>
                        <a:rPr lang="en-US" dirty="0"/>
                        <a:t>price</a:t>
                      </a:r>
                    </a:p>
                  </a:txBody>
                  <a:tcPr/>
                </a:tc>
                <a:extLst>
                  <a:ext uri="{0D108BD9-81ED-4DB2-BD59-A6C34878D82A}">
                    <a16:rowId xmlns:a16="http://schemas.microsoft.com/office/drawing/2014/main" xmlns="" val="10010"/>
                  </a:ext>
                </a:extLst>
              </a:tr>
            </a:tbl>
          </a:graphicData>
        </a:graphic>
      </p:graphicFrame>
      <p:sp>
        <p:nvSpPr>
          <p:cNvPr id="3" name="Slide Number Placeholder 2"/>
          <p:cNvSpPr>
            <a:spLocks noGrp="1"/>
          </p:cNvSpPr>
          <p:nvPr>
            <p:ph type="sldNum" sz="quarter" idx="12"/>
          </p:nvPr>
        </p:nvSpPr>
        <p:spPr/>
        <p:txBody>
          <a:bodyPr/>
          <a:lstStyle/>
          <a:p>
            <a:fld id="{8FD09EC2-3C1C-1643-A0E2-A9B1200FF76E}" type="slidenum">
              <a:rPr lang="en-US" smtClean="0"/>
              <a:t>14</a:t>
            </a:fld>
            <a:endParaRPr lang="en-US"/>
          </a:p>
        </p:txBody>
      </p:sp>
    </p:spTree>
    <p:extLst>
      <p:ext uri="{BB962C8B-B14F-4D97-AF65-F5344CB8AC3E}">
        <p14:creationId xmlns:p14="http://schemas.microsoft.com/office/powerpoint/2010/main" val="2639892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Bicluster</a:t>
            </a:r>
            <a:r>
              <a:rPr lang="en-US" dirty="0"/>
              <a:t> method</a:t>
            </a:r>
          </a:p>
        </p:txBody>
      </p:sp>
      <p:sp>
        <p:nvSpPr>
          <p:cNvPr id="5" name="Rectangle 4"/>
          <p:cNvSpPr/>
          <p:nvPr/>
        </p:nvSpPr>
        <p:spPr>
          <a:xfrm>
            <a:off x="4135477" y="2082636"/>
            <a:ext cx="972025" cy="110469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135476" y="3576370"/>
            <a:ext cx="972025" cy="34125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135476" y="5430722"/>
            <a:ext cx="993190" cy="348359"/>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135476" y="4334183"/>
            <a:ext cx="972025" cy="727427"/>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052933" y="2490831"/>
            <a:ext cx="1015545" cy="1113058"/>
          </a:xfrm>
          <a:prstGeom prst="rect">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064220" y="3925038"/>
            <a:ext cx="1022257" cy="1157016"/>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085861" y="5430721"/>
            <a:ext cx="982617" cy="363867"/>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049828" y="2141333"/>
            <a:ext cx="972025" cy="1045995"/>
          </a:xfrm>
          <a:prstGeom prst="rect">
            <a:avLst/>
          </a:prstGeom>
          <a:solidFill>
            <a:srgbClr val="00B0F0">
              <a:alpha val="50000"/>
            </a:srgb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049828" y="3925038"/>
            <a:ext cx="996925" cy="1157016"/>
          </a:xfrm>
          <a:prstGeom prst="rect">
            <a:avLst/>
          </a:prstGeom>
          <a:solidFill>
            <a:srgbClr val="7030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038779" y="3592142"/>
            <a:ext cx="972025" cy="325480"/>
          </a:xfrm>
          <a:prstGeom prst="rect">
            <a:avLst/>
          </a:prstGeom>
          <a:solidFill>
            <a:srgbClr val="00B0F0">
              <a:alpha val="50000"/>
            </a:srgb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ontent Placeholder 3"/>
          <p:cNvGraphicFramePr>
            <a:graphicFrameLocks/>
          </p:cNvGraphicFramePr>
          <p:nvPr>
            <p:extLst>
              <p:ext uri="{D42A27DB-BD31-4B8C-83A1-F6EECF244321}">
                <p14:modId xmlns:p14="http://schemas.microsoft.com/office/powerpoint/2010/main" val="870902497"/>
              </p:ext>
            </p:extLst>
          </p:nvPr>
        </p:nvGraphicFramePr>
        <p:xfrm>
          <a:off x="3174501" y="2093433"/>
          <a:ext cx="5726382" cy="407416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gridCol w="954397">
                  <a:extLst>
                    <a:ext uri="{9D8B030D-6E8A-4147-A177-3AD203B41FA5}">
                      <a16:colId xmlns:a16="http://schemas.microsoft.com/office/drawing/2014/main" xmlns="" val="20003"/>
                    </a:ext>
                  </a:extLst>
                </a:gridCol>
                <a:gridCol w="954397">
                  <a:extLst>
                    <a:ext uri="{9D8B030D-6E8A-4147-A177-3AD203B41FA5}">
                      <a16:colId xmlns:a16="http://schemas.microsoft.com/office/drawing/2014/main" xmlns="" val="20004"/>
                    </a:ext>
                  </a:extLst>
                </a:gridCol>
                <a:gridCol w="954397">
                  <a:extLst>
                    <a:ext uri="{9D8B030D-6E8A-4147-A177-3AD203B41FA5}">
                      <a16:colId xmlns:a16="http://schemas.microsoft.com/office/drawing/2014/main" xmlns="" val="20005"/>
                    </a:ext>
                  </a:extLst>
                </a:gridCol>
              </a:tblGrid>
              <a:tr h="370840">
                <a:tc>
                  <a:txBody>
                    <a:bodyPr/>
                    <a:lstStyle/>
                    <a:p>
                      <a:pPr algn="ctr"/>
                      <a:r>
                        <a:rPr lang="en-US" dirty="0"/>
                        <a:t>1/10</a:t>
                      </a:r>
                    </a:p>
                  </a:txBody>
                  <a:tcPr/>
                </a:tc>
                <a:tc>
                  <a:txBody>
                    <a:bodyPr/>
                    <a:lstStyle/>
                    <a:p>
                      <a:pPr algn="r" fontAlgn="b"/>
                      <a:r>
                        <a:rPr lang="nb-NO" sz="1800" b="0" i="0" u="none" strike="noStrike" dirty="0">
                          <a:solidFill>
                            <a:srgbClr val="000000"/>
                          </a:solidFill>
                          <a:effectLst/>
                          <a:latin typeface="Calibri" charset="0"/>
                        </a:rPr>
                        <a:t>0.01</a:t>
                      </a:r>
                    </a:p>
                  </a:txBody>
                  <a:tcPr marL="6350" marR="6350" marT="6350" marB="0" anchor="b">
                    <a:noFill/>
                  </a:tcPr>
                </a:tc>
                <a:tc>
                  <a:txBody>
                    <a:bodyPr/>
                    <a:lstStyle/>
                    <a:p>
                      <a:pPr algn="r" fontAlgn="b"/>
                      <a:r>
                        <a:rPr lang="pt-BR" sz="1800" b="0" i="0" u="none" strike="noStrike">
                          <a:solidFill>
                            <a:srgbClr val="000000"/>
                          </a:solidFill>
                          <a:effectLst/>
                          <a:latin typeface="Calibri" charset="0"/>
                        </a:rPr>
                        <a:t>0.05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0"/>
                  </a:ext>
                </a:extLst>
              </a:tr>
              <a:tr h="370840">
                <a:tc>
                  <a:txBody>
                    <a:bodyPr/>
                    <a:lstStyle/>
                    <a:p>
                      <a:pPr algn="ctr"/>
                      <a:r>
                        <a:rPr lang="en-US" dirty="0"/>
                        <a:t>1/9</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1"/>
                  </a:ext>
                </a:extLst>
              </a:tr>
              <a:tr h="370840">
                <a:tc>
                  <a:txBody>
                    <a:bodyPr/>
                    <a:lstStyle/>
                    <a:p>
                      <a:pPr algn="ctr"/>
                      <a:r>
                        <a:rPr lang="en-US" dirty="0"/>
                        <a:t>1/8</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dirty="0">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2"/>
                  </a:ext>
                </a:extLst>
              </a:tr>
              <a:tr h="370840">
                <a:tc>
                  <a:txBody>
                    <a:bodyPr/>
                    <a:lstStyle/>
                    <a:p>
                      <a:pPr algn="ctr"/>
                      <a:r>
                        <a:rPr lang="en-US" dirty="0"/>
                        <a:t>1/7</a:t>
                      </a:r>
                    </a:p>
                  </a:txBody>
                  <a:tcPr/>
                </a:tc>
                <a:tc>
                  <a:txBody>
                    <a:bodyPr/>
                    <a:lstStyle/>
                    <a:p>
                      <a:pPr algn="r" fontAlgn="b"/>
                      <a:r>
                        <a:rPr lang="nb-NO" sz="1800" b="0" i="0" u="none" strike="noStrike">
                          <a:solidFill>
                            <a:srgbClr val="000000"/>
                          </a:solidFill>
                          <a:effectLst/>
                          <a:latin typeface="Calibri" charset="0"/>
                        </a:rPr>
                        <a:t>0.12</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0.67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3"/>
                  </a:ext>
                </a:extLst>
              </a:tr>
              <a:tr h="370840">
                <a:tc>
                  <a:txBody>
                    <a:bodyPr/>
                    <a:lstStyle/>
                    <a:p>
                      <a:pPr algn="ctr"/>
                      <a:r>
                        <a:rPr lang="en-US" dirty="0"/>
                        <a:t>1/6</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0.50</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4"/>
                  </a:ext>
                </a:extLst>
              </a:tr>
              <a:tr h="370840">
                <a:tc>
                  <a:txBody>
                    <a:bodyPr/>
                    <a:lstStyle/>
                    <a:p>
                      <a:pPr algn="ctr"/>
                      <a:r>
                        <a:rPr lang="en-US" dirty="0"/>
                        <a:t>1/5</a:t>
                      </a:r>
                    </a:p>
                  </a:txBody>
                  <a:tcPr/>
                </a:tc>
                <a:tc>
                  <a:txBody>
                    <a:bodyPr/>
                    <a:lstStyle/>
                    <a:p>
                      <a:pPr algn="r" fontAlgn="b"/>
                      <a:r>
                        <a:rPr lang="nb-NO" sz="1800" b="0" i="0" u="none" strike="noStrike">
                          <a:solidFill>
                            <a:srgbClr val="000000"/>
                          </a:solidFill>
                          <a:effectLst/>
                          <a:latin typeface="Calibri" charset="0"/>
                        </a:rPr>
                        <a:t>0.22</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5"/>
                  </a:ext>
                </a:extLst>
              </a:tr>
              <a:tr h="370840">
                <a:tc>
                  <a:txBody>
                    <a:bodyPr/>
                    <a:lstStyle/>
                    <a:p>
                      <a:pPr algn="ctr"/>
                      <a:r>
                        <a:rPr lang="en-US" dirty="0"/>
                        <a:t>1/4</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6"/>
                  </a:ext>
                </a:extLst>
              </a:tr>
              <a:tr h="370840">
                <a:tc>
                  <a:txBody>
                    <a:bodyPr/>
                    <a:lstStyle/>
                    <a:p>
                      <a:pPr algn="ctr"/>
                      <a:r>
                        <a:rPr lang="en-US" dirty="0"/>
                        <a:t>1/3</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7"/>
                  </a:ext>
                </a:extLst>
              </a:tr>
              <a:tr h="370840">
                <a:tc>
                  <a:txBody>
                    <a:bodyPr/>
                    <a:lstStyle/>
                    <a:p>
                      <a:pPr algn="ctr"/>
                      <a:r>
                        <a:rPr lang="en-US" dirty="0"/>
                        <a:t>1/2</a:t>
                      </a:r>
                    </a:p>
                  </a:txBody>
                  <a:tcPr/>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0.63</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8"/>
                  </a:ext>
                </a:extLst>
              </a:tr>
              <a:tr h="0">
                <a:tc>
                  <a:txBody>
                    <a:bodyPr/>
                    <a:lstStyle/>
                    <a:p>
                      <a:pPr algn="ctr"/>
                      <a:r>
                        <a:rPr lang="en-US" dirty="0"/>
                        <a:t>1/1</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dirty="0">
                          <a:solidFill>
                            <a:srgbClr val="000000"/>
                          </a:solidFill>
                          <a:effectLst/>
                          <a:latin typeface="Calibri" charset="0"/>
                        </a:rPr>
                        <a:t>1.00</a:t>
                      </a:r>
                    </a:p>
                  </a:txBody>
                  <a:tcPr marL="6350" marR="6350" marT="6350" marB="0" anchor="b"/>
                </a:tc>
                <a:tc>
                  <a:txBody>
                    <a:bodyPr/>
                    <a:lstStyle/>
                    <a:p>
                      <a:pPr algn="r"/>
                      <a:r>
                        <a:rPr lang="en-US" dirty="0"/>
                        <a:t>1</a:t>
                      </a:r>
                    </a:p>
                  </a:txBody>
                  <a:tcPr/>
                </a:tc>
                <a:tc>
                  <a:txBody>
                    <a:bodyPr/>
                    <a:lstStyle/>
                    <a:p>
                      <a:pPr algn="r"/>
                      <a:r>
                        <a:rPr lang="en-US" dirty="0"/>
                        <a:t>1</a:t>
                      </a:r>
                    </a:p>
                  </a:txBody>
                  <a:tcPr/>
                </a:tc>
                <a:extLst>
                  <a:ext uri="{0D108BD9-81ED-4DB2-BD59-A6C34878D82A}">
                    <a16:rowId xmlns:a16="http://schemas.microsoft.com/office/drawing/2014/main" xmlns="" val="10009"/>
                  </a:ext>
                </a:extLst>
              </a:tr>
              <a:tr h="370840">
                <a:tc>
                  <a:txBody>
                    <a:bodyPr/>
                    <a:lstStyle/>
                    <a:p>
                      <a:pPr algn="ctr"/>
                      <a:endParaRPr lang="en-US" dirty="0"/>
                    </a:p>
                  </a:txBody>
                  <a:tcPr/>
                </a:tc>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ctr"/>
                      <a:r>
                        <a:rPr lang="en-US" dirty="0"/>
                        <a:t>trend</a:t>
                      </a:r>
                    </a:p>
                  </a:txBody>
                  <a:tcPr/>
                </a:tc>
                <a:tc>
                  <a:txBody>
                    <a:bodyPr/>
                    <a:lstStyle/>
                    <a:p>
                      <a:pPr algn="ctr"/>
                      <a:r>
                        <a:rPr lang="en-US" dirty="0"/>
                        <a:t>price</a:t>
                      </a:r>
                    </a:p>
                  </a:txBody>
                  <a:tcPr/>
                </a:tc>
                <a:extLst>
                  <a:ext uri="{0D108BD9-81ED-4DB2-BD59-A6C34878D82A}">
                    <a16:rowId xmlns:a16="http://schemas.microsoft.com/office/drawing/2014/main" xmlns="" val="10010"/>
                  </a:ext>
                </a:extLst>
              </a:tr>
            </a:tbl>
          </a:graphicData>
        </a:graphic>
      </p:graphicFrame>
      <p:sp>
        <p:nvSpPr>
          <p:cNvPr id="3" name="Slide Number Placeholder 2"/>
          <p:cNvSpPr>
            <a:spLocks noGrp="1"/>
          </p:cNvSpPr>
          <p:nvPr>
            <p:ph type="sldNum" sz="quarter" idx="12"/>
          </p:nvPr>
        </p:nvSpPr>
        <p:spPr/>
        <p:txBody>
          <a:bodyPr/>
          <a:lstStyle/>
          <a:p>
            <a:fld id="{8FD09EC2-3C1C-1643-A0E2-A9B1200FF76E}" type="slidenum">
              <a:rPr lang="en-US" smtClean="0"/>
              <a:t>15</a:t>
            </a:fld>
            <a:endParaRPr lang="en-US"/>
          </a:p>
        </p:txBody>
      </p:sp>
    </p:spTree>
    <p:extLst>
      <p:ext uri="{BB962C8B-B14F-4D97-AF65-F5344CB8AC3E}">
        <p14:creationId xmlns:p14="http://schemas.microsoft.com/office/powerpoint/2010/main" val="13012752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Bicluster</a:t>
            </a:r>
            <a:r>
              <a:rPr lang="en-US" dirty="0"/>
              <a:t> method</a:t>
            </a:r>
          </a:p>
        </p:txBody>
      </p:sp>
      <p:sp>
        <p:nvSpPr>
          <p:cNvPr id="5" name="Rectangle 4"/>
          <p:cNvSpPr/>
          <p:nvPr/>
        </p:nvSpPr>
        <p:spPr>
          <a:xfrm>
            <a:off x="4135477" y="2082636"/>
            <a:ext cx="972025" cy="110469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135476" y="3576370"/>
            <a:ext cx="972025" cy="34125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135476" y="5430722"/>
            <a:ext cx="1919332" cy="348359"/>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135476" y="4334183"/>
            <a:ext cx="1878431" cy="727427"/>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052933" y="2490831"/>
            <a:ext cx="1015545" cy="1085538"/>
          </a:xfrm>
          <a:prstGeom prst="rect">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064220" y="3925038"/>
            <a:ext cx="1022257" cy="1157016"/>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085861" y="5430721"/>
            <a:ext cx="982617" cy="363867"/>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049828" y="3925038"/>
            <a:ext cx="996925" cy="1157016"/>
          </a:xfrm>
          <a:prstGeom prst="rect">
            <a:avLst/>
          </a:prstGeom>
          <a:solidFill>
            <a:srgbClr val="7030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13908" y="2082636"/>
            <a:ext cx="972025" cy="110469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013907" y="3576370"/>
            <a:ext cx="972025" cy="34125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own Arrow 2"/>
          <p:cNvSpPr/>
          <p:nvPr/>
        </p:nvSpPr>
        <p:spPr>
          <a:xfrm>
            <a:off x="4421875" y="1548310"/>
            <a:ext cx="450376" cy="409433"/>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2"/>
          <a:stretch>
            <a:fillRect/>
          </a:stretch>
        </p:blipFill>
        <p:spPr>
          <a:xfrm>
            <a:off x="9535883" y="2093433"/>
            <a:ext cx="1930400" cy="1358900"/>
          </a:xfrm>
          <a:prstGeom prst="rect">
            <a:avLst/>
          </a:prstGeom>
        </p:spPr>
      </p:pic>
      <p:graphicFrame>
        <p:nvGraphicFramePr>
          <p:cNvPr id="18" name="Content Placeholder 3"/>
          <p:cNvGraphicFramePr>
            <a:graphicFrameLocks/>
          </p:cNvGraphicFramePr>
          <p:nvPr>
            <p:extLst>
              <p:ext uri="{D42A27DB-BD31-4B8C-83A1-F6EECF244321}">
                <p14:modId xmlns:p14="http://schemas.microsoft.com/office/powerpoint/2010/main" val="870902497"/>
              </p:ext>
            </p:extLst>
          </p:nvPr>
        </p:nvGraphicFramePr>
        <p:xfrm>
          <a:off x="3174501" y="2093433"/>
          <a:ext cx="5726382" cy="407416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gridCol w="954397">
                  <a:extLst>
                    <a:ext uri="{9D8B030D-6E8A-4147-A177-3AD203B41FA5}">
                      <a16:colId xmlns:a16="http://schemas.microsoft.com/office/drawing/2014/main" xmlns="" val="20003"/>
                    </a:ext>
                  </a:extLst>
                </a:gridCol>
                <a:gridCol w="954397">
                  <a:extLst>
                    <a:ext uri="{9D8B030D-6E8A-4147-A177-3AD203B41FA5}">
                      <a16:colId xmlns:a16="http://schemas.microsoft.com/office/drawing/2014/main" xmlns="" val="20004"/>
                    </a:ext>
                  </a:extLst>
                </a:gridCol>
                <a:gridCol w="954397">
                  <a:extLst>
                    <a:ext uri="{9D8B030D-6E8A-4147-A177-3AD203B41FA5}">
                      <a16:colId xmlns:a16="http://schemas.microsoft.com/office/drawing/2014/main" xmlns="" val="20005"/>
                    </a:ext>
                  </a:extLst>
                </a:gridCol>
              </a:tblGrid>
              <a:tr h="370840">
                <a:tc>
                  <a:txBody>
                    <a:bodyPr/>
                    <a:lstStyle/>
                    <a:p>
                      <a:pPr algn="ctr"/>
                      <a:r>
                        <a:rPr lang="en-US" dirty="0"/>
                        <a:t>1/10</a:t>
                      </a:r>
                    </a:p>
                  </a:txBody>
                  <a:tcPr/>
                </a:tc>
                <a:tc>
                  <a:txBody>
                    <a:bodyPr/>
                    <a:lstStyle/>
                    <a:p>
                      <a:pPr algn="r" fontAlgn="b"/>
                      <a:r>
                        <a:rPr lang="nb-NO" sz="1800" b="0" i="0" u="none" strike="noStrike" dirty="0">
                          <a:solidFill>
                            <a:srgbClr val="000000"/>
                          </a:solidFill>
                          <a:effectLst/>
                          <a:latin typeface="Calibri" charset="0"/>
                        </a:rPr>
                        <a:t>0.01</a:t>
                      </a:r>
                    </a:p>
                  </a:txBody>
                  <a:tcPr marL="6350" marR="6350" marT="6350" marB="0" anchor="b">
                    <a:noFill/>
                  </a:tcPr>
                </a:tc>
                <a:tc>
                  <a:txBody>
                    <a:bodyPr/>
                    <a:lstStyle/>
                    <a:p>
                      <a:pPr algn="r" fontAlgn="b"/>
                      <a:r>
                        <a:rPr lang="pt-BR" sz="1800" b="0" i="0" u="none" strike="noStrike">
                          <a:solidFill>
                            <a:srgbClr val="000000"/>
                          </a:solidFill>
                          <a:effectLst/>
                          <a:latin typeface="Calibri" charset="0"/>
                        </a:rPr>
                        <a:t>0.05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0"/>
                  </a:ext>
                </a:extLst>
              </a:tr>
              <a:tr h="370840">
                <a:tc>
                  <a:txBody>
                    <a:bodyPr/>
                    <a:lstStyle/>
                    <a:p>
                      <a:pPr algn="ctr"/>
                      <a:r>
                        <a:rPr lang="en-US" dirty="0"/>
                        <a:t>1/9</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1"/>
                  </a:ext>
                </a:extLst>
              </a:tr>
              <a:tr h="370840">
                <a:tc>
                  <a:txBody>
                    <a:bodyPr/>
                    <a:lstStyle/>
                    <a:p>
                      <a:pPr algn="ctr"/>
                      <a:r>
                        <a:rPr lang="en-US" dirty="0"/>
                        <a:t>1/8</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dirty="0">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2"/>
                  </a:ext>
                </a:extLst>
              </a:tr>
              <a:tr h="370840">
                <a:tc>
                  <a:txBody>
                    <a:bodyPr/>
                    <a:lstStyle/>
                    <a:p>
                      <a:pPr algn="ctr"/>
                      <a:r>
                        <a:rPr lang="en-US" dirty="0"/>
                        <a:t>1/7</a:t>
                      </a:r>
                    </a:p>
                  </a:txBody>
                  <a:tcPr/>
                </a:tc>
                <a:tc>
                  <a:txBody>
                    <a:bodyPr/>
                    <a:lstStyle/>
                    <a:p>
                      <a:pPr algn="r" fontAlgn="b"/>
                      <a:r>
                        <a:rPr lang="nb-NO" sz="1800" b="0" i="0" u="none" strike="noStrike">
                          <a:solidFill>
                            <a:srgbClr val="000000"/>
                          </a:solidFill>
                          <a:effectLst/>
                          <a:latin typeface="Calibri" charset="0"/>
                        </a:rPr>
                        <a:t>0.12</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0.67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3"/>
                  </a:ext>
                </a:extLst>
              </a:tr>
              <a:tr h="370840">
                <a:tc>
                  <a:txBody>
                    <a:bodyPr/>
                    <a:lstStyle/>
                    <a:p>
                      <a:pPr algn="ctr"/>
                      <a:r>
                        <a:rPr lang="en-US" dirty="0"/>
                        <a:t>1/6</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0.50</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4"/>
                  </a:ext>
                </a:extLst>
              </a:tr>
              <a:tr h="370840">
                <a:tc>
                  <a:txBody>
                    <a:bodyPr/>
                    <a:lstStyle/>
                    <a:p>
                      <a:pPr algn="ctr"/>
                      <a:r>
                        <a:rPr lang="en-US" dirty="0"/>
                        <a:t>1/5</a:t>
                      </a:r>
                    </a:p>
                  </a:txBody>
                  <a:tcPr/>
                </a:tc>
                <a:tc>
                  <a:txBody>
                    <a:bodyPr/>
                    <a:lstStyle/>
                    <a:p>
                      <a:pPr algn="r" fontAlgn="b"/>
                      <a:r>
                        <a:rPr lang="nb-NO" sz="1800" b="0" i="0" u="none" strike="noStrike">
                          <a:solidFill>
                            <a:srgbClr val="000000"/>
                          </a:solidFill>
                          <a:effectLst/>
                          <a:latin typeface="Calibri" charset="0"/>
                        </a:rPr>
                        <a:t>0.22</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5"/>
                  </a:ext>
                </a:extLst>
              </a:tr>
              <a:tr h="370840">
                <a:tc>
                  <a:txBody>
                    <a:bodyPr/>
                    <a:lstStyle/>
                    <a:p>
                      <a:pPr algn="ctr"/>
                      <a:r>
                        <a:rPr lang="en-US" dirty="0"/>
                        <a:t>1/4</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6"/>
                  </a:ext>
                </a:extLst>
              </a:tr>
              <a:tr h="370840">
                <a:tc>
                  <a:txBody>
                    <a:bodyPr/>
                    <a:lstStyle/>
                    <a:p>
                      <a:pPr algn="ctr"/>
                      <a:r>
                        <a:rPr lang="en-US" dirty="0"/>
                        <a:t>1/3</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7"/>
                  </a:ext>
                </a:extLst>
              </a:tr>
              <a:tr h="370840">
                <a:tc>
                  <a:txBody>
                    <a:bodyPr/>
                    <a:lstStyle/>
                    <a:p>
                      <a:pPr algn="ctr"/>
                      <a:r>
                        <a:rPr lang="en-US" dirty="0"/>
                        <a:t>1/2</a:t>
                      </a:r>
                    </a:p>
                  </a:txBody>
                  <a:tcPr/>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0.63</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8"/>
                  </a:ext>
                </a:extLst>
              </a:tr>
              <a:tr h="0">
                <a:tc>
                  <a:txBody>
                    <a:bodyPr/>
                    <a:lstStyle/>
                    <a:p>
                      <a:pPr algn="ctr"/>
                      <a:r>
                        <a:rPr lang="en-US" dirty="0"/>
                        <a:t>1/1</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dirty="0">
                          <a:solidFill>
                            <a:srgbClr val="000000"/>
                          </a:solidFill>
                          <a:effectLst/>
                          <a:latin typeface="Calibri" charset="0"/>
                        </a:rPr>
                        <a:t>1.00</a:t>
                      </a:r>
                    </a:p>
                  </a:txBody>
                  <a:tcPr marL="6350" marR="6350" marT="6350" marB="0" anchor="b"/>
                </a:tc>
                <a:tc>
                  <a:txBody>
                    <a:bodyPr/>
                    <a:lstStyle/>
                    <a:p>
                      <a:pPr algn="r"/>
                      <a:r>
                        <a:rPr lang="en-US" dirty="0"/>
                        <a:t>1</a:t>
                      </a:r>
                    </a:p>
                  </a:txBody>
                  <a:tcPr/>
                </a:tc>
                <a:tc>
                  <a:txBody>
                    <a:bodyPr/>
                    <a:lstStyle/>
                    <a:p>
                      <a:pPr algn="r"/>
                      <a:r>
                        <a:rPr lang="en-US" dirty="0"/>
                        <a:t>1</a:t>
                      </a:r>
                    </a:p>
                  </a:txBody>
                  <a:tcPr/>
                </a:tc>
                <a:extLst>
                  <a:ext uri="{0D108BD9-81ED-4DB2-BD59-A6C34878D82A}">
                    <a16:rowId xmlns:a16="http://schemas.microsoft.com/office/drawing/2014/main" xmlns="" val="10009"/>
                  </a:ext>
                </a:extLst>
              </a:tr>
              <a:tr h="370840">
                <a:tc>
                  <a:txBody>
                    <a:bodyPr/>
                    <a:lstStyle/>
                    <a:p>
                      <a:pPr algn="ctr"/>
                      <a:endParaRPr lang="en-US" dirty="0"/>
                    </a:p>
                  </a:txBody>
                  <a:tcPr/>
                </a:tc>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ctr"/>
                      <a:r>
                        <a:rPr lang="en-US" dirty="0"/>
                        <a:t>trend</a:t>
                      </a:r>
                    </a:p>
                  </a:txBody>
                  <a:tcPr/>
                </a:tc>
                <a:tc>
                  <a:txBody>
                    <a:bodyPr/>
                    <a:lstStyle/>
                    <a:p>
                      <a:pPr algn="ctr"/>
                      <a:r>
                        <a:rPr lang="en-US" dirty="0"/>
                        <a:t>price</a:t>
                      </a:r>
                    </a:p>
                  </a:txBody>
                  <a:tcPr/>
                </a:tc>
                <a:extLst>
                  <a:ext uri="{0D108BD9-81ED-4DB2-BD59-A6C34878D82A}">
                    <a16:rowId xmlns:a16="http://schemas.microsoft.com/office/drawing/2014/main" xmlns="" val="10010"/>
                  </a:ext>
                </a:extLst>
              </a:tr>
            </a:tbl>
          </a:graphicData>
        </a:graphic>
      </p:graphicFrame>
      <p:sp>
        <p:nvSpPr>
          <p:cNvPr id="4" name="Slide Number Placeholder 3"/>
          <p:cNvSpPr>
            <a:spLocks noGrp="1"/>
          </p:cNvSpPr>
          <p:nvPr>
            <p:ph type="sldNum" sz="quarter" idx="12"/>
          </p:nvPr>
        </p:nvSpPr>
        <p:spPr/>
        <p:txBody>
          <a:bodyPr/>
          <a:lstStyle/>
          <a:p>
            <a:fld id="{8FD09EC2-3C1C-1643-A0E2-A9B1200FF76E}" type="slidenum">
              <a:rPr lang="en-US" smtClean="0"/>
              <a:t>16</a:t>
            </a:fld>
            <a:endParaRPr lang="en-US"/>
          </a:p>
        </p:txBody>
      </p:sp>
    </p:spTree>
    <p:extLst>
      <p:ext uri="{BB962C8B-B14F-4D97-AF65-F5344CB8AC3E}">
        <p14:creationId xmlns:p14="http://schemas.microsoft.com/office/powerpoint/2010/main" val="8769983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Bicluster</a:t>
            </a:r>
            <a:r>
              <a:rPr lang="en-US" dirty="0"/>
              <a:t> method</a:t>
            </a:r>
          </a:p>
        </p:txBody>
      </p:sp>
      <p:sp>
        <p:nvSpPr>
          <p:cNvPr id="5" name="Rectangle 4"/>
          <p:cNvSpPr/>
          <p:nvPr/>
        </p:nvSpPr>
        <p:spPr>
          <a:xfrm>
            <a:off x="4135477" y="2082636"/>
            <a:ext cx="972025" cy="110469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135476" y="3576370"/>
            <a:ext cx="972025" cy="34125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135476" y="5430722"/>
            <a:ext cx="1919332" cy="348359"/>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135476" y="4334183"/>
            <a:ext cx="1878431" cy="727427"/>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052933" y="2490831"/>
            <a:ext cx="1001875" cy="1085538"/>
          </a:xfrm>
          <a:prstGeom prst="rect">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064220" y="3925038"/>
            <a:ext cx="1910662" cy="1157016"/>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085861" y="5430721"/>
            <a:ext cx="982617" cy="363867"/>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13908" y="2082636"/>
            <a:ext cx="972025" cy="110469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013907" y="3576370"/>
            <a:ext cx="972025" cy="34125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2"/>
          <a:stretch>
            <a:fillRect/>
          </a:stretch>
        </p:blipFill>
        <p:spPr>
          <a:xfrm>
            <a:off x="9535883" y="2093433"/>
            <a:ext cx="1930400" cy="1358900"/>
          </a:xfrm>
          <a:prstGeom prst="rect">
            <a:avLst/>
          </a:prstGeom>
        </p:spPr>
      </p:pic>
      <p:sp>
        <p:nvSpPr>
          <p:cNvPr id="18" name="Down Arrow 17"/>
          <p:cNvSpPr/>
          <p:nvPr/>
        </p:nvSpPr>
        <p:spPr>
          <a:xfrm>
            <a:off x="5335517" y="1465811"/>
            <a:ext cx="450376" cy="409433"/>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Content Placeholder 3"/>
          <p:cNvGraphicFramePr>
            <a:graphicFrameLocks/>
          </p:cNvGraphicFramePr>
          <p:nvPr>
            <p:extLst>
              <p:ext uri="{D42A27DB-BD31-4B8C-83A1-F6EECF244321}">
                <p14:modId xmlns:p14="http://schemas.microsoft.com/office/powerpoint/2010/main" val="870902497"/>
              </p:ext>
            </p:extLst>
          </p:nvPr>
        </p:nvGraphicFramePr>
        <p:xfrm>
          <a:off x="3174501" y="2093433"/>
          <a:ext cx="5726382" cy="407416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gridCol w="954397">
                  <a:extLst>
                    <a:ext uri="{9D8B030D-6E8A-4147-A177-3AD203B41FA5}">
                      <a16:colId xmlns:a16="http://schemas.microsoft.com/office/drawing/2014/main" xmlns="" val="20003"/>
                    </a:ext>
                  </a:extLst>
                </a:gridCol>
                <a:gridCol w="954397">
                  <a:extLst>
                    <a:ext uri="{9D8B030D-6E8A-4147-A177-3AD203B41FA5}">
                      <a16:colId xmlns:a16="http://schemas.microsoft.com/office/drawing/2014/main" xmlns="" val="20004"/>
                    </a:ext>
                  </a:extLst>
                </a:gridCol>
                <a:gridCol w="954397">
                  <a:extLst>
                    <a:ext uri="{9D8B030D-6E8A-4147-A177-3AD203B41FA5}">
                      <a16:colId xmlns:a16="http://schemas.microsoft.com/office/drawing/2014/main" xmlns="" val="20005"/>
                    </a:ext>
                  </a:extLst>
                </a:gridCol>
              </a:tblGrid>
              <a:tr h="370840">
                <a:tc>
                  <a:txBody>
                    <a:bodyPr/>
                    <a:lstStyle/>
                    <a:p>
                      <a:pPr algn="ctr"/>
                      <a:r>
                        <a:rPr lang="en-US" dirty="0"/>
                        <a:t>1/10</a:t>
                      </a:r>
                    </a:p>
                  </a:txBody>
                  <a:tcPr/>
                </a:tc>
                <a:tc>
                  <a:txBody>
                    <a:bodyPr/>
                    <a:lstStyle/>
                    <a:p>
                      <a:pPr algn="r" fontAlgn="b"/>
                      <a:r>
                        <a:rPr lang="nb-NO" sz="1800" b="0" i="0" u="none" strike="noStrike" dirty="0">
                          <a:solidFill>
                            <a:srgbClr val="000000"/>
                          </a:solidFill>
                          <a:effectLst/>
                          <a:latin typeface="Calibri" charset="0"/>
                        </a:rPr>
                        <a:t>0.01</a:t>
                      </a:r>
                    </a:p>
                  </a:txBody>
                  <a:tcPr marL="6350" marR="6350" marT="6350" marB="0" anchor="b">
                    <a:noFill/>
                  </a:tcPr>
                </a:tc>
                <a:tc>
                  <a:txBody>
                    <a:bodyPr/>
                    <a:lstStyle/>
                    <a:p>
                      <a:pPr algn="r" fontAlgn="b"/>
                      <a:r>
                        <a:rPr lang="pt-BR" sz="1800" b="0" i="0" u="none" strike="noStrike">
                          <a:solidFill>
                            <a:srgbClr val="000000"/>
                          </a:solidFill>
                          <a:effectLst/>
                          <a:latin typeface="Calibri" charset="0"/>
                        </a:rPr>
                        <a:t>0.05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0"/>
                  </a:ext>
                </a:extLst>
              </a:tr>
              <a:tr h="370840">
                <a:tc>
                  <a:txBody>
                    <a:bodyPr/>
                    <a:lstStyle/>
                    <a:p>
                      <a:pPr algn="ctr"/>
                      <a:r>
                        <a:rPr lang="en-US" dirty="0"/>
                        <a:t>1/9</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1"/>
                  </a:ext>
                </a:extLst>
              </a:tr>
              <a:tr h="370840">
                <a:tc>
                  <a:txBody>
                    <a:bodyPr/>
                    <a:lstStyle/>
                    <a:p>
                      <a:pPr algn="ctr"/>
                      <a:r>
                        <a:rPr lang="en-US" dirty="0"/>
                        <a:t>1/8</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dirty="0">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2"/>
                  </a:ext>
                </a:extLst>
              </a:tr>
              <a:tr h="370840">
                <a:tc>
                  <a:txBody>
                    <a:bodyPr/>
                    <a:lstStyle/>
                    <a:p>
                      <a:pPr algn="ctr"/>
                      <a:r>
                        <a:rPr lang="en-US" dirty="0"/>
                        <a:t>1/7</a:t>
                      </a:r>
                    </a:p>
                  </a:txBody>
                  <a:tcPr/>
                </a:tc>
                <a:tc>
                  <a:txBody>
                    <a:bodyPr/>
                    <a:lstStyle/>
                    <a:p>
                      <a:pPr algn="r" fontAlgn="b"/>
                      <a:r>
                        <a:rPr lang="nb-NO" sz="1800" b="0" i="0" u="none" strike="noStrike">
                          <a:solidFill>
                            <a:srgbClr val="000000"/>
                          </a:solidFill>
                          <a:effectLst/>
                          <a:latin typeface="Calibri" charset="0"/>
                        </a:rPr>
                        <a:t>0.12</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0.67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3"/>
                  </a:ext>
                </a:extLst>
              </a:tr>
              <a:tr h="370840">
                <a:tc>
                  <a:txBody>
                    <a:bodyPr/>
                    <a:lstStyle/>
                    <a:p>
                      <a:pPr algn="ctr"/>
                      <a:r>
                        <a:rPr lang="en-US" dirty="0"/>
                        <a:t>1/6</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0.50</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4"/>
                  </a:ext>
                </a:extLst>
              </a:tr>
              <a:tr h="370840">
                <a:tc>
                  <a:txBody>
                    <a:bodyPr/>
                    <a:lstStyle/>
                    <a:p>
                      <a:pPr algn="ctr"/>
                      <a:r>
                        <a:rPr lang="en-US" dirty="0"/>
                        <a:t>1/5</a:t>
                      </a:r>
                    </a:p>
                  </a:txBody>
                  <a:tcPr/>
                </a:tc>
                <a:tc>
                  <a:txBody>
                    <a:bodyPr/>
                    <a:lstStyle/>
                    <a:p>
                      <a:pPr algn="r" fontAlgn="b"/>
                      <a:r>
                        <a:rPr lang="nb-NO" sz="1800" b="0" i="0" u="none" strike="noStrike">
                          <a:solidFill>
                            <a:srgbClr val="000000"/>
                          </a:solidFill>
                          <a:effectLst/>
                          <a:latin typeface="Calibri" charset="0"/>
                        </a:rPr>
                        <a:t>0.22</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5"/>
                  </a:ext>
                </a:extLst>
              </a:tr>
              <a:tr h="370840">
                <a:tc>
                  <a:txBody>
                    <a:bodyPr/>
                    <a:lstStyle/>
                    <a:p>
                      <a:pPr algn="ctr"/>
                      <a:r>
                        <a:rPr lang="en-US" dirty="0"/>
                        <a:t>1/4</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6"/>
                  </a:ext>
                </a:extLst>
              </a:tr>
              <a:tr h="370840">
                <a:tc>
                  <a:txBody>
                    <a:bodyPr/>
                    <a:lstStyle/>
                    <a:p>
                      <a:pPr algn="ctr"/>
                      <a:r>
                        <a:rPr lang="en-US" dirty="0"/>
                        <a:t>1/3</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7"/>
                  </a:ext>
                </a:extLst>
              </a:tr>
              <a:tr h="370840">
                <a:tc>
                  <a:txBody>
                    <a:bodyPr/>
                    <a:lstStyle/>
                    <a:p>
                      <a:pPr algn="ctr"/>
                      <a:r>
                        <a:rPr lang="en-US" dirty="0"/>
                        <a:t>1/2</a:t>
                      </a:r>
                    </a:p>
                  </a:txBody>
                  <a:tcPr/>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0.63</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8"/>
                  </a:ext>
                </a:extLst>
              </a:tr>
              <a:tr h="0">
                <a:tc>
                  <a:txBody>
                    <a:bodyPr/>
                    <a:lstStyle/>
                    <a:p>
                      <a:pPr algn="ctr"/>
                      <a:r>
                        <a:rPr lang="en-US" dirty="0"/>
                        <a:t>1/1</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dirty="0">
                          <a:solidFill>
                            <a:srgbClr val="000000"/>
                          </a:solidFill>
                          <a:effectLst/>
                          <a:latin typeface="Calibri" charset="0"/>
                        </a:rPr>
                        <a:t>1.00</a:t>
                      </a:r>
                    </a:p>
                  </a:txBody>
                  <a:tcPr marL="6350" marR="6350" marT="6350" marB="0" anchor="b"/>
                </a:tc>
                <a:tc>
                  <a:txBody>
                    <a:bodyPr/>
                    <a:lstStyle/>
                    <a:p>
                      <a:pPr algn="r"/>
                      <a:r>
                        <a:rPr lang="en-US" dirty="0"/>
                        <a:t>1</a:t>
                      </a:r>
                    </a:p>
                  </a:txBody>
                  <a:tcPr/>
                </a:tc>
                <a:tc>
                  <a:txBody>
                    <a:bodyPr/>
                    <a:lstStyle/>
                    <a:p>
                      <a:pPr algn="r"/>
                      <a:r>
                        <a:rPr lang="en-US" dirty="0"/>
                        <a:t>1</a:t>
                      </a:r>
                    </a:p>
                  </a:txBody>
                  <a:tcPr/>
                </a:tc>
                <a:extLst>
                  <a:ext uri="{0D108BD9-81ED-4DB2-BD59-A6C34878D82A}">
                    <a16:rowId xmlns:a16="http://schemas.microsoft.com/office/drawing/2014/main" xmlns="" val="10009"/>
                  </a:ext>
                </a:extLst>
              </a:tr>
              <a:tr h="370840">
                <a:tc>
                  <a:txBody>
                    <a:bodyPr/>
                    <a:lstStyle/>
                    <a:p>
                      <a:pPr algn="ctr"/>
                      <a:endParaRPr lang="en-US" dirty="0"/>
                    </a:p>
                  </a:txBody>
                  <a:tcPr/>
                </a:tc>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ctr"/>
                      <a:r>
                        <a:rPr lang="en-US" dirty="0"/>
                        <a:t>trend</a:t>
                      </a:r>
                    </a:p>
                  </a:txBody>
                  <a:tcPr/>
                </a:tc>
                <a:tc>
                  <a:txBody>
                    <a:bodyPr/>
                    <a:lstStyle/>
                    <a:p>
                      <a:pPr algn="ctr"/>
                      <a:r>
                        <a:rPr lang="en-US" dirty="0"/>
                        <a:t>price</a:t>
                      </a:r>
                    </a:p>
                  </a:txBody>
                  <a:tcPr/>
                </a:tc>
                <a:extLst>
                  <a:ext uri="{0D108BD9-81ED-4DB2-BD59-A6C34878D82A}">
                    <a16:rowId xmlns:a16="http://schemas.microsoft.com/office/drawing/2014/main" xmlns="" val="10010"/>
                  </a:ext>
                </a:extLst>
              </a:tr>
            </a:tbl>
          </a:graphicData>
        </a:graphic>
      </p:graphicFrame>
      <p:sp>
        <p:nvSpPr>
          <p:cNvPr id="3" name="Slide Number Placeholder 2"/>
          <p:cNvSpPr>
            <a:spLocks noGrp="1"/>
          </p:cNvSpPr>
          <p:nvPr>
            <p:ph type="sldNum" sz="quarter" idx="12"/>
          </p:nvPr>
        </p:nvSpPr>
        <p:spPr/>
        <p:txBody>
          <a:bodyPr/>
          <a:lstStyle/>
          <a:p>
            <a:fld id="{8FD09EC2-3C1C-1643-A0E2-A9B1200FF76E}" type="slidenum">
              <a:rPr lang="en-US" smtClean="0"/>
              <a:t>17</a:t>
            </a:fld>
            <a:endParaRPr lang="en-US"/>
          </a:p>
        </p:txBody>
      </p:sp>
    </p:spTree>
    <p:extLst>
      <p:ext uri="{BB962C8B-B14F-4D97-AF65-F5344CB8AC3E}">
        <p14:creationId xmlns:p14="http://schemas.microsoft.com/office/powerpoint/2010/main" val="11838685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156642" y="5430722"/>
            <a:ext cx="1861792" cy="348359"/>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ctr"/>
            <a:r>
              <a:rPr lang="en-US" dirty="0" err="1"/>
              <a:t>Bicluster</a:t>
            </a:r>
            <a:r>
              <a:rPr lang="en-US" dirty="0"/>
              <a:t> method</a:t>
            </a:r>
          </a:p>
        </p:txBody>
      </p:sp>
      <p:sp>
        <p:nvSpPr>
          <p:cNvPr id="5" name="Rectangle 4"/>
          <p:cNvSpPr/>
          <p:nvPr/>
        </p:nvSpPr>
        <p:spPr>
          <a:xfrm>
            <a:off x="4135477" y="2082636"/>
            <a:ext cx="972025" cy="110469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077237" y="2510730"/>
            <a:ext cx="941197" cy="1065640"/>
          </a:xfrm>
          <a:prstGeom prst="rect">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135476" y="4334183"/>
            <a:ext cx="1861793" cy="727427"/>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135476" y="3576370"/>
            <a:ext cx="972025" cy="34125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006548" y="3559863"/>
            <a:ext cx="972025" cy="368884"/>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997269" y="2133917"/>
            <a:ext cx="972025" cy="1093896"/>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064220" y="3925038"/>
            <a:ext cx="1982534" cy="1157016"/>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p:nvPicPr>
        <p:blipFill>
          <a:blip r:embed="rId2"/>
          <a:stretch>
            <a:fillRect/>
          </a:stretch>
        </p:blipFill>
        <p:spPr>
          <a:xfrm>
            <a:off x="9535883" y="2093433"/>
            <a:ext cx="1930400" cy="1358900"/>
          </a:xfrm>
          <a:prstGeom prst="rect">
            <a:avLst/>
          </a:prstGeom>
        </p:spPr>
      </p:pic>
      <p:graphicFrame>
        <p:nvGraphicFramePr>
          <p:cNvPr id="24" name="Content Placeholder 3"/>
          <p:cNvGraphicFramePr>
            <a:graphicFrameLocks/>
          </p:cNvGraphicFramePr>
          <p:nvPr>
            <p:extLst>
              <p:ext uri="{D42A27DB-BD31-4B8C-83A1-F6EECF244321}">
                <p14:modId xmlns:p14="http://schemas.microsoft.com/office/powerpoint/2010/main" val="755389959"/>
              </p:ext>
            </p:extLst>
          </p:nvPr>
        </p:nvGraphicFramePr>
        <p:xfrm>
          <a:off x="3174501" y="2093433"/>
          <a:ext cx="5726382" cy="407416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gridCol w="954397">
                  <a:extLst>
                    <a:ext uri="{9D8B030D-6E8A-4147-A177-3AD203B41FA5}">
                      <a16:colId xmlns:a16="http://schemas.microsoft.com/office/drawing/2014/main" xmlns="" val="20003"/>
                    </a:ext>
                  </a:extLst>
                </a:gridCol>
                <a:gridCol w="954397">
                  <a:extLst>
                    <a:ext uri="{9D8B030D-6E8A-4147-A177-3AD203B41FA5}">
                      <a16:colId xmlns:a16="http://schemas.microsoft.com/office/drawing/2014/main" xmlns="" val="20004"/>
                    </a:ext>
                  </a:extLst>
                </a:gridCol>
                <a:gridCol w="954397">
                  <a:extLst>
                    <a:ext uri="{9D8B030D-6E8A-4147-A177-3AD203B41FA5}">
                      <a16:colId xmlns:a16="http://schemas.microsoft.com/office/drawing/2014/main" xmlns="" val="20005"/>
                    </a:ext>
                  </a:extLst>
                </a:gridCol>
              </a:tblGrid>
              <a:tr h="370840">
                <a:tc>
                  <a:txBody>
                    <a:bodyPr/>
                    <a:lstStyle/>
                    <a:p>
                      <a:pPr algn="ctr"/>
                      <a:r>
                        <a:rPr lang="en-US" dirty="0"/>
                        <a:t>1/10</a:t>
                      </a:r>
                    </a:p>
                  </a:txBody>
                  <a:tcPr/>
                </a:tc>
                <a:tc>
                  <a:txBody>
                    <a:bodyPr/>
                    <a:lstStyle/>
                    <a:p>
                      <a:pPr algn="r" fontAlgn="b"/>
                      <a:r>
                        <a:rPr lang="nb-NO" sz="1800" b="0" i="0" u="none" strike="noStrike" dirty="0">
                          <a:solidFill>
                            <a:srgbClr val="000000"/>
                          </a:solidFill>
                          <a:effectLst/>
                          <a:latin typeface="Calibri" charset="0"/>
                        </a:rPr>
                        <a:t>0.01</a:t>
                      </a:r>
                    </a:p>
                  </a:txBody>
                  <a:tcPr marL="6350" marR="6350" marT="6350" marB="0" anchor="b">
                    <a:noFill/>
                  </a:tcPr>
                </a:tc>
                <a:tc>
                  <a:txBody>
                    <a:bodyPr/>
                    <a:lstStyle/>
                    <a:p>
                      <a:pPr algn="r" fontAlgn="b"/>
                      <a:r>
                        <a:rPr lang="pt-BR" sz="1800" b="0" i="0" u="none" strike="noStrike">
                          <a:solidFill>
                            <a:srgbClr val="000000"/>
                          </a:solidFill>
                          <a:effectLst/>
                          <a:latin typeface="Calibri" charset="0"/>
                        </a:rPr>
                        <a:t>0.05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0"/>
                  </a:ext>
                </a:extLst>
              </a:tr>
              <a:tr h="370840">
                <a:tc>
                  <a:txBody>
                    <a:bodyPr/>
                    <a:lstStyle/>
                    <a:p>
                      <a:pPr algn="ctr"/>
                      <a:r>
                        <a:rPr lang="en-US" dirty="0"/>
                        <a:t>1/9</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1"/>
                  </a:ext>
                </a:extLst>
              </a:tr>
              <a:tr h="370840">
                <a:tc>
                  <a:txBody>
                    <a:bodyPr/>
                    <a:lstStyle/>
                    <a:p>
                      <a:pPr algn="ctr"/>
                      <a:r>
                        <a:rPr lang="en-US" dirty="0"/>
                        <a:t>1/8</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dirty="0">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2"/>
                  </a:ext>
                </a:extLst>
              </a:tr>
              <a:tr h="370840">
                <a:tc>
                  <a:txBody>
                    <a:bodyPr/>
                    <a:lstStyle/>
                    <a:p>
                      <a:pPr algn="ctr"/>
                      <a:r>
                        <a:rPr lang="en-US" dirty="0"/>
                        <a:t>1/7</a:t>
                      </a:r>
                    </a:p>
                  </a:txBody>
                  <a:tcPr/>
                </a:tc>
                <a:tc>
                  <a:txBody>
                    <a:bodyPr/>
                    <a:lstStyle/>
                    <a:p>
                      <a:pPr algn="r" fontAlgn="b"/>
                      <a:r>
                        <a:rPr lang="nb-NO" sz="1800" b="0" i="0" u="none" strike="noStrike">
                          <a:solidFill>
                            <a:srgbClr val="000000"/>
                          </a:solidFill>
                          <a:effectLst/>
                          <a:latin typeface="Calibri" charset="0"/>
                        </a:rPr>
                        <a:t>0.12</a:t>
                      </a:r>
                    </a:p>
                  </a:txBody>
                  <a:tcPr marL="6350" marR="6350" marT="6350" marB="0" anchor="b">
                    <a:noFill/>
                  </a:tcPr>
                </a:tc>
                <a:tc>
                  <a:txBody>
                    <a:bodyPr/>
                    <a:lstStyle/>
                    <a:p>
                      <a:pPr algn="r" fontAlgn="b"/>
                      <a:r>
                        <a:rPr lang="nb-NO" sz="1800" b="0" i="0" u="none" strike="noStrike">
                          <a:solidFill>
                            <a:srgbClr val="000000"/>
                          </a:solidFill>
                          <a:effectLst/>
                          <a:latin typeface="Calibri" charset="0"/>
                        </a:rPr>
                        <a:t>0.15</a:t>
                      </a:r>
                    </a:p>
                  </a:txBody>
                  <a:tcPr marL="6350" marR="6350" marT="6350" marB="0" anchor="b"/>
                </a:tc>
                <a:tc>
                  <a:txBody>
                    <a:bodyPr/>
                    <a:lstStyle/>
                    <a:p>
                      <a:pPr algn="r" fontAlgn="b"/>
                      <a:r>
                        <a:rPr lang="nb-NO" sz="1800" b="0" i="0" u="none" strike="noStrike">
                          <a:solidFill>
                            <a:srgbClr val="000000"/>
                          </a:solidFill>
                          <a:effectLst/>
                          <a:latin typeface="Calibri" charset="0"/>
                        </a:rPr>
                        <a:t>0.67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3"/>
                  </a:ext>
                </a:extLst>
              </a:tr>
              <a:tr h="370840">
                <a:tc>
                  <a:txBody>
                    <a:bodyPr/>
                    <a:lstStyle/>
                    <a:p>
                      <a:pPr algn="ctr"/>
                      <a:r>
                        <a:rPr lang="en-US" dirty="0"/>
                        <a:t>1/6</a:t>
                      </a:r>
                    </a:p>
                  </a:txBody>
                  <a:tcPr/>
                </a:tc>
                <a:tc>
                  <a:txBody>
                    <a:bodyPr/>
                    <a:lstStyle/>
                    <a:p>
                      <a:pPr algn="r" fontAlgn="b"/>
                      <a:r>
                        <a:rPr lang="nb-NO" sz="1800" b="0" i="0" u="none" strike="noStrike">
                          <a:solidFill>
                            <a:srgbClr val="000000"/>
                          </a:solidFill>
                          <a:effectLst/>
                          <a:latin typeface="Calibri" charset="0"/>
                        </a:rPr>
                        <a:t>0.01</a:t>
                      </a:r>
                    </a:p>
                  </a:txBody>
                  <a:tcPr marL="6350" marR="6350" marT="6350" marB="0" anchor="b">
                    <a:noFill/>
                  </a:tcPr>
                </a:tc>
                <a:tc>
                  <a:txBody>
                    <a:bodyPr/>
                    <a:lstStyle/>
                    <a:p>
                      <a:pPr algn="r" fontAlgn="b"/>
                      <a:r>
                        <a:rPr lang="nb-NO" sz="1800" b="0" i="0" u="none" strike="noStrike">
                          <a:solidFill>
                            <a:srgbClr val="000000"/>
                          </a:solidFill>
                          <a:effectLst/>
                          <a:latin typeface="Calibri" charset="0"/>
                        </a:rPr>
                        <a:t>0.50</a:t>
                      </a:r>
                    </a:p>
                  </a:txBody>
                  <a:tcPr marL="6350" marR="6350" marT="6350" marB="0" anchor="b"/>
                </a:tc>
                <a:tc>
                  <a:txBody>
                    <a:bodyPr/>
                    <a:lstStyle/>
                    <a:p>
                      <a:pPr algn="r" fontAlgn="b"/>
                      <a:r>
                        <a:rPr lang="nb-NO" sz="1800" b="0" i="0" u="none" strike="noStrike">
                          <a:solidFill>
                            <a:srgbClr val="000000"/>
                          </a:solidFill>
                          <a:effectLst/>
                          <a:latin typeface="Calibri" charset="0"/>
                        </a:rPr>
                        <a:t>0.17</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4"/>
                  </a:ext>
                </a:extLst>
              </a:tr>
              <a:tr h="370840">
                <a:tc>
                  <a:txBody>
                    <a:bodyPr/>
                    <a:lstStyle/>
                    <a:p>
                      <a:pPr algn="ctr"/>
                      <a:r>
                        <a:rPr lang="en-US" dirty="0"/>
                        <a:t>1/5</a:t>
                      </a:r>
                    </a:p>
                  </a:txBody>
                  <a:tcPr/>
                </a:tc>
                <a:tc>
                  <a:txBody>
                    <a:bodyPr/>
                    <a:lstStyle/>
                    <a:p>
                      <a:pPr algn="r" fontAlgn="b"/>
                      <a:r>
                        <a:rPr lang="nb-NO" sz="1800" b="0" i="0" u="none" strike="noStrike">
                          <a:solidFill>
                            <a:srgbClr val="000000"/>
                          </a:solidFill>
                          <a:effectLst/>
                          <a:latin typeface="Calibri" charset="0"/>
                        </a:rPr>
                        <a:t>0.22</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0</a:t>
                      </a:r>
                    </a:p>
                  </a:txBody>
                  <a:tcPr/>
                </a:tc>
                <a:tc>
                  <a:txBody>
                    <a:bodyPr/>
                    <a:lstStyle/>
                    <a:p>
                      <a:pPr algn="r"/>
                      <a:r>
                        <a:rPr lang="en-US" dirty="0"/>
                        <a:t>4</a:t>
                      </a:r>
                    </a:p>
                  </a:txBody>
                  <a:tcPr/>
                </a:tc>
                <a:extLst>
                  <a:ext uri="{0D108BD9-81ED-4DB2-BD59-A6C34878D82A}">
                    <a16:rowId xmlns:a16="http://schemas.microsoft.com/office/drawing/2014/main" xmlns="" val="10005"/>
                  </a:ext>
                </a:extLst>
              </a:tr>
              <a:tr h="370840">
                <a:tc>
                  <a:txBody>
                    <a:bodyPr/>
                    <a:lstStyle/>
                    <a:p>
                      <a:pPr algn="ctr"/>
                      <a:r>
                        <a:rPr lang="en-US" dirty="0"/>
                        <a:t>1/4</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4</a:t>
                      </a:r>
                    </a:p>
                  </a:txBody>
                  <a:tcPr/>
                </a:tc>
                <a:extLst>
                  <a:ext uri="{0D108BD9-81ED-4DB2-BD59-A6C34878D82A}">
                    <a16:rowId xmlns:a16="http://schemas.microsoft.com/office/drawing/2014/main" xmlns="" val="10006"/>
                  </a:ext>
                </a:extLst>
              </a:tr>
              <a:tr h="370840">
                <a:tc>
                  <a:txBody>
                    <a:bodyPr/>
                    <a:lstStyle/>
                    <a:p>
                      <a:pPr algn="ctr"/>
                      <a:r>
                        <a:rPr lang="en-US" dirty="0"/>
                        <a:t>1/3</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a:r>
                        <a:rPr lang="en-US" dirty="0"/>
                        <a:t>1</a:t>
                      </a:r>
                    </a:p>
                  </a:txBody>
                  <a:tcPr/>
                </a:tc>
                <a:tc>
                  <a:txBody>
                    <a:bodyPr/>
                    <a:lstStyle/>
                    <a:p>
                      <a:pPr algn="r"/>
                      <a:r>
                        <a:rPr lang="en-US" dirty="0"/>
                        <a:t>3</a:t>
                      </a:r>
                    </a:p>
                  </a:txBody>
                  <a:tcPr/>
                </a:tc>
                <a:extLst>
                  <a:ext uri="{0D108BD9-81ED-4DB2-BD59-A6C34878D82A}">
                    <a16:rowId xmlns:a16="http://schemas.microsoft.com/office/drawing/2014/main" xmlns="" val="10007"/>
                  </a:ext>
                </a:extLst>
              </a:tr>
              <a:tr h="370840">
                <a:tc>
                  <a:txBody>
                    <a:bodyPr/>
                    <a:lstStyle/>
                    <a:p>
                      <a:pPr algn="ctr"/>
                      <a:r>
                        <a:rPr lang="en-US" dirty="0"/>
                        <a:t>1/2</a:t>
                      </a:r>
                    </a:p>
                  </a:txBody>
                  <a:tcPr/>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1.00</a:t>
                      </a:r>
                    </a:p>
                  </a:txBody>
                  <a:tcPr marL="6350" marR="6350" marT="6350" marB="0" anchor="b"/>
                </a:tc>
                <a:tc>
                  <a:txBody>
                    <a:bodyPr/>
                    <a:lstStyle/>
                    <a:p>
                      <a:pPr algn="r" fontAlgn="b"/>
                      <a:r>
                        <a:rPr lang="nb-NO" sz="1800" b="0" i="0" u="none" strike="noStrike">
                          <a:solidFill>
                            <a:srgbClr val="000000"/>
                          </a:solidFill>
                          <a:effectLst/>
                          <a:latin typeface="Calibri" charset="0"/>
                        </a:rPr>
                        <a:t>0.63</a:t>
                      </a:r>
                    </a:p>
                  </a:txBody>
                  <a:tcPr marL="6350" marR="6350" marT="6350" marB="0" anchor="b"/>
                </a:tc>
                <a:tc>
                  <a:txBody>
                    <a:bodyPr/>
                    <a:lstStyle/>
                    <a:p>
                      <a:pPr algn="r"/>
                      <a:r>
                        <a:rPr lang="en-US" dirty="0"/>
                        <a:t>1</a:t>
                      </a:r>
                    </a:p>
                  </a:txBody>
                  <a:tcPr/>
                </a:tc>
                <a:tc>
                  <a:txBody>
                    <a:bodyPr/>
                    <a:lstStyle/>
                    <a:p>
                      <a:pPr algn="r"/>
                      <a:r>
                        <a:rPr lang="en-US" dirty="0"/>
                        <a:t>2</a:t>
                      </a:r>
                    </a:p>
                  </a:txBody>
                  <a:tcPr/>
                </a:tc>
                <a:extLst>
                  <a:ext uri="{0D108BD9-81ED-4DB2-BD59-A6C34878D82A}">
                    <a16:rowId xmlns:a16="http://schemas.microsoft.com/office/drawing/2014/main" xmlns="" val="10008"/>
                  </a:ext>
                </a:extLst>
              </a:tr>
              <a:tr h="0">
                <a:tc>
                  <a:txBody>
                    <a:bodyPr/>
                    <a:lstStyle/>
                    <a:p>
                      <a:pPr algn="ctr"/>
                      <a:r>
                        <a:rPr lang="en-US" dirty="0"/>
                        <a:t>1/1</a:t>
                      </a:r>
                    </a:p>
                  </a:txBody>
                  <a:tcPr/>
                </a:tc>
                <a:tc>
                  <a:txBody>
                    <a:bodyPr/>
                    <a:lstStyle/>
                    <a:p>
                      <a:pPr algn="r" fontAlgn="b"/>
                      <a:r>
                        <a:rPr lang="nb-NO" sz="1800" b="0" i="0" u="none" strike="noStrike">
                          <a:solidFill>
                            <a:srgbClr val="000000"/>
                          </a:solidFill>
                          <a:effectLst/>
                          <a:latin typeface="Calibri" charset="0"/>
                        </a:rPr>
                        <a:t>0.10</a:t>
                      </a:r>
                    </a:p>
                  </a:txBody>
                  <a:tcPr marL="6350" marR="6350" marT="6350" marB="0" anchor="b"/>
                </a:tc>
                <a:tc>
                  <a:txBody>
                    <a:bodyPr/>
                    <a:lstStyle/>
                    <a:p>
                      <a:pPr algn="r" fontAlgn="b"/>
                      <a:r>
                        <a:rPr lang="nb-NO" sz="1800" b="0" i="0" u="none" strike="noStrike">
                          <a:solidFill>
                            <a:srgbClr val="000000"/>
                          </a:solidFill>
                          <a:effectLst/>
                          <a:latin typeface="Calibri" charset="0"/>
                        </a:rPr>
                        <a:t>0.35</a:t>
                      </a:r>
                    </a:p>
                  </a:txBody>
                  <a:tcPr marL="6350" marR="6350" marT="6350" marB="0" anchor="b"/>
                </a:tc>
                <a:tc>
                  <a:txBody>
                    <a:bodyPr/>
                    <a:lstStyle/>
                    <a:p>
                      <a:pPr algn="r" fontAlgn="b"/>
                      <a:r>
                        <a:rPr lang="nb-NO" sz="1800" b="0" i="0" u="none" strike="noStrike" dirty="0">
                          <a:solidFill>
                            <a:srgbClr val="000000"/>
                          </a:solidFill>
                          <a:effectLst/>
                          <a:latin typeface="Calibri" charset="0"/>
                        </a:rPr>
                        <a:t>1.00</a:t>
                      </a:r>
                    </a:p>
                  </a:txBody>
                  <a:tcPr marL="6350" marR="6350" marT="6350" marB="0" anchor="b"/>
                </a:tc>
                <a:tc>
                  <a:txBody>
                    <a:bodyPr/>
                    <a:lstStyle/>
                    <a:p>
                      <a:pPr algn="r"/>
                      <a:r>
                        <a:rPr lang="en-US" dirty="0"/>
                        <a:t>1</a:t>
                      </a:r>
                    </a:p>
                  </a:txBody>
                  <a:tcPr/>
                </a:tc>
                <a:tc>
                  <a:txBody>
                    <a:bodyPr/>
                    <a:lstStyle/>
                    <a:p>
                      <a:pPr algn="r"/>
                      <a:r>
                        <a:rPr lang="en-US" dirty="0"/>
                        <a:t>1</a:t>
                      </a:r>
                    </a:p>
                  </a:txBody>
                  <a:tcPr/>
                </a:tc>
                <a:extLst>
                  <a:ext uri="{0D108BD9-81ED-4DB2-BD59-A6C34878D82A}">
                    <a16:rowId xmlns:a16="http://schemas.microsoft.com/office/drawing/2014/main" xmlns="" val="10009"/>
                  </a:ext>
                </a:extLst>
              </a:tr>
              <a:tr h="370840">
                <a:tc>
                  <a:txBody>
                    <a:bodyPr/>
                    <a:lstStyle/>
                    <a:p>
                      <a:pPr algn="ctr"/>
                      <a:endParaRPr lang="en-US" dirty="0"/>
                    </a:p>
                  </a:txBody>
                  <a:tcPr/>
                </a:tc>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ctr"/>
                      <a:r>
                        <a:rPr lang="en-US" dirty="0"/>
                        <a:t>trend</a:t>
                      </a:r>
                    </a:p>
                  </a:txBody>
                  <a:tcPr/>
                </a:tc>
                <a:tc>
                  <a:txBody>
                    <a:bodyPr/>
                    <a:lstStyle/>
                    <a:p>
                      <a:pPr algn="ctr"/>
                      <a:r>
                        <a:rPr lang="en-US" dirty="0"/>
                        <a:t>price</a:t>
                      </a:r>
                    </a:p>
                  </a:txBody>
                  <a:tcPr/>
                </a:tc>
                <a:extLst>
                  <a:ext uri="{0D108BD9-81ED-4DB2-BD59-A6C34878D82A}">
                    <a16:rowId xmlns:a16="http://schemas.microsoft.com/office/drawing/2014/main" xmlns="" val="10010"/>
                  </a:ext>
                </a:extLst>
              </a:tr>
            </a:tbl>
          </a:graphicData>
        </a:graphic>
      </p:graphicFrame>
      <p:sp>
        <p:nvSpPr>
          <p:cNvPr id="26" name="Down Arrow 25"/>
          <p:cNvSpPr/>
          <p:nvPr/>
        </p:nvSpPr>
        <p:spPr>
          <a:xfrm>
            <a:off x="6267372" y="1550150"/>
            <a:ext cx="450376" cy="409433"/>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8FD09EC2-3C1C-1643-A0E2-A9B1200FF76E}" type="slidenum">
              <a:rPr lang="en-US" smtClean="0"/>
              <a:t>18</a:t>
            </a:fld>
            <a:endParaRPr lang="en-US"/>
          </a:p>
        </p:txBody>
      </p:sp>
    </p:spTree>
    <p:extLst>
      <p:ext uri="{BB962C8B-B14F-4D97-AF65-F5344CB8AC3E}">
        <p14:creationId xmlns:p14="http://schemas.microsoft.com/office/powerpoint/2010/main" val="6117883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5084930" y="2516448"/>
            <a:ext cx="977204" cy="1100209"/>
          </a:xfrm>
          <a:prstGeom prst="rect">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49350642"/>
              </p:ext>
            </p:extLst>
          </p:nvPr>
        </p:nvGraphicFramePr>
        <p:xfrm>
          <a:off x="5084929" y="2125876"/>
          <a:ext cx="1908794" cy="185420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tblGrid>
              <a:tr h="370840">
                <a:tc>
                  <a:txBody>
                    <a:bodyPr/>
                    <a:lstStyle/>
                    <a:p>
                      <a:pPr algn="ctr"/>
                      <a:r>
                        <a:rPr lang="en-US" dirty="0"/>
                        <a:t>MA</a:t>
                      </a:r>
                      <a:r>
                        <a:rPr lang="en-US" sz="1400" dirty="0"/>
                        <a:t>△</a:t>
                      </a:r>
                      <a:r>
                        <a:rPr lang="en-US" dirty="0"/>
                        <a:t>20</a:t>
                      </a:r>
                    </a:p>
                  </a:txBody>
                  <a:tcPr/>
                </a:tc>
                <a:tc>
                  <a:txBody>
                    <a:bodyPr/>
                    <a:lstStyle/>
                    <a:p>
                      <a:pPr algn="r"/>
                      <a:r>
                        <a:rPr lang="en-US" dirty="0"/>
                        <a:t>trend</a:t>
                      </a:r>
                    </a:p>
                  </a:txBody>
                  <a:tcPr/>
                </a:tc>
                <a:extLst>
                  <a:ext uri="{0D108BD9-81ED-4DB2-BD59-A6C34878D82A}">
                    <a16:rowId xmlns:a16="http://schemas.microsoft.com/office/drawing/2014/main" xmlns="" val="10000"/>
                  </a:ext>
                </a:extLst>
              </a:tr>
              <a:tr h="370840">
                <a:tc>
                  <a:txBody>
                    <a:bodyPr/>
                    <a:lstStyle/>
                    <a:p>
                      <a:pPr algn="r"/>
                      <a:r>
                        <a:rPr lang="en-US" dirty="0"/>
                        <a:t>0.15</a:t>
                      </a:r>
                    </a:p>
                  </a:txBody>
                  <a:tcPr/>
                </a:tc>
                <a:tc>
                  <a:txBody>
                    <a:bodyPr/>
                    <a:lstStyle/>
                    <a:p>
                      <a:pPr algn="r"/>
                      <a:r>
                        <a:rPr lang="en-US" dirty="0"/>
                        <a:t>-1</a:t>
                      </a:r>
                    </a:p>
                  </a:txBody>
                  <a:tcPr/>
                </a:tc>
                <a:extLst>
                  <a:ext uri="{0D108BD9-81ED-4DB2-BD59-A6C34878D82A}">
                    <a16:rowId xmlns:a16="http://schemas.microsoft.com/office/drawing/2014/main" xmlns="" val="10001"/>
                  </a:ext>
                </a:extLst>
              </a:tr>
              <a:tr h="370840">
                <a:tc>
                  <a:txBody>
                    <a:bodyPr/>
                    <a:lstStyle/>
                    <a:p>
                      <a:pPr algn="r"/>
                      <a:r>
                        <a:rPr lang="en-US" dirty="0"/>
                        <a:t>0.15</a:t>
                      </a:r>
                    </a:p>
                  </a:txBody>
                  <a:tcPr/>
                </a:tc>
                <a:tc>
                  <a:txBody>
                    <a:bodyPr/>
                    <a:lstStyle/>
                    <a:p>
                      <a:pPr algn="r"/>
                      <a:r>
                        <a:rPr lang="en-US" dirty="0"/>
                        <a:t>-1</a:t>
                      </a:r>
                    </a:p>
                  </a:txBody>
                  <a:tcPr/>
                </a:tc>
                <a:extLst>
                  <a:ext uri="{0D108BD9-81ED-4DB2-BD59-A6C34878D82A}">
                    <a16:rowId xmlns:a16="http://schemas.microsoft.com/office/drawing/2014/main" xmlns="" val="10002"/>
                  </a:ext>
                </a:extLst>
              </a:tr>
              <a:tr h="370840">
                <a:tc>
                  <a:txBody>
                    <a:bodyPr/>
                    <a:lstStyle/>
                    <a:p>
                      <a:pPr algn="r"/>
                      <a:r>
                        <a:rPr lang="en-US" dirty="0"/>
                        <a:t>0.15</a:t>
                      </a:r>
                    </a:p>
                  </a:txBody>
                  <a:tcPr/>
                </a:tc>
                <a:tc>
                  <a:txBody>
                    <a:bodyPr/>
                    <a:lstStyle/>
                    <a:p>
                      <a:pPr algn="r"/>
                      <a:r>
                        <a:rPr lang="en-US" dirty="0"/>
                        <a:t>0</a:t>
                      </a:r>
                    </a:p>
                  </a:txBody>
                  <a:tcPr/>
                </a:tc>
                <a:extLst>
                  <a:ext uri="{0D108BD9-81ED-4DB2-BD59-A6C34878D82A}">
                    <a16:rowId xmlns:a16="http://schemas.microsoft.com/office/drawing/2014/main" xmlns="" val="10003"/>
                  </a:ext>
                </a:extLst>
              </a:tr>
              <a:tr h="370840">
                <a:tc>
                  <a:txBody>
                    <a:bodyPr/>
                    <a:lstStyle/>
                    <a:p>
                      <a:pPr algn="r"/>
                      <a:r>
                        <a:rPr lang="en-US" dirty="0"/>
                        <a:t>0.15</a:t>
                      </a:r>
                    </a:p>
                  </a:txBody>
                  <a:tcPr/>
                </a:tc>
                <a:tc>
                  <a:txBody>
                    <a:bodyPr/>
                    <a:lstStyle/>
                    <a:p>
                      <a:pPr algn="r"/>
                      <a:r>
                        <a:rPr lang="en-US" dirty="0"/>
                        <a:t>-1</a:t>
                      </a:r>
                    </a:p>
                  </a:txBody>
                  <a:tcPr/>
                </a:tc>
                <a:extLst>
                  <a:ext uri="{0D108BD9-81ED-4DB2-BD59-A6C34878D82A}">
                    <a16:rowId xmlns:a16="http://schemas.microsoft.com/office/drawing/2014/main" xmlns="" val="10004"/>
                  </a:ext>
                </a:extLst>
              </a:tr>
            </a:tbl>
          </a:graphicData>
        </a:graphic>
      </p:graphicFrame>
      <p:sp>
        <p:nvSpPr>
          <p:cNvPr id="15" name="Rectangle 14"/>
          <p:cNvSpPr/>
          <p:nvPr/>
        </p:nvSpPr>
        <p:spPr>
          <a:xfrm>
            <a:off x="5084929" y="5090081"/>
            <a:ext cx="1902725" cy="1133298"/>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767379" y="5064792"/>
            <a:ext cx="1876573" cy="1158587"/>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52600" y="2516449"/>
            <a:ext cx="1891352" cy="1427753"/>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ctr"/>
            <a:r>
              <a:rPr lang="en-US" dirty="0" err="1"/>
              <a:t>Bicluster</a:t>
            </a:r>
            <a:r>
              <a:rPr lang="en-US" dirty="0"/>
              <a:t> method</a:t>
            </a:r>
          </a:p>
        </p:txBody>
      </p:sp>
      <p:graphicFrame>
        <p:nvGraphicFramePr>
          <p:cNvPr id="6" name="Table 5"/>
          <p:cNvGraphicFramePr>
            <a:graphicFrameLocks noGrp="1"/>
          </p:cNvGraphicFramePr>
          <p:nvPr>
            <p:extLst>
              <p:ext uri="{D42A27DB-BD31-4B8C-83A1-F6EECF244321}">
                <p14:modId xmlns:p14="http://schemas.microsoft.com/office/powerpoint/2010/main" val="1378053272"/>
              </p:ext>
            </p:extLst>
          </p:nvPr>
        </p:nvGraphicFramePr>
        <p:xfrm>
          <a:off x="1752600" y="2125876"/>
          <a:ext cx="2863191" cy="222504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tblGrid>
              <a:tr h="370840">
                <a:tc>
                  <a:txBody>
                    <a:bodyPr/>
                    <a:lstStyle/>
                    <a:p>
                      <a:pPr algn="ctr"/>
                      <a:r>
                        <a:rPr lang="en-US" dirty="0"/>
                        <a:t>MA</a:t>
                      </a:r>
                      <a:r>
                        <a:rPr lang="en-US" sz="1400" dirty="0"/>
                        <a:t>△</a:t>
                      </a:r>
                      <a:r>
                        <a:rPr lang="en-US" dirty="0"/>
                        <a:t>10</a:t>
                      </a:r>
                    </a:p>
                  </a:txBody>
                  <a:tcPr/>
                </a:tc>
                <a:tc>
                  <a:txBody>
                    <a:bodyPr/>
                    <a:lstStyle/>
                    <a:p>
                      <a:pPr algn="ctr"/>
                      <a:r>
                        <a:rPr lang="en-US" dirty="0"/>
                        <a:t>RSI</a:t>
                      </a:r>
                      <a:r>
                        <a:rPr lang="en-US" sz="1400" dirty="0"/>
                        <a:t>△</a:t>
                      </a:r>
                      <a:r>
                        <a:rPr lang="en-US" dirty="0"/>
                        <a:t>10</a:t>
                      </a:r>
                    </a:p>
                  </a:txBody>
                  <a:tcPr/>
                </a:tc>
                <a:tc>
                  <a:txBody>
                    <a:bodyPr/>
                    <a:lstStyle/>
                    <a:p>
                      <a:pPr algn="r"/>
                      <a:r>
                        <a:rPr lang="en-US" dirty="0"/>
                        <a:t>trend</a:t>
                      </a:r>
                    </a:p>
                  </a:txBody>
                  <a:tcPr/>
                </a:tc>
                <a:extLst>
                  <a:ext uri="{0D108BD9-81ED-4DB2-BD59-A6C34878D82A}">
                    <a16:rowId xmlns:a16="http://schemas.microsoft.com/office/drawing/2014/main" xmlns="" val="10000"/>
                  </a:ext>
                </a:extLst>
              </a:tr>
              <a:tr h="370840">
                <a:tc>
                  <a:txBody>
                    <a:bodyPr/>
                    <a:lstStyle/>
                    <a:p>
                      <a:pPr algn="r"/>
                      <a:r>
                        <a:rPr lang="en-US" dirty="0"/>
                        <a:t>0.01</a:t>
                      </a:r>
                    </a:p>
                  </a:txBody>
                  <a:tcPr/>
                </a:tc>
                <a:tc>
                  <a:txBody>
                    <a:bodyPr/>
                    <a:lstStyle/>
                    <a:p>
                      <a:pPr algn="r"/>
                      <a:r>
                        <a:rPr lang="en-US" dirty="0"/>
                        <a:t>0.17</a:t>
                      </a:r>
                    </a:p>
                  </a:txBody>
                  <a:tcPr/>
                </a:tc>
                <a:tc>
                  <a:txBody>
                    <a:bodyPr/>
                    <a:lstStyle/>
                    <a:p>
                      <a:pPr algn="r"/>
                      <a:r>
                        <a:rPr lang="en-US" dirty="0"/>
                        <a:t>-1</a:t>
                      </a:r>
                    </a:p>
                  </a:txBody>
                  <a:tcPr/>
                </a:tc>
                <a:extLst>
                  <a:ext uri="{0D108BD9-81ED-4DB2-BD59-A6C34878D82A}">
                    <a16:rowId xmlns:a16="http://schemas.microsoft.com/office/drawing/2014/main" xmlns="" val="10001"/>
                  </a:ext>
                </a:extLst>
              </a:tr>
              <a:tr h="370840">
                <a:tc>
                  <a:txBody>
                    <a:bodyPr/>
                    <a:lstStyle/>
                    <a:p>
                      <a:pPr algn="r"/>
                      <a:r>
                        <a:rPr lang="en-US" dirty="0"/>
                        <a:t>0.01</a:t>
                      </a:r>
                    </a:p>
                  </a:txBody>
                  <a:tcPr/>
                </a:tc>
                <a:tc>
                  <a:txBody>
                    <a:bodyPr/>
                    <a:lstStyle/>
                    <a:p>
                      <a:pPr algn="r"/>
                      <a:r>
                        <a:rPr lang="en-US" dirty="0"/>
                        <a:t>0.17</a:t>
                      </a:r>
                    </a:p>
                  </a:txBody>
                  <a:tcPr/>
                </a:tc>
                <a:tc>
                  <a:txBody>
                    <a:bodyPr/>
                    <a:lstStyle/>
                    <a:p>
                      <a:pPr algn="r"/>
                      <a:r>
                        <a:rPr lang="en-US" dirty="0"/>
                        <a:t>-1</a:t>
                      </a:r>
                    </a:p>
                  </a:txBody>
                  <a:tcPr/>
                </a:tc>
                <a:extLst>
                  <a:ext uri="{0D108BD9-81ED-4DB2-BD59-A6C34878D82A}">
                    <a16:rowId xmlns:a16="http://schemas.microsoft.com/office/drawing/2014/main" xmlns="" val="10002"/>
                  </a:ext>
                </a:extLst>
              </a:tr>
              <a:tr h="370840">
                <a:tc>
                  <a:txBody>
                    <a:bodyPr/>
                    <a:lstStyle/>
                    <a:p>
                      <a:pPr algn="r"/>
                      <a:r>
                        <a:rPr lang="en-US" dirty="0"/>
                        <a:t>0.01</a:t>
                      </a:r>
                    </a:p>
                  </a:txBody>
                  <a:tcPr/>
                </a:tc>
                <a:tc>
                  <a:txBody>
                    <a:bodyPr/>
                    <a:lstStyle/>
                    <a:p>
                      <a:pPr algn="r"/>
                      <a:r>
                        <a:rPr lang="en-US" dirty="0"/>
                        <a:t>0.17</a:t>
                      </a:r>
                    </a:p>
                  </a:txBody>
                  <a:tcPr/>
                </a:tc>
                <a:tc>
                  <a:txBody>
                    <a:bodyPr/>
                    <a:lstStyle/>
                    <a:p>
                      <a:pPr algn="r"/>
                      <a:r>
                        <a:rPr lang="en-US" dirty="0"/>
                        <a:t>-1</a:t>
                      </a:r>
                    </a:p>
                  </a:txBody>
                  <a:tcPr/>
                </a:tc>
                <a:extLst>
                  <a:ext uri="{0D108BD9-81ED-4DB2-BD59-A6C34878D82A}">
                    <a16:rowId xmlns:a16="http://schemas.microsoft.com/office/drawing/2014/main" xmlns="" val="10003"/>
                  </a:ext>
                </a:extLst>
              </a:tr>
              <a:tr h="370840">
                <a:tc>
                  <a:txBody>
                    <a:bodyPr/>
                    <a:lstStyle/>
                    <a:p>
                      <a:pPr algn="r"/>
                      <a:r>
                        <a:rPr lang="en-US" dirty="0"/>
                        <a:t>0.01</a:t>
                      </a:r>
                    </a:p>
                  </a:txBody>
                  <a:tcPr/>
                </a:tc>
                <a:tc>
                  <a:txBody>
                    <a:bodyPr/>
                    <a:lstStyle/>
                    <a:p>
                      <a:pPr algn="r"/>
                      <a:r>
                        <a:rPr lang="en-US" dirty="0"/>
                        <a:t>0.17</a:t>
                      </a:r>
                    </a:p>
                  </a:txBody>
                  <a:tcPr/>
                </a:tc>
                <a:tc>
                  <a:txBody>
                    <a:bodyPr/>
                    <a:lstStyle/>
                    <a:p>
                      <a:pPr algn="r"/>
                      <a:r>
                        <a:rPr lang="en-US" dirty="0"/>
                        <a:t>0</a:t>
                      </a:r>
                    </a:p>
                  </a:txBody>
                  <a:tcPr/>
                </a:tc>
                <a:extLst>
                  <a:ext uri="{0D108BD9-81ED-4DB2-BD59-A6C34878D82A}">
                    <a16:rowId xmlns:a16="http://schemas.microsoft.com/office/drawing/2014/main" xmlns="" val="10004"/>
                  </a:ext>
                </a:extLst>
              </a:tr>
              <a:tr h="370840">
                <a:tc>
                  <a:txBody>
                    <a:bodyPr/>
                    <a:lstStyle/>
                    <a:p>
                      <a:pPr algn="r"/>
                      <a:r>
                        <a:rPr lang="en-US" dirty="0"/>
                        <a:t>0.01</a:t>
                      </a:r>
                    </a:p>
                  </a:txBody>
                  <a:tcPr/>
                </a:tc>
                <a:tc>
                  <a:txBody>
                    <a:bodyPr/>
                    <a:lstStyle/>
                    <a:p>
                      <a:pPr algn="r"/>
                      <a:r>
                        <a:rPr lang="en-US" dirty="0"/>
                        <a:t>0.17</a:t>
                      </a:r>
                    </a:p>
                  </a:txBody>
                  <a:tcPr/>
                </a:tc>
                <a:tc>
                  <a:txBody>
                    <a:bodyPr/>
                    <a:lstStyle/>
                    <a:p>
                      <a:pPr algn="r"/>
                      <a:r>
                        <a:rPr lang="en-US" dirty="0"/>
                        <a:t>-1</a:t>
                      </a:r>
                    </a:p>
                  </a:txBody>
                  <a:tcPr/>
                </a:tc>
                <a:extLst>
                  <a:ext uri="{0D108BD9-81ED-4DB2-BD59-A6C34878D82A}">
                    <a16:rowId xmlns:a16="http://schemas.microsoft.com/office/drawing/2014/main" xmlns="" val="10005"/>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84371183"/>
              </p:ext>
            </p:extLst>
          </p:nvPr>
        </p:nvGraphicFramePr>
        <p:xfrm>
          <a:off x="1752600" y="4741489"/>
          <a:ext cx="2863191" cy="185420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tblGrid>
              <a:tr h="370840">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r"/>
                      <a:r>
                        <a:rPr lang="en-US" dirty="0"/>
                        <a:t>trend</a:t>
                      </a:r>
                    </a:p>
                  </a:txBody>
                  <a:tcPr/>
                </a:tc>
                <a:extLst>
                  <a:ext uri="{0D108BD9-81ED-4DB2-BD59-A6C34878D82A}">
                    <a16:rowId xmlns:a16="http://schemas.microsoft.com/office/drawing/2014/main" xmlns="" val="10000"/>
                  </a:ext>
                </a:extLst>
              </a:tr>
              <a:tr h="370840">
                <a:tc>
                  <a:txBody>
                    <a:bodyPr/>
                    <a:lstStyle/>
                    <a:p>
                      <a:pPr algn="r"/>
                      <a:r>
                        <a:rPr lang="en-US" dirty="0"/>
                        <a:t>0.10</a:t>
                      </a:r>
                    </a:p>
                  </a:txBody>
                  <a:tcPr/>
                </a:tc>
                <a:tc>
                  <a:txBody>
                    <a:bodyPr/>
                    <a:lstStyle/>
                    <a:p>
                      <a:pPr algn="r"/>
                      <a:r>
                        <a:rPr lang="en-US" dirty="0"/>
                        <a:t>0.35</a:t>
                      </a:r>
                    </a:p>
                  </a:txBody>
                  <a:tcPr/>
                </a:tc>
                <a:tc>
                  <a:txBody>
                    <a:bodyPr/>
                    <a:lstStyle/>
                    <a:p>
                      <a:pPr algn="r"/>
                      <a:r>
                        <a:rPr lang="en-US" dirty="0"/>
                        <a:t>1</a:t>
                      </a:r>
                    </a:p>
                  </a:txBody>
                  <a:tcPr/>
                </a:tc>
                <a:extLst>
                  <a:ext uri="{0D108BD9-81ED-4DB2-BD59-A6C34878D82A}">
                    <a16:rowId xmlns:a16="http://schemas.microsoft.com/office/drawing/2014/main" xmlns="" val="10001"/>
                  </a:ext>
                </a:extLst>
              </a:tr>
              <a:tr h="370840">
                <a:tc>
                  <a:txBody>
                    <a:bodyPr/>
                    <a:lstStyle/>
                    <a:p>
                      <a:pPr algn="r"/>
                      <a:r>
                        <a:rPr lang="en-US" dirty="0"/>
                        <a:t>0.10</a:t>
                      </a:r>
                    </a:p>
                  </a:txBody>
                  <a:tcPr/>
                </a:tc>
                <a:tc>
                  <a:txBody>
                    <a:bodyPr/>
                    <a:lstStyle/>
                    <a:p>
                      <a:pPr algn="r"/>
                      <a:r>
                        <a:rPr lang="en-US" dirty="0"/>
                        <a:t>0.35</a:t>
                      </a:r>
                    </a:p>
                  </a:txBody>
                  <a:tcPr/>
                </a:tc>
                <a:tc>
                  <a:txBody>
                    <a:bodyPr/>
                    <a:lstStyle/>
                    <a:p>
                      <a:pPr algn="r"/>
                      <a:r>
                        <a:rPr lang="en-US" dirty="0"/>
                        <a:t>1</a:t>
                      </a:r>
                    </a:p>
                  </a:txBody>
                  <a:tcPr/>
                </a:tc>
                <a:extLst>
                  <a:ext uri="{0D108BD9-81ED-4DB2-BD59-A6C34878D82A}">
                    <a16:rowId xmlns:a16="http://schemas.microsoft.com/office/drawing/2014/main" xmlns="" val="10002"/>
                  </a:ext>
                </a:extLst>
              </a:tr>
              <a:tr h="370840">
                <a:tc>
                  <a:txBody>
                    <a:bodyPr/>
                    <a:lstStyle/>
                    <a:p>
                      <a:pPr algn="r"/>
                      <a:r>
                        <a:rPr lang="en-US" dirty="0"/>
                        <a:t>0.10</a:t>
                      </a:r>
                    </a:p>
                  </a:txBody>
                  <a:tcPr/>
                </a:tc>
                <a:tc>
                  <a:txBody>
                    <a:bodyPr/>
                    <a:lstStyle/>
                    <a:p>
                      <a:pPr algn="r"/>
                      <a:r>
                        <a:rPr lang="en-US" dirty="0"/>
                        <a:t>0.35</a:t>
                      </a:r>
                    </a:p>
                  </a:txBody>
                  <a:tcPr/>
                </a:tc>
                <a:tc>
                  <a:txBody>
                    <a:bodyPr/>
                    <a:lstStyle/>
                    <a:p>
                      <a:pPr algn="r"/>
                      <a:r>
                        <a:rPr lang="en-US" dirty="0"/>
                        <a:t>1</a:t>
                      </a:r>
                    </a:p>
                  </a:txBody>
                  <a:tcPr/>
                </a:tc>
                <a:extLst>
                  <a:ext uri="{0D108BD9-81ED-4DB2-BD59-A6C34878D82A}">
                    <a16:rowId xmlns:a16="http://schemas.microsoft.com/office/drawing/2014/main" xmlns="" val="10003"/>
                  </a:ext>
                </a:extLst>
              </a:tr>
              <a:tr h="370840">
                <a:tc>
                  <a:txBody>
                    <a:bodyPr/>
                    <a:lstStyle/>
                    <a:p>
                      <a:pPr algn="r"/>
                      <a:r>
                        <a:rPr lang="en-US" dirty="0"/>
                        <a:t>0.10</a:t>
                      </a:r>
                    </a:p>
                  </a:txBody>
                  <a:tcPr/>
                </a:tc>
                <a:tc>
                  <a:txBody>
                    <a:bodyPr/>
                    <a:lstStyle/>
                    <a:p>
                      <a:pPr algn="r"/>
                      <a:r>
                        <a:rPr lang="en-US" dirty="0"/>
                        <a:t>0.35</a:t>
                      </a:r>
                    </a:p>
                  </a:txBody>
                  <a:tcPr/>
                </a:tc>
                <a:tc>
                  <a:txBody>
                    <a:bodyPr/>
                    <a:lstStyle/>
                    <a:p>
                      <a:pPr algn="r"/>
                      <a:r>
                        <a:rPr lang="en-US" dirty="0"/>
                        <a:t>1</a:t>
                      </a:r>
                    </a:p>
                  </a:txBody>
                  <a:tcPr/>
                </a:tc>
                <a:extLst>
                  <a:ext uri="{0D108BD9-81ED-4DB2-BD59-A6C34878D82A}">
                    <a16:rowId xmlns:a16="http://schemas.microsoft.com/office/drawing/2014/main" xmlns="" val="10004"/>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531567067"/>
              </p:ext>
            </p:extLst>
          </p:nvPr>
        </p:nvGraphicFramePr>
        <p:xfrm>
          <a:off x="5084929" y="4741489"/>
          <a:ext cx="2863191" cy="185420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tblGrid>
              <a:tr h="370840">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r"/>
                      <a:r>
                        <a:rPr lang="en-US"/>
                        <a:t>trend</a:t>
                      </a:r>
                      <a:endParaRPr lang="en-US" dirty="0"/>
                    </a:p>
                  </a:txBody>
                  <a:tcPr/>
                </a:tc>
                <a:extLst>
                  <a:ext uri="{0D108BD9-81ED-4DB2-BD59-A6C34878D82A}">
                    <a16:rowId xmlns:a16="http://schemas.microsoft.com/office/drawing/2014/main" xmlns="" val="10000"/>
                  </a:ext>
                </a:extLst>
              </a:tr>
              <a:tr h="370840">
                <a:tc>
                  <a:txBody>
                    <a:bodyPr/>
                    <a:lstStyle/>
                    <a:p>
                      <a:pPr algn="r"/>
                      <a:r>
                        <a:rPr lang="en-US" dirty="0"/>
                        <a:t>0.23</a:t>
                      </a:r>
                    </a:p>
                  </a:txBody>
                  <a:tcPr/>
                </a:tc>
                <a:tc>
                  <a:txBody>
                    <a:bodyPr/>
                    <a:lstStyle/>
                    <a:p>
                      <a:pPr algn="r"/>
                      <a:r>
                        <a:rPr lang="nb-NO" sz="1800" b="0" i="0" u="none" strike="noStrike" dirty="0">
                          <a:solidFill>
                            <a:srgbClr val="000000"/>
                          </a:solidFill>
                          <a:effectLst/>
                          <a:latin typeface="Calibri" charset="0"/>
                        </a:rPr>
                        <a:t>0.10</a:t>
                      </a:r>
                      <a:endParaRPr lang="en-US" dirty="0"/>
                    </a:p>
                  </a:txBody>
                  <a:tcPr/>
                </a:tc>
                <a:tc>
                  <a:txBody>
                    <a:bodyPr/>
                    <a:lstStyle/>
                    <a:p>
                      <a:pPr algn="r"/>
                      <a:r>
                        <a:rPr lang="en-US" dirty="0"/>
                        <a:t>0</a:t>
                      </a:r>
                    </a:p>
                  </a:txBody>
                  <a:tcPr/>
                </a:tc>
                <a:extLst>
                  <a:ext uri="{0D108BD9-81ED-4DB2-BD59-A6C34878D82A}">
                    <a16:rowId xmlns:a16="http://schemas.microsoft.com/office/drawing/2014/main" xmlns="" val="10001"/>
                  </a:ext>
                </a:extLst>
              </a:tr>
              <a:tr h="370840">
                <a:tc>
                  <a:txBody>
                    <a:bodyPr/>
                    <a:lstStyle/>
                    <a:p>
                      <a:pPr algn="r"/>
                      <a:r>
                        <a:rPr lang="en-US" dirty="0"/>
                        <a:t>0.23</a:t>
                      </a:r>
                    </a:p>
                  </a:txBody>
                  <a:tcPr/>
                </a:tc>
                <a:tc>
                  <a:txBody>
                    <a:bodyPr/>
                    <a:lstStyle/>
                    <a:p>
                      <a:pPr algn="r"/>
                      <a:r>
                        <a:rPr lang="nb-NO" sz="1800" b="0" i="0" u="none" strike="noStrike" dirty="0">
                          <a:solidFill>
                            <a:srgbClr val="000000"/>
                          </a:solidFill>
                          <a:effectLst/>
                          <a:latin typeface="Calibri" charset="0"/>
                        </a:rPr>
                        <a:t>0.10</a:t>
                      </a:r>
                      <a:endParaRPr lang="en-US" dirty="0"/>
                    </a:p>
                  </a:txBody>
                  <a:tcPr/>
                </a:tc>
                <a:tc>
                  <a:txBody>
                    <a:bodyPr/>
                    <a:lstStyle/>
                    <a:p>
                      <a:pPr algn="r"/>
                      <a:r>
                        <a:rPr lang="en-US" dirty="0"/>
                        <a:t>1</a:t>
                      </a:r>
                    </a:p>
                  </a:txBody>
                  <a:tcPr/>
                </a:tc>
                <a:extLst>
                  <a:ext uri="{0D108BD9-81ED-4DB2-BD59-A6C34878D82A}">
                    <a16:rowId xmlns:a16="http://schemas.microsoft.com/office/drawing/2014/main" xmlns="" val="10002"/>
                  </a:ext>
                </a:extLst>
              </a:tr>
              <a:tr h="370840">
                <a:tc>
                  <a:txBody>
                    <a:bodyPr/>
                    <a:lstStyle/>
                    <a:p>
                      <a:pPr algn="r"/>
                      <a:r>
                        <a:rPr lang="en-US" dirty="0"/>
                        <a:t>0.23</a:t>
                      </a:r>
                    </a:p>
                  </a:txBody>
                  <a:tcPr/>
                </a:tc>
                <a:tc>
                  <a:txBody>
                    <a:bodyPr/>
                    <a:lstStyle/>
                    <a:p>
                      <a:pPr algn="r"/>
                      <a:r>
                        <a:rPr lang="nb-NO" sz="1800" b="0" i="0" u="none" strike="noStrike" dirty="0">
                          <a:solidFill>
                            <a:srgbClr val="000000"/>
                          </a:solidFill>
                          <a:effectLst/>
                          <a:latin typeface="Calibri" charset="0"/>
                        </a:rPr>
                        <a:t>0.10</a:t>
                      </a:r>
                      <a:endParaRPr lang="en-US" dirty="0"/>
                    </a:p>
                  </a:txBody>
                  <a:tcPr/>
                </a:tc>
                <a:tc>
                  <a:txBody>
                    <a:bodyPr/>
                    <a:lstStyle/>
                    <a:p>
                      <a:pPr algn="r"/>
                      <a:r>
                        <a:rPr lang="en-US" dirty="0"/>
                        <a:t>1</a:t>
                      </a:r>
                    </a:p>
                  </a:txBody>
                  <a:tcPr/>
                </a:tc>
                <a:extLst>
                  <a:ext uri="{0D108BD9-81ED-4DB2-BD59-A6C34878D82A}">
                    <a16:rowId xmlns:a16="http://schemas.microsoft.com/office/drawing/2014/main" xmlns="" val="10003"/>
                  </a:ext>
                </a:extLst>
              </a:tr>
              <a:tr h="370840">
                <a:tc>
                  <a:txBody>
                    <a:bodyPr/>
                    <a:lstStyle/>
                    <a:p>
                      <a:pPr algn="r"/>
                      <a:r>
                        <a:rPr lang="en-US" dirty="0"/>
                        <a:t>0.23</a:t>
                      </a:r>
                    </a:p>
                  </a:txBody>
                  <a:tcPr/>
                </a:tc>
                <a:tc>
                  <a:txBody>
                    <a:bodyPr/>
                    <a:lstStyle/>
                    <a:p>
                      <a:pPr algn="r"/>
                      <a:r>
                        <a:rPr lang="en-US" dirty="0"/>
                        <a:t>0.10</a:t>
                      </a:r>
                    </a:p>
                  </a:txBody>
                  <a:tcPr/>
                </a:tc>
                <a:tc>
                  <a:txBody>
                    <a:bodyPr/>
                    <a:lstStyle/>
                    <a:p>
                      <a:pPr algn="r"/>
                      <a:r>
                        <a:rPr lang="en-US" dirty="0"/>
                        <a:t>1</a:t>
                      </a:r>
                    </a:p>
                  </a:txBody>
                  <a:tcPr/>
                </a:tc>
                <a:extLst>
                  <a:ext uri="{0D108BD9-81ED-4DB2-BD59-A6C34878D82A}">
                    <a16:rowId xmlns:a16="http://schemas.microsoft.com/office/drawing/2014/main" xmlns="" val="10004"/>
                  </a:ext>
                </a:extLst>
              </a:tr>
            </a:tbl>
          </a:graphicData>
        </a:graphic>
      </p:graphicFrame>
      <p:sp>
        <p:nvSpPr>
          <p:cNvPr id="3" name="Slide Number Placeholder 2"/>
          <p:cNvSpPr>
            <a:spLocks noGrp="1"/>
          </p:cNvSpPr>
          <p:nvPr>
            <p:ph type="sldNum" sz="quarter" idx="12"/>
          </p:nvPr>
        </p:nvSpPr>
        <p:spPr/>
        <p:txBody>
          <a:bodyPr/>
          <a:lstStyle/>
          <a:p>
            <a:fld id="{8FD09EC2-3C1C-1643-A0E2-A9B1200FF76E}" type="slidenum">
              <a:rPr lang="en-US" smtClean="0"/>
              <a:t>19</a:t>
            </a:fld>
            <a:endParaRPr lang="en-US"/>
          </a:p>
        </p:txBody>
      </p:sp>
    </p:spTree>
    <p:extLst>
      <p:ext uri="{BB962C8B-B14F-4D97-AF65-F5344CB8AC3E}">
        <p14:creationId xmlns:p14="http://schemas.microsoft.com/office/powerpoint/2010/main" val="7134950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9079602" y="3784508"/>
            <a:ext cx="1902725" cy="356371"/>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933697" y="3722089"/>
            <a:ext cx="941837" cy="410371"/>
          </a:xfrm>
          <a:prstGeom prst="rect">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827324" y="3770039"/>
            <a:ext cx="1876573" cy="37084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81612" y="3770039"/>
            <a:ext cx="1891352" cy="36242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ctr"/>
            <a:r>
              <a:rPr lang="en-US" dirty="0"/>
              <a:t>K-NN</a:t>
            </a:r>
          </a:p>
        </p:txBody>
      </p:sp>
      <p:graphicFrame>
        <p:nvGraphicFramePr>
          <p:cNvPr id="4" name="Table 3"/>
          <p:cNvGraphicFramePr>
            <a:graphicFrameLocks noGrp="1"/>
          </p:cNvGraphicFramePr>
          <p:nvPr>
            <p:extLst/>
          </p:nvPr>
        </p:nvGraphicFramePr>
        <p:xfrm>
          <a:off x="4459276" y="2069947"/>
          <a:ext cx="2863191" cy="73660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tblGrid>
              <a:tr h="0">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extLst>
                  <a:ext uri="{0D108BD9-81ED-4DB2-BD59-A6C34878D82A}">
                    <a16:rowId xmlns:a16="http://schemas.microsoft.com/office/drawing/2014/main" xmlns="" val="10000"/>
                  </a:ext>
                </a:extLst>
              </a:tr>
              <a:tr h="370840">
                <a:tc>
                  <a:txBody>
                    <a:bodyPr/>
                    <a:lstStyle/>
                    <a:p>
                      <a:pPr algn="ctr"/>
                      <a:r>
                        <a:rPr lang="en-US" dirty="0"/>
                        <a:t>0.11</a:t>
                      </a:r>
                    </a:p>
                  </a:txBody>
                  <a:tcPr/>
                </a:tc>
                <a:tc>
                  <a:txBody>
                    <a:bodyPr/>
                    <a:lstStyle/>
                    <a:p>
                      <a:pPr algn="ctr"/>
                      <a:r>
                        <a:rPr lang="en-US" dirty="0"/>
                        <a:t>0.33</a:t>
                      </a:r>
                    </a:p>
                  </a:txBody>
                  <a:tcPr/>
                </a:tc>
                <a:tc>
                  <a:txBody>
                    <a:bodyPr/>
                    <a:lstStyle/>
                    <a:p>
                      <a:pPr algn="ctr"/>
                      <a:r>
                        <a:rPr lang="en-US" dirty="0"/>
                        <a:t>0.20</a:t>
                      </a:r>
                    </a:p>
                  </a:txBody>
                  <a:tcPr/>
                </a:tc>
                <a:extLst>
                  <a:ext uri="{0D108BD9-81ED-4DB2-BD59-A6C34878D82A}">
                    <a16:rowId xmlns:a16="http://schemas.microsoft.com/office/drawing/2014/main" xmlns="" val="10001"/>
                  </a:ext>
                </a:extLst>
              </a:tr>
            </a:tbl>
          </a:graphicData>
        </a:graphic>
      </p:graphicFrame>
      <p:graphicFrame>
        <p:nvGraphicFramePr>
          <p:cNvPr id="9" name="Table 8"/>
          <p:cNvGraphicFramePr>
            <a:graphicFrameLocks noGrp="1"/>
          </p:cNvGraphicFramePr>
          <p:nvPr>
            <p:extLst/>
          </p:nvPr>
        </p:nvGraphicFramePr>
        <p:xfrm>
          <a:off x="681612" y="3390780"/>
          <a:ext cx="2863191" cy="74168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tblGrid>
              <a:tr h="370840">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r"/>
                      <a:r>
                        <a:rPr lang="en-US" dirty="0"/>
                        <a:t>trend</a:t>
                      </a:r>
                    </a:p>
                  </a:txBody>
                  <a:tcPr/>
                </a:tc>
                <a:extLst>
                  <a:ext uri="{0D108BD9-81ED-4DB2-BD59-A6C34878D82A}">
                    <a16:rowId xmlns:a16="http://schemas.microsoft.com/office/drawing/2014/main" xmlns="" val="10000"/>
                  </a:ext>
                </a:extLst>
              </a:tr>
              <a:tr h="370840">
                <a:tc>
                  <a:txBody>
                    <a:bodyPr/>
                    <a:lstStyle/>
                    <a:p>
                      <a:pPr algn="r"/>
                      <a:r>
                        <a:rPr lang="en-US" dirty="0"/>
                        <a:t>0.01</a:t>
                      </a:r>
                    </a:p>
                  </a:txBody>
                  <a:tcPr/>
                </a:tc>
                <a:tc>
                  <a:txBody>
                    <a:bodyPr/>
                    <a:lstStyle/>
                    <a:p>
                      <a:pPr algn="r"/>
                      <a:r>
                        <a:rPr lang="en-US" dirty="0"/>
                        <a:t>0.17</a:t>
                      </a:r>
                    </a:p>
                  </a:txBody>
                  <a:tcPr/>
                </a:tc>
                <a:tc>
                  <a:txBody>
                    <a:bodyPr/>
                    <a:lstStyle/>
                    <a:p>
                      <a:pPr algn="r"/>
                      <a:r>
                        <a:rPr lang="en-US" dirty="0"/>
                        <a:t>-1</a:t>
                      </a:r>
                    </a:p>
                  </a:txBody>
                  <a:tcPr/>
                </a:tc>
                <a:extLst>
                  <a:ext uri="{0D108BD9-81ED-4DB2-BD59-A6C34878D82A}">
                    <a16:rowId xmlns:a16="http://schemas.microsoft.com/office/drawing/2014/main" xmlns="" val="10001"/>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685155044"/>
              </p:ext>
            </p:extLst>
          </p:nvPr>
        </p:nvGraphicFramePr>
        <p:xfrm>
          <a:off x="3827324" y="3390780"/>
          <a:ext cx="2863191" cy="74168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tblGrid>
              <a:tr h="370840">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r"/>
                      <a:r>
                        <a:rPr lang="en-US" dirty="0"/>
                        <a:t>trend</a:t>
                      </a:r>
                    </a:p>
                  </a:txBody>
                  <a:tcPr/>
                </a:tc>
                <a:extLst>
                  <a:ext uri="{0D108BD9-81ED-4DB2-BD59-A6C34878D82A}">
                    <a16:rowId xmlns:a16="http://schemas.microsoft.com/office/drawing/2014/main" xmlns="" val="10000"/>
                  </a:ext>
                </a:extLst>
              </a:tr>
              <a:tr h="370840">
                <a:tc>
                  <a:txBody>
                    <a:bodyPr/>
                    <a:lstStyle/>
                    <a:p>
                      <a:pPr algn="r"/>
                      <a:r>
                        <a:rPr lang="en-US" dirty="0"/>
                        <a:t>0.10</a:t>
                      </a:r>
                    </a:p>
                  </a:txBody>
                  <a:tcPr/>
                </a:tc>
                <a:tc>
                  <a:txBody>
                    <a:bodyPr/>
                    <a:lstStyle/>
                    <a:p>
                      <a:pPr algn="r"/>
                      <a:r>
                        <a:rPr lang="en-US" dirty="0"/>
                        <a:t>0.35</a:t>
                      </a:r>
                    </a:p>
                  </a:txBody>
                  <a:tcPr/>
                </a:tc>
                <a:tc>
                  <a:txBody>
                    <a:bodyPr/>
                    <a:lstStyle/>
                    <a:p>
                      <a:pPr algn="r"/>
                      <a:r>
                        <a:rPr lang="en-US" dirty="0"/>
                        <a:t>1</a:t>
                      </a:r>
                    </a:p>
                  </a:txBody>
                  <a:tcPr/>
                </a:tc>
                <a:extLst>
                  <a:ext uri="{0D108BD9-81ED-4DB2-BD59-A6C34878D82A}">
                    <a16:rowId xmlns:a16="http://schemas.microsoft.com/office/drawing/2014/main" xmlns="" val="10001"/>
                  </a:ext>
                </a:extLst>
              </a:tr>
            </a:tbl>
          </a:graphicData>
        </a:graphic>
      </p:graphicFrame>
      <p:graphicFrame>
        <p:nvGraphicFramePr>
          <p:cNvPr id="12" name="Table 11"/>
          <p:cNvGraphicFramePr>
            <a:graphicFrameLocks noGrp="1"/>
          </p:cNvGraphicFramePr>
          <p:nvPr>
            <p:extLst/>
          </p:nvPr>
        </p:nvGraphicFramePr>
        <p:xfrm>
          <a:off x="9079602" y="3399199"/>
          <a:ext cx="2863191" cy="74168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tblGrid>
              <a:tr h="370840">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r"/>
                      <a:r>
                        <a:rPr lang="en-US" dirty="0"/>
                        <a:t>trend</a:t>
                      </a:r>
                    </a:p>
                  </a:txBody>
                  <a:tcPr/>
                </a:tc>
                <a:extLst>
                  <a:ext uri="{0D108BD9-81ED-4DB2-BD59-A6C34878D82A}">
                    <a16:rowId xmlns:a16="http://schemas.microsoft.com/office/drawing/2014/main" xmlns="" val="10000"/>
                  </a:ext>
                </a:extLst>
              </a:tr>
              <a:tr h="370840">
                <a:tc>
                  <a:txBody>
                    <a:bodyPr/>
                    <a:lstStyle/>
                    <a:p>
                      <a:pPr algn="r"/>
                      <a:r>
                        <a:rPr lang="en-US" dirty="0"/>
                        <a:t>0.23</a:t>
                      </a:r>
                    </a:p>
                  </a:txBody>
                  <a:tcPr/>
                </a:tc>
                <a:tc>
                  <a:txBody>
                    <a:bodyPr/>
                    <a:lstStyle/>
                    <a:p>
                      <a:pPr algn="r"/>
                      <a:r>
                        <a:rPr lang="en-US" dirty="0"/>
                        <a:t>0.10</a:t>
                      </a:r>
                    </a:p>
                  </a:txBody>
                  <a:tcPr/>
                </a:tc>
                <a:tc>
                  <a:txBody>
                    <a:bodyPr/>
                    <a:lstStyle/>
                    <a:p>
                      <a:pPr algn="r"/>
                      <a:r>
                        <a:rPr lang="en-US" dirty="0"/>
                        <a:t>1</a:t>
                      </a:r>
                    </a:p>
                  </a:txBody>
                  <a:tcPr/>
                </a:tc>
                <a:extLst>
                  <a:ext uri="{0D108BD9-81ED-4DB2-BD59-A6C34878D82A}">
                    <a16:rowId xmlns:a16="http://schemas.microsoft.com/office/drawing/2014/main" xmlns="" val="10001"/>
                  </a:ext>
                </a:extLst>
              </a:tr>
            </a:tbl>
          </a:graphicData>
        </a:graphic>
      </p:graphicFrame>
      <p:sp>
        <p:nvSpPr>
          <p:cNvPr id="3" name="TextBox 2"/>
          <p:cNvSpPr txBox="1"/>
          <p:nvPr/>
        </p:nvSpPr>
        <p:spPr>
          <a:xfrm>
            <a:off x="68944" y="4702831"/>
            <a:ext cx="612668" cy="369332"/>
          </a:xfrm>
          <a:prstGeom prst="rect">
            <a:avLst/>
          </a:prstGeom>
          <a:noFill/>
        </p:spPr>
        <p:txBody>
          <a:bodyPr wrap="none" rtlCol="0">
            <a:spAutoFit/>
          </a:bodyPr>
          <a:lstStyle/>
          <a:p>
            <a:r>
              <a:rPr lang="en-US" dirty="0"/>
              <a:t>RMS</a:t>
            </a:r>
          </a:p>
        </p:txBody>
      </p:sp>
      <p:graphicFrame>
        <p:nvGraphicFramePr>
          <p:cNvPr id="21" name="Table 20"/>
          <p:cNvGraphicFramePr>
            <a:graphicFrameLocks noGrp="1"/>
          </p:cNvGraphicFramePr>
          <p:nvPr>
            <p:extLst>
              <p:ext uri="{D42A27DB-BD31-4B8C-83A1-F6EECF244321}">
                <p14:modId xmlns:p14="http://schemas.microsoft.com/office/powerpoint/2010/main" val="486713581"/>
              </p:ext>
            </p:extLst>
          </p:nvPr>
        </p:nvGraphicFramePr>
        <p:xfrm>
          <a:off x="6933696" y="3390780"/>
          <a:ext cx="1908794" cy="74168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tblGrid>
              <a:tr h="370840">
                <a:tc>
                  <a:txBody>
                    <a:bodyPr/>
                    <a:lstStyle/>
                    <a:p>
                      <a:pPr algn="ctr"/>
                      <a:r>
                        <a:rPr lang="en-US" dirty="0"/>
                        <a:t>MA</a:t>
                      </a:r>
                      <a:r>
                        <a:rPr lang="en-US" sz="1400" dirty="0"/>
                        <a:t>△</a:t>
                      </a:r>
                      <a:r>
                        <a:rPr lang="en-US" dirty="0"/>
                        <a:t>20</a:t>
                      </a:r>
                    </a:p>
                  </a:txBody>
                  <a:tcPr/>
                </a:tc>
                <a:tc>
                  <a:txBody>
                    <a:bodyPr/>
                    <a:lstStyle/>
                    <a:p>
                      <a:pPr algn="r"/>
                      <a:r>
                        <a:rPr lang="en-US" dirty="0"/>
                        <a:t>trend</a:t>
                      </a:r>
                    </a:p>
                  </a:txBody>
                  <a:tcPr/>
                </a:tc>
                <a:extLst>
                  <a:ext uri="{0D108BD9-81ED-4DB2-BD59-A6C34878D82A}">
                    <a16:rowId xmlns:a16="http://schemas.microsoft.com/office/drawing/2014/main" xmlns="" val="10000"/>
                  </a:ext>
                </a:extLst>
              </a:tr>
              <a:tr h="370840">
                <a:tc>
                  <a:txBody>
                    <a:bodyPr/>
                    <a:lstStyle/>
                    <a:p>
                      <a:pPr algn="r"/>
                      <a:r>
                        <a:rPr lang="en-US" dirty="0"/>
                        <a:t>0.15</a:t>
                      </a:r>
                    </a:p>
                  </a:txBody>
                  <a:tcPr/>
                </a:tc>
                <a:tc>
                  <a:txBody>
                    <a:bodyPr/>
                    <a:lstStyle/>
                    <a:p>
                      <a:pPr algn="r"/>
                      <a:r>
                        <a:rPr lang="en-US" dirty="0"/>
                        <a:t>-1</a:t>
                      </a:r>
                    </a:p>
                  </a:txBody>
                  <a:tcPr/>
                </a:tc>
                <a:extLst>
                  <a:ext uri="{0D108BD9-81ED-4DB2-BD59-A6C34878D82A}">
                    <a16:rowId xmlns:a16="http://schemas.microsoft.com/office/drawing/2014/main" xmlns="" val="10001"/>
                  </a:ext>
                </a:extLst>
              </a:tr>
            </a:tbl>
          </a:graphicData>
        </a:graphic>
      </p:graphicFrame>
      <mc:AlternateContent xmlns:mc="http://schemas.openxmlformats.org/markup-compatibility/2006" xmlns:a14="http://schemas.microsoft.com/office/drawing/2010/main">
        <mc:Choice Requires="a14">
          <p:sp>
            <p:nvSpPr>
              <p:cNvPr id="22" name="TextBox 21"/>
              <p:cNvSpPr txBox="1"/>
              <p:nvPr/>
            </p:nvSpPr>
            <p:spPr>
              <a:xfrm>
                <a:off x="905456" y="4637952"/>
                <a:ext cx="2615534" cy="5910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ad>
                            <m:radPr>
                              <m:degHide m:val="on"/>
                              <m:ctrlPr>
                                <a:rPr lang="mr-IN" i="1" smtClean="0">
                                  <a:latin typeface="Cambria Math" panose="02040503050406030204" pitchFamily="18" charset="0"/>
                                </a:rPr>
                              </m:ctrlPr>
                            </m:radPr>
                            <m:deg/>
                            <m:e>
                              <m:sSup>
                                <m:sSupPr>
                                  <m:ctrlPr>
                                    <a:rPr lang="mr-IN" i="1" smtClean="0">
                                      <a:latin typeface="Cambria Math" panose="02040503050406030204" pitchFamily="18" charset="0"/>
                                    </a:rPr>
                                  </m:ctrlPr>
                                </m:sSupPr>
                                <m:e>
                                  <m:r>
                                    <a:rPr lang="en-US" i="1">
                                      <a:latin typeface="Cambria Math" charset="0"/>
                                    </a:rPr>
                                    <m:t>0.</m:t>
                                  </m:r>
                                  <m:r>
                                    <a:rPr lang="en-US" b="0" i="1" smtClean="0">
                                      <a:latin typeface="Cambria Math" charset="0"/>
                                    </a:rPr>
                                    <m:t>32</m:t>
                                  </m:r>
                                </m:e>
                                <m:sup>
                                  <m:r>
                                    <a:rPr lang="en-US" b="0" i="1" smtClean="0">
                                      <a:latin typeface="Cambria Math" charset="0"/>
                                    </a:rPr>
                                    <m:t>2</m:t>
                                  </m:r>
                                </m:sup>
                              </m:sSup>
                            </m:e>
                          </m:rad>
                          <m:r>
                            <a:rPr lang="en-US" b="0" i="1" smtClean="0">
                              <a:latin typeface="Cambria Math" charset="0"/>
                            </a:rPr>
                            <m:t>+</m:t>
                          </m:r>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i="1">
                                      <a:latin typeface="Cambria Math" charset="0"/>
                                    </a:rPr>
                                    <m:t>0.03</m:t>
                                  </m:r>
                                </m:e>
                                <m:sup>
                                  <m:r>
                                    <a:rPr lang="en-US" i="1">
                                      <a:latin typeface="Cambria Math" charset="0"/>
                                    </a:rPr>
                                    <m:t>2</m:t>
                                  </m:r>
                                </m:sup>
                              </m:sSup>
                            </m:e>
                          </m:rad>
                        </m:num>
                        <m:den>
                          <m:r>
                            <a:rPr lang="en-US" b="0" i="1" smtClean="0">
                              <a:latin typeface="Cambria Math" charset="0"/>
                            </a:rPr>
                            <m:t>2</m:t>
                          </m:r>
                        </m:den>
                      </m:f>
                      <m:r>
                        <a:rPr lang="en-US" b="0" i="0" smtClean="0">
                          <a:latin typeface="Cambria Math" charset="0"/>
                        </a:rPr>
                        <m:t>=0.175</m:t>
                      </m:r>
                    </m:oMath>
                  </m:oMathPara>
                </a14:m>
                <a:endParaRPr lang="en-US" dirty="0"/>
              </a:p>
            </p:txBody>
          </p:sp>
        </mc:Choice>
        <mc:Fallback xmlns="">
          <p:sp>
            <p:nvSpPr>
              <p:cNvPr id="22" name="TextBox 21"/>
              <p:cNvSpPr txBox="1">
                <a:spLocks noRot="1" noChangeAspect="1" noMove="1" noResize="1" noEditPoints="1" noAdjustHandles="1" noChangeArrowheads="1" noChangeShapeType="1" noTextEdit="1"/>
              </p:cNvSpPr>
              <p:nvPr/>
            </p:nvSpPr>
            <p:spPr>
              <a:xfrm>
                <a:off x="905456" y="4637952"/>
                <a:ext cx="2615534" cy="591059"/>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3827323" y="4630462"/>
                <a:ext cx="2863191" cy="5910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i="1">
                                      <a:latin typeface="Cambria Math" charset="0"/>
                                    </a:rPr>
                                    <m:t>0.</m:t>
                                  </m:r>
                                  <m:r>
                                    <a:rPr lang="en-US" b="0" i="1" smtClean="0">
                                      <a:latin typeface="Cambria Math" charset="0"/>
                                    </a:rPr>
                                    <m:t>01</m:t>
                                  </m:r>
                                </m:e>
                                <m:sup>
                                  <m:r>
                                    <a:rPr lang="en-US" i="1">
                                      <a:latin typeface="Cambria Math" charset="0"/>
                                    </a:rPr>
                                    <m:t>2</m:t>
                                  </m:r>
                                </m:sup>
                              </m:sSup>
                            </m:e>
                          </m:rad>
                          <m:r>
                            <a:rPr lang="en-US" b="0" i="1" smtClean="0">
                              <a:latin typeface="Cambria Math" charset="0"/>
                            </a:rPr>
                            <m:t>+</m:t>
                          </m:r>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b="0" i="1" smtClean="0">
                                      <a:latin typeface="Cambria Math" charset="0"/>
                                    </a:rPr>
                                    <m:t>−0.02</m:t>
                                  </m:r>
                                </m:e>
                                <m:sup>
                                  <m:r>
                                    <a:rPr lang="en-US" i="1">
                                      <a:latin typeface="Cambria Math" charset="0"/>
                                    </a:rPr>
                                    <m:t>2</m:t>
                                  </m:r>
                                </m:sup>
                              </m:sSup>
                            </m:e>
                          </m:rad>
                        </m:num>
                        <m:den>
                          <m:r>
                            <a:rPr lang="en-US" b="0" i="1" smtClean="0">
                              <a:latin typeface="Cambria Math" charset="0"/>
                            </a:rPr>
                            <m:t>2</m:t>
                          </m:r>
                        </m:den>
                      </m:f>
                      <m:r>
                        <a:rPr lang="en-US" b="0" i="0" smtClean="0">
                          <a:latin typeface="Cambria Math" charset="0"/>
                        </a:rPr>
                        <m:t>=0.015</m:t>
                      </m:r>
                    </m:oMath>
                  </m:oMathPara>
                </a14:m>
                <a:endParaRPr lang="en-US" dirty="0"/>
              </a:p>
            </p:txBody>
          </p:sp>
        </mc:Choice>
        <mc:Fallback xmlns="">
          <p:sp>
            <p:nvSpPr>
              <p:cNvPr id="23" name="TextBox 22"/>
              <p:cNvSpPr txBox="1">
                <a:spLocks noRot="1" noChangeAspect="1" noMove="1" noResize="1" noEditPoints="1" noAdjustHandles="1" noChangeArrowheads="1" noChangeShapeType="1" noTextEdit="1"/>
              </p:cNvSpPr>
              <p:nvPr/>
            </p:nvSpPr>
            <p:spPr>
              <a:xfrm>
                <a:off x="3827323" y="4630462"/>
                <a:ext cx="2863191" cy="591059"/>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6690515" y="4637952"/>
                <a:ext cx="2615534" cy="5990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i="1">
                                      <a:latin typeface="Cambria Math" charset="0"/>
                                    </a:rPr>
                                    <m:t>0.</m:t>
                                  </m:r>
                                  <m:r>
                                    <a:rPr lang="en-US" b="0" i="1" smtClean="0">
                                      <a:latin typeface="Cambria Math" charset="0"/>
                                    </a:rPr>
                                    <m:t>18</m:t>
                                  </m:r>
                                </m:e>
                                <m:sup>
                                  <m:r>
                                    <a:rPr lang="en-US" i="1">
                                      <a:latin typeface="Cambria Math" charset="0"/>
                                    </a:rPr>
                                    <m:t>2</m:t>
                                  </m:r>
                                </m:sup>
                              </m:sSup>
                            </m:e>
                          </m:rad>
                        </m:num>
                        <m:den>
                          <m:r>
                            <a:rPr lang="en-US" b="0" i="1" smtClean="0">
                              <a:latin typeface="Cambria Math" charset="0"/>
                            </a:rPr>
                            <m:t>1</m:t>
                          </m:r>
                        </m:den>
                      </m:f>
                      <m:r>
                        <a:rPr lang="en-US" b="0" i="0" smtClean="0">
                          <a:latin typeface="Cambria Math" charset="0"/>
                        </a:rPr>
                        <m:t>=0.18</m:t>
                      </m:r>
                    </m:oMath>
                  </m:oMathPara>
                </a14:m>
                <a:endParaRPr lang="en-US" dirty="0"/>
              </a:p>
            </p:txBody>
          </p:sp>
        </mc:Choice>
        <mc:Fallback xmlns="">
          <p:sp>
            <p:nvSpPr>
              <p:cNvPr id="24" name="TextBox 23"/>
              <p:cNvSpPr txBox="1">
                <a:spLocks noRot="1" noChangeAspect="1" noMove="1" noResize="1" noEditPoints="1" noAdjustHandles="1" noChangeArrowheads="1" noChangeShapeType="1" noTextEdit="1"/>
              </p:cNvSpPr>
              <p:nvPr/>
            </p:nvSpPr>
            <p:spPr>
              <a:xfrm>
                <a:off x="6690515" y="4637952"/>
                <a:ext cx="2615534" cy="59901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9327259" y="4659339"/>
                <a:ext cx="2615534" cy="5910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i="1">
                                      <a:latin typeface="Cambria Math" charset="0"/>
                                    </a:rPr>
                                    <m:t>0.</m:t>
                                  </m:r>
                                  <m:r>
                                    <a:rPr lang="en-US" b="0" i="1" smtClean="0">
                                      <a:latin typeface="Cambria Math" charset="0"/>
                                    </a:rPr>
                                    <m:t>10</m:t>
                                  </m:r>
                                </m:e>
                                <m:sup>
                                  <m:r>
                                    <a:rPr lang="en-US" i="1">
                                      <a:latin typeface="Cambria Math" charset="0"/>
                                    </a:rPr>
                                    <m:t>2</m:t>
                                  </m:r>
                                </m:sup>
                              </m:sSup>
                            </m:e>
                          </m:rad>
                          <m:r>
                            <a:rPr lang="en-US" b="0" i="1" smtClean="0">
                              <a:latin typeface="Cambria Math" charset="0"/>
                            </a:rPr>
                            <m:t>+</m:t>
                          </m:r>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i="1">
                                      <a:latin typeface="Cambria Math" charset="0"/>
                                    </a:rPr>
                                    <m:t>0.</m:t>
                                  </m:r>
                                  <m:r>
                                    <a:rPr lang="en-US" b="0" i="1" smtClean="0">
                                      <a:latin typeface="Cambria Math" charset="0"/>
                                    </a:rPr>
                                    <m:t>10</m:t>
                                  </m:r>
                                </m:e>
                                <m:sup>
                                  <m:r>
                                    <a:rPr lang="en-US" i="1">
                                      <a:latin typeface="Cambria Math" charset="0"/>
                                    </a:rPr>
                                    <m:t>2</m:t>
                                  </m:r>
                                </m:sup>
                              </m:sSup>
                            </m:e>
                          </m:rad>
                        </m:num>
                        <m:den>
                          <m:r>
                            <a:rPr lang="en-US" b="0" i="1" smtClean="0">
                              <a:latin typeface="Cambria Math" charset="0"/>
                            </a:rPr>
                            <m:t>2</m:t>
                          </m:r>
                        </m:den>
                      </m:f>
                      <m:r>
                        <a:rPr lang="en-US" b="0" i="0" smtClean="0">
                          <a:latin typeface="Cambria Math" charset="0"/>
                        </a:rPr>
                        <m:t>=0.10</m:t>
                      </m:r>
                    </m:oMath>
                  </m:oMathPara>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9327259" y="4659339"/>
                <a:ext cx="2615534" cy="591059"/>
              </a:xfrm>
              <a:prstGeom prst="rect">
                <a:avLst/>
              </a:prstGeom>
              <a:blipFill rotWithShape="0">
                <a:blip r:embed="rId5"/>
                <a:stretch>
                  <a:fillRect/>
                </a:stretch>
              </a:blipFill>
            </p:spPr>
            <p:txBody>
              <a:bodyPr/>
              <a:lstStyle/>
              <a:p>
                <a:r>
                  <a:rPr lang="en-US">
                    <a:noFill/>
                  </a:rPr>
                  <a:t> </a:t>
                </a:r>
              </a:p>
            </p:txBody>
          </p:sp>
        </mc:Fallback>
      </mc:AlternateContent>
      <p:sp>
        <p:nvSpPr>
          <p:cNvPr id="27" name="TextBox 26"/>
          <p:cNvSpPr txBox="1"/>
          <p:nvPr/>
        </p:nvSpPr>
        <p:spPr>
          <a:xfrm>
            <a:off x="2262880" y="2158402"/>
            <a:ext cx="1852751" cy="523220"/>
          </a:xfrm>
          <a:prstGeom prst="rect">
            <a:avLst/>
          </a:prstGeom>
          <a:noFill/>
        </p:spPr>
        <p:txBody>
          <a:bodyPr wrap="none" rtlCol="0">
            <a:spAutoFit/>
          </a:bodyPr>
          <a:lstStyle/>
          <a:p>
            <a:r>
              <a:rPr lang="en-US" sz="2800"/>
              <a:t>Trading day</a:t>
            </a:r>
          </a:p>
        </p:txBody>
      </p:sp>
      <p:cxnSp>
        <p:nvCxnSpPr>
          <p:cNvPr id="28" name="Straight Arrow Connector 27"/>
          <p:cNvCxnSpPr/>
          <p:nvPr/>
        </p:nvCxnSpPr>
        <p:spPr>
          <a:xfrm flipH="1">
            <a:off x="2113207" y="2806547"/>
            <a:ext cx="3590691" cy="5842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21" idx="0"/>
          </p:cNvCxnSpPr>
          <p:nvPr/>
        </p:nvCxnSpPr>
        <p:spPr>
          <a:xfrm>
            <a:off x="6182436" y="2806547"/>
            <a:ext cx="1705657" cy="5842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6933696" y="2806547"/>
            <a:ext cx="3577501" cy="59265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4" idx="2"/>
            <a:endCxn id="10" idx="0"/>
          </p:cNvCxnSpPr>
          <p:nvPr/>
        </p:nvCxnSpPr>
        <p:spPr>
          <a:xfrm flipH="1">
            <a:off x="5258919" y="2806547"/>
            <a:ext cx="631952" cy="5842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8FD09EC2-3C1C-1643-A0E2-A9B1200FF76E}" type="slidenum">
              <a:rPr lang="en-US" smtClean="0"/>
              <a:t>20</a:t>
            </a:fld>
            <a:endParaRPr lang="en-US"/>
          </a:p>
        </p:txBody>
      </p:sp>
    </p:spTree>
    <p:extLst>
      <p:ext uri="{BB962C8B-B14F-4D97-AF65-F5344CB8AC3E}">
        <p14:creationId xmlns:p14="http://schemas.microsoft.com/office/powerpoint/2010/main" val="14740291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K-NN</a:t>
            </a:r>
          </a:p>
        </p:txBody>
      </p:sp>
      <p:graphicFrame>
        <p:nvGraphicFramePr>
          <p:cNvPr id="4" name="Table 3"/>
          <p:cNvGraphicFramePr>
            <a:graphicFrameLocks noGrp="1"/>
          </p:cNvGraphicFramePr>
          <p:nvPr>
            <p:extLst/>
          </p:nvPr>
        </p:nvGraphicFramePr>
        <p:xfrm>
          <a:off x="4459276" y="2069947"/>
          <a:ext cx="2863191" cy="73660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tblGrid>
              <a:tr h="0">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extLst>
                  <a:ext uri="{0D108BD9-81ED-4DB2-BD59-A6C34878D82A}">
                    <a16:rowId xmlns:a16="http://schemas.microsoft.com/office/drawing/2014/main" xmlns="" val="10000"/>
                  </a:ext>
                </a:extLst>
              </a:tr>
              <a:tr h="370840">
                <a:tc>
                  <a:txBody>
                    <a:bodyPr/>
                    <a:lstStyle/>
                    <a:p>
                      <a:pPr algn="ctr"/>
                      <a:r>
                        <a:rPr lang="en-US" dirty="0"/>
                        <a:t>0.11</a:t>
                      </a:r>
                    </a:p>
                  </a:txBody>
                  <a:tcPr/>
                </a:tc>
                <a:tc>
                  <a:txBody>
                    <a:bodyPr/>
                    <a:lstStyle/>
                    <a:p>
                      <a:pPr algn="ctr"/>
                      <a:r>
                        <a:rPr lang="en-US" dirty="0"/>
                        <a:t>0.33</a:t>
                      </a:r>
                    </a:p>
                  </a:txBody>
                  <a:tcPr/>
                </a:tc>
                <a:tc>
                  <a:txBody>
                    <a:bodyPr/>
                    <a:lstStyle/>
                    <a:p>
                      <a:pPr algn="ctr"/>
                      <a:r>
                        <a:rPr lang="en-US" dirty="0"/>
                        <a:t>0.20</a:t>
                      </a:r>
                    </a:p>
                  </a:txBody>
                  <a:tcPr/>
                </a:tc>
                <a:extLst>
                  <a:ext uri="{0D108BD9-81ED-4DB2-BD59-A6C34878D82A}">
                    <a16:rowId xmlns:a16="http://schemas.microsoft.com/office/drawing/2014/main" xmlns="" val="10001"/>
                  </a:ext>
                </a:extLst>
              </a:tr>
            </a:tbl>
          </a:graphicData>
        </a:graphic>
      </p:graphicFrame>
      <p:sp>
        <p:nvSpPr>
          <p:cNvPr id="7" name="Rounded Rectangle 6"/>
          <p:cNvSpPr/>
          <p:nvPr/>
        </p:nvSpPr>
        <p:spPr>
          <a:xfrm>
            <a:off x="6899335" y="3418222"/>
            <a:ext cx="1998810" cy="2221370"/>
          </a:xfrm>
          <a:prstGeom prst="round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3787984" y="3418222"/>
            <a:ext cx="3016359" cy="2168832"/>
          </a:xfrm>
          <a:prstGeom prst="round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p:nvSpPr>
        <p:spPr>
          <a:xfrm>
            <a:off x="8995656" y="3418222"/>
            <a:ext cx="3016359" cy="2221370"/>
          </a:xfrm>
          <a:prstGeom prst="round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2262880" y="2158402"/>
            <a:ext cx="1852751" cy="523220"/>
          </a:xfrm>
          <a:prstGeom prst="rect">
            <a:avLst/>
          </a:prstGeom>
          <a:noFill/>
        </p:spPr>
        <p:txBody>
          <a:bodyPr wrap="none" rtlCol="0">
            <a:spAutoFit/>
          </a:bodyPr>
          <a:lstStyle/>
          <a:p>
            <a:r>
              <a:rPr lang="en-US" sz="2800"/>
              <a:t>Trading day</a:t>
            </a:r>
          </a:p>
        </p:txBody>
      </p:sp>
      <p:sp>
        <p:nvSpPr>
          <p:cNvPr id="14" name="TextBox 13"/>
          <p:cNvSpPr txBox="1"/>
          <p:nvPr/>
        </p:nvSpPr>
        <p:spPr>
          <a:xfrm>
            <a:off x="4568575" y="6085037"/>
            <a:ext cx="3054849" cy="461665"/>
          </a:xfrm>
          <a:prstGeom prst="rect">
            <a:avLst/>
          </a:prstGeom>
          <a:noFill/>
        </p:spPr>
        <p:txBody>
          <a:bodyPr wrap="square" rtlCol="0">
            <a:spAutoFit/>
          </a:bodyPr>
          <a:lstStyle/>
          <a:p>
            <a:r>
              <a:rPr lang="en-US" sz="2400" dirty="0"/>
              <a:t>Trading action: Buy</a:t>
            </a:r>
          </a:p>
        </p:txBody>
      </p:sp>
      <p:cxnSp>
        <p:nvCxnSpPr>
          <p:cNvPr id="34" name="Straight Arrow Connector 33"/>
          <p:cNvCxnSpPr/>
          <p:nvPr/>
        </p:nvCxnSpPr>
        <p:spPr>
          <a:xfrm flipH="1">
            <a:off x="2113207" y="2806547"/>
            <a:ext cx="3590691" cy="5842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6182436" y="2806547"/>
            <a:ext cx="1705657" cy="5842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6933696" y="2806547"/>
            <a:ext cx="3577501" cy="59265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5258919" y="2833989"/>
            <a:ext cx="631952" cy="5842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5451067" y="5541501"/>
            <a:ext cx="283962" cy="5435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H="1">
            <a:off x="6442858" y="5637308"/>
            <a:ext cx="1317454" cy="4477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6" idx="2"/>
          </p:cNvCxnSpPr>
          <p:nvPr/>
        </p:nvCxnSpPr>
        <p:spPr>
          <a:xfrm flipH="1">
            <a:off x="7069540" y="5639592"/>
            <a:ext cx="3434296" cy="57013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4568575" y="6085037"/>
            <a:ext cx="2500965" cy="46166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8FD09EC2-3C1C-1643-A0E2-A9B1200FF76E}" type="slidenum">
              <a:rPr lang="en-US" smtClean="0"/>
              <a:t>21</a:t>
            </a:fld>
            <a:endParaRPr lang="en-US" dirty="0"/>
          </a:p>
        </p:txBody>
      </p:sp>
      <p:sp>
        <p:nvSpPr>
          <p:cNvPr id="31" name="TextBox 30"/>
          <p:cNvSpPr txBox="1"/>
          <p:nvPr/>
        </p:nvSpPr>
        <p:spPr>
          <a:xfrm>
            <a:off x="68944" y="4702831"/>
            <a:ext cx="612668" cy="369332"/>
          </a:xfrm>
          <a:prstGeom prst="rect">
            <a:avLst/>
          </a:prstGeom>
          <a:noFill/>
        </p:spPr>
        <p:txBody>
          <a:bodyPr wrap="none" rtlCol="0">
            <a:spAutoFit/>
          </a:bodyPr>
          <a:lstStyle/>
          <a:p>
            <a:r>
              <a:rPr lang="en-US" dirty="0"/>
              <a:t>RMS</a:t>
            </a:r>
          </a:p>
        </p:txBody>
      </p:sp>
      <mc:AlternateContent xmlns:mc="http://schemas.openxmlformats.org/markup-compatibility/2006" xmlns:a14="http://schemas.microsoft.com/office/drawing/2010/main">
        <mc:Choice Requires="a14">
          <p:sp>
            <p:nvSpPr>
              <p:cNvPr id="32" name="TextBox 31"/>
              <p:cNvSpPr txBox="1"/>
              <p:nvPr/>
            </p:nvSpPr>
            <p:spPr>
              <a:xfrm>
                <a:off x="905456" y="4637952"/>
                <a:ext cx="2615534" cy="5910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ad>
                            <m:radPr>
                              <m:degHide m:val="on"/>
                              <m:ctrlPr>
                                <a:rPr lang="mr-IN" i="1" smtClean="0">
                                  <a:latin typeface="Cambria Math" panose="02040503050406030204" pitchFamily="18" charset="0"/>
                                </a:rPr>
                              </m:ctrlPr>
                            </m:radPr>
                            <m:deg/>
                            <m:e>
                              <m:sSup>
                                <m:sSupPr>
                                  <m:ctrlPr>
                                    <a:rPr lang="mr-IN" i="1" smtClean="0">
                                      <a:latin typeface="Cambria Math" panose="02040503050406030204" pitchFamily="18" charset="0"/>
                                    </a:rPr>
                                  </m:ctrlPr>
                                </m:sSupPr>
                                <m:e>
                                  <m:r>
                                    <a:rPr lang="en-US" i="1">
                                      <a:latin typeface="Cambria Math" charset="0"/>
                                    </a:rPr>
                                    <m:t>0.</m:t>
                                  </m:r>
                                  <m:r>
                                    <a:rPr lang="en-US" b="0" i="1" smtClean="0">
                                      <a:latin typeface="Cambria Math" charset="0"/>
                                    </a:rPr>
                                    <m:t>32</m:t>
                                  </m:r>
                                </m:e>
                                <m:sup>
                                  <m:r>
                                    <a:rPr lang="en-US" b="0" i="1" smtClean="0">
                                      <a:latin typeface="Cambria Math" charset="0"/>
                                    </a:rPr>
                                    <m:t>2</m:t>
                                  </m:r>
                                </m:sup>
                              </m:sSup>
                            </m:e>
                          </m:rad>
                          <m:r>
                            <a:rPr lang="en-US" b="0" i="1" smtClean="0">
                              <a:latin typeface="Cambria Math" charset="0"/>
                            </a:rPr>
                            <m:t>+</m:t>
                          </m:r>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i="1">
                                      <a:latin typeface="Cambria Math" charset="0"/>
                                    </a:rPr>
                                    <m:t>0.03</m:t>
                                  </m:r>
                                </m:e>
                                <m:sup>
                                  <m:r>
                                    <a:rPr lang="en-US" i="1">
                                      <a:latin typeface="Cambria Math" charset="0"/>
                                    </a:rPr>
                                    <m:t>2</m:t>
                                  </m:r>
                                </m:sup>
                              </m:sSup>
                            </m:e>
                          </m:rad>
                        </m:num>
                        <m:den>
                          <m:r>
                            <a:rPr lang="en-US" b="0" i="1" smtClean="0">
                              <a:latin typeface="Cambria Math" charset="0"/>
                            </a:rPr>
                            <m:t>2</m:t>
                          </m:r>
                        </m:den>
                      </m:f>
                      <m:r>
                        <a:rPr lang="en-US" b="0" i="0" smtClean="0">
                          <a:latin typeface="Cambria Math" charset="0"/>
                        </a:rPr>
                        <m:t>=0.175</m:t>
                      </m:r>
                    </m:oMath>
                  </m:oMathPara>
                </a14:m>
                <a:endParaRPr lang="en-US" dirty="0"/>
              </a:p>
            </p:txBody>
          </p:sp>
        </mc:Choice>
        <mc:Fallback xmlns="">
          <p:sp>
            <p:nvSpPr>
              <p:cNvPr id="32" name="TextBox 31"/>
              <p:cNvSpPr txBox="1">
                <a:spLocks noRot="1" noChangeAspect="1" noMove="1" noResize="1" noEditPoints="1" noAdjustHandles="1" noChangeArrowheads="1" noChangeShapeType="1" noTextEdit="1"/>
              </p:cNvSpPr>
              <p:nvPr/>
            </p:nvSpPr>
            <p:spPr>
              <a:xfrm>
                <a:off x="905456" y="4637952"/>
                <a:ext cx="2615534" cy="591059"/>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3827323" y="4630462"/>
                <a:ext cx="2863191" cy="5910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i="1">
                                      <a:latin typeface="Cambria Math" charset="0"/>
                                    </a:rPr>
                                    <m:t>0.</m:t>
                                  </m:r>
                                  <m:r>
                                    <a:rPr lang="en-US" b="0" i="1" smtClean="0">
                                      <a:latin typeface="Cambria Math" charset="0"/>
                                    </a:rPr>
                                    <m:t>01</m:t>
                                  </m:r>
                                </m:e>
                                <m:sup>
                                  <m:r>
                                    <a:rPr lang="en-US" i="1">
                                      <a:latin typeface="Cambria Math" charset="0"/>
                                    </a:rPr>
                                    <m:t>2</m:t>
                                  </m:r>
                                </m:sup>
                              </m:sSup>
                            </m:e>
                          </m:rad>
                          <m:r>
                            <a:rPr lang="en-US" b="0" i="1" smtClean="0">
                              <a:latin typeface="Cambria Math" charset="0"/>
                            </a:rPr>
                            <m:t>+</m:t>
                          </m:r>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b="0" i="1" smtClean="0">
                                      <a:latin typeface="Cambria Math" charset="0"/>
                                    </a:rPr>
                                    <m:t>−0.02</m:t>
                                  </m:r>
                                </m:e>
                                <m:sup>
                                  <m:r>
                                    <a:rPr lang="en-US" i="1">
                                      <a:latin typeface="Cambria Math" charset="0"/>
                                    </a:rPr>
                                    <m:t>2</m:t>
                                  </m:r>
                                </m:sup>
                              </m:sSup>
                            </m:e>
                          </m:rad>
                        </m:num>
                        <m:den>
                          <m:r>
                            <a:rPr lang="en-US" b="0" i="1" smtClean="0">
                              <a:latin typeface="Cambria Math" charset="0"/>
                            </a:rPr>
                            <m:t>2</m:t>
                          </m:r>
                        </m:den>
                      </m:f>
                      <m:r>
                        <a:rPr lang="en-US" b="0" i="0" smtClean="0">
                          <a:latin typeface="Cambria Math" charset="0"/>
                        </a:rPr>
                        <m:t>=0.015</m:t>
                      </m:r>
                    </m:oMath>
                  </m:oMathPara>
                </a14:m>
                <a:endParaRPr lang="en-US" dirty="0"/>
              </a:p>
            </p:txBody>
          </p:sp>
        </mc:Choice>
        <mc:Fallback xmlns="">
          <p:sp>
            <p:nvSpPr>
              <p:cNvPr id="33" name="TextBox 32"/>
              <p:cNvSpPr txBox="1">
                <a:spLocks noRot="1" noChangeAspect="1" noMove="1" noResize="1" noEditPoints="1" noAdjustHandles="1" noChangeArrowheads="1" noChangeShapeType="1" noTextEdit="1"/>
              </p:cNvSpPr>
              <p:nvPr/>
            </p:nvSpPr>
            <p:spPr>
              <a:xfrm>
                <a:off x="3827323" y="4630462"/>
                <a:ext cx="2863191" cy="591059"/>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6690515" y="4637952"/>
                <a:ext cx="2615534" cy="5990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i="1">
                                      <a:latin typeface="Cambria Math" charset="0"/>
                                    </a:rPr>
                                    <m:t>0.</m:t>
                                  </m:r>
                                  <m:r>
                                    <a:rPr lang="en-US" b="0" i="1" smtClean="0">
                                      <a:latin typeface="Cambria Math" charset="0"/>
                                    </a:rPr>
                                    <m:t>18</m:t>
                                  </m:r>
                                </m:e>
                                <m:sup>
                                  <m:r>
                                    <a:rPr lang="en-US" i="1">
                                      <a:latin typeface="Cambria Math" charset="0"/>
                                    </a:rPr>
                                    <m:t>2</m:t>
                                  </m:r>
                                </m:sup>
                              </m:sSup>
                            </m:e>
                          </m:rad>
                        </m:num>
                        <m:den>
                          <m:r>
                            <a:rPr lang="en-US" b="0" i="1" smtClean="0">
                              <a:latin typeface="Cambria Math" charset="0"/>
                            </a:rPr>
                            <m:t>1</m:t>
                          </m:r>
                        </m:den>
                      </m:f>
                      <m:r>
                        <a:rPr lang="en-US" b="0" i="0" smtClean="0">
                          <a:latin typeface="Cambria Math" charset="0"/>
                        </a:rPr>
                        <m:t>=0.18</m:t>
                      </m:r>
                    </m:oMath>
                  </m:oMathPara>
                </a14:m>
                <a:endParaRPr lang="en-US" dirty="0"/>
              </a:p>
            </p:txBody>
          </p:sp>
        </mc:Choice>
        <mc:Fallback xmlns="">
          <p:sp>
            <p:nvSpPr>
              <p:cNvPr id="39" name="TextBox 38"/>
              <p:cNvSpPr txBox="1">
                <a:spLocks noRot="1" noChangeAspect="1" noMove="1" noResize="1" noEditPoints="1" noAdjustHandles="1" noChangeArrowheads="1" noChangeShapeType="1" noTextEdit="1"/>
              </p:cNvSpPr>
              <p:nvPr/>
            </p:nvSpPr>
            <p:spPr>
              <a:xfrm>
                <a:off x="6690515" y="4637952"/>
                <a:ext cx="2615534" cy="59901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9327259" y="4659339"/>
                <a:ext cx="2615534" cy="5910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i="1" smtClean="0">
                              <a:latin typeface="Cambria Math" panose="02040503050406030204" pitchFamily="18" charset="0"/>
                            </a:rPr>
                          </m:ctrlPr>
                        </m:fPr>
                        <m:num>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i="1">
                                      <a:latin typeface="Cambria Math" charset="0"/>
                                    </a:rPr>
                                    <m:t>0.</m:t>
                                  </m:r>
                                  <m:r>
                                    <a:rPr lang="en-US" b="0" i="1" smtClean="0">
                                      <a:latin typeface="Cambria Math" charset="0"/>
                                    </a:rPr>
                                    <m:t>10</m:t>
                                  </m:r>
                                </m:e>
                                <m:sup>
                                  <m:r>
                                    <a:rPr lang="en-US" i="1">
                                      <a:latin typeface="Cambria Math" charset="0"/>
                                    </a:rPr>
                                    <m:t>2</m:t>
                                  </m:r>
                                </m:sup>
                              </m:sSup>
                            </m:e>
                          </m:rad>
                          <m:r>
                            <a:rPr lang="en-US" b="0" i="1" smtClean="0">
                              <a:latin typeface="Cambria Math" charset="0"/>
                            </a:rPr>
                            <m:t>+</m:t>
                          </m:r>
                          <m:rad>
                            <m:radPr>
                              <m:degHide m:val="on"/>
                              <m:ctrlPr>
                                <a:rPr lang="mr-IN" i="1">
                                  <a:latin typeface="Cambria Math" panose="02040503050406030204" pitchFamily="18" charset="0"/>
                                </a:rPr>
                              </m:ctrlPr>
                            </m:radPr>
                            <m:deg/>
                            <m:e>
                              <m:sSup>
                                <m:sSupPr>
                                  <m:ctrlPr>
                                    <a:rPr lang="mr-IN" i="1">
                                      <a:latin typeface="Cambria Math" panose="02040503050406030204" pitchFamily="18" charset="0"/>
                                    </a:rPr>
                                  </m:ctrlPr>
                                </m:sSupPr>
                                <m:e>
                                  <m:r>
                                    <a:rPr lang="en-US" i="1">
                                      <a:latin typeface="Cambria Math" charset="0"/>
                                    </a:rPr>
                                    <m:t>0.</m:t>
                                  </m:r>
                                  <m:r>
                                    <a:rPr lang="en-US" b="0" i="1" smtClean="0">
                                      <a:latin typeface="Cambria Math" charset="0"/>
                                    </a:rPr>
                                    <m:t>10</m:t>
                                  </m:r>
                                </m:e>
                                <m:sup>
                                  <m:r>
                                    <a:rPr lang="en-US" i="1">
                                      <a:latin typeface="Cambria Math" charset="0"/>
                                    </a:rPr>
                                    <m:t>2</m:t>
                                  </m:r>
                                </m:sup>
                              </m:sSup>
                            </m:e>
                          </m:rad>
                        </m:num>
                        <m:den>
                          <m:r>
                            <a:rPr lang="en-US" b="0" i="1" smtClean="0">
                              <a:latin typeface="Cambria Math" charset="0"/>
                            </a:rPr>
                            <m:t>2</m:t>
                          </m:r>
                        </m:den>
                      </m:f>
                      <m:r>
                        <a:rPr lang="en-US" b="0" i="0" smtClean="0">
                          <a:latin typeface="Cambria Math" charset="0"/>
                        </a:rPr>
                        <m:t>=0.10</m:t>
                      </m:r>
                    </m:oMath>
                  </m:oMathPara>
                </a14:m>
                <a:endParaRPr lang="en-US" dirty="0"/>
              </a:p>
            </p:txBody>
          </p:sp>
        </mc:Choice>
        <mc:Fallback xmlns="">
          <p:sp>
            <p:nvSpPr>
              <p:cNvPr id="41" name="TextBox 40"/>
              <p:cNvSpPr txBox="1">
                <a:spLocks noRot="1" noChangeAspect="1" noMove="1" noResize="1" noEditPoints="1" noAdjustHandles="1" noChangeArrowheads="1" noChangeShapeType="1" noTextEdit="1"/>
              </p:cNvSpPr>
              <p:nvPr/>
            </p:nvSpPr>
            <p:spPr>
              <a:xfrm>
                <a:off x="9327259" y="4659339"/>
                <a:ext cx="2615534" cy="591059"/>
              </a:xfrm>
              <a:prstGeom prst="rect">
                <a:avLst/>
              </a:prstGeom>
              <a:blipFill rotWithShape="0">
                <a:blip r:embed="rId6"/>
                <a:stretch>
                  <a:fillRect/>
                </a:stretch>
              </a:blipFill>
            </p:spPr>
            <p:txBody>
              <a:bodyPr/>
              <a:lstStyle/>
              <a:p>
                <a:r>
                  <a:rPr lang="en-US">
                    <a:noFill/>
                  </a:rPr>
                  <a:t> </a:t>
                </a:r>
              </a:p>
            </p:txBody>
          </p:sp>
        </mc:Fallback>
      </mc:AlternateContent>
      <p:sp>
        <p:nvSpPr>
          <p:cNvPr id="43" name="Rectangle 42"/>
          <p:cNvSpPr/>
          <p:nvPr/>
        </p:nvSpPr>
        <p:spPr>
          <a:xfrm>
            <a:off x="9079602" y="3784508"/>
            <a:ext cx="1902725" cy="356371"/>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6933697" y="3722089"/>
            <a:ext cx="941837" cy="410371"/>
          </a:xfrm>
          <a:prstGeom prst="rect">
            <a:avLst/>
          </a:prstGeom>
          <a:solidFill>
            <a:schemeClr val="accent6">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3827324" y="3770039"/>
            <a:ext cx="1876573" cy="37084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681612" y="3770039"/>
            <a:ext cx="1891352" cy="362422"/>
          </a:xfrm>
          <a:prstGeom prst="rect">
            <a:avLst/>
          </a:prstGeom>
          <a:solidFill>
            <a:schemeClr val="accent1">
              <a:alpha val="50000"/>
            </a:schemeClr>
          </a:solidFill>
          <a:ln>
            <a:solidFill>
              <a:srgbClr val="2F528F">
                <a:alpha val="6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7" name="Table 46"/>
          <p:cNvGraphicFramePr>
            <a:graphicFrameLocks noGrp="1"/>
          </p:cNvGraphicFramePr>
          <p:nvPr>
            <p:extLst/>
          </p:nvPr>
        </p:nvGraphicFramePr>
        <p:xfrm>
          <a:off x="681612" y="3390780"/>
          <a:ext cx="2863191" cy="74168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tblGrid>
              <a:tr h="370840">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r"/>
                      <a:r>
                        <a:rPr lang="en-US" dirty="0"/>
                        <a:t>trend</a:t>
                      </a:r>
                    </a:p>
                  </a:txBody>
                  <a:tcPr/>
                </a:tc>
                <a:extLst>
                  <a:ext uri="{0D108BD9-81ED-4DB2-BD59-A6C34878D82A}">
                    <a16:rowId xmlns:a16="http://schemas.microsoft.com/office/drawing/2014/main" xmlns="" val="10000"/>
                  </a:ext>
                </a:extLst>
              </a:tr>
              <a:tr h="370840">
                <a:tc>
                  <a:txBody>
                    <a:bodyPr/>
                    <a:lstStyle/>
                    <a:p>
                      <a:pPr algn="r"/>
                      <a:r>
                        <a:rPr lang="en-US" dirty="0"/>
                        <a:t>0.01</a:t>
                      </a:r>
                    </a:p>
                  </a:txBody>
                  <a:tcPr/>
                </a:tc>
                <a:tc>
                  <a:txBody>
                    <a:bodyPr/>
                    <a:lstStyle/>
                    <a:p>
                      <a:pPr algn="r"/>
                      <a:r>
                        <a:rPr lang="en-US" dirty="0"/>
                        <a:t>0.17</a:t>
                      </a:r>
                    </a:p>
                  </a:txBody>
                  <a:tcPr/>
                </a:tc>
                <a:tc>
                  <a:txBody>
                    <a:bodyPr/>
                    <a:lstStyle/>
                    <a:p>
                      <a:pPr algn="r"/>
                      <a:r>
                        <a:rPr lang="en-US" dirty="0"/>
                        <a:t>-1</a:t>
                      </a:r>
                    </a:p>
                  </a:txBody>
                  <a:tcPr/>
                </a:tc>
                <a:extLst>
                  <a:ext uri="{0D108BD9-81ED-4DB2-BD59-A6C34878D82A}">
                    <a16:rowId xmlns:a16="http://schemas.microsoft.com/office/drawing/2014/main" xmlns="" val="10001"/>
                  </a:ext>
                </a:extLst>
              </a:tr>
            </a:tbl>
          </a:graphicData>
        </a:graphic>
      </p:graphicFrame>
      <p:graphicFrame>
        <p:nvGraphicFramePr>
          <p:cNvPr id="49" name="Table 48"/>
          <p:cNvGraphicFramePr>
            <a:graphicFrameLocks noGrp="1"/>
          </p:cNvGraphicFramePr>
          <p:nvPr>
            <p:extLst>
              <p:ext uri="{D42A27DB-BD31-4B8C-83A1-F6EECF244321}">
                <p14:modId xmlns:p14="http://schemas.microsoft.com/office/powerpoint/2010/main" val="373504175"/>
              </p:ext>
            </p:extLst>
          </p:nvPr>
        </p:nvGraphicFramePr>
        <p:xfrm>
          <a:off x="3827324" y="3390780"/>
          <a:ext cx="2863191" cy="74168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tblGrid>
              <a:tr h="370840">
                <a:tc>
                  <a:txBody>
                    <a:bodyPr/>
                    <a:lstStyle/>
                    <a:p>
                      <a:pPr algn="ctr"/>
                      <a:r>
                        <a:rPr lang="en-US" dirty="0"/>
                        <a:t>MA</a:t>
                      </a:r>
                      <a:r>
                        <a:rPr lang="en-US" sz="1400" dirty="0"/>
                        <a:t>△</a:t>
                      </a:r>
                      <a:r>
                        <a:rPr lang="en-US" dirty="0"/>
                        <a:t>10</a:t>
                      </a:r>
                    </a:p>
                  </a:txBody>
                  <a:tcPr/>
                </a:tc>
                <a:tc>
                  <a:txBody>
                    <a:bodyPr/>
                    <a:lstStyle/>
                    <a:p>
                      <a:pPr algn="ctr"/>
                      <a:r>
                        <a:rPr lang="en-US" dirty="0"/>
                        <a:t>MA</a:t>
                      </a:r>
                      <a:r>
                        <a:rPr lang="en-US" sz="1400" dirty="0"/>
                        <a:t>△</a:t>
                      </a:r>
                      <a:r>
                        <a:rPr lang="en-US" dirty="0"/>
                        <a:t>20</a:t>
                      </a:r>
                    </a:p>
                  </a:txBody>
                  <a:tcPr/>
                </a:tc>
                <a:tc>
                  <a:txBody>
                    <a:bodyPr/>
                    <a:lstStyle/>
                    <a:p>
                      <a:pPr algn="r"/>
                      <a:r>
                        <a:rPr lang="en-US" dirty="0"/>
                        <a:t>trend</a:t>
                      </a:r>
                    </a:p>
                  </a:txBody>
                  <a:tcPr/>
                </a:tc>
                <a:extLst>
                  <a:ext uri="{0D108BD9-81ED-4DB2-BD59-A6C34878D82A}">
                    <a16:rowId xmlns:a16="http://schemas.microsoft.com/office/drawing/2014/main" xmlns="" val="10000"/>
                  </a:ext>
                </a:extLst>
              </a:tr>
              <a:tr h="370840">
                <a:tc>
                  <a:txBody>
                    <a:bodyPr/>
                    <a:lstStyle/>
                    <a:p>
                      <a:pPr algn="r"/>
                      <a:r>
                        <a:rPr lang="en-US" dirty="0"/>
                        <a:t>0.10</a:t>
                      </a:r>
                    </a:p>
                  </a:txBody>
                  <a:tcPr/>
                </a:tc>
                <a:tc>
                  <a:txBody>
                    <a:bodyPr/>
                    <a:lstStyle/>
                    <a:p>
                      <a:pPr algn="r"/>
                      <a:r>
                        <a:rPr lang="en-US" dirty="0"/>
                        <a:t>0.35</a:t>
                      </a:r>
                    </a:p>
                  </a:txBody>
                  <a:tcPr/>
                </a:tc>
                <a:tc>
                  <a:txBody>
                    <a:bodyPr/>
                    <a:lstStyle/>
                    <a:p>
                      <a:pPr algn="r"/>
                      <a:r>
                        <a:rPr lang="en-US" dirty="0"/>
                        <a:t>1</a:t>
                      </a:r>
                    </a:p>
                  </a:txBody>
                  <a:tcPr/>
                </a:tc>
                <a:extLst>
                  <a:ext uri="{0D108BD9-81ED-4DB2-BD59-A6C34878D82A}">
                    <a16:rowId xmlns:a16="http://schemas.microsoft.com/office/drawing/2014/main" xmlns="" val="10001"/>
                  </a:ext>
                </a:extLst>
              </a:tr>
            </a:tbl>
          </a:graphicData>
        </a:graphic>
      </p:graphicFrame>
      <p:graphicFrame>
        <p:nvGraphicFramePr>
          <p:cNvPr id="50" name="Table 49"/>
          <p:cNvGraphicFramePr>
            <a:graphicFrameLocks noGrp="1"/>
          </p:cNvGraphicFramePr>
          <p:nvPr>
            <p:extLst/>
          </p:nvPr>
        </p:nvGraphicFramePr>
        <p:xfrm>
          <a:off x="9079602" y="3399199"/>
          <a:ext cx="2863191" cy="74168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gridCol w="954397">
                  <a:extLst>
                    <a:ext uri="{9D8B030D-6E8A-4147-A177-3AD203B41FA5}">
                      <a16:colId xmlns:a16="http://schemas.microsoft.com/office/drawing/2014/main" xmlns="" val="20002"/>
                    </a:ext>
                  </a:extLst>
                </a:gridCol>
              </a:tblGrid>
              <a:tr h="370840">
                <a:tc>
                  <a:txBody>
                    <a:bodyPr/>
                    <a:lstStyle/>
                    <a:p>
                      <a:pPr algn="ctr"/>
                      <a:r>
                        <a:rPr lang="en-US" dirty="0"/>
                        <a:t>MA</a:t>
                      </a:r>
                      <a:r>
                        <a:rPr lang="en-US" sz="1400" dirty="0"/>
                        <a:t>△</a:t>
                      </a:r>
                      <a:r>
                        <a:rPr lang="en-US" dirty="0"/>
                        <a:t>20</a:t>
                      </a:r>
                    </a:p>
                  </a:txBody>
                  <a:tcPr/>
                </a:tc>
                <a:tc>
                  <a:txBody>
                    <a:bodyPr/>
                    <a:lstStyle/>
                    <a:p>
                      <a:pPr algn="ctr"/>
                      <a:r>
                        <a:rPr lang="en-US" dirty="0"/>
                        <a:t>RSI</a:t>
                      </a:r>
                      <a:r>
                        <a:rPr lang="en-US" sz="1400" dirty="0"/>
                        <a:t>△</a:t>
                      </a:r>
                      <a:r>
                        <a:rPr lang="en-US" dirty="0"/>
                        <a:t>10</a:t>
                      </a:r>
                    </a:p>
                  </a:txBody>
                  <a:tcPr/>
                </a:tc>
                <a:tc>
                  <a:txBody>
                    <a:bodyPr/>
                    <a:lstStyle/>
                    <a:p>
                      <a:pPr algn="r"/>
                      <a:r>
                        <a:rPr lang="en-US" dirty="0"/>
                        <a:t>trend</a:t>
                      </a:r>
                    </a:p>
                  </a:txBody>
                  <a:tcPr/>
                </a:tc>
                <a:extLst>
                  <a:ext uri="{0D108BD9-81ED-4DB2-BD59-A6C34878D82A}">
                    <a16:rowId xmlns:a16="http://schemas.microsoft.com/office/drawing/2014/main" xmlns="" val="10000"/>
                  </a:ext>
                </a:extLst>
              </a:tr>
              <a:tr h="370840">
                <a:tc>
                  <a:txBody>
                    <a:bodyPr/>
                    <a:lstStyle/>
                    <a:p>
                      <a:pPr algn="r"/>
                      <a:r>
                        <a:rPr lang="en-US" dirty="0"/>
                        <a:t>0.23</a:t>
                      </a:r>
                    </a:p>
                  </a:txBody>
                  <a:tcPr/>
                </a:tc>
                <a:tc>
                  <a:txBody>
                    <a:bodyPr/>
                    <a:lstStyle/>
                    <a:p>
                      <a:pPr algn="r"/>
                      <a:r>
                        <a:rPr lang="en-US" dirty="0"/>
                        <a:t>0.10</a:t>
                      </a:r>
                    </a:p>
                  </a:txBody>
                  <a:tcPr/>
                </a:tc>
                <a:tc>
                  <a:txBody>
                    <a:bodyPr/>
                    <a:lstStyle/>
                    <a:p>
                      <a:pPr algn="r"/>
                      <a:r>
                        <a:rPr lang="en-US" dirty="0"/>
                        <a:t>1</a:t>
                      </a:r>
                    </a:p>
                  </a:txBody>
                  <a:tcPr/>
                </a:tc>
                <a:extLst>
                  <a:ext uri="{0D108BD9-81ED-4DB2-BD59-A6C34878D82A}">
                    <a16:rowId xmlns:a16="http://schemas.microsoft.com/office/drawing/2014/main" xmlns="" val="10001"/>
                  </a:ext>
                </a:extLst>
              </a:tr>
            </a:tbl>
          </a:graphicData>
        </a:graphic>
      </p:graphicFrame>
      <p:graphicFrame>
        <p:nvGraphicFramePr>
          <p:cNvPr id="51" name="Table 50"/>
          <p:cNvGraphicFramePr>
            <a:graphicFrameLocks noGrp="1"/>
          </p:cNvGraphicFramePr>
          <p:nvPr>
            <p:extLst>
              <p:ext uri="{D42A27DB-BD31-4B8C-83A1-F6EECF244321}">
                <p14:modId xmlns:p14="http://schemas.microsoft.com/office/powerpoint/2010/main" val="389969044"/>
              </p:ext>
            </p:extLst>
          </p:nvPr>
        </p:nvGraphicFramePr>
        <p:xfrm>
          <a:off x="6933696" y="3390780"/>
          <a:ext cx="1908794" cy="741680"/>
        </p:xfrm>
        <a:graphic>
          <a:graphicData uri="http://schemas.openxmlformats.org/drawingml/2006/table">
            <a:tbl>
              <a:tblPr firstRow="1" bandRow="1">
                <a:tableStyleId>{5940675A-B579-460E-94D1-54222C63F5DA}</a:tableStyleId>
              </a:tblPr>
              <a:tblGrid>
                <a:gridCol w="954397">
                  <a:extLst>
                    <a:ext uri="{9D8B030D-6E8A-4147-A177-3AD203B41FA5}">
                      <a16:colId xmlns:a16="http://schemas.microsoft.com/office/drawing/2014/main" xmlns="" val="20000"/>
                    </a:ext>
                  </a:extLst>
                </a:gridCol>
                <a:gridCol w="954397">
                  <a:extLst>
                    <a:ext uri="{9D8B030D-6E8A-4147-A177-3AD203B41FA5}">
                      <a16:colId xmlns:a16="http://schemas.microsoft.com/office/drawing/2014/main" xmlns="" val="20001"/>
                    </a:ext>
                  </a:extLst>
                </a:gridCol>
              </a:tblGrid>
              <a:tr h="370840">
                <a:tc>
                  <a:txBody>
                    <a:bodyPr/>
                    <a:lstStyle/>
                    <a:p>
                      <a:pPr algn="ctr"/>
                      <a:r>
                        <a:rPr lang="en-US" dirty="0"/>
                        <a:t>MA</a:t>
                      </a:r>
                      <a:r>
                        <a:rPr lang="en-US" sz="1400" dirty="0"/>
                        <a:t>△</a:t>
                      </a:r>
                      <a:r>
                        <a:rPr lang="en-US" dirty="0"/>
                        <a:t>20</a:t>
                      </a:r>
                    </a:p>
                  </a:txBody>
                  <a:tcPr/>
                </a:tc>
                <a:tc>
                  <a:txBody>
                    <a:bodyPr/>
                    <a:lstStyle/>
                    <a:p>
                      <a:pPr algn="r"/>
                      <a:r>
                        <a:rPr lang="en-US" dirty="0"/>
                        <a:t>trend</a:t>
                      </a:r>
                    </a:p>
                  </a:txBody>
                  <a:tcPr/>
                </a:tc>
                <a:extLst>
                  <a:ext uri="{0D108BD9-81ED-4DB2-BD59-A6C34878D82A}">
                    <a16:rowId xmlns:a16="http://schemas.microsoft.com/office/drawing/2014/main" xmlns="" val="10000"/>
                  </a:ext>
                </a:extLst>
              </a:tr>
              <a:tr h="370840">
                <a:tc>
                  <a:txBody>
                    <a:bodyPr/>
                    <a:lstStyle/>
                    <a:p>
                      <a:pPr algn="r"/>
                      <a:r>
                        <a:rPr lang="en-US" dirty="0"/>
                        <a:t>0.15</a:t>
                      </a:r>
                    </a:p>
                  </a:txBody>
                  <a:tcPr/>
                </a:tc>
                <a:tc>
                  <a:txBody>
                    <a:bodyPr/>
                    <a:lstStyle/>
                    <a:p>
                      <a:pPr algn="r"/>
                      <a:r>
                        <a:rPr lang="en-US" dirty="0"/>
                        <a:t>-1</a:t>
                      </a: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4884400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25012" y="559558"/>
            <a:ext cx="11425399" cy="5671403"/>
          </a:xfrm>
          <a:prstGeom prst="rect">
            <a:avLst/>
          </a:prstGeom>
        </p:spPr>
      </p:pic>
      <p:sp>
        <p:nvSpPr>
          <p:cNvPr id="2" name="Slide Number Placeholder 1"/>
          <p:cNvSpPr>
            <a:spLocks noGrp="1"/>
          </p:cNvSpPr>
          <p:nvPr>
            <p:ph type="sldNum" sz="quarter" idx="12"/>
          </p:nvPr>
        </p:nvSpPr>
        <p:spPr/>
        <p:txBody>
          <a:bodyPr/>
          <a:lstStyle/>
          <a:p>
            <a:fld id="{8FD09EC2-3C1C-1643-A0E2-A9B1200FF76E}" type="slidenum">
              <a:rPr lang="en-US" smtClean="0"/>
              <a:t>22</a:t>
            </a:fld>
            <a:endParaRPr lang="en-US"/>
          </a:p>
        </p:txBody>
      </p:sp>
    </p:spTree>
    <p:extLst>
      <p:ext uri="{BB962C8B-B14F-4D97-AF65-F5344CB8AC3E}">
        <p14:creationId xmlns:p14="http://schemas.microsoft.com/office/powerpoint/2010/main" val="3404876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0" y="288565"/>
            <a:ext cx="12192000" cy="1722517"/>
          </a:xfrm>
          <a:prstGeom prst="rect">
            <a:avLst/>
          </a:prstGeom>
        </p:spPr>
      </p:pic>
      <p:pic>
        <p:nvPicPr>
          <p:cNvPr id="5" name="Picture 4"/>
          <p:cNvPicPr>
            <a:picLocks noChangeAspect="1"/>
          </p:cNvPicPr>
          <p:nvPr/>
        </p:nvPicPr>
        <p:blipFill>
          <a:blip r:embed="rId4"/>
          <a:stretch>
            <a:fillRect/>
          </a:stretch>
        </p:blipFill>
        <p:spPr>
          <a:xfrm>
            <a:off x="209733" y="2457450"/>
            <a:ext cx="5733867" cy="3692799"/>
          </a:xfrm>
          <a:prstGeom prst="rect">
            <a:avLst/>
          </a:prstGeom>
        </p:spPr>
      </p:pic>
      <p:pic>
        <p:nvPicPr>
          <p:cNvPr id="2" name="Picture 1"/>
          <p:cNvPicPr>
            <a:picLocks noChangeAspect="1"/>
          </p:cNvPicPr>
          <p:nvPr/>
        </p:nvPicPr>
        <p:blipFill>
          <a:blip r:embed="rId5"/>
          <a:stretch>
            <a:fillRect/>
          </a:stretch>
        </p:blipFill>
        <p:spPr>
          <a:xfrm>
            <a:off x="6129865" y="2457450"/>
            <a:ext cx="5825067" cy="3706861"/>
          </a:xfrm>
          <a:prstGeom prst="rect">
            <a:avLst/>
          </a:prstGeom>
        </p:spPr>
      </p:pic>
      <p:sp>
        <p:nvSpPr>
          <p:cNvPr id="3" name="Slide Number Placeholder 2"/>
          <p:cNvSpPr>
            <a:spLocks noGrp="1"/>
          </p:cNvSpPr>
          <p:nvPr>
            <p:ph type="sldNum" sz="quarter" idx="12"/>
          </p:nvPr>
        </p:nvSpPr>
        <p:spPr/>
        <p:txBody>
          <a:bodyPr/>
          <a:lstStyle/>
          <a:p>
            <a:fld id="{8FD09EC2-3C1C-1643-A0E2-A9B1200FF76E}" type="slidenum">
              <a:rPr lang="en-US" smtClean="0"/>
              <a:t>23</a:t>
            </a:fld>
            <a:endParaRPr lang="en-US"/>
          </a:p>
        </p:txBody>
      </p:sp>
      <p:sp>
        <p:nvSpPr>
          <p:cNvPr id="6" name="Rectangle 5"/>
          <p:cNvSpPr/>
          <p:nvPr/>
        </p:nvSpPr>
        <p:spPr>
          <a:xfrm>
            <a:off x="4676632" y="832396"/>
            <a:ext cx="3566615" cy="12741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434315" y="832396"/>
            <a:ext cx="3616657" cy="12741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69809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40636" y="482599"/>
            <a:ext cx="8108538" cy="6068325"/>
          </a:xfrm>
          <a:prstGeom prst="rect">
            <a:avLst/>
          </a:prstGeom>
        </p:spPr>
      </p:pic>
      <p:sp>
        <p:nvSpPr>
          <p:cNvPr id="2" name="Slide Number Placeholder 1"/>
          <p:cNvSpPr>
            <a:spLocks noGrp="1"/>
          </p:cNvSpPr>
          <p:nvPr>
            <p:ph type="sldNum" sz="quarter" idx="12"/>
          </p:nvPr>
        </p:nvSpPr>
        <p:spPr/>
        <p:txBody>
          <a:bodyPr/>
          <a:lstStyle/>
          <a:p>
            <a:fld id="{8FD09EC2-3C1C-1643-A0E2-A9B1200FF76E}" type="slidenum">
              <a:rPr lang="en-US" smtClean="0"/>
              <a:t>24</a:t>
            </a:fld>
            <a:endParaRPr lang="en-US"/>
          </a:p>
        </p:txBody>
      </p:sp>
    </p:spTree>
    <p:extLst>
      <p:ext uri="{BB962C8B-B14F-4D97-AF65-F5344CB8AC3E}">
        <p14:creationId xmlns:p14="http://schemas.microsoft.com/office/powerpoint/2010/main" val="4824869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8341</TotalTime>
  <Words>1355</Words>
  <Application>Microsoft Office PowerPoint</Application>
  <PresentationFormat>寬螢幕</PresentationFormat>
  <Paragraphs>906</Paragraphs>
  <Slides>24</Slides>
  <Notes>5</Notes>
  <HiddenSlides>3</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24</vt:i4>
      </vt:variant>
    </vt:vector>
  </HeadingPairs>
  <TitlesOfParts>
    <vt:vector size="33" baseType="lpstr">
      <vt:lpstr>Liberation Sans Narrow</vt:lpstr>
      <vt:lpstr>微軟正黑體</vt:lpstr>
      <vt:lpstr>新細明體</vt:lpstr>
      <vt:lpstr>Arial</vt:lpstr>
      <vt:lpstr>Calibri</vt:lpstr>
      <vt:lpstr>Calibri Light</vt:lpstr>
      <vt:lpstr>Cambria Math</vt:lpstr>
      <vt:lpstr>Mangal</vt:lpstr>
      <vt:lpstr>Office Theme</vt:lpstr>
      <vt:lpstr>Biclustering Learning of Trading Rules </vt:lpstr>
      <vt:lpstr>Outline</vt:lpstr>
      <vt:lpstr>Abstract(1/3) </vt:lpstr>
      <vt:lpstr>Abstract(2/3) </vt:lpstr>
      <vt:lpstr>Abstract(3/3) </vt:lpstr>
      <vt:lpstr>Indicator Analysis</vt:lpstr>
      <vt:lpstr>preprocess</vt:lpstr>
      <vt:lpstr>preprocess</vt:lpstr>
      <vt:lpstr>preprocess</vt:lpstr>
      <vt:lpstr>preprocess</vt:lpstr>
      <vt:lpstr>preprocess</vt:lpstr>
      <vt:lpstr>preprocess</vt:lpstr>
      <vt:lpstr>Bicluster method</vt:lpstr>
      <vt:lpstr>Bicluster method</vt:lpstr>
      <vt:lpstr>Bicluster method</vt:lpstr>
      <vt:lpstr>Bicluster method</vt:lpstr>
      <vt:lpstr>Bicluster method</vt:lpstr>
      <vt:lpstr>Bicluster method</vt:lpstr>
      <vt:lpstr>Bicluster method</vt:lpstr>
      <vt:lpstr>K-NN</vt:lpstr>
      <vt:lpstr>K-NN</vt:lpstr>
      <vt:lpstr>PowerPoint 簡報</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Biclustering Learning of Trading Rules </dc:title>
  <dc:creator>M053040058</dc:creator>
  <cp:lastModifiedBy>pplab-class</cp:lastModifiedBy>
  <cp:revision>81</cp:revision>
  <dcterms:created xsi:type="dcterms:W3CDTF">2017-05-13T01:06:02Z</dcterms:created>
  <dcterms:modified xsi:type="dcterms:W3CDTF">2017-06-27T11:43:43Z</dcterms:modified>
</cp:coreProperties>
</file>