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76" r:id="rId3"/>
    <p:sldId id="277" r:id="rId4"/>
    <p:sldId id="278" r:id="rId5"/>
    <p:sldId id="279" r:id="rId6"/>
    <p:sldId id="280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 autoAdjust="0"/>
    <p:restoredTop sz="88835" autoAdjust="0"/>
  </p:normalViewPr>
  <p:slideViewPr>
    <p:cSldViewPr snapToGrid="0">
      <p:cViewPr varScale="1">
        <p:scale>
          <a:sx n="70" d="100"/>
          <a:sy n="7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8750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747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44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575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99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32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706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103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796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333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524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mtClean="0"/>
              <a:t>https://en.wikipedia.org/wiki/Log_probability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668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814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532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0427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28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2017/9/20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1" y="559444"/>
            <a:ext cx="9954638" cy="1819245"/>
          </a:xfrm>
        </p:spPr>
        <p:txBody>
          <a:bodyPr anchor="ctr">
            <a:normAutofit fontScale="90000"/>
          </a:bodyPr>
          <a:lstStyle/>
          <a:p>
            <a:r>
              <a:rPr lang="en-US" altLang="zh-TW" sz="48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Time-series Averaging Using Constrained Dynamic Time Warping with Tolerance</a:t>
            </a:r>
            <a:endParaRPr lang="zh-TW" altLang="en-US" sz="4800" b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Cambria Math" panose="02040503050406030204" pitchFamily="18" charset="0"/>
                <a:cs typeface="Times New Roman" panose="02020603050405020304" pitchFamily="18" charset="0"/>
              </a:rPr>
              <a:t>2017/9/20</a:t>
            </a:fld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549933" y="3616817"/>
            <a:ext cx="9656132" cy="11099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Marion 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Morel, </a:t>
            </a:r>
            <a:r>
              <a:rPr lang="en-US" altLang="zh-TW" sz="2449" b="1" dirty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Catherine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Achard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49" b="1" dirty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Richard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Kulpa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49" b="1" dirty="0" err="1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S´everine</a:t>
            </a:r>
            <a:r>
              <a:rPr lang="en-US" altLang="zh-TW" sz="2449" b="1" dirty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Dubuisson</a:t>
            </a:r>
            <a:endParaRPr lang="en-US" altLang="zh-TW" sz="2449" b="1" dirty="0" smtClean="0">
              <a:solidFill>
                <a:srgbClr val="898989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Recognition, August, 2017</a:t>
            </a: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 this paper, we propose an innovative averaging of a set of time-series based on the Dynamic Time Warping (DTW). The DTW is widely used in data mining since it provides not only a similarity measure, but also a temporal alignment of time-series. However, its use is often restricted to the case of a pair of signals. In this paper, we propose to extend its application to a set of signals by providing an average time-series that opens a wide range of applications in data mining process. Starting with an existing well-established method called DBA (for DTW Barycenter Averaging), this paper points out its limitations and suggests an alternative based on a Constrained Dynamic Time Warping. Secondly, an innovative tolerance is added to take into account the admissible variability around the average signal. This new modeling of time-series is evaluated on a classification task applied on several datasets and results show that it outperforms state of the art methods.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=2, …,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=2, …,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altLang="zh-TW" b="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Warping Path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[1;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=(</m:t>
                              </m:r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  <a:blipFill rotWithShape="0">
                <a:blip r:embed="rId3"/>
                <a:stretch>
                  <a:fillRect l="-11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357" y="2256872"/>
            <a:ext cx="4791442" cy="447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5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Time-Series averaging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Two new aligned signals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𝑥𝑦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=1,…,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𝑥𝑦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=1,…,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</m:oMath>
                  </m:oMathPara>
                </a14:m>
                <a:r>
                  <a:rPr lang="en-US" altLang="zh-TW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:r>
                  <a:rPr lang="en-US" altLang="zh-TW" b="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b="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:endParaRPr lang="en-US" altLang="zh-TW" b="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zh-TW" altLang="en-US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  <a:blipFill rotWithShape="0">
                <a:blip r:embed="rId3"/>
                <a:stretch>
                  <a:fillRect l="-1119" t="-11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4"/>
          <a:srcRect b="59544"/>
          <a:stretch/>
        </p:blipFill>
        <p:spPr>
          <a:xfrm>
            <a:off x="211015" y="3912758"/>
            <a:ext cx="5279934" cy="199567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114" y="3817328"/>
            <a:ext cx="5529190" cy="219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3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Extension of Time-Series averaging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Nonlinear alignment and averaging filters(NLAAF)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 time series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using DTW </a:t>
                </a:r>
                <a:r>
                  <a:rPr lang="en-US" altLang="zh-TW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recursively.</a:t>
                </a:r>
                <a:endParaRPr lang="en-US" altLang="zh-TW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−1→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much</m:t>
                    </m:r>
                    <m:r>
                      <a:rPr lang="en-US" altLang="zh-TW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longer</m:t>
                    </m:r>
                    <m:r>
                      <a:rPr lang="en-US" altLang="zh-TW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TS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  <a:blipFill rotWithShape="0">
                <a:blip r:embed="rId3"/>
                <a:stretch>
                  <a:fillRect l="-1119" t="-11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t="50606" r="47098" b="7250"/>
          <a:stretch/>
        </p:blipFill>
        <p:spPr>
          <a:xfrm>
            <a:off x="6379519" y="3545939"/>
            <a:ext cx="3718782" cy="2767879"/>
          </a:xfrm>
          <a:prstGeom prst="rect">
            <a:avLst/>
          </a:prstGeom>
        </p:spPr>
      </p:pic>
      <p:grpSp>
        <p:nvGrpSpPr>
          <p:cNvPr id="11" name="群組 10"/>
          <p:cNvGrpSpPr/>
          <p:nvPr/>
        </p:nvGrpSpPr>
        <p:grpSpPr>
          <a:xfrm>
            <a:off x="1430215" y="3545939"/>
            <a:ext cx="3446585" cy="2818761"/>
            <a:chOff x="211015" y="3617903"/>
            <a:chExt cx="3446585" cy="2818761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 rotWithShape="1">
            <a:blip r:embed="rId4"/>
            <a:srcRect r="49409" b="60329"/>
            <a:stretch/>
          </p:blipFill>
          <p:spPr>
            <a:xfrm>
              <a:off x="211015" y="3617903"/>
              <a:ext cx="3446585" cy="2524989"/>
            </a:xfrm>
            <a:prstGeom prst="rect">
              <a:avLst/>
            </a:prstGeom>
          </p:spPr>
        </p:pic>
        <p:sp>
          <p:nvSpPr>
            <p:cNvPr id="9" name="文字方塊 8"/>
            <p:cNvSpPr txBox="1"/>
            <p:nvPr/>
          </p:nvSpPr>
          <p:spPr>
            <a:xfrm>
              <a:off x="1713734" y="606733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55</a:t>
              </a:r>
              <a:endParaRPr lang="zh-TW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713734" y="361790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75</a:t>
              </a:r>
              <a:endParaRPr lang="zh-TW" altLang="en-US" dirty="0">
                <a:latin typeface="Cambria Math" panose="02040503050406030204" pitchFamily="18" charset="0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8018337" y="334113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91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4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DTW Barycenter Averaging(DBA)(1/2)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</p:spPr>
            <p:txBody>
              <a:bodyPr>
                <a:noAutofit/>
              </a:bodyPr>
              <a:lstStyle/>
              <a:p>
                <a:pPr marL="514350" indent="-514350" algn="just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Randomly choose a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 algn="just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Iterate IT times :</a:t>
                </a:r>
              </a:p>
              <a:p>
                <a:pPr marL="971550" lvl="1" indent="-514350" algn="just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en-US" altLang="zh-TW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Align all signals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and compute warping paths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zh-TW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71550" lvl="1" indent="-514350" algn="just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en-US" altLang="zh-TW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Update every point of the average signal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  <a:blipFill rotWithShape="0">
                <a:blip r:embed="rId3"/>
                <a:stretch>
                  <a:fillRect l="-1066" t="-11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279" y="3540057"/>
            <a:ext cx="8495440" cy="282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5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DTW Barycenter Averaging(DBA)(2/2)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b="59427"/>
          <a:stretch/>
        </p:blipFill>
        <p:spPr>
          <a:xfrm>
            <a:off x="690941" y="1059830"/>
            <a:ext cx="5956312" cy="225780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683" y="3587571"/>
            <a:ext cx="7684702" cy="2963289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 flipH="1">
            <a:off x="6722732" y="2200986"/>
            <a:ext cx="1923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 iterations</a:t>
            </a:r>
            <a:endParaRPr lang="zh-TW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12" name="上彎箭號 11"/>
          <p:cNvSpPr/>
          <p:nvPr/>
        </p:nvSpPr>
        <p:spPr>
          <a:xfrm rot="10800000" flipH="1">
            <a:off x="6722732" y="2906769"/>
            <a:ext cx="574431" cy="498239"/>
          </a:xfrm>
          <a:prstGeom prst="bent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81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Constrained DTW(CDTW)(1/3)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211015" y="972044"/>
            <a:ext cx="11440289" cy="5389059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32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Warping path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211015" y="2255071"/>
            <a:ext cx="5445355" cy="3754632"/>
            <a:chOff x="211015" y="2255071"/>
            <a:chExt cx="5445355" cy="3754632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015" y="2255071"/>
              <a:ext cx="5445355" cy="291079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2283193" y="5517260"/>
              <a:ext cx="130099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globally</a:t>
              </a:r>
              <a:endParaRPr lang="zh-TW" altLang="en-US" sz="26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115049" y="2255071"/>
            <a:ext cx="5238750" cy="3786565"/>
            <a:chOff x="6115049" y="2255071"/>
            <a:chExt cx="5238750" cy="3786565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5049" y="2255071"/>
              <a:ext cx="5238750" cy="346710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8182958" y="5549193"/>
              <a:ext cx="1102931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locally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934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Constrained DTW(CDTW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)(2/3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endParaRPr lang="en-US" altLang="zh-TW" sz="3200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altLang="zh-TW" sz="32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altLang="zh-TW" sz="3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07" y="1775428"/>
            <a:ext cx="3720955" cy="3782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262674" y="1411522"/>
                <a:ext cx="1336969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674" y="1411522"/>
                <a:ext cx="1336969" cy="55643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98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Constrained DTW(CDTW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)(3/3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2000" b="0" i="1" smtClean="0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000" b="0" i="1" smtClean="0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𝐾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000" b="0" i="1" smtClean="0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TW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nary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−1)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𝐾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TW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1−</m:t>
                                              </m:r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nary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𝐾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TW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1−</m:t>
                                              </m:r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  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𝐾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0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TW" sz="20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  </m:t>
                                          </m:r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0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389059"/>
              </a:xfrm>
              <a:blipFill rotWithShape="0">
                <a:blip r:embed="rId3"/>
                <a:stretch>
                  <a:fillRect b="-55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223" y="1529130"/>
            <a:ext cx="4440116" cy="4362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262674" y="964849"/>
                <a:ext cx="67095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674" y="964849"/>
                <a:ext cx="670953" cy="55643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14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Constrained DTW Barycenter Averaging(CDBA)(1/2)</a:t>
            </a:r>
            <a:endParaRPr lang="zh-TW" altLang="en-US" sz="3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 dirty="0"/>
          </a:p>
        </p:txBody>
      </p:sp>
      <p:pic>
        <p:nvPicPr>
          <p:cNvPr id="5122" name="Picture 2" descr="http://ars.els-cdn.com/content/image/1-s2.0-S003132031730328X-gr7_lr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6" y="1603482"/>
            <a:ext cx="10084886" cy="422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57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Constrained DTW Barycenter Averaging(CDBA)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(2/2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374708" y="5280691"/>
            <a:ext cx="54425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DBA(in green) and CDBA( in blue)</a:t>
            </a:r>
            <a:endParaRPr lang="zh-TW" altLang="en-US" sz="2800" dirty="0"/>
          </a:p>
        </p:txBody>
      </p:sp>
      <p:pic>
        <p:nvPicPr>
          <p:cNvPr id="4098" name="Picture 2" descr="http://ars.els-cdn.com/content/image/1-s2.0-S003132031730328X-gr8_lrg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16"/>
          <a:stretch/>
        </p:blipFill>
        <p:spPr bwMode="auto">
          <a:xfrm>
            <a:off x="1481135" y="1366740"/>
            <a:ext cx="9229725" cy="360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62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Adding Tolerance to CDBA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13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137561" y="5481253"/>
                <a:ext cx="85618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Tolerance is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1×</m:t>
                        </m:r>
                        <m:r>
                          <a:rPr lang="zh-TW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, where</a:t>
                </a:r>
                <a14:m>
                  <m:oMath xmlns:m="http://schemas.openxmlformats.org/officeDocument/2006/math">
                    <m:r>
                      <a:rPr lang="en-US" altLang="zh-TW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is the standard deviation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561" y="5481253"/>
                <a:ext cx="8561896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496" t="-13953" r="-28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://ars.els-cdn.com/content/image/1-s2.0-S003132031730328X-gr9_lrg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186" y="2018431"/>
            <a:ext cx="7667625" cy="327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78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Classification Procedure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59830"/>
                <a:ext cx="10515600" cy="51065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b="0" dirty="0" smtClean="0">
                    <a:latin typeface="Cambria Math" panose="02040503050406030204" pitchFamily="18" charset="0"/>
                  </a:rPr>
                  <a:t>Classification step is carried out looking for the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b="0" dirty="0" smtClean="0">
                    <a:latin typeface="Cambria Math" panose="02040503050406030204" pitchFamily="18" charset="0"/>
                  </a:rPr>
                  <a:t> that maximizes the log-</a:t>
                </a:r>
                <a:r>
                  <a:rPr lang="en-US" altLang="zh-TW" dirty="0" smtClean="0">
                    <a:latin typeface="Cambria Math" panose="02040503050406030204" pitchFamily="18" charset="0"/>
                  </a:rPr>
                  <a:t>Probability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b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TW" alt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rad>
                                  <m:sSub>
                                    <m:sSubPr>
                                      <m:ctrlP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TW" alt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zh-TW" alt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TW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TW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Sup>
                                                    <m:sSubSupPr>
                                                      <m:ctrlP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zh-TW" alt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2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zh-TW" altLang="en-US" sz="2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𝜇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2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𝑐</m:t>
                                                          </m:r>
                                                        </m:sub>
                                                      </m:sSub>
                                                    </m:sub>
                                                    <m:sup>
                                                      <m:r>
                                                        <a:rPr lang="zh-TW" alt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𝜇</m:t>
                                                      </m:r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p>
                                                  </m:sSubSup>
                                                  <m:d>
                                                    <m:dPr>
                                                      <m:ctrlP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TW" alt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  <m:r>
                                                <a:rPr lang="en-US" altLang="zh-TW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Sup>
                                                    <m:sSubSupPr>
                                                      <m:ctrlP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zh-TW" alt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2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zh-TW" altLang="en-US" sz="2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𝜇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2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𝑐</m:t>
                                                          </m:r>
                                                        </m:sub>
                                                      </m:sSub>
                                                    </m:sub>
                                                    <m:sup>
                                                      <m:r>
                                                        <a:rPr lang="zh-TW" alt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𝜇</m:t>
                                                      </m:r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p>
                                                  </m:sSubSup>
                                                  <m:d>
                                                    <m:dPr>
                                                      <m:ctrlP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TW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TW" alt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TW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zh-TW" altLang="en-US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TW" alt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𝜇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  <m:sup>
                                                  <m:r>
                                                    <a:rPr lang="zh-TW" altLang="en-US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  <m: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TW" sz="2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TW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59830"/>
                <a:ext cx="10515600" cy="5106507"/>
              </a:xfrm>
              <a:blipFill rotWithShape="0">
                <a:blip r:embed="rId3"/>
                <a:stretch>
                  <a:fillRect l="-1217" t="-2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5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Experimental Results(1/4)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59830"/>
            <a:ext cx="10515600" cy="51065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b="0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sz="2200" b="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zh-TW" altLang="en-US" sz="22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73" y="1059829"/>
            <a:ext cx="9837210" cy="510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Experimental Results(2/4)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59830"/>
            <a:ext cx="10515600" cy="51065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b="0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sz="2200" b="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zh-TW" altLang="en-US" sz="22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366" y="1033220"/>
            <a:ext cx="7127266" cy="533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9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Experimental Results(3/4)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59830"/>
            <a:ext cx="10515600" cy="51065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b="0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sz="2200" b="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zh-TW" altLang="en-US" sz="2200" dirty="0"/>
          </a:p>
        </p:txBody>
      </p:sp>
      <p:pic>
        <p:nvPicPr>
          <p:cNvPr id="2050" name="Picture 2" descr="http://ars.els-cdn.com/content/image/1-s2.0-S003132031730328X-gr12_lr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517" y="1059830"/>
            <a:ext cx="7104964" cy="566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0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Experimental Results(4/4)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30415" y="4100860"/>
            <a:ext cx="10515600" cy="51065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b="0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sz="2200" b="0" i="1" dirty="0" smtClean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zh-TW" altLang="en-US" sz="2200" dirty="0"/>
          </a:p>
        </p:txBody>
      </p:sp>
      <p:pic>
        <p:nvPicPr>
          <p:cNvPr id="1028" name="Picture 4" descr="http://ars.els-cdn.com/content/image/1-s2.0-S003132031730328X-gr13_lr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900" y="1059830"/>
            <a:ext cx="6216197" cy="531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82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11538</TotalTime>
  <Words>376</Words>
  <Application>Microsoft Office PowerPoint</Application>
  <PresentationFormat>寬螢幕</PresentationFormat>
  <Paragraphs>100</Paragraphs>
  <Slides>18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Time-series Averaging Using Constrained Dynamic Time Warping with Tolerance</vt:lpstr>
      <vt:lpstr>Abstract</vt:lpstr>
      <vt:lpstr>Dynamic Time Warping(DTW)</vt:lpstr>
      <vt:lpstr>Time-Series averaging</vt:lpstr>
      <vt:lpstr>Extension of Time-Series averaging</vt:lpstr>
      <vt:lpstr>DTW Barycenter Averaging(DBA)(1/2)</vt:lpstr>
      <vt:lpstr>DTW Barycenter Averaging(DBA)(2/2)</vt:lpstr>
      <vt:lpstr>Constrained DTW(CDTW)(1/3)</vt:lpstr>
      <vt:lpstr>Constrained DTW(CDTW)(2/3)</vt:lpstr>
      <vt:lpstr>Constrained DTW(CDTW)(3/3)</vt:lpstr>
      <vt:lpstr>Constrained DTW Barycenter Averaging(CDBA)(1/2)</vt:lpstr>
      <vt:lpstr>Constrained DTW Barycenter Averaging(CDBA) (2/2)</vt:lpstr>
      <vt:lpstr>Adding Tolerance to CDBA</vt:lpstr>
      <vt:lpstr>Classification Procedure</vt:lpstr>
      <vt:lpstr>Experimental Results(1/4)</vt:lpstr>
      <vt:lpstr>Experimental Results(2/4)</vt:lpstr>
      <vt:lpstr>Experimental Results(3/4)</vt:lpstr>
      <vt:lpstr>Experimental Results(4/4)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pplab-class</cp:lastModifiedBy>
  <cp:revision>339</cp:revision>
  <dcterms:created xsi:type="dcterms:W3CDTF">2016-10-10T16:56:48Z</dcterms:created>
  <dcterms:modified xsi:type="dcterms:W3CDTF">2017-09-20T13:12:04Z</dcterms:modified>
</cp:coreProperties>
</file>