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525"/>
  </p:normalViewPr>
  <p:slideViewPr>
    <p:cSldViewPr snapToGrid="0" snapToObjects="1">
      <p:cViewPr varScale="1">
        <p:scale>
          <a:sx n="72" d="100"/>
          <a:sy n="72" d="100"/>
        </p:scale>
        <p:origin x="15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01DC7-195F-0647-BDC9-E2D31BD8A11D}" type="datetimeFigureOut">
              <a:rPr kumimoji="1" lang="zh-TW" altLang="en-US" smtClean="0"/>
              <a:t>2017/9/20</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629BF-9618-F243-8720-09A1F5E47803}" type="slidenum">
              <a:rPr kumimoji="1" lang="zh-TW" altLang="en-US" smtClean="0"/>
              <a:t>‹#›</a:t>
            </a:fld>
            <a:endParaRPr kumimoji="1" lang="zh-TW" altLang="en-US"/>
          </a:p>
        </p:txBody>
      </p:sp>
    </p:spTree>
    <p:extLst>
      <p:ext uri="{BB962C8B-B14F-4D97-AF65-F5344CB8AC3E}">
        <p14:creationId xmlns:p14="http://schemas.microsoft.com/office/powerpoint/2010/main" val="176888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smtClean="0"/>
              <a:t>余利恩</a:t>
            </a:r>
            <a:r>
              <a:rPr kumimoji="1" lang="en-US" altLang="zh-TW" dirty="0" smtClean="0"/>
              <a:t>, </a:t>
            </a:r>
            <a:r>
              <a:rPr kumimoji="1" lang="zh-TW" altLang="en-US" dirty="0" smtClean="0"/>
              <a:t>胡倫昭</a:t>
            </a:r>
            <a:r>
              <a:rPr kumimoji="1" lang="en-US" altLang="zh-TW" dirty="0" smtClean="0"/>
              <a:t>, </a:t>
            </a:r>
            <a:r>
              <a:rPr kumimoji="1" lang="zh-TW" altLang="en-US" dirty="0" smtClean="0"/>
              <a:t>唐林</a:t>
            </a:r>
            <a:r>
              <a:rPr kumimoji="1" lang="en-US" altLang="zh-TW" dirty="0" smtClean="0"/>
              <a:t>, </a:t>
            </a:r>
            <a:endParaRPr kumimoji="1" lang="zh-TW" altLang="en-US" dirty="0"/>
          </a:p>
        </p:txBody>
      </p:sp>
      <p:sp>
        <p:nvSpPr>
          <p:cNvPr id="4" name="投影片編號版面配置區 3"/>
          <p:cNvSpPr>
            <a:spLocks noGrp="1"/>
          </p:cNvSpPr>
          <p:nvPr>
            <p:ph type="sldNum" sz="quarter" idx="10"/>
          </p:nvPr>
        </p:nvSpPr>
        <p:spPr/>
        <p:txBody>
          <a:bodyPr/>
          <a:lstStyle/>
          <a:p>
            <a:fld id="{D65629BF-9618-F243-8720-09A1F5E47803}" type="slidenum">
              <a:rPr kumimoji="1" lang="zh-TW" altLang="en-US" smtClean="0"/>
              <a:t>1</a:t>
            </a:fld>
            <a:endParaRPr kumimoji="1" lang="zh-TW" altLang="en-US"/>
          </a:p>
        </p:txBody>
      </p:sp>
    </p:spTree>
    <p:extLst>
      <p:ext uri="{BB962C8B-B14F-4D97-AF65-F5344CB8AC3E}">
        <p14:creationId xmlns:p14="http://schemas.microsoft.com/office/powerpoint/2010/main" val="2046506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股票的市淨率</a:t>
            </a:r>
            <a:r>
              <a:rPr lang="en-US" altLang="zh-TW" dirty="0" smtClean="0"/>
              <a:t>(PB/PBR)</a:t>
            </a:r>
            <a:r>
              <a:rPr lang="zh-TW" altLang="en-US" dirty="0" smtClean="0"/>
              <a:t>＝每股市價／每股淨資產</a:t>
            </a:r>
            <a:endParaRPr lang="en-US" altLang="zh-TW" b="1" dirty="0" smtClean="0"/>
          </a:p>
          <a:p>
            <a:r>
              <a:rPr lang="zh-TW" altLang="en-US" b="1" dirty="0" smtClean="0"/>
              <a:t>市值營收比</a:t>
            </a:r>
            <a:r>
              <a:rPr lang="en-US" altLang="zh-TW" b="1" dirty="0" smtClean="0"/>
              <a:t>(PS/PSR)</a:t>
            </a:r>
            <a:r>
              <a:rPr lang="zh-TW" altLang="en-US" b="1" dirty="0" smtClean="0"/>
              <a:t>＝股價／每股營收＝（股價 </a:t>
            </a:r>
            <a:r>
              <a:rPr lang="en-US" altLang="zh-TW" b="1" dirty="0" smtClean="0"/>
              <a:t>× </a:t>
            </a:r>
            <a:r>
              <a:rPr lang="zh-TW" altLang="en-US" b="1" dirty="0" smtClean="0"/>
              <a:t>總股數）／營收＝總市值／營收</a:t>
            </a:r>
            <a:endParaRPr lang="en-US" altLang="zh-TW"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資產收益率</a:t>
            </a:r>
            <a:r>
              <a:rPr lang="en-US" altLang="zh-TW" dirty="0" smtClean="0"/>
              <a:t>(ROA)</a:t>
            </a:r>
            <a:r>
              <a:rPr lang="zh-TW" altLang="en-US" dirty="0" smtClean="0"/>
              <a:t>＝淨利潤／平均資產總額</a:t>
            </a:r>
            <a:r>
              <a:rPr lang="en-US" altLang="zh-TW" dirty="0" smtClean="0"/>
              <a:t>×100%</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b="1" dirty="0" smtClean="0"/>
              <a:t>每股盈餘</a:t>
            </a:r>
            <a:r>
              <a:rPr lang="en-US" altLang="zh-TW" b="1" dirty="0" smtClean="0"/>
              <a:t>(EPS)</a:t>
            </a:r>
            <a:r>
              <a:rPr lang="zh-TW" altLang="en-US" smtClean="0"/>
              <a:t>＝</a:t>
            </a:r>
            <a:r>
              <a:rPr lang="zh-TW" altLang="en-US" b="1" smtClean="0"/>
              <a:t>稅後淨利</a:t>
            </a:r>
            <a:r>
              <a:rPr lang="zh-TW" altLang="en-US" smtClean="0"/>
              <a:t>／</a:t>
            </a:r>
            <a:r>
              <a:rPr lang="zh-TW" altLang="en-US" b="1" smtClean="0"/>
              <a:t>流通在外的普通股加權股數</a:t>
            </a:r>
            <a:endParaRPr kumimoji="1" lang="zh-TW" altLang="en-US"/>
          </a:p>
        </p:txBody>
      </p:sp>
      <p:sp>
        <p:nvSpPr>
          <p:cNvPr id="4" name="投影片編號版面配置區 3"/>
          <p:cNvSpPr>
            <a:spLocks noGrp="1"/>
          </p:cNvSpPr>
          <p:nvPr>
            <p:ph type="sldNum" sz="quarter" idx="10"/>
          </p:nvPr>
        </p:nvSpPr>
        <p:spPr/>
        <p:txBody>
          <a:bodyPr/>
          <a:lstStyle/>
          <a:p>
            <a:fld id="{D65629BF-9618-F243-8720-09A1F5E47803}" type="slidenum">
              <a:rPr kumimoji="1" lang="zh-TW" altLang="en-US" smtClean="0"/>
              <a:t>6</a:t>
            </a:fld>
            <a:endParaRPr kumimoji="1" lang="zh-TW" altLang="en-US"/>
          </a:p>
        </p:txBody>
      </p:sp>
    </p:spTree>
    <p:extLst>
      <p:ext uri="{BB962C8B-B14F-4D97-AF65-F5344CB8AC3E}">
        <p14:creationId xmlns:p14="http://schemas.microsoft.com/office/powerpoint/2010/main" val="41818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10"/>
          </p:nvPr>
        </p:nvSpPr>
        <p:spPr/>
        <p:txBody>
          <a:bodyPr/>
          <a:lstStyle/>
          <a:p>
            <a:fld id="{D65629BF-9618-F243-8720-09A1F5E47803}" type="slidenum">
              <a:rPr kumimoji="1" lang="zh-TW" altLang="en-US" smtClean="0"/>
              <a:t>9</a:t>
            </a:fld>
            <a:endParaRPr kumimoji="1" lang="zh-TW" altLang="en-US"/>
          </a:p>
        </p:txBody>
      </p:sp>
    </p:spTree>
    <p:extLst>
      <p:ext uri="{BB962C8B-B14F-4D97-AF65-F5344CB8AC3E}">
        <p14:creationId xmlns:p14="http://schemas.microsoft.com/office/powerpoint/2010/main" val="802169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10"/>
          </p:nvPr>
        </p:nvSpPr>
        <p:spPr/>
        <p:txBody>
          <a:bodyPr/>
          <a:lstStyle/>
          <a:p>
            <a:fld id="{D65629BF-9618-F243-8720-09A1F5E47803}" type="slidenum">
              <a:rPr kumimoji="1" lang="zh-TW" altLang="en-US" smtClean="0"/>
              <a:t>12</a:t>
            </a:fld>
            <a:endParaRPr kumimoji="1" lang="zh-TW" altLang="en-US"/>
          </a:p>
        </p:txBody>
      </p:sp>
    </p:spTree>
    <p:extLst>
      <p:ext uri="{BB962C8B-B14F-4D97-AF65-F5344CB8AC3E}">
        <p14:creationId xmlns:p14="http://schemas.microsoft.com/office/powerpoint/2010/main" val="789581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smtClean="0"/>
              <a:t>26/30 = 86.44</a:t>
            </a:r>
          </a:p>
          <a:p>
            <a:r>
              <a:rPr kumimoji="1" lang="en-US" altLang="zh-TW" dirty="0" smtClean="0"/>
              <a:t>22/30</a:t>
            </a:r>
            <a:r>
              <a:rPr kumimoji="1" lang="en-US" altLang="zh-TW" baseline="0" dirty="0" smtClean="0"/>
              <a:t> = 72.78</a:t>
            </a:r>
          </a:p>
          <a:p>
            <a:r>
              <a:rPr kumimoji="1" lang="en-US" altLang="zh-TW" baseline="0" dirty="0" smtClean="0"/>
              <a:t>20/30 = 66.67</a:t>
            </a:r>
            <a:endParaRPr kumimoji="1" lang="zh-TW" altLang="en-US" dirty="0"/>
          </a:p>
        </p:txBody>
      </p:sp>
      <p:sp>
        <p:nvSpPr>
          <p:cNvPr id="4" name="投影片編號版面配置區 3"/>
          <p:cNvSpPr>
            <a:spLocks noGrp="1"/>
          </p:cNvSpPr>
          <p:nvPr>
            <p:ph type="sldNum" sz="quarter" idx="10"/>
          </p:nvPr>
        </p:nvSpPr>
        <p:spPr/>
        <p:txBody>
          <a:bodyPr/>
          <a:lstStyle/>
          <a:p>
            <a:fld id="{D65629BF-9618-F243-8720-09A1F5E47803}" type="slidenum">
              <a:rPr kumimoji="1" lang="zh-TW" altLang="en-US" smtClean="0"/>
              <a:t>15</a:t>
            </a:fld>
            <a:endParaRPr kumimoji="1" lang="zh-TW" altLang="en-US"/>
          </a:p>
        </p:txBody>
      </p:sp>
    </p:spTree>
    <p:extLst>
      <p:ext uri="{BB962C8B-B14F-4D97-AF65-F5344CB8AC3E}">
        <p14:creationId xmlns:p14="http://schemas.microsoft.com/office/powerpoint/2010/main" val="2142831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kumimoji="1" lang="zh-TW" altLang="en-US" smtClean="0"/>
              <a:t>按一下以編輯母片標題樣式</a:t>
            </a:r>
            <a:endParaRPr kumimoji="1"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smtClean="0"/>
              <a:t>按一下以編輯母片副標題樣式</a:t>
            </a:r>
            <a:endParaRPr kumimoji="1" lang="zh-TW" altLang="en-US"/>
          </a:p>
        </p:txBody>
      </p:sp>
      <p:sp>
        <p:nvSpPr>
          <p:cNvPr id="4" name="日期版面配置區 3"/>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777773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105485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smtClean="0"/>
              <a:t>按一下以編輯母片文字樣式</a:t>
            </a:r>
          </a:p>
        </p:txBody>
      </p:sp>
      <p:sp>
        <p:nvSpPr>
          <p:cNvPr id="4" name="日期版面配置區 3"/>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2022054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日期版面配置區 4"/>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735452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7" name="日期版面配置區 6"/>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8" name="頁尾版面配置區 7"/>
          <p:cNvSpPr>
            <a:spLocks noGrp="1"/>
          </p:cNvSpPr>
          <p:nvPr>
            <p:ph type="ftr" sz="quarter" idx="11"/>
          </p:nvPr>
        </p:nvSpPr>
        <p:spPr/>
        <p:txBody>
          <a:bodyPr/>
          <a:lstStyle/>
          <a:p>
            <a:endParaRPr kumimoji="1" lang="zh-TW" altLang="en-US"/>
          </a:p>
        </p:txBody>
      </p:sp>
      <p:sp>
        <p:nvSpPr>
          <p:cNvPr id="9" name="投影片編號版面配置區 8"/>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981829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日期版面配置區 2"/>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4" name="頁尾版面配置區 3"/>
          <p:cNvSpPr>
            <a:spLocks noGrp="1"/>
          </p:cNvSpPr>
          <p:nvPr>
            <p:ph type="ftr" sz="quarter" idx="11"/>
          </p:nvPr>
        </p:nvSpPr>
        <p:spPr/>
        <p:txBody>
          <a:bodyPr/>
          <a:lstStyle/>
          <a:p>
            <a:endParaRPr kumimoji="1" lang="zh-TW" altLang="en-US"/>
          </a:p>
        </p:txBody>
      </p:sp>
      <p:sp>
        <p:nvSpPr>
          <p:cNvPr id="5" name="投影片編號版面配置區 4"/>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135965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3" name="頁尾版面配置區 2"/>
          <p:cNvSpPr>
            <a:spLocks noGrp="1"/>
          </p:cNvSpPr>
          <p:nvPr>
            <p:ph type="ftr" sz="quarter" idx="11"/>
          </p:nvPr>
        </p:nvSpPr>
        <p:spPr/>
        <p:txBody>
          <a:bodyPr/>
          <a:lstStyle/>
          <a:p>
            <a:endParaRPr kumimoji="1" lang="zh-TW" altLang="en-US"/>
          </a:p>
        </p:txBody>
      </p:sp>
      <p:sp>
        <p:nvSpPr>
          <p:cNvPr id="4" name="投影片編號版面配置區 3"/>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048956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126099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smtClean="0"/>
              <a:t>按一下以編輯母片標題樣式</a:t>
            </a:r>
            <a:endParaRPr kumimoji="1"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582344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374040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0" y="365125"/>
            <a:ext cx="2628900" cy="5811838"/>
          </a:xfrm>
        </p:spPr>
        <p:txBody>
          <a:bodyPr vert="eaVert"/>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8F3548F7-D95A-AE4D-AB31-9EBCBAED8F1C}" type="datetimeFigureOut">
              <a:rPr kumimoji="1" lang="zh-TW" altLang="en-US" smtClean="0"/>
              <a:t>2017/9/20</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60549787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548F7-D95A-AE4D-AB31-9EBCBAED8F1C}" type="datetimeFigureOut">
              <a:rPr kumimoji="1" lang="zh-TW" altLang="en-US" smtClean="0"/>
              <a:t>2017/9/20</a:t>
            </a:fld>
            <a:endParaRPr kumimoji="1"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840ED7-893D-6F4C-AEBC-6065D52197CD}" type="slidenum">
              <a:rPr kumimoji="1" lang="zh-TW" altLang="en-US" smtClean="0"/>
              <a:t>‹#›</a:t>
            </a:fld>
            <a:endParaRPr kumimoji="1" lang="zh-TW" altLang="en-US"/>
          </a:p>
        </p:txBody>
      </p:sp>
    </p:spTree>
    <p:extLst>
      <p:ext uri="{BB962C8B-B14F-4D97-AF65-F5344CB8AC3E}">
        <p14:creationId xmlns:p14="http://schemas.microsoft.com/office/powerpoint/2010/main" val="1111860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Stock Selection with a Novel Sigmoid-Based Mixed Discrete-Continuous Differential Evolution </a:t>
            </a:r>
            <a:r>
              <a:rPr lang="en-US" altLang="zh-TW" dirty="0" smtClean="0"/>
              <a:t>Algorithm</a:t>
            </a:r>
            <a:endParaRPr kumimoji="1" lang="zh-TW" altLang="en-US" dirty="0"/>
          </a:p>
        </p:txBody>
      </p:sp>
      <p:sp>
        <p:nvSpPr>
          <p:cNvPr id="3" name="副標題 2"/>
          <p:cNvSpPr>
            <a:spLocks noGrp="1"/>
          </p:cNvSpPr>
          <p:nvPr>
            <p:ph type="subTitle" idx="1"/>
          </p:nvPr>
        </p:nvSpPr>
        <p:spPr/>
        <p:txBody>
          <a:bodyPr>
            <a:normAutofit/>
          </a:bodyPr>
          <a:lstStyle/>
          <a:p>
            <a:r>
              <a:rPr lang="en-US" altLang="zh-TW" dirty="0"/>
              <a:t>Lean </a:t>
            </a:r>
            <a:r>
              <a:rPr lang="en-US" altLang="zh-TW" dirty="0" smtClean="0"/>
              <a:t>Yu, </a:t>
            </a:r>
            <a:r>
              <a:rPr lang="en-US" altLang="zh-TW" dirty="0"/>
              <a:t>Member, IEEE, </a:t>
            </a:r>
            <a:r>
              <a:rPr lang="en-US" altLang="zh-TW" dirty="0" err="1" smtClean="0"/>
              <a:t>Lunchao</a:t>
            </a:r>
            <a:r>
              <a:rPr lang="en-US" altLang="zh-TW" dirty="0" smtClean="0"/>
              <a:t> Hu</a:t>
            </a:r>
            <a:r>
              <a:rPr lang="en-US" altLang="zh-TW" dirty="0"/>
              <a:t>, and Ling </a:t>
            </a:r>
            <a:r>
              <a:rPr lang="en-US" altLang="zh-TW" dirty="0" smtClean="0"/>
              <a:t>Tang</a:t>
            </a:r>
          </a:p>
          <a:p>
            <a:r>
              <a:rPr lang="en-US" altLang="zh-TW" dirty="0"/>
              <a:t>IEEE TRANSACTIONS ON KNOWLEDGE AND DATA ENGINEERING, VOL. 28, NO. 7, </a:t>
            </a:r>
            <a:r>
              <a:rPr lang="en-US" altLang="zh-TW" dirty="0" smtClean="0"/>
              <a:t>pp.1891-1904 JULY </a:t>
            </a:r>
            <a:r>
              <a:rPr lang="en-US" altLang="zh-TW" dirty="0"/>
              <a:t>2016 </a:t>
            </a:r>
            <a:r>
              <a:rPr lang="en-US" altLang="zh-TW" dirty="0" smtClean="0"/>
              <a:t> </a:t>
            </a:r>
          </a:p>
        </p:txBody>
      </p:sp>
      <p:sp>
        <p:nvSpPr>
          <p:cNvPr id="4" name="矩形 3"/>
          <p:cNvSpPr/>
          <p:nvPr/>
        </p:nvSpPr>
        <p:spPr>
          <a:xfrm>
            <a:off x="6714698" y="5849210"/>
            <a:ext cx="4189864" cy="830997"/>
          </a:xfrm>
          <a:prstGeom prst="rect">
            <a:avLst/>
          </a:prstGeom>
        </p:spPr>
        <p:txBody>
          <a:bodyPr wrap="square">
            <a:spAutoFit/>
          </a:bodyPr>
          <a:lstStyle/>
          <a:p>
            <a:pPr lvl="1" indent="457200">
              <a:defRPr sz="3200"/>
            </a:pPr>
            <a:r>
              <a:rPr lang="de-DE" altLang="zh-TW" sz="2400" dirty="0" err="1" smtClean="0"/>
              <a:t>Presenter</a:t>
            </a:r>
            <a:r>
              <a:rPr lang="zh-TW" altLang="de-DE" sz="2400" dirty="0" smtClean="0">
                <a:latin typeface="微軟正黑體"/>
                <a:ea typeface="微軟正黑體"/>
                <a:cs typeface="微軟正黑體"/>
                <a:sym typeface="微軟正黑體"/>
              </a:rPr>
              <a:t>：</a:t>
            </a:r>
            <a:r>
              <a:rPr lang="de-DE" altLang="zh-TW" sz="2400" dirty="0" err="1" smtClean="0">
                <a:sym typeface="微軟正黑體"/>
              </a:rPr>
              <a:t>Jia</a:t>
            </a:r>
            <a:r>
              <a:rPr lang="de-DE" altLang="zh-TW" sz="2400" dirty="0" smtClean="0"/>
              <a:t>-Hong Liu</a:t>
            </a:r>
            <a:endParaRPr lang="de-DE" altLang="zh-TW" sz="2400" dirty="0">
              <a:latin typeface="Liberation Sans Narrow"/>
              <a:ea typeface="Liberation Sans Narrow"/>
              <a:cs typeface="Liberation Sans Narrow"/>
              <a:sym typeface="Liberation Sans Narrow"/>
            </a:endParaRPr>
          </a:p>
          <a:p>
            <a:pPr lvl="1" indent="457200">
              <a:defRPr sz="3200"/>
            </a:pPr>
            <a:r>
              <a:rPr lang="de-DE" altLang="zh-TW" sz="2400" dirty="0"/>
              <a:t>Date</a:t>
            </a:r>
            <a:r>
              <a:rPr lang="zh-TW" altLang="de-DE" sz="2400" dirty="0">
                <a:latin typeface="微軟正黑體"/>
                <a:ea typeface="微軟正黑體"/>
                <a:cs typeface="微軟正黑體"/>
                <a:sym typeface="微軟正黑體"/>
              </a:rPr>
              <a:t>：</a:t>
            </a:r>
            <a:r>
              <a:rPr lang="en-US" altLang="zh-TW" sz="2400" dirty="0" smtClean="0"/>
              <a:t>2017/9/20</a:t>
            </a:r>
            <a:endParaRPr lang="de-DE" altLang="zh-TW" sz="2400" dirty="0"/>
          </a:p>
        </p:txBody>
      </p:sp>
    </p:spTree>
    <p:extLst>
      <p:ext uri="{BB962C8B-B14F-4D97-AF65-F5344CB8AC3E}">
        <p14:creationId xmlns:p14="http://schemas.microsoft.com/office/powerpoint/2010/main" val="470710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Abstract(1/3)</a:t>
            </a:r>
            <a:endParaRPr kumimoji="1" lang="zh-TW" altLang="en-US" dirty="0"/>
          </a:p>
        </p:txBody>
      </p:sp>
      <p:sp>
        <p:nvSpPr>
          <p:cNvPr id="3" name="內容版面配置區 2"/>
          <p:cNvSpPr>
            <a:spLocks noGrp="1"/>
          </p:cNvSpPr>
          <p:nvPr>
            <p:ph idx="1"/>
          </p:nvPr>
        </p:nvSpPr>
        <p:spPr/>
        <p:txBody>
          <a:bodyPr>
            <a:noAutofit/>
          </a:bodyPr>
          <a:lstStyle/>
          <a:p>
            <a:pPr marL="0" indent="0">
              <a:buNone/>
            </a:pPr>
            <a:r>
              <a:rPr lang="en-US" altLang="zh-TW" sz="3600" dirty="0"/>
              <a:t>A stock selection model with both discrete and continuous decision variables is proposed, in which a novel sigmoid-based mixed discrete-continuous differential evolution algorithm is especially developed for model optimization. In particular, a stock scoring mechanism is first designed to evaluate candidate stocks based on their fundamental and technical features, and the top-ranked stocks are selected to formulate an equal-weighted portfolio. </a:t>
            </a:r>
            <a:endParaRPr kumimoji="1" lang="zh-TW" altLang="en-US" sz="3600" dirty="0"/>
          </a:p>
        </p:txBody>
      </p:sp>
    </p:spTree>
    <p:extLst>
      <p:ext uri="{BB962C8B-B14F-4D97-AF65-F5344CB8AC3E}">
        <p14:creationId xmlns:p14="http://schemas.microsoft.com/office/powerpoint/2010/main" val="871450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oAutofit/>
          </a:bodyPr>
          <a:lstStyle/>
          <a:p>
            <a:pPr marL="0" indent="0">
              <a:buNone/>
            </a:pPr>
            <a:r>
              <a:rPr lang="en-US" altLang="zh-TW" sz="3600" dirty="0" smtClean="0"/>
              <a:t>Generally, the proposed model makes literature contributions from two main perspectives. First, to determine the optimal solution in terms of feature selections (discrete variables) and the corresponding weights (continuous variables), the original differential evolution algorithm focusing only on continuous problems is extended to a novel mixed discrete-continuous variant based on sigmoid-based conversion for the discrete part. </a:t>
            </a:r>
            <a:endParaRPr kumimoji="1" lang="zh-TW" altLang="en-US" sz="3600" dirty="0"/>
          </a:p>
        </p:txBody>
      </p:sp>
      <p:sp>
        <p:nvSpPr>
          <p:cNvPr id="4" name="標題 1"/>
          <p:cNvSpPr>
            <a:spLocks noGrp="1"/>
          </p:cNvSpPr>
          <p:nvPr>
            <p:ph type="title"/>
          </p:nvPr>
        </p:nvSpPr>
        <p:spPr/>
        <p:txBody>
          <a:bodyPr/>
          <a:lstStyle/>
          <a:p>
            <a:pPr algn="ctr"/>
            <a:r>
              <a:rPr lang="en-US" altLang="zh-TW" dirty="0" smtClean="0"/>
              <a:t>Abstract(2/3)</a:t>
            </a:r>
            <a:endParaRPr kumimoji="1" lang="zh-TW" altLang="en-US" dirty="0"/>
          </a:p>
        </p:txBody>
      </p:sp>
    </p:spTree>
    <p:extLst>
      <p:ext uri="{BB962C8B-B14F-4D97-AF65-F5344CB8AC3E}">
        <p14:creationId xmlns:p14="http://schemas.microsoft.com/office/powerpoint/2010/main" val="631442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oAutofit/>
          </a:bodyPr>
          <a:lstStyle/>
          <a:p>
            <a:pPr marL="0" indent="0">
              <a:buNone/>
            </a:pPr>
            <a:r>
              <a:rPr lang="en-US" altLang="zh-TW" sz="3600" dirty="0" smtClean="0"/>
              <a:t>Second, the stock selection model also resolves the gap of the application of differential evolution algorithm to stock selection. Using the Shanghai A share market of China as the study sample, the empirical results show that the novel stock selection model can make a profitable portfolio and significantly outperform its benchmarks (with other model designs and optimization algorithms used in the existing studies) in terms of both investment return and model robustness. </a:t>
            </a:r>
          </a:p>
          <a:p>
            <a:endParaRPr kumimoji="1" lang="zh-TW" altLang="en-US" sz="3600" dirty="0"/>
          </a:p>
        </p:txBody>
      </p:sp>
      <p:sp>
        <p:nvSpPr>
          <p:cNvPr id="4" name="標題 1"/>
          <p:cNvSpPr>
            <a:spLocks noGrp="1"/>
          </p:cNvSpPr>
          <p:nvPr>
            <p:ph type="title"/>
          </p:nvPr>
        </p:nvSpPr>
        <p:spPr/>
        <p:txBody>
          <a:bodyPr/>
          <a:lstStyle/>
          <a:p>
            <a:pPr algn="ctr"/>
            <a:r>
              <a:rPr lang="en-US" altLang="zh-TW" dirty="0" smtClean="0"/>
              <a:t>Abstract(3/3)</a:t>
            </a:r>
            <a:endParaRPr kumimoji="1" lang="zh-TW" altLang="en-US" dirty="0"/>
          </a:p>
        </p:txBody>
      </p:sp>
    </p:spTree>
    <p:extLst>
      <p:ext uri="{BB962C8B-B14F-4D97-AF65-F5344CB8AC3E}">
        <p14:creationId xmlns:p14="http://schemas.microsoft.com/office/powerpoint/2010/main" val="18175241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stretch>
            <a:fillRect/>
          </a:stretch>
        </p:blipFill>
        <p:spPr>
          <a:xfrm>
            <a:off x="1789309" y="268942"/>
            <a:ext cx="7686749" cy="5997669"/>
          </a:xfrm>
          <a:prstGeom prst="rect">
            <a:avLst/>
          </a:prstGeom>
        </p:spPr>
      </p:pic>
    </p:spTree>
    <p:extLst>
      <p:ext uri="{BB962C8B-B14F-4D97-AF65-F5344CB8AC3E}">
        <p14:creationId xmlns:p14="http://schemas.microsoft.com/office/powerpoint/2010/main" val="8941394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3"/>
          <a:stretch>
            <a:fillRect/>
          </a:stretch>
        </p:blipFill>
        <p:spPr>
          <a:xfrm>
            <a:off x="968188" y="175293"/>
            <a:ext cx="10239709" cy="6467836"/>
          </a:xfrm>
          <a:prstGeom prst="rect">
            <a:avLst/>
          </a:prstGeom>
        </p:spPr>
      </p:pic>
    </p:spTree>
    <p:extLst>
      <p:ext uri="{BB962C8B-B14F-4D97-AF65-F5344CB8AC3E}">
        <p14:creationId xmlns:p14="http://schemas.microsoft.com/office/powerpoint/2010/main" val="16815104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kumimoji="1" lang="en-US" altLang="zh-TW" dirty="0"/>
              <a:t>S</a:t>
            </a:r>
            <a:r>
              <a:rPr kumimoji="1" lang="en-US" altLang="zh-TW" dirty="0" smtClean="0"/>
              <a:t>core</a:t>
            </a:r>
            <a:endParaRPr kumimoji="1" lang="zh-TW" altLang="en-US" dirty="0"/>
          </a:p>
        </p:txBody>
      </p:sp>
      <p:pic>
        <p:nvPicPr>
          <p:cNvPr id="4" name="內容版面配置區 3"/>
          <p:cNvPicPr>
            <a:picLocks noGrp="1" noChangeAspect="1"/>
          </p:cNvPicPr>
          <p:nvPr>
            <p:ph idx="1"/>
          </p:nvPr>
        </p:nvPicPr>
        <p:blipFill>
          <a:blip r:embed="rId2"/>
          <a:stretch>
            <a:fillRect/>
          </a:stretch>
        </p:blipFill>
        <p:spPr>
          <a:xfrm>
            <a:off x="1986428" y="3877477"/>
            <a:ext cx="2195641" cy="881856"/>
          </a:xfrm>
          <a:prstGeom prst="rect">
            <a:avLst/>
          </a:prstGeom>
        </p:spPr>
      </p:pic>
      <p:pic>
        <p:nvPicPr>
          <p:cNvPr id="5" name="圖片 4"/>
          <p:cNvPicPr>
            <a:picLocks noChangeAspect="1"/>
          </p:cNvPicPr>
          <p:nvPr/>
        </p:nvPicPr>
        <p:blipFill>
          <a:blip r:embed="rId3"/>
          <a:stretch>
            <a:fillRect/>
          </a:stretch>
        </p:blipFill>
        <p:spPr>
          <a:xfrm>
            <a:off x="4473388" y="4603197"/>
            <a:ext cx="2256120" cy="507627"/>
          </a:xfrm>
          <a:prstGeom prst="rect">
            <a:avLst/>
          </a:prstGeom>
        </p:spPr>
      </p:pic>
      <p:pic>
        <p:nvPicPr>
          <p:cNvPr id="6" name="圖片 5"/>
          <p:cNvPicPr>
            <a:picLocks noChangeAspect="1"/>
          </p:cNvPicPr>
          <p:nvPr/>
        </p:nvPicPr>
        <p:blipFill>
          <a:blip r:embed="rId4"/>
          <a:stretch>
            <a:fillRect/>
          </a:stretch>
        </p:blipFill>
        <p:spPr>
          <a:xfrm>
            <a:off x="7020827" y="4603197"/>
            <a:ext cx="1141327" cy="548715"/>
          </a:xfrm>
          <a:prstGeom prst="rect">
            <a:avLst/>
          </a:prstGeom>
        </p:spPr>
      </p:pic>
      <p:pic>
        <p:nvPicPr>
          <p:cNvPr id="7" name="圖片 6"/>
          <p:cNvPicPr>
            <a:picLocks noChangeAspect="1"/>
          </p:cNvPicPr>
          <p:nvPr/>
        </p:nvPicPr>
        <p:blipFill>
          <a:blip r:embed="rId5"/>
          <a:stretch>
            <a:fillRect/>
          </a:stretch>
        </p:blipFill>
        <p:spPr>
          <a:xfrm>
            <a:off x="2030017" y="5110824"/>
            <a:ext cx="2152052" cy="917268"/>
          </a:xfrm>
          <a:prstGeom prst="rect">
            <a:avLst/>
          </a:prstGeom>
        </p:spPr>
      </p:pic>
      <p:pic>
        <p:nvPicPr>
          <p:cNvPr id="8" name="圖片 7"/>
          <p:cNvPicPr>
            <a:picLocks noChangeAspect="1"/>
          </p:cNvPicPr>
          <p:nvPr/>
        </p:nvPicPr>
        <p:blipFill>
          <a:blip r:embed="rId6"/>
          <a:stretch>
            <a:fillRect/>
          </a:stretch>
        </p:blipFill>
        <p:spPr>
          <a:xfrm>
            <a:off x="8162154" y="4603197"/>
            <a:ext cx="2711712" cy="582381"/>
          </a:xfrm>
          <a:prstGeom prst="rect">
            <a:avLst/>
          </a:prstGeom>
        </p:spPr>
      </p:pic>
      <p:pic>
        <p:nvPicPr>
          <p:cNvPr id="9" name="圖片 8"/>
          <p:cNvPicPr>
            <a:picLocks noChangeAspect="1"/>
          </p:cNvPicPr>
          <p:nvPr/>
        </p:nvPicPr>
        <p:blipFill>
          <a:blip r:embed="rId7"/>
          <a:stretch>
            <a:fillRect/>
          </a:stretch>
        </p:blipFill>
        <p:spPr>
          <a:xfrm>
            <a:off x="4495800" y="2099587"/>
            <a:ext cx="3018596" cy="1109778"/>
          </a:xfrm>
          <a:prstGeom prst="rect">
            <a:avLst/>
          </a:prstGeom>
        </p:spPr>
      </p:pic>
    </p:spTree>
    <p:extLst>
      <p:ext uri="{BB962C8B-B14F-4D97-AF65-F5344CB8AC3E}">
        <p14:creationId xmlns:p14="http://schemas.microsoft.com/office/powerpoint/2010/main" val="10764795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kumimoji="1" lang="en-US" altLang="zh-TW" dirty="0"/>
              <a:t>R</a:t>
            </a:r>
            <a:r>
              <a:rPr kumimoji="1" lang="en-US" altLang="zh-TW" dirty="0" smtClean="0"/>
              <a:t>ank</a:t>
            </a:r>
            <a:endParaRPr kumimoji="1" lang="zh-TW" altLang="en-US" dirty="0"/>
          </a:p>
        </p:txBody>
      </p:sp>
      <p:pic>
        <p:nvPicPr>
          <p:cNvPr id="4" name="內容版面配置區 3"/>
          <p:cNvPicPr>
            <a:picLocks noGrp="1" noChangeAspect="1"/>
          </p:cNvPicPr>
          <p:nvPr>
            <p:ph idx="1"/>
          </p:nvPr>
        </p:nvPicPr>
        <p:blipFill>
          <a:blip r:embed="rId2"/>
          <a:stretch>
            <a:fillRect/>
          </a:stretch>
        </p:blipFill>
        <p:spPr>
          <a:xfrm>
            <a:off x="6866965" y="3127636"/>
            <a:ext cx="2916713" cy="474262"/>
          </a:xfrm>
          <a:prstGeom prst="rect">
            <a:avLst/>
          </a:prstGeom>
        </p:spPr>
      </p:pic>
      <p:pic>
        <p:nvPicPr>
          <p:cNvPr id="5" name="圖片 4"/>
          <p:cNvPicPr>
            <a:picLocks noChangeAspect="1"/>
          </p:cNvPicPr>
          <p:nvPr/>
        </p:nvPicPr>
        <p:blipFill>
          <a:blip r:embed="rId3"/>
          <a:stretch>
            <a:fillRect/>
          </a:stretch>
        </p:blipFill>
        <p:spPr>
          <a:xfrm>
            <a:off x="6723529" y="3782096"/>
            <a:ext cx="4096837" cy="532057"/>
          </a:xfrm>
          <a:prstGeom prst="rect">
            <a:avLst/>
          </a:prstGeom>
        </p:spPr>
      </p:pic>
      <p:pic>
        <p:nvPicPr>
          <p:cNvPr id="7" name="圖片 6"/>
          <p:cNvPicPr>
            <a:picLocks noChangeAspect="1"/>
          </p:cNvPicPr>
          <p:nvPr/>
        </p:nvPicPr>
        <p:blipFill>
          <a:blip r:embed="rId4"/>
          <a:stretch>
            <a:fillRect/>
          </a:stretch>
        </p:blipFill>
        <p:spPr>
          <a:xfrm>
            <a:off x="1824316" y="2610894"/>
            <a:ext cx="4093734" cy="2342404"/>
          </a:xfrm>
          <a:prstGeom prst="rect">
            <a:avLst/>
          </a:prstGeom>
        </p:spPr>
      </p:pic>
    </p:spTree>
    <p:extLst>
      <p:ext uri="{BB962C8B-B14F-4D97-AF65-F5344CB8AC3E}">
        <p14:creationId xmlns:p14="http://schemas.microsoft.com/office/powerpoint/2010/main" val="11030881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Differential Evolution(DE) </a:t>
            </a:r>
            <a:endParaRPr kumimoji="1" lang="zh-TW" altLang="en-US" dirty="0"/>
          </a:p>
        </p:txBody>
      </p:sp>
      <p:sp>
        <p:nvSpPr>
          <p:cNvPr id="4" name="矩形 3"/>
          <p:cNvSpPr/>
          <p:nvPr/>
        </p:nvSpPr>
        <p:spPr>
          <a:xfrm>
            <a:off x="393238" y="1690688"/>
            <a:ext cx="1829347" cy="461665"/>
          </a:xfrm>
          <a:prstGeom prst="rect">
            <a:avLst/>
          </a:prstGeom>
        </p:spPr>
        <p:txBody>
          <a:bodyPr wrap="none">
            <a:spAutoFit/>
          </a:bodyPr>
          <a:lstStyle/>
          <a:p>
            <a:r>
              <a:rPr lang="en-US" altLang="zh-TW" sz="2400" dirty="0" smtClean="0">
                <a:solidFill>
                  <a:srgbClr val="211E1E"/>
                </a:solidFill>
                <a:effectLst/>
                <a:latin typeface="AdvP1854" charset="0"/>
              </a:rPr>
              <a:t>Initialization </a:t>
            </a:r>
            <a:endParaRPr lang="en-US" altLang="zh-TW" sz="2400" dirty="0"/>
          </a:p>
        </p:txBody>
      </p:sp>
      <p:pic>
        <p:nvPicPr>
          <p:cNvPr id="5" name="圖片 4"/>
          <p:cNvPicPr>
            <a:picLocks noChangeAspect="1"/>
          </p:cNvPicPr>
          <p:nvPr/>
        </p:nvPicPr>
        <p:blipFill>
          <a:blip r:embed="rId3"/>
          <a:stretch>
            <a:fillRect/>
          </a:stretch>
        </p:blipFill>
        <p:spPr>
          <a:xfrm>
            <a:off x="486431" y="2506840"/>
            <a:ext cx="4462736" cy="565150"/>
          </a:xfrm>
          <a:prstGeom prst="rect">
            <a:avLst/>
          </a:prstGeom>
        </p:spPr>
      </p:pic>
      <p:sp>
        <p:nvSpPr>
          <p:cNvPr id="6" name="矩形 5"/>
          <p:cNvSpPr/>
          <p:nvPr/>
        </p:nvSpPr>
        <p:spPr>
          <a:xfrm>
            <a:off x="486431" y="4430429"/>
            <a:ext cx="1388522" cy="461665"/>
          </a:xfrm>
          <a:prstGeom prst="rect">
            <a:avLst/>
          </a:prstGeom>
        </p:spPr>
        <p:txBody>
          <a:bodyPr wrap="none">
            <a:spAutoFit/>
          </a:bodyPr>
          <a:lstStyle/>
          <a:p>
            <a:r>
              <a:rPr lang="en-US" altLang="zh-TW" sz="2400" dirty="0" smtClean="0">
                <a:solidFill>
                  <a:srgbClr val="211E1E"/>
                </a:solidFill>
                <a:effectLst/>
                <a:latin typeface="AdvP1854" charset="0"/>
              </a:rPr>
              <a:t>Mutation </a:t>
            </a:r>
            <a:endParaRPr lang="en-US" altLang="zh-TW" sz="2400" dirty="0"/>
          </a:p>
        </p:txBody>
      </p:sp>
      <p:pic>
        <p:nvPicPr>
          <p:cNvPr id="7" name="圖片 6"/>
          <p:cNvPicPr>
            <a:picLocks noChangeAspect="1"/>
          </p:cNvPicPr>
          <p:nvPr/>
        </p:nvPicPr>
        <p:blipFill>
          <a:blip r:embed="rId4"/>
          <a:stretch>
            <a:fillRect/>
          </a:stretch>
        </p:blipFill>
        <p:spPr>
          <a:xfrm>
            <a:off x="690622" y="5188253"/>
            <a:ext cx="3922986" cy="710043"/>
          </a:xfrm>
          <a:prstGeom prst="rect">
            <a:avLst/>
          </a:prstGeom>
        </p:spPr>
      </p:pic>
      <p:sp>
        <p:nvSpPr>
          <p:cNvPr id="8" name="矩形 7"/>
          <p:cNvSpPr/>
          <p:nvPr/>
        </p:nvSpPr>
        <p:spPr>
          <a:xfrm>
            <a:off x="5267001" y="1606607"/>
            <a:ext cx="1510350" cy="461665"/>
          </a:xfrm>
          <a:prstGeom prst="rect">
            <a:avLst/>
          </a:prstGeom>
        </p:spPr>
        <p:txBody>
          <a:bodyPr wrap="none">
            <a:spAutoFit/>
          </a:bodyPr>
          <a:lstStyle/>
          <a:p>
            <a:r>
              <a:rPr lang="en-US" altLang="zh-TW" sz="2400" dirty="0" smtClean="0">
                <a:solidFill>
                  <a:srgbClr val="211E1E"/>
                </a:solidFill>
                <a:effectLst/>
                <a:latin typeface="AdvP1854" charset="0"/>
              </a:rPr>
              <a:t>Crossover </a:t>
            </a:r>
            <a:endParaRPr lang="en-US" altLang="zh-TW" sz="2400" dirty="0"/>
          </a:p>
        </p:txBody>
      </p:sp>
      <p:pic>
        <p:nvPicPr>
          <p:cNvPr id="10" name="圖片 9"/>
          <p:cNvPicPr>
            <a:picLocks noChangeAspect="1"/>
          </p:cNvPicPr>
          <p:nvPr/>
        </p:nvPicPr>
        <p:blipFill>
          <a:blip r:embed="rId5"/>
          <a:stretch>
            <a:fillRect/>
          </a:stretch>
        </p:blipFill>
        <p:spPr>
          <a:xfrm>
            <a:off x="6022176" y="3336262"/>
            <a:ext cx="5490374" cy="1094167"/>
          </a:xfrm>
          <a:prstGeom prst="rect">
            <a:avLst/>
          </a:prstGeom>
        </p:spPr>
      </p:pic>
      <p:pic>
        <p:nvPicPr>
          <p:cNvPr id="12" name="圖片 11"/>
          <p:cNvPicPr>
            <a:picLocks noChangeAspect="1"/>
          </p:cNvPicPr>
          <p:nvPr/>
        </p:nvPicPr>
        <p:blipFill>
          <a:blip r:embed="rId6"/>
          <a:stretch>
            <a:fillRect/>
          </a:stretch>
        </p:blipFill>
        <p:spPr>
          <a:xfrm>
            <a:off x="6022176" y="2209393"/>
            <a:ext cx="2324100" cy="457200"/>
          </a:xfrm>
          <a:prstGeom prst="rect">
            <a:avLst/>
          </a:prstGeom>
        </p:spPr>
      </p:pic>
      <p:pic>
        <p:nvPicPr>
          <p:cNvPr id="13" name="圖片 12"/>
          <p:cNvPicPr>
            <a:picLocks noChangeAspect="1"/>
          </p:cNvPicPr>
          <p:nvPr/>
        </p:nvPicPr>
        <p:blipFill>
          <a:blip r:embed="rId7"/>
          <a:stretch>
            <a:fillRect/>
          </a:stretch>
        </p:blipFill>
        <p:spPr>
          <a:xfrm>
            <a:off x="8795812" y="2172433"/>
            <a:ext cx="2311400" cy="469900"/>
          </a:xfrm>
          <a:prstGeom prst="rect">
            <a:avLst/>
          </a:prstGeom>
        </p:spPr>
      </p:pic>
      <p:pic>
        <p:nvPicPr>
          <p:cNvPr id="14" name="圖片 13"/>
          <p:cNvPicPr>
            <a:picLocks noChangeAspect="1"/>
          </p:cNvPicPr>
          <p:nvPr/>
        </p:nvPicPr>
        <p:blipFill>
          <a:blip r:embed="rId8"/>
          <a:stretch>
            <a:fillRect/>
          </a:stretch>
        </p:blipFill>
        <p:spPr>
          <a:xfrm>
            <a:off x="8813561" y="2759066"/>
            <a:ext cx="2298700" cy="533400"/>
          </a:xfrm>
          <a:prstGeom prst="rect">
            <a:avLst/>
          </a:prstGeom>
        </p:spPr>
      </p:pic>
      <p:sp>
        <p:nvSpPr>
          <p:cNvPr id="16" name="矩形 15"/>
          <p:cNvSpPr/>
          <p:nvPr/>
        </p:nvSpPr>
        <p:spPr>
          <a:xfrm>
            <a:off x="5157460" y="4543629"/>
            <a:ext cx="1404552" cy="461665"/>
          </a:xfrm>
          <a:prstGeom prst="rect">
            <a:avLst/>
          </a:prstGeom>
        </p:spPr>
        <p:txBody>
          <a:bodyPr wrap="none">
            <a:spAutoFit/>
          </a:bodyPr>
          <a:lstStyle/>
          <a:p>
            <a:r>
              <a:rPr lang="en-US" altLang="zh-TW" sz="2400" dirty="0" smtClean="0">
                <a:solidFill>
                  <a:srgbClr val="211E1E"/>
                </a:solidFill>
                <a:effectLst/>
                <a:latin typeface="AdvP1854" charset="0"/>
              </a:rPr>
              <a:t>Selection </a:t>
            </a:r>
            <a:endParaRPr lang="en-US" altLang="zh-TW" sz="2400" dirty="0"/>
          </a:p>
        </p:txBody>
      </p:sp>
      <p:pic>
        <p:nvPicPr>
          <p:cNvPr id="17" name="圖片 16"/>
          <p:cNvPicPr>
            <a:picLocks noChangeAspect="1"/>
          </p:cNvPicPr>
          <p:nvPr/>
        </p:nvPicPr>
        <p:blipFill>
          <a:blip r:embed="rId9"/>
          <a:stretch>
            <a:fillRect/>
          </a:stretch>
        </p:blipFill>
        <p:spPr>
          <a:xfrm>
            <a:off x="5492750" y="4996924"/>
            <a:ext cx="6019800" cy="1320800"/>
          </a:xfrm>
          <a:prstGeom prst="rect">
            <a:avLst/>
          </a:prstGeom>
        </p:spPr>
      </p:pic>
    </p:spTree>
    <p:extLst>
      <p:ext uri="{BB962C8B-B14F-4D97-AF65-F5344CB8AC3E}">
        <p14:creationId xmlns:p14="http://schemas.microsoft.com/office/powerpoint/2010/main" val="2005496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a:spLocks noGrp="1"/>
          </p:cNvSpPr>
          <p:nvPr>
            <p:ph type="title"/>
          </p:nvPr>
        </p:nvSpPr>
        <p:spPr/>
        <p:txBody>
          <a:bodyPr/>
          <a:lstStyle/>
          <a:p>
            <a:r>
              <a:rPr lang="en-US" altLang="zh-TW" dirty="0"/>
              <a:t>Sigmoid-Based Mixed Discrete-Continuous DE </a:t>
            </a:r>
          </a:p>
        </p:txBody>
      </p:sp>
      <p:sp>
        <p:nvSpPr>
          <p:cNvPr id="8" name="矩形 7"/>
          <p:cNvSpPr/>
          <p:nvPr/>
        </p:nvSpPr>
        <p:spPr>
          <a:xfrm>
            <a:off x="3151330" y="2789948"/>
            <a:ext cx="1510350" cy="461665"/>
          </a:xfrm>
          <a:prstGeom prst="rect">
            <a:avLst/>
          </a:prstGeom>
        </p:spPr>
        <p:txBody>
          <a:bodyPr wrap="none">
            <a:spAutoFit/>
          </a:bodyPr>
          <a:lstStyle/>
          <a:p>
            <a:r>
              <a:rPr lang="en-US" altLang="zh-TW" sz="2400" dirty="0" smtClean="0">
                <a:solidFill>
                  <a:srgbClr val="211E1E"/>
                </a:solidFill>
                <a:effectLst/>
                <a:latin typeface="AdvP1854" charset="0"/>
              </a:rPr>
              <a:t>Crossover </a:t>
            </a:r>
            <a:endParaRPr lang="en-US" altLang="zh-TW" sz="2400" dirty="0"/>
          </a:p>
        </p:txBody>
      </p:sp>
      <p:pic>
        <p:nvPicPr>
          <p:cNvPr id="9" name="圖片 8"/>
          <p:cNvPicPr>
            <a:picLocks noChangeAspect="1"/>
          </p:cNvPicPr>
          <p:nvPr/>
        </p:nvPicPr>
        <p:blipFill>
          <a:blip r:embed="rId2"/>
          <a:stretch>
            <a:fillRect/>
          </a:stretch>
        </p:blipFill>
        <p:spPr>
          <a:xfrm>
            <a:off x="3598956" y="3455523"/>
            <a:ext cx="5245100" cy="1790700"/>
          </a:xfrm>
          <a:prstGeom prst="rect">
            <a:avLst/>
          </a:prstGeom>
        </p:spPr>
      </p:pic>
    </p:spTree>
    <p:extLst>
      <p:ext uri="{BB962C8B-B14F-4D97-AF65-F5344CB8AC3E}">
        <p14:creationId xmlns:p14="http://schemas.microsoft.com/office/powerpoint/2010/main" val="1989144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Data Descriptions </a:t>
            </a:r>
          </a:p>
        </p:txBody>
      </p:sp>
      <p:pic>
        <p:nvPicPr>
          <p:cNvPr id="4" name="內容版面配置區 3"/>
          <p:cNvPicPr>
            <a:picLocks noGrp="1" noChangeAspect="1"/>
          </p:cNvPicPr>
          <p:nvPr>
            <p:ph idx="1"/>
          </p:nvPr>
        </p:nvPicPr>
        <p:blipFill>
          <a:blip r:embed="rId2"/>
          <a:stretch>
            <a:fillRect/>
          </a:stretch>
        </p:blipFill>
        <p:spPr>
          <a:xfrm>
            <a:off x="2705100" y="2362994"/>
            <a:ext cx="6781800" cy="3276600"/>
          </a:xfrm>
          <a:prstGeom prst="rect">
            <a:avLst/>
          </a:prstGeom>
        </p:spPr>
      </p:pic>
    </p:spTree>
    <p:extLst>
      <p:ext uri="{BB962C8B-B14F-4D97-AF65-F5344CB8AC3E}">
        <p14:creationId xmlns:p14="http://schemas.microsoft.com/office/powerpoint/2010/main" val="969941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Model </a:t>
            </a:r>
            <a:r>
              <a:rPr lang="en-US" altLang="zh-TW" dirty="0"/>
              <a:t>Effectiveness </a:t>
            </a:r>
            <a:endParaRPr kumimoji="1" lang="zh-TW" altLang="en-US" dirty="0"/>
          </a:p>
        </p:txBody>
      </p:sp>
      <p:pic>
        <p:nvPicPr>
          <p:cNvPr id="4" name="內容版面配置區 3"/>
          <p:cNvPicPr>
            <a:picLocks noGrp="1" noChangeAspect="1"/>
          </p:cNvPicPr>
          <p:nvPr>
            <p:ph idx="1"/>
          </p:nvPr>
        </p:nvPicPr>
        <p:blipFill>
          <a:blip r:embed="rId3"/>
          <a:stretch>
            <a:fillRect/>
          </a:stretch>
        </p:blipFill>
        <p:spPr>
          <a:xfrm>
            <a:off x="253776" y="1933201"/>
            <a:ext cx="5178836" cy="4351338"/>
          </a:xfrm>
          <a:prstGeom prst="rect">
            <a:avLst/>
          </a:prstGeom>
        </p:spPr>
      </p:pic>
      <p:pic>
        <p:nvPicPr>
          <p:cNvPr id="5" name="圖片 4"/>
          <p:cNvPicPr>
            <a:picLocks noChangeAspect="1"/>
          </p:cNvPicPr>
          <p:nvPr/>
        </p:nvPicPr>
        <p:blipFill>
          <a:blip r:embed="rId4"/>
          <a:stretch>
            <a:fillRect/>
          </a:stretch>
        </p:blipFill>
        <p:spPr>
          <a:xfrm>
            <a:off x="5372100" y="2423739"/>
            <a:ext cx="6819900" cy="3860800"/>
          </a:xfrm>
          <a:prstGeom prst="rect">
            <a:avLst/>
          </a:prstGeom>
        </p:spPr>
      </p:pic>
    </p:spTree>
    <p:extLst>
      <p:ext uri="{BB962C8B-B14F-4D97-AF65-F5344CB8AC3E}">
        <p14:creationId xmlns:p14="http://schemas.microsoft.com/office/powerpoint/2010/main" val="1891345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Benchmarks with Other Decision Variable Designs </a:t>
            </a:r>
          </a:p>
        </p:txBody>
      </p:sp>
      <p:pic>
        <p:nvPicPr>
          <p:cNvPr id="4" name="內容版面配置區 3"/>
          <p:cNvPicPr>
            <a:picLocks noGrp="1" noChangeAspect="1"/>
          </p:cNvPicPr>
          <p:nvPr>
            <p:ph idx="1"/>
          </p:nvPr>
        </p:nvPicPr>
        <p:blipFill>
          <a:blip r:embed="rId2"/>
          <a:stretch>
            <a:fillRect/>
          </a:stretch>
        </p:blipFill>
        <p:spPr>
          <a:xfrm>
            <a:off x="2622550" y="2102644"/>
            <a:ext cx="6946900" cy="3797300"/>
          </a:xfrm>
          <a:prstGeom prst="rect">
            <a:avLst/>
          </a:prstGeom>
        </p:spPr>
      </p:pic>
    </p:spTree>
    <p:extLst>
      <p:ext uri="{BB962C8B-B14F-4D97-AF65-F5344CB8AC3E}">
        <p14:creationId xmlns:p14="http://schemas.microsoft.com/office/powerpoint/2010/main" val="2106821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kumimoji="1" lang="en-US" altLang="zh-TW" dirty="0" smtClean="0"/>
              <a:t>result</a:t>
            </a:r>
            <a:endParaRPr kumimoji="1" lang="zh-TW" altLang="en-US" dirty="0"/>
          </a:p>
        </p:txBody>
      </p:sp>
      <p:pic>
        <p:nvPicPr>
          <p:cNvPr id="4" name="內容版面配置區 3"/>
          <p:cNvPicPr>
            <a:picLocks noGrp="1" noChangeAspect="1"/>
          </p:cNvPicPr>
          <p:nvPr>
            <p:ph idx="1"/>
          </p:nvPr>
        </p:nvPicPr>
        <p:blipFill rotWithShape="1">
          <a:blip r:embed="rId2"/>
          <a:srcRect t="19750" r="30904"/>
          <a:stretch/>
        </p:blipFill>
        <p:spPr>
          <a:xfrm>
            <a:off x="1015319" y="2653552"/>
            <a:ext cx="10161362" cy="3137648"/>
          </a:xfrm>
          <a:prstGeom prst="rect">
            <a:avLst/>
          </a:prstGeom>
        </p:spPr>
      </p:pic>
    </p:spTree>
    <p:extLst>
      <p:ext uri="{BB962C8B-B14F-4D97-AF65-F5344CB8AC3E}">
        <p14:creationId xmlns:p14="http://schemas.microsoft.com/office/powerpoint/2010/main" val="1646898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內容版面配置區 7"/>
          <p:cNvPicPr>
            <a:picLocks noGrp="1" noChangeAspect="1"/>
          </p:cNvPicPr>
          <p:nvPr>
            <p:ph idx="1"/>
          </p:nvPr>
        </p:nvPicPr>
        <p:blipFill>
          <a:blip r:embed="rId3"/>
          <a:stretch>
            <a:fillRect/>
          </a:stretch>
        </p:blipFill>
        <p:spPr>
          <a:xfrm>
            <a:off x="802341" y="1166457"/>
            <a:ext cx="10515600" cy="4342896"/>
          </a:xfrm>
          <a:prstGeom prst="rect">
            <a:avLst/>
          </a:prstGeom>
        </p:spPr>
      </p:pic>
    </p:spTree>
    <p:extLst>
      <p:ext uri="{BB962C8B-B14F-4D97-AF65-F5344CB8AC3E}">
        <p14:creationId xmlns:p14="http://schemas.microsoft.com/office/powerpoint/2010/main" val="1956199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stretch>
            <a:fillRect/>
          </a:stretch>
        </p:blipFill>
        <p:spPr>
          <a:xfrm>
            <a:off x="916703" y="806824"/>
            <a:ext cx="10003243" cy="5321814"/>
          </a:xfrm>
          <a:prstGeom prst="rect">
            <a:avLst/>
          </a:prstGeom>
        </p:spPr>
      </p:pic>
    </p:spTree>
    <p:extLst>
      <p:ext uri="{BB962C8B-B14F-4D97-AF65-F5344CB8AC3E}">
        <p14:creationId xmlns:p14="http://schemas.microsoft.com/office/powerpoint/2010/main" val="20528709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5229</TotalTime>
  <Words>377</Words>
  <Application>Microsoft Macintosh PowerPoint</Application>
  <PresentationFormat>寬螢幕</PresentationFormat>
  <Paragraphs>37</Paragraphs>
  <Slides>16</Slides>
  <Notes>5</Notes>
  <HiddenSlides>1</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16</vt:i4>
      </vt:variant>
    </vt:vector>
  </HeadingPairs>
  <TitlesOfParts>
    <vt:vector size="24" baseType="lpstr">
      <vt:lpstr>AdvP1854</vt:lpstr>
      <vt:lpstr>Calibri</vt:lpstr>
      <vt:lpstr>Calibri Light</vt:lpstr>
      <vt:lpstr>Liberation Sans Narrow</vt:lpstr>
      <vt:lpstr>微軟正黑體</vt:lpstr>
      <vt:lpstr>新細明體</vt:lpstr>
      <vt:lpstr>Arial</vt:lpstr>
      <vt:lpstr>Office 佈景主題</vt:lpstr>
      <vt:lpstr>Stock Selection with a Novel Sigmoid-Based Mixed Discrete-Continuous Differential Evolution Algorithm</vt:lpstr>
      <vt:lpstr>Abstract(1/3)</vt:lpstr>
      <vt:lpstr>Abstract(2/3)</vt:lpstr>
      <vt:lpstr>Abstract(3/3)</vt:lpstr>
      <vt:lpstr>PowerPoint 簡報</vt:lpstr>
      <vt:lpstr>PowerPoint 簡報</vt:lpstr>
      <vt:lpstr>Score</vt:lpstr>
      <vt:lpstr>Rank</vt:lpstr>
      <vt:lpstr>Differential Evolution(DE) </vt:lpstr>
      <vt:lpstr>Sigmoid-Based Mixed Discrete-Continuous DE </vt:lpstr>
      <vt:lpstr>Data Descriptions </vt:lpstr>
      <vt:lpstr>Model Effectiveness </vt:lpstr>
      <vt:lpstr>Benchmarks with Other Decision Variable Designs </vt:lpstr>
      <vt:lpstr>result</vt:lpstr>
      <vt:lpstr>PowerPoint 簡報</vt:lpstr>
      <vt:lpstr>PowerPoint 簡報</vt:lpstr>
    </vt:vector>
  </TitlesOfParts>
  <Company/>
  <LinksUpToDate>false</LinksUpToDate>
  <SharedDoc>false</SharedDoc>
  <HyperlinksChanged>false</HyperlinksChanged>
  <AppVersion>15.0028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Selection with a Novel Sigmoid-Based Mixed Discrete-Continuous Differential Evolution Algorithm</dc:title>
  <dc:creator>M053040058</dc:creator>
  <cp:lastModifiedBy>M053040058</cp:lastModifiedBy>
  <cp:revision>27</cp:revision>
  <dcterms:created xsi:type="dcterms:W3CDTF">2017-08-30T07:29:49Z</dcterms:created>
  <dcterms:modified xsi:type="dcterms:W3CDTF">2017-09-20T12:04:18Z</dcterms:modified>
</cp:coreProperties>
</file>