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handoutMasterIdLst>
    <p:handoutMasterId r:id="rId19"/>
  </p:handoutMasterIdLst>
  <p:sldIdLst>
    <p:sldId id="256" r:id="rId2"/>
    <p:sldId id="258" r:id="rId3"/>
    <p:sldId id="259" r:id="rId4"/>
    <p:sldId id="262" r:id="rId5"/>
    <p:sldId id="261" r:id="rId6"/>
    <p:sldId id="263" r:id="rId7"/>
    <p:sldId id="260" r:id="rId8"/>
    <p:sldId id="264" r:id="rId9"/>
    <p:sldId id="272" r:id="rId10"/>
    <p:sldId id="265" r:id="rId11"/>
    <p:sldId id="266" r:id="rId12"/>
    <p:sldId id="267" r:id="rId13"/>
    <p:sldId id="268" r:id="rId14"/>
    <p:sldId id="269" r:id="rId15"/>
    <p:sldId id="270" r:id="rId16"/>
    <p:sldId id="271" r:id="rId17"/>
  </p:sldIdLst>
  <p:sldSz cx="10080625" cy="7559675"/>
  <p:notesSz cx="7559675" cy="106918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81">
          <p15:clr>
            <a:srgbClr val="A4A3A4"/>
          </p15:clr>
        </p15:guide>
        <p15:guide id="2" pos="317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fu" initials="w" lastIdx="2"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
    <a:wholeTbl>
      <a:tcTxStyle>
        <a:font>
          <a:latin typeface="+mn-lt"/>
          <a:ea typeface="+mn-ea"/>
          <a:cs typeface="+mn-cs"/>
        </a:font>
        <a:srgbClr val="000000"/>
      </a:tcTxStyle>
      <a:tcStyle>
        <a:tcBdr>
          <a:left>
            <a:ln w="12701" cap="flat" cmpd="sng" algn="ctr">
              <a:solidFill>
                <a:srgbClr val="FFFFFF"/>
              </a:solidFill>
              <a:prstDash val="solid"/>
              <a:round/>
              <a:headEnd type="none" w="med" len="med"/>
              <a:tailEnd type="none" w="med" len="med"/>
            </a:ln>
          </a:left>
          <a:right>
            <a:ln w="12701" cap="flat" cmpd="sng" algn="ctr">
              <a:solidFill>
                <a:srgbClr val="FFFFFF"/>
              </a:solidFill>
              <a:prstDash val="solid"/>
              <a:round/>
              <a:headEnd type="none" w="med" len="med"/>
              <a:tailEnd type="none" w="med" len="med"/>
            </a:ln>
          </a:right>
          <a:top>
            <a:ln w="12701" cap="flat" cmpd="sng" algn="ctr">
              <a:solidFill>
                <a:srgbClr val="FFFFFF"/>
              </a:solidFill>
              <a:prstDash val="solid"/>
              <a:round/>
              <a:headEnd type="none" w="med" len="med"/>
              <a:tailEnd type="none" w="med" len="med"/>
            </a:ln>
          </a:top>
          <a:bottom>
            <a:ln w="12701" cap="flat" cmpd="sng" algn="ctr">
              <a:solidFill>
                <a:srgbClr val="FFFFFF"/>
              </a:solidFill>
              <a:prstDash val="solid"/>
              <a:round/>
              <a:headEnd type="none" w="med" len="med"/>
              <a:tailEnd type="none" w="med" len="med"/>
            </a:ln>
          </a:bottom>
        </a:tcBdr>
        <a:fill>
          <a:solidFill>
            <a:srgbClr val="EAEFF7"/>
          </a:solidFill>
        </a:fill>
      </a:tcStyle>
    </a:wholeTbl>
    <a:band1H>
      <a:tcStyle>
        <a:tcBdr/>
        <a:fill>
          <a:solidFill>
            <a:srgbClr val="D2DEEF"/>
          </a:solidFill>
        </a:fill>
      </a:tcStyle>
    </a:band1H>
    <a:band2H>
      <a:tcStyle>
        <a:tcBdr/>
      </a:tcStyle>
    </a:band2H>
    <a:band1V>
      <a:tcStyle>
        <a:tcBdr/>
        <a:fill>
          <a:solidFill>
            <a:srgbClr val="D2DEEF"/>
          </a:solidFill>
        </a:fill>
      </a:tcStyle>
    </a:band1V>
    <a:band2V>
      <a:tcStyle>
        <a:tcBdr/>
      </a:tcStyle>
    </a:band2V>
    <a:lastCol>
      <a:tcTxStyle b="on">
        <a:font>
          <a:latin typeface="+mn-lt"/>
          <a:ea typeface="+mn-ea"/>
          <a:cs typeface="+mn-cs"/>
        </a:font>
        <a:srgbClr val="FFFFFF"/>
      </a:tcTxStyle>
      <a:tcStyle>
        <a:tcBdr/>
        <a:fill>
          <a:solidFill>
            <a:srgbClr val="5B9BD5"/>
          </a:solidFill>
        </a:fill>
      </a:tcStyle>
    </a:lastCol>
    <a:firstCol>
      <a:tcTxStyle b="on">
        <a:font>
          <a:latin typeface="+mn-lt"/>
          <a:ea typeface="+mn-ea"/>
          <a:cs typeface="+mn-cs"/>
        </a:font>
        <a:srgbClr val="FFFFFF"/>
      </a:tcTxStyle>
      <a:tcStyle>
        <a:tcBdr/>
        <a:fill>
          <a:solidFill>
            <a:srgbClr val="5B9BD5"/>
          </a:solidFill>
        </a:fill>
      </a:tcStyle>
    </a:firstCol>
    <a:lastRow>
      <a:tcTxStyle b="on">
        <a:font>
          <a:latin typeface="+mn-lt"/>
          <a:ea typeface="+mn-ea"/>
          <a:cs typeface="+mn-cs"/>
        </a:font>
        <a:srgbClr val="FFFFFF"/>
      </a:tcTxStyle>
      <a:tcStyle>
        <a:tcBdr>
          <a:top>
            <a:ln w="38103" cap="flat" cmpd="sng" algn="ctr">
              <a:solidFill>
                <a:srgbClr val="FFFFFF"/>
              </a:solidFill>
              <a:prstDash val="solid"/>
              <a:round/>
              <a:headEnd type="none" w="med" len="med"/>
              <a:tailEnd type="none" w="med" len="med"/>
            </a:ln>
          </a:top>
        </a:tcBdr>
        <a:fill>
          <a:solidFill>
            <a:srgbClr val="5B9BD5"/>
          </a:solidFill>
        </a:fill>
      </a:tcStyle>
    </a:lastRow>
    <a:firstRow>
      <a:tcTxStyle b="on">
        <a:font>
          <a:latin typeface="+mn-lt"/>
          <a:ea typeface="+mn-ea"/>
          <a:cs typeface="+mn-cs"/>
        </a:font>
        <a:srgbClr val="FFFFFF"/>
      </a:tcTxStyle>
      <a:tcStyle>
        <a:tcBdr>
          <a:bottom>
            <a:ln w="38103" cap="flat" cmpd="sng" algn="ctr">
              <a:solidFill>
                <a:srgbClr val="FFFFFF"/>
              </a:solidFill>
              <a:prstDash val="solid"/>
              <a:round/>
              <a:headEnd type="none" w="med" len="med"/>
              <a:tailEnd type="none" w="med" len="med"/>
            </a:ln>
          </a:bottom>
        </a:tcBdr>
        <a:fill>
          <a:solidFill>
            <a:srgbClr val="5B9BD5"/>
          </a:solidFill>
        </a:fill>
      </a:tcStyle>
    </a:firstRow>
  </a:tblStyle>
  <a:tblStyle styleId="{BC89EF96-8CEA-46FF-86C4-4CE0E7609802}" styleName="">
    <a:wholeTbl>
      <a:tcTxStyle>
        <a:font>
          <a:latin typeface="+mn-lt"/>
          <a:ea typeface="+mn-ea"/>
          <a:cs typeface="+mn-cs"/>
        </a:font>
        <a:srgbClr val="000000"/>
      </a:tcTxStyle>
      <a:tcStyle>
        <a:tcBdr>
          <a:left>
            <a:ln w="12701" cap="flat" cmpd="sng" algn="ctr">
              <a:solidFill>
                <a:srgbClr val="5B9BD5"/>
              </a:solidFill>
              <a:prstDash val="solid"/>
              <a:round/>
              <a:headEnd type="none" w="med" len="med"/>
              <a:tailEnd type="none" w="med" len="med"/>
            </a:ln>
          </a:left>
          <a:right>
            <a:ln w="12701" cap="flat" cmpd="sng" algn="ctr">
              <a:solidFill>
                <a:srgbClr val="5B9BD5"/>
              </a:solidFill>
              <a:prstDash val="solid"/>
              <a:round/>
              <a:headEnd type="none" w="med" len="med"/>
              <a:tailEnd type="none" w="med" len="med"/>
            </a:ln>
          </a:right>
          <a:top>
            <a:ln w="12701" cap="flat" cmpd="sng" algn="ctr">
              <a:solidFill>
                <a:srgbClr val="5B9BD5"/>
              </a:solidFill>
              <a:prstDash val="solid"/>
              <a:round/>
              <a:headEnd type="none" w="med" len="med"/>
              <a:tailEnd type="none" w="med" len="med"/>
            </a:ln>
          </a:top>
          <a:bottom>
            <a:ln w="12701" cap="flat" cmpd="sng" algn="ctr">
              <a:solidFill>
                <a:srgbClr val="5B9BD5"/>
              </a:solidFill>
              <a:prstDash val="solid"/>
              <a:round/>
              <a:headEnd type="none" w="med" len="med"/>
              <a:tailEnd type="none" w="med" len="med"/>
            </a:ln>
          </a:bottom>
        </a:tcBdr>
      </a:tcStyle>
    </a:wholeTbl>
    <a:band1H>
      <a:tcStyle>
        <a:tcBdr/>
        <a:fill>
          <a:solidFill>
            <a:srgbClr val="5B9BD5"/>
          </a:solidFill>
        </a:fill>
      </a:tcStyle>
    </a:band1H>
    <a:band1V>
      <a:tcStyle>
        <a:tcBdr/>
        <a:fill>
          <a:solidFill>
            <a:srgbClr val="5B9BD5"/>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5B9BD5"/>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5B9BD5"/>
              </a:solidFill>
              <a:prstDash val="solid"/>
              <a:round/>
              <a:headEnd type="none" w="med" len="med"/>
              <a:tailEnd type="none" w="med" len="med"/>
            </a:ln>
          </a:bottom>
        </a:tcBdr>
      </a:tcStyle>
    </a:firstRow>
  </a:tblStyle>
  <a:tblStyle styleId="{5940675A-B579-460E-94D1-54222C63F5DA}" styleName="">
    <a:wholeTbl>
      <a:tcTxStyle>
        <a:font>
          <a:latin typeface="+mn-lt"/>
          <a:ea typeface="+mn-ea"/>
          <a:cs typeface="+mn-cs"/>
        </a:font>
        <a:srgbClr val="000000"/>
      </a:tcTxStyle>
      <a:tcStyle>
        <a:tcBdr>
          <a:left>
            <a:ln w="12701" cap="flat" cmpd="sng" algn="ctr">
              <a:solidFill>
                <a:srgbClr val="000000"/>
              </a:solidFill>
              <a:prstDash val="solid"/>
              <a:round/>
              <a:headEnd type="none" w="med" len="med"/>
              <a:tailEnd type="none" w="med" len="med"/>
            </a:ln>
          </a:left>
          <a:right>
            <a:ln w="12701" cap="flat" cmpd="sng" algn="ctr">
              <a:solidFill>
                <a:srgbClr val="000000"/>
              </a:solidFill>
              <a:prstDash val="solid"/>
              <a:round/>
              <a:headEnd type="none" w="med" len="med"/>
              <a:tailEnd type="none" w="med" len="med"/>
            </a:ln>
          </a:right>
          <a:top>
            <a:ln w="12701" cap="flat" cmpd="sng" algn="ctr">
              <a:solidFill>
                <a:srgbClr val="000000"/>
              </a:solidFill>
              <a:prstDash val="solid"/>
              <a:round/>
              <a:headEnd type="none" w="med" len="med"/>
              <a:tailEnd type="none" w="med" len="med"/>
            </a:ln>
          </a:top>
          <a:bottom>
            <a:ln w="12701" cap="flat" cmpd="sng" algn="ctr">
              <a:solidFill>
                <a:srgbClr val="000000"/>
              </a:solidFill>
              <a:prstDash val="solid"/>
              <a:round/>
              <a:headEnd type="none" w="med" len="med"/>
              <a:tailEnd type="none" w="med" len="med"/>
            </a:ln>
          </a:bottom>
        </a:tcBdr>
      </a:tcStyle>
    </a:wholeTbl>
  </a:tblStyle>
  <a:tblStyle styleId="{E8B1032C-EA38-4F05-BA0D-38AFFFC7BED3}" styleName="">
    <a:wholeTbl>
      <a:tcTxStyle>
        <a:font>
          <a:latin typeface="+mn-lt"/>
          <a:ea typeface="+mn-ea"/>
          <a:cs typeface="+mn-cs"/>
        </a:font>
        <a:srgbClr val="000000"/>
      </a:tcTxStyle>
      <a:tcStyle>
        <a:tcBdr>
          <a:left>
            <a:ln w="12701" cap="flat" cmpd="sng" algn="ctr">
              <a:solidFill>
                <a:srgbClr val="70AD47"/>
              </a:solidFill>
              <a:prstDash val="solid"/>
              <a:round/>
              <a:headEnd type="none" w="med" len="med"/>
              <a:tailEnd type="none" w="med" len="med"/>
            </a:ln>
          </a:left>
          <a:right>
            <a:ln w="12701" cap="flat" cmpd="sng" algn="ctr">
              <a:solidFill>
                <a:srgbClr val="70AD47"/>
              </a:solidFill>
              <a:prstDash val="solid"/>
              <a:round/>
              <a:headEnd type="none" w="med" len="med"/>
              <a:tailEnd type="none" w="med" len="med"/>
            </a:ln>
          </a:right>
          <a:top>
            <a:ln w="12701" cap="flat" cmpd="sng" algn="ctr">
              <a:solidFill>
                <a:srgbClr val="70AD47"/>
              </a:solidFill>
              <a:prstDash val="solid"/>
              <a:round/>
              <a:headEnd type="none" w="med" len="med"/>
              <a:tailEnd type="none" w="med" len="med"/>
            </a:ln>
          </a:top>
          <a:bottom>
            <a:ln w="12701" cap="flat" cmpd="sng" algn="ctr">
              <a:solidFill>
                <a:srgbClr val="70AD47"/>
              </a:solidFill>
              <a:prstDash val="solid"/>
              <a:round/>
              <a:headEnd type="none" w="med" len="med"/>
              <a:tailEnd type="none" w="med" len="med"/>
            </a:ln>
          </a:bottom>
        </a:tcBdr>
      </a:tcStyle>
    </a:wholeTbl>
    <a:band1H>
      <a:tcStyle>
        <a:tcBdr/>
        <a:fill>
          <a:solidFill>
            <a:srgbClr val="70AD47"/>
          </a:solidFill>
        </a:fill>
      </a:tcStyle>
    </a:band1H>
    <a:band1V>
      <a:tcStyle>
        <a:tcBdr/>
        <a:fill>
          <a:solidFill>
            <a:srgbClr val="70AD47"/>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70AD47"/>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70AD47"/>
              </a:solidFill>
              <a:prstDash val="solid"/>
              <a:round/>
              <a:headEnd type="none" w="med" len="med"/>
              <a:tailEnd type="none" w="med" len="med"/>
            </a:ln>
          </a:bottom>
        </a:tcBdr>
      </a:tcStyle>
    </a:firstRow>
  </a:tblStyle>
  <a:tblStyle styleId="{5DA37D80-6434-44D0-A028-1B22A696006F}" styleName="">
    <a:wholeTbl>
      <a:tcTxStyle>
        <a:font>
          <a:latin typeface="+mn-lt"/>
          <a:ea typeface="+mn-ea"/>
          <a:cs typeface="+mn-cs"/>
        </a:font>
        <a:srgbClr val="000000"/>
      </a:tcTxStyle>
      <a:tcStyle>
        <a:tcBdr>
          <a:left>
            <a:ln w="12701" cap="flat" cmpd="sng" algn="ctr">
              <a:solidFill>
                <a:srgbClr val="ED7D31"/>
              </a:solidFill>
              <a:prstDash val="solid"/>
              <a:round/>
              <a:headEnd type="none" w="med" len="med"/>
              <a:tailEnd type="none" w="med" len="med"/>
            </a:ln>
          </a:left>
          <a:right>
            <a:ln w="12701" cap="flat" cmpd="sng" algn="ctr">
              <a:solidFill>
                <a:srgbClr val="ED7D31"/>
              </a:solidFill>
              <a:prstDash val="solid"/>
              <a:round/>
              <a:headEnd type="none" w="med" len="med"/>
              <a:tailEnd type="none" w="med" len="med"/>
            </a:ln>
          </a:right>
          <a:top>
            <a:ln w="12701" cap="flat" cmpd="sng" algn="ctr">
              <a:solidFill>
                <a:srgbClr val="ED7D31"/>
              </a:solidFill>
              <a:prstDash val="solid"/>
              <a:round/>
              <a:headEnd type="none" w="med" len="med"/>
              <a:tailEnd type="none" w="med" len="med"/>
            </a:ln>
          </a:top>
          <a:bottom>
            <a:ln w="12701" cap="flat" cmpd="sng" algn="ctr">
              <a:solidFill>
                <a:srgbClr val="ED7D31"/>
              </a:solidFill>
              <a:prstDash val="solid"/>
              <a:round/>
              <a:headEnd type="none" w="med" len="med"/>
              <a:tailEnd type="none" w="med" len="med"/>
            </a:ln>
          </a:bottom>
        </a:tcBdr>
      </a:tcStyle>
    </a:wholeTbl>
    <a:band1H>
      <a:tcStyle>
        <a:tcBdr/>
        <a:fill>
          <a:solidFill>
            <a:srgbClr val="ED7D31"/>
          </a:solidFill>
        </a:fill>
      </a:tcStyle>
    </a:band1H>
    <a:band1V>
      <a:tcStyle>
        <a:tcBdr/>
        <a:fill>
          <a:solidFill>
            <a:srgbClr val="ED7D31"/>
          </a:solidFill>
        </a:fill>
      </a:tcStyle>
    </a:band1V>
    <a:lastCol>
      <a:tcTxStyle b="on">
        <a:font>
          <a:latin typeface=""/>
          <a:ea typeface=""/>
          <a:cs typeface=""/>
        </a:font>
      </a:tcTxStyle>
      <a:tcStyle>
        <a:tcBdr/>
      </a:tcStyle>
    </a:lastCol>
    <a:firstCol>
      <a:tcTxStyle b="on">
        <a:font>
          <a:latin typeface=""/>
          <a:ea typeface=""/>
          <a:cs typeface=""/>
        </a:font>
      </a:tcTxStyle>
      <a:tcStyle>
        <a:tcBdr/>
      </a:tcStyle>
    </a:firstCol>
    <a:lastRow>
      <a:tcTxStyle b="on">
        <a:font>
          <a:latin typeface=""/>
          <a:ea typeface=""/>
          <a:cs typeface=""/>
        </a:font>
      </a:tcTxStyle>
      <a:tcStyle>
        <a:tcBdr>
          <a:top>
            <a:ln w="50804" cap="flat" cmpd="dbl" algn="ctr">
              <a:solidFill>
                <a:srgbClr val="ED7D31"/>
              </a:solidFill>
              <a:prstDash val="solid"/>
              <a:round/>
              <a:headEnd type="none" w="med" len="med"/>
              <a:tailEnd type="none" w="med" len="med"/>
            </a:ln>
          </a:top>
        </a:tcBdr>
      </a:tcStyle>
    </a:lastRow>
    <a:firstRow>
      <a:tcTxStyle b="on">
        <a:font>
          <a:latin typeface=""/>
          <a:ea typeface=""/>
          <a:cs typeface=""/>
        </a:font>
      </a:tcTxStyle>
      <a:tcStyle>
        <a:tcBdr>
          <a:bottom>
            <a:ln w="25402" cap="flat" cmpd="sng" algn="ctr">
              <a:solidFill>
                <a:srgbClr val="ED7D31"/>
              </a:solidFill>
              <a:prstDash val="solid"/>
              <a:round/>
              <a:headEnd type="none" w="med" len="med"/>
              <a:tailEnd type="none" w="med" len="med"/>
            </a:ln>
          </a:bottom>
        </a:tcBdr>
      </a:tcStyle>
    </a:firstRow>
  </a:tblStyle>
  <a:tblStyle styleId="{EB344D84-9AFB-497E-A393-DC336BA19D2E}" styleName="">
    <a:wholeTbl>
      <a:tcTxStyle>
        <a:font>
          <a:latin typeface="+mn-lt"/>
          <a:ea typeface="+mn-ea"/>
          <a:cs typeface="+mn-cs"/>
        </a:font>
        <a:srgbClr val="000000"/>
      </a:tcTxStyle>
      <a:tcStyle>
        <a:tcBdr>
          <a:top>
            <a:ln w="25402" cap="flat" cmpd="sng" algn="ctr">
              <a:solidFill>
                <a:srgbClr val="000000"/>
              </a:solidFill>
              <a:prstDash val="solid"/>
              <a:round/>
              <a:headEnd type="none" w="med" len="med"/>
              <a:tailEnd type="none" w="med" len="med"/>
            </a:ln>
          </a:top>
          <a:bottom>
            <a:ln w="25402" cap="flat" cmpd="sng" algn="ctr">
              <a:solidFill>
                <a:srgbClr val="000000"/>
              </a:solidFill>
              <a:prstDash val="solid"/>
              <a:round/>
              <a:headEnd type="none" w="med" len="med"/>
              <a:tailEnd type="none" w="med" len="med"/>
            </a:ln>
          </a:bottom>
        </a:tcBdr>
        <a:fill>
          <a:solidFill>
            <a:srgbClr val="FFFFFF"/>
          </a:solidFill>
        </a:fill>
      </a:tcStyle>
    </a:wholeTbl>
    <a:band1H>
      <a:tcStyle>
        <a:tcBdr/>
        <a:fill>
          <a:solidFill>
            <a:srgbClr val="E7E7E7"/>
          </a:solidFill>
        </a:fill>
      </a:tcStyle>
    </a:band1H>
    <a:band1V>
      <a:tcStyle>
        <a:tcBdr/>
        <a:fill>
          <a:solidFill>
            <a:srgbClr val="E7E7E7"/>
          </a:solidFill>
        </a:fill>
      </a:tcStyle>
    </a:band1V>
    <a:lastCol>
      <a:tcTxStyle b="on">
        <a:font>
          <a:latin typeface="+mn-lt"/>
          <a:ea typeface="+mn-ea"/>
          <a:cs typeface="+mn-cs"/>
        </a:font>
        <a:srgbClr val="FFFFFF"/>
      </a:tcTxStyle>
      <a:tcStyle>
        <a:tcBdr/>
        <a:fill>
          <a:solidFill>
            <a:srgbClr val="A5A5A5"/>
          </a:solidFill>
        </a:fill>
      </a:tcStyle>
    </a:lastCol>
    <a:firstCol>
      <a:tcTxStyle b="on">
        <a:font>
          <a:latin typeface="+mn-lt"/>
          <a:ea typeface="+mn-ea"/>
          <a:cs typeface="+mn-cs"/>
        </a:font>
        <a:srgbClr val="FFFFFF"/>
      </a:tcTxStyle>
      <a:tcStyle>
        <a:tcBdr/>
        <a:fill>
          <a:solidFill>
            <a:srgbClr val="A5A5A5"/>
          </a:solidFill>
        </a:fill>
      </a:tcStyle>
    </a:firstCol>
    <a:lastRow>
      <a:tcTxStyle b="on">
        <a:font>
          <a:latin typeface=""/>
          <a:ea typeface=""/>
          <a:cs typeface=""/>
        </a:font>
      </a:tcTxStyle>
      <a:tcStyle>
        <a:tcBdr>
          <a:top>
            <a:ln w="50804" cap="flat" cmpd="dbl" algn="ctr">
              <a:solidFill>
                <a:srgbClr val="000000"/>
              </a:solidFill>
              <a:prstDash val="solid"/>
              <a:round/>
              <a:headEnd type="none" w="med" len="med"/>
              <a:tailEnd type="none" w="med" len="med"/>
            </a:ln>
          </a:top>
        </a:tcBdr>
        <a:fill>
          <a:solidFill>
            <a:srgbClr val="FFFFFF"/>
          </a:solidFill>
        </a:fill>
      </a:tcStyle>
    </a:lastRow>
    <a:firstRow>
      <a:tcTxStyle b="on">
        <a:font>
          <a:latin typeface="+mn-lt"/>
          <a:ea typeface="+mn-ea"/>
          <a:cs typeface="+mn-cs"/>
        </a:font>
        <a:srgbClr val="FFFFFF"/>
      </a:tcTxStyle>
      <a:tcStyle>
        <a:tcBdr>
          <a:bottom>
            <a:ln w="25402" cap="flat" cmpd="sng" algn="ctr">
              <a:solidFill>
                <a:srgbClr val="000000"/>
              </a:solidFill>
              <a:prstDash val="solid"/>
              <a:round/>
              <a:headEnd type="none" w="med" len="med"/>
              <a:tailEnd type="none" w="med" len="med"/>
            </a:ln>
          </a:bottom>
        </a:tcBdr>
        <a:fill>
          <a:solidFill>
            <a:srgbClr val="A5A5A5"/>
          </a:solidFill>
        </a:fill>
      </a:tcStyle>
    </a:firstRow>
  </a:tblStyle>
  <a:tblStyle styleId="{5202B0CA-FC54-4496-8BCA-5EF66A818D29}" styleName="深色樣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深色樣式 2 - 輔色 1/輔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深色樣式 2 - 輔色 3/輔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D113A9D2-9D6B-4929-AA2D-F23B5EE8CBE7}" styleName="佈景主題樣式 2 - 輔色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佈景主題樣式 2 - 輔色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44" autoAdjust="0"/>
    <p:restoredTop sz="89415" autoAdjust="0"/>
  </p:normalViewPr>
  <p:slideViewPr>
    <p:cSldViewPr snapToGrid="0">
      <p:cViewPr>
        <p:scale>
          <a:sx n="70" d="100"/>
          <a:sy n="70" d="100"/>
        </p:scale>
        <p:origin x="1742" y="58"/>
      </p:cViewPr>
      <p:guideLst>
        <p:guide orient="horz" pos="2381"/>
        <p:guide pos="317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頁首版面配置區 1"/>
          <p:cNvSpPr txBox="1">
            <a:spLocks noGrp="1"/>
          </p:cNvSpPr>
          <p:nvPr>
            <p:ph type="hdr" sz="quarter"/>
          </p:nvPr>
        </p:nvSpPr>
        <p:spPr>
          <a:xfrm>
            <a:off x="0" y="0"/>
            <a:ext cx="3280684" cy="534238"/>
          </a:xfrm>
          <a:prstGeom prst="rect">
            <a:avLst/>
          </a:prstGeom>
          <a:noFill/>
          <a:ln>
            <a:noFill/>
          </a:ln>
        </p:spPr>
        <p:txBody>
          <a:bodyPr vert="horz" wrap="non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3" name="日期版面配置區 2"/>
          <p:cNvSpPr txBox="1">
            <a:spLocks noGrp="1"/>
          </p:cNvSpPr>
          <p:nvPr>
            <p:ph type="dt" sz="quarter" idx="1"/>
          </p:nvPr>
        </p:nvSpPr>
        <p:spPr>
          <a:xfrm>
            <a:off x="4278962" y="0"/>
            <a:ext cx="3280684" cy="534238"/>
          </a:xfrm>
          <a:prstGeom prst="rect">
            <a:avLst/>
          </a:prstGeom>
          <a:noFill/>
          <a:ln>
            <a:noFill/>
          </a:ln>
        </p:spPr>
        <p:txBody>
          <a:bodyPr vert="horz" wrap="none" lIns="90004" tIns="44997" rIns="90004" bIns="44997" anchor="t"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4" name="頁尾版面配置區 3"/>
          <p:cNvSpPr txBox="1">
            <a:spLocks noGrp="1"/>
          </p:cNvSpPr>
          <p:nvPr>
            <p:ph type="ftr" sz="quarter" idx="2"/>
          </p:nvPr>
        </p:nvSpPr>
        <p:spPr>
          <a:xfrm>
            <a:off x="0" y="10157402"/>
            <a:ext cx="3280684" cy="534238"/>
          </a:xfrm>
          <a:prstGeom prst="rect">
            <a:avLst/>
          </a:prstGeom>
          <a:noFill/>
          <a:ln>
            <a:noFill/>
          </a:ln>
        </p:spPr>
        <p:txBody>
          <a:bodyPr vert="horz" wrap="none" lIns="90004" tIns="44997" rIns="90004" bIns="44997" anchor="b" anchorCtr="0" compatLnSpc="0">
            <a:noAutofit/>
          </a:bodyPr>
          <a:lstStyle/>
          <a:p>
            <a:pPr marL="0" marR="0" lvl="0" indent="0" algn="l"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
        <p:nvSpPr>
          <p:cNvPr id="5" name="投影片編號版面配置區 4"/>
          <p:cNvSpPr txBox="1">
            <a:spLocks noGrp="1"/>
          </p:cNvSpPr>
          <p:nvPr>
            <p:ph type="sldNum" sz="quarter" idx="3"/>
          </p:nvPr>
        </p:nvSpPr>
        <p:spPr>
          <a:xfrm>
            <a:off x="4278962" y="10157402"/>
            <a:ext cx="3280684" cy="534238"/>
          </a:xfrm>
          <a:prstGeom prst="rect">
            <a:avLst/>
          </a:prstGeom>
          <a:noFill/>
          <a:ln>
            <a:noFill/>
          </a:ln>
        </p:spPr>
        <p:txBody>
          <a:bodyPr vert="horz" wrap="none" lIns="90004" tIns="44997" rIns="90004" bIns="44997" anchor="b" anchorCtr="0" compatLnSpc="0">
            <a:noAutofit/>
          </a:bodyPr>
          <a:lstStyle/>
          <a:p>
            <a:pPr marL="0" marR="0" lvl="0" indent="0" algn="r" defTabSz="914400" rtl="0" fontAlgn="auto" hangingPunct="0">
              <a:lnSpc>
                <a:spcPct val="100000"/>
              </a:lnSpc>
              <a:spcBef>
                <a:spcPts val="0"/>
              </a:spcBef>
              <a:spcAft>
                <a:spcPts val="0"/>
              </a:spcAft>
              <a:buNone/>
              <a:tabLst/>
              <a:defRPr sz="1400" b="0" i="0" u="none" strike="noStrike" kern="0" cap="none" spc="0" baseline="0">
                <a:solidFill>
                  <a:srgbClr val="000000"/>
                </a:solidFill>
                <a:uFillTx/>
              </a:defRPr>
            </a:pPr>
            <a:fld id="{50227E8C-9554-460F-B633-51D5AD774E1F}" type="slidenum">
              <a:t>‹#›</a:t>
            </a:fld>
            <a:endParaRPr lang="en-US" sz="1400" b="0" i="0" u="none" strike="noStrike" kern="1200" cap="none" spc="0" baseline="0">
              <a:solidFill>
                <a:srgbClr val="000000"/>
              </a:solidFill>
              <a:uFillTx/>
              <a:latin typeface="Liberation Sans" pitchFamily="18"/>
              <a:ea typeface="微軟正黑體" pitchFamily="2"/>
              <a:cs typeface="Mangal" pitchFamily="2"/>
            </a:endParaRPr>
          </a:p>
        </p:txBody>
      </p:sp>
    </p:spTree>
    <p:extLst>
      <p:ext uri="{BB962C8B-B14F-4D97-AF65-F5344CB8AC3E}">
        <p14:creationId xmlns:p14="http://schemas.microsoft.com/office/powerpoint/2010/main" val="155139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idx="2"/>
          </p:nvPr>
        </p:nvSpPr>
        <p:spPr>
          <a:xfrm>
            <a:off x="1107000" y="812517"/>
            <a:ext cx="5345280" cy="4008958"/>
          </a:xfrm>
          <a:prstGeom prst="rect">
            <a:avLst/>
          </a:prstGeom>
          <a:noFill/>
          <a:ln>
            <a:noFill/>
            <a:prstDash val="solid"/>
          </a:ln>
        </p:spPr>
      </p:sp>
      <p:sp>
        <p:nvSpPr>
          <p:cNvPr id="3" name="備忘稿版面配置區 2"/>
          <p:cNvSpPr txBox="1">
            <a:spLocks noGrp="1"/>
          </p:cNvSpPr>
          <p:nvPr>
            <p:ph type="body" sz="quarter" idx="3"/>
          </p:nvPr>
        </p:nvSpPr>
        <p:spPr>
          <a:xfrm>
            <a:off x="755998" y="5078522"/>
            <a:ext cx="6047640" cy="4811042"/>
          </a:xfrm>
          <a:prstGeom prst="rect">
            <a:avLst/>
          </a:prstGeom>
          <a:noFill/>
          <a:ln>
            <a:noFill/>
          </a:ln>
        </p:spPr>
        <p:txBody>
          <a:bodyPr vert="horz" wrap="square" lIns="0" tIns="0" rIns="0" bIns="0" anchor="t" anchorCtr="0" compatLnSpc="1">
            <a:noAutofit/>
          </a:bodyPr>
          <a:lstStyle/>
          <a:p>
            <a:pPr lvl="0"/>
            <a:endParaRPr lang="en-US"/>
          </a:p>
        </p:txBody>
      </p:sp>
      <p:sp>
        <p:nvSpPr>
          <p:cNvPr id="4" name="頁首版面配置區 3"/>
          <p:cNvSpPr txBox="1">
            <a:spLocks noGrp="1"/>
          </p:cNvSpPr>
          <p:nvPr>
            <p:ph type="hdr" sz="quarter"/>
          </p:nvPr>
        </p:nvSpPr>
        <p:spPr>
          <a:xfrm>
            <a:off x="0" y="0"/>
            <a:ext cx="3280684" cy="534238"/>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5" name="日期版面配置區 4"/>
          <p:cNvSpPr txBox="1">
            <a:spLocks noGrp="1"/>
          </p:cNvSpPr>
          <p:nvPr>
            <p:ph type="dt" idx="1"/>
          </p:nvPr>
        </p:nvSpPr>
        <p:spPr>
          <a:xfrm>
            <a:off x="4278962" y="0"/>
            <a:ext cx="3280684" cy="534238"/>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6" name="頁尾版面配置區 5"/>
          <p:cNvSpPr txBox="1">
            <a:spLocks noGrp="1"/>
          </p:cNvSpPr>
          <p:nvPr>
            <p:ph type="ftr" sz="quarter" idx="4"/>
          </p:nvPr>
        </p:nvSpPr>
        <p:spPr>
          <a:xfrm>
            <a:off x="0" y="10157402"/>
            <a:ext cx="3280684" cy="534238"/>
          </a:xfrm>
          <a:prstGeom prst="rect">
            <a:avLst/>
          </a:prstGeom>
          <a:noFill/>
          <a:ln>
            <a:noFill/>
          </a:ln>
        </p:spPr>
        <p:txBody>
          <a:bodyPr vert="horz" wrap="square" lIns="0" tIns="0" rIns="0" bIns="0" anchor="b"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7" name="投影片編號版面配置區 6"/>
          <p:cNvSpPr txBox="1">
            <a:spLocks noGrp="1"/>
          </p:cNvSpPr>
          <p:nvPr>
            <p:ph type="sldNum" sz="quarter" idx="5"/>
          </p:nvPr>
        </p:nvSpPr>
        <p:spPr>
          <a:xfrm>
            <a:off x="4278962" y="10157402"/>
            <a:ext cx="3280684" cy="534238"/>
          </a:xfrm>
          <a:prstGeom prst="rect">
            <a:avLst/>
          </a:prstGeom>
          <a:noFill/>
          <a:ln>
            <a:noFill/>
          </a:ln>
        </p:spPr>
        <p:txBody>
          <a:bodyPr vert="horz" wrap="square" lIns="0" tIns="0" rIns="0" bIns="0" anchor="b"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fld id="{78A57073-AB8B-4F7A-BB5E-FAEF8A970D70}" type="slidenum">
              <a:t>‹#›</a:t>
            </a:fld>
            <a:endParaRPr lang="en-US"/>
          </a:p>
        </p:txBody>
      </p:sp>
    </p:spTree>
    <p:extLst>
      <p:ext uri="{BB962C8B-B14F-4D97-AF65-F5344CB8AC3E}">
        <p14:creationId xmlns:p14="http://schemas.microsoft.com/office/powerpoint/2010/main" val="1409133388"/>
      </p:ext>
    </p:extLst>
  </p:cSld>
  <p:clrMap bg1="lt1" tx1="dk1" bg2="lt2" tx2="dk2" accent1="accent1" accent2="accent2" accent3="accent3" accent4="accent4" accent5="accent5" accent6="accent6" hlink="hlink" folHlink="folHlink"/>
  <p:notesStyle>
    <a:lvl1pPr marL="215999" marR="0" lvl="0" indent="-215999" defTabSz="914400" rtl="0" fontAlgn="auto" hangingPunct="0">
      <a:lnSpc>
        <a:spcPct val="100000"/>
      </a:lnSpc>
      <a:spcBef>
        <a:spcPts val="0"/>
      </a:spcBef>
      <a:spcAft>
        <a:spcPts val="0"/>
      </a:spcAft>
      <a:buNone/>
      <a:tabLst/>
      <a:defRPr lang="en-US" sz="20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6"/>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fld id="{044E8A48-0BB3-4429-A23E-981E055DBE4D}" type="slidenum">
              <a:t>1</a:t>
            </a:fld>
            <a:endParaRPr lang="en-US" sz="1400" b="0" i="0" u="none" strike="noStrike" kern="1200" cap="none" spc="0" baseline="0">
              <a:solidFill>
                <a:srgbClr val="000000"/>
              </a:solidFill>
              <a:uFillTx/>
              <a:latin typeface="Liberation Serif" pitchFamily="18"/>
              <a:ea typeface="新細明體" pitchFamily="2"/>
              <a:cs typeface="Tahoma" pitchFamily="2"/>
            </a:endParaRPr>
          </a:p>
        </p:txBody>
      </p:sp>
      <p:sp>
        <p:nvSpPr>
          <p:cNvPr id="3" name="投影片圖像版面配置區 1"/>
          <p:cNvSpPr>
            <a:spLocks noGrp="1" noRot="1" noChangeAspect="1"/>
          </p:cNvSpPr>
          <p:nvPr>
            <p:ph type="sldImg"/>
          </p:nvPr>
        </p:nvSpPr>
        <p:spPr>
          <a:xfrm>
            <a:off x="1106488" y="812800"/>
            <a:ext cx="5345112" cy="4008438"/>
          </a:xfrm>
          <a:solidFill>
            <a:srgbClr val="729FCF"/>
          </a:solidFill>
          <a:ln w="25402">
            <a:solidFill>
              <a:srgbClr val="3465A4"/>
            </a:solidFill>
            <a:prstDash val="solid"/>
          </a:ln>
        </p:spPr>
      </p:sp>
      <p:sp>
        <p:nvSpPr>
          <p:cNvPr id="4" name="備忘稿版面配置區 2"/>
          <p:cNvSpPr txBox="1">
            <a:spLocks noGrp="1"/>
          </p:cNvSpPr>
          <p:nvPr>
            <p:ph type="body" sz="quarter" idx="1"/>
          </p:nvPr>
        </p:nvSpPr>
        <p:spPr/>
        <p:txBody>
          <a:bodyPr/>
          <a:lstStyle/>
          <a:p>
            <a:endParaRPr lang="zh-TW" altLang="en-US"/>
          </a:p>
        </p:txBody>
      </p:sp>
    </p:spTree>
    <p:extLst>
      <p:ext uri="{BB962C8B-B14F-4D97-AF65-F5344CB8AC3E}">
        <p14:creationId xmlns:p14="http://schemas.microsoft.com/office/powerpoint/2010/main" val="1574662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2000" b="0" i="0" u="none" strike="noStrike" kern="1200" cap="none" spc="0" baseline="0" dirty="0">
                <a:solidFill>
                  <a:srgbClr val="000000"/>
                </a:solidFill>
                <a:highlight>
                  <a:scrgbClr r="0" g="0" b="0">
                    <a:alpha val="0"/>
                  </a:scrgbClr>
                </a:highlight>
                <a:uFillTx/>
                <a:latin typeface="Liberation Sans" pitchFamily="18"/>
                <a:ea typeface="微軟正黑體" pitchFamily="2"/>
                <a:cs typeface="Mangal" pitchFamily="2"/>
              </a:rPr>
              <a:t>S. </a:t>
            </a:r>
            <a:r>
              <a:rPr lang="en-US" altLang="zh-TW" sz="2000" b="0" i="0" u="none" strike="noStrike" kern="1200" cap="none" spc="0" baseline="0" dirty="0" err="1">
                <a:solidFill>
                  <a:srgbClr val="000000"/>
                </a:solidFill>
                <a:highlight>
                  <a:scrgbClr r="0" g="0" b="0">
                    <a:alpha val="0"/>
                  </a:scrgbClr>
                </a:highlight>
                <a:uFillTx/>
                <a:latin typeface="Liberation Sans" pitchFamily="18"/>
                <a:ea typeface="微軟正黑體" pitchFamily="2"/>
                <a:cs typeface="Mangal" pitchFamily="2"/>
              </a:rPr>
              <a:t>Goferman</a:t>
            </a:r>
            <a:r>
              <a:rPr lang="en-US" altLang="zh-TW" sz="2000" b="0" i="0" u="none" strike="noStrike" kern="1200" cap="none" spc="0" baseline="0" dirty="0">
                <a:solidFill>
                  <a:srgbClr val="000000"/>
                </a:solidFill>
                <a:highlight>
                  <a:scrgbClr r="0" g="0" b="0">
                    <a:alpha val="0"/>
                  </a:scrgbClr>
                </a:highlight>
                <a:uFillTx/>
                <a:latin typeface="Liberation Sans" pitchFamily="18"/>
                <a:ea typeface="微軟正黑體" pitchFamily="2"/>
                <a:cs typeface="Mangal" pitchFamily="2"/>
              </a:rPr>
              <a:t>, L. </a:t>
            </a:r>
            <a:r>
              <a:rPr lang="en-US" altLang="zh-TW" sz="2000" b="0" i="0" u="none" strike="noStrike" kern="1200" cap="none" spc="0" baseline="0" dirty="0" err="1">
                <a:solidFill>
                  <a:srgbClr val="000000"/>
                </a:solidFill>
                <a:highlight>
                  <a:scrgbClr r="0" g="0" b="0">
                    <a:alpha val="0"/>
                  </a:scrgbClr>
                </a:highlight>
                <a:uFillTx/>
                <a:latin typeface="Liberation Sans" pitchFamily="18"/>
                <a:ea typeface="微軟正黑體" pitchFamily="2"/>
                <a:cs typeface="Mangal" pitchFamily="2"/>
              </a:rPr>
              <a:t>Zelnik</a:t>
            </a:r>
            <a:r>
              <a:rPr lang="en-US" altLang="zh-TW" sz="2000" b="0" i="0" u="none" strike="noStrike" kern="1200" cap="none" spc="0" baseline="0" dirty="0">
                <a:solidFill>
                  <a:srgbClr val="000000"/>
                </a:solidFill>
                <a:highlight>
                  <a:scrgbClr r="0" g="0" b="0">
                    <a:alpha val="0"/>
                  </a:scrgbClr>
                </a:highlight>
                <a:uFillTx/>
                <a:latin typeface="Liberation Sans" pitchFamily="18"/>
                <a:ea typeface="微軟正黑體" pitchFamily="2"/>
                <a:cs typeface="Mangal" pitchFamily="2"/>
              </a:rPr>
              <a:t>-Manor, and A. Tal, “Context-Aware Saliency Detection,” </a:t>
            </a:r>
            <a:r>
              <a:rPr lang="en-US" altLang="zh-TW" sz="2000" b="0" i="1" u="none" strike="noStrike" kern="1200" cap="none" spc="0" baseline="0" dirty="0">
                <a:solidFill>
                  <a:srgbClr val="000000"/>
                </a:solidFill>
                <a:highlight>
                  <a:scrgbClr r="0" g="0" b="0">
                    <a:alpha val="0"/>
                  </a:scrgbClr>
                </a:highlight>
                <a:uFillTx/>
                <a:latin typeface="Liberation Sans" pitchFamily="18"/>
                <a:ea typeface="微軟正黑體" pitchFamily="2"/>
                <a:cs typeface="Mangal" pitchFamily="2"/>
              </a:rPr>
              <a:t>in Proc. of IEEE Conference on Computer Vision and Pattern Recognition</a:t>
            </a:r>
            <a:r>
              <a:rPr lang="en-US" altLang="zh-TW" sz="2000" b="0" i="0" u="none" strike="noStrike" kern="1200" cap="none" spc="0" baseline="0" dirty="0">
                <a:solidFill>
                  <a:srgbClr val="000000"/>
                </a:solidFill>
                <a:highlight>
                  <a:scrgbClr r="0" g="0" b="0">
                    <a:alpha val="0"/>
                  </a:scrgbClr>
                </a:highlight>
                <a:uFillTx/>
                <a:latin typeface="Liberation Sans" pitchFamily="18"/>
                <a:ea typeface="微軟正黑體" pitchFamily="2"/>
                <a:cs typeface="Mangal" pitchFamily="2"/>
              </a:rPr>
              <a:t>, pp. 2376-2383, 2010. </a:t>
            </a:r>
            <a:endParaRPr lang="zh-TW" altLang="en-US" sz="2000" b="0" i="0" u="none" strike="noStrike" kern="1200" cap="none" spc="0" baseline="0" dirty="0">
              <a:solidFill>
                <a:srgbClr val="000000"/>
              </a:solidFill>
              <a:highlight>
                <a:scrgbClr r="0" g="0" b="0">
                  <a:alpha val="0"/>
                </a:scrgbClr>
              </a:highlight>
              <a:uFillTx/>
              <a:latin typeface="Liberation Sans" pitchFamily="18"/>
              <a:ea typeface="微軟正黑體" pitchFamily="2"/>
              <a:cs typeface="Mangal" pitchFamily="2"/>
            </a:endParaRPr>
          </a:p>
          <a:p>
            <a:r>
              <a:rPr lang="en-US" altLang="zh-TW" sz="2000" b="0" i="0" u="none" strike="noStrike" kern="1200" cap="none" spc="0" baseline="0" dirty="0">
                <a:solidFill>
                  <a:srgbClr val="000000"/>
                </a:solidFill>
                <a:highlight>
                  <a:scrgbClr r="0" g="0" b="0">
                    <a:alpha val="0"/>
                  </a:scrgbClr>
                </a:highlight>
                <a:uFillTx/>
                <a:latin typeface="Liberation Sans" pitchFamily="18"/>
                <a:ea typeface="微軟正黑體" pitchFamily="2"/>
                <a:cs typeface="Mangal" pitchFamily="2"/>
              </a:rPr>
              <a:t>M. M. Cheng, G. X. Zhang, N. J. </a:t>
            </a:r>
            <a:r>
              <a:rPr lang="en-US" altLang="zh-TW" sz="2000" b="0" i="0" u="none" strike="noStrike" kern="1200" cap="none" spc="0" baseline="0" dirty="0" err="1">
                <a:solidFill>
                  <a:srgbClr val="000000"/>
                </a:solidFill>
                <a:highlight>
                  <a:scrgbClr r="0" g="0" b="0">
                    <a:alpha val="0"/>
                  </a:scrgbClr>
                </a:highlight>
                <a:uFillTx/>
                <a:latin typeface="Liberation Sans" pitchFamily="18"/>
                <a:ea typeface="微軟正黑體" pitchFamily="2"/>
                <a:cs typeface="Mangal" pitchFamily="2"/>
              </a:rPr>
              <a:t>Mitra</a:t>
            </a:r>
            <a:r>
              <a:rPr lang="en-US" altLang="zh-TW" sz="2000" b="0" i="0" u="none" strike="noStrike" kern="1200" cap="none" spc="0" baseline="0" dirty="0">
                <a:solidFill>
                  <a:srgbClr val="000000"/>
                </a:solidFill>
                <a:highlight>
                  <a:scrgbClr r="0" g="0" b="0">
                    <a:alpha val="0"/>
                  </a:scrgbClr>
                </a:highlight>
                <a:uFillTx/>
                <a:latin typeface="Liberation Sans" pitchFamily="18"/>
                <a:ea typeface="微軟正黑體" pitchFamily="2"/>
                <a:cs typeface="Mangal" pitchFamily="2"/>
              </a:rPr>
              <a:t>, X. L. Huang, and S. M. Hu, “Global Contrast Based Salient Region Detection,” </a:t>
            </a:r>
            <a:r>
              <a:rPr lang="en-US" altLang="zh-TW" sz="2000" b="0" i="1" u="none" strike="noStrike" kern="1200" cap="none" spc="0" baseline="0" dirty="0">
                <a:solidFill>
                  <a:srgbClr val="000000"/>
                </a:solidFill>
                <a:highlight>
                  <a:scrgbClr r="0" g="0" b="0">
                    <a:alpha val="0"/>
                  </a:scrgbClr>
                </a:highlight>
                <a:uFillTx/>
                <a:latin typeface="Liberation Sans" pitchFamily="18"/>
                <a:ea typeface="微軟正黑體" pitchFamily="2"/>
                <a:cs typeface="Mangal" pitchFamily="2"/>
              </a:rPr>
              <a:t>in Proc. of IEEE Conference on Computer Vision and Pattern Recognition</a:t>
            </a:r>
            <a:r>
              <a:rPr lang="en-US" altLang="zh-TW" sz="2000" b="0" i="0" u="none" strike="noStrike" kern="1200" cap="none" spc="0" baseline="0" dirty="0">
                <a:solidFill>
                  <a:srgbClr val="000000"/>
                </a:solidFill>
                <a:highlight>
                  <a:scrgbClr r="0" g="0" b="0">
                    <a:alpha val="0"/>
                  </a:scrgbClr>
                </a:highlight>
                <a:uFillTx/>
                <a:latin typeface="Liberation Sans" pitchFamily="18"/>
                <a:ea typeface="微軟正黑體" pitchFamily="2"/>
                <a:cs typeface="Mangal" pitchFamily="2"/>
              </a:rPr>
              <a:t>, pp. 409-416, 2011.</a:t>
            </a:r>
          </a:p>
          <a:p>
            <a:endParaRPr lang="en-US" altLang="zh-TW" sz="2000" b="0" i="0" u="none" strike="noStrike" kern="1200" cap="none" spc="0" baseline="0" dirty="0">
              <a:solidFill>
                <a:srgbClr val="000000"/>
              </a:solidFill>
              <a:highlight>
                <a:scrgbClr r="0" g="0" b="0">
                  <a:alpha val="0"/>
                </a:scrgbClr>
              </a:highlight>
              <a:uFillTx/>
              <a:latin typeface="Liberation Sans" pitchFamily="18"/>
              <a:ea typeface="微軟正黑體" pitchFamily="2"/>
              <a:cs typeface="Mangal" pitchFamily="2"/>
            </a:endParaRPr>
          </a:p>
          <a:p>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8</a:t>
            </a:fld>
            <a:endParaRPr lang="zh-TW" altLang="en-US"/>
          </a:p>
        </p:txBody>
      </p:sp>
    </p:spTree>
    <p:extLst>
      <p:ext uri="{BB962C8B-B14F-4D97-AF65-F5344CB8AC3E}">
        <p14:creationId xmlns:p14="http://schemas.microsoft.com/office/powerpoint/2010/main" val="10279709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106488" y="812800"/>
            <a:ext cx="5345112" cy="4008438"/>
          </a:xfrm>
        </p:spPr>
      </p:sp>
      <p:sp>
        <p:nvSpPr>
          <p:cNvPr id="3" name="備忘稿版面配置區 2"/>
          <p:cNvSpPr>
            <a:spLocks noGrp="1"/>
          </p:cNvSpPr>
          <p:nvPr>
            <p:ph type="body" idx="1"/>
          </p:nvPr>
        </p:nvSpPr>
        <p:spPr/>
        <p:txBody>
          <a:bodyPr/>
          <a:lstStyle/>
          <a:p>
            <a:endParaRPr lang="en-US" altLang="zh-TW" sz="2000" b="0" i="0" u="none" strike="noStrike" kern="1200" cap="none" spc="0" baseline="0" dirty="0">
              <a:solidFill>
                <a:srgbClr val="000000"/>
              </a:solidFill>
              <a:highlight>
                <a:scrgbClr r="0" g="0" b="0">
                  <a:alpha val="0"/>
                </a:scrgbClr>
              </a:highlight>
              <a:uFillTx/>
              <a:latin typeface="Liberation Sans" pitchFamily="18"/>
              <a:ea typeface="微軟正黑體" pitchFamily="2"/>
              <a:cs typeface="Mangal" pitchFamily="2"/>
            </a:endParaRPr>
          </a:p>
          <a:p>
            <a:endParaRPr lang="zh-TW" altLang="en-US" dirty="0"/>
          </a:p>
        </p:txBody>
      </p:sp>
      <p:sp>
        <p:nvSpPr>
          <p:cNvPr id="4" name="投影片編號版面配置區 3"/>
          <p:cNvSpPr>
            <a:spLocks noGrp="1"/>
          </p:cNvSpPr>
          <p:nvPr>
            <p:ph type="sldNum" sz="quarter" idx="10"/>
          </p:nvPr>
        </p:nvSpPr>
        <p:spPr/>
        <p:txBody>
          <a:bodyPr/>
          <a:lstStyle/>
          <a:p>
            <a:pPr lvl="0"/>
            <a:fld id="{78A57073-AB8B-4F7A-BB5E-FAEF8A970D70}" type="slidenum">
              <a:rPr lang="en-US" altLang="zh-TW" smtClean="0"/>
              <a:t>9</a:t>
            </a:fld>
            <a:endParaRPr lang="zh-TW" altLang="en-US"/>
          </a:p>
        </p:txBody>
      </p:sp>
    </p:spTree>
    <p:extLst>
      <p:ext uri="{BB962C8B-B14F-4D97-AF65-F5344CB8AC3E}">
        <p14:creationId xmlns:p14="http://schemas.microsoft.com/office/powerpoint/2010/main" val="974645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txBox="1">
            <a:spLocks noGrp="1"/>
          </p:cNvSpPr>
          <p:nvPr>
            <p:ph type="ctrTitle"/>
          </p:nvPr>
        </p:nvSpPr>
        <p:spPr>
          <a:xfrm>
            <a:off x="1260472" y="1236661"/>
            <a:ext cx="7559673" cy="2632072"/>
          </a:xfrm>
        </p:spPr>
        <p:txBody>
          <a:bodyPr anchor="b"/>
          <a:lstStyle>
            <a:lvl1pPr>
              <a:defRPr lang="zh-TW" sz="6000"/>
            </a:lvl1pPr>
          </a:lstStyle>
          <a:p>
            <a:pPr lvl="0"/>
            <a:r>
              <a:rPr lang="zh-TW"/>
              <a:t>按一下以編輯母片標題樣式</a:t>
            </a:r>
            <a:endParaRPr lang="en-US"/>
          </a:p>
        </p:txBody>
      </p:sp>
      <p:sp>
        <p:nvSpPr>
          <p:cNvPr id="3" name="副標題 2"/>
          <p:cNvSpPr txBox="1">
            <a:spLocks noGrp="1"/>
          </p:cNvSpPr>
          <p:nvPr>
            <p:ph type="subTitle" idx="1"/>
          </p:nvPr>
        </p:nvSpPr>
        <p:spPr>
          <a:xfrm>
            <a:off x="1260472" y="3970333"/>
            <a:ext cx="7559673" cy="1825627"/>
          </a:xfrm>
        </p:spPr>
        <p:txBody>
          <a:bodyPr anchorCtr="1"/>
          <a:lstStyle>
            <a:lvl1pPr algn="ctr">
              <a:defRPr sz="2400"/>
            </a:lvl1pPr>
          </a:lstStyle>
          <a:p>
            <a:pPr lvl="0"/>
            <a:r>
              <a:rPr lang="zh-TW"/>
              <a:t>按一下以編輯母片副標題樣式</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AE6BFC27-068B-4B72-92F7-9C821F0A3E7B}" type="slidenum">
              <a:t>‹#›</a:t>
            </a:fld>
            <a:endParaRPr lang="en-US"/>
          </a:p>
        </p:txBody>
      </p:sp>
    </p:spTree>
    <p:extLst>
      <p:ext uri="{BB962C8B-B14F-4D97-AF65-F5344CB8AC3E}">
        <p14:creationId xmlns:p14="http://schemas.microsoft.com/office/powerpoint/2010/main" val="345342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內容版面配置區 2"/>
          <p:cNvSpPr txBox="1">
            <a:spLocks noGrp="1"/>
          </p:cNvSpPr>
          <p:nvPr>
            <p:ph idx="1"/>
          </p:nvPr>
        </p:nvSpPr>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68842836-F473-4F88-8FC5-E6506225DA8A}" type="slidenum">
              <a:t>‹#›</a:t>
            </a:fld>
            <a:endParaRPr lang="en-US"/>
          </a:p>
        </p:txBody>
      </p:sp>
    </p:spTree>
    <p:extLst>
      <p:ext uri="{BB962C8B-B14F-4D97-AF65-F5344CB8AC3E}">
        <p14:creationId xmlns:p14="http://schemas.microsoft.com/office/powerpoint/2010/main" val="2282692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txBox="1">
            <a:spLocks noGrp="1"/>
          </p:cNvSpPr>
          <p:nvPr>
            <p:ph type="title"/>
          </p:nvPr>
        </p:nvSpPr>
        <p:spPr>
          <a:xfrm>
            <a:off x="687391" y="1884358"/>
            <a:ext cx="8694736" cy="3144841"/>
          </a:xfrm>
        </p:spPr>
        <p:txBody>
          <a:bodyPr anchor="b"/>
          <a:lstStyle>
            <a:lvl1pPr>
              <a:defRPr lang="zh-TW" sz="6000"/>
            </a:lvl1pPr>
          </a:lstStyle>
          <a:p>
            <a:pPr lvl="0"/>
            <a:r>
              <a:rPr lang="zh-TW"/>
              <a:t>按一下以編輯母片標題樣式</a:t>
            </a:r>
            <a:endParaRPr lang="en-US"/>
          </a:p>
        </p:txBody>
      </p:sp>
      <p:sp>
        <p:nvSpPr>
          <p:cNvPr id="3" name="文字版面配置區 2"/>
          <p:cNvSpPr txBox="1">
            <a:spLocks noGrp="1"/>
          </p:cNvSpPr>
          <p:nvPr>
            <p:ph type="body" idx="1"/>
          </p:nvPr>
        </p:nvSpPr>
        <p:spPr>
          <a:xfrm>
            <a:off x="687391" y="5059366"/>
            <a:ext cx="8694736" cy="1652585"/>
          </a:xfrm>
        </p:spPr>
        <p:txBody>
          <a:bodyPr/>
          <a:lstStyle>
            <a:lvl1pPr>
              <a:defRPr sz="2400">
                <a:solidFill>
                  <a:srgbClr val="898989"/>
                </a:solidFill>
              </a:defRPr>
            </a:lvl1pPr>
          </a:lstStyle>
          <a:p>
            <a:pPr lvl="0"/>
            <a:r>
              <a:rPr lang="zh-TW"/>
              <a:t>按一下以編輯母片文字樣式</a:t>
            </a:r>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F06D477E-DD58-4DE2-94A6-FBA23A92454D}" type="slidenum">
              <a:t>‹#›</a:t>
            </a:fld>
            <a:endParaRPr lang="en-US"/>
          </a:p>
        </p:txBody>
      </p:sp>
    </p:spTree>
    <p:extLst>
      <p:ext uri="{BB962C8B-B14F-4D97-AF65-F5344CB8AC3E}">
        <p14:creationId xmlns:p14="http://schemas.microsoft.com/office/powerpoint/2010/main" val="13812231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內容版面配置區 2"/>
          <p:cNvSpPr txBox="1">
            <a:spLocks noGrp="1"/>
          </p:cNvSpPr>
          <p:nvPr>
            <p:ph idx="1"/>
          </p:nvPr>
        </p:nvSpPr>
        <p:spPr>
          <a:xfrm>
            <a:off x="503240" y="1768477"/>
            <a:ext cx="4459291" cy="4384676"/>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內容版面配置區 3"/>
          <p:cNvSpPr txBox="1">
            <a:spLocks noGrp="1"/>
          </p:cNvSpPr>
          <p:nvPr>
            <p:ph idx="2"/>
          </p:nvPr>
        </p:nvSpPr>
        <p:spPr>
          <a:xfrm>
            <a:off x="5114925" y="1768477"/>
            <a:ext cx="4460872" cy="4384676"/>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A72D141D-6966-43C1-8EB1-BB4818DFA3BC}" type="slidenum">
              <a:t>‹#›</a:t>
            </a:fld>
            <a:endParaRPr lang="en-US"/>
          </a:p>
        </p:txBody>
      </p:sp>
    </p:spTree>
    <p:extLst>
      <p:ext uri="{BB962C8B-B14F-4D97-AF65-F5344CB8AC3E}">
        <p14:creationId xmlns:p14="http://schemas.microsoft.com/office/powerpoint/2010/main" val="1156981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403222"/>
            <a:ext cx="8694736" cy="1460497"/>
          </a:xfrm>
        </p:spPr>
        <p:txBody>
          <a:bodyPr/>
          <a:lstStyle>
            <a:lvl1pPr>
              <a:defRPr lang="zh-TW"/>
            </a:lvl1pPr>
          </a:lstStyle>
          <a:p>
            <a:pPr lvl="0"/>
            <a:r>
              <a:rPr lang="zh-TW"/>
              <a:t>按一下以編輯母片標題樣式</a:t>
            </a:r>
            <a:endParaRPr lang="en-US"/>
          </a:p>
        </p:txBody>
      </p:sp>
      <p:sp>
        <p:nvSpPr>
          <p:cNvPr id="3" name="文字版面配置區 2"/>
          <p:cNvSpPr txBox="1">
            <a:spLocks noGrp="1"/>
          </p:cNvSpPr>
          <p:nvPr>
            <p:ph type="body" idx="1"/>
          </p:nvPr>
        </p:nvSpPr>
        <p:spPr>
          <a:xfrm>
            <a:off x="693736" y="1852610"/>
            <a:ext cx="4265611" cy="908054"/>
          </a:xfrm>
        </p:spPr>
        <p:txBody>
          <a:bodyPr anchor="b"/>
          <a:lstStyle>
            <a:lvl1pPr>
              <a:defRPr sz="2400" b="1"/>
            </a:lvl1pPr>
          </a:lstStyle>
          <a:p>
            <a:pPr lvl="0"/>
            <a:r>
              <a:rPr lang="zh-TW"/>
              <a:t>按一下以編輯母片文字樣式</a:t>
            </a:r>
          </a:p>
        </p:txBody>
      </p:sp>
      <p:sp>
        <p:nvSpPr>
          <p:cNvPr id="4" name="內容版面配置區 3"/>
          <p:cNvSpPr txBox="1">
            <a:spLocks noGrp="1"/>
          </p:cNvSpPr>
          <p:nvPr>
            <p:ph idx="2"/>
          </p:nvPr>
        </p:nvSpPr>
        <p:spPr>
          <a:xfrm>
            <a:off x="693736" y="2760665"/>
            <a:ext cx="4265611" cy="4062414"/>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5" name="文字版面配置區 4"/>
          <p:cNvSpPr txBox="1">
            <a:spLocks noGrp="1"/>
          </p:cNvSpPr>
          <p:nvPr>
            <p:ph type="body" idx="3"/>
          </p:nvPr>
        </p:nvSpPr>
        <p:spPr>
          <a:xfrm>
            <a:off x="5103815" y="1852610"/>
            <a:ext cx="4284658" cy="908054"/>
          </a:xfrm>
        </p:spPr>
        <p:txBody>
          <a:bodyPr anchor="b"/>
          <a:lstStyle>
            <a:lvl1pPr>
              <a:defRPr sz="2400" b="1"/>
            </a:lvl1pPr>
          </a:lstStyle>
          <a:p>
            <a:pPr lvl="0"/>
            <a:r>
              <a:rPr lang="zh-TW"/>
              <a:t>按一下以編輯母片文字樣式</a:t>
            </a:r>
          </a:p>
        </p:txBody>
      </p:sp>
      <p:sp>
        <p:nvSpPr>
          <p:cNvPr id="6" name="內容版面配置區 5"/>
          <p:cNvSpPr txBox="1">
            <a:spLocks noGrp="1"/>
          </p:cNvSpPr>
          <p:nvPr>
            <p:ph idx="4"/>
          </p:nvPr>
        </p:nvSpPr>
        <p:spPr>
          <a:xfrm>
            <a:off x="5103815" y="2760665"/>
            <a:ext cx="4284658" cy="4062414"/>
          </a:xfrm>
        </p:spPr>
        <p:txBody>
          <a:bodyPr/>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7" name="日期版面配置區 6"/>
          <p:cNvSpPr txBox="1">
            <a:spLocks noGrp="1"/>
          </p:cNvSpPr>
          <p:nvPr>
            <p:ph type="dt" sz="half" idx="7"/>
          </p:nvPr>
        </p:nvSpPr>
        <p:spPr/>
        <p:txBody>
          <a:bodyPr/>
          <a:lstStyle>
            <a:lvl1pPr>
              <a:defRPr/>
            </a:lvl1pPr>
          </a:lstStyle>
          <a:p>
            <a:pPr lvl="0"/>
            <a:endParaRPr lang="en-US"/>
          </a:p>
        </p:txBody>
      </p:sp>
      <p:sp>
        <p:nvSpPr>
          <p:cNvPr id="8" name="頁尾版面配置區 7"/>
          <p:cNvSpPr txBox="1">
            <a:spLocks noGrp="1"/>
          </p:cNvSpPr>
          <p:nvPr>
            <p:ph type="ftr" sz="quarter" idx="9"/>
          </p:nvPr>
        </p:nvSpPr>
        <p:spPr/>
        <p:txBody>
          <a:bodyPr/>
          <a:lstStyle>
            <a:lvl1pPr>
              <a:defRPr/>
            </a:lvl1pPr>
          </a:lstStyle>
          <a:p>
            <a:pPr lvl="0"/>
            <a:endParaRPr lang="en-US"/>
          </a:p>
        </p:txBody>
      </p:sp>
      <p:sp>
        <p:nvSpPr>
          <p:cNvPr id="9" name="投影片編號版面配置區 8"/>
          <p:cNvSpPr txBox="1">
            <a:spLocks noGrp="1"/>
          </p:cNvSpPr>
          <p:nvPr>
            <p:ph type="sldNum" sz="quarter" idx="8"/>
          </p:nvPr>
        </p:nvSpPr>
        <p:spPr/>
        <p:txBody>
          <a:bodyPr/>
          <a:lstStyle>
            <a:lvl1pPr>
              <a:defRPr/>
            </a:lvl1pPr>
          </a:lstStyle>
          <a:p>
            <a:pPr lvl="0"/>
            <a:fld id="{4D382990-A4FF-4906-9C3D-CE47CFC3DCA5}" type="slidenum">
              <a:t>‹#›</a:t>
            </a:fld>
            <a:endParaRPr lang="en-US"/>
          </a:p>
        </p:txBody>
      </p:sp>
    </p:spTree>
    <p:extLst>
      <p:ext uri="{BB962C8B-B14F-4D97-AF65-F5344CB8AC3E}">
        <p14:creationId xmlns:p14="http://schemas.microsoft.com/office/powerpoint/2010/main" val="3403414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日期版面配置區 2"/>
          <p:cNvSpPr txBox="1">
            <a:spLocks noGrp="1"/>
          </p:cNvSpPr>
          <p:nvPr>
            <p:ph type="dt" sz="half" idx="7"/>
          </p:nvPr>
        </p:nvSpPr>
        <p:spPr/>
        <p:txBody>
          <a:bodyPr/>
          <a:lstStyle>
            <a:lvl1pPr>
              <a:defRPr/>
            </a:lvl1pPr>
          </a:lstStyle>
          <a:p>
            <a:pPr lvl="0"/>
            <a:endParaRPr lang="en-US"/>
          </a:p>
        </p:txBody>
      </p:sp>
      <p:sp>
        <p:nvSpPr>
          <p:cNvPr id="4" name="頁尾版面配置區 3"/>
          <p:cNvSpPr txBox="1">
            <a:spLocks noGrp="1"/>
          </p:cNvSpPr>
          <p:nvPr>
            <p:ph type="ftr" sz="quarter" idx="9"/>
          </p:nvPr>
        </p:nvSpPr>
        <p:spPr/>
        <p:txBody>
          <a:bodyPr/>
          <a:lstStyle>
            <a:lvl1pPr>
              <a:defRPr/>
            </a:lvl1pPr>
          </a:lstStyle>
          <a:p>
            <a:pPr lvl="0"/>
            <a:endParaRPr lang="en-US"/>
          </a:p>
        </p:txBody>
      </p:sp>
      <p:sp>
        <p:nvSpPr>
          <p:cNvPr id="5" name="投影片編號版面配置區 4"/>
          <p:cNvSpPr txBox="1">
            <a:spLocks noGrp="1"/>
          </p:cNvSpPr>
          <p:nvPr>
            <p:ph type="sldNum" sz="quarter" idx="8"/>
          </p:nvPr>
        </p:nvSpPr>
        <p:spPr/>
        <p:txBody>
          <a:bodyPr/>
          <a:lstStyle>
            <a:lvl1pPr>
              <a:defRPr/>
            </a:lvl1pPr>
          </a:lstStyle>
          <a:p>
            <a:pPr lvl="0"/>
            <a:fld id="{C73CCA10-4506-4689-B9C6-7A25C650BAFF}" type="slidenum">
              <a:t>‹#›</a:t>
            </a:fld>
            <a:endParaRPr lang="en-US"/>
          </a:p>
        </p:txBody>
      </p:sp>
    </p:spTree>
    <p:extLst>
      <p:ext uri="{BB962C8B-B14F-4D97-AF65-F5344CB8AC3E}">
        <p14:creationId xmlns:p14="http://schemas.microsoft.com/office/powerpoint/2010/main" val="2056262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txBox="1">
            <a:spLocks noGrp="1"/>
          </p:cNvSpPr>
          <p:nvPr>
            <p:ph type="dt" sz="half" idx="7"/>
          </p:nvPr>
        </p:nvSpPr>
        <p:spPr/>
        <p:txBody>
          <a:bodyPr/>
          <a:lstStyle>
            <a:lvl1pPr>
              <a:defRPr/>
            </a:lvl1pPr>
          </a:lstStyle>
          <a:p>
            <a:pPr lvl="0"/>
            <a:endParaRPr lang="en-US"/>
          </a:p>
        </p:txBody>
      </p:sp>
      <p:sp>
        <p:nvSpPr>
          <p:cNvPr id="3" name="頁尾版面配置區 2"/>
          <p:cNvSpPr txBox="1">
            <a:spLocks noGrp="1"/>
          </p:cNvSpPr>
          <p:nvPr>
            <p:ph type="ftr" sz="quarter" idx="9"/>
          </p:nvPr>
        </p:nvSpPr>
        <p:spPr/>
        <p:txBody>
          <a:bodyPr/>
          <a:lstStyle>
            <a:lvl1pPr>
              <a:defRPr/>
            </a:lvl1pPr>
          </a:lstStyle>
          <a:p>
            <a:pPr lvl="0"/>
            <a:endParaRPr lang="en-US"/>
          </a:p>
        </p:txBody>
      </p:sp>
      <p:sp>
        <p:nvSpPr>
          <p:cNvPr id="4" name="投影片編號版面配置區 3"/>
          <p:cNvSpPr txBox="1">
            <a:spLocks noGrp="1"/>
          </p:cNvSpPr>
          <p:nvPr>
            <p:ph type="sldNum" sz="quarter" idx="8"/>
          </p:nvPr>
        </p:nvSpPr>
        <p:spPr/>
        <p:txBody>
          <a:bodyPr/>
          <a:lstStyle>
            <a:lvl1pPr>
              <a:defRPr/>
            </a:lvl1pPr>
          </a:lstStyle>
          <a:p>
            <a:pPr lvl="0"/>
            <a:fld id="{DA413963-2284-408C-A1F3-BA9C90A14B4D}" type="slidenum">
              <a:t>‹#›</a:t>
            </a:fld>
            <a:endParaRPr lang="en-US"/>
          </a:p>
        </p:txBody>
      </p:sp>
    </p:spTree>
    <p:extLst>
      <p:ext uri="{BB962C8B-B14F-4D97-AF65-F5344CB8AC3E}">
        <p14:creationId xmlns:p14="http://schemas.microsoft.com/office/powerpoint/2010/main" val="3566101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503240"/>
            <a:ext cx="3251204" cy="1765304"/>
          </a:xfrm>
        </p:spPr>
        <p:txBody>
          <a:bodyPr anchor="b"/>
          <a:lstStyle>
            <a:lvl1pPr>
              <a:defRPr lang="zh-TW" sz="3200"/>
            </a:lvl1pPr>
          </a:lstStyle>
          <a:p>
            <a:pPr lvl="0"/>
            <a:r>
              <a:rPr lang="zh-TW"/>
              <a:t>按一下以編輯母片標題樣式</a:t>
            </a:r>
            <a:endParaRPr lang="en-US"/>
          </a:p>
        </p:txBody>
      </p:sp>
      <p:sp>
        <p:nvSpPr>
          <p:cNvPr id="3" name="內容版面配置區 2"/>
          <p:cNvSpPr txBox="1">
            <a:spLocks noGrp="1"/>
          </p:cNvSpPr>
          <p:nvPr>
            <p:ph idx="1"/>
          </p:nvPr>
        </p:nvSpPr>
        <p:spPr>
          <a:xfrm>
            <a:off x="4286249" y="1089022"/>
            <a:ext cx="5102223" cy="5372100"/>
          </a:xfrm>
        </p:spPr>
        <p:txBody>
          <a:bodyPr/>
          <a:lstStyle>
            <a:lvl1pPr>
              <a:defRPr/>
            </a:lvl1pPr>
            <a:lvl2pPr>
              <a:defRPr sz="2800"/>
            </a:lvl2pPr>
            <a:lvl3pPr>
              <a:defRPr sz="2400"/>
            </a:lvl3pPr>
            <a:lvl4pPr>
              <a:defRPr sz="2000"/>
            </a:lvl4pPr>
            <a:lvl5pPr>
              <a:defRPr sz="2000"/>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文字版面配置區 3"/>
          <p:cNvSpPr txBox="1">
            <a:spLocks noGrp="1"/>
          </p:cNvSpPr>
          <p:nvPr>
            <p:ph type="body" idx="2"/>
          </p:nvPr>
        </p:nvSpPr>
        <p:spPr>
          <a:xfrm>
            <a:off x="693736" y="2268534"/>
            <a:ext cx="3251204" cy="4200525"/>
          </a:xfrm>
        </p:spPr>
        <p:txBody>
          <a:bodyPr/>
          <a:lstStyle>
            <a:lvl1pPr>
              <a:defRPr sz="1600"/>
            </a:lvl1pPr>
          </a:lstStyle>
          <a:p>
            <a:pPr lvl="0"/>
            <a:r>
              <a:rPr lang="zh-TW"/>
              <a:t>按一下以編輯母片文字樣式</a:t>
            </a:r>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8059FB30-6DA3-498A-B3E4-39789FBB385A}" type="slidenum">
              <a:t>‹#›</a:t>
            </a:fld>
            <a:endParaRPr lang="en-US"/>
          </a:p>
        </p:txBody>
      </p:sp>
    </p:spTree>
    <p:extLst>
      <p:ext uri="{BB962C8B-B14F-4D97-AF65-F5344CB8AC3E}">
        <p14:creationId xmlns:p14="http://schemas.microsoft.com/office/powerpoint/2010/main" val="2952677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txBox="1">
            <a:spLocks noGrp="1"/>
          </p:cNvSpPr>
          <p:nvPr>
            <p:ph type="title"/>
          </p:nvPr>
        </p:nvSpPr>
        <p:spPr>
          <a:xfrm>
            <a:off x="693736" y="503240"/>
            <a:ext cx="3251204" cy="1765304"/>
          </a:xfrm>
        </p:spPr>
        <p:txBody>
          <a:bodyPr anchor="b"/>
          <a:lstStyle>
            <a:lvl1pPr>
              <a:defRPr lang="zh-TW" sz="3200"/>
            </a:lvl1pPr>
          </a:lstStyle>
          <a:p>
            <a:pPr lvl="0"/>
            <a:r>
              <a:rPr lang="zh-TW"/>
              <a:t>按一下以編輯母片標題樣式</a:t>
            </a:r>
            <a:endParaRPr lang="en-US"/>
          </a:p>
        </p:txBody>
      </p:sp>
      <p:sp>
        <p:nvSpPr>
          <p:cNvPr id="3" name="圖片版面配置區 2"/>
          <p:cNvSpPr txBox="1">
            <a:spLocks noGrp="1"/>
          </p:cNvSpPr>
          <p:nvPr>
            <p:ph type="pic" idx="1"/>
          </p:nvPr>
        </p:nvSpPr>
        <p:spPr>
          <a:xfrm>
            <a:off x="4286249" y="1089022"/>
            <a:ext cx="5102223" cy="5372100"/>
          </a:xfrm>
        </p:spPr>
        <p:txBody>
          <a:bodyPr/>
          <a:lstStyle>
            <a:lvl1pPr>
              <a:defRPr lang="en-US"/>
            </a:lvl1pPr>
          </a:lstStyle>
          <a:p>
            <a:pPr lvl="0"/>
            <a:endParaRPr lang="en-US"/>
          </a:p>
        </p:txBody>
      </p:sp>
      <p:sp>
        <p:nvSpPr>
          <p:cNvPr id="4" name="文字版面配置區 3"/>
          <p:cNvSpPr txBox="1">
            <a:spLocks noGrp="1"/>
          </p:cNvSpPr>
          <p:nvPr>
            <p:ph type="body" idx="2"/>
          </p:nvPr>
        </p:nvSpPr>
        <p:spPr>
          <a:xfrm>
            <a:off x="693736" y="2268534"/>
            <a:ext cx="3251204" cy="4200525"/>
          </a:xfrm>
        </p:spPr>
        <p:txBody>
          <a:bodyPr/>
          <a:lstStyle>
            <a:lvl1pPr>
              <a:defRPr sz="1600"/>
            </a:lvl1pPr>
          </a:lstStyle>
          <a:p>
            <a:pPr lvl="0"/>
            <a:r>
              <a:rPr lang="zh-TW"/>
              <a:t>按一下以編輯母片文字樣式</a:t>
            </a:r>
          </a:p>
        </p:txBody>
      </p:sp>
      <p:sp>
        <p:nvSpPr>
          <p:cNvPr id="5" name="日期版面配置區 4"/>
          <p:cNvSpPr txBox="1">
            <a:spLocks noGrp="1"/>
          </p:cNvSpPr>
          <p:nvPr>
            <p:ph type="dt" sz="half" idx="7"/>
          </p:nvPr>
        </p:nvSpPr>
        <p:spPr/>
        <p:txBody>
          <a:bodyPr/>
          <a:lstStyle>
            <a:lvl1pPr>
              <a:defRPr/>
            </a:lvl1pPr>
          </a:lstStyle>
          <a:p>
            <a:pPr lvl="0"/>
            <a:endParaRPr lang="en-US"/>
          </a:p>
        </p:txBody>
      </p:sp>
      <p:sp>
        <p:nvSpPr>
          <p:cNvPr id="6" name="頁尾版面配置區 5"/>
          <p:cNvSpPr txBox="1">
            <a:spLocks noGrp="1"/>
          </p:cNvSpPr>
          <p:nvPr>
            <p:ph type="ftr" sz="quarter" idx="9"/>
          </p:nvPr>
        </p:nvSpPr>
        <p:spPr/>
        <p:txBody>
          <a:bodyPr/>
          <a:lstStyle>
            <a:lvl1pPr>
              <a:defRPr/>
            </a:lvl1pPr>
          </a:lstStyle>
          <a:p>
            <a:pPr lvl="0"/>
            <a:endParaRPr lang="en-US"/>
          </a:p>
        </p:txBody>
      </p:sp>
      <p:sp>
        <p:nvSpPr>
          <p:cNvPr id="7" name="投影片編號版面配置區 6"/>
          <p:cNvSpPr txBox="1">
            <a:spLocks noGrp="1"/>
          </p:cNvSpPr>
          <p:nvPr>
            <p:ph type="sldNum" sz="quarter" idx="8"/>
          </p:nvPr>
        </p:nvSpPr>
        <p:spPr/>
        <p:txBody>
          <a:bodyPr/>
          <a:lstStyle>
            <a:lvl1pPr>
              <a:defRPr/>
            </a:lvl1pPr>
          </a:lstStyle>
          <a:p>
            <a:pPr lvl="0"/>
            <a:fld id="{62DDE591-0FAF-4F51-A0C1-3BEDC4250AEC}" type="slidenum">
              <a:t>‹#›</a:t>
            </a:fld>
            <a:endParaRPr lang="en-US"/>
          </a:p>
        </p:txBody>
      </p:sp>
    </p:spTree>
    <p:extLst>
      <p:ext uri="{BB962C8B-B14F-4D97-AF65-F5344CB8AC3E}">
        <p14:creationId xmlns:p14="http://schemas.microsoft.com/office/powerpoint/2010/main" val="1247615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txBox="1">
            <a:spLocks noGrp="1"/>
          </p:cNvSpPr>
          <p:nvPr>
            <p:ph type="title"/>
          </p:nvPr>
        </p:nvSpPr>
        <p:spPr/>
        <p:txBody>
          <a:bodyPr/>
          <a:lstStyle>
            <a:lvl1pPr>
              <a:defRPr lang="zh-TW"/>
            </a:lvl1pPr>
          </a:lstStyle>
          <a:p>
            <a:pPr lvl="0"/>
            <a:r>
              <a:rPr lang="zh-TW"/>
              <a:t>按一下以編輯母片標題樣式</a:t>
            </a:r>
            <a:endParaRPr lang="en-US"/>
          </a:p>
        </p:txBody>
      </p:sp>
      <p:sp>
        <p:nvSpPr>
          <p:cNvPr id="3" name="直排文字版面配置區 2"/>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30523178-8C3C-4D5B-987E-9C6DE9B05220}" type="slidenum">
              <a:t>‹#›</a:t>
            </a:fld>
            <a:endParaRPr lang="en-US"/>
          </a:p>
        </p:txBody>
      </p:sp>
    </p:spTree>
    <p:extLst>
      <p:ext uri="{BB962C8B-B14F-4D97-AF65-F5344CB8AC3E}">
        <p14:creationId xmlns:p14="http://schemas.microsoft.com/office/powerpoint/2010/main" val="3461704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txBox="1">
            <a:spLocks noGrp="1"/>
          </p:cNvSpPr>
          <p:nvPr>
            <p:ph type="title" orient="vert"/>
          </p:nvPr>
        </p:nvSpPr>
        <p:spPr>
          <a:xfrm>
            <a:off x="7308854" y="301623"/>
            <a:ext cx="2266953" cy="5851529"/>
          </a:xfrm>
        </p:spPr>
        <p:txBody>
          <a:bodyPr vert="eaVert"/>
          <a:lstStyle>
            <a:lvl1pPr>
              <a:defRPr lang="zh-TW"/>
            </a:lvl1pPr>
          </a:lstStyle>
          <a:p>
            <a:pPr lvl="0"/>
            <a:r>
              <a:rPr lang="zh-TW"/>
              <a:t>按一下以編輯母片標題樣式</a:t>
            </a:r>
            <a:endParaRPr lang="en-US"/>
          </a:p>
        </p:txBody>
      </p:sp>
      <p:sp>
        <p:nvSpPr>
          <p:cNvPr id="3" name="直排文字版面配置區 2"/>
          <p:cNvSpPr txBox="1">
            <a:spLocks noGrp="1"/>
          </p:cNvSpPr>
          <p:nvPr>
            <p:ph type="body" orient="vert" idx="1"/>
          </p:nvPr>
        </p:nvSpPr>
        <p:spPr>
          <a:xfrm>
            <a:off x="503240" y="301623"/>
            <a:ext cx="6653210" cy="5851529"/>
          </a:xfrm>
        </p:spPr>
        <p:txBody>
          <a:bodyPr vert="eaVert"/>
          <a:lstStyle>
            <a:lvl1pPr>
              <a:defRPr/>
            </a:lvl1pPr>
            <a:lvl2pPr>
              <a:defRPr/>
            </a:lvl2pPr>
            <a:lvl3pPr>
              <a:defRPr/>
            </a:lvl3pPr>
            <a:lvl4pPr>
              <a:defRPr/>
            </a:lvl4pPr>
            <a:lvl5pPr>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7"/>
          </p:nvPr>
        </p:nvSpPr>
        <p:spPr/>
        <p:txBody>
          <a:bodyPr/>
          <a:lstStyle>
            <a:lvl1pPr>
              <a:defRPr/>
            </a:lvl1pPr>
          </a:lstStyle>
          <a:p>
            <a:pPr lvl="0"/>
            <a:endParaRPr lang="en-US"/>
          </a:p>
        </p:txBody>
      </p:sp>
      <p:sp>
        <p:nvSpPr>
          <p:cNvPr id="5" name="頁尾版面配置區 4"/>
          <p:cNvSpPr txBox="1">
            <a:spLocks noGrp="1"/>
          </p:cNvSpPr>
          <p:nvPr>
            <p:ph type="ftr" sz="quarter" idx="9"/>
          </p:nvPr>
        </p:nvSpPr>
        <p:spPr/>
        <p:txBody>
          <a:bodyPr/>
          <a:lstStyle>
            <a:lvl1pPr>
              <a:defRPr/>
            </a:lvl1pPr>
          </a:lstStyle>
          <a:p>
            <a:pPr lvl="0"/>
            <a:endParaRPr lang="en-US"/>
          </a:p>
        </p:txBody>
      </p:sp>
      <p:sp>
        <p:nvSpPr>
          <p:cNvPr id="6" name="投影片編號版面配置區 5"/>
          <p:cNvSpPr txBox="1">
            <a:spLocks noGrp="1"/>
          </p:cNvSpPr>
          <p:nvPr>
            <p:ph type="sldNum" sz="quarter" idx="8"/>
          </p:nvPr>
        </p:nvSpPr>
        <p:spPr/>
        <p:txBody>
          <a:bodyPr/>
          <a:lstStyle>
            <a:lvl1pPr>
              <a:defRPr/>
            </a:lvl1pPr>
          </a:lstStyle>
          <a:p>
            <a:pPr lvl="0"/>
            <a:fld id="{0683D96B-BEA4-46BB-A345-50D7E40AC1BE}" type="slidenum">
              <a:t>‹#›</a:t>
            </a:fld>
            <a:endParaRPr lang="en-US"/>
          </a:p>
        </p:txBody>
      </p:sp>
    </p:spTree>
    <p:extLst>
      <p:ext uri="{BB962C8B-B14F-4D97-AF65-F5344CB8AC3E}">
        <p14:creationId xmlns:p14="http://schemas.microsoft.com/office/powerpoint/2010/main" val="3075908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版面配置區 1"/>
          <p:cNvSpPr txBox="1">
            <a:spLocks noGrp="1"/>
          </p:cNvSpPr>
          <p:nvPr>
            <p:ph type="title"/>
          </p:nvPr>
        </p:nvSpPr>
        <p:spPr>
          <a:xfrm>
            <a:off x="503998" y="301322"/>
            <a:ext cx="9071643" cy="1262155"/>
          </a:xfrm>
          <a:prstGeom prst="rect">
            <a:avLst/>
          </a:prstGeom>
          <a:noFill/>
          <a:ln>
            <a:noFill/>
          </a:ln>
        </p:spPr>
        <p:txBody>
          <a:bodyPr vert="horz" wrap="square" lIns="0" tIns="0" rIns="0" bIns="0" anchor="ctr" anchorCtr="1" compatLnSpc="1">
            <a:noAutofit/>
          </a:bodyPr>
          <a:lstStyle/>
          <a:p>
            <a:pPr lvl="0"/>
            <a:endParaRPr lang="en-US"/>
          </a:p>
        </p:txBody>
      </p:sp>
      <p:sp>
        <p:nvSpPr>
          <p:cNvPr id="3" name="文字版面配置區 2"/>
          <p:cNvSpPr txBox="1">
            <a:spLocks noGrp="1"/>
          </p:cNvSpPr>
          <p:nvPr>
            <p:ph type="body" idx="1"/>
          </p:nvPr>
        </p:nvSpPr>
        <p:spPr>
          <a:xfrm>
            <a:off x="503998" y="1769043"/>
            <a:ext cx="9071643" cy="4384438"/>
          </a:xfrm>
          <a:prstGeom prst="rect">
            <a:avLst/>
          </a:prstGeom>
          <a:noFill/>
          <a:ln>
            <a:noFill/>
          </a:ln>
        </p:spPr>
        <p:txBody>
          <a:bodyPr vert="horz" wrap="square" lIns="0" tIns="0" rIns="0" bIns="0" anchor="t" anchorCtr="0" compatLnSpc="1">
            <a:noAutofit/>
          </a:body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4" name="日期版面配置區 3"/>
          <p:cNvSpPr txBox="1">
            <a:spLocks noGrp="1"/>
          </p:cNvSpPr>
          <p:nvPr>
            <p:ph type="dt" sz="half" idx="2"/>
          </p:nvPr>
        </p:nvSpPr>
        <p:spPr>
          <a:xfrm>
            <a:off x="503998" y="6887160"/>
            <a:ext cx="2348279" cy="521281"/>
          </a:xfrm>
          <a:prstGeom prst="rect">
            <a:avLst/>
          </a:prstGeom>
          <a:noFill/>
          <a:ln>
            <a:noFill/>
          </a:ln>
        </p:spPr>
        <p:txBody>
          <a:bodyPr vert="horz" wrap="square" lIns="0" tIns="0" rIns="0" bIns="0" anchor="t" anchorCtr="0" compatLnSpc="1">
            <a:noAutofit/>
          </a:bodyPr>
          <a:lstStyle>
            <a:lvl1pPr marL="0" marR="0" lvl="0" indent="0" algn="l"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5" name="頁尾版面配置區 4"/>
          <p:cNvSpPr txBox="1">
            <a:spLocks noGrp="1"/>
          </p:cNvSpPr>
          <p:nvPr>
            <p:ph type="ftr" sz="quarter" idx="3"/>
          </p:nvPr>
        </p:nvSpPr>
        <p:spPr>
          <a:xfrm>
            <a:off x="3447361" y="6887160"/>
            <a:ext cx="3194995" cy="521281"/>
          </a:xfrm>
          <a:prstGeom prst="rect">
            <a:avLst/>
          </a:prstGeom>
          <a:noFill/>
          <a:ln>
            <a:noFill/>
          </a:ln>
        </p:spPr>
        <p:txBody>
          <a:bodyPr vert="horz" wrap="square" lIns="0" tIns="0" rIns="0" bIns="0" anchor="t" anchorCtr="1" compatLnSpc="1">
            <a:noAutofit/>
          </a:bodyPr>
          <a:lstStyle>
            <a:lvl1pPr marL="0" marR="0" lvl="0" indent="0" algn="ct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endParaRPr lang="en-US"/>
          </a:p>
        </p:txBody>
      </p:sp>
      <p:sp>
        <p:nvSpPr>
          <p:cNvPr id="6" name="投影片編號版面配置區 5"/>
          <p:cNvSpPr txBox="1">
            <a:spLocks noGrp="1"/>
          </p:cNvSpPr>
          <p:nvPr>
            <p:ph type="sldNum" sz="quarter" idx="4"/>
          </p:nvPr>
        </p:nvSpPr>
        <p:spPr>
          <a:xfrm>
            <a:off x="7227362" y="6887160"/>
            <a:ext cx="2348279" cy="521281"/>
          </a:xfrm>
          <a:prstGeom prst="rect">
            <a:avLst/>
          </a:prstGeom>
          <a:noFill/>
          <a:ln>
            <a:noFill/>
          </a:ln>
        </p:spPr>
        <p:txBody>
          <a:bodyPr vert="horz" wrap="square" lIns="0" tIns="0" rIns="0" bIns="0" anchor="t" anchorCtr="0" compatLnSpc="1">
            <a:noAutofit/>
          </a:bodyPr>
          <a:lstStyle>
            <a:lvl1pPr marL="0" marR="0" lvl="0" indent="0" algn="r" defTabSz="914400" rtl="0" fontAlgn="auto" hangingPunct="0">
              <a:lnSpc>
                <a:spcPct val="100000"/>
              </a:lnSpc>
              <a:spcBef>
                <a:spcPts val="0"/>
              </a:spcBef>
              <a:spcAft>
                <a:spcPts val="0"/>
              </a:spcAft>
              <a:buNone/>
              <a:tabLst/>
              <a:defRPr lang="en-US" sz="1400" b="0" i="0" u="none" strike="noStrike" kern="1200" cap="none" spc="0" baseline="0">
                <a:solidFill>
                  <a:srgbClr val="000000"/>
                </a:solidFill>
                <a:uFillTx/>
                <a:latin typeface="Liberation Serif" pitchFamily="18"/>
                <a:ea typeface="新細明體" pitchFamily="2"/>
                <a:cs typeface="Tahoma" pitchFamily="2"/>
              </a:defRPr>
            </a:lvl1pPr>
          </a:lstStyle>
          <a:p>
            <a:pPr lvl="0"/>
            <a:fld id="{FA3188D1-A64F-4C0D-9118-94DC8B17CC66}" type="slidenum">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marL="0" marR="0" lvl="0" indent="0" algn="ctr" defTabSz="914400" rtl="0" fontAlgn="auto" hangingPunct="0">
        <a:lnSpc>
          <a:spcPct val="100000"/>
        </a:lnSpc>
        <a:spcBef>
          <a:spcPts val="0"/>
        </a:spcBef>
        <a:spcAft>
          <a:spcPts val="0"/>
        </a:spcAft>
        <a:buNone/>
        <a:tabLst/>
        <a:defRPr lang="en-US" sz="44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p:titleStyle>
    <p:bodyStyle>
      <a:lvl1pPr marL="0" marR="0" lvl="0" indent="0" defTabSz="914400" rtl="0" fontAlgn="auto" hangingPunct="0">
        <a:lnSpc>
          <a:spcPct val="100000"/>
        </a:lnSpc>
        <a:spcBef>
          <a:spcPts val="1415"/>
        </a:spcBef>
        <a:spcAft>
          <a:spcPts val="0"/>
        </a:spcAft>
        <a:buNone/>
        <a:tabLst/>
        <a:defRPr lang="zh-TW" sz="3200" b="0" i="0" u="none" strike="noStrike" kern="1200" cap="none" spc="0" baseline="0">
          <a:solidFill>
            <a:srgbClr val="000000"/>
          </a:solidFill>
          <a:highlight>
            <a:scrgbClr r="0" g="0" b="0">
              <a:alpha val="0"/>
            </a:scrgbClr>
          </a:highlight>
          <a:uFillTx/>
          <a:latin typeface="Liberation Sans" pitchFamily="18"/>
          <a:ea typeface="微軟正黑體" pitchFamily="2"/>
          <a:cs typeface="Mangal" pitchFamily="2"/>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zh-TW" sz="2400" b="0" i="0" u="none" strike="noStrike" kern="1200" cap="none" spc="0" baseline="0">
          <a:solidFill>
            <a:srgbClr val="000000"/>
          </a:solidFill>
          <a:uFillTx/>
          <a:latin typeface="Calibri"/>
          <a:ea typeface="新細明體" pitchFamily="18"/>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zh-TW" sz="2000" b="0" i="0" u="none" strike="noStrike" kern="1200" cap="none" spc="0" baseline="0">
          <a:solidFill>
            <a:srgbClr val="000000"/>
          </a:solidFill>
          <a:uFillTx/>
          <a:latin typeface="Calibri"/>
          <a:ea typeface="新細明體" pitchFamily="18"/>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zh-TW" sz="1800" b="0" i="0" u="none" strike="noStrike" kern="1200" cap="none" spc="0" baseline="0">
          <a:solidFill>
            <a:srgbClr val="000000"/>
          </a:solidFill>
          <a:uFillTx/>
          <a:latin typeface="Calibri"/>
          <a:ea typeface="新細明體" pitchFamily="18"/>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zh-TW" sz="1800" b="0" i="0" u="none" strike="noStrike" kern="1200" cap="none" spc="0" baseline="0">
          <a:solidFill>
            <a:srgbClr val="000000"/>
          </a:solidFill>
          <a:uFillTx/>
          <a:latin typeface="Calibri"/>
          <a:ea typeface="新細明體" pitchFamily="18"/>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g"/><Relationship Id="rId7" Type="http://schemas.openxmlformats.org/officeDocument/2006/relationships/image" Target="../media/image18.jpg"/><Relationship Id="rId2" Type="http://schemas.openxmlformats.org/officeDocument/2006/relationships/image" Target="../media/image13.jpg"/><Relationship Id="rId1" Type="http://schemas.openxmlformats.org/officeDocument/2006/relationships/slideLayout" Target="../slideLayouts/slideLayout2.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jpg"/></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page1">
    <p:spTree>
      <p:nvGrpSpPr>
        <p:cNvPr id="1" name=""/>
        <p:cNvGrpSpPr/>
        <p:nvPr/>
      </p:nvGrpSpPr>
      <p:grpSpPr>
        <a:xfrm>
          <a:off x="0" y="0"/>
          <a:ext cx="0" cy="0"/>
          <a:chOff x="0" y="0"/>
          <a:chExt cx="0" cy="0"/>
        </a:xfrm>
      </p:grpSpPr>
      <p:sp>
        <p:nvSpPr>
          <p:cNvPr id="2" name="標題 1"/>
          <p:cNvSpPr txBox="1">
            <a:spLocks noGrp="1"/>
          </p:cNvSpPr>
          <p:nvPr>
            <p:ph type="title" idx="4294967295"/>
          </p:nvPr>
        </p:nvSpPr>
        <p:spPr>
          <a:xfrm>
            <a:off x="576355" y="3343347"/>
            <a:ext cx="9071643" cy="1661993"/>
          </a:xfrm>
        </p:spPr>
        <p:txBody>
          <a:bodyPr>
            <a:spAutoFit/>
          </a:bodyPr>
          <a:lstStyle/>
          <a:p>
            <a:pPr lvl="0"/>
            <a:r>
              <a:rPr lang="en-US" altLang="zh-TW" sz="2700" b="1" dirty="0">
                <a:solidFill>
                  <a:srgbClr val="898989"/>
                </a:solidFill>
                <a:latin typeface="Sitka Subheading" panose="02000505000000020004" pitchFamily="2" charset="0"/>
                <a:ea typeface="新細明體" pitchFamily="2"/>
              </a:rPr>
              <a:t>IEEE Transactions on Image Processing, vol. 23, no. 4, pp. 1513-1526, April, 2014</a:t>
            </a:r>
            <a:br>
              <a:rPr lang="en-US" altLang="zh-TW" sz="2700" b="1" dirty="0">
                <a:solidFill>
                  <a:srgbClr val="898989"/>
                </a:solidFill>
                <a:latin typeface="Sitka Subheading" panose="02000505000000020004" pitchFamily="2" charset="0"/>
                <a:ea typeface="新細明體" pitchFamily="2"/>
              </a:rPr>
            </a:br>
            <a:r>
              <a:rPr lang="pt-BR" altLang="zh-TW" sz="2700" b="1" dirty="0">
                <a:solidFill>
                  <a:srgbClr val="898989"/>
                </a:solidFill>
                <a:latin typeface="Sitka Subheading" panose="02000505000000020004" pitchFamily="2" charset="0"/>
                <a:ea typeface="新細明體" pitchFamily="2"/>
              </a:rPr>
              <a:t>Weiming Hu, Ruiguang Hu, Nianhua Xie, Haibin Ling and Stephen Maybank</a:t>
            </a:r>
            <a:endParaRPr lang="en-US" sz="2700" b="1" dirty="0">
              <a:solidFill>
                <a:srgbClr val="898989"/>
              </a:solidFill>
              <a:latin typeface="Sitka Subheading" panose="02000505000000020004" pitchFamily="2" charset="0"/>
              <a:ea typeface="新細明體" pitchFamily="2"/>
            </a:endParaRPr>
          </a:p>
        </p:txBody>
      </p:sp>
      <p:sp>
        <p:nvSpPr>
          <p:cNvPr id="3" name="文字版面配置區 2"/>
          <p:cNvSpPr txBox="1">
            <a:spLocks noGrp="1"/>
          </p:cNvSpPr>
          <p:nvPr>
            <p:ph type="body" idx="4294967295"/>
          </p:nvPr>
        </p:nvSpPr>
        <p:spPr>
          <a:xfrm>
            <a:off x="576355" y="935998"/>
            <a:ext cx="9071643" cy="1948716"/>
          </a:xfrm>
        </p:spPr>
        <p:txBody>
          <a:bodyPr anchorCtr="1"/>
          <a:lstStyle/>
          <a:p>
            <a:r>
              <a:rPr lang="en-US" sz="4000" b="1" dirty="0">
                <a:latin typeface="Cambria Math" panose="02040503050406030204" pitchFamily="18" charset="0"/>
                <a:ea typeface="Cambria Math" panose="02040503050406030204" pitchFamily="18" charset="0"/>
                <a:cs typeface="Ebrima" panose="02000000000000000000" pitchFamily="2" charset="0"/>
              </a:rPr>
              <a:t>Image Classification Using Multi-Scale Information Fusion Based on Saliency Driven Nonlinear Diffusion Filtering</a:t>
            </a:r>
          </a:p>
        </p:txBody>
      </p:sp>
      <p:sp>
        <p:nvSpPr>
          <p:cNvPr id="4" name="文字版面配置區 3"/>
          <p:cNvSpPr txBox="1">
            <a:spLocks noGrp="1"/>
          </p:cNvSpPr>
          <p:nvPr>
            <p:ph type="body" idx="4294967295"/>
          </p:nvPr>
        </p:nvSpPr>
        <p:spPr>
          <a:xfrm>
            <a:off x="704380" y="5920800"/>
            <a:ext cx="9071643" cy="1159806"/>
          </a:xfrm>
        </p:spPr>
        <p:txBody>
          <a:bodyPr/>
          <a:lstStyle/>
          <a:p>
            <a:pPr lvl="1" algn="r" hangingPunct="0">
              <a:spcBef>
                <a:spcPts val="1415"/>
              </a:spcBef>
              <a:buNone/>
            </a:pPr>
            <a:r>
              <a:rPr lang="en-US" dirty="0">
                <a:highlight>
                  <a:scrgbClr r="0" g="0" b="0">
                    <a:alpha val="0"/>
                  </a:scrgbClr>
                </a:highlight>
                <a:latin typeface="Liberation Sans Narrow" pitchFamily="34"/>
                <a:ea typeface="微軟正黑體" pitchFamily="34"/>
                <a:cs typeface="Mangal" pitchFamily="2"/>
              </a:rPr>
              <a:t>Presenter</a:t>
            </a:r>
            <a:r>
              <a:rPr lang="zh-TW" dirty="0">
                <a:highlight>
                  <a:scrgbClr r="0" g="0" b="0">
                    <a:alpha val="0"/>
                  </a:scrgbClr>
                </a:highlight>
                <a:latin typeface="Liberation Sans Narrow" pitchFamily="34"/>
                <a:ea typeface="微軟正黑體" pitchFamily="34"/>
                <a:cs typeface="Mangal" pitchFamily="2"/>
              </a:rPr>
              <a:t>：</a:t>
            </a:r>
            <a:r>
              <a:rPr lang="en-US" altLang="zh-TW" dirty="0">
                <a:highlight>
                  <a:scrgbClr r="0" g="0" b="0">
                    <a:alpha val="0"/>
                  </a:scrgbClr>
                </a:highlight>
                <a:latin typeface="Liberation Sans Narrow" pitchFamily="34"/>
                <a:ea typeface="微軟正黑體" pitchFamily="34"/>
                <a:cs typeface="Mangal" pitchFamily="2"/>
              </a:rPr>
              <a:t>Wei-</a:t>
            </a:r>
            <a:r>
              <a:rPr lang="en-US" altLang="zh-TW" dirty="0" err="1">
                <a:highlight>
                  <a:scrgbClr r="0" g="0" b="0">
                    <a:alpha val="0"/>
                  </a:scrgbClr>
                </a:highlight>
                <a:latin typeface="Liberation Sans Narrow" pitchFamily="34"/>
                <a:ea typeface="微軟正黑體" pitchFamily="34"/>
                <a:cs typeface="Mangal" pitchFamily="2"/>
              </a:rPr>
              <a:t>Hao</a:t>
            </a:r>
            <a:r>
              <a:rPr lang="en-US" altLang="zh-TW" dirty="0">
                <a:highlight>
                  <a:scrgbClr r="0" g="0" b="0">
                    <a:alpha val="0"/>
                  </a:scrgbClr>
                </a:highlight>
                <a:latin typeface="Liberation Sans Narrow" pitchFamily="34"/>
                <a:ea typeface="微軟正黑體" pitchFamily="34"/>
                <a:cs typeface="Mangal" pitchFamily="2"/>
              </a:rPr>
              <a:t> Fu</a:t>
            </a:r>
            <a:endParaRPr lang="en-US" dirty="0">
              <a:highlight>
                <a:scrgbClr r="0" g="0" b="0">
                  <a:alpha val="0"/>
                </a:scrgbClr>
              </a:highlight>
              <a:latin typeface="Liberation Sans Narrow" pitchFamily="34"/>
              <a:ea typeface="微軟正黑體" pitchFamily="34"/>
              <a:cs typeface="Mangal" pitchFamily="2"/>
            </a:endParaRPr>
          </a:p>
          <a:p>
            <a:pPr lvl="1" algn="r" hangingPunct="0">
              <a:spcBef>
                <a:spcPts val="1415"/>
              </a:spcBef>
              <a:buNone/>
            </a:pPr>
            <a:r>
              <a:rPr lang="en-US" dirty="0">
                <a:highlight>
                  <a:scrgbClr r="0" g="0" b="0">
                    <a:alpha val="0"/>
                  </a:scrgbClr>
                </a:highlight>
                <a:latin typeface="Liberation Sans Narrow" pitchFamily="34"/>
                <a:ea typeface="微軟正黑體" pitchFamily="34"/>
                <a:cs typeface="Mangal" pitchFamily="2"/>
              </a:rPr>
              <a:t>Date</a:t>
            </a:r>
            <a:r>
              <a:rPr lang="zh-TW" dirty="0">
                <a:highlight>
                  <a:scrgbClr r="0" g="0" b="0">
                    <a:alpha val="0"/>
                  </a:scrgbClr>
                </a:highlight>
                <a:latin typeface="Liberation Sans Narrow" pitchFamily="34"/>
                <a:ea typeface="微軟正黑體" pitchFamily="34"/>
                <a:cs typeface="Mangal" pitchFamily="2"/>
              </a:rPr>
              <a:t>：</a:t>
            </a:r>
            <a:r>
              <a:rPr lang="en-US" altLang="zh-TW" dirty="0">
                <a:highlight>
                  <a:scrgbClr r="0" g="0" b="0">
                    <a:alpha val="0"/>
                  </a:scrgbClr>
                </a:highlight>
                <a:latin typeface="Liberation Sans Narrow" pitchFamily="34"/>
                <a:ea typeface="微軟正黑體" pitchFamily="34"/>
                <a:cs typeface="Mangal" pitchFamily="2"/>
              </a:rPr>
              <a:t>2017</a:t>
            </a:r>
            <a:r>
              <a:rPr lang="en-US" dirty="0">
                <a:highlight>
                  <a:scrgbClr r="0" g="0" b="0">
                    <a:alpha val="0"/>
                  </a:scrgbClr>
                </a:highlight>
                <a:latin typeface="Liberation Sans Narrow" pitchFamily="34"/>
                <a:ea typeface="微軟正黑體" pitchFamily="34"/>
                <a:cs typeface="Mangal" pitchFamily="2"/>
              </a:rPr>
              <a:t>/09/20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Abstract (1/2)</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660183"/>
            <a:ext cx="9071643" cy="5639398"/>
          </a:xfrm>
        </p:spPr>
        <p:txBody>
          <a:bodyPr/>
          <a:lstStyle/>
          <a:p>
            <a:r>
              <a:rPr lang="en-US" altLang="zh-TW" dirty="0">
                <a:latin typeface="Cambria Math" panose="02040503050406030204" pitchFamily="18" charset="0"/>
                <a:ea typeface="Cambria Math" panose="02040503050406030204" pitchFamily="18" charset="0"/>
              </a:rPr>
              <a:t>In this paper, we propose saliency driven image multi-scale nonlinear diffusion filtering. The resulting scale space in general preserves or even enhances semantically important structures such as edges, lines, or flow like structures in the foreground, and inhibits and smooths clutter in the background. The image is classified using multi-scale information fusion based on the original image, the image at the final scale at which the diffusion process converges, and the image at a mid-scale. </a:t>
            </a:r>
            <a:endParaRPr lang="en-US" altLang="zh-TW" sz="3100" dirty="0">
              <a:latin typeface="Cambria Math" panose="02040503050406030204" pitchFamily="18" charset="0"/>
              <a:ea typeface="Cambria Math" panose="02040503050406030204"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2</a:t>
            </a:fld>
            <a:endParaRPr lang="zh-TW" altLang="en-US" dirty="0"/>
          </a:p>
        </p:txBody>
      </p:sp>
    </p:spTree>
    <p:extLst>
      <p:ext uri="{BB962C8B-B14F-4D97-AF65-F5344CB8AC3E}">
        <p14:creationId xmlns:p14="http://schemas.microsoft.com/office/powerpoint/2010/main" val="1141205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Abstract (2/2)</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660183"/>
            <a:ext cx="9071643" cy="5748258"/>
          </a:xfrm>
        </p:spPr>
        <p:txBody>
          <a:bodyPr/>
          <a:lstStyle/>
          <a:p>
            <a:r>
              <a:rPr lang="en-US" altLang="zh-TW" dirty="0">
                <a:latin typeface="Cambria Math" panose="02040503050406030204" pitchFamily="18" charset="0"/>
                <a:ea typeface="Cambria Math" panose="02040503050406030204" pitchFamily="18" charset="0"/>
              </a:rPr>
              <a:t>Our algorithm emphasizes the foreground features which are important for image classification. The background image regions, whether considered as contexts of the foreground or noise to the foreground, can be globally handled by fusing information from different scales. Experimental tests of the effectiveness of the multi-scale space for image classification are conducted on the following publicly available datasets: the PASCAL 2005 dataset, the Oxford 102 flowers dataset, and the Oxford 17 flowers dataset, with high classification rates.</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3</a:t>
            </a:fld>
            <a:endParaRPr lang="zh-TW" altLang="en-US" dirty="0"/>
          </a:p>
        </p:txBody>
      </p:sp>
    </p:spTree>
    <p:extLst>
      <p:ext uri="{BB962C8B-B14F-4D97-AF65-F5344CB8AC3E}">
        <p14:creationId xmlns:p14="http://schemas.microsoft.com/office/powerpoint/2010/main" val="1030784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Saliency driven diffusion filtering</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660183"/>
            <a:ext cx="9071643" cy="5748258"/>
          </a:xfrm>
        </p:spPr>
        <p:txBody>
          <a:bodyPr/>
          <a:lstStyle/>
          <a:p>
            <a:pPr marL="457200" indent="-457200">
              <a:buFont typeface="Arial" panose="020B0604020202020204" pitchFamily="34" charset="0"/>
              <a:buChar char="•"/>
            </a:pPr>
            <a:endParaRPr lang="en-US" altLang="zh-TW" sz="2800" dirty="0">
              <a:latin typeface="Cambria Math" panose="02040503050406030204" pitchFamily="18" charset="0"/>
              <a:ea typeface="Cambria Math" panose="02040503050406030204" pitchFamily="18"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4</a:t>
            </a:fld>
            <a:endParaRPr lang="zh-TW" altLang="en-US" dirty="0"/>
          </a:p>
        </p:txBody>
      </p:sp>
      <p:pic>
        <p:nvPicPr>
          <p:cNvPr id="5" name="圖片 4"/>
          <p:cNvPicPr>
            <a:picLocks noChangeAspect="1"/>
          </p:cNvPicPr>
          <p:nvPr/>
        </p:nvPicPr>
        <p:blipFill>
          <a:blip r:embed="rId2"/>
          <a:stretch>
            <a:fillRect/>
          </a:stretch>
        </p:blipFill>
        <p:spPr>
          <a:xfrm>
            <a:off x="-494" y="3120974"/>
            <a:ext cx="10080625" cy="2305395"/>
          </a:xfrm>
          <a:prstGeom prst="rect">
            <a:avLst/>
          </a:prstGeom>
        </p:spPr>
      </p:pic>
    </p:spTree>
    <p:extLst>
      <p:ext uri="{BB962C8B-B14F-4D97-AF65-F5344CB8AC3E}">
        <p14:creationId xmlns:p14="http://schemas.microsoft.com/office/powerpoint/2010/main" val="1707129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Nonlinear diffusion</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660183"/>
            <a:ext cx="9071643" cy="5748258"/>
          </a:xfrm>
        </p:spPr>
        <p:txBody>
          <a:bodyPr/>
          <a:lstStyle/>
          <a:p>
            <a:pPr marL="457200" indent="-457200">
              <a:buFont typeface="Arial" panose="020B0604020202020204" pitchFamily="34" charset="0"/>
              <a:buChar char="•"/>
            </a:pPr>
            <a:r>
              <a:rPr lang="en-US" altLang="zh-TW" dirty="0">
                <a:latin typeface="Cambria Math" panose="02040503050406030204" pitchFamily="18" charset="0"/>
                <a:ea typeface="Cambria Math" panose="02040503050406030204" pitchFamily="18" charset="0"/>
              </a:rPr>
              <a:t>The motivation of nonlinear diffusion is that we want to smooth the image with different weights.</a:t>
            </a:r>
          </a:p>
          <a:p>
            <a:pPr marL="457200" indent="-457200">
              <a:buFont typeface="Arial" panose="020B0604020202020204" pitchFamily="34" charset="0"/>
              <a:buChar char="•"/>
            </a:pPr>
            <a:r>
              <a:rPr lang="en-US" altLang="zh-TW" dirty="0">
                <a:latin typeface="Cambria Math" panose="02040503050406030204" pitchFamily="18" charset="0"/>
                <a:ea typeface="Cambria Math" panose="02040503050406030204" pitchFamily="18" charset="0"/>
              </a:rPr>
              <a:t>We use smoothed image to smooth image again. Because the unimportant structure was smoothed and didn’t affect the result of smoothing.</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5</a:t>
            </a:fld>
            <a:endParaRPr lang="zh-TW" altLang="en-US" dirty="0"/>
          </a:p>
        </p:txBody>
      </p:sp>
      <p:grpSp>
        <p:nvGrpSpPr>
          <p:cNvPr id="8" name="群組 7"/>
          <p:cNvGrpSpPr/>
          <p:nvPr/>
        </p:nvGrpSpPr>
        <p:grpSpPr>
          <a:xfrm>
            <a:off x="2843437" y="4850489"/>
            <a:ext cx="4918077" cy="2341104"/>
            <a:chOff x="3300637" y="4385355"/>
            <a:chExt cx="5757477" cy="2740675"/>
          </a:xfrm>
        </p:grpSpPr>
        <p:pic>
          <p:nvPicPr>
            <p:cNvPr id="5" name="圖片 4"/>
            <p:cNvPicPr>
              <a:picLocks noChangeAspect="1"/>
            </p:cNvPicPr>
            <p:nvPr/>
          </p:nvPicPr>
          <p:blipFill>
            <a:blip r:embed="rId2"/>
            <a:stretch>
              <a:fillRect/>
            </a:stretch>
          </p:blipFill>
          <p:spPr>
            <a:xfrm>
              <a:off x="3300637" y="4391283"/>
              <a:ext cx="2740934" cy="2734747"/>
            </a:xfrm>
            <a:prstGeom prst="rect">
              <a:avLst/>
            </a:prstGeom>
          </p:spPr>
        </p:pic>
        <p:pic>
          <p:nvPicPr>
            <p:cNvPr id="6" name="圖片 5"/>
            <p:cNvPicPr>
              <a:picLocks noChangeAspect="1"/>
            </p:cNvPicPr>
            <p:nvPr/>
          </p:nvPicPr>
          <p:blipFill>
            <a:blip r:embed="rId3"/>
            <a:stretch>
              <a:fillRect/>
            </a:stretch>
          </p:blipFill>
          <p:spPr>
            <a:xfrm>
              <a:off x="6305094" y="4385355"/>
              <a:ext cx="2753020" cy="2740675"/>
            </a:xfrm>
            <a:prstGeom prst="rect">
              <a:avLst/>
            </a:prstGeom>
          </p:spPr>
        </p:pic>
      </p:grpSp>
      <p:sp>
        <p:nvSpPr>
          <p:cNvPr id="7" name="文字方塊 6"/>
          <p:cNvSpPr txBox="1"/>
          <p:nvPr/>
        </p:nvSpPr>
        <p:spPr>
          <a:xfrm>
            <a:off x="1903937" y="7247084"/>
            <a:ext cx="7011856" cy="246221"/>
          </a:xfrm>
          <a:prstGeom prst="rect">
            <a:avLst/>
          </a:prstGeom>
          <a:noFill/>
        </p:spPr>
        <p:txBody>
          <a:bodyPr wrap="none" rtlCol="0">
            <a:spAutoFit/>
          </a:bodyPr>
          <a:lstStyle/>
          <a:p>
            <a:r>
              <a:rPr lang="en-US" altLang="zh-TW" sz="1000" dirty="0"/>
              <a:t>Reference: </a:t>
            </a:r>
            <a:r>
              <a:rPr lang="en-US" altLang="zh-TW" sz="1000" dirty="0"/>
              <a:t>http://webfiles.portal.chalmers.se/s2/undergraduate/SSY095/PDFdocuments/ForScreen/Notes/NonLinearDiffusion.pdf</a:t>
            </a:r>
            <a:endParaRPr lang="zh-TW" altLang="en-US" sz="1000" dirty="0"/>
          </a:p>
        </p:txBody>
      </p:sp>
    </p:spTree>
    <p:extLst>
      <p:ext uri="{BB962C8B-B14F-4D97-AF65-F5344CB8AC3E}">
        <p14:creationId xmlns:p14="http://schemas.microsoft.com/office/powerpoint/2010/main" val="2696414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Nonlinear diffusion</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503998" y="1660183"/>
                <a:ext cx="9071643" cy="5748258"/>
              </a:xfrm>
            </p:spPr>
            <p:txBody>
              <a:bodyPr/>
              <a:lstStyle/>
              <a:p>
                <a:pPr algn="ctr"/>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ea typeface="Cambria Math" panose="02040503050406030204" pitchFamily="18" charset="0"/>
                        </a:rPr>
                        <m:t>𝐷</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𝑔</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𝑢</m:t>
                          </m:r>
                        </m:e>
                      </m:d>
                      <m:r>
                        <a:rPr lang="en-US" altLang="zh-TW" b="0" i="1" smtClean="0">
                          <a:latin typeface="Cambria Math" panose="02040503050406030204" pitchFamily="18" charset="0"/>
                          <a:ea typeface="Cambria Math" panose="02040503050406030204" pitchFamily="18" charset="0"/>
                        </a:rPr>
                        <m:t>=</m:t>
                      </m:r>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1</m:t>
                          </m:r>
                        </m:num>
                        <m:den>
                          <m:r>
                            <a:rPr lang="en-US" altLang="zh-TW" b="0" i="1" smtClean="0">
                              <a:latin typeface="Cambria Math" panose="02040503050406030204" pitchFamily="18" charset="0"/>
                              <a:ea typeface="Cambria Math" panose="02040503050406030204" pitchFamily="18" charset="0"/>
                            </a:rPr>
                            <m:t>1+</m:t>
                          </m:r>
                          <m:f>
                            <m:fPr>
                              <m:ctrlPr>
                                <a:rPr lang="en-US" altLang="zh-TW" b="0" i="1" smtClean="0">
                                  <a:latin typeface="Cambria Math" panose="02040503050406030204" pitchFamily="18" charset="0"/>
                                  <a:ea typeface="Cambria Math" panose="02040503050406030204" pitchFamily="18" charset="0"/>
                                </a:rPr>
                              </m:ctrlPr>
                            </m:fPr>
                            <m:num>
                              <m:sSup>
                                <m:sSupPr>
                                  <m:ctrlPr>
                                    <a:rPr lang="en-US" altLang="zh-TW" b="0" i="1" smtClean="0">
                                      <a:latin typeface="Cambria Math" panose="02040503050406030204" pitchFamily="18" charset="0"/>
                                      <a:ea typeface="Cambria Math" panose="02040503050406030204" pitchFamily="18" charset="0"/>
                                    </a:rPr>
                                  </m:ctrlPr>
                                </m:sSupPr>
                                <m:e>
                                  <m:d>
                                    <m:dPr>
                                      <m:begChr m:val="|"/>
                                      <m:endChr m:val="|"/>
                                      <m:ctrlPr>
                                        <a:rPr lang="en-US" altLang="zh-TW" b="0" i="1" smtClean="0">
                                          <a:latin typeface="Cambria Math" panose="02040503050406030204" pitchFamily="18" charset="0"/>
                                          <a:ea typeface="Cambria Math" panose="02040503050406030204" pitchFamily="18" charset="0"/>
                                        </a:rPr>
                                      </m:ctrlPr>
                                    </m:dPr>
                                    <m:e>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𝑢</m:t>
                                          </m:r>
                                        </m:e>
                                      </m:d>
                                    </m:e>
                                  </m:d>
                                </m:e>
                                <m:sup>
                                  <m:r>
                                    <a:rPr lang="en-US" altLang="zh-TW" b="0" i="1" smtClean="0">
                                      <a:latin typeface="Cambria Math" panose="02040503050406030204" pitchFamily="18" charset="0"/>
                                      <a:ea typeface="Cambria Math" panose="02040503050406030204" pitchFamily="18" charset="0"/>
                                    </a:rPr>
                                    <m:t>2</m:t>
                                  </m:r>
                                </m:sup>
                              </m:sSup>
                            </m:num>
                            <m:den>
                              <m:r>
                                <a:rPr lang="en-US" altLang="zh-TW" b="0" i="1" smtClean="0">
                                  <a:latin typeface="Cambria Math" panose="02040503050406030204" pitchFamily="18" charset="0"/>
                                  <a:ea typeface="Cambria Math" panose="02040503050406030204" pitchFamily="18" charset="0"/>
                                </a:rPr>
                                <m:t>𝜆</m:t>
                              </m:r>
                            </m:den>
                          </m:f>
                        </m:den>
                      </m:f>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𝜆</m:t>
                          </m:r>
                          <m:r>
                            <a:rPr lang="en-US" altLang="zh-TW" b="0" i="1" smtClean="0">
                              <a:latin typeface="Cambria Math" panose="02040503050406030204" pitchFamily="18" charset="0"/>
                              <a:ea typeface="Cambria Math" panose="02040503050406030204" pitchFamily="18" charset="0"/>
                            </a:rPr>
                            <m:t>&gt;0</m:t>
                          </m:r>
                        </m:e>
                      </m:d>
                    </m:oMath>
                  </m:oMathPara>
                </a14:m>
                <a:endParaRPr lang="en-US" altLang="zh-TW" b="0" dirty="0">
                  <a:latin typeface="Cambria Math" panose="02040503050406030204" pitchFamily="18" charset="0"/>
                  <a:ea typeface="Cambria Math" panose="02040503050406030204" pitchFamily="18" charset="0"/>
                </a:endParaRPr>
              </a:p>
              <a:p>
                <a:r>
                  <a:rPr lang="en-US" altLang="zh-TW" dirty="0">
                    <a:latin typeface="Cambria Math" panose="02040503050406030204" pitchFamily="18" charset="0"/>
                    <a:ea typeface="Cambria Math" panose="02040503050406030204" pitchFamily="18" charset="0"/>
                  </a:rPr>
                  <a:t>	where </a:t>
                </a:r>
                <a14:m>
                  <m:oMath xmlns:m="http://schemas.openxmlformats.org/officeDocument/2006/math">
                    <m:r>
                      <a:rPr lang="en-US" altLang="zh-TW" b="0" i="0" smtClean="0">
                        <a:latin typeface="Cambria Math" panose="02040503050406030204" pitchFamily="18" charset="0"/>
                        <a:ea typeface="Cambria Math" panose="02040503050406030204" pitchFamily="18" charset="0"/>
                      </a:rPr>
                      <m:t>∇</m:t>
                    </m:r>
                  </m:oMath>
                </a14:m>
                <a:r>
                  <a:rPr lang="en-US" altLang="zh-TW" b="0" dirty="0">
                    <a:latin typeface="Cambria Math" panose="02040503050406030204" pitchFamily="18" charset="0"/>
                    <a:ea typeface="Cambria Math" panose="02040503050406030204" pitchFamily="18" charset="0"/>
                  </a:rPr>
                  <a:t> is the </a:t>
                </a:r>
                <a:r>
                  <a:rPr lang="en-US" altLang="zh-TW" dirty="0">
                    <a:latin typeface="Cambria Math" panose="02040503050406030204" pitchFamily="18" charset="0"/>
                    <a:ea typeface="Cambria Math" panose="02040503050406030204" pitchFamily="18" charset="0"/>
                  </a:rPr>
                  <a:t>gradient operator</a:t>
                </a:r>
                <a:r>
                  <a:rPr lang="en-US" altLang="zh-TW" b="0" dirty="0">
                    <a:latin typeface="Cambria Math" panose="02040503050406030204" pitchFamily="18" charset="0"/>
                    <a:ea typeface="Cambria Math" panose="02040503050406030204" pitchFamily="18" charset="0"/>
                  </a:rPr>
                  <a:t>: </a:t>
                </a:r>
                <a14:m>
                  <m:oMath xmlns:m="http://schemas.openxmlformats.org/officeDocument/2006/math">
                    <m:r>
                      <a:rPr lang="en-US" altLang="zh-TW" b="0" i="0"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m:t>
                    </m:r>
                    <m:d>
                      <m:dPr>
                        <m:ctrlPr>
                          <a:rPr lang="en-US" altLang="zh-TW" b="0" i="1" smtClean="0">
                            <a:latin typeface="Cambria Math" panose="02040503050406030204" pitchFamily="18" charset="0"/>
                            <a:ea typeface="Cambria Math" panose="02040503050406030204" pitchFamily="18" charset="0"/>
                          </a:rPr>
                        </m:ctrlPr>
                      </m:dPr>
                      <m:e>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m:t>
                            </m:r>
                          </m:num>
                          <m:den>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𝑥</m:t>
                            </m:r>
                          </m:den>
                        </m:f>
                        <m:r>
                          <a:rPr lang="en-US" altLang="zh-TW" b="0" i="1" smtClean="0">
                            <a:latin typeface="Cambria Math" panose="02040503050406030204" pitchFamily="18" charset="0"/>
                            <a:ea typeface="Cambria Math" panose="02040503050406030204" pitchFamily="18" charset="0"/>
                          </a:rPr>
                          <m:t>,</m:t>
                        </m:r>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m:t>
                            </m:r>
                          </m:num>
                          <m:den>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𝑦</m:t>
                            </m:r>
                          </m:den>
                        </m:f>
                      </m:e>
                    </m:d>
                  </m:oMath>
                </a14:m>
                <a:endParaRPr lang="en-US" altLang="zh-TW" b="0" dirty="0">
                  <a:latin typeface="Cambria Math" panose="02040503050406030204" pitchFamily="18" charset="0"/>
                  <a:ea typeface="Cambria Math" panose="02040503050406030204" pitchFamily="18" charset="0"/>
                </a:endParaRPr>
              </a:p>
              <a:p>
                <a:pPr>
                  <a:spcBef>
                    <a:spcPts val="1800"/>
                  </a:spcBef>
                </a:pPr>
                <a14:m>
                  <m:oMathPara xmlns:m="http://schemas.openxmlformats.org/officeDocument/2006/math">
                    <m:oMathParaPr>
                      <m:jc m:val="centerGroup"/>
                    </m:oMathParaPr>
                    <m:oMath xmlns:m="http://schemas.openxmlformats.org/officeDocument/2006/math">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m:t>
                          </m:r>
                        </m:e>
                        <m:sub>
                          <m:r>
                            <a:rPr lang="en-US" altLang="zh-TW" b="0" i="1" smtClean="0">
                              <a:latin typeface="Cambria Math" panose="02040503050406030204" pitchFamily="18" charset="0"/>
                              <a:ea typeface="Cambria Math" panose="02040503050406030204" pitchFamily="18" charset="0"/>
                            </a:rPr>
                            <m:t>𝑡</m:t>
                          </m:r>
                        </m:sub>
                      </m:sSub>
                      <m:r>
                        <a:rPr lang="en-US" altLang="zh-TW" b="0" i="1" smtClean="0">
                          <a:latin typeface="Cambria Math" panose="02040503050406030204" pitchFamily="18" charset="0"/>
                          <a:ea typeface="Cambria Math" panose="02040503050406030204" pitchFamily="18" charset="0"/>
                        </a:rPr>
                        <m:t>𝑢</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𝑑𝑖𝑣</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𝐷</m:t>
                          </m:r>
                          <m:r>
                            <a:rPr lang="en-US" altLang="zh-TW" b="0" i="0"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𝑢</m:t>
                          </m:r>
                        </m:e>
                      </m:d>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𝑑𝑖𝑣</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𝑔</m:t>
                      </m:r>
                      <m:d>
                        <m:dPr>
                          <m:ctrlPr>
                            <a:rPr lang="en-US" altLang="zh-TW" b="0" i="1" smtClean="0">
                              <a:latin typeface="Cambria Math" panose="02040503050406030204" pitchFamily="18" charset="0"/>
                              <a:ea typeface="Cambria Math" panose="02040503050406030204" pitchFamily="18" charset="0"/>
                            </a:rPr>
                          </m:ctrlPr>
                        </m:dPr>
                        <m:e>
                          <m:r>
                            <a:rPr lang="en-US" altLang="zh-TW" b="0" i="0"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𝑢</m:t>
                          </m:r>
                        </m:e>
                      </m:d>
                      <m:r>
                        <a:rPr lang="en-US" altLang="zh-TW" b="0" i="0" smtClean="0">
                          <a:latin typeface="Cambria Math" panose="02040503050406030204" pitchFamily="18" charset="0"/>
                          <a:ea typeface="Cambria Math" panose="02040503050406030204" pitchFamily="18" charset="0"/>
                        </a:rPr>
                        <m:t>∇</m:t>
                      </m:r>
                      <m:r>
                        <m:rPr>
                          <m:sty m:val="p"/>
                        </m:rPr>
                        <a:rPr lang="en-US" altLang="zh-TW" b="0" i="0" smtClean="0">
                          <a:latin typeface="Cambria Math" panose="02040503050406030204" pitchFamily="18" charset="0"/>
                          <a:ea typeface="Cambria Math" panose="02040503050406030204" pitchFamily="18" charset="0"/>
                        </a:rPr>
                        <m:t>u</m:t>
                      </m:r>
                      <m:r>
                        <a:rPr lang="en-US" altLang="zh-TW" b="0" i="0" smtClean="0">
                          <a:latin typeface="Cambria Math" panose="02040503050406030204" pitchFamily="18" charset="0"/>
                          <a:ea typeface="Cambria Math" panose="02040503050406030204" pitchFamily="18" charset="0"/>
                        </a:rPr>
                        <m:t>)</m:t>
                      </m:r>
                    </m:oMath>
                  </m:oMathPara>
                </a14:m>
                <a:endParaRPr lang="en-US" altLang="zh-TW" dirty="0">
                  <a:latin typeface="Cambria Math" panose="02040503050406030204" pitchFamily="18" charset="0"/>
                  <a:ea typeface="Cambria Math" panose="02040503050406030204" pitchFamily="18" charset="0"/>
                </a:endParaRPr>
              </a:p>
              <a:p>
                <a:r>
                  <a:rPr lang="en-US" altLang="zh-TW" dirty="0">
                    <a:latin typeface="Cambria Math" panose="02040503050406030204" pitchFamily="18" charset="0"/>
                    <a:ea typeface="Cambria Math" panose="02040503050406030204" pitchFamily="18" charset="0"/>
                  </a:rPr>
                  <a:t>	where </a:t>
                </a:r>
                <a14:m>
                  <m:oMath xmlns:m="http://schemas.openxmlformats.org/officeDocument/2006/math">
                    <m:r>
                      <a:rPr lang="en-US" altLang="zh-TW" b="0" i="1" smtClean="0">
                        <a:latin typeface="Cambria Math" panose="02040503050406030204" pitchFamily="18" charset="0"/>
                        <a:ea typeface="Cambria Math" panose="02040503050406030204" pitchFamily="18" charset="0"/>
                      </a:rPr>
                      <m:t>𝑑𝑖𝑣</m:t>
                    </m:r>
                  </m:oMath>
                </a14:m>
                <a:r>
                  <a:rPr lang="en-US" altLang="zh-TW" dirty="0">
                    <a:latin typeface="Cambria Math" panose="02040503050406030204" pitchFamily="18" charset="0"/>
                    <a:ea typeface="Cambria Math" panose="02040503050406030204" pitchFamily="18" charset="0"/>
                  </a:rPr>
                  <a:t> is the divergence operator: </a:t>
                </a:r>
                <a:endParaRPr lang="en-US" altLang="zh-TW" b="0" i="1" dirty="0">
                  <a:latin typeface="Cambria Math" panose="02040503050406030204" pitchFamily="18" charset="0"/>
                  <a:ea typeface="Cambria Math" panose="02040503050406030204" pitchFamily="18" charset="0"/>
                </a:endParaRPr>
              </a:p>
              <a:p>
                <a14:m>
                  <m:oMathPara xmlns:m="http://schemas.openxmlformats.org/officeDocument/2006/math">
                    <m:oMathParaPr>
                      <m:jc m:val="centerGroup"/>
                    </m:oMathParaPr>
                    <m:oMath xmlns:m="http://schemas.openxmlformats.org/officeDocument/2006/math">
                      <m:r>
                        <a:rPr lang="en-US" altLang="zh-TW" b="0" i="1" smtClean="0">
                          <a:latin typeface="Cambria Math" panose="02040503050406030204" pitchFamily="18" charset="0"/>
                          <a:ea typeface="Cambria Math" panose="02040503050406030204" pitchFamily="18" charset="0"/>
                        </a:rPr>
                        <m:t>𝑑𝑖𝑣</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𝑗</m:t>
                          </m:r>
                        </m:e>
                      </m:d>
                      <m:r>
                        <a:rPr lang="en-US" altLang="zh-TW" b="0" i="1" smtClean="0">
                          <a:latin typeface="Cambria Math" panose="02040503050406030204" pitchFamily="18" charset="0"/>
                          <a:ea typeface="Cambria Math" panose="02040503050406030204" pitchFamily="18" charset="0"/>
                        </a:rPr>
                        <m:t>=</m:t>
                      </m:r>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𝑗</m:t>
                          </m:r>
                        </m:num>
                        <m:den>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𝑥</m:t>
                          </m:r>
                        </m:den>
                      </m:f>
                      <m:r>
                        <a:rPr lang="en-US" altLang="zh-TW" b="0" i="1" smtClean="0">
                          <a:latin typeface="Cambria Math" panose="02040503050406030204" pitchFamily="18" charset="0"/>
                          <a:ea typeface="Cambria Math" panose="02040503050406030204" pitchFamily="18" charset="0"/>
                        </a:rPr>
                        <m:t>+</m:t>
                      </m:r>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𝑗</m:t>
                          </m:r>
                        </m:num>
                        <m:den>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𝑦</m:t>
                          </m:r>
                        </m:den>
                      </m:f>
                    </m:oMath>
                  </m:oMathPara>
                </a14:m>
                <a:endParaRPr lang="en-US" altLang="zh-TW" dirty="0">
                  <a:latin typeface="Cambria Math" panose="02040503050406030204" pitchFamily="18" charset="0"/>
                  <a:ea typeface="Cambria Math" panose="020405030504060302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503998" y="1660183"/>
                <a:ext cx="9071643" cy="5748258"/>
              </a:xfrm>
              <a:blipFill>
                <a:blip r:embed="rId2"/>
                <a:stretch>
                  <a:fillRect l="-2755"/>
                </a:stretch>
              </a:blipFill>
            </p:spPr>
            <p:txBody>
              <a:bodyPr/>
              <a:lstStyle/>
              <a:p>
                <a:r>
                  <a:rPr lang="zh-TW" altLang="en-US">
                    <a:noFill/>
                  </a:rPr>
                  <a:t> </a:t>
                </a:r>
              </a:p>
            </p:txBody>
          </p:sp>
        </mc:Fallback>
      </mc:AlternateContent>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6</a:t>
            </a:fld>
            <a:endParaRPr lang="zh-TW" altLang="en-US" dirty="0"/>
          </a:p>
        </p:txBody>
      </p:sp>
    </p:spTree>
    <p:extLst>
      <p:ext uri="{BB962C8B-B14F-4D97-AF65-F5344CB8AC3E}">
        <p14:creationId xmlns:p14="http://schemas.microsoft.com/office/powerpoint/2010/main" val="1969075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Saliency</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660183"/>
            <a:ext cx="9071643" cy="5748258"/>
          </a:xfrm>
        </p:spPr>
        <p:txBody>
          <a:bodyPr/>
          <a:lstStyle/>
          <a:p>
            <a:pPr marL="457200" indent="-457200">
              <a:buFont typeface="Arial" panose="020B0604020202020204" pitchFamily="34" charset="0"/>
              <a:buChar char="•"/>
            </a:pPr>
            <a:r>
              <a:rPr lang="en-US" altLang="zh-TW" dirty="0">
                <a:latin typeface="Cambria Math" panose="02040503050406030204" pitchFamily="18" charset="0"/>
                <a:ea typeface="Cambria Math" panose="02040503050406030204" pitchFamily="18" charset="0"/>
              </a:rPr>
              <a:t>What is saliency?</a:t>
            </a:r>
          </a:p>
          <a:p>
            <a:pPr marL="1028700" lvl="1" indent="-342900">
              <a:buFont typeface="Wingdings" panose="05000000000000000000" pitchFamily="2" charset="2"/>
              <a:buChar char="ü"/>
            </a:pPr>
            <a:r>
              <a:rPr lang="en-US" altLang="zh-TW" sz="2800" dirty="0">
                <a:latin typeface="Cambria Math" panose="02040503050406030204" pitchFamily="18" charset="0"/>
                <a:ea typeface="Cambria Math" panose="02040503050406030204" pitchFamily="18" charset="0"/>
              </a:rPr>
              <a:t>Something stands out more than others.</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7</a:t>
            </a:fld>
            <a:endParaRPr lang="zh-TW" altLang="en-US" dirty="0"/>
          </a:p>
        </p:txBody>
      </p:sp>
      <p:pic>
        <p:nvPicPr>
          <p:cNvPr id="5" name="圖片 4"/>
          <p:cNvPicPr>
            <a:picLocks noChangeAspect="1"/>
          </p:cNvPicPr>
          <p:nvPr/>
        </p:nvPicPr>
        <p:blipFill>
          <a:blip r:embed="rId2"/>
          <a:stretch>
            <a:fillRect/>
          </a:stretch>
        </p:blipFill>
        <p:spPr>
          <a:xfrm>
            <a:off x="503998" y="4043094"/>
            <a:ext cx="2895600" cy="2114550"/>
          </a:xfrm>
          <a:prstGeom prst="rect">
            <a:avLst/>
          </a:prstGeom>
        </p:spPr>
      </p:pic>
      <p:pic>
        <p:nvPicPr>
          <p:cNvPr id="6" name="圖片 5"/>
          <p:cNvPicPr>
            <a:picLocks noChangeAspect="1"/>
          </p:cNvPicPr>
          <p:nvPr/>
        </p:nvPicPr>
        <p:blipFill>
          <a:blip r:embed="rId3"/>
          <a:stretch>
            <a:fillRect/>
          </a:stretch>
        </p:blipFill>
        <p:spPr>
          <a:xfrm>
            <a:off x="3811640" y="3576369"/>
            <a:ext cx="2343150" cy="3048000"/>
          </a:xfrm>
          <a:prstGeom prst="rect">
            <a:avLst/>
          </a:prstGeom>
        </p:spPr>
      </p:pic>
      <p:pic>
        <p:nvPicPr>
          <p:cNvPr id="7" name="圖片 6"/>
          <p:cNvPicPr>
            <a:picLocks noChangeAspect="1"/>
          </p:cNvPicPr>
          <p:nvPr/>
        </p:nvPicPr>
        <p:blipFill>
          <a:blip r:embed="rId4"/>
          <a:stretch>
            <a:fillRect/>
          </a:stretch>
        </p:blipFill>
        <p:spPr>
          <a:xfrm>
            <a:off x="6566832" y="4224069"/>
            <a:ext cx="3048000" cy="1933575"/>
          </a:xfrm>
          <a:prstGeom prst="rect">
            <a:avLst/>
          </a:prstGeom>
        </p:spPr>
      </p:pic>
    </p:spTree>
    <p:extLst>
      <p:ext uri="{BB962C8B-B14F-4D97-AF65-F5344CB8AC3E}">
        <p14:creationId xmlns:p14="http://schemas.microsoft.com/office/powerpoint/2010/main" val="2141438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Saliency detection</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3" name="內容版面配置區 2"/>
          <p:cNvSpPr>
            <a:spLocks noGrp="1"/>
          </p:cNvSpPr>
          <p:nvPr>
            <p:ph idx="1"/>
          </p:nvPr>
        </p:nvSpPr>
        <p:spPr>
          <a:xfrm>
            <a:off x="503998" y="1660183"/>
            <a:ext cx="9071643" cy="5748258"/>
          </a:xfrm>
        </p:spPr>
        <p:txBody>
          <a:bodyPr/>
          <a:lstStyle/>
          <a:p>
            <a:pPr marL="457200" indent="-457200">
              <a:buFont typeface="Arial" panose="020B0604020202020204" pitchFamily="34" charset="0"/>
              <a:buChar char="•"/>
            </a:pPr>
            <a:r>
              <a:rPr lang="en-US" altLang="zh-TW" dirty="0" err="1">
                <a:latin typeface="Cambria Math" panose="02040503050406030204" pitchFamily="18" charset="0"/>
                <a:ea typeface="Cambria Math" panose="02040503050406030204" pitchFamily="18" charset="0"/>
              </a:rPr>
              <a:t>Goferman’s</a:t>
            </a:r>
            <a:r>
              <a:rPr lang="en-US" altLang="zh-TW" dirty="0">
                <a:latin typeface="Cambria Math" panose="02040503050406030204" pitchFamily="18" charset="0"/>
                <a:ea typeface="Cambria Math" panose="02040503050406030204" pitchFamily="18" charset="0"/>
              </a:rPr>
              <a:t> method: produces high values of saliency at the edges of an object but lower saliency within the object.</a:t>
            </a:r>
          </a:p>
          <a:p>
            <a:pPr marL="457200" indent="-457200">
              <a:buFont typeface="Arial" panose="020B0604020202020204" pitchFamily="34" charset="0"/>
              <a:buChar char="•"/>
            </a:pPr>
            <a:r>
              <a:rPr lang="en-US" altLang="zh-TW" dirty="0">
                <a:latin typeface="Cambria Math" panose="02040503050406030204" pitchFamily="18" charset="0"/>
                <a:ea typeface="Cambria Math" panose="02040503050406030204" pitchFamily="18" charset="0"/>
              </a:rPr>
              <a:t>Cheng’s method separates a large object from its surroundings, and enables the assignment of similar saliency values to homogenous object regions, and highlights entire objects.</a:t>
            </a: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8</a:t>
            </a:fld>
            <a:endParaRPr lang="zh-TW" altLang="en-US" dirty="0"/>
          </a:p>
        </p:txBody>
      </p:sp>
      <p:pic>
        <p:nvPicPr>
          <p:cNvPr id="8" name="圖片 7"/>
          <p:cNvPicPr>
            <a:picLocks noChangeAspect="1"/>
          </p:cNvPicPr>
          <p:nvPr/>
        </p:nvPicPr>
        <p:blipFill>
          <a:blip r:embed="rId3"/>
          <a:stretch>
            <a:fillRect/>
          </a:stretch>
        </p:blipFill>
        <p:spPr>
          <a:xfrm>
            <a:off x="54430" y="5334746"/>
            <a:ext cx="10080625" cy="1962924"/>
          </a:xfrm>
          <a:prstGeom prst="rect">
            <a:avLst/>
          </a:prstGeom>
        </p:spPr>
      </p:pic>
    </p:spTree>
    <p:extLst>
      <p:ext uri="{BB962C8B-B14F-4D97-AF65-F5344CB8AC3E}">
        <p14:creationId xmlns:p14="http://schemas.microsoft.com/office/powerpoint/2010/main" val="3448694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Saliency driven nonlinear diffusion</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503998" y="1660183"/>
                <a:ext cx="9071643" cy="5748258"/>
              </a:xfrm>
            </p:spPr>
            <p:txBody>
              <a:bodyPr/>
              <a:lstStyle/>
              <a:p>
                <a:pPr/>
                <a:endParaRPr lang="en-US" altLang="zh-TW"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
                    </m:oMathParaPr>
                    <m:oMath xmlns:m="http://schemas.openxmlformats.org/officeDocument/2006/math">
                      <m:d>
                        <m:dPr>
                          <m:begChr m:val="{"/>
                          <m:endChr m:val=""/>
                          <m:ctrlPr>
                            <a:rPr lang="en-US" altLang="zh-TW" b="0" i="1" smtClean="0">
                              <a:latin typeface="Cambria Math" panose="02040503050406030204" pitchFamily="18" charset="0"/>
                              <a:ea typeface="Cambria Math" panose="02040503050406030204" pitchFamily="18" charset="0"/>
                            </a:rPr>
                          </m:ctrlPr>
                        </m:dPr>
                        <m:e>
                          <m:eqArr>
                            <m:eqArrPr>
                              <m:ctrlPr>
                                <a:rPr lang="en-US" altLang="zh-TW" b="0" i="1" smtClean="0">
                                  <a:latin typeface="Cambria Math" panose="02040503050406030204" pitchFamily="18" charset="0"/>
                                  <a:ea typeface="Cambria Math" panose="02040503050406030204" pitchFamily="18" charset="0"/>
                                </a:rPr>
                              </m:ctrlPr>
                            </m:eqArrPr>
                            <m:e>
                              <m:r>
                                <a:rPr lang="en-US" altLang="zh-TW" b="0" i="1" smtClean="0">
                                  <a:latin typeface="Cambria Math" panose="02040503050406030204" pitchFamily="18" charset="0"/>
                                  <a:ea typeface="Cambria Math" panose="02040503050406030204" pitchFamily="18" charset="0"/>
                                </a:rPr>
                                <m:t>𝑢</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𝑥</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𝑦</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𝑡</m:t>
                                  </m:r>
                                </m:e>
                              </m:d>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𝑓</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𝑥</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𝑦</m:t>
                                  </m:r>
                                </m:e>
                              </m:d>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𝑖𝑓</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𝑡</m:t>
                              </m:r>
                              <m:r>
                                <a:rPr lang="en-US" altLang="zh-TW" b="0" i="1" smtClean="0">
                                  <a:latin typeface="Cambria Math" panose="02040503050406030204" pitchFamily="18" charset="0"/>
                                  <a:ea typeface="Cambria Math" panose="02040503050406030204" pitchFamily="18" charset="0"/>
                                </a:rPr>
                                <m:t>=0</m:t>
                              </m:r>
                            </m:e>
                            <m:e>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m:t>
                                  </m:r>
                                </m:e>
                                <m:sub>
                                  <m:r>
                                    <a:rPr lang="en-US" altLang="zh-TW" b="0" i="1" smtClean="0">
                                      <a:latin typeface="Cambria Math" panose="02040503050406030204" pitchFamily="18" charset="0"/>
                                      <a:ea typeface="Cambria Math" panose="02040503050406030204" pitchFamily="18" charset="0"/>
                                    </a:rPr>
                                    <m:t>𝑡</m:t>
                                  </m:r>
                                </m:sub>
                              </m:sSub>
                              <m:r>
                                <a:rPr lang="en-US" altLang="zh-TW" b="0" i="1" smtClean="0">
                                  <a:latin typeface="Cambria Math" panose="02040503050406030204" pitchFamily="18" charset="0"/>
                                  <a:ea typeface="Cambria Math" panose="02040503050406030204" pitchFamily="18" charset="0"/>
                                </a:rPr>
                                <m:t>𝑢</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𝑑𝑖𝑣</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𝑔</m:t>
                                  </m:r>
                                  <m:d>
                                    <m:dPr>
                                      <m:ctrlPr>
                                        <a:rPr lang="en-US" altLang="zh-TW" b="0" i="1" smtClean="0">
                                          <a:latin typeface="Cambria Math" panose="02040503050406030204" pitchFamily="18" charset="0"/>
                                          <a:ea typeface="Cambria Math" panose="02040503050406030204" pitchFamily="18" charset="0"/>
                                        </a:rPr>
                                      </m:ctrlPr>
                                    </m:dPr>
                                    <m:e>
                                      <m:r>
                                        <a:rPr lang="en-US" altLang="zh-TW" b="0" i="0"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𝑢</m:t>
                                      </m:r>
                                      <m:r>
                                        <a:rPr lang="en-US" altLang="zh-TW" b="0" i="1" smtClean="0">
                                          <a:latin typeface="Cambria Math" panose="02040503050406030204" pitchFamily="18" charset="0"/>
                                          <a:ea typeface="Cambria Math" panose="02040503050406030204" pitchFamily="18" charset="0"/>
                                        </a:rPr>
                                        <m:t>, </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𝐼</m:t>
                                          </m:r>
                                        </m:e>
                                        <m:sub>
                                          <m:r>
                                            <a:rPr lang="en-US" altLang="zh-TW" b="0" i="1" smtClean="0">
                                              <a:latin typeface="Cambria Math" panose="02040503050406030204" pitchFamily="18" charset="0"/>
                                              <a:ea typeface="Cambria Math" panose="02040503050406030204" pitchFamily="18" charset="0"/>
                                            </a:rPr>
                                            <m:t>𝑠</m:t>
                                          </m:r>
                                        </m:sub>
                                      </m:sSub>
                                    </m:e>
                                  </m:d>
                                  <m:r>
                                    <a:rPr lang="en-US" altLang="zh-TW" b="0" i="0" smtClean="0">
                                      <a:latin typeface="Cambria Math" panose="02040503050406030204" pitchFamily="18" charset="0"/>
                                      <a:ea typeface="Cambria Math" panose="02040503050406030204" pitchFamily="18" charset="0"/>
                                    </a:rPr>
                                    <m:t>∇</m:t>
                                  </m:r>
                                  <m:r>
                                    <m:rPr>
                                      <m:sty m:val="p"/>
                                    </m:rPr>
                                    <a:rPr lang="en-US" altLang="zh-TW" b="0" i="0" smtClean="0">
                                      <a:latin typeface="Cambria Math" panose="02040503050406030204" pitchFamily="18" charset="0"/>
                                      <a:ea typeface="Cambria Math" panose="02040503050406030204" pitchFamily="18" charset="0"/>
                                    </a:rPr>
                                    <m:t>u</m:t>
                                  </m:r>
                                </m:e>
                              </m:d>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𝑖𝑓</m:t>
                              </m:r>
                              <m:r>
                                <a:rPr lang="en-US" altLang="zh-TW" b="0" i="1" smtClean="0">
                                  <a:latin typeface="Cambria Math" panose="02040503050406030204" pitchFamily="18" charset="0"/>
                                  <a:ea typeface="Cambria Math" panose="02040503050406030204" pitchFamily="18" charset="0"/>
                                </a:rPr>
                                <m:t> </m:t>
                              </m:r>
                              <m:r>
                                <a:rPr lang="en-US" altLang="zh-TW" b="0" i="1" smtClean="0">
                                  <a:latin typeface="Cambria Math" panose="02040503050406030204" pitchFamily="18" charset="0"/>
                                  <a:ea typeface="Cambria Math" panose="02040503050406030204" pitchFamily="18" charset="0"/>
                                </a:rPr>
                                <m:t>𝑡</m:t>
                              </m:r>
                              <m:r>
                                <a:rPr lang="en-US" altLang="zh-TW" b="0" i="1" smtClean="0">
                                  <a:latin typeface="Cambria Math" panose="02040503050406030204" pitchFamily="18" charset="0"/>
                                  <a:ea typeface="Cambria Math" panose="02040503050406030204" pitchFamily="18" charset="0"/>
                                </a:rPr>
                                <m:t>&gt;0</m:t>
                              </m:r>
                            </m:e>
                          </m:eqArr>
                        </m:e>
                      </m:d>
                    </m:oMath>
                  </m:oMathPara>
                </a14:m>
                <a:endParaRPr lang="en-US" altLang="zh-TW" b="0" i="1" dirty="0">
                  <a:latin typeface="Cambria Math" panose="02040503050406030204" pitchFamily="18" charset="0"/>
                  <a:ea typeface="Cambria Math" panose="02040503050406030204" pitchFamily="18" charset="0"/>
                </a:endParaRPr>
              </a:p>
              <a:p>
                <a:pPr/>
                <a:endParaRPr lang="en-US" altLang="zh-TW"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
                    </m:oMathParaPr>
                    <m:oMath xmlns:m="http://schemas.openxmlformats.org/officeDocument/2006/math">
                      <m:r>
                        <a:rPr lang="en-US" altLang="zh-TW" b="0" i="1" smtClean="0">
                          <a:latin typeface="Cambria Math" panose="02040503050406030204" pitchFamily="18" charset="0"/>
                          <a:ea typeface="Cambria Math" panose="02040503050406030204" pitchFamily="18" charset="0"/>
                        </a:rPr>
                        <m:t>𝑔</m:t>
                      </m:r>
                      <m:d>
                        <m:dPr>
                          <m:ctrlPr>
                            <a:rPr lang="en-US" altLang="zh-TW" b="0" i="1" smtClean="0">
                              <a:latin typeface="Cambria Math" panose="02040503050406030204" pitchFamily="18" charset="0"/>
                              <a:ea typeface="Cambria Math" panose="02040503050406030204" pitchFamily="18" charset="0"/>
                            </a:rPr>
                          </m:ctrlPr>
                        </m:dPr>
                        <m:e>
                          <m:r>
                            <a:rPr lang="en-US" altLang="zh-TW" b="0" i="0"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𝑢</m:t>
                          </m:r>
                          <m:r>
                            <a:rPr lang="en-US" altLang="zh-TW" b="0" i="1" smtClean="0">
                              <a:latin typeface="Cambria Math" panose="02040503050406030204" pitchFamily="18" charset="0"/>
                              <a:ea typeface="Cambria Math" panose="02040503050406030204" pitchFamily="18" charset="0"/>
                            </a:rPr>
                            <m:t>, </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𝐼</m:t>
                              </m:r>
                            </m:e>
                            <m:sub>
                              <m:r>
                                <a:rPr lang="en-US" altLang="zh-TW" b="0" i="1" smtClean="0">
                                  <a:latin typeface="Cambria Math" panose="02040503050406030204" pitchFamily="18" charset="0"/>
                                  <a:ea typeface="Cambria Math" panose="02040503050406030204" pitchFamily="18" charset="0"/>
                                </a:rPr>
                                <m:t>𝑠</m:t>
                              </m:r>
                            </m:sub>
                          </m:sSub>
                        </m:e>
                      </m:d>
                      <m:r>
                        <a:rPr lang="en-US" altLang="zh-TW" b="0" i="1" smtClean="0">
                          <a:latin typeface="Cambria Math" panose="02040503050406030204" pitchFamily="18" charset="0"/>
                          <a:ea typeface="Cambria Math" panose="02040503050406030204" pitchFamily="18" charset="0"/>
                        </a:rPr>
                        <m:t>=</m:t>
                      </m:r>
                      <m:d>
                        <m:dPr>
                          <m:begChr m:val="{"/>
                          <m:endChr m:val=""/>
                          <m:ctrlPr>
                            <a:rPr lang="en-US" altLang="zh-TW" i="1" smtClean="0">
                              <a:latin typeface="Cambria Math" panose="02040503050406030204" pitchFamily="18" charset="0"/>
                              <a:ea typeface="Cambria Math" panose="02040503050406030204" pitchFamily="18" charset="0"/>
                            </a:rPr>
                          </m:ctrlPr>
                        </m:dPr>
                        <m:e>
                          <m:eqArr>
                            <m:eqArrPr>
                              <m:ctrlPr>
                                <a:rPr lang="en-US" altLang="zh-TW" i="1" smtClean="0">
                                  <a:latin typeface="Cambria Math" panose="02040503050406030204" pitchFamily="18" charset="0"/>
                                  <a:ea typeface="Cambria Math" panose="02040503050406030204" pitchFamily="18" charset="0"/>
                                </a:rPr>
                              </m:ctrlPr>
                            </m:eqArrPr>
                            <m:e>
                              <m:r>
                                <a:rPr lang="en-US" altLang="zh-TW" b="0" i="1" smtClean="0">
                                  <a:latin typeface="Cambria Math" panose="02040503050406030204" pitchFamily="18" charset="0"/>
                                  <a:ea typeface="Cambria Math" panose="02040503050406030204" pitchFamily="18" charset="0"/>
                                </a:rPr>
                                <m:t>1−</m:t>
                              </m:r>
                              <m:func>
                                <m:funcPr>
                                  <m:ctrlPr>
                                    <a:rPr lang="en-US" altLang="zh-TW" b="0" i="1" smtClean="0">
                                      <a:latin typeface="Cambria Math" panose="02040503050406030204" pitchFamily="18" charset="0"/>
                                      <a:ea typeface="Cambria Math" panose="02040503050406030204" pitchFamily="18" charset="0"/>
                                    </a:rPr>
                                  </m:ctrlPr>
                                </m:funcPr>
                                <m:fName>
                                  <m:r>
                                    <m:rPr>
                                      <m:sty m:val="p"/>
                                    </m:rPr>
                                    <a:rPr lang="en-US" altLang="zh-TW" b="0" i="0" smtClean="0">
                                      <a:latin typeface="Cambria Math" panose="02040503050406030204" pitchFamily="18" charset="0"/>
                                      <a:ea typeface="Cambria Math" panose="02040503050406030204" pitchFamily="18" charset="0"/>
                                    </a:rPr>
                                    <m:t>exp</m:t>
                                  </m:r>
                                </m:fName>
                                <m:e>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m:t>
                                      </m:r>
                                      <m:f>
                                        <m:fPr>
                                          <m:ctrlPr>
                                            <a:rPr lang="en-US" altLang="zh-TW" b="0" i="1" smtClean="0">
                                              <a:latin typeface="Cambria Math" panose="02040503050406030204" pitchFamily="18" charset="0"/>
                                              <a:ea typeface="Cambria Math" panose="02040503050406030204" pitchFamily="18" charset="0"/>
                                            </a:rPr>
                                          </m:ctrlPr>
                                        </m:fPr>
                                        <m:num>
                                          <m:r>
                                            <a:rPr lang="en-US" altLang="zh-TW" b="0" i="1" smtClean="0">
                                              <a:latin typeface="Cambria Math" panose="02040503050406030204" pitchFamily="18" charset="0"/>
                                              <a:ea typeface="Cambria Math" panose="02040503050406030204" pitchFamily="18" charset="0"/>
                                            </a:rPr>
                                            <m:t>𝐶</m:t>
                                          </m:r>
                                        </m:num>
                                        <m:den>
                                          <m:sSup>
                                            <m:sSupPr>
                                              <m:ctrlPr>
                                                <a:rPr lang="en-US" altLang="zh-TW" b="0" i="1" smtClean="0">
                                                  <a:latin typeface="Cambria Math" panose="02040503050406030204" pitchFamily="18" charset="0"/>
                                                  <a:ea typeface="Cambria Math" panose="02040503050406030204" pitchFamily="18" charset="0"/>
                                                </a:rPr>
                                              </m:ctrlPr>
                                            </m:sSupPr>
                                            <m:e>
                                              <m:d>
                                                <m:dPr>
                                                  <m:ctrlPr>
                                                    <a:rPr lang="en-US" altLang="zh-TW" b="0" i="1" smtClean="0">
                                                      <a:latin typeface="Cambria Math" panose="02040503050406030204" pitchFamily="18" charset="0"/>
                                                      <a:ea typeface="Cambria Math" panose="02040503050406030204" pitchFamily="18" charset="0"/>
                                                    </a:rPr>
                                                  </m:ctrlPr>
                                                </m:dPr>
                                                <m:e>
                                                  <m:f>
                                                    <m:fPr>
                                                      <m:ctrlPr>
                                                        <a:rPr lang="en-US" altLang="zh-TW" b="0" i="1" smtClean="0">
                                                          <a:latin typeface="Cambria Math" panose="02040503050406030204" pitchFamily="18" charset="0"/>
                                                          <a:ea typeface="Cambria Math" panose="02040503050406030204" pitchFamily="18" charset="0"/>
                                                        </a:rPr>
                                                      </m:ctrlPr>
                                                    </m:fPr>
                                                    <m:num>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𝐼</m:t>
                                                          </m:r>
                                                        </m:e>
                                                        <m:sub>
                                                          <m:r>
                                                            <a:rPr lang="en-US" altLang="zh-TW" b="0" i="1" smtClean="0">
                                                              <a:latin typeface="Cambria Math" panose="02040503050406030204" pitchFamily="18" charset="0"/>
                                                              <a:ea typeface="Cambria Math" panose="02040503050406030204" pitchFamily="18" charset="0"/>
                                                            </a:rPr>
                                                            <m:t>𝑠</m:t>
                                                          </m:r>
                                                        </m:sub>
                                                      </m:sSub>
                                                      <m:d>
                                                        <m:dPr>
                                                          <m:begChr m:val="|"/>
                                                          <m:endChr m:val="|"/>
                                                          <m:ctrlPr>
                                                            <a:rPr lang="en-US" altLang="zh-TW" b="0" i="1" smtClean="0">
                                                              <a:latin typeface="Cambria Math" panose="02040503050406030204" pitchFamily="18" charset="0"/>
                                                              <a:ea typeface="Cambria Math" panose="02040503050406030204" pitchFamily="18" charset="0"/>
                                                            </a:rPr>
                                                          </m:ctrlPr>
                                                        </m:dPr>
                                                        <m:e>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0"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𝑢</m:t>
                                                              </m:r>
                                                            </m:e>
                                                          </m:d>
                                                        </m:e>
                                                      </m:d>
                                                    </m:num>
                                                    <m:den>
                                                      <m:r>
                                                        <a:rPr lang="en-US" altLang="zh-TW" b="0" i="1" smtClean="0">
                                                          <a:latin typeface="Cambria Math" panose="02040503050406030204" pitchFamily="18" charset="0"/>
                                                          <a:ea typeface="Cambria Math" panose="02040503050406030204" pitchFamily="18" charset="0"/>
                                                        </a:rPr>
                                                        <m:t>𝜆</m:t>
                                                      </m:r>
                                                    </m:den>
                                                  </m:f>
                                                </m:e>
                                              </m:d>
                                            </m:e>
                                            <m:sup>
                                              <m:r>
                                                <a:rPr lang="en-US" altLang="zh-TW" b="0" i="1" smtClean="0">
                                                  <a:latin typeface="Cambria Math" panose="02040503050406030204" pitchFamily="18" charset="0"/>
                                                  <a:ea typeface="Cambria Math" panose="02040503050406030204" pitchFamily="18" charset="0"/>
                                                </a:rPr>
                                                <m:t>𝑚</m:t>
                                              </m:r>
                                            </m:sup>
                                          </m:sSup>
                                        </m:den>
                                      </m:f>
                                    </m:e>
                                  </m:d>
                                </m:e>
                              </m:func>
                              <m:r>
                                <a:rPr lang="en-US" altLang="zh-TW" b="0" i="1" smtClean="0">
                                  <a:latin typeface="Cambria Math" panose="02040503050406030204" pitchFamily="18" charset="0"/>
                                  <a:ea typeface="Cambria Math" panose="02040503050406030204" pitchFamily="18" charset="0"/>
                                </a:rPr>
                                <m:t>𝑖𝑓</m:t>
                              </m:r>
                              <m:r>
                                <a:rPr lang="en-US" altLang="zh-TW" b="0" i="1" smtClean="0">
                                  <a:latin typeface="Cambria Math" panose="02040503050406030204" pitchFamily="18" charset="0"/>
                                  <a:ea typeface="Cambria Math" panose="02040503050406030204" pitchFamily="18" charset="0"/>
                                </a:rPr>
                                <m:t> </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𝐼</m:t>
                                  </m:r>
                                </m:e>
                                <m:sub>
                                  <m:r>
                                    <a:rPr lang="en-US" altLang="zh-TW" b="0" i="1" smtClean="0">
                                      <a:latin typeface="Cambria Math" panose="02040503050406030204" pitchFamily="18" charset="0"/>
                                      <a:ea typeface="Cambria Math" panose="02040503050406030204" pitchFamily="18" charset="0"/>
                                    </a:rPr>
                                    <m:t>𝑠</m:t>
                                  </m:r>
                                </m:sub>
                              </m:sSub>
                              <m:d>
                                <m:dPr>
                                  <m:begChr m:val="|"/>
                                  <m:endChr m:val="|"/>
                                  <m:ctrlPr>
                                    <a:rPr lang="en-US" altLang="zh-TW" b="0" i="1" smtClean="0">
                                      <a:latin typeface="Cambria Math" panose="02040503050406030204" pitchFamily="18" charset="0"/>
                                      <a:ea typeface="Cambria Math" panose="02040503050406030204" pitchFamily="18" charset="0"/>
                                    </a:rPr>
                                  </m:ctrlPr>
                                </m:dPr>
                                <m:e>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0"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𝑢</m:t>
                                      </m:r>
                                    </m:e>
                                  </m:d>
                                </m:e>
                              </m:d>
                              <m:r>
                                <a:rPr lang="en-US" altLang="zh-TW" b="0" i="1" smtClean="0">
                                  <a:latin typeface="Cambria Math" panose="02040503050406030204" pitchFamily="18" charset="0"/>
                                  <a:ea typeface="Cambria Math" panose="02040503050406030204" pitchFamily="18" charset="0"/>
                                </a:rPr>
                                <m:t>&gt;0</m:t>
                              </m:r>
                            </m:e>
                            <m:e>
                              <m:r>
                                <a:rPr lang="en-US" altLang="zh-TW" b="0" i="1" smtClean="0">
                                  <a:latin typeface="Cambria Math" panose="02040503050406030204" pitchFamily="18" charset="0"/>
                                  <a:ea typeface="Cambria Math" panose="02040503050406030204" pitchFamily="18" charset="0"/>
                                </a:rPr>
                                <m:t>1                                            </m:t>
                              </m:r>
                              <m:r>
                                <a:rPr lang="en-US" altLang="zh-TW" b="0" i="1" smtClean="0">
                                  <a:latin typeface="Cambria Math" panose="02040503050406030204" pitchFamily="18" charset="0"/>
                                  <a:ea typeface="Cambria Math" panose="02040503050406030204" pitchFamily="18" charset="0"/>
                                </a:rPr>
                                <m:t>𝑖𝑓</m:t>
                              </m:r>
                              <m:r>
                                <a:rPr lang="en-US" altLang="zh-TW" b="0" i="1" smtClean="0">
                                  <a:latin typeface="Cambria Math" panose="02040503050406030204" pitchFamily="18" charset="0"/>
                                  <a:ea typeface="Cambria Math" panose="02040503050406030204" pitchFamily="18" charset="0"/>
                                </a:rPr>
                                <m:t> </m:t>
                              </m:r>
                              <m:sSub>
                                <m:sSubPr>
                                  <m:ctrlPr>
                                    <a:rPr lang="en-US" altLang="zh-TW" b="0" i="1" smtClean="0">
                                      <a:latin typeface="Cambria Math" panose="02040503050406030204" pitchFamily="18" charset="0"/>
                                      <a:ea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𝐼</m:t>
                                  </m:r>
                                </m:e>
                                <m:sub>
                                  <m:r>
                                    <a:rPr lang="en-US" altLang="zh-TW" b="0" i="1" smtClean="0">
                                      <a:latin typeface="Cambria Math" panose="02040503050406030204" pitchFamily="18" charset="0"/>
                                      <a:ea typeface="Cambria Math" panose="02040503050406030204" pitchFamily="18" charset="0"/>
                                    </a:rPr>
                                    <m:t>𝑠</m:t>
                                  </m:r>
                                </m:sub>
                              </m:sSub>
                              <m:d>
                                <m:dPr>
                                  <m:begChr m:val="|"/>
                                  <m:endChr m:val="|"/>
                                  <m:ctrlPr>
                                    <a:rPr lang="en-US" altLang="zh-TW" b="0" i="1" smtClean="0">
                                      <a:latin typeface="Cambria Math" panose="02040503050406030204" pitchFamily="18" charset="0"/>
                                      <a:ea typeface="Cambria Math" panose="02040503050406030204" pitchFamily="18" charset="0"/>
                                    </a:rPr>
                                  </m:ctrlPr>
                                </m:dPr>
                                <m:e>
                                  <m:d>
                                    <m:dPr>
                                      <m:begChr m:val="|"/>
                                      <m:endChr m:val="|"/>
                                      <m:ctrlPr>
                                        <a:rPr lang="en-US" altLang="zh-TW" b="0" i="1" smtClean="0">
                                          <a:latin typeface="Cambria Math" panose="02040503050406030204" pitchFamily="18" charset="0"/>
                                          <a:ea typeface="Cambria Math" panose="02040503050406030204" pitchFamily="18" charset="0"/>
                                        </a:rPr>
                                      </m:ctrlPr>
                                    </m:dPr>
                                    <m:e>
                                      <m:r>
                                        <a:rPr lang="en-US" altLang="zh-TW" b="0" i="0"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𝑢</m:t>
                                      </m:r>
                                    </m:e>
                                  </m:d>
                                </m:e>
                              </m:d>
                              <m:r>
                                <a:rPr lang="en-US" altLang="zh-TW" b="0" i="1" smtClean="0">
                                  <a:latin typeface="Cambria Math" panose="02040503050406030204" pitchFamily="18" charset="0"/>
                                  <a:ea typeface="Cambria Math" panose="02040503050406030204" pitchFamily="18" charset="0"/>
                                </a:rPr>
                                <m:t>≤0</m:t>
                              </m:r>
                            </m:e>
                          </m:eqArr>
                        </m:e>
                      </m:d>
                    </m:oMath>
                  </m:oMathPara>
                </a14:m>
                <a:endParaRPr lang="en-US" altLang="zh-TW" dirty="0">
                  <a:latin typeface="Cambria Math" panose="02040503050406030204" pitchFamily="18" charset="0"/>
                  <a:ea typeface="Cambria Math" panose="020405030504060302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503998" y="1660183"/>
                <a:ext cx="9071643" cy="5748258"/>
              </a:xfrm>
              <a:blipFill>
                <a:blip r:embed="rId3"/>
                <a:stretch>
                  <a:fillRect/>
                </a:stretch>
              </a:blipFill>
            </p:spPr>
            <p:txBody>
              <a:bodyPr/>
              <a:lstStyle/>
              <a:p>
                <a:r>
                  <a:rPr lang="zh-TW" altLang="en-US">
                    <a:noFill/>
                  </a:rPr>
                  <a:t> </a:t>
                </a:r>
              </a:p>
            </p:txBody>
          </p:sp>
        </mc:Fallback>
      </mc:AlternateContent>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9</a:t>
            </a:fld>
            <a:endParaRPr lang="zh-TW" altLang="en-US" dirty="0"/>
          </a:p>
        </p:txBody>
      </p:sp>
    </p:spTree>
    <p:extLst>
      <p:ext uri="{BB962C8B-B14F-4D97-AF65-F5344CB8AC3E}">
        <p14:creationId xmlns:p14="http://schemas.microsoft.com/office/powerpoint/2010/main" val="1428253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Framework</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10</a:t>
            </a:fld>
            <a:endParaRPr lang="zh-TW" altLang="en-US" dirty="0"/>
          </a:p>
        </p:txBody>
      </p:sp>
      <p:pic>
        <p:nvPicPr>
          <p:cNvPr id="5" name="圖片 4"/>
          <p:cNvPicPr>
            <a:picLocks noChangeAspect="1"/>
          </p:cNvPicPr>
          <p:nvPr/>
        </p:nvPicPr>
        <p:blipFill>
          <a:blip r:embed="rId2"/>
          <a:stretch>
            <a:fillRect/>
          </a:stretch>
        </p:blipFill>
        <p:spPr>
          <a:xfrm>
            <a:off x="0" y="1722986"/>
            <a:ext cx="10080625" cy="5424814"/>
          </a:xfrm>
          <a:prstGeom prst="rect">
            <a:avLst/>
          </a:prstGeom>
        </p:spPr>
      </p:pic>
    </p:spTree>
    <p:extLst>
      <p:ext uri="{BB962C8B-B14F-4D97-AF65-F5344CB8AC3E}">
        <p14:creationId xmlns:p14="http://schemas.microsoft.com/office/powerpoint/2010/main" val="3778985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Experimental result</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11</a:t>
            </a:fld>
            <a:endParaRPr lang="zh-TW" altLang="en-US" dirty="0"/>
          </a:p>
        </p:txBody>
      </p:sp>
      <p:sp>
        <p:nvSpPr>
          <p:cNvPr id="6" name="內容版面配置區 2"/>
          <p:cNvSpPr>
            <a:spLocks noGrp="1"/>
          </p:cNvSpPr>
          <p:nvPr>
            <p:ph idx="1"/>
          </p:nvPr>
        </p:nvSpPr>
        <p:spPr>
          <a:xfrm>
            <a:off x="503998" y="1660183"/>
            <a:ext cx="9071643" cy="5748258"/>
          </a:xfrm>
        </p:spPr>
        <p:txBody>
          <a:bodyPr/>
          <a:lstStyle/>
          <a:p>
            <a:pPr marL="457200" indent="-457200">
              <a:buFont typeface="Arial" panose="020B0604020202020204" pitchFamily="34" charset="0"/>
              <a:buChar char="•"/>
            </a:pPr>
            <a:r>
              <a:rPr lang="en-US" altLang="zh-TW" dirty="0">
                <a:latin typeface="Cambria Math" panose="02040503050406030204" pitchFamily="18" charset="0"/>
                <a:ea typeface="Cambria Math" panose="02040503050406030204" pitchFamily="18" charset="0"/>
              </a:rPr>
              <a:t>PASCAL VOC 2005 dataset: 4 categories and contains 1543 images.</a:t>
            </a:r>
          </a:p>
        </p:txBody>
      </p:sp>
      <p:pic>
        <p:nvPicPr>
          <p:cNvPr id="3" name="圖片 2"/>
          <p:cNvPicPr>
            <a:picLocks noChangeAspect="1"/>
          </p:cNvPicPr>
          <p:nvPr/>
        </p:nvPicPr>
        <p:blipFill>
          <a:blip r:embed="rId2"/>
          <a:stretch>
            <a:fillRect/>
          </a:stretch>
        </p:blipFill>
        <p:spPr>
          <a:xfrm>
            <a:off x="405906" y="3553237"/>
            <a:ext cx="9267825" cy="1962150"/>
          </a:xfrm>
          <a:prstGeom prst="rect">
            <a:avLst/>
          </a:prstGeom>
        </p:spPr>
      </p:pic>
    </p:spTree>
    <p:extLst>
      <p:ext uri="{BB962C8B-B14F-4D97-AF65-F5344CB8AC3E}">
        <p14:creationId xmlns:p14="http://schemas.microsoft.com/office/powerpoint/2010/main" val="13954671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Experimental result</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12</a:t>
            </a:fld>
            <a:endParaRPr lang="zh-TW" altLang="en-US" dirty="0"/>
          </a:p>
        </p:txBody>
      </p:sp>
      <p:sp>
        <p:nvSpPr>
          <p:cNvPr id="6" name="內容版面配置區 2"/>
          <p:cNvSpPr>
            <a:spLocks noGrp="1"/>
          </p:cNvSpPr>
          <p:nvPr>
            <p:ph idx="1"/>
          </p:nvPr>
        </p:nvSpPr>
        <p:spPr>
          <a:xfrm>
            <a:off x="503998" y="1660183"/>
            <a:ext cx="9071643" cy="5748258"/>
          </a:xfrm>
        </p:spPr>
        <p:txBody>
          <a:bodyPr/>
          <a:lstStyle/>
          <a:p>
            <a:pPr marL="457200" indent="-457200">
              <a:buFont typeface="Arial" panose="020B0604020202020204" pitchFamily="34" charset="0"/>
              <a:buChar char="•"/>
            </a:pPr>
            <a:r>
              <a:rPr lang="en-US" altLang="zh-TW" dirty="0">
                <a:latin typeface="Cambria Math" panose="02040503050406030204" pitchFamily="18" charset="0"/>
                <a:ea typeface="Cambria Math" panose="02040503050406030204" pitchFamily="18" charset="0"/>
              </a:rPr>
              <a:t>PASCAL VOC 2005 dataset: 4 categories and contains 1543 images.</a:t>
            </a:r>
          </a:p>
        </p:txBody>
      </p:sp>
      <p:pic>
        <p:nvPicPr>
          <p:cNvPr id="7" name="圖片 6"/>
          <p:cNvPicPr>
            <a:picLocks noChangeAspect="1"/>
          </p:cNvPicPr>
          <p:nvPr/>
        </p:nvPicPr>
        <p:blipFill>
          <a:blip r:embed="rId2"/>
          <a:stretch>
            <a:fillRect/>
          </a:stretch>
        </p:blipFill>
        <p:spPr>
          <a:xfrm>
            <a:off x="331748" y="2746956"/>
            <a:ext cx="9459686" cy="4140204"/>
          </a:xfrm>
          <a:prstGeom prst="rect">
            <a:avLst/>
          </a:prstGeom>
        </p:spPr>
      </p:pic>
    </p:spTree>
    <p:extLst>
      <p:ext uri="{BB962C8B-B14F-4D97-AF65-F5344CB8AC3E}">
        <p14:creationId xmlns:p14="http://schemas.microsoft.com/office/powerpoint/2010/main" val="707477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Experimental result</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13</a:t>
            </a:fld>
            <a:endParaRPr lang="zh-TW" altLang="en-US" dirty="0"/>
          </a:p>
        </p:txBody>
      </p:sp>
      <p:sp>
        <p:nvSpPr>
          <p:cNvPr id="6" name="內容版面配置區 2"/>
          <p:cNvSpPr>
            <a:spLocks noGrp="1"/>
          </p:cNvSpPr>
          <p:nvPr>
            <p:ph idx="1"/>
          </p:nvPr>
        </p:nvSpPr>
        <p:spPr>
          <a:xfrm>
            <a:off x="503998" y="1660183"/>
            <a:ext cx="9071643" cy="5748258"/>
          </a:xfrm>
        </p:spPr>
        <p:txBody>
          <a:bodyPr/>
          <a:lstStyle/>
          <a:p>
            <a:pPr marL="457200" indent="-457200">
              <a:buFont typeface="Arial" panose="020B0604020202020204" pitchFamily="34" charset="0"/>
              <a:buChar char="•"/>
            </a:pPr>
            <a:r>
              <a:rPr lang="en-US" altLang="zh-TW" dirty="0">
                <a:latin typeface="Cambria Math" panose="02040503050406030204" pitchFamily="18" charset="0"/>
                <a:ea typeface="Cambria Math" panose="02040503050406030204" pitchFamily="18" charset="0"/>
              </a:rPr>
              <a:t>102 Oxford Flowers: 102 flower categories and contains 8189 images.</a:t>
            </a:r>
          </a:p>
        </p:txBody>
      </p:sp>
      <p:pic>
        <p:nvPicPr>
          <p:cNvPr id="15" name="圖片 14"/>
          <p:cNvPicPr>
            <a:picLocks/>
          </p:cNvPicPr>
          <p:nvPr/>
        </p:nvPicPr>
        <p:blipFill>
          <a:blip r:embed="rId2">
            <a:extLst>
              <a:ext uri="{28A0092B-C50C-407E-A947-70E740481C1C}">
                <a14:useLocalDpi xmlns:a14="http://schemas.microsoft.com/office/drawing/2010/main" val="0"/>
              </a:ext>
            </a:extLst>
          </a:blip>
          <a:stretch>
            <a:fillRect/>
          </a:stretch>
        </p:blipFill>
        <p:spPr>
          <a:xfrm>
            <a:off x="1874611" y="2907199"/>
            <a:ext cx="2160000" cy="2160000"/>
          </a:xfrm>
          <a:prstGeom prst="rect">
            <a:avLst/>
          </a:prstGeom>
        </p:spPr>
      </p:pic>
      <p:pic>
        <p:nvPicPr>
          <p:cNvPr id="17" name="圖片 16"/>
          <p:cNvPicPr>
            <a:picLocks/>
          </p:cNvPicPr>
          <p:nvPr/>
        </p:nvPicPr>
        <p:blipFill>
          <a:blip r:embed="rId3">
            <a:extLst>
              <a:ext uri="{28A0092B-C50C-407E-A947-70E740481C1C}">
                <a14:useLocalDpi xmlns:a14="http://schemas.microsoft.com/office/drawing/2010/main" val="0"/>
              </a:ext>
            </a:extLst>
          </a:blip>
          <a:stretch>
            <a:fillRect/>
          </a:stretch>
        </p:blipFill>
        <p:spPr>
          <a:xfrm>
            <a:off x="4162969" y="2907199"/>
            <a:ext cx="2160000" cy="2160000"/>
          </a:xfrm>
          <a:prstGeom prst="rect">
            <a:avLst/>
          </a:prstGeom>
        </p:spPr>
      </p:pic>
      <p:pic>
        <p:nvPicPr>
          <p:cNvPr id="19" name="圖片 18"/>
          <p:cNvPicPr>
            <a:picLocks/>
          </p:cNvPicPr>
          <p:nvPr/>
        </p:nvPicPr>
        <p:blipFill>
          <a:blip r:embed="rId4">
            <a:extLst>
              <a:ext uri="{28A0092B-C50C-407E-A947-70E740481C1C}">
                <a14:useLocalDpi xmlns:a14="http://schemas.microsoft.com/office/drawing/2010/main" val="0"/>
              </a:ext>
            </a:extLst>
          </a:blip>
          <a:stretch>
            <a:fillRect/>
          </a:stretch>
        </p:blipFill>
        <p:spPr>
          <a:xfrm>
            <a:off x="6451327" y="2907199"/>
            <a:ext cx="2160000" cy="2160000"/>
          </a:xfrm>
          <a:prstGeom prst="rect">
            <a:avLst/>
          </a:prstGeom>
        </p:spPr>
      </p:pic>
      <p:pic>
        <p:nvPicPr>
          <p:cNvPr id="21" name="圖片 20"/>
          <p:cNvPicPr>
            <a:picLocks/>
          </p:cNvPicPr>
          <p:nvPr/>
        </p:nvPicPr>
        <p:blipFill>
          <a:blip r:embed="rId5">
            <a:extLst>
              <a:ext uri="{28A0092B-C50C-407E-A947-70E740481C1C}">
                <a14:useLocalDpi xmlns:a14="http://schemas.microsoft.com/office/drawing/2010/main" val="0"/>
              </a:ext>
            </a:extLst>
          </a:blip>
          <a:stretch>
            <a:fillRect/>
          </a:stretch>
        </p:blipFill>
        <p:spPr>
          <a:xfrm>
            <a:off x="1874611" y="5157820"/>
            <a:ext cx="2160000" cy="2160000"/>
          </a:xfrm>
          <a:prstGeom prst="rect">
            <a:avLst/>
          </a:prstGeom>
        </p:spPr>
      </p:pic>
      <p:pic>
        <p:nvPicPr>
          <p:cNvPr id="23" name="圖片 22"/>
          <p:cNvPicPr>
            <a:picLocks/>
          </p:cNvPicPr>
          <p:nvPr/>
        </p:nvPicPr>
        <p:blipFill>
          <a:blip r:embed="rId6">
            <a:extLst>
              <a:ext uri="{28A0092B-C50C-407E-A947-70E740481C1C}">
                <a14:useLocalDpi xmlns:a14="http://schemas.microsoft.com/office/drawing/2010/main" val="0"/>
              </a:ext>
            </a:extLst>
          </a:blip>
          <a:stretch>
            <a:fillRect/>
          </a:stretch>
        </p:blipFill>
        <p:spPr>
          <a:xfrm>
            <a:off x="4162969" y="5157820"/>
            <a:ext cx="2160000" cy="2160000"/>
          </a:xfrm>
          <a:prstGeom prst="rect">
            <a:avLst/>
          </a:prstGeom>
        </p:spPr>
      </p:pic>
      <p:pic>
        <p:nvPicPr>
          <p:cNvPr id="25" name="圖片 24"/>
          <p:cNvPicPr>
            <a:picLocks/>
          </p:cNvPicPr>
          <p:nvPr/>
        </p:nvPicPr>
        <p:blipFill>
          <a:blip r:embed="rId7">
            <a:extLst>
              <a:ext uri="{28A0092B-C50C-407E-A947-70E740481C1C}">
                <a14:useLocalDpi xmlns:a14="http://schemas.microsoft.com/office/drawing/2010/main" val="0"/>
              </a:ext>
            </a:extLst>
          </a:blip>
          <a:stretch>
            <a:fillRect/>
          </a:stretch>
        </p:blipFill>
        <p:spPr>
          <a:xfrm>
            <a:off x="6451327" y="5157820"/>
            <a:ext cx="2160000" cy="2160000"/>
          </a:xfrm>
          <a:prstGeom prst="rect">
            <a:avLst/>
          </a:prstGeom>
        </p:spPr>
      </p:pic>
    </p:spTree>
    <p:extLst>
      <p:ext uri="{BB962C8B-B14F-4D97-AF65-F5344CB8AC3E}">
        <p14:creationId xmlns:p14="http://schemas.microsoft.com/office/powerpoint/2010/main" val="31258591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Experimental result</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14</a:t>
            </a:fld>
            <a:endParaRPr lang="zh-TW" altLang="en-US" dirty="0"/>
          </a:p>
        </p:txBody>
      </p:sp>
      <p:sp>
        <p:nvSpPr>
          <p:cNvPr id="6" name="內容版面配置區 2"/>
          <p:cNvSpPr>
            <a:spLocks noGrp="1"/>
          </p:cNvSpPr>
          <p:nvPr>
            <p:ph idx="1"/>
          </p:nvPr>
        </p:nvSpPr>
        <p:spPr>
          <a:xfrm>
            <a:off x="503998" y="1660183"/>
            <a:ext cx="9071643" cy="5748258"/>
          </a:xfrm>
        </p:spPr>
        <p:txBody>
          <a:bodyPr/>
          <a:lstStyle/>
          <a:p>
            <a:pPr marL="457200" indent="-457200">
              <a:buFont typeface="Arial" panose="020B0604020202020204" pitchFamily="34" charset="0"/>
              <a:buChar char="•"/>
            </a:pPr>
            <a:r>
              <a:rPr lang="en-US" altLang="zh-TW" dirty="0">
                <a:latin typeface="Cambria Math" panose="02040503050406030204" pitchFamily="18" charset="0"/>
                <a:ea typeface="Cambria Math" panose="02040503050406030204" pitchFamily="18" charset="0"/>
              </a:rPr>
              <a:t>102 Oxford Flowers: 102 flower categories and contains 8189 images.</a:t>
            </a:r>
          </a:p>
        </p:txBody>
      </p:sp>
      <p:pic>
        <p:nvPicPr>
          <p:cNvPr id="5" name="圖片 4"/>
          <p:cNvPicPr>
            <a:picLocks noChangeAspect="1"/>
          </p:cNvPicPr>
          <p:nvPr/>
        </p:nvPicPr>
        <p:blipFill>
          <a:blip r:embed="rId2"/>
          <a:stretch>
            <a:fillRect/>
          </a:stretch>
        </p:blipFill>
        <p:spPr>
          <a:xfrm>
            <a:off x="1554162" y="2751396"/>
            <a:ext cx="7230610" cy="4393487"/>
          </a:xfrm>
          <a:prstGeom prst="rect">
            <a:avLst/>
          </a:prstGeom>
        </p:spPr>
      </p:pic>
    </p:spTree>
    <p:extLst>
      <p:ext uri="{BB962C8B-B14F-4D97-AF65-F5344CB8AC3E}">
        <p14:creationId xmlns:p14="http://schemas.microsoft.com/office/powerpoint/2010/main" val="3080932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Experimental result</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15</a:t>
            </a:fld>
            <a:endParaRPr lang="zh-TW" altLang="en-US" dirty="0"/>
          </a:p>
        </p:txBody>
      </p:sp>
      <p:sp>
        <p:nvSpPr>
          <p:cNvPr id="6" name="內容版面配置區 2"/>
          <p:cNvSpPr>
            <a:spLocks noGrp="1"/>
          </p:cNvSpPr>
          <p:nvPr>
            <p:ph idx="1"/>
          </p:nvPr>
        </p:nvSpPr>
        <p:spPr>
          <a:xfrm>
            <a:off x="503998" y="1660183"/>
            <a:ext cx="9071643" cy="5748258"/>
          </a:xfrm>
        </p:spPr>
        <p:txBody>
          <a:bodyPr/>
          <a:lstStyle/>
          <a:p>
            <a:pPr marL="457200" indent="-457200">
              <a:buFont typeface="Arial" panose="020B0604020202020204" pitchFamily="34" charset="0"/>
              <a:buChar char="•"/>
            </a:pPr>
            <a:r>
              <a:rPr lang="en-US" altLang="zh-TW" dirty="0">
                <a:latin typeface="Cambria Math" panose="02040503050406030204" pitchFamily="18" charset="0"/>
                <a:ea typeface="Cambria Math" panose="02040503050406030204" pitchFamily="18" charset="0"/>
              </a:rPr>
              <a:t>17 Oxford Flowers: 17 flower categories with 80 images per category.</a:t>
            </a:r>
          </a:p>
        </p:txBody>
      </p:sp>
      <p:pic>
        <p:nvPicPr>
          <p:cNvPr id="3" name="圖片 2"/>
          <p:cNvPicPr>
            <a:picLocks noChangeAspect="1"/>
          </p:cNvPicPr>
          <p:nvPr/>
        </p:nvPicPr>
        <p:blipFill>
          <a:blip r:embed="rId2"/>
          <a:stretch>
            <a:fillRect/>
          </a:stretch>
        </p:blipFill>
        <p:spPr>
          <a:xfrm>
            <a:off x="993616" y="2877135"/>
            <a:ext cx="8582025" cy="4010025"/>
          </a:xfrm>
          <a:prstGeom prst="rect">
            <a:avLst/>
          </a:prstGeom>
        </p:spPr>
      </p:pic>
    </p:spTree>
    <p:extLst>
      <p:ext uri="{BB962C8B-B14F-4D97-AF65-F5344CB8AC3E}">
        <p14:creationId xmlns:p14="http://schemas.microsoft.com/office/powerpoint/2010/main" val="29403361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03998" y="285556"/>
            <a:ext cx="9071643" cy="1262155"/>
          </a:xfrm>
        </p:spPr>
        <p:txBody>
          <a:bodyPr/>
          <a:lstStyle/>
          <a:p>
            <a:r>
              <a:rPr lang="en-US" altLang="zh-TW" b="1" dirty="0">
                <a:latin typeface="Ebrima" panose="02000000000000000000" pitchFamily="2" charset="0"/>
                <a:ea typeface="Ebrima" panose="02000000000000000000" pitchFamily="2" charset="0"/>
                <a:cs typeface="Ebrima" panose="02000000000000000000" pitchFamily="2" charset="0"/>
              </a:rPr>
              <a:t>Experimental result</a:t>
            </a:r>
            <a:endParaRPr lang="zh-TW" altLang="en-US" b="1" dirty="0">
              <a:latin typeface="Ebrima" panose="02000000000000000000" pitchFamily="2" charset="0"/>
              <a:ea typeface="Ebrima" panose="02000000000000000000" pitchFamily="2" charset="0"/>
              <a:cs typeface="Ebrima" panose="02000000000000000000" pitchFamily="2" charset="0"/>
            </a:endParaRPr>
          </a:p>
        </p:txBody>
      </p:sp>
      <p:sp>
        <p:nvSpPr>
          <p:cNvPr id="4" name="投影片編號版面配置區 3"/>
          <p:cNvSpPr>
            <a:spLocks noGrp="1"/>
          </p:cNvSpPr>
          <p:nvPr>
            <p:ph type="sldNum" sz="quarter" idx="8"/>
          </p:nvPr>
        </p:nvSpPr>
        <p:spPr/>
        <p:txBody>
          <a:bodyPr/>
          <a:lstStyle/>
          <a:p>
            <a:pPr lvl="0"/>
            <a:fld id="{68842836-F473-4F88-8FC5-E6506225DA8A}" type="slidenum">
              <a:rPr lang="en-US" altLang="zh-TW" smtClean="0"/>
              <a:t>16</a:t>
            </a:fld>
            <a:endParaRPr lang="zh-TW" altLang="en-US" dirty="0"/>
          </a:p>
        </p:txBody>
      </p:sp>
      <p:sp>
        <p:nvSpPr>
          <p:cNvPr id="6" name="內容版面配置區 2"/>
          <p:cNvSpPr>
            <a:spLocks noGrp="1"/>
          </p:cNvSpPr>
          <p:nvPr>
            <p:ph idx="1"/>
          </p:nvPr>
        </p:nvSpPr>
        <p:spPr>
          <a:xfrm>
            <a:off x="503998" y="1660183"/>
            <a:ext cx="9071643" cy="5748258"/>
          </a:xfrm>
        </p:spPr>
        <p:txBody>
          <a:bodyPr/>
          <a:lstStyle/>
          <a:p>
            <a:pPr marL="457200" indent="-457200">
              <a:buFont typeface="Arial" panose="020B0604020202020204" pitchFamily="34" charset="0"/>
              <a:buChar char="•"/>
            </a:pPr>
            <a:r>
              <a:rPr lang="en-US" altLang="zh-TW" dirty="0">
                <a:latin typeface="Cambria Math" panose="02040503050406030204" pitchFamily="18" charset="0"/>
                <a:ea typeface="Cambria Math" panose="02040503050406030204" pitchFamily="18" charset="0"/>
              </a:rPr>
              <a:t>17 Oxford Flowers: 17 flower categories with 80 images per category.</a:t>
            </a:r>
          </a:p>
        </p:txBody>
      </p:sp>
      <p:pic>
        <p:nvPicPr>
          <p:cNvPr id="5" name="圖片 4"/>
          <p:cNvPicPr>
            <a:picLocks noChangeAspect="1"/>
          </p:cNvPicPr>
          <p:nvPr/>
        </p:nvPicPr>
        <p:blipFill>
          <a:blip r:embed="rId2"/>
          <a:stretch>
            <a:fillRect/>
          </a:stretch>
        </p:blipFill>
        <p:spPr>
          <a:xfrm>
            <a:off x="2845408" y="2767430"/>
            <a:ext cx="4381954" cy="4478342"/>
          </a:xfrm>
          <a:prstGeom prst="rect">
            <a:avLst/>
          </a:prstGeom>
        </p:spPr>
      </p:pic>
    </p:spTree>
    <p:extLst>
      <p:ext uri="{BB962C8B-B14F-4D97-AF65-F5344CB8AC3E}">
        <p14:creationId xmlns:p14="http://schemas.microsoft.com/office/powerpoint/2010/main" val="467867904"/>
      </p:ext>
    </p:extLst>
  </p:cSld>
  <p:clrMapOvr>
    <a:masterClrMapping/>
  </p:clrMapOvr>
</p:sld>
</file>

<file path=ppt/theme/theme1.xml><?xml version="1.0" encoding="utf-8"?>
<a:theme xmlns:a="http://schemas.openxmlformats.org/drawingml/2006/main" name="預設">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23792</TotalTime>
  <Words>683</Words>
  <Application>Microsoft Office PowerPoint</Application>
  <PresentationFormat>自訂</PresentationFormat>
  <Paragraphs>63</Paragraphs>
  <Slides>16</Slides>
  <Notes>3</Notes>
  <HiddenSlides>0</HiddenSlides>
  <MMClips>0</MMClips>
  <ScaleCrop>false</ScaleCrop>
  <HeadingPairs>
    <vt:vector size="6" baseType="variant">
      <vt:variant>
        <vt:lpstr>使用字型</vt:lpstr>
      </vt:variant>
      <vt:variant>
        <vt:i4>13</vt:i4>
      </vt:variant>
      <vt:variant>
        <vt:lpstr>佈景主題</vt:lpstr>
      </vt:variant>
      <vt:variant>
        <vt:i4>1</vt:i4>
      </vt:variant>
      <vt:variant>
        <vt:lpstr>投影片標題</vt:lpstr>
      </vt:variant>
      <vt:variant>
        <vt:i4>16</vt:i4>
      </vt:variant>
    </vt:vector>
  </HeadingPairs>
  <TitlesOfParts>
    <vt:vector size="30" baseType="lpstr">
      <vt:lpstr>Liberation Sans</vt:lpstr>
      <vt:lpstr>Liberation Sans Narrow</vt:lpstr>
      <vt:lpstr>Liberation Serif</vt:lpstr>
      <vt:lpstr>Mangal</vt:lpstr>
      <vt:lpstr>微軟正黑體</vt:lpstr>
      <vt:lpstr>新細明體</vt:lpstr>
      <vt:lpstr>Arial</vt:lpstr>
      <vt:lpstr>Calibri</vt:lpstr>
      <vt:lpstr>Cambria Math</vt:lpstr>
      <vt:lpstr>Ebrima</vt:lpstr>
      <vt:lpstr>Sitka Subheading</vt:lpstr>
      <vt:lpstr>Tahoma</vt:lpstr>
      <vt:lpstr>Wingdings</vt:lpstr>
      <vt:lpstr>預設</vt:lpstr>
      <vt:lpstr>IEEE Transactions on Image Processing, vol. 23, no. 4, pp. 1513-1526, April, 2014 Weiming Hu, Ruiguang Hu, Nianhua Xie, Haibin Ling and Stephen Maybank</vt:lpstr>
      <vt:lpstr>Abstract (1/2)</vt:lpstr>
      <vt:lpstr>Abstract (2/2)</vt:lpstr>
      <vt:lpstr>Saliency driven diffusion filtering</vt:lpstr>
      <vt:lpstr>Nonlinear diffusion</vt:lpstr>
      <vt:lpstr>Nonlinear diffusion</vt:lpstr>
      <vt:lpstr>Saliency</vt:lpstr>
      <vt:lpstr>Saliency detection</vt:lpstr>
      <vt:lpstr>Saliency driven nonlinear diffusion</vt:lpstr>
      <vt:lpstr>Framework</vt:lpstr>
      <vt:lpstr>Experimental result</vt:lpstr>
      <vt:lpstr>Experimental result</vt:lpstr>
      <vt:lpstr>Experimental result</vt:lpstr>
      <vt:lpstr>Experimental result</vt:lpstr>
      <vt:lpstr>Experimental result</vt:lpstr>
      <vt:lpstr>Experimental result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Communications of the ACM June 1975 Volume 18 Number 6 D.S. Hirschberg Princeton University</dc:title>
  <dc:creator>Shecil</dc:creator>
  <cp:lastModifiedBy>whfu</cp:lastModifiedBy>
  <cp:revision>334</cp:revision>
  <dcterms:created xsi:type="dcterms:W3CDTF">2015-10-08T13:19:19Z</dcterms:created>
  <dcterms:modified xsi:type="dcterms:W3CDTF">2017-09-20T10:00:01Z</dcterms:modified>
</cp:coreProperties>
</file>