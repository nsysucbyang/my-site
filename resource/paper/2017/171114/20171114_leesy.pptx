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6" r:id="rId5"/>
    <p:sldId id="265" r:id="rId6"/>
    <p:sldId id="259" r:id="rId7"/>
    <p:sldId id="261" r:id="rId8"/>
    <p:sldId id="262" r:id="rId9"/>
    <p:sldId id="263" r:id="rId10"/>
    <p:sldId id="264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8" r:id="rId22"/>
    <p:sldId id="279" r:id="rId2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47" autoAdjust="0"/>
    <p:restoredTop sz="94660"/>
  </p:normalViewPr>
  <p:slideViewPr>
    <p:cSldViewPr snapToGrid="0">
      <p:cViewPr varScale="1">
        <p:scale>
          <a:sx n="75" d="100"/>
          <a:sy n="75" d="100"/>
        </p:scale>
        <p:origin x="10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2017/11/14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0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2017/11/14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48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2017/11/14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291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2017/11/14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483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2017/11/14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194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2017/11/14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30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2017/11/14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807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2017/11/14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960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2017/11/14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1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2017/11/14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820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2017/11/14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8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010FB-2E68-4D6F-963D-E2C0D8E7433A}" type="datetimeFigureOut">
              <a:rPr lang="zh-TW" altLang="en-US" smtClean="0"/>
              <a:t>2017/11/14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870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79423" y="685800"/>
            <a:ext cx="8238652" cy="2512696"/>
          </a:xfrm>
        </p:spPr>
        <p:txBody>
          <a:bodyPr>
            <a:normAutofit fontScale="90000"/>
          </a:bodyPr>
          <a:lstStyle/>
          <a:p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Algorithm for Computing the Edit Distance between SLP-Compressed Strings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71524" y="3516074"/>
            <a:ext cx="7877174" cy="1655762"/>
          </a:xfrm>
        </p:spPr>
        <p:txBody>
          <a:bodyPr>
            <a:normAutofit/>
          </a:bodyPr>
          <a:lstStyle/>
          <a:p>
            <a:r>
              <a:rPr lang="fr-FR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Paweł </a:t>
            </a:r>
            <a:r>
              <a:rPr lang="fr-FR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Gawrychowski</a:t>
            </a:r>
          </a:p>
          <a:p>
            <a:r>
              <a:rPr lang="nl-NL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19th International Symposium, SPIRE 2012</a:t>
            </a:r>
          </a:p>
          <a:p>
            <a:r>
              <a:rPr lang="nl-NL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SPIRE Vol</a:t>
            </a:r>
            <a:r>
              <a:rPr lang="nl-NL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12, pp. </a:t>
            </a:r>
            <a:r>
              <a:rPr lang="nl-NL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229-236.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479634" y="44849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281111" y="5312807"/>
            <a:ext cx="6858000" cy="1283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</a:t>
            </a:r>
            <a:r>
              <a:rPr lang="en-US" altLang="zh-TW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Shie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-Yan Lee</a:t>
            </a:r>
          </a:p>
          <a:p>
            <a:r>
              <a:rPr lang="en-US" altLang="zh-TW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2017/11/14</a:t>
            </a:r>
            <a:endParaRPr lang="en-US" altLang="zh-TW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52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7886700" cy="1325563"/>
          </a:xfrm>
        </p:spPr>
        <p:txBody>
          <a:bodyPr/>
          <a:lstStyle/>
          <a:p>
            <a:r>
              <a:rPr lang="en-US" altLang="zh-TW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08138" y="1606550"/>
                <a:ext cx="871203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strings described by SLPs of total size n, we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show how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compute their edit distance in O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𝑛𝑁</m:t>
                    </m:r>
                    <m:rad>
                      <m:radPr>
                        <m:degHide m:val="on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unc>
                          <m:func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func>
                      </m:e>
                    </m:ra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time, where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sum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strings length. The result can be generalized to any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rational scoring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function, hence we improve the existing O(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𝑛𝑁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 O(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𝑛𝑁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f>
                      <m:f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solutions. This gets us even closer to the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𝑛𝑁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complexity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conjectured by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Lifshits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basic tool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our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 time procedure for computing the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max-product of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vector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a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unit-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Monge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matrix, which might be of independent interest.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8138" y="1606550"/>
                <a:ext cx="8712037" cy="4351338"/>
              </a:xfrm>
              <a:blipFill rotWithShape="0">
                <a:blip r:embed="rId2"/>
                <a:stretch>
                  <a:fillRect l="-1120" t="-1964" r="-14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29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5030" y="-187136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Matrix definitions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3162863"/>
                  </p:ext>
                </p:extLst>
              </p:nvPr>
            </p:nvGraphicFramePr>
            <p:xfrm>
              <a:off x="185030" y="3041552"/>
              <a:ext cx="3200967" cy="280698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66989"/>
                    <a:gridCol w="1066989"/>
                    <a:gridCol w="1066989"/>
                  </a:tblGrid>
                  <a:tr h="93566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′)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9356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 anchor="ctr"/>
                    </a:tc>
                  </a:tr>
                  <a:tr h="93566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′,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′,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′)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3162863"/>
                  </p:ext>
                </p:extLst>
              </p:nvPr>
            </p:nvGraphicFramePr>
            <p:xfrm>
              <a:off x="185030" y="3041552"/>
              <a:ext cx="3200967" cy="280698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66989"/>
                    <a:gridCol w="1066989"/>
                    <a:gridCol w="1066989"/>
                  </a:tblGrid>
                  <a:tr h="935661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71" t="-649" r="-201714" b="-2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1143" t="-649" r="-1143" b="-201299"/>
                          </a:stretch>
                        </a:blipFill>
                      </a:tcPr>
                    </a:tc>
                  </a:tr>
                  <a:tr h="9356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 anchor="ctr"/>
                    </a:tc>
                  </a:tr>
                  <a:tr h="935661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71" t="-200649" r="-201714" b="-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1143" t="-200649" r="-1143" b="-129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1021107" y="1030071"/>
                <a:ext cx="7289973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000" dirty="0" smtClean="0"/>
                  <a:t>Matrix A is called a </a:t>
                </a:r>
                <a:r>
                  <a:rPr lang="en-US" altLang="zh-TW" sz="3000" b="1" dirty="0" err="1"/>
                  <a:t>M</a:t>
                </a:r>
                <a:r>
                  <a:rPr lang="en-US" altLang="zh-TW" sz="3000" b="1" dirty="0" err="1" smtClean="0"/>
                  <a:t>onge</a:t>
                </a:r>
                <a:r>
                  <a:rPr lang="en-US" altLang="zh-TW" sz="3000" dirty="0" smtClean="0"/>
                  <a:t> matrix, if </a:t>
                </a:r>
                <a:endParaRPr lang="en-US" altLang="zh-TW" sz="30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p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p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3000" dirty="0" smtClean="0"/>
              </a:p>
              <a:p>
                <a:r>
                  <a:rPr lang="en-US" altLang="zh-TW" sz="3000" dirty="0" smtClean="0"/>
                  <a:t>for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TW" sz="3000" dirty="0" smtClean="0"/>
                  <a:t> .</a:t>
                </a:r>
                <a:endParaRPr lang="zh-TW" altLang="en-US" sz="30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107" y="1030071"/>
                <a:ext cx="7289973" cy="1477328"/>
              </a:xfrm>
              <a:prstGeom prst="rect">
                <a:avLst/>
              </a:prstGeom>
              <a:blipFill rotWithShape="0">
                <a:blip r:embed="rId3"/>
                <a:stretch>
                  <a:fillRect l="-2008" t="-4959" b="-123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4022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5030" y="-187136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Matrix definitions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5737289"/>
                  </p:ext>
                </p:extLst>
              </p:nvPr>
            </p:nvGraphicFramePr>
            <p:xfrm>
              <a:off x="185030" y="3041552"/>
              <a:ext cx="3200967" cy="280698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66989"/>
                    <a:gridCol w="1066989"/>
                    <a:gridCol w="1066989"/>
                  </a:tblGrid>
                  <a:tr h="93566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′)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9356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 anchor="ctr"/>
                    </a:tc>
                  </a:tr>
                  <a:tr h="93566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′,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′,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′)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5737289"/>
                  </p:ext>
                </p:extLst>
              </p:nvPr>
            </p:nvGraphicFramePr>
            <p:xfrm>
              <a:off x="185030" y="3041552"/>
              <a:ext cx="3200967" cy="280698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66989"/>
                    <a:gridCol w="1066989"/>
                    <a:gridCol w="1066989"/>
                  </a:tblGrid>
                  <a:tr h="935661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71" t="-649" r="-201714" b="-2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1143" t="-649" r="-1143" b="-201299"/>
                          </a:stretch>
                        </a:blipFill>
                      </a:tcPr>
                    </a:tc>
                  </a:tr>
                  <a:tr h="9356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 anchor="ctr"/>
                    </a:tc>
                  </a:tr>
                  <a:tr h="935661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71" t="-200649" r="-201714" b="-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1143" t="-200649" r="-1143" b="-129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1021107" y="1030071"/>
                <a:ext cx="7289973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000" dirty="0" smtClean="0"/>
                  <a:t>Matrix A is called a </a:t>
                </a:r>
                <a:r>
                  <a:rPr lang="en-US" altLang="zh-TW" sz="3000" b="1" dirty="0" smtClean="0"/>
                  <a:t>anti-</a:t>
                </a:r>
                <a:r>
                  <a:rPr lang="en-US" altLang="zh-TW" sz="3000" b="1" dirty="0" err="1" smtClean="0"/>
                  <a:t>Monge</a:t>
                </a:r>
                <a:r>
                  <a:rPr lang="en-US" altLang="zh-TW" sz="3000" dirty="0" smtClean="0"/>
                  <a:t> matrix, if </a:t>
                </a:r>
                <a:endParaRPr lang="en-US" altLang="zh-TW" sz="30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p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p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3000" dirty="0" smtClean="0"/>
              </a:p>
              <a:p>
                <a:r>
                  <a:rPr lang="en-US" altLang="zh-TW" sz="3000" dirty="0" smtClean="0"/>
                  <a:t>for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TW" sz="3000" dirty="0" smtClean="0"/>
                  <a:t> .</a:t>
                </a:r>
                <a:endParaRPr lang="zh-TW" altLang="en-US" sz="30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107" y="1030071"/>
                <a:ext cx="7289973" cy="1477328"/>
              </a:xfrm>
              <a:prstGeom prst="rect">
                <a:avLst/>
              </a:prstGeom>
              <a:blipFill rotWithShape="0">
                <a:blip r:embed="rId3"/>
                <a:stretch>
                  <a:fillRect l="-2008" t="-4959" b="-123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3923328" y="3244334"/>
            <a:ext cx="19481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Unit-anti-</a:t>
            </a:r>
            <a:r>
              <a:rPr lang="en-US" altLang="zh-TW" b="1" dirty="0" err="1" smtClean="0"/>
              <a:t>Monge</a:t>
            </a:r>
            <a:r>
              <a:rPr lang="en-US" altLang="zh-TW" b="1" dirty="0" smtClean="0"/>
              <a:t> : </a:t>
            </a:r>
            <a:endParaRPr lang="zh-TW" altLang="en-US" dirty="0"/>
          </a:p>
        </p:txBody>
      </p:sp>
      <p:cxnSp>
        <p:nvCxnSpPr>
          <p:cNvPr id="5" name="直線接點 4"/>
          <p:cNvCxnSpPr/>
          <p:nvPr/>
        </p:nvCxnSpPr>
        <p:spPr>
          <a:xfrm>
            <a:off x="3657600" y="2824681"/>
            <a:ext cx="0" cy="42008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3657600" y="2824681"/>
            <a:ext cx="5486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2051128"/>
                  </p:ext>
                </p:extLst>
              </p:nvPr>
            </p:nvGraphicFramePr>
            <p:xfrm>
              <a:off x="3923324" y="3836746"/>
              <a:ext cx="2423154" cy="216570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1577"/>
                    <a:gridCol w="1211577"/>
                  </a:tblGrid>
                  <a:tr h="108285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108285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+1,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+1,</m:t>
                                </m:r>
                              </m:oMath>
                            </m:oMathPara>
                          </a14:m>
                          <a:endParaRPr lang="en-US" altLang="zh-TW" b="0" i="1" dirty="0" smtClean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2051128"/>
                  </p:ext>
                </p:extLst>
              </p:nvPr>
            </p:nvGraphicFramePr>
            <p:xfrm>
              <a:off x="3923324" y="3836746"/>
              <a:ext cx="2423154" cy="216570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1577"/>
                    <a:gridCol w="1211577"/>
                  </a:tblGrid>
                  <a:tr h="1082851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500" t="-562" r="-100500" b="-1011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101005" t="-562" r="-1005" b="-101124"/>
                          </a:stretch>
                        </a:blipFill>
                      </a:tcPr>
                    </a:tc>
                  </a:tr>
                  <a:tr h="1082851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500" t="-100562" r="-100500" b="-11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101005" t="-100562" r="-1005" b="-1124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4572000" y="6225528"/>
                <a:ext cx="4572000" cy="36933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1≥</m:t>
                    </m:r>
                  </m:oMath>
                </a14:m>
                <a:r>
                  <a:rPr lang="zh-TW" altLang="en-US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藍色相加 </a:t>
                </a:r>
                <a:r>
                  <a:rPr lang="en-US" altLang="zh-TW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-</a:t>
                </a:r>
                <a:r>
                  <a:rPr lang="zh-TW" altLang="en-US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橘色相加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6225528"/>
                <a:ext cx="4572000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9764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5030" y="-187136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Straight line program (SLP)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10955" y="1138427"/>
                <a:ext cx="8442922" cy="363775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A straight line program is a sequence of assignments.</a:t>
                </a:r>
              </a:p>
              <a:p>
                <a:pPr marL="0" indent="0" algn="ctr">
                  <a:buNone/>
                </a:pPr>
                <a:r>
                  <a:rPr lang="en-US" altLang="zh-TW" dirty="0" smtClean="0"/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𝑒𝑥𝑝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𝑒𝑥𝑝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 ……,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𝑒𝑥𝑝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dirty="0" smtClean="0"/>
                  <a:t>}</a:t>
                </a:r>
              </a:p>
              <a:p>
                <a:pPr marL="0" indent="0" algn="ctr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𝑒𝑥𝑝𝑟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l-GR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𝑜𝑟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en-US" altLang="zh-TW" b="0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b="0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ea typeface="Cambria Math" panose="02040503050406030204" pitchFamily="18" charset="0"/>
                  </a:rPr>
                  <a:t>The size of this SLP is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b="0" dirty="0" smtClean="0"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0955" y="1138427"/>
                <a:ext cx="8442922" cy="3637759"/>
              </a:xfrm>
              <a:blipFill rotWithShape="0">
                <a:blip r:embed="rId2"/>
                <a:stretch>
                  <a:fillRect l="-1516" t="-2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7356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5030" y="-187136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Straight line program (SLP)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10955" y="1138427"/>
                <a:ext cx="8442922" cy="639405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dirty="0" smtClean="0"/>
                  <a:t> a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en-US" altLang="zh-TW" dirty="0" smtClean="0"/>
                  <a:t>b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i="1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i="1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TW" i="1" dirty="0">
                    <a:latin typeface="Cambria Math" panose="02040503050406030204" pitchFamily="18" charset="0"/>
                  </a:rPr>
                  <a:t> </a:t>
                </a:r>
                <a:endParaRPr lang="en-US" altLang="zh-TW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TW" dirty="0" smtClean="0"/>
                  <a:t> 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Size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dirty="0" smtClean="0"/>
                  <a:t> = 7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0955" y="1138427"/>
                <a:ext cx="8442922" cy="6394056"/>
              </a:xfrm>
              <a:blipFill rotWithShape="0">
                <a:blip r:embed="rId2"/>
                <a:stretch>
                  <a:fillRect l="-1516" t="-1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928" y="1138427"/>
            <a:ext cx="5901949" cy="392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662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5030" y="-187136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Problem Definition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80135" y="1138426"/>
                <a:ext cx="8677434" cy="92119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Computing the edit distance between two strings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TW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TW" b="0" dirty="0" smtClean="0">
                    <a:ea typeface="Cambria Math" panose="02040503050406030204" pitchFamily="18" charset="0"/>
                  </a:rPr>
                  <a:t> of total length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TW" b="0" dirty="0" smtClean="0">
                    <a:ea typeface="Cambria Math" panose="02040503050406030204" pitchFamily="18" charset="0"/>
                  </a:rPr>
                  <a:t> defined by SLPs of total size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b="0" dirty="0" smtClean="0"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0135" y="1138426"/>
                <a:ext cx="8677434" cy="921193"/>
              </a:xfrm>
              <a:blipFill rotWithShape="0">
                <a:blip r:embed="rId2"/>
                <a:stretch>
                  <a:fillRect l="-1476" t="-11258" b="-1258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012054" y="5495279"/>
                <a:ext cx="3293616" cy="47051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054" y="5495279"/>
                <a:ext cx="3293616" cy="47051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4458069" y="5495279"/>
                <a:ext cx="3293616" cy="47051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069" y="5495279"/>
                <a:ext cx="3293616" cy="47051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1171853" y="4948393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853" y="4948393"/>
                <a:ext cx="456600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668751" y="4948393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751" y="4948393"/>
                <a:ext cx="456600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2500666" y="3106276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666" y="3106276"/>
                <a:ext cx="456600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3827140" y="4948393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7140" y="4948393"/>
                <a:ext cx="456600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/>
          <p:cNvSpPr txBox="1"/>
          <p:nvPr/>
        </p:nvSpPr>
        <p:spPr>
          <a:xfrm>
            <a:off x="2957266" y="4948393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……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1431071" y="4299415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071" y="4299415"/>
                <a:ext cx="456600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1767885" y="3712126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885" y="3712126"/>
                <a:ext cx="456600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3206130" y="3712126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130" y="3712126"/>
                <a:ext cx="456600" cy="36933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2166591" y="4948393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6591" y="4948393"/>
                <a:ext cx="456600" cy="36933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線接點 17"/>
          <p:cNvCxnSpPr>
            <a:stCxn id="8" idx="2"/>
            <a:endCxn id="14" idx="0"/>
          </p:cNvCxnSpPr>
          <p:nvPr/>
        </p:nvCxnSpPr>
        <p:spPr>
          <a:xfrm flipH="1">
            <a:off x="1996185" y="3475608"/>
            <a:ext cx="732781" cy="2365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8" idx="2"/>
            <a:endCxn id="15" idx="0"/>
          </p:cNvCxnSpPr>
          <p:nvPr/>
        </p:nvCxnSpPr>
        <p:spPr>
          <a:xfrm>
            <a:off x="2728966" y="3475608"/>
            <a:ext cx="705464" cy="2365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4" idx="2"/>
            <a:endCxn id="13" idx="0"/>
          </p:cNvCxnSpPr>
          <p:nvPr/>
        </p:nvCxnSpPr>
        <p:spPr>
          <a:xfrm flipH="1">
            <a:off x="1659371" y="4081458"/>
            <a:ext cx="336814" cy="2179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13" idx="2"/>
            <a:endCxn id="6" idx="0"/>
          </p:cNvCxnSpPr>
          <p:nvPr/>
        </p:nvCxnSpPr>
        <p:spPr>
          <a:xfrm flipH="1">
            <a:off x="1400153" y="4668747"/>
            <a:ext cx="259218" cy="2796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接點 28"/>
          <p:cNvCxnSpPr>
            <a:stCxn id="13" idx="2"/>
            <a:endCxn id="7" idx="0"/>
          </p:cNvCxnSpPr>
          <p:nvPr/>
        </p:nvCxnSpPr>
        <p:spPr>
          <a:xfrm>
            <a:off x="1659371" y="4668747"/>
            <a:ext cx="237680" cy="2796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15" idx="2"/>
            <a:endCxn id="10" idx="0"/>
          </p:cNvCxnSpPr>
          <p:nvPr/>
        </p:nvCxnSpPr>
        <p:spPr>
          <a:xfrm flipH="1">
            <a:off x="3215510" y="4081458"/>
            <a:ext cx="218920" cy="8669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15" idx="2"/>
            <a:endCxn id="9" idx="0"/>
          </p:cNvCxnSpPr>
          <p:nvPr/>
        </p:nvCxnSpPr>
        <p:spPr>
          <a:xfrm>
            <a:off x="3434430" y="4081458"/>
            <a:ext cx="621010" cy="8669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stCxn id="14" idx="2"/>
            <a:endCxn id="16" idx="0"/>
          </p:cNvCxnSpPr>
          <p:nvPr/>
        </p:nvCxnSpPr>
        <p:spPr>
          <a:xfrm>
            <a:off x="1996185" y="4081458"/>
            <a:ext cx="398706" cy="8669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/>
              <p:cNvSpPr txBox="1"/>
              <p:nvPr/>
            </p:nvSpPr>
            <p:spPr>
              <a:xfrm flipH="1">
                <a:off x="4492388" y="4948393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9" name="文字方塊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92388" y="4948393"/>
                <a:ext cx="456600" cy="369332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/>
              <p:cNvSpPr txBox="1"/>
              <p:nvPr/>
            </p:nvSpPr>
            <p:spPr>
              <a:xfrm flipH="1">
                <a:off x="4989286" y="4948393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989286" y="4948393"/>
                <a:ext cx="456600" cy="3693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/>
              <p:cNvSpPr txBox="1"/>
              <p:nvPr/>
            </p:nvSpPr>
            <p:spPr>
              <a:xfrm flipH="1">
                <a:off x="5821201" y="3106276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1" name="文字方塊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821201" y="3106276"/>
                <a:ext cx="456600" cy="369332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 flipH="1">
                <a:off x="7147675" y="4948393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147675" y="4948393"/>
                <a:ext cx="456600" cy="369332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字方塊 42"/>
          <p:cNvSpPr txBox="1"/>
          <p:nvPr/>
        </p:nvSpPr>
        <p:spPr>
          <a:xfrm flipH="1">
            <a:off x="6277801" y="4948393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……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/>
              <p:cNvSpPr txBox="1"/>
              <p:nvPr/>
            </p:nvSpPr>
            <p:spPr>
              <a:xfrm flipH="1">
                <a:off x="4751606" y="4299415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751606" y="4299415"/>
                <a:ext cx="456600" cy="369332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/>
              <p:cNvSpPr txBox="1"/>
              <p:nvPr/>
            </p:nvSpPr>
            <p:spPr>
              <a:xfrm flipH="1">
                <a:off x="5088420" y="3712126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088420" y="3712126"/>
                <a:ext cx="456600" cy="369332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 flipH="1">
                <a:off x="6526665" y="3712126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26665" y="3712126"/>
                <a:ext cx="456600" cy="369332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 flipH="1">
                <a:off x="5487126" y="4948393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487126" y="4948393"/>
                <a:ext cx="456600" cy="369332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直線接點 47"/>
          <p:cNvCxnSpPr>
            <a:stCxn id="45" idx="0"/>
            <a:endCxn id="41" idx="2"/>
          </p:cNvCxnSpPr>
          <p:nvPr/>
        </p:nvCxnSpPr>
        <p:spPr>
          <a:xfrm flipV="1">
            <a:off x="5316720" y="3475608"/>
            <a:ext cx="732781" cy="2365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線接點 48"/>
          <p:cNvCxnSpPr>
            <a:stCxn id="46" idx="0"/>
            <a:endCxn id="41" idx="2"/>
          </p:cNvCxnSpPr>
          <p:nvPr/>
        </p:nvCxnSpPr>
        <p:spPr>
          <a:xfrm flipH="1" flipV="1">
            <a:off x="6049501" y="3475608"/>
            <a:ext cx="705464" cy="2365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45" idx="2"/>
            <a:endCxn id="44" idx="0"/>
          </p:cNvCxnSpPr>
          <p:nvPr/>
        </p:nvCxnSpPr>
        <p:spPr>
          <a:xfrm flipH="1">
            <a:off x="4979906" y="4081458"/>
            <a:ext cx="336814" cy="2179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39" idx="0"/>
            <a:endCxn id="44" idx="2"/>
          </p:cNvCxnSpPr>
          <p:nvPr/>
        </p:nvCxnSpPr>
        <p:spPr>
          <a:xfrm flipV="1">
            <a:off x="4720688" y="4668747"/>
            <a:ext cx="259218" cy="2796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線接點 51"/>
          <p:cNvCxnSpPr>
            <a:stCxn id="40" idx="0"/>
            <a:endCxn id="44" idx="2"/>
          </p:cNvCxnSpPr>
          <p:nvPr/>
        </p:nvCxnSpPr>
        <p:spPr>
          <a:xfrm flipH="1" flipV="1">
            <a:off x="4979906" y="4668747"/>
            <a:ext cx="237680" cy="2796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stCxn id="46" idx="2"/>
            <a:endCxn id="43" idx="0"/>
          </p:cNvCxnSpPr>
          <p:nvPr/>
        </p:nvCxnSpPr>
        <p:spPr>
          <a:xfrm flipH="1">
            <a:off x="6536045" y="4081458"/>
            <a:ext cx="218920" cy="8669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42" idx="0"/>
            <a:endCxn id="46" idx="2"/>
          </p:cNvCxnSpPr>
          <p:nvPr/>
        </p:nvCxnSpPr>
        <p:spPr>
          <a:xfrm flipH="1" flipV="1">
            <a:off x="6754965" y="4081458"/>
            <a:ext cx="621010" cy="8669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接點 54"/>
          <p:cNvCxnSpPr>
            <a:stCxn id="45" idx="2"/>
            <a:endCxn id="47" idx="0"/>
          </p:cNvCxnSpPr>
          <p:nvPr/>
        </p:nvCxnSpPr>
        <p:spPr>
          <a:xfrm>
            <a:off x="5316720" y="4081458"/>
            <a:ext cx="398706" cy="8669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圓角矩形 82"/>
          <p:cNvSpPr/>
          <p:nvPr/>
        </p:nvSpPr>
        <p:spPr>
          <a:xfrm>
            <a:off x="878889" y="2794195"/>
            <a:ext cx="6872796" cy="2574525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/>
              <p:cNvSpPr/>
              <p:nvPr/>
            </p:nvSpPr>
            <p:spPr>
              <a:xfrm>
                <a:off x="6485205" y="2585488"/>
                <a:ext cx="1781540" cy="541538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>
                    <a:solidFill>
                      <a:schemeClr val="tx1"/>
                    </a:solidFill>
                  </a:rPr>
                  <a:t>size =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矩形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205" y="2585488"/>
                <a:ext cx="1781540" cy="541538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弧形 85"/>
          <p:cNvSpPr/>
          <p:nvPr/>
        </p:nvSpPr>
        <p:spPr>
          <a:xfrm flipV="1">
            <a:off x="1009559" y="5648903"/>
            <a:ext cx="6742126" cy="723076"/>
          </a:xfrm>
          <a:prstGeom prst="arc">
            <a:avLst>
              <a:gd name="adj1" fmla="val 10810049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矩形 86"/>
              <p:cNvSpPr/>
              <p:nvPr/>
            </p:nvSpPr>
            <p:spPr>
              <a:xfrm>
                <a:off x="3507171" y="6344148"/>
                <a:ext cx="1482115" cy="308014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l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ength =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矩形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7171" y="6344148"/>
                <a:ext cx="1482115" cy="308014"/>
              </a:xfrm>
              <a:prstGeom prst="rect">
                <a:avLst/>
              </a:prstGeom>
              <a:blipFill rotWithShape="0">
                <a:blip r:embed="rId22"/>
                <a:stretch>
                  <a:fillRect t="-22000" b="-4200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1148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4" grpId="0" animBg="1"/>
      <p:bldP spid="86" grpId="0" animBg="1"/>
      <p:bldP spid="8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5030" y="-187136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Edit distance and LCS</a:t>
            </a:r>
            <a:endParaRPr lang="zh-TW" altLang="en-US" dirty="0"/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94" y="1138427"/>
            <a:ext cx="4552950" cy="40671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4585917" y="951587"/>
                <a:ext cx="42308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Basic method :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endParaRPr lang="en-US" altLang="zh-TW" dirty="0" smtClean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917" y="951587"/>
                <a:ext cx="4230857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153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線單箭頭接點 20"/>
          <p:cNvCxnSpPr/>
          <p:nvPr/>
        </p:nvCxnSpPr>
        <p:spPr>
          <a:xfrm>
            <a:off x="1633491" y="1569583"/>
            <a:ext cx="514905" cy="49891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>
            <a:off x="2175029" y="2673100"/>
            <a:ext cx="514905" cy="49891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2731932" y="3189770"/>
            <a:ext cx="514905" cy="49891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>
            <a:off x="3246837" y="4272560"/>
            <a:ext cx="514905" cy="49891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1047666" y="1569583"/>
            <a:ext cx="585825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/>
          <p:nvPr/>
        </p:nvCxnSpPr>
        <p:spPr>
          <a:xfrm>
            <a:off x="3757098" y="4762311"/>
            <a:ext cx="585825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>
            <a:off x="3229992" y="3686032"/>
            <a:ext cx="16845" cy="586528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>
            <a:off x="2148396" y="2118965"/>
            <a:ext cx="16845" cy="586528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1012155" y="5082760"/>
            <a:ext cx="18439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 smtClean="0"/>
              <a:t>LCS : BCBA</a:t>
            </a:r>
            <a:endParaRPr lang="zh-TW" altLang="en-US" sz="3000" dirty="0"/>
          </a:p>
        </p:txBody>
      </p:sp>
    </p:spTree>
    <p:extLst>
      <p:ext uri="{BB962C8B-B14F-4D97-AF65-F5344CB8AC3E}">
        <p14:creationId xmlns:p14="http://schemas.microsoft.com/office/powerpoint/2010/main" val="2144403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圖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71" y="2020411"/>
            <a:ext cx="4206488" cy="4016211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5030" y="-187136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Edit distance and LCS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616503" y="996674"/>
                <a:ext cx="4230857" cy="658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: the best path between </a:t>
                </a:r>
              </a:p>
              <a:p>
                <a:r>
                  <a:rPr lang="en-US" altLang="zh-TW" dirty="0"/>
                  <a:t>	string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dirty="0" smtClean="0"/>
                  <a:t>-</a:t>
                </a:r>
                <a:r>
                  <a:rPr lang="en-US" altLang="zh-TW" dirty="0" err="1" smtClean="0"/>
                  <a:t>th</a:t>
                </a:r>
                <a:r>
                  <a:rPr lang="en-US" altLang="zh-TW" dirty="0" smtClean="0"/>
                  <a:t> input </a:t>
                </a:r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TW" dirty="0" smtClean="0"/>
                  <a:t>-</a:t>
                </a:r>
                <a:r>
                  <a:rPr lang="en-US" altLang="zh-TW" dirty="0" err="1" smtClean="0"/>
                  <a:t>th</a:t>
                </a:r>
                <a:r>
                  <a:rPr lang="en-US" altLang="zh-TW" dirty="0" smtClean="0"/>
                  <a:t> output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03" y="996674"/>
                <a:ext cx="4230857" cy="658514"/>
              </a:xfrm>
              <a:prstGeom prst="rect">
                <a:avLst/>
              </a:prstGeom>
              <a:blipFill rotWithShape="0">
                <a:blip r:embed="rId3"/>
                <a:stretch>
                  <a:fillRect t="-3670" b="-128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直線單箭頭接點 62"/>
          <p:cNvCxnSpPr/>
          <p:nvPr/>
        </p:nvCxnSpPr>
        <p:spPr>
          <a:xfrm>
            <a:off x="3879879" y="3524067"/>
            <a:ext cx="0" cy="50699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V="1">
            <a:off x="2280681" y="2446665"/>
            <a:ext cx="516134" cy="4262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2826277" y="2446665"/>
            <a:ext cx="513593" cy="53870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5271883" y="996674"/>
                <a:ext cx="4230857" cy="2145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&lt;0 </m:t>
                    </m:r>
                  </m:oMath>
                </a14:m>
                <a:r>
                  <a:rPr lang="en-US" altLang="zh-TW" dirty="0" smtClean="0"/>
                  <a:t>if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altLang="zh-TW" b="0" dirty="0" smtClean="0"/>
              </a:p>
              <a:p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l-GR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 smtClean="0"/>
                  <a:t> </a:t>
                </a:r>
                <a:endParaRPr lang="en-US" altLang="zh-TW" dirty="0" smtClean="0"/>
              </a:p>
              <a:p>
                <a:endParaRPr lang="en-US" altLang="zh-TW" dirty="0"/>
              </a:p>
              <a:p>
                <a:r>
                  <a:rPr lang="en-US" altLang="zh-TW" dirty="0" smtClean="0"/>
                  <a:t>, where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is a permutation matrix and</a:t>
                </a:r>
              </a:p>
              <a:p>
                <a:endParaRPr lang="en-US" altLang="zh-TW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brk m:alnAt="25"/>
                              </m:r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brk m:alnAt="25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brk m:alnAt="25"/>
                              </m:r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brk m:alnAt="25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′)</m:t>
                        </m:r>
                      </m:e>
                    </m:nary>
                  </m:oMath>
                </a14:m>
                <a:r>
                  <a:rPr lang="zh-TW" altLang="en-US" dirty="0" smtClean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883" y="996674"/>
                <a:ext cx="4230857" cy="2145331"/>
              </a:xfrm>
              <a:prstGeom prst="rect">
                <a:avLst/>
              </a:prstGeom>
              <a:blipFill rotWithShape="0">
                <a:blip r:embed="rId4"/>
                <a:stretch>
                  <a:fillRect l="-1297" t="-1136" b="-298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表格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0349229"/>
                  </p:ext>
                </p:extLst>
              </p:nvPr>
            </p:nvGraphicFramePr>
            <p:xfrm>
              <a:off x="5893037" y="4173004"/>
              <a:ext cx="2256312" cy="2194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76052"/>
                    <a:gridCol w="376052"/>
                    <a:gridCol w="376052"/>
                    <a:gridCol w="376052"/>
                    <a:gridCol w="376052"/>
                    <a:gridCol w="376052"/>
                  </a:tblGrid>
                  <a:tr h="338633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</a:tr>
                  <a:tr h="338633"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</a:tr>
                  <a:tr h="338633"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</a:tr>
                  <a:tr h="338633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</a:tr>
                  <a:tr h="338633"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</a:tr>
                  <a:tr h="338633"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表格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0349229"/>
                  </p:ext>
                </p:extLst>
              </p:nvPr>
            </p:nvGraphicFramePr>
            <p:xfrm>
              <a:off x="5893037" y="4173004"/>
              <a:ext cx="2256312" cy="2194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76052"/>
                    <a:gridCol w="376052"/>
                    <a:gridCol w="376052"/>
                    <a:gridCol w="376052"/>
                    <a:gridCol w="376052"/>
                    <a:gridCol w="376052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201613" t="-101667" r="-301613" b="-4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/>
              <p:cNvSpPr txBox="1"/>
              <p:nvPr/>
            </p:nvSpPr>
            <p:spPr>
              <a:xfrm>
                <a:off x="5626561" y="4605474"/>
                <a:ext cx="1339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561" y="4605474"/>
                <a:ext cx="133947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45455" r="-36364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/>
              <p:cNvSpPr txBox="1"/>
              <p:nvPr/>
            </p:nvSpPr>
            <p:spPr>
              <a:xfrm>
                <a:off x="6754934" y="3834237"/>
                <a:ext cx="1402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934" y="3834237"/>
                <a:ext cx="140230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60870" t="-2222" r="-56522" b="-3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5472576" y="3834237"/>
                <a:ext cx="441916" cy="4462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zh-TW" altLang="en-US" sz="2300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576" y="3834237"/>
                <a:ext cx="441916" cy="44627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直線單箭頭接點 43"/>
          <p:cNvCxnSpPr/>
          <p:nvPr/>
        </p:nvCxnSpPr>
        <p:spPr>
          <a:xfrm>
            <a:off x="3366286" y="2985366"/>
            <a:ext cx="513593" cy="53870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>
            <a:off x="3879879" y="4098480"/>
            <a:ext cx="0" cy="50699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 flipV="1">
            <a:off x="3897280" y="4569762"/>
            <a:ext cx="516134" cy="4262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1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5029" y="-187136"/>
            <a:ext cx="8868435" cy="1325563"/>
          </a:xfrm>
        </p:spPr>
        <p:txBody>
          <a:bodyPr/>
          <a:lstStyle/>
          <a:p>
            <a:r>
              <a:rPr lang="en-US" altLang="zh-TW" dirty="0" smtClean="0"/>
              <a:t>Max-product of two matrices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527733" y="1138427"/>
                <a:ext cx="8091166" cy="2247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 smtClean="0"/>
                  <a:t>The </a:t>
                </a:r>
                <a:r>
                  <a:rPr lang="en-US" altLang="zh-TW" sz="2400" dirty="0"/>
                  <a:t>max-product of two matrices A and B is a </a:t>
                </a:r>
                <a:r>
                  <a:rPr lang="en-US" altLang="zh-TW" sz="2400" dirty="0" smtClean="0"/>
                  <a:t>matrix C such </a:t>
                </a:r>
                <a:r>
                  <a:rPr lang="en-US" altLang="zh-TW" sz="2400" dirty="0"/>
                  <a:t>that</a:t>
                </a:r>
                <a:endParaRPr lang="en-US" altLang="zh-TW" sz="24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i="0" dirty="0" err="1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TW" sz="2400" i="1" dirty="0" err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400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n-US" altLang="zh-TW" sz="2400" dirty="0" smtClean="0"/>
              </a:p>
              <a:p>
                <a:endParaRPr lang="en-US" altLang="zh-TW" sz="2400" dirty="0"/>
              </a:p>
              <a:p>
                <a:r>
                  <a:rPr lang="en-US" altLang="zh-TW" sz="2400" dirty="0"/>
                  <a:t>S</a:t>
                </a:r>
                <a:r>
                  <a:rPr lang="en-US" altLang="zh-TW" sz="2400" dirty="0" smtClean="0"/>
                  <a:t>imilarly</a:t>
                </a:r>
                <a:r>
                  <a:rPr lang="en-US" altLang="zh-TW" sz="2400" dirty="0"/>
                  <a:t>, the min-product is C </a:t>
                </a:r>
                <a:r>
                  <a:rPr lang="en-US" altLang="zh-TW" sz="2400" dirty="0" smtClean="0"/>
                  <a:t>such that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dirty="0" err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i="0" dirty="0" err="1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TW" sz="2400" i="1" dirty="0" err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400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) + 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33" y="1138427"/>
                <a:ext cx="8091166" cy="2247923"/>
              </a:xfrm>
              <a:prstGeom prst="rect">
                <a:avLst/>
              </a:prstGeom>
              <a:blipFill rotWithShape="0">
                <a:blip r:embed="rId2"/>
                <a:stretch>
                  <a:fillRect l="-1206" t="-2168" r="-1130" b="-13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4" y="3754052"/>
            <a:ext cx="8991600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389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5029" y="-187136"/>
            <a:ext cx="8868435" cy="1325563"/>
          </a:xfrm>
        </p:spPr>
        <p:txBody>
          <a:bodyPr/>
          <a:lstStyle/>
          <a:p>
            <a:r>
              <a:rPr lang="en-US" altLang="zh-TW" dirty="0" smtClean="0"/>
              <a:t>Max-product of two matrices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/>
          <a:srcRect t="57193"/>
          <a:stretch/>
        </p:blipFill>
        <p:spPr>
          <a:xfrm>
            <a:off x="76199" y="932402"/>
            <a:ext cx="8991600" cy="93779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003177" y="3302495"/>
            <a:ext cx="2610035" cy="11540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2207589" y="2871926"/>
                <a:ext cx="2012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89" y="2871926"/>
                <a:ext cx="201209" cy="307777"/>
              </a:xfrm>
              <a:prstGeom prst="rect">
                <a:avLst/>
              </a:prstGeom>
              <a:blipFill rotWithShape="0">
                <a:blip r:embed="rId3"/>
                <a:stretch>
                  <a:fillRect l="-30303" r="-30303"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460168" y="3725654"/>
                <a:ext cx="26609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168" y="3725654"/>
                <a:ext cx="266098" cy="307777"/>
              </a:xfrm>
              <a:prstGeom prst="rect">
                <a:avLst/>
              </a:prstGeom>
              <a:blipFill rotWithShape="0">
                <a:blip r:embed="rId4"/>
                <a:stretch>
                  <a:fillRect l="-25000" t="-1961" r="-27273" b="-98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2207588" y="5196676"/>
                <a:ext cx="2012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88" y="5196676"/>
                <a:ext cx="201209" cy="307777"/>
              </a:xfrm>
              <a:prstGeom prst="rect">
                <a:avLst/>
              </a:prstGeom>
              <a:blipFill rotWithShape="0">
                <a:blip r:embed="rId5"/>
                <a:stretch>
                  <a:fillRect l="-30303" r="-30303"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460168" y="5893285"/>
                <a:ext cx="3318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′′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168" y="5893285"/>
                <a:ext cx="331822" cy="307777"/>
              </a:xfrm>
              <a:prstGeom prst="rect">
                <a:avLst/>
              </a:prstGeom>
              <a:blipFill rotWithShape="0">
                <a:blip r:embed="rId6"/>
                <a:stretch>
                  <a:fillRect l="-20000" t="-4000" r="-21818"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弧形接點 11"/>
          <p:cNvCxnSpPr/>
          <p:nvPr/>
        </p:nvCxnSpPr>
        <p:spPr>
          <a:xfrm>
            <a:off x="1003177" y="3302495"/>
            <a:ext cx="2610035" cy="1154096"/>
          </a:xfrm>
          <a:prstGeom prst="curvedConnector3">
            <a:avLst>
              <a:gd name="adj1" fmla="val 81293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1003177" y="5505637"/>
            <a:ext cx="2610035" cy="11540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9" name="弧形接點 18"/>
          <p:cNvCxnSpPr/>
          <p:nvPr/>
        </p:nvCxnSpPr>
        <p:spPr>
          <a:xfrm>
            <a:off x="1003177" y="5505637"/>
            <a:ext cx="2610035" cy="1154096"/>
          </a:xfrm>
          <a:prstGeom prst="curvedConnector3">
            <a:avLst>
              <a:gd name="adj1" fmla="val 30273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向右箭號 20"/>
              <p:cNvSpPr/>
              <p:nvPr/>
            </p:nvSpPr>
            <p:spPr>
              <a:xfrm>
                <a:off x="3879542" y="4651900"/>
                <a:ext cx="1642369" cy="698664"/>
              </a:xfrm>
              <a:prstGeom prst="rightArrow">
                <a:avLst/>
              </a:prstGeom>
              <a:noFill/>
              <a:ln w="285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𝑥𝑙𝑜𝑔𝑥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向右箭號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9542" y="4651900"/>
                <a:ext cx="1642369" cy="698664"/>
              </a:xfrm>
              <a:prstGeom prst="rightArrow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285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/>
          <p:cNvSpPr/>
          <p:nvPr/>
        </p:nvSpPr>
        <p:spPr>
          <a:xfrm>
            <a:off x="6087135" y="3892870"/>
            <a:ext cx="2610035" cy="11540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6087136" y="5046966"/>
            <a:ext cx="2610035" cy="11540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7473521" y="3493363"/>
                <a:ext cx="2012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521" y="3493363"/>
                <a:ext cx="201209" cy="307777"/>
              </a:xfrm>
              <a:prstGeom prst="rect">
                <a:avLst/>
              </a:prstGeom>
              <a:blipFill rotWithShape="0">
                <a:blip r:embed="rId8"/>
                <a:stretch>
                  <a:fillRect l="-30303" r="-30303"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5726100" y="4338213"/>
                <a:ext cx="26609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100" y="4338213"/>
                <a:ext cx="266098" cy="307777"/>
              </a:xfrm>
              <a:prstGeom prst="rect">
                <a:avLst/>
              </a:prstGeom>
              <a:blipFill rotWithShape="0">
                <a:blip r:embed="rId9"/>
                <a:stretch>
                  <a:fillRect l="-25000" t="-4000" r="-27273"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5726100" y="5504453"/>
                <a:ext cx="3318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′′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100" y="5504453"/>
                <a:ext cx="331822" cy="307777"/>
              </a:xfrm>
              <a:prstGeom prst="rect">
                <a:avLst/>
              </a:prstGeom>
              <a:blipFill rotWithShape="0">
                <a:blip r:embed="rId10"/>
                <a:stretch>
                  <a:fillRect l="-20000" t="-4000" r="-21818"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弧形接點 26"/>
          <p:cNvCxnSpPr/>
          <p:nvPr/>
        </p:nvCxnSpPr>
        <p:spPr>
          <a:xfrm>
            <a:off x="6087134" y="3915053"/>
            <a:ext cx="2639250" cy="2286009"/>
          </a:xfrm>
          <a:prstGeom prst="curvedConnector3">
            <a:avLst>
              <a:gd name="adj1" fmla="val 75901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1725439" y="2054671"/>
                <a:ext cx="6327245" cy="6392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TW" sz="25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5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TW" sz="25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TW" sz="25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5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TW" sz="2500" b="0" i="1" dirty="0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500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TW" sz="2500" i="1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500" i="1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500" dirty="0" err="1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TW" sz="250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TW" sz="25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500" b="0" i="1" dirty="0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25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5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zh-TW" sz="2500" b="0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25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5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500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en-US" altLang="zh-TW" sz="25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500" b="0" i="1" dirty="0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25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5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zh-TW" sz="2500" b="0" i="1" dirty="0" smtClean="0"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  <m:r>
                                <a:rPr lang="en-US" altLang="zh-TW" sz="25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5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TW" sz="2500" i="1" dirty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n-US" altLang="zh-TW" sz="2500" dirty="0"/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439" y="2054671"/>
                <a:ext cx="6327245" cy="639214"/>
              </a:xfrm>
              <a:prstGeom prst="rect">
                <a:avLst/>
              </a:prstGeom>
              <a:blipFill rotWithShape="0">
                <a:blip r:embed="rId1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8063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5029" y="-187136"/>
            <a:ext cx="8868435" cy="1325563"/>
          </a:xfrm>
        </p:spPr>
        <p:txBody>
          <a:bodyPr/>
          <a:lstStyle/>
          <a:p>
            <a:r>
              <a:rPr lang="en-US" altLang="zh-TW" dirty="0" smtClean="0"/>
              <a:t>The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692458" y="976544"/>
                <a:ext cx="8272393" cy="14419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500" dirty="0" smtClean="0"/>
                  <a:t>We would like to compute the whole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TW" sz="2500" dirty="0" smtClean="0"/>
                  <a:t> table </a:t>
                </a:r>
              </a:p>
              <a:p>
                <a:r>
                  <a:rPr lang="en-US" altLang="zh-TW" sz="2500" dirty="0" smtClean="0"/>
                  <a:t>by cutting it into fragments of sizes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TW" altLang="en-US" sz="2500" dirty="0" smtClean="0"/>
                  <a:t> </a:t>
                </a:r>
                <a:r>
                  <a:rPr lang="en-US" altLang="zh-TW" sz="2500" dirty="0" smtClean="0"/>
                  <a:t>so that all</a:t>
                </a:r>
                <a14:m>
                  <m:oMath xmlns:m="http://schemas.openxmlformats.org/officeDocument/2006/math">
                    <m:r>
                      <a:rPr lang="en-US" altLang="zh-TW" sz="25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US" altLang="zh-TW" sz="25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zh-TW" altLang="en-US" sz="2500" dirty="0" smtClean="0"/>
                  <a:t> </a:t>
                </a:r>
                <a:r>
                  <a:rPr lang="en-US" altLang="zh-TW" sz="2500" dirty="0" smtClean="0"/>
                  <a:t>values </a:t>
                </a:r>
              </a:p>
              <a:p>
                <a:r>
                  <a:rPr lang="en-US" altLang="zh-TW" sz="2500" dirty="0" smtClean="0"/>
                  <a:t>on their boundaries can be computed efficiently.</a:t>
                </a:r>
                <a:endParaRPr lang="zh-TW" altLang="en-US" sz="25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458" y="976544"/>
                <a:ext cx="8272393" cy="1441933"/>
              </a:xfrm>
              <a:prstGeom prst="rect">
                <a:avLst/>
              </a:prstGeom>
              <a:blipFill rotWithShape="0">
                <a:blip r:embed="rId2"/>
                <a:stretch>
                  <a:fillRect l="-1253" t="-2954" b="-67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005" y="2384686"/>
            <a:ext cx="6370481" cy="429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361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5029" y="-187136"/>
            <a:ext cx="8868435" cy="1325563"/>
          </a:xfrm>
        </p:spPr>
        <p:txBody>
          <a:bodyPr/>
          <a:lstStyle/>
          <a:p>
            <a:r>
              <a:rPr lang="en-US" altLang="zh-TW" dirty="0" smtClean="0"/>
              <a:t>The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692458" y="976544"/>
                <a:ext cx="8005846" cy="50937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500" dirty="0" smtClean="0"/>
                  <a:t>Transform the SLP which presents the original string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5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500" dirty="0" smtClean="0"/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5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500" dirty="0" smtClean="0"/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5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500" dirty="0" smtClean="0"/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5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500" dirty="0" smtClean="0"/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500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500" dirty="0" smtClean="0"/>
                  <a:t>Compute all the best path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TW" altLang="en-US" sz="2500" dirty="0" smtClean="0"/>
                  <a:t> </a:t>
                </a:r>
                <a:r>
                  <a:rPr lang="en-US" altLang="zh-TW" sz="2500" dirty="0" smtClean="0"/>
                  <a:t>for every pair of fragments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500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500" dirty="0" smtClean="0"/>
                  <a:t>Go through the fragments one-by-one</a:t>
                </a:r>
                <a:endParaRPr lang="zh-TW" altLang="en-US" sz="25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458" y="976544"/>
                <a:ext cx="8005846" cy="5093702"/>
              </a:xfrm>
              <a:prstGeom prst="rect">
                <a:avLst/>
              </a:prstGeom>
              <a:blipFill rotWithShape="0">
                <a:blip r:embed="rId2"/>
                <a:stretch>
                  <a:fillRect l="-1371" t="-1196" b="-20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346404"/>
              </p:ext>
            </p:extLst>
          </p:nvPr>
        </p:nvGraphicFramePr>
        <p:xfrm>
          <a:off x="2815131" y="1938795"/>
          <a:ext cx="2609125" cy="22514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1825"/>
                <a:gridCol w="521825"/>
                <a:gridCol w="521825"/>
                <a:gridCol w="521825"/>
                <a:gridCol w="521825"/>
              </a:tblGrid>
              <a:tr h="45029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50293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50293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50293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50293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2882406" y="1499417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2406" y="1499417"/>
                <a:ext cx="4566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3389835" y="1499417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9835" y="1499417"/>
                <a:ext cx="456600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3891393" y="1494002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393" y="1494002"/>
                <a:ext cx="456600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4404179" y="1494002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4179" y="1494002"/>
                <a:ext cx="456600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4955396" y="1506343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5396" y="1506343"/>
                <a:ext cx="456600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2333117" y="1938795"/>
                <a:ext cx="5159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117" y="1938795"/>
                <a:ext cx="515910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2333117" y="2433052"/>
                <a:ext cx="461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sub>
                    </m:sSub>
                  </m:oMath>
                </a14:m>
                <a:r>
                  <a:rPr lang="en-US" altLang="zh-TW" dirty="0" smtClean="0"/>
                  <a:t>’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117" y="2433052"/>
                <a:ext cx="461408" cy="369332"/>
              </a:xfrm>
              <a:prstGeom prst="rect">
                <a:avLst/>
              </a:prstGeom>
              <a:blipFill rotWithShape="0">
                <a:blip r:embed="rId9"/>
                <a:stretch>
                  <a:fillRect t="-8197" r="-1066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2333117" y="2904139"/>
                <a:ext cx="461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sub>
                    </m:sSub>
                  </m:oMath>
                </a14:m>
                <a:r>
                  <a:rPr lang="en-US" altLang="zh-TW" dirty="0" smtClean="0"/>
                  <a:t>’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117" y="2904139"/>
                <a:ext cx="461408" cy="369332"/>
              </a:xfrm>
              <a:prstGeom prst="rect">
                <a:avLst/>
              </a:prstGeom>
              <a:blipFill rotWithShape="0">
                <a:blip r:embed="rId10"/>
                <a:stretch>
                  <a:fillRect t="-8197" r="-1066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2333117" y="3360934"/>
                <a:ext cx="461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sub>
                    </m:sSub>
                  </m:oMath>
                </a14:m>
                <a:r>
                  <a:rPr lang="en-US" altLang="zh-TW" dirty="0" smtClean="0"/>
                  <a:t>’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117" y="3360934"/>
                <a:ext cx="461408" cy="369332"/>
              </a:xfrm>
              <a:prstGeom prst="rect">
                <a:avLst/>
              </a:prstGeom>
              <a:blipFill rotWithShape="0">
                <a:blip r:embed="rId11"/>
                <a:stretch>
                  <a:fillRect t="-8197" r="-1066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2333117" y="3817729"/>
                <a:ext cx="461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sub>
                    </m:sSub>
                  </m:oMath>
                </a14:m>
                <a:r>
                  <a:rPr lang="en-US" altLang="zh-TW" dirty="0" smtClean="0"/>
                  <a:t>’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117" y="3817729"/>
                <a:ext cx="461408" cy="369332"/>
              </a:xfrm>
              <a:prstGeom prst="rect">
                <a:avLst/>
              </a:prstGeom>
              <a:blipFill rotWithShape="0">
                <a:blip r:embed="rId12"/>
                <a:stretch>
                  <a:fillRect t="-8197" r="-1066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6253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5029" y="-187136"/>
            <a:ext cx="8868435" cy="1325563"/>
          </a:xfrm>
        </p:spPr>
        <p:txBody>
          <a:bodyPr/>
          <a:lstStyle/>
          <a:p>
            <a:r>
              <a:rPr lang="en-US" altLang="zh-TW" dirty="0" smtClean="0"/>
              <a:t>Transform the SLP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251758" y="1138427"/>
                <a:ext cx="9015481" cy="4205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500" dirty="0" smtClean="0"/>
                  <a:t>Call a nonterminal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</a:rPr>
                      <m:t>𝑠𝑚𝑎𝑙𝑙</m:t>
                    </m:r>
                  </m:oMath>
                </a14:m>
                <a:r>
                  <a:rPr lang="en-US" altLang="zh-TW" sz="2500" dirty="0" smtClean="0"/>
                  <a:t> if it describes a string of length at most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sz="2500" dirty="0" smtClean="0"/>
                  <a:t>.</a:t>
                </a:r>
              </a:p>
              <a:p>
                <a:endParaRPr lang="en-US" altLang="zh-TW" sz="2500" dirty="0"/>
              </a:p>
              <a:p>
                <a:r>
                  <a:rPr lang="en-US" altLang="zh-TW" sz="2500" dirty="0" smtClean="0"/>
                  <a:t>Otherwise, call it </a:t>
                </a:r>
                <a14:m>
                  <m:oMath xmlns:m="http://schemas.openxmlformats.org/officeDocument/2006/math">
                    <m:r>
                      <a:rPr lang="en-US" altLang="zh-TW" sz="2500" b="0" i="1" dirty="0" smtClean="0">
                        <a:latin typeface="Cambria Math" panose="02040503050406030204" pitchFamily="18" charset="0"/>
                      </a:rPr>
                      <m:t>𝑏𝑖𝑔</m:t>
                    </m:r>
                  </m:oMath>
                </a14:m>
                <a:r>
                  <a:rPr lang="en-US" altLang="zh-TW" sz="2500" dirty="0" smtClean="0"/>
                  <a:t>.</a:t>
                </a:r>
              </a:p>
              <a:p>
                <a:endParaRPr lang="en-US" altLang="zh-TW" sz="2500" dirty="0"/>
              </a:p>
              <a:p>
                <a:r>
                  <a:rPr lang="en-US" altLang="zh-TW" sz="2500" dirty="0" smtClean="0"/>
                  <a:t>A</a:t>
                </a:r>
                <a:r>
                  <a:rPr lang="en-US" altLang="zh-TW" sz="2500" dirty="0" smtClean="0">
                    <a:sym typeface="Wingdings" panose="05000000000000000000" pitchFamily="2" charset="2"/>
                  </a:rPr>
                  <a:t>BC</a:t>
                </a:r>
              </a:p>
              <a:p>
                <a:endParaRPr lang="en-US" altLang="zh-TW" sz="2500" dirty="0">
                  <a:sym typeface="Wingdings" panose="05000000000000000000" pitchFamily="2" charset="2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500" dirty="0" smtClean="0">
                    <a:sym typeface="Wingdings" panose="05000000000000000000" pitchFamily="2" charset="2"/>
                  </a:rPr>
                  <a:t>if  B is small and C is big, then create an edge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TW" sz="25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</m:groupChr>
                    <m:r>
                      <a:rPr lang="en-US" altLang="zh-TW" sz="25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</m:oMath>
                </a14:m>
                <a:r>
                  <a:rPr lang="en-US" altLang="zh-TW" sz="2500" b="0" dirty="0" smtClean="0">
                    <a:sym typeface="Wingdings" panose="05000000000000000000" pitchFamily="2" charset="2"/>
                  </a:rPr>
                  <a:t> (right graph)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500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500" dirty="0">
                    <a:sym typeface="Wingdings" panose="05000000000000000000" pitchFamily="2" charset="2"/>
                  </a:rPr>
                  <a:t>if  B </a:t>
                </a:r>
                <a:r>
                  <a:rPr lang="en-US" altLang="zh-TW" sz="2500" dirty="0" smtClean="0">
                    <a:sym typeface="Wingdings" panose="05000000000000000000" pitchFamily="2" charset="2"/>
                  </a:rPr>
                  <a:t>is big </a:t>
                </a:r>
                <a:r>
                  <a:rPr lang="en-US" altLang="zh-TW" sz="2500" dirty="0">
                    <a:sym typeface="Wingdings" panose="05000000000000000000" pitchFamily="2" charset="2"/>
                  </a:rPr>
                  <a:t>and C is </a:t>
                </a:r>
                <a:r>
                  <a:rPr lang="en-US" altLang="zh-TW" sz="2500" dirty="0" smtClean="0">
                    <a:sym typeface="Wingdings" panose="05000000000000000000" pitchFamily="2" charset="2"/>
                  </a:rPr>
                  <a:t>small, </a:t>
                </a:r>
                <a:r>
                  <a:rPr lang="en-US" altLang="zh-TW" sz="2500" dirty="0">
                    <a:sym typeface="Wingdings" panose="05000000000000000000" pitchFamily="2" charset="2"/>
                  </a:rPr>
                  <a:t>then create an edge </a:t>
                </a:r>
                <a14:m>
                  <m:oMath xmlns:m="http://schemas.openxmlformats.org/officeDocument/2006/math">
                    <m:r>
                      <a:rPr lang="en-US" altLang="zh-TW" sz="25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TW" sz="25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TW" sz="25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𝐶</m:t>
                        </m:r>
                      </m:e>
                    </m:groupChr>
                    <m:r>
                      <a:rPr lang="en-US" altLang="zh-TW" sz="25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r>
                  <a:rPr lang="en-US" altLang="zh-TW" sz="2500" dirty="0" smtClean="0">
                    <a:sym typeface="Wingdings" panose="05000000000000000000" pitchFamily="2" charset="2"/>
                  </a:rPr>
                  <a:t> (left graph)</a:t>
                </a:r>
                <a:endParaRPr lang="en-US" altLang="zh-TW" sz="2500" dirty="0">
                  <a:sym typeface="Wingdings" panose="05000000000000000000" pitchFamily="2" charset="2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5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58" y="1138427"/>
                <a:ext cx="9015481" cy="4205960"/>
              </a:xfrm>
              <a:prstGeom prst="rect">
                <a:avLst/>
              </a:prstGeom>
              <a:blipFill rotWithShape="0">
                <a:blip r:embed="rId2"/>
                <a:stretch>
                  <a:fillRect l="-1149" t="-1159" r="-1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7688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5029" y="-187136"/>
            <a:ext cx="8868435" cy="1325563"/>
          </a:xfrm>
        </p:spPr>
        <p:txBody>
          <a:bodyPr/>
          <a:lstStyle/>
          <a:p>
            <a:r>
              <a:rPr lang="en-US" altLang="zh-TW" dirty="0" smtClean="0"/>
              <a:t>Transform the SLP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251758" y="1138427"/>
            <a:ext cx="25680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00" dirty="0" smtClean="0"/>
              <a:t> </a:t>
            </a:r>
            <a:endParaRPr lang="en-US" altLang="zh-TW" sz="25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6769"/>
            <a:ext cx="9058275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77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5029" y="-187136"/>
            <a:ext cx="8868435" cy="1325563"/>
          </a:xfrm>
        </p:spPr>
        <p:txBody>
          <a:bodyPr/>
          <a:lstStyle/>
          <a:p>
            <a:r>
              <a:rPr lang="en-US" altLang="zh-TW" dirty="0" smtClean="0"/>
              <a:t>Transform the SLP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3231472" y="1489172"/>
                <a:ext cx="27885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1472" y="1489172"/>
                <a:ext cx="278858" cy="384721"/>
              </a:xfrm>
              <a:prstGeom prst="rect">
                <a:avLst/>
              </a:prstGeom>
              <a:blipFill rotWithShape="0">
                <a:blip r:embed="rId2"/>
                <a:stretch>
                  <a:fillRect l="-26087" r="-2391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2892056" y="1984812"/>
                <a:ext cx="2328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056" y="1984812"/>
                <a:ext cx="232884" cy="307777"/>
              </a:xfrm>
              <a:prstGeom prst="rect">
                <a:avLst/>
              </a:prstGeom>
              <a:blipFill rotWithShape="0">
                <a:blip r:embed="rId3"/>
                <a:stretch>
                  <a:fillRect l="-23077" r="-23077" b="-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753557" y="2484950"/>
                <a:ext cx="276999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557" y="2484950"/>
                <a:ext cx="276999" cy="384721"/>
              </a:xfrm>
              <a:prstGeom prst="rect">
                <a:avLst/>
              </a:prstGeom>
              <a:blipFill rotWithShape="0">
                <a:blip r:embed="rId4"/>
                <a:stretch>
                  <a:fillRect l="-26667" r="-22222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單箭頭接點 7"/>
          <p:cNvCxnSpPr>
            <a:stCxn id="7" idx="0"/>
            <a:endCxn id="3" idx="2"/>
          </p:cNvCxnSpPr>
          <p:nvPr/>
        </p:nvCxnSpPr>
        <p:spPr>
          <a:xfrm flipV="1">
            <a:off x="2892057" y="1873893"/>
            <a:ext cx="478844" cy="6110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3648070" y="2113431"/>
                <a:ext cx="24314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8070" y="2113431"/>
                <a:ext cx="243143" cy="307777"/>
              </a:xfrm>
              <a:prstGeom prst="rect">
                <a:avLst/>
              </a:prstGeom>
              <a:blipFill rotWithShape="0">
                <a:blip r:embed="rId5"/>
                <a:stretch>
                  <a:fillRect l="-22500" r="-22500" b="-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3738433" y="2677310"/>
                <a:ext cx="285013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433" y="2677310"/>
                <a:ext cx="285013" cy="384721"/>
              </a:xfrm>
              <a:prstGeom prst="rect">
                <a:avLst/>
              </a:prstGeom>
              <a:blipFill rotWithShape="0">
                <a:blip r:embed="rId6"/>
                <a:stretch>
                  <a:fillRect l="-25532" r="-19149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線單箭頭接點 11"/>
          <p:cNvCxnSpPr>
            <a:stCxn id="11" idx="0"/>
            <a:endCxn id="3" idx="2"/>
          </p:cNvCxnSpPr>
          <p:nvPr/>
        </p:nvCxnSpPr>
        <p:spPr>
          <a:xfrm flipH="1" flipV="1">
            <a:off x="3370901" y="1873893"/>
            <a:ext cx="510039" cy="8034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2357913" y="3146836"/>
                <a:ext cx="22480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913" y="3146836"/>
                <a:ext cx="224805" cy="307777"/>
              </a:xfrm>
              <a:prstGeom prst="rect">
                <a:avLst/>
              </a:prstGeom>
              <a:blipFill rotWithShape="0">
                <a:blip r:embed="rId7"/>
                <a:stretch>
                  <a:fillRect l="-27027" r="-21622"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2314403" y="3646974"/>
                <a:ext cx="2882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403" y="3646974"/>
                <a:ext cx="288220" cy="384721"/>
              </a:xfrm>
              <a:prstGeom prst="rect">
                <a:avLst/>
              </a:prstGeom>
              <a:blipFill rotWithShape="0">
                <a:blip r:embed="rId8"/>
                <a:stretch>
                  <a:fillRect l="-25532" r="-21277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單箭頭接點 18"/>
          <p:cNvCxnSpPr>
            <a:stCxn id="18" idx="0"/>
            <a:endCxn id="7" idx="2"/>
          </p:cNvCxnSpPr>
          <p:nvPr/>
        </p:nvCxnSpPr>
        <p:spPr>
          <a:xfrm flipV="1">
            <a:off x="2458513" y="2869671"/>
            <a:ext cx="433544" cy="777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1932066" y="4345139"/>
                <a:ext cx="2511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066" y="4345139"/>
                <a:ext cx="251159" cy="307777"/>
              </a:xfrm>
              <a:prstGeom prst="rect">
                <a:avLst/>
              </a:prstGeom>
              <a:blipFill rotWithShape="0">
                <a:blip r:embed="rId9"/>
                <a:stretch>
                  <a:fillRect l="-24390" r="-21951" b="-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1835286" y="4966360"/>
                <a:ext cx="20415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286" y="4966360"/>
                <a:ext cx="204158" cy="384721"/>
              </a:xfrm>
              <a:prstGeom prst="rect">
                <a:avLst/>
              </a:prstGeom>
              <a:blipFill rotWithShape="0">
                <a:blip r:embed="rId10"/>
                <a:stretch>
                  <a:fillRect l="-35294" r="-29412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單箭頭接點 22"/>
          <p:cNvCxnSpPr>
            <a:stCxn id="22" idx="0"/>
            <a:endCxn id="18" idx="2"/>
          </p:cNvCxnSpPr>
          <p:nvPr/>
        </p:nvCxnSpPr>
        <p:spPr>
          <a:xfrm flipV="1">
            <a:off x="1937365" y="4031695"/>
            <a:ext cx="521148" cy="934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橢圓 24"/>
          <p:cNvSpPr/>
          <p:nvPr/>
        </p:nvSpPr>
        <p:spPr>
          <a:xfrm>
            <a:off x="2039444" y="1247390"/>
            <a:ext cx="2585823" cy="2010932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/>
          <p:cNvSpPr/>
          <p:nvPr/>
        </p:nvSpPr>
        <p:spPr>
          <a:xfrm>
            <a:off x="1503510" y="3480728"/>
            <a:ext cx="1536316" cy="2120283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5644921" y="1138427"/>
                <a:ext cx="1519358" cy="23083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TW" sz="250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TW" sz="2500" i="1" smtClean="0">
                          <a:latin typeface="Cambria Math" panose="02040503050406030204" pitchFamily="18" charset="0"/>
                        </a:rPr>
                        <m:t>𝐻𝐺</m:t>
                      </m:r>
                    </m:oMath>
                  </m:oMathPara>
                </a14:m>
                <a:endParaRPr lang="en-US" altLang="zh-TW" sz="25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500" b="0" i="0" smtClean="0"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TW" sz="2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altLang="zh-TW" sz="25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5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𝐵𝐴</m:t>
                      </m:r>
                    </m:oMath>
                  </m:oMathPara>
                </a14:m>
                <a:endParaRPr lang="en-US" altLang="zh-TW" sz="2500" dirty="0"/>
              </a:p>
              <a:p>
                <a:endParaRPr lang="en-US" altLang="zh-TW" sz="2500" b="0" dirty="0" smtClean="0"/>
              </a:p>
              <a:p>
                <a:endParaRPr lang="en-US" altLang="zh-TW" sz="25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𝐻𝐹𝐵𝐴</m:t>
                      </m:r>
                    </m:oMath>
                  </m:oMathPara>
                </a14:m>
                <a:endParaRPr lang="en-US" altLang="zh-TW" sz="2500" dirty="0"/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921" y="1138427"/>
                <a:ext cx="1519358" cy="2308324"/>
              </a:xfrm>
              <a:prstGeom prst="rect">
                <a:avLst/>
              </a:prstGeom>
              <a:blipFill rotWithShape="0">
                <a:blip r:embed="rId11"/>
                <a:stretch>
                  <a:fillRect l="-3614" r="-3614" b="-2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3971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5029" y="-187136"/>
            <a:ext cx="8868435" cy="1325563"/>
          </a:xfrm>
        </p:spPr>
        <p:txBody>
          <a:bodyPr/>
          <a:lstStyle/>
          <a:p>
            <a:r>
              <a:rPr lang="en-US" altLang="zh-TW" dirty="0" smtClean="0"/>
              <a:t>Transform the SLP</a:t>
            </a:r>
            <a:endParaRPr lang="zh-TW" altLang="en-US" dirty="0"/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1138427"/>
            <a:ext cx="9077325" cy="1295400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357" y="2638754"/>
            <a:ext cx="5901949" cy="392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908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5029" y="-187136"/>
            <a:ext cx="8868435" cy="1325563"/>
          </a:xfrm>
        </p:spPr>
        <p:txBody>
          <a:bodyPr/>
          <a:lstStyle/>
          <a:p>
            <a:r>
              <a:rPr lang="en-US" altLang="zh-TW" dirty="0" smtClean="0"/>
              <a:t>Transform the SLP</a:t>
            </a:r>
            <a:endParaRPr lang="zh-TW" altLang="en-US" dirty="0"/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1138427"/>
            <a:ext cx="9077325" cy="1295400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 rotWithShape="1">
          <a:blip r:embed="rId3"/>
          <a:srcRect t="30247"/>
          <a:stretch/>
        </p:blipFill>
        <p:spPr>
          <a:xfrm>
            <a:off x="1569357" y="3826276"/>
            <a:ext cx="5901949" cy="27385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506027" y="2721007"/>
                <a:ext cx="84664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027" y="2721007"/>
                <a:ext cx="846642" cy="384721"/>
              </a:xfrm>
              <a:prstGeom prst="rect">
                <a:avLst/>
              </a:prstGeom>
              <a:blipFill rotWithShape="0">
                <a:blip r:embed="rId4"/>
                <a:stretch>
                  <a:fillRect l="-5036" r="-7914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3160450" y="3639845"/>
            <a:ext cx="1296140" cy="6480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1196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5029" y="-187136"/>
            <a:ext cx="8868435" cy="1325563"/>
          </a:xfrm>
        </p:spPr>
        <p:txBody>
          <a:bodyPr/>
          <a:lstStyle/>
          <a:p>
            <a:r>
              <a:rPr lang="en-US" altLang="zh-TW" dirty="0" smtClean="0"/>
              <a:t>Compute </a:t>
            </a:r>
            <a:r>
              <a:rPr lang="en-US" altLang="zh-TW" dirty="0"/>
              <a:t>the </a:t>
            </a:r>
            <a:r>
              <a:rPr lang="en-US" altLang="zh-TW" dirty="0" smtClean="0"/>
              <a:t>matrix for each pair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544721" y="1138427"/>
                <a:ext cx="7920694" cy="50937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500" dirty="0" smtClean="0"/>
                  <a:t>Now, we have a new SLP of size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TW" sz="25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sz="2500" b="0" dirty="0" smtClean="0"/>
              </a:p>
              <a:p>
                <a:endParaRPr lang="en-US" altLang="zh-TW" sz="2500" dirty="0" smtClean="0"/>
              </a:p>
              <a:p>
                <a:r>
                  <a:rPr lang="en-US" altLang="zh-TW" sz="2500" dirty="0" smtClean="0"/>
                  <a:t>We can compute the best path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zh-TW" sz="2500" dirty="0" smtClean="0"/>
                  <a:t> of each pair of fragments.</a:t>
                </a:r>
              </a:p>
              <a:p>
                <a:endParaRPr lang="en-US" altLang="zh-TW" sz="2500" dirty="0"/>
              </a:p>
              <a:p>
                <a:endParaRPr lang="en-US" altLang="zh-TW" sz="2500" dirty="0" smtClean="0"/>
              </a:p>
              <a:p>
                <a:endParaRPr lang="en-US" altLang="zh-TW" sz="2500" dirty="0"/>
              </a:p>
              <a:p>
                <a:endParaRPr lang="en-US" altLang="zh-TW" sz="2500" dirty="0" smtClean="0"/>
              </a:p>
              <a:p>
                <a:endParaRPr lang="en-US" altLang="zh-TW" sz="2500" dirty="0"/>
              </a:p>
              <a:p>
                <a:endParaRPr lang="en-US" altLang="zh-TW" sz="2500" dirty="0" smtClean="0"/>
              </a:p>
              <a:p>
                <a:endParaRPr lang="en-US" altLang="zh-TW" sz="2500" dirty="0"/>
              </a:p>
              <a:p>
                <a:endParaRPr lang="en-US" altLang="zh-TW" sz="2500" dirty="0" smtClean="0"/>
              </a:p>
              <a:p>
                <a:endParaRPr lang="en-US" altLang="zh-TW" sz="2500" dirty="0"/>
              </a:p>
              <a:p>
                <a:r>
                  <a:rPr lang="en-US" altLang="zh-TW" sz="2500" dirty="0" smtClean="0"/>
                  <a:t>Time complexity : </a:t>
                </a:r>
                <a14:m>
                  <m:oMath xmlns:m="http://schemas.openxmlformats.org/officeDocument/2006/math">
                    <m:r>
                      <a:rPr lang="en-US" altLang="zh-TW" sz="2500" b="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5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TW" sz="2500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5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TW" sz="2500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5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</a:rPr>
                          <m:t>𝑥𝑙𝑜𝑔𝑥</m:t>
                        </m:r>
                      </m:e>
                    </m:d>
                    <m:r>
                      <a:rPr lang="en-US" altLang="zh-TW" sz="25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5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500" b="0" i="1" dirty="0" smtClean="0">
                        <a:latin typeface="Cambria Math" panose="02040503050406030204" pitchFamily="18" charset="0"/>
                      </a:rPr>
                      <m:t>𝑥𝑙𝑜𝑔𝑥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500" i="1" dirty="0" smtClean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21" y="1138427"/>
                <a:ext cx="7920694" cy="5093702"/>
              </a:xfrm>
              <a:prstGeom prst="rect">
                <a:avLst/>
              </a:prstGeom>
              <a:blipFill rotWithShape="0">
                <a:blip r:embed="rId2"/>
                <a:stretch>
                  <a:fillRect l="-1231" t="-958" r="-231" b="-20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873742"/>
              </p:ext>
            </p:extLst>
          </p:nvPr>
        </p:nvGraphicFramePr>
        <p:xfrm>
          <a:off x="2992685" y="3039626"/>
          <a:ext cx="2609125" cy="22514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1825"/>
                <a:gridCol w="521825"/>
                <a:gridCol w="521825"/>
                <a:gridCol w="521825"/>
                <a:gridCol w="521825"/>
              </a:tblGrid>
              <a:tr h="45029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50293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50293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50293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50293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3059960" y="2600248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960" y="2600248"/>
                <a:ext cx="4566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3567389" y="2600248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7389" y="2600248"/>
                <a:ext cx="456600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4068947" y="2594833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947" y="2594833"/>
                <a:ext cx="456600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4581733" y="2594833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733" y="2594833"/>
                <a:ext cx="456600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5132950" y="2607174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950" y="2607174"/>
                <a:ext cx="456600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2510671" y="3039626"/>
                <a:ext cx="5159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671" y="3039626"/>
                <a:ext cx="515910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2510671" y="3533883"/>
                <a:ext cx="461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sub>
                    </m:sSub>
                  </m:oMath>
                </a14:m>
                <a:r>
                  <a:rPr lang="en-US" altLang="zh-TW" dirty="0" smtClean="0"/>
                  <a:t>’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671" y="3533883"/>
                <a:ext cx="461408" cy="369332"/>
              </a:xfrm>
              <a:prstGeom prst="rect">
                <a:avLst/>
              </a:prstGeom>
              <a:blipFill rotWithShape="0">
                <a:blip r:embed="rId9"/>
                <a:stretch>
                  <a:fillRect t="-10000" r="-9211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2510671" y="4004970"/>
                <a:ext cx="461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sub>
                    </m:sSub>
                  </m:oMath>
                </a14:m>
                <a:r>
                  <a:rPr lang="en-US" altLang="zh-TW" dirty="0" smtClean="0"/>
                  <a:t>’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671" y="4004970"/>
                <a:ext cx="461408" cy="369332"/>
              </a:xfrm>
              <a:prstGeom prst="rect">
                <a:avLst/>
              </a:prstGeom>
              <a:blipFill rotWithShape="0">
                <a:blip r:embed="rId10"/>
                <a:stretch>
                  <a:fillRect t="-9836" r="-9211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2510671" y="4461765"/>
                <a:ext cx="461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sub>
                    </m:sSub>
                  </m:oMath>
                </a14:m>
                <a:r>
                  <a:rPr lang="en-US" altLang="zh-TW" dirty="0" smtClean="0"/>
                  <a:t>’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671" y="4461765"/>
                <a:ext cx="461408" cy="369332"/>
              </a:xfrm>
              <a:prstGeom prst="rect">
                <a:avLst/>
              </a:prstGeom>
              <a:blipFill rotWithShape="0">
                <a:blip r:embed="rId11"/>
                <a:stretch>
                  <a:fillRect t="-9836" r="-9211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2510671" y="4918560"/>
                <a:ext cx="461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sub>
                    </m:sSub>
                  </m:oMath>
                </a14:m>
                <a:r>
                  <a:rPr lang="en-US" altLang="zh-TW" dirty="0" smtClean="0"/>
                  <a:t>’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671" y="4918560"/>
                <a:ext cx="461408" cy="369332"/>
              </a:xfrm>
              <a:prstGeom prst="rect">
                <a:avLst/>
              </a:prstGeom>
              <a:blipFill rotWithShape="0">
                <a:blip r:embed="rId12"/>
                <a:stretch>
                  <a:fillRect t="-10000" r="-9211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0054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5029" y="-187136"/>
            <a:ext cx="8868435" cy="1325563"/>
          </a:xfrm>
        </p:spPr>
        <p:txBody>
          <a:bodyPr/>
          <a:lstStyle/>
          <a:p>
            <a:r>
              <a:rPr lang="en-US" altLang="zh-TW" dirty="0" smtClean="0"/>
              <a:t>Compute the edit distance matrix</a:t>
            </a:r>
            <a:endParaRPr lang="zh-TW" altLang="en-US" dirty="0"/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 rotWithShape="1">
          <a:blip r:embed="rId2"/>
          <a:srcRect l="19158" r="20362" b="10159"/>
          <a:stretch/>
        </p:blipFill>
        <p:spPr>
          <a:xfrm>
            <a:off x="381740" y="1017524"/>
            <a:ext cx="3852908" cy="3856316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9" y="5313726"/>
            <a:ext cx="9001125" cy="9334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4811697" y="1379479"/>
                <a:ext cx="4092605" cy="31034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500" dirty="0" smtClean="0"/>
                  <a:t>There are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TW" sz="25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TW" sz="25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500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altLang="zh-TW" sz="25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TW" sz="25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5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sz="25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TW" sz="25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500" dirty="0" smtClean="0"/>
                  <a:t> blocks.</a:t>
                </a:r>
              </a:p>
              <a:p>
                <a:endParaRPr lang="en-US" altLang="zh-TW" sz="2500" dirty="0" smtClean="0"/>
              </a:p>
              <a:p>
                <a:r>
                  <a:rPr lang="en-US" altLang="zh-TW" sz="2500" dirty="0" smtClean="0"/>
                  <a:t>Time complexity : </a:t>
                </a:r>
              </a:p>
              <a:p>
                <a:endParaRPr lang="en-US" altLang="zh-TW" sz="25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 dirty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25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TW" sz="2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500" i="1" dirty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p>
                                  <m:r>
                                    <a:rPr lang="en-US" altLang="zh-TW" sz="25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zh-TW" sz="2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5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25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zh-TW" altLang="en-US" sz="2500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TW" sz="2500" i="1" dirty="0" smtClean="0"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5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500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2500" i="1" dirty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25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500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zh-TW" sz="25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TW" sz="25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500" dirty="0" smtClean="0"/>
              </a:p>
              <a:p>
                <a:endParaRPr lang="zh-TW" altLang="en-US" sz="25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697" y="1379479"/>
                <a:ext cx="4092605" cy="3103478"/>
              </a:xfrm>
              <a:prstGeom prst="rect">
                <a:avLst/>
              </a:prstGeom>
              <a:blipFill rotWithShape="0">
                <a:blip r:embed="rId4"/>
                <a:stretch>
                  <a:fillRect l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7702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5029" y="-187136"/>
            <a:ext cx="8868435" cy="1325563"/>
          </a:xfrm>
        </p:spPr>
        <p:txBody>
          <a:bodyPr/>
          <a:lstStyle/>
          <a:p>
            <a:r>
              <a:rPr lang="en-US" altLang="zh-TW" dirty="0"/>
              <a:t>Time complexity of the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266330" y="949911"/>
                <a:ext cx="7883055" cy="4895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500" dirty="0" smtClean="0"/>
                  <a:t>1.   Transform the SLP which presents the original string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TW" sz="2500" b="0" dirty="0" smtClean="0"/>
              </a:p>
              <a:p>
                <a:endParaRPr lang="en-US" altLang="zh-TW" sz="2500" b="0" dirty="0" smtClean="0"/>
              </a:p>
              <a:p>
                <a:r>
                  <a:rPr lang="en-US" altLang="zh-TW" sz="2500" dirty="0" smtClean="0"/>
                  <a:t>2.   Compute all the best path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TW" altLang="en-US" sz="2500" dirty="0" smtClean="0"/>
                  <a:t> </a:t>
                </a:r>
                <a:r>
                  <a:rPr lang="en-US" altLang="zh-TW" sz="2500" dirty="0" smtClean="0"/>
                  <a:t>for every pair of fragments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2500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500" i="1" dirty="0">
                          <a:latin typeface="Cambria Math" panose="02040503050406030204" pitchFamily="18" charset="0"/>
                        </a:rPr>
                        <m:t>𝑥𝑙𝑜𝑔𝑥</m:t>
                      </m:r>
                      <m:r>
                        <a:rPr lang="en-US" altLang="zh-TW" sz="25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500" i="1" dirty="0"/>
              </a:p>
              <a:p>
                <a:endParaRPr lang="en-US" altLang="zh-TW" sz="2500" dirty="0" smtClean="0"/>
              </a:p>
              <a:p>
                <a:r>
                  <a:rPr lang="en-US" altLang="zh-TW" sz="2500" dirty="0" smtClean="0"/>
                  <a:t>3.   Compute the edit distance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2500" i="1" dirty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25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500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zh-TW" sz="25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TW" sz="25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500" dirty="0" smtClean="0"/>
              </a:p>
              <a:p>
                <a:endParaRPr lang="en-US" altLang="zh-TW" sz="2500" dirty="0"/>
              </a:p>
              <a:p>
                <a:r>
                  <a:rPr lang="en-US" altLang="zh-TW" sz="2500" dirty="0" smtClean="0"/>
                  <a:t>※</a:t>
                </a:r>
                <a:r>
                  <a:rPr lang="zh-TW" altLang="en-US" sz="2500" dirty="0" smtClean="0"/>
                  <a:t> </a:t>
                </a:r>
                <a:r>
                  <a:rPr lang="en-US" altLang="zh-TW" sz="2500" dirty="0" smtClean="0"/>
                  <a:t>Total time complexity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500" i="1" dirty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altLang="zh-TW" sz="25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5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5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sz="25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500" i="1" dirty="0">
                            <a:latin typeface="Cambria Math" panose="02040503050406030204" pitchFamily="18" charset="0"/>
                          </a:rPr>
                          <m:t>𝑥𝑙𝑜𝑔𝑥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TW" sz="25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TW" sz="25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500" i="1" dirty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p>
                                <m:r>
                                  <a:rPr lang="en-US" altLang="zh-TW" sz="25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TW" sz="25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30" y="949911"/>
                <a:ext cx="7883055" cy="4895443"/>
              </a:xfrm>
              <a:prstGeom prst="rect">
                <a:avLst/>
              </a:prstGeom>
              <a:blipFill rotWithShape="0">
                <a:blip r:embed="rId2"/>
                <a:stretch>
                  <a:fillRect l="-1315" t="-996" r="-232" b="-2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9689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5029" y="-187136"/>
            <a:ext cx="8868435" cy="1325563"/>
          </a:xfrm>
        </p:spPr>
        <p:txBody>
          <a:bodyPr/>
          <a:lstStyle/>
          <a:p>
            <a:r>
              <a:rPr lang="en-US" altLang="zh-TW" dirty="0"/>
              <a:t>Time complexity of the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278065" y="1580226"/>
                <a:ext cx="8682361" cy="3510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500" dirty="0" smtClean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500" dirty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altLang="zh-TW" sz="250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5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500" i="1" dirty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altLang="zh-TW" sz="2500" i="1" dirty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zh-TW" sz="25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5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500" i="1" dirty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TW" sz="25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unc>
                              <m:funcPr>
                                <m:ctrlPr>
                                  <a:rPr lang="en-US" altLang="zh-TW" sz="2500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2500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sz="2500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func>
                          </m:e>
                        </m:rad>
                      </m:den>
                    </m:f>
                    <m:r>
                      <a:rPr lang="en-US" altLang="zh-TW" sz="2500" b="0" i="1" dirty="0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altLang="zh-TW" sz="2500" dirty="0" smtClean="0"/>
                  <a:t>then </a:t>
                </a:r>
                <a:r>
                  <a:rPr lang="en-US" altLang="zh-TW" sz="2500" dirty="0"/>
                  <a:t>, </a:t>
                </a:r>
                <a:endParaRPr lang="en-US" altLang="zh-TW" sz="2500" dirty="0" smtClean="0"/>
              </a:p>
              <a:p>
                <a:endParaRPr lang="en-US" altLang="zh-TW" sz="25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500" i="1" dirty="0"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5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5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TW" sz="25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𝑥𝑙𝑜𝑔𝑥</m:t>
                          </m:r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TW" sz="25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TW" sz="2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500" i="1" dirty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p>
                                  <m:r>
                                    <a:rPr lang="en-US" altLang="zh-TW" sz="25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TW" sz="25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en-US" altLang="zh-TW" sz="250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500" b="0" i="0" dirty="0" smtClean="0"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5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5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TW" sz="25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ad>
                            <m:radPr>
                              <m:degHide m:val="on"/>
                              <m:ctrlPr>
                                <a:rPr lang="en-US" altLang="zh-TW" sz="25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2500" b="0" i="1" dirty="0" smtClean="0">
                                  <a:latin typeface="Cambria Math" panose="02040503050406030204" pitchFamily="18" charset="0"/>
                                </a:rPr>
                                <m:t>𝑙𝑜𝑔𝑓</m:t>
                              </m:r>
                            </m:e>
                          </m:rad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TW" sz="25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TW" sz="2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500" i="1" dirty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p>
                                  <m:r>
                                    <a:rPr lang="en-US" altLang="zh-TW" sz="25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TW" sz="2500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den>
                          </m:f>
                          <m:rad>
                            <m:radPr>
                              <m:degHide m:val="on"/>
                              <m:ctrlPr>
                                <a:rPr lang="en-US" altLang="zh-TW" sz="250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2500" b="0" i="1" dirty="0" smtClean="0">
                                  <a:latin typeface="Cambria Math" panose="02040503050406030204" pitchFamily="18" charset="0"/>
                                </a:rPr>
                                <m:t>𝑙𝑜𝑔𝑓</m:t>
                              </m:r>
                            </m:e>
                          </m:rad>
                        </m:e>
                      </m:d>
                    </m:oMath>
                  </m:oMathPara>
                </a14:m>
                <a:endParaRPr lang="en-US" altLang="zh-TW" sz="2500" b="0" i="1" dirty="0" smtClean="0">
                  <a:latin typeface="Cambria Math" panose="02040503050406030204" pitchFamily="18" charset="0"/>
                </a:endParaRPr>
              </a:p>
              <a:p>
                <a:endParaRPr lang="en-US" altLang="zh-TW" sz="25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500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2500" b="0" i="1" dirty="0" smtClean="0"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lang="en-US" altLang="zh-TW" sz="2500" b="0" i="1" dirty="0" smtClean="0">
                          <a:latin typeface="Cambria Math" panose="02040503050406030204" pitchFamily="18" charset="0"/>
                        </a:rPr>
                        <m:t>𝑛𝑁</m:t>
                      </m:r>
                      <m:rad>
                        <m:radPr>
                          <m:degHide m:val="on"/>
                          <m:ctrlP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  <m:f>
                            <m:fPr>
                              <m:ctrlPr>
                                <a:rPr lang="en-US" altLang="zh-TW" sz="25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500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altLang="zh-TW" sz="25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  <m:r>
                        <a:rPr lang="en-US" altLang="zh-TW" sz="2500" b="0" i="1" dirty="0" smtClean="0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65" y="1580226"/>
                <a:ext cx="8682361" cy="3510705"/>
              </a:xfrm>
              <a:prstGeom prst="rect">
                <a:avLst/>
              </a:prstGeom>
              <a:blipFill rotWithShape="0">
                <a:blip r:embed="rId2"/>
                <a:stretch>
                  <a:fillRect l="-11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8721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17098</TotalTime>
  <Words>484</Words>
  <Application>Microsoft Office PowerPoint</Application>
  <PresentationFormat>如螢幕大小 (4:3)</PresentationFormat>
  <Paragraphs>221</Paragraphs>
  <Slides>22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31" baseType="lpstr">
      <vt:lpstr>微軟正黑體</vt:lpstr>
      <vt:lpstr>新細明體</vt:lpstr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Faster Algorithm for Computing the Edit Distance between SLP-Compressed Strings</vt:lpstr>
      <vt:lpstr>Abstract</vt:lpstr>
      <vt:lpstr>Matrix definitions</vt:lpstr>
      <vt:lpstr>Matrix definitions</vt:lpstr>
      <vt:lpstr>Straight line program (SLP)</vt:lpstr>
      <vt:lpstr>Straight line program (SLP)</vt:lpstr>
      <vt:lpstr>Problem Definition</vt:lpstr>
      <vt:lpstr>Edit distance and LCS</vt:lpstr>
      <vt:lpstr>Edit distance and LCS</vt:lpstr>
      <vt:lpstr>Max-product of two matrices</vt:lpstr>
      <vt:lpstr>Max-product of two matrices</vt:lpstr>
      <vt:lpstr>The algorithm</vt:lpstr>
      <vt:lpstr>The algorithm</vt:lpstr>
      <vt:lpstr>Transform the SLP</vt:lpstr>
      <vt:lpstr>Transform the SLP</vt:lpstr>
      <vt:lpstr>Transform the SLP</vt:lpstr>
      <vt:lpstr>Transform the SLP</vt:lpstr>
      <vt:lpstr>Transform the SLP</vt:lpstr>
      <vt:lpstr>Compute the matrix for each pair</vt:lpstr>
      <vt:lpstr>Compute the edit distance matrix</vt:lpstr>
      <vt:lpstr>Time complexity of the algorithm</vt:lpstr>
      <vt:lpstr>Time complexity of the algorithm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Bit-String Longest-Common-Subsequence Algorithm</dc:title>
  <dc:creator>YanLee</dc:creator>
  <cp:lastModifiedBy>pplab-class</cp:lastModifiedBy>
  <cp:revision>371</cp:revision>
  <dcterms:created xsi:type="dcterms:W3CDTF">2016-10-24T04:50:56Z</dcterms:created>
  <dcterms:modified xsi:type="dcterms:W3CDTF">2017-11-14T11:54:15Z</dcterms:modified>
</cp:coreProperties>
</file>