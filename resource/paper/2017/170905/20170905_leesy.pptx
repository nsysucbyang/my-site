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80" r:id="rId26"/>
    <p:sldId id="279" r:id="rId27"/>
    <p:sldId id="281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4660"/>
  </p:normalViewPr>
  <p:slideViewPr>
    <p:cSldViewPr snapToGrid="0">
      <p:cViewPr varScale="1">
        <p:scale>
          <a:sx n="79" d="100"/>
          <a:sy n="79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512696"/>
          </a:xfrm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variable gap penalties into three-sequence alignment for protein</a:t>
            </a:r>
            <a:b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1524" y="3516074"/>
            <a:ext cx="7877174" cy="1655762"/>
          </a:xfrm>
        </p:spPr>
        <p:txBody>
          <a:bodyPr>
            <a:normAutofit fontScale="92500"/>
          </a:bodyPr>
          <a:lstStyle/>
          <a:p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Che-Lun 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Hung, </a:t>
            </a:r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Chun-Yuan 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Lin, </a:t>
            </a:r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Yeh-Ching 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Chung and </a:t>
            </a:r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Chuan Yi 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Tang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22nd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Advanced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Networking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Applications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Workshops 2008, pp.726-731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283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2017/9/5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8138" y="1606550"/>
            <a:ext cx="8712037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common-use gap penalty strategies,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penalty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affine gap penalty, have been adopted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three-sequence alignment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which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the insertion, deletion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substitution. However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these strategies are not suitable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protein 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alignments. For the alignment accuracy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protein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sequences, the gap penalty is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determinant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Incorporating protein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information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vary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 penalties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lead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biologically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alignments. Here, we present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 global and optimal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among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protein sequences by using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specific gap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penalties which allow gap penalties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varied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Thus, residue-dependent information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protein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information can be applied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three-sequence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alignment. The experimental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our algorithm achieves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improvement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accuracy of alignments than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three-sequence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algorithm with the affine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 penalty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protein sequences.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Three-sequence alignment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27969" y="1415482"/>
            <a:ext cx="412587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Sequence : </a:t>
            </a:r>
          </a:p>
          <a:p>
            <a:pPr lvl="1"/>
            <a:r>
              <a:rPr lang="en-US" altLang="zh-TW" sz="2500" dirty="0" smtClean="0"/>
              <a:t>Sequence A = ALPKTKAG</a:t>
            </a:r>
          </a:p>
          <a:p>
            <a:pPr lvl="1"/>
            <a:endParaRPr lang="en-US" altLang="zh-TW" sz="2500" dirty="0" smtClean="0"/>
          </a:p>
          <a:p>
            <a:pPr lvl="1"/>
            <a:r>
              <a:rPr lang="en-US" altLang="zh-TW" sz="2500" dirty="0" smtClean="0"/>
              <a:t>Sequence B = ALPKTKG</a:t>
            </a:r>
            <a:endParaRPr lang="zh-TW" altLang="en-US" sz="2500" dirty="0"/>
          </a:p>
          <a:p>
            <a:pPr lvl="1"/>
            <a:endParaRPr lang="en-US" altLang="zh-TW" sz="2500" dirty="0" smtClean="0"/>
          </a:p>
          <a:p>
            <a:pPr lvl="1"/>
            <a:r>
              <a:rPr lang="en-US" altLang="zh-TW" sz="2500" dirty="0" smtClean="0"/>
              <a:t>Sequence C = ALSAPATKAG</a:t>
            </a:r>
          </a:p>
          <a:p>
            <a:pPr lvl="1"/>
            <a:endParaRPr lang="en-US" altLang="zh-TW" sz="2500" dirty="0"/>
          </a:p>
          <a:p>
            <a:r>
              <a:rPr lang="en-US" altLang="zh-TW" sz="2500" dirty="0" smtClean="0"/>
              <a:t>Alignment :</a:t>
            </a:r>
            <a:endParaRPr lang="zh-TW" altLang="en-US" sz="25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27545"/>
              </p:ext>
            </p:extLst>
          </p:nvPr>
        </p:nvGraphicFramePr>
        <p:xfrm>
          <a:off x="1346447" y="4690616"/>
          <a:ext cx="6096000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</a:t>
                      </a:r>
                      <a:endParaRPr lang="zh-TW" altLang="en-US" sz="20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18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/>
              <a:t>Three-sequence </a:t>
            </a:r>
            <a:r>
              <a:rPr lang="en-US" altLang="zh-TW" dirty="0" smtClean="0"/>
              <a:t>alignment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27969" y="1415482"/>
            <a:ext cx="412587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Sequence : </a:t>
            </a:r>
          </a:p>
          <a:p>
            <a:pPr lvl="1"/>
            <a:r>
              <a:rPr lang="en-US" altLang="zh-TW" sz="2500" dirty="0" smtClean="0"/>
              <a:t>Sequence A = ALPKTKAG</a:t>
            </a:r>
          </a:p>
          <a:p>
            <a:pPr lvl="1"/>
            <a:endParaRPr lang="en-US" altLang="zh-TW" sz="2500" dirty="0" smtClean="0"/>
          </a:p>
          <a:p>
            <a:pPr lvl="1"/>
            <a:r>
              <a:rPr lang="en-US" altLang="zh-TW" sz="2500" dirty="0" smtClean="0"/>
              <a:t>Sequence B = ALPKTKG</a:t>
            </a:r>
            <a:endParaRPr lang="zh-TW" altLang="en-US" sz="2500" dirty="0"/>
          </a:p>
          <a:p>
            <a:pPr lvl="1"/>
            <a:endParaRPr lang="en-US" altLang="zh-TW" sz="2500" dirty="0" smtClean="0"/>
          </a:p>
          <a:p>
            <a:pPr lvl="1"/>
            <a:r>
              <a:rPr lang="en-US" altLang="zh-TW" sz="2500" dirty="0" smtClean="0"/>
              <a:t>Sequence C = ALSAPATKAG</a:t>
            </a:r>
          </a:p>
          <a:p>
            <a:pPr lvl="1"/>
            <a:endParaRPr lang="en-US" altLang="zh-TW" sz="2500" dirty="0"/>
          </a:p>
          <a:p>
            <a:r>
              <a:rPr lang="en-US" altLang="zh-TW" sz="2500" dirty="0" smtClean="0"/>
              <a:t>Alignment :</a:t>
            </a:r>
            <a:endParaRPr lang="zh-TW" altLang="en-US" sz="25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990428"/>
              </p:ext>
            </p:extLst>
          </p:nvPr>
        </p:nvGraphicFramePr>
        <p:xfrm>
          <a:off x="1346447" y="4690616"/>
          <a:ext cx="6096000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2556769" y="5984371"/>
            <a:ext cx="70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2-gap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6224726" y="5984371"/>
            <a:ext cx="70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1-gap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633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Fixed gap penalty : constant gap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20045" y="3146628"/>
            <a:ext cx="449488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/>
              <a:t>m</a:t>
            </a:r>
            <a:r>
              <a:rPr lang="en-US" altLang="zh-TW" sz="2500" dirty="0" smtClean="0"/>
              <a:t>atch : 1 </a:t>
            </a:r>
          </a:p>
          <a:p>
            <a:r>
              <a:rPr lang="en-US" altLang="zh-TW" sz="2500" dirty="0"/>
              <a:t>g</a:t>
            </a:r>
            <a:r>
              <a:rPr lang="en-US" altLang="zh-TW" sz="2500" dirty="0" smtClean="0"/>
              <a:t>ap : -1</a:t>
            </a:r>
            <a:br>
              <a:rPr lang="en-US" altLang="zh-TW" sz="2500" dirty="0" smtClean="0"/>
            </a:br>
            <a:endParaRPr lang="en-US" altLang="zh-TW" sz="2500" dirty="0" smtClean="0"/>
          </a:p>
          <a:p>
            <a:r>
              <a:rPr lang="en-US" altLang="zh-TW" sz="2500" dirty="0" smtClean="0"/>
              <a:t>Score of this alignment : 5 – 1 = 4</a:t>
            </a:r>
            <a:endParaRPr lang="zh-TW" altLang="en-US" sz="25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687722"/>
              </p:ext>
            </p:extLst>
          </p:nvPr>
        </p:nvGraphicFramePr>
        <p:xfrm>
          <a:off x="1284303" y="1587114"/>
          <a:ext cx="4876800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47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Fixed gap penalty : linear gap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20045" y="3146628"/>
            <a:ext cx="449488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/>
              <a:t>m</a:t>
            </a:r>
            <a:r>
              <a:rPr lang="en-US" altLang="zh-TW" sz="2500" dirty="0" smtClean="0"/>
              <a:t>atch : 1 </a:t>
            </a:r>
          </a:p>
          <a:p>
            <a:r>
              <a:rPr lang="en-US" altLang="zh-TW" sz="2500" dirty="0"/>
              <a:t>g</a:t>
            </a:r>
            <a:r>
              <a:rPr lang="en-US" altLang="zh-TW" sz="2500" dirty="0" smtClean="0"/>
              <a:t>ap : -1</a:t>
            </a:r>
            <a:br>
              <a:rPr lang="en-US" altLang="zh-TW" sz="2500" dirty="0" smtClean="0"/>
            </a:br>
            <a:endParaRPr lang="en-US" altLang="zh-TW" sz="2500" dirty="0" smtClean="0"/>
          </a:p>
          <a:p>
            <a:r>
              <a:rPr lang="en-US" altLang="zh-TW" sz="2500" dirty="0" smtClean="0"/>
              <a:t>Score of this alignment : 5 – 3 = 2</a:t>
            </a:r>
            <a:endParaRPr lang="zh-TW" altLang="en-US" sz="25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720740"/>
              </p:ext>
            </p:extLst>
          </p:nvPr>
        </p:nvGraphicFramePr>
        <p:xfrm>
          <a:off x="1284303" y="1587114"/>
          <a:ext cx="4876800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24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Fixed gap penalty : affine gap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20045" y="3146628"/>
            <a:ext cx="5942396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/>
              <a:t>m</a:t>
            </a:r>
            <a:r>
              <a:rPr lang="en-US" altLang="zh-TW" sz="2500" dirty="0" smtClean="0"/>
              <a:t>atch : 1 </a:t>
            </a:r>
          </a:p>
          <a:p>
            <a:r>
              <a:rPr lang="en-US" altLang="zh-TW" sz="2500" dirty="0"/>
              <a:t>g</a:t>
            </a:r>
            <a:r>
              <a:rPr lang="en-US" altLang="zh-TW" sz="2500" dirty="0" smtClean="0"/>
              <a:t>ap opening penalty : </a:t>
            </a:r>
            <a:r>
              <a:rPr lang="en-US" altLang="zh-TW" sz="2500" dirty="0" smtClean="0"/>
              <a:t>-2</a:t>
            </a:r>
            <a:r>
              <a:rPr lang="en-US" altLang="zh-TW" sz="2500" dirty="0" smtClean="0"/>
              <a:t/>
            </a:r>
            <a:br>
              <a:rPr lang="en-US" altLang="zh-TW" sz="2500" dirty="0" smtClean="0"/>
            </a:br>
            <a:r>
              <a:rPr lang="en-US" altLang="zh-TW" sz="2500" dirty="0" smtClean="0"/>
              <a:t>gap extension penalty : </a:t>
            </a:r>
            <a:r>
              <a:rPr lang="en-US" altLang="zh-TW" sz="2500" dirty="0" smtClean="0"/>
              <a:t>-1</a:t>
            </a:r>
            <a:endParaRPr lang="en-US" altLang="zh-TW" sz="2500" dirty="0" smtClean="0"/>
          </a:p>
          <a:p>
            <a:endParaRPr lang="en-US" altLang="zh-TW" sz="2500" dirty="0" smtClean="0"/>
          </a:p>
          <a:p>
            <a:r>
              <a:rPr lang="en-US" altLang="zh-TW" sz="2500" dirty="0" smtClean="0"/>
              <a:t>Score of this alignment : 5 + </a:t>
            </a:r>
            <a:r>
              <a:rPr lang="en-US" altLang="zh-TW" sz="2500" dirty="0" smtClean="0"/>
              <a:t>(-2 </a:t>
            </a:r>
            <a:r>
              <a:rPr lang="en-US" altLang="zh-TW" sz="2500" dirty="0" smtClean="0"/>
              <a:t>+ </a:t>
            </a:r>
            <a:r>
              <a:rPr lang="en-US" altLang="zh-TW" sz="2500" dirty="0" smtClean="0"/>
              <a:t>(-1)*</a:t>
            </a:r>
            <a:r>
              <a:rPr lang="en-US" altLang="zh-TW" sz="2500" dirty="0" smtClean="0"/>
              <a:t>2 ) = </a:t>
            </a:r>
            <a:r>
              <a:rPr lang="en-US" altLang="zh-TW" sz="2500" dirty="0" smtClean="0"/>
              <a:t>1</a:t>
            </a:r>
            <a:endParaRPr lang="zh-TW" altLang="en-US" sz="25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583589"/>
              </p:ext>
            </p:extLst>
          </p:nvPr>
        </p:nvGraphicFramePr>
        <p:xfrm>
          <a:off x="1284303" y="1587114"/>
          <a:ext cx="4876800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27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Variable gap penalty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20045" y="3146628"/>
            <a:ext cx="7192995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Gap penalties are calculated by gap penalty functions </a:t>
            </a:r>
          </a:p>
          <a:p>
            <a:r>
              <a:rPr lang="en-US" altLang="zh-TW" sz="2500" dirty="0" smtClean="0"/>
              <a:t>instead of constant numbers.</a:t>
            </a:r>
          </a:p>
          <a:p>
            <a:endParaRPr lang="en-US" altLang="zh-TW" sz="2500" dirty="0" smtClean="0"/>
          </a:p>
          <a:p>
            <a:r>
              <a:rPr lang="en-US" altLang="zh-TW" sz="2500" dirty="0"/>
              <a:t>g</a:t>
            </a:r>
            <a:r>
              <a:rPr lang="en-US" altLang="zh-TW" sz="2500" dirty="0" smtClean="0"/>
              <a:t>ap opening penalty : GOP (</a:t>
            </a:r>
            <a:r>
              <a:rPr lang="en-US" altLang="zh-TW" sz="2500" dirty="0" err="1"/>
              <a:t>i</a:t>
            </a:r>
            <a:r>
              <a:rPr lang="en-US" altLang="zh-TW" sz="2500" dirty="0" smtClean="0"/>
              <a:t>, j, k)</a:t>
            </a:r>
          </a:p>
          <a:p>
            <a:r>
              <a:rPr lang="en-US" altLang="zh-TW" sz="2500" dirty="0"/>
              <a:t>gap </a:t>
            </a:r>
            <a:r>
              <a:rPr lang="en-US" altLang="zh-TW" sz="2500" dirty="0" smtClean="0"/>
              <a:t>extension </a:t>
            </a:r>
            <a:r>
              <a:rPr lang="en-US" altLang="zh-TW" sz="2500" dirty="0"/>
              <a:t>penalty : </a:t>
            </a:r>
            <a:r>
              <a:rPr lang="en-US" altLang="zh-TW" sz="2500" dirty="0" smtClean="0"/>
              <a:t>GEP (</a:t>
            </a:r>
            <a:r>
              <a:rPr lang="en-US" altLang="zh-TW" sz="2500" dirty="0" err="1" smtClean="0"/>
              <a:t>i</a:t>
            </a:r>
            <a:r>
              <a:rPr lang="en-US" altLang="zh-TW" sz="2500" dirty="0" smtClean="0"/>
              <a:t>, j, k)</a:t>
            </a:r>
            <a:endParaRPr lang="en-US" altLang="zh-TW" sz="25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583589"/>
              </p:ext>
            </p:extLst>
          </p:nvPr>
        </p:nvGraphicFramePr>
        <p:xfrm>
          <a:off x="1284303" y="1587114"/>
          <a:ext cx="4876800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P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K</a:t>
                      </a:r>
                      <a:endParaRPr lang="zh-TW" alt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6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Definition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740903" y="1415482"/>
                <a:ext cx="6487673" cy="36141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sz="2500" dirty="0" smtClean="0"/>
                  <a:t>A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2500" dirty="0" smtClean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TW" sz="2500" dirty="0" smtClean="0"/>
              </a:p>
              <a:p>
                <a:pPr>
                  <a:lnSpc>
                    <a:spcPct val="200000"/>
                  </a:lnSpc>
                </a:pPr>
                <a:r>
                  <a:rPr lang="en-US" altLang="zh-TW" sz="2500" dirty="0"/>
                  <a:t>B</a:t>
                </a:r>
                <a:r>
                  <a:rPr lang="en-US" altLang="zh-TW" sz="2500" dirty="0" smtClean="0"/>
                  <a:t> </a:t>
                </a:r>
                <a:r>
                  <a:rPr lang="en-US" altLang="zh-TW" sz="25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2500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TW" sz="2500" dirty="0" smtClean="0"/>
              </a:p>
              <a:p>
                <a:pPr>
                  <a:lnSpc>
                    <a:spcPct val="200000"/>
                  </a:lnSpc>
                </a:pPr>
                <a:r>
                  <a:rPr lang="en-US" altLang="zh-TW" sz="2500" dirty="0" smtClean="0"/>
                  <a:t>C </a:t>
                </a:r>
                <a:r>
                  <a:rPr lang="en-US" altLang="zh-TW" sz="25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2500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zh-TW" sz="25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 smtClean="0"/>
                  <a:t> : the score to each pair of symbols </a:t>
                </a:r>
              </a:p>
              <a:p>
                <a:endParaRPr lang="en-US" altLang="zh-TW" sz="2500" dirty="0"/>
              </a:p>
              <a:p>
                <a:r>
                  <a:rPr lang="en-US" altLang="zh-TW" sz="2500" dirty="0" smtClean="0"/>
                  <a:t>	(for protein sequences, usually BLOUSM )</a:t>
                </a:r>
                <a:endParaRPr lang="en-US" altLang="zh-TW" sz="25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03" y="1415482"/>
                <a:ext cx="6487673" cy="3614195"/>
              </a:xfrm>
              <a:prstGeom prst="rect">
                <a:avLst/>
              </a:prstGeom>
              <a:blipFill rotWithShape="0">
                <a:blip r:embed="rId2"/>
                <a:stretch>
                  <a:fillRect l="-1598" r="-564" b="-30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39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x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71" y="1484975"/>
            <a:ext cx="8381722" cy="489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BLOSUM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010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Three-sequence alignment</a:t>
            </a:r>
            <a:br>
              <a:rPr lang="en-US" altLang="zh-TW" dirty="0" smtClean="0"/>
            </a:br>
            <a:r>
              <a:rPr lang="en-US" altLang="zh-TW" dirty="0" smtClean="0"/>
              <a:t>with the dynamic programming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683580" y="1597980"/>
                <a:ext cx="8123069" cy="3916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S[</a:t>
                </a:r>
                <a:r>
                  <a:rPr lang="en-US" altLang="zh-TW" dirty="0" err="1" smtClean="0"/>
                  <a:t>i,j,k</a:t>
                </a:r>
                <a:r>
                  <a:rPr lang="en-US" altLang="zh-TW" dirty="0" smtClean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. </a:t>
                </a:r>
              </a:p>
              <a:p>
                <a:r>
                  <a:rPr lang="en-US" altLang="zh-TW" dirty="0" smtClean="0"/>
                  <a:t>E[</a:t>
                </a:r>
                <a:r>
                  <a:rPr lang="en-US" altLang="zh-TW" dirty="0" err="1" smtClean="0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 gaps.</a:t>
                </a:r>
              </a:p>
              <a:p>
                <a:r>
                  <a:rPr lang="en-US" altLang="zh-TW" dirty="0" smtClean="0"/>
                  <a:t>F[</a:t>
                </a:r>
                <a:r>
                  <a:rPr lang="en-US" altLang="zh-TW" dirty="0" err="1" smtClean="0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gaps.</a:t>
                </a:r>
                <a:endParaRPr lang="en-US" altLang="zh-TW" dirty="0" smtClean="0"/>
              </a:p>
              <a:p>
                <a:r>
                  <a:rPr lang="en-US" altLang="zh-TW" dirty="0" smtClean="0"/>
                  <a:t>G[</a:t>
                </a:r>
                <a:r>
                  <a:rPr lang="en-US" altLang="zh-TW" dirty="0" err="1" smtClean="0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with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gaps</m:t>
                    </m:r>
                    <m:r>
                      <m:rPr>
                        <m:nor/>
                      </m:rPr>
                      <a:rPr lang="en-US" altLang="zh-TW" dirty="0"/>
                      <m:t>.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H[</a:t>
                </a:r>
                <a:r>
                  <a:rPr lang="en-US" altLang="zh-TW" dirty="0" err="1" smtClean="0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with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 gaps.</a:t>
                </a:r>
              </a:p>
              <a:p>
                <a:r>
                  <a:rPr lang="en-US" altLang="zh-TW" dirty="0" smtClean="0"/>
                  <a:t>I[i,j,k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with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gaps.</a:t>
                </a:r>
                <a:endParaRPr lang="en-US" altLang="zh-TW" dirty="0" smtClean="0"/>
              </a:p>
              <a:p>
                <a:r>
                  <a:rPr lang="en-US" altLang="zh-TW" dirty="0" smtClean="0"/>
                  <a:t>J[</a:t>
                </a:r>
                <a:r>
                  <a:rPr lang="en-US" altLang="zh-TW" dirty="0" err="1" smtClean="0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with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gaps.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0" y="1597980"/>
                <a:ext cx="8123069" cy="3916457"/>
              </a:xfrm>
              <a:prstGeom prst="rect">
                <a:avLst/>
              </a:prstGeom>
              <a:blipFill rotWithShape="0">
                <a:blip r:embed="rId2"/>
                <a:stretch>
                  <a:fillRect l="-600" t="-622" b="-9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57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Three-sequence alignment</a:t>
            </a:r>
            <a:br>
              <a:rPr lang="en-US" altLang="zh-TW" dirty="0" smtClean="0"/>
            </a:br>
            <a:r>
              <a:rPr lang="en-US" altLang="zh-TW" dirty="0" smtClean="0"/>
              <a:t>with the dynamic programming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115483"/>
                  </p:ext>
                </p:extLst>
              </p:nvPr>
            </p:nvGraphicFramePr>
            <p:xfrm>
              <a:off x="2306714" y="2332839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115483"/>
                  </p:ext>
                </p:extLst>
              </p:nvPr>
            </p:nvGraphicFramePr>
            <p:xfrm>
              <a:off x="2306714" y="2332839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t="-7692" r="-701000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t="-106061" r="-701000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t="-209231" r="-701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83580" y="1597980"/>
                <a:ext cx="8123069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S[</a:t>
                </a:r>
                <a:r>
                  <a:rPr lang="en-US" altLang="zh-TW" dirty="0" err="1" smtClean="0"/>
                  <a:t>i,j,k</a:t>
                </a:r>
                <a:r>
                  <a:rPr lang="en-US" altLang="zh-TW" dirty="0" smtClean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. </a:t>
                </a: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0" y="1597980"/>
                <a:ext cx="8123069" cy="391646"/>
              </a:xfrm>
              <a:prstGeom prst="rect">
                <a:avLst/>
              </a:prstGeom>
              <a:blipFill rotWithShape="0">
                <a:blip r:embed="rId3"/>
                <a:stretch>
                  <a:fillRect l="-600" t="-6250" b="-203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4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83580" y="1597980"/>
                <a:ext cx="8309500" cy="4336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E[</a:t>
                </a:r>
                <a:r>
                  <a:rPr lang="en-US" altLang="zh-TW" dirty="0" err="1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gaps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/>
                  <a:t>F[</a:t>
                </a:r>
                <a:r>
                  <a:rPr lang="en-US" altLang="zh-TW" dirty="0" err="1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gaps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G[</a:t>
                </a:r>
                <a:r>
                  <a:rPr lang="en-US" altLang="zh-TW" dirty="0" err="1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with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gaps</m:t>
                    </m:r>
                    <m:r>
                      <m:rPr>
                        <m:nor/>
                      </m:rPr>
                      <a:rPr lang="en-US" altLang="zh-TW" dirty="0"/>
                      <m:t>.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0" y="1597980"/>
                <a:ext cx="8309500" cy="4336572"/>
              </a:xfrm>
              <a:prstGeom prst="rect">
                <a:avLst/>
              </a:prstGeom>
              <a:blipFill rotWithShape="0">
                <a:blip r:embed="rId2"/>
                <a:stretch>
                  <a:fillRect l="-587" t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Three-sequence alignment</a:t>
            </a:r>
            <a:br>
              <a:rPr lang="en-US" altLang="zh-TW" dirty="0" smtClean="0"/>
            </a:br>
            <a:r>
              <a:rPr lang="en-US" altLang="zh-TW" dirty="0" smtClean="0"/>
              <a:t>with the dynamic programming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987"/>
                  </p:ext>
                </p:extLst>
              </p:nvPr>
            </p:nvGraphicFramePr>
            <p:xfrm>
              <a:off x="2173549" y="2093142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987"/>
                  </p:ext>
                </p:extLst>
              </p:nvPr>
            </p:nvGraphicFramePr>
            <p:xfrm>
              <a:off x="2173549" y="2093142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7692" r="-701000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106061" r="-70100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209231" r="-701000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616730"/>
                  </p:ext>
                </p:extLst>
              </p:nvPr>
            </p:nvGraphicFramePr>
            <p:xfrm>
              <a:off x="2173549" y="3766266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616730"/>
                  </p:ext>
                </p:extLst>
              </p:nvPr>
            </p:nvGraphicFramePr>
            <p:xfrm>
              <a:off x="2173549" y="3766266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7692" r="-701000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106061" r="-701000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209231" r="-701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559082"/>
                  </p:ext>
                </p:extLst>
              </p:nvPr>
            </p:nvGraphicFramePr>
            <p:xfrm>
              <a:off x="2173549" y="5597462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559082"/>
                  </p:ext>
                </p:extLst>
              </p:nvPr>
            </p:nvGraphicFramePr>
            <p:xfrm>
              <a:off x="2173549" y="5597462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5"/>
                          <a:stretch>
                            <a:fillRect t="-7692" r="-701000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5"/>
                          <a:stretch>
                            <a:fillRect t="-106061" r="-70100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5"/>
                          <a:stretch>
                            <a:fillRect t="-209231" r="-701000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070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94804" y="1415482"/>
                <a:ext cx="8389398" cy="4635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H[</a:t>
                </a:r>
                <a:r>
                  <a:rPr lang="en-US" altLang="zh-TW" dirty="0" err="1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with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gaps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I[i,j,k]=maximum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with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gaps.</a:t>
                </a:r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J[</a:t>
                </a:r>
                <a:r>
                  <a:rPr lang="en-US" altLang="zh-TW" dirty="0" err="1" smtClean="0"/>
                  <a:t>i,j,k</a:t>
                </a:r>
                <a:r>
                  <a:rPr lang="en-US" altLang="zh-TW" dirty="0"/>
                  <a:t>]=maximum score for aligning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/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with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gaps.</a:t>
                </a:r>
                <a:endParaRPr lang="zh-TW" altLang="en-US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4635884"/>
              </a:xfrm>
              <a:prstGeom prst="rect">
                <a:avLst/>
              </a:prstGeom>
              <a:blipFill rotWithShape="0">
                <a:blip r:embed="rId2"/>
                <a:stretch>
                  <a:fillRect l="-654" t="-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Three-sequence alignment</a:t>
            </a:r>
            <a:br>
              <a:rPr lang="en-US" altLang="zh-TW" dirty="0" smtClean="0"/>
            </a:br>
            <a:r>
              <a:rPr lang="en-US" altLang="zh-TW" dirty="0" smtClean="0"/>
              <a:t>with the dynamic programming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716234"/>
                  </p:ext>
                </p:extLst>
              </p:nvPr>
            </p:nvGraphicFramePr>
            <p:xfrm>
              <a:off x="2173549" y="2057958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716234"/>
                  </p:ext>
                </p:extLst>
              </p:nvPr>
            </p:nvGraphicFramePr>
            <p:xfrm>
              <a:off x="2173549" y="2057958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7692" r="-701000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106061" r="-701000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209231" r="-701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2117786"/>
                  </p:ext>
                </p:extLst>
              </p:nvPr>
            </p:nvGraphicFramePr>
            <p:xfrm>
              <a:off x="2173549" y="3977881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2117786"/>
                  </p:ext>
                </p:extLst>
              </p:nvPr>
            </p:nvGraphicFramePr>
            <p:xfrm>
              <a:off x="2173549" y="3977881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7692" r="-701000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106061" r="-701000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209231" r="-701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5459748"/>
                  </p:ext>
                </p:extLst>
              </p:nvPr>
            </p:nvGraphicFramePr>
            <p:xfrm>
              <a:off x="2173549" y="5597462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5459748"/>
                  </p:ext>
                </p:extLst>
              </p:nvPr>
            </p:nvGraphicFramePr>
            <p:xfrm>
              <a:off x="2173549" y="5597462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5"/>
                          <a:stretch>
                            <a:fillRect t="-7692" r="-701000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5"/>
                          <a:stretch>
                            <a:fillRect t="-106061" r="-70100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5"/>
                          <a:stretch>
                            <a:fillRect t="-209231" r="-701000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D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5515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594804" y="1415482"/>
            <a:ext cx="838939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/>
              <a:t>Gap penalties are calculated by gap penalty functions instead of constant numbers.</a:t>
            </a:r>
          </a:p>
          <a:p>
            <a:endParaRPr lang="en-US" altLang="zh-TW" sz="2500" dirty="0"/>
          </a:p>
          <a:p>
            <a:r>
              <a:rPr lang="en-US" altLang="zh-TW" sz="2500" dirty="0" smtClean="0"/>
              <a:t>GOP : the gap opening penalty function</a:t>
            </a:r>
          </a:p>
          <a:p>
            <a:r>
              <a:rPr lang="en-US" altLang="zh-TW" sz="2500" dirty="0" smtClean="0"/>
              <a:t>GEP : the gap extension penalty function</a:t>
            </a:r>
          </a:p>
          <a:p>
            <a:r>
              <a:rPr lang="en-US" altLang="zh-TW" sz="2500" dirty="0" err="1" smtClean="0"/>
              <a:t>i</a:t>
            </a:r>
            <a:r>
              <a:rPr lang="en-US" altLang="zh-TW" sz="2500" dirty="0" smtClean="0"/>
              <a:t>, j, k : indices of the sequence A, B and C ,respectively</a:t>
            </a:r>
          </a:p>
          <a:p>
            <a:endParaRPr lang="en-US" altLang="zh-TW" sz="2500" dirty="0"/>
          </a:p>
          <a:p>
            <a:endParaRPr lang="en-US" altLang="zh-TW" sz="2500" dirty="0" smtClean="0"/>
          </a:p>
          <a:p>
            <a:r>
              <a:rPr lang="en-US" altLang="zh-TW" sz="2500" dirty="0" smtClean="0"/>
              <a:t>Gap penalty : </a:t>
            </a:r>
            <a:r>
              <a:rPr lang="en-US" altLang="zh-TW" sz="2500" dirty="0" smtClean="0"/>
              <a:t>GOP+GEP*(gap length-1)</a:t>
            </a:r>
            <a:endParaRPr lang="en-US" altLang="zh-TW" sz="2500" dirty="0" smtClean="0"/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Variable gap penalties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409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94804" y="1415482"/>
                <a:ext cx="838939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𝐺𝑂𝑃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 smtClean="0"/>
                  <a:t> returns the gap opening penalty for opening a gap in the sequence </a:t>
                </a:r>
                <a:r>
                  <a:rPr lang="en-US" altLang="zh-TW" sz="2500" dirty="0"/>
                  <a:t>A</a:t>
                </a:r>
                <a:r>
                  <a:rPr lang="en-US" altLang="zh-TW" sz="2500" dirty="0" smtClean="0"/>
                  <a:t> for sequence A and B.</a:t>
                </a:r>
              </a:p>
              <a:p>
                <a:endParaRPr lang="en-US" altLang="zh-TW" sz="2500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2500" i="1" dirty="0" smtClean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𝐺𝑂𝑃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500" dirty="0" smtClean="0"/>
              </a:p>
              <a:p>
                <a:endParaRPr lang="en-US" altLang="zh-TW" sz="2500" dirty="0" smtClean="0"/>
              </a:p>
              <a:p>
                <a:endParaRPr lang="en-US" altLang="zh-TW" sz="2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𝐺𝑂𝑃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/>
                  <a:t> returns the gap opening penalty for opening a gap in the sequence </a:t>
                </a:r>
                <a:r>
                  <a:rPr lang="en-US" altLang="zh-TW" sz="2500" dirty="0" smtClean="0"/>
                  <a:t>A for all the sequences.</a:t>
                </a:r>
                <a:endParaRPr lang="en-US" altLang="zh-TW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𝐺𝑂𝑃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𝐺𝑂𝑃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𝐺𝑂𝑃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500" b="0" dirty="0" smtClean="0"/>
              </a:p>
              <a:p>
                <a:endParaRPr lang="en-US" altLang="zh-TW" sz="2500" dirty="0" smtClean="0"/>
              </a:p>
              <a:p>
                <a:endParaRPr lang="en-US" altLang="zh-TW" sz="2500" i="1" dirty="0" smtClean="0">
                  <a:latin typeface="Cambria Math" panose="02040503050406030204" pitchFamily="18" charset="0"/>
                </a:endParaRPr>
              </a:p>
              <a:p>
                <a:r>
                  <a:rPr lang="en-US" altLang="zh-TW" sz="25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sz="2500" i="1" dirty="0" smtClean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𝐺𝑂𝑃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(7,5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,6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4708981"/>
              </a:xfrm>
              <a:prstGeom prst="rect">
                <a:avLst/>
              </a:prstGeom>
              <a:blipFill rotWithShape="0">
                <a:blip r:embed="rId2"/>
                <a:stretch>
                  <a:fillRect l="-1235" t="-906" r="-1672" b="-9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499" y="89919"/>
            <a:ext cx="8728415" cy="1325563"/>
          </a:xfrm>
        </p:spPr>
        <p:txBody>
          <a:bodyPr/>
          <a:lstStyle/>
          <a:p>
            <a:r>
              <a:rPr lang="en-US" altLang="zh-TW" dirty="0" smtClean="0"/>
              <a:t>Gap </a:t>
            </a:r>
            <a:r>
              <a:rPr lang="en-US" altLang="zh-TW" dirty="0"/>
              <a:t>opening penalty function : </a:t>
            </a:r>
            <a:r>
              <a:rPr lang="en-US" altLang="zh-TW" dirty="0" smtClean="0"/>
              <a:t>1-gap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118855"/>
                  </p:ext>
                </p:extLst>
              </p:nvPr>
            </p:nvGraphicFramePr>
            <p:xfrm>
              <a:off x="2901517" y="2501841"/>
              <a:ext cx="4876800" cy="79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118855"/>
                  </p:ext>
                </p:extLst>
              </p:nvPr>
            </p:nvGraphicFramePr>
            <p:xfrm>
              <a:off x="2901517" y="2501841"/>
              <a:ext cx="4876800" cy="79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7576" r="-70100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109231" r="-701000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484700"/>
                  </p:ext>
                </p:extLst>
              </p:nvPr>
            </p:nvGraphicFramePr>
            <p:xfrm>
              <a:off x="2901517" y="5259025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484700"/>
                  </p:ext>
                </p:extLst>
              </p:nvPr>
            </p:nvGraphicFramePr>
            <p:xfrm>
              <a:off x="2901517" y="5259025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7692" r="-701000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106061" r="-701000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209231" r="-701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1790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94804" y="1415482"/>
                <a:ext cx="8389398" cy="2434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𝐺𝑂𝑃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/>
                  <a:t> returns the gap opening penalty for opening a gap in the sequence </a:t>
                </a:r>
                <a:r>
                  <a:rPr lang="en-US" altLang="zh-TW" sz="2500" dirty="0" smtClean="0"/>
                  <a:t>A and a gap in the sequence 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𝐺𝑂𝑃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500" b="0" i="0" smtClean="0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𝐺𝑂𝑃</m:t>
                            </m:r>
                          </m:e>
                          <m:sub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𝐺𝑂𝑃</m:t>
                            </m:r>
                          </m:e>
                          <m:sub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500" b="0" dirty="0" smtClean="0"/>
              </a:p>
              <a:p>
                <a:endParaRPr lang="en-US" altLang="zh-TW" sz="2500" dirty="0" smtClean="0"/>
              </a:p>
              <a:p>
                <a:endParaRPr lang="en-US" altLang="zh-TW" sz="2500" dirty="0" smtClean="0"/>
              </a:p>
              <a:p>
                <a:r>
                  <a:rPr lang="en-US" altLang="zh-TW" sz="25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𝐺𝑂𝑃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(7,5,6)</m:t>
                    </m:r>
                  </m:oMath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2434513"/>
              </a:xfrm>
              <a:prstGeom prst="rect">
                <a:avLst/>
              </a:prstGeom>
              <a:blipFill rotWithShape="0">
                <a:blip r:embed="rId2"/>
                <a:stretch>
                  <a:fillRect l="-1235" t="-1750" b="-2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618005"/>
                  </p:ext>
                </p:extLst>
              </p:nvPr>
            </p:nvGraphicFramePr>
            <p:xfrm>
              <a:off x="2901517" y="2950831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618005"/>
                  </p:ext>
                </p:extLst>
              </p:nvPr>
            </p:nvGraphicFramePr>
            <p:xfrm>
              <a:off x="2901517" y="2950831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7692" r="-701000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106061" r="-70100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209231" r="-701000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131499" y="89919"/>
            <a:ext cx="8728415" cy="1325563"/>
          </a:xfrm>
        </p:spPr>
        <p:txBody>
          <a:bodyPr/>
          <a:lstStyle/>
          <a:p>
            <a:r>
              <a:rPr lang="en-US" altLang="zh-TW" dirty="0" smtClean="0"/>
              <a:t>Gap </a:t>
            </a:r>
            <a:r>
              <a:rPr lang="en-US" altLang="zh-TW" dirty="0"/>
              <a:t>opening penalty function : 2</a:t>
            </a:r>
            <a:r>
              <a:rPr lang="en-US" altLang="zh-TW" dirty="0" smtClean="0"/>
              <a:t>-gap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087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94804" y="1415482"/>
                <a:ext cx="838939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𝐺𝐸𝑃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 smtClean="0"/>
                  <a:t> returns the gap extension penalty for extending a gap in the sequence </a:t>
                </a:r>
                <a:r>
                  <a:rPr lang="en-US" altLang="zh-TW" sz="2500" dirty="0"/>
                  <a:t>A</a:t>
                </a:r>
                <a:r>
                  <a:rPr lang="en-US" altLang="zh-TW" sz="2500" dirty="0" smtClean="0"/>
                  <a:t> for sequence A and B.</a:t>
                </a:r>
              </a:p>
              <a:p>
                <a:endParaRPr lang="en-US" altLang="zh-TW" sz="2500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2500" i="1" dirty="0" smtClean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500" dirty="0" smtClean="0"/>
              </a:p>
              <a:p>
                <a:endParaRPr lang="en-US" altLang="zh-TW" sz="2500" dirty="0" smtClean="0"/>
              </a:p>
              <a:p>
                <a:endParaRPr lang="en-US" altLang="zh-TW" sz="2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/>
                  <a:t> returns the gap </a:t>
                </a:r>
                <a:r>
                  <a:rPr lang="en-US" altLang="zh-TW" sz="2500" dirty="0" smtClean="0"/>
                  <a:t>extension </a:t>
                </a:r>
                <a:r>
                  <a:rPr lang="en-US" altLang="zh-TW" sz="2500" dirty="0"/>
                  <a:t>penalty for </a:t>
                </a:r>
                <a:r>
                  <a:rPr lang="en-US" altLang="zh-TW" sz="2500" dirty="0" smtClean="0"/>
                  <a:t>extending </a:t>
                </a:r>
                <a:r>
                  <a:rPr lang="en-US" altLang="zh-TW" sz="2500" dirty="0"/>
                  <a:t>a gap in the sequence </a:t>
                </a:r>
                <a:r>
                  <a:rPr lang="en-US" altLang="zh-TW" sz="2500" dirty="0" smtClean="0"/>
                  <a:t>A for all the sequences.</a:t>
                </a:r>
                <a:endParaRPr lang="en-US" altLang="zh-TW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500" b="0" dirty="0" smtClean="0"/>
              </a:p>
              <a:p>
                <a:endParaRPr lang="en-US" altLang="zh-TW" sz="2500" dirty="0" smtClean="0"/>
              </a:p>
              <a:p>
                <a:endParaRPr lang="en-US" altLang="zh-TW" sz="2500" i="1" dirty="0" smtClean="0">
                  <a:latin typeface="Cambria Math" panose="02040503050406030204" pitchFamily="18" charset="0"/>
                </a:endParaRPr>
              </a:p>
              <a:p>
                <a:r>
                  <a:rPr lang="en-US" altLang="zh-TW" sz="25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sz="2500" i="1" dirty="0" smtClean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(7,5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,6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4708981"/>
              </a:xfrm>
              <a:prstGeom prst="rect">
                <a:avLst/>
              </a:prstGeom>
              <a:blipFill rotWithShape="0">
                <a:blip r:embed="rId2"/>
                <a:stretch>
                  <a:fillRect l="-1235" t="-906" r="-145" b="-9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499" y="89919"/>
            <a:ext cx="8932602" cy="1325563"/>
          </a:xfrm>
        </p:spPr>
        <p:txBody>
          <a:bodyPr/>
          <a:lstStyle/>
          <a:p>
            <a:r>
              <a:rPr lang="en-US" altLang="zh-TW" dirty="0" smtClean="0"/>
              <a:t>Gap extension </a:t>
            </a:r>
            <a:r>
              <a:rPr lang="en-US" altLang="zh-TW" dirty="0"/>
              <a:t>penalty function : </a:t>
            </a:r>
            <a:r>
              <a:rPr lang="en-US" altLang="zh-TW" dirty="0" smtClean="0"/>
              <a:t>1-gap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901517" y="2501841"/>
              <a:ext cx="4876800" cy="79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901517" y="2501841"/>
              <a:ext cx="4876800" cy="79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7576" r="-70100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109231" r="-701000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901517" y="5259025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901517" y="5259025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7692" r="-701000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106061" r="-701000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209231" r="-701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544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94804" y="1415482"/>
                <a:ext cx="8389398" cy="2434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/>
                  <a:t> returns the gap </a:t>
                </a:r>
                <a:r>
                  <a:rPr lang="en-US" altLang="zh-TW" sz="2500" dirty="0" smtClean="0"/>
                  <a:t>extension </a:t>
                </a:r>
                <a:r>
                  <a:rPr lang="en-US" altLang="zh-TW" sz="2500" dirty="0"/>
                  <a:t>penalty for </a:t>
                </a:r>
                <a:r>
                  <a:rPr lang="en-US" altLang="zh-TW" sz="2500" dirty="0" smtClean="0"/>
                  <a:t>extending </a:t>
                </a:r>
                <a:r>
                  <a:rPr lang="en-US" altLang="zh-TW" sz="2500" dirty="0"/>
                  <a:t>a gap in the sequence </a:t>
                </a:r>
                <a:r>
                  <a:rPr lang="en-US" altLang="zh-TW" sz="2500" dirty="0" smtClean="0"/>
                  <a:t>A and a gap in the sequence 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500" b="0" i="0" smtClean="0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500" b="0" dirty="0" smtClean="0"/>
              </a:p>
              <a:p>
                <a:endParaRPr lang="en-US" altLang="zh-TW" sz="2500" dirty="0" smtClean="0"/>
              </a:p>
              <a:p>
                <a:endParaRPr lang="en-US" altLang="zh-TW" sz="2500" dirty="0" smtClean="0"/>
              </a:p>
              <a:p>
                <a:r>
                  <a:rPr lang="en-US" altLang="zh-TW" sz="25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(7,5,6)</m:t>
                    </m:r>
                  </m:oMath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2434513"/>
              </a:xfrm>
              <a:prstGeom prst="rect">
                <a:avLst/>
              </a:prstGeom>
              <a:blipFill rotWithShape="0">
                <a:blip r:embed="rId2"/>
                <a:stretch>
                  <a:fillRect l="-1235" t="-1750" b="-2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901517" y="2950831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901517" y="2950831"/>
              <a:ext cx="4876800" cy="11887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7692" r="-701000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106061" r="-70100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209231" r="-701000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B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131499" y="89919"/>
            <a:ext cx="8932602" cy="1325563"/>
          </a:xfrm>
        </p:spPr>
        <p:txBody>
          <a:bodyPr/>
          <a:lstStyle/>
          <a:p>
            <a:r>
              <a:rPr lang="en-US" altLang="zh-TW" dirty="0" smtClean="0"/>
              <a:t>Gap extension </a:t>
            </a:r>
            <a:r>
              <a:rPr lang="en-US" altLang="zh-TW" dirty="0"/>
              <a:t>penalty function : 2</a:t>
            </a:r>
            <a:r>
              <a:rPr lang="en-US" altLang="zh-TW" dirty="0" smtClean="0"/>
              <a:t>-gap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471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Three-sequence alignment</a:t>
            </a:r>
            <a:br>
              <a:rPr lang="en-US" altLang="zh-TW" dirty="0" smtClean="0"/>
            </a:br>
            <a:r>
              <a:rPr lang="en-US" altLang="zh-TW" dirty="0" smtClean="0"/>
              <a:t>with the dynamic programming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58" y="1415482"/>
            <a:ext cx="7337542" cy="532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3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Three-sequence alignment</a:t>
            </a:r>
            <a:br>
              <a:rPr lang="en-US" altLang="zh-TW" dirty="0" smtClean="0"/>
            </a:br>
            <a:r>
              <a:rPr lang="en-US" altLang="zh-TW" dirty="0" smtClean="0"/>
              <a:t>with the dynamic programming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42" y="1582139"/>
            <a:ext cx="8238320" cy="49363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25656" y="2500206"/>
                <a:ext cx="975267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C00000"/>
                    </a:solidFill>
                  </a:rPr>
                  <a:t>Gap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C00000"/>
                    </a:solidFill>
                  </a:rPr>
                  <a:t> 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56" y="2500206"/>
                <a:ext cx="975267" cy="391646"/>
              </a:xfrm>
              <a:prstGeom prst="rect">
                <a:avLst/>
              </a:prstGeom>
              <a:blipFill rotWithShape="0">
                <a:blip r:embed="rId3"/>
                <a:stretch>
                  <a:fillRect l="-5625" t="-6250" b="-203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25656" y="4128213"/>
                <a:ext cx="9870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C00000"/>
                    </a:solidFill>
                  </a:rPr>
                  <a:t>Gap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C00000"/>
                    </a:solidFill>
                  </a:rPr>
                  <a:t> 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56" y="4128213"/>
                <a:ext cx="98706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5556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25655" y="5733906"/>
                <a:ext cx="10014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C00000"/>
                    </a:solidFill>
                  </a:rPr>
                  <a:t>Gap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C00000"/>
                    </a:solidFill>
                  </a:rPr>
                  <a:t> 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55" y="5733906"/>
                <a:ext cx="100142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5488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82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Three-sequence alignment</a:t>
            </a:r>
            <a:br>
              <a:rPr lang="en-US" altLang="zh-TW" dirty="0" smtClean="0"/>
            </a:br>
            <a:r>
              <a:rPr lang="en-US" altLang="zh-TW" dirty="0" smtClean="0"/>
              <a:t>with the dynamic programming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17" y="1753385"/>
            <a:ext cx="8524875" cy="4505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27317" y="2688892"/>
                <a:ext cx="1277466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C00000"/>
                    </a:solidFill>
                  </a:rPr>
                  <a:t>Gap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17" y="2688892"/>
                <a:ext cx="1277466" cy="391646"/>
              </a:xfrm>
              <a:prstGeom prst="rect">
                <a:avLst/>
              </a:prstGeom>
              <a:blipFill rotWithShape="0">
                <a:blip r:embed="rId3"/>
                <a:stretch>
                  <a:fillRect l="-4306" t="-6250" b="-203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27317" y="4082155"/>
                <a:ext cx="12892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C00000"/>
                    </a:solidFill>
                  </a:rPr>
                  <a:t>Gap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17" y="4082155"/>
                <a:ext cx="1289264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265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39115" y="5562720"/>
                <a:ext cx="1263103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C00000"/>
                    </a:solidFill>
                  </a:rPr>
                  <a:t>Gap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15" y="5562720"/>
                <a:ext cx="1263103" cy="391646"/>
              </a:xfrm>
              <a:prstGeom prst="rect">
                <a:avLst/>
              </a:prstGeom>
              <a:blipFill rotWithShape="0">
                <a:blip r:embed="rId5"/>
                <a:stretch>
                  <a:fillRect l="-4348" t="-7813" b="-203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3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8701782" cy="1472551"/>
          </a:xfrm>
        </p:spPr>
        <p:txBody>
          <a:bodyPr/>
          <a:lstStyle/>
          <a:p>
            <a:r>
              <a:rPr lang="en-US" altLang="zh-TW" dirty="0" smtClean="0"/>
              <a:t>Factors for the gap opening penalty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94804" y="1415482"/>
                <a:ext cx="8389398" cy="5093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 smtClean="0"/>
                  <a:t>The gap opening penalty </a:t>
                </a:r>
                <a14:m>
                  <m:oMath xmlns:m="http://schemas.openxmlformats.org/officeDocument/2006/math">
                    <m:r>
                      <a:rPr lang="zh-TW" altLang="en-US" sz="25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TW" sz="2500" dirty="0" smtClean="0"/>
                  <a:t> and the gap extension penalty </a:t>
                </a:r>
                <a14:m>
                  <m:oMath xmlns:m="http://schemas.openxmlformats.org/officeDocument/2006/math">
                    <m:r>
                      <a:rPr lang="zh-TW" altLang="en-US" sz="25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sz="2500" dirty="0" smtClean="0"/>
                  <a:t> can be given by user.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5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 smtClean="0"/>
                  <a:t>The average score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z="2500" dirty="0" smtClean="0"/>
                  <a:t> for two mismatched symbols is used as the gap weight for the gap opening penalty.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5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 smtClean="0"/>
                  <a:t>Increase the penalty for strong similarity; decrease the penalty for the divergent one the linear scale.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5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 smtClean="0"/>
                  <a:t>The gap opening penalty is increased with the logarithm of the length of the shorter sequence.</a:t>
                </a:r>
              </a:p>
              <a:p>
                <a:endParaRPr lang="en-US" altLang="zh-TW" sz="25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TW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500" b="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zh-TW" sz="25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TW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</m:oMath>
                  </m:oMathPara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5093702"/>
              </a:xfrm>
              <a:prstGeom prst="rect">
                <a:avLst/>
              </a:prstGeom>
              <a:blipFill rotWithShape="0">
                <a:blip r:embed="rId2"/>
                <a:stretch>
                  <a:fillRect l="-1090" t="-837" r="-291" b="-7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66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8701782" cy="1472551"/>
          </a:xfrm>
        </p:spPr>
        <p:txBody>
          <a:bodyPr/>
          <a:lstStyle/>
          <a:p>
            <a:r>
              <a:rPr lang="en-US" altLang="zh-TW" dirty="0"/>
              <a:t>S</a:t>
            </a:r>
            <a:r>
              <a:rPr lang="en-US" altLang="zh-TW" dirty="0" smtClean="0"/>
              <a:t>equence identity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59293" y="1184663"/>
                <a:ext cx="8389398" cy="6238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50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US" altLang="zh-TW" sz="2500" b="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altLang="zh-TW" sz="2500" dirty="0">
                    <a:latin typeface="Cambria Math" panose="02040503050406030204" pitchFamily="18" charset="0"/>
                  </a:rPr>
                  <a:t>: </a:t>
                </a:r>
                <a:r>
                  <a:rPr lang="en-US" altLang="zh-TW" sz="2500" dirty="0" smtClean="0">
                    <a:latin typeface="Cambria Math" panose="02040503050406030204" pitchFamily="18" charset="0"/>
                  </a:rPr>
                  <a:t>sequence </a:t>
                </a:r>
                <a:r>
                  <a:rPr lang="en-US" altLang="zh-TW" sz="2500" dirty="0">
                    <a:latin typeface="Cambria Math" panose="02040503050406030204" pitchFamily="18" charset="0"/>
                  </a:rPr>
                  <a:t>identity is the amount of characters which match exactly between two different sequences</a:t>
                </a:r>
                <a:r>
                  <a:rPr lang="en-US" altLang="zh-TW" sz="2500" dirty="0" smtClean="0">
                    <a:latin typeface="Cambria Math" panose="02040503050406030204" pitchFamily="18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500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zh-TW" sz="2300" dirty="0" smtClean="0">
                    <a:latin typeface="Cambria Math" panose="02040503050406030204" pitchFamily="18" charset="0"/>
                  </a:rPr>
                  <a:t>A : AAGGCTT</a:t>
                </a:r>
                <a:endParaRPr lang="en-US" altLang="zh-TW" sz="2300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zh-TW" sz="2300" dirty="0" smtClean="0">
                    <a:latin typeface="Cambria Math" panose="02040503050406030204" pitchFamily="18" charset="0"/>
                  </a:rPr>
                  <a:t>B : AAGGC</a:t>
                </a:r>
              </a:p>
              <a:p>
                <a:pPr lvl="1"/>
                <a:r>
                  <a:rPr lang="en-US" altLang="zh-TW" sz="2300" dirty="0" smtClean="0">
                    <a:latin typeface="Cambria Math" panose="02040503050406030204" pitchFamily="18" charset="0"/>
                  </a:rPr>
                  <a:t>C : AAGGCAT</a:t>
                </a:r>
                <a:endParaRPr lang="en-US" altLang="zh-TW" sz="230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𝑙𝑒𝑛𝑔𝑡h</m:t>
                              </m:r>
                              <m:d>
                                <m:dPr>
                                  <m:ctrlP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𝑙𝑒𝑛𝑔𝑡h</m:t>
                              </m:r>
                              <m:d>
                                <m:dPr>
                                  <m:ctrlP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func>
                        </m:den>
                      </m:f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=100%</m:t>
                      </m:r>
                    </m:oMath>
                  </m:oMathPara>
                </a14:m>
                <a:endParaRPr lang="en-US" altLang="zh-TW" sz="2500" dirty="0" smtClean="0"/>
              </a:p>
              <a:p>
                <a:pPr lvl="1"/>
                <a:endParaRPr lang="en-US" altLang="zh-TW" sz="2500" dirty="0" smtClean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𝑙𝑒𝑛𝑔𝑡h</m:t>
                              </m:r>
                              <m:d>
                                <m:d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𝑙𝑒𝑛𝑔𝑡h</m:t>
                              </m:r>
                              <m:d>
                                <m:d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func>
                        </m:den>
                      </m:f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=100%</m:t>
                      </m:r>
                    </m:oMath>
                  </m:oMathPara>
                </a14:m>
                <a:endParaRPr lang="en-US" altLang="zh-TW" sz="2500" dirty="0" smtClean="0"/>
              </a:p>
              <a:p>
                <a:pPr lvl="1"/>
                <a:endParaRPr lang="en-US" altLang="zh-TW" sz="2500" dirty="0" smtClean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𝑙𝑒𝑛𝑔𝑡h</m:t>
                              </m:r>
                              <m:d>
                                <m:d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𝑙𝑒𝑛𝑔𝑡h</m:t>
                              </m:r>
                              <m:d>
                                <m:d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func>
                        </m:den>
                      </m:f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85.7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altLang="zh-TW" sz="2500" dirty="0"/>
              </a:p>
              <a:p>
                <a:pPr lvl="1"/>
                <a:endParaRPr lang="en-US" altLang="zh-TW" sz="2500" dirty="0"/>
              </a:p>
              <a:p>
                <a:pPr lvl="1"/>
                <a:endParaRPr lang="en-US" altLang="zh-TW" sz="25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93" y="1184663"/>
                <a:ext cx="8389398" cy="6238696"/>
              </a:xfrm>
              <a:prstGeom prst="rect">
                <a:avLst/>
              </a:prstGeom>
              <a:blipFill rotWithShape="0">
                <a:blip r:embed="rId2"/>
                <a:stretch>
                  <a:fillRect t="-684" r="-7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4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8701782" cy="1472551"/>
          </a:xfrm>
        </p:spPr>
        <p:txBody>
          <a:bodyPr/>
          <a:lstStyle/>
          <a:p>
            <a:r>
              <a:rPr lang="en-US" altLang="zh-TW" dirty="0" smtClean="0"/>
              <a:t>Factors for the gap extension penalty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94804" y="1415482"/>
                <a:ext cx="8389398" cy="201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 smtClean="0"/>
                  <a:t>To avoid producing many long gaps on the sequences, the gap extension penalty has to be increased.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5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5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5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5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500" dirty="0" smtClean="0"/>
              </a:p>
              <a:p>
                <a:endParaRPr lang="en-US" altLang="zh-TW" sz="2500" dirty="0" smtClean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2015936"/>
              </a:xfrm>
              <a:prstGeom prst="rect">
                <a:avLst/>
              </a:prstGeom>
              <a:blipFill rotWithShape="0">
                <a:blip r:embed="rId2"/>
                <a:stretch>
                  <a:fillRect l="-1090" t="-2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02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8701782" cy="1472551"/>
          </a:xfrm>
        </p:spPr>
        <p:txBody>
          <a:bodyPr/>
          <a:lstStyle/>
          <a:p>
            <a:r>
              <a:rPr lang="en-US" altLang="zh-TW" dirty="0" smtClean="0"/>
              <a:t>Other concerns for protein sequences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94804" y="1415482"/>
                <a:ext cx="8389398" cy="4793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𝐺𝑂𝑇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 be the gap opening penalty table which records the penalty along the length of sequence A 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 be the gap extension penalty table.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/>
                  <a:t>To avoid that gaps are too close, if the position is within eight residues of an existing gap, the gap opening penalty is increased</a:t>
                </a:r>
                <a:r>
                  <a:rPr lang="en-US" altLang="zh-TW" sz="2500" dirty="0" smtClean="0"/>
                  <a:t>.</a:t>
                </a:r>
                <a:endParaRPr lang="en-US" altLang="zh-TW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𝐺𝑂𝑇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∗{2+</m:t>
                      </m:r>
                      <m:f>
                        <m:f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b="0" i="1" smtClean="0">
                                      <a:latin typeface="Cambria Math" panose="02040503050406030204" pitchFamily="18" charset="0"/>
                                    </a:rPr>
                                    <m:t>8−</m:t>
                                  </m:r>
                                  <m:sSub>
                                    <m:sSubPr>
                                      <m:ctrlPr>
                                        <a:rPr lang="en-US" altLang="zh-TW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5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2500" b="0" i="1" smtClean="0">
                                          <a:latin typeface="Cambria Math" panose="02040503050406030204" pitchFamily="18" charset="0"/>
                                        </a:rPr>
                                        <m:t>𝑝𝑟𝑒𝑣𝑖𝑜𝑢𝑠</m:t>
                                      </m:r>
                                      <m:r>
                                        <a:rPr lang="en-US" altLang="zh-TW" sz="25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TW" sz="2500" b="0" i="1" smtClean="0">
                                          <a:latin typeface="Cambria Math" panose="02040503050406030204" pitchFamily="18" charset="0"/>
                                        </a:rPr>
                                        <m:t>𝑔𝑎𝑝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∗2</m:t>
                              </m:r>
                            </m:e>
                          </m:d>
                        </m:num>
                        <m:den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5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/>
                  <a:t>For alignments of hydrophilic stretches, the gap opening penalty is decreased at a position within a run of five hydrophilic residues.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𝐺𝑂𝑇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4793492"/>
              </a:xfrm>
              <a:prstGeom prst="rect">
                <a:avLst/>
              </a:prstGeom>
              <a:blipFill rotWithShape="0">
                <a:blip r:embed="rId2"/>
                <a:stretch>
                  <a:fillRect l="-1090" t="-889" r="-18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99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8701782" cy="1472551"/>
          </a:xfrm>
        </p:spPr>
        <p:txBody>
          <a:bodyPr/>
          <a:lstStyle/>
          <a:p>
            <a:r>
              <a:rPr lang="en-US" altLang="zh-TW" dirty="0" smtClean="0"/>
              <a:t>Other concerns for protein sequences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94804" y="1415482"/>
                <a:ext cx="8389398" cy="1665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 smtClean="0"/>
                  <a:t>Recalling the GOP and GEP functions, these functions are calculated according to those equations.</a:t>
                </a:r>
                <a:endParaRPr lang="en-US" altLang="zh-TW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2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𝐺𝑂𝑃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𝐺𝑂𝑇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𝐺𝑂𝑇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5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𝐺𝐸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1665071"/>
              </a:xfrm>
              <a:prstGeom prst="rect">
                <a:avLst/>
              </a:prstGeom>
              <a:blipFill rotWithShape="0">
                <a:blip r:embed="rId2"/>
                <a:stretch>
                  <a:fillRect l="-1090" t="-2564" b="-43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10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8701782" cy="1472551"/>
          </a:xfrm>
        </p:spPr>
        <p:txBody>
          <a:bodyPr/>
          <a:lstStyle/>
          <a:p>
            <a:r>
              <a:rPr lang="en-US" altLang="zh-TW" dirty="0" smtClean="0"/>
              <a:t>Experiments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594804" y="1415482"/>
            <a:ext cx="8389398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500" dirty="0" smtClean="0"/>
              <a:t>Three different percent identity ranges</a:t>
            </a:r>
          </a:p>
          <a:p>
            <a:pPr lvl="1"/>
            <a:r>
              <a:rPr lang="en-US" altLang="zh-TW" sz="2500" dirty="0" smtClean="0"/>
              <a:t>&lt;=25% , 20-40%, &gt;35%</a:t>
            </a:r>
          </a:p>
          <a:p>
            <a:pPr lvl="1"/>
            <a:endParaRPr lang="en-US" altLang="zh-TW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500" dirty="0" smtClean="0"/>
              <a:t>The accuracy is evaluated by two different scoring 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500" b="1" dirty="0" smtClean="0"/>
              <a:t>Sum of pair </a:t>
            </a:r>
            <a:r>
              <a:rPr lang="en-US" altLang="zh-TW" sz="2500" dirty="0" smtClean="0"/>
              <a:t>:</a:t>
            </a:r>
          </a:p>
          <a:p>
            <a:pPr lvl="2"/>
            <a:r>
              <a:rPr lang="en-US" altLang="zh-TW" sz="2500" dirty="0" smtClean="0"/>
              <a:t>the </a:t>
            </a:r>
            <a:r>
              <a:rPr lang="en-US" altLang="zh-TW" sz="2500" dirty="0"/>
              <a:t>number of correctly aligned residue</a:t>
            </a:r>
          </a:p>
          <a:p>
            <a:pPr lvl="2"/>
            <a:r>
              <a:rPr lang="en-US" altLang="zh-TW" sz="2500" dirty="0"/>
              <a:t>pairs found in the test alignment divided by the total</a:t>
            </a:r>
          </a:p>
          <a:p>
            <a:pPr lvl="2"/>
            <a:r>
              <a:rPr lang="en-US" altLang="zh-TW" sz="2500" dirty="0"/>
              <a:t>number of aligned residue pairs in the reference</a:t>
            </a:r>
          </a:p>
          <a:p>
            <a:pPr lvl="2"/>
            <a:r>
              <a:rPr lang="en-US" altLang="zh-TW" sz="2500" dirty="0"/>
              <a:t>alignment. </a:t>
            </a:r>
            <a:endParaRPr lang="en-US" altLang="zh-TW" sz="25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500" b="1" dirty="0" smtClean="0"/>
              <a:t>Total column score :</a:t>
            </a:r>
          </a:p>
          <a:p>
            <a:pPr lvl="2"/>
            <a:r>
              <a:rPr lang="en-US" altLang="zh-TW" sz="2500" dirty="0"/>
              <a:t>the number of correctly aligned columns</a:t>
            </a:r>
          </a:p>
          <a:p>
            <a:pPr lvl="2"/>
            <a:r>
              <a:rPr lang="en-US" altLang="zh-TW" sz="2500" dirty="0"/>
              <a:t>found in the test alignment divided by the total number</a:t>
            </a:r>
          </a:p>
          <a:p>
            <a:pPr lvl="2"/>
            <a:r>
              <a:rPr lang="en-US" altLang="zh-TW" sz="2500" dirty="0"/>
              <a:t>of aligned columns in the reference alignment. </a:t>
            </a:r>
          </a:p>
        </p:txBody>
      </p:sp>
    </p:spTree>
    <p:extLst>
      <p:ext uri="{BB962C8B-B14F-4D97-AF65-F5344CB8AC3E}">
        <p14:creationId xmlns:p14="http://schemas.microsoft.com/office/powerpoint/2010/main" val="124686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8701782" cy="1472551"/>
          </a:xfrm>
        </p:spPr>
        <p:txBody>
          <a:bodyPr/>
          <a:lstStyle/>
          <a:p>
            <a:r>
              <a:rPr lang="en-US" altLang="zh-TW" dirty="0" smtClean="0"/>
              <a:t>Experiments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82" y="1424774"/>
            <a:ext cx="84201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4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31500" y="89919"/>
            <a:ext cx="8701782" cy="1472551"/>
          </a:xfrm>
        </p:spPr>
        <p:txBody>
          <a:bodyPr/>
          <a:lstStyle/>
          <a:p>
            <a:r>
              <a:rPr lang="en-US" altLang="zh-TW" dirty="0" smtClean="0"/>
              <a:t>Experiments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594804" y="1415482"/>
                <a:ext cx="8389398" cy="201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500" dirty="0" smtClean="0"/>
                  <a:t>Time complexity </a:t>
                </a:r>
              </a:p>
              <a:p>
                <a:pPr lvl="1"/>
                <a:r>
                  <a:rPr lang="en-US" altLang="zh-TW" sz="2500" dirty="0" smtClean="0"/>
                  <a:t>Building three matrices is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5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TW" sz="25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sz="2500" dirty="0" smtClean="0"/>
              </a:p>
              <a:p>
                <a:pPr lvl="1"/>
                <a:r>
                  <a:rPr lang="en-US" altLang="zh-TW" sz="2500" dirty="0" smtClean="0"/>
                  <a:t>Alignment with dynamic programing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sz="2500" dirty="0" smtClean="0"/>
              </a:p>
              <a:p>
                <a:pPr lvl="1"/>
                <a:endParaRPr lang="en-US" altLang="zh-TW" sz="2500" dirty="0" smtClean="0"/>
              </a:p>
              <a:p>
                <a:pPr lvl="1"/>
                <a:r>
                  <a:rPr lang="en-US" altLang="zh-TW" sz="2500" dirty="0" smtClean="0"/>
                  <a:t>Hence, the time complexity of this algorithm is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500" dirty="0" smtClean="0"/>
                  <a:t>.</a:t>
                </a:r>
                <a:endParaRPr lang="en-US" altLang="zh-TW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4" y="1415482"/>
                <a:ext cx="8389398" cy="2015936"/>
              </a:xfrm>
              <a:prstGeom prst="rect">
                <a:avLst/>
              </a:prstGeom>
              <a:blipFill rotWithShape="0">
                <a:blip r:embed="rId2"/>
                <a:stretch>
                  <a:fillRect l="-1090" t="-2115" b="-63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005" y="3431418"/>
            <a:ext cx="4874771" cy="324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4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9595</TotalTime>
  <Words>1108</Words>
  <Application>Microsoft Office PowerPoint</Application>
  <PresentationFormat>如螢幕大小 (4:3)</PresentationFormat>
  <Paragraphs>632</Paragraphs>
  <Slides>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Introducing variable gap penalties into three-sequence alignment for protein sequences</vt:lpstr>
      <vt:lpstr>Abstract</vt:lpstr>
      <vt:lpstr>Three-sequence alignment</vt:lpstr>
      <vt:lpstr>Three-sequence alignment</vt:lpstr>
      <vt:lpstr>Fixed gap penalty : constant gap</vt:lpstr>
      <vt:lpstr>Fixed gap penalty : linear gap</vt:lpstr>
      <vt:lpstr>Fixed gap penalty : affine gap</vt:lpstr>
      <vt:lpstr>Variable gap penalty</vt:lpstr>
      <vt:lpstr>Definition</vt:lpstr>
      <vt:lpstr>BLOSUM</vt:lpstr>
      <vt:lpstr>Three-sequence alignment with the dynamic programming</vt:lpstr>
      <vt:lpstr>Three-sequence alignment with the dynamic programming</vt:lpstr>
      <vt:lpstr>Three-sequence alignment with the dynamic programming</vt:lpstr>
      <vt:lpstr>Three-sequence alignment with the dynamic programming</vt:lpstr>
      <vt:lpstr>Variable gap penalties</vt:lpstr>
      <vt:lpstr>Gap opening penalty function : 1-gap</vt:lpstr>
      <vt:lpstr>Gap opening penalty function : 2-gap</vt:lpstr>
      <vt:lpstr>Gap extension penalty function : 1-gap</vt:lpstr>
      <vt:lpstr>Gap extension penalty function : 2-gap</vt:lpstr>
      <vt:lpstr>Three-sequence alignment with the dynamic programming</vt:lpstr>
      <vt:lpstr>Three-sequence alignment with the dynamic programming</vt:lpstr>
      <vt:lpstr>Three-sequence alignment with the dynamic programming</vt:lpstr>
      <vt:lpstr>Factors for the gap opening penalty</vt:lpstr>
      <vt:lpstr>Sequence identity</vt:lpstr>
      <vt:lpstr>Factors for the gap extension penalty</vt:lpstr>
      <vt:lpstr>Other concerns for protein sequences</vt:lpstr>
      <vt:lpstr>Other concerns for protein sequences</vt:lpstr>
      <vt:lpstr>Experiments</vt:lpstr>
      <vt:lpstr>Experiments</vt:lpstr>
      <vt:lpstr>Experiments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pplab-class</cp:lastModifiedBy>
  <cp:revision>277</cp:revision>
  <dcterms:created xsi:type="dcterms:W3CDTF">2016-10-24T04:50:56Z</dcterms:created>
  <dcterms:modified xsi:type="dcterms:W3CDTF">2017-09-05T11:15:17Z</dcterms:modified>
</cp:coreProperties>
</file>