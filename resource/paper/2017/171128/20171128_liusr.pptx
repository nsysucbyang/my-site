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74" r:id="rId4"/>
    <p:sldId id="275" r:id="rId5"/>
    <p:sldId id="276" r:id="rId6"/>
    <p:sldId id="277" r:id="rId7"/>
    <p:sldId id="280" r:id="rId8"/>
    <p:sldId id="278" r:id="rId9"/>
    <p:sldId id="279"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69" autoAdjust="0"/>
    <p:restoredTop sz="78307" autoAdjust="0"/>
  </p:normalViewPr>
  <p:slideViewPr>
    <p:cSldViewPr snapToGrid="0">
      <p:cViewPr varScale="1">
        <p:scale>
          <a:sx n="115" d="100"/>
          <a:sy n="115" d="100"/>
        </p:scale>
        <p:origin x="70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2017/11/28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3</a:t>
            </a:fld>
            <a:endParaRPr lang="zh-TW" altLang="en-US"/>
          </a:p>
        </p:txBody>
      </p:sp>
    </p:spTree>
    <p:extLst>
      <p:ext uri="{BB962C8B-B14F-4D97-AF65-F5344CB8AC3E}">
        <p14:creationId xmlns:p14="http://schemas.microsoft.com/office/powerpoint/2010/main" val="1572249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2017/11/28</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2017/11/28</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2017/11/28</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2017/11/28</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2017/11/28</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2017/11/28</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2017/11/28</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1524000" y="601086"/>
            <a:ext cx="9144000" cy="1786671"/>
          </a:xfrm>
        </p:spPr>
        <p:txBody>
          <a:bodyPr>
            <a:normAutofit/>
          </a:bodyPr>
          <a:lstStyle/>
          <a:p>
            <a:r>
              <a:rPr lang="en-US" altLang="zh-TW" sz="4800" dirty="0">
                <a:latin typeface="Tw Cen MT" panose="020B0602020104020603" pitchFamily="34" charset="0"/>
                <a:ea typeface="Cambria Math" panose="02040503050406030204" pitchFamily="18" charset="0"/>
                <a:cs typeface="Times New Roman" panose="02020603050405020304" pitchFamily="18" charset="0"/>
              </a:rPr>
              <a:t>Dynamic Time Warping under limited warping path length</a:t>
            </a:r>
            <a:endParaRPr lang="zh-TW" altLang="en-US" sz="48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1631680" y="2704468"/>
            <a:ext cx="8928639" cy="773417"/>
          </a:xfrm>
        </p:spPr>
        <p:txBody>
          <a:bodyPr>
            <a:noAutofit/>
          </a:bodyPr>
          <a:lstStyle/>
          <a:p>
            <a:r>
              <a:rPr lang="en-US" altLang="zh-TW" sz="2600" dirty="0"/>
              <a:t>Zheng Zhang, Romain </a:t>
            </a:r>
            <a:r>
              <a:rPr lang="en-US" altLang="zh-TW" sz="2600" dirty="0" err="1"/>
              <a:t>Tavenard</a:t>
            </a:r>
            <a:r>
              <a:rPr lang="en-US" altLang="zh-TW" sz="2600" dirty="0"/>
              <a:t>, Adeline Bailly, </a:t>
            </a:r>
            <a:r>
              <a:rPr lang="en-US" altLang="zh-TW" sz="2600" dirty="0" err="1"/>
              <a:t>Xiaotong</a:t>
            </a:r>
            <a:r>
              <a:rPr lang="en-US" altLang="zh-TW" sz="2600" dirty="0"/>
              <a:t> Tang, Ping Tang, </a:t>
            </a:r>
            <a:r>
              <a:rPr lang="en-US" altLang="zh-TW" sz="2600" dirty="0" err="1"/>
              <a:t>Thmoas</a:t>
            </a:r>
            <a:r>
              <a:rPr lang="en-US" altLang="zh-TW" sz="2600" dirty="0"/>
              <a:t> </a:t>
            </a:r>
            <a:r>
              <a:rPr lang="en-US" altLang="zh-TW" sz="2600" dirty="0" err="1"/>
              <a:t>Corpetti</a:t>
            </a: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600" dirty="0">
                <a:solidFill>
                  <a:schemeClr val="tx1"/>
                </a:solidFill>
              </a:rPr>
              <a:t>Information Sciences</a:t>
            </a:r>
          </a:p>
          <a:p>
            <a:r>
              <a:rPr lang="en-US" altLang="zh-TW" sz="2600" dirty="0">
                <a:solidFill>
                  <a:schemeClr val="tx1"/>
                </a:solidFill>
              </a:rPr>
              <a:t>Volume 393, July, 2017, Pages 91-107</a:t>
            </a:r>
            <a:endParaRPr lang="zh-TW" altLang="en-US" sz="2600" dirty="0">
              <a:solidFill>
                <a:schemeClr val="tx1"/>
              </a:solidFill>
            </a:endParaRP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2017/11/28</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923770" y="1088572"/>
            <a:ext cx="10143623" cy="5267779"/>
          </a:xfrm>
        </p:spPr>
        <p:txBody>
          <a:bodyPr>
            <a:noAutofit/>
          </a:bodyPr>
          <a:lstStyle/>
          <a:p>
            <a:pPr marL="0" indent="0" eaLnBrk="0" fontAlgn="ctr" hangingPunct="0">
              <a:lnSpc>
                <a:spcPct val="100000"/>
              </a:lnSpc>
              <a:buNone/>
            </a:pPr>
            <a:r>
              <a:rPr lang="en-US" altLang="zh-TW" sz="3200" dirty="0"/>
              <a:t>Dynamic Time Warping (DTW) is probably the most popular distance measure for time series data, because it captures flexible similarities under time distortions. However, DTW has long been suffering from the pathological alignment problem, and most existing solutions, which essentially impose rigid constraints on the warping path, are likely to miss the correct alignments. A crucial observation on pathological alignment is that it always leads to an abnormally large number of links between two sequences. </a:t>
            </a:r>
            <a:endParaRPr lang="zh-TW" altLang="en-US" sz="3200"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771940" y="1088572"/>
            <a:ext cx="10648120" cy="5267779"/>
          </a:xfrm>
        </p:spPr>
        <p:txBody>
          <a:bodyPr>
            <a:noAutofit/>
          </a:bodyPr>
          <a:lstStyle/>
          <a:p>
            <a:pPr marL="0" indent="0" eaLnBrk="0" fontAlgn="ctr" hangingPunct="0">
              <a:lnSpc>
                <a:spcPct val="100000"/>
              </a:lnSpc>
              <a:buNone/>
            </a:pPr>
            <a:r>
              <a:rPr lang="en-US" altLang="zh-TW" sz="3200" dirty="0"/>
              <a:t>LDTW not only oppresses the pathological alignment effectively, but also allows more flexibilities when measuring similarities. It is a softer constraint because we still let the optimization process of DTW decide how many links to allocate to each data point and where to put these links. In this paper, we introduce the motivation and algorithm of LDTW and we conduct a nearest neighbor classification experiment on UCR time series archive to show its performance.</a:t>
            </a:r>
            <a:endParaRPr lang="zh-TW" altLang="en-US" sz="3200"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3</a:t>
            </a:fld>
            <a:endParaRPr lang="zh-TW" altLang="en-US" dirty="0"/>
          </a:p>
        </p:txBody>
      </p:sp>
    </p:spTree>
    <p:extLst>
      <p:ext uri="{BB962C8B-B14F-4D97-AF65-F5344CB8AC3E}">
        <p14:creationId xmlns:p14="http://schemas.microsoft.com/office/powerpoint/2010/main" val="351384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a:extLst>
              <a:ext uri="{FF2B5EF4-FFF2-40B4-BE49-F238E27FC236}">
                <a16:creationId xmlns:a16="http://schemas.microsoft.com/office/drawing/2014/main" id="{721A9D4C-9E20-4FAC-9E45-D58A23426212}"/>
              </a:ext>
            </a:extLst>
          </p:cNvPr>
          <p:cNvPicPr>
            <a:picLocks noGrp="1" noChangeAspect="1"/>
          </p:cNvPicPr>
          <p:nvPr>
            <p:ph idx="1"/>
          </p:nvPr>
        </p:nvPicPr>
        <p:blipFill>
          <a:blip r:embed="rId2"/>
          <a:stretch>
            <a:fillRect/>
          </a:stretch>
        </p:blipFill>
        <p:spPr>
          <a:xfrm>
            <a:off x="418350" y="1814509"/>
            <a:ext cx="4203556" cy="4351338"/>
          </a:xfrm>
          <a:prstGeom prst="rect">
            <a:avLst/>
          </a:prstGeom>
        </p:spPr>
      </p:pic>
      <p:sp>
        <p:nvSpPr>
          <p:cNvPr id="2" name="標題 1">
            <a:extLst>
              <a:ext uri="{FF2B5EF4-FFF2-40B4-BE49-F238E27FC236}">
                <a16:creationId xmlns:a16="http://schemas.microsoft.com/office/drawing/2014/main" id="{CBA02B02-0C16-41A0-9506-5C8141D9B75E}"/>
              </a:ext>
            </a:extLst>
          </p:cNvPr>
          <p:cNvSpPr>
            <a:spLocks noGrp="1"/>
          </p:cNvSpPr>
          <p:nvPr>
            <p:ph type="title"/>
          </p:nvPr>
        </p:nvSpPr>
        <p:spPr/>
        <p:txBody>
          <a:bodyPr/>
          <a:lstStyle/>
          <a:p>
            <a:r>
              <a:rPr lang="en-US" altLang="zh-TW" dirty="0"/>
              <a:t>Naive DTW</a:t>
            </a:r>
            <a:endParaRPr lang="zh-TW" altLang="en-US" dirty="0"/>
          </a:p>
        </p:txBody>
      </p:sp>
      <p:sp>
        <p:nvSpPr>
          <p:cNvPr id="4" name="投影片編號版面配置區 3">
            <a:extLst>
              <a:ext uri="{FF2B5EF4-FFF2-40B4-BE49-F238E27FC236}">
                <a16:creationId xmlns:a16="http://schemas.microsoft.com/office/drawing/2014/main" id="{6572FD83-34B9-476F-A3EB-C70DF2B01B90}"/>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1028"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851" t="33371" r="-1047" b="33371"/>
          <a:stretch/>
        </p:blipFill>
        <p:spPr bwMode="auto">
          <a:xfrm>
            <a:off x="7833582" y="479756"/>
            <a:ext cx="3194526" cy="3611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0665" y="241308"/>
            <a:ext cx="2499804" cy="2802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7598" y="3173917"/>
            <a:ext cx="2782871" cy="1714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9738" y="5089681"/>
            <a:ext cx="6927687" cy="1199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文字方塊 5"/>
          <p:cNvSpPr txBox="1"/>
          <p:nvPr/>
        </p:nvSpPr>
        <p:spPr>
          <a:xfrm>
            <a:off x="412439" y="1445177"/>
            <a:ext cx="1737360" cy="369332"/>
          </a:xfrm>
          <a:prstGeom prst="rect">
            <a:avLst/>
          </a:prstGeom>
          <a:noFill/>
        </p:spPr>
        <p:txBody>
          <a:bodyPr wrap="square" rtlCol="0">
            <a:spAutoFit/>
          </a:bodyPr>
          <a:lstStyle/>
          <a:p>
            <a:r>
              <a:rPr lang="en-US" altLang="zh-TW" dirty="0"/>
              <a:t>DTW distance</a:t>
            </a:r>
            <a:endParaRPr lang="zh-TW" altLang="en-US" dirty="0"/>
          </a:p>
        </p:txBody>
      </p:sp>
    </p:spTree>
    <p:extLst>
      <p:ext uri="{BB962C8B-B14F-4D97-AF65-F5344CB8AC3E}">
        <p14:creationId xmlns:p14="http://schemas.microsoft.com/office/powerpoint/2010/main" val="2535992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Variants of DTW</a:t>
            </a:r>
            <a:endParaRPr lang="zh-TW" altLang="en-US" dirty="0"/>
          </a:p>
        </p:txBody>
      </p:sp>
      <p:pic>
        <p:nvPicPr>
          <p:cNvPr id="5" name="內容版面配置區 4">
            <a:extLst>
              <a:ext uri="{FF2B5EF4-FFF2-40B4-BE49-F238E27FC236}">
                <a16:creationId xmlns:a16="http://schemas.microsoft.com/office/drawing/2014/main" id="{C2C3B931-D6E5-4603-A032-9F33B114E107}"/>
              </a:ext>
            </a:extLst>
          </p:cNvPr>
          <p:cNvPicPr>
            <a:picLocks noGrp="1" noChangeAspect="1"/>
          </p:cNvPicPr>
          <p:nvPr>
            <p:ph idx="1"/>
          </p:nvPr>
        </p:nvPicPr>
        <p:blipFill rotWithShape="1">
          <a:blip r:embed="rId2"/>
          <a:srcRect b="51315"/>
          <a:stretch/>
        </p:blipFill>
        <p:spPr>
          <a:xfrm>
            <a:off x="506763" y="1998097"/>
            <a:ext cx="7819585" cy="2662395"/>
          </a:xfrm>
          <a:prstGeom prst="rect">
            <a:avLst/>
          </a:prstGeom>
        </p:spPr>
      </p:pic>
      <p:sp>
        <p:nvSpPr>
          <p:cNvPr id="4" name="投影片編號版面配置區 3"/>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6" name="內容版面配置區 4">
            <a:extLst>
              <a:ext uri="{FF2B5EF4-FFF2-40B4-BE49-F238E27FC236}">
                <a16:creationId xmlns:a16="http://schemas.microsoft.com/office/drawing/2014/main" id="{2AA7D463-3994-42CA-8AE1-DB605A3B4A7B}"/>
              </a:ext>
            </a:extLst>
          </p:cNvPr>
          <p:cNvPicPr>
            <a:picLocks noChangeAspect="1"/>
          </p:cNvPicPr>
          <p:nvPr/>
        </p:nvPicPr>
        <p:blipFill rotWithShape="1">
          <a:blip r:embed="rId2"/>
          <a:srcRect l="34002" t="51316" r="33043"/>
          <a:stretch/>
        </p:blipFill>
        <p:spPr>
          <a:xfrm>
            <a:off x="8637517" y="1936912"/>
            <a:ext cx="2576946" cy="2662395"/>
          </a:xfrm>
          <a:prstGeom prst="rect">
            <a:avLst/>
          </a:prstGeom>
        </p:spPr>
      </p:pic>
      <p:pic>
        <p:nvPicPr>
          <p:cNvPr id="9" name="圖片 8">
            <a:extLst>
              <a:ext uri="{FF2B5EF4-FFF2-40B4-BE49-F238E27FC236}">
                <a16:creationId xmlns:a16="http://schemas.microsoft.com/office/drawing/2014/main" id="{CC676EAC-C80D-46A6-A4FD-9E12EE361342}"/>
              </a:ext>
            </a:extLst>
          </p:cNvPr>
          <p:cNvPicPr>
            <a:picLocks noChangeAspect="1"/>
          </p:cNvPicPr>
          <p:nvPr/>
        </p:nvPicPr>
        <p:blipFill>
          <a:blip r:embed="rId3"/>
          <a:stretch>
            <a:fillRect/>
          </a:stretch>
        </p:blipFill>
        <p:spPr>
          <a:xfrm>
            <a:off x="2999967" y="5013837"/>
            <a:ext cx="6505575" cy="381000"/>
          </a:xfrm>
          <a:prstGeom prst="rect">
            <a:avLst/>
          </a:prstGeom>
        </p:spPr>
      </p:pic>
    </p:spTree>
    <p:extLst>
      <p:ext uri="{BB962C8B-B14F-4D97-AF65-F5344CB8AC3E}">
        <p14:creationId xmlns:p14="http://schemas.microsoft.com/office/powerpoint/2010/main" val="246710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49136" y="320673"/>
            <a:ext cx="11637818" cy="1325563"/>
          </a:xfrm>
        </p:spPr>
        <p:txBody>
          <a:bodyPr/>
          <a:lstStyle/>
          <a:p>
            <a:r>
              <a:rPr lang="en-US" altLang="zh-TW" dirty="0"/>
              <a:t>LDTW: DTW with limited warping path length(1/2)</a:t>
            </a:r>
            <a:endParaRPr lang="zh-TW" altLang="en-US" dirty="0"/>
          </a:p>
        </p:txBody>
      </p:sp>
      <p:pic>
        <p:nvPicPr>
          <p:cNvPr id="5" name="內容版面配置區 4">
            <a:extLst>
              <a:ext uri="{FF2B5EF4-FFF2-40B4-BE49-F238E27FC236}">
                <a16:creationId xmlns:a16="http://schemas.microsoft.com/office/drawing/2014/main" id="{D209CA25-300B-4A3D-94FD-B092312D7629}"/>
              </a:ext>
            </a:extLst>
          </p:cNvPr>
          <p:cNvPicPr>
            <a:picLocks noGrp="1" noChangeAspect="1"/>
          </p:cNvPicPr>
          <p:nvPr>
            <p:ph idx="1"/>
          </p:nvPr>
        </p:nvPicPr>
        <p:blipFill>
          <a:blip r:embed="rId2"/>
          <a:stretch>
            <a:fillRect/>
          </a:stretch>
        </p:blipFill>
        <p:spPr>
          <a:xfrm>
            <a:off x="538249" y="1454315"/>
            <a:ext cx="4600575" cy="1352550"/>
          </a:xfrm>
          <a:prstGeom prst="rect">
            <a:avLst/>
          </a:prstGeom>
        </p:spPr>
      </p:pic>
      <p:sp>
        <p:nvSpPr>
          <p:cNvPr id="4" name="投影片編號版面配置區 3"/>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6" name="圖片 5">
            <a:extLst>
              <a:ext uri="{FF2B5EF4-FFF2-40B4-BE49-F238E27FC236}">
                <a16:creationId xmlns:a16="http://schemas.microsoft.com/office/drawing/2014/main" id="{E7A217E0-DB5F-40AB-9A89-0E177F4150F6}"/>
              </a:ext>
            </a:extLst>
          </p:cNvPr>
          <p:cNvPicPr>
            <a:picLocks noChangeAspect="1"/>
          </p:cNvPicPr>
          <p:nvPr/>
        </p:nvPicPr>
        <p:blipFill>
          <a:blip r:embed="rId3"/>
          <a:stretch>
            <a:fillRect/>
          </a:stretch>
        </p:blipFill>
        <p:spPr>
          <a:xfrm>
            <a:off x="538249" y="2884861"/>
            <a:ext cx="5446395" cy="1581655"/>
          </a:xfrm>
          <a:prstGeom prst="rect">
            <a:avLst/>
          </a:prstGeom>
        </p:spPr>
      </p:pic>
      <p:pic>
        <p:nvPicPr>
          <p:cNvPr id="7" name="圖片 6">
            <a:extLst>
              <a:ext uri="{FF2B5EF4-FFF2-40B4-BE49-F238E27FC236}">
                <a16:creationId xmlns:a16="http://schemas.microsoft.com/office/drawing/2014/main" id="{C684B50F-C3A0-4036-8672-439112385BCE}"/>
              </a:ext>
            </a:extLst>
          </p:cNvPr>
          <p:cNvPicPr>
            <a:picLocks noChangeAspect="1"/>
          </p:cNvPicPr>
          <p:nvPr/>
        </p:nvPicPr>
        <p:blipFill>
          <a:blip r:embed="rId4"/>
          <a:stretch>
            <a:fillRect/>
          </a:stretch>
        </p:blipFill>
        <p:spPr>
          <a:xfrm>
            <a:off x="6583680" y="1883037"/>
            <a:ext cx="4267861" cy="4464576"/>
          </a:xfrm>
          <a:prstGeom prst="rect">
            <a:avLst/>
          </a:prstGeom>
        </p:spPr>
      </p:pic>
      <p:pic>
        <p:nvPicPr>
          <p:cNvPr id="8" name="圖片 7">
            <a:extLst>
              <a:ext uri="{FF2B5EF4-FFF2-40B4-BE49-F238E27FC236}">
                <a16:creationId xmlns:a16="http://schemas.microsoft.com/office/drawing/2014/main" id="{AC4F8234-9C63-4599-A016-6DFCF0E81BA5}"/>
              </a:ext>
            </a:extLst>
          </p:cNvPr>
          <p:cNvPicPr>
            <a:picLocks noChangeAspect="1"/>
          </p:cNvPicPr>
          <p:nvPr/>
        </p:nvPicPr>
        <p:blipFill>
          <a:blip r:embed="rId5"/>
          <a:stretch>
            <a:fillRect/>
          </a:stretch>
        </p:blipFill>
        <p:spPr>
          <a:xfrm>
            <a:off x="534291" y="4544512"/>
            <a:ext cx="5446395" cy="1855039"/>
          </a:xfrm>
          <a:prstGeom prst="rect">
            <a:avLst/>
          </a:prstGeom>
        </p:spPr>
      </p:pic>
      <p:sp>
        <p:nvSpPr>
          <p:cNvPr id="3" name="文字方塊 2">
            <a:extLst>
              <a:ext uri="{FF2B5EF4-FFF2-40B4-BE49-F238E27FC236}">
                <a16:creationId xmlns:a16="http://schemas.microsoft.com/office/drawing/2014/main" id="{378B7C8F-E2CE-4FBD-948D-2038922ADB3B}"/>
              </a:ext>
            </a:extLst>
          </p:cNvPr>
          <p:cNvSpPr txBox="1"/>
          <p:nvPr/>
        </p:nvSpPr>
        <p:spPr>
          <a:xfrm>
            <a:off x="3000894" y="2277961"/>
            <a:ext cx="1070614" cy="307777"/>
          </a:xfrm>
          <a:prstGeom prst="rect">
            <a:avLst/>
          </a:prstGeom>
          <a:noFill/>
        </p:spPr>
        <p:txBody>
          <a:bodyPr wrap="none" rtlCol="0">
            <a:spAutoFit/>
          </a:bodyPr>
          <a:lstStyle/>
          <a:p>
            <a:r>
              <a:rPr lang="en-US" altLang="zh-TW" sz="1400" dirty="0"/>
              <a:t>max(r-1,c-1)</a:t>
            </a:r>
            <a:endParaRPr lang="zh-TW" altLang="en-US" sz="1400" dirty="0"/>
          </a:p>
        </p:txBody>
      </p:sp>
      <p:sp>
        <p:nvSpPr>
          <p:cNvPr id="9" name="文字方塊 8">
            <a:extLst>
              <a:ext uri="{FF2B5EF4-FFF2-40B4-BE49-F238E27FC236}">
                <a16:creationId xmlns:a16="http://schemas.microsoft.com/office/drawing/2014/main" id="{443C5663-71A6-4AB0-9F98-37B6A6240B09}"/>
              </a:ext>
            </a:extLst>
          </p:cNvPr>
          <p:cNvSpPr txBox="1"/>
          <p:nvPr/>
        </p:nvSpPr>
        <p:spPr>
          <a:xfrm>
            <a:off x="3000894" y="3566158"/>
            <a:ext cx="1070614" cy="307777"/>
          </a:xfrm>
          <a:prstGeom prst="rect">
            <a:avLst/>
          </a:prstGeom>
          <a:noFill/>
        </p:spPr>
        <p:txBody>
          <a:bodyPr wrap="none" rtlCol="0">
            <a:spAutoFit/>
          </a:bodyPr>
          <a:lstStyle/>
          <a:p>
            <a:r>
              <a:rPr lang="en-US" altLang="zh-TW" sz="1400" dirty="0"/>
              <a:t>max(r-1,c-1)</a:t>
            </a:r>
            <a:endParaRPr lang="zh-TW" altLang="en-US" sz="1400" dirty="0"/>
          </a:p>
        </p:txBody>
      </p:sp>
      <p:sp>
        <p:nvSpPr>
          <p:cNvPr id="10" name="文字方塊 9">
            <a:extLst>
              <a:ext uri="{FF2B5EF4-FFF2-40B4-BE49-F238E27FC236}">
                <a16:creationId xmlns:a16="http://schemas.microsoft.com/office/drawing/2014/main" id="{A8701678-4183-4964-A9F0-6BC7BDB928D3}"/>
              </a:ext>
            </a:extLst>
          </p:cNvPr>
          <p:cNvSpPr txBox="1"/>
          <p:nvPr/>
        </p:nvSpPr>
        <p:spPr>
          <a:xfrm>
            <a:off x="3000894" y="3873935"/>
            <a:ext cx="1157176" cy="307777"/>
          </a:xfrm>
          <a:prstGeom prst="rect">
            <a:avLst/>
          </a:prstGeom>
          <a:noFill/>
        </p:spPr>
        <p:txBody>
          <a:bodyPr wrap="none" rtlCol="0">
            <a:spAutoFit/>
          </a:bodyPr>
          <a:lstStyle/>
          <a:p>
            <a:r>
              <a:rPr lang="en-US" altLang="zh-TW" sz="1400" dirty="0"/>
              <a:t>(r-2)+1+(c-2)</a:t>
            </a:r>
            <a:endParaRPr lang="zh-TW" altLang="en-US" sz="1400" dirty="0"/>
          </a:p>
        </p:txBody>
      </p:sp>
      <p:cxnSp>
        <p:nvCxnSpPr>
          <p:cNvPr id="12" name="直線單箭頭接點 11">
            <a:extLst>
              <a:ext uri="{FF2B5EF4-FFF2-40B4-BE49-F238E27FC236}">
                <a16:creationId xmlns:a16="http://schemas.microsoft.com/office/drawing/2014/main" id="{8CE2C520-A53C-465B-954F-D47D276919FF}"/>
              </a:ext>
            </a:extLst>
          </p:cNvPr>
          <p:cNvCxnSpPr>
            <a:endCxn id="3" idx="1"/>
          </p:cNvCxnSpPr>
          <p:nvPr/>
        </p:nvCxnSpPr>
        <p:spPr>
          <a:xfrm>
            <a:off x="2604397" y="2431849"/>
            <a:ext cx="396497" cy="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8376428D-6074-4DDB-86F3-D33DC9D88A47}"/>
              </a:ext>
            </a:extLst>
          </p:cNvPr>
          <p:cNvCxnSpPr>
            <a:cxnSpLocks/>
          </p:cNvCxnSpPr>
          <p:nvPr/>
        </p:nvCxnSpPr>
        <p:spPr>
          <a:xfrm>
            <a:off x="2302900" y="3720526"/>
            <a:ext cx="611432"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555A0577-614D-4EBF-ABCD-28513F4F811D}"/>
              </a:ext>
            </a:extLst>
          </p:cNvPr>
          <p:cNvCxnSpPr>
            <a:cxnSpLocks/>
          </p:cNvCxnSpPr>
          <p:nvPr/>
        </p:nvCxnSpPr>
        <p:spPr>
          <a:xfrm>
            <a:off x="2302900" y="4027823"/>
            <a:ext cx="611432"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414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49136" y="320673"/>
            <a:ext cx="11637818" cy="1325563"/>
          </a:xfrm>
        </p:spPr>
        <p:txBody>
          <a:bodyPr/>
          <a:lstStyle/>
          <a:p>
            <a:r>
              <a:rPr lang="en-US" altLang="zh-TW" dirty="0"/>
              <a:t>LDTW: DTW with limited warping path length(2/2)</a:t>
            </a:r>
            <a:endParaRPr lang="zh-TW" alt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7</a:t>
            </a:fld>
            <a:endParaRPr lang="zh-TW" altLang="en-US" dirty="0"/>
          </a:p>
        </p:txBody>
      </p:sp>
      <p:pic>
        <p:nvPicPr>
          <p:cNvPr id="9" name="內容版面配置區 8">
            <a:extLst>
              <a:ext uri="{FF2B5EF4-FFF2-40B4-BE49-F238E27FC236}">
                <a16:creationId xmlns:a16="http://schemas.microsoft.com/office/drawing/2014/main" id="{8CDFF9BB-ACCD-4474-B425-1CD51F7801BA}"/>
              </a:ext>
            </a:extLst>
          </p:cNvPr>
          <p:cNvPicPr>
            <a:picLocks noGrp="1" noChangeAspect="1"/>
          </p:cNvPicPr>
          <p:nvPr>
            <p:ph idx="1"/>
          </p:nvPr>
        </p:nvPicPr>
        <p:blipFill>
          <a:blip r:embed="rId2"/>
          <a:stretch>
            <a:fillRect/>
          </a:stretch>
        </p:blipFill>
        <p:spPr>
          <a:xfrm>
            <a:off x="4629730" y="2279734"/>
            <a:ext cx="6983150" cy="3979564"/>
          </a:xfrm>
          <a:prstGeom prst="rect">
            <a:avLst/>
          </a:prstGeom>
        </p:spPr>
      </p:pic>
      <p:pic>
        <p:nvPicPr>
          <p:cNvPr id="10" name="圖片 9">
            <a:extLst>
              <a:ext uri="{FF2B5EF4-FFF2-40B4-BE49-F238E27FC236}">
                <a16:creationId xmlns:a16="http://schemas.microsoft.com/office/drawing/2014/main" id="{7610D381-6B21-47D6-85CC-25D4CE9B4A69}"/>
              </a:ext>
            </a:extLst>
          </p:cNvPr>
          <p:cNvPicPr>
            <a:picLocks noChangeAspect="1"/>
          </p:cNvPicPr>
          <p:nvPr/>
        </p:nvPicPr>
        <p:blipFill>
          <a:blip r:embed="rId3"/>
          <a:stretch>
            <a:fillRect/>
          </a:stretch>
        </p:blipFill>
        <p:spPr>
          <a:xfrm>
            <a:off x="753835" y="1330232"/>
            <a:ext cx="3967793" cy="5261293"/>
          </a:xfrm>
          <a:prstGeom prst="rect">
            <a:avLst/>
          </a:prstGeom>
        </p:spPr>
      </p:pic>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16EBA7A9-D020-4139-985E-E5F1F40184CF}"/>
                  </a:ext>
                </a:extLst>
              </p:cNvPr>
              <p:cNvSpPr txBox="1"/>
              <p:nvPr/>
            </p:nvSpPr>
            <p:spPr>
              <a:xfrm>
                <a:off x="6519949" y="2002735"/>
                <a:ext cx="5092931" cy="27699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𝑚</m:t>
                      </m:r>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3</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2</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2</m:t>
                          </m:r>
                        </m:e>
                      </m:d>
                      <m:r>
                        <a:rPr lang="en-US" altLang="zh-TW" sz="1200" b="0" i="1" smtClean="0">
                          <a:latin typeface="Cambria Math" panose="02040503050406030204" pitchFamily="18" charset="0"/>
                        </a:rPr>
                        <m:t>=</m:t>
                      </m:r>
                      <m:r>
                        <a:rPr lang="zh-TW" altLang="en-US" sz="1200" b="0" i="1" smtClean="0">
                          <a:latin typeface="Cambria Math" panose="02040503050406030204" pitchFamily="18" charset="0"/>
                        </a:rPr>
                        <m:t>𝛿</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3,</m:t>
                          </m:r>
                          <m:r>
                            <a:rPr lang="en-US" altLang="zh-TW" sz="1200" b="0" i="1" smtClean="0">
                              <a:latin typeface="Cambria Math" panose="02040503050406030204" pitchFamily="18" charset="0"/>
                            </a:rPr>
                            <m:t>𝑏</m:t>
                          </m:r>
                          <m:r>
                            <a:rPr lang="en-US" altLang="zh-TW" sz="1200" b="0" i="1" smtClean="0">
                              <a:latin typeface="Cambria Math" panose="02040503050406030204" pitchFamily="18" charset="0"/>
                            </a:rPr>
                            <m:t>2</m:t>
                          </m:r>
                        </m:e>
                      </m:d>
                      <m:r>
                        <a:rPr lang="en-US" altLang="zh-TW" sz="1200" b="0" i="1" smtClean="0">
                          <a:latin typeface="Cambria Math" panose="02040503050406030204" pitchFamily="18" charset="0"/>
                        </a:rPr>
                        <m:t>+</m:t>
                      </m:r>
                      <m:r>
                        <m:rPr>
                          <m:sty m:val="p"/>
                        </m:rPr>
                        <a:rPr lang="en-US" altLang="zh-TW" sz="1200" b="0" i="0" smtClean="0">
                          <a:latin typeface="Cambria Math" panose="02040503050406030204" pitchFamily="18" charset="0"/>
                        </a:rPr>
                        <m:t>min</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2</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2</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1</m:t>
                          </m:r>
                        </m:e>
                      </m:d>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2</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1</m:t>
                          </m:r>
                        </m:e>
                      </m:d>
                      <m:d>
                        <m:dPr>
                          <m:begChr m:val="["/>
                          <m:endChr m:val="]"/>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1</m:t>
                          </m:r>
                        </m:e>
                      </m:d>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[3][1][1]}</m:t>
                      </m:r>
                    </m:oMath>
                  </m:oMathPara>
                </a14:m>
                <a:endParaRPr lang="zh-TW" altLang="en-US" sz="1200" dirty="0"/>
              </a:p>
            </p:txBody>
          </p:sp>
        </mc:Choice>
        <mc:Fallback>
          <p:sp>
            <p:nvSpPr>
              <p:cNvPr id="3" name="文字方塊 2">
                <a:extLst>
                  <a:ext uri="{FF2B5EF4-FFF2-40B4-BE49-F238E27FC236}">
                    <a16:creationId xmlns:a16="http://schemas.microsoft.com/office/drawing/2014/main" id="{16EBA7A9-D020-4139-985E-E5F1F40184CF}"/>
                  </a:ext>
                </a:extLst>
              </p:cNvPr>
              <p:cNvSpPr txBox="1">
                <a:spLocks noRot="1" noChangeAspect="1" noMove="1" noResize="1" noEditPoints="1" noAdjustHandles="1" noChangeArrowheads="1" noChangeShapeType="1" noTextEdit="1"/>
              </p:cNvSpPr>
              <p:nvPr/>
            </p:nvSpPr>
            <p:spPr>
              <a:xfrm>
                <a:off x="6519949" y="2002735"/>
                <a:ext cx="5092931" cy="276999"/>
              </a:xfrm>
              <a:prstGeom prst="rect">
                <a:avLst/>
              </a:prstGeom>
              <a:blipFill>
                <a:blip r:embed="rId4"/>
                <a:stretch>
                  <a:fillRect b="-11111"/>
                </a:stretch>
              </a:blipFill>
            </p:spPr>
            <p:txBody>
              <a:bodyPr/>
              <a:lstStyle/>
              <a:p>
                <a:r>
                  <a:rPr lang="zh-TW" altLang="en-US">
                    <a:noFill/>
                  </a:rPr>
                  <a:t> </a:t>
                </a:r>
              </a:p>
            </p:txBody>
          </p:sp>
        </mc:Fallback>
      </mc:AlternateContent>
      <p:cxnSp>
        <p:nvCxnSpPr>
          <p:cNvPr id="11" name="直線單箭頭接點 10">
            <a:extLst>
              <a:ext uri="{FF2B5EF4-FFF2-40B4-BE49-F238E27FC236}">
                <a16:creationId xmlns:a16="http://schemas.microsoft.com/office/drawing/2014/main" id="{4A46E6B1-BFF7-46EE-80CD-D57AF861E7B3}"/>
              </a:ext>
            </a:extLst>
          </p:cNvPr>
          <p:cNvCxnSpPr>
            <a:cxnSpLocks/>
          </p:cNvCxnSpPr>
          <p:nvPr/>
        </p:nvCxnSpPr>
        <p:spPr>
          <a:xfrm flipH="1">
            <a:off x="7722524" y="4139738"/>
            <a:ext cx="29094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AFCF1770-8BCB-4617-9407-3D25739FFFD8}"/>
              </a:ext>
            </a:extLst>
          </p:cNvPr>
          <p:cNvCxnSpPr>
            <a:cxnSpLocks/>
          </p:cNvCxnSpPr>
          <p:nvPr/>
        </p:nvCxnSpPr>
        <p:spPr>
          <a:xfrm>
            <a:off x="10631978" y="2279734"/>
            <a:ext cx="0" cy="18600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2CA0CDF0-75E8-4744-A1E7-715FEBEA1A71}"/>
              </a:ext>
            </a:extLst>
          </p:cNvPr>
          <p:cNvCxnSpPr>
            <a:cxnSpLocks/>
          </p:cNvCxnSpPr>
          <p:nvPr/>
        </p:nvCxnSpPr>
        <p:spPr>
          <a:xfrm flipV="1">
            <a:off x="10449098" y="2020179"/>
            <a:ext cx="698269" cy="25955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045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8"/>
            <a:ext cx="10515600" cy="988266"/>
          </a:xfrm>
        </p:spPr>
        <p:txBody>
          <a:bodyPr/>
          <a:lstStyle/>
          <a:p>
            <a:r>
              <a:rPr lang="en-US" altLang="zh-TW" dirty="0"/>
              <a:t>Experimental Result (1/2)</a:t>
            </a:r>
            <a:endParaRPr lang="zh-TW" alt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2150" y="1353393"/>
            <a:ext cx="8687417" cy="5124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46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8"/>
            <a:ext cx="10515600" cy="988266"/>
          </a:xfrm>
        </p:spPr>
        <p:txBody>
          <a:bodyPr>
            <a:normAutofit/>
          </a:bodyPr>
          <a:lstStyle/>
          <a:p>
            <a:r>
              <a:rPr lang="en-US" altLang="zh-TW" dirty="0"/>
              <a:t>Experimental Result (2/2)</a:t>
            </a:r>
            <a:endParaRPr lang="zh-TW" alt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6" name="內容版面配置區 5">
            <a:extLst>
              <a:ext uri="{FF2B5EF4-FFF2-40B4-BE49-F238E27FC236}">
                <a16:creationId xmlns:a16="http://schemas.microsoft.com/office/drawing/2014/main" id="{E14EEBAF-94A3-4074-923C-5070C1ACFAF2}"/>
              </a:ext>
            </a:extLst>
          </p:cNvPr>
          <p:cNvPicPr>
            <a:picLocks noGrp="1" noChangeAspect="1"/>
          </p:cNvPicPr>
          <p:nvPr>
            <p:ph idx="1"/>
          </p:nvPr>
        </p:nvPicPr>
        <p:blipFill>
          <a:blip r:embed="rId2"/>
          <a:stretch>
            <a:fillRect/>
          </a:stretch>
        </p:blipFill>
        <p:spPr>
          <a:xfrm>
            <a:off x="3099490" y="1825625"/>
            <a:ext cx="5993019" cy="4351338"/>
          </a:xfrm>
          <a:prstGeom prst="rect">
            <a:avLst/>
          </a:prstGeom>
        </p:spPr>
      </p:pic>
      <p:pic>
        <p:nvPicPr>
          <p:cNvPr id="7" name="圖片 6">
            <a:extLst>
              <a:ext uri="{FF2B5EF4-FFF2-40B4-BE49-F238E27FC236}">
                <a16:creationId xmlns:a16="http://schemas.microsoft.com/office/drawing/2014/main" id="{552D341B-B17A-4911-BA5E-491F07E51E8A}"/>
              </a:ext>
            </a:extLst>
          </p:cNvPr>
          <p:cNvPicPr>
            <a:picLocks noChangeAspect="1"/>
          </p:cNvPicPr>
          <p:nvPr/>
        </p:nvPicPr>
        <p:blipFill>
          <a:blip r:embed="rId3"/>
          <a:stretch>
            <a:fillRect/>
          </a:stretch>
        </p:blipFill>
        <p:spPr>
          <a:xfrm>
            <a:off x="3488463" y="6249354"/>
            <a:ext cx="5876925" cy="304800"/>
          </a:xfrm>
          <a:prstGeom prst="rect">
            <a:avLst/>
          </a:prstGeom>
        </p:spPr>
      </p:pic>
    </p:spTree>
    <p:extLst>
      <p:ext uri="{BB962C8B-B14F-4D97-AF65-F5344CB8AC3E}">
        <p14:creationId xmlns:p14="http://schemas.microsoft.com/office/powerpoint/2010/main" val="70630690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10154</TotalTime>
  <Words>314</Words>
  <Application>Microsoft Office PowerPoint</Application>
  <PresentationFormat>寬螢幕</PresentationFormat>
  <Paragraphs>33</Paragraphs>
  <Slides>9</Slides>
  <Notes>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9</vt:i4>
      </vt:variant>
    </vt:vector>
  </HeadingPairs>
  <TitlesOfParts>
    <vt:vector size="17" baseType="lpstr">
      <vt:lpstr>微軟正黑體</vt:lpstr>
      <vt:lpstr>新細明體</vt:lpstr>
      <vt:lpstr>Arial</vt:lpstr>
      <vt:lpstr>Calibri</vt:lpstr>
      <vt:lpstr>Cambria Math</vt:lpstr>
      <vt:lpstr>Times New Roman</vt:lpstr>
      <vt:lpstr>Tw Cen MT</vt:lpstr>
      <vt:lpstr>Office 佈景主題</vt:lpstr>
      <vt:lpstr>Dynamic Time Warping under limited warping path length</vt:lpstr>
      <vt:lpstr>Abstract (1/2)</vt:lpstr>
      <vt:lpstr>Abstract (2/2)</vt:lpstr>
      <vt:lpstr>Naive DTW</vt:lpstr>
      <vt:lpstr>Variants of DTW</vt:lpstr>
      <vt:lpstr>LDTW: DTW with limited warping path length(1/2)</vt:lpstr>
      <vt:lpstr>LDTW: DTW with limited warping path length(2/2)</vt:lpstr>
      <vt:lpstr>Experimental Result (1/2)</vt:lpstr>
      <vt:lpstr>Experimental Result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201</cp:revision>
  <dcterms:created xsi:type="dcterms:W3CDTF">2017-10-09T09:38:00Z</dcterms:created>
  <dcterms:modified xsi:type="dcterms:W3CDTF">2017-11-28T10:17:59Z</dcterms:modified>
</cp:coreProperties>
</file>