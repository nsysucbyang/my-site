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6" r:id="rId9"/>
    <p:sldId id="264" r:id="rId10"/>
    <p:sldId id="265" r:id="rId11"/>
    <p:sldId id="267" r:id="rId12"/>
    <p:sldId id="268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0176" autoAdjust="0"/>
  </p:normalViewPr>
  <p:slideViewPr>
    <p:cSldViewPr snapToGrid="0">
      <p:cViewPr varScale="1">
        <p:scale>
          <a:sx n="92" d="100"/>
          <a:sy n="92" d="100"/>
        </p:scale>
        <p:origin x="22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2017/11/28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作者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王晓东吴英杰 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Lei Wang :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 AdCenter</a:t>
            </a: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Fuzhou University/Quanzhou Normal University</a:t>
            </a:r>
          </a:p>
          <a:p>
            <a:r>
              <a:rPr lang="en-US" altLang="zh-TW" sz="1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Xiaodong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Wang : </a:t>
            </a:r>
            <a:r>
              <a:rPr lang="en-US" altLang="zh-TW" sz="1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YingJie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Wu :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Fuzhou University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Daxin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Zhu :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Quanzhou Normal University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215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880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7835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7345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TW" altLang="en-US" dirty="0"/>
                  <a:t>，</a:t>
                </a:r>
                <a14:m>
                  <m:oMath xmlns:m="http://schemas.openxmlformats.org/officeDocument/2006/math">
                    <m:r>
                      <a:rPr lang="zh-TW" altLang="en-US" sz="12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TW" sz="1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120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1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1:</m:t>
                            </m:r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k</m:t>
                            </m:r>
                          </m:e>
                        </m:d>
                        <m:r>
                          <a:rPr lang="en-US" altLang="zh-TW" sz="12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⨁</m:t>
                        </m:r>
                        <m:sSub>
                          <m:sSubPr>
                            <m:ctrlPr>
                              <a:rPr lang="en-US" altLang="zh-TW" sz="1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12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en-US" altLang="zh-TW" baseline="0" dirty="0"/>
                  <a:t> </a:t>
                </a:r>
                <a:r>
                  <a:rPr lang="zh-TW" altLang="en-US" baseline="0" dirty="0"/>
                  <a:t>求參數</a:t>
                </a:r>
                <a:r>
                  <a:rPr lang="en-US" altLang="zh-TW" baseline="0" dirty="0"/>
                  <a:t>(P)</a:t>
                </a:r>
                <a:r>
                  <a:rPr lang="zh-TW" altLang="en-US" baseline="0" dirty="0"/>
                  <a:t>的長度</a:t>
                </a:r>
                <a:r>
                  <a:rPr lang="en-US" altLang="zh-TW" baseline="0" dirty="0"/>
                  <a:t>(</a:t>
                </a:r>
                <a:r>
                  <a:rPr lang="zh-TW" altLang="en-US" baseline="0" dirty="0"/>
                  <a:t>他同時符合</a:t>
                </a:r>
                <a:r>
                  <a:rPr lang="en-US" altLang="zh-TW" baseline="0" dirty="0"/>
                  <a:t>P</a:t>
                </a:r>
                <a:r>
                  <a:rPr lang="zh-TW" altLang="en-US" baseline="0" dirty="0"/>
                  <a:t>跟</a:t>
                </a:r>
                <a:r>
                  <a:rPr lang="en-US" altLang="zh-TW" baseline="0" dirty="0"/>
                  <a:t>S)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當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𝑥_𝑖</a:t>
                </a:r>
                <a:r>
                  <a:rPr lang="en-US" altLang="zh-TW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=𝑃_(𝑘+1)</a:t>
                </a:r>
                <a:r>
                  <a:rPr lang="zh-TW" altLang="en-US" dirty="0"/>
                  <a:t>，</a:t>
                </a:r>
                <a:r>
                  <a:rPr lang="zh-TW" altLang="en-US" sz="1200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𝜎</a:t>
                </a:r>
                <a:r>
                  <a:rPr lang="en-US" altLang="zh-TW" sz="1200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1200" i="0">
                    <a:solidFill>
                      <a:srgbClr val="0070C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𝑃[1:</a:t>
                </a:r>
                <a:r>
                  <a:rPr lang="en-US" altLang="zh-TW" sz="1200" b="0" i="0">
                    <a:solidFill>
                      <a:srgbClr val="0070C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k]</a:t>
                </a:r>
                <a:r>
                  <a:rPr lang="en-US" altLang="zh-TW" sz="1200" i="0">
                    <a:solidFill>
                      <a:srgbClr val="0070C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⨁𝑥_𝑖 )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en-US" altLang="zh-TW" baseline="0" dirty="0"/>
                  <a:t> </a:t>
                </a:r>
                <a:r>
                  <a:rPr lang="zh-TW" altLang="en-US" baseline="0" dirty="0"/>
                  <a:t>求參數</a:t>
                </a:r>
                <a:r>
                  <a:rPr lang="en-US" altLang="zh-TW" baseline="0" dirty="0"/>
                  <a:t>(P)</a:t>
                </a:r>
                <a:r>
                  <a:rPr lang="zh-TW" altLang="en-US" baseline="0" dirty="0"/>
                  <a:t>的長度</a:t>
                </a:r>
                <a:r>
                  <a:rPr lang="en-US" altLang="zh-TW" baseline="0" dirty="0"/>
                  <a:t>(</a:t>
                </a:r>
                <a:r>
                  <a:rPr lang="zh-TW" altLang="en-US" baseline="0" dirty="0"/>
                  <a:t>他同時符合</a:t>
                </a:r>
                <a:r>
                  <a:rPr lang="en-US" altLang="zh-TW" baseline="0" dirty="0"/>
                  <a:t>P</a:t>
                </a:r>
                <a:r>
                  <a:rPr lang="zh-TW" altLang="en-US" baseline="0" dirty="0"/>
                  <a:t>跟</a:t>
                </a:r>
                <a:r>
                  <a:rPr lang="en-US" altLang="zh-TW" baseline="0" dirty="0"/>
                  <a:t>S)</a:t>
                </a:r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67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從</a:t>
            </a:r>
            <a:r>
              <a:rPr lang="en-US" altLang="zh-TW" dirty="0"/>
              <a:t>index(</a:t>
            </a:r>
            <a:r>
              <a:rPr lang="en-US" altLang="zh-TW" dirty="0" err="1"/>
              <a:t>i</a:t>
            </a:r>
            <a:r>
              <a:rPr lang="en-US" altLang="zh-TW" dirty="0"/>
              <a:t>)</a:t>
            </a:r>
            <a:r>
              <a:rPr lang="zh-TW" altLang="en-US" dirty="0"/>
              <a:t>最多往前幾個位置，使得往前的那些成為</a:t>
            </a:r>
            <a:r>
              <a:rPr lang="en-US" altLang="zh-TW" dirty="0"/>
              <a:t>s</a:t>
            </a:r>
            <a:r>
              <a:rPr lang="zh-TW" altLang="en-US" dirty="0"/>
              <a:t>的</a:t>
            </a:r>
            <a:r>
              <a:rPr lang="en-US" altLang="zh-TW" dirty="0"/>
              <a:t>prefix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9251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7744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749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2971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2017/11/28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2017/11/28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2017/11/28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EFCFE-425C-4696-9D05-22E06C3112FC}" type="datetimeFigureOut">
              <a:rPr lang="zh-TW" altLang="en-US" smtClean="0"/>
              <a:t>2017/11/28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70373"/>
            <a:ext cx="9144000" cy="160730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dynamic programming solution to a generalized LCS problem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150437"/>
            <a:ext cx="6858000" cy="498926"/>
          </a:xfrm>
        </p:spPr>
        <p:txBody>
          <a:bodyPr/>
          <a:lstStyle/>
          <a:p>
            <a:r>
              <a:rPr lang="en-US" altLang="zh-TW" sz="2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Lei Wang, </a:t>
            </a:r>
            <a:r>
              <a:rPr lang="en-US" altLang="zh-TW" sz="21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Xiaodong</a:t>
            </a:r>
            <a:r>
              <a:rPr lang="en-US" altLang="zh-TW" sz="2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Wang, </a:t>
            </a:r>
            <a:r>
              <a:rPr lang="en-US" altLang="zh-TW" sz="21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YingJie</a:t>
            </a:r>
            <a:r>
              <a:rPr lang="en-US" altLang="zh-TW" sz="2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Wu, </a:t>
            </a:r>
            <a:r>
              <a:rPr lang="en-US" altLang="zh-TW" sz="21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Daxin</a:t>
            </a:r>
            <a:r>
              <a:rPr lang="en-US" altLang="zh-TW" sz="2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Zhu</a:t>
            </a:r>
            <a:endParaRPr lang="zh-TW" altLang="en-US" sz="2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4929586" y="5031149"/>
            <a:ext cx="3264031" cy="85647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Speaker: </a:t>
            </a:r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Kuan-Chih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Chen</a:t>
            </a:r>
          </a:p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Date: 2017.11.28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6243CF-D414-4295-8B1E-9BF6541E940C}"/>
              </a:ext>
            </a:extLst>
          </p:cNvPr>
          <p:cNvSpPr/>
          <p:nvPr/>
        </p:nvSpPr>
        <p:spPr>
          <a:xfrm>
            <a:off x="1681016" y="3816725"/>
            <a:ext cx="5781967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Information Processing Letters 113 (2013) 723–728</a:t>
            </a:r>
            <a:endParaRPr lang="zh-TW" altLang="en-US" sz="2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72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906" y="57213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95" y="1151986"/>
            <a:ext cx="8086410" cy="513163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 this paper, we consider a generalized longest common subsequence problem, the string-excluding constrained LCS problem. For the two input sequences X and Y of lengths n and m, and a constraint string P of length r, the problem is to find a common subsequence Z of X and Y excluding P as a substring and the length of Z is maximized. The problem and its solution were first proposed by Chen and Chao(2011), but we found that their algorithm cannot solve the problem correctly. A new dynamic programming solution for the STR-EC-LCS problem is then presented in this paper. The correctness of the new algorithm is proved. The time complexity of the new algorithm is O(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nmr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).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78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>
            <a:extLst>
              <a:ext uri="{FF2B5EF4-FFF2-40B4-BE49-F238E27FC236}">
                <a16:creationId xmlns:a16="http://schemas.microsoft.com/office/drawing/2014/main" id="{0B63C56D-B51E-416C-913D-57311E2BB0C2}"/>
              </a:ext>
            </a:extLst>
          </p:cNvPr>
          <p:cNvSpPr txBox="1">
            <a:spLocks/>
          </p:cNvSpPr>
          <p:nvPr/>
        </p:nvSpPr>
        <p:spPr>
          <a:xfrm>
            <a:off x="489252" y="347089"/>
            <a:ext cx="7845827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generalized constrained LCS problems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98EDEB3-DEBB-4ECA-B277-AE4FAD5F3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022" y="1720348"/>
            <a:ext cx="2592728" cy="302405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SEQ-IC-LCS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STR-IC-LCS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SEQ-EC-LCS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BD087094-F450-43ED-9B13-C7181D700DFC}"/>
              </a:ext>
            </a:extLst>
          </p:cNvPr>
          <p:cNvSpPr txBox="1">
            <a:spLocks/>
          </p:cNvSpPr>
          <p:nvPr/>
        </p:nvSpPr>
        <p:spPr>
          <a:xfrm>
            <a:off x="3599792" y="1766200"/>
            <a:ext cx="4477592" cy="7208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LCS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，包含序列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2ECE3DC1-B15F-4186-B1EE-FDE87362086D}"/>
              </a:ext>
            </a:extLst>
          </p:cNvPr>
          <p:cNvSpPr txBox="1">
            <a:spLocks/>
          </p:cNvSpPr>
          <p:nvPr/>
        </p:nvSpPr>
        <p:spPr>
          <a:xfrm>
            <a:off x="3599791" y="2551541"/>
            <a:ext cx="4280825" cy="7208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LCS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，包含字串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0386A2F8-FD7D-4683-B8F1-31137340B522}"/>
              </a:ext>
            </a:extLst>
          </p:cNvPr>
          <p:cNvSpPr txBox="1">
            <a:spLocks/>
          </p:cNvSpPr>
          <p:nvPr/>
        </p:nvSpPr>
        <p:spPr>
          <a:xfrm>
            <a:off x="3599791" y="3281365"/>
            <a:ext cx="4477593" cy="7208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LCS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，不包含序列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標題 1">
            <a:extLst>
              <a:ext uri="{FF2B5EF4-FFF2-40B4-BE49-F238E27FC236}">
                <a16:creationId xmlns:a16="http://schemas.microsoft.com/office/drawing/2014/main" id="{504D4347-5FC5-472E-8DE9-9D608F136DC0}"/>
              </a:ext>
            </a:extLst>
          </p:cNvPr>
          <p:cNvSpPr txBox="1">
            <a:spLocks/>
          </p:cNvSpPr>
          <p:nvPr/>
        </p:nvSpPr>
        <p:spPr>
          <a:xfrm>
            <a:off x="3599790" y="4048078"/>
            <a:ext cx="4477593" cy="7024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LCS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，不包含字串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82C214F4-01BF-40C1-837C-B4B20E625B1D}"/>
              </a:ext>
            </a:extLst>
          </p:cNvPr>
          <p:cNvSpPr txBox="1">
            <a:spLocks/>
          </p:cNvSpPr>
          <p:nvPr/>
        </p:nvSpPr>
        <p:spPr>
          <a:xfrm>
            <a:off x="785308" y="5114055"/>
            <a:ext cx="1262944" cy="1107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 = 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abbba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 = 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aaba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 = aa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標題 1">
                <a:extLst>
                  <a:ext uri="{FF2B5EF4-FFF2-40B4-BE49-F238E27FC236}">
                    <a16:creationId xmlns:a16="http://schemas.microsoft.com/office/drawing/2014/main" id="{2DE0C439-E877-4EA2-B6DB-97B0CAF337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9707" y="1169494"/>
                <a:ext cx="1744866" cy="48709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TW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altLang="zh-TW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TW" altLang="en-US" sz="1800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標題 1">
                <a:extLst>
                  <a:ext uri="{FF2B5EF4-FFF2-40B4-BE49-F238E27FC236}">
                    <a16:creationId xmlns:a16="http://schemas.microsoft.com/office/drawing/2014/main" id="{2DE0C439-E877-4EA2-B6DB-97B0CAF33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07" y="1169494"/>
                <a:ext cx="1744866" cy="4870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46A6F891-8DF1-405E-B013-94FA692BC5D7}"/>
                  </a:ext>
                </a:extLst>
              </p:cNvPr>
              <p:cNvSpPr/>
              <p:nvPr/>
            </p:nvSpPr>
            <p:spPr>
              <a:xfrm>
                <a:off x="2414573" y="1246338"/>
                <a:ext cx="16682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TW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altLang="zh-TW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46A6F891-8DF1-405E-B013-94FA692BC5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573" y="1246338"/>
                <a:ext cx="1668277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1A84AEF-64D2-45E4-B05F-6F0ABFED90C5}"/>
                  </a:ext>
                </a:extLst>
              </p:cNvPr>
              <p:cNvSpPr/>
              <p:nvPr/>
            </p:nvSpPr>
            <p:spPr>
              <a:xfrm>
                <a:off x="4254970" y="1246338"/>
                <a:ext cx="16123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TW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altLang="zh-TW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1A84AEF-64D2-45E4-B05F-6F0ABFED90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970" y="1246338"/>
                <a:ext cx="1612364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標題 1">
            <a:extLst>
              <a:ext uri="{FF2B5EF4-FFF2-40B4-BE49-F238E27FC236}">
                <a16:creationId xmlns:a16="http://schemas.microsoft.com/office/drawing/2014/main" id="{A1F668D1-0BCF-4C15-8ABF-E75062C004DA}"/>
              </a:ext>
            </a:extLst>
          </p:cNvPr>
          <p:cNvSpPr txBox="1">
            <a:spLocks/>
          </p:cNvSpPr>
          <p:nvPr/>
        </p:nvSpPr>
        <p:spPr>
          <a:xfrm>
            <a:off x="2156042" y="4860830"/>
            <a:ext cx="2229586" cy="15072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LCS = aba</a:t>
            </a:r>
          </a:p>
          <a:p>
            <a:pPr>
              <a:lnSpc>
                <a:spcPct val="100000"/>
              </a:lnSpc>
            </a:pPr>
            <a:r>
              <a:rPr lang="en-US" altLang="zh-TW" sz="1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SEQ-IC-LCS = aba</a:t>
            </a:r>
          </a:p>
          <a:p>
            <a:pPr>
              <a:lnSpc>
                <a:spcPct val="100000"/>
              </a:lnSpc>
            </a:pPr>
            <a:r>
              <a:rPr lang="en-US" altLang="zh-TW" sz="1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STR-IC-LCS = aa</a:t>
            </a:r>
          </a:p>
          <a:p>
            <a:pPr>
              <a:lnSpc>
                <a:spcPct val="100000"/>
              </a:lnSpc>
            </a:pPr>
            <a:r>
              <a:rPr lang="en-US" altLang="zh-TW" sz="1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SEQ-EC-LCS = ab/</a:t>
            </a:r>
            <a:r>
              <a:rPr lang="en-US" altLang="zh-TW" sz="1800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endParaRPr lang="en-US" altLang="zh-TW" sz="18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TW" sz="1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r>
              <a:rPr lang="zh-TW" altLang="en-US" sz="1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1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標題 1">
            <a:extLst>
              <a:ext uri="{FF2B5EF4-FFF2-40B4-BE49-F238E27FC236}">
                <a16:creationId xmlns:a16="http://schemas.microsoft.com/office/drawing/2014/main" id="{A25551C3-EA08-465C-920F-50ECFEFE3030}"/>
              </a:ext>
            </a:extLst>
          </p:cNvPr>
          <p:cNvSpPr txBox="1">
            <a:spLocks/>
          </p:cNvSpPr>
          <p:nvPr/>
        </p:nvSpPr>
        <p:spPr>
          <a:xfrm>
            <a:off x="4852372" y="5114055"/>
            <a:ext cx="1262944" cy="1107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 = 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abbb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 = 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aab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 = ab</a:t>
            </a:r>
          </a:p>
        </p:txBody>
      </p:sp>
      <p:sp>
        <p:nvSpPr>
          <p:cNvPr id="21" name="標題 1">
            <a:extLst>
              <a:ext uri="{FF2B5EF4-FFF2-40B4-BE49-F238E27FC236}">
                <a16:creationId xmlns:a16="http://schemas.microsoft.com/office/drawing/2014/main" id="{0A9EA1A0-44EA-44EA-8431-6C089EECB2C8}"/>
              </a:ext>
            </a:extLst>
          </p:cNvPr>
          <p:cNvSpPr txBox="1">
            <a:spLocks/>
          </p:cNvSpPr>
          <p:nvPr/>
        </p:nvSpPr>
        <p:spPr>
          <a:xfrm>
            <a:off x="6223106" y="4860830"/>
            <a:ext cx="2229586" cy="15072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LCS = ab</a:t>
            </a:r>
          </a:p>
          <a:p>
            <a:pPr>
              <a:lnSpc>
                <a:spcPct val="100000"/>
              </a:lnSpc>
            </a:pPr>
            <a:r>
              <a:rPr lang="en-US" altLang="zh-TW" sz="1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SEQ-IC-LCS = ab</a:t>
            </a:r>
          </a:p>
          <a:p>
            <a:pPr>
              <a:lnSpc>
                <a:spcPct val="100000"/>
              </a:lnSpc>
            </a:pPr>
            <a:r>
              <a:rPr lang="en-US" altLang="zh-TW" sz="1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STR-IC-LCS = ab</a:t>
            </a:r>
          </a:p>
          <a:p>
            <a:pPr>
              <a:lnSpc>
                <a:spcPct val="100000"/>
              </a:lnSpc>
            </a:pPr>
            <a:r>
              <a:rPr lang="en-US" altLang="zh-TW" sz="1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SEQ-EC-LCS = a/b</a:t>
            </a:r>
          </a:p>
          <a:p>
            <a:pPr>
              <a:lnSpc>
                <a:spcPct val="100000"/>
              </a:lnSpc>
            </a:pPr>
            <a:r>
              <a:rPr lang="en-US" altLang="zh-TW" sz="1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r>
              <a:rPr lang="zh-TW" altLang="en-US" sz="1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1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a/b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99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標題 1">
            <a:extLst>
              <a:ext uri="{FF2B5EF4-FFF2-40B4-BE49-F238E27FC236}">
                <a16:creationId xmlns:a16="http://schemas.microsoft.com/office/drawing/2014/main" id="{0565369E-F926-447C-A87F-28EF239F3AB4}"/>
              </a:ext>
            </a:extLst>
          </p:cNvPr>
          <p:cNvSpPr txBox="1">
            <a:spLocks/>
          </p:cNvSpPr>
          <p:nvPr/>
        </p:nvSpPr>
        <p:spPr>
          <a:xfrm>
            <a:off x="489252" y="555437"/>
            <a:ext cx="7845827" cy="592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dynamic programming algorithm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777145B-9984-4E77-A500-0FC7CD7E33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792" r="86900" b="140"/>
          <a:stretch/>
        </p:blipFill>
        <p:spPr>
          <a:xfrm>
            <a:off x="527440" y="1716097"/>
            <a:ext cx="646375" cy="2192229"/>
          </a:xfrm>
          <a:prstGeom prst="rect">
            <a:avLst/>
          </a:prstGeom>
        </p:spPr>
      </p:pic>
      <p:sp>
        <p:nvSpPr>
          <p:cNvPr id="18" name="標題 1">
            <a:extLst>
              <a:ext uri="{FF2B5EF4-FFF2-40B4-BE49-F238E27FC236}">
                <a16:creationId xmlns:a16="http://schemas.microsoft.com/office/drawing/2014/main" id="{D34AAB3C-0018-455E-87FB-B43A63BDF12B}"/>
              </a:ext>
            </a:extLst>
          </p:cNvPr>
          <p:cNvSpPr txBox="1">
            <a:spLocks/>
          </p:cNvSpPr>
          <p:nvPr/>
        </p:nvSpPr>
        <p:spPr>
          <a:xfrm>
            <a:off x="736031" y="4522845"/>
            <a:ext cx="2504627" cy="16907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 = 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abbb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 = 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aab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 = ab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STR-EC-LCS = a or b</a:t>
            </a:r>
            <a:endParaRPr lang="zh-TW" altLang="en-US" sz="20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6E490AF-1F0B-4357-9F60-62AD2BBC5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6788" y="4421316"/>
            <a:ext cx="4835154" cy="1123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CB2F7A2-5AA0-4F82-8D0B-710E5B9045A9}"/>
                  </a:ext>
                </a:extLst>
              </p:cNvPr>
              <p:cNvSpPr/>
              <p:nvPr/>
            </p:nvSpPr>
            <p:spPr>
              <a:xfrm>
                <a:off x="3362997" y="5619447"/>
                <a:ext cx="4986493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16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4, 3, 2</m:t>
                        </m:r>
                      </m:e>
                    </m:d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16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3, 2, </m:t>
                        </m:r>
                        <m:r>
                          <a:rPr lang="en-US" altLang="zh-TW" sz="16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+ 1 = max(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16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2,</m:t>
                        </m:r>
                        <m:r>
                          <a:rPr lang="en-US" altLang="zh-TW" sz="16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TW" sz="16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 2</m:t>
                        </m:r>
                      </m:e>
                    </m:d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16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altLang="zh-TW" sz="16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TW" sz="16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 2</m:t>
                        </m:r>
                      </m:e>
                    </m:d>
                  </m:oMath>
                </a14:m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+ 1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	 = … = 1 + 1 = 2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CB2F7A2-5AA0-4F82-8D0B-710E5B9045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997" y="5619447"/>
                <a:ext cx="4986493" cy="830997"/>
              </a:xfrm>
              <a:prstGeom prst="rect">
                <a:avLst/>
              </a:prstGeom>
              <a:blipFill>
                <a:blip r:embed="rId5"/>
                <a:stretch>
                  <a:fillRect b="-36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9B878F2C-A7AF-4D3F-A281-625E7622AF69}"/>
                  </a:ext>
                </a:extLst>
              </p:cNvPr>
              <p:cNvSpPr/>
              <p:nvPr/>
            </p:nvSpPr>
            <p:spPr>
              <a:xfrm>
                <a:off x="3607675" y="5470685"/>
                <a:ext cx="1902308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1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         1           2           3</m:t>
                      </m:r>
                    </m:oMath>
                  </m:oMathPara>
                </a14:m>
                <a:endParaRPr lang="zh-TW" altLang="en-US" sz="1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9B878F2C-A7AF-4D3F-A281-625E7622AF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675" y="5470685"/>
                <a:ext cx="1902308" cy="276999"/>
              </a:xfrm>
              <a:prstGeom prst="rect">
                <a:avLst/>
              </a:prstGeom>
              <a:blipFill>
                <a:blip r:embed="rId6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圖片 9">
            <a:extLst>
              <a:ext uri="{FF2B5EF4-FFF2-40B4-BE49-F238E27FC236}">
                <a16:creationId xmlns:a16="http://schemas.microsoft.com/office/drawing/2014/main" id="{74F08038-03F0-49F8-95A6-3C9C2B879B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2907" r="83039" b="82995"/>
          <a:stretch/>
        </p:blipFill>
        <p:spPr>
          <a:xfrm>
            <a:off x="602388" y="1417111"/>
            <a:ext cx="836875" cy="37337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46AA374B-7C8B-4AB5-BBDE-85B3F83D2B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997" t="16931" r="33528" b="61981"/>
          <a:stretch/>
        </p:blipFill>
        <p:spPr>
          <a:xfrm>
            <a:off x="1429361" y="1748882"/>
            <a:ext cx="2169242" cy="46793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F267CDAD-0683-4C40-ADA7-DE63CBB2DC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997" t="36995" r="35593" b="41917"/>
          <a:stretch/>
        </p:blipFill>
        <p:spPr>
          <a:xfrm>
            <a:off x="1429361" y="2301600"/>
            <a:ext cx="2169242" cy="48709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73C3DE15-79B1-4258-9AD5-157CD08845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997" t="57539" b="21373"/>
          <a:stretch/>
        </p:blipFill>
        <p:spPr>
          <a:xfrm>
            <a:off x="1429361" y="2873485"/>
            <a:ext cx="3700897" cy="48709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D889BF5B-8F42-45F2-AD71-A01FBB9FDA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997" t="79065" r="25620" b="-153"/>
          <a:stretch/>
        </p:blipFill>
        <p:spPr>
          <a:xfrm>
            <a:off x="1429361" y="3433487"/>
            <a:ext cx="2598420" cy="487098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67889DE3-44E5-4CC0-89A8-1939EB0F7DFE}"/>
              </a:ext>
            </a:extLst>
          </p:cNvPr>
          <p:cNvSpPr/>
          <p:nvPr/>
        </p:nvSpPr>
        <p:spPr>
          <a:xfrm>
            <a:off x="7846360" y="5261291"/>
            <a:ext cx="272845" cy="1991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D14335-838F-4B74-BEBD-DC746E8C583A}"/>
              </a:ext>
            </a:extLst>
          </p:cNvPr>
          <p:cNvSpPr/>
          <p:nvPr/>
        </p:nvSpPr>
        <p:spPr>
          <a:xfrm>
            <a:off x="1010923" y="3825437"/>
            <a:ext cx="3206327" cy="4174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*Boundary: L(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0, k) = L(0, j, k) =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CD8176CF-2EDC-44C7-B1B2-DAAB2C070774}"/>
                  </a:ext>
                </a:extLst>
              </p:cNvPr>
              <p:cNvSpPr/>
              <p:nvPr/>
            </p:nvSpPr>
            <p:spPr>
              <a:xfrm>
                <a:off x="1731915" y="1323435"/>
                <a:ext cx="3613169" cy="4221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for any </a:t>
                </a:r>
                <a14:m>
                  <m:oMath xmlns:m="http://schemas.openxmlformats.org/officeDocument/2006/math">
                    <m:r>
                      <a:rPr lang="en-US" altLang="zh-TW" sz="16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TW" altLang="en-US" sz="16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sz="16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zh-TW" altLang="en-US" sz="16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TW" sz="16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altLang="zh-TW" sz="1600" dirty="0"/>
                  <a:t>, </a:t>
                </a:r>
                <a14:m>
                  <m:oMath xmlns:m="http://schemas.openxmlformats.org/officeDocument/2006/math">
                    <m:r>
                      <a:rPr lang="en-US" altLang="zh-TW" sz="16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TW" altLang="en-US" sz="16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zh-TW" altLang="en-US" sz="16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TW" sz="16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altLang="zh-TW" sz="1600" dirty="0">
                    <a:solidFill>
                      <a:srgbClr val="7030A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16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zh-TW" altLang="en-US" sz="160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TW" sz="16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zh-TW" sz="1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TW" sz="1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CD8176CF-2EDC-44C7-B1B2-DAAB2C0707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915" y="1323435"/>
                <a:ext cx="3613169" cy="422167"/>
              </a:xfrm>
              <a:prstGeom prst="rect">
                <a:avLst/>
              </a:prstGeom>
              <a:blipFill>
                <a:blip r:embed="rId7"/>
                <a:stretch>
                  <a:fillRect l="-843" b="-188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>
            <a:extLst>
              <a:ext uri="{FF2B5EF4-FFF2-40B4-BE49-F238E27FC236}">
                <a16:creationId xmlns:a16="http://schemas.microsoft.com/office/drawing/2014/main" id="{92E24773-226E-4197-B1B1-C3939FEA4ECE}"/>
              </a:ext>
            </a:extLst>
          </p:cNvPr>
          <p:cNvSpPr/>
          <p:nvPr/>
        </p:nvSpPr>
        <p:spPr>
          <a:xfrm>
            <a:off x="5269421" y="1066854"/>
            <a:ext cx="2796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545454"/>
                </a:solidFill>
                <a:latin typeface="arial" panose="020B0604020202020204" pitchFamily="34" charset="0"/>
              </a:rPr>
              <a:t>*By Chao &amp; Chen in 2011</a:t>
            </a:r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535582F-8F66-495C-B6A0-9B8760E9AA5A}"/>
              </a:ext>
            </a:extLst>
          </p:cNvPr>
          <p:cNvSpPr/>
          <p:nvPr/>
        </p:nvSpPr>
        <p:spPr>
          <a:xfrm>
            <a:off x="592486" y="1428322"/>
            <a:ext cx="4752598" cy="28145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8438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8" grpId="0"/>
      <p:bldP spid="2" grpId="0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4993B22C-25D1-4906-AC06-A27DEAF0D2BF}"/>
              </a:ext>
            </a:extLst>
          </p:cNvPr>
          <p:cNvSpPr txBox="1">
            <a:spLocks/>
          </p:cNvSpPr>
          <p:nvPr/>
        </p:nvSpPr>
        <p:spPr>
          <a:xfrm>
            <a:off x="489252" y="572130"/>
            <a:ext cx="763711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dynamic programming solution -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Purposal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B1737AED-C433-43F4-AB87-A2C30BE75BA6}"/>
              </a:ext>
            </a:extLst>
          </p:cNvPr>
          <p:cNvGrpSpPr/>
          <p:nvPr/>
        </p:nvGrpSpPr>
        <p:grpSpPr>
          <a:xfrm>
            <a:off x="761641" y="2112922"/>
            <a:ext cx="7507427" cy="1933948"/>
            <a:chOff x="514760" y="610661"/>
            <a:chExt cx="6412990" cy="19339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字方塊 4">
                  <a:extLst>
                    <a:ext uri="{FF2B5EF4-FFF2-40B4-BE49-F238E27FC236}">
                      <a16:creationId xmlns:a16="http://schemas.microsoft.com/office/drawing/2014/main" id="{0C7E3ED4-0D47-47F4-9EEB-46B27865EF6D}"/>
                    </a:ext>
                  </a:extLst>
                </p:cNvPr>
                <p:cNvSpPr txBox="1"/>
                <p:nvPr/>
              </p:nvSpPr>
              <p:spPr>
                <a:xfrm>
                  <a:off x="570270" y="1687996"/>
                  <a:ext cx="635747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TW" alt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  <m:d>
                          <m:dPr>
                            <m:ctrlPr>
                              <a:rPr lang="en-US" altLang="zh-TW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d>
                        <m:r>
                          <a:rPr lang="en-US" altLang="zh-TW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nor/>
                          </m:rPr>
                          <a:rPr lang="en-US" altLang="zh-TW" sz="2000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i="0">
                            <a:latin typeface="Cambria Math" panose="02040503050406030204" pitchFamily="18" charset="0"/>
                          </a:rPr>
                          <m:t>the</m:t>
                        </m:r>
                        <m:r>
                          <m:rPr>
                            <m:nor/>
                          </m:rPr>
                          <a:rPr lang="en-US" altLang="zh-TW" sz="2000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i="0">
                            <a:latin typeface="Cambria Math" panose="02040503050406030204" pitchFamily="18" charset="0"/>
                          </a:rPr>
                          <m:t>length</m:t>
                        </m:r>
                        <m:r>
                          <m:rPr>
                            <m:nor/>
                          </m:rPr>
                          <a:rPr lang="en-US" altLang="zh-TW" sz="2000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i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altLang="zh-TW" sz="2000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the</m:t>
                        </m:r>
                        <m:r>
                          <m:rPr>
                            <m:nor/>
                          </m:rPr>
                          <a:rPr lang="en-US" altLang="zh-TW" sz="20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longest</m:t>
                        </m:r>
                        <m:r>
                          <m:rPr>
                            <m:nor/>
                          </m:rPr>
                          <a:rPr lang="en-US" altLang="zh-TW" sz="20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suffix</m:t>
                        </m:r>
                        <m:r>
                          <m:rPr>
                            <m:nor/>
                          </m:rPr>
                          <a:rPr lang="en-US" altLang="zh-TW" sz="20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altLang="zh-TW" sz="20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altLang="zh-TW" sz="20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i="0">
                            <a:latin typeface="Cambria Math" panose="02040503050406030204" pitchFamily="18" charset="0"/>
                          </a:rPr>
                          <m:t>that</m:t>
                        </m:r>
                        <m:r>
                          <m:rPr>
                            <m:nor/>
                          </m:rPr>
                          <a:rPr lang="en-US" altLang="zh-TW" sz="2000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i="0">
                            <a:latin typeface="Cambria Math" panose="02040503050406030204" pitchFamily="18" charset="0"/>
                          </a:rPr>
                          <m:t>is</m:t>
                        </m:r>
                        <m:r>
                          <m:rPr>
                            <m:nor/>
                          </m:rPr>
                          <a:rPr lang="en-US" altLang="zh-TW" sz="2000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i="0">
                            <a:latin typeface="Cambria Math" panose="02040503050406030204" pitchFamily="18" charset="0"/>
                          </a:rPr>
                          <m:t>also</m:t>
                        </m:r>
                        <m:r>
                          <m:rPr>
                            <m:nor/>
                          </m:rPr>
                          <a:rPr lang="en-US" altLang="zh-TW" sz="2000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altLang="zh-TW" sz="20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prefix</m:t>
                        </m:r>
                        <m:r>
                          <m:rPr>
                            <m:nor/>
                          </m:rPr>
                          <a:rPr lang="en-US" altLang="zh-TW" sz="20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altLang="zh-TW" sz="20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oMath>
                    </m:oMathPara>
                  </a14:m>
                  <a:endParaRPr lang="zh-TW" altLang="en-US" sz="20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文字方塊 4">
                  <a:extLst>
                    <a:ext uri="{FF2B5EF4-FFF2-40B4-BE49-F238E27FC236}">
                      <a16:creationId xmlns:a16="http://schemas.microsoft.com/office/drawing/2014/main" id="{0C7E3ED4-0D47-47F4-9EEB-46B27865EF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270" y="1687996"/>
                  <a:ext cx="6357479" cy="307777"/>
                </a:xfrm>
                <a:prstGeom prst="rect">
                  <a:avLst/>
                </a:prstGeom>
                <a:blipFill>
                  <a:blip r:embed="rId2"/>
                  <a:stretch>
                    <a:fillRect l="-902" b="-3725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標題 1">
                  <a:extLst>
                    <a:ext uri="{FF2B5EF4-FFF2-40B4-BE49-F238E27FC236}">
                      <a16:creationId xmlns:a16="http://schemas.microsoft.com/office/drawing/2014/main" id="{6564FDB2-90E7-4617-8C3F-C4D5FC71D00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14760" y="610661"/>
                  <a:ext cx="3558191" cy="38847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b="1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𝐗</m:t>
                        </m:r>
                        <m:r>
                          <a:rPr lang="en-US" altLang="zh-TW" sz="2000" b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[</m:t>
                        </m:r>
                        <m:r>
                          <a:rPr lang="en-US" altLang="zh-TW" sz="2000" b="1" i="1" dirty="0" err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𝐢</m:t>
                        </m:r>
                        <m:r>
                          <a:rPr lang="en-US" altLang="zh-TW" sz="2000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: </m:t>
                        </m:r>
                        <m:r>
                          <a:rPr lang="en-US" altLang="zh-TW" sz="2000" b="1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𝐣</m:t>
                        </m:r>
                        <m:r>
                          <a:rPr lang="en-US" altLang="zh-TW" sz="2000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] </m:t>
                        </m:r>
                        <m:r>
                          <a:rPr lang="en-US" altLang="zh-TW" sz="2000" dirty="0"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altLang="zh-TW" sz="2000" dirty="0"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dirty="0"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altLang="zh-TW" sz="2000" dirty="0"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dirty="0"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  <m:r>
                              <a:rPr lang="en-US" altLang="zh-TW" sz="2000" dirty="0"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+1</m:t>
                            </m:r>
                          </m:sub>
                        </m:sSub>
                        <m:r>
                          <a:rPr lang="en-US" altLang="zh-TW" sz="2000" dirty="0"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…</m:t>
                        </m:r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altLang="zh-TW" sz="2000" dirty="0" err="1"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dirty="0"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latin typeface="+mn-lt"/>
                    <a:ea typeface="+mn-ea"/>
                    <a:cs typeface="+mn-cs"/>
                  </a:endParaRPr>
                </a:p>
              </p:txBody>
            </p:sp>
          </mc:Choice>
          <mc:Fallback>
            <p:sp>
              <p:nvSpPr>
                <p:cNvPr id="6" name="標題 1">
                  <a:extLst>
                    <a:ext uri="{FF2B5EF4-FFF2-40B4-BE49-F238E27FC236}">
                      <a16:creationId xmlns:a16="http://schemas.microsoft.com/office/drawing/2014/main" id="{6564FDB2-90E7-4617-8C3F-C4D5FC71D0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760" y="610661"/>
                  <a:ext cx="3558191" cy="388478"/>
                </a:xfrm>
                <a:prstGeom prst="rect">
                  <a:avLst/>
                </a:prstGeom>
                <a:blipFill>
                  <a:blip r:embed="rId3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0D21E936-1A52-41AA-A9C6-7B85B2DDA5F0}"/>
                    </a:ext>
                  </a:extLst>
                </p:cNvPr>
                <p:cNvSpPr txBox="1"/>
                <p:nvPr/>
              </p:nvSpPr>
              <p:spPr>
                <a:xfrm>
                  <a:off x="570271" y="2082944"/>
                  <a:ext cx="6357479" cy="4616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𝐟</m:t>
                        </m:r>
                        <m:d>
                          <m:dPr>
                            <m:ctrlPr>
                              <a:rPr lang="en-US" altLang="zh-TW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𝐢</m:t>
                            </m:r>
                            <m:r>
                              <a:rPr lang="en-US" altLang="zh-TW" sz="20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en-US" altLang="zh-TW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𝐣</m:t>
                            </m:r>
                            <m:r>
                              <a:rPr lang="en-US" altLang="zh-TW" sz="20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en-US" altLang="zh-TW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𝐤</m:t>
                            </m:r>
                          </m:e>
                        </m:d>
                        <m:r>
                          <a:rPr lang="en-US" altLang="zh-TW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:</m:t>
                        </m:r>
                        <m:r>
                          <m:rPr>
                            <m:nor/>
                          </m:rPr>
                          <a:rPr lang="en-US" altLang="zh-TW" sz="20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the</m:t>
                        </m:r>
                        <m:r>
                          <m:rPr>
                            <m:nor/>
                          </m:rPr>
                          <a:rPr lang="en-US" altLang="zh-TW" sz="20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length</m:t>
                        </m:r>
                        <m:r>
                          <m:rPr>
                            <m:nor/>
                          </m:rPr>
                          <a:rPr lang="en-US" altLang="zh-TW" sz="20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altLang="zh-TW" sz="2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z</m:t>
                        </m:r>
                        <m:r>
                          <m:rPr>
                            <m:nor/>
                          </m:rPr>
                          <a:rPr lang="en-US" altLang="zh-TW" sz="20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and</m:t>
                        </m:r>
                        <m:r>
                          <a:rPr lang="en-US" altLang="zh-TW" sz="2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zh-TW" altLang="en-US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0D21E936-1A52-41AA-A9C6-7B85B2DDA5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271" y="2082944"/>
                  <a:ext cx="6357479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CBD04B1C-BC9D-47F4-A706-E9DC140FB8DD}"/>
                    </a:ext>
                  </a:extLst>
                </p:cNvPr>
                <p:cNvSpPr txBox="1"/>
                <p:nvPr/>
              </p:nvSpPr>
              <p:spPr>
                <a:xfrm>
                  <a:off x="570269" y="1138555"/>
                  <a:ext cx="635747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TW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m:rPr>
                            <m:nor/>
                          </m:rP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: </m:t>
                        </m:r>
                        <m:r>
                          <m:rPr>
                            <m:nor/>
                          </m:rP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the</m:t>
                        </m:r>
                        <m:r>
                          <m:rPr>
                            <m:nor/>
                          </m:rP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LC</m:t>
                        </m:r>
                        <m:r>
                          <m:rPr>
                            <m:nor/>
                          </m:rPr>
                          <a:rPr lang="en-US" altLang="zh-TW" sz="2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altLang="zh-TW" sz="2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of</m:t>
                        </m:r>
                        <m: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 : </m:t>
                            </m:r>
                            <m: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𝑎𝑛𝑑</m:t>
                        </m:r>
                        <m: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 :</m:t>
                            </m:r>
                            <m: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excluding</m:t>
                        </m:r>
                        <m:r>
                          <m:rPr>
                            <m:nor/>
                          </m:rP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as</m:t>
                        </m:r>
                        <m:r>
                          <m:rPr>
                            <m:nor/>
                          </m:rP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substring</m:t>
                        </m:r>
                      </m:oMath>
                    </m:oMathPara>
                  </a14:m>
                  <a:endParaRPr lang="zh-TW" altLang="en-US" sz="20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CBD04B1C-BC9D-47F4-A706-E9DC140FB8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269" y="1138555"/>
                  <a:ext cx="6357479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902" b="-3725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EAB7D71B-DA90-46B3-A7D9-93C882CEB97C}"/>
                  </a:ext>
                </a:extLst>
              </p:cNvPr>
              <p:cNvSpPr txBox="1"/>
              <p:nvPr/>
            </p:nvSpPr>
            <p:spPr>
              <a:xfrm>
                <a:off x="826626" y="4568270"/>
                <a:ext cx="5225488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Answer: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sz="28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&lt;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lim>
                        </m:limLow>
                      </m:fName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{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)}</m:t>
                        </m:r>
                      </m:e>
                    </m:func>
                  </m:oMath>
                </a14:m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EAB7D71B-DA90-46B3-A7D9-93C882CEB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626" y="4568270"/>
                <a:ext cx="5225488" cy="646331"/>
              </a:xfrm>
              <a:prstGeom prst="rect">
                <a:avLst/>
              </a:prstGeom>
              <a:blipFill>
                <a:blip r:embed="rId6"/>
                <a:stretch>
                  <a:fillRect l="-4201" b="-21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>
            <a:extLst>
              <a:ext uri="{FF2B5EF4-FFF2-40B4-BE49-F238E27FC236}">
                <a16:creationId xmlns:a16="http://schemas.microsoft.com/office/drawing/2014/main" id="{8C00D65B-CC1D-45DA-A88F-B78671D5C448}"/>
              </a:ext>
            </a:extLst>
          </p:cNvPr>
          <p:cNvSpPr/>
          <p:nvPr/>
        </p:nvSpPr>
        <p:spPr>
          <a:xfrm>
            <a:off x="2415176" y="5219458"/>
            <a:ext cx="9172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E03FD614-4C72-4136-9862-A1113FD9D226}"/>
                  </a:ext>
                </a:extLst>
              </p:cNvPr>
              <p:cNvSpPr txBox="1"/>
              <p:nvPr/>
            </p:nvSpPr>
            <p:spPr>
              <a:xfrm>
                <a:off x="3249456" y="5301772"/>
                <a:ext cx="3569853" cy="23548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defTabSz="914400">
                  <a:lnSpc>
                    <a:spcPct val="90000"/>
                  </a:lnSpc>
                  <a:spcBef>
                    <a:spcPct val="0"/>
                  </a:spcBef>
                  <a:buNone/>
                  <a:defRPr b="0" i="1">
                    <a:solidFill>
                      <a:srgbClr val="0070C0"/>
                    </a:solidFill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altLang="zh-TW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TW" altLang="en-US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𝑖</m:t>
                    </m:r>
                    <m:r>
                      <a:rPr lang="zh-TW" altLang="en-US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TW" dirty="0"/>
                  <a:t>n, </a:t>
                </a:r>
                <a:r>
                  <a:rPr lang="en-US" altLang="zh-TW" dirty="0">
                    <a:solidFill>
                      <a:srgbClr val="002060"/>
                    </a:solidFill>
                  </a:rPr>
                  <a:t>1</a:t>
                </a:r>
                <a:r>
                  <a:rPr lang="zh-TW" alt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zh-TW" alt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TW" dirty="0">
                    <a:solidFill>
                      <a:srgbClr val="002060"/>
                    </a:solidFill>
                  </a:rPr>
                  <a:t>m</a:t>
                </a:r>
                <a:r>
                  <a:rPr lang="en-US" altLang="zh-TW" dirty="0">
                    <a:solidFill>
                      <a:srgbClr val="7030A0"/>
                    </a:solidFill>
                  </a:rPr>
                  <a:t>, 0</a:t>
                </a:r>
                <a:r>
                  <a:rPr lang="zh-TW" altLang="en-US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TW" dirty="0">
                    <a:solidFill>
                      <a:srgbClr val="7030A0"/>
                    </a:solidFill>
                  </a:rPr>
                  <a:t>k&lt;r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E03FD614-4C72-4136-9862-A1113FD9D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456" y="5301772"/>
                <a:ext cx="3569853" cy="235482"/>
              </a:xfrm>
              <a:prstGeom prst="rect">
                <a:avLst/>
              </a:prstGeom>
              <a:blipFill>
                <a:blip r:embed="rId7"/>
                <a:stretch>
                  <a:fillRect t="-50000" b="-631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F093C5C3-670E-42CC-B030-EB9232D0B1DF}"/>
                  </a:ext>
                </a:extLst>
              </p:cNvPr>
              <p:cNvSpPr/>
              <p:nvPr/>
            </p:nvSpPr>
            <p:spPr>
              <a:xfrm>
                <a:off x="5855469" y="1281769"/>
                <a:ext cx="1895167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16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 = </a:t>
                </a:r>
                <a:r>
                  <a:rPr lang="en-US" altLang="zh-TW" sz="1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aaba</a:t>
                </a:r>
                <a:endParaRPr lang="en-US" altLang="zh-TW" sz="1600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16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 = </a:t>
                </a:r>
                <a:r>
                  <a:rPr lang="en-US" altLang="zh-TW" sz="1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aabaaab</a:t>
                </a:r>
                <a:endParaRPr lang="en-US" altLang="zh-TW" sz="1600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TW" altLang="en-US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TW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altLang="zh-TW" sz="16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= </a:t>
                </a:r>
                <a:r>
                  <a:rPr lang="en-US" altLang="zh-TW" sz="1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len</a:t>
                </a:r>
                <a:r>
                  <a:rPr lang="en-US" altLang="zh-TW" sz="16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16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aab</a:t>
                </a:r>
                <a:r>
                  <a:rPr lang="en-US" altLang="zh-TW" sz="16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= 3</a:t>
                </a:r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F093C5C3-670E-42CC-B030-EB9232D0B1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469" y="1281769"/>
                <a:ext cx="1895167" cy="830997"/>
              </a:xfrm>
              <a:prstGeom prst="rect">
                <a:avLst/>
              </a:prstGeom>
              <a:blipFill>
                <a:blip r:embed="rId8"/>
                <a:stretch>
                  <a:fillRect l="-1935" t="-2190" b="-80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弧形 24">
            <a:extLst>
              <a:ext uri="{FF2B5EF4-FFF2-40B4-BE49-F238E27FC236}">
                <a16:creationId xmlns:a16="http://schemas.microsoft.com/office/drawing/2014/main" id="{9DC64265-C3B5-4AEC-B0D1-EA577565E4E3}"/>
              </a:ext>
            </a:extLst>
          </p:cNvPr>
          <p:cNvSpPr/>
          <p:nvPr/>
        </p:nvSpPr>
        <p:spPr>
          <a:xfrm rot="20969989">
            <a:off x="6977983" y="2158684"/>
            <a:ext cx="641555" cy="1497700"/>
          </a:xfrm>
          <a:prstGeom prst="arc">
            <a:avLst>
              <a:gd name="adj1" fmla="val 17049774"/>
              <a:gd name="adj2" fmla="val 1646195"/>
            </a:avLst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904558E1-99B4-4013-A72B-861D0073DEFE}"/>
              </a:ext>
            </a:extLst>
          </p:cNvPr>
          <p:cNvCxnSpPr/>
          <p:nvPr/>
        </p:nvCxnSpPr>
        <p:spPr>
          <a:xfrm>
            <a:off x="6269161" y="1563324"/>
            <a:ext cx="280219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4994EFE3-36E8-49B2-A0A4-1C5964765671}"/>
              </a:ext>
            </a:extLst>
          </p:cNvPr>
          <p:cNvCxnSpPr/>
          <p:nvPr/>
        </p:nvCxnSpPr>
        <p:spPr>
          <a:xfrm>
            <a:off x="6662942" y="1810974"/>
            <a:ext cx="280219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56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4993B22C-25D1-4906-AC06-A27DEAF0D2BF}"/>
              </a:ext>
            </a:extLst>
          </p:cNvPr>
          <p:cNvSpPr txBox="1">
            <a:spLocks/>
          </p:cNvSpPr>
          <p:nvPr/>
        </p:nvSpPr>
        <p:spPr>
          <a:xfrm>
            <a:off x="489252" y="572130"/>
            <a:ext cx="7845827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dynamic programming solution - Theorem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5DDB3ADB-90CE-4D02-89B7-6100ADF2ED12}"/>
              </a:ext>
            </a:extLst>
          </p:cNvPr>
          <p:cNvGrpSpPr/>
          <p:nvPr/>
        </p:nvGrpSpPr>
        <p:grpSpPr>
          <a:xfrm>
            <a:off x="1186139" y="1891820"/>
            <a:ext cx="6452052" cy="3820972"/>
            <a:chOff x="888086" y="2149515"/>
            <a:chExt cx="6452052" cy="38209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3EDECD30-8244-4ECD-8702-26FEE1E3D706}"/>
                    </a:ext>
                  </a:extLst>
                </p:cNvPr>
                <p:cNvSpPr/>
                <p:nvPr/>
              </p:nvSpPr>
              <p:spPr>
                <a:xfrm>
                  <a:off x="1192759" y="2150788"/>
                  <a:ext cx="113095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3EDECD30-8244-4ECD-8702-26FEE1E3D7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2759" y="2150788"/>
                  <a:ext cx="1130951" cy="400110"/>
                </a:xfrm>
                <a:prstGeom prst="rect">
                  <a:avLst/>
                </a:prstGeom>
                <a:blipFill>
                  <a:blip r:embed="rId2"/>
                  <a:stretch>
                    <a:fillRect b="-1538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76859BD0-E327-4B0E-993C-898D7868D851}"/>
                    </a:ext>
                  </a:extLst>
                </p:cNvPr>
                <p:cNvSpPr/>
                <p:nvPr/>
              </p:nvSpPr>
              <p:spPr>
                <a:xfrm>
                  <a:off x="1521306" y="3115924"/>
                  <a:ext cx="1307089" cy="4247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76859BD0-E327-4B0E-993C-898D7868D8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1306" y="3115924"/>
                  <a:ext cx="1307089" cy="424796"/>
                </a:xfrm>
                <a:prstGeom prst="rect">
                  <a:avLst/>
                </a:prstGeom>
                <a:blipFill>
                  <a:blip r:embed="rId3"/>
                  <a:stretch>
                    <a:fillRect b="-857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7E7F77F7-BEAC-4A35-8647-3CE4F0B308EC}"/>
                    </a:ext>
                  </a:extLst>
                </p:cNvPr>
                <p:cNvSpPr/>
                <p:nvPr/>
              </p:nvSpPr>
              <p:spPr>
                <a:xfrm>
                  <a:off x="1521306" y="2720327"/>
                  <a:ext cx="367241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⁡{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−1, 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−1, 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)}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7E7F77F7-BEAC-4A35-8647-3CE4F0B308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1306" y="2720327"/>
                  <a:ext cx="3672416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187F4F87-054F-4B13-9990-34935B5D23CD}"/>
                    </a:ext>
                  </a:extLst>
                </p:cNvPr>
                <p:cNvSpPr/>
                <p:nvPr/>
              </p:nvSpPr>
              <p:spPr>
                <a:xfrm>
                  <a:off x="1517940" y="3819999"/>
                  <a:ext cx="264296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⁡{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187F4F87-054F-4B13-9990-34935B5D23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7940" y="3819999"/>
                  <a:ext cx="2642968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515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3E70AB04-9BC8-477D-979A-3DF87B8E11FB}"/>
                    </a:ext>
                  </a:extLst>
                </p:cNvPr>
                <p:cNvSpPr/>
                <p:nvPr/>
              </p:nvSpPr>
              <p:spPr>
                <a:xfrm>
                  <a:off x="1679754" y="4274462"/>
                  <a:ext cx="5660384" cy="49616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smtClean="0">
                            <a:latin typeface="Cambria Math" panose="02040503050406030204" pitchFamily="18" charset="0"/>
                          </a:rPr>
                          <m:t>1+</m:t>
                        </m:r>
                        <m:limLow>
                          <m:limLow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&lt;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lim>
                        </m:limLow>
                        <m:d>
                          <m:dPr>
                            <m:begChr m:val="{"/>
                            <m:endChr m:val="|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−1, 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−1, 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zh-TW" alt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1:</m:t>
                                </m:r>
                                <m:r>
                                  <a:rPr lang="en-US" altLang="zh-TW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TW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⨁</m:t>
                            </m:r>
                            <m:sSub>
                              <m:sSubPr>
                                <m:ctrlPr>
                                  <a:rPr lang="en-US" altLang="zh-TW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}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}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3E70AB04-9BC8-477D-979A-3DF87B8E11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9754" y="4274462"/>
                  <a:ext cx="5660384" cy="496161"/>
                </a:xfrm>
                <a:prstGeom prst="rect">
                  <a:avLst/>
                </a:prstGeom>
                <a:blipFill>
                  <a:blip r:embed="rId6"/>
                  <a:stretch>
                    <a:fillRect b="-49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A9E95E63-3F03-4650-BBCE-81BE5642CB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3509" t="18722" r="88366" b="1276"/>
            <a:stretch/>
          </p:blipFill>
          <p:spPr>
            <a:xfrm>
              <a:off x="888087" y="2720327"/>
              <a:ext cx="465746" cy="263350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B98B38B8-17E3-4A9D-9A85-FFEF2B7510DA}"/>
                    </a:ext>
                  </a:extLst>
                </p:cNvPr>
                <p:cNvSpPr/>
                <p:nvPr/>
              </p:nvSpPr>
              <p:spPr>
                <a:xfrm>
                  <a:off x="1517940" y="4738634"/>
                  <a:ext cx="1307089" cy="4247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smtClean="0"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lang="en-US" altLang="zh-TW" sz="200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B98B38B8-17E3-4A9D-9A85-FFEF2B7510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7940" y="4738634"/>
                  <a:ext cx="1307089" cy="424796"/>
                </a:xfrm>
                <a:prstGeom prst="rect">
                  <a:avLst/>
                </a:prstGeom>
                <a:blipFill>
                  <a:blip r:embed="rId8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E4EE5FF-72A5-4F31-90C8-290DB9899AC1}"/>
                </a:ext>
              </a:extLst>
            </p:cNvPr>
            <p:cNvSpPr/>
            <p:nvPr/>
          </p:nvSpPr>
          <p:spPr>
            <a:xfrm>
              <a:off x="1128126" y="5353836"/>
              <a:ext cx="3451586" cy="507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*Boundary: f(</a:t>
              </a:r>
              <a:r>
                <a:rPr lang="en-US" altLang="zh-TW" dirty="0" err="1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i</a:t>
              </a:r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, 0, k) = f(0, j, k) = 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048B95F2-9B1D-4C1F-A092-2F83FBD0DD88}"/>
                    </a:ext>
                  </a:extLst>
                </p:cNvPr>
                <p:cNvSpPr/>
                <p:nvPr/>
              </p:nvSpPr>
              <p:spPr>
                <a:xfrm>
                  <a:off x="2839424" y="2197888"/>
                  <a:ext cx="3613169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TW" sz="1600" dirty="0">
                      <a:latin typeface="Times New Roman" panose="02020603050405020304" pitchFamily="18" charset="0"/>
                      <a:ea typeface="標楷體" panose="03000509000000000000" pitchFamily="65" charset="-120"/>
                      <a:cs typeface="Times New Roman" panose="02020603050405020304" pitchFamily="18" charset="0"/>
                    </a:rPr>
                    <a:t>for any </a:t>
                  </a:r>
                  <a14:m>
                    <m:oMath xmlns:m="http://schemas.openxmlformats.org/officeDocument/2006/math">
                      <m:r>
                        <a:rPr lang="en-US" altLang="zh-TW" sz="16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16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TW" sz="16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TW" altLang="en-US" sz="16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altLang="zh-TW" sz="16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a14:m>
                  <a:r>
                    <a:rPr lang="en-US" altLang="zh-TW" sz="1600" dirty="0"/>
                    <a:t>, </a:t>
                  </a:r>
                  <a14:m>
                    <m:oMath xmlns:m="http://schemas.openxmlformats.org/officeDocument/2006/math">
                      <m:r>
                        <a:rPr lang="en-US" altLang="zh-TW" sz="16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TW" sz="1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TW" altLang="en-US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altLang="zh-TW" sz="16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oMath>
                  </a14:m>
                  <a:r>
                    <a:rPr lang="en-US" altLang="zh-TW" sz="1600" dirty="0">
                      <a:solidFill>
                        <a:srgbClr val="7030A0"/>
                      </a:solidFill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zh-TW" sz="16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TW" altLang="en-US" sz="16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altLang="zh-TW" sz="16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altLang="zh-TW" sz="16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TW" sz="16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a14:m>
                  <a:endParaRPr lang="zh-TW" altLang="en-US" sz="1600" dirty="0"/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048B95F2-9B1D-4C1F-A092-2F83FBD0DD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9424" y="2197888"/>
                  <a:ext cx="3613169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1014" b="-789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771DFD92-C3B8-41F6-A76E-5CD86F66C711}"/>
                </a:ext>
              </a:extLst>
            </p:cNvPr>
            <p:cNvSpPr/>
            <p:nvPr/>
          </p:nvSpPr>
          <p:spPr>
            <a:xfrm>
              <a:off x="888086" y="2149515"/>
              <a:ext cx="6452051" cy="38209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12629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標題 1">
                <a:extLst>
                  <a:ext uri="{FF2B5EF4-FFF2-40B4-BE49-F238E27FC236}">
                    <a16:creationId xmlns:a16="http://schemas.microsoft.com/office/drawing/2014/main" id="{4F74E433-8D60-4E80-8AB3-1880B44179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9252" y="555437"/>
                <a:ext cx="7845827" cy="59289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標題 1">
                <a:extLst>
                  <a:ext uri="{FF2B5EF4-FFF2-40B4-BE49-F238E27FC236}">
                    <a16:creationId xmlns:a16="http://schemas.microsoft.com/office/drawing/2014/main" id="{4F74E433-8D60-4E80-8AB3-1880B4417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52" y="555437"/>
                <a:ext cx="7845827" cy="592899"/>
              </a:xfrm>
              <a:prstGeom prst="rect">
                <a:avLst/>
              </a:prstGeom>
              <a:blipFill>
                <a:blip r:embed="rId2"/>
                <a:stretch>
                  <a:fillRect l="-1943" t="-17526" b="-278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標題 1">
                <a:extLst>
                  <a:ext uri="{FF2B5EF4-FFF2-40B4-BE49-F238E27FC236}">
                    <a16:creationId xmlns:a16="http://schemas.microsoft.com/office/drawing/2014/main" id="{2A37DAAE-52B5-4D89-88DB-CEA1611DCD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202" y="1079130"/>
                <a:ext cx="1746872" cy="59289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1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TW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zh-TW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標題 1">
                <a:extLst>
                  <a:ext uri="{FF2B5EF4-FFF2-40B4-BE49-F238E27FC236}">
                    <a16:creationId xmlns:a16="http://schemas.microsoft.com/office/drawing/2014/main" id="{2A37DAAE-52B5-4D89-88DB-CEA1611DC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202" y="1079130"/>
                <a:ext cx="1746872" cy="592899"/>
              </a:xfrm>
              <a:prstGeom prst="rect">
                <a:avLst/>
              </a:prstGeom>
              <a:blipFill>
                <a:blip r:embed="rId3"/>
                <a:stretch>
                  <a:fillRect l="-3846" b="-51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標題 1">
                <a:extLst>
                  <a:ext uri="{FF2B5EF4-FFF2-40B4-BE49-F238E27FC236}">
                    <a16:creationId xmlns:a16="http://schemas.microsoft.com/office/drawing/2014/main" id="{85DC573B-6905-49E1-8D7B-A1117D5A8D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201" y="1429841"/>
                <a:ext cx="6536297" cy="59289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1: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𝐶𝑜𝑚𝑚𝑜𝑛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𝑆𝑢𝑏𝑠𝑒𝑞𝑢𝑒𝑛𝑐𝑒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1: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&amp; 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[1: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TW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標題 1">
                <a:extLst>
                  <a:ext uri="{FF2B5EF4-FFF2-40B4-BE49-F238E27FC236}">
                    <a16:creationId xmlns:a16="http://schemas.microsoft.com/office/drawing/2014/main" id="{85DC573B-6905-49E1-8D7B-A1117D5A8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201" y="1429841"/>
                <a:ext cx="6536297" cy="5928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標題 1">
                <a:extLst>
                  <a:ext uri="{FF2B5EF4-FFF2-40B4-BE49-F238E27FC236}">
                    <a16:creationId xmlns:a16="http://schemas.microsoft.com/office/drawing/2014/main" id="{EC086301-EF27-49BD-A085-8762BA0BEF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202" y="2235867"/>
                <a:ext cx="1746872" cy="59289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1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TW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zh-TW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標題 1">
                <a:extLst>
                  <a:ext uri="{FF2B5EF4-FFF2-40B4-BE49-F238E27FC236}">
                    <a16:creationId xmlns:a16="http://schemas.microsoft.com/office/drawing/2014/main" id="{EC086301-EF27-49BD-A085-8762BA0BE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202" y="2235867"/>
                <a:ext cx="1746872" cy="592899"/>
              </a:xfrm>
              <a:prstGeom prst="rect">
                <a:avLst/>
              </a:prstGeom>
              <a:blipFill>
                <a:blip r:embed="rId5"/>
                <a:stretch>
                  <a:fillRect l="-3846" b="-41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標題 1">
                <a:extLst>
                  <a:ext uri="{FF2B5EF4-FFF2-40B4-BE49-F238E27FC236}">
                    <a16:creationId xmlns:a16="http://schemas.microsoft.com/office/drawing/2014/main" id="{07422F65-84B2-46E7-A383-2546B3AE0E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201" y="2636090"/>
                <a:ext cx="6536297" cy="59289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1: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𝐶𝑜𝑚𝑚𝑜𝑛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𝑆𝑢𝑏𝑠𝑒𝑞𝑢𝑒𝑛𝑐𝑒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1: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&amp; 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[1: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−1]</m:t>
                      </m:r>
                    </m:oMath>
                  </m:oMathPara>
                </a14:m>
                <a:endParaRPr lang="zh-TW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標題 1">
                <a:extLst>
                  <a:ext uri="{FF2B5EF4-FFF2-40B4-BE49-F238E27FC236}">
                    <a16:creationId xmlns:a16="http://schemas.microsoft.com/office/drawing/2014/main" id="{07422F65-84B2-46E7-A383-2546B3AE0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201" y="2636090"/>
                <a:ext cx="6536297" cy="5928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標題 1">
                <a:extLst>
                  <a:ext uri="{FF2B5EF4-FFF2-40B4-BE49-F238E27FC236}">
                    <a16:creationId xmlns:a16="http://schemas.microsoft.com/office/drawing/2014/main" id="{F6298E6C-30B9-41E3-B055-F0CB5DBDFC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03847" y="1813116"/>
                <a:ext cx="6536297" cy="59289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zh-TW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標題 1">
                <a:extLst>
                  <a:ext uri="{FF2B5EF4-FFF2-40B4-BE49-F238E27FC236}">
                    <a16:creationId xmlns:a16="http://schemas.microsoft.com/office/drawing/2014/main" id="{F6298E6C-30B9-41E3-B055-F0CB5DBDF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847" y="1813116"/>
                <a:ext cx="6536297" cy="592899"/>
              </a:xfrm>
              <a:prstGeom prst="rect">
                <a:avLst/>
              </a:prstGeom>
              <a:blipFill>
                <a:blip r:embed="rId7"/>
                <a:stretch>
                  <a:fillRect l="-2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標題 1">
                <a:extLst>
                  <a:ext uri="{FF2B5EF4-FFF2-40B4-BE49-F238E27FC236}">
                    <a16:creationId xmlns:a16="http://schemas.microsoft.com/office/drawing/2014/main" id="{F2D24F83-72E3-433D-891C-360BD0F969E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03847" y="2991958"/>
                <a:ext cx="6536297" cy="59289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zh-TW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標題 1">
                <a:extLst>
                  <a:ext uri="{FF2B5EF4-FFF2-40B4-BE49-F238E27FC236}">
                    <a16:creationId xmlns:a16="http://schemas.microsoft.com/office/drawing/2014/main" id="{F2D24F83-72E3-433D-891C-360BD0F96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847" y="2991958"/>
                <a:ext cx="6536297" cy="592899"/>
              </a:xfrm>
              <a:prstGeom prst="rect">
                <a:avLst/>
              </a:prstGeom>
              <a:blipFill>
                <a:blip r:embed="rId8"/>
                <a:stretch>
                  <a:fillRect l="-2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標題 1">
                <a:extLst>
                  <a:ext uri="{FF2B5EF4-FFF2-40B4-BE49-F238E27FC236}">
                    <a16:creationId xmlns:a16="http://schemas.microsoft.com/office/drawing/2014/main" id="{F910CBE1-5AA3-4304-B0B3-20E3FDD03C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6" y="3598761"/>
                <a:ext cx="9144000" cy="59289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max</m:t>
                      </m:r>
                      <m:r>
                        <a:rPr lang="en-US" altLang="zh-TW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標題 1">
                <a:extLst>
                  <a:ext uri="{FF2B5EF4-FFF2-40B4-BE49-F238E27FC236}">
                    <a16:creationId xmlns:a16="http://schemas.microsoft.com/office/drawing/2014/main" id="{F910CBE1-5AA3-4304-B0B3-20E3FDD03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" y="3598761"/>
                <a:ext cx="9144000" cy="592899"/>
              </a:xfrm>
              <a:prstGeom prst="rect">
                <a:avLst/>
              </a:prstGeom>
              <a:blipFill>
                <a:blip r:embed="rId9"/>
                <a:stretch>
                  <a:fillRect b="-91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24441A9B-23A2-4C09-9E78-1FA1B326D4BF}"/>
              </a:ext>
            </a:extLst>
          </p:cNvPr>
          <p:cNvSpPr/>
          <p:nvPr/>
        </p:nvSpPr>
        <p:spPr>
          <a:xfrm>
            <a:off x="913201" y="4805010"/>
            <a:ext cx="117209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abba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aab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 = ab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843784B-F3D6-4072-999F-3EEF483DA979}"/>
              </a:ext>
            </a:extLst>
          </p:cNvPr>
          <p:cNvSpPr/>
          <p:nvPr/>
        </p:nvSpPr>
        <p:spPr>
          <a:xfrm>
            <a:off x="2367928" y="5220509"/>
            <a:ext cx="317546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f(4, 3, 1) = f(3, 3, 1) =1</a:t>
            </a:r>
          </a:p>
        </p:txBody>
      </p:sp>
    </p:spTree>
    <p:extLst>
      <p:ext uri="{BB962C8B-B14F-4D97-AF65-F5344CB8AC3E}">
        <p14:creationId xmlns:p14="http://schemas.microsoft.com/office/powerpoint/2010/main" val="1528674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標題 1">
                <a:extLst>
                  <a:ext uri="{FF2B5EF4-FFF2-40B4-BE49-F238E27FC236}">
                    <a16:creationId xmlns:a16="http://schemas.microsoft.com/office/drawing/2014/main" id="{937EE0A6-0384-47B8-AC68-E0253E80CD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0199" y="371924"/>
                <a:ext cx="7845827" cy="99417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3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3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3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about</a:t>
                </a:r>
                <a:r>
                  <a:rPr lang="en-US" altLang="zh-TW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sz="32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3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1:</m:t>
                            </m:r>
                            <m:r>
                              <m:rPr>
                                <m:sty m:val="p"/>
                              </m:rPr>
                              <a:rPr lang="en-US" altLang="zh-TW" sz="32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k</m:t>
                            </m:r>
                          </m:e>
                        </m:d>
                        <m:r>
                          <a:rPr lang="en-US" altLang="zh-TW" sz="3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⨁</m:t>
                        </m:r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3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標題 1">
                <a:extLst>
                  <a:ext uri="{FF2B5EF4-FFF2-40B4-BE49-F238E27FC236}">
                    <a16:creationId xmlns:a16="http://schemas.microsoft.com/office/drawing/2014/main" id="{937EE0A6-0384-47B8-AC68-E0253E80C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99" y="371924"/>
                <a:ext cx="7845827" cy="994172"/>
              </a:xfrm>
              <a:prstGeom prst="rect">
                <a:avLst/>
              </a:prstGeom>
              <a:blipFill>
                <a:blip r:embed="rId3"/>
                <a:stretch>
                  <a:fillRect l="-19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標題 1">
                <a:extLst>
                  <a:ext uri="{FF2B5EF4-FFF2-40B4-BE49-F238E27FC236}">
                    <a16:creationId xmlns:a16="http://schemas.microsoft.com/office/drawing/2014/main" id="{CF486B0F-B6CF-4CAD-94C1-F0740A3539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75910" y="1884918"/>
                <a:ext cx="3049403" cy="62707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zh-TW" altLang="en-US" sz="2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1:</m:t>
                            </m:r>
                            <m:r>
                              <m:rPr>
                                <m:sty m:val="p"/>
                              </m:rPr>
                              <a:rPr lang="en-US" altLang="zh-TW" sz="2000" b="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k</m:t>
                            </m:r>
                          </m:e>
                        </m:d>
                        <m:r>
                          <a:rPr lang="en-US" altLang="zh-TW" sz="20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⨁</m:t>
                        </m:r>
                        <m:sSub>
                          <m:sSubPr>
                            <m:ctrlPr>
                              <a:rPr lang="en-US" altLang="zh-TW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 k + 1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標題 1">
                <a:extLst>
                  <a:ext uri="{FF2B5EF4-FFF2-40B4-BE49-F238E27FC236}">
                    <a16:creationId xmlns:a16="http://schemas.microsoft.com/office/drawing/2014/main" id="{CF486B0F-B6CF-4CAD-94C1-F0740A353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910" y="1884918"/>
                <a:ext cx="3049403" cy="6270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E9F3D6C-E1AC-47C1-B57D-E5F67ACF990C}"/>
                  </a:ext>
                </a:extLst>
              </p:cNvPr>
              <p:cNvSpPr/>
              <p:nvPr/>
            </p:nvSpPr>
            <p:spPr>
              <a:xfrm>
                <a:off x="904887" y="1489393"/>
                <a:ext cx="158652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E9F3D6C-E1AC-47C1-B57D-E5F67ACF99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87" y="1489393"/>
                <a:ext cx="1586524" cy="4001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5BE0873-AFAA-48B3-A3A8-0F8DA0B9E1EC}"/>
                  </a:ext>
                </a:extLst>
              </p:cNvPr>
              <p:cNvSpPr/>
              <p:nvPr/>
            </p:nvSpPr>
            <p:spPr>
              <a:xfrm>
                <a:off x="904887" y="2494859"/>
                <a:ext cx="158652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5BE0873-AFAA-48B3-A3A8-0F8DA0B9E1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87" y="2494859"/>
                <a:ext cx="1586524" cy="4001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標題 1">
                <a:extLst>
                  <a:ext uri="{FF2B5EF4-FFF2-40B4-BE49-F238E27FC236}">
                    <a16:creationId xmlns:a16="http://schemas.microsoft.com/office/drawing/2014/main" id="{42630C60-53E8-4233-AB2D-3E4479BF30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75910" y="2732283"/>
                <a:ext cx="5174766" cy="10406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 :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= p[1 : t],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TW" altLang="en-US" sz="2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1:</m:t>
                            </m:r>
                            <m:r>
                              <m:rPr>
                                <m:sty m:val="p"/>
                              </m:rPr>
                              <a:rPr lang="en-US" altLang="zh-TW" sz="2000" b="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k</m:t>
                            </m:r>
                          </m:e>
                        </m:d>
                        <m:r>
                          <a:rPr lang="en-US" altLang="zh-TW" sz="20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⨁</m:t>
                        </m:r>
                        <m:sSub>
                          <m:sSubPr>
                            <m:ctrlPr>
                              <a:rPr lang="en-US" altLang="zh-TW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 t + 1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標題 1">
                <a:extLst>
                  <a:ext uri="{FF2B5EF4-FFF2-40B4-BE49-F238E27FC236}">
                    <a16:creationId xmlns:a16="http://schemas.microsoft.com/office/drawing/2014/main" id="{42630C60-53E8-4233-AB2D-3E4479BF3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910" y="2732283"/>
                <a:ext cx="5174766" cy="1040605"/>
              </a:xfrm>
              <a:prstGeom prst="rect">
                <a:avLst/>
              </a:prstGeom>
              <a:blipFill>
                <a:blip r:embed="rId7"/>
                <a:stretch>
                  <a:fillRect l="-1178" b="-35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CD8892AE-0A51-4723-BB60-146D523F6195}"/>
                  </a:ext>
                </a:extLst>
              </p:cNvPr>
              <p:cNvSpPr/>
              <p:nvPr/>
            </p:nvSpPr>
            <p:spPr>
              <a:xfrm>
                <a:off x="2683608" y="1366096"/>
                <a:ext cx="25215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1:</m:t>
                        </m:r>
                        <m:r>
                          <m:rPr>
                            <m:sty m:val="p"/>
                          </m:rPr>
                          <a:rPr lang="en-US" altLang="zh-TW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</m:e>
                    </m:d>
                    <m:r>
                      <a:rPr lang="en-US" altLang="zh-TW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⨁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solidFill>
                      <a:srgbClr val="0070C0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zh-TW" alt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1:</m:t>
                        </m:r>
                        <m:r>
                          <m:rPr>
                            <m:sty m:val="p"/>
                          </m:rPr>
                          <a:rPr lang="en-US" altLang="zh-TW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  <m:r>
                          <a:rPr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zh-TW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CD8892AE-0A51-4723-BB60-146D523F61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608" y="1366096"/>
                <a:ext cx="2521524" cy="369332"/>
              </a:xfrm>
              <a:prstGeom prst="rect">
                <a:avLst/>
              </a:prstGeom>
              <a:blipFill>
                <a:blip r:embed="rId8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00079E45-260D-47F1-B7E2-DBCB9E344ADA}"/>
                  </a:ext>
                </a:extLst>
              </p:cNvPr>
              <p:cNvSpPr/>
              <p:nvPr/>
            </p:nvSpPr>
            <p:spPr>
              <a:xfrm>
                <a:off x="904887" y="3903713"/>
                <a:ext cx="6559941" cy="24377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 = </a:t>
                </a:r>
                <a:r>
                  <a:rPr lang="en-US" altLang="zh-TW" sz="20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abbb</a:t>
                </a:r>
                <a:endParaRPr lang="en-US" altLang="zh-TW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Y = </a:t>
                </a:r>
                <a:r>
                  <a:rPr lang="en-US" altLang="zh-TW" sz="20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aab</a:t>
                </a:r>
                <a:endParaRPr lang="en-US" altLang="zh-TW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 = ab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if k = 1,</a:t>
                </a:r>
                <a:r>
                  <a:rPr lang="en-US" altLang="zh-TW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</a:t>
                </a:r>
                <a:r>
                  <a:rPr lang="en-US" altLang="zh-TW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zh-TW" altLang="en-US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1: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k</m:t>
                            </m:r>
                          </m:e>
                        </m:d>
                        <m:r>
                          <a:rPr lang="en-US" altLang="zh-TW" sz="20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⨁</m:t>
                        </m:r>
                        <m:sSub>
                          <m:sSubPr>
                            <m:ctrlPr>
                              <a:rPr lang="en-US" altLang="zh-TW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zh-TW" altLang="en-US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</m:d>
                    <m:r>
                      <a:rPr lang="en-US" altLang="zh-TW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len</m:t>
                    </m:r>
                    <m:r>
                      <a:rPr lang="en-US" altLang="zh-TW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altLang="zh-TW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= 2</a:t>
                </a: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00079E45-260D-47F1-B7E2-DBCB9E344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87" y="3903713"/>
                <a:ext cx="6559941" cy="2437719"/>
              </a:xfrm>
              <a:prstGeom prst="rect">
                <a:avLst/>
              </a:prstGeom>
              <a:blipFill>
                <a:blip r:embed="rId9"/>
                <a:stretch>
                  <a:fillRect l="-929" b="-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9068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DE508FE-5743-4C72-94AE-0293946436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9141" y="1623563"/>
                <a:ext cx="7886700" cy="1300281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𝑘𝑚𝑝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: For a given string S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TW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TW" dirty="0"/>
                  <a:t>find the length of the longest prefix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that matches a suffix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DE508FE-5743-4C72-94AE-0293946436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9141" y="1623563"/>
                <a:ext cx="7886700" cy="1300281"/>
              </a:xfrm>
              <a:blipFill>
                <a:blip r:embed="rId3"/>
                <a:stretch>
                  <a:fillRect l="-1237" r="-6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>
            <a:extLst>
              <a:ext uri="{FF2B5EF4-FFF2-40B4-BE49-F238E27FC236}">
                <a16:creationId xmlns:a16="http://schemas.microsoft.com/office/drawing/2014/main" id="{CE98B58E-5AAF-488F-A2AF-ECB5F5DAB089}"/>
              </a:ext>
            </a:extLst>
          </p:cNvPr>
          <p:cNvSpPr txBox="1">
            <a:spLocks/>
          </p:cNvSpPr>
          <p:nvPr/>
        </p:nvSpPr>
        <p:spPr>
          <a:xfrm>
            <a:off x="489252" y="359826"/>
            <a:ext cx="8165496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KMP Algorithm –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matching problem(1/2)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D96399-C34F-4D47-9AB9-4DFA18A07E8F}"/>
              </a:ext>
            </a:extLst>
          </p:cNvPr>
          <p:cNvSpPr/>
          <p:nvPr/>
        </p:nvSpPr>
        <p:spPr>
          <a:xfrm>
            <a:off x="489252" y="1151081"/>
            <a:ext cx="2159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545454"/>
                </a:solidFill>
                <a:latin typeface="arial" panose="020B0604020202020204" pitchFamily="34" charset="0"/>
              </a:rPr>
              <a:t>*Knuth-Morris-Pratt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2B7465-F5F3-4FFA-99C6-252F064CD7C7}"/>
              </a:ext>
            </a:extLst>
          </p:cNvPr>
          <p:cNvSpPr/>
          <p:nvPr/>
        </p:nvSpPr>
        <p:spPr>
          <a:xfrm>
            <a:off x="559174" y="2824815"/>
            <a:ext cx="2452916" cy="581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 =</a:t>
            </a:r>
            <a:r>
              <a:rPr lang="zh-TW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ａｂａｂａａ</a:t>
            </a:r>
            <a:endParaRPr lang="en-US" altLang="zh-TW" sz="2400" dirty="0">
              <a:solidFill>
                <a:srgbClr val="0070C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08DA8C9-BF7E-4501-97B4-EE281EF19E84}"/>
                  </a:ext>
                </a:extLst>
              </p:cNvPr>
              <p:cNvSpPr/>
              <p:nvPr/>
            </p:nvSpPr>
            <p:spPr>
              <a:xfrm>
                <a:off x="595197" y="3452850"/>
                <a:ext cx="246516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𝑘𝑚𝑝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(1)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08DA8C9-BF7E-4501-97B4-EE281EF19E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97" y="3452850"/>
                <a:ext cx="2465160" cy="646331"/>
              </a:xfrm>
              <a:prstGeom prst="rect">
                <a:avLst/>
              </a:prstGeom>
              <a:blipFill>
                <a:blip r:embed="rId4"/>
                <a:stretch>
                  <a:fillRect l="-2228"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群組 26">
            <a:extLst>
              <a:ext uri="{FF2B5EF4-FFF2-40B4-BE49-F238E27FC236}">
                <a16:creationId xmlns:a16="http://schemas.microsoft.com/office/drawing/2014/main" id="{EFA00C49-6875-417D-8661-BC2BB8FF5659}"/>
              </a:ext>
            </a:extLst>
          </p:cNvPr>
          <p:cNvGrpSpPr/>
          <p:nvPr/>
        </p:nvGrpSpPr>
        <p:grpSpPr>
          <a:xfrm>
            <a:off x="784747" y="3989001"/>
            <a:ext cx="2017410" cy="738664"/>
            <a:chOff x="1076400" y="4434237"/>
            <a:chExt cx="2017410" cy="738664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2283E80-525B-4DB9-9CC1-BD10B92CEB7A}"/>
                </a:ext>
              </a:extLst>
            </p:cNvPr>
            <p:cNvSpPr/>
            <p:nvPr/>
          </p:nvSpPr>
          <p:spPr>
            <a:xfrm>
              <a:off x="1076400" y="4434237"/>
              <a:ext cx="18004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　ｂａｂａａ</a:t>
              </a:r>
              <a:endParaRPr lang="zh-TW" altLang="en-US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AA47E38-3DE0-4310-9554-116822B59492}"/>
                </a:ext>
              </a:extLst>
            </p:cNvPr>
            <p:cNvSpPr/>
            <p:nvPr/>
          </p:nvSpPr>
          <p:spPr>
            <a:xfrm>
              <a:off x="1524150" y="4803569"/>
              <a:ext cx="15696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ａｂａｂａａ</a:t>
              </a:r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91AB988-0719-4B67-AB17-30C93F853891}"/>
                  </a:ext>
                </a:extLst>
              </p:cNvPr>
              <p:cNvSpPr/>
              <p:nvPr/>
            </p:nvSpPr>
            <p:spPr>
              <a:xfrm>
                <a:off x="3095520" y="3452850"/>
                <a:ext cx="246516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𝑘𝑚𝑝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(2)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91AB988-0719-4B67-AB17-30C93F8538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20" y="3452850"/>
                <a:ext cx="2465160" cy="646331"/>
              </a:xfrm>
              <a:prstGeom prst="rect">
                <a:avLst/>
              </a:prstGeom>
              <a:blipFill>
                <a:blip r:embed="rId5"/>
                <a:stretch>
                  <a:fillRect l="-2228"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群組 29">
            <a:extLst>
              <a:ext uri="{FF2B5EF4-FFF2-40B4-BE49-F238E27FC236}">
                <a16:creationId xmlns:a16="http://schemas.microsoft.com/office/drawing/2014/main" id="{BA6F88F7-52F5-423D-B9CC-4E190D05243A}"/>
              </a:ext>
            </a:extLst>
          </p:cNvPr>
          <p:cNvGrpSpPr/>
          <p:nvPr/>
        </p:nvGrpSpPr>
        <p:grpSpPr>
          <a:xfrm>
            <a:off x="3097222" y="3989001"/>
            <a:ext cx="2263217" cy="738664"/>
            <a:chOff x="3587874" y="4322727"/>
            <a:chExt cx="2263217" cy="738664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3EC3F29-429D-4326-B9BD-967FCA3763CD}"/>
                </a:ext>
              </a:extLst>
            </p:cNvPr>
            <p:cNvSpPr/>
            <p:nvPr/>
          </p:nvSpPr>
          <p:spPr>
            <a:xfrm>
              <a:off x="3587874" y="4322727"/>
              <a:ext cx="18004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ａｂ　ａｂａａ</a:t>
              </a:r>
              <a:endParaRPr lang="zh-TW" altLang="en-US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740D520-DE6D-4DE7-AD07-44D056320E65}"/>
                </a:ext>
              </a:extLst>
            </p:cNvPr>
            <p:cNvSpPr/>
            <p:nvPr/>
          </p:nvSpPr>
          <p:spPr>
            <a:xfrm>
              <a:off x="4281431" y="4692059"/>
              <a:ext cx="15696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ａｂａｂａａ</a:t>
              </a:r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B53F30BB-945D-4342-82FE-86FA1D16DB2E}"/>
                  </a:ext>
                </a:extLst>
              </p:cNvPr>
              <p:cNvSpPr/>
              <p:nvPr/>
            </p:nvSpPr>
            <p:spPr>
              <a:xfrm>
                <a:off x="5809088" y="3452850"/>
                <a:ext cx="246516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𝑘𝑚𝑝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(3)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B53F30BB-945D-4342-82FE-86FA1D16DB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088" y="3452850"/>
                <a:ext cx="2465160" cy="646331"/>
              </a:xfrm>
              <a:prstGeom prst="rect">
                <a:avLst/>
              </a:prstGeom>
              <a:blipFill>
                <a:blip r:embed="rId6"/>
                <a:stretch>
                  <a:fillRect l="-2228"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F7CA598B-43CC-4094-B52D-668C87C50D9F}"/>
              </a:ext>
            </a:extLst>
          </p:cNvPr>
          <p:cNvGrpSpPr/>
          <p:nvPr/>
        </p:nvGrpSpPr>
        <p:grpSpPr>
          <a:xfrm>
            <a:off x="5833091" y="3989001"/>
            <a:ext cx="2272316" cy="738295"/>
            <a:chOff x="6409511" y="4322727"/>
            <a:chExt cx="2272316" cy="73829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2EFB0F6-0FC8-493D-94BE-70953CCBFBBA}"/>
                </a:ext>
              </a:extLst>
            </p:cNvPr>
            <p:cNvSpPr/>
            <p:nvPr/>
          </p:nvSpPr>
          <p:spPr>
            <a:xfrm>
              <a:off x="6409511" y="4322727"/>
              <a:ext cx="18004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ａｂａ　ｂａａ</a:t>
              </a:r>
              <a:endParaRPr lang="zh-TW" altLang="en-US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B2C0347-8D9B-454C-A7FE-416E9249028A}"/>
                </a:ext>
              </a:extLst>
            </p:cNvPr>
            <p:cNvSpPr/>
            <p:nvPr/>
          </p:nvSpPr>
          <p:spPr>
            <a:xfrm>
              <a:off x="6881334" y="4691690"/>
              <a:ext cx="18004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　ｂａｂａａ</a:t>
              </a:r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BCEE142-1D04-4F61-B695-4DBA3179B56B}"/>
                  </a:ext>
                </a:extLst>
              </p:cNvPr>
              <p:cNvSpPr/>
              <p:nvPr/>
            </p:nvSpPr>
            <p:spPr>
              <a:xfrm>
                <a:off x="606348" y="4782974"/>
                <a:ext cx="246516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𝑘𝑚𝑝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(4)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</a:t>
                </a: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BCEE142-1D04-4F61-B695-4DBA3179B5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48" y="4782974"/>
                <a:ext cx="2465160" cy="646331"/>
              </a:xfrm>
              <a:prstGeom prst="rect">
                <a:avLst/>
              </a:prstGeom>
              <a:blipFill>
                <a:blip r:embed="rId7"/>
                <a:stretch>
                  <a:fillRect l="-1975"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群組 25">
            <a:extLst>
              <a:ext uri="{FF2B5EF4-FFF2-40B4-BE49-F238E27FC236}">
                <a16:creationId xmlns:a16="http://schemas.microsoft.com/office/drawing/2014/main" id="{AF0D7DFB-F176-43D9-B45D-451A311F9F7A}"/>
              </a:ext>
            </a:extLst>
          </p:cNvPr>
          <p:cNvGrpSpPr/>
          <p:nvPr/>
        </p:nvGrpSpPr>
        <p:grpSpPr>
          <a:xfrm>
            <a:off x="784747" y="5330276"/>
            <a:ext cx="2262688" cy="738295"/>
            <a:chOff x="1076400" y="5898173"/>
            <a:chExt cx="2262688" cy="73829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19F7DD0-1583-4AF3-A115-2F88DE97A61D}"/>
                </a:ext>
              </a:extLst>
            </p:cNvPr>
            <p:cNvSpPr/>
            <p:nvPr/>
          </p:nvSpPr>
          <p:spPr>
            <a:xfrm>
              <a:off x="1076400" y="5898173"/>
              <a:ext cx="18004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ａｂａｂ　ａａ</a:t>
              </a:r>
              <a:endParaRPr lang="zh-TW" altLang="en-US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80474DB-2D85-4A13-BD85-591FB5873052}"/>
                </a:ext>
              </a:extLst>
            </p:cNvPr>
            <p:cNvSpPr/>
            <p:nvPr/>
          </p:nvSpPr>
          <p:spPr>
            <a:xfrm>
              <a:off x="1538595" y="6267136"/>
              <a:ext cx="18004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ａｂ</a:t>
              </a:r>
              <a:r>
                <a: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　ａｂａａ</a:t>
              </a:r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DD32634-4233-4C6F-92A7-B87B8B5F5202}"/>
                  </a:ext>
                </a:extLst>
              </p:cNvPr>
              <p:cNvSpPr/>
              <p:nvPr/>
            </p:nvSpPr>
            <p:spPr>
              <a:xfrm>
                <a:off x="3106671" y="4782974"/>
                <a:ext cx="246516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𝑘𝑚𝑝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(5)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</a:t>
                </a:r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DD32634-4233-4C6F-92A7-B87B8B5F52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671" y="4782974"/>
                <a:ext cx="2465160" cy="646331"/>
              </a:xfrm>
              <a:prstGeom prst="rect">
                <a:avLst/>
              </a:prstGeom>
              <a:blipFill>
                <a:blip r:embed="rId8"/>
                <a:stretch>
                  <a:fillRect l="-2228"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79B35F72-71A8-46C4-B440-3E7DD2126BDD}"/>
              </a:ext>
            </a:extLst>
          </p:cNvPr>
          <p:cNvSpPr/>
          <p:nvPr/>
        </p:nvSpPr>
        <p:spPr>
          <a:xfrm>
            <a:off x="3337492" y="5329907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ａｂａｂａ　ａ</a:t>
            </a:r>
            <a:endParaRPr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C683AF-B7F2-431C-AD56-8D40FB67165F}"/>
              </a:ext>
            </a:extLst>
          </p:cNvPr>
          <p:cNvSpPr/>
          <p:nvPr/>
        </p:nvSpPr>
        <p:spPr>
          <a:xfrm>
            <a:off x="3799687" y="5698870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ａｂａ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　ｂａａ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7FFA86BC-5B1E-400D-B660-5A326D680E5C}"/>
                  </a:ext>
                </a:extLst>
              </p:cNvPr>
              <p:cNvSpPr/>
              <p:nvPr/>
            </p:nvSpPr>
            <p:spPr>
              <a:xfrm>
                <a:off x="5820239" y="4782974"/>
                <a:ext cx="246516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𝑘𝑚𝑝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(6)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7FFA86BC-5B1E-400D-B660-5A326D680E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0239" y="4782974"/>
                <a:ext cx="2465160" cy="646331"/>
              </a:xfrm>
              <a:prstGeom prst="rect">
                <a:avLst/>
              </a:prstGeom>
              <a:blipFill>
                <a:blip r:embed="rId9"/>
                <a:stretch>
                  <a:fillRect l="-2228"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id="{4F83B84F-3F60-4553-85B6-86C3E6ACE46C}"/>
              </a:ext>
            </a:extLst>
          </p:cNvPr>
          <p:cNvSpPr/>
          <p:nvPr/>
        </p:nvSpPr>
        <p:spPr>
          <a:xfrm>
            <a:off x="5820239" y="534864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ａｂａｂａａ</a:t>
            </a:r>
            <a:endParaRPr lang="zh-TW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5EF2117-A5A1-41B0-90AA-B44FD2B42E62}"/>
              </a:ext>
            </a:extLst>
          </p:cNvPr>
          <p:cNvSpPr/>
          <p:nvPr/>
        </p:nvSpPr>
        <p:spPr>
          <a:xfrm>
            <a:off x="6970645" y="57179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ａ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ｂａｂａａ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27549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911CDED-8C05-4036-9BFC-B9A49DA982E4}"/>
              </a:ext>
            </a:extLst>
          </p:cNvPr>
          <p:cNvSpPr/>
          <p:nvPr/>
        </p:nvSpPr>
        <p:spPr>
          <a:xfrm>
            <a:off x="5041747" y="1253639"/>
            <a:ext cx="24529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 =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ａｂａｂａａ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8EF94A2B-EEBF-46E9-A446-D64FE49E0EDE}"/>
              </a:ext>
            </a:extLst>
          </p:cNvPr>
          <p:cNvSpPr txBox="1">
            <a:spLocks/>
          </p:cNvSpPr>
          <p:nvPr/>
        </p:nvSpPr>
        <p:spPr>
          <a:xfrm>
            <a:off x="489252" y="359826"/>
            <a:ext cx="8165496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KMP Algorithm –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matching problem(2/2)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C5F175-183B-4F3D-AD82-94EB8EAED7AA}"/>
              </a:ext>
            </a:extLst>
          </p:cNvPr>
          <p:cNvSpPr/>
          <p:nvPr/>
        </p:nvSpPr>
        <p:spPr>
          <a:xfrm>
            <a:off x="584046" y="1225050"/>
            <a:ext cx="3619965" cy="581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Set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 =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ａｂａｂｂｂａ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…</a:t>
            </a: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D1E78904-0FA0-4F5E-8EB1-E91D1ACAD274}"/>
              </a:ext>
            </a:extLst>
          </p:cNvPr>
          <p:cNvGrpSpPr/>
          <p:nvPr/>
        </p:nvGrpSpPr>
        <p:grpSpPr>
          <a:xfrm>
            <a:off x="1093463" y="1772437"/>
            <a:ext cx="2646878" cy="982345"/>
            <a:chOff x="584046" y="2161750"/>
            <a:chExt cx="2646878" cy="98234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E945D53-8160-40CA-8CFF-9245D253201D}"/>
                </a:ext>
              </a:extLst>
            </p:cNvPr>
            <p:cNvSpPr/>
            <p:nvPr/>
          </p:nvSpPr>
          <p:spPr>
            <a:xfrm>
              <a:off x="584046" y="2161750"/>
              <a:ext cx="2646878" cy="5811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400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</a:t>
              </a:r>
              <a:r>
                <a:rPr lang="zh-TW" altLang="en-US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ｂａｂｂｂａ</a:t>
              </a:r>
              <a:r>
                <a: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BA19560-2F11-4FA2-8BAB-4562AEBC97DC}"/>
                </a:ext>
              </a:extLst>
            </p:cNvPr>
            <p:cNvSpPr/>
            <p:nvPr/>
          </p:nvSpPr>
          <p:spPr>
            <a:xfrm>
              <a:off x="584046" y="2562974"/>
              <a:ext cx="2031325" cy="5811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400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</a:t>
              </a:r>
              <a:r>
                <a:rPr lang="zh-TW" altLang="en-US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ｂａｂａａ</a:t>
              </a:r>
              <a:endPara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6A022E86-4745-4727-A30D-3FAD1A4B2C04}"/>
              </a:ext>
            </a:extLst>
          </p:cNvPr>
          <p:cNvGrpSpPr/>
          <p:nvPr/>
        </p:nvGrpSpPr>
        <p:grpSpPr>
          <a:xfrm>
            <a:off x="1093463" y="3128997"/>
            <a:ext cx="2646878" cy="982345"/>
            <a:chOff x="584046" y="2161750"/>
            <a:chExt cx="2646878" cy="98234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AA20F53-EA53-40D6-A628-BD71301F1F5D}"/>
                </a:ext>
              </a:extLst>
            </p:cNvPr>
            <p:cNvSpPr/>
            <p:nvPr/>
          </p:nvSpPr>
          <p:spPr>
            <a:xfrm>
              <a:off x="584046" y="2161750"/>
              <a:ext cx="2646878" cy="5811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400" dirty="0">
                  <a:solidFill>
                    <a:srgbClr val="00206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ａｂａｂ</a:t>
              </a:r>
              <a:r>
                <a:rPr lang="zh-TW" altLang="en-US" sz="2400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ｂ</a:t>
              </a:r>
              <a:r>
                <a:rPr lang="zh-TW" altLang="en-US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ｂａ</a:t>
              </a:r>
              <a:r>
                <a: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3DECAE7-9C83-4698-989A-73E43102CCA8}"/>
                </a:ext>
              </a:extLst>
            </p:cNvPr>
            <p:cNvSpPr/>
            <p:nvPr/>
          </p:nvSpPr>
          <p:spPr>
            <a:xfrm>
              <a:off x="584046" y="2562974"/>
              <a:ext cx="2031325" cy="5811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400" dirty="0">
                  <a:solidFill>
                    <a:srgbClr val="00206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ａｂａｂ</a:t>
              </a:r>
              <a:r>
                <a:rPr lang="zh-TW" altLang="en-US" sz="2400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</a:t>
              </a:r>
              <a:r>
                <a:rPr lang="zh-TW" altLang="en-US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</a:t>
              </a:r>
              <a:endPara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7EAE70B-A33C-4070-AAA6-C9E9A475031C}"/>
              </a:ext>
            </a:extLst>
          </p:cNvPr>
          <p:cNvCxnSpPr/>
          <p:nvPr/>
        </p:nvCxnSpPr>
        <p:spPr>
          <a:xfrm>
            <a:off x="2293612" y="2777881"/>
            <a:ext cx="0" cy="42429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DB8C7AD3-418F-4371-893E-C79F187C1CE9}"/>
                  </a:ext>
                </a:extLst>
              </p:cNvPr>
              <p:cNvSpPr/>
              <p:nvPr/>
            </p:nvSpPr>
            <p:spPr>
              <a:xfrm>
                <a:off x="1093463" y="4483643"/>
                <a:ext cx="1608710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𝑘𝑚𝑝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(5)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＝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</a:t>
                </a: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DB8C7AD3-418F-4371-893E-C79F187C1C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463" y="4483643"/>
                <a:ext cx="1608710" cy="646331"/>
              </a:xfrm>
              <a:prstGeom prst="rect">
                <a:avLst/>
              </a:prstGeom>
              <a:blipFill>
                <a:blip r:embed="rId3"/>
                <a:stretch>
                  <a:fillRect l="-3030" r="-5303"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群組 16">
            <a:extLst>
              <a:ext uri="{FF2B5EF4-FFF2-40B4-BE49-F238E27FC236}">
                <a16:creationId xmlns:a16="http://schemas.microsoft.com/office/drawing/2014/main" id="{4DC21055-1F4A-4FEC-A5D3-64CFB4667B5A}"/>
              </a:ext>
            </a:extLst>
          </p:cNvPr>
          <p:cNvGrpSpPr/>
          <p:nvPr/>
        </p:nvGrpSpPr>
        <p:grpSpPr>
          <a:xfrm>
            <a:off x="1093463" y="4837387"/>
            <a:ext cx="2646878" cy="1047555"/>
            <a:chOff x="584046" y="2161750"/>
            <a:chExt cx="2646878" cy="104755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23546620-800D-4824-A5FA-D159B3EDF8CF}"/>
                </a:ext>
              </a:extLst>
            </p:cNvPr>
            <p:cNvSpPr/>
            <p:nvPr/>
          </p:nvSpPr>
          <p:spPr>
            <a:xfrm>
              <a:off x="584046" y="2161750"/>
              <a:ext cx="2646878" cy="5811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400" dirty="0">
                  <a:solidFill>
                    <a:srgbClr val="00206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ａｂａｂ</a:t>
              </a:r>
              <a:r>
                <a:rPr lang="zh-TW" altLang="en-US" sz="2400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ｂ</a:t>
              </a:r>
              <a:r>
                <a:rPr lang="zh-TW" altLang="en-US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ｂａ</a:t>
              </a:r>
              <a:r>
                <a: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42DF9BA-2BE7-49E0-9510-07DE311D8740}"/>
                </a:ext>
              </a:extLst>
            </p:cNvPr>
            <p:cNvSpPr/>
            <p:nvPr/>
          </p:nvSpPr>
          <p:spPr>
            <a:xfrm>
              <a:off x="1177093" y="2562974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400" dirty="0">
                  <a:solidFill>
                    <a:srgbClr val="00206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ａｂ</a:t>
              </a:r>
              <a:r>
                <a:rPr lang="zh-TW" altLang="en-US" sz="2400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</a:t>
              </a:r>
              <a:r>
                <a:rPr lang="zh-TW" altLang="en-US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ｂａａ</a:t>
              </a:r>
              <a:endPara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323A2376-41F2-4AAD-9289-9B760D1C6262}"/>
              </a:ext>
            </a:extLst>
          </p:cNvPr>
          <p:cNvCxnSpPr/>
          <p:nvPr/>
        </p:nvCxnSpPr>
        <p:spPr>
          <a:xfrm>
            <a:off x="2293612" y="4179134"/>
            <a:ext cx="0" cy="42429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E06D2448-6351-43A2-9C7E-2B6456F263FC}"/>
              </a:ext>
            </a:extLst>
          </p:cNvPr>
          <p:cNvCxnSpPr>
            <a:cxnSpLocks/>
          </p:cNvCxnSpPr>
          <p:nvPr/>
        </p:nvCxnSpPr>
        <p:spPr>
          <a:xfrm flipH="1">
            <a:off x="2292916" y="5856019"/>
            <a:ext cx="696" cy="32359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067D492-2C31-4BEC-A34E-41D70A82B9D6}"/>
                  </a:ext>
                </a:extLst>
              </p:cNvPr>
              <p:cNvSpPr/>
              <p:nvPr/>
            </p:nvSpPr>
            <p:spPr>
              <a:xfrm>
                <a:off x="4672735" y="1947061"/>
                <a:ext cx="1608710" cy="581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𝑘𝑚𝑝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(3)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＝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067D492-2C31-4BEC-A34E-41D70A82B9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735" y="1947061"/>
                <a:ext cx="1608710" cy="581121"/>
              </a:xfrm>
              <a:prstGeom prst="rect">
                <a:avLst/>
              </a:prstGeom>
              <a:blipFill>
                <a:blip r:embed="rId4"/>
                <a:stretch>
                  <a:fillRect l="-3422" r="-5323" b="-229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群組 22">
            <a:extLst>
              <a:ext uri="{FF2B5EF4-FFF2-40B4-BE49-F238E27FC236}">
                <a16:creationId xmlns:a16="http://schemas.microsoft.com/office/drawing/2014/main" id="{E1767F44-8819-44E8-986A-078906374D26}"/>
              </a:ext>
            </a:extLst>
          </p:cNvPr>
          <p:cNvGrpSpPr/>
          <p:nvPr/>
        </p:nvGrpSpPr>
        <p:grpSpPr>
          <a:xfrm>
            <a:off x="4478773" y="2270226"/>
            <a:ext cx="3248840" cy="1047555"/>
            <a:chOff x="584046" y="2161750"/>
            <a:chExt cx="3248840" cy="1047555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824A18A-5410-4899-8586-4414797375F0}"/>
                </a:ext>
              </a:extLst>
            </p:cNvPr>
            <p:cNvSpPr/>
            <p:nvPr/>
          </p:nvSpPr>
          <p:spPr>
            <a:xfrm>
              <a:off x="584046" y="2161750"/>
              <a:ext cx="2646878" cy="5811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400" dirty="0">
                  <a:solidFill>
                    <a:srgbClr val="00206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ａｂａｂ</a:t>
              </a:r>
              <a:r>
                <a:rPr lang="zh-TW" altLang="en-US" sz="2400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ｂ</a:t>
              </a:r>
              <a:r>
                <a:rPr lang="zh-TW" altLang="en-US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ｂａ</a:t>
              </a:r>
              <a:r>
                <a: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741BE87-C7F5-457E-B519-5B03A19A62C8}"/>
                </a:ext>
              </a:extLst>
            </p:cNvPr>
            <p:cNvSpPr/>
            <p:nvPr/>
          </p:nvSpPr>
          <p:spPr>
            <a:xfrm>
              <a:off x="1801561" y="2562974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400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</a:t>
              </a:r>
              <a:r>
                <a:rPr lang="zh-TW" altLang="en-US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ｂａｂａａ</a:t>
              </a:r>
              <a:endPara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4D3EF4EE-EEE6-4252-8140-5E6C5FDA5AC8}"/>
              </a:ext>
            </a:extLst>
          </p:cNvPr>
          <p:cNvCxnSpPr/>
          <p:nvPr/>
        </p:nvCxnSpPr>
        <p:spPr>
          <a:xfrm>
            <a:off x="5899193" y="3336226"/>
            <a:ext cx="0" cy="42429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8F292387-6BBF-4DDF-8CD1-F0EB81F9765C}"/>
              </a:ext>
            </a:extLst>
          </p:cNvPr>
          <p:cNvGrpSpPr/>
          <p:nvPr/>
        </p:nvGrpSpPr>
        <p:grpSpPr>
          <a:xfrm>
            <a:off x="4478773" y="3805278"/>
            <a:ext cx="3856299" cy="1047555"/>
            <a:chOff x="584046" y="2161750"/>
            <a:chExt cx="3856299" cy="1047555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9E09199-0352-4055-AA92-26BA4AE58802}"/>
                </a:ext>
              </a:extLst>
            </p:cNvPr>
            <p:cNvSpPr/>
            <p:nvPr/>
          </p:nvSpPr>
          <p:spPr>
            <a:xfrm>
              <a:off x="584046" y="2161750"/>
              <a:ext cx="2646878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400" dirty="0">
                  <a:solidFill>
                    <a:srgbClr val="00206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ａｂａｂｂｂ</a:t>
              </a:r>
              <a:r>
                <a:rPr lang="zh-TW" altLang="en-US" sz="2400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</a:t>
              </a:r>
              <a:r>
                <a: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3FADEC0D-4A47-4491-AD88-33426F93485C}"/>
                </a:ext>
              </a:extLst>
            </p:cNvPr>
            <p:cNvSpPr/>
            <p:nvPr/>
          </p:nvSpPr>
          <p:spPr>
            <a:xfrm>
              <a:off x="2409020" y="2562974"/>
              <a:ext cx="203132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2400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ａ</a:t>
              </a:r>
              <a:r>
                <a:rPr lang="zh-TW" altLang="en-US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ｂａｂａａ</a:t>
              </a:r>
              <a:endPara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6BA1BD8B-EDC4-487D-884C-AA3203E1EB66}"/>
              </a:ext>
            </a:extLst>
          </p:cNvPr>
          <p:cNvSpPr/>
          <p:nvPr/>
        </p:nvSpPr>
        <p:spPr>
          <a:xfrm>
            <a:off x="5691444" y="548330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…</a:t>
            </a:r>
            <a:endParaRPr lang="zh-TW" altLang="en-US" dirty="0"/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5786E94A-8C5C-4A17-B063-844F2EA4E8CB}"/>
              </a:ext>
            </a:extLst>
          </p:cNvPr>
          <p:cNvCxnSpPr/>
          <p:nvPr/>
        </p:nvCxnSpPr>
        <p:spPr>
          <a:xfrm>
            <a:off x="5925463" y="4910882"/>
            <a:ext cx="0" cy="42429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1783D77F-F9CD-4B9E-9E25-45AE7BE759B2}"/>
              </a:ext>
            </a:extLst>
          </p:cNvPr>
          <p:cNvSpPr/>
          <p:nvPr/>
        </p:nvSpPr>
        <p:spPr>
          <a:xfrm>
            <a:off x="655637" y="1908665"/>
            <a:ext cx="7598901" cy="4367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4133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標題 1">
                <a:extLst>
                  <a:ext uri="{FF2B5EF4-FFF2-40B4-BE49-F238E27FC236}">
                    <a16:creationId xmlns:a16="http://schemas.microsoft.com/office/drawing/2014/main" id="{BBC730E4-F45B-404B-A881-CE877AAD88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0199" y="371924"/>
                <a:ext cx="7845827" cy="99417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Pre-compute for</a:t>
                </a:r>
                <a:r>
                  <a:rPr lang="en-US" altLang="zh-TW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sz="32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3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1:</m:t>
                            </m:r>
                            <m:r>
                              <m:rPr>
                                <m:sty m:val="p"/>
                              </m:rPr>
                              <a:rPr lang="en-US" altLang="zh-TW" sz="32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k</m:t>
                            </m:r>
                          </m:e>
                        </m:d>
                        <m:r>
                          <a:rPr lang="en-US" altLang="zh-TW" sz="3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⨁</m:t>
                        </m:r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32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標題 1">
                <a:extLst>
                  <a:ext uri="{FF2B5EF4-FFF2-40B4-BE49-F238E27FC236}">
                    <a16:creationId xmlns:a16="http://schemas.microsoft.com/office/drawing/2014/main" id="{BBC730E4-F45B-404B-A881-CE877AAD8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99" y="371924"/>
                <a:ext cx="7845827" cy="994172"/>
              </a:xfrm>
              <a:prstGeom prst="rect">
                <a:avLst/>
              </a:prstGeom>
              <a:blipFill>
                <a:blip r:embed="rId2"/>
                <a:stretch>
                  <a:fillRect l="-19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9C500684-0C08-4B39-A47C-C6CD04CBC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3254" y="1300268"/>
                <a:ext cx="4689204" cy="37432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𝐼𝑛𝑝𝑢𝑡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altLang="zh-TW" sz="2000" dirty="0"/>
                  <a:t>String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TW" sz="2000" dirty="0"/>
                  <a:t>, alphabet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9C500684-0C08-4B39-A47C-C6CD04CBC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3254" y="1300268"/>
                <a:ext cx="4689204" cy="374327"/>
              </a:xfrm>
              <a:blipFill>
                <a:blip r:embed="rId3"/>
                <a:stretch>
                  <a:fillRect l="-519" t="-16129" b="-258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內容版面配置區 2">
                <a:extLst>
                  <a:ext uri="{FF2B5EF4-FFF2-40B4-BE49-F238E27FC236}">
                    <a16:creationId xmlns:a16="http://schemas.microsoft.com/office/drawing/2014/main" id="{23C001C0-4169-4E55-B887-F16C4B28AC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3254" y="1674595"/>
                <a:ext cx="5528041" cy="3743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𝑂𝑢𝑡</m:t>
                    </m:r>
                    <m:r>
                      <a:rPr lang="en-US" altLang="zh-TW" sz="2000" i="1" smtClean="0">
                        <a:latin typeface="Cambria Math" panose="02040503050406030204" pitchFamily="18" charset="0"/>
                      </a:rPr>
                      <m:t>𝑝𝑢𝑡</m:t>
                    </m:r>
                    <m:r>
                      <a:rPr lang="en-US" altLang="zh-TW" sz="200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altLang="zh-TW" sz="2000" dirty="0"/>
                  <a:t>A table </a:t>
                </a:r>
                <a14:m>
                  <m:oMath xmlns:m="http://schemas.openxmlformats.org/officeDocument/2006/math">
                    <m:r>
                      <a:rPr lang="zh-TW" altLang="en-US" sz="200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內容版面配置區 2">
                <a:extLst>
                  <a:ext uri="{FF2B5EF4-FFF2-40B4-BE49-F238E27FC236}">
                    <a16:creationId xmlns:a16="http://schemas.microsoft.com/office/drawing/2014/main" id="{23C001C0-4169-4E55-B887-F16C4B28A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54" y="1674595"/>
                <a:ext cx="5528041" cy="374326"/>
              </a:xfrm>
              <a:prstGeom prst="rect">
                <a:avLst/>
              </a:prstGeom>
              <a:blipFill>
                <a:blip r:embed="rId4"/>
                <a:stretch>
                  <a:fillRect t="-18033" b="-278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內容版面配置區 2">
                <a:extLst>
                  <a:ext uri="{FF2B5EF4-FFF2-40B4-BE49-F238E27FC236}">
                    <a16:creationId xmlns:a16="http://schemas.microsoft.com/office/drawing/2014/main" id="{0A13CBD6-D485-427B-AAD3-3FDE9D97BA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3255" y="2122204"/>
                <a:ext cx="3898746" cy="358185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1: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𝑎𝑙𝑙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l-GR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𝑎𝑛𝑑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altLang="zh-TW" sz="2000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TW" sz="2000" dirty="0"/>
                  <a:t>2: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zh-TW" altLang="en-US" sz="200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←0</m:t>
                    </m:r>
                  </m:oMath>
                </a14:m>
                <a:endParaRPr lang="en-US" altLang="zh-TW" sz="20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TW" sz="2000" dirty="0"/>
                  <a:t>3: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0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0, 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TW" sz="2000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TW" sz="2000" dirty="0"/>
                  <a:t>4: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−1 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𝑑𝑜</m:t>
                    </m:r>
                  </m:oMath>
                </a14:m>
                <a:endParaRPr lang="en-US" altLang="zh-TW" sz="20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TW" sz="2000" dirty="0"/>
                  <a:t>5:    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𝑎𝑙𝑙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l-GR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𝑑𝑜</m:t>
                    </m:r>
                  </m:oMath>
                </a14:m>
                <a:endParaRPr lang="en-US" altLang="zh-TW" sz="2000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TW" sz="2000" dirty="0"/>
                  <a:t>6:        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𝑡h𝑒𝑛</m:t>
                    </m:r>
                  </m:oMath>
                </a14:m>
                <a:endParaRPr lang="en-US" altLang="zh-TW" sz="20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TW" sz="2000" dirty="0"/>
                  <a:t>7: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             </m:t>
                    </m:r>
                    <m:r>
                      <a:rPr lang="zh-TW" altLang="en-US" sz="20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en-US" altLang="zh-TW" sz="20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TW" sz="2000" dirty="0"/>
                  <a:t>8:        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𝑒𝑙𝑠𝑒</m:t>
                    </m:r>
                  </m:oMath>
                </a14:m>
                <a:endParaRPr lang="en-US" altLang="zh-TW" sz="20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TW" sz="2000" dirty="0"/>
                  <a:t>9: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             </m:t>
                    </m:r>
                    <m:r>
                      <a:rPr lang="zh-TW" altLang="en-US" sz="20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zh-TW" altLang="en-US" sz="20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𝑘𝑚𝑝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altLang="zh-TW" sz="20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zh-TW" altLang="en-US" sz="2000" dirty="0"/>
              </a:p>
            </p:txBody>
          </p:sp>
        </mc:Choice>
        <mc:Fallback xmlns="">
          <p:sp>
            <p:nvSpPr>
              <p:cNvPr id="9" name="內容版面配置區 2">
                <a:extLst>
                  <a:ext uri="{FF2B5EF4-FFF2-40B4-BE49-F238E27FC236}">
                    <a16:creationId xmlns:a16="http://schemas.microsoft.com/office/drawing/2014/main" id="{0A13CBD6-D485-427B-AAD3-3FDE9D97B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55" y="2122204"/>
                <a:ext cx="3898746" cy="3581857"/>
              </a:xfrm>
              <a:prstGeom prst="rect">
                <a:avLst/>
              </a:prstGeom>
              <a:blipFill>
                <a:blip r:embed="rId5"/>
                <a:stretch>
                  <a:fillRect l="-7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11B95F50-5275-4577-BD22-BB3F2C18AC98}"/>
              </a:ext>
            </a:extLst>
          </p:cNvPr>
          <p:cNvSpPr/>
          <p:nvPr/>
        </p:nvSpPr>
        <p:spPr>
          <a:xfrm>
            <a:off x="673254" y="5704061"/>
            <a:ext cx="13647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i="1" dirty="0"/>
              <a:t>cost: O</a:t>
            </a:r>
            <a:r>
              <a:rPr lang="en-US" altLang="zh-TW" dirty="0"/>
              <a:t>(</a:t>
            </a:r>
            <a:r>
              <a:rPr lang="en-US" altLang="zh-TW" i="1" dirty="0" err="1"/>
              <a:t>r</a:t>
            </a:r>
            <a:r>
              <a:rPr lang="en-US" altLang="zh-TW" dirty="0" err="1"/>
              <a:t>|Σ</a:t>
            </a:r>
            <a:r>
              <a:rPr lang="en-US" altLang="zh-TW" dirty="0"/>
              <a:t>|)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22729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541E003-B796-4BB3-A28F-22966D9B0A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023" b="2844"/>
          <a:stretch/>
        </p:blipFill>
        <p:spPr>
          <a:xfrm>
            <a:off x="840479" y="2323505"/>
            <a:ext cx="6483072" cy="41625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A3BE0B54-C780-4B4D-9393-3ECB9697F273}"/>
              </a:ext>
            </a:extLst>
          </p:cNvPr>
          <p:cNvSpPr txBox="1">
            <a:spLocks/>
          </p:cNvSpPr>
          <p:nvPr/>
        </p:nvSpPr>
        <p:spPr>
          <a:xfrm>
            <a:off x="490199" y="371924"/>
            <a:ext cx="7845827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whole algorithm(for STR-EC-LCS)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244BAC85-30AC-4D19-B393-45BF3F3642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3254" y="1300268"/>
                <a:ext cx="7243926" cy="648911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𝐼𝑛𝑝𝑢𝑡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altLang="zh-TW" sz="2000" dirty="0"/>
                  <a:t>Strings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TW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sz="20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TW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sz="2000" dirty="0"/>
                  <a:t>, of lengths n and m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TW" sz="2000" dirty="0"/>
                  <a:t>	and a constraint string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zh-TW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TW" sz="2000" dirty="0">
                    <a:solidFill>
                      <a:srgbClr val="7030A0"/>
                    </a:solidFill>
                  </a:rPr>
                  <a:t> </a:t>
                </a:r>
                <a:r>
                  <a:rPr lang="en-US" altLang="zh-TW" sz="2000" dirty="0"/>
                  <a:t>of length r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244BAC85-30AC-4D19-B393-45BF3F3642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3254" y="1300268"/>
                <a:ext cx="7243926" cy="648911"/>
              </a:xfrm>
              <a:blipFill>
                <a:blip r:embed="rId4"/>
                <a:stretch>
                  <a:fillRect l="-84" t="-9346" b="-102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內容版面配置區 2">
                <a:extLst>
                  <a:ext uri="{FF2B5EF4-FFF2-40B4-BE49-F238E27FC236}">
                    <a16:creationId xmlns:a16="http://schemas.microsoft.com/office/drawing/2014/main" id="{1BFA81B3-8717-4D34-8C68-6E4848B6B5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3254" y="1949179"/>
                <a:ext cx="7243926" cy="3743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𝑂𝑢𝑡</m:t>
                      </m:r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𝑝𝑢𝑡</m:t>
                      </m:r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length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an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LCS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excluding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as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substring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內容版面配置區 2">
                <a:extLst>
                  <a:ext uri="{FF2B5EF4-FFF2-40B4-BE49-F238E27FC236}">
                    <a16:creationId xmlns:a16="http://schemas.microsoft.com/office/drawing/2014/main" id="{1BFA81B3-8717-4D34-8C68-6E4848B6B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54" y="1949179"/>
                <a:ext cx="7243926" cy="374326"/>
              </a:xfrm>
              <a:prstGeom prst="rect">
                <a:avLst/>
              </a:prstGeom>
              <a:blipFill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DDBD105-7992-4B32-90D6-F3A4F5FAC1A4}"/>
                  </a:ext>
                </a:extLst>
              </p:cNvPr>
              <p:cNvSpPr/>
              <p:nvPr/>
            </p:nvSpPr>
            <p:spPr>
              <a:xfrm>
                <a:off x="2095740" y="4705970"/>
                <a:ext cx="4188682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TW" sz="1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zh-TW" altLang="en-US" sz="1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altLang="zh-TW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TW" sz="1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1400" b="0" dirty="0">
                  <a:solidFill>
                    <a:srgbClr val="7030A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1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1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1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sz="1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m:rPr>
                        <m:sty m:val="p"/>
                      </m:rPr>
                      <a:rPr lang="en-US" altLang="zh-TW" sz="14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max</m:t>
                    </m:r>
                    <m:r>
                      <a:rPr lang="en-US" altLang="zh-TW" sz="1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⁡{</m:t>
                    </m:r>
                    <m:r>
                      <a:rPr lang="en-US" altLang="zh-TW" sz="1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1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1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sz="1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1+</m:t>
                    </m:r>
                    <m:r>
                      <a:rPr lang="en-US" altLang="zh-TW" sz="1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TW" sz="1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TW" sz="1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sz="1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−1,</m:t>
                    </m:r>
                    <m:r>
                      <a:rPr lang="en-US" altLang="zh-TW" sz="1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sz="1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−1, </m:t>
                    </m:r>
                    <m:r>
                      <a:rPr lang="en-US" altLang="zh-TW" sz="1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TW" sz="1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US" altLang="zh-TW" sz="1400" dirty="0">
                    <a:solidFill>
                      <a:srgbClr val="7030A0"/>
                    </a:solidFill>
                  </a:rPr>
                  <a:t>  </a:t>
                </a:r>
                <a:endParaRPr lang="zh-TW" altLang="en-US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DDBD105-7992-4B32-90D6-F3A4F5FAC1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740" y="4705970"/>
                <a:ext cx="4188682" cy="523220"/>
              </a:xfrm>
              <a:prstGeom prst="rect">
                <a:avLst/>
              </a:prstGeom>
              <a:blipFill>
                <a:blip r:embed="rId6"/>
                <a:stretch>
                  <a:fillRect b="-34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259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65E27875-A9AA-4ED3-BB76-F6F26062038C}"/>
              </a:ext>
            </a:extLst>
          </p:cNvPr>
          <p:cNvSpPr txBox="1">
            <a:spLocks/>
          </p:cNvSpPr>
          <p:nvPr/>
        </p:nvSpPr>
        <p:spPr>
          <a:xfrm>
            <a:off x="490198" y="371924"/>
            <a:ext cx="7845827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&amp; Space Complexity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E724BC-C3D5-42B0-9696-DD0CD2A51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96785"/>
            <a:ext cx="7886700" cy="144702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TW" i="1" dirty="0">
                <a:solidFill>
                  <a:srgbClr val="7030A0"/>
                </a:solidFill>
              </a:rPr>
              <a:t>O</a:t>
            </a:r>
            <a:r>
              <a:rPr lang="en-US" altLang="zh-TW" dirty="0">
                <a:solidFill>
                  <a:srgbClr val="7030A0"/>
                </a:solidFill>
              </a:rPr>
              <a:t>(</a:t>
            </a:r>
            <a:r>
              <a:rPr lang="en-US" altLang="zh-TW" i="1" dirty="0" err="1">
                <a:solidFill>
                  <a:srgbClr val="7030A0"/>
                </a:solidFill>
              </a:rPr>
              <a:t>nmr</a:t>
            </a:r>
            <a:r>
              <a:rPr lang="en-US" altLang="zh-TW" dirty="0">
                <a:solidFill>
                  <a:srgbClr val="7030A0"/>
                </a:solidFill>
              </a:rPr>
              <a:t>) </a:t>
            </a:r>
            <a:r>
              <a:rPr lang="en-US" altLang="zh-TW" i="1" dirty="0"/>
              <a:t>time, with preprocessing time </a:t>
            </a:r>
            <a:r>
              <a:rPr lang="en-US" altLang="zh-TW" i="1" dirty="0">
                <a:solidFill>
                  <a:srgbClr val="0070C0"/>
                </a:solidFill>
              </a:rPr>
              <a:t>O</a:t>
            </a:r>
            <a:r>
              <a:rPr lang="en-US" altLang="zh-TW" dirty="0">
                <a:solidFill>
                  <a:srgbClr val="0070C0"/>
                </a:solidFill>
              </a:rPr>
              <a:t>(</a:t>
            </a:r>
            <a:r>
              <a:rPr lang="en-US" altLang="zh-TW" i="1" dirty="0" err="1">
                <a:solidFill>
                  <a:srgbClr val="0070C0"/>
                </a:solidFill>
              </a:rPr>
              <a:t>r</a:t>
            </a:r>
            <a:r>
              <a:rPr lang="en-US" altLang="zh-TW" dirty="0" err="1">
                <a:solidFill>
                  <a:srgbClr val="0070C0"/>
                </a:solidFill>
              </a:rPr>
              <a:t>|Σ</a:t>
            </a:r>
            <a:r>
              <a:rPr lang="en-US" altLang="zh-TW" dirty="0">
                <a:solidFill>
                  <a:srgbClr val="0070C0"/>
                </a:solidFill>
              </a:rPr>
              <a:t>|)</a:t>
            </a:r>
            <a:endParaRPr lang="en-US" altLang="zh-TW" i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i="1" dirty="0">
                <a:solidFill>
                  <a:srgbClr val="7030A0"/>
                </a:solidFill>
              </a:rPr>
              <a:t>O</a:t>
            </a:r>
            <a:r>
              <a:rPr lang="en-US" altLang="zh-TW" dirty="0">
                <a:solidFill>
                  <a:srgbClr val="7030A0"/>
                </a:solidFill>
              </a:rPr>
              <a:t>(</a:t>
            </a:r>
            <a:r>
              <a:rPr lang="en-US" altLang="zh-TW" i="1" dirty="0" err="1">
                <a:solidFill>
                  <a:srgbClr val="7030A0"/>
                </a:solidFill>
              </a:rPr>
              <a:t>nmr</a:t>
            </a:r>
            <a:r>
              <a:rPr lang="en-US" altLang="zh-TW" dirty="0">
                <a:solidFill>
                  <a:srgbClr val="7030A0"/>
                </a:solidFill>
              </a:rPr>
              <a:t>) </a:t>
            </a:r>
            <a:r>
              <a:rPr lang="en-US" altLang="zh-TW" i="1" dirty="0"/>
              <a:t>space</a:t>
            </a:r>
            <a:endParaRPr lang="zh-TW" altLang="en-US" dirty="0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413CDC4A-F611-4D64-A099-D5BE20E29F28}"/>
              </a:ext>
            </a:extLst>
          </p:cNvPr>
          <p:cNvGrpSpPr/>
          <p:nvPr/>
        </p:nvGrpSpPr>
        <p:grpSpPr>
          <a:xfrm>
            <a:off x="1305098" y="2775631"/>
            <a:ext cx="5729400" cy="3711184"/>
            <a:chOff x="1963484" y="3002240"/>
            <a:chExt cx="4924996" cy="3190136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5E0FB687-9CAB-4E1C-92FD-738721C1B9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4386" b="2844"/>
            <a:stretch/>
          </p:blipFill>
          <p:spPr>
            <a:xfrm>
              <a:off x="1963484" y="3002240"/>
              <a:ext cx="4924996" cy="319013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CF4694B-A1B1-43D4-8849-76504163FE62}"/>
                </a:ext>
              </a:extLst>
            </p:cNvPr>
            <p:cNvSpPr/>
            <p:nvPr/>
          </p:nvSpPr>
          <p:spPr>
            <a:xfrm>
              <a:off x="3718453" y="4785506"/>
              <a:ext cx="67027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i="1" dirty="0" err="1">
                  <a:solidFill>
                    <a:srgbClr val="0070C0"/>
                  </a:solidFill>
                </a:rPr>
                <a:t>r</a:t>
              </a:r>
              <a:r>
                <a:rPr lang="en-US" altLang="zh-TW" dirty="0" err="1">
                  <a:solidFill>
                    <a:srgbClr val="0070C0"/>
                  </a:solidFill>
                </a:rPr>
                <a:t>|Σ</a:t>
              </a:r>
              <a:r>
                <a:rPr lang="en-US" altLang="zh-TW" dirty="0">
                  <a:solidFill>
                    <a:srgbClr val="0070C0"/>
                  </a:solidFill>
                </a:rPr>
                <a:t>|</a:t>
              </a:r>
              <a:endParaRPr lang="zh-TW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00C4E15-C576-4028-90BB-2823D9A03D62}"/>
                </a:ext>
              </a:extLst>
            </p:cNvPr>
            <p:cNvSpPr/>
            <p:nvPr/>
          </p:nvSpPr>
          <p:spPr>
            <a:xfrm>
              <a:off x="3368328" y="3475805"/>
              <a:ext cx="35012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i="1" dirty="0">
                  <a:solidFill>
                    <a:srgbClr val="7030A0"/>
                  </a:solidFill>
                </a:rPr>
                <a:t>n</a:t>
              </a:r>
              <a:endParaRPr lang="zh-TW" altLang="en-US" dirty="0">
                <a:solidFill>
                  <a:srgbClr val="7030A0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C618C63-5B7A-497D-B65E-A47CFC792BBB}"/>
                </a:ext>
              </a:extLst>
            </p:cNvPr>
            <p:cNvSpPr/>
            <p:nvPr/>
          </p:nvSpPr>
          <p:spPr>
            <a:xfrm>
              <a:off x="3598169" y="3660471"/>
              <a:ext cx="4241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i="1" dirty="0">
                  <a:solidFill>
                    <a:srgbClr val="7030A0"/>
                  </a:solidFill>
                </a:rPr>
                <a:t>m</a:t>
              </a:r>
              <a:endParaRPr lang="zh-TW" altLang="en-US" dirty="0">
                <a:solidFill>
                  <a:srgbClr val="7030A0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8C47E6E-54E2-4DD5-9C58-981441AC393B}"/>
                </a:ext>
              </a:extLst>
            </p:cNvPr>
            <p:cNvSpPr/>
            <p:nvPr/>
          </p:nvSpPr>
          <p:spPr>
            <a:xfrm>
              <a:off x="3789520" y="3882587"/>
              <a:ext cx="30386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i="1" dirty="0">
                  <a:solidFill>
                    <a:srgbClr val="7030A0"/>
                  </a:solidFill>
                </a:rPr>
                <a:t>r</a:t>
              </a:r>
              <a:endParaRPr lang="zh-TW" altLang="en-US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6296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14873</TotalTime>
  <Words>1165</Words>
  <Application>Microsoft Office PowerPoint</Application>
  <PresentationFormat>如螢幕大小 (4:3)</PresentationFormat>
  <Paragraphs>170</Paragraphs>
  <Slides>13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2" baseType="lpstr">
      <vt:lpstr>新細明體</vt:lpstr>
      <vt:lpstr>標楷體</vt:lpstr>
      <vt:lpstr>Arial</vt:lpstr>
      <vt:lpstr>Arial</vt:lpstr>
      <vt:lpstr>Calibri</vt:lpstr>
      <vt:lpstr>Calibri Light</vt:lpstr>
      <vt:lpstr>Cambria Math</vt:lpstr>
      <vt:lpstr>Times New Roman</vt:lpstr>
      <vt:lpstr>Office 佈景主題</vt:lpstr>
      <vt:lpstr>A dynamic programming solution to a generalized LCS problem</vt:lpstr>
      <vt:lpstr>Abstract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>GaryC</dc:creator>
  <cp:lastModifiedBy>GaryC</cp:lastModifiedBy>
  <cp:revision>133</cp:revision>
  <dcterms:created xsi:type="dcterms:W3CDTF">2017-09-25T08:45:50Z</dcterms:created>
  <dcterms:modified xsi:type="dcterms:W3CDTF">2017-11-28T10:10:55Z</dcterms:modified>
</cp:coreProperties>
</file>