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6" r:id="rId2"/>
    <p:sldId id="277" r:id="rId3"/>
    <p:sldId id="278" r:id="rId4"/>
    <p:sldId id="279" r:id="rId5"/>
    <p:sldId id="280" r:id="rId6"/>
    <p:sldId id="283" r:id="rId7"/>
    <p:sldId id="282" r:id="rId8"/>
    <p:sldId id="286" r:id="rId9"/>
    <p:sldId id="281" r:id="rId10"/>
    <p:sldId id="284" r:id="rId11"/>
    <p:sldId id="285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FE6E1-FD2D-49EA-9047-422F3C6B7A1B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14BD0-F385-4D63-BBD7-B1F54F94E8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11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rPr kern="0">
                <a:solidFill>
                  <a:srgbClr val="000000"/>
                </a:solidFill>
              </a:rPr>
              <a:pPr algn="r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400">
              <a:solidFill>
                <a:srgbClr val="000000"/>
              </a:solidFill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131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849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18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75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25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57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80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01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9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94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57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12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FB8CB-8E4D-448F-8331-6C6B7320D076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2D38E-EBF3-4F5B-8F74-4BA0AE8D1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0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203200" y="2746257"/>
            <a:ext cx="11526981" cy="1449115"/>
          </a:xfrm>
        </p:spPr>
        <p:txBody>
          <a:bodyPr wrap="square">
            <a:spAutoFit/>
          </a:bodyPr>
          <a:lstStyle/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 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Proceedings of the 8th international conference on machine learning</a:t>
            </a:r>
            <a:r>
              <a:rPr lang="zh-TW" altLang="en-US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 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and data mining in pattern recognition(MLDM), p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ages. 525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–539,</a:t>
            </a:r>
            <a:b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</a:br>
            <a:r>
              <a:rPr lang="pt-BR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L. Moreira-Matias, J. Mendes-Moreira, J. Gama, and P. Brazdil(2012)</a:t>
            </a:r>
            <a:b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endParaRPr lang="en-US" sz="2449" b="1" dirty="0">
              <a:solidFill>
                <a:srgbClr val="898989"/>
              </a:solidFill>
              <a:latin typeface="Liberation Sans Narrow" pitchFamily="34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0" y="849121"/>
            <a:ext cx="12191999" cy="1897136"/>
          </a:xfrm>
        </p:spPr>
        <p:txBody>
          <a:bodyPr anchorCtr="1">
            <a:normAutofit/>
          </a:bodyPr>
          <a:lstStyle/>
          <a:p>
            <a:pPr marL="0" lvl="0" indent="0" algn="ctr">
              <a:buNone/>
            </a:pPr>
            <a:r>
              <a:rPr lang="en-US" sz="4800" dirty="0"/>
              <a:t>Text Categorization Using an Ensemble Classifier Based on a Mean Co-association Matrix</a:t>
            </a:r>
            <a:endParaRPr lang="en-US" sz="4800" b="1" dirty="0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2162522" y="4515041"/>
            <a:ext cx="8229630" cy="1897136"/>
          </a:xfrm>
        </p:spPr>
        <p:txBody>
          <a:bodyPr>
            <a:normAutofit lnSpcReduction="10000"/>
          </a:bodyPr>
          <a:lstStyle/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Lai</a:t>
            </a: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2017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/ 0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6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/ 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13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749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60" y="68562"/>
            <a:ext cx="10515600" cy="1325563"/>
          </a:xfrm>
        </p:spPr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228166"/>
            <a:ext cx="11384732" cy="53388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	Text Categorization (TC) has attracted the attention of the research</a:t>
            </a:r>
            <a:r>
              <a:rPr lang="zh-TW" altLang="en-US" dirty="0"/>
              <a:t> </a:t>
            </a:r>
            <a:r>
              <a:rPr lang="en-US" altLang="zh-TW" dirty="0"/>
              <a:t>community in the last decade. Algorithms like Support Vector Machines, Naïve</a:t>
            </a:r>
            <a:r>
              <a:rPr lang="zh-TW" altLang="en-US" dirty="0"/>
              <a:t> </a:t>
            </a:r>
            <a:r>
              <a:rPr lang="en-US" altLang="zh-TW" dirty="0"/>
              <a:t>Bayes or k Nearest Neighbors have been used with good performance,</a:t>
            </a:r>
            <a:r>
              <a:rPr lang="zh-TW" altLang="en-US" dirty="0"/>
              <a:t> </a:t>
            </a:r>
            <a:r>
              <a:rPr lang="en-US" altLang="zh-TW" dirty="0"/>
              <a:t>confirmed by several comparative studies. Recently, several ensemble</a:t>
            </a:r>
            <a:r>
              <a:rPr lang="zh-TW" altLang="en-US" dirty="0"/>
              <a:t> </a:t>
            </a:r>
            <a:r>
              <a:rPr lang="en-US" altLang="zh-TW" dirty="0"/>
              <a:t>classifiers were also introduced in TC. However, many of those can only</a:t>
            </a:r>
            <a:r>
              <a:rPr lang="zh-TW" altLang="en-US" dirty="0"/>
              <a:t> </a:t>
            </a:r>
            <a:r>
              <a:rPr lang="en-US" altLang="zh-TW" dirty="0"/>
              <a:t>provide a category for a given new sample. Instead, in this paper, we propose a</a:t>
            </a:r>
            <a:r>
              <a:rPr lang="zh-TW" altLang="en-US" dirty="0"/>
              <a:t> </a:t>
            </a:r>
            <a:r>
              <a:rPr lang="en-US" altLang="zh-TW" dirty="0"/>
              <a:t>methodology – MECAC – to build an ensemble of classifiers that has two</a:t>
            </a:r>
            <a:r>
              <a:rPr lang="zh-TW" altLang="en-US" dirty="0"/>
              <a:t> </a:t>
            </a:r>
            <a:r>
              <a:rPr lang="en-US" altLang="zh-TW" dirty="0"/>
              <a:t>advantages to other ensemble methods: 1) it can be run using parallel</a:t>
            </a:r>
            <a:r>
              <a:rPr lang="zh-TW" altLang="en-US" dirty="0"/>
              <a:t> </a:t>
            </a:r>
            <a:r>
              <a:rPr lang="en-US" altLang="zh-TW" dirty="0"/>
              <a:t>computing, saving processing time and 2) it can extract important statistics</a:t>
            </a:r>
            <a:r>
              <a:rPr lang="zh-TW" altLang="en-US" dirty="0"/>
              <a:t> </a:t>
            </a:r>
            <a:r>
              <a:rPr lang="en-US" altLang="zh-TW" dirty="0"/>
              <a:t>from the obtained clusters. It uses the mean co-association matrix to solve</a:t>
            </a:r>
            <a:r>
              <a:rPr lang="zh-TW" altLang="en-US" dirty="0"/>
              <a:t> </a:t>
            </a:r>
            <a:r>
              <a:rPr lang="en-US" altLang="zh-TW" dirty="0"/>
              <a:t>binary TC problems. Our experiments revealed that our framework performed,</a:t>
            </a:r>
            <a:r>
              <a:rPr lang="zh-TW" altLang="en-US" dirty="0"/>
              <a:t> </a:t>
            </a:r>
            <a:r>
              <a:rPr lang="en-US" altLang="zh-TW" dirty="0"/>
              <a:t>on average, 2.04% better than the best individual classifier on the tested</a:t>
            </a:r>
            <a:r>
              <a:rPr lang="zh-TW" altLang="en-US" dirty="0"/>
              <a:t> </a:t>
            </a:r>
            <a:r>
              <a:rPr lang="en-US" altLang="zh-TW" dirty="0"/>
              <a:t>datasets. These results were statistically validated for a significance level of</a:t>
            </a:r>
            <a:r>
              <a:rPr lang="zh-TW" altLang="en-US" dirty="0"/>
              <a:t> </a:t>
            </a:r>
            <a:r>
              <a:rPr lang="en-US" altLang="zh-TW" dirty="0"/>
              <a:t>0.05 using the Friedman Test. </a:t>
            </a:r>
            <a:endParaRPr lang="en-US" altLang="zh-TW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1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1 The Classifiers Training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	A set of classifiers is generated by applying k classification algorithms to our training set X. 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…,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TW" dirty="0"/>
                  <a:t> contains the class determined by the classifiers to our test set.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k = 3, data = 5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class-label = [[0, 1, 1, 0, 1],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                       [1, 0, 1, 0, 1],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                       [1, 1, 0, 1, 0]]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30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34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  The calculus of the Agreement Matrix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801732" y="1690688"/>
                <a:ext cx="6666825" cy="1029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1,…,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732" y="1690688"/>
                <a:ext cx="6666825" cy="10298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38200" y="4069683"/>
                <a:ext cx="6096000" cy="138499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𝑐𝑙𝑎𝑠𝑠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𝑙𝑎𝑏𝑒𝑙</m:t>
                    </m:r>
                  </m:oMath>
                </a14:m>
                <a:r>
                  <a:rPr lang="en-US" altLang="zh-TW" sz="2800" dirty="0"/>
                  <a:t> = [[0, 1, 1, 0, 1],</a:t>
                </a:r>
              </a:p>
              <a:p>
                <a:r>
                  <a:rPr lang="en-US" altLang="zh-TW" sz="2800" dirty="0"/>
                  <a:t>                               [1, 0, 1, 0, 1],</a:t>
                </a:r>
              </a:p>
              <a:p>
                <a:r>
                  <a:rPr lang="en-US" altLang="zh-TW" sz="2800" dirty="0"/>
                  <a:t>                               [1, 1, 0, 1, 1]]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69683"/>
                <a:ext cx="6096000" cy="1384995"/>
              </a:xfrm>
              <a:prstGeom prst="rect">
                <a:avLst/>
              </a:prstGeom>
              <a:blipFill>
                <a:blip r:embed="rId3"/>
                <a:stretch>
                  <a:fillRect t="-4405" b="-11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640945" y="3638795"/>
                <a:ext cx="6096000" cy="22467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800" dirty="0"/>
                  <a:t> = </a:t>
                </a:r>
                <a:r>
                  <a:rPr lang="zh-TW" altLang="en-US" sz="2800" dirty="0"/>
                  <a:t>[[1 2 1 2 1]</a:t>
                </a:r>
              </a:p>
              <a:p>
                <a:r>
                  <a:rPr lang="zh-TW" altLang="en-US" sz="2800" dirty="0"/>
                  <a:t>         [2 1 2 1 2]</a:t>
                </a:r>
              </a:p>
              <a:p>
                <a:r>
                  <a:rPr lang="zh-TW" altLang="en-US" sz="2800" dirty="0"/>
                  <a:t>         [4 2 1 2 </a:t>
                </a:r>
                <a:r>
                  <a:rPr lang="en-US" altLang="zh-TW" sz="2800" dirty="0"/>
                  <a:t>4</a:t>
                </a:r>
                <a:r>
                  <a:rPr lang="zh-TW" altLang="en-US" sz="2800" dirty="0"/>
                  <a:t>]</a:t>
                </a:r>
              </a:p>
              <a:p>
                <a:r>
                  <a:rPr lang="zh-TW" altLang="en-US" sz="2800" dirty="0"/>
                  <a:t>         [0 1 2 1 </a:t>
                </a:r>
                <a:r>
                  <a:rPr lang="en-US" altLang="zh-TW" sz="2800" dirty="0"/>
                  <a:t>0</a:t>
                </a:r>
                <a:r>
                  <a:rPr lang="zh-TW" altLang="en-US" sz="2800" dirty="0"/>
                  <a:t>]</a:t>
                </a:r>
              </a:p>
              <a:p>
                <a:r>
                  <a:rPr lang="zh-TW" altLang="en-US" sz="2800" dirty="0"/>
                  <a:t>         [4 2 1 2 </a:t>
                </a:r>
                <a:r>
                  <a:rPr lang="en-US" altLang="zh-TW" sz="2800" dirty="0"/>
                  <a:t>4</a:t>
                </a:r>
                <a:r>
                  <a:rPr lang="zh-TW" altLang="en-US" sz="2800" dirty="0"/>
                  <a:t>]]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945" y="3638795"/>
                <a:ext cx="6096000" cy="2246769"/>
              </a:xfrm>
              <a:prstGeom prst="rect">
                <a:avLst/>
              </a:prstGeom>
              <a:blipFill>
                <a:blip r:embed="rId4"/>
                <a:stretch>
                  <a:fillRect t="-2717" b="-70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77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 The Document Clustering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284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Use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dirty="0"/>
                  <a:t> as input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-means algorithm to form 2 clusters of documents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baseline="-25000" dirty="0"/>
                  <a:t>1</a:t>
                </a:r>
                <a:r>
                  <a:rPr lang="en-US" altLang="zh-TW" dirty="0"/>
                  <a:t> 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baseline="-25000" dirty="0"/>
                  <a:t>2</a:t>
                </a:r>
                <a:r>
                  <a:rPr lang="en-US" altLang="zh-TW" dirty="0"/>
                  <a:t> and use SVM classifier to class them.</a:t>
                </a:r>
                <a:endParaRPr lang="zh-TW" altLang="en-US" baseline="-25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28411"/>
              </a:xfrm>
              <a:blipFill>
                <a:blip r:embed="rId2"/>
                <a:stretch>
                  <a:fillRect l="-1217" t="-9467" b="-5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009137" y="3928906"/>
                <a:ext cx="2588491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800" dirty="0"/>
                  <a:t> = </a:t>
                </a:r>
                <a:r>
                  <a:rPr lang="zh-TW" altLang="en-US" sz="2800" dirty="0"/>
                  <a:t>[[1 2 1 2 1]</a:t>
                </a:r>
              </a:p>
              <a:p>
                <a:r>
                  <a:rPr lang="zh-TW" altLang="en-US" sz="2800" dirty="0"/>
                  <a:t>         [2 1 2 1 2]</a:t>
                </a:r>
              </a:p>
              <a:p>
                <a:r>
                  <a:rPr lang="zh-TW" altLang="en-US" sz="2800" dirty="0"/>
                  <a:t>         [4 2 1 2 </a:t>
                </a:r>
                <a:r>
                  <a:rPr lang="en-US" altLang="zh-TW" sz="2800" dirty="0"/>
                  <a:t>4</a:t>
                </a:r>
                <a:r>
                  <a:rPr lang="zh-TW" altLang="en-US" sz="2800" dirty="0"/>
                  <a:t>]</a:t>
                </a:r>
              </a:p>
              <a:p>
                <a:r>
                  <a:rPr lang="zh-TW" altLang="en-US" sz="2800" dirty="0"/>
                  <a:t>         [0 1 2 1 </a:t>
                </a:r>
                <a:r>
                  <a:rPr lang="en-US" altLang="zh-TW" sz="2800" dirty="0"/>
                  <a:t>0</a:t>
                </a:r>
                <a:r>
                  <a:rPr lang="zh-TW" altLang="en-US" sz="2800" dirty="0"/>
                  <a:t>]</a:t>
                </a:r>
              </a:p>
              <a:p>
                <a:r>
                  <a:rPr lang="zh-TW" altLang="en-US" sz="2800" dirty="0"/>
                  <a:t>         [4 2 1 2 </a:t>
                </a:r>
                <a:r>
                  <a:rPr lang="en-US" altLang="zh-TW" sz="2800" dirty="0"/>
                  <a:t>4</a:t>
                </a:r>
                <a:r>
                  <a:rPr lang="zh-TW" altLang="en-US" sz="2800" dirty="0"/>
                  <a:t>]]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137" y="3928906"/>
                <a:ext cx="2588491" cy="2246769"/>
              </a:xfrm>
              <a:prstGeom prst="rect">
                <a:avLst/>
              </a:prstGeom>
              <a:blipFill>
                <a:blip r:embed="rId3"/>
                <a:stretch>
                  <a:fillRect t="-2717" b="-70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838200" y="3198152"/>
            <a:ext cx="2013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>
                <a:latin typeface="Cambria Math" panose="02040503050406030204" pitchFamily="18" charset="0"/>
              </a:rPr>
              <a:t>clusters = 2</a:t>
            </a:r>
            <a:endParaRPr lang="zh-TW" altLang="en-US" sz="2800" i="1" dirty="0">
              <a:latin typeface="Cambria Math" panose="02040503050406030204" pitchFamily="18" charset="0"/>
            </a:endParaRPr>
          </a:p>
        </p:txBody>
      </p:sp>
      <p:sp>
        <p:nvSpPr>
          <p:cNvPr id="6" name="箭號: 向右 5"/>
          <p:cNvSpPr/>
          <p:nvPr/>
        </p:nvSpPr>
        <p:spPr>
          <a:xfrm>
            <a:off x="5283200" y="4895272"/>
            <a:ext cx="277091" cy="314036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324535" y="4790680"/>
            <a:ext cx="20056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[0, 0, 1, 0, 1]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2005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56509"/>
            <a:ext cx="12252583" cy="31295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87994" y="264979"/>
            <a:ext cx="29903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dirty="0">
                <a:latin typeface="+mj-lt"/>
                <a:ea typeface="+mj-ea"/>
                <a:cs typeface="+mj-cs"/>
              </a:rPr>
              <a:t>Architecture</a:t>
            </a:r>
            <a:endParaRPr lang="zh-TW" alt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87994" y="5638914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主要是應用於文件的二元分類，例如</a:t>
            </a:r>
            <a:r>
              <a:rPr lang="zh-TW" altLang="en-US" sz="2400" dirty="0">
                <a:latin typeface="PMingLiU" panose="02020500000000000000" pitchFamily="18" charset="-120"/>
                <a:ea typeface="PMingLiU" panose="02020500000000000000" pitchFamily="18" charset="-120"/>
              </a:rPr>
              <a:t>：垃圾郵件判斷。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8684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1582" y="0"/>
            <a:ext cx="10515600" cy="1325563"/>
          </a:xfrm>
        </p:spPr>
        <p:txBody>
          <a:bodyPr/>
          <a:lstStyle/>
          <a:p>
            <a:r>
              <a:rPr lang="en-US" altLang="zh-TW" dirty="0"/>
              <a:t>Algorithm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941" y="0"/>
            <a:ext cx="6783859" cy="6858000"/>
          </a:xfrm>
          <a:prstGeom prst="rect">
            <a:avLst/>
          </a:prstGeom>
        </p:spPr>
      </p:pic>
      <p:sp>
        <p:nvSpPr>
          <p:cNvPr id="6" name="左大括弧 5"/>
          <p:cNvSpPr/>
          <p:nvPr/>
        </p:nvSpPr>
        <p:spPr>
          <a:xfrm>
            <a:off x="4161076" y="3001818"/>
            <a:ext cx="262113" cy="932873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左大括弧 6"/>
          <p:cNvSpPr/>
          <p:nvPr/>
        </p:nvSpPr>
        <p:spPr>
          <a:xfrm>
            <a:off x="4161076" y="4087091"/>
            <a:ext cx="262112" cy="1445491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左大括弧 7"/>
          <p:cNvSpPr/>
          <p:nvPr/>
        </p:nvSpPr>
        <p:spPr>
          <a:xfrm>
            <a:off x="4161076" y="5684982"/>
            <a:ext cx="262112" cy="858837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276385" y="2828835"/>
            <a:ext cx="837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Step 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276384" y="5532437"/>
            <a:ext cx="837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Step 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276384" y="4195881"/>
            <a:ext cx="837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Step 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57590" y="3228945"/>
            <a:ext cx="26037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The Classifiers Training 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582" y="4595991"/>
            <a:ext cx="4161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The calculus of the Agreement Matrix 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8440" y="5914345"/>
            <a:ext cx="28200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</a:rPr>
              <a:t>The Document Clustering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3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41" y="0"/>
            <a:ext cx="6783859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63946" y="300326"/>
            <a:ext cx="6096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from sklearn.cluster import KMeans</a:t>
            </a:r>
          </a:p>
          <a:p>
            <a:r>
              <a:rPr lang="zh-TW" altLang="en-US" dirty="0"/>
              <a:t>m = np.zeros((5,5), dtype=int)</a:t>
            </a:r>
          </a:p>
          <a:p>
            <a:r>
              <a:rPr lang="zh-TW" altLang="en-US" dirty="0"/>
              <a:t>class_label = [[0, 1, 1, 0, 1],</a:t>
            </a:r>
          </a:p>
          <a:p>
            <a:r>
              <a:rPr lang="zh-TW" altLang="en-US" dirty="0"/>
              <a:t>               [1, 0, 1, 0, 1],</a:t>
            </a:r>
          </a:p>
          <a:p>
            <a:r>
              <a:rPr lang="zh-TW" altLang="en-US" dirty="0"/>
              <a:t>               [1, 1, 0, 1, 1]]</a:t>
            </a:r>
          </a:p>
          <a:p>
            <a:r>
              <a:rPr lang="zh-TW" altLang="en-US" dirty="0"/>
              <a:t>for o in range(0, 5):</a:t>
            </a:r>
          </a:p>
          <a:p>
            <a:r>
              <a:rPr lang="zh-TW" altLang="en-US" dirty="0"/>
              <a:t>    for j in range(0, 5):</a:t>
            </a:r>
          </a:p>
          <a:p>
            <a:r>
              <a:rPr lang="zh-TW" altLang="en-US" dirty="0"/>
              <a:t>        for b in range(0, 3):</a:t>
            </a:r>
          </a:p>
          <a:p>
            <a:r>
              <a:rPr lang="zh-TW" altLang="en-US" dirty="0"/>
              <a:t>            for i in range(b + 1, 3):</a:t>
            </a:r>
          </a:p>
          <a:p>
            <a:r>
              <a:rPr lang="zh-TW" altLang="en-US" dirty="0"/>
              <a:t>                if class_label[b][o] == class_label[i][j]:</a:t>
            </a:r>
          </a:p>
          <a:p>
            <a:r>
              <a:rPr lang="zh-TW" altLang="en-US" dirty="0"/>
              <a:t>                    print('b = ', b, ' o = ', o, ' and i = ', i, ' j = ', j)</a:t>
            </a:r>
          </a:p>
          <a:p>
            <a:r>
              <a:rPr lang="zh-TW" altLang="en-US" dirty="0"/>
              <a:t>                    print(' before m[', o, '][', j, '] = ', m[o][j])</a:t>
            </a:r>
          </a:p>
          <a:p>
            <a:r>
              <a:rPr lang="zh-TW" altLang="en-US" dirty="0"/>
              <a:t>                    if m[o][j] == 0:</a:t>
            </a:r>
          </a:p>
          <a:p>
            <a:r>
              <a:rPr lang="zh-TW" altLang="en-US" dirty="0"/>
              <a:t>                        m[o][j] = 1</a:t>
            </a:r>
          </a:p>
          <a:p>
            <a:r>
              <a:rPr lang="zh-TW" altLang="en-US" dirty="0"/>
              <a:t>                    else:</a:t>
            </a:r>
          </a:p>
          <a:p>
            <a:r>
              <a:rPr lang="zh-TW" altLang="en-US" dirty="0"/>
              <a:t>                        m[o][j] = m[o][j] * 2</a:t>
            </a:r>
          </a:p>
          <a:p>
            <a:r>
              <a:rPr lang="zh-TW" altLang="en-US" dirty="0"/>
              <a:t>                    print(' after m[', o, '][', j, '] = ', m[o][j])</a:t>
            </a:r>
          </a:p>
          <a:p>
            <a:endParaRPr lang="zh-TW" altLang="en-US" dirty="0"/>
          </a:p>
          <a:p>
            <a:r>
              <a:rPr lang="zh-TW" altLang="en-US" dirty="0"/>
              <a:t>num_clusters = 2</a:t>
            </a:r>
          </a:p>
          <a:p>
            <a:r>
              <a:rPr lang="zh-TW" altLang="en-US" dirty="0"/>
              <a:t>km = KMeans(n_clusters=num_clusters)</a:t>
            </a:r>
          </a:p>
          <a:p>
            <a:r>
              <a:rPr lang="zh-TW" altLang="en-US" dirty="0"/>
              <a:t>km.fit(m)</a:t>
            </a:r>
          </a:p>
          <a:p>
            <a:r>
              <a:rPr lang="zh-TW" altLang="en-US" dirty="0"/>
              <a:t>print(km.labels_.tolist())  </a:t>
            </a:r>
            <a:r>
              <a:rPr lang="en-US" altLang="zh-TW" dirty="0"/>
              <a:t>#[0, 0, 1, 0, 1]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147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Dataset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：路透社</a:t>
            </a:r>
            <a:r>
              <a:rPr lang="en-US" altLang="zh-TW" dirty="0"/>
              <a:t>21578</a:t>
            </a:r>
            <a:r>
              <a:rPr lang="zh-TW" altLang="en-US" dirty="0"/>
              <a:t>，自 </a:t>
            </a:r>
            <a:r>
              <a:rPr lang="en-US" altLang="zh-TW" dirty="0"/>
              <a:t>1987 </a:t>
            </a:r>
            <a:r>
              <a:rPr lang="zh-TW" altLang="en-US" dirty="0"/>
              <a:t>年 </a:t>
            </a:r>
            <a:r>
              <a:rPr lang="en-US" altLang="zh-TW" dirty="0"/>
              <a:t>2 </a:t>
            </a:r>
            <a:r>
              <a:rPr lang="zh-TW" altLang="en-US" dirty="0"/>
              <a:t>月 </a:t>
            </a:r>
            <a:r>
              <a:rPr lang="en-US" altLang="zh-TW" dirty="0"/>
              <a:t>26 </a:t>
            </a:r>
            <a:r>
              <a:rPr lang="zh-TW" altLang="en-US" dirty="0"/>
              <a:t>日到 </a:t>
            </a:r>
            <a:r>
              <a:rPr lang="en-US" altLang="zh-TW" dirty="0"/>
              <a:t>1987 </a:t>
            </a:r>
            <a:r>
              <a:rPr lang="zh-TW" altLang="en-US" dirty="0"/>
              <a:t>年 </a:t>
            </a:r>
            <a:r>
              <a:rPr lang="en-US" altLang="zh-TW" dirty="0"/>
              <a:t>10 </a:t>
            </a:r>
            <a:r>
              <a:rPr lang="zh-TW" altLang="en-US" dirty="0"/>
              <a:t>月</a:t>
            </a:r>
          </a:p>
          <a:p>
            <a:pPr marL="0" indent="0">
              <a:buNone/>
            </a:pPr>
            <a:r>
              <a:rPr lang="en-US" altLang="zh-TW" dirty="0"/>
              <a:t>9 </a:t>
            </a:r>
            <a:r>
              <a:rPr lang="zh-TW" altLang="en-US" dirty="0"/>
              <a:t>日所收集的新聞，共有 </a:t>
            </a:r>
            <a:r>
              <a:rPr lang="en-US" altLang="zh-TW" dirty="0"/>
              <a:t>21,578 </a:t>
            </a:r>
            <a:r>
              <a:rPr lang="zh-TW" altLang="en-US" dirty="0"/>
              <a:t>篇文件。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作者使用了</a:t>
            </a:r>
            <a:r>
              <a:rPr lang="en-US" altLang="zh-TW" dirty="0"/>
              <a:t>135</a:t>
            </a:r>
            <a:r>
              <a:rPr lang="zh-TW" altLang="en-US" dirty="0"/>
              <a:t>類中的其中</a:t>
            </a:r>
            <a:r>
              <a:rPr lang="en-US" altLang="zh-TW" dirty="0"/>
              <a:t>7</a:t>
            </a:r>
            <a:r>
              <a:rPr lang="zh-TW" altLang="en-US" dirty="0"/>
              <a:t>類作為實驗的材料，並分成</a:t>
            </a:r>
            <a:r>
              <a:rPr lang="en-US" altLang="zh-TW" dirty="0"/>
              <a:t>5</a:t>
            </a:r>
            <a:r>
              <a:rPr lang="zh-TW" altLang="en-US" dirty="0"/>
              <a:t>個資料集。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997881"/>
              </p:ext>
            </p:extLst>
          </p:nvPr>
        </p:nvGraphicFramePr>
        <p:xfrm>
          <a:off x="2032000" y="3886200"/>
          <a:ext cx="8127999" cy="23774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465656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131896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09202739"/>
                    </a:ext>
                  </a:extLst>
                </a:gridCol>
              </a:tblGrid>
              <a:tr h="1206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dataset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Class 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Class 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85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DS1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Wheat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Money-FX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92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DS2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Sugar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Interest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181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DS3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Sugar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Crude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130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DS4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Interest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Coffee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76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DS5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Grain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Crude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283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224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633" y="73891"/>
            <a:ext cx="6541608" cy="685800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267854" y="1422400"/>
            <a:ext cx="480177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SVM： Support Vector Machines</a:t>
            </a:r>
          </a:p>
          <a:p>
            <a:r>
              <a:rPr lang="en-US" altLang="zh-TW" dirty="0"/>
              <a:t>KNN ：k Nearest Neighbors</a:t>
            </a:r>
          </a:p>
          <a:p>
            <a:r>
              <a:rPr lang="en-US" altLang="zh-TW" dirty="0"/>
              <a:t>NB ：Naïve Bayes</a:t>
            </a:r>
          </a:p>
          <a:p>
            <a:r>
              <a:rPr lang="en-US" altLang="zh-TW" dirty="0" err="1"/>
              <a:t>Nnet</a:t>
            </a:r>
            <a:r>
              <a:rPr lang="en-US" altLang="zh-TW" dirty="0"/>
              <a:t> ： Neural Networks</a:t>
            </a:r>
          </a:p>
          <a:p>
            <a:endParaRPr lang="en-US" altLang="zh-TW" dirty="0"/>
          </a:p>
          <a:p>
            <a:r>
              <a:rPr lang="en-US" altLang="zh-TW" dirty="0" err="1"/>
              <a:t>EnsB</a:t>
            </a:r>
            <a:r>
              <a:rPr lang="en-US" altLang="zh-TW" dirty="0"/>
              <a:t> ：</a:t>
            </a:r>
            <a:r>
              <a:rPr lang="zh-TW" altLang="en-US" dirty="0"/>
              <a:t>使用上述</a:t>
            </a:r>
            <a:r>
              <a:rPr lang="en-US" altLang="zh-TW" dirty="0"/>
              <a:t>4</a:t>
            </a:r>
            <a:r>
              <a:rPr lang="zh-TW" altLang="en-US" dirty="0"/>
              <a:t>個分類器，並使用投票法。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Ens1 ：</a:t>
            </a:r>
            <a:r>
              <a:rPr lang="zh-TW" altLang="en-US" dirty="0"/>
              <a:t>使用上述</a:t>
            </a:r>
            <a:r>
              <a:rPr lang="en-US" altLang="zh-TW" dirty="0"/>
              <a:t>4</a:t>
            </a:r>
            <a:r>
              <a:rPr lang="zh-TW" altLang="en-US" dirty="0"/>
              <a:t>個分類器，但加入了論文所提的分類架構。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Ens2 ：</a:t>
            </a:r>
            <a:r>
              <a:rPr lang="zh-TW" altLang="en-US" dirty="0"/>
              <a:t>一樣使用了論文所提的分類架構，但是去除了</a:t>
            </a:r>
            <a:r>
              <a:rPr lang="en-US" altLang="zh-TW" dirty="0"/>
              <a:t>Bayes</a:t>
            </a:r>
            <a:r>
              <a:rPr lang="zh-TW" altLang="en-US" dirty="0"/>
              <a:t>分類器。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8" name="文字方塊 7"/>
          <p:cNvSpPr txBox="1"/>
          <p:nvPr/>
        </p:nvSpPr>
        <p:spPr>
          <a:xfrm>
            <a:off x="267855" y="295564"/>
            <a:ext cx="21389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>
                <a:latin typeface="+mj-lt"/>
                <a:ea typeface="+mj-ea"/>
                <a:cs typeface="+mj-cs"/>
              </a:rPr>
              <a:t>Result</a:t>
            </a:r>
            <a:r>
              <a:rPr lang="zh-TW" altLang="en-US" sz="4400" dirty="0">
                <a:latin typeface="+mj-lt"/>
                <a:ea typeface="+mj-ea"/>
                <a:cs typeface="+mj-cs"/>
              </a:rPr>
              <a:t>：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0" y="5115719"/>
            <a:ext cx="4362248" cy="134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98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482" y="0"/>
            <a:ext cx="6638925" cy="6791325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267855" y="295564"/>
            <a:ext cx="21389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>
                <a:latin typeface="+mj-lt"/>
                <a:ea typeface="+mj-ea"/>
                <a:cs typeface="+mj-cs"/>
              </a:rPr>
              <a:t>Result</a:t>
            </a:r>
            <a:r>
              <a:rPr lang="zh-TW" altLang="en-US" sz="4400" dirty="0">
                <a:latin typeface="+mj-lt"/>
                <a:ea typeface="+mj-ea"/>
                <a:cs typeface="+mj-cs"/>
              </a:rPr>
              <a:t>：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267855" y="1065005"/>
            <a:ext cx="48269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/>
              <a:t>比較</a:t>
            </a:r>
            <a:r>
              <a:rPr lang="en-US" altLang="zh-TW" sz="2000" dirty="0"/>
              <a:t>SVM</a:t>
            </a:r>
            <a:r>
              <a:rPr lang="zh-TW" altLang="en-US" sz="2000" dirty="0"/>
              <a:t>，</a:t>
            </a:r>
            <a:r>
              <a:rPr lang="en-US" altLang="zh-TW" sz="2000" dirty="0"/>
              <a:t>ENS2</a:t>
            </a:r>
            <a:r>
              <a:rPr lang="zh-TW" altLang="en-US" sz="2000" dirty="0"/>
              <a:t>，</a:t>
            </a:r>
            <a:r>
              <a:rPr lang="en-US" altLang="zh-TW" sz="2000" dirty="0"/>
              <a:t>ENSB</a:t>
            </a:r>
            <a:r>
              <a:rPr lang="zh-TW" altLang="en-US" sz="2000" dirty="0"/>
              <a:t>的各個效能。</a:t>
            </a:r>
            <a:endParaRPr lang="en-US" altLang="zh-TW" sz="2000" dirty="0"/>
          </a:p>
          <a:p>
            <a:r>
              <a:rPr lang="zh-TW" altLang="en-US" sz="2000" dirty="0"/>
              <a:t>作者提出的</a:t>
            </a:r>
            <a:r>
              <a:rPr lang="en-US" altLang="zh-TW" sz="2000" dirty="0"/>
              <a:t>ENS2</a:t>
            </a:r>
            <a:r>
              <a:rPr lang="zh-TW" altLang="en-US" sz="2000" dirty="0"/>
              <a:t>的架構，在分類的效能上</a:t>
            </a:r>
            <a:endParaRPr lang="en-US" altLang="zh-TW" sz="2000" dirty="0"/>
          </a:p>
          <a:p>
            <a:r>
              <a:rPr lang="zh-TW" altLang="en-US" sz="2000" dirty="0"/>
              <a:t>較其他兩者佳。</a:t>
            </a:r>
          </a:p>
        </p:txBody>
      </p:sp>
      <p:sp>
        <p:nvSpPr>
          <p:cNvPr id="5" name="矩形: 圓角 4"/>
          <p:cNvSpPr/>
          <p:nvPr/>
        </p:nvSpPr>
        <p:spPr>
          <a:xfrm>
            <a:off x="10252364" y="6458817"/>
            <a:ext cx="794327" cy="2375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88" y="3647948"/>
            <a:ext cx="1616096" cy="139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1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697</Words>
  <Application>Microsoft Office PowerPoint</Application>
  <PresentationFormat>寬螢幕</PresentationFormat>
  <Paragraphs>104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4" baseType="lpstr">
      <vt:lpstr>Liberation Sans</vt:lpstr>
      <vt:lpstr>Liberation Sans Narrow</vt:lpstr>
      <vt:lpstr>Liberation Serif</vt:lpstr>
      <vt:lpstr>微軟正黑體</vt:lpstr>
      <vt:lpstr>PMingLiU</vt:lpstr>
      <vt:lpstr>PMingLiU</vt:lpstr>
      <vt:lpstr>Arial</vt:lpstr>
      <vt:lpstr>Calibri</vt:lpstr>
      <vt:lpstr>Calibri Light</vt:lpstr>
      <vt:lpstr>Cambria Math</vt:lpstr>
      <vt:lpstr>Mangal</vt:lpstr>
      <vt:lpstr>Tahoma</vt:lpstr>
      <vt:lpstr>Office 佈景主題</vt:lpstr>
      <vt:lpstr> Proceedings of the 8th international conference on machine learning and data mining in pattern recognition(MLDM), pages. 525–539, L. Moreira-Matias, J. Mendes-Moreira, J. Gama, and P. Brazdil(2012) </vt:lpstr>
      <vt:lpstr>Abstract</vt:lpstr>
      <vt:lpstr>Step 1 The Classifiers Training </vt:lpstr>
      <vt:lpstr>Step 2  The calculus of the Agreement Matrix </vt:lpstr>
      <vt:lpstr>Step 3 The Document Clustering </vt:lpstr>
      <vt:lpstr>PowerPoint 簡報</vt:lpstr>
      <vt:lpstr>Algorithm</vt:lpstr>
      <vt:lpstr>PowerPoint 簡報</vt:lpstr>
      <vt:lpstr>Result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104</cp:revision>
  <dcterms:created xsi:type="dcterms:W3CDTF">2017-03-06T07:13:45Z</dcterms:created>
  <dcterms:modified xsi:type="dcterms:W3CDTF">2017-06-13T11:20:16Z</dcterms:modified>
</cp:coreProperties>
</file>