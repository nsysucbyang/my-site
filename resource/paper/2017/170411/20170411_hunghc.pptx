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3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C524A8BA-3232-46E0-A55B-0A526F6D3F2E}" type="datetimeFigureOut">
              <a:rPr lang="zh-TW" altLang="en-US" smtClean="0"/>
              <a:t>2017/4/11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B2662CA-593B-4CDB-BE4B-24A7993D0A4E}" type="slidenum">
              <a:rPr lang="zh-TW" altLang="en-US" smtClean="0"/>
              <a:t>‹#›</a:t>
            </a:fld>
            <a:endParaRPr lang="zh-TW" altLang="en-US"/>
          </a:p>
        </p:txBody>
      </p:sp>
    </p:spTree>
    <p:extLst>
      <p:ext uri="{BB962C8B-B14F-4D97-AF65-F5344CB8AC3E}">
        <p14:creationId xmlns:p14="http://schemas.microsoft.com/office/powerpoint/2010/main" val="3528009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C524A8BA-3232-46E0-A55B-0A526F6D3F2E}" type="datetimeFigureOut">
              <a:rPr lang="zh-TW" altLang="en-US" smtClean="0"/>
              <a:t>2017/4/11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B2662CA-593B-4CDB-BE4B-24A7993D0A4E}" type="slidenum">
              <a:rPr lang="zh-TW" altLang="en-US" smtClean="0"/>
              <a:t>‹#›</a:t>
            </a:fld>
            <a:endParaRPr lang="zh-TW" altLang="en-US"/>
          </a:p>
        </p:txBody>
      </p:sp>
    </p:spTree>
    <p:extLst>
      <p:ext uri="{BB962C8B-B14F-4D97-AF65-F5344CB8AC3E}">
        <p14:creationId xmlns:p14="http://schemas.microsoft.com/office/powerpoint/2010/main" val="3870056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C524A8BA-3232-46E0-A55B-0A526F6D3F2E}" type="datetimeFigureOut">
              <a:rPr lang="zh-TW" altLang="en-US" smtClean="0"/>
              <a:t>2017/4/11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B2662CA-593B-4CDB-BE4B-24A7993D0A4E}" type="slidenum">
              <a:rPr lang="zh-TW" altLang="en-US" smtClean="0"/>
              <a:t>‹#›</a:t>
            </a:fld>
            <a:endParaRPr lang="zh-TW" altLang="en-US"/>
          </a:p>
        </p:txBody>
      </p:sp>
    </p:spTree>
    <p:extLst>
      <p:ext uri="{BB962C8B-B14F-4D97-AF65-F5344CB8AC3E}">
        <p14:creationId xmlns:p14="http://schemas.microsoft.com/office/powerpoint/2010/main" val="1561210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C524A8BA-3232-46E0-A55B-0A526F6D3F2E}" type="datetimeFigureOut">
              <a:rPr lang="zh-TW" altLang="en-US" smtClean="0"/>
              <a:t>2017/4/11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B2662CA-593B-4CDB-BE4B-24A7993D0A4E}" type="slidenum">
              <a:rPr lang="zh-TW" altLang="en-US" smtClean="0"/>
              <a:t>‹#›</a:t>
            </a:fld>
            <a:endParaRPr lang="zh-TW" altLang="en-US"/>
          </a:p>
        </p:txBody>
      </p:sp>
    </p:spTree>
    <p:extLst>
      <p:ext uri="{BB962C8B-B14F-4D97-AF65-F5344CB8AC3E}">
        <p14:creationId xmlns:p14="http://schemas.microsoft.com/office/powerpoint/2010/main" val="3276262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C524A8BA-3232-46E0-A55B-0A526F6D3F2E}" type="datetimeFigureOut">
              <a:rPr lang="zh-TW" altLang="en-US" smtClean="0"/>
              <a:t>2017/4/11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BB2662CA-593B-4CDB-BE4B-24A7993D0A4E}" type="slidenum">
              <a:rPr lang="zh-TW" altLang="en-US" smtClean="0"/>
              <a:t>‹#›</a:t>
            </a:fld>
            <a:endParaRPr lang="zh-TW" altLang="en-US"/>
          </a:p>
        </p:txBody>
      </p:sp>
    </p:spTree>
    <p:extLst>
      <p:ext uri="{BB962C8B-B14F-4D97-AF65-F5344CB8AC3E}">
        <p14:creationId xmlns:p14="http://schemas.microsoft.com/office/powerpoint/2010/main" val="2208199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C524A8BA-3232-46E0-A55B-0A526F6D3F2E}" type="datetimeFigureOut">
              <a:rPr lang="zh-TW" altLang="en-US" smtClean="0"/>
              <a:t>2017/4/11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BB2662CA-593B-4CDB-BE4B-24A7993D0A4E}" type="slidenum">
              <a:rPr lang="zh-TW" altLang="en-US" smtClean="0"/>
              <a:t>‹#›</a:t>
            </a:fld>
            <a:endParaRPr lang="zh-TW" altLang="en-US"/>
          </a:p>
        </p:txBody>
      </p:sp>
    </p:spTree>
    <p:extLst>
      <p:ext uri="{BB962C8B-B14F-4D97-AF65-F5344CB8AC3E}">
        <p14:creationId xmlns:p14="http://schemas.microsoft.com/office/powerpoint/2010/main" val="169780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524A8BA-3232-46E0-A55B-0A526F6D3F2E}" type="datetimeFigureOut">
              <a:rPr lang="zh-TW" altLang="en-US" smtClean="0"/>
              <a:t>2017/4/11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B2662CA-593B-4CDB-BE4B-24A7993D0A4E}" type="slidenum">
              <a:rPr lang="zh-TW" altLang="en-US" smtClean="0"/>
              <a:t>‹#›</a:t>
            </a:fld>
            <a:endParaRPr lang="zh-TW" altLang="en-US"/>
          </a:p>
        </p:txBody>
      </p:sp>
    </p:spTree>
    <p:extLst>
      <p:ext uri="{BB962C8B-B14F-4D97-AF65-F5344CB8AC3E}">
        <p14:creationId xmlns:p14="http://schemas.microsoft.com/office/powerpoint/2010/main" val="498792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C524A8BA-3232-46E0-A55B-0A526F6D3F2E}" type="datetimeFigureOut">
              <a:rPr lang="zh-TW" altLang="en-US" smtClean="0"/>
              <a:t>2017/4/11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B2662CA-593B-4CDB-BE4B-24A7993D0A4E}" type="slidenum">
              <a:rPr lang="zh-TW" altLang="en-US" smtClean="0"/>
              <a:t>‹#›</a:t>
            </a:fld>
            <a:endParaRPr lang="zh-TW" altLang="en-US"/>
          </a:p>
        </p:txBody>
      </p:sp>
    </p:spTree>
    <p:extLst>
      <p:ext uri="{BB962C8B-B14F-4D97-AF65-F5344CB8AC3E}">
        <p14:creationId xmlns:p14="http://schemas.microsoft.com/office/powerpoint/2010/main" val="3286603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C524A8BA-3232-46E0-A55B-0A526F6D3F2E}" type="datetimeFigureOut">
              <a:rPr lang="zh-TW" altLang="en-US" smtClean="0"/>
              <a:t>2017/4/11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B2662CA-593B-4CDB-BE4B-24A7993D0A4E}" type="slidenum">
              <a:rPr lang="zh-TW" altLang="en-US" smtClean="0"/>
              <a:t>‹#›</a:t>
            </a:fld>
            <a:endParaRPr lang="zh-TW" altLang="en-US"/>
          </a:p>
        </p:txBody>
      </p:sp>
    </p:spTree>
    <p:extLst>
      <p:ext uri="{BB962C8B-B14F-4D97-AF65-F5344CB8AC3E}">
        <p14:creationId xmlns:p14="http://schemas.microsoft.com/office/powerpoint/2010/main" val="3763225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C524A8BA-3232-46E0-A55B-0A526F6D3F2E}" type="datetimeFigureOut">
              <a:rPr lang="zh-TW" altLang="en-US" smtClean="0"/>
              <a:t>2017/4/11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B2662CA-593B-4CDB-BE4B-24A7993D0A4E}" type="slidenum">
              <a:rPr lang="zh-TW" altLang="en-US" smtClean="0"/>
              <a:t>‹#›</a:t>
            </a:fld>
            <a:endParaRPr lang="zh-TW" altLang="en-US"/>
          </a:p>
        </p:txBody>
      </p:sp>
    </p:spTree>
    <p:extLst>
      <p:ext uri="{BB962C8B-B14F-4D97-AF65-F5344CB8AC3E}">
        <p14:creationId xmlns:p14="http://schemas.microsoft.com/office/powerpoint/2010/main" val="3947034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C524A8BA-3232-46E0-A55B-0A526F6D3F2E}" type="datetimeFigureOut">
              <a:rPr lang="zh-TW" altLang="en-US" smtClean="0"/>
              <a:t>2017/4/11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B2662CA-593B-4CDB-BE4B-24A7993D0A4E}" type="slidenum">
              <a:rPr lang="zh-TW" altLang="en-US" smtClean="0"/>
              <a:t>‹#›</a:t>
            </a:fld>
            <a:endParaRPr lang="zh-TW" altLang="en-US"/>
          </a:p>
        </p:txBody>
      </p:sp>
    </p:spTree>
    <p:extLst>
      <p:ext uri="{BB962C8B-B14F-4D97-AF65-F5344CB8AC3E}">
        <p14:creationId xmlns:p14="http://schemas.microsoft.com/office/powerpoint/2010/main" val="2094653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24A8BA-3232-46E0-A55B-0A526F6D3F2E}" type="datetimeFigureOut">
              <a:rPr lang="zh-TW" altLang="en-US" smtClean="0"/>
              <a:t>2017/4/11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2662CA-593B-4CDB-BE4B-24A7993D0A4E}" type="slidenum">
              <a:rPr lang="zh-TW" altLang="en-US" smtClean="0"/>
              <a:t>‹#›</a:t>
            </a:fld>
            <a:endParaRPr lang="zh-TW" altLang="en-US"/>
          </a:p>
        </p:txBody>
      </p:sp>
    </p:spTree>
    <p:extLst>
      <p:ext uri="{BB962C8B-B14F-4D97-AF65-F5344CB8AC3E}">
        <p14:creationId xmlns:p14="http://schemas.microsoft.com/office/powerpoint/2010/main" val="3296024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4.png"/><Relationship Id="rId10" Type="http://schemas.openxmlformats.org/officeDocument/2006/relationships/image" Target="../media/image19.png"/><Relationship Id="rId4" Type="http://schemas.openxmlformats.org/officeDocument/2006/relationships/image" Target="../media/image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0.JPG"/><Relationship Id="rId1" Type="http://schemas.openxmlformats.org/officeDocument/2006/relationships/slideLayout" Target="../slideLayouts/slideLayout2.xml"/><Relationship Id="rId5" Type="http://schemas.openxmlformats.org/officeDocument/2006/relationships/image" Target="../media/image21.JP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987779" y="801511"/>
            <a:ext cx="10216443" cy="1614312"/>
          </a:xfrm>
        </p:spPr>
        <p:txBody>
          <a:bodyPr>
            <a:noAutofit/>
          </a:bodyPr>
          <a:lstStyle/>
          <a:p>
            <a:r>
              <a:rPr lang="en-US" altLang="zh-TW" sz="3400" dirty="0">
                <a:latin typeface="Times New Roman" panose="02020603050405020304" pitchFamily="18" charset="0"/>
                <a:cs typeface="Times New Roman" panose="02020603050405020304" pitchFamily="18" charset="0"/>
              </a:rPr>
              <a:t>CLUSTAL W: improving the sensitivity of progressive</a:t>
            </a:r>
            <a:br>
              <a:rPr lang="en-US" altLang="zh-TW" sz="3400" dirty="0">
                <a:latin typeface="Times New Roman" panose="02020603050405020304" pitchFamily="18" charset="0"/>
                <a:cs typeface="Times New Roman" panose="02020603050405020304" pitchFamily="18" charset="0"/>
              </a:rPr>
            </a:br>
            <a:r>
              <a:rPr lang="en-US" altLang="zh-TW" sz="3400" dirty="0">
                <a:latin typeface="Times New Roman" panose="02020603050405020304" pitchFamily="18" charset="0"/>
                <a:cs typeface="Times New Roman" panose="02020603050405020304" pitchFamily="18" charset="0"/>
              </a:rPr>
              <a:t>multiple sequence alignment through sequence weighting,</a:t>
            </a:r>
            <a:br>
              <a:rPr lang="en-US" altLang="zh-TW" sz="3400" dirty="0">
                <a:latin typeface="Times New Roman" panose="02020603050405020304" pitchFamily="18" charset="0"/>
                <a:cs typeface="Times New Roman" panose="02020603050405020304" pitchFamily="18" charset="0"/>
              </a:rPr>
            </a:br>
            <a:r>
              <a:rPr lang="en-US" altLang="zh-TW" sz="3400" dirty="0">
                <a:latin typeface="Times New Roman" panose="02020603050405020304" pitchFamily="18" charset="0"/>
                <a:cs typeface="Times New Roman" panose="02020603050405020304" pitchFamily="18" charset="0"/>
              </a:rPr>
              <a:t>position-specific gap penalties and weight matrix choice</a:t>
            </a:r>
            <a:endParaRPr lang="zh-TW" altLang="en-US" sz="34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524000" y="2878667"/>
            <a:ext cx="9144000" cy="1433689"/>
          </a:xfrm>
        </p:spPr>
        <p:txBody>
          <a:bodyPr/>
          <a:lstStyle/>
          <a:p>
            <a:r>
              <a:rPr lang="en-US" altLang="zh-TW" dirty="0"/>
              <a:t>Julie D. Thompson</a:t>
            </a:r>
          </a:p>
          <a:p>
            <a:r>
              <a:rPr lang="en-US" altLang="zh-TW" dirty="0"/>
              <a:t>Desmond G. Higgins </a:t>
            </a:r>
          </a:p>
          <a:p>
            <a:r>
              <a:rPr lang="en-US" altLang="zh-TW" dirty="0"/>
              <a:t>Toby J. Gibson</a:t>
            </a:r>
          </a:p>
        </p:txBody>
      </p:sp>
      <p:sp>
        <p:nvSpPr>
          <p:cNvPr id="4" name="文字方塊 3"/>
          <p:cNvSpPr txBox="1"/>
          <p:nvPr/>
        </p:nvSpPr>
        <p:spPr>
          <a:xfrm>
            <a:off x="3324344" y="4470397"/>
            <a:ext cx="5543312" cy="646331"/>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Nucleic Acids Research, 1994, Vol. 22, No. 22 4673-4680</a:t>
            </a:r>
            <a:endParaRPr lang="zh-TW" altLang="en-US" dirty="0">
              <a:latin typeface="Times New Roman" panose="02020603050405020304" pitchFamily="18" charset="0"/>
              <a:cs typeface="Times New Roman" panose="02020603050405020304" pitchFamily="18" charset="0"/>
            </a:endParaRPr>
          </a:p>
          <a:p>
            <a:endParaRPr lang="zh-TW" altLang="en-US" dirty="0">
              <a:latin typeface="Times New Roman" panose="02020603050405020304" pitchFamily="18" charset="0"/>
              <a:cs typeface="Times New Roman" panose="02020603050405020304" pitchFamily="18" charset="0"/>
            </a:endParaRPr>
          </a:p>
        </p:txBody>
      </p:sp>
      <p:sp>
        <p:nvSpPr>
          <p:cNvPr id="5" name="文字方塊 4"/>
          <p:cNvSpPr txBox="1"/>
          <p:nvPr/>
        </p:nvSpPr>
        <p:spPr>
          <a:xfrm>
            <a:off x="9719732" y="6175021"/>
            <a:ext cx="1670073"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Date: 2017/4/11</a:t>
            </a:r>
            <a:endParaRPr lang="zh-TW" altLang="en-US" dirty="0">
              <a:latin typeface="Times New Roman" panose="02020603050405020304" pitchFamily="18" charset="0"/>
              <a:cs typeface="Times New Roman" panose="02020603050405020304" pitchFamily="18" charset="0"/>
            </a:endParaRPr>
          </a:p>
        </p:txBody>
      </p:sp>
      <p:sp>
        <p:nvSpPr>
          <p:cNvPr id="6" name="文字方塊 5"/>
          <p:cNvSpPr txBox="1"/>
          <p:nvPr/>
        </p:nvSpPr>
        <p:spPr>
          <a:xfrm>
            <a:off x="4260401" y="5116728"/>
            <a:ext cx="3671198"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Hsiu-</a:t>
            </a:r>
            <a:r>
              <a:rPr lang="en-US" altLang="zh-TW" sz="2400" dirty="0" err="1">
                <a:latin typeface="Times New Roman" panose="02020603050405020304" pitchFamily="18" charset="0"/>
                <a:cs typeface="Times New Roman" panose="02020603050405020304" pitchFamily="18" charset="0"/>
              </a:rPr>
              <a:t>Chieh</a:t>
            </a:r>
            <a:r>
              <a:rPr lang="en-US" altLang="zh-TW" sz="2400" dirty="0">
                <a:latin typeface="Times New Roman" panose="02020603050405020304" pitchFamily="18" charset="0"/>
                <a:cs typeface="Times New Roman" panose="02020603050405020304" pitchFamily="18" charset="0"/>
              </a:rPr>
              <a:t> Hung</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8434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1140178" y="1512712"/>
            <a:ext cx="9911644" cy="452431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The sensitivity of the commonly used progressive multiple sequence alignment method has been greatly improved for the alignment of divergent protein sequences. Firstly, individual weights are assigned to each sequence in a partial alignment in order to down-weight near-duplicate sequences and up-weight the most divergent ones. Secondly, amino acid substitution matrices are varied at different alignment stages according to the divergence of the sequences to be aligned. Thirdly, residue-specific gap penalties and locally reduced gap penalties in hydrophilic regions encourage new gaps in potential loop regions rather than regular secondary structure. Fourthly, positions in early alignments where gaps have been opened receive locally reduced gap penalties to encourage the opening up of new gaps at these positions. These modifications are incorporated into a new program, CLUSTAL W which is freely available.</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4226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Pairwise Alignment</a:t>
            </a:r>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16678193"/>
              </p:ext>
            </p:extLst>
          </p:nvPr>
        </p:nvGraphicFramePr>
        <p:xfrm>
          <a:off x="2032000" y="1916466"/>
          <a:ext cx="8128000" cy="2858735"/>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xmlns="" val="1155465239"/>
                    </a:ext>
                  </a:extLst>
                </a:gridCol>
                <a:gridCol w="1625600">
                  <a:extLst>
                    <a:ext uri="{9D8B030D-6E8A-4147-A177-3AD203B41FA5}">
                      <a16:colId xmlns:a16="http://schemas.microsoft.com/office/drawing/2014/main" xmlns="" val="2219819070"/>
                    </a:ext>
                  </a:extLst>
                </a:gridCol>
                <a:gridCol w="1625600">
                  <a:extLst>
                    <a:ext uri="{9D8B030D-6E8A-4147-A177-3AD203B41FA5}">
                      <a16:colId xmlns:a16="http://schemas.microsoft.com/office/drawing/2014/main" xmlns="" val="13515424"/>
                    </a:ext>
                  </a:extLst>
                </a:gridCol>
                <a:gridCol w="1625600">
                  <a:extLst>
                    <a:ext uri="{9D8B030D-6E8A-4147-A177-3AD203B41FA5}">
                      <a16:colId xmlns:a16="http://schemas.microsoft.com/office/drawing/2014/main" xmlns="" val="2156522820"/>
                    </a:ext>
                  </a:extLst>
                </a:gridCol>
                <a:gridCol w="1625600">
                  <a:extLst>
                    <a:ext uri="{9D8B030D-6E8A-4147-A177-3AD203B41FA5}">
                      <a16:colId xmlns:a16="http://schemas.microsoft.com/office/drawing/2014/main" xmlns="" val="901227164"/>
                    </a:ext>
                  </a:extLst>
                </a:gridCol>
              </a:tblGrid>
              <a:tr h="571747">
                <a:tc>
                  <a:txBody>
                    <a:bodyPr/>
                    <a:lstStyle/>
                    <a:p>
                      <a:pPr algn="ct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A</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B</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C</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D</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93493312"/>
                  </a:ext>
                </a:extLst>
              </a:tr>
              <a:tr h="571747">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17</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21</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27</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19765386"/>
                  </a:ext>
                </a:extLst>
              </a:tr>
              <a:tr h="571747">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B</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12</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18</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987875359"/>
                  </a:ext>
                </a:extLst>
              </a:tr>
              <a:tr h="571747">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C</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14</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98231523"/>
                  </a:ext>
                </a:extLst>
              </a:tr>
              <a:tr h="571747">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D</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b="0" i="0" dirty="0">
                          <a:solidFill>
                            <a:schemeClr val="tx1"/>
                          </a:solidFill>
                          <a:latin typeface="Times New Roman" panose="02020603050405020304" pitchFamily="18" charset="0"/>
                          <a:cs typeface="Times New Roman" panose="02020603050405020304" pitchFamily="18" charset="0"/>
                        </a:rPr>
                        <a:t>-</a:t>
                      </a:r>
                      <a:endParaRPr lang="zh-TW" altLang="en-US" sz="24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33239567"/>
                  </a:ext>
                </a:extLst>
              </a:tr>
            </a:tbl>
          </a:graphicData>
        </a:graphic>
      </p:graphicFrame>
    </p:spTree>
    <p:extLst>
      <p:ext uri="{BB962C8B-B14F-4D97-AF65-F5344CB8AC3E}">
        <p14:creationId xmlns:p14="http://schemas.microsoft.com/office/powerpoint/2010/main" val="2923202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Neighbor-joining</a:t>
            </a:r>
            <a:endParaRPr lang="zh-TW" altLang="en-US" dirty="0">
              <a:latin typeface="Times New Roman" panose="02020603050405020304" pitchFamily="18" charset="0"/>
              <a:cs typeface="Times New Roman" panose="02020603050405020304"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3459762842"/>
              </p:ext>
            </p:extLst>
          </p:nvPr>
        </p:nvGraphicFramePr>
        <p:xfrm>
          <a:off x="745067" y="1343377"/>
          <a:ext cx="2754490" cy="1828800"/>
        </p:xfrm>
        <a:graphic>
          <a:graphicData uri="http://schemas.openxmlformats.org/drawingml/2006/table">
            <a:tbl>
              <a:tblPr firstRow="1" bandRow="1">
                <a:tableStyleId>{5C22544A-7EE6-4342-B048-85BDC9FD1C3A}</a:tableStyleId>
              </a:tblPr>
              <a:tblGrid>
                <a:gridCol w="550898">
                  <a:extLst>
                    <a:ext uri="{9D8B030D-6E8A-4147-A177-3AD203B41FA5}">
                      <a16:colId xmlns:a16="http://schemas.microsoft.com/office/drawing/2014/main" xmlns="" val="1155465239"/>
                    </a:ext>
                  </a:extLst>
                </a:gridCol>
                <a:gridCol w="550898">
                  <a:extLst>
                    <a:ext uri="{9D8B030D-6E8A-4147-A177-3AD203B41FA5}">
                      <a16:colId xmlns:a16="http://schemas.microsoft.com/office/drawing/2014/main" xmlns="" val="2219819070"/>
                    </a:ext>
                  </a:extLst>
                </a:gridCol>
                <a:gridCol w="550898">
                  <a:extLst>
                    <a:ext uri="{9D8B030D-6E8A-4147-A177-3AD203B41FA5}">
                      <a16:colId xmlns:a16="http://schemas.microsoft.com/office/drawing/2014/main" xmlns="" val="13515424"/>
                    </a:ext>
                  </a:extLst>
                </a:gridCol>
                <a:gridCol w="550898">
                  <a:extLst>
                    <a:ext uri="{9D8B030D-6E8A-4147-A177-3AD203B41FA5}">
                      <a16:colId xmlns:a16="http://schemas.microsoft.com/office/drawing/2014/main" xmlns="" val="2156522820"/>
                    </a:ext>
                  </a:extLst>
                </a:gridCol>
                <a:gridCol w="550898">
                  <a:extLst>
                    <a:ext uri="{9D8B030D-6E8A-4147-A177-3AD203B41FA5}">
                      <a16:colId xmlns:a16="http://schemas.microsoft.com/office/drawing/2014/main" xmlns="" val="901227164"/>
                    </a:ext>
                  </a:extLst>
                </a:gridCol>
              </a:tblGrid>
              <a:tr h="345440">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C</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D</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93493312"/>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21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27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19765386"/>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987875359"/>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C</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98231523"/>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D</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33239567"/>
                  </a:ext>
                </a:extLst>
              </a:tr>
            </a:tbl>
          </a:graphicData>
        </a:graphic>
      </p:graphicFrame>
      <p:grpSp>
        <p:nvGrpSpPr>
          <p:cNvPr id="11" name="群組 10"/>
          <p:cNvGrpSpPr/>
          <p:nvPr/>
        </p:nvGrpSpPr>
        <p:grpSpPr>
          <a:xfrm>
            <a:off x="3592690" y="1690688"/>
            <a:ext cx="2996269" cy="1477328"/>
            <a:chOff x="3592690" y="1690688"/>
            <a:chExt cx="2996269" cy="1477328"/>
          </a:xfrm>
        </p:grpSpPr>
        <mc:AlternateContent xmlns:mc="http://schemas.openxmlformats.org/markup-compatibility/2006" xmlns:a14="http://schemas.microsoft.com/office/drawing/2010/main">
          <mc:Choice Requires="a14">
            <p:sp>
              <p:nvSpPr>
                <p:cNvPr id="7" name="文字方塊 6"/>
                <p:cNvSpPr txBox="1"/>
                <p:nvPr/>
              </p:nvSpPr>
              <p:spPr>
                <a:xfrm>
                  <a:off x="3592690" y="2429352"/>
                  <a:ext cx="2996269"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3</m:t>
                          </m:r>
                        </m:sub>
                      </m:sSub>
                    </m:oMath>
                  </a14:m>
                  <a:r>
                    <a:rPr lang="en-US" altLang="zh-TW" dirty="0"/>
                    <a:t> = (21+12+14) / (n-2) = </a:t>
                  </a:r>
                  <a:r>
                    <a:rPr lang="en-US" altLang="zh-TW" dirty="0">
                      <a:solidFill>
                        <a:srgbClr val="FF0000"/>
                      </a:solidFill>
                    </a:rPr>
                    <a:t>23.5</a:t>
                  </a:r>
                  <a:endParaRPr lang="zh-TW" altLang="en-US" dirty="0">
                    <a:solidFill>
                      <a:srgbClr val="FF0000"/>
                    </a:solidFill>
                  </a:endParaRPr>
                </a:p>
              </p:txBody>
            </p:sp>
          </mc:Choice>
          <mc:Fallback xmlns="">
            <p:sp>
              <p:nvSpPr>
                <p:cNvPr id="7" name="文字方塊 6"/>
                <p:cNvSpPr txBox="1">
                  <a:spLocks noRot="1" noChangeAspect="1" noMove="1" noResize="1" noEditPoints="1" noAdjustHandles="1" noChangeArrowheads="1" noChangeShapeType="1" noTextEdit="1"/>
                </p:cNvSpPr>
                <p:nvPr/>
              </p:nvSpPr>
              <p:spPr>
                <a:xfrm>
                  <a:off x="3592690" y="2429352"/>
                  <a:ext cx="2996269" cy="369332"/>
                </a:xfrm>
                <a:prstGeom prst="rect">
                  <a:avLst/>
                </a:prstGeom>
                <a:blipFill>
                  <a:blip r:embed="rId2"/>
                  <a:stretch>
                    <a:fillRect t="-10000" r="-813" b="-26667"/>
                  </a:stretch>
                </a:blipFill>
              </p:spPr>
              <p:txBody>
                <a:bodyPr/>
                <a:lstStyle/>
                <a:p>
                  <a:r>
                    <a:rPr lang="zh-TW" altLang="en-US">
                      <a:noFill/>
                    </a:rPr>
                    <a:t> </a:t>
                  </a:r>
                </a:p>
              </p:txBody>
            </p:sp>
          </mc:Fallback>
        </mc:AlternateContent>
        <p:grpSp>
          <p:nvGrpSpPr>
            <p:cNvPr id="10" name="群組 9"/>
            <p:cNvGrpSpPr/>
            <p:nvPr/>
          </p:nvGrpSpPr>
          <p:grpSpPr>
            <a:xfrm>
              <a:off x="3592690" y="1690688"/>
              <a:ext cx="2996269" cy="1477328"/>
              <a:chOff x="3592690" y="1690688"/>
              <a:chExt cx="2996269" cy="1477328"/>
            </a:xfrm>
          </p:grpSpPr>
          <mc:AlternateContent xmlns:mc="http://schemas.openxmlformats.org/markup-compatibility/2006" xmlns:a14="http://schemas.microsoft.com/office/drawing/2010/main">
            <mc:Choice Requires="a14">
              <p:sp>
                <p:nvSpPr>
                  <p:cNvPr id="5" name="文字方塊 4"/>
                  <p:cNvSpPr txBox="1"/>
                  <p:nvPr/>
                </p:nvSpPr>
                <p:spPr>
                  <a:xfrm>
                    <a:off x="3592690" y="1690688"/>
                    <a:ext cx="2990947"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1</m:t>
                            </m:r>
                          </m:sub>
                        </m:sSub>
                      </m:oMath>
                    </a14:m>
                    <a:r>
                      <a:rPr lang="en-US" altLang="zh-TW" dirty="0"/>
                      <a:t> = (17+21+27) / (n-2) = </a:t>
                    </a:r>
                    <a:r>
                      <a:rPr lang="en-US" altLang="zh-TW" dirty="0">
                        <a:solidFill>
                          <a:srgbClr val="FF0000"/>
                        </a:solidFill>
                      </a:rPr>
                      <a:t>32.5</a:t>
                    </a:r>
                    <a:endParaRPr lang="zh-TW" altLang="en-US" dirty="0">
                      <a:solidFill>
                        <a:srgbClr val="FF0000"/>
                      </a:solidFill>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3592690" y="1690688"/>
                    <a:ext cx="2990947" cy="369332"/>
                  </a:xfrm>
                  <a:prstGeom prst="rect">
                    <a:avLst/>
                  </a:prstGeom>
                  <a:blipFill>
                    <a:blip r:embed="rId3"/>
                    <a:stretch>
                      <a:fillRect t="-8197" r="-815"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3592690" y="2060020"/>
                    <a:ext cx="2996269"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2</m:t>
                            </m:r>
                          </m:sub>
                        </m:sSub>
                      </m:oMath>
                    </a14:m>
                    <a:r>
                      <a:rPr lang="en-US" altLang="zh-TW" dirty="0"/>
                      <a:t> = (17+12+18) / (n-2) = </a:t>
                    </a:r>
                    <a:r>
                      <a:rPr lang="en-US" altLang="zh-TW" dirty="0">
                        <a:solidFill>
                          <a:srgbClr val="FF0000"/>
                        </a:solidFill>
                      </a:rPr>
                      <a:t>23.5</a:t>
                    </a:r>
                    <a:endParaRPr lang="zh-TW" altLang="en-US" dirty="0">
                      <a:solidFill>
                        <a:srgbClr val="FF0000"/>
                      </a:solidFill>
                    </a:endParaRPr>
                  </a:p>
                </p:txBody>
              </p:sp>
            </mc:Choice>
            <mc:Fallback xmlns="">
              <p:sp>
                <p:nvSpPr>
                  <p:cNvPr id="6" name="文字方塊 5"/>
                  <p:cNvSpPr txBox="1">
                    <a:spLocks noRot="1" noChangeAspect="1" noMove="1" noResize="1" noEditPoints="1" noAdjustHandles="1" noChangeArrowheads="1" noChangeShapeType="1" noTextEdit="1"/>
                  </p:cNvSpPr>
                  <p:nvPr/>
                </p:nvSpPr>
                <p:spPr>
                  <a:xfrm>
                    <a:off x="3592690" y="2060020"/>
                    <a:ext cx="2996269" cy="369332"/>
                  </a:xfrm>
                  <a:prstGeom prst="rect">
                    <a:avLst/>
                  </a:prstGeom>
                  <a:blipFill>
                    <a:blip r:embed="rId4"/>
                    <a:stretch>
                      <a:fillRect t="-9836" r="-813"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3592690" y="2798684"/>
                    <a:ext cx="2996269"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4</m:t>
                            </m:r>
                          </m:sub>
                        </m:sSub>
                      </m:oMath>
                    </a14:m>
                    <a:r>
                      <a:rPr lang="en-US" altLang="zh-TW" dirty="0"/>
                      <a:t> = (27+18+14) / (n-2) = </a:t>
                    </a:r>
                    <a:r>
                      <a:rPr lang="en-US" altLang="zh-TW" dirty="0">
                        <a:solidFill>
                          <a:srgbClr val="FF0000"/>
                        </a:solidFill>
                      </a:rPr>
                      <a:t>29.5</a:t>
                    </a:r>
                    <a:endParaRPr lang="zh-TW" altLang="en-US" dirty="0">
                      <a:solidFill>
                        <a:srgbClr val="FF0000"/>
                      </a:solidFill>
                    </a:endParaRPr>
                  </a:p>
                </p:txBody>
              </p:sp>
            </mc:Choice>
            <mc:Fallback xmlns="">
              <p:sp>
                <p:nvSpPr>
                  <p:cNvPr id="8" name="文字方塊 7"/>
                  <p:cNvSpPr txBox="1">
                    <a:spLocks noRot="1" noChangeAspect="1" noMove="1" noResize="1" noEditPoints="1" noAdjustHandles="1" noChangeArrowheads="1" noChangeShapeType="1" noTextEdit="1"/>
                  </p:cNvSpPr>
                  <p:nvPr/>
                </p:nvSpPr>
                <p:spPr>
                  <a:xfrm>
                    <a:off x="3592690" y="2798684"/>
                    <a:ext cx="2996269" cy="369332"/>
                  </a:xfrm>
                  <a:prstGeom prst="rect">
                    <a:avLst/>
                  </a:prstGeom>
                  <a:blipFill>
                    <a:blip r:embed="rId5"/>
                    <a:stretch>
                      <a:fillRect t="-8197" r="-813" b="-24590"/>
                    </a:stretch>
                  </a:blipFill>
                </p:spPr>
                <p:txBody>
                  <a:bodyPr/>
                  <a:lstStyle/>
                  <a:p>
                    <a:r>
                      <a:rPr lang="zh-TW" altLang="en-US">
                        <a:noFill/>
                      </a:rPr>
                      <a:t> </a:t>
                    </a:r>
                  </a:p>
                </p:txBody>
              </p:sp>
            </mc:Fallback>
          </mc:AlternateContent>
        </p:grpSp>
      </p:grpSp>
      <p:graphicFrame>
        <p:nvGraphicFramePr>
          <p:cNvPr id="12" name="表格 11"/>
          <p:cNvGraphicFramePr>
            <a:graphicFrameLocks noGrp="1"/>
          </p:cNvGraphicFramePr>
          <p:nvPr>
            <p:extLst>
              <p:ext uri="{D42A27DB-BD31-4B8C-83A1-F6EECF244321}">
                <p14:modId xmlns:p14="http://schemas.microsoft.com/office/powerpoint/2010/main" val="1329196781"/>
              </p:ext>
            </p:extLst>
          </p:nvPr>
        </p:nvGraphicFramePr>
        <p:xfrm>
          <a:off x="745067" y="4162955"/>
          <a:ext cx="2754490" cy="1828800"/>
        </p:xfrm>
        <a:graphic>
          <a:graphicData uri="http://schemas.openxmlformats.org/drawingml/2006/table">
            <a:tbl>
              <a:tblPr firstRow="1" bandRow="1">
                <a:tableStyleId>{5C22544A-7EE6-4342-B048-85BDC9FD1C3A}</a:tableStyleId>
              </a:tblPr>
              <a:tblGrid>
                <a:gridCol w="550898">
                  <a:extLst>
                    <a:ext uri="{9D8B030D-6E8A-4147-A177-3AD203B41FA5}">
                      <a16:colId xmlns:a16="http://schemas.microsoft.com/office/drawing/2014/main" xmlns="" val="1155465239"/>
                    </a:ext>
                  </a:extLst>
                </a:gridCol>
                <a:gridCol w="550898">
                  <a:extLst>
                    <a:ext uri="{9D8B030D-6E8A-4147-A177-3AD203B41FA5}">
                      <a16:colId xmlns:a16="http://schemas.microsoft.com/office/drawing/2014/main" xmlns="" val="2219819070"/>
                    </a:ext>
                  </a:extLst>
                </a:gridCol>
                <a:gridCol w="550898">
                  <a:extLst>
                    <a:ext uri="{9D8B030D-6E8A-4147-A177-3AD203B41FA5}">
                      <a16:colId xmlns:a16="http://schemas.microsoft.com/office/drawing/2014/main" xmlns="" val="13515424"/>
                    </a:ext>
                  </a:extLst>
                </a:gridCol>
                <a:gridCol w="550898">
                  <a:extLst>
                    <a:ext uri="{9D8B030D-6E8A-4147-A177-3AD203B41FA5}">
                      <a16:colId xmlns:a16="http://schemas.microsoft.com/office/drawing/2014/main" xmlns="" val="2156522820"/>
                    </a:ext>
                  </a:extLst>
                </a:gridCol>
                <a:gridCol w="550898">
                  <a:extLst>
                    <a:ext uri="{9D8B030D-6E8A-4147-A177-3AD203B41FA5}">
                      <a16:colId xmlns:a16="http://schemas.microsoft.com/office/drawing/2014/main" xmlns="" val="901227164"/>
                    </a:ext>
                  </a:extLst>
                </a:gridCol>
              </a:tblGrid>
              <a:tr h="345440">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C</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D</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93493312"/>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rgbClr val="FF0000"/>
                          </a:solidFill>
                          <a:latin typeface="Times New Roman" panose="02020603050405020304" pitchFamily="18" charset="0"/>
                          <a:cs typeface="Times New Roman" panose="02020603050405020304" pitchFamily="18" charset="0"/>
                        </a:rPr>
                        <a:t>-39</a:t>
                      </a:r>
                      <a:endParaRPr lang="zh-TW" altLang="en-US" b="0" i="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-35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-35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19765386"/>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-35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-35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987875359"/>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C</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rgbClr val="FF0000"/>
                          </a:solidFill>
                          <a:latin typeface="Times New Roman" panose="02020603050405020304" pitchFamily="18" charset="0"/>
                          <a:cs typeface="Times New Roman" panose="02020603050405020304" pitchFamily="18" charset="0"/>
                        </a:rPr>
                        <a:t>-39</a:t>
                      </a:r>
                      <a:endParaRPr lang="zh-TW" altLang="en-US" b="0" i="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98231523"/>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D</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33239567"/>
                  </a:ext>
                </a:extLst>
              </a:tr>
            </a:tbl>
          </a:graphicData>
        </a:graphic>
      </p:graphicFrame>
      <mc:AlternateContent xmlns:mc="http://schemas.openxmlformats.org/markup-compatibility/2006">
        <mc:Choice xmlns:a14="http://schemas.microsoft.com/office/drawing/2010/main" Requires="a14">
          <p:sp>
            <p:nvSpPr>
              <p:cNvPr id="13" name="文字方塊 12"/>
              <p:cNvSpPr txBox="1"/>
              <p:nvPr/>
            </p:nvSpPr>
            <p:spPr>
              <a:xfrm>
                <a:off x="1218795" y="5991755"/>
                <a:ext cx="1708224"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 −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𝑗</m:t>
                          </m:r>
                        </m:sub>
                      </m:sSub>
                    </m:oMath>
                  </m:oMathPara>
                </a14:m>
                <a:endParaRPr lang="zh-TW" altLang="en-US" dirty="0"/>
              </a:p>
            </p:txBody>
          </p:sp>
        </mc:Choice>
        <mc:Fallback>
          <p:sp>
            <p:nvSpPr>
              <p:cNvPr id="13" name="文字方塊 12"/>
              <p:cNvSpPr txBox="1">
                <a:spLocks noRot="1" noChangeAspect="1" noMove="1" noResize="1" noEditPoints="1" noAdjustHandles="1" noChangeArrowheads="1" noChangeShapeType="1" noTextEdit="1"/>
              </p:cNvSpPr>
              <p:nvPr/>
            </p:nvSpPr>
            <p:spPr>
              <a:xfrm>
                <a:off x="1218795" y="5991755"/>
                <a:ext cx="1708224" cy="391646"/>
              </a:xfrm>
              <a:prstGeom prst="rect">
                <a:avLst/>
              </a:prstGeom>
              <a:blipFill rotWithShape="0">
                <a:blip r:embed="rId6"/>
                <a:stretch>
                  <a:fillRect b="-7813"/>
                </a:stretch>
              </a:blipFill>
            </p:spPr>
            <p:txBody>
              <a:bodyPr/>
              <a:lstStyle/>
              <a:p>
                <a:r>
                  <a:rPr lang="zh-TW" altLang="en-US">
                    <a:noFill/>
                  </a:rPr>
                  <a:t> </a:t>
                </a:r>
              </a:p>
            </p:txBody>
          </p:sp>
        </mc:Fallback>
      </mc:AlternateContent>
      <p:grpSp>
        <p:nvGrpSpPr>
          <p:cNvPr id="23" name="群組 22"/>
          <p:cNvGrpSpPr/>
          <p:nvPr/>
        </p:nvGrpSpPr>
        <p:grpSpPr>
          <a:xfrm>
            <a:off x="4715458" y="3827490"/>
            <a:ext cx="1462819" cy="1158998"/>
            <a:chOff x="4715458" y="3827490"/>
            <a:chExt cx="1462819" cy="1158998"/>
          </a:xfrm>
        </p:grpSpPr>
        <p:cxnSp>
          <p:nvCxnSpPr>
            <p:cNvPr id="15" name="直線接點 14"/>
            <p:cNvCxnSpPr>
              <a:cxnSpLocks/>
            </p:cNvCxnSpPr>
            <p:nvPr/>
          </p:nvCxnSpPr>
          <p:spPr>
            <a:xfrm>
              <a:off x="4933244" y="4154311"/>
              <a:ext cx="496712" cy="462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cxnSpLocks/>
            </p:cNvCxnSpPr>
            <p:nvPr/>
          </p:nvCxnSpPr>
          <p:spPr>
            <a:xfrm flipH="1">
              <a:off x="5429956" y="4151666"/>
              <a:ext cx="496711" cy="465491"/>
            </a:xfrm>
            <a:prstGeom prst="line">
              <a:avLst/>
            </a:prstGeom>
          </p:spPr>
          <p:style>
            <a:lnRef idx="1">
              <a:schemeClr val="accent1"/>
            </a:lnRef>
            <a:fillRef idx="0">
              <a:schemeClr val="accent1"/>
            </a:fillRef>
            <a:effectRef idx="0">
              <a:schemeClr val="accent1"/>
            </a:effectRef>
            <a:fontRef idx="minor">
              <a:schemeClr val="tx1"/>
            </a:fontRef>
          </p:style>
        </p:cxnSp>
        <p:sp>
          <p:nvSpPr>
            <p:cNvPr id="20" name="文字方塊 19"/>
            <p:cNvSpPr txBox="1"/>
            <p:nvPr/>
          </p:nvSpPr>
          <p:spPr>
            <a:xfrm>
              <a:off x="4715458" y="3827490"/>
              <a:ext cx="308098" cy="369332"/>
            </a:xfrm>
            <a:prstGeom prst="rect">
              <a:avLst/>
            </a:prstGeom>
            <a:noFill/>
          </p:spPr>
          <p:txBody>
            <a:bodyPr wrap="none" rtlCol="0">
              <a:spAutoFit/>
            </a:bodyPr>
            <a:lstStyle/>
            <a:p>
              <a:r>
                <a:rPr lang="en-US" altLang="zh-TW" dirty="0"/>
                <a:t>C</a:t>
              </a:r>
              <a:endParaRPr lang="zh-TW" altLang="en-US" dirty="0"/>
            </a:p>
          </p:txBody>
        </p:sp>
        <p:sp>
          <p:nvSpPr>
            <p:cNvPr id="21" name="文字方塊 20"/>
            <p:cNvSpPr txBox="1"/>
            <p:nvPr/>
          </p:nvSpPr>
          <p:spPr>
            <a:xfrm>
              <a:off x="5850943" y="3838779"/>
              <a:ext cx="327334" cy="369332"/>
            </a:xfrm>
            <a:prstGeom prst="rect">
              <a:avLst/>
            </a:prstGeom>
            <a:noFill/>
          </p:spPr>
          <p:txBody>
            <a:bodyPr wrap="none" rtlCol="0">
              <a:spAutoFit/>
            </a:bodyPr>
            <a:lstStyle/>
            <a:p>
              <a:r>
                <a:rPr lang="en-US" altLang="zh-TW" dirty="0"/>
                <a:t>D</a:t>
              </a:r>
              <a:endParaRPr lang="zh-TW" altLang="en-US" dirty="0"/>
            </a:p>
          </p:txBody>
        </p:sp>
        <p:sp>
          <p:nvSpPr>
            <p:cNvPr id="22" name="文字方塊 21"/>
            <p:cNvSpPr txBox="1"/>
            <p:nvPr/>
          </p:nvSpPr>
          <p:spPr>
            <a:xfrm>
              <a:off x="5277510" y="4617156"/>
              <a:ext cx="304892" cy="369332"/>
            </a:xfrm>
            <a:prstGeom prst="rect">
              <a:avLst/>
            </a:prstGeom>
            <a:noFill/>
          </p:spPr>
          <p:txBody>
            <a:bodyPr wrap="none" rtlCol="0">
              <a:spAutoFit/>
            </a:bodyPr>
            <a:lstStyle/>
            <a:p>
              <a:r>
                <a:rPr lang="en-US" altLang="zh-TW" dirty="0"/>
                <a:t>X</a:t>
              </a:r>
              <a:endParaRPr lang="zh-TW" altLang="en-US" dirty="0"/>
            </a:p>
          </p:txBody>
        </p:sp>
      </p:grpSp>
      <p:grpSp>
        <p:nvGrpSpPr>
          <p:cNvPr id="30" name="群組 29"/>
          <p:cNvGrpSpPr/>
          <p:nvPr/>
        </p:nvGrpSpPr>
        <p:grpSpPr>
          <a:xfrm>
            <a:off x="4791765" y="3488267"/>
            <a:ext cx="5497898" cy="1149882"/>
            <a:chOff x="4791765" y="3488267"/>
            <a:chExt cx="5497898" cy="1149882"/>
          </a:xfrm>
        </p:grpSpPr>
        <p:grpSp>
          <p:nvGrpSpPr>
            <p:cNvPr id="26" name="群組 25"/>
            <p:cNvGrpSpPr/>
            <p:nvPr/>
          </p:nvGrpSpPr>
          <p:grpSpPr>
            <a:xfrm>
              <a:off x="4791765" y="4246503"/>
              <a:ext cx="1336819" cy="391646"/>
              <a:chOff x="4791765" y="4246503"/>
              <a:chExt cx="1336819" cy="391646"/>
            </a:xfrm>
          </p:grpSpPr>
          <mc:AlternateContent xmlns:mc="http://schemas.openxmlformats.org/markup-compatibility/2006" xmlns:a14="http://schemas.microsoft.com/office/drawing/2010/main">
            <mc:Choice Requires="a14">
              <p:sp>
                <p:nvSpPr>
                  <p:cNvPr id="24" name="文字方塊 23"/>
                  <p:cNvSpPr txBox="1"/>
                  <p:nvPr/>
                </p:nvSpPr>
                <p:spPr>
                  <a:xfrm>
                    <a:off x="4791765" y="4247825"/>
                    <a:ext cx="43499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𝑣</m:t>
                              </m:r>
                            </m:e>
                            <m:sub>
                              <m:r>
                                <a:rPr lang="en-US" altLang="zh-TW" b="0" i="1" smtClean="0">
                                  <a:solidFill>
                                    <a:srgbClr val="FF0000"/>
                                  </a:solidFill>
                                  <a:latin typeface="Cambria Math" panose="02040503050406030204" pitchFamily="18" charset="0"/>
                                </a:rPr>
                                <m:t>𝑖</m:t>
                              </m:r>
                            </m:sub>
                          </m:sSub>
                        </m:oMath>
                      </m:oMathPara>
                    </a14:m>
                    <a:endParaRPr lang="zh-TW" altLang="en-US"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4791765" y="4247825"/>
                    <a:ext cx="434991" cy="369332"/>
                  </a:xfrm>
                  <a:prstGeom prst="rect">
                    <a:avLst/>
                  </a:prstGeom>
                  <a:blipFill>
                    <a:blip r:embed="rId7"/>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p:cNvSpPr txBox="1"/>
                  <p:nvPr/>
                </p:nvSpPr>
                <p:spPr>
                  <a:xfrm>
                    <a:off x="5694876" y="4246503"/>
                    <a:ext cx="433708"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𝑣</m:t>
                              </m:r>
                            </m:e>
                            <m:sub>
                              <m:r>
                                <a:rPr lang="en-US" altLang="zh-TW" b="0" i="1" smtClean="0">
                                  <a:solidFill>
                                    <a:srgbClr val="FF0000"/>
                                  </a:solidFill>
                                  <a:latin typeface="Cambria Math" panose="02040503050406030204" pitchFamily="18" charset="0"/>
                                </a:rPr>
                                <m:t>𝑗</m:t>
                              </m:r>
                            </m:sub>
                          </m:sSub>
                        </m:oMath>
                      </m:oMathPara>
                    </a14:m>
                    <a:endParaRPr lang="zh-TW" altLang="en-US"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5694876" y="4246503"/>
                    <a:ext cx="433708" cy="391646"/>
                  </a:xfrm>
                  <a:prstGeom prst="rect">
                    <a:avLst/>
                  </a:prstGeom>
                  <a:blipFill>
                    <a:blip r:embed="rId8"/>
                    <a:stretch>
                      <a:fillRect b="-7813"/>
                    </a:stretch>
                  </a:blipFill>
                </p:spPr>
                <p:txBody>
                  <a:bodyPr/>
                  <a:lstStyle/>
                  <a:p>
                    <a:r>
                      <a:rPr lang="zh-TW" altLang="en-US">
                        <a:noFill/>
                      </a:rPr>
                      <a:t> </a:t>
                    </a:r>
                  </a:p>
                </p:txBody>
              </p:sp>
            </mc:Fallback>
          </mc:AlternateContent>
        </p:grpSp>
        <p:grpSp>
          <p:nvGrpSpPr>
            <p:cNvPr id="29" name="群組 28"/>
            <p:cNvGrpSpPr/>
            <p:nvPr/>
          </p:nvGrpSpPr>
          <p:grpSpPr>
            <a:xfrm>
              <a:off x="6964073" y="3488267"/>
              <a:ext cx="3325590" cy="742158"/>
              <a:chOff x="6964073" y="3488267"/>
              <a:chExt cx="3325590" cy="742158"/>
            </a:xfrm>
          </p:grpSpPr>
          <mc:AlternateContent xmlns:mc="http://schemas.openxmlformats.org/markup-compatibility/2006" xmlns:a14="http://schemas.microsoft.com/office/drawing/2010/main">
            <mc:Choice Requires="a14">
              <p:sp>
                <p:nvSpPr>
                  <p:cNvPr id="27" name="文字方塊 26"/>
                  <p:cNvSpPr txBox="1"/>
                  <p:nvPr/>
                </p:nvSpPr>
                <p:spPr>
                  <a:xfrm>
                    <a:off x="7010400" y="3488267"/>
                    <a:ext cx="3232936"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oMath>
                      </m:oMathPara>
                    </a14:m>
                    <a:endParaRPr lang="zh-TW" altLang="en-US" dirty="0"/>
                  </a:p>
                </p:txBody>
              </p:sp>
            </mc:Choice>
            <mc:Fallback xmlns="">
              <p:sp>
                <p:nvSpPr>
                  <p:cNvPr id="27" name="文字方塊 26"/>
                  <p:cNvSpPr txBox="1">
                    <a:spLocks noRot="1" noChangeAspect="1" noMove="1" noResize="1" noEditPoints="1" noAdjustHandles="1" noChangeArrowheads="1" noChangeShapeType="1" noTextEdit="1"/>
                  </p:cNvSpPr>
                  <p:nvPr/>
                </p:nvSpPr>
                <p:spPr>
                  <a:xfrm>
                    <a:off x="7010400" y="3488267"/>
                    <a:ext cx="3232936" cy="391646"/>
                  </a:xfrm>
                  <a:prstGeom prst="rect">
                    <a:avLst/>
                  </a:prstGeom>
                  <a:blipFill>
                    <a:blip r:embed="rId9"/>
                    <a:stretch>
                      <a:fillRect b="-93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6964073" y="3838779"/>
                    <a:ext cx="3325590"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oMath>
                      </m:oMathPara>
                    </a14:m>
                    <a:endParaRPr lang="zh-TW" altLang="en-US"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6964073" y="3838779"/>
                    <a:ext cx="3325590" cy="391646"/>
                  </a:xfrm>
                  <a:prstGeom prst="rect">
                    <a:avLst/>
                  </a:prstGeom>
                  <a:blipFill>
                    <a:blip r:embed="rId10"/>
                    <a:stretch>
                      <a:fillRect b="-7813"/>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535502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Neighbor-joining</a:t>
            </a:r>
            <a:endParaRPr lang="zh-TW" altLang="en-US" dirty="0">
              <a:latin typeface="Times New Roman" panose="02020603050405020304" pitchFamily="18" charset="0"/>
              <a:cs typeface="Times New Roman" panose="02020603050405020304" pitchFamily="18" charset="0"/>
            </a:endParaRPr>
          </a:p>
        </p:txBody>
      </p:sp>
      <p:grpSp>
        <p:nvGrpSpPr>
          <p:cNvPr id="5" name="群組 4"/>
          <p:cNvGrpSpPr/>
          <p:nvPr/>
        </p:nvGrpSpPr>
        <p:grpSpPr>
          <a:xfrm>
            <a:off x="838200" y="1690688"/>
            <a:ext cx="3325590" cy="742158"/>
            <a:chOff x="6964073" y="3488267"/>
            <a:chExt cx="3325590" cy="742158"/>
          </a:xfrm>
        </p:grpSpPr>
        <mc:AlternateContent xmlns:mc="http://schemas.openxmlformats.org/markup-compatibility/2006" xmlns:a14="http://schemas.microsoft.com/office/drawing/2010/main">
          <mc:Choice Requires="a14">
            <p:sp>
              <p:nvSpPr>
                <p:cNvPr id="6" name="文字方塊 5"/>
                <p:cNvSpPr txBox="1"/>
                <p:nvPr/>
              </p:nvSpPr>
              <p:spPr>
                <a:xfrm>
                  <a:off x="7010400" y="3488267"/>
                  <a:ext cx="3232936"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oMath>
                    </m:oMathPara>
                  </a14:m>
                  <a:endParaRPr lang="zh-TW" altLang="en-US"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7010400" y="3488267"/>
                  <a:ext cx="3232936" cy="391646"/>
                </a:xfrm>
                <a:prstGeom prst="rect">
                  <a:avLst/>
                </a:prstGeom>
                <a:blipFill>
                  <a:blip r:embed="rId2"/>
                  <a:stretch>
                    <a:fillRect b="-76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6964073" y="3838779"/>
                  <a:ext cx="3325590"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oMath>
                    </m:oMathPara>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6964073" y="3838779"/>
                  <a:ext cx="3325590" cy="391646"/>
                </a:xfrm>
                <a:prstGeom prst="rect">
                  <a:avLst/>
                </a:prstGeom>
                <a:blipFill>
                  <a:blip r:embed="rId3"/>
                  <a:stretch>
                    <a:fillRect b="-7813"/>
                  </a:stretch>
                </a:blipFill>
              </p:spPr>
              <p:txBody>
                <a:bodyPr/>
                <a:lstStyle/>
                <a:p>
                  <a:r>
                    <a:rPr lang="zh-TW" altLang="en-US">
                      <a:noFill/>
                    </a:rPr>
                    <a:t> </a:t>
                  </a:r>
                </a:p>
              </p:txBody>
            </p:sp>
          </mc:Fallback>
        </mc:AlternateContent>
      </p:grpSp>
      <p:cxnSp>
        <p:nvCxnSpPr>
          <p:cNvPr id="9" name="直線接點 8"/>
          <p:cNvCxnSpPr/>
          <p:nvPr/>
        </p:nvCxnSpPr>
        <p:spPr>
          <a:xfrm>
            <a:off x="1437682" y="4233333"/>
            <a:ext cx="242311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826911" y="3635022"/>
            <a:ext cx="629356" cy="598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線接點 11"/>
          <p:cNvCxnSpPr>
            <a:cxnSpLocks/>
          </p:cNvCxnSpPr>
          <p:nvPr/>
        </p:nvCxnSpPr>
        <p:spPr>
          <a:xfrm rot="5400000">
            <a:off x="3845276" y="3619500"/>
            <a:ext cx="629356" cy="598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接點 12"/>
          <p:cNvCxnSpPr>
            <a:cxnSpLocks/>
          </p:cNvCxnSpPr>
          <p:nvPr/>
        </p:nvCxnSpPr>
        <p:spPr>
          <a:xfrm rot="10800000">
            <a:off x="3860797" y="4233334"/>
            <a:ext cx="629356" cy="598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接點 13"/>
          <p:cNvCxnSpPr>
            <a:cxnSpLocks/>
          </p:cNvCxnSpPr>
          <p:nvPr/>
        </p:nvCxnSpPr>
        <p:spPr>
          <a:xfrm rot="16200000">
            <a:off x="869006" y="4248855"/>
            <a:ext cx="629356" cy="598311"/>
          </a:xfrm>
          <a:prstGeom prst="line">
            <a:avLst/>
          </a:prstGeom>
        </p:spPr>
        <p:style>
          <a:lnRef idx="1">
            <a:schemeClr val="accent1"/>
          </a:lnRef>
          <a:fillRef idx="0">
            <a:schemeClr val="accent1"/>
          </a:fillRef>
          <a:effectRef idx="0">
            <a:schemeClr val="accent1"/>
          </a:effectRef>
          <a:fontRef idx="minor">
            <a:schemeClr val="tx1"/>
          </a:fontRef>
        </p:style>
      </p:cxnSp>
      <p:sp>
        <p:nvSpPr>
          <p:cNvPr id="15" name="文字方塊 14"/>
          <p:cNvSpPr txBox="1"/>
          <p:nvPr/>
        </p:nvSpPr>
        <p:spPr>
          <a:xfrm>
            <a:off x="564444" y="3341511"/>
            <a:ext cx="317716" cy="369332"/>
          </a:xfrm>
          <a:prstGeom prst="rect">
            <a:avLst/>
          </a:prstGeom>
          <a:noFill/>
        </p:spPr>
        <p:txBody>
          <a:bodyPr wrap="none" rtlCol="0">
            <a:spAutoFit/>
          </a:bodyPr>
          <a:lstStyle/>
          <a:p>
            <a:r>
              <a:rPr lang="en-US" altLang="zh-TW" dirty="0"/>
              <a:t>A</a:t>
            </a:r>
            <a:endParaRPr lang="zh-TW" altLang="en-US" dirty="0"/>
          </a:p>
        </p:txBody>
      </p:sp>
      <p:sp>
        <p:nvSpPr>
          <p:cNvPr id="16" name="文字方塊 15"/>
          <p:cNvSpPr txBox="1"/>
          <p:nvPr/>
        </p:nvSpPr>
        <p:spPr>
          <a:xfrm>
            <a:off x="564444" y="4728353"/>
            <a:ext cx="309700" cy="369332"/>
          </a:xfrm>
          <a:prstGeom prst="rect">
            <a:avLst/>
          </a:prstGeom>
          <a:noFill/>
        </p:spPr>
        <p:txBody>
          <a:bodyPr wrap="none" rtlCol="0">
            <a:spAutoFit/>
          </a:bodyPr>
          <a:lstStyle/>
          <a:p>
            <a:r>
              <a:rPr lang="en-US" altLang="zh-TW" dirty="0"/>
              <a:t>B</a:t>
            </a:r>
            <a:endParaRPr lang="zh-TW" altLang="en-US" dirty="0"/>
          </a:p>
        </p:txBody>
      </p:sp>
      <p:sp>
        <p:nvSpPr>
          <p:cNvPr id="17" name="文字方塊 16"/>
          <p:cNvSpPr txBox="1"/>
          <p:nvPr/>
        </p:nvSpPr>
        <p:spPr>
          <a:xfrm>
            <a:off x="4434905" y="3265690"/>
            <a:ext cx="308098" cy="369332"/>
          </a:xfrm>
          <a:prstGeom prst="rect">
            <a:avLst/>
          </a:prstGeom>
          <a:noFill/>
        </p:spPr>
        <p:txBody>
          <a:bodyPr wrap="none" rtlCol="0">
            <a:spAutoFit/>
          </a:bodyPr>
          <a:lstStyle/>
          <a:p>
            <a:r>
              <a:rPr lang="en-US" altLang="zh-TW" dirty="0"/>
              <a:t>C</a:t>
            </a:r>
            <a:endParaRPr lang="zh-TW" altLang="en-US" dirty="0"/>
          </a:p>
        </p:txBody>
      </p:sp>
      <p:sp>
        <p:nvSpPr>
          <p:cNvPr id="18" name="文字方塊 17"/>
          <p:cNvSpPr txBox="1"/>
          <p:nvPr/>
        </p:nvSpPr>
        <p:spPr>
          <a:xfrm>
            <a:off x="4434905" y="4728353"/>
            <a:ext cx="327334" cy="369332"/>
          </a:xfrm>
          <a:prstGeom prst="rect">
            <a:avLst/>
          </a:prstGeom>
          <a:noFill/>
        </p:spPr>
        <p:txBody>
          <a:bodyPr wrap="none" rtlCol="0">
            <a:spAutoFit/>
          </a:bodyPr>
          <a:lstStyle/>
          <a:p>
            <a:r>
              <a:rPr lang="en-US" altLang="zh-TW" dirty="0"/>
              <a:t>D</a:t>
            </a:r>
            <a:endParaRPr lang="zh-TW" altLang="en-US" dirty="0"/>
          </a:p>
        </p:txBody>
      </p:sp>
      <p:sp>
        <p:nvSpPr>
          <p:cNvPr id="19" name="文字方塊 18"/>
          <p:cNvSpPr txBox="1"/>
          <p:nvPr/>
        </p:nvSpPr>
        <p:spPr>
          <a:xfrm>
            <a:off x="1359835" y="3918655"/>
            <a:ext cx="304892" cy="369332"/>
          </a:xfrm>
          <a:prstGeom prst="rect">
            <a:avLst/>
          </a:prstGeom>
          <a:noFill/>
        </p:spPr>
        <p:txBody>
          <a:bodyPr wrap="none" rtlCol="0">
            <a:spAutoFit/>
          </a:bodyPr>
          <a:lstStyle/>
          <a:p>
            <a:r>
              <a:rPr lang="en-US" altLang="zh-TW" dirty="0"/>
              <a:t>X</a:t>
            </a:r>
            <a:endParaRPr lang="zh-TW" altLang="en-US" dirty="0"/>
          </a:p>
        </p:txBody>
      </p:sp>
      <p:sp>
        <p:nvSpPr>
          <p:cNvPr id="20" name="文字方塊 19"/>
          <p:cNvSpPr txBox="1"/>
          <p:nvPr/>
        </p:nvSpPr>
        <p:spPr>
          <a:xfrm>
            <a:off x="3664415" y="3924680"/>
            <a:ext cx="296876" cy="369332"/>
          </a:xfrm>
          <a:prstGeom prst="rect">
            <a:avLst/>
          </a:prstGeom>
          <a:noFill/>
        </p:spPr>
        <p:txBody>
          <a:bodyPr wrap="none" rtlCol="0">
            <a:spAutoFit/>
          </a:bodyPr>
          <a:lstStyle/>
          <a:p>
            <a:r>
              <a:rPr lang="en-US" altLang="zh-TW" dirty="0"/>
              <a:t>Y</a:t>
            </a:r>
            <a:endParaRPr lang="zh-TW" altLang="en-US" dirty="0"/>
          </a:p>
        </p:txBody>
      </p:sp>
      <mc:AlternateContent xmlns:mc="http://schemas.openxmlformats.org/markup-compatibility/2006" xmlns:a14="http://schemas.microsoft.com/office/drawing/2010/main">
        <mc:Choice Requires="a14">
          <p:sp>
            <p:nvSpPr>
              <p:cNvPr id="21" name="矩形 20"/>
              <p:cNvSpPr/>
              <p:nvPr/>
            </p:nvSpPr>
            <p:spPr>
              <a:xfrm>
                <a:off x="5207330" y="2307957"/>
                <a:ext cx="5840894" cy="3699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𝑛</m:t>
                              </m:r>
                              <m:r>
                                <a:rPr lang="en-US" altLang="zh-TW" b="0" i="1" smtClean="0">
                                  <a:latin typeface="Cambria Math" panose="02040503050406030204" pitchFamily="18" charset="0"/>
                                </a:rPr>
                                <m:t>−1</m:t>
                              </m:r>
                            </m:e>
                          </m:d>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𝐴𝑋</m:t>
                              </m:r>
                            </m:e>
                          </m:acc>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𝐵𝑋</m:t>
                              </m:r>
                            </m:e>
                          </m:acc>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𝑛</m:t>
                              </m:r>
                              <m:r>
                                <a:rPr lang="en-US" altLang="zh-TW" b="0" i="1" smtClean="0">
                                  <a:latin typeface="Cambria Math" panose="02040503050406030204" pitchFamily="18" charset="0"/>
                                </a:rPr>
                                <m:t>−2</m:t>
                              </m:r>
                            </m:e>
                          </m:d>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𝑋𝑌</m:t>
                              </m:r>
                            </m:e>
                          </m:acc>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𝐶𝑌</m:t>
                              </m:r>
                            </m:e>
                          </m:acc>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𝐷𝑌</m:t>
                              </m:r>
                            </m:e>
                          </m:acc>
                        </m:e>
                      </m:d>
                      <m:r>
                        <a:rPr lang="en-US" altLang="zh-TW" b="0" i="1" smtClean="0">
                          <a:latin typeface="Cambria Math" panose="02040503050406030204" pitchFamily="18" charset="0"/>
                        </a:rPr>
                        <m:t>/(</m:t>
                      </m:r>
                      <m:r>
                        <a:rPr lang="en-US" altLang="zh-TW" b="0" i="1" smtClean="0">
                          <a:latin typeface="Cambria Math" panose="02040503050406030204" pitchFamily="18" charset="0"/>
                        </a:rPr>
                        <m:t>𝑛</m:t>
                      </m:r>
                      <m:r>
                        <a:rPr lang="en-US" altLang="zh-TW" b="0" i="1" smtClean="0">
                          <a:latin typeface="Cambria Math" panose="02040503050406030204" pitchFamily="18" charset="0"/>
                        </a:rPr>
                        <m:t>−2)</m:t>
                      </m:r>
                    </m:oMath>
                  </m:oMathPara>
                </a14:m>
                <a:endParaRPr lang="zh-TW" altLang="en-US" dirty="0"/>
              </a:p>
            </p:txBody>
          </p:sp>
        </mc:Choice>
        <mc:Fallback xmlns="">
          <p:sp>
            <p:nvSpPr>
              <p:cNvPr id="21" name="矩形 20"/>
              <p:cNvSpPr>
                <a:spLocks noRot="1" noChangeAspect="1" noMove="1" noResize="1" noEditPoints="1" noAdjustHandles="1" noChangeArrowheads="1" noChangeShapeType="1" noTextEdit="1"/>
              </p:cNvSpPr>
              <p:nvPr/>
            </p:nvSpPr>
            <p:spPr>
              <a:xfrm>
                <a:off x="5207330" y="2307957"/>
                <a:ext cx="5840894" cy="369909"/>
              </a:xfrm>
              <a:prstGeom prst="rect">
                <a:avLst/>
              </a:prstGeom>
              <a:blipFill>
                <a:blip r:embed="rId4"/>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5207330" y="2654657"/>
                <a:ext cx="5846216" cy="3699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𝑛</m:t>
                              </m:r>
                              <m:r>
                                <a:rPr lang="en-US" altLang="zh-TW" b="0" i="1" smtClean="0">
                                  <a:latin typeface="Cambria Math" panose="02040503050406030204" pitchFamily="18" charset="0"/>
                                </a:rPr>
                                <m:t>−1</m:t>
                              </m:r>
                            </m:e>
                          </m:d>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𝐵𝑋</m:t>
                              </m:r>
                            </m:e>
                          </m:acc>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𝐴𝑋</m:t>
                              </m:r>
                            </m:e>
                          </m:acc>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𝑛</m:t>
                              </m:r>
                              <m:r>
                                <a:rPr lang="en-US" altLang="zh-TW" b="0" i="1" smtClean="0">
                                  <a:latin typeface="Cambria Math" panose="02040503050406030204" pitchFamily="18" charset="0"/>
                                </a:rPr>
                                <m:t>−2</m:t>
                              </m:r>
                            </m:e>
                          </m:d>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𝑋𝑌</m:t>
                              </m:r>
                            </m:e>
                          </m:acc>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𝐶𝑌</m:t>
                              </m:r>
                            </m:e>
                          </m:acc>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𝐷𝑌</m:t>
                              </m:r>
                            </m:e>
                          </m:acc>
                        </m:e>
                      </m:d>
                      <m:r>
                        <a:rPr lang="en-US" altLang="zh-TW" b="0" i="1" smtClean="0">
                          <a:latin typeface="Cambria Math" panose="02040503050406030204" pitchFamily="18" charset="0"/>
                        </a:rPr>
                        <m:t>/(</m:t>
                      </m:r>
                      <m:r>
                        <a:rPr lang="en-US" altLang="zh-TW" b="0" i="1" smtClean="0">
                          <a:latin typeface="Cambria Math" panose="02040503050406030204" pitchFamily="18" charset="0"/>
                        </a:rPr>
                        <m:t>𝑛</m:t>
                      </m:r>
                      <m:r>
                        <a:rPr lang="en-US" altLang="zh-TW" b="0" i="1" smtClean="0">
                          <a:latin typeface="Cambria Math" panose="02040503050406030204" pitchFamily="18" charset="0"/>
                        </a:rPr>
                        <m:t>−2)</m:t>
                      </m:r>
                    </m:oMath>
                  </m:oMathPara>
                </a14:m>
                <a:endParaRPr lang="zh-TW" altLang="en-US" dirty="0"/>
              </a:p>
            </p:txBody>
          </p:sp>
        </mc:Choice>
        <mc:Fallback xmlns="">
          <p:sp>
            <p:nvSpPr>
              <p:cNvPr id="22" name="矩形 21"/>
              <p:cNvSpPr>
                <a:spLocks noRot="1" noChangeAspect="1" noMove="1" noResize="1" noEditPoints="1" noAdjustHandles="1" noChangeArrowheads="1" noChangeShapeType="1" noTextEdit="1"/>
              </p:cNvSpPr>
              <p:nvPr/>
            </p:nvSpPr>
            <p:spPr>
              <a:xfrm>
                <a:off x="5207330" y="2654657"/>
                <a:ext cx="5846216" cy="369909"/>
              </a:xfrm>
              <a:prstGeom prst="rect">
                <a:avLst/>
              </a:prstGeom>
              <a:blipFill>
                <a:blip r:embed="rId5"/>
                <a:stretch>
                  <a:fillRect b="-1475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1023273" y="3560610"/>
                <a:ext cx="4623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𝑣</m:t>
                          </m:r>
                        </m:e>
                        <m:sub>
                          <m:r>
                            <a:rPr lang="en-US" altLang="zh-TW" b="0" i="1" smtClean="0">
                              <a:solidFill>
                                <a:srgbClr val="FF0000"/>
                              </a:solidFill>
                              <a:latin typeface="Cambria Math" panose="02040503050406030204" pitchFamily="18" charset="0"/>
                            </a:rPr>
                            <m:t>1</m:t>
                          </m:r>
                        </m:sub>
                      </m:sSub>
                    </m:oMath>
                  </m:oMathPara>
                </a14:m>
                <a:endParaRPr lang="zh-TW" altLang="en-US"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1023273" y="3560610"/>
                <a:ext cx="462370" cy="36933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1034562" y="4493357"/>
                <a:ext cx="4349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𝑣</m:t>
                          </m:r>
                        </m:e>
                        <m:sub>
                          <m:r>
                            <a:rPr lang="en-US" altLang="zh-TW" b="0" i="1" smtClean="0">
                              <a:solidFill>
                                <a:srgbClr val="FF0000"/>
                              </a:solidFill>
                              <a:latin typeface="Cambria Math" panose="02040503050406030204" pitchFamily="18" charset="0"/>
                            </a:rPr>
                            <m:t>2</m:t>
                          </m:r>
                        </m:sub>
                      </m:sSub>
                    </m:oMath>
                  </m:oMathPara>
                </a14:m>
                <a:endParaRPr lang="zh-TW" altLang="en-US"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1034562" y="4493357"/>
                <a:ext cx="434991" cy="369332"/>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p:cNvSpPr txBox="1"/>
              <p:nvPr/>
            </p:nvSpPr>
            <p:spPr>
              <a:xfrm>
                <a:off x="5218322" y="3450356"/>
                <a:ext cx="6135477" cy="150829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altLang="zh-TW"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𝑣</m:t>
                          </m:r>
                        </m:e>
                        <m:sub>
                          <m:r>
                            <a:rPr lang="en-US" altLang="zh-TW" b="0" i="1" smtClean="0">
                              <a:solidFill>
                                <a:schemeClr val="tx1"/>
                              </a:solidFill>
                              <a:latin typeface="Cambria Math" panose="02040503050406030204" pitchFamily="18" charset="0"/>
                            </a:rPr>
                            <m:t>1</m:t>
                          </m:r>
                        </m:sub>
                      </m:sSub>
                      <m:r>
                        <a:rPr lang="en-US" altLang="zh-TW" b="0" i="1" smtClean="0">
                          <a:solidFill>
                            <a:schemeClr val="tx1"/>
                          </a:solidFill>
                          <a:latin typeface="Cambria Math" panose="02040503050406030204" pitchFamily="18" charset="0"/>
                        </a:rPr>
                        <m:t>=</m:t>
                      </m:r>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12</m:t>
                          </m:r>
                        </m:sub>
                      </m:sSub>
                      <m:r>
                        <a:rPr lang="en-US" altLang="zh-TW" b="0" i="1" smtClean="0">
                          <a:latin typeface="Cambria Math" panose="02040503050406030204" pitchFamily="18" charset="0"/>
                        </a:rPr>
                        <m:t>+0.5∗</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2</m:t>
                              </m:r>
                            </m:sub>
                          </m:sSub>
                        </m:e>
                      </m:d>
                    </m:oMath>
                  </m:oMathPara>
                </a14:m>
                <a:endParaRPr lang="en-US" altLang="zh-TW" b="0" dirty="0"/>
              </a:p>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      =0.5∗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12</m:t>
                          </m:r>
                        </m:sub>
                      </m:sSub>
                      <m:r>
                        <a:rPr lang="en-US" altLang="zh-TW" b="0" i="1" smtClean="0">
                          <a:latin typeface="Cambria Math" panose="02040503050406030204" pitchFamily="18" charset="0"/>
                        </a:rPr>
                        <m:t>+0.5∗</m:t>
                      </m:r>
                      <m:d>
                        <m:dPr>
                          <m:begChr m:val="["/>
                          <m:endChr m:val="]"/>
                          <m:ctrlPr>
                            <a:rPr lang="en-US" altLang="zh-TW" b="0" i="1" smtClean="0">
                              <a:latin typeface="Cambria Math" panose="02040503050406030204" pitchFamily="18" charset="0"/>
                            </a:rPr>
                          </m:ctrlPr>
                        </m:dPr>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𝑛</m:t>
                              </m:r>
                              <m:r>
                                <a:rPr lang="en-US" altLang="zh-TW" b="0" i="1" smtClean="0">
                                  <a:latin typeface="Cambria Math" panose="02040503050406030204" pitchFamily="18" charset="0"/>
                                </a:rPr>
                                <m:t>−2</m:t>
                              </m:r>
                            </m:e>
                          </m:d>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𝐴𝑋</m:t>
                              </m:r>
                            </m:e>
                          </m:acc>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m:t>
                              </m:r>
                              <m:r>
                                <a:rPr lang="en-US" altLang="zh-TW" b="0" i="1" smtClean="0">
                                  <a:latin typeface="Cambria Math" panose="02040503050406030204" pitchFamily="18" charset="0"/>
                                </a:rPr>
                                <m:t>𝑛</m:t>
                              </m:r>
                              <m:r>
                                <a:rPr lang="en-US" altLang="zh-TW" b="0" i="1" smtClean="0">
                                  <a:latin typeface="Cambria Math" panose="02040503050406030204" pitchFamily="18" charset="0"/>
                                </a:rPr>
                                <m:t>+2</m:t>
                              </m:r>
                            </m:e>
                          </m:d>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𝐵𝑋</m:t>
                              </m:r>
                            </m:e>
                          </m:acc>
                        </m:e>
                      </m:d>
                      <m:r>
                        <a:rPr lang="en-US" altLang="zh-TW" b="0" i="1" smtClean="0">
                          <a:latin typeface="Cambria Math" panose="02040503050406030204" pitchFamily="18" charset="0"/>
                        </a:rPr>
                        <m:t>/(</m:t>
                      </m:r>
                      <m:r>
                        <a:rPr lang="en-US" altLang="zh-TW" b="0" i="1" smtClean="0">
                          <a:latin typeface="Cambria Math" panose="02040503050406030204" pitchFamily="18" charset="0"/>
                        </a:rPr>
                        <m:t>𝑛</m:t>
                      </m:r>
                      <m:r>
                        <a:rPr lang="en-US" altLang="zh-TW" b="0" i="1" smtClean="0">
                          <a:latin typeface="Cambria Math" panose="02040503050406030204" pitchFamily="18" charset="0"/>
                        </a:rPr>
                        <m:t>−2)</m:t>
                      </m:r>
                    </m:oMath>
                  </m:oMathPara>
                </a14:m>
                <a:endParaRPr lang="en-US" altLang="zh-TW" dirty="0"/>
              </a:p>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      =0.5∗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12</m:t>
                          </m:r>
                        </m:sub>
                      </m:sSub>
                      <m:r>
                        <a:rPr lang="en-US" altLang="zh-TW" b="0" i="1" smtClean="0">
                          <a:latin typeface="Cambria Math" panose="02040503050406030204" pitchFamily="18" charset="0"/>
                        </a:rPr>
                        <m:t>+0.5∗</m:t>
                      </m:r>
                      <m:r>
                        <a:rPr lang="en-US" altLang="zh-TW" b="0" i="0"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𝐴𝑋</m:t>
                          </m:r>
                        </m:e>
                      </m:acc>
                      <m:r>
                        <a:rPr lang="en-US" altLang="zh-TW" b="0" i="0"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𝐵𝑋</m:t>
                          </m:r>
                        </m:e>
                      </m:acc>
                      <m:r>
                        <a:rPr lang="en-US" altLang="zh-TW" b="0" i="0" smtClean="0">
                          <a:latin typeface="Cambria Math" panose="02040503050406030204" pitchFamily="18" charset="0"/>
                        </a:rPr>
                        <m:t>)</m:t>
                      </m:r>
                    </m:oMath>
                  </m:oMathPara>
                </a14:m>
                <a:endParaRPr lang="en-US" altLang="zh-TW" dirty="0"/>
              </a:p>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      =0.5∗</m:t>
                      </m:r>
                      <m:d>
                        <m:dPr>
                          <m:ctrlPr>
                            <a:rPr lang="en-US" altLang="zh-TW" b="0" i="1" smtClean="0">
                              <a:latin typeface="Cambria Math" panose="02040503050406030204" pitchFamily="18" charset="0"/>
                            </a:rPr>
                          </m:ctrlPr>
                        </m:d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𝐴𝑋</m:t>
                              </m:r>
                            </m:e>
                          </m:acc>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𝐵𝑋</m:t>
                              </m:r>
                            </m:e>
                          </m:acc>
                        </m:e>
                      </m:d>
                      <m:r>
                        <a:rPr lang="en-US" altLang="zh-TW" b="0" i="0" smtClean="0">
                          <a:latin typeface="Cambria Math" panose="02040503050406030204" pitchFamily="18" charset="0"/>
                        </a:rPr>
                        <m:t>+</m:t>
                      </m:r>
                      <m:r>
                        <a:rPr lang="en-US" altLang="zh-TW" b="0" i="1" smtClean="0">
                          <a:latin typeface="Cambria Math" panose="02040503050406030204" pitchFamily="18" charset="0"/>
                        </a:rPr>
                        <m:t>0.5∗</m:t>
                      </m:r>
                      <m:r>
                        <a:rPr lang="en-US" altLang="zh-TW" b="0" i="0"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𝐴𝑋</m:t>
                          </m:r>
                        </m:e>
                      </m:acc>
                      <m:r>
                        <a:rPr lang="en-US" altLang="zh-TW" b="0" i="0"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𝐵𝑋</m:t>
                          </m:r>
                        </m:e>
                      </m:acc>
                      <m:r>
                        <a:rPr lang="en-US" altLang="zh-TW" b="0" i="0" smtClean="0">
                          <a:latin typeface="Cambria Math" panose="02040503050406030204" pitchFamily="18" charset="0"/>
                        </a:rPr>
                        <m:t>)</m:t>
                      </m:r>
                    </m:oMath>
                  </m:oMathPara>
                </a14:m>
                <a:endParaRPr lang="en-US" altLang="zh-TW" dirty="0"/>
              </a:p>
              <a:p>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      =</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𝐴𝑋</m:t>
                          </m:r>
                        </m:e>
                      </m:acc>
                    </m:oMath>
                  </m:oMathPara>
                </a14:m>
                <a:endParaRPr lang="en-US" altLang="zh-TW"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5218322" y="3450356"/>
                <a:ext cx="6135477" cy="1508298"/>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4087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623234487"/>
              </p:ext>
            </p:extLst>
          </p:nvPr>
        </p:nvGraphicFramePr>
        <p:xfrm>
          <a:off x="745067" y="1343377"/>
          <a:ext cx="2754490" cy="1828800"/>
        </p:xfrm>
        <a:graphic>
          <a:graphicData uri="http://schemas.openxmlformats.org/drawingml/2006/table">
            <a:tbl>
              <a:tblPr firstRow="1" bandRow="1">
                <a:tableStyleId>{5C22544A-7EE6-4342-B048-85BDC9FD1C3A}</a:tableStyleId>
              </a:tblPr>
              <a:tblGrid>
                <a:gridCol w="550898">
                  <a:extLst>
                    <a:ext uri="{9D8B030D-6E8A-4147-A177-3AD203B41FA5}">
                      <a16:colId xmlns:a16="http://schemas.microsoft.com/office/drawing/2014/main" xmlns="" val="1155465239"/>
                    </a:ext>
                  </a:extLst>
                </a:gridCol>
                <a:gridCol w="550898">
                  <a:extLst>
                    <a:ext uri="{9D8B030D-6E8A-4147-A177-3AD203B41FA5}">
                      <a16:colId xmlns:a16="http://schemas.microsoft.com/office/drawing/2014/main" xmlns="" val="2219819070"/>
                    </a:ext>
                  </a:extLst>
                </a:gridCol>
                <a:gridCol w="550898">
                  <a:extLst>
                    <a:ext uri="{9D8B030D-6E8A-4147-A177-3AD203B41FA5}">
                      <a16:colId xmlns:a16="http://schemas.microsoft.com/office/drawing/2014/main" xmlns="" val="13515424"/>
                    </a:ext>
                  </a:extLst>
                </a:gridCol>
                <a:gridCol w="550898">
                  <a:extLst>
                    <a:ext uri="{9D8B030D-6E8A-4147-A177-3AD203B41FA5}">
                      <a16:colId xmlns:a16="http://schemas.microsoft.com/office/drawing/2014/main" xmlns="" val="2156522820"/>
                    </a:ext>
                  </a:extLst>
                </a:gridCol>
                <a:gridCol w="550898">
                  <a:extLst>
                    <a:ext uri="{9D8B030D-6E8A-4147-A177-3AD203B41FA5}">
                      <a16:colId xmlns:a16="http://schemas.microsoft.com/office/drawing/2014/main" xmlns="" val="901227164"/>
                    </a:ext>
                  </a:extLst>
                </a:gridCol>
              </a:tblGrid>
              <a:tr h="345440">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C</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D</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93493312"/>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21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27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19765386"/>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987875359"/>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C</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98231523"/>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D</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33239567"/>
                  </a:ext>
                </a:extLst>
              </a:tr>
            </a:tbl>
          </a:graphicData>
        </a:graphic>
      </p:graphicFrame>
      <p:grpSp>
        <p:nvGrpSpPr>
          <p:cNvPr id="5" name="群組 4"/>
          <p:cNvGrpSpPr/>
          <p:nvPr/>
        </p:nvGrpSpPr>
        <p:grpSpPr>
          <a:xfrm>
            <a:off x="3592690" y="1690688"/>
            <a:ext cx="2996269" cy="1477328"/>
            <a:chOff x="3592690" y="1690688"/>
            <a:chExt cx="2996269" cy="1477328"/>
          </a:xfrm>
        </p:grpSpPr>
        <mc:AlternateContent xmlns:mc="http://schemas.openxmlformats.org/markup-compatibility/2006" xmlns:a14="http://schemas.microsoft.com/office/drawing/2010/main">
          <mc:Choice Requires="a14">
            <p:sp>
              <p:nvSpPr>
                <p:cNvPr id="6" name="文字方塊 5"/>
                <p:cNvSpPr txBox="1"/>
                <p:nvPr/>
              </p:nvSpPr>
              <p:spPr>
                <a:xfrm>
                  <a:off x="3592690" y="2429352"/>
                  <a:ext cx="2996269"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3</m:t>
                          </m:r>
                        </m:sub>
                      </m:sSub>
                    </m:oMath>
                  </a14:m>
                  <a:r>
                    <a:rPr lang="en-US" altLang="zh-TW" dirty="0"/>
                    <a:t> = (21+12+14) / (n-2) = </a:t>
                  </a:r>
                  <a:r>
                    <a:rPr lang="en-US" altLang="zh-TW" dirty="0">
                      <a:solidFill>
                        <a:srgbClr val="FF0000"/>
                      </a:solidFill>
                    </a:rPr>
                    <a:t>23.5</a:t>
                  </a:r>
                  <a:endParaRPr lang="zh-TW" altLang="en-US" dirty="0">
                    <a:solidFill>
                      <a:srgbClr val="FF0000"/>
                    </a:solidFill>
                  </a:endParaRPr>
                </a:p>
              </p:txBody>
            </p:sp>
          </mc:Choice>
          <mc:Fallback xmlns="">
            <p:sp>
              <p:nvSpPr>
                <p:cNvPr id="6" name="文字方塊 5"/>
                <p:cNvSpPr txBox="1">
                  <a:spLocks noRot="1" noChangeAspect="1" noMove="1" noResize="1" noEditPoints="1" noAdjustHandles="1" noChangeArrowheads="1" noChangeShapeType="1" noTextEdit="1"/>
                </p:cNvSpPr>
                <p:nvPr/>
              </p:nvSpPr>
              <p:spPr>
                <a:xfrm>
                  <a:off x="3592690" y="2429352"/>
                  <a:ext cx="2996269" cy="369332"/>
                </a:xfrm>
                <a:prstGeom prst="rect">
                  <a:avLst/>
                </a:prstGeom>
                <a:blipFill>
                  <a:blip r:embed="rId2"/>
                  <a:stretch>
                    <a:fillRect t="-10000" r="-813" b="-26667"/>
                  </a:stretch>
                </a:blipFill>
              </p:spPr>
              <p:txBody>
                <a:bodyPr/>
                <a:lstStyle/>
                <a:p>
                  <a:r>
                    <a:rPr lang="zh-TW" altLang="en-US">
                      <a:noFill/>
                    </a:rPr>
                    <a:t> </a:t>
                  </a:r>
                </a:p>
              </p:txBody>
            </p:sp>
          </mc:Fallback>
        </mc:AlternateContent>
        <p:grpSp>
          <p:nvGrpSpPr>
            <p:cNvPr id="7" name="群組 6"/>
            <p:cNvGrpSpPr/>
            <p:nvPr/>
          </p:nvGrpSpPr>
          <p:grpSpPr>
            <a:xfrm>
              <a:off x="3592690" y="1690688"/>
              <a:ext cx="2996269" cy="1477328"/>
              <a:chOff x="3592690" y="1690688"/>
              <a:chExt cx="2996269" cy="1477328"/>
            </a:xfrm>
          </p:grpSpPr>
          <mc:AlternateContent xmlns:mc="http://schemas.openxmlformats.org/markup-compatibility/2006" xmlns:a14="http://schemas.microsoft.com/office/drawing/2010/main">
            <mc:Choice Requires="a14">
              <p:sp>
                <p:nvSpPr>
                  <p:cNvPr id="8" name="文字方塊 7"/>
                  <p:cNvSpPr txBox="1"/>
                  <p:nvPr/>
                </p:nvSpPr>
                <p:spPr>
                  <a:xfrm>
                    <a:off x="3592690" y="1690688"/>
                    <a:ext cx="2990947"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1</m:t>
                            </m:r>
                          </m:sub>
                        </m:sSub>
                      </m:oMath>
                    </a14:m>
                    <a:r>
                      <a:rPr lang="en-US" altLang="zh-TW" dirty="0"/>
                      <a:t> = (17+21+27) / (n-2) = </a:t>
                    </a:r>
                    <a:r>
                      <a:rPr lang="en-US" altLang="zh-TW" dirty="0">
                        <a:solidFill>
                          <a:srgbClr val="FF0000"/>
                        </a:solidFill>
                      </a:rPr>
                      <a:t>32.5</a:t>
                    </a:r>
                    <a:endParaRPr lang="zh-TW" altLang="en-US" dirty="0">
                      <a:solidFill>
                        <a:srgbClr val="FF0000"/>
                      </a:solidFill>
                    </a:endParaRPr>
                  </a:p>
                </p:txBody>
              </p:sp>
            </mc:Choice>
            <mc:Fallback xmlns="">
              <p:sp>
                <p:nvSpPr>
                  <p:cNvPr id="8" name="文字方塊 7"/>
                  <p:cNvSpPr txBox="1">
                    <a:spLocks noRot="1" noChangeAspect="1" noMove="1" noResize="1" noEditPoints="1" noAdjustHandles="1" noChangeArrowheads="1" noChangeShapeType="1" noTextEdit="1"/>
                  </p:cNvSpPr>
                  <p:nvPr/>
                </p:nvSpPr>
                <p:spPr>
                  <a:xfrm>
                    <a:off x="3592690" y="1690688"/>
                    <a:ext cx="2990947" cy="369332"/>
                  </a:xfrm>
                  <a:prstGeom prst="rect">
                    <a:avLst/>
                  </a:prstGeom>
                  <a:blipFill>
                    <a:blip r:embed="rId3"/>
                    <a:stretch>
                      <a:fillRect t="-8197" r="-815"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3592690" y="2060020"/>
                    <a:ext cx="2996269"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2</m:t>
                            </m:r>
                          </m:sub>
                        </m:sSub>
                      </m:oMath>
                    </a14:m>
                    <a:r>
                      <a:rPr lang="en-US" altLang="zh-TW" dirty="0"/>
                      <a:t> = (17+12+18) / (n-2) = </a:t>
                    </a:r>
                    <a:r>
                      <a:rPr lang="en-US" altLang="zh-TW" dirty="0">
                        <a:solidFill>
                          <a:srgbClr val="FF0000"/>
                        </a:solidFill>
                      </a:rPr>
                      <a:t>23.5</a:t>
                    </a:r>
                    <a:endParaRPr lang="zh-TW" altLang="en-US" dirty="0">
                      <a:solidFill>
                        <a:srgbClr val="FF0000"/>
                      </a:solidFill>
                    </a:endParaRPr>
                  </a:p>
                </p:txBody>
              </p:sp>
            </mc:Choice>
            <mc:Fallback xmlns="">
              <p:sp>
                <p:nvSpPr>
                  <p:cNvPr id="9" name="文字方塊 8"/>
                  <p:cNvSpPr txBox="1">
                    <a:spLocks noRot="1" noChangeAspect="1" noMove="1" noResize="1" noEditPoints="1" noAdjustHandles="1" noChangeArrowheads="1" noChangeShapeType="1" noTextEdit="1"/>
                  </p:cNvSpPr>
                  <p:nvPr/>
                </p:nvSpPr>
                <p:spPr>
                  <a:xfrm>
                    <a:off x="3592690" y="2060020"/>
                    <a:ext cx="2996269" cy="369332"/>
                  </a:xfrm>
                  <a:prstGeom prst="rect">
                    <a:avLst/>
                  </a:prstGeom>
                  <a:blipFill>
                    <a:blip r:embed="rId4"/>
                    <a:stretch>
                      <a:fillRect t="-9836" r="-813"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3592690" y="2798684"/>
                    <a:ext cx="2996269"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4</m:t>
                            </m:r>
                          </m:sub>
                        </m:sSub>
                      </m:oMath>
                    </a14:m>
                    <a:r>
                      <a:rPr lang="en-US" altLang="zh-TW" dirty="0"/>
                      <a:t> = (27+18+14) / (n-2) = </a:t>
                    </a:r>
                    <a:r>
                      <a:rPr lang="en-US" altLang="zh-TW" dirty="0">
                        <a:solidFill>
                          <a:srgbClr val="FF0000"/>
                        </a:solidFill>
                      </a:rPr>
                      <a:t>29.5</a:t>
                    </a:r>
                    <a:endParaRPr lang="zh-TW" altLang="en-US" dirty="0">
                      <a:solidFill>
                        <a:srgbClr val="FF0000"/>
                      </a:solidFill>
                    </a:endParaRPr>
                  </a:p>
                </p:txBody>
              </p:sp>
            </mc:Choice>
            <mc:Fallback xmlns="">
              <p:sp>
                <p:nvSpPr>
                  <p:cNvPr id="10" name="文字方塊 9"/>
                  <p:cNvSpPr txBox="1">
                    <a:spLocks noRot="1" noChangeAspect="1" noMove="1" noResize="1" noEditPoints="1" noAdjustHandles="1" noChangeArrowheads="1" noChangeShapeType="1" noTextEdit="1"/>
                  </p:cNvSpPr>
                  <p:nvPr/>
                </p:nvSpPr>
                <p:spPr>
                  <a:xfrm>
                    <a:off x="3592690" y="2798684"/>
                    <a:ext cx="2996269" cy="369332"/>
                  </a:xfrm>
                  <a:prstGeom prst="rect">
                    <a:avLst/>
                  </a:prstGeom>
                  <a:blipFill>
                    <a:blip r:embed="rId5"/>
                    <a:stretch>
                      <a:fillRect t="-8197" r="-813" b="-24590"/>
                    </a:stretch>
                  </a:blipFill>
                </p:spPr>
                <p:txBody>
                  <a:bodyPr/>
                  <a:lstStyle/>
                  <a:p>
                    <a:r>
                      <a:rPr lang="zh-TW" altLang="en-US">
                        <a:noFill/>
                      </a:rPr>
                      <a:t> </a:t>
                    </a:r>
                  </a:p>
                </p:txBody>
              </p:sp>
            </mc:Fallback>
          </mc:AlternateContent>
        </p:grpSp>
      </p:grpSp>
      <p:graphicFrame>
        <p:nvGraphicFramePr>
          <p:cNvPr id="11" name="表格 10"/>
          <p:cNvGraphicFramePr>
            <a:graphicFrameLocks noGrp="1"/>
          </p:cNvGraphicFramePr>
          <p:nvPr>
            <p:extLst>
              <p:ext uri="{D42A27DB-BD31-4B8C-83A1-F6EECF244321}">
                <p14:modId xmlns:p14="http://schemas.microsoft.com/office/powerpoint/2010/main" val="1981341874"/>
              </p:ext>
            </p:extLst>
          </p:nvPr>
        </p:nvGraphicFramePr>
        <p:xfrm>
          <a:off x="745067" y="4162955"/>
          <a:ext cx="2754490" cy="1828800"/>
        </p:xfrm>
        <a:graphic>
          <a:graphicData uri="http://schemas.openxmlformats.org/drawingml/2006/table">
            <a:tbl>
              <a:tblPr firstRow="1" bandRow="1">
                <a:tableStyleId>{5C22544A-7EE6-4342-B048-85BDC9FD1C3A}</a:tableStyleId>
              </a:tblPr>
              <a:tblGrid>
                <a:gridCol w="550898">
                  <a:extLst>
                    <a:ext uri="{9D8B030D-6E8A-4147-A177-3AD203B41FA5}">
                      <a16:colId xmlns:a16="http://schemas.microsoft.com/office/drawing/2014/main" xmlns="" val="1155465239"/>
                    </a:ext>
                  </a:extLst>
                </a:gridCol>
                <a:gridCol w="550898">
                  <a:extLst>
                    <a:ext uri="{9D8B030D-6E8A-4147-A177-3AD203B41FA5}">
                      <a16:colId xmlns:a16="http://schemas.microsoft.com/office/drawing/2014/main" xmlns="" val="2219819070"/>
                    </a:ext>
                  </a:extLst>
                </a:gridCol>
                <a:gridCol w="550898">
                  <a:extLst>
                    <a:ext uri="{9D8B030D-6E8A-4147-A177-3AD203B41FA5}">
                      <a16:colId xmlns:a16="http://schemas.microsoft.com/office/drawing/2014/main" xmlns="" val="13515424"/>
                    </a:ext>
                  </a:extLst>
                </a:gridCol>
                <a:gridCol w="550898">
                  <a:extLst>
                    <a:ext uri="{9D8B030D-6E8A-4147-A177-3AD203B41FA5}">
                      <a16:colId xmlns:a16="http://schemas.microsoft.com/office/drawing/2014/main" xmlns="" val="2156522820"/>
                    </a:ext>
                  </a:extLst>
                </a:gridCol>
                <a:gridCol w="550898">
                  <a:extLst>
                    <a:ext uri="{9D8B030D-6E8A-4147-A177-3AD203B41FA5}">
                      <a16:colId xmlns:a16="http://schemas.microsoft.com/office/drawing/2014/main" xmlns="" val="901227164"/>
                    </a:ext>
                  </a:extLst>
                </a:gridCol>
              </a:tblGrid>
              <a:tr h="345440">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C</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D</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93493312"/>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rgbClr val="FF0000"/>
                          </a:solidFill>
                          <a:latin typeface="Times New Roman" panose="02020603050405020304" pitchFamily="18" charset="0"/>
                          <a:cs typeface="Times New Roman" panose="02020603050405020304" pitchFamily="18" charset="0"/>
                        </a:rPr>
                        <a:t>-39</a:t>
                      </a:r>
                      <a:endParaRPr lang="zh-TW" altLang="en-US" b="0" i="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-35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-35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19765386"/>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-35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-35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987875359"/>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C</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rgbClr val="FF0000"/>
                          </a:solidFill>
                          <a:latin typeface="Times New Roman" panose="02020603050405020304" pitchFamily="18" charset="0"/>
                          <a:cs typeface="Times New Roman" panose="02020603050405020304" pitchFamily="18" charset="0"/>
                        </a:rPr>
                        <a:t>-39</a:t>
                      </a:r>
                      <a:endParaRPr lang="zh-TW" altLang="en-US" b="0" i="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98231523"/>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D</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33239567"/>
                  </a:ext>
                </a:extLst>
              </a:tr>
            </a:tbl>
          </a:graphicData>
        </a:graphic>
      </p:graphicFrame>
      <mc:AlternateContent xmlns:mc="http://schemas.openxmlformats.org/markup-compatibility/2006">
        <mc:Choice xmlns:a14="http://schemas.microsoft.com/office/drawing/2010/main" Requires="a14">
          <p:sp>
            <p:nvSpPr>
              <p:cNvPr id="12" name="文字方塊 11"/>
              <p:cNvSpPr txBox="1"/>
              <p:nvPr/>
            </p:nvSpPr>
            <p:spPr>
              <a:xfrm>
                <a:off x="1251208" y="5991755"/>
                <a:ext cx="1708224"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 −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𝑗</m:t>
                          </m:r>
                        </m:sub>
                      </m:sSub>
                    </m:oMath>
                  </m:oMathPara>
                </a14:m>
                <a:endParaRPr lang="zh-TW" altLang="en-US" dirty="0"/>
              </a:p>
            </p:txBody>
          </p:sp>
        </mc:Choice>
        <mc:Fallback>
          <p:sp>
            <p:nvSpPr>
              <p:cNvPr id="12" name="文字方塊 11"/>
              <p:cNvSpPr txBox="1">
                <a:spLocks noRot="1" noChangeAspect="1" noMove="1" noResize="1" noEditPoints="1" noAdjustHandles="1" noChangeArrowheads="1" noChangeShapeType="1" noTextEdit="1"/>
              </p:cNvSpPr>
              <p:nvPr/>
            </p:nvSpPr>
            <p:spPr>
              <a:xfrm>
                <a:off x="1251208" y="5991755"/>
                <a:ext cx="1708224" cy="391646"/>
              </a:xfrm>
              <a:prstGeom prst="rect">
                <a:avLst/>
              </a:prstGeom>
              <a:blipFill rotWithShape="0">
                <a:blip r:embed="rId6"/>
                <a:stretch>
                  <a:fillRect b="-7813"/>
                </a:stretch>
              </a:blipFill>
            </p:spPr>
            <p:txBody>
              <a:bodyPr/>
              <a:lstStyle/>
              <a:p>
                <a:r>
                  <a:rPr lang="zh-TW" altLang="en-US">
                    <a:noFill/>
                  </a:rPr>
                  <a:t> </a:t>
                </a:r>
              </a:p>
            </p:txBody>
          </p:sp>
        </mc:Fallback>
      </mc:AlternateContent>
      <p:grpSp>
        <p:nvGrpSpPr>
          <p:cNvPr id="29" name="群組 28"/>
          <p:cNvGrpSpPr/>
          <p:nvPr/>
        </p:nvGrpSpPr>
        <p:grpSpPr>
          <a:xfrm>
            <a:off x="4715458" y="3827490"/>
            <a:ext cx="1462819" cy="1158998"/>
            <a:chOff x="4715458" y="3827490"/>
            <a:chExt cx="1462819" cy="1158998"/>
          </a:xfrm>
        </p:grpSpPr>
        <p:grpSp>
          <p:nvGrpSpPr>
            <p:cNvPr id="13" name="群組 12"/>
            <p:cNvGrpSpPr/>
            <p:nvPr/>
          </p:nvGrpSpPr>
          <p:grpSpPr>
            <a:xfrm>
              <a:off x="4715458" y="3827490"/>
              <a:ext cx="1462819" cy="1158998"/>
              <a:chOff x="4715458" y="3827490"/>
              <a:chExt cx="1462819" cy="1158998"/>
            </a:xfrm>
          </p:grpSpPr>
          <p:cxnSp>
            <p:nvCxnSpPr>
              <p:cNvPr id="14" name="直線接點 13"/>
              <p:cNvCxnSpPr>
                <a:cxnSpLocks/>
              </p:cNvCxnSpPr>
              <p:nvPr/>
            </p:nvCxnSpPr>
            <p:spPr>
              <a:xfrm>
                <a:off x="4933244" y="4154311"/>
                <a:ext cx="496712" cy="462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線接點 14"/>
              <p:cNvCxnSpPr>
                <a:cxnSpLocks/>
              </p:cNvCxnSpPr>
              <p:nvPr/>
            </p:nvCxnSpPr>
            <p:spPr>
              <a:xfrm flipH="1">
                <a:off x="5429956" y="4151666"/>
                <a:ext cx="496711" cy="465491"/>
              </a:xfrm>
              <a:prstGeom prst="line">
                <a:avLst/>
              </a:prstGeom>
            </p:spPr>
            <p:style>
              <a:lnRef idx="1">
                <a:schemeClr val="accent1"/>
              </a:lnRef>
              <a:fillRef idx="0">
                <a:schemeClr val="accent1"/>
              </a:fillRef>
              <a:effectRef idx="0">
                <a:schemeClr val="accent1"/>
              </a:effectRef>
              <a:fontRef idx="minor">
                <a:schemeClr val="tx1"/>
              </a:fontRef>
            </p:style>
          </p:cxnSp>
          <p:sp>
            <p:nvSpPr>
              <p:cNvPr id="16" name="文字方塊 15"/>
              <p:cNvSpPr txBox="1"/>
              <p:nvPr/>
            </p:nvSpPr>
            <p:spPr>
              <a:xfrm>
                <a:off x="4715458" y="3827490"/>
                <a:ext cx="308098" cy="369332"/>
              </a:xfrm>
              <a:prstGeom prst="rect">
                <a:avLst/>
              </a:prstGeom>
              <a:noFill/>
            </p:spPr>
            <p:txBody>
              <a:bodyPr wrap="none" rtlCol="0">
                <a:spAutoFit/>
              </a:bodyPr>
              <a:lstStyle/>
              <a:p>
                <a:r>
                  <a:rPr lang="en-US" altLang="zh-TW" dirty="0"/>
                  <a:t>C</a:t>
                </a:r>
                <a:endParaRPr lang="zh-TW" altLang="en-US" dirty="0"/>
              </a:p>
            </p:txBody>
          </p:sp>
          <p:sp>
            <p:nvSpPr>
              <p:cNvPr id="17" name="文字方塊 16"/>
              <p:cNvSpPr txBox="1"/>
              <p:nvPr/>
            </p:nvSpPr>
            <p:spPr>
              <a:xfrm>
                <a:off x="5850943" y="3838779"/>
                <a:ext cx="327334" cy="369332"/>
              </a:xfrm>
              <a:prstGeom prst="rect">
                <a:avLst/>
              </a:prstGeom>
              <a:noFill/>
            </p:spPr>
            <p:txBody>
              <a:bodyPr wrap="none" rtlCol="0">
                <a:spAutoFit/>
              </a:bodyPr>
              <a:lstStyle/>
              <a:p>
                <a:r>
                  <a:rPr lang="en-US" altLang="zh-TW" dirty="0"/>
                  <a:t>D</a:t>
                </a:r>
                <a:endParaRPr lang="zh-TW" altLang="en-US" dirty="0"/>
              </a:p>
            </p:txBody>
          </p:sp>
          <p:sp>
            <p:nvSpPr>
              <p:cNvPr id="18" name="文字方塊 17"/>
              <p:cNvSpPr txBox="1"/>
              <p:nvPr/>
            </p:nvSpPr>
            <p:spPr>
              <a:xfrm>
                <a:off x="5277510" y="4617156"/>
                <a:ext cx="304892" cy="369332"/>
              </a:xfrm>
              <a:prstGeom prst="rect">
                <a:avLst/>
              </a:prstGeom>
              <a:noFill/>
            </p:spPr>
            <p:txBody>
              <a:bodyPr wrap="none" rtlCol="0">
                <a:spAutoFit/>
              </a:bodyPr>
              <a:lstStyle/>
              <a:p>
                <a:r>
                  <a:rPr lang="en-US" altLang="zh-TW" dirty="0"/>
                  <a:t>X</a:t>
                </a:r>
                <a:endParaRPr lang="zh-TW" altLang="en-US" dirty="0"/>
              </a:p>
            </p:txBody>
          </p:sp>
        </p:grpSp>
        <p:grpSp>
          <p:nvGrpSpPr>
            <p:cNvPr id="19" name="群組 18"/>
            <p:cNvGrpSpPr/>
            <p:nvPr/>
          </p:nvGrpSpPr>
          <p:grpSpPr>
            <a:xfrm>
              <a:off x="4791765" y="4246503"/>
              <a:ext cx="1321815" cy="370654"/>
              <a:chOff x="4791765" y="4246503"/>
              <a:chExt cx="1321815" cy="370654"/>
            </a:xfrm>
          </p:grpSpPr>
          <p:sp>
            <p:nvSpPr>
              <p:cNvPr id="20" name="文字方塊 19"/>
              <p:cNvSpPr txBox="1"/>
              <p:nvPr/>
            </p:nvSpPr>
            <p:spPr>
              <a:xfrm>
                <a:off x="4791765" y="4247825"/>
                <a:ext cx="301686" cy="369332"/>
              </a:xfrm>
              <a:prstGeom prst="rect">
                <a:avLst/>
              </a:prstGeom>
              <a:noFill/>
            </p:spPr>
            <p:txBody>
              <a:bodyPr wrap="none" rtlCol="0">
                <a:spAutoFit/>
              </a:bodyPr>
              <a:lstStyle/>
              <a:p>
                <a:r>
                  <a:rPr lang="en-US" altLang="zh-TW" dirty="0"/>
                  <a:t>4</a:t>
                </a:r>
                <a:endParaRPr lang="zh-TW" altLang="en-US" dirty="0"/>
              </a:p>
            </p:txBody>
          </p:sp>
          <p:sp>
            <p:nvSpPr>
              <p:cNvPr id="21" name="文字方塊 20"/>
              <p:cNvSpPr txBox="1"/>
              <p:nvPr/>
            </p:nvSpPr>
            <p:spPr>
              <a:xfrm>
                <a:off x="5694876" y="4246503"/>
                <a:ext cx="418704" cy="369332"/>
              </a:xfrm>
              <a:prstGeom prst="rect">
                <a:avLst/>
              </a:prstGeom>
              <a:noFill/>
            </p:spPr>
            <p:txBody>
              <a:bodyPr wrap="none" rtlCol="0">
                <a:spAutoFit/>
              </a:bodyPr>
              <a:lstStyle/>
              <a:p>
                <a:r>
                  <a:rPr lang="en-US" altLang="zh-TW" dirty="0"/>
                  <a:t>10</a:t>
                </a:r>
                <a:endParaRPr lang="zh-TW" altLang="en-US" dirty="0"/>
              </a:p>
            </p:txBody>
          </p:sp>
        </p:grpSp>
      </p:grpSp>
      <p:grpSp>
        <p:nvGrpSpPr>
          <p:cNvPr id="22" name="群組 21"/>
          <p:cNvGrpSpPr/>
          <p:nvPr/>
        </p:nvGrpSpPr>
        <p:grpSpPr>
          <a:xfrm>
            <a:off x="6964073" y="3488267"/>
            <a:ext cx="3325590" cy="742158"/>
            <a:chOff x="6964073" y="3488267"/>
            <a:chExt cx="3325590" cy="742158"/>
          </a:xfrm>
        </p:grpSpPr>
        <mc:AlternateContent xmlns:mc="http://schemas.openxmlformats.org/markup-compatibility/2006" xmlns:a14="http://schemas.microsoft.com/office/drawing/2010/main">
          <mc:Choice Requires="a14">
            <p:sp>
              <p:nvSpPr>
                <p:cNvPr id="23" name="文字方塊 22"/>
                <p:cNvSpPr txBox="1"/>
                <p:nvPr/>
              </p:nvSpPr>
              <p:spPr>
                <a:xfrm>
                  <a:off x="7010400" y="3488267"/>
                  <a:ext cx="3232936"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oMath>
                    </m:oMathPara>
                  </a14:m>
                  <a:endParaRPr lang="zh-TW" altLang="en-US"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7010400" y="3488267"/>
                  <a:ext cx="3232936" cy="391646"/>
                </a:xfrm>
                <a:prstGeom prst="rect">
                  <a:avLst/>
                </a:prstGeom>
                <a:blipFill>
                  <a:blip r:embed="rId7"/>
                  <a:stretch>
                    <a:fillRect b="-93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6964073" y="3838779"/>
                  <a:ext cx="3325590"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oMath>
                    </m:oMathPara>
                  </a14:m>
                  <a:endParaRPr lang="zh-TW" altLang="en-US"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6964073" y="3838779"/>
                  <a:ext cx="3325590" cy="391646"/>
                </a:xfrm>
                <a:prstGeom prst="rect">
                  <a:avLst/>
                </a:prstGeom>
                <a:blipFill>
                  <a:blip r:embed="rId8"/>
                  <a:stretch>
                    <a:fillRect b="-7813"/>
                  </a:stretch>
                </a:blipFill>
              </p:spPr>
              <p:txBody>
                <a:bodyPr/>
                <a:lstStyle/>
                <a:p>
                  <a:r>
                    <a:rPr lang="zh-TW" altLang="en-US">
                      <a:noFill/>
                    </a:rPr>
                    <a:t> </a:t>
                  </a:r>
                </a:p>
              </p:txBody>
            </p:sp>
          </mc:Fallback>
        </mc:AlternateContent>
      </p:grpSp>
      <p:sp>
        <p:nvSpPr>
          <p:cNvPr id="25"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Neighbor-joining</a:t>
            </a:r>
            <a:endParaRPr lang="zh-TW" altLang="en-US" dirty="0">
              <a:latin typeface="Times New Roman" panose="02020603050405020304" pitchFamily="18" charset="0"/>
              <a:cs typeface="Times New Roman" panose="02020603050405020304" pitchFamily="18" charset="0"/>
            </a:endParaRPr>
          </a:p>
        </p:txBody>
      </p:sp>
      <p:grpSp>
        <p:nvGrpSpPr>
          <p:cNvPr id="26" name="群組 25"/>
          <p:cNvGrpSpPr/>
          <p:nvPr/>
        </p:nvGrpSpPr>
        <p:grpSpPr>
          <a:xfrm>
            <a:off x="7004709" y="4615409"/>
            <a:ext cx="3931461" cy="719844"/>
            <a:chOff x="6964073" y="3488267"/>
            <a:chExt cx="3931461" cy="719844"/>
          </a:xfrm>
        </p:grpSpPr>
        <mc:AlternateContent xmlns:mc="http://schemas.openxmlformats.org/markup-compatibility/2006" xmlns:a14="http://schemas.microsoft.com/office/drawing/2010/main">
          <mc:Choice Requires="a14">
            <p:sp>
              <p:nvSpPr>
                <p:cNvPr id="27" name="文字方塊 26"/>
                <p:cNvSpPr txBox="1"/>
                <p:nvPr/>
              </p:nvSpPr>
              <p:spPr>
                <a:xfrm>
                  <a:off x="6964073" y="3488267"/>
                  <a:ext cx="381309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34</m:t>
                            </m:r>
                          </m:sub>
                        </m:sSub>
                        <m:r>
                          <a:rPr lang="en-US" altLang="zh-TW" b="0" i="1" smtClean="0">
                            <a:latin typeface="Cambria Math" panose="02040503050406030204" pitchFamily="18" charset="0"/>
                          </a:rPr>
                          <m:t>+0.5∗</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4</m:t>
                                </m:r>
                              </m:sub>
                            </m:sSub>
                          </m:e>
                        </m:d>
                        <m:r>
                          <a:rPr lang="en-US" altLang="zh-TW" b="0" i="1" smtClean="0">
                            <a:latin typeface="Cambria Math" panose="02040503050406030204" pitchFamily="18" charset="0"/>
                          </a:rPr>
                          <m:t>=4</m:t>
                        </m:r>
                      </m:oMath>
                    </m:oMathPara>
                  </a14:m>
                  <a:endParaRPr lang="zh-TW" altLang="en-US" dirty="0"/>
                </a:p>
              </p:txBody>
            </p:sp>
          </mc:Choice>
          <mc:Fallback xmlns="">
            <p:sp>
              <p:nvSpPr>
                <p:cNvPr id="27" name="文字方塊 26"/>
                <p:cNvSpPr txBox="1">
                  <a:spLocks noRot="1" noChangeAspect="1" noMove="1" noResize="1" noEditPoints="1" noAdjustHandles="1" noChangeArrowheads="1" noChangeShapeType="1" noTextEdit="1"/>
                </p:cNvSpPr>
                <p:nvPr/>
              </p:nvSpPr>
              <p:spPr>
                <a:xfrm>
                  <a:off x="6964073" y="3488267"/>
                  <a:ext cx="3813095" cy="369332"/>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6964073" y="3838779"/>
                  <a:ext cx="39314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4</m:t>
                            </m:r>
                          </m:sub>
                        </m:sSub>
                        <m:r>
                          <a:rPr lang="en-US" altLang="zh-TW" b="0" i="1" smtClean="0">
                            <a:latin typeface="Cambria Math" panose="02040503050406030204" pitchFamily="18" charset="0"/>
                          </a:rPr>
                          <m:t>=0.5∗</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34</m:t>
                            </m:r>
                          </m:sub>
                        </m:sSub>
                        <m:r>
                          <a:rPr lang="en-US" altLang="zh-TW" b="0" i="1" smtClean="0">
                            <a:latin typeface="Cambria Math" panose="02040503050406030204" pitchFamily="18" charset="0"/>
                          </a:rPr>
                          <m:t>+0.5∗</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4</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3</m:t>
                                </m:r>
                              </m:sub>
                            </m:sSub>
                          </m:e>
                        </m:d>
                        <m:r>
                          <a:rPr lang="en-US" altLang="zh-TW" b="0" i="1" smtClean="0">
                            <a:latin typeface="Cambria Math" panose="02040503050406030204" pitchFamily="18" charset="0"/>
                          </a:rPr>
                          <m:t>=10</m:t>
                        </m:r>
                      </m:oMath>
                    </m:oMathPara>
                  </a14:m>
                  <a:endParaRPr lang="zh-TW" altLang="en-US"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6964073" y="3838779"/>
                  <a:ext cx="3931461" cy="369332"/>
                </a:xfrm>
                <a:prstGeom prst="rect">
                  <a:avLst/>
                </a:prstGeom>
                <a:blipFill>
                  <a:blip r:embed="rId10"/>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672103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Neighbor-joining</a:t>
            </a:r>
            <a:endParaRPr lang="zh-TW" altLang="en-US" dirty="0">
              <a:latin typeface="Times New Roman" panose="02020603050405020304" pitchFamily="18" charset="0"/>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732645734"/>
              </p:ext>
            </p:extLst>
          </p:nvPr>
        </p:nvGraphicFramePr>
        <p:xfrm>
          <a:off x="745067" y="1343377"/>
          <a:ext cx="2295410" cy="1828800"/>
        </p:xfrm>
        <a:graphic>
          <a:graphicData uri="http://schemas.openxmlformats.org/drawingml/2006/table">
            <a:tbl>
              <a:tblPr firstRow="1" bandRow="1">
                <a:tableStyleId>{5C22544A-7EE6-4342-B048-85BDC9FD1C3A}</a:tableStyleId>
              </a:tblPr>
              <a:tblGrid>
                <a:gridCol w="459082">
                  <a:extLst>
                    <a:ext uri="{9D8B030D-6E8A-4147-A177-3AD203B41FA5}">
                      <a16:colId xmlns:a16="http://schemas.microsoft.com/office/drawing/2014/main" xmlns="" val="1155465239"/>
                    </a:ext>
                  </a:extLst>
                </a:gridCol>
                <a:gridCol w="459082">
                  <a:extLst>
                    <a:ext uri="{9D8B030D-6E8A-4147-A177-3AD203B41FA5}">
                      <a16:colId xmlns:a16="http://schemas.microsoft.com/office/drawing/2014/main" xmlns="" val="2219819070"/>
                    </a:ext>
                  </a:extLst>
                </a:gridCol>
                <a:gridCol w="459082">
                  <a:extLst>
                    <a:ext uri="{9D8B030D-6E8A-4147-A177-3AD203B41FA5}">
                      <a16:colId xmlns:a16="http://schemas.microsoft.com/office/drawing/2014/main" xmlns="" val="13515424"/>
                    </a:ext>
                  </a:extLst>
                </a:gridCol>
                <a:gridCol w="459082">
                  <a:extLst>
                    <a:ext uri="{9D8B030D-6E8A-4147-A177-3AD203B41FA5}">
                      <a16:colId xmlns:a16="http://schemas.microsoft.com/office/drawing/2014/main" xmlns="" val="2156522820"/>
                    </a:ext>
                  </a:extLst>
                </a:gridCol>
                <a:gridCol w="459082">
                  <a:extLst>
                    <a:ext uri="{9D8B030D-6E8A-4147-A177-3AD203B41FA5}">
                      <a16:colId xmlns:a16="http://schemas.microsoft.com/office/drawing/2014/main" xmlns="" val="901227164"/>
                    </a:ext>
                  </a:extLst>
                </a:gridCol>
              </a:tblGrid>
              <a:tr h="345440">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C</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D</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93493312"/>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21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27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19765386"/>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987875359"/>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C</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98231523"/>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D</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33239567"/>
                  </a:ext>
                </a:extLst>
              </a:tr>
            </a:tbl>
          </a:graphicData>
        </a:graphic>
      </p:graphicFrame>
      <p:grpSp>
        <p:nvGrpSpPr>
          <p:cNvPr id="17" name="群組 16"/>
          <p:cNvGrpSpPr/>
          <p:nvPr/>
        </p:nvGrpSpPr>
        <p:grpSpPr>
          <a:xfrm>
            <a:off x="3676880" y="1666022"/>
            <a:ext cx="1462819" cy="1158998"/>
            <a:chOff x="4715458" y="3827490"/>
            <a:chExt cx="1462819" cy="1158998"/>
          </a:xfrm>
        </p:grpSpPr>
        <p:grpSp>
          <p:nvGrpSpPr>
            <p:cNvPr id="18" name="群組 17"/>
            <p:cNvGrpSpPr/>
            <p:nvPr/>
          </p:nvGrpSpPr>
          <p:grpSpPr>
            <a:xfrm>
              <a:off x="4715458" y="3827490"/>
              <a:ext cx="1462819" cy="1158998"/>
              <a:chOff x="4715458" y="3827490"/>
              <a:chExt cx="1462819" cy="1158998"/>
            </a:xfrm>
          </p:grpSpPr>
          <p:cxnSp>
            <p:nvCxnSpPr>
              <p:cNvPr id="22" name="直線接點 21"/>
              <p:cNvCxnSpPr>
                <a:cxnSpLocks/>
              </p:cNvCxnSpPr>
              <p:nvPr/>
            </p:nvCxnSpPr>
            <p:spPr>
              <a:xfrm>
                <a:off x="4933244" y="4154311"/>
                <a:ext cx="496712" cy="462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線接點 22"/>
              <p:cNvCxnSpPr>
                <a:cxnSpLocks/>
              </p:cNvCxnSpPr>
              <p:nvPr/>
            </p:nvCxnSpPr>
            <p:spPr>
              <a:xfrm flipH="1">
                <a:off x="5429956" y="4151666"/>
                <a:ext cx="496711" cy="465491"/>
              </a:xfrm>
              <a:prstGeom prst="line">
                <a:avLst/>
              </a:prstGeom>
            </p:spPr>
            <p:style>
              <a:lnRef idx="1">
                <a:schemeClr val="accent1"/>
              </a:lnRef>
              <a:fillRef idx="0">
                <a:schemeClr val="accent1"/>
              </a:fillRef>
              <a:effectRef idx="0">
                <a:schemeClr val="accent1"/>
              </a:effectRef>
              <a:fontRef idx="minor">
                <a:schemeClr val="tx1"/>
              </a:fontRef>
            </p:style>
          </p:cxnSp>
          <p:sp>
            <p:nvSpPr>
              <p:cNvPr id="24" name="文字方塊 23"/>
              <p:cNvSpPr txBox="1"/>
              <p:nvPr/>
            </p:nvSpPr>
            <p:spPr>
              <a:xfrm>
                <a:off x="4715458" y="3827490"/>
                <a:ext cx="308098" cy="369332"/>
              </a:xfrm>
              <a:prstGeom prst="rect">
                <a:avLst/>
              </a:prstGeom>
              <a:noFill/>
            </p:spPr>
            <p:txBody>
              <a:bodyPr wrap="none" rtlCol="0">
                <a:spAutoFit/>
              </a:bodyPr>
              <a:lstStyle/>
              <a:p>
                <a:r>
                  <a:rPr lang="en-US" altLang="zh-TW" dirty="0"/>
                  <a:t>C</a:t>
                </a:r>
                <a:endParaRPr lang="zh-TW" altLang="en-US" dirty="0"/>
              </a:p>
            </p:txBody>
          </p:sp>
          <p:sp>
            <p:nvSpPr>
              <p:cNvPr id="25" name="文字方塊 24"/>
              <p:cNvSpPr txBox="1"/>
              <p:nvPr/>
            </p:nvSpPr>
            <p:spPr>
              <a:xfrm>
                <a:off x="5850943" y="3838779"/>
                <a:ext cx="327334" cy="369332"/>
              </a:xfrm>
              <a:prstGeom prst="rect">
                <a:avLst/>
              </a:prstGeom>
              <a:noFill/>
            </p:spPr>
            <p:txBody>
              <a:bodyPr wrap="none" rtlCol="0">
                <a:spAutoFit/>
              </a:bodyPr>
              <a:lstStyle/>
              <a:p>
                <a:r>
                  <a:rPr lang="en-US" altLang="zh-TW" dirty="0"/>
                  <a:t>D</a:t>
                </a:r>
                <a:endParaRPr lang="zh-TW" altLang="en-US" dirty="0"/>
              </a:p>
            </p:txBody>
          </p:sp>
          <p:sp>
            <p:nvSpPr>
              <p:cNvPr id="26" name="文字方塊 25"/>
              <p:cNvSpPr txBox="1"/>
              <p:nvPr/>
            </p:nvSpPr>
            <p:spPr>
              <a:xfrm>
                <a:off x="5277510" y="4617156"/>
                <a:ext cx="304892" cy="369332"/>
              </a:xfrm>
              <a:prstGeom prst="rect">
                <a:avLst/>
              </a:prstGeom>
              <a:noFill/>
            </p:spPr>
            <p:txBody>
              <a:bodyPr wrap="none" rtlCol="0">
                <a:spAutoFit/>
              </a:bodyPr>
              <a:lstStyle/>
              <a:p>
                <a:r>
                  <a:rPr lang="en-US" altLang="zh-TW" dirty="0"/>
                  <a:t>X</a:t>
                </a:r>
                <a:endParaRPr lang="zh-TW" altLang="en-US" dirty="0"/>
              </a:p>
            </p:txBody>
          </p:sp>
        </p:grpSp>
        <p:grpSp>
          <p:nvGrpSpPr>
            <p:cNvPr id="19" name="群組 18"/>
            <p:cNvGrpSpPr/>
            <p:nvPr/>
          </p:nvGrpSpPr>
          <p:grpSpPr>
            <a:xfrm>
              <a:off x="4791765" y="4246503"/>
              <a:ext cx="1321815" cy="370654"/>
              <a:chOff x="4791765" y="4246503"/>
              <a:chExt cx="1321815" cy="370654"/>
            </a:xfrm>
          </p:grpSpPr>
          <p:sp>
            <p:nvSpPr>
              <p:cNvPr id="20" name="文字方塊 19"/>
              <p:cNvSpPr txBox="1"/>
              <p:nvPr/>
            </p:nvSpPr>
            <p:spPr>
              <a:xfrm>
                <a:off x="4791765" y="4247825"/>
                <a:ext cx="301686" cy="369332"/>
              </a:xfrm>
              <a:prstGeom prst="rect">
                <a:avLst/>
              </a:prstGeom>
              <a:noFill/>
            </p:spPr>
            <p:txBody>
              <a:bodyPr wrap="none" rtlCol="0">
                <a:spAutoFit/>
              </a:bodyPr>
              <a:lstStyle/>
              <a:p>
                <a:r>
                  <a:rPr lang="en-US" altLang="zh-TW" dirty="0"/>
                  <a:t>4</a:t>
                </a:r>
                <a:endParaRPr lang="zh-TW" altLang="en-US" dirty="0"/>
              </a:p>
            </p:txBody>
          </p:sp>
          <p:sp>
            <p:nvSpPr>
              <p:cNvPr id="21" name="文字方塊 20"/>
              <p:cNvSpPr txBox="1"/>
              <p:nvPr/>
            </p:nvSpPr>
            <p:spPr>
              <a:xfrm>
                <a:off x="5694876" y="4246503"/>
                <a:ext cx="418704" cy="369332"/>
              </a:xfrm>
              <a:prstGeom prst="rect">
                <a:avLst/>
              </a:prstGeom>
              <a:noFill/>
            </p:spPr>
            <p:txBody>
              <a:bodyPr wrap="none" rtlCol="0">
                <a:spAutoFit/>
              </a:bodyPr>
              <a:lstStyle/>
              <a:p>
                <a:r>
                  <a:rPr lang="en-US" altLang="zh-TW" dirty="0"/>
                  <a:t>10</a:t>
                </a:r>
                <a:endParaRPr lang="zh-TW" altLang="en-US" dirty="0"/>
              </a:p>
            </p:txBody>
          </p:sp>
        </p:grpSp>
      </p:grpSp>
      <mc:AlternateContent xmlns:mc="http://schemas.openxmlformats.org/markup-compatibility/2006" xmlns:a14="http://schemas.microsoft.com/office/drawing/2010/main">
        <mc:Choice Requires="a14">
          <p:sp>
            <p:nvSpPr>
              <p:cNvPr id="27" name="文字方塊 26"/>
              <p:cNvSpPr txBox="1"/>
              <p:nvPr/>
            </p:nvSpPr>
            <p:spPr>
              <a:xfrm>
                <a:off x="3432690" y="4830398"/>
                <a:ext cx="361060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𝑋𝐴</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𝐶𝐴</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𝐷𝐴</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𝐶𝐷</m:t>
                          </m:r>
                        </m:sub>
                      </m:sSub>
                      <m:r>
                        <a:rPr lang="en-US" altLang="zh-TW" b="0" i="1" smtClean="0">
                          <a:latin typeface="Cambria Math" panose="02040503050406030204" pitchFamily="18" charset="0"/>
                        </a:rPr>
                        <m:t>)/2=17</m:t>
                      </m:r>
                    </m:oMath>
                  </m:oMathPara>
                </a14:m>
                <a:endParaRPr lang="zh-TW" altLang="en-US" dirty="0"/>
              </a:p>
            </p:txBody>
          </p:sp>
        </mc:Choice>
        <mc:Fallback xmlns="">
          <p:sp>
            <p:nvSpPr>
              <p:cNvPr id="27" name="文字方塊 26"/>
              <p:cNvSpPr txBox="1">
                <a:spLocks noRot="1" noChangeAspect="1" noMove="1" noResize="1" noEditPoints="1" noAdjustHandles="1" noChangeArrowheads="1" noChangeShapeType="1" noTextEdit="1"/>
              </p:cNvSpPr>
              <p:nvPr/>
            </p:nvSpPr>
            <p:spPr>
              <a:xfrm>
                <a:off x="3432690" y="4830398"/>
                <a:ext cx="3610604" cy="369332"/>
              </a:xfrm>
              <a:prstGeom prst="rect">
                <a:avLst/>
              </a:prstGeom>
              <a:blipFill>
                <a:blip r:embed="rId2"/>
                <a:stretch>
                  <a:fillRect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3432690" y="5293243"/>
                <a:ext cx="34956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𝑋𝐵</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𝐶𝐵</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𝐷𝐵</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𝐶𝐷</m:t>
                          </m:r>
                        </m:sub>
                      </m:sSub>
                      <m:r>
                        <a:rPr lang="en-US" altLang="zh-TW" b="0" i="1" smtClean="0">
                          <a:latin typeface="Cambria Math" panose="02040503050406030204" pitchFamily="18" charset="0"/>
                        </a:rPr>
                        <m:t>)/2=8</m:t>
                      </m:r>
                    </m:oMath>
                  </m:oMathPara>
                </a14:m>
                <a:endParaRPr lang="zh-TW" altLang="en-US"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3432690" y="5293243"/>
                <a:ext cx="3495637" cy="369332"/>
              </a:xfrm>
              <a:prstGeom prst="rect">
                <a:avLst/>
              </a:prstGeom>
              <a:blipFill>
                <a:blip r:embed="rId3"/>
                <a:stretch>
                  <a:fillRect b="-13115"/>
                </a:stretch>
              </a:blipFill>
            </p:spPr>
            <p:txBody>
              <a:bodyPr/>
              <a:lstStyle/>
              <a:p>
                <a:r>
                  <a:rPr lang="zh-TW" altLang="en-US">
                    <a:noFill/>
                  </a:rPr>
                  <a:t> </a:t>
                </a:r>
              </a:p>
            </p:txBody>
          </p:sp>
        </mc:Fallback>
      </mc:AlternateContent>
      <p:graphicFrame>
        <p:nvGraphicFramePr>
          <p:cNvPr id="29" name="表格 28"/>
          <p:cNvGraphicFramePr>
            <a:graphicFrameLocks noGrp="1"/>
          </p:cNvGraphicFramePr>
          <p:nvPr>
            <p:extLst>
              <p:ext uri="{D42A27DB-BD31-4B8C-83A1-F6EECF244321}">
                <p14:modId xmlns:p14="http://schemas.microsoft.com/office/powerpoint/2010/main" val="1773403496"/>
              </p:ext>
            </p:extLst>
          </p:nvPr>
        </p:nvGraphicFramePr>
        <p:xfrm>
          <a:off x="745067" y="4497022"/>
          <a:ext cx="1836328" cy="1463040"/>
        </p:xfrm>
        <a:graphic>
          <a:graphicData uri="http://schemas.openxmlformats.org/drawingml/2006/table">
            <a:tbl>
              <a:tblPr firstRow="1" bandRow="1">
                <a:tableStyleId>{5C22544A-7EE6-4342-B048-85BDC9FD1C3A}</a:tableStyleId>
              </a:tblPr>
              <a:tblGrid>
                <a:gridCol w="459082">
                  <a:extLst>
                    <a:ext uri="{9D8B030D-6E8A-4147-A177-3AD203B41FA5}">
                      <a16:colId xmlns:a16="http://schemas.microsoft.com/office/drawing/2014/main" xmlns="" val="1155465239"/>
                    </a:ext>
                  </a:extLst>
                </a:gridCol>
                <a:gridCol w="459082">
                  <a:extLst>
                    <a:ext uri="{9D8B030D-6E8A-4147-A177-3AD203B41FA5}">
                      <a16:colId xmlns:a16="http://schemas.microsoft.com/office/drawing/2014/main" xmlns="" val="2219819070"/>
                    </a:ext>
                  </a:extLst>
                </a:gridCol>
                <a:gridCol w="459082">
                  <a:extLst>
                    <a:ext uri="{9D8B030D-6E8A-4147-A177-3AD203B41FA5}">
                      <a16:colId xmlns:a16="http://schemas.microsoft.com/office/drawing/2014/main" xmlns="" val="13515424"/>
                    </a:ext>
                  </a:extLst>
                </a:gridCol>
                <a:gridCol w="459082">
                  <a:extLst>
                    <a:ext uri="{9D8B030D-6E8A-4147-A177-3AD203B41FA5}">
                      <a16:colId xmlns:a16="http://schemas.microsoft.com/office/drawing/2014/main" xmlns="" val="2156522820"/>
                    </a:ext>
                  </a:extLst>
                </a:gridCol>
              </a:tblGrid>
              <a:tr h="345440">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X</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93493312"/>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19765386"/>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987875359"/>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X</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98231523"/>
                  </a:ext>
                </a:extLst>
              </a:tr>
            </a:tbl>
          </a:graphicData>
        </a:graphic>
      </p:graphicFrame>
    </p:spTree>
    <p:extLst>
      <p:ext uri="{BB962C8B-B14F-4D97-AF65-F5344CB8AC3E}">
        <p14:creationId xmlns:p14="http://schemas.microsoft.com/office/powerpoint/2010/main" val="2253568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Neighbor-joining</a:t>
            </a:r>
            <a:endParaRPr lang="zh-TW" altLang="en-US" dirty="0">
              <a:latin typeface="Times New Roman" panose="02020603050405020304" pitchFamily="18" charset="0"/>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18323909"/>
              </p:ext>
            </p:extLst>
          </p:nvPr>
        </p:nvGraphicFramePr>
        <p:xfrm>
          <a:off x="838200" y="1392578"/>
          <a:ext cx="1964268" cy="1463040"/>
        </p:xfrm>
        <a:graphic>
          <a:graphicData uri="http://schemas.openxmlformats.org/drawingml/2006/table">
            <a:tbl>
              <a:tblPr firstRow="1" bandRow="1">
                <a:tableStyleId>{5C22544A-7EE6-4342-B048-85BDC9FD1C3A}</a:tableStyleId>
              </a:tblPr>
              <a:tblGrid>
                <a:gridCol w="491067">
                  <a:extLst>
                    <a:ext uri="{9D8B030D-6E8A-4147-A177-3AD203B41FA5}">
                      <a16:colId xmlns:a16="http://schemas.microsoft.com/office/drawing/2014/main" xmlns="" val="1155465239"/>
                    </a:ext>
                  </a:extLst>
                </a:gridCol>
                <a:gridCol w="491067">
                  <a:extLst>
                    <a:ext uri="{9D8B030D-6E8A-4147-A177-3AD203B41FA5}">
                      <a16:colId xmlns:a16="http://schemas.microsoft.com/office/drawing/2014/main" xmlns="" val="2219819070"/>
                    </a:ext>
                  </a:extLst>
                </a:gridCol>
                <a:gridCol w="491067">
                  <a:extLst>
                    <a:ext uri="{9D8B030D-6E8A-4147-A177-3AD203B41FA5}">
                      <a16:colId xmlns:a16="http://schemas.microsoft.com/office/drawing/2014/main" xmlns="" val="13515424"/>
                    </a:ext>
                  </a:extLst>
                </a:gridCol>
                <a:gridCol w="491067">
                  <a:extLst>
                    <a:ext uri="{9D8B030D-6E8A-4147-A177-3AD203B41FA5}">
                      <a16:colId xmlns:a16="http://schemas.microsoft.com/office/drawing/2014/main" xmlns="" val="2156522820"/>
                    </a:ext>
                  </a:extLst>
                </a:gridCol>
              </a:tblGrid>
              <a:tr h="365760">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X</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93493312"/>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19765386"/>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987875359"/>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X</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98231523"/>
                  </a:ext>
                </a:extLst>
              </a:tr>
            </a:tbl>
          </a:graphicData>
        </a:graphic>
      </p:graphicFrame>
      <mc:AlternateContent xmlns:mc="http://schemas.openxmlformats.org/markup-compatibility/2006" xmlns:a14="http://schemas.microsoft.com/office/drawing/2010/main">
        <mc:Choice Requires="a14">
          <p:sp>
            <p:nvSpPr>
              <p:cNvPr id="6" name="文字方塊 5"/>
              <p:cNvSpPr txBox="1"/>
              <p:nvPr/>
            </p:nvSpPr>
            <p:spPr>
              <a:xfrm>
                <a:off x="2802468" y="1719155"/>
                <a:ext cx="2466766"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1</m:t>
                        </m:r>
                      </m:sub>
                    </m:sSub>
                  </m:oMath>
                </a14:m>
                <a:r>
                  <a:rPr lang="en-US" altLang="zh-TW" dirty="0"/>
                  <a:t> = (17+17) / (n-2) = </a:t>
                </a:r>
                <a:r>
                  <a:rPr lang="en-US" altLang="zh-TW" dirty="0">
                    <a:solidFill>
                      <a:srgbClr val="FF0000"/>
                    </a:solidFill>
                  </a:rPr>
                  <a:t>34</a:t>
                </a:r>
                <a:endParaRPr lang="zh-TW" altLang="en-US" dirty="0">
                  <a:solidFill>
                    <a:srgbClr val="FF0000"/>
                  </a:solidFill>
                </a:endParaRPr>
              </a:p>
            </p:txBody>
          </p:sp>
        </mc:Choice>
        <mc:Fallback xmlns="">
          <p:sp>
            <p:nvSpPr>
              <p:cNvPr id="6" name="文字方塊 5"/>
              <p:cNvSpPr txBox="1">
                <a:spLocks noRot="1" noChangeAspect="1" noMove="1" noResize="1" noEditPoints="1" noAdjustHandles="1" noChangeArrowheads="1" noChangeShapeType="1" noTextEdit="1"/>
              </p:cNvSpPr>
              <p:nvPr/>
            </p:nvSpPr>
            <p:spPr>
              <a:xfrm>
                <a:off x="2802468" y="1719155"/>
                <a:ext cx="2466766" cy="369332"/>
              </a:xfrm>
              <a:prstGeom prst="rect">
                <a:avLst/>
              </a:prstGeom>
              <a:blipFill>
                <a:blip r:embed="rId2"/>
                <a:stretch>
                  <a:fillRect t="-8197" r="-1238"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2802468" y="2088487"/>
                <a:ext cx="2355068"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2</m:t>
                        </m:r>
                      </m:sub>
                    </m:sSub>
                  </m:oMath>
                </a14:m>
                <a:r>
                  <a:rPr lang="en-US" altLang="zh-TW" dirty="0"/>
                  <a:t> = (17+8) / (n-2) = </a:t>
                </a:r>
                <a:r>
                  <a:rPr lang="en-US" altLang="zh-TW" dirty="0">
                    <a:solidFill>
                      <a:srgbClr val="FF0000"/>
                    </a:solidFill>
                  </a:rPr>
                  <a:t>25</a:t>
                </a:r>
                <a:endParaRPr lang="zh-TW" altLang="en-US" dirty="0">
                  <a:solidFill>
                    <a:srgbClr val="FF0000"/>
                  </a:solidFill>
                </a:endParaRPr>
              </a:p>
            </p:txBody>
          </p:sp>
        </mc:Choice>
        <mc:Fallback xmlns="">
          <p:sp>
            <p:nvSpPr>
              <p:cNvPr id="7" name="文字方塊 6"/>
              <p:cNvSpPr txBox="1">
                <a:spLocks noRot="1" noChangeAspect="1" noMove="1" noResize="1" noEditPoints="1" noAdjustHandles="1" noChangeArrowheads="1" noChangeShapeType="1" noTextEdit="1"/>
              </p:cNvSpPr>
              <p:nvPr/>
            </p:nvSpPr>
            <p:spPr>
              <a:xfrm>
                <a:off x="2802468" y="2088487"/>
                <a:ext cx="2355068" cy="369332"/>
              </a:xfrm>
              <a:prstGeom prst="rect">
                <a:avLst/>
              </a:prstGeom>
              <a:blipFill>
                <a:blip r:embed="rId3"/>
                <a:stretch>
                  <a:fillRect t="-10000" r="-1295"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2802468" y="2486286"/>
                <a:ext cx="2355068" cy="369332"/>
              </a:xfrm>
              <a:prstGeom prst="rect">
                <a:avLst/>
              </a:prstGeom>
              <a:noFill/>
            </p:spPr>
            <p:txBody>
              <a:bodyPr wrap="none" rtlCol="0">
                <a:spAutoFit/>
              </a:bodyPr>
              <a:lstStyle/>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𝑢</m:t>
                        </m:r>
                      </m:e>
                      <m:sub>
                        <m:r>
                          <a:rPr lang="en-US" altLang="zh-TW" b="0" i="1" smtClean="0">
                            <a:latin typeface="Cambria Math" panose="02040503050406030204" pitchFamily="18" charset="0"/>
                          </a:rPr>
                          <m:t>3</m:t>
                        </m:r>
                      </m:sub>
                    </m:sSub>
                  </m:oMath>
                </a14:m>
                <a:r>
                  <a:rPr lang="en-US" altLang="zh-TW" dirty="0"/>
                  <a:t> = (17+8) / (n-2) = </a:t>
                </a:r>
                <a:r>
                  <a:rPr lang="en-US" altLang="zh-TW" dirty="0">
                    <a:solidFill>
                      <a:srgbClr val="FF0000"/>
                    </a:solidFill>
                  </a:rPr>
                  <a:t>25</a:t>
                </a:r>
                <a:endParaRPr lang="zh-TW" altLang="en-US" dirty="0">
                  <a:solidFill>
                    <a:srgbClr val="FF0000"/>
                  </a:solidFill>
                </a:endParaRPr>
              </a:p>
            </p:txBody>
          </p:sp>
        </mc:Choice>
        <mc:Fallback xmlns="">
          <p:sp>
            <p:nvSpPr>
              <p:cNvPr id="10" name="文字方塊 9"/>
              <p:cNvSpPr txBox="1">
                <a:spLocks noRot="1" noChangeAspect="1" noMove="1" noResize="1" noEditPoints="1" noAdjustHandles="1" noChangeArrowheads="1" noChangeShapeType="1" noTextEdit="1"/>
              </p:cNvSpPr>
              <p:nvPr/>
            </p:nvSpPr>
            <p:spPr>
              <a:xfrm>
                <a:off x="2802468" y="2486286"/>
                <a:ext cx="2355068" cy="369332"/>
              </a:xfrm>
              <a:prstGeom prst="rect">
                <a:avLst/>
              </a:prstGeom>
              <a:blipFill>
                <a:blip r:embed="rId4"/>
                <a:stretch>
                  <a:fillRect t="-10000" r="-1295" b="-26667"/>
                </a:stretch>
              </a:blipFill>
            </p:spPr>
            <p:txBody>
              <a:bodyPr/>
              <a:lstStyle/>
              <a:p>
                <a:r>
                  <a:rPr lang="zh-TW" altLang="en-US">
                    <a:noFill/>
                  </a:rPr>
                  <a:t> </a:t>
                </a:r>
              </a:p>
            </p:txBody>
          </p:sp>
        </mc:Fallback>
      </mc:AlternateContent>
      <p:graphicFrame>
        <p:nvGraphicFramePr>
          <p:cNvPr id="11" name="表格 10"/>
          <p:cNvGraphicFramePr>
            <a:graphicFrameLocks noGrp="1"/>
          </p:cNvGraphicFramePr>
          <p:nvPr>
            <p:extLst>
              <p:ext uri="{D42A27DB-BD31-4B8C-83A1-F6EECF244321}">
                <p14:modId xmlns:p14="http://schemas.microsoft.com/office/powerpoint/2010/main" val="3958702755"/>
              </p:ext>
            </p:extLst>
          </p:nvPr>
        </p:nvGraphicFramePr>
        <p:xfrm>
          <a:off x="815622" y="4389778"/>
          <a:ext cx="1964268" cy="1463040"/>
        </p:xfrm>
        <a:graphic>
          <a:graphicData uri="http://schemas.openxmlformats.org/drawingml/2006/table">
            <a:tbl>
              <a:tblPr firstRow="1" bandRow="1">
                <a:tableStyleId>{5C22544A-7EE6-4342-B048-85BDC9FD1C3A}</a:tableStyleId>
              </a:tblPr>
              <a:tblGrid>
                <a:gridCol w="491067">
                  <a:extLst>
                    <a:ext uri="{9D8B030D-6E8A-4147-A177-3AD203B41FA5}">
                      <a16:colId xmlns:a16="http://schemas.microsoft.com/office/drawing/2014/main" xmlns="" val="1155465239"/>
                    </a:ext>
                  </a:extLst>
                </a:gridCol>
                <a:gridCol w="491067">
                  <a:extLst>
                    <a:ext uri="{9D8B030D-6E8A-4147-A177-3AD203B41FA5}">
                      <a16:colId xmlns:a16="http://schemas.microsoft.com/office/drawing/2014/main" xmlns="" val="2219819070"/>
                    </a:ext>
                  </a:extLst>
                </a:gridCol>
                <a:gridCol w="491067">
                  <a:extLst>
                    <a:ext uri="{9D8B030D-6E8A-4147-A177-3AD203B41FA5}">
                      <a16:colId xmlns:a16="http://schemas.microsoft.com/office/drawing/2014/main" xmlns="" val="13515424"/>
                    </a:ext>
                  </a:extLst>
                </a:gridCol>
                <a:gridCol w="491067">
                  <a:extLst>
                    <a:ext uri="{9D8B030D-6E8A-4147-A177-3AD203B41FA5}">
                      <a16:colId xmlns:a16="http://schemas.microsoft.com/office/drawing/2014/main" xmlns="" val="2156522820"/>
                    </a:ext>
                  </a:extLst>
                </a:gridCol>
              </a:tblGrid>
              <a:tr h="365760">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X</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93493312"/>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rgbClr val="FF0000"/>
                          </a:solidFill>
                          <a:latin typeface="Times New Roman" panose="02020603050405020304" pitchFamily="18" charset="0"/>
                          <a:cs typeface="Times New Roman" panose="02020603050405020304" pitchFamily="18" charset="0"/>
                        </a:rPr>
                        <a:t>-42</a:t>
                      </a:r>
                      <a:endParaRPr lang="zh-TW" altLang="en-US" b="0" i="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-28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19765386"/>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-28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987875359"/>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X</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98231523"/>
                  </a:ext>
                </a:extLst>
              </a:tr>
            </a:tbl>
          </a:graphicData>
        </a:graphic>
      </p:graphicFrame>
      <p:grpSp>
        <p:nvGrpSpPr>
          <p:cNvPr id="12" name="群組 11"/>
          <p:cNvGrpSpPr/>
          <p:nvPr/>
        </p:nvGrpSpPr>
        <p:grpSpPr>
          <a:xfrm>
            <a:off x="3806415" y="3894096"/>
            <a:ext cx="1462819" cy="1158998"/>
            <a:chOff x="4715458" y="3827490"/>
            <a:chExt cx="1462819" cy="1158998"/>
          </a:xfrm>
        </p:grpSpPr>
        <p:grpSp>
          <p:nvGrpSpPr>
            <p:cNvPr id="13" name="群組 12"/>
            <p:cNvGrpSpPr/>
            <p:nvPr/>
          </p:nvGrpSpPr>
          <p:grpSpPr>
            <a:xfrm>
              <a:off x="4715458" y="3827490"/>
              <a:ext cx="1462819" cy="1158998"/>
              <a:chOff x="4715458" y="3827490"/>
              <a:chExt cx="1462819" cy="1158998"/>
            </a:xfrm>
          </p:grpSpPr>
          <p:cxnSp>
            <p:nvCxnSpPr>
              <p:cNvPr id="17" name="直線接點 16"/>
              <p:cNvCxnSpPr>
                <a:cxnSpLocks/>
              </p:cNvCxnSpPr>
              <p:nvPr/>
            </p:nvCxnSpPr>
            <p:spPr>
              <a:xfrm>
                <a:off x="4933244" y="4154311"/>
                <a:ext cx="496712" cy="462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接點 17"/>
              <p:cNvCxnSpPr>
                <a:cxnSpLocks/>
              </p:cNvCxnSpPr>
              <p:nvPr/>
            </p:nvCxnSpPr>
            <p:spPr>
              <a:xfrm flipH="1">
                <a:off x="5429956" y="4151666"/>
                <a:ext cx="496711" cy="465491"/>
              </a:xfrm>
              <a:prstGeom prst="line">
                <a:avLst/>
              </a:prstGeom>
            </p:spPr>
            <p:style>
              <a:lnRef idx="1">
                <a:schemeClr val="accent1"/>
              </a:lnRef>
              <a:fillRef idx="0">
                <a:schemeClr val="accent1"/>
              </a:fillRef>
              <a:effectRef idx="0">
                <a:schemeClr val="accent1"/>
              </a:effectRef>
              <a:fontRef idx="minor">
                <a:schemeClr val="tx1"/>
              </a:fontRef>
            </p:style>
          </p:cxnSp>
          <p:sp>
            <p:nvSpPr>
              <p:cNvPr id="19" name="文字方塊 18"/>
              <p:cNvSpPr txBox="1"/>
              <p:nvPr/>
            </p:nvSpPr>
            <p:spPr>
              <a:xfrm>
                <a:off x="4715458" y="3827490"/>
                <a:ext cx="308098" cy="369332"/>
              </a:xfrm>
              <a:prstGeom prst="rect">
                <a:avLst/>
              </a:prstGeom>
              <a:noFill/>
            </p:spPr>
            <p:txBody>
              <a:bodyPr wrap="none" rtlCol="0">
                <a:spAutoFit/>
              </a:bodyPr>
              <a:lstStyle/>
              <a:p>
                <a:r>
                  <a:rPr lang="en-US" altLang="zh-TW" dirty="0"/>
                  <a:t>C</a:t>
                </a:r>
                <a:endParaRPr lang="zh-TW" altLang="en-US" dirty="0"/>
              </a:p>
            </p:txBody>
          </p:sp>
          <p:sp>
            <p:nvSpPr>
              <p:cNvPr id="20" name="文字方塊 19"/>
              <p:cNvSpPr txBox="1"/>
              <p:nvPr/>
            </p:nvSpPr>
            <p:spPr>
              <a:xfrm>
                <a:off x="5850943" y="3838779"/>
                <a:ext cx="327334" cy="369332"/>
              </a:xfrm>
              <a:prstGeom prst="rect">
                <a:avLst/>
              </a:prstGeom>
              <a:noFill/>
            </p:spPr>
            <p:txBody>
              <a:bodyPr wrap="none" rtlCol="0">
                <a:spAutoFit/>
              </a:bodyPr>
              <a:lstStyle/>
              <a:p>
                <a:r>
                  <a:rPr lang="en-US" altLang="zh-TW" dirty="0"/>
                  <a:t>D</a:t>
                </a:r>
                <a:endParaRPr lang="zh-TW" altLang="en-US" dirty="0"/>
              </a:p>
            </p:txBody>
          </p:sp>
          <p:sp>
            <p:nvSpPr>
              <p:cNvPr id="21" name="文字方塊 20"/>
              <p:cNvSpPr txBox="1"/>
              <p:nvPr/>
            </p:nvSpPr>
            <p:spPr>
              <a:xfrm>
                <a:off x="5277510" y="4617156"/>
                <a:ext cx="304892" cy="369332"/>
              </a:xfrm>
              <a:prstGeom prst="rect">
                <a:avLst/>
              </a:prstGeom>
              <a:noFill/>
            </p:spPr>
            <p:txBody>
              <a:bodyPr wrap="none" rtlCol="0">
                <a:spAutoFit/>
              </a:bodyPr>
              <a:lstStyle/>
              <a:p>
                <a:r>
                  <a:rPr lang="en-US" altLang="zh-TW" dirty="0"/>
                  <a:t>X</a:t>
                </a:r>
                <a:endParaRPr lang="zh-TW" altLang="en-US" dirty="0"/>
              </a:p>
            </p:txBody>
          </p:sp>
        </p:grpSp>
        <p:grpSp>
          <p:nvGrpSpPr>
            <p:cNvPr id="14" name="群組 13"/>
            <p:cNvGrpSpPr/>
            <p:nvPr/>
          </p:nvGrpSpPr>
          <p:grpSpPr>
            <a:xfrm>
              <a:off x="4791765" y="4246503"/>
              <a:ext cx="1321815" cy="370654"/>
              <a:chOff x="4791765" y="4246503"/>
              <a:chExt cx="1321815" cy="370654"/>
            </a:xfrm>
          </p:grpSpPr>
          <p:sp>
            <p:nvSpPr>
              <p:cNvPr id="15" name="文字方塊 14"/>
              <p:cNvSpPr txBox="1"/>
              <p:nvPr/>
            </p:nvSpPr>
            <p:spPr>
              <a:xfrm>
                <a:off x="4791765" y="4247825"/>
                <a:ext cx="301686" cy="369332"/>
              </a:xfrm>
              <a:prstGeom prst="rect">
                <a:avLst/>
              </a:prstGeom>
              <a:noFill/>
            </p:spPr>
            <p:txBody>
              <a:bodyPr wrap="none" rtlCol="0">
                <a:spAutoFit/>
              </a:bodyPr>
              <a:lstStyle/>
              <a:p>
                <a:r>
                  <a:rPr lang="en-US" altLang="zh-TW" dirty="0"/>
                  <a:t>4</a:t>
                </a:r>
                <a:endParaRPr lang="zh-TW" altLang="en-US" dirty="0"/>
              </a:p>
            </p:txBody>
          </p:sp>
          <p:sp>
            <p:nvSpPr>
              <p:cNvPr id="16" name="文字方塊 15"/>
              <p:cNvSpPr txBox="1"/>
              <p:nvPr/>
            </p:nvSpPr>
            <p:spPr>
              <a:xfrm>
                <a:off x="5694876" y="4246503"/>
                <a:ext cx="418704" cy="369332"/>
              </a:xfrm>
              <a:prstGeom prst="rect">
                <a:avLst/>
              </a:prstGeom>
              <a:noFill/>
            </p:spPr>
            <p:txBody>
              <a:bodyPr wrap="none" rtlCol="0">
                <a:spAutoFit/>
              </a:bodyPr>
              <a:lstStyle/>
              <a:p>
                <a:r>
                  <a:rPr lang="en-US" altLang="zh-TW" dirty="0"/>
                  <a:t>10</a:t>
                </a:r>
                <a:endParaRPr lang="zh-TW" altLang="en-US" dirty="0"/>
              </a:p>
            </p:txBody>
          </p:sp>
        </p:grpSp>
      </p:grpSp>
      <p:grpSp>
        <p:nvGrpSpPr>
          <p:cNvPr id="22" name="群組 21"/>
          <p:cNvGrpSpPr/>
          <p:nvPr/>
        </p:nvGrpSpPr>
        <p:grpSpPr>
          <a:xfrm>
            <a:off x="5845011" y="3871518"/>
            <a:ext cx="1445185" cy="1158998"/>
            <a:chOff x="4715458" y="3827490"/>
            <a:chExt cx="1445185" cy="1158998"/>
          </a:xfrm>
        </p:grpSpPr>
        <p:grpSp>
          <p:nvGrpSpPr>
            <p:cNvPr id="23" name="群組 22"/>
            <p:cNvGrpSpPr/>
            <p:nvPr/>
          </p:nvGrpSpPr>
          <p:grpSpPr>
            <a:xfrm>
              <a:off x="4715458" y="3827490"/>
              <a:ext cx="1445185" cy="1158998"/>
              <a:chOff x="4715458" y="3827490"/>
              <a:chExt cx="1445185" cy="1158998"/>
            </a:xfrm>
          </p:grpSpPr>
          <p:cxnSp>
            <p:nvCxnSpPr>
              <p:cNvPr id="27" name="直線接點 26"/>
              <p:cNvCxnSpPr>
                <a:cxnSpLocks/>
              </p:cNvCxnSpPr>
              <p:nvPr/>
            </p:nvCxnSpPr>
            <p:spPr>
              <a:xfrm>
                <a:off x="4933244" y="4154311"/>
                <a:ext cx="496712" cy="462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線接點 27"/>
              <p:cNvCxnSpPr>
                <a:cxnSpLocks/>
              </p:cNvCxnSpPr>
              <p:nvPr/>
            </p:nvCxnSpPr>
            <p:spPr>
              <a:xfrm flipH="1">
                <a:off x="5429956" y="4151666"/>
                <a:ext cx="496711" cy="465491"/>
              </a:xfrm>
              <a:prstGeom prst="line">
                <a:avLst/>
              </a:prstGeom>
            </p:spPr>
            <p:style>
              <a:lnRef idx="1">
                <a:schemeClr val="accent1"/>
              </a:lnRef>
              <a:fillRef idx="0">
                <a:schemeClr val="accent1"/>
              </a:fillRef>
              <a:effectRef idx="0">
                <a:schemeClr val="accent1"/>
              </a:effectRef>
              <a:fontRef idx="minor">
                <a:schemeClr val="tx1"/>
              </a:fontRef>
            </p:style>
          </p:cxnSp>
          <p:sp>
            <p:nvSpPr>
              <p:cNvPr id="29" name="文字方塊 28"/>
              <p:cNvSpPr txBox="1"/>
              <p:nvPr/>
            </p:nvSpPr>
            <p:spPr>
              <a:xfrm>
                <a:off x="4715458" y="3827490"/>
                <a:ext cx="317716" cy="369332"/>
              </a:xfrm>
              <a:prstGeom prst="rect">
                <a:avLst/>
              </a:prstGeom>
              <a:noFill/>
            </p:spPr>
            <p:txBody>
              <a:bodyPr wrap="none" rtlCol="0">
                <a:spAutoFit/>
              </a:bodyPr>
              <a:lstStyle/>
              <a:p>
                <a:r>
                  <a:rPr lang="en-US" altLang="zh-TW" dirty="0"/>
                  <a:t>A</a:t>
                </a:r>
                <a:endParaRPr lang="zh-TW" altLang="en-US" dirty="0"/>
              </a:p>
            </p:txBody>
          </p:sp>
          <p:sp>
            <p:nvSpPr>
              <p:cNvPr id="30" name="文字方塊 29"/>
              <p:cNvSpPr txBox="1"/>
              <p:nvPr/>
            </p:nvSpPr>
            <p:spPr>
              <a:xfrm>
                <a:off x="5850943" y="3838779"/>
                <a:ext cx="309700" cy="369332"/>
              </a:xfrm>
              <a:prstGeom prst="rect">
                <a:avLst/>
              </a:prstGeom>
              <a:noFill/>
            </p:spPr>
            <p:txBody>
              <a:bodyPr wrap="none" rtlCol="0">
                <a:spAutoFit/>
              </a:bodyPr>
              <a:lstStyle/>
              <a:p>
                <a:r>
                  <a:rPr lang="en-US" altLang="zh-TW" dirty="0"/>
                  <a:t>B</a:t>
                </a:r>
                <a:endParaRPr lang="zh-TW" altLang="en-US" dirty="0"/>
              </a:p>
            </p:txBody>
          </p:sp>
          <p:sp>
            <p:nvSpPr>
              <p:cNvPr id="31" name="文字方塊 30"/>
              <p:cNvSpPr txBox="1"/>
              <p:nvPr/>
            </p:nvSpPr>
            <p:spPr>
              <a:xfrm>
                <a:off x="5277510" y="4617156"/>
                <a:ext cx="296876" cy="369332"/>
              </a:xfrm>
              <a:prstGeom prst="rect">
                <a:avLst/>
              </a:prstGeom>
              <a:noFill/>
            </p:spPr>
            <p:txBody>
              <a:bodyPr wrap="none" rtlCol="0">
                <a:spAutoFit/>
              </a:bodyPr>
              <a:lstStyle/>
              <a:p>
                <a:r>
                  <a:rPr lang="en-US" altLang="zh-TW" dirty="0"/>
                  <a:t>Y</a:t>
                </a:r>
                <a:endParaRPr lang="zh-TW" altLang="en-US" dirty="0"/>
              </a:p>
            </p:txBody>
          </p:sp>
        </p:grpSp>
        <p:grpSp>
          <p:nvGrpSpPr>
            <p:cNvPr id="24" name="群組 23"/>
            <p:cNvGrpSpPr/>
            <p:nvPr/>
          </p:nvGrpSpPr>
          <p:grpSpPr>
            <a:xfrm>
              <a:off x="4791765" y="4246503"/>
              <a:ext cx="1204797" cy="370654"/>
              <a:chOff x="4791765" y="4246503"/>
              <a:chExt cx="1204797" cy="370654"/>
            </a:xfrm>
          </p:grpSpPr>
          <p:sp>
            <p:nvSpPr>
              <p:cNvPr id="25" name="文字方塊 24"/>
              <p:cNvSpPr txBox="1"/>
              <p:nvPr/>
            </p:nvSpPr>
            <p:spPr>
              <a:xfrm>
                <a:off x="4791765" y="4247825"/>
                <a:ext cx="418704" cy="369332"/>
              </a:xfrm>
              <a:prstGeom prst="rect">
                <a:avLst/>
              </a:prstGeom>
              <a:noFill/>
            </p:spPr>
            <p:txBody>
              <a:bodyPr wrap="none" rtlCol="0">
                <a:spAutoFit/>
              </a:bodyPr>
              <a:lstStyle/>
              <a:p>
                <a:r>
                  <a:rPr lang="en-US" altLang="zh-TW" dirty="0"/>
                  <a:t>13</a:t>
                </a:r>
                <a:endParaRPr lang="zh-TW" altLang="en-US" dirty="0"/>
              </a:p>
            </p:txBody>
          </p:sp>
          <p:sp>
            <p:nvSpPr>
              <p:cNvPr id="26" name="文字方塊 25"/>
              <p:cNvSpPr txBox="1"/>
              <p:nvPr/>
            </p:nvSpPr>
            <p:spPr>
              <a:xfrm>
                <a:off x="5694876" y="4246503"/>
                <a:ext cx="301686" cy="369332"/>
              </a:xfrm>
              <a:prstGeom prst="rect">
                <a:avLst/>
              </a:prstGeom>
              <a:noFill/>
            </p:spPr>
            <p:txBody>
              <a:bodyPr wrap="none" rtlCol="0">
                <a:spAutoFit/>
              </a:bodyPr>
              <a:lstStyle/>
              <a:p>
                <a:r>
                  <a:rPr lang="en-US" altLang="zh-TW" dirty="0"/>
                  <a:t>4</a:t>
                </a:r>
                <a:endParaRPr lang="zh-TW" altLang="en-US" dirty="0"/>
              </a:p>
            </p:txBody>
          </p:sp>
        </p:grpSp>
      </p:grpSp>
    </p:spTree>
    <p:extLst>
      <p:ext uri="{BB962C8B-B14F-4D97-AF65-F5344CB8AC3E}">
        <p14:creationId xmlns:p14="http://schemas.microsoft.com/office/powerpoint/2010/main" val="2448729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Neighbor-joining</a:t>
            </a:r>
            <a:endParaRPr lang="zh-TW" altLang="en-US" dirty="0">
              <a:latin typeface="Times New Roman" panose="02020603050405020304" pitchFamily="18" charset="0"/>
              <a:cs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368667065"/>
              </p:ext>
            </p:extLst>
          </p:nvPr>
        </p:nvGraphicFramePr>
        <p:xfrm>
          <a:off x="838200" y="4880845"/>
          <a:ext cx="1473201" cy="1097280"/>
        </p:xfrm>
        <a:graphic>
          <a:graphicData uri="http://schemas.openxmlformats.org/drawingml/2006/table">
            <a:tbl>
              <a:tblPr firstRow="1" bandRow="1">
                <a:tableStyleId>{5C22544A-7EE6-4342-B048-85BDC9FD1C3A}</a:tableStyleId>
              </a:tblPr>
              <a:tblGrid>
                <a:gridCol w="491067">
                  <a:extLst>
                    <a:ext uri="{9D8B030D-6E8A-4147-A177-3AD203B41FA5}">
                      <a16:colId xmlns:a16="http://schemas.microsoft.com/office/drawing/2014/main" xmlns="" val="1155465239"/>
                    </a:ext>
                  </a:extLst>
                </a:gridCol>
                <a:gridCol w="491067">
                  <a:extLst>
                    <a:ext uri="{9D8B030D-6E8A-4147-A177-3AD203B41FA5}">
                      <a16:colId xmlns:a16="http://schemas.microsoft.com/office/drawing/2014/main" xmlns="" val="2219819070"/>
                    </a:ext>
                  </a:extLst>
                </a:gridCol>
                <a:gridCol w="491067">
                  <a:extLst>
                    <a:ext uri="{9D8B030D-6E8A-4147-A177-3AD203B41FA5}">
                      <a16:colId xmlns:a16="http://schemas.microsoft.com/office/drawing/2014/main" xmlns="" val="13515424"/>
                    </a:ext>
                  </a:extLst>
                </a:gridCol>
              </a:tblGrid>
              <a:tr h="365760">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X</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Y</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93493312"/>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19765386"/>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Y</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987875359"/>
                  </a:ext>
                </a:extLst>
              </a:tr>
            </a:tbl>
          </a:graphicData>
        </a:graphic>
      </p:graphicFrame>
      <mc:AlternateContent xmlns:mc="http://schemas.openxmlformats.org/markup-compatibility/2006" xmlns:a14="http://schemas.microsoft.com/office/drawing/2010/main">
        <mc:Choice Requires="a14">
          <p:sp>
            <p:nvSpPr>
              <p:cNvPr id="6" name="文字方塊 5"/>
              <p:cNvSpPr txBox="1"/>
              <p:nvPr/>
            </p:nvSpPr>
            <p:spPr>
              <a:xfrm>
                <a:off x="2710201" y="5244819"/>
                <a:ext cx="348794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𝑌𝑋</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𝐴𝑋</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𝐵𝑋</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𝐴𝐵</m:t>
                          </m:r>
                        </m:sub>
                      </m:sSub>
                      <m:r>
                        <a:rPr lang="en-US" altLang="zh-TW" b="0" i="1" smtClean="0">
                          <a:latin typeface="Cambria Math" panose="02040503050406030204" pitchFamily="18" charset="0"/>
                        </a:rPr>
                        <m:t>)/2=4</m:t>
                      </m:r>
                    </m:oMath>
                  </m:oMathPara>
                </a14:m>
                <a:endParaRPr lang="zh-TW" altLang="en-US"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2710201" y="5244819"/>
                <a:ext cx="3487943" cy="369332"/>
              </a:xfrm>
              <a:prstGeom prst="rect">
                <a:avLst/>
              </a:prstGeom>
              <a:blipFill>
                <a:blip r:embed="rId2"/>
                <a:stretch>
                  <a:fillRect b="-13115"/>
                </a:stretch>
              </a:blipFill>
            </p:spPr>
            <p:txBody>
              <a:bodyPr/>
              <a:lstStyle/>
              <a:p>
                <a:r>
                  <a:rPr lang="zh-TW" altLang="en-US">
                    <a:noFill/>
                  </a:rPr>
                  <a:t> </a:t>
                </a:r>
              </a:p>
            </p:txBody>
          </p:sp>
        </mc:Fallback>
      </mc:AlternateContent>
      <p:graphicFrame>
        <p:nvGraphicFramePr>
          <p:cNvPr id="7" name="表格 6"/>
          <p:cNvGraphicFramePr>
            <a:graphicFrameLocks noGrp="1"/>
          </p:cNvGraphicFramePr>
          <p:nvPr>
            <p:extLst>
              <p:ext uri="{D42A27DB-BD31-4B8C-83A1-F6EECF244321}">
                <p14:modId xmlns:p14="http://schemas.microsoft.com/office/powerpoint/2010/main" val="4025031152"/>
              </p:ext>
            </p:extLst>
          </p:nvPr>
        </p:nvGraphicFramePr>
        <p:xfrm>
          <a:off x="838200" y="1392578"/>
          <a:ext cx="1964268" cy="1463040"/>
        </p:xfrm>
        <a:graphic>
          <a:graphicData uri="http://schemas.openxmlformats.org/drawingml/2006/table">
            <a:tbl>
              <a:tblPr firstRow="1" bandRow="1">
                <a:tableStyleId>{5C22544A-7EE6-4342-B048-85BDC9FD1C3A}</a:tableStyleId>
              </a:tblPr>
              <a:tblGrid>
                <a:gridCol w="491067">
                  <a:extLst>
                    <a:ext uri="{9D8B030D-6E8A-4147-A177-3AD203B41FA5}">
                      <a16:colId xmlns:a16="http://schemas.microsoft.com/office/drawing/2014/main" xmlns="" val="1155465239"/>
                    </a:ext>
                  </a:extLst>
                </a:gridCol>
                <a:gridCol w="491067">
                  <a:extLst>
                    <a:ext uri="{9D8B030D-6E8A-4147-A177-3AD203B41FA5}">
                      <a16:colId xmlns:a16="http://schemas.microsoft.com/office/drawing/2014/main" xmlns="" val="2219819070"/>
                    </a:ext>
                  </a:extLst>
                </a:gridCol>
                <a:gridCol w="491067">
                  <a:extLst>
                    <a:ext uri="{9D8B030D-6E8A-4147-A177-3AD203B41FA5}">
                      <a16:colId xmlns:a16="http://schemas.microsoft.com/office/drawing/2014/main" xmlns="" val="13515424"/>
                    </a:ext>
                  </a:extLst>
                </a:gridCol>
                <a:gridCol w="491067">
                  <a:extLst>
                    <a:ext uri="{9D8B030D-6E8A-4147-A177-3AD203B41FA5}">
                      <a16:colId xmlns:a16="http://schemas.microsoft.com/office/drawing/2014/main" xmlns="" val="2156522820"/>
                    </a:ext>
                  </a:extLst>
                </a:gridCol>
              </a:tblGrid>
              <a:tr h="365760">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X</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93493312"/>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19765386"/>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B</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987875359"/>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X</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698231523"/>
                  </a:ext>
                </a:extLst>
              </a:tr>
            </a:tbl>
          </a:graphicData>
        </a:graphic>
      </p:graphicFrame>
      <p:grpSp>
        <p:nvGrpSpPr>
          <p:cNvPr id="28" name="群組 27"/>
          <p:cNvGrpSpPr/>
          <p:nvPr/>
        </p:nvGrpSpPr>
        <p:grpSpPr>
          <a:xfrm>
            <a:off x="3594352" y="1974985"/>
            <a:ext cx="3483781" cy="1181576"/>
            <a:chOff x="3806415" y="3871518"/>
            <a:chExt cx="3483781" cy="1181576"/>
          </a:xfrm>
        </p:grpSpPr>
        <p:grpSp>
          <p:nvGrpSpPr>
            <p:cNvPr id="8" name="群組 7"/>
            <p:cNvGrpSpPr/>
            <p:nvPr/>
          </p:nvGrpSpPr>
          <p:grpSpPr>
            <a:xfrm>
              <a:off x="3806415" y="3894096"/>
              <a:ext cx="1462819" cy="1158998"/>
              <a:chOff x="4715458" y="3827490"/>
              <a:chExt cx="1462819" cy="1158998"/>
            </a:xfrm>
          </p:grpSpPr>
          <p:grpSp>
            <p:nvGrpSpPr>
              <p:cNvPr id="9" name="群組 8"/>
              <p:cNvGrpSpPr/>
              <p:nvPr/>
            </p:nvGrpSpPr>
            <p:grpSpPr>
              <a:xfrm>
                <a:off x="4715458" y="3827490"/>
                <a:ext cx="1462819" cy="1158998"/>
                <a:chOff x="4715458" y="3827490"/>
                <a:chExt cx="1462819" cy="1158998"/>
              </a:xfrm>
            </p:grpSpPr>
            <p:cxnSp>
              <p:nvCxnSpPr>
                <p:cNvPr id="13" name="直線接點 12"/>
                <p:cNvCxnSpPr>
                  <a:cxnSpLocks/>
                </p:cNvCxnSpPr>
                <p:nvPr/>
              </p:nvCxnSpPr>
              <p:spPr>
                <a:xfrm>
                  <a:off x="4933244" y="4154311"/>
                  <a:ext cx="496712" cy="462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接點 13"/>
                <p:cNvCxnSpPr>
                  <a:cxnSpLocks/>
                </p:cNvCxnSpPr>
                <p:nvPr/>
              </p:nvCxnSpPr>
              <p:spPr>
                <a:xfrm flipH="1">
                  <a:off x="5429956" y="4151666"/>
                  <a:ext cx="496711" cy="465491"/>
                </a:xfrm>
                <a:prstGeom prst="line">
                  <a:avLst/>
                </a:prstGeom>
              </p:spPr>
              <p:style>
                <a:lnRef idx="1">
                  <a:schemeClr val="accent1"/>
                </a:lnRef>
                <a:fillRef idx="0">
                  <a:schemeClr val="accent1"/>
                </a:fillRef>
                <a:effectRef idx="0">
                  <a:schemeClr val="accent1"/>
                </a:effectRef>
                <a:fontRef idx="minor">
                  <a:schemeClr val="tx1"/>
                </a:fontRef>
              </p:style>
            </p:cxnSp>
            <p:sp>
              <p:nvSpPr>
                <p:cNvPr id="15" name="文字方塊 14"/>
                <p:cNvSpPr txBox="1"/>
                <p:nvPr/>
              </p:nvSpPr>
              <p:spPr>
                <a:xfrm>
                  <a:off x="4715458" y="3827490"/>
                  <a:ext cx="308098" cy="369332"/>
                </a:xfrm>
                <a:prstGeom prst="rect">
                  <a:avLst/>
                </a:prstGeom>
                <a:noFill/>
              </p:spPr>
              <p:txBody>
                <a:bodyPr wrap="none" rtlCol="0">
                  <a:spAutoFit/>
                </a:bodyPr>
                <a:lstStyle/>
                <a:p>
                  <a:r>
                    <a:rPr lang="en-US" altLang="zh-TW" dirty="0"/>
                    <a:t>C</a:t>
                  </a:r>
                  <a:endParaRPr lang="zh-TW" altLang="en-US" dirty="0"/>
                </a:p>
              </p:txBody>
            </p:sp>
            <p:sp>
              <p:nvSpPr>
                <p:cNvPr id="16" name="文字方塊 15"/>
                <p:cNvSpPr txBox="1"/>
                <p:nvPr/>
              </p:nvSpPr>
              <p:spPr>
                <a:xfrm>
                  <a:off x="5850943" y="3838779"/>
                  <a:ext cx="327334" cy="369332"/>
                </a:xfrm>
                <a:prstGeom prst="rect">
                  <a:avLst/>
                </a:prstGeom>
                <a:noFill/>
              </p:spPr>
              <p:txBody>
                <a:bodyPr wrap="none" rtlCol="0">
                  <a:spAutoFit/>
                </a:bodyPr>
                <a:lstStyle/>
                <a:p>
                  <a:r>
                    <a:rPr lang="en-US" altLang="zh-TW" dirty="0"/>
                    <a:t>D</a:t>
                  </a:r>
                  <a:endParaRPr lang="zh-TW" altLang="en-US" dirty="0"/>
                </a:p>
              </p:txBody>
            </p:sp>
            <p:sp>
              <p:nvSpPr>
                <p:cNvPr id="17" name="文字方塊 16"/>
                <p:cNvSpPr txBox="1"/>
                <p:nvPr/>
              </p:nvSpPr>
              <p:spPr>
                <a:xfrm>
                  <a:off x="5277510" y="4617156"/>
                  <a:ext cx="304892" cy="369332"/>
                </a:xfrm>
                <a:prstGeom prst="rect">
                  <a:avLst/>
                </a:prstGeom>
                <a:noFill/>
              </p:spPr>
              <p:txBody>
                <a:bodyPr wrap="none" rtlCol="0">
                  <a:spAutoFit/>
                </a:bodyPr>
                <a:lstStyle/>
                <a:p>
                  <a:r>
                    <a:rPr lang="en-US" altLang="zh-TW" dirty="0"/>
                    <a:t>X</a:t>
                  </a:r>
                  <a:endParaRPr lang="zh-TW" altLang="en-US" dirty="0"/>
                </a:p>
              </p:txBody>
            </p:sp>
          </p:grpSp>
          <p:grpSp>
            <p:nvGrpSpPr>
              <p:cNvPr id="10" name="群組 9"/>
              <p:cNvGrpSpPr/>
              <p:nvPr/>
            </p:nvGrpSpPr>
            <p:grpSpPr>
              <a:xfrm>
                <a:off x="4791765" y="4246503"/>
                <a:ext cx="1321815" cy="370654"/>
                <a:chOff x="4791765" y="4246503"/>
                <a:chExt cx="1321815" cy="370654"/>
              </a:xfrm>
            </p:grpSpPr>
            <p:sp>
              <p:nvSpPr>
                <p:cNvPr id="11" name="文字方塊 10"/>
                <p:cNvSpPr txBox="1"/>
                <p:nvPr/>
              </p:nvSpPr>
              <p:spPr>
                <a:xfrm>
                  <a:off x="4791765" y="4247825"/>
                  <a:ext cx="301686" cy="369332"/>
                </a:xfrm>
                <a:prstGeom prst="rect">
                  <a:avLst/>
                </a:prstGeom>
                <a:noFill/>
              </p:spPr>
              <p:txBody>
                <a:bodyPr wrap="none" rtlCol="0">
                  <a:spAutoFit/>
                </a:bodyPr>
                <a:lstStyle/>
                <a:p>
                  <a:r>
                    <a:rPr lang="en-US" altLang="zh-TW" dirty="0"/>
                    <a:t>4</a:t>
                  </a:r>
                  <a:endParaRPr lang="zh-TW" altLang="en-US" dirty="0"/>
                </a:p>
              </p:txBody>
            </p:sp>
            <p:sp>
              <p:nvSpPr>
                <p:cNvPr id="12" name="文字方塊 11"/>
                <p:cNvSpPr txBox="1"/>
                <p:nvPr/>
              </p:nvSpPr>
              <p:spPr>
                <a:xfrm>
                  <a:off x="5694876" y="4246503"/>
                  <a:ext cx="418704" cy="369332"/>
                </a:xfrm>
                <a:prstGeom prst="rect">
                  <a:avLst/>
                </a:prstGeom>
                <a:noFill/>
              </p:spPr>
              <p:txBody>
                <a:bodyPr wrap="none" rtlCol="0">
                  <a:spAutoFit/>
                </a:bodyPr>
                <a:lstStyle/>
                <a:p>
                  <a:r>
                    <a:rPr lang="en-US" altLang="zh-TW" dirty="0"/>
                    <a:t>10</a:t>
                  </a:r>
                  <a:endParaRPr lang="zh-TW" altLang="en-US" dirty="0"/>
                </a:p>
              </p:txBody>
            </p:sp>
          </p:grpSp>
        </p:grpSp>
        <p:grpSp>
          <p:nvGrpSpPr>
            <p:cNvPr id="18" name="群組 17"/>
            <p:cNvGrpSpPr/>
            <p:nvPr/>
          </p:nvGrpSpPr>
          <p:grpSpPr>
            <a:xfrm>
              <a:off x="5845011" y="3871518"/>
              <a:ext cx="1445185" cy="1158998"/>
              <a:chOff x="4715458" y="3827490"/>
              <a:chExt cx="1445185" cy="1158998"/>
            </a:xfrm>
          </p:grpSpPr>
          <p:grpSp>
            <p:nvGrpSpPr>
              <p:cNvPr id="19" name="群組 18"/>
              <p:cNvGrpSpPr/>
              <p:nvPr/>
            </p:nvGrpSpPr>
            <p:grpSpPr>
              <a:xfrm>
                <a:off x="4715458" y="3827490"/>
                <a:ext cx="1445185" cy="1158998"/>
                <a:chOff x="4715458" y="3827490"/>
                <a:chExt cx="1445185" cy="1158998"/>
              </a:xfrm>
            </p:grpSpPr>
            <p:cxnSp>
              <p:nvCxnSpPr>
                <p:cNvPr id="23" name="直線接點 22"/>
                <p:cNvCxnSpPr>
                  <a:cxnSpLocks/>
                </p:cNvCxnSpPr>
                <p:nvPr/>
              </p:nvCxnSpPr>
              <p:spPr>
                <a:xfrm>
                  <a:off x="4933244" y="4154311"/>
                  <a:ext cx="496712" cy="462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線接點 23"/>
                <p:cNvCxnSpPr>
                  <a:cxnSpLocks/>
                </p:cNvCxnSpPr>
                <p:nvPr/>
              </p:nvCxnSpPr>
              <p:spPr>
                <a:xfrm flipH="1">
                  <a:off x="5429956" y="4151666"/>
                  <a:ext cx="496711" cy="465491"/>
                </a:xfrm>
                <a:prstGeom prst="line">
                  <a:avLst/>
                </a:prstGeom>
              </p:spPr>
              <p:style>
                <a:lnRef idx="1">
                  <a:schemeClr val="accent1"/>
                </a:lnRef>
                <a:fillRef idx="0">
                  <a:schemeClr val="accent1"/>
                </a:fillRef>
                <a:effectRef idx="0">
                  <a:schemeClr val="accent1"/>
                </a:effectRef>
                <a:fontRef idx="minor">
                  <a:schemeClr val="tx1"/>
                </a:fontRef>
              </p:style>
            </p:cxnSp>
            <p:sp>
              <p:nvSpPr>
                <p:cNvPr id="25" name="文字方塊 24"/>
                <p:cNvSpPr txBox="1"/>
                <p:nvPr/>
              </p:nvSpPr>
              <p:spPr>
                <a:xfrm>
                  <a:off x="4715458" y="3827490"/>
                  <a:ext cx="317716" cy="369332"/>
                </a:xfrm>
                <a:prstGeom prst="rect">
                  <a:avLst/>
                </a:prstGeom>
                <a:noFill/>
              </p:spPr>
              <p:txBody>
                <a:bodyPr wrap="none" rtlCol="0">
                  <a:spAutoFit/>
                </a:bodyPr>
                <a:lstStyle/>
                <a:p>
                  <a:r>
                    <a:rPr lang="en-US" altLang="zh-TW" dirty="0"/>
                    <a:t>A</a:t>
                  </a:r>
                  <a:endParaRPr lang="zh-TW" altLang="en-US" dirty="0"/>
                </a:p>
              </p:txBody>
            </p:sp>
            <p:sp>
              <p:nvSpPr>
                <p:cNvPr id="26" name="文字方塊 25"/>
                <p:cNvSpPr txBox="1"/>
                <p:nvPr/>
              </p:nvSpPr>
              <p:spPr>
                <a:xfrm>
                  <a:off x="5850943" y="3838779"/>
                  <a:ext cx="309700" cy="369332"/>
                </a:xfrm>
                <a:prstGeom prst="rect">
                  <a:avLst/>
                </a:prstGeom>
                <a:noFill/>
              </p:spPr>
              <p:txBody>
                <a:bodyPr wrap="none" rtlCol="0">
                  <a:spAutoFit/>
                </a:bodyPr>
                <a:lstStyle/>
                <a:p>
                  <a:r>
                    <a:rPr lang="en-US" altLang="zh-TW" dirty="0"/>
                    <a:t>B</a:t>
                  </a:r>
                  <a:endParaRPr lang="zh-TW" altLang="en-US" dirty="0"/>
                </a:p>
              </p:txBody>
            </p:sp>
            <p:sp>
              <p:nvSpPr>
                <p:cNvPr id="27" name="文字方塊 26"/>
                <p:cNvSpPr txBox="1"/>
                <p:nvPr/>
              </p:nvSpPr>
              <p:spPr>
                <a:xfrm>
                  <a:off x="5277510" y="4617156"/>
                  <a:ext cx="296876" cy="369332"/>
                </a:xfrm>
                <a:prstGeom prst="rect">
                  <a:avLst/>
                </a:prstGeom>
                <a:noFill/>
              </p:spPr>
              <p:txBody>
                <a:bodyPr wrap="none" rtlCol="0">
                  <a:spAutoFit/>
                </a:bodyPr>
                <a:lstStyle/>
                <a:p>
                  <a:r>
                    <a:rPr lang="en-US" altLang="zh-TW" dirty="0"/>
                    <a:t>Y</a:t>
                  </a:r>
                  <a:endParaRPr lang="zh-TW" altLang="en-US" dirty="0"/>
                </a:p>
              </p:txBody>
            </p:sp>
          </p:grpSp>
          <p:grpSp>
            <p:nvGrpSpPr>
              <p:cNvPr id="20" name="群組 19"/>
              <p:cNvGrpSpPr/>
              <p:nvPr/>
            </p:nvGrpSpPr>
            <p:grpSpPr>
              <a:xfrm>
                <a:off x="4791765" y="4246503"/>
                <a:ext cx="1204797" cy="370654"/>
                <a:chOff x="4791765" y="4246503"/>
                <a:chExt cx="1204797" cy="370654"/>
              </a:xfrm>
            </p:grpSpPr>
            <p:sp>
              <p:nvSpPr>
                <p:cNvPr id="21" name="文字方塊 20"/>
                <p:cNvSpPr txBox="1"/>
                <p:nvPr/>
              </p:nvSpPr>
              <p:spPr>
                <a:xfrm>
                  <a:off x="4791765" y="4247825"/>
                  <a:ext cx="418704" cy="369332"/>
                </a:xfrm>
                <a:prstGeom prst="rect">
                  <a:avLst/>
                </a:prstGeom>
                <a:noFill/>
              </p:spPr>
              <p:txBody>
                <a:bodyPr wrap="none" rtlCol="0">
                  <a:spAutoFit/>
                </a:bodyPr>
                <a:lstStyle/>
                <a:p>
                  <a:r>
                    <a:rPr lang="en-US" altLang="zh-TW" dirty="0"/>
                    <a:t>13</a:t>
                  </a:r>
                  <a:endParaRPr lang="zh-TW" altLang="en-US" dirty="0"/>
                </a:p>
              </p:txBody>
            </p:sp>
            <p:sp>
              <p:nvSpPr>
                <p:cNvPr id="22" name="文字方塊 21"/>
                <p:cNvSpPr txBox="1"/>
                <p:nvPr/>
              </p:nvSpPr>
              <p:spPr>
                <a:xfrm>
                  <a:off x="5694876" y="4246503"/>
                  <a:ext cx="301686" cy="369332"/>
                </a:xfrm>
                <a:prstGeom prst="rect">
                  <a:avLst/>
                </a:prstGeom>
                <a:noFill/>
              </p:spPr>
              <p:txBody>
                <a:bodyPr wrap="none" rtlCol="0">
                  <a:spAutoFit/>
                </a:bodyPr>
                <a:lstStyle/>
                <a:p>
                  <a:r>
                    <a:rPr lang="en-US" altLang="zh-TW" dirty="0"/>
                    <a:t>4</a:t>
                  </a:r>
                  <a:endParaRPr lang="zh-TW" altLang="en-US" dirty="0"/>
                </a:p>
              </p:txBody>
            </p:sp>
          </p:grpSp>
        </p:grpSp>
      </p:grpSp>
    </p:spTree>
    <p:extLst>
      <p:ext uri="{BB962C8B-B14F-4D97-AF65-F5344CB8AC3E}">
        <p14:creationId xmlns:p14="http://schemas.microsoft.com/office/powerpoint/2010/main" val="3657424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Neighbor-joining</a:t>
            </a:r>
            <a:endParaRPr lang="zh-TW" altLang="en-US" dirty="0">
              <a:latin typeface="Times New Roman" panose="02020603050405020304" pitchFamily="18" charset="0"/>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482261893"/>
              </p:ext>
            </p:extLst>
          </p:nvPr>
        </p:nvGraphicFramePr>
        <p:xfrm>
          <a:off x="917223" y="1690688"/>
          <a:ext cx="1473201" cy="1097280"/>
        </p:xfrm>
        <a:graphic>
          <a:graphicData uri="http://schemas.openxmlformats.org/drawingml/2006/table">
            <a:tbl>
              <a:tblPr firstRow="1" bandRow="1">
                <a:tableStyleId>{5C22544A-7EE6-4342-B048-85BDC9FD1C3A}</a:tableStyleId>
              </a:tblPr>
              <a:tblGrid>
                <a:gridCol w="491067">
                  <a:extLst>
                    <a:ext uri="{9D8B030D-6E8A-4147-A177-3AD203B41FA5}">
                      <a16:colId xmlns:a16="http://schemas.microsoft.com/office/drawing/2014/main" xmlns="" val="1155465239"/>
                    </a:ext>
                  </a:extLst>
                </a:gridCol>
                <a:gridCol w="491067">
                  <a:extLst>
                    <a:ext uri="{9D8B030D-6E8A-4147-A177-3AD203B41FA5}">
                      <a16:colId xmlns:a16="http://schemas.microsoft.com/office/drawing/2014/main" xmlns="" val="2219819070"/>
                    </a:ext>
                  </a:extLst>
                </a:gridCol>
                <a:gridCol w="491067">
                  <a:extLst>
                    <a:ext uri="{9D8B030D-6E8A-4147-A177-3AD203B41FA5}">
                      <a16:colId xmlns:a16="http://schemas.microsoft.com/office/drawing/2014/main" xmlns="" val="13515424"/>
                    </a:ext>
                  </a:extLst>
                </a:gridCol>
              </a:tblGrid>
              <a:tr h="365760">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X</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Y</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293493312"/>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119765386"/>
                  </a:ext>
                </a:extLst>
              </a:tr>
              <a:tr h="345440">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Y</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987875359"/>
                  </a:ext>
                </a:extLst>
              </a:tr>
            </a:tbl>
          </a:graphicData>
        </a:graphic>
      </p:graphicFrame>
      <p:grpSp>
        <p:nvGrpSpPr>
          <p:cNvPr id="47" name="群組 46"/>
          <p:cNvGrpSpPr/>
          <p:nvPr/>
        </p:nvGrpSpPr>
        <p:grpSpPr>
          <a:xfrm>
            <a:off x="3583063" y="1968392"/>
            <a:ext cx="3483781" cy="1532653"/>
            <a:chOff x="3571774" y="2573296"/>
            <a:chExt cx="3483781" cy="1532653"/>
          </a:xfrm>
        </p:grpSpPr>
        <p:grpSp>
          <p:nvGrpSpPr>
            <p:cNvPr id="9" name="群組 8"/>
            <p:cNvGrpSpPr/>
            <p:nvPr/>
          </p:nvGrpSpPr>
          <p:grpSpPr>
            <a:xfrm>
              <a:off x="3571774" y="2573296"/>
              <a:ext cx="3483781" cy="1000102"/>
              <a:chOff x="3806415" y="3871518"/>
              <a:chExt cx="3483781" cy="1000102"/>
            </a:xfrm>
          </p:grpSpPr>
          <p:grpSp>
            <p:nvGrpSpPr>
              <p:cNvPr id="10" name="群組 9"/>
              <p:cNvGrpSpPr/>
              <p:nvPr/>
            </p:nvGrpSpPr>
            <p:grpSpPr>
              <a:xfrm>
                <a:off x="3806415" y="3894096"/>
                <a:ext cx="1462819" cy="977524"/>
                <a:chOff x="4715458" y="3827490"/>
                <a:chExt cx="1462819" cy="977524"/>
              </a:xfrm>
            </p:grpSpPr>
            <p:grpSp>
              <p:nvGrpSpPr>
                <p:cNvPr id="21" name="群組 20"/>
                <p:cNvGrpSpPr/>
                <p:nvPr/>
              </p:nvGrpSpPr>
              <p:grpSpPr>
                <a:xfrm>
                  <a:off x="4715458" y="3827490"/>
                  <a:ext cx="1462819" cy="977524"/>
                  <a:chOff x="4715458" y="3827490"/>
                  <a:chExt cx="1462819" cy="977524"/>
                </a:xfrm>
              </p:grpSpPr>
              <p:cxnSp>
                <p:nvCxnSpPr>
                  <p:cNvPr id="25" name="直線接點 24"/>
                  <p:cNvCxnSpPr>
                    <a:cxnSpLocks/>
                  </p:cNvCxnSpPr>
                  <p:nvPr/>
                </p:nvCxnSpPr>
                <p:spPr>
                  <a:xfrm>
                    <a:off x="4933244" y="4154311"/>
                    <a:ext cx="496712" cy="462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線接點 25"/>
                  <p:cNvCxnSpPr>
                    <a:cxnSpLocks/>
                  </p:cNvCxnSpPr>
                  <p:nvPr/>
                </p:nvCxnSpPr>
                <p:spPr>
                  <a:xfrm flipH="1">
                    <a:off x="5429956" y="4151666"/>
                    <a:ext cx="496711" cy="465491"/>
                  </a:xfrm>
                  <a:prstGeom prst="line">
                    <a:avLst/>
                  </a:prstGeom>
                </p:spPr>
                <p:style>
                  <a:lnRef idx="1">
                    <a:schemeClr val="accent1"/>
                  </a:lnRef>
                  <a:fillRef idx="0">
                    <a:schemeClr val="accent1"/>
                  </a:fillRef>
                  <a:effectRef idx="0">
                    <a:schemeClr val="accent1"/>
                  </a:effectRef>
                  <a:fontRef idx="minor">
                    <a:schemeClr val="tx1"/>
                  </a:fontRef>
                </p:style>
              </p:cxnSp>
              <p:sp>
                <p:nvSpPr>
                  <p:cNvPr id="27" name="文字方塊 26"/>
                  <p:cNvSpPr txBox="1"/>
                  <p:nvPr/>
                </p:nvSpPr>
                <p:spPr>
                  <a:xfrm>
                    <a:off x="4715458" y="3827490"/>
                    <a:ext cx="308098" cy="369332"/>
                  </a:xfrm>
                  <a:prstGeom prst="rect">
                    <a:avLst/>
                  </a:prstGeom>
                  <a:noFill/>
                </p:spPr>
                <p:txBody>
                  <a:bodyPr wrap="none" rtlCol="0">
                    <a:spAutoFit/>
                  </a:bodyPr>
                  <a:lstStyle/>
                  <a:p>
                    <a:r>
                      <a:rPr lang="en-US" altLang="zh-TW" dirty="0"/>
                      <a:t>C</a:t>
                    </a:r>
                    <a:endParaRPr lang="zh-TW" altLang="en-US" dirty="0"/>
                  </a:p>
                </p:txBody>
              </p:sp>
              <p:sp>
                <p:nvSpPr>
                  <p:cNvPr id="28" name="文字方塊 27"/>
                  <p:cNvSpPr txBox="1"/>
                  <p:nvPr/>
                </p:nvSpPr>
                <p:spPr>
                  <a:xfrm>
                    <a:off x="5850943" y="3838779"/>
                    <a:ext cx="327334" cy="369332"/>
                  </a:xfrm>
                  <a:prstGeom prst="rect">
                    <a:avLst/>
                  </a:prstGeom>
                  <a:noFill/>
                </p:spPr>
                <p:txBody>
                  <a:bodyPr wrap="none" rtlCol="0">
                    <a:spAutoFit/>
                  </a:bodyPr>
                  <a:lstStyle/>
                  <a:p>
                    <a:r>
                      <a:rPr lang="en-US" altLang="zh-TW" dirty="0"/>
                      <a:t>D</a:t>
                    </a:r>
                    <a:endParaRPr lang="zh-TW" altLang="en-US" dirty="0"/>
                  </a:p>
                </p:txBody>
              </p:sp>
              <p:sp>
                <p:nvSpPr>
                  <p:cNvPr id="29" name="文字方塊 28"/>
                  <p:cNvSpPr txBox="1"/>
                  <p:nvPr/>
                </p:nvSpPr>
                <p:spPr>
                  <a:xfrm>
                    <a:off x="5094514" y="4435682"/>
                    <a:ext cx="304892" cy="369332"/>
                  </a:xfrm>
                  <a:prstGeom prst="rect">
                    <a:avLst/>
                  </a:prstGeom>
                  <a:noFill/>
                </p:spPr>
                <p:txBody>
                  <a:bodyPr wrap="none" rtlCol="0">
                    <a:spAutoFit/>
                  </a:bodyPr>
                  <a:lstStyle/>
                  <a:p>
                    <a:r>
                      <a:rPr lang="en-US" altLang="zh-TW" dirty="0"/>
                      <a:t>X</a:t>
                    </a:r>
                    <a:endParaRPr lang="zh-TW" altLang="en-US" dirty="0"/>
                  </a:p>
                </p:txBody>
              </p:sp>
            </p:grpSp>
            <p:grpSp>
              <p:nvGrpSpPr>
                <p:cNvPr id="22" name="群組 21"/>
                <p:cNvGrpSpPr/>
                <p:nvPr/>
              </p:nvGrpSpPr>
              <p:grpSpPr>
                <a:xfrm>
                  <a:off x="4791765" y="4246503"/>
                  <a:ext cx="1321815" cy="370654"/>
                  <a:chOff x="4791765" y="4246503"/>
                  <a:chExt cx="1321815" cy="370654"/>
                </a:xfrm>
              </p:grpSpPr>
              <p:sp>
                <p:nvSpPr>
                  <p:cNvPr id="23" name="文字方塊 22"/>
                  <p:cNvSpPr txBox="1"/>
                  <p:nvPr/>
                </p:nvSpPr>
                <p:spPr>
                  <a:xfrm>
                    <a:off x="4791765" y="4247825"/>
                    <a:ext cx="301686" cy="369332"/>
                  </a:xfrm>
                  <a:prstGeom prst="rect">
                    <a:avLst/>
                  </a:prstGeom>
                  <a:noFill/>
                </p:spPr>
                <p:txBody>
                  <a:bodyPr wrap="none" rtlCol="0">
                    <a:spAutoFit/>
                  </a:bodyPr>
                  <a:lstStyle/>
                  <a:p>
                    <a:r>
                      <a:rPr lang="en-US" altLang="zh-TW" dirty="0"/>
                      <a:t>4</a:t>
                    </a:r>
                    <a:endParaRPr lang="zh-TW" altLang="en-US" dirty="0"/>
                  </a:p>
                </p:txBody>
              </p:sp>
              <p:sp>
                <p:nvSpPr>
                  <p:cNvPr id="24" name="文字方塊 23"/>
                  <p:cNvSpPr txBox="1"/>
                  <p:nvPr/>
                </p:nvSpPr>
                <p:spPr>
                  <a:xfrm>
                    <a:off x="5694876" y="4246503"/>
                    <a:ext cx="418704" cy="369332"/>
                  </a:xfrm>
                  <a:prstGeom prst="rect">
                    <a:avLst/>
                  </a:prstGeom>
                  <a:noFill/>
                </p:spPr>
                <p:txBody>
                  <a:bodyPr wrap="none" rtlCol="0">
                    <a:spAutoFit/>
                  </a:bodyPr>
                  <a:lstStyle/>
                  <a:p>
                    <a:r>
                      <a:rPr lang="en-US" altLang="zh-TW" dirty="0"/>
                      <a:t>10</a:t>
                    </a:r>
                    <a:endParaRPr lang="zh-TW" altLang="en-US" dirty="0"/>
                  </a:p>
                </p:txBody>
              </p:sp>
            </p:grpSp>
          </p:grpSp>
          <p:grpSp>
            <p:nvGrpSpPr>
              <p:cNvPr id="11" name="群組 10"/>
              <p:cNvGrpSpPr/>
              <p:nvPr/>
            </p:nvGrpSpPr>
            <p:grpSpPr>
              <a:xfrm>
                <a:off x="5845011" y="3871518"/>
                <a:ext cx="1445185" cy="973011"/>
                <a:chOff x="4715458" y="3827490"/>
                <a:chExt cx="1445185" cy="973011"/>
              </a:xfrm>
            </p:grpSpPr>
            <p:grpSp>
              <p:nvGrpSpPr>
                <p:cNvPr id="12" name="群組 11"/>
                <p:cNvGrpSpPr/>
                <p:nvPr/>
              </p:nvGrpSpPr>
              <p:grpSpPr>
                <a:xfrm>
                  <a:off x="4715458" y="3827490"/>
                  <a:ext cx="1445185" cy="973011"/>
                  <a:chOff x="4715458" y="3827490"/>
                  <a:chExt cx="1445185" cy="973011"/>
                </a:xfrm>
              </p:grpSpPr>
              <p:cxnSp>
                <p:nvCxnSpPr>
                  <p:cNvPr id="16" name="直線接點 15"/>
                  <p:cNvCxnSpPr>
                    <a:cxnSpLocks/>
                  </p:cNvCxnSpPr>
                  <p:nvPr/>
                </p:nvCxnSpPr>
                <p:spPr>
                  <a:xfrm>
                    <a:off x="4933244" y="4154311"/>
                    <a:ext cx="496712" cy="462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線接點 16"/>
                  <p:cNvCxnSpPr>
                    <a:cxnSpLocks/>
                  </p:cNvCxnSpPr>
                  <p:nvPr/>
                </p:nvCxnSpPr>
                <p:spPr>
                  <a:xfrm flipH="1">
                    <a:off x="5429956" y="4151666"/>
                    <a:ext cx="496711" cy="465491"/>
                  </a:xfrm>
                  <a:prstGeom prst="line">
                    <a:avLst/>
                  </a:prstGeom>
                </p:spPr>
                <p:style>
                  <a:lnRef idx="1">
                    <a:schemeClr val="accent1"/>
                  </a:lnRef>
                  <a:fillRef idx="0">
                    <a:schemeClr val="accent1"/>
                  </a:fillRef>
                  <a:effectRef idx="0">
                    <a:schemeClr val="accent1"/>
                  </a:effectRef>
                  <a:fontRef idx="minor">
                    <a:schemeClr val="tx1"/>
                  </a:fontRef>
                </p:style>
              </p:cxnSp>
              <p:sp>
                <p:nvSpPr>
                  <p:cNvPr id="18" name="文字方塊 17"/>
                  <p:cNvSpPr txBox="1"/>
                  <p:nvPr/>
                </p:nvSpPr>
                <p:spPr>
                  <a:xfrm>
                    <a:off x="4715458" y="3827490"/>
                    <a:ext cx="317716" cy="369332"/>
                  </a:xfrm>
                  <a:prstGeom prst="rect">
                    <a:avLst/>
                  </a:prstGeom>
                  <a:noFill/>
                </p:spPr>
                <p:txBody>
                  <a:bodyPr wrap="none" rtlCol="0">
                    <a:spAutoFit/>
                  </a:bodyPr>
                  <a:lstStyle/>
                  <a:p>
                    <a:r>
                      <a:rPr lang="en-US" altLang="zh-TW" dirty="0"/>
                      <a:t>A</a:t>
                    </a:r>
                    <a:endParaRPr lang="zh-TW" altLang="en-US" dirty="0"/>
                  </a:p>
                </p:txBody>
              </p:sp>
              <p:sp>
                <p:nvSpPr>
                  <p:cNvPr id="19" name="文字方塊 18"/>
                  <p:cNvSpPr txBox="1"/>
                  <p:nvPr/>
                </p:nvSpPr>
                <p:spPr>
                  <a:xfrm>
                    <a:off x="5850943" y="3838779"/>
                    <a:ext cx="309700" cy="369332"/>
                  </a:xfrm>
                  <a:prstGeom prst="rect">
                    <a:avLst/>
                  </a:prstGeom>
                  <a:noFill/>
                </p:spPr>
                <p:txBody>
                  <a:bodyPr wrap="none" rtlCol="0">
                    <a:spAutoFit/>
                  </a:bodyPr>
                  <a:lstStyle/>
                  <a:p>
                    <a:r>
                      <a:rPr lang="en-US" altLang="zh-TW" dirty="0"/>
                      <a:t>B</a:t>
                    </a:r>
                    <a:endParaRPr lang="zh-TW" altLang="en-US" dirty="0"/>
                  </a:p>
                </p:txBody>
              </p:sp>
              <p:sp>
                <p:nvSpPr>
                  <p:cNvPr id="20" name="文字方塊 19"/>
                  <p:cNvSpPr txBox="1"/>
                  <p:nvPr/>
                </p:nvSpPr>
                <p:spPr>
                  <a:xfrm>
                    <a:off x="5458813" y="4431169"/>
                    <a:ext cx="296876" cy="369332"/>
                  </a:xfrm>
                  <a:prstGeom prst="rect">
                    <a:avLst/>
                  </a:prstGeom>
                  <a:noFill/>
                </p:spPr>
                <p:txBody>
                  <a:bodyPr wrap="none" rtlCol="0">
                    <a:spAutoFit/>
                  </a:bodyPr>
                  <a:lstStyle/>
                  <a:p>
                    <a:r>
                      <a:rPr lang="en-US" altLang="zh-TW" dirty="0"/>
                      <a:t>Y</a:t>
                    </a:r>
                    <a:endParaRPr lang="zh-TW" altLang="en-US" dirty="0"/>
                  </a:p>
                </p:txBody>
              </p:sp>
            </p:grpSp>
            <p:grpSp>
              <p:nvGrpSpPr>
                <p:cNvPr id="13" name="群組 12"/>
                <p:cNvGrpSpPr/>
                <p:nvPr/>
              </p:nvGrpSpPr>
              <p:grpSpPr>
                <a:xfrm>
                  <a:off x="4791765" y="4246503"/>
                  <a:ext cx="1204797" cy="370654"/>
                  <a:chOff x="4791765" y="4246503"/>
                  <a:chExt cx="1204797" cy="370654"/>
                </a:xfrm>
              </p:grpSpPr>
              <p:sp>
                <p:nvSpPr>
                  <p:cNvPr id="14" name="文字方塊 13"/>
                  <p:cNvSpPr txBox="1"/>
                  <p:nvPr/>
                </p:nvSpPr>
                <p:spPr>
                  <a:xfrm>
                    <a:off x="4791765" y="4247825"/>
                    <a:ext cx="418704" cy="369332"/>
                  </a:xfrm>
                  <a:prstGeom prst="rect">
                    <a:avLst/>
                  </a:prstGeom>
                  <a:noFill/>
                </p:spPr>
                <p:txBody>
                  <a:bodyPr wrap="none" rtlCol="0">
                    <a:spAutoFit/>
                  </a:bodyPr>
                  <a:lstStyle/>
                  <a:p>
                    <a:r>
                      <a:rPr lang="en-US" altLang="zh-TW" dirty="0"/>
                      <a:t>13</a:t>
                    </a:r>
                    <a:endParaRPr lang="zh-TW" altLang="en-US" dirty="0"/>
                  </a:p>
                </p:txBody>
              </p:sp>
              <p:sp>
                <p:nvSpPr>
                  <p:cNvPr id="15" name="文字方塊 14"/>
                  <p:cNvSpPr txBox="1"/>
                  <p:nvPr/>
                </p:nvSpPr>
                <p:spPr>
                  <a:xfrm>
                    <a:off x="5694876" y="4246503"/>
                    <a:ext cx="301686" cy="369332"/>
                  </a:xfrm>
                  <a:prstGeom prst="rect">
                    <a:avLst/>
                  </a:prstGeom>
                  <a:noFill/>
                </p:spPr>
                <p:txBody>
                  <a:bodyPr wrap="none" rtlCol="0">
                    <a:spAutoFit/>
                  </a:bodyPr>
                  <a:lstStyle/>
                  <a:p>
                    <a:r>
                      <a:rPr lang="en-US" altLang="zh-TW" dirty="0"/>
                      <a:t>4</a:t>
                    </a:r>
                    <a:endParaRPr lang="zh-TW" altLang="en-US" dirty="0"/>
                  </a:p>
                </p:txBody>
              </p:sp>
            </p:grpSp>
          </p:grpSp>
        </p:grpSp>
        <p:cxnSp>
          <p:nvCxnSpPr>
            <p:cNvPr id="35" name="直線接點 34"/>
            <p:cNvCxnSpPr>
              <a:cxnSpLocks/>
            </p:cNvCxnSpPr>
            <p:nvPr/>
          </p:nvCxnSpPr>
          <p:spPr>
            <a:xfrm>
              <a:off x="4289589" y="3388732"/>
              <a:ext cx="0" cy="325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線接點 35"/>
            <p:cNvCxnSpPr>
              <a:cxnSpLocks/>
            </p:cNvCxnSpPr>
            <p:nvPr/>
          </p:nvCxnSpPr>
          <p:spPr>
            <a:xfrm>
              <a:off x="6330324" y="3361641"/>
              <a:ext cx="822" cy="352403"/>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線接點 42"/>
            <p:cNvCxnSpPr>
              <a:cxnSpLocks/>
            </p:cNvCxnSpPr>
            <p:nvPr/>
          </p:nvCxnSpPr>
          <p:spPr>
            <a:xfrm>
              <a:off x="4274983" y="3725330"/>
              <a:ext cx="2061174" cy="0"/>
            </a:xfrm>
            <a:prstGeom prst="line">
              <a:avLst/>
            </a:prstGeom>
          </p:spPr>
          <p:style>
            <a:lnRef idx="1">
              <a:schemeClr val="accent1"/>
            </a:lnRef>
            <a:fillRef idx="0">
              <a:schemeClr val="accent1"/>
            </a:fillRef>
            <a:effectRef idx="0">
              <a:schemeClr val="accent1"/>
            </a:effectRef>
            <a:fontRef idx="minor">
              <a:schemeClr val="tx1"/>
            </a:fontRef>
          </p:style>
        </p:cxnSp>
        <p:sp>
          <p:nvSpPr>
            <p:cNvPr id="46" name="文字方塊 45"/>
            <p:cNvSpPr txBox="1"/>
            <p:nvPr/>
          </p:nvSpPr>
          <p:spPr>
            <a:xfrm>
              <a:off x="5154727" y="3736617"/>
              <a:ext cx="301686" cy="369332"/>
            </a:xfrm>
            <a:prstGeom prst="rect">
              <a:avLst/>
            </a:prstGeom>
            <a:noFill/>
          </p:spPr>
          <p:txBody>
            <a:bodyPr wrap="none" rtlCol="0">
              <a:spAutoFit/>
            </a:bodyPr>
            <a:lstStyle/>
            <a:p>
              <a:r>
                <a:rPr lang="en-US" altLang="zh-TW" dirty="0"/>
                <a:t>4</a:t>
              </a:r>
              <a:endParaRPr lang="zh-TW" altLang="en-US" dirty="0"/>
            </a:p>
          </p:txBody>
        </p:sp>
      </p:grpSp>
    </p:spTree>
    <p:extLst>
      <p:ext uri="{BB962C8B-B14F-4D97-AF65-F5344CB8AC3E}">
        <p14:creationId xmlns:p14="http://schemas.microsoft.com/office/powerpoint/2010/main" val="2960367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8528" y="61912"/>
            <a:ext cx="6465887" cy="6734175"/>
          </a:xfrm>
          <a:prstGeom prst="rect">
            <a:avLst/>
          </a:prstGeom>
        </p:spPr>
      </p:pic>
      <p:sp>
        <p:nvSpPr>
          <p:cNvPr id="6" name="文字方塊 5"/>
          <p:cNvSpPr txBox="1"/>
          <p:nvPr/>
        </p:nvSpPr>
        <p:spPr>
          <a:xfrm>
            <a:off x="7913512" y="3127022"/>
            <a:ext cx="3618298" cy="430887"/>
          </a:xfrm>
          <a:prstGeom prst="rect">
            <a:avLst/>
          </a:prstGeom>
          <a:noFill/>
        </p:spPr>
        <p:txBody>
          <a:bodyPr wrap="none" rtlCol="0">
            <a:spAutoFit/>
          </a:bodyPr>
          <a:lstStyle/>
          <a:p>
            <a:r>
              <a:rPr lang="en-US" altLang="zh-TW" sz="2200" dirty="0">
                <a:solidFill>
                  <a:schemeClr val="accent1"/>
                </a:solidFill>
                <a:latin typeface="Times New Roman" panose="02020603050405020304" pitchFamily="18" charset="0"/>
                <a:cs typeface="Times New Roman" panose="02020603050405020304" pitchFamily="18" charset="0"/>
              </a:rPr>
              <a:t>Guide tree : mid-point method</a:t>
            </a:r>
            <a:endParaRPr lang="zh-TW" altLang="en-US" sz="2200" dirty="0">
              <a:solidFill>
                <a:schemeClr val="accent1"/>
              </a:solidFill>
              <a:latin typeface="Times New Roman" panose="02020603050405020304" pitchFamily="18" charset="0"/>
              <a:cs typeface="Times New Roman" panose="02020603050405020304" pitchFamily="18" charset="0"/>
            </a:endParaRPr>
          </a:p>
        </p:txBody>
      </p:sp>
      <p:sp>
        <p:nvSpPr>
          <p:cNvPr id="7" name="文字方塊 6"/>
          <p:cNvSpPr txBox="1"/>
          <p:nvPr/>
        </p:nvSpPr>
        <p:spPr>
          <a:xfrm>
            <a:off x="7913512" y="1631245"/>
            <a:ext cx="2210029" cy="430887"/>
          </a:xfrm>
          <a:prstGeom prst="rect">
            <a:avLst/>
          </a:prstGeom>
          <a:noFill/>
        </p:spPr>
        <p:txBody>
          <a:bodyPr wrap="none" rtlCol="0">
            <a:spAutoFit/>
          </a:bodyPr>
          <a:lstStyle/>
          <a:p>
            <a:r>
              <a:rPr lang="en-US" altLang="zh-TW" sz="2200" dirty="0">
                <a:solidFill>
                  <a:schemeClr val="accent1"/>
                </a:solidFill>
                <a:latin typeface="Times New Roman" panose="02020603050405020304" pitchFamily="18" charset="0"/>
                <a:cs typeface="Times New Roman" panose="02020603050405020304" pitchFamily="18" charset="0"/>
              </a:rPr>
              <a:t>Neighbor-joining</a:t>
            </a:r>
            <a:endParaRPr lang="zh-TW" altLang="en-US" sz="2200" dirty="0">
              <a:solidFill>
                <a:schemeClr val="accent1"/>
              </a:solidFill>
              <a:latin typeface="Times New Roman" panose="02020603050405020304" pitchFamily="18" charset="0"/>
              <a:cs typeface="Times New Roman" panose="02020603050405020304" pitchFamily="18" charset="0"/>
            </a:endParaRPr>
          </a:p>
        </p:txBody>
      </p:sp>
      <p:sp>
        <p:nvSpPr>
          <p:cNvPr id="8" name="文字方塊 7"/>
          <p:cNvSpPr txBox="1"/>
          <p:nvPr/>
        </p:nvSpPr>
        <p:spPr>
          <a:xfrm>
            <a:off x="7913512" y="452470"/>
            <a:ext cx="2355132" cy="430887"/>
          </a:xfrm>
          <a:prstGeom prst="rect">
            <a:avLst/>
          </a:prstGeom>
          <a:noFill/>
        </p:spPr>
        <p:txBody>
          <a:bodyPr wrap="none" rtlCol="0">
            <a:spAutoFit/>
          </a:bodyPr>
          <a:lstStyle/>
          <a:p>
            <a:r>
              <a:rPr lang="en-US" altLang="zh-TW" sz="2200" dirty="0">
                <a:solidFill>
                  <a:schemeClr val="accent1"/>
                </a:solidFill>
                <a:latin typeface="Times New Roman" panose="02020603050405020304" pitchFamily="18" charset="0"/>
                <a:cs typeface="Times New Roman" panose="02020603050405020304" pitchFamily="18" charset="0"/>
              </a:rPr>
              <a:t>Pairwise alignment</a:t>
            </a:r>
            <a:endParaRPr lang="zh-TW" altLang="en-US" sz="2200" dirty="0">
              <a:solidFill>
                <a:schemeClr val="accent1"/>
              </a:solidFill>
              <a:latin typeface="Times New Roman" panose="02020603050405020304" pitchFamily="18" charset="0"/>
              <a:cs typeface="Times New Roman" panose="02020603050405020304" pitchFamily="18" charset="0"/>
            </a:endParaRPr>
          </a:p>
        </p:txBody>
      </p:sp>
      <p:sp>
        <p:nvSpPr>
          <p:cNvPr id="9" name="文字方塊 8"/>
          <p:cNvSpPr txBox="1"/>
          <p:nvPr/>
        </p:nvSpPr>
        <p:spPr>
          <a:xfrm>
            <a:off x="7854415" y="4984043"/>
            <a:ext cx="2699778" cy="430887"/>
          </a:xfrm>
          <a:prstGeom prst="rect">
            <a:avLst/>
          </a:prstGeom>
          <a:noFill/>
        </p:spPr>
        <p:txBody>
          <a:bodyPr wrap="none" rtlCol="0">
            <a:spAutoFit/>
          </a:bodyPr>
          <a:lstStyle/>
          <a:p>
            <a:r>
              <a:rPr lang="en-US" altLang="zh-TW" sz="2200" dirty="0">
                <a:solidFill>
                  <a:schemeClr val="accent1"/>
                </a:solidFill>
                <a:latin typeface="Times New Roman" panose="02020603050405020304" pitchFamily="18" charset="0"/>
                <a:cs typeface="Times New Roman" panose="02020603050405020304" pitchFamily="18" charset="0"/>
              </a:rPr>
              <a:t>Progressive alignment</a:t>
            </a:r>
            <a:endParaRPr lang="zh-TW" altLang="en-US" sz="2200"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3682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Guide Tree : mid-point method</a:t>
            </a:r>
            <a:endParaRPr lang="zh-TW" altLang="en-US"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0348" y="1864960"/>
            <a:ext cx="6111303" cy="3610152"/>
          </a:xfrm>
          <a:prstGeom prst="rect">
            <a:avLst/>
          </a:prstGeom>
        </p:spPr>
      </p:pic>
      <p:sp>
        <p:nvSpPr>
          <p:cNvPr id="3" name="文字方塊 2"/>
          <p:cNvSpPr txBox="1"/>
          <p:nvPr/>
        </p:nvSpPr>
        <p:spPr>
          <a:xfrm>
            <a:off x="3223257" y="5881511"/>
            <a:ext cx="5794920" cy="430887"/>
          </a:xfrm>
          <a:prstGeom prst="rect">
            <a:avLst/>
          </a:prstGeom>
          <a:noFill/>
        </p:spPr>
        <p:txBody>
          <a:bodyPr wrap="none" rtlCol="0">
            <a:spAutoFit/>
          </a:bodyPr>
          <a:lstStyle/>
          <a:p>
            <a:r>
              <a:rPr lang="en-US" altLang="zh-TW" sz="2200" dirty="0">
                <a:latin typeface="Times New Roman" panose="02020603050405020304" pitchFamily="18" charset="0"/>
                <a:cs typeface="Times New Roman" panose="02020603050405020304" pitchFamily="18" charset="0"/>
              </a:rPr>
              <a:t>The most divergent </a:t>
            </a:r>
            <a:r>
              <a:rPr lang="en-US" altLang="zh-TW" sz="2200">
                <a:latin typeface="Times New Roman" panose="02020603050405020304" pitchFamily="18" charset="0"/>
                <a:cs typeface="Times New Roman" panose="02020603050405020304" pitchFamily="18" charset="0"/>
              </a:rPr>
              <a:t>sequence gets highest weight.</a:t>
            </a:r>
            <a:endParaRPr lang="zh-TW"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2960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Progressive Alignment</a:t>
            </a:r>
            <a:endParaRPr lang="zh-TW" altLang="en-US" dirty="0"/>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45" y="2328923"/>
            <a:ext cx="6042755" cy="3252480"/>
          </a:xfrm>
          <a:prstGeom prst="rect">
            <a:avLst/>
          </a:prstGeom>
        </p:spPr>
      </p:pic>
      <mc:AlternateContent xmlns:mc="http://schemas.openxmlformats.org/markup-compatibility/2006" xmlns:a14="http://schemas.microsoft.com/office/drawing/2010/main">
        <mc:Choice Requires="a14">
          <p:sp>
            <p:nvSpPr>
              <p:cNvPr id="6" name="文字方塊 5"/>
              <p:cNvSpPr txBox="1"/>
              <p:nvPr/>
            </p:nvSpPr>
            <p:spPr>
              <a:xfrm>
                <a:off x="5578436" y="1609311"/>
                <a:ext cx="5860322" cy="882678"/>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Lowered gap penalties at existing gaps:</a:t>
                </a:r>
              </a:p>
              <a:p>
                <a:r>
                  <a:rPr lang="en-US" altLang="zh-TW" sz="2000" dirty="0">
                    <a:latin typeface="Times New Roman" panose="02020603050405020304" pitchFamily="18" charset="0"/>
                    <a:cs typeface="Times New Roman" panose="02020603050405020304" pitchFamily="18" charset="0"/>
                  </a:rPr>
                  <a:t>GOP </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GOP * 0.3 * ( </a:t>
                </a:r>
                <a14:m>
                  <m:oMath xmlns:m="http://schemas.openxmlformats.org/officeDocument/2006/math">
                    <m:f>
                      <m:fPr>
                        <m:ctrlPr>
                          <a:rPr lang="en-US" altLang="zh-TW" sz="2000" i="1" smtClean="0">
                            <a:latin typeface="Cambria Math" panose="02040503050406030204" pitchFamily="18" charset="0"/>
                            <a:cs typeface="Times New Roman" panose="02020603050405020304" pitchFamily="18" charset="0"/>
                          </a:rPr>
                        </m:ctrlPr>
                      </m:fPr>
                      <m:num>
                        <m:r>
                          <a:rPr lang="en-US" altLang="zh-TW" sz="2000" b="0" i="1" smtClean="0">
                            <a:latin typeface="Cambria Math" panose="02040503050406030204" pitchFamily="18" charset="0"/>
                            <a:cs typeface="Times New Roman" panose="02020603050405020304" pitchFamily="18" charset="0"/>
                          </a:rPr>
                          <m:t>𝑛𝑜</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𝑜𝑓</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𝑠𝑒𝑞𝑢𝑒𝑛𝑐𝑒𝑠</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𝑤𝑖𝑡h𝑜𝑢𝑡</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𝑎</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𝑔𝑎𝑝</m:t>
                        </m:r>
                      </m:num>
                      <m:den>
                        <m:r>
                          <a:rPr lang="en-US" altLang="zh-TW" sz="2000" b="0" i="1" smtClean="0">
                            <a:latin typeface="Cambria Math" panose="02040503050406030204" pitchFamily="18" charset="0"/>
                            <a:cs typeface="Times New Roman" panose="02020603050405020304" pitchFamily="18" charset="0"/>
                          </a:rPr>
                          <m:t>𝑛𝑜</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𝑜𝑓</m:t>
                        </m:r>
                        <m:r>
                          <a:rPr lang="en-US" altLang="zh-TW" sz="2000" b="0" i="1" smtClean="0">
                            <a:latin typeface="Cambria Math" panose="02040503050406030204" pitchFamily="18" charset="0"/>
                            <a:cs typeface="Times New Roman" panose="02020603050405020304" pitchFamily="18" charset="0"/>
                          </a:rPr>
                          <m:t> </m:t>
                        </m:r>
                        <m:r>
                          <a:rPr lang="en-US" altLang="zh-TW" sz="2000" b="0" i="1" smtClean="0">
                            <a:latin typeface="Cambria Math" panose="02040503050406030204" pitchFamily="18" charset="0"/>
                            <a:cs typeface="Times New Roman" panose="02020603050405020304" pitchFamily="18" charset="0"/>
                          </a:rPr>
                          <m:t>𝑠𝑒𝑞𝑢𝑒𝑛𝑐𝑒𝑠</m:t>
                        </m:r>
                      </m:den>
                    </m:f>
                  </m:oMath>
                </a14:m>
                <a:r>
                  <a:rPr lang="en-US" altLang="zh-TW" sz="2000" dirty="0">
                    <a:latin typeface="Times New Roman" panose="02020603050405020304" pitchFamily="18" charset="0"/>
                    <a:cs typeface="Times New Roman" panose="02020603050405020304" pitchFamily="18" charset="0"/>
                  </a:rPr>
                  <a:t> )</a:t>
                </a:r>
              </a:p>
            </p:txBody>
          </p:sp>
        </mc:Choice>
        <mc:Fallback xmlns="">
          <p:sp>
            <p:nvSpPr>
              <p:cNvPr id="6" name="文字方塊 5"/>
              <p:cNvSpPr txBox="1">
                <a:spLocks noRot="1" noChangeAspect="1" noMove="1" noResize="1" noEditPoints="1" noAdjustHandles="1" noChangeArrowheads="1" noChangeShapeType="1" noTextEdit="1"/>
              </p:cNvSpPr>
              <p:nvPr/>
            </p:nvSpPr>
            <p:spPr>
              <a:xfrm>
                <a:off x="5578436" y="1609311"/>
                <a:ext cx="5860322" cy="882678"/>
              </a:xfrm>
              <a:prstGeom prst="rect">
                <a:avLst/>
              </a:prstGeom>
              <a:blipFill>
                <a:blip r:embed="rId3"/>
                <a:stretch>
                  <a:fillRect l="-1041" t="-4138" r="-1041"/>
                </a:stretch>
              </a:blipFill>
            </p:spPr>
            <p:txBody>
              <a:bodyPr/>
              <a:lstStyle/>
              <a:p>
                <a:r>
                  <a:rPr lang="zh-TW" altLang="en-US">
                    <a:noFill/>
                  </a:rPr>
                  <a:t> </a:t>
                </a:r>
              </a:p>
            </p:txBody>
          </p:sp>
        </mc:Fallback>
      </mc:AlternateContent>
      <p:cxnSp>
        <p:nvCxnSpPr>
          <p:cNvPr id="8" name="直線單箭頭接點 7"/>
          <p:cNvCxnSpPr/>
          <p:nvPr/>
        </p:nvCxnSpPr>
        <p:spPr>
          <a:xfrm>
            <a:off x="6329550" y="2196940"/>
            <a:ext cx="3800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字方塊 8"/>
              <p:cNvSpPr txBox="1"/>
              <p:nvPr/>
            </p:nvSpPr>
            <p:spPr>
              <a:xfrm>
                <a:off x="5578436" y="2546979"/>
                <a:ext cx="5327356" cy="851580"/>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Increased gap penalties near existing gaps:</a:t>
                </a:r>
              </a:p>
              <a:p>
                <a:r>
                  <a:rPr lang="en-US" altLang="zh-TW" sz="2000" dirty="0">
                    <a:latin typeface="Times New Roman" panose="02020603050405020304" pitchFamily="18" charset="0"/>
                    <a:cs typeface="Times New Roman" panose="02020603050405020304" pitchFamily="18" charset="0"/>
                  </a:rPr>
                  <a:t>GOP </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GOP * { </a:t>
                </a:r>
                <a14:m>
                  <m:oMath xmlns:m="http://schemas.openxmlformats.org/officeDocument/2006/math">
                    <m:f>
                      <m:fPr>
                        <m:ctrlPr>
                          <a:rPr lang="en-US" altLang="zh-TW" sz="2000" i="1" smtClean="0">
                            <a:latin typeface="Cambria Math" panose="02040503050406030204" pitchFamily="18" charset="0"/>
                            <a:cs typeface="Times New Roman" panose="02020603050405020304" pitchFamily="18" charset="0"/>
                          </a:rPr>
                        </m:ctrlPr>
                      </m:fPr>
                      <m:num>
                        <m:r>
                          <a:rPr lang="en-US" altLang="zh-TW" sz="2000" i="1" dirty="0">
                            <a:latin typeface="Cambria Math" panose="02040503050406030204" pitchFamily="18" charset="0"/>
                            <a:cs typeface="Times New Roman" panose="02020603050405020304" pitchFamily="18" charset="0"/>
                          </a:rPr>
                          <m:t>2 + [ (8 – </m:t>
                        </m:r>
                        <m:r>
                          <a:rPr lang="en-US" altLang="zh-TW" sz="2000" i="1" dirty="0">
                            <a:latin typeface="Cambria Math" panose="02040503050406030204" pitchFamily="18" charset="0"/>
                            <a:cs typeface="Times New Roman" panose="02020603050405020304" pitchFamily="18" charset="0"/>
                          </a:rPr>
                          <m:t>𝑑𝑖𝑠𝑡𝑎𝑛𝑐𝑒</m:t>
                        </m:r>
                        <m:r>
                          <a:rPr lang="en-US" altLang="zh-TW" sz="2000" i="1" dirty="0">
                            <a:latin typeface="Cambria Math" panose="02040503050406030204" pitchFamily="18" charset="0"/>
                            <a:cs typeface="Times New Roman" panose="02020603050405020304" pitchFamily="18" charset="0"/>
                          </a:rPr>
                          <m:t> </m:t>
                        </m:r>
                        <m:r>
                          <a:rPr lang="en-US" altLang="zh-TW" sz="2000" i="1" dirty="0">
                            <a:latin typeface="Cambria Math" panose="02040503050406030204" pitchFamily="18" charset="0"/>
                            <a:cs typeface="Times New Roman" panose="02020603050405020304" pitchFamily="18" charset="0"/>
                          </a:rPr>
                          <m:t>𝑓𝑟𝑜𝑚</m:t>
                        </m:r>
                        <m:r>
                          <a:rPr lang="en-US" altLang="zh-TW" sz="2000" i="1" dirty="0">
                            <a:latin typeface="Cambria Math" panose="02040503050406030204" pitchFamily="18" charset="0"/>
                            <a:cs typeface="Times New Roman" panose="02020603050405020304" pitchFamily="18" charset="0"/>
                          </a:rPr>
                          <m:t> </m:t>
                        </m:r>
                        <m:r>
                          <a:rPr lang="en-US" altLang="zh-TW" sz="2000" i="1" dirty="0">
                            <a:latin typeface="Cambria Math" panose="02040503050406030204" pitchFamily="18" charset="0"/>
                            <a:cs typeface="Times New Roman" panose="02020603050405020304" pitchFamily="18" charset="0"/>
                          </a:rPr>
                          <m:t>𝑔𝑎𝑝</m:t>
                        </m:r>
                        <m:r>
                          <a:rPr lang="en-US" altLang="zh-TW" sz="2000" i="1" dirty="0">
                            <a:latin typeface="Cambria Math" panose="02040503050406030204" pitchFamily="18" charset="0"/>
                            <a:cs typeface="Times New Roman" panose="02020603050405020304" pitchFamily="18" charset="0"/>
                          </a:rPr>
                          <m:t>) ∗ 2]</m:t>
                        </m:r>
                      </m:num>
                      <m:den>
                        <m:r>
                          <a:rPr lang="en-US" altLang="zh-TW" sz="2000" b="0" i="1" smtClean="0">
                            <a:latin typeface="Cambria Math" panose="02040503050406030204" pitchFamily="18" charset="0"/>
                            <a:cs typeface="Times New Roman" panose="02020603050405020304" pitchFamily="18" charset="0"/>
                          </a:rPr>
                          <m:t>8</m:t>
                        </m:r>
                      </m:den>
                    </m:f>
                  </m:oMath>
                </a14:m>
                <a:r>
                  <a:rPr lang="en-US" altLang="zh-TW" sz="2000" dirty="0">
                    <a:latin typeface="Times New Roman" panose="02020603050405020304" pitchFamily="18" charset="0"/>
                    <a:cs typeface="Times New Roman" panose="02020603050405020304" pitchFamily="18" charset="0"/>
                  </a:rPr>
                  <a:t> }</a:t>
                </a:r>
              </a:p>
            </p:txBody>
          </p:sp>
        </mc:Choice>
        <mc:Fallback xmlns="">
          <p:sp>
            <p:nvSpPr>
              <p:cNvPr id="9" name="文字方塊 8"/>
              <p:cNvSpPr txBox="1">
                <a:spLocks noRot="1" noChangeAspect="1" noMove="1" noResize="1" noEditPoints="1" noAdjustHandles="1" noChangeArrowheads="1" noChangeShapeType="1" noTextEdit="1"/>
              </p:cNvSpPr>
              <p:nvPr/>
            </p:nvSpPr>
            <p:spPr>
              <a:xfrm>
                <a:off x="5578436" y="2546979"/>
                <a:ext cx="5327356" cy="851580"/>
              </a:xfrm>
              <a:prstGeom prst="rect">
                <a:avLst/>
              </a:prstGeom>
              <a:blipFill>
                <a:blip r:embed="rId4"/>
                <a:stretch>
                  <a:fillRect l="-1144" t="-4286" r="-3432" b="-3571"/>
                </a:stretch>
              </a:blipFill>
            </p:spPr>
            <p:txBody>
              <a:bodyPr/>
              <a:lstStyle/>
              <a:p>
                <a:r>
                  <a:rPr lang="zh-TW" altLang="en-US">
                    <a:noFill/>
                  </a:rPr>
                  <a:t> </a:t>
                </a:r>
              </a:p>
            </p:txBody>
          </p:sp>
        </mc:Fallback>
      </mc:AlternateContent>
      <p:cxnSp>
        <p:nvCxnSpPr>
          <p:cNvPr id="10" name="直線單箭頭接點 9"/>
          <p:cNvCxnSpPr/>
          <p:nvPr/>
        </p:nvCxnSpPr>
        <p:spPr>
          <a:xfrm>
            <a:off x="6317675" y="3133109"/>
            <a:ext cx="3800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a:off x="5578436" y="3441150"/>
            <a:ext cx="5069273" cy="707886"/>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Reduced gap penalties in hydrophilic stretches:</a:t>
            </a:r>
          </a:p>
          <a:p>
            <a:r>
              <a:rPr lang="en-US" altLang="zh-TW" sz="2000" dirty="0">
                <a:latin typeface="Times New Roman" panose="02020603050405020304" pitchFamily="18" charset="0"/>
                <a:cs typeface="Times New Roman" panose="02020603050405020304" pitchFamily="18" charset="0"/>
              </a:rPr>
              <a:t>GOP </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GOP * 1/3</a:t>
            </a:r>
          </a:p>
        </p:txBody>
      </p:sp>
      <p:cxnSp>
        <p:nvCxnSpPr>
          <p:cNvPr id="12" name="直線單箭頭接點 11"/>
          <p:cNvCxnSpPr/>
          <p:nvPr/>
        </p:nvCxnSpPr>
        <p:spPr>
          <a:xfrm>
            <a:off x="6303822" y="3950524"/>
            <a:ext cx="3800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 name="圖片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03822" y="4191627"/>
            <a:ext cx="5837869" cy="2588489"/>
          </a:xfrm>
          <a:prstGeom prst="rect">
            <a:avLst/>
          </a:prstGeom>
        </p:spPr>
      </p:pic>
    </p:spTree>
    <p:extLst>
      <p:ext uri="{BB962C8B-B14F-4D97-AF65-F5344CB8AC3E}">
        <p14:creationId xmlns:p14="http://schemas.microsoft.com/office/powerpoint/2010/main" val="14182099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641</TotalTime>
  <Words>488</Words>
  <Application>Microsoft Office PowerPoint</Application>
  <PresentationFormat>寬螢幕</PresentationFormat>
  <Paragraphs>285</Paragraphs>
  <Slides>13</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13</vt:i4>
      </vt:variant>
    </vt:vector>
  </HeadingPairs>
  <TitlesOfParts>
    <vt:vector size="20" baseType="lpstr">
      <vt:lpstr>新細明體</vt:lpstr>
      <vt:lpstr>Arial</vt:lpstr>
      <vt:lpstr>Calibri</vt:lpstr>
      <vt:lpstr>Calibri Light</vt:lpstr>
      <vt:lpstr>Cambria Math</vt:lpstr>
      <vt:lpstr>Times New Roman</vt:lpstr>
      <vt:lpstr>Office 佈景主題</vt:lpstr>
      <vt:lpstr>CLUSTAL W: improving the sensitivity of progressive multiple sequence alignment through sequence weighting, position-specific gap penalties and weight matrix choice</vt:lpstr>
      <vt:lpstr>Abstract</vt:lpstr>
      <vt:lpstr>Pairwise Alignment</vt:lpstr>
      <vt:lpstr>Neighbor-joining</vt:lpstr>
      <vt:lpstr>Neighbor-joining</vt:lpstr>
      <vt:lpstr>Neighbor-joining</vt:lpstr>
      <vt:lpstr>Neighbor-joining</vt:lpstr>
      <vt:lpstr>Neighbor-joining</vt:lpstr>
      <vt:lpstr>Neighbor-joining</vt:lpstr>
      <vt:lpstr>Neighbor-joining</vt:lpstr>
      <vt:lpstr>PowerPoint 簡報</vt:lpstr>
      <vt:lpstr>Guide Tree : mid-point method</vt:lpstr>
      <vt:lpstr>Progressive Alignment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CLUSTAL W: improving the sensitivity of progressive multiple sequence alignment through sequence weighting, position-specific gap penalties and weight matrix choice</dc:title>
  <dc:creator>Caros</dc:creator>
  <cp:lastModifiedBy>pplab-class</cp:lastModifiedBy>
  <cp:revision>70</cp:revision>
  <dcterms:created xsi:type="dcterms:W3CDTF">2017-04-10T20:20:38Z</dcterms:created>
  <dcterms:modified xsi:type="dcterms:W3CDTF">2017-04-11T12:44:53Z</dcterms:modified>
</cp:coreProperties>
</file>