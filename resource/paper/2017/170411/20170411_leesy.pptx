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3" r:id="rId5"/>
    <p:sldId id="264" r:id="rId6"/>
    <p:sldId id="265" r:id="rId7"/>
    <p:sldId id="266" r:id="rId8"/>
    <p:sldId id="268" r:id="rId9"/>
    <p:sldId id="267" r:id="rId10"/>
    <p:sldId id="269" r:id="rId11"/>
    <p:sldId id="271" r:id="rId12"/>
    <p:sldId id="272" r:id="rId13"/>
    <p:sldId id="273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2428875"/>
          </a:xfrm>
        </p:spPr>
        <p:txBody>
          <a:bodyPr>
            <a:normAutofit/>
          </a:bodyPr>
          <a:lstStyle>
            <a:lvl1pPr marL="0" indent="0">
              <a:buNone/>
              <a:defRPr sz="22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>
              <a:buNone/>
              <a:defRPr/>
            </a:lvl2pPr>
          </a:lstStyle>
          <a:p>
            <a:pPr lvl="0"/>
            <a:endParaRPr lang="en-US" altLang="zh-TW" dirty="0" smtClean="0"/>
          </a:p>
          <a:p>
            <a:pPr lvl="0"/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29A3-BD5B-4B14-819B-AB0FC2C94630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1708-7B1F-4D5A-96A4-61092F522D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628650" y="4389438"/>
            <a:ext cx="7886700" cy="1298575"/>
          </a:xfrm>
        </p:spPr>
        <p:txBody>
          <a:bodyPr>
            <a:normAutofit/>
          </a:bodyPr>
          <a:lstStyle>
            <a:lvl1pPr marL="0" indent="0">
              <a:buNone/>
              <a:defRPr sz="22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en-US" altLang="zh-TW" dirty="0" smtClean="0"/>
          </a:p>
          <a:p>
            <a:pPr lvl="0"/>
            <a:r>
              <a:rPr lang="en-US" altLang="zh-TW" dirty="0" smtClean="0"/>
              <a:t>	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9256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2428875"/>
          </a:xfrm>
        </p:spPr>
        <p:txBody>
          <a:bodyPr>
            <a:normAutofit/>
          </a:bodyPr>
          <a:lstStyle>
            <a:lvl1pPr marL="0" indent="0">
              <a:buNone/>
              <a:defRPr sz="22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342900" indent="0">
              <a:buNone/>
              <a:defRPr/>
            </a:lvl2pPr>
          </a:lstStyle>
          <a:p>
            <a:pPr lvl="0"/>
            <a:endParaRPr lang="en-US" altLang="zh-TW" dirty="0" smtClean="0"/>
          </a:p>
          <a:p>
            <a:pPr lvl="0"/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29A3-BD5B-4B14-819B-AB0FC2C94630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1708-7B1F-4D5A-96A4-61092F522D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628650" y="4389438"/>
            <a:ext cx="7886700" cy="1298575"/>
          </a:xfrm>
        </p:spPr>
        <p:txBody>
          <a:bodyPr>
            <a:normAutofit/>
          </a:bodyPr>
          <a:lstStyle>
            <a:lvl1pPr marL="0" indent="0">
              <a:buNone/>
              <a:defRPr sz="225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endParaRPr lang="en-US" altLang="zh-TW" dirty="0" smtClean="0"/>
          </a:p>
          <a:p>
            <a:pPr lvl="0"/>
            <a:r>
              <a:rPr lang="en-US" altLang="zh-TW" dirty="0" smtClean="0"/>
              <a:t>	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2900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2017/4/11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hyperlink" Target="http://ac.els-cdn.com/S002001901100055X/1-s2.0-S002001901100055X-main.pdf?_tid=8cae28bc-1a69-11e7-9e1c-00000aab0f6c&amp;acdnat=1491442809_b17c64902fa2988dd3b87bddd6f53ddb" TargetMode="External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371725"/>
          </a:xfrm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Inversions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Translocations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Average Time </a:t>
            </a:r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(most of the time)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/>
          </a:bodyPr>
          <a:lstStyle/>
          <a:p>
            <a:r>
              <a:rPr lang="fr-F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Grabowski, Szymon, Simone Faro, and Emanuele Giaquinta. </a:t>
            </a:r>
            <a:endParaRPr lang="fr-FR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Letters 111.11 (2011): 516-520.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2017/4/11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138" y="1606550"/>
                <a:ext cx="871537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present an efficient algorithm for finding all approximate occurrences of a given pattern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length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text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allowing for translocations of equal length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adjacent factors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inversions of factors. The algorithm is based on an efficient filtering method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has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-time complexity in the worst case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400" i="1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respectively the maximum length of the factors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involved in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translocation and inversion,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alphabet size. Moreover we show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our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has an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average time complexity, whenever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zh-TW" sz="2400" i="0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𝑙𝑜𝑔𝑚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𝑙𝑜𝑔</m:t>
                    </m:r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𝜀</m:t>
                        </m:r>
                      </m:sup>
                    </m:sSup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 Experiments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the proposed algorithm achieves very good results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practical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38" y="1606550"/>
                <a:ext cx="8715375" cy="4351338"/>
              </a:xfrm>
              <a:blipFill rotWithShape="0">
                <a:blip r:embed="rId2"/>
                <a:stretch>
                  <a:fillRect l="-1120" t="-19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with inversions and translocations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704723" y="2510275"/>
                <a:ext cx="8679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/>
                  <a:t>t</a:t>
                </a:r>
                <a:r>
                  <a:rPr lang="en-US" altLang="zh-TW" sz="2400" dirty="0" smtClean="0"/>
                  <a:t>ext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23" y="2510275"/>
                <a:ext cx="867930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11268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/>
              <p:cNvSpPr txBox="1"/>
              <p:nvPr/>
            </p:nvSpPr>
            <p:spPr>
              <a:xfrm>
                <a:off x="514351" y="1450063"/>
                <a:ext cx="13560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/>
                  <a:t>pattern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9" name="文字方塊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1" y="1450063"/>
                <a:ext cx="135607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6726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/>
              <p:cNvSpPr/>
              <p:nvPr/>
            </p:nvSpPr>
            <p:spPr>
              <a:xfrm>
                <a:off x="1914526" y="1516426"/>
                <a:ext cx="1257300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矩形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526" y="1516426"/>
                <a:ext cx="1257300" cy="3289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914526" y="2510275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526" y="2510275"/>
                <a:ext cx="5705474" cy="32893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8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180975" y="165199"/>
            <a:ext cx="8220075" cy="994172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with inversions and translocations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14350" y="4279947"/>
                <a:ext cx="7886700" cy="1821656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inversion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 ABCDE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EDCBA</a:t>
                </a:r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the maximum length of the factors involved in an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inversion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zh-TW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</a:t>
                </a:r>
                <a:r>
                  <a:rPr lang="en-US" altLang="zh-TW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ranslocation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: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ababcBBCCA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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BBCCAababc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the maximum length of the factors involved in a translocation</a:t>
                </a: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4350" y="4279947"/>
                <a:ext cx="7886700" cy="1821656"/>
              </a:xfrm>
              <a:blipFill rotWithShape="0">
                <a:blip r:embed="rId2"/>
                <a:stretch>
                  <a:fillRect l="-1005" t="-4013" b="-6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14350" y="2573079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2573079"/>
                <a:ext cx="382925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/>
              <p:cNvSpPr/>
              <p:nvPr/>
            </p:nvSpPr>
            <p:spPr>
              <a:xfrm>
                <a:off x="1019176" y="2627900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𝐴𝐵𝐶𝐴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𝐵𝐵𝐴𝐴𝐶𝐵𝐵𝐴𝐶𝐴𝐴𝐴𝐵𝐶𝐵𝐵𝐴𝐶𝐵𝐴𝐶𝐵𝐴𝐶𝐵𝐴𝐶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6" y="2627900"/>
                <a:ext cx="5705474" cy="328937"/>
              </a:xfrm>
              <a:prstGeom prst="rect">
                <a:avLst/>
              </a:prstGeom>
              <a:blipFill rotWithShape="0">
                <a:blip r:embed="rId4"/>
                <a:stretch>
                  <a:fillRect l="-640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線單箭頭接點 48"/>
          <p:cNvCxnSpPr/>
          <p:nvPr/>
        </p:nvCxnSpPr>
        <p:spPr>
          <a:xfrm>
            <a:off x="1993858" y="2311233"/>
            <a:ext cx="0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3678790" y="2321029"/>
            <a:ext cx="0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/>
              <p:cNvSpPr txBox="1"/>
              <p:nvPr/>
            </p:nvSpPr>
            <p:spPr>
              <a:xfrm>
                <a:off x="1773387" y="1884937"/>
                <a:ext cx="5242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5" name="文字方塊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387" y="1884937"/>
                <a:ext cx="524246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/>
              <p:cNvSpPr txBox="1"/>
              <p:nvPr/>
            </p:nvSpPr>
            <p:spPr>
              <a:xfrm>
                <a:off x="3439734" y="1884937"/>
                <a:ext cx="531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734" y="1884937"/>
                <a:ext cx="531364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514351" y="1450063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1" y="1450063"/>
                <a:ext cx="42890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019176" y="1559708"/>
                <a:ext cx="1142999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𝐴𝐵𝐶𝐴𝐴𝐵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6" y="1559708"/>
                <a:ext cx="1142999" cy="328937"/>
              </a:xfrm>
              <a:prstGeom prst="rect">
                <a:avLst/>
              </a:prstGeom>
              <a:blipFill rotWithShape="0">
                <a:blip r:embed="rId8"/>
                <a:stretch>
                  <a:fillRect l="-4737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019176" y="2627900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𝐴𝐵𝐶𝐴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1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𝐵𝐴𝐴𝐶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𝐵𝐵𝐴𝐶𝐴𝐴𝐴𝐵𝐶𝐵𝐵𝐴𝐶𝐵𝐴𝐶𝐵𝐴𝐶𝐵𝐴𝐶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6" y="2627900"/>
                <a:ext cx="5705474" cy="328937"/>
              </a:xfrm>
              <a:prstGeom prst="rect">
                <a:avLst/>
              </a:prstGeom>
              <a:blipFill rotWithShape="0">
                <a:blip r:embed="rId9"/>
                <a:stretch>
                  <a:fillRect l="-640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019176" y="2627900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𝐴𝐵𝐶𝐴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10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𝐵𝐵𝐴𝐴𝐶𝐵𝐵𝐴𝐶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𝐴𝐴𝐵𝐶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𝐵𝐴𝐶𝐵𝐴𝐶𝐵𝐴𝐶𝐵𝐴𝐶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6" y="2627900"/>
                <a:ext cx="5705474" cy="328937"/>
              </a:xfrm>
              <a:prstGeom prst="rect">
                <a:avLst/>
              </a:prstGeom>
              <a:blipFill rotWithShape="0">
                <a:blip r:embed="rId10"/>
                <a:stretch>
                  <a:fillRect l="-640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7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/>
      <p:bldP spid="55" grpId="0"/>
      <p:bldP spid="56" grpId="0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9076" y="151072"/>
            <a:ext cx="78867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value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582048" y="4056823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48" y="4056823"/>
                <a:ext cx="382925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1086874" y="4111644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𝐴𝐵𝐶𝐴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𝐵𝐵𝐴𝐴𝐶𝐵𝐵𝐴𝐶𝐴𝐴𝐴𝐵𝐶𝐵𝐵𝐴𝐶𝐵𝐴𝐶𝐵𝐴𝐶𝐵𝐴𝐶</m:t>
                      </m:r>
                    </m:oMath>
                  </m:oMathPara>
                </a14:m>
                <a:endParaRPr lang="zh-TW" altLang="en-US" sz="2100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74" y="4111644"/>
                <a:ext cx="5705474" cy="328937"/>
              </a:xfrm>
              <a:prstGeom prst="rect">
                <a:avLst/>
              </a:prstGeom>
              <a:blipFill rotWithShape="0">
                <a:blip r:embed="rId3"/>
                <a:stretch>
                  <a:fillRect l="-64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單箭頭接點 26"/>
          <p:cNvCxnSpPr/>
          <p:nvPr/>
        </p:nvCxnSpPr>
        <p:spPr>
          <a:xfrm>
            <a:off x="1231420" y="3798685"/>
            <a:ext cx="0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1010949" y="3372389"/>
                <a:ext cx="5242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49" y="3372389"/>
                <a:ext cx="524246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582049" y="2933807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49" y="2933807"/>
                <a:ext cx="428900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1086874" y="3043452"/>
                <a:ext cx="1142999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𝐴𝐵𝐶𝐴𝐴𝐵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74" y="3043452"/>
                <a:ext cx="1142999" cy="328937"/>
              </a:xfrm>
              <a:prstGeom prst="rect">
                <a:avLst/>
              </a:prstGeom>
              <a:blipFill rotWithShape="0">
                <a:blip r:embed="rId6"/>
                <a:stretch>
                  <a:fillRect l="-4737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715623" y="5195746"/>
                <a:ext cx="3738331" cy="493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TW" altLang="en-US" sz="2400" dirty="0"/>
                            <m:t> 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623" y="5195746"/>
                <a:ext cx="3738331" cy="493405"/>
              </a:xfrm>
              <a:prstGeom prst="rect">
                <a:avLst/>
              </a:prstGeom>
              <a:blipFill rotWithShape="0">
                <a:blip r:embed="rId7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833" y="1242497"/>
            <a:ext cx="6074516" cy="1691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72585"/>
                  </p:ext>
                </p:extLst>
              </p:nvPr>
            </p:nvGraphicFramePr>
            <p:xfrm>
              <a:off x="1086874" y="4700029"/>
              <a:ext cx="3310908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636"/>
                    <a:gridCol w="1103636"/>
                    <a:gridCol w="110363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-1</a:t>
                          </a:r>
                          <a:endParaRPr lang="zh-TW" alt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72585"/>
                  </p:ext>
                </p:extLst>
              </p:nvPr>
            </p:nvGraphicFramePr>
            <p:xfrm>
              <a:off x="1086874" y="4700029"/>
              <a:ext cx="3310908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636"/>
                    <a:gridCol w="1103636"/>
                    <a:gridCol w="1103636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552" t="-2632" r="-201657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0000" t="-2632" r="-100549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201105" t="-2632" r="-1105" b="-127632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-1</a:t>
                          </a:r>
                          <a:endParaRPr lang="zh-TW" alt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8163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31" grpId="0"/>
      <p:bldP spid="33" grpId="0"/>
      <p:bldP spid="34" grpId="0" animBg="1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3693042"/>
                  </p:ext>
                </p:extLst>
              </p:nvPr>
            </p:nvGraphicFramePr>
            <p:xfrm>
              <a:off x="1179472" y="4676998"/>
              <a:ext cx="3310908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636"/>
                    <a:gridCol w="1103636"/>
                    <a:gridCol w="110363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-1</a:t>
                          </a:r>
                          <a:endParaRPr lang="zh-TW" alt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3693042"/>
                  </p:ext>
                </p:extLst>
              </p:nvPr>
            </p:nvGraphicFramePr>
            <p:xfrm>
              <a:off x="1179472" y="4676998"/>
              <a:ext cx="3310908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636"/>
                    <a:gridCol w="1103636"/>
                    <a:gridCol w="1103636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552" t="-1316" r="-201657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1316" r="-100549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1105" t="-1316" r="-1105" b="-127632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-1</a:t>
                          </a:r>
                          <a:endParaRPr lang="zh-TW" alt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9076" y="151072"/>
            <a:ext cx="78867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value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674646" y="4034700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46" y="4034700"/>
                <a:ext cx="382925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1179472" y="4089521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𝐵𝐶𝐴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1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𝐵𝐴𝐴𝐶𝐵𝐵𝐴𝐶𝐴𝐴𝐴𝐵𝐶𝐵𝐵𝐴𝐶𝐵𝐴𝐶𝐵𝐴𝐶𝐵𝐴𝐶</m:t>
                      </m:r>
                    </m:oMath>
                  </m:oMathPara>
                </a14:m>
                <a:endParaRPr lang="zh-TW" altLang="en-US" sz="2100" dirty="0"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472" y="4089521"/>
                <a:ext cx="5705474" cy="328937"/>
              </a:xfrm>
              <a:prstGeom prst="rect">
                <a:avLst/>
              </a:prstGeom>
              <a:blipFill rotWithShape="0">
                <a:blip r:embed="rId4"/>
                <a:stretch>
                  <a:fillRect l="-640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單箭頭接點 26"/>
          <p:cNvCxnSpPr/>
          <p:nvPr/>
        </p:nvCxnSpPr>
        <p:spPr>
          <a:xfrm>
            <a:off x="1485943" y="3776562"/>
            <a:ext cx="0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1265472" y="3350266"/>
                <a:ext cx="531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472" y="3350266"/>
                <a:ext cx="531364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674646" y="2933807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46" y="2933807"/>
                <a:ext cx="42890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1179472" y="3021329"/>
                <a:ext cx="1142999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𝐴𝐵𝐶𝐴𝐴𝐵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472" y="3021329"/>
                <a:ext cx="1142999" cy="328937"/>
              </a:xfrm>
              <a:prstGeom prst="rect">
                <a:avLst/>
              </a:prstGeom>
              <a:blipFill rotWithShape="0">
                <a:blip r:embed="rId7"/>
                <a:stretch>
                  <a:fillRect l="-4737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674646" y="5724748"/>
                <a:ext cx="7201266" cy="534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TW" altLang="en-US" sz="2400" dirty="0"/>
                            <m:t> 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TW" altLang="en-US" sz="2400" dirty="0"/>
                            <m:t> 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46" y="5724748"/>
                <a:ext cx="7201266" cy="5343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1426669"/>
                  </p:ext>
                </p:extLst>
              </p:nvPr>
            </p:nvGraphicFramePr>
            <p:xfrm>
              <a:off x="1179472" y="4677906"/>
              <a:ext cx="3310908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636"/>
                    <a:gridCol w="1103636"/>
                    <a:gridCol w="110363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-1</a:t>
                          </a:r>
                          <a:endParaRPr lang="zh-TW" alt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1426669"/>
                  </p:ext>
                </p:extLst>
              </p:nvPr>
            </p:nvGraphicFramePr>
            <p:xfrm>
              <a:off x="1179472" y="4677906"/>
              <a:ext cx="3310908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636"/>
                    <a:gridCol w="1103636"/>
                    <a:gridCol w="1103636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552" t="-1316" r="-201657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0000" t="-1316" r="-100549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201105" t="-1316" r="-1105" b="-127632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 smtClean="0"/>
                            <a:t>-1</a:t>
                          </a:r>
                          <a:endParaRPr lang="zh-TW" altLang="en-US" sz="2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pic>
        <p:nvPicPr>
          <p:cNvPr id="13" name="圖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3833" y="1242497"/>
            <a:ext cx="6074516" cy="169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5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9076" y="151072"/>
            <a:ext cx="78867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722694" y="2422608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94" y="2422608"/>
                <a:ext cx="382925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/>
          <p:cNvCxnSpPr/>
          <p:nvPr/>
        </p:nvCxnSpPr>
        <p:spPr>
          <a:xfrm>
            <a:off x="3887134" y="2170558"/>
            <a:ext cx="0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3648078" y="1734466"/>
                <a:ext cx="4025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078" y="1734466"/>
                <a:ext cx="402546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1227520" y="2477429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𝐴𝐵𝐶𝐴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10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𝐵𝐵𝐴𝐴𝐶𝐵𝐵𝐴𝐶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𝐴𝐴𝐴𝐵𝐶𝐵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𝐵𝐴𝐶𝐵𝐴𝐶𝐵𝐴𝐶𝐵𝐴𝐶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520" y="2477429"/>
                <a:ext cx="5705474" cy="328937"/>
              </a:xfrm>
              <a:prstGeom prst="rect">
                <a:avLst/>
              </a:prstGeom>
              <a:blipFill rotWithShape="0">
                <a:blip r:embed="rId4"/>
                <a:stretch>
                  <a:fillRect l="-640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722695" y="1488231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95" y="1488231"/>
                <a:ext cx="428900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1227520" y="1597876"/>
                <a:ext cx="1142999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𝐴𝐵𝐶𝐴𝐴𝐵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520" y="1597876"/>
                <a:ext cx="1142999" cy="328937"/>
              </a:xfrm>
              <a:prstGeom prst="rect">
                <a:avLst/>
              </a:prstGeom>
              <a:blipFill rotWithShape="0">
                <a:blip r:embed="rId6"/>
                <a:stretch>
                  <a:fillRect l="-4737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3648078" y="2890009"/>
                <a:ext cx="1170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nor/>
                            </m:rPr>
                            <a:rPr lang="zh-TW" altLang="en-US" sz="2400" dirty="0"/>
                            <m:t> 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078" y="2890009"/>
                <a:ext cx="1170449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914156" y="4011936"/>
                <a:ext cx="1578004" cy="64284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𝐴𝐵𝐶𝐴𝐴𝐵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56" y="4011936"/>
                <a:ext cx="1578004" cy="64284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向右箭號 6"/>
          <p:cNvSpPr/>
          <p:nvPr/>
        </p:nvSpPr>
        <p:spPr>
          <a:xfrm>
            <a:off x="2649568" y="4011936"/>
            <a:ext cx="2907206" cy="661074"/>
          </a:xfrm>
          <a:prstGeom prst="rightArrow">
            <a:avLst>
              <a:gd name="adj1" fmla="val 30117"/>
              <a:gd name="adj2" fmla="val 1235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240962" y="3501352"/>
            <a:ext cx="1371490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0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  <a:endParaRPr lang="zh-TW" altLang="en-US" sz="10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6229439" y="4011935"/>
                <a:ext cx="1578004" cy="64284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𝐴𝐴𝐴𝐵𝐶𝐵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439" y="4011935"/>
                <a:ext cx="1578004" cy="64284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437687" y="4102525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87" y="4102525"/>
                <a:ext cx="428900" cy="461665"/>
              </a:xfrm>
              <a:prstGeom prst="rect">
                <a:avLst/>
              </a:prstGeom>
              <a:blipFill rotWithShape="0">
                <a:blip r:embed="rId10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5651913" y="4111640"/>
                <a:ext cx="4973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913" y="4111640"/>
                <a:ext cx="497316" cy="46166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23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" grpId="0" animBg="1"/>
      <p:bldP spid="8" grpId="0"/>
      <p:bldP spid="28" grpId="0" animBg="1"/>
      <p:bldP spid="32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8605" y="127923"/>
            <a:ext cx="9075395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based on dynamic programming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9"/>
              <p:cNvSpPr>
                <a:spLocks noGrp="1"/>
              </p:cNvSpPr>
              <p:nvPr>
                <p:ph idx="1"/>
              </p:nvPr>
            </p:nvSpPr>
            <p:spPr>
              <a:xfrm>
                <a:off x="433809" y="1448562"/>
                <a:ext cx="4834601" cy="52578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matrices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3809" y="1448562"/>
                <a:ext cx="4834601" cy="525785"/>
              </a:xfrm>
              <a:blipFill rotWithShape="0">
                <a:blip r:embed="rId2"/>
                <a:stretch>
                  <a:fillRect l="-2018" t="-17442" b="-104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33809" y="2001516"/>
                <a:ext cx="15759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09" y="2001516"/>
                <a:ext cx="1575944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70229" y="3954171"/>
                <a:ext cx="15031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29" y="3954171"/>
                <a:ext cx="150310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884413" y="2833321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13" y="2833321"/>
                <a:ext cx="428900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389238" y="2942966"/>
            <a:ext cx="1789391" cy="3289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12" name="直線單箭頭接點 11"/>
          <p:cNvCxnSpPr/>
          <p:nvPr/>
        </p:nvCxnSpPr>
        <p:spPr>
          <a:xfrm>
            <a:off x="2566334" y="2682228"/>
            <a:ext cx="0" cy="26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385771" y="2275091"/>
                <a:ext cx="3611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771" y="2275091"/>
                <a:ext cx="36112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1792514" y="2949824"/>
            <a:ext cx="773820" cy="3220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dirty="0" smtClean="0">
                <a:solidFill>
                  <a:schemeClr val="tx1"/>
                </a:solidFill>
              </a:rPr>
              <a:t>ABC</a:t>
            </a:r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3" name="弧形 2"/>
          <p:cNvSpPr/>
          <p:nvPr/>
        </p:nvSpPr>
        <p:spPr>
          <a:xfrm rot="10800000">
            <a:off x="1632125" y="2420452"/>
            <a:ext cx="1094597" cy="1030514"/>
          </a:xfrm>
          <a:prstGeom prst="arc">
            <a:avLst>
              <a:gd name="adj1" fmla="val 13338703"/>
              <a:gd name="adj2" fmla="val 1900441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1983952" y="3341192"/>
                <a:ext cx="3909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52" y="3341192"/>
                <a:ext cx="390941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3952449" y="2833321"/>
                <a:ext cx="4973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449" y="2833321"/>
                <a:ext cx="497316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4457274" y="2942966"/>
            <a:ext cx="1789391" cy="3289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>
            <a:off x="5634370" y="2682228"/>
            <a:ext cx="0" cy="26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5453807" y="2275091"/>
                <a:ext cx="3694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807" y="2275091"/>
                <a:ext cx="369460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3333" r="-3333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4860550" y="2949824"/>
            <a:ext cx="773820" cy="3220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dirty="0" smtClean="0">
                <a:solidFill>
                  <a:schemeClr val="tx1"/>
                </a:solidFill>
              </a:rPr>
              <a:t>ABC</a:t>
            </a:r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21" name="弧形 20"/>
          <p:cNvSpPr/>
          <p:nvPr/>
        </p:nvSpPr>
        <p:spPr>
          <a:xfrm rot="10800000">
            <a:off x="4700161" y="2420452"/>
            <a:ext cx="1094597" cy="1030514"/>
          </a:xfrm>
          <a:prstGeom prst="arc">
            <a:avLst>
              <a:gd name="adj1" fmla="val 13338703"/>
              <a:gd name="adj2" fmla="val 1900441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5080196" y="3341192"/>
                <a:ext cx="3909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196" y="3341192"/>
                <a:ext cx="390941" cy="4001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884413" y="4918350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13" y="4918350"/>
                <a:ext cx="428900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1389238" y="5027995"/>
            <a:ext cx="1789391" cy="3289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25" name="直線單箭頭接點 24"/>
          <p:cNvCxnSpPr/>
          <p:nvPr/>
        </p:nvCxnSpPr>
        <p:spPr>
          <a:xfrm>
            <a:off x="2566334" y="4767257"/>
            <a:ext cx="0" cy="26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2385771" y="4360120"/>
                <a:ext cx="3611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771" y="4360120"/>
                <a:ext cx="361125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1792514" y="5025328"/>
            <a:ext cx="773820" cy="3220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dirty="0" smtClean="0">
                <a:solidFill>
                  <a:schemeClr val="tx1"/>
                </a:solidFill>
              </a:rPr>
              <a:t>ABC</a:t>
            </a:r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28" name="弧形 27"/>
          <p:cNvSpPr/>
          <p:nvPr/>
        </p:nvSpPr>
        <p:spPr>
          <a:xfrm rot="10800000">
            <a:off x="1632125" y="4505481"/>
            <a:ext cx="1094597" cy="1030514"/>
          </a:xfrm>
          <a:prstGeom prst="arc">
            <a:avLst>
              <a:gd name="adj1" fmla="val 13338703"/>
              <a:gd name="adj2" fmla="val 1900441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983952" y="5426221"/>
                <a:ext cx="3909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952" y="5426221"/>
                <a:ext cx="390941" cy="40011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3952449" y="4918350"/>
                <a:ext cx="4973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449" y="4918350"/>
                <a:ext cx="497316" cy="46166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4457274" y="5027995"/>
            <a:ext cx="1789391" cy="3289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100" dirty="0">
              <a:solidFill>
                <a:schemeClr val="tx1"/>
              </a:solidFill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>
            <a:off x="4856383" y="4749504"/>
            <a:ext cx="0" cy="26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4675820" y="4342367"/>
                <a:ext cx="3694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820" y="4342367"/>
                <a:ext cx="369460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3279" r="-1639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4860550" y="5034853"/>
            <a:ext cx="773820" cy="3220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dirty="0" smtClean="0">
                <a:solidFill>
                  <a:schemeClr val="tx1"/>
                </a:solidFill>
              </a:rPr>
              <a:t>CBA</a:t>
            </a:r>
            <a:endParaRPr lang="zh-TW" altLang="en-US" sz="2100" dirty="0">
              <a:solidFill>
                <a:schemeClr val="tx1"/>
              </a:solidFill>
            </a:endParaRPr>
          </a:p>
        </p:txBody>
      </p:sp>
      <p:sp>
        <p:nvSpPr>
          <p:cNvPr id="35" name="弧形 34"/>
          <p:cNvSpPr/>
          <p:nvPr/>
        </p:nvSpPr>
        <p:spPr>
          <a:xfrm rot="10800000">
            <a:off x="4700161" y="4505481"/>
            <a:ext cx="1094597" cy="1030514"/>
          </a:xfrm>
          <a:prstGeom prst="arc">
            <a:avLst>
              <a:gd name="adj1" fmla="val 13338703"/>
              <a:gd name="adj2" fmla="val 1900441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5080196" y="5426221"/>
                <a:ext cx="3909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196" y="5426221"/>
                <a:ext cx="390941" cy="40011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86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8605" y="127923"/>
            <a:ext cx="9075395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based on dynamic programming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9"/>
              <p:cNvSpPr>
                <a:spLocks noGrp="1"/>
              </p:cNvSpPr>
              <p:nvPr>
                <p:ph idx="1"/>
              </p:nvPr>
            </p:nvSpPr>
            <p:spPr>
              <a:xfrm>
                <a:off x="433809" y="1448562"/>
                <a:ext cx="4834601" cy="52578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matrices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5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altLang="zh-TW" sz="25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 </a:t>
                </a:r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zh-TW" altLang="en-US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3809" y="1448562"/>
                <a:ext cx="4834601" cy="525785"/>
              </a:xfrm>
              <a:blipFill rotWithShape="0">
                <a:blip r:embed="rId2"/>
                <a:stretch>
                  <a:fillRect l="-2018" t="-17442" b="-104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93" y="2134004"/>
            <a:ext cx="5474690" cy="299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1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圓角矩形 13"/>
              <p:cNvSpPr/>
              <p:nvPr/>
            </p:nvSpPr>
            <p:spPr>
              <a:xfrm>
                <a:off x="523258" y="4107106"/>
                <a:ext cx="7713599" cy="1337197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  </m:t>
                      </m:r>
                    </m:oMath>
                  </m:oMathPara>
                </a14:m>
                <a:endParaRPr lang="en-US" altLang="zh-TW" sz="2400" b="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  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b="0" i="0" dirty="0" smtClean="0">
                    <a:solidFill>
                      <a:schemeClr val="tx1"/>
                    </a:solidFill>
                    <a:latin typeface="+mj-lt"/>
                  </a:rPr>
                  <a:t>has an md-match with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圓角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8" y="4107106"/>
                <a:ext cx="7713599" cy="1337197"/>
              </a:xfrm>
              <a:prstGeom prst="round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8605" y="127923"/>
            <a:ext cx="9075395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based on dynamic programming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/>
              <p:cNvSpPr txBox="1"/>
              <p:nvPr/>
            </p:nvSpPr>
            <p:spPr>
              <a:xfrm>
                <a:off x="629886" y="1114409"/>
                <a:ext cx="4734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b="0" dirty="0" smtClean="0"/>
                  <a:t>A vector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[0…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2400" dirty="0" smtClean="0"/>
                  <a:t>,</a:t>
                </a:r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from 0 to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 smtClean="0"/>
                  <a:t>, </a:t>
                </a:r>
                <a:r>
                  <a:rPr lang="en-US" altLang="zh-TW" sz="2400" dirty="0" smtClean="0"/>
                  <a:t>set 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86" y="1114409"/>
                <a:ext cx="4734886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931" t="-10526" r="-103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5112115" y="1114409"/>
                <a:ext cx="15712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altLang="zh-TW" sz="2400" dirty="0" smtClean="0"/>
                  <a:t>iff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115" y="1114409"/>
                <a:ext cx="1571264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167" t="-10526" r="-5058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58" y="1759386"/>
            <a:ext cx="8313294" cy="21644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圓角矩形 6"/>
              <p:cNvSpPr/>
              <p:nvPr/>
            </p:nvSpPr>
            <p:spPr>
              <a:xfrm>
                <a:off x="5796927" y="3568690"/>
                <a:ext cx="2918448" cy="1076831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TW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max</a:t>
                </a:r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⁡(</a:t>
                </a:r>
                <a14:m>
                  <m:oMath xmlns:m="http://schemas.openxmlformats.org/officeDocument/2006/math">
                    <m:r>
                      <a:rPr lang="zh-TW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圓角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927" y="3568690"/>
                <a:ext cx="2918448" cy="1076831"/>
              </a:xfrm>
              <a:prstGeom prst="round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93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圓角矩形 3"/>
              <p:cNvSpPr/>
              <p:nvPr/>
            </p:nvSpPr>
            <p:spPr>
              <a:xfrm>
                <a:off x="352425" y="3333400"/>
                <a:ext cx="7807484" cy="75282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TW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max</a:t>
                </a:r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⁡(</a:t>
                </a:r>
                <a14:m>
                  <m:oMath xmlns:m="http://schemas.openxmlformats.org/officeDocument/2006/math">
                    <m:r>
                      <a:rPr lang="zh-TW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圓角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" y="3333400"/>
                <a:ext cx="7807484" cy="752825"/>
              </a:xfrm>
              <a:prstGeom prst="roundRect">
                <a:avLst/>
              </a:prstGeom>
              <a:blipFill rotWithShape="0">
                <a:blip r:embed="rId2"/>
                <a:stretch>
                  <a:fillRect b="-813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8605" y="127923"/>
            <a:ext cx="9075395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/>
              <p:cNvSpPr txBox="1"/>
              <p:nvPr/>
            </p:nvSpPr>
            <p:spPr>
              <a:xfrm>
                <a:off x="435134" y="3475873"/>
                <a:ext cx="339451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𝑉𝐸𝑅𝐼𝐹𝑌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25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25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34" y="3475873"/>
                <a:ext cx="3394519" cy="477054"/>
              </a:xfrm>
              <a:prstGeom prst="rect">
                <a:avLst/>
              </a:prstGeom>
              <a:blipFill rotWithShape="0">
                <a:blip r:embed="rId3"/>
                <a:stretch>
                  <a:fillRect r="-359" b="-179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579819" y="2245390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19" y="2245390"/>
                <a:ext cx="382925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/>
          <p:nvPr/>
        </p:nvCxnSpPr>
        <p:spPr>
          <a:xfrm>
            <a:off x="3744259" y="1993340"/>
            <a:ext cx="0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3505203" y="1557248"/>
                <a:ext cx="4025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3" y="1557248"/>
                <a:ext cx="402546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1084645" y="2300211"/>
                <a:ext cx="5705474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𝐴𝐵𝐶𝐴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10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𝐵𝐵𝐴𝐴𝐶𝐵𝐵𝐴𝐶</m:t>
                      </m:r>
                      <m:r>
                        <a:rPr lang="en-US" altLang="zh-TW" sz="21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𝐴𝐴𝐴𝐵𝐶𝐵</m:t>
                      </m:r>
                      <m:r>
                        <a:rPr lang="en-US" altLang="zh-TW" sz="2100" b="0" i="1" dirty="0" smtClean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𝐵𝐴𝐶𝐵𝐴𝐶𝐵𝐴𝐶𝐵𝐴𝐶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645" y="2300211"/>
                <a:ext cx="5705474" cy="328937"/>
              </a:xfrm>
              <a:prstGeom prst="rect">
                <a:avLst/>
              </a:prstGeom>
              <a:blipFill rotWithShape="0">
                <a:blip r:embed="rId6"/>
                <a:stretch>
                  <a:fillRect l="-746" b="-53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579820" y="1311013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20" y="1311013"/>
                <a:ext cx="42890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084645" y="1420658"/>
                <a:ext cx="1142999" cy="32893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𝐴𝐵𝐶𝐴𝐴𝐵</m:t>
                      </m:r>
                    </m:oMath>
                  </m:oMathPara>
                </a14:m>
                <a:endParaRPr lang="zh-TW" altLang="en-US" sz="21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645" y="1420658"/>
                <a:ext cx="1142999" cy="328937"/>
              </a:xfrm>
              <a:prstGeom prst="rect">
                <a:avLst/>
              </a:prstGeom>
              <a:blipFill rotWithShape="0">
                <a:blip r:embed="rId8"/>
                <a:stretch>
                  <a:fillRect l="-4762" b="-3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3505203" y="2712791"/>
                <a:ext cx="11704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m:rPr>
                              <m:nor/>
                            </m:rPr>
                            <a:rPr lang="zh-TW" altLang="en-US" sz="2400" dirty="0"/>
                            <m:t> 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3" y="2712791"/>
                <a:ext cx="1170449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圓角矩形 12"/>
              <p:cNvSpPr/>
              <p:nvPr/>
            </p:nvSpPr>
            <p:spPr>
              <a:xfrm>
                <a:off x="352425" y="4456548"/>
                <a:ext cx="7807484" cy="75282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TW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max</a:t>
                </a:r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⁡(</a:t>
                </a:r>
                <a14:m>
                  <m:oMath xmlns:m="http://schemas.openxmlformats.org/officeDocument/2006/math">
                    <m:r>
                      <a:rPr lang="zh-TW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z="2800" b="0" i="0" dirty="0" smtClean="0">
                    <a:solidFill>
                      <a:schemeClr val="tx1"/>
                    </a:solidFill>
                    <a:latin typeface="+mj-lt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圓角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" y="4456548"/>
                <a:ext cx="7807484" cy="752825"/>
              </a:xfrm>
              <a:prstGeom prst="roundRect">
                <a:avLst/>
              </a:prstGeom>
              <a:blipFill rotWithShape="0">
                <a:blip r:embed="rId10"/>
                <a:stretch>
                  <a:fillRect b="-7258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435132" y="4594433"/>
                <a:ext cx="494552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) ∗ 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𝑉𝐸𝑅𝐼𝐹𝑌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25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sz="25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32" y="4594433"/>
                <a:ext cx="4945521" cy="477054"/>
              </a:xfrm>
              <a:prstGeom prst="rect">
                <a:avLst/>
              </a:prstGeom>
              <a:blipFill rotWithShape="0">
                <a:blip r:embed="rId11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圓角矩形 14"/>
              <p:cNvSpPr/>
              <p:nvPr/>
            </p:nvSpPr>
            <p:spPr>
              <a:xfrm>
                <a:off x="352426" y="5527188"/>
                <a:ext cx="7807483" cy="75282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                    </m:t>
                      </m:r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圓角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6" y="5527188"/>
                <a:ext cx="7807483" cy="752825"/>
              </a:xfrm>
              <a:prstGeom prst="roundRect">
                <a:avLst/>
              </a:prstGeom>
              <a:blipFill rotWithShape="0">
                <a:blip r:embed="rId12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352425" y="5665073"/>
                <a:ext cx="2168863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  <a:hlinkClick r:id="rId13"/>
                        </a:rPr>
                        <m:t>𝑎𝑣𝑒𝑟𝑎𝑔𝑒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hlinkClick r:id="rId13"/>
                        </a:rPr>
                        <m:t> 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  <a:hlinkClick r:id="rId13"/>
                        </a:rPr>
                        <m:t>𝑐𝑎𝑠𝑒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5" y="5665073"/>
                <a:ext cx="2168863" cy="477054"/>
              </a:xfrm>
              <a:prstGeom prst="rect">
                <a:avLst/>
              </a:prstGeom>
              <a:blipFill rotWithShape="0">
                <a:blip r:embed="rId14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8605" y="127923"/>
            <a:ext cx="9075395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r="59180"/>
          <a:stretch/>
        </p:blipFill>
        <p:spPr>
          <a:xfrm>
            <a:off x="1891550" y="1038225"/>
            <a:ext cx="474737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4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68605" y="127923"/>
            <a:ext cx="9075395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/>
          <a:srcRect l="44947"/>
          <a:stretch/>
        </p:blipFill>
        <p:spPr>
          <a:xfrm>
            <a:off x="1914525" y="1085850"/>
            <a:ext cx="6434137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5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3687</TotalTime>
  <Words>417</Words>
  <Application>Microsoft Office PowerPoint</Application>
  <PresentationFormat>如螢幕大小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微軟正黑體</vt:lpstr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String Matching with Inversions and Translocations in Linear Average Time (most of the time)</vt:lpstr>
      <vt:lpstr>Abstract</vt:lpstr>
      <vt:lpstr>String matching with inversions and translocations problem</vt:lpstr>
      <vt:lpstr>String matching with inversions and translocations problem</vt:lpstr>
      <vt:lpstr>Distance value</vt:lpstr>
      <vt:lpstr>Distance value</vt:lpstr>
      <vt:lpstr>Verification</vt:lpstr>
      <vt:lpstr>Verification based on dynamic programming</vt:lpstr>
      <vt:lpstr>Verification based on dynamic programming</vt:lpstr>
      <vt:lpstr>Verification based on dynamic programming</vt:lpstr>
      <vt:lpstr>Time Complexity</vt:lpstr>
      <vt:lpstr>Time Complexity</vt:lpstr>
      <vt:lpstr>Time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YanLee</cp:lastModifiedBy>
  <cp:revision>144</cp:revision>
  <dcterms:created xsi:type="dcterms:W3CDTF">2016-10-24T04:50:56Z</dcterms:created>
  <dcterms:modified xsi:type="dcterms:W3CDTF">2017-04-11T08:42:20Z</dcterms:modified>
</cp:coreProperties>
</file>