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1"/>
  </p:notesMasterIdLst>
  <p:sldIdLst>
    <p:sldId id="256" r:id="rId2"/>
    <p:sldId id="276" r:id="rId3"/>
    <p:sldId id="297" r:id="rId4"/>
    <p:sldId id="279" r:id="rId5"/>
    <p:sldId id="305" r:id="rId6"/>
    <p:sldId id="312" r:id="rId7"/>
    <p:sldId id="308" r:id="rId8"/>
    <p:sldId id="309" r:id="rId9"/>
    <p:sldId id="310" r:id="rId10"/>
    <p:sldId id="311" r:id="rId11"/>
    <p:sldId id="300" r:id="rId12"/>
    <p:sldId id="299" r:id="rId13"/>
    <p:sldId id="306" r:id="rId14"/>
    <p:sldId id="307" r:id="rId15"/>
    <p:sldId id="301" r:id="rId16"/>
    <p:sldId id="302" r:id="rId17"/>
    <p:sldId id="303" r:id="rId18"/>
    <p:sldId id="304" r:id="rId19"/>
    <p:sldId id="298" r:id="rId2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169" autoAdjust="0"/>
    <p:restoredTop sz="88835" autoAdjust="0"/>
  </p:normalViewPr>
  <p:slideViewPr>
    <p:cSldViewPr snapToGrid="0">
      <p:cViewPr varScale="1">
        <p:scale>
          <a:sx n="103" d="100"/>
          <a:sy n="103" d="100"/>
        </p:scale>
        <p:origin x="1266" y="8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C7986E-2186-42F2-A1F5-4424A07DD94D}" type="datetimeFigureOut">
              <a:rPr lang="zh-TW" altLang="en-US" smtClean="0"/>
              <a:t>2017/4/11</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014D64-E656-4722-AF7D-B3D63D1F5DC9}" type="slidenum">
              <a:rPr lang="zh-TW" altLang="en-US" smtClean="0"/>
              <a:t>‹#›</a:t>
            </a:fld>
            <a:endParaRPr lang="zh-TW" altLang="en-US"/>
          </a:p>
        </p:txBody>
      </p:sp>
    </p:spTree>
    <p:extLst>
      <p:ext uri="{BB962C8B-B14F-4D97-AF65-F5344CB8AC3E}">
        <p14:creationId xmlns:p14="http://schemas.microsoft.com/office/powerpoint/2010/main" val="1681973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BB014D64-E656-4722-AF7D-B3D63D1F5DC9}" type="slidenum">
              <a:rPr lang="zh-TW" altLang="en-US" smtClean="0"/>
              <a:t>1</a:t>
            </a:fld>
            <a:endParaRPr lang="zh-TW" altLang="en-US"/>
          </a:p>
        </p:txBody>
      </p:sp>
    </p:spTree>
    <p:extLst>
      <p:ext uri="{BB962C8B-B14F-4D97-AF65-F5344CB8AC3E}">
        <p14:creationId xmlns:p14="http://schemas.microsoft.com/office/powerpoint/2010/main" val="1499810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B014D64-E656-4722-AF7D-B3D63D1F5DC9}" type="slidenum">
              <a:rPr lang="zh-TW" altLang="en-US" smtClean="0"/>
              <a:t>10</a:t>
            </a:fld>
            <a:endParaRPr lang="zh-TW" altLang="en-US"/>
          </a:p>
        </p:txBody>
      </p:sp>
    </p:spTree>
    <p:extLst>
      <p:ext uri="{BB962C8B-B14F-4D97-AF65-F5344CB8AC3E}">
        <p14:creationId xmlns:p14="http://schemas.microsoft.com/office/powerpoint/2010/main" val="29763745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TPR</a:t>
            </a:r>
            <a:r>
              <a:rPr lang="zh-TW" altLang="en-US" dirty="0" smtClean="0"/>
              <a:t>：在所有實際為陽性的樣本中，被正確地判斷為陽性之比率。</a:t>
            </a:r>
          </a:p>
          <a:p>
            <a:r>
              <a:rPr lang="en-US" altLang="zh-TW" dirty="0" smtClean="0"/>
              <a:t>TPR=TP/(TP+FN)} </a:t>
            </a:r>
          </a:p>
          <a:p>
            <a:r>
              <a:rPr lang="en-US" altLang="zh-TW" dirty="0" smtClean="0"/>
              <a:t>FPR</a:t>
            </a:r>
            <a:r>
              <a:rPr lang="zh-TW" altLang="en-US" dirty="0" smtClean="0"/>
              <a:t>：在所有實際為陰性的樣本中，被錯誤地判斷為陽性之比率。</a:t>
            </a:r>
          </a:p>
          <a:p>
            <a:r>
              <a:rPr lang="en-US" altLang="zh-TW" dirty="0" smtClean="0"/>
              <a:t>FPR=FP</a:t>
            </a:r>
            <a:r>
              <a:rPr lang="en-US" altLang="zh-TW" smtClean="0"/>
              <a:t>/(FP+TN)}</a:t>
            </a:r>
            <a:endParaRPr lang="zh-TW" altLang="en-US" dirty="0"/>
          </a:p>
        </p:txBody>
      </p:sp>
      <p:sp>
        <p:nvSpPr>
          <p:cNvPr id="4" name="投影片編號版面配置區 3"/>
          <p:cNvSpPr>
            <a:spLocks noGrp="1"/>
          </p:cNvSpPr>
          <p:nvPr>
            <p:ph type="sldNum" sz="quarter" idx="10"/>
          </p:nvPr>
        </p:nvSpPr>
        <p:spPr/>
        <p:txBody>
          <a:bodyPr/>
          <a:lstStyle/>
          <a:p>
            <a:fld id="{BB014D64-E656-4722-AF7D-B3D63D1F5DC9}" type="slidenum">
              <a:rPr lang="zh-TW" altLang="en-US" smtClean="0"/>
              <a:t>16</a:t>
            </a:fld>
            <a:endParaRPr lang="zh-TW" altLang="en-US"/>
          </a:p>
        </p:txBody>
      </p:sp>
    </p:spTree>
    <p:extLst>
      <p:ext uri="{BB962C8B-B14F-4D97-AF65-F5344CB8AC3E}">
        <p14:creationId xmlns:p14="http://schemas.microsoft.com/office/powerpoint/2010/main" val="23651221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B014D64-E656-4722-AF7D-B3D63D1F5DC9}" type="slidenum">
              <a:rPr lang="zh-TW" altLang="en-US" smtClean="0"/>
              <a:t>19</a:t>
            </a:fld>
            <a:endParaRPr lang="zh-TW" altLang="en-US"/>
          </a:p>
        </p:txBody>
      </p:sp>
    </p:spTree>
    <p:extLst>
      <p:ext uri="{BB962C8B-B14F-4D97-AF65-F5344CB8AC3E}">
        <p14:creationId xmlns:p14="http://schemas.microsoft.com/office/powerpoint/2010/main" val="2340221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2978346F-159C-4E5E-A9BC-B4FAF4B8F4AD}" type="datetime1">
              <a:rPr lang="zh-TW" altLang="en-US" smtClean="0"/>
              <a:t>2017/4/11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121564647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B5A45FE-5976-4612-A121-9F7FA6C65956}" type="datetime1">
              <a:rPr lang="zh-TW" altLang="en-US" smtClean="0"/>
              <a:t>2017/4/11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endParaRPr lang="zh-TW" altLang="en-US" dirty="0"/>
          </a:p>
        </p:txBody>
      </p:sp>
    </p:spTree>
    <p:extLst>
      <p:ext uri="{BB962C8B-B14F-4D97-AF65-F5344CB8AC3E}">
        <p14:creationId xmlns:p14="http://schemas.microsoft.com/office/powerpoint/2010/main" val="108375177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F10E126F-36C8-4C5A-8698-9E4A53D999E5}" type="datetime1">
              <a:rPr lang="zh-TW" altLang="en-US" smtClean="0"/>
              <a:t>2017/4/11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418659647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19918B67-291F-45ED-BF8F-60129A7CAFCF}" type="datetime1">
              <a:rPr lang="zh-TW" altLang="en-US" smtClean="0"/>
              <a:t>2017/4/11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120852358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C49F5E44-883D-47F1-80F2-BBD83A64BF20}" type="datetime1">
              <a:rPr lang="zh-TW" altLang="en-US" smtClean="0"/>
              <a:t>2017/4/11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51000604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F81DBBE2-5504-4D7F-9CC4-F2C58F132876}" type="datetime1">
              <a:rPr lang="zh-TW" altLang="en-US" smtClean="0"/>
              <a:t>2017/4/11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38099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DCE0DA84-72B1-4070-A970-AE6E5670C53F}" type="datetime1">
              <a:rPr lang="zh-TW" altLang="en-US" smtClean="0"/>
              <a:t>2017/4/11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3021298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05BC297-F23E-49C2-9FD2-1DB5A3D63A00}" type="datetime1">
              <a:rPr lang="zh-TW" altLang="en-US" smtClean="0"/>
              <a:t>2017/4/11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3554612192"/>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660853A-160A-4D81-8E79-297A6811D44C}" type="datetime1">
              <a:rPr lang="zh-TW" altLang="en-US" smtClean="0"/>
              <a:t>2017/4/11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2403726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0AFD68B-4BF6-411C-BDB8-9879BE85A868}" type="datetime1">
              <a:rPr lang="zh-TW" altLang="en-US" smtClean="0"/>
              <a:t>2017/4/11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2048019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E09472C-E7F7-4061-8A6B-A2FC31C7A013}" type="datetime1">
              <a:rPr lang="zh-TW" altLang="en-US" smtClean="0"/>
              <a:t>2017/4/11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2973835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AA8E3B-251A-4826-B76B-2ED6FD8BECB3}" type="datetime1">
              <a:rPr lang="zh-TW" altLang="en-US" smtClean="0"/>
              <a:t>2017/4/11</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6262803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JP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118681" y="559444"/>
            <a:ext cx="9954638" cy="1819245"/>
          </a:xfrm>
        </p:spPr>
        <p:txBody>
          <a:bodyPr anchor="ctr">
            <a:normAutofit fontScale="90000"/>
          </a:bodyPr>
          <a:lstStyle/>
          <a:p>
            <a:r>
              <a:rPr lang="en-US" altLang="zh-TW" sz="4800" b="1" dirty="0">
                <a:latin typeface="Times New Roman" panose="02020603050405020304" pitchFamily="18" charset="0"/>
                <a:cs typeface="Times New Roman" panose="02020603050405020304" pitchFamily="18" charset="0"/>
              </a:rPr>
              <a:t>A Latent Source Model for Nonparametric Time Series Classification</a:t>
            </a:r>
            <a:endParaRPr lang="zh-TW" altLang="en-US" sz="4800" b="1"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7959305" y="5620621"/>
            <a:ext cx="3893389" cy="935455"/>
          </a:xfrm>
        </p:spPr>
        <p:txBody>
          <a:bodyPr/>
          <a:lstStyle/>
          <a:p>
            <a:r>
              <a:rPr lang="en-US" altLang="zh-TW" dirty="0" smtClean="0">
                <a:latin typeface="Times New Roman" panose="02020603050405020304" pitchFamily="18" charset="0"/>
                <a:cs typeface="Times New Roman" panose="02020603050405020304" pitchFamily="18" charset="0"/>
              </a:rPr>
              <a:t>Presenter</a:t>
            </a:r>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
            </a:r>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Bo-Xian Chen</a:t>
            </a:r>
          </a:p>
          <a:p>
            <a:r>
              <a:rPr lang="en-US" altLang="zh-TW" dirty="0" smtClean="0">
                <a:latin typeface="Times New Roman" panose="02020603050405020304" pitchFamily="18" charset="0"/>
                <a:cs typeface="Times New Roman" panose="02020603050405020304" pitchFamily="18" charset="0"/>
              </a:rPr>
              <a:t>  Date : </a:t>
            </a:r>
            <a:fld id="{DA00540B-99AF-4B5E-9AEF-55C0985778C8}" type="datetime1">
              <a:rPr lang="zh-TW" altLang="en-US" smtClean="0">
                <a:latin typeface="Times New Roman" panose="02020603050405020304" pitchFamily="18" charset="0"/>
                <a:cs typeface="Times New Roman" panose="02020603050405020304" pitchFamily="18" charset="0"/>
              </a:rPr>
              <a:t>2017/4/11</a:t>
            </a:fld>
            <a:endParaRPr lang="zh-TW" altLang="en-US" dirty="0">
              <a:latin typeface="Times New Roman" panose="02020603050405020304" pitchFamily="18" charset="0"/>
              <a:cs typeface="Times New Roman" panose="02020603050405020304" pitchFamily="18" charset="0"/>
            </a:endParaRPr>
          </a:p>
        </p:txBody>
      </p:sp>
      <p:sp>
        <p:nvSpPr>
          <p:cNvPr id="4" name="標題 1"/>
          <p:cNvSpPr txBox="1">
            <a:spLocks/>
          </p:cNvSpPr>
          <p:nvPr/>
        </p:nvSpPr>
        <p:spPr>
          <a:xfrm>
            <a:off x="1981185" y="3447219"/>
            <a:ext cx="8612674" cy="1449115"/>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TW" sz="2449" b="1" dirty="0">
                <a:solidFill>
                  <a:srgbClr val="898989"/>
                </a:solidFill>
                <a:latin typeface="Times New Roman" panose="02020603050405020304" pitchFamily="18" charset="0"/>
                <a:ea typeface="新細明體" pitchFamily="2"/>
                <a:cs typeface="Times New Roman" panose="02020603050405020304" pitchFamily="18" charset="0"/>
              </a:rPr>
              <a:t>George H. Chen, </a:t>
            </a:r>
            <a:r>
              <a:rPr lang="en-US" altLang="zh-TW" sz="2449" b="1" dirty="0" err="1">
                <a:solidFill>
                  <a:srgbClr val="898989"/>
                </a:solidFill>
                <a:latin typeface="Times New Roman" panose="02020603050405020304" pitchFamily="18" charset="0"/>
                <a:ea typeface="新細明體" pitchFamily="2"/>
                <a:cs typeface="Times New Roman" panose="02020603050405020304" pitchFamily="18" charset="0"/>
              </a:rPr>
              <a:t>Stanislav</a:t>
            </a:r>
            <a:r>
              <a:rPr lang="en-US" altLang="zh-TW" sz="2449" b="1" dirty="0">
                <a:solidFill>
                  <a:srgbClr val="898989"/>
                </a:solidFill>
                <a:latin typeface="Times New Roman" panose="02020603050405020304" pitchFamily="18" charset="0"/>
                <a:ea typeface="新細明體" pitchFamily="2"/>
                <a:cs typeface="Times New Roman" panose="02020603050405020304" pitchFamily="18" charset="0"/>
              </a:rPr>
              <a:t> </a:t>
            </a:r>
            <a:r>
              <a:rPr lang="en-US" altLang="zh-TW" sz="2449" b="1" dirty="0" err="1">
                <a:solidFill>
                  <a:srgbClr val="898989"/>
                </a:solidFill>
                <a:latin typeface="Times New Roman" panose="02020603050405020304" pitchFamily="18" charset="0"/>
                <a:ea typeface="新細明體" pitchFamily="2"/>
                <a:cs typeface="Times New Roman" panose="02020603050405020304" pitchFamily="18" charset="0"/>
              </a:rPr>
              <a:t>Nikolov</a:t>
            </a:r>
            <a:r>
              <a:rPr lang="en-US" altLang="zh-TW" sz="2449" b="1" dirty="0">
                <a:solidFill>
                  <a:srgbClr val="898989"/>
                </a:solidFill>
                <a:latin typeface="Times New Roman" panose="02020603050405020304" pitchFamily="18" charset="0"/>
                <a:ea typeface="新細明體" pitchFamily="2"/>
                <a:cs typeface="Times New Roman" panose="02020603050405020304" pitchFamily="18" charset="0"/>
              </a:rPr>
              <a:t>, </a:t>
            </a:r>
            <a:r>
              <a:rPr lang="en-US" altLang="zh-TW" sz="2449" b="1" dirty="0" err="1">
                <a:solidFill>
                  <a:srgbClr val="898989"/>
                </a:solidFill>
                <a:latin typeface="Times New Roman" panose="02020603050405020304" pitchFamily="18" charset="0"/>
                <a:ea typeface="新細明體" pitchFamily="2"/>
                <a:cs typeface="Times New Roman" panose="02020603050405020304" pitchFamily="18" charset="0"/>
              </a:rPr>
              <a:t>Devavrat</a:t>
            </a:r>
            <a:r>
              <a:rPr lang="en-US" altLang="zh-TW" sz="2449" b="1" dirty="0">
                <a:solidFill>
                  <a:srgbClr val="898989"/>
                </a:solidFill>
                <a:latin typeface="Times New Roman" panose="02020603050405020304" pitchFamily="18" charset="0"/>
                <a:ea typeface="新細明體" pitchFamily="2"/>
                <a:cs typeface="Times New Roman" panose="02020603050405020304" pitchFamily="18" charset="0"/>
              </a:rPr>
              <a:t> </a:t>
            </a:r>
            <a:r>
              <a:rPr lang="en-US" altLang="zh-TW" sz="2449" b="1" dirty="0" smtClean="0">
                <a:solidFill>
                  <a:srgbClr val="898989"/>
                </a:solidFill>
                <a:latin typeface="Times New Roman" panose="02020603050405020304" pitchFamily="18" charset="0"/>
                <a:ea typeface="新細明體" pitchFamily="2"/>
                <a:cs typeface="Times New Roman" panose="02020603050405020304" pitchFamily="18" charset="0"/>
              </a:rPr>
              <a:t>Shah</a:t>
            </a:r>
          </a:p>
          <a:p>
            <a:pPr algn="ctr"/>
            <a:endParaRPr lang="en-US" altLang="zh-TW" sz="2449" b="1" dirty="0" smtClean="0">
              <a:solidFill>
                <a:srgbClr val="898989"/>
              </a:solidFill>
              <a:highlight>
                <a:scrgbClr r="0" g="0" b="0">
                  <a:alpha val="0"/>
                </a:scrgbClr>
              </a:highlight>
              <a:latin typeface="Times New Roman" panose="02020603050405020304" pitchFamily="18" charset="0"/>
              <a:ea typeface="新細明體" pitchFamily="2"/>
              <a:cs typeface="Times New Roman" panose="02020603050405020304" pitchFamily="18" charset="0"/>
            </a:endParaRPr>
          </a:p>
          <a:p>
            <a:pPr algn="ctr"/>
            <a:r>
              <a:rPr lang="en-US" altLang="zh-TW" sz="2449" b="1" dirty="0">
                <a:solidFill>
                  <a:srgbClr val="898989"/>
                </a:solidFill>
                <a:highlight>
                  <a:scrgbClr r="0" g="0" b="0">
                    <a:alpha val="0"/>
                  </a:scrgbClr>
                </a:highlight>
                <a:latin typeface="Times New Roman" panose="02020603050405020304" pitchFamily="18" charset="0"/>
                <a:ea typeface="新細明體" pitchFamily="2"/>
                <a:cs typeface="Times New Roman" panose="02020603050405020304" pitchFamily="18" charset="0"/>
              </a:rPr>
              <a:t>Proceedings of Neural Information Processing Systems (NIPS), Harrah’s and Harvey’s, Lake Tahoe, USA, December, 2013 </a:t>
            </a:r>
            <a:endParaRPr lang="en-US" altLang="zh-TW" sz="2449" b="1" dirty="0" smtClean="0">
              <a:solidFill>
                <a:srgbClr val="898989"/>
              </a:solidFill>
              <a:highlight>
                <a:scrgbClr r="0" g="0" b="0">
                  <a:alpha val="0"/>
                </a:scrgbClr>
              </a:highlight>
              <a:latin typeface="Times New Roman" panose="02020603050405020304" pitchFamily="18" charset="0"/>
              <a:ea typeface="新細明體" pitchFamily="2"/>
              <a:cs typeface="Times New Roman" panose="02020603050405020304" pitchFamily="18" charset="0"/>
            </a:endParaRPr>
          </a:p>
        </p:txBody>
      </p:sp>
    </p:spTree>
    <p:extLst>
      <p:ext uri="{BB962C8B-B14F-4D97-AF65-F5344CB8AC3E}">
        <p14:creationId xmlns:p14="http://schemas.microsoft.com/office/powerpoint/2010/main" val="17017005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lstStyle/>
          <a:p>
            <a:r>
              <a:rPr lang="en-US" altLang="zh-TW" dirty="0" smtClean="0">
                <a:latin typeface="Times New Roman" panose="02020603050405020304" pitchFamily="18" charset="0"/>
                <a:cs typeface="Times New Roman" panose="02020603050405020304" pitchFamily="18" charset="0"/>
              </a:rPr>
              <a:t>Abstract(1/2)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540695" y="1235676"/>
            <a:ext cx="11110609" cy="4825958"/>
          </a:xfrm>
        </p:spPr>
        <p:txBody>
          <a:bodyPr>
            <a:noAutofit/>
          </a:bodyPr>
          <a:lstStyle/>
          <a:p>
            <a:pPr marL="0" indent="0">
              <a:lnSpc>
                <a:spcPct val="100000"/>
              </a:lnSpc>
              <a:buNone/>
            </a:pPr>
            <a:r>
              <a:rPr lang="en-US" altLang="zh-TW" dirty="0">
                <a:latin typeface="Times New Roman" panose="02020603050405020304" pitchFamily="18" charset="0"/>
                <a:cs typeface="Times New Roman" panose="02020603050405020304" pitchFamily="18" charset="0"/>
              </a:rPr>
              <a:t>For classifying time series, a nearest-neighbor approach is widely used in </a:t>
            </a:r>
            <a:r>
              <a:rPr lang="en-US" altLang="zh-TW" dirty="0" smtClean="0">
                <a:latin typeface="Times New Roman" panose="02020603050405020304" pitchFamily="18" charset="0"/>
                <a:cs typeface="Times New Roman" panose="02020603050405020304" pitchFamily="18" charset="0"/>
              </a:rPr>
              <a:t>practice with </a:t>
            </a:r>
            <a:r>
              <a:rPr lang="en-US" altLang="zh-TW" dirty="0">
                <a:latin typeface="Times New Roman" panose="02020603050405020304" pitchFamily="18" charset="0"/>
                <a:cs typeface="Times New Roman" panose="02020603050405020304" pitchFamily="18" charset="0"/>
              </a:rPr>
              <a:t>performance often </a:t>
            </a:r>
            <a:r>
              <a:rPr lang="en-US" altLang="zh-TW" dirty="0" smtClean="0">
                <a:latin typeface="Times New Roman" panose="02020603050405020304" pitchFamily="18" charset="0"/>
                <a:cs typeface="Times New Roman" panose="02020603050405020304" pitchFamily="18" charset="0"/>
              </a:rPr>
              <a:t>competitive </a:t>
            </a:r>
            <a:r>
              <a:rPr lang="en-US" altLang="zh-TW" dirty="0">
                <a:latin typeface="Times New Roman" panose="02020603050405020304" pitchFamily="18" charset="0"/>
                <a:cs typeface="Times New Roman" panose="02020603050405020304" pitchFamily="18" charset="0"/>
              </a:rPr>
              <a:t>with or better than more elaborate </a:t>
            </a:r>
            <a:r>
              <a:rPr lang="en-US" altLang="zh-TW" dirty="0" smtClean="0">
                <a:latin typeface="Times New Roman" panose="02020603050405020304" pitchFamily="18" charset="0"/>
                <a:cs typeface="Times New Roman" panose="02020603050405020304" pitchFamily="18" charset="0"/>
              </a:rPr>
              <a:t>methods such </a:t>
            </a:r>
            <a:r>
              <a:rPr lang="en-US" altLang="zh-TW" dirty="0">
                <a:latin typeface="Times New Roman" panose="02020603050405020304" pitchFamily="18" charset="0"/>
                <a:cs typeface="Times New Roman" panose="02020603050405020304" pitchFamily="18" charset="0"/>
              </a:rPr>
              <a:t>as neural networks, decision trees, and support vector machines. We </a:t>
            </a:r>
            <a:r>
              <a:rPr lang="en-US" altLang="zh-TW" dirty="0" smtClean="0">
                <a:latin typeface="Times New Roman" panose="02020603050405020304" pitchFamily="18" charset="0"/>
                <a:cs typeface="Times New Roman" panose="02020603050405020304" pitchFamily="18" charset="0"/>
              </a:rPr>
              <a:t>develop theoretical </a:t>
            </a:r>
            <a:r>
              <a:rPr lang="en-US" altLang="zh-TW" dirty="0">
                <a:latin typeface="Times New Roman" panose="02020603050405020304" pitchFamily="18" charset="0"/>
                <a:cs typeface="Times New Roman" panose="02020603050405020304" pitchFamily="18" charset="0"/>
              </a:rPr>
              <a:t>justification for the effectiveness of nearest-neighbor-like </a:t>
            </a:r>
            <a:r>
              <a:rPr lang="en-US" altLang="zh-TW" dirty="0" smtClean="0">
                <a:latin typeface="Times New Roman" panose="02020603050405020304" pitchFamily="18" charset="0"/>
                <a:cs typeface="Times New Roman" panose="02020603050405020304" pitchFamily="18" charset="0"/>
              </a:rPr>
              <a:t>classification of </a:t>
            </a:r>
            <a:r>
              <a:rPr lang="en-US" altLang="zh-TW" dirty="0">
                <a:latin typeface="Times New Roman" panose="02020603050405020304" pitchFamily="18" charset="0"/>
                <a:cs typeface="Times New Roman" panose="02020603050405020304" pitchFamily="18" charset="0"/>
              </a:rPr>
              <a:t>time series. </a:t>
            </a:r>
            <a:r>
              <a:rPr lang="en-US" altLang="zh-TW" dirty="0" smtClean="0">
                <a:latin typeface="Times New Roman" panose="02020603050405020304" pitchFamily="18" charset="0"/>
                <a:cs typeface="Times New Roman" panose="02020603050405020304" pitchFamily="18" charset="0"/>
              </a:rPr>
              <a:t>Our </a:t>
            </a:r>
            <a:r>
              <a:rPr lang="en-US" altLang="zh-TW" dirty="0">
                <a:latin typeface="Times New Roman" panose="02020603050405020304" pitchFamily="18" charset="0"/>
                <a:cs typeface="Times New Roman" panose="02020603050405020304" pitchFamily="18" charset="0"/>
              </a:rPr>
              <a:t>guiding hypothesis is that in many applications, such as forecasting which topics will become trends on Twitter, there aren’t actually that many prototypical time series to begin with, relative to the number of time </a:t>
            </a:r>
            <a:r>
              <a:rPr lang="en-US" altLang="zh-TW" dirty="0" smtClean="0">
                <a:latin typeface="Times New Roman" panose="02020603050405020304" pitchFamily="18" charset="0"/>
                <a:cs typeface="Times New Roman" panose="02020603050405020304" pitchFamily="18" charset="0"/>
              </a:rPr>
              <a:t>series we </a:t>
            </a:r>
            <a:r>
              <a:rPr lang="en-US" altLang="zh-TW" dirty="0">
                <a:latin typeface="Times New Roman" panose="02020603050405020304" pitchFamily="18" charset="0"/>
                <a:cs typeface="Times New Roman" panose="02020603050405020304" pitchFamily="18" charset="0"/>
              </a:rPr>
              <a:t>have access to, e.g., topics become trends on Twitter only in a few distinct manners whereas we can collect massive amounts of Twitter data.</a:t>
            </a:r>
            <a:endParaRPr lang="zh-TW" altLang="en-US" dirty="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2</a:t>
            </a:fld>
            <a:endParaRPr lang="zh-TW" altLang="en-US" dirty="0"/>
          </a:p>
        </p:txBody>
      </p:sp>
    </p:spTree>
    <p:extLst>
      <p:ext uri="{BB962C8B-B14F-4D97-AF65-F5344CB8AC3E}">
        <p14:creationId xmlns:p14="http://schemas.microsoft.com/office/powerpoint/2010/main" val="39845842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lstStyle/>
          <a:p>
            <a:r>
              <a:rPr lang="en-US" altLang="zh-TW" dirty="0" smtClean="0">
                <a:latin typeface="Times New Roman" panose="02020603050405020304" pitchFamily="18" charset="0"/>
                <a:cs typeface="Times New Roman" panose="02020603050405020304" pitchFamily="18" charset="0"/>
              </a:rPr>
              <a:t>Abstract(2/2)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540695" y="1127646"/>
            <a:ext cx="11110609" cy="5730354"/>
          </a:xfrm>
        </p:spPr>
        <p:txBody>
          <a:bodyPr>
            <a:noAutofit/>
          </a:bodyPr>
          <a:lstStyle/>
          <a:p>
            <a:pPr marL="0" indent="0">
              <a:lnSpc>
                <a:spcPct val="100000"/>
              </a:lnSpc>
              <a:buNone/>
            </a:pPr>
            <a:r>
              <a:rPr lang="en-US" altLang="zh-TW" dirty="0" smtClean="0">
                <a:latin typeface="Times New Roman" panose="02020603050405020304" pitchFamily="18" charset="0"/>
                <a:cs typeface="Times New Roman" panose="02020603050405020304" pitchFamily="18" charset="0"/>
              </a:rPr>
              <a:t>To operationalize this </a:t>
            </a:r>
            <a:r>
              <a:rPr lang="en-US" altLang="zh-TW" dirty="0">
                <a:latin typeface="Times New Roman" panose="02020603050405020304" pitchFamily="18" charset="0"/>
                <a:cs typeface="Times New Roman" panose="02020603050405020304" pitchFamily="18" charset="0"/>
              </a:rPr>
              <a:t>hypothesis, we propose a latent source model for time series, which </a:t>
            </a:r>
            <a:r>
              <a:rPr lang="en-US" altLang="zh-TW" dirty="0" smtClean="0">
                <a:latin typeface="Times New Roman" panose="02020603050405020304" pitchFamily="18" charset="0"/>
                <a:cs typeface="Times New Roman" panose="02020603050405020304" pitchFamily="18" charset="0"/>
              </a:rPr>
              <a:t>naturally leads </a:t>
            </a:r>
            <a:r>
              <a:rPr lang="en-US" altLang="zh-TW" dirty="0">
                <a:latin typeface="Times New Roman" panose="02020603050405020304" pitchFamily="18" charset="0"/>
                <a:cs typeface="Times New Roman" panose="02020603050405020304" pitchFamily="18" charset="0"/>
              </a:rPr>
              <a:t>to a “weighted majority voting” classification rule that can be </a:t>
            </a:r>
            <a:r>
              <a:rPr lang="en-US" altLang="zh-TW" dirty="0" smtClean="0">
                <a:latin typeface="Times New Roman" panose="02020603050405020304" pitchFamily="18" charset="0"/>
                <a:cs typeface="Times New Roman" panose="02020603050405020304" pitchFamily="18" charset="0"/>
              </a:rPr>
              <a:t>approximated by </a:t>
            </a:r>
            <a:r>
              <a:rPr lang="en-US" altLang="zh-TW" dirty="0">
                <a:latin typeface="Times New Roman" panose="02020603050405020304" pitchFamily="18" charset="0"/>
                <a:cs typeface="Times New Roman" panose="02020603050405020304" pitchFamily="18" charset="0"/>
              </a:rPr>
              <a:t>a nearest-neighbor classifier. We establish </a:t>
            </a:r>
            <a:r>
              <a:rPr lang="en-US" altLang="zh-TW" dirty="0" err="1">
                <a:latin typeface="Times New Roman" panose="02020603050405020304" pitchFamily="18" charset="0"/>
                <a:cs typeface="Times New Roman" panose="02020603050405020304" pitchFamily="18" charset="0"/>
              </a:rPr>
              <a:t>nonasymptotic</a:t>
            </a:r>
            <a:r>
              <a:rPr lang="en-US" altLang="zh-TW" dirty="0">
                <a:latin typeface="Times New Roman" panose="02020603050405020304" pitchFamily="18" charset="0"/>
                <a:cs typeface="Times New Roman" panose="02020603050405020304" pitchFamily="18" charset="0"/>
              </a:rPr>
              <a:t> performance </a:t>
            </a:r>
            <a:r>
              <a:rPr lang="en-US" altLang="zh-TW" dirty="0" smtClean="0">
                <a:latin typeface="Times New Roman" panose="02020603050405020304" pitchFamily="18" charset="0"/>
                <a:cs typeface="Times New Roman" panose="02020603050405020304" pitchFamily="18" charset="0"/>
              </a:rPr>
              <a:t>guarantees of </a:t>
            </a:r>
            <a:r>
              <a:rPr lang="en-US" altLang="zh-TW" dirty="0">
                <a:latin typeface="Times New Roman" panose="02020603050405020304" pitchFamily="18" charset="0"/>
                <a:cs typeface="Times New Roman" panose="02020603050405020304" pitchFamily="18" charset="0"/>
              </a:rPr>
              <a:t>both weighted majority voting and nearest-neighbor classification </a:t>
            </a:r>
            <a:r>
              <a:rPr lang="en-US" altLang="zh-TW" dirty="0" smtClean="0">
                <a:latin typeface="Times New Roman" panose="02020603050405020304" pitchFamily="18" charset="0"/>
                <a:cs typeface="Times New Roman" panose="02020603050405020304" pitchFamily="18" charset="0"/>
              </a:rPr>
              <a:t>under our </a:t>
            </a:r>
            <a:r>
              <a:rPr lang="en-US" altLang="zh-TW" dirty="0">
                <a:latin typeface="Times New Roman" panose="02020603050405020304" pitchFamily="18" charset="0"/>
                <a:cs typeface="Times New Roman" panose="02020603050405020304" pitchFamily="18" charset="0"/>
              </a:rPr>
              <a:t>model accounting for how much of the time series we observe and the </a:t>
            </a:r>
            <a:r>
              <a:rPr lang="en-US" altLang="zh-TW" dirty="0" smtClean="0">
                <a:latin typeface="Times New Roman" panose="02020603050405020304" pitchFamily="18" charset="0"/>
                <a:cs typeface="Times New Roman" panose="02020603050405020304" pitchFamily="18" charset="0"/>
              </a:rPr>
              <a:t>model complexity</a:t>
            </a:r>
            <a:r>
              <a:rPr lang="en-US" altLang="zh-TW" dirty="0">
                <a:latin typeface="Times New Roman" panose="02020603050405020304" pitchFamily="18" charset="0"/>
                <a:cs typeface="Times New Roman" panose="02020603050405020304" pitchFamily="18" charset="0"/>
              </a:rPr>
              <a:t>. Experimental results on synthetic data show weighted majority </a:t>
            </a:r>
            <a:r>
              <a:rPr lang="en-US" altLang="zh-TW" dirty="0" smtClean="0">
                <a:latin typeface="Times New Roman" panose="02020603050405020304" pitchFamily="18" charset="0"/>
                <a:cs typeface="Times New Roman" panose="02020603050405020304" pitchFamily="18" charset="0"/>
              </a:rPr>
              <a:t>voting achieving </a:t>
            </a:r>
            <a:r>
              <a:rPr lang="en-US" altLang="zh-TW" dirty="0">
                <a:latin typeface="Times New Roman" panose="02020603050405020304" pitchFamily="18" charset="0"/>
                <a:cs typeface="Times New Roman" panose="02020603050405020304" pitchFamily="18" charset="0"/>
              </a:rPr>
              <a:t>the same misclassification rate as nearest-neighbor classification </a:t>
            </a:r>
            <a:r>
              <a:rPr lang="en-US" altLang="zh-TW" dirty="0" smtClean="0">
                <a:latin typeface="Times New Roman" panose="02020603050405020304" pitchFamily="18" charset="0"/>
                <a:cs typeface="Times New Roman" panose="02020603050405020304" pitchFamily="18" charset="0"/>
              </a:rPr>
              <a:t>while observing </a:t>
            </a:r>
            <a:r>
              <a:rPr lang="en-US" altLang="zh-TW" dirty="0">
                <a:latin typeface="Times New Roman" panose="02020603050405020304" pitchFamily="18" charset="0"/>
                <a:cs typeface="Times New Roman" panose="02020603050405020304" pitchFamily="18" charset="0"/>
              </a:rPr>
              <a:t>less of the time series. We then use weighted majority to forecast </a:t>
            </a:r>
            <a:r>
              <a:rPr lang="en-US" altLang="zh-TW" dirty="0" smtClean="0">
                <a:latin typeface="Times New Roman" panose="02020603050405020304" pitchFamily="18" charset="0"/>
                <a:cs typeface="Times New Roman" panose="02020603050405020304" pitchFamily="18" charset="0"/>
              </a:rPr>
              <a:t>which news </a:t>
            </a:r>
            <a:r>
              <a:rPr lang="en-US" altLang="zh-TW" dirty="0">
                <a:latin typeface="Times New Roman" panose="02020603050405020304" pitchFamily="18" charset="0"/>
                <a:cs typeface="Times New Roman" panose="02020603050405020304" pitchFamily="18" charset="0"/>
              </a:rPr>
              <a:t>topics on Twitter become trends, where we are able to detect such “</a:t>
            </a:r>
            <a:r>
              <a:rPr lang="en-US" altLang="zh-TW" dirty="0" smtClean="0">
                <a:latin typeface="Times New Roman" panose="02020603050405020304" pitchFamily="18" charset="0"/>
                <a:cs typeface="Times New Roman" panose="02020603050405020304" pitchFamily="18" charset="0"/>
              </a:rPr>
              <a:t>trending topics” in advance of Twitter 79% of the time, with a mean early advantage of 1 hour and 26 minutes, a true positive rate of 95%, and a false positive rate of 4%.</a:t>
            </a:r>
            <a:endParaRPr lang="zh-TW" altLang="en-US" dirty="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3</a:t>
            </a:fld>
            <a:endParaRPr lang="zh-TW" altLang="en-US" dirty="0"/>
          </a:p>
        </p:txBody>
      </p:sp>
    </p:spTree>
    <p:extLst>
      <p:ext uri="{BB962C8B-B14F-4D97-AF65-F5344CB8AC3E}">
        <p14:creationId xmlns:p14="http://schemas.microsoft.com/office/powerpoint/2010/main" val="231035306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lstStyle/>
          <a:p>
            <a:pPr algn="ctr"/>
            <a:r>
              <a:rPr lang="en-US" altLang="zh-TW" dirty="0" smtClean="0">
                <a:latin typeface="Times New Roman" panose="02020603050405020304" pitchFamily="18" charset="0"/>
                <a:cs typeface="Times New Roman" panose="02020603050405020304" pitchFamily="18" charset="0"/>
              </a:rPr>
              <a:t>Procedure</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383034"/>
            <a:ext cx="10515600" cy="4825958"/>
          </a:xfrm>
        </p:spPr>
        <p:txBody>
          <a:bodyPr>
            <a:normAutofit/>
          </a:bodyPr>
          <a:lstStyle/>
          <a:p>
            <a:pPr marL="0" indent="0">
              <a:buNone/>
            </a:pPr>
            <a:r>
              <a:rPr lang="en-US" altLang="zh-TW" dirty="0" smtClean="0">
                <a:latin typeface="Times New Roman" panose="02020603050405020304" pitchFamily="18" charset="0"/>
                <a:cs typeface="Times New Roman" panose="02020603050405020304" pitchFamily="18" charset="0"/>
              </a:rPr>
              <a:t>Method </a:t>
            </a:r>
            <a:r>
              <a:rPr lang="en-US" altLang="zh-TW" dirty="0" smtClean="0">
                <a:latin typeface="Times New Roman" panose="02020603050405020304" pitchFamily="18" charset="0"/>
                <a:cs typeface="Times New Roman" panose="02020603050405020304" pitchFamily="18" charset="0"/>
              </a:rPr>
              <a:t>:</a:t>
            </a:r>
            <a:endParaRPr lang="en-US" altLang="zh-TW" sz="2400" dirty="0" smtClean="0">
              <a:latin typeface="Times New Roman" panose="02020603050405020304" pitchFamily="18" charset="0"/>
              <a:cs typeface="Times New Roman" panose="02020603050405020304" pitchFamily="18" charset="0"/>
            </a:endParaRPr>
          </a:p>
          <a:p>
            <a:pPr marL="457200" indent="-457200">
              <a:buFont typeface="+mj-lt"/>
              <a:buAutoNum type="arabicPeriod"/>
            </a:pPr>
            <a:r>
              <a:rPr lang="en-US" altLang="zh-TW" sz="2400" dirty="0">
                <a:latin typeface="Times New Roman" panose="02020603050405020304" pitchFamily="18" charset="0"/>
                <a:cs typeface="Times New Roman" panose="02020603050405020304" pitchFamily="18" charset="0"/>
              </a:rPr>
              <a:t>Nearest-Neighbor Classification</a:t>
            </a:r>
          </a:p>
          <a:p>
            <a:pPr marL="457200" indent="-457200">
              <a:buFont typeface="+mj-lt"/>
              <a:buAutoNum type="arabicPeriod"/>
            </a:pPr>
            <a:r>
              <a:rPr lang="en-US" altLang="zh-TW" sz="2400" dirty="0" smtClean="0">
                <a:latin typeface="Times New Roman" panose="02020603050405020304" pitchFamily="18" charset="0"/>
                <a:cs typeface="Times New Roman" panose="02020603050405020304" pitchFamily="18" charset="0"/>
              </a:rPr>
              <a:t>Weighted </a:t>
            </a:r>
            <a:r>
              <a:rPr lang="en-US" altLang="zh-TW" sz="2400" dirty="0" smtClean="0">
                <a:latin typeface="Times New Roman" panose="02020603050405020304" pitchFamily="18" charset="0"/>
                <a:cs typeface="Times New Roman" panose="02020603050405020304" pitchFamily="18" charset="0"/>
              </a:rPr>
              <a:t>Majority Voting </a:t>
            </a:r>
            <a:endParaRPr lang="en-US" altLang="zh-TW" sz="2400" dirty="0" smtClean="0">
              <a:latin typeface="Times New Roman" panose="02020603050405020304" pitchFamily="18" charset="0"/>
              <a:cs typeface="Times New Roman" panose="02020603050405020304" pitchFamily="18" charset="0"/>
            </a:endParaRPr>
          </a:p>
          <a:p>
            <a:pPr marL="457200" indent="-457200">
              <a:buFont typeface="+mj-lt"/>
              <a:buAutoNum type="arabicPeriod"/>
            </a:pPr>
            <a:r>
              <a:rPr lang="en-US" altLang="zh-TW" sz="2400" dirty="0" smtClean="0">
                <a:latin typeface="Times New Roman" panose="02020603050405020304" pitchFamily="18" charset="0"/>
                <a:cs typeface="Times New Roman" panose="02020603050405020304" pitchFamily="18" charset="0"/>
              </a:rPr>
              <a:t>Maximum </a:t>
            </a:r>
            <a:r>
              <a:rPr lang="en-US" altLang="zh-TW" sz="2400" dirty="0">
                <a:latin typeface="Times New Roman" panose="02020603050405020304" pitchFamily="18" charset="0"/>
                <a:cs typeface="Times New Roman" panose="02020603050405020304" pitchFamily="18" charset="0"/>
              </a:rPr>
              <a:t>a posteriori (MAP</a:t>
            </a:r>
            <a:r>
              <a:rPr lang="en-US" altLang="zh-TW" sz="2400" dirty="0" smtClean="0">
                <a:latin typeface="Times New Roman" panose="02020603050405020304" pitchFamily="18" charset="0"/>
                <a:cs typeface="Times New Roman" panose="02020603050405020304" pitchFamily="18" charset="0"/>
              </a:rPr>
              <a:t>)</a:t>
            </a:r>
          </a:p>
          <a:p>
            <a:pPr marL="0" indent="0">
              <a:buNone/>
            </a:pPr>
            <a:endParaRPr lang="en-US" altLang="zh-TW" sz="2400" dirty="0" smtClean="0">
              <a:latin typeface="Times New Roman" panose="02020603050405020304" pitchFamily="18" charset="0"/>
              <a:cs typeface="Times New Roman" panose="02020603050405020304" pitchFamily="18" charset="0"/>
            </a:endParaRPr>
          </a:p>
          <a:p>
            <a:pPr marL="0" indent="0">
              <a:buNone/>
            </a:pPr>
            <a:endParaRPr lang="en-US" altLang="zh-TW" sz="2400" dirty="0" smtClean="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Goal : </a:t>
            </a:r>
          </a:p>
          <a:p>
            <a:pPr marL="0" indent="0">
              <a:buNone/>
            </a:pPr>
            <a:r>
              <a:rPr lang="en-US" altLang="zh-TW" sz="2400" dirty="0">
                <a:latin typeface="Times New Roman" panose="02020603050405020304" pitchFamily="18" charset="0"/>
                <a:cs typeface="Times New Roman" panose="02020603050405020304" pitchFamily="18" charset="0"/>
              </a:rPr>
              <a:t>Predicting whether a topic is going to be a trend before it is actually declared to be a trend by </a:t>
            </a:r>
            <a:r>
              <a:rPr lang="en-US" altLang="zh-TW" sz="2400" dirty="0" smtClean="0">
                <a:latin typeface="Times New Roman" panose="02020603050405020304" pitchFamily="18" charset="0"/>
                <a:cs typeface="Times New Roman" panose="02020603050405020304" pitchFamily="18" charset="0"/>
              </a:rPr>
              <a:t>Twitter (“trend” or “not trend”). That is , given a time series </a:t>
            </a:r>
            <a:r>
              <a:rPr lang="en-US" altLang="zh-TW" sz="2400" b="1" dirty="0" smtClean="0">
                <a:latin typeface="Times New Roman" panose="02020603050405020304" pitchFamily="18" charset="0"/>
                <a:cs typeface="Times New Roman" panose="02020603050405020304" pitchFamily="18" charset="0"/>
              </a:rPr>
              <a:t>s</a:t>
            </a:r>
            <a:r>
              <a:rPr lang="en-US" altLang="zh-TW" sz="2400" dirty="0" smtClean="0">
                <a:latin typeface="Times New Roman" panose="02020603050405020304" pitchFamily="18" charset="0"/>
                <a:cs typeface="Times New Roman" panose="02020603050405020304" pitchFamily="18" charset="0"/>
              </a:rPr>
              <a:t>, we want to classify it as having either +1(“trend”) or -1(“not trend”).</a:t>
            </a: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3500" dirty="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4</a:t>
            </a:fld>
            <a:endParaRPr lang="zh-TW" altLang="en-US" dirty="0"/>
          </a:p>
        </p:txBody>
      </p:sp>
    </p:spTree>
    <p:extLst>
      <p:ext uri="{BB962C8B-B14F-4D97-AF65-F5344CB8AC3E}">
        <p14:creationId xmlns:p14="http://schemas.microsoft.com/office/powerpoint/2010/main" val="18303398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lstStyle/>
          <a:p>
            <a:pPr algn="ctr"/>
            <a:r>
              <a:rPr lang="en-US" altLang="zh-TW" dirty="0" smtClean="0">
                <a:latin typeface="Times New Roman" panose="02020603050405020304" pitchFamily="18" charset="0"/>
                <a:cs typeface="Times New Roman" panose="02020603050405020304" pitchFamily="18" charset="0"/>
              </a:rPr>
              <a:t>A Latent Source Model</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383034"/>
            <a:ext cx="10515600" cy="4973316"/>
          </a:xfrm>
        </p:spPr>
        <p:txBody>
          <a:bodyPr>
            <a:normAutofit/>
          </a:bodyPr>
          <a:lstStyle/>
          <a:p>
            <a:pPr marL="0" indent="0">
              <a:buNone/>
            </a:pPr>
            <a:r>
              <a:rPr lang="en-US" altLang="zh-TW" sz="3500" dirty="0" smtClean="0">
                <a:latin typeface="Times New Roman" panose="02020603050405020304" pitchFamily="18" charset="0"/>
                <a:cs typeface="Times New Roman" panose="02020603050405020304" pitchFamily="18" charset="0"/>
              </a:rPr>
              <a:t>E.g.</a:t>
            </a:r>
          </a:p>
          <a:p>
            <a:pPr marL="0" indent="0">
              <a:buNone/>
            </a:pPr>
            <a:endParaRPr lang="en-US" altLang="zh-TW" sz="3500" dirty="0" smtClean="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5</a:t>
            </a:fld>
            <a:endParaRPr lang="zh-TW" altLang="en-US" dirty="0"/>
          </a:p>
        </p:txBody>
      </p:sp>
    </p:spTree>
    <p:extLst>
      <p:ext uri="{BB962C8B-B14F-4D97-AF65-F5344CB8AC3E}">
        <p14:creationId xmlns:p14="http://schemas.microsoft.com/office/powerpoint/2010/main" val="1871536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lstStyle/>
          <a:p>
            <a:pPr algn="ctr"/>
            <a:r>
              <a:rPr lang="en-US" altLang="zh-TW" dirty="0" smtClean="0">
                <a:latin typeface="Times New Roman" panose="02020603050405020304" pitchFamily="18" charset="0"/>
                <a:cs typeface="Times New Roman" panose="02020603050405020304" pitchFamily="18" charset="0"/>
              </a:rPr>
              <a:t>A Latent Source Model</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383034"/>
            <a:ext cx="10515600" cy="4973316"/>
          </a:xfrm>
        </p:spPr>
        <p:txBody>
          <a:bodyPr>
            <a:normAutofit/>
          </a:bodyPr>
          <a:lstStyle/>
          <a:p>
            <a:pPr marL="0" indent="0">
              <a:buNone/>
            </a:pPr>
            <a:r>
              <a:rPr lang="en-US" altLang="zh-TW" sz="3500" dirty="0" smtClean="0">
                <a:latin typeface="Times New Roman" panose="02020603050405020304" pitchFamily="18" charset="0"/>
                <a:cs typeface="Times New Roman" panose="02020603050405020304" pitchFamily="18" charset="0"/>
              </a:rPr>
              <a:t>E.g.</a:t>
            </a:r>
          </a:p>
          <a:p>
            <a:pPr marL="0" indent="0">
              <a:buNone/>
            </a:pPr>
            <a:r>
              <a:rPr lang="zh-TW" altLang="en-US" sz="3500" dirty="0" smtClean="0">
                <a:latin typeface="Times New Roman" panose="02020603050405020304" pitchFamily="18" charset="0"/>
                <a:cs typeface="Times New Roman" panose="02020603050405020304" pitchFamily="18" charset="0"/>
              </a:rPr>
              <a:t>臺北市大運</a:t>
            </a:r>
            <a:endParaRPr lang="en-US" altLang="zh-TW" sz="3500" dirty="0">
              <a:latin typeface="Times New Roman" panose="02020603050405020304" pitchFamily="18" charset="0"/>
              <a:cs typeface="Times New Roman" panose="02020603050405020304" pitchFamily="18" charset="0"/>
            </a:endParaRPr>
          </a:p>
          <a:p>
            <a:pPr marL="0" indent="0">
              <a:buNone/>
            </a:pPr>
            <a:endParaRPr lang="en-US" altLang="zh-TW" sz="3500" dirty="0" smtClean="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6</a:t>
            </a:fld>
            <a:endParaRPr lang="zh-TW" altLang="en-US" dirty="0"/>
          </a:p>
        </p:txBody>
      </p:sp>
    </p:spTree>
    <p:extLst>
      <p:ext uri="{BB962C8B-B14F-4D97-AF65-F5344CB8AC3E}">
        <p14:creationId xmlns:p14="http://schemas.microsoft.com/office/powerpoint/2010/main" val="3678936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lstStyle/>
          <a:p>
            <a:pPr algn="ctr"/>
            <a:r>
              <a:rPr lang="en-US" altLang="zh-TW" dirty="0" smtClean="0">
                <a:latin typeface="Times New Roman" panose="02020603050405020304" pitchFamily="18" charset="0"/>
                <a:cs typeface="Times New Roman" panose="02020603050405020304" pitchFamily="18" charset="0"/>
              </a:rPr>
              <a:t>A Latent Source Model</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383034"/>
            <a:ext cx="10515600" cy="4973316"/>
          </a:xfrm>
        </p:spPr>
        <p:txBody>
          <a:bodyPr>
            <a:normAutofit/>
          </a:bodyPr>
          <a:lstStyle/>
          <a:p>
            <a:pPr marL="0" indent="0">
              <a:buNone/>
            </a:pPr>
            <a:r>
              <a:rPr lang="en-US" altLang="zh-TW" sz="3500" dirty="0" smtClean="0">
                <a:latin typeface="Times New Roman" panose="02020603050405020304" pitchFamily="18" charset="0"/>
                <a:cs typeface="Times New Roman" panose="02020603050405020304" pitchFamily="18" charset="0"/>
              </a:rPr>
              <a:t>E.g.</a:t>
            </a:r>
          </a:p>
          <a:p>
            <a:pPr marL="0" indent="0">
              <a:buNone/>
            </a:pPr>
            <a:r>
              <a:rPr lang="zh-TW" altLang="en-US" sz="3500" dirty="0" smtClean="0">
                <a:latin typeface="Times New Roman" panose="02020603050405020304" pitchFamily="18" charset="0"/>
                <a:cs typeface="Times New Roman" panose="02020603050405020304" pitchFamily="18" charset="0"/>
              </a:rPr>
              <a:t>臺北市大運 → 柯</a:t>
            </a:r>
            <a:r>
              <a:rPr lang="en-US" altLang="zh-TW" sz="3500" dirty="0" smtClean="0">
                <a:latin typeface="Times New Roman" panose="02020603050405020304" pitchFamily="18" charset="0"/>
                <a:cs typeface="Times New Roman" panose="02020603050405020304" pitchFamily="18" charset="0"/>
              </a:rPr>
              <a:t>P</a:t>
            </a:r>
            <a:r>
              <a:rPr lang="zh-TW" altLang="en-US" sz="3500" dirty="0" smtClean="0">
                <a:latin typeface="Times New Roman" panose="02020603050405020304" pitchFamily="18" charset="0"/>
                <a:cs typeface="Times New Roman" panose="02020603050405020304" pitchFamily="18" charset="0"/>
              </a:rPr>
              <a:t>跌倒</a:t>
            </a:r>
            <a:endParaRPr lang="en-US" altLang="zh-TW" sz="3500" dirty="0" smtClean="0">
              <a:latin typeface="Times New Roman" panose="02020603050405020304" pitchFamily="18" charset="0"/>
              <a:cs typeface="Times New Roman" panose="02020603050405020304" pitchFamily="18" charset="0"/>
            </a:endParaRPr>
          </a:p>
          <a:p>
            <a:pPr marL="0" indent="0">
              <a:buNone/>
            </a:pPr>
            <a:endParaRPr lang="en-US" altLang="zh-TW" sz="3500" dirty="0">
              <a:latin typeface="Times New Roman" panose="02020603050405020304" pitchFamily="18" charset="0"/>
              <a:cs typeface="Times New Roman" panose="02020603050405020304" pitchFamily="18" charset="0"/>
            </a:endParaRPr>
          </a:p>
          <a:p>
            <a:pPr marL="0" indent="0">
              <a:buNone/>
            </a:pPr>
            <a:endParaRPr lang="en-US" altLang="zh-TW" sz="3500" dirty="0" smtClean="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7</a:t>
            </a:fld>
            <a:endParaRPr lang="zh-TW" altLang="en-US" dirty="0"/>
          </a:p>
        </p:txBody>
      </p:sp>
    </p:spTree>
    <p:extLst>
      <p:ext uri="{BB962C8B-B14F-4D97-AF65-F5344CB8AC3E}">
        <p14:creationId xmlns:p14="http://schemas.microsoft.com/office/powerpoint/2010/main" val="37570999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lstStyle/>
          <a:p>
            <a:pPr algn="ctr"/>
            <a:r>
              <a:rPr lang="en-US" altLang="zh-TW" dirty="0" smtClean="0">
                <a:latin typeface="Times New Roman" panose="02020603050405020304" pitchFamily="18" charset="0"/>
                <a:cs typeface="Times New Roman" panose="02020603050405020304" pitchFamily="18" charset="0"/>
              </a:rPr>
              <a:t>A Latent Source Model</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383034"/>
            <a:ext cx="10515600" cy="4973316"/>
          </a:xfrm>
        </p:spPr>
        <p:txBody>
          <a:bodyPr>
            <a:normAutofit/>
          </a:bodyPr>
          <a:lstStyle/>
          <a:p>
            <a:pPr marL="0" indent="0">
              <a:buNone/>
            </a:pPr>
            <a:r>
              <a:rPr lang="en-US" altLang="zh-TW" sz="3500" dirty="0" smtClean="0">
                <a:latin typeface="Times New Roman" panose="02020603050405020304" pitchFamily="18" charset="0"/>
                <a:cs typeface="Times New Roman" panose="02020603050405020304" pitchFamily="18" charset="0"/>
              </a:rPr>
              <a:t>E.g.</a:t>
            </a:r>
          </a:p>
          <a:p>
            <a:pPr marL="0" indent="0">
              <a:buNone/>
            </a:pPr>
            <a:r>
              <a:rPr lang="zh-TW" altLang="en-US" sz="3500" dirty="0" smtClean="0">
                <a:latin typeface="Times New Roman" panose="02020603050405020304" pitchFamily="18" charset="0"/>
                <a:cs typeface="Times New Roman" panose="02020603050405020304" pitchFamily="18" charset="0"/>
              </a:rPr>
              <a:t>臺北市大運 → 柯</a:t>
            </a:r>
            <a:r>
              <a:rPr lang="en-US" altLang="zh-TW" sz="3500" dirty="0" smtClean="0">
                <a:latin typeface="Times New Roman" panose="02020603050405020304" pitchFamily="18" charset="0"/>
                <a:cs typeface="Times New Roman" panose="02020603050405020304" pitchFamily="18" charset="0"/>
              </a:rPr>
              <a:t>P</a:t>
            </a:r>
            <a:r>
              <a:rPr lang="zh-TW" altLang="en-US" sz="3500" dirty="0" smtClean="0">
                <a:latin typeface="Times New Roman" panose="02020603050405020304" pitchFamily="18" charset="0"/>
                <a:cs typeface="Times New Roman" panose="02020603050405020304" pitchFamily="18" charset="0"/>
              </a:rPr>
              <a:t>跌倒</a:t>
            </a:r>
            <a:endParaRPr lang="en-US" altLang="zh-TW" sz="3500" dirty="0" smtClean="0">
              <a:latin typeface="Times New Roman" panose="02020603050405020304" pitchFamily="18" charset="0"/>
              <a:cs typeface="Times New Roman" panose="02020603050405020304" pitchFamily="18" charset="0"/>
            </a:endParaRPr>
          </a:p>
          <a:p>
            <a:pPr marL="0" indent="0">
              <a:buNone/>
            </a:pPr>
            <a:endParaRPr lang="en-US" altLang="zh-TW" sz="3500" dirty="0">
              <a:latin typeface="Times New Roman" panose="02020603050405020304" pitchFamily="18" charset="0"/>
              <a:cs typeface="Times New Roman" panose="02020603050405020304" pitchFamily="18" charset="0"/>
            </a:endParaRPr>
          </a:p>
          <a:p>
            <a:pPr marL="0" indent="0">
              <a:buNone/>
            </a:pPr>
            <a:endParaRPr lang="en-US" altLang="zh-TW" sz="3500" dirty="0" smtClean="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8</a:t>
            </a:fld>
            <a:endParaRPr lang="zh-TW" altLang="en-US" dirty="0"/>
          </a:p>
        </p:txBody>
      </p:sp>
      <p:pic>
        <p:nvPicPr>
          <p:cNvPr id="8" name="圖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80826" y="1313498"/>
            <a:ext cx="3210087" cy="1806803"/>
          </a:xfrm>
          <a:prstGeom prst="rect">
            <a:avLst/>
          </a:prstGeom>
        </p:spPr>
      </p:pic>
    </p:spTree>
    <p:extLst>
      <p:ext uri="{BB962C8B-B14F-4D97-AF65-F5344CB8AC3E}">
        <p14:creationId xmlns:p14="http://schemas.microsoft.com/office/powerpoint/2010/main" val="3330415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lstStyle/>
          <a:p>
            <a:pPr algn="ctr"/>
            <a:r>
              <a:rPr lang="en-US" altLang="zh-TW" dirty="0" smtClean="0">
                <a:latin typeface="Times New Roman" panose="02020603050405020304" pitchFamily="18" charset="0"/>
                <a:cs typeface="Times New Roman" panose="02020603050405020304" pitchFamily="18" charset="0"/>
              </a:rPr>
              <a:t>A Latent Source Model</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383034"/>
            <a:ext cx="10515600" cy="4973316"/>
          </a:xfrm>
        </p:spPr>
        <p:txBody>
          <a:bodyPr>
            <a:normAutofit/>
          </a:bodyPr>
          <a:lstStyle/>
          <a:p>
            <a:pPr marL="0" indent="0">
              <a:buNone/>
            </a:pPr>
            <a:r>
              <a:rPr lang="en-US" altLang="zh-TW" sz="3500" dirty="0" smtClean="0">
                <a:latin typeface="Times New Roman" panose="02020603050405020304" pitchFamily="18" charset="0"/>
                <a:cs typeface="Times New Roman" panose="02020603050405020304" pitchFamily="18" charset="0"/>
              </a:rPr>
              <a:t>E.g.</a:t>
            </a:r>
          </a:p>
          <a:p>
            <a:pPr marL="0" indent="0">
              <a:buNone/>
            </a:pPr>
            <a:r>
              <a:rPr lang="zh-TW" altLang="en-US" sz="3500" dirty="0" smtClean="0">
                <a:latin typeface="Times New Roman" panose="02020603050405020304" pitchFamily="18" charset="0"/>
                <a:cs typeface="Times New Roman" panose="02020603050405020304" pitchFamily="18" charset="0"/>
              </a:rPr>
              <a:t>臺北市大運 → 柯</a:t>
            </a:r>
            <a:r>
              <a:rPr lang="en-US" altLang="zh-TW" sz="3500" dirty="0" smtClean="0">
                <a:latin typeface="Times New Roman" panose="02020603050405020304" pitchFamily="18" charset="0"/>
                <a:cs typeface="Times New Roman" panose="02020603050405020304" pitchFamily="18" charset="0"/>
              </a:rPr>
              <a:t>P</a:t>
            </a:r>
            <a:r>
              <a:rPr lang="zh-TW" altLang="en-US" sz="3500" dirty="0" smtClean="0">
                <a:latin typeface="Times New Roman" panose="02020603050405020304" pitchFamily="18" charset="0"/>
                <a:cs typeface="Times New Roman" panose="02020603050405020304" pitchFamily="18" charset="0"/>
              </a:rPr>
              <a:t>跌倒</a:t>
            </a:r>
            <a:endParaRPr lang="en-US" altLang="zh-TW" sz="3500" dirty="0" smtClean="0">
              <a:latin typeface="Times New Roman" panose="02020603050405020304" pitchFamily="18" charset="0"/>
              <a:cs typeface="Times New Roman" panose="02020603050405020304" pitchFamily="18" charset="0"/>
            </a:endParaRPr>
          </a:p>
          <a:p>
            <a:pPr marL="0" indent="0">
              <a:buNone/>
            </a:pPr>
            <a:endParaRPr lang="en-US" altLang="zh-TW" sz="3500" dirty="0">
              <a:latin typeface="Times New Roman" panose="02020603050405020304" pitchFamily="18" charset="0"/>
              <a:cs typeface="Times New Roman" panose="02020603050405020304" pitchFamily="18" charset="0"/>
            </a:endParaRPr>
          </a:p>
          <a:p>
            <a:pPr marL="0" indent="0">
              <a:buNone/>
            </a:pPr>
            <a:endParaRPr lang="en-US" altLang="zh-TW" sz="3500" dirty="0" smtClean="0">
              <a:latin typeface="Times New Roman" panose="02020603050405020304" pitchFamily="18" charset="0"/>
              <a:cs typeface="Times New Roman" panose="02020603050405020304" pitchFamily="18" charset="0"/>
            </a:endParaRPr>
          </a:p>
          <a:p>
            <a:pPr marL="0" indent="0">
              <a:buNone/>
            </a:pPr>
            <a:r>
              <a:rPr lang="zh-TW" altLang="en-US" sz="3600" dirty="0"/>
              <a:t>動物朋友</a:t>
            </a:r>
            <a:r>
              <a:rPr lang="zh-TW" altLang="en-US" sz="3500" dirty="0" smtClean="0">
                <a:latin typeface="Times New Roman" panose="02020603050405020304" pitchFamily="18" charset="0"/>
                <a:cs typeface="Times New Roman" panose="02020603050405020304" pitchFamily="18" charset="0"/>
              </a:rPr>
              <a:t>→</a:t>
            </a:r>
            <a:endParaRPr lang="en-US" altLang="zh-TW" sz="3500" dirty="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9</a:t>
            </a:fld>
            <a:endParaRPr lang="zh-TW" altLang="en-US" dirty="0"/>
          </a:p>
        </p:txBody>
      </p:sp>
      <p:pic>
        <p:nvPicPr>
          <p:cNvPr id="8" name="圖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80826" y="1313498"/>
            <a:ext cx="3210087" cy="1806803"/>
          </a:xfrm>
          <a:prstGeom prst="rect">
            <a:avLst/>
          </a:prstGeom>
        </p:spPr>
      </p:pic>
    </p:spTree>
    <p:extLst>
      <p:ext uri="{BB962C8B-B14F-4D97-AF65-F5344CB8AC3E}">
        <p14:creationId xmlns:p14="http://schemas.microsoft.com/office/powerpoint/2010/main" val="27843769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lstStyle/>
          <a:p>
            <a:pPr algn="ctr"/>
            <a:r>
              <a:rPr lang="en-US" altLang="zh-TW" dirty="0" smtClean="0">
                <a:latin typeface="Times New Roman" panose="02020603050405020304" pitchFamily="18" charset="0"/>
                <a:cs typeface="Times New Roman" panose="02020603050405020304" pitchFamily="18" charset="0"/>
              </a:rPr>
              <a:t>A Latent Source Model</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383034"/>
            <a:ext cx="10515600" cy="4973316"/>
          </a:xfrm>
        </p:spPr>
        <p:txBody>
          <a:bodyPr>
            <a:normAutofit/>
          </a:bodyPr>
          <a:lstStyle/>
          <a:p>
            <a:pPr marL="0" indent="0">
              <a:buNone/>
            </a:pPr>
            <a:r>
              <a:rPr lang="en-US" altLang="zh-TW" sz="3500" dirty="0" smtClean="0">
                <a:latin typeface="Times New Roman" panose="02020603050405020304" pitchFamily="18" charset="0"/>
                <a:cs typeface="Times New Roman" panose="02020603050405020304" pitchFamily="18" charset="0"/>
              </a:rPr>
              <a:t>E.g.</a:t>
            </a:r>
          </a:p>
          <a:p>
            <a:pPr marL="0" indent="0">
              <a:buNone/>
            </a:pPr>
            <a:r>
              <a:rPr lang="zh-TW" altLang="en-US" sz="3500" dirty="0" smtClean="0">
                <a:latin typeface="Times New Roman" panose="02020603050405020304" pitchFamily="18" charset="0"/>
                <a:cs typeface="Times New Roman" panose="02020603050405020304" pitchFamily="18" charset="0"/>
              </a:rPr>
              <a:t>臺北市大運 → 柯</a:t>
            </a:r>
            <a:r>
              <a:rPr lang="en-US" altLang="zh-TW" sz="3500" dirty="0" smtClean="0">
                <a:latin typeface="Times New Roman" panose="02020603050405020304" pitchFamily="18" charset="0"/>
                <a:cs typeface="Times New Roman" panose="02020603050405020304" pitchFamily="18" charset="0"/>
              </a:rPr>
              <a:t>P</a:t>
            </a:r>
            <a:r>
              <a:rPr lang="zh-TW" altLang="en-US" sz="3500" dirty="0" smtClean="0">
                <a:latin typeface="Times New Roman" panose="02020603050405020304" pitchFamily="18" charset="0"/>
                <a:cs typeface="Times New Roman" panose="02020603050405020304" pitchFamily="18" charset="0"/>
              </a:rPr>
              <a:t>跌倒</a:t>
            </a:r>
            <a:endParaRPr lang="en-US" altLang="zh-TW" sz="3500" dirty="0" smtClean="0">
              <a:latin typeface="Times New Roman" panose="02020603050405020304" pitchFamily="18" charset="0"/>
              <a:cs typeface="Times New Roman" panose="02020603050405020304" pitchFamily="18" charset="0"/>
            </a:endParaRPr>
          </a:p>
          <a:p>
            <a:pPr marL="0" indent="0">
              <a:buNone/>
            </a:pPr>
            <a:endParaRPr lang="en-US" altLang="zh-TW" sz="3500" dirty="0">
              <a:latin typeface="Times New Roman" panose="02020603050405020304" pitchFamily="18" charset="0"/>
              <a:cs typeface="Times New Roman" panose="02020603050405020304" pitchFamily="18" charset="0"/>
            </a:endParaRPr>
          </a:p>
          <a:p>
            <a:pPr marL="0" indent="0">
              <a:buNone/>
            </a:pPr>
            <a:endParaRPr lang="en-US" altLang="zh-TW" sz="3500" dirty="0" smtClean="0">
              <a:latin typeface="Times New Roman" panose="02020603050405020304" pitchFamily="18" charset="0"/>
              <a:cs typeface="Times New Roman" panose="02020603050405020304" pitchFamily="18" charset="0"/>
            </a:endParaRPr>
          </a:p>
          <a:p>
            <a:pPr marL="0" indent="0">
              <a:buNone/>
            </a:pPr>
            <a:r>
              <a:rPr lang="zh-TW" altLang="en-US" sz="3600" dirty="0"/>
              <a:t>動物朋友</a:t>
            </a:r>
            <a:r>
              <a:rPr lang="zh-TW" altLang="en-US" sz="3500" dirty="0" smtClean="0">
                <a:latin typeface="Times New Roman" panose="02020603050405020304" pitchFamily="18" charset="0"/>
                <a:cs typeface="Times New Roman" panose="02020603050405020304" pitchFamily="18" charset="0"/>
              </a:rPr>
              <a:t>→ 哇，是個擅長</a:t>
            </a:r>
            <a:r>
              <a:rPr lang="en-US" altLang="zh-TW" sz="3500" dirty="0" smtClean="0">
                <a:latin typeface="Times New Roman" panose="02020603050405020304" pitchFamily="18" charset="0"/>
                <a:cs typeface="Times New Roman" panose="02020603050405020304" pitchFamily="18" charset="0"/>
              </a:rPr>
              <a:t>___</a:t>
            </a:r>
            <a:r>
              <a:rPr lang="zh-TW" altLang="en-US" sz="3500" dirty="0" smtClean="0">
                <a:latin typeface="Times New Roman" panose="02020603050405020304" pitchFamily="18" charset="0"/>
                <a:cs typeface="Times New Roman" panose="02020603050405020304" pitchFamily="18" charset="0"/>
              </a:rPr>
              <a:t>的朋友呢</a:t>
            </a:r>
            <a:r>
              <a:rPr lang="en-US" altLang="zh-TW" sz="3500" dirty="0" smtClean="0">
                <a:latin typeface="Times New Roman" panose="02020603050405020304" pitchFamily="18" charset="0"/>
                <a:cs typeface="Times New Roman" panose="02020603050405020304" pitchFamily="18" charset="0"/>
              </a:rPr>
              <a:t>!</a:t>
            </a:r>
            <a:endParaRPr lang="en-US" altLang="zh-TW" sz="3500" dirty="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10</a:t>
            </a:fld>
            <a:endParaRPr lang="zh-TW" altLang="en-US" dirty="0"/>
          </a:p>
        </p:txBody>
      </p:sp>
      <p:pic>
        <p:nvPicPr>
          <p:cNvPr id="8" name="圖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80826" y="1313498"/>
            <a:ext cx="3210087" cy="1806803"/>
          </a:xfrm>
          <a:prstGeom prst="rect">
            <a:avLst/>
          </a:prstGeom>
        </p:spPr>
      </p:pic>
    </p:spTree>
    <p:extLst>
      <p:ext uri="{BB962C8B-B14F-4D97-AF65-F5344CB8AC3E}">
        <p14:creationId xmlns:p14="http://schemas.microsoft.com/office/powerpoint/2010/main" val="210133872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lstStyle/>
          <a:p>
            <a:pPr algn="ctr"/>
            <a:r>
              <a:rPr lang="en-US" altLang="zh-TW" dirty="0" smtClean="0">
                <a:latin typeface="Times New Roman" panose="02020603050405020304" pitchFamily="18" charset="0"/>
                <a:cs typeface="Times New Roman" panose="02020603050405020304" pitchFamily="18" charset="0"/>
              </a:rPr>
              <a:t>Nearest-neighbor classifier</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235675"/>
                <a:ext cx="10958384" cy="5485800"/>
              </a:xfrm>
            </p:spPr>
            <p:txBody>
              <a:bodyPr>
                <a:normAutofit/>
              </a:bodyPr>
              <a:lstStyle/>
              <a:p>
                <a:pPr marL="0" indent="0">
                  <a:buNone/>
                </a:pPr>
                <a:r>
                  <a:rPr lang="en-US" altLang="zh-TW" dirty="0" smtClean="0">
                    <a:latin typeface="Times New Roman" panose="02020603050405020304" pitchFamily="18" charset="0"/>
                    <a:cs typeface="Times New Roman" panose="02020603050405020304" pitchFamily="18" charset="0"/>
                  </a:rPr>
                  <a:t>In k-NN classification, the output is a class membership. An object is classified by a majority vote of its neighbors.</a:t>
                </a:r>
              </a:p>
              <a:p>
                <a:pPr marL="0" indent="0">
                  <a:buNone/>
                </a:pPr>
                <a:r>
                  <a:rPr lang="en-US" altLang="zh-TW" dirty="0" smtClean="0">
                    <a:latin typeface="Cambria Math" panose="02040503050406030204" pitchFamily="18" charset="0"/>
                    <a:cs typeface="Times New Roman" panose="02020603050405020304" pitchFamily="18" charset="0"/>
                  </a:rPr>
                  <a:t>k=1 </a:t>
                </a:r>
                <a:r>
                  <a:rPr lang="zh-TW" altLang="en-US" dirty="0" smtClean="0">
                    <a:latin typeface="Cambria Math" panose="02040503050406030204" pitchFamily="18" charset="0"/>
                    <a:cs typeface="Times New Roman" panose="02020603050405020304" pitchFamily="18" charset="0"/>
                  </a:rPr>
                  <a:t>→ </a:t>
                </a:r>
                <a:endParaRPr lang="en-US" altLang="zh-TW" dirty="0" smtClean="0">
                  <a:latin typeface="Cambria Math" panose="02040503050406030204" pitchFamily="18" charset="0"/>
                  <a:cs typeface="Times New Roman" panose="02020603050405020304" pitchFamily="18" charset="0"/>
                </a:endParaRPr>
              </a:p>
              <a:p>
                <a:pPr marL="0" indent="0">
                  <a:buNone/>
                </a:pPr>
                <a:r>
                  <a:rPr lang="en-US" altLang="zh-TW" dirty="0" smtClean="0">
                    <a:latin typeface="Cambria Math" panose="02040503050406030204" pitchFamily="18" charset="0"/>
                    <a:cs typeface="Times New Roman" panose="02020603050405020304" pitchFamily="18" charset="0"/>
                  </a:rPr>
                  <a:t>k=3 </a:t>
                </a:r>
                <a:r>
                  <a:rPr lang="zh-TW" altLang="en-US" dirty="0" smtClean="0">
                    <a:latin typeface="Cambria Math" panose="02040503050406030204" pitchFamily="18" charset="0"/>
                    <a:cs typeface="Times New Roman" panose="02020603050405020304" pitchFamily="18" charset="0"/>
                  </a:rPr>
                  <a:t>→ </a:t>
                </a:r>
                <a:endParaRPr lang="en-US" altLang="zh-TW" dirty="0" smtClean="0">
                  <a:latin typeface="Cambria Math" panose="02040503050406030204" pitchFamily="18" charset="0"/>
                  <a:cs typeface="Times New Roman" panose="02020603050405020304" pitchFamily="18" charset="0"/>
                </a:endParaRPr>
              </a:p>
              <a:p>
                <a:pPr marL="0" indent="0">
                  <a:buNone/>
                </a:pPr>
                <a:r>
                  <a:rPr lang="en-US" altLang="zh-TW" dirty="0" smtClean="0">
                    <a:latin typeface="Cambria Math" panose="02040503050406030204" pitchFamily="18" charset="0"/>
                    <a:cs typeface="Times New Roman" panose="02020603050405020304" pitchFamily="18" charset="0"/>
                  </a:rPr>
                  <a:t>k=7</a:t>
                </a:r>
                <a:r>
                  <a:rPr lang="zh-TW" altLang="en-US" dirty="0" smtClean="0">
                    <a:latin typeface="Cambria Math" panose="02040503050406030204" pitchFamily="18" charset="0"/>
                    <a:cs typeface="Times New Roman" panose="02020603050405020304" pitchFamily="18" charset="0"/>
                  </a:rPr>
                  <a:t> → </a:t>
                </a:r>
                <a:endParaRPr lang="en-US" altLang="zh-TW" dirty="0">
                  <a:latin typeface="Cambria Math" panose="02040503050406030204" pitchFamily="18" charset="0"/>
                  <a:cs typeface="Times New Roman" panose="02020603050405020304" pitchFamily="18" charset="0"/>
                </a:endParaRPr>
              </a:p>
              <a:p>
                <a:pPr marL="0" indent="0">
                  <a:buNone/>
                </a:pPr>
                <a:endParaRPr lang="en-US" altLang="zh-TW" dirty="0" smtClean="0">
                  <a:latin typeface="Cambria Math" panose="02040503050406030204" pitchFamily="18" charset="0"/>
                  <a:cs typeface="Times New Roman" panose="02020603050405020304" pitchFamily="18" charset="0"/>
                </a:endParaRPr>
              </a:p>
              <a:p>
                <a:pPr marL="0" indent="0">
                  <a:buNone/>
                </a:pPr>
                <a:endParaRPr lang="en-US" altLang="zh-TW" dirty="0" smtClean="0">
                  <a:latin typeface="Cambria Math" panose="020405030504060302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Let </a:t>
                </a:r>
                <a14:m>
                  <m:oMath xmlns:m="http://schemas.openxmlformats.org/officeDocument/2006/math">
                    <m:acc>
                      <m:accPr>
                        <m:chr m:val="̂"/>
                        <m:ctrlPr>
                          <a:rPr lang="en-US" altLang="zh-TW" i="1">
                            <a:latin typeface="Cambria Math" panose="02040503050406030204" pitchFamily="18" charset="0"/>
                            <a:cs typeface="Times New Roman" panose="02020603050405020304" pitchFamily="18" charset="0"/>
                          </a:rPr>
                        </m:ctrlPr>
                      </m:accPr>
                      <m:e>
                        <m:r>
                          <a:rPr lang="en-US" altLang="zh-TW" i="1">
                            <a:latin typeface="Cambria Math" panose="02040503050406030204" pitchFamily="18" charset="0"/>
                            <a:cs typeface="Times New Roman" panose="02020603050405020304" pitchFamily="18" charset="0"/>
                          </a:rPr>
                          <m:t>𝑟</m:t>
                        </m:r>
                      </m:e>
                    </m:acc>
                  </m:oMath>
                </a14:m>
                <a:r>
                  <a:rPr lang="en-US" altLang="zh-TW" i="1" dirty="0">
                    <a:latin typeface="Cambria Math" panose="02040503050406030204" pitchFamily="18" charset="0"/>
                    <a:cs typeface="Times New Roman" panose="02020603050405020304" pitchFamily="18" charset="0"/>
                  </a:rPr>
                  <a:t> </a:t>
                </a:r>
                <a:r>
                  <a:rPr lang="en-US" altLang="zh-TW" dirty="0">
                    <a:latin typeface="Cambria Math" panose="02040503050406030204" pitchFamily="18" charset="0"/>
                    <a:cs typeface="Times New Roman" panose="02020603050405020304" pitchFamily="18" charset="0"/>
                  </a:rPr>
                  <a:t>= </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func>
                          <m:funcPr>
                            <m:ctrlPr>
                              <a:rPr lang="en-US" altLang="zh-TW" i="1">
                                <a:latin typeface="Cambria Math" panose="02040503050406030204" pitchFamily="18" charset="0"/>
                                <a:cs typeface="Times New Roman" panose="02020603050405020304" pitchFamily="18" charset="0"/>
                              </a:rPr>
                            </m:ctrlPr>
                          </m:funcPr>
                          <m:fName>
                            <m:r>
                              <m:rPr>
                                <m:sty m:val="p"/>
                              </m:rPr>
                              <a:rPr lang="en-US" altLang="zh-TW">
                                <a:latin typeface="Cambria Math" panose="02040503050406030204" pitchFamily="18" charset="0"/>
                                <a:cs typeface="Times New Roman" panose="02020603050405020304" pitchFamily="18" charset="0"/>
                              </a:rPr>
                              <m:t>arg</m:t>
                            </m:r>
                          </m:fName>
                          <m:e>
                            <m:r>
                              <a:rPr lang="en-US" altLang="zh-TW" i="1">
                                <a:latin typeface="Cambria Math" panose="02040503050406030204" pitchFamily="18" charset="0"/>
                                <a:cs typeface="Times New Roman" panose="02020603050405020304" pitchFamily="18" charset="0"/>
                              </a:rPr>
                              <m:t>𝑚𝑖𝑛</m:t>
                            </m:r>
                          </m:e>
                        </m:func>
                      </m:e>
                      <m:sub>
                        <m:r>
                          <a:rPr lang="en-US" altLang="zh-TW" i="1">
                            <a:latin typeface="Cambria Math" panose="02040503050406030204" pitchFamily="18" charset="0"/>
                            <a:cs typeface="Times New Roman" panose="02020603050405020304" pitchFamily="18" charset="0"/>
                          </a:rPr>
                          <m:t>𝑟</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𝑅</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m:t>
                            </m:r>
                          </m:sub>
                        </m:sSub>
                        <m:r>
                          <a:rPr lang="en-US" altLang="zh-TW"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𝑅</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m:t>
                            </m:r>
                          </m:sub>
                        </m:sSub>
                      </m:sub>
                    </m:sSub>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𝑑</m:t>
                        </m:r>
                      </m:e>
                      <m:sup>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𝑇</m:t>
                            </m:r>
                          </m:e>
                        </m:d>
                      </m:sup>
                    </m:sSup>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𝑟</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oMath>
                </a14:m>
                <a:r>
                  <a:rPr lang="en-US" altLang="zh-TW" dirty="0" smtClean="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be the nearest neighbor of </a:t>
                </a:r>
                <a:r>
                  <a:rPr lang="en-US" altLang="zh-TW" dirty="0" smtClean="0">
                    <a:latin typeface="Times New Roman" panose="02020603050405020304" pitchFamily="18" charset="0"/>
                    <a:cs typeface="Times New Roman" panose="02020603050405020304" pitchFamily="18" charset="0"/>
                  </a:rPr>
                  <a:t>s</a:t>
                </a:r>
              </a:p>
              <a:p>
                <a:pPr marL="0" indent="0">
                  <a:buNone/>
                </a:pPr>
                <a:endParaRPr lang="en-US" altLang="zh-TW" dirty="0" smtClean="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sSubSup>
                        <m:sSubSupPr>
                          <m:ctrlPr>
                            <a:rPr lang="en-US" altLang="zh-TW" i="1" dirty="0" smtClean="0">
                              <a:latin typeface="Cambria Math" panose="02040503050406030204" pitchFamily="18" charset="0"/>
                              <a:cs typeface="Times New Roman" panose="02020603050405020304" pitchFamily="18" charset="0"/>
                            </a:rPr>
                          </m:ctrlPr>
                        </m:sSubSupPr>
                        <m:e>
                          <m:acc>
                            <m:accPr>
                              <m:chr m:val="̂"/>
                              <m:ctrlPr>
                                <a:rPr lang="en-US" altLang="zh-TW" i="1" dirty="0">
                                  <a:latin typeface="Cambria Math" panose="02040503050406030204" pitchFamily="18" charset="0"/>
                                  <a:cs typeface="Times New Roman" panose="02020603050405020304" pitchFamily="18" charset="0"/>
                                </a:rPr>
                              </m:ctrlPr>
                            </m:accPr>
                            <m:e>
                              <m:r>
                                <a:rPr lang="en-US" altLang="zh-TW" i="1" dirty="0">
                                  <a:latin typeface="Cambria Math" panose="02040503050406030204" pitchFamily="18" charset="0"/>
                                  <a:cs typeface="Times New Roman" panose="02020603050405020304" pitchFamily="18" charset="0"/>
                                </a:rPr>
                                <m:t>𝐿</m:t>
                              </m:r>
                            </m:e>
                          </m:acc>
                        </m:e>
                        <m:sub>
                          <m:r>
                            <a:rPr lang="en-US" altLang="zh-TW" b="0" i="1" dirty="0" smtClean="0">
                              <a:latin typeface="Cambria Math" panose="02040503050406030204" pitchFamily="18" charset="0"/>
                              <a:cs typeface="Times New Roman" panose="02020603050405020304" pitchFamily="18" charset="0"/>
                            </a:rPr>
                            <m:t>𝑁𝑁</m:t>
                          </m:r>
                        </m:sub>
                        <m:sup>
                          <m:d>
                            <m:dPr>
                              <m:ctrlPr>
                                <a:rPr lang="en-US" altLang="zh-TW" b="0" i="1" dirty="0" smtClean="0">
                                  <a:latin typeface="Cambria Math" panose="02040503050406030204" pitchFamily="18" charset="0"/>
                                  <a:cs typeface="Times New Roman" panose="02020603050405020304" pitchFamily="18" charset="0"/>
                                </a:rPr>
                              </m:ctrlPr>
                            </m:dPr>
                            <m:e>
                              <m:r>
                                <a:rPr lang="en-US" altLang="zh-TW" b="0" i="1" dirty="0" smtClean="0">
                                  <a:latin typeface="Cambria Math" panose="02040503050406030204" pitchFamily="18" charset="0"/>
                                  <a:cs typeface="Times New Roman" panose="02020603050405020304" pitchFamily="18" charset="0"/>
                                </a:rPr>
                                <m:t>𝑇</m:t>
                              </m:r>
                            </m:e>
                          </m:d>
                        </m:sup>
                      </m:sSubSup>
                      <m:d>
                        <m:dPr>
                          <m:ctrlPr>
                            <a:rPr lang="en-US" altLang="zh-TW" b="0" i="1" dirty="0" smtClean="0">
                              <a:latin typeface="Cambria Math" panose="02040503050406030204" pitchFamily="18" charset="0"/>
                              <a:cs typeface="Times New Roman" panose="02020603050405020304" pitchFamily="18" charset="0"/>
                            </a:rPr>
                          </m:ctrlPr>
                        </m:dPr>
                        <m:e>
                          <m:r>
                            <a:rPr lang="en-US" altLang="zh-TW" b="0" i="1" dirty="0" smtClean="0">
                              <a:latin typeface="Cambria Math" panose="02040503050406030204" pitchFamily="18" charset="0"/>
                              <a:cs typeface="Times New Roman" panose="02020603050405020304" pitchFamily="18" charset="0"/>
                            </a:rPr>
                            <m:t>𝑆</m:t>
                          </m:r>
                        </m:e>
                      </m:d>
                      <m:r>
                        <a:rPr lang="en-US" altLang="zh-TW" b="0" i="1" dirty="0" smtClean="0">
                          <a:latin typeface="Cambria Math" panose="02040503050406030204" pitchFamily="18" charset="0"/>
                          <a:cs typeface="Times New Roman" panose="02020603050405020304" pitchFamily="18" charset="0"/>
                        </a:rPr>
                        <m:t>=</m:t>
                      </m:r>
                      <m:d>
                        <m:dPr>
                          <m:begChr m:val="{"/>
                          <m:endChr m:val=""/>
                          <m:ctrlPr>
                            <a:rPr lang="en-US" altLang="zh-TW" b="0" i="1" dirty="0" smtClean="0">
                              <a:latin typeface="Cambria Math" panose="02040503050406030204" pitchFamily="18" charset="0"/>
                              <a:cs typeface="Times New Roman" panose="02020603050405020304" pitchFamily="18" charset="0"/>
                            </a:rPr>
                          </m:ctrlPr>
                        </m:dPr>
                        <m:e>
                          <m:eqArr>
                            <m:eqArrPr>
                              <m:ctrlPr>
                                <a:rPr lang="en-US" altLang="zh-TW" b="0" i="1" dirty="0" smtClean="0">
                                  <a:latin typeface="Cambria Math" panose="02040503050406030204" pitchFamily="18" charset="0"/>
                                  <a:cs typeface="Times New Roman" panose="02020603050405020304" pitchFamily="18" charset="0"/>
                                </a:rPr>
                              </m:ctrlPr>
                            </m:eqArrPr>
                            <m:e>
                              <m:r>
                                <a:rPr lang="en-US" altLang="zh-TW" b="0" i="1" dirty="0" smtClean="0">
                                  <a:latin typeface="Cambria Math" panose="02040503050406030204" pitchFamily="18" charset="0"/>
                                  <a:cs typeface="Times New Roman" panose="02020603050405020304" pitchFamily="18" charset="0"/>
                                </a:rPr>
                                <m:t>+1  </m:t>
                              </m:r>
                              <m:r>
                                <a:rPr lang="en-US" altLang="zh-TW" b="0" i="1" dirty="0" smtClean="0">
                                  <a:latin typeface="Cambria Math" panose="02040503050406030204" pitchFamily="18" charset="0"/>
                                  <a:cs typeface="Times New Roman" panose="02020603050405020304" pitchFamily="18" charset="0"/>
                                </a:rPr>
                                <m:t>𝑖𝑓</m:t>
                              </m:r>
                              <m:r>
                                <a:rPr lang="en-US" altLang="zh-TW" b="0" i="1" dirty="0" smtClean="0">
                                  <a:latin typeface="Cambria Math" panose="02040503050406030204" pitchFamily="18" charset="0"/>
                                  <a:cs typeface="Times New Roman" panose="02020603050405020304" pitchFamily="18" charset="0"/>
                                </a:rPr>
                                <m:t> </m:t>
                              </m:r>
                              <m:acc>
                                <m:accPr>
                                  <m:chr m:val="̂"/>
                                  <m:ctrlPr>
                                    <a:rPr lang="en-US" altLang="zh-TW" b="0" i="1" dirty="0" smtClean="0">
                                      <a:latin typeface="Cambria Math" panose="02040503050406030204" pitchFamily="18" charset="0"/>
                                      <a:cs typeface="Times New Roman" panose="02020603050405020304" pitchFamily="18" charset="0"/>
                                    </a:rPr>
                                  </m:ctrlPr>
                                </m:accPr>
                                <m:e>
                                  <m:r>
                                    <a:rPr lang="en-US" altLang="zh-TW" b="0" i="1" dirty="0" smtClean="0">
                                      <a:latin typeface="Cambria Math" panose="02040503050406030204" pitchFamily="18" charset="0"/>
                                      <a:cs typeface="Times New Roman" panose="02020603050405020304" pitchFamily="18" charset="0"/>
                                    </a:rPr>
                                    <m:t>𝑟</m:t>
                                  </m:r>
                                </m:e>
                              </m:acc>
                              <m:r>
                                <a:rPr lang="en-US" altLang="zh-TW" i="1" dirty="0"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dirty="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ea typeface="Cambria Math" panose="02040503050406030204" pitchFamily="18" charset="0"/>
                                      <a:cs typeface="Times New Roman" panose="02020603050405020304" pitchFamily="18" charset="0"/>
                                    </a:rPr>
                                    <m:t>𝑅</m:t>
                                  </m:r>
                                </m:e>
                                <m:sub>
                                  <m:r>
                                    <a:rPr lang="en-US" altLang="zh-TW" b="0" i="1" dirty="0" smtClean="0">
                                      <a:latin typeface="Cambria Math" panose="02040503050406030204" pitchFamily="18" charset="0"/>
                                      <a:ea typeface="Cambria Math" panose="02040503050406030204" pitchFamily="18" charset="0"/>
                                      <a:cs typeface="Times New Roman" panose="02020603050405020304" pitchFamily="18" charset="0"/>
                                    </a:rPr>
                                    <m:t>+</m:t>
                                  </m:r>
                                </m:sub>
                              </m:sSub>
                            </m:e>
                            <m:e>
                              <m:r>
                                <a:rPr lang="en-US" altLang="zh-TW" i="1" dirty="0">
                                  <a:latin typeface="Cambria Math" panose="02040503050406030204" pitchFamily="18" charset="0"/>
                                  <a:cs typeface="Times New Roman" panose="02020603050405020304" pitchFamily="18" charset="0"/>
                                </a:rPr>
                                <m:t>−1 </m:t>
                              </m:r>
                              <m:r>
                                <a:rPr lang="en-US" altLang="zh-TW" b="0" i="1" dirty="0" smtClean="0">
                                  <a:latin typeface="Cambria Math" panose="02040503050406030204" pitchFamily="18" charset="0"/>
                                  <a:cs typeface="Times New Roman" panose="02020603050405020304" pitchFamily="18" charset="0"/>
                                </a:rPr>
                                <m:t> </m:t>
                              </m:r>
                              <m:r>
                                <a:rPr lang="en-US" altLang="zh-TW" i="1" dirty="0">
                                  <a:latin typeface="Cambria Math" panose="02040503050406030204" pitchFamily="18" charset="0"/>
                                  <a:cs typeface="Times New Roman" panose="02020603050405020304" pitchFamily="18" charset="0"/>
                                </a:rPr>
                                <m:t>𝑖𝑓</m:t>
                              </m:r>
                              <m:r>
                                <a:rPr lang="en-US" altLang="zh-TW" i="1" dirty="0">
                                  <a:latin typeface="Cambria Math" panose="02040503050406030204" pitchFamily="18" charset="0"/>
                                  <a:cs typeface="Times New Roman" panose="02020603050405020304" pitchFamily="18" charset="0"/>
                                </a:rPr>
                                <m:t> </m:t>
                              </m:r>
                              <m:acc>
                                <m:accPr>
                                  <m:chr m:val="̂"/>
                                  <m:ctrlPr>
                                    <a:rPr lang="en-US" altLang="zh-TW" i="1" dirty="0">
                                      <a:latin typeface="Cambria Math" panose="02040503050406030204" pitchFamily="18" charset="0"/>
                                      <a:cs typeface="Times New Roman" panose="02020603050405020304" pitchFamily="18" charset="0"/>
                                    </a:rPr>
                                  </m:ctrlPr>
                                </m:accPr>
                                <m:e>
                                  <m:r>
                                    <a:rPr lang="en-US" altLang="zh-TW" i="1" dirty="0">
                                      <a:latin typeface="Cambria Math" panose="02040503050406030204" pitchFamily="18" charset="0"/>
                                      <a:cs typeface="Times New Roman" panose="02020603050405020304" pitchFamily="18" charset="0"/>
                                    </a:rPr>
                                    <m:t>𝑟</m:t>
                                  </m:r>
                                </m:e>
                              </m:acc>
                              <m:r>
                                <a:rPr lang="en-US" altLang="zh-TW" i="1" dirty="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dirty="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dirty="0">
                                      <a:latin typeface="Cambria Math" panose="02040503050406030204" pitchFamily="18" charset="0"/>
                                      <a:ea typeface="Cambria Math" panose="02040503050406030204" pitchFamily="18" charset="0"/>
                                      <a:cs typeface="Times New Roman" panose="02020603050405020304" pitchFamily="18" charset="0"/>
                                    </a:rPr>
                                    <m:t>𝑅</m:t>
                                  </m:r>
                                </m:e>
                                <m:sub>
                                  <m:r>
                                    <a:rPr lang="en-US" altLang="zh-TW" b="0" i="1" dirty="0" smtClean="0">
                                      <a:latin typeface="Cambria Math" panose="02040503050406030204" pitchFamily="18" charset="0"/>
                                      <a:ea typeface="Cambria Math" panose="02040503050406030204" pitchFamily="18" charset="0"/>
                                      <a:cs typeface="Times New Roman" panose="02020603050405020304" pitchFamily="18" charset="0"/>
                                    </a:rPr>
                                    <m:t>−</m:t>
                                  </m:r>
                                </m:sub>
                              </m:sSub>
                            </m:e>
                          </m:eqArr>
                        </m:e>
                      </m:d>
                    </m:oMath>
                  </m:oMathPara>
                </a14:m>
                <a:endParaRPr lang="en-US" altLang="zh-TW"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235675"/>
                <a:ext cx="10958384" cy="5485800"/>
              </a:xfrm>
              <a:blipFill rotWithShape="0">
                <a:blip r:embed="rId2"/>
                <a:stretch>
                  <a:fillRect l="-1169" t="-2000"/>
                </a:stretch>
              </a:blipFill>
            </p:spPr>
            <p:txBody>
              <a:bodyPr/>
              <a:lstStyle/>
              <a:p>
                <a:r>
                  <a:rPr lang="zh-TW" altLang="en-US">
                    <a:noFill/>
                  </a:rPr>
                  <a:t> </a:t>
                </a:r>
              </a:p>
            </p:txBody>
          </p:sp>
        </mc:Fallback>
      </mc:AlternateContent>
      <p:sp>
        <p:nvSpPr>
          <p:cNvPr id="5" name="投影片編號版面配置區 4"/>
          <p:cNvSpPr>
            <a:spLocks noGrp="1"/>
          </p:cNvSpPr>
          <p:nvPr>
            <p:ph type="sldNum" sz="quarter" idx="12"/>
          </p:nvPr>
        </p:nvSpPr>
        <p:spPr/>
        <p:txBody>
          <a:bodyPr/>
          <a:lstStyle/>
          <a:p>
            <a:fld id="{C8A97ABC-EF3A-4183-AE2C-72E330AF586D}" type="slidenum">
              <a:rPr lang="zh-TW" altLang="en-US" smtClean="0"/>
              <a:t>11</a:t>
            </a:fld>
            <a:endParaRPr lang="zh-TW" altLang="en-US" dirty="0"/>
          </a:p>
        </p:txBody>
      </p:sp>
      <p:sp>
        <p:nvSpPr>
          <p:cNvPr id="30" name="等腰三角形 29"/>
          <p:cNvSpPr/>
          <p:nvPr/>
        </p:nvSpPr>
        <p:spPr>
          <a:xfrm>
            <a:off x="2222688" y="2273930"/>
            <a:ext cx="164757" cy="142032"/>
          </a:xfrm>
          <a:prstGeom prst="triangl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等腰三角形 30"/>
          <p:cNvSpPr/>
          <p:nvPr/>
        </p:nvSpPr>
        <p:spPr>
          <a:xfrm>
            <a:off x="2222687" y="3305186"/>
            <a:ext cx="164757" cy="142032"/>
          </a:xfrm>
          <a:prstGeom prst="triangl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矩形 31"/>
          <p:cNvSpPr/>
          <p:nvPr/>
        </p:nvSpPr>
        <p:spPr>
          <a:xfrm>
            <a:off x="2249459" y="2804968"/>
            <a:ext cx="111211" cy="111211"/>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4" name="群組 23"/>
          <p:cNvGrpSpPr/>
          <p:nvPr/>
        </p:nvGrpSpPr>
        <p:grpSpPr>
          <a:xfrm>
            <a:off x="8610600" y="1898598"/>
            <a:ext cx="2016507" cy="2217786"/>
            <a:chOff x="9709818" y="2424692"/>
            <a:chExt cx="2016507" cy="2217786"/>
          </a:xfrm>
        </p:grpSpPr>
        <p:sp>
          <p:nvSpPr>
            <p:cNvPr id="33" name="橢圓 32"/>
            <p:cNvSpPr/>
            <p:nvPr/>
          </p:nvSpPr>
          <p:spPr>
            <a:xfrm>
              <a:off x="10091351" y="3105665"/>
              <a:ext cx="1021492" cy="102149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橢圓 33"/>
            <p:cNvSpPr/>
            <p:nvPr/>
          </p:nvSpPr>
          <p:spPr>
            <a:xfrm>
              <a:off x="9709818" y="2724131"/>
              <a:ext cx="1784553" cy="1784553"/>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等腰三角形 34"/>
            <p:cNvSpPr/>
            <p:nvPr/>
          </p:nvSpPr>
          <p:spPr>
            <a:xfrm>
              <a:off x="10233453" y="2894606"/>
              <a:ext cx="164757" cy="142032"/>
            </a:xfrm>
            <a:prstGeom prst="triangl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矩形 35"/>
            <p:cNvSpPr/>
            <p:nvPr/>
          </p:nvSpPr>
          <p:spPr>
            <a:xfrm>
              <a:off x="10822458" y="3410510"/>
              <a:ext cx="111211" cy="111211"/>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等腰三角形 36"/>
            <p:cNvSpPr/>
            <p:nvPr/>
          </p:nvSpPr>
          <p:spPr>
            <a:xfrm>
              <a:off x="10359079" y="3616407"/>
              <a:ext cx="164757" cy="142032"/>
            </a:xfrm>
            <a:prstGeom prst="triangl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矩形 37"/>
            <p:cNvSpPr/>
            <p:nvPr/>
          </p:nvSpPr>
          <p:spPr>
            <a:xfrm>
              <a:off x="10766853" y="3802898"/>
              <a:ext cx="111211" cy="111211"/>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橢圓 38"/>
            <p:cNvSpPr/>
            <p:nvPr/>
          </p:nvSpPr>
          <p:spPr>
            <a:xfrm>
              <a:off x="10523836" y="3538149"/>
              <a:ext cx="156519" cy="156519"/>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a:t>
              </a:r>
              <a:endParaRPr lang="zh-TW" altLang="en-US" dirty="0"/>
            </a:p>
          </p:txBody>
        </p:sp>
        <p:sp>
          <p:nvSpPr>
            <p:cNvPr id="40" name="矩形 39"/>
            <p:cNvSpPr/>
            <p:nvPr/>
          </p:nvSpPr>
          <p:spPr>
            <a:xfrm>
              <a:off x="11166386" y="3105665"/>
              <a:ext cx="111211" cy="111211"/>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等腰三角形 40"/>
            <p:cNvSpPr/>
            <p:nvPr/>
          </p:nvSpPr>
          <p:spPr>
            <a:xfrm>
              <a:off x="9830561" y="3731882"/>
              <a:ext cx="164757" cy="142032"/>
            </a:xfrm>
            <a:prstGeom prst="triangl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等腰三角形 41"/>
            <p:cNvSpPr/>
            <p:nvPr/>
          </p:nvSpPr>
          <p:spPr>
            <a:xfrm>
              <a:off x="10602096" y="4224321"/>
              <a:ext cx="164757" cy="142032"/>
            </a:xfrm>
            <a:prstGeom prst="triangl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矩形 42"/>
            <p:cNvSpPr/>
            <p:nvPr/>
          </p:nvSpPr>
          <p:spPr>
            <a:xfrm>
              <a:off x="11438765" y="2734428"/>
              <a:ext cx="111211" cy="111211"/>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矩形 43"/>
            <p:cNvSpPr/>
            <p:nvPr/>
          </p:nvSpPr>
          <p:spPr>
            <a:xfrm>
              <a:off x="11615114" y="3829825"/>
              <a:ext cx="111211" cy="111211"/>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等腰三角形 44"/>
            <p:cNvSpPr/>
            <p:nvPr/>
          </p:nvSpPr>
          <p:spPr>
            <a:xfrm>
              <a:off x="9926594" y="2424692"/>
              <a:ext cx="176414" cy="152081"/>
            </a:xfrm>
            <a:prstGeom prst="triangl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00" dirty="0"/>
            </a:p>
          </p:txBody>
        </p:sp>
        <p:sp>
          <p:nvSpPr>
            <p:cNvPr id="46" name="等腰三角形 45"/>
            <p:cNvSpPr/>
            <p:nvPr/>
          </p:nvSpPr>
          <p:spPr>
            <a:xfrm>
              <a:off x="11259328" y="4500446"/>
              <a:ext cx="164757" cy="142032"/>
            </a:xfrm>
            <a:prstGeom prst="triangl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21184152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lstStyle/>
          <a:p>
            <a:pPr algn="ctr"/>
            <a:r>
              <a:rPr lang="en-US" altLang="zh-TW" dirty="0" smtClean="0">
                <a:latin typeface="Times New Roman" panose="02020603050405020304" pitchFamily="18" charset="0"/>
                <a:cs typeface="Times New Roman" panose="02020603050405020304" pitchFamily="18" charset="0"/>
              </a:rPr>
              <a:t>Weighted Majority Voting</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838200" y="1383033"/>
                <a:ext cx="10515600" cy="5212319"/>
              </a:xfrm>
            </p:spPr>
            <p:txBody>
              <a:bodyPr>
                <a:normAutofit lnSpcReduction="10000"/>
              </a:bodyPr>
              <a:lstStyle/>
              <a:p>
                <a:pPr marL="0" indent="0">
                  <a:buNone/>
                </a:pPr>
                <a:r>
                  <a:rPr lang="en-US" altLang="zh-TW" sz="3000" b="0" dirty="0" smtClean="0">
                    <a:latin typeface="Times New Roman" panose="02020603050405020304" pitchFamily="18" charset="0"/>
                    <a:cs typeface="Times New Roman" panose="02020603050405020304" pitchFamily="18" charset="0"/>
                  </a:rPr>
                  <a:t>Similarity measure :</a:t>
                </a:r>
              </a:p>
              <a:p>
                <a:pPr marL="0" indent="0">
                  <a:buNone/>
                </a:pPr>
                <a:endParaRPr lang="en-US" altLang="zh-TW" dirty="0"/>
              </a:p>
              <a:p>
                <a:pPr marL="0" indent="0">
                  <a:buNone/>
                </a:pPr>
                <a14:m>
                  <m:oMathPara xmlns:m="http://schemas.openxmlformats.org/officeDocument/2006/math">
                    <m:oMathParaPr>
                      <m:jc m:val="left"/>
                    </m:oMathParaPr>
                    <m:oMath xmlns:m="http://schemas.openxmlformats.org/officeDocument/2006/math">
                      <m:r>
                        <a:rPr lang="en-US" altLang="zh-TW" sz="3000" i="1">
                          <a:latin typeface="Cambria Math" panose="02040503050406030204" pitchFamily="18" charset="0"/>
                          <a:cs typeface="Times New Roman" panose="02020603050405020304" pitchFamily="18" charset="0"/>
                        </a:rPr>
                        <m:t>𝑑</m:t>
                      </m:r>
                      <m:d>
                        <m:dPr>
                          <m:ctrlPr>
                            <a:rPr lang="en-US" altLang="zh-TW" sz="3000" i="1" baseline="30000">
                              <a:latin typeface="Cambria Math" panose="02040503050406030204" pitchFamily="18" charset="0"/>
                              <a:cs typeface="Times New Roman" panose="02020603050405020304" pitchFamily="18" charset="0"/>
                            </a:rPr>
                          </m:ctrlPr>
                        </m:dPr>
                        <m:e>
                          <m:r>
                            <a:rPr lang="en-US" altLang="zh-TW" sz="3000" i="1">
                              <a:latin typeface="Cambria Math" panose="02040503050406030204" pitchFamily="18" charset="0"/>
                              <a:cs typeface="Times New Roman" panose="02020603050405020304" pitchFamily="18" charset="0"/>
                            </a:rPr>
                            <m:t>𝑇</m:t>
                          </m:r>
                        </m:e>
                      </m:d>
                      <m:d>
                        <m:dPr>
                          <m:ctrlPr>
                            <a:rPr lang="en-US" altLang="zh-TW" sz="3000" i="1">
                              <a:latin typeface="Cambria Math" panose="02040503050406030204" pitchFamily="18" charset="0"/>
                              <a:cs typeface="Times New Roman" panose="02020603050405020304" pitchFamily="18" charset="0"/>
                            </a:rPr>
                          </m:ctrlPr>
                        </m:dPr>
                        <m:e>
                          <m:r>
                            <a:rPr lang="en-US" altLang="zh-TW" sz="3000" i="1">
                              <a:latin typeface="Cambria Math" panose="02040503050406030204" pitchFamily="18" charset="0"/>
                              <a:cs typeface="Times New Roman" panose="02020603050405020304" pitchFamily="18" charset="0"/>
                            </a:rPr>
                            <m:t>𝑟</m:t>
                          </m:r>
                          <m:r>
                            <a:rPr lang="en-US" altLang="zh-TW" sz="3000" i="1">
                              <a:latin typeface="Cambria Math" panose="02040503050406030204" pitchFamily="18" charset="0"/>
                              <a:cs typeface="Times New Roman" panose="02020603050405020304" pitchFamily="18" charset="0"/>
                            </a:rPr>
                            <m:t>, </m:t>
                          </m:r>
                          <m:r>
                            <a:rPr lang="en-US" altLang="zh-TW" sz="3000" i="1">
                              <a:latin typeface="Cambria Math" panose="02040503050406030204" pitchFamily="18" charset="0"/>
                              <a:cs typeface="Times New Roman" panose="02020603050405020304" pitchFamily="18" charset="0"/>
                            </a:rPr>
                            <m:t>𝑠</m:t>
                          </m:r>
                        </m:e>
                      </m:d>
                      <m:r>
                        <a:rPr lang="en-US" altLang="zh-TW" sz="3000" i="1">
                          <a:latin typeface="Cambria Math" panose="02040503050406030204" pitchFamily="18" charset="0"/>
                          <a:cs typeface="Times New Roman" panose="02020603050405020304" pitchFamily="18" charset="0"/>
                        </a:rPr>
                        <m:t>=</m:t>
                      </m:r>
                      <m:nary>
                        <m:naryPr>
                          <m:chr m:val="∑"/>
                          <m:limLoc m:val="subSup"/>
                          <m:ctrlPr>
                            <a:rPr lang="en-US" altLang="zh-TW" sz="3000" i="1">
                              <a:latin typeface="Cambria Math" panose="02040503050406030204" pitchFamily="18" charset="0"/>
                              <a:cs typeface="Times New Roman" panose="02020603050405020304" pitchFamily="18" charset="0"/>
                            </a:rPr>
                          </m:ctrlPr>
                        </m:naryPr>
                        <m:sub>
                          <m:r>
                            <m:rPr>
                              <m:brk m:alnAt="25"/>
                            </m:rPr>
                            <a:rPr lang="en-US" altLang="zh-TW" sz="3000" i="1">
                              <a:latin typeface="Cambria Math" panose="02040503050406030204" pitchFamily="18" charset="0"/>
                              <a:cs typeface="Times New Roman" panose="02020603050405020304" pitchFamily="18" charset="0"/>
                            </a:rPr>
                            <m:t>𝑡</m:t>
                          </m:r>
                          <m:r>
                            <a:rPr lang="en-US" altLang="zh-TW" sz="3000" i="1">
                              <a:latin typeface="Cambria Math" panose="02040503050406030204" pitchFamily="18" charset="0"/>
                              <a:cs typeface="Times New Roman" panose="02020603050405020304" pitchFamily="18" charset="0"/>
                            </a:rPr>
                            <m:t>=1</m:t>
                          </m:r>
                        </m:sub>
                        <m:sup>
                          <m:r>
                            <a:rPr lang="en-US" altLang="zh-TW" sz="3000" i="1">
                              <a:latin typeface="Cambria Math" panose="02040503050406030204" pitchFamily="18" charset="0"/>
                              <a:cs typeface="Times New Roman" panose="02020603050405020304" pitchFamily="18" charset="0"/>
                            </a:rPr>
                            <m:t>𝑇</m:t>
                          </m:r>
                        </m:sup>
                        <m:e>
                          <m:d>
                            <m:dPr>
                              <m:ctrlPr>
                                <a:rPr lang="en-US" altLang="zh-TW" sz="3000" i="1">
                                  <a:latin typeface="Cambria Math" panose="02040503050406030204" pitchFamily="18" charset="0"/>
                                  <a:cs typeface="Times New Roman" panose="02020603050405020304" pitchFamily="18" charset="0"/>
                                </a:rPr>
                              </m:ctrlPr>
                            </m:dPr>
                            <m:e>
                              <m:r>
                                <a:rPr lang="en-US" altLang="zh-TW" sz="3000" i="1">
                                  <a:latin typeface="Cambria Math" panose="02040503050406030204" pitchFamily="18" charset="0"/>
                                  <a:cs typeface="Times New Roman" panose="02020603050405020304" pitchFamily="18" charset="0"/>
                                </a:rPr>
                                <m:t>𝑟</m:t>
                              </m:r>
                              <m:d>
                                <m:dPr>
                                  <m:ctrlPr>
                                    <a:rPr lang="en-US" altLang="zh-TW" sz="3000" i="1">
                                      <a:latin typeface="Cambria Math" panose="02040503050406030204" pitchFamily="18" charset="0"/>
                                      <a:cs typeface="Times New Roman" panose="02020603050405020304" pitchFamily="18" charset="0"/>
                                    </a:rPr>
                                  </m:ctrlPr>
                                </m:dPr>
                                <m:e>
                                  <m:r>
                                    <a:rPr lang="en-US" altLang="zh-TW" sz="3000" i="1">
                                      <a:latin typeface="Cambria Math" panose="02040503050406030204" pitchFamily="18" charset="0"/>
                                      <a:cs typeface="Times New Roman" panose="02020603050405020304" pitchFamily="18" charset="0"/>
                                    </a:rPr>
                                    <m:t>𝑡</m:t>
                                  </m:r>
                                </m:e>
                              </m:d>
                              <m:r>
                                <a:rPr lang="en-US" altLang="zh-TW" sz="3000" i="1">
                                  <a:latin typeface="Cambria Math" panose="02040503050406030204" pitchFamily="18" charset="0"/>
                                  <a:cs typeface="Times New Roman" panose="02020603050405020304" pitchFamily="18" charset="0"/>
                                </a:rPr>
                                <m:t>−</m:t>
                              </m:r>
                              <m:r>
                                <a:rPr lang="en-US" altLang="zh-TW" sz="3000" i="1">
                                  <a:latin typeface="Cambria Math" panose="02040503050406030204" pitchFamily="18" charset="0"/>
                                  <a:cs typeface="Times New Roman" panose="02020603050405020304" pitchFamily="18" charset="0"/>
                                </a:rPr>
                                <m:t>𝑠</m:t>
                              </m:r>
                              <m:d>
                                <m:dPr>
                                  <m:ctrlPr>
                                    <a:rPr lang="en-US" altLang="zh-TW" sz="3000" i="1">
                                      <a:latin typeface="Cambria Math" panose="02040503050406030204" pitchFamily="18" charset="0"/>
                                      <a:cs typeface="Times New Roman" panose="02020603050405020304" pitchFamily="18" charset="0"/>
                                    </a:rPr>
                                  </m:ctrlPr>
                                </m:dPr>
                                <m:e>
                                  <m:r>
                                    <a:rPr lang="en-US" altLang="zh-TW" sz="3000" i="1">
                                      <a:latin typeface="Cambria Math" panose="02040503050406030204" pitchFamily="18" charset="0"/>
                                      <a:cs typeface="Times New Roman" panose="02020603050405020304" pitchFamily="18" charset="0"/>
                                    </a:rPr>
                                    <m:t>𝑡</m:t>
                                  </m:r>
                                </m:e>
                              </m:d>
                            </m:e>
                          </m:d>
                          <m:r>
                            <a:rPr lang="en-US" altLang="zh-TW" sz="3000" i="1" baseline="30000">
                              <a:latin typeface="Cambria Math" panose="02040503050406030204" pitchFamily="18" charset="0"/>
                              <a:cs typeface="Times New Roman" panose="02020603050405020304" pitchFamily="18" charset="0"/>
                            </a:rPr>
                            <m:t>2</m:t>
                          </m:r>
                          <m:r>
                            <m:rPr>
                              <m:nor/>
                            </m:rPr>
                            <a:rPr lang="en-US" altLang="zh-TW" sz="3000" dirty="0">
                              <a:latin typeface="Times New Roman" panose="02020603050405020304" pitchFamily="18" charset="0"/>
                              <a:cs typeface="Times New Roman" panose="02020603050405020304" pitchFamily="18" charset="0"/>
                            </a:rPr>
                            <m:t>≜ </m:t>
                          </m:r>
                          <m:sSubSup>
                            <m:sSubSupPr>
                              <m:ctrlPr>
                                <a:rPr lang="en-US" altLang="zh-TW" sz="3000" i="1" dirty="0">
                                  <a:latin typeface="Cambria Math" panose="02040503050406030204" pitchFamily="18" charset="0"/>
                                  <a:cs typeface="Times New Roman" panose="02020603050405020304" pitchFamily="18" charset="0"/>
                                </a:rPr>
                              </m:ctrlPr>
                            </m:sSubSupPr>
                            <m:e>
                              <m:r>
                                <m:rPr>
                                  <m:nor/>
                                </m:rPr>
                                <a:rPr lang="en-US" altLang="zh-TW" sz="3000" dirty="0">
                                  <a:latin typeface="Times New Roman" panose="02020603050405020304" pitchFamily="18" charset="0"/>
                                  <a:cs typeface="Times New Roman" panose="02020603050405020304" pitchFamily="18" charset="0"/>
                                </a:rPr>
                                <m:t>||</m:t>
                              </m:r>
                              <m:r>
                                <m:rPr>
                                  <m:nor/>
                                </m:rPr>
                                <a:rPr lang="en-US" altLang="zh-TW" sz="3000" dirty="0">
                                  <a:latin typeface="Times New Roman" panose="02020603050405020304" pitchFamily="18" charset="0"/>
                                  <a:cs typeface="Times New Roman" panose="02020603050405020304" pitchFamily="18" charset="0"/>
                                </a:rPr>
                                <m:t>r</m:t>
                              </m:r>
                              <m:r>
                                <m:rPr>
                                  <m:nor/>
                                </m:rPr>
                                <a:rPr lang="en-US" altLang="zh-TW" sz="3000" dirty="0">
                                  <a:latin typeface="Times New Roman" panose="02020603050405020304" pitchFamily="18" charset="0"/>
                                  <a:cs typeface="Times New Roman" panose="02020603050405020304" pitchFamily="18" charset="0"/>
                                </a:rPr>
                                <m:t> − </m:t>
                              </m:r>
                              <m:r>
                                <m:rPr>
                                  <m:nor/>
                                </m:rPr>
                                <a:rPr lang="en-US" altLang="zh-TW" sz="3000" dirty="0">
                                  <a:latin typeface="Times New Roman" panose="02020603050405020304" pitchFamily="18" charset="0"/>
                                  <a:cs typeface="Times New Roman" panose="02020603050405020304" pitchFamily="18" charset="0"/>
                                </a:rPr>
                                <m:t>s</m:t>
                              </m:r>
                              <m:r>
                                <m:rPr>
                                  <m:nor/>
                                </m:rPr>
                                <a:rPr lang="en-US" altLang="zh-TW" sz="3000" dirty="0">
                                  <a:latin typeface="Times New Roman" panose="02020603050405020304" pitchFamily="18" charset="0"/>
                                  <a:cs typeface="Times New Roman" panose="02020603050405020304" pitchFamily="18" charset="0"/>
                                </a:rPr>
                                <m:t>||</m:t>
                              </m:r>
                            </m:e>
                            <m:sub>
                              <m:r>
                                <a:rPr lang="en-US" altLang="zh-TW" sz="3000" i="1" dirty="0">
                                  <a:latin typeface="Cambria Math" panose="02040503050406030204" pitchFamily="18" charset="0"/>
                                  <a:cs typeface="Times New Roman" panose="02020603050405020304" pitchFamily="18" charset="0"/>
                                </a:rPr>
                                <m:t>𝑇</m:t>
                              </m:r>
                            </m:sub>
                            <m:sup>
                              <m:r>
                                <a:rPr lang="en-US" altLang="zh-TW" sz="3000" i="1" dirty="0">
                                  <a:latin typeface="Cambria Math" panose="02040503050406030204" pitchFamily="18" charset="0"/>
                                  <a:cs typeface="Times New Roman" panose="02020603050405020304" pitchFamily="18" charset="0"/>
                                </a:rPr>
                                <m:t>2</m:t>
                              </m:r>
                            </m:sup>
                          </m:sSubSup>
                          <m:r>
                            <m:rPr>
                              <m:nor/>
                            </m:rPr>
                            <a:rPr lang="en-US" altLang="zh-TW" sz="3000" baseline="30000" dirty="0">
                              <a:latin typeface="Times New Roman" panose="02020603050405020304" pitchFamily="18" charset="0"/>
                              <a:cs typeface="Times New Roman" panose="02020603050405020304" pitchFamily="18" charset="0"/>
                            </a:rPr>
                            <m:t> </m:t>
                          </m:r>
                        </m:e>
                      </m:nary>
                    </m:oMath>
                  </m:oMathPara>
                </a14:m>
                <a:endParaRPr lang="en-US" altLang="zh-TW" sz="3000" baseline="30000" dirty="0" smtClean="0">
                  <a:latin typeface="Times New Roman" panose="02020603050405020304" pitchFamily="18" charset="0"/>
                  <a:cs typeface="Times New Roman" panose="02020603050405020304" pitchFamily="18" charset="0"/>
                </a:endParaRPr>
              </a:p>
              <a:p>
                <a:pPr marL="0" indent="0">
                  <a:buNone/>
                </a:pPr>
                <a:endParaRPr lang="en-US" altLang="zh-TW" sz="3000" baseline="30000" dirty="0" smtClean="0">
                  <a:latin typeface="Times New Roman" panose="02020603050405020304" pitchFamily="18" charset="0"/>
                  <a:cs typeface="Times New Roman" panose="02020603050405020304" pitchFamily="18" charset="0"/>
                </a:endParaRPr>
              </a:p>
              <a:p>
                <a:pPr marL="0" indent="0">
                  <a:buNone/>
                </a:pPr>
                <a:r>
                  <a:rPr lang="en-US" altLang="zh-TW" sz="3000" dirty="0" smtClean="0">
                    <a:latin typeface="Times New Roman" panose="02020603050405020304" pitchFamily="18" charset="0"/>
                    <a:cs typeface="Times New Roman" panose="02020603050405020304" pitchFamily="18" charset="0"/>
                  </a:rPr>
                  <a:t>Since time series in training data are known</a:t>
                </a:r>
              </a:p>
              <a:p>
                <a:pPr marL="0" indent="0">
                  <a:buNone/>
                </a:pPr>
                <a:endParaRPr lang="en-US" altLang="zh-TW" sz="3000" baseline="30000"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
                    </m:oMathParaPr>
                    <m:oMath xmlns:m="http://schemas.openxmlformats.org/officeDocument/2006/math">
                      <m:r>
                        <a:rPr lang="en-US" altLang="zh-TW" sz="2600" i="1">
                          <a:latin typeface="Cambria Math" panose="02040503050406030204" pitchFamily="18" charset="0"/>
                          <a:cs typeface="Times New Roman" panose="02020603050405020304" pitchFamily="18" charset="0"/>
                        </a:rPr>
                        <m:t>𝑑</m:t>
                      </m:r>
                      <m:d>
                        <m:dPr>
                          <m:ctrlPr>
                            <a:rPr lang="en-US" altLang="zh-TW" sz="2600" i="1" baseline="30000">
                              <a:latin typeface="Cambria Math" panose="02040503050406030204" pitchFamily="18" charset="0"/>
                              <a:cs typeface="Times New Roman" panose="02020603050405020304" pitchFamily="18" charset="0"/>
                            </a:rPr>
                          </m:ctrlPr>
                        </m:dPr>
                        <m:e>
                          <m:r>
                            <a:rPr lang="en-US" altLang="zh-TW" sz="2600" i="1">
                              <a:latin typeface="Cambria Math" panose="02040503050406030204" pitchFamily="18" charset="0"/>
                              <a:cs typeface="Times New Roman" panose="02020603050405020304" pitchFamily="18" charset="0"/>
                            </a:rPr>
                            <m:t>𝑇</m:t>
                          </m:r>
                        </m:e>
                      </m:d>
                      <m:d>
                        <m:dPr>
                          <m:ctrlPr>
                            <a:rPr lang="en-US" altLang="zh-TW" sz="2600" i="1">
                              <a:latin typeface="Cambria Math" panose="02040503050406030204" pitchFamily="18" charset="0"/>
                              <a:cs typeface="Times New Roman" panose="02020603050405020304" pitchFamily="18" charset="0"/>
                            </a:rPr>
                          </m:ctrlPr>
                        </m:dPr>
                        <m:e>
                          <m:r>
                            <a:rPr lang="en-US" altLang="zh-TW" sz="2600" i="1">
                              <a:latin typeface="Cambria Math" panose="02040503050406030204" pitchFamily="18" charset="0"/>
                              <a:cs typeface="Times New Roman" panose="02020603050405020304" pitchFamily="18" charset="0"/>
                            </a:rPr>
                            <m:t>𝑟</m:t>
                          </m:r>
                          <m:r>
                            <a:rPr lang="en-US" altLang="zh-TW" sz="2600" i="1">
                              <a:latin typeface="Cambria Math" panose="02040503050406030204" pitchFamily="18" charset="0"/>
                              <a:cs typeface="Times New Roman" panose="02020603050405020304" pitchFamily="18" charset="0"/>
                            </a:rPr>
                            <m:t>, </m:t>
                          </m:r>
                          <m:r>
                            <a:rPr lang="en-US" altLang="zh-TW" sz="2600" i="1">
                              <a:latin typeface="Cambria Math" panose="02040503050406030204" pitchFamily="18" charset="0"/>
                              <a:cs typeface="Times New Roman" panose="02020603050405020304" pitchFamily="18" charset="0"/>
                            </a:rPr>
                            <m:t>𝑠</m:t>
                          </m:r>
                        </m:e>
                      </m:d>
                      <m:r>
                        <a:rPr lang="en-US" altLang="zh-TW" sz="2600" i="1">
                          <a:latin typeface="Cambria Math" panose="02040503050406030204" pitchFamily="18" charset="0"/>
                          <a:cs typeface="Times New Roman" panose="02020603050405020304" pitchFamily="18" charset="0"/>
                        </a:rPr>
                        <m:t>=</m:t>
                      </m:r>
                      <m:box>
                        <m:boxPr>
                          <m:ctrlPr>
                            <a:rPr lang="en-US" altLang="zh-TW" sz="2600" i="1" smtClean="0">
                              <a:latin typeface="Cambria Math" panose="02040503050406030204" pitchFamily="18" charset="0"/>
                              <a:cs typeface="Times New Roman" panose="02020603050405020304" pitchFamily="18" charset="0"/>
                            </a:rPr>
                          </m:ctrlPr>
                        </m:boxPr>
                        <m:e>
                          <m:argPr>
                            <m:argSz m:val="-1"/>
                          </m:argPr>
                          <m:f>
                            <m:fPr>
                              <m:type m:val="noBar"/>
                              <m:ctrlPr>
                                <a:rPr lang="en-US" altLang="zh-TW" sz="2600" i="1" smtClean="0">
                                  <a:latin typeface="Cambria Math" panose="02040503050406030204" pitchFamily="18" charset="0"/>
                                  <a:cs typeface="Times New Roman" panose="02020603050405020304" pitchFamily="18" charset="0"/>
                                </a:rPr>
                              </m:ctrlPr>
                            </m:fPr>
                            <m:num>
                              <m:r>
                                <a:rPr lang="en-US" altLang="zh-TW" sz="2600" b="0" i="1" smtClean="0">
                                  <a:latin typeface="Cambria Math" panose="02040503050406030204" pitchFamily="18" charset="0"/>
                                  <a:cs typeface="Times New Roman" panose="02020603050405020304" pitchFamily="18" charset="0"/>
                                </a:rPr>
                                <m:t>𝑚𝑖𝑛</m:t>
                              </m:r>
                            </m:num>
                            <m:den>
                              <m:r>
                                <a:rPr lang="en-US" altLang="zh-TW" sz="260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2600" b="0" i="1" baseline="-25000" smtClean="0">
                                  <a:latin typeface="Cambria Math" panose="02040503050406030204" pitchFamily="18" charset="0"/>
                                  <a:ea typeface="Cambria Math" panose="02040503050406030204" pitchFamily="18" charset="0"/>
                                  <a:cs typeface="Times New Roman" panose="02020603050405020304" pitchFamily="18" charset="0"/>
                                </a:rPr>
                                <m:t>𝑚𝑎𝑥</m:t>
                              </m:r>
                              <m:r>
                                <a:rPr lang="en-US" altLang="zh-TW" sz="2600" b="0" i="1" smtClean="0">
                                  <a:latin typeface="Cambria Math" panose="02040503050406030204" pitchFamily="18" charset="0"/>
                                  <a:ea typeface="Cambria Math" panose="02040503050406030204" pitchFamily="18" charset="0"/>
                                  <a:cs typeface="Times New Roman" panose="02020603050405020304" pitchFamily="18" charset="0"/>
                                </a:rPr>
                                <m:t>,…,0…,∆</m:t>
                              </m:r>
                              <m:r>
                                <a:rPr lang="en-US" altLang="zh-TW" sz="2600" b="0" i="1" baseline="-25000" smtClean="0">
                                  <a:latin typeface="Cambria Math" panose="02040503050406030204" pitchFamily="18" charset="0"/>
                                  <a:ea typeface="Cambria Math" panose="02040503050406030204" pitchFamily="18" charset="0"/>
                                  <a:cs typeface="Times New Roman" panose="02020603050405020304" pitchFamily="18" charset="0"/>
                                </a:rPr>
                                <m:t>𝑚𝑎𝑥</m:t>
                              </m:r>
                              <m:r>
                                <a:rPr lang="en-US" altLang="zh-TW" sz="2600" b="0" i="1" smtClean="0">
                                  <a:latin typeface="Cambria Math" panose="02040503050406030204" pitchFamily="18" charset="0"/>
                                  <a:ea typeface="Cambria Math" panose="02040503050406030204" pitchFamily="18" charset="0"/>
                                  <a:cs typeface="Times New Roman" panose="02020603050405020304" pitchFamily="18" charset="0"/>
                                </a:rPr>
                                <m:t>}</m:t>
                              </m:r>
                            </m:den>
                          </m:f>
                        </m:e>
                      </m:box>
                      <m:nary>
                        <m:naryPr>
                          <m:chr m:val="∑"/>
                          <m:limLoc m:val="subSup"/>
                          <m:ctrlPr>
                            <a:rPr lang="en-US" altLang="zh-TW" sz="2600" i="1">
                              <a:latin typeface="Cambria Math" panose="02040503050406030204" pitchFamily="18" charset="0"/>
                              <a:cs typeface="Times New Roman" panose="02020603050405020304" pitchFamily="18" charset="0"/>
                            </a:rPr>
                          </m:ctrlPr>
                        </m:naryPr>
                        <m:sub>
                          <m:r>
                            <m:rPr>
                              <m:brk m:alnAt="25"/>
                            </m:rPr>
                            <a:rPr lang="en-US" altLang="zh-TW" sz="2600" i="1">
                              <a:latin typeface="Cambria Math" panose="02040503050406030204" pitchFamily="18" charset="0"/>
                              <a:cs typeface="Times New Roman" panose="02020603050405020304" pitchFamily="18" charset="0"/>
                            </a:rPr>
                            <m:t>𝑡</m:t>
                          </m:r>
                          <m:r>
                            <a:rPr lang="en-US" altLang="zh-TW" sz="2600" i="1">
                              <a:latin typeface="Cambria Math" panose="02040503050406030204" pitchFamily="18" charset="0"/>
                              <a:cs typeface="Times New Roman" panose="02020603050405020304" pitchFamily="18" charset="0"/>
                            </a:rPr>
                            <m:t>=1</m:t>
                          </m:r>
                        </m:sub>
                        <m:sup>
                          <m:r>
                            <a:rPr lang="en-US" altLang="zh-TW" sz="2600" i="1">
                              <a:latin typeface="Cambria Math" panose="02040503050406030204" pitchFamily="18" charset="0"/>
                              <a:cs typeface="Times New Roman" panose="02020603050405020304" pitchFamily="18" charset="0"/>
                            </a:rPr>
                            <m:t>𝑇</m:t>
                          </m:r>
                        </m:sup>
                        <m:e>
                          <m:d>
                            <m:dPr>
                              <m:ctrlPr>
                                <a:rPr lang="en-US" altLang="zh-TW" sz="2600" i="1">
                                  <a:latin typeface="Cambria Math" panose="02040503050406030204" pitchFamily="18" charset="0"/>
                                  <a:cs typeface="Times New Roman" panose="02020603050405020304" pitchFamily="18" charset="0"/>
                                </a:rPr>
                              </m:ctrlPr>
                            </m:dPr>
                            <m:e>
                              <m:r>
                                <a:rPr lang="en-US" altLang="zh-TW" sz="2600" i="1">
                                  <a:latin typeface="Cambria Math" panose="02040503050406030204" pitchFamily="18" charset="0"/>
                                  <a:cs typeface="Times New Roman" panose="02020603050405020304" pitchFamily="18" charset="0"/>
                                </a:rPr>
                                <m:t>𝑟</m:t>
                              </m:r>
                              <m:d>
                                <m:dPr>
                                  <m:ctrlPr>
                                    <a:rPr lang="en-US" altLang="zh-TW" sz="2600" i="1">
                                      <a:latin typeface="Cambria Math" panose="02040503050406030204" pitchFamily="18" charset="0"/>
                                      <a:cs typeface="Times New Roman" panose="02020603050405020304" pitchFamily="18" charset="0"/>
                                    </a:rPr>
                                  </m:ctrlPr>
                                </m:dPr>
                                <m:e>
                                  <m:r>
                                    <a:rPr lang="en-US" altLang="zh-TW" sz="2600" i="1">
                                      <a:latin typeface="Cambria Math" panose="02040503050406030204" pitchFamily="18" charset="0"/>
                                      <a:cs typeface="Times New Roman" panose="02020603050405020304" pitchFamily="18" charset="0"/>
                                    </a:rPr>
                                    <m:t>𝑡</m:t>
                                  </m:r>
                                </m:e>
                              </m:d>
                              <m:r>
                                <a:rPr lang="en-US" altLang="zh-TW" sz="2600" i="1">
                                  <a:latin typeface="Cambria Math" panose="02040503050406030204" pitchFamily="18" charset="0"/>
                                  <a:cs typeface="Times New Roman" panose="02020603050405020304" pitchFamily="18" charset="0"/>
                                </a:rPr>
                                <m:t>−</m:t>
                              </m:r>
                              <m:r>
                                <a:rPr lang="en-US" altLang="zh-TW" sz="2600" i="1">
                                  <a:latin typeface="Cambria Math" panose="02040503050406030204" pitchFamily="18" charset="0"/>
                                  <a:cs typeface="Times New Roman" panose="02020603050405020304" pitchFamily="18" charset="0"/>
                                </a:rPr>
                                <m:t>𝑠</m:t>
                              </m:r>
                              <m:d>
                                <m:dPr>
                                  <m:ctrlPr>
                                    <a:rPr lang="en-US" altLang="zh-TW" sz="2600" i="1">
                                      <a:latin typeface="Cambria Math" panose="02040503050406030204" pitchFamily="18" charset="0"/>
                                      <a:cs typeface="Times New Roman" panose="02020603050405020304" pitchFamily="18" charset="0"/>
                                    </a:rPr>
                                  </m:ctrlPr>
                                </m:dPr>
                                <m:e>
                                  <m:r>
                                    <a:rPr lang="en-US" altLang="zh-TW" sz="2600" i="1">
                                      <a:latin typeface="Cambria Math" panose="02040503050406030204" pitchFamily="18" charset="0"/>
                                      <a:cs typeface="Times New Roman" panose="02020603050405020304" pitchFamily="18" charset="0"/>
                                    </a:rPr>
                                    <m:t>𝑡</m:t>
                                  </m:r>
                                </m:e>
                              </m:d>
                            </m:e>
                          </m:d>
                          <m:r>
                            <a:rPr lang="en-US" altLang="zh-TW" sz="2600" i="1" baseline="30000">
                              <a:latin typeface="Cambria Math" panose="02040503050406030204" pitchFamily="18" charset="0"/>
                              <a:cs typeface="Times New Roman" panose="02020603050405020304" pitchFamily="18" charset="0"/>
                            </a:rPr>
                            <m:t>2</m:t>
                          </m:r>
                          <m:r>
                            <m:rPr>
                              <m:nor/>
                            </m:rPr>
                            <a:rPr lang="en-US" altLang="zh-TW" sz="2600" dirty="0">
                              <a:latin typeface="Times New Roman" panose="02020603050405020304" pitchFamily="18" charset="0"/>
                              <a:cs typeface="Times New Roman" panose="02020603050405020304" pitchFamily="18" charset="0"/>
                            </a:rPr>
                            <m:t>≜</m:t>
                          </m:r>
                          <m:box>
                            <m:boxPr>
                              <m:ctrlPr>
                                <a:rPr lang="en-US" altLang="zh-TW" sz="2600" i="1" dirty="0" smtClean="0">
                                  <a:latin typeface="Cambria Math" panose="02040503050406030204" pitchFamily="18" charset="0"/>
                                  <a:cs typeface="Times New Roman" panose="02020603050405020304" pitchFamily="18" charset="0"/>
                                </a:rPr>
                              </m:ctrlPr>
                            </m:boxPr>
                            <m:e>
                              <m:argPr>
                                <m:argSz m:val="-1"/>
                              </m:argPr>
                              <m:f>
                                <m:fPr>
                                  <m:type m:val="noBar"/>
                                  <m:ctrlPr>
                                    <a:rPr lang="en-US" altLang="zh-TW" sz="2600" i="1" dirty="0" smtClean="0">
                                      <a:latin typeface="Cambria Math" panose="02040503050406030204" pitchFamily="18" charset="0"/>
                                      <a:cs typeface="Times New Roman" panose="02020603050405020304" pitchFamily="18" charset="0"/>
                                    </a:rPr>
                                  </m:ctrlPr>
                                </m:fPr>
                                <m:num>
                                  <m:r>
                                    <a:rPr lang="en-US" altLang="zh-TW" sz="2600" i="1">
                                      <a:latin typeface="Cambria Math" panose="02040503050406030204" pitchFamily="18" charset="0"/>
                                      <a:cs typeface="Times New Roman" panose="02020603050405020304" pitchFamily="18" charset="0"/>
                                    </a:rPr>
                                    <m:t>𝑚𝑖𝑛</m:t>
                                  </m:r>
                                </m:num>
                                <m:den>
                                  <m:r>
                                    <a:rPr lang="en-US" altLang="zh-TW" sz="2600" i="1">
                                      <a:latin typeface="Cambria Math" panose="02040503050406030204" pitchFamily="18" charset="0"/>
                                      <a:ea typeface="Cambria Math" panose="02040503050406030204" pitchFamily="18" charset="0"/>
                                      <a:cs typeface="Times New Roman" panose="02020603050405020304" pitchFamily="18" charset="0"/>
                                    </a:rPr>
                                    <m:t>∆∈{−∆</m:t>
                                  </m:r>
                                  <m:r>
                                    <a:rPr lang="en-US" altLang="zh-TW" sz="2600" i="1" baseline="-25000">
                                      <a:latin typeface="Cambria Math" panose="02040503050406030204" pitchFamily="18" charset="0"/>
                                      <a:ea typeface="Cambria Math" panose="02040503050406030204" pitchFamily="18" charset="0"/>
                                      <a:cs typeface="Times New Roman" panose="02020603050405020304" pitchFamily="18" charset="0"/>
                                    </a:rPr>
                                    <m:t>𝑚𝑎𝑥</m:t>
                                  </m:r>
                                  <m:r>
                                    <a:rPr lang="en-US" altLang="zh-TW" sz="2600" i="1">
                                      <a:latin typeface="Cambria Math" panose="02040503050406030204" pitchFamily="18" charset="0"/>
                                      <a:ea typeface="Cambria Math" panose="02040503050406030204" pitchFamily="18" charset="0"/>
                                      <a:cs typeface="Times New Roman" panose="02020603050405020304" pitchFamily="18" charset="0"/>
                                    </a:rPr>
                                    <m:t>,…,0…,∆</m:t>
                                  </m:r>
                                  <m:r>
                                    <a:rPr lang="en-US" altLang="zh-TW" sz="2600" i="1" baseline="-25000">
                                      <a:latin typeface="Cambria Math" panose="02040503050406030204" pitchFamily="18" charset="0"/>
                                      <a:ea typeface="Cambria Math" panose="02040503050406030204" pitchFamily="18" charset="0"/>
                                      <a:cs typeface="Times New Roman" panose="02020603050405020304" pitchFamily="18" charset="0"/>
                                    </a:rPr>
                                    <m:t>𝑚𝑎𝑥</m:t>
                                  </m:r>
                                  <m:r>
                                    <a:rPr lang="en-US" altLang="zh-TW" sz="2600" i="1">
                                      <a:latin typeface="Cambria Math" panose="02040503050406030204" pitchFamily="18" charset="0"/>
                                      <a:ea typeface="Cambria Math" panose="02040503050406030204" pitchFamily="18" charset="0"/>
                                      <a:cs typeface="Times New Roman" panose="02020603050405020304" pitchFamily="18" charset="0"/>
                                    </a:rPr>
                                    <m:t>}</m:t>
                                  </m:r>
                                </m:den>
                              </m:f>
                            </m:e>
                          </m:box>
                          <m:sSubSup>
                            <m:sSubSupPr>
                              <m:ctrlPr>
                                <a:rPr lang="en-US" altLang="zh-TW" sz="2600" i="1" dirty="0">
                                  <a:latin typeface="Cambria Math" panose="02040503050406030204" pitchFamily="18" charset="0"/>
                                  <a:cs typeface="Times New Roman" panose="02020603050405020304" pitchFamily="18" charset="0"/>
                                </a:rPr>
                              </m:ctrlPr>
                            </m:sSubSupPr>
                            <m:e>
                              <m:r>
                                <m:rPr>
                                  <m:nor/>
                                </m:rPr>
                                <a:rPr lang="en-US" altLang="zh-TW" sz="2600" dirty="0">
                                  <a:latin typeface="Times New Roman" panose="02020603050405020304" pitchFamily="18" charset="0"/>
                                  <a:cs typeface="Times New Roman" panose="02020603050405020304" pitchFamily="18" charset="0"/>
                                </a:rPr>
                                <m:t>||</m:t>
                              </m:r>
                              <m:r>
                                <m:rPr>
                                  <m:nor/>
                                </m:rPr>
                                <a:rPr lang="en-US" altLang="zh-TW" sz="2600" dirty="0">
                                  <a:latin typeface="Times New Roman" panose="02020603050405020304" pitchFamily="18" charset="0"/>
                                  <a:cs typeface="Times New Roman" panose="02020603050405020304" pitchFamily="18" charset="0"/>
                                </a:rPr>
                                <m:t>r</m:t>
                              </m:r>
                              <m:r>
                                <m:rPr>
                                  <m:nor/>
                                </m:rPr>
                                <a:rPr lang="en-US" altLang="zh-TW" sz="2600" dirty="0">
                                  <a:latin typeface="Times New Roman" panose="02020603050405020304" pitchFamily="18" charset="0"/>
                                  <a:ea typeface="Cambria Math" panose="02040503050406030204" pitchFamily="18" charset="0"/>
                                  <a:cs typeface="Times New Roman" panose="02020603050405020304" pitchFamily="18" charset="0"/>
                                </a:rPr>
                                <m:t>∗</m:t>
                              </m:r>
                              <m:r>
                                <a:rPr lang="en-US" altLang="zh-TW" sz="2600" i="1" dirty="0">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TW" sz="2600" dirty="0">
                                  <a:latin typeface="Times New Roman" panose="02020603050405020304" pitchFamily="18" charset="0"/>
                                  <a:cs typeface="Times New Roman" panose="02020603050405020304" pitchFamily="18" charset="0"/>
                                </a:rPr>
                                <m:t> − </m:t>
                              </m:r>
                              <m:r>
                                <m:rPr>
                                  <m:nor/>
                                </m:rPr>
                                <a:rPr lang="en-US" altLang="zh-TW" sz="2600" dirty="0">
                                  <a:latin typeface="Times New Roman" panose="02020603050405020304" pitchFamily="18" charset="0"/>
                                  <a:cs typeface="Times New Roman" panose="02020603050405020304" pitchFamily="18" charset="0"/>
                                </a:rPr>
                                <m:t>s</m:t>
                              </m:r>
                              <m:r>
                                <m:rPr>
                                  <m:nor/>
                                </m:rPr>
                                <a:rPr lang="en-US" altLang="zh-TW" sz="2600" dirty="0">
                                  <a:latin typeface="Times New Roman" panose="02020603050405020304" pitchFamily="18" charset="0"/>
                                  <a:cs typeface="Times New Roman" panose="02020603050405020304" pitchFamily="18" charset="0"/>
                                </a:rPr>
                                <m:t>||</m:t>
                              </m:r>
                            </m:e>
                            <m:sub>
                              <m:r>
                                <a:rPr lang="en-US" altLang="zh-TW" sz="2600" i="1" dirty="0">
                                  <a:latin typeface="Cambria Math" panose="02040503050406030204" pitchFamily="18" charset="0"/>
                                  <a:cs typeface="Times New Roman" panose="02020603050405020304" pitchFamily="18" charset="0"/>
                                </a:rPr>
                                <m:t>𝑇</m:t>
                              </m:r>
                            </m:sub>
                            <m:sup>
                              <m:r>
                                <a:rPr lang="en-US" altLang="zh-TW" sz="2600" i="1" dirty="0">
                                  <a:latin typeface="Cambria Math" panose="02040503050406030204" pitchFamily="18" charset="0"/>
                                  <a:cs typeface="Times New Roman" panose="02020603050405020304" pitchFamily="18" charset="0"/>
                                </a:rPr>
                                <m:t>2</m:t>
                              </m:r>
                            </m:sup>
                          </m:sSubSup>
                          <m:r>
                            <m:rPr>
                              <m:nor/>
                            </m:rPr>
                            <a:rPr lang="en-US" altLang="zh-TW" sz="2600" baseline="30000" dirty="0">
                              <a:latin typeface="Times New Roman" panose="02020603050405020304" pitchFamily="18" charset="0"/>
                              <a:cs typeface="Times New Roman" panose="02020603050405020304" pitchFamily="18" charset="0"/>
                            </a:rPr>
                            <m:t> </m:t>
                          </m:r>
                        </m:e>
                      </m:nary>
                    </m:oMath>
                  </m:oMathPara>
                </a14:m>
                <a:endParaRPr lang="en-US" altLang="zh-TW" sz="2600" baseline="30000" dirty="0" smtClean="0">
                  <a:latin typeface="Times New Roman" panose="02020603050405020304" pitchFamily="18" charset="0"/>
                  <a:cs typeface="Times New Roman" panose="02020603050405020304" pitchFamily="18" charset="0"/>
                </a:endParaRPr>
              </a:p>
              <a:p>
                <a:pPr marL="0" indent="0">
                  <a:buNone/>
                </a:pPr>
                <a:endParaRPr lang="en-US" altLang="zh-TW" sz="2600" baseline="30000" dirty="0" smtClean="0">
                  <a:latin typeface="Times New Roman" panose="02020603050405020304" pitchFamily="18" charset="0"/>
                  <a:cs typeface="Times New Roman" panose="02020603050405020304" pitchFamily="18" charset="0"/>
                </a:endParaRPr>
              </a:p>
              <a:p>
                <a:pPr marL="0" indent="0">
                  <a:buNone/>
                </a:pPr>
                <a14:m>
                  <m:oMath xmlns:m="http://schemas.openxmlformats.org/officeDocument/2006/math">
                    <m:sSup>
                      <m:sSupPr>
                        <m:ctrlPr>
                          <a:rPr lang="en-US" altLang="zh-TW" b="0" i="1" smtClean="0">
                            <a:latin typeface="Cambria Math" panose="02040503050406030204" pitchFamily="18" charset="0"/>
                            <a:cs typeface="Times New Roman" panose="02020603050405020304" pitchFamily="18" charset="0"/>
                          </a:rPr>
                        </m:ctrlPr>
                      </m:sSupPr>
                      <m:e>
                        <m:acc>
                          <m:accPr>
                            <m:chr m:val="̂"/>
                            <m:ctrlPr>
                              <a:rPr lang="en-US" altLang="zh-TW" b="0" i="1" smtClean="0">
                                <a:latin typeface="Cambria Math" panose="02040503050406030204" pitchFamily="18" charset="0"/>
                                <a:cs typeface="Times New Roman" panose="02020603050405020304" pitchFamily="18" charset="0"/>
                              </a:rPr>
                            </m:ctrlPr>
                          </m:accPr>
                          <m:e>
                            <m:r>
                              <a:rPr lang="en-US" altLang="zh-TW" b="0" i="1" smtClean="0">
                                <a:latin typeface="Cambria Math" panose="02040503050406030204" pitchFamily="18" charset="0"/>
                                <a:cs typeface="Times New Roman" panose="02020603050405020304" pitchFamily="18" charset="0"/>
                              </a:rPr>
                              <m:t>𝐿</m:t>
                            </m:r>
                          </m:e>
                        </m:acc>
                      </m:e>
                      <m:sup>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𝑇</m:t>
                            </m:r>
                          </m:e>
                        </m:d>
                      </m:sup>
                    </m:sSup>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r>
                          <a:rPr lang="zh-TW" altLang="en-US" b="0" i="1" smtClean="0">
                            <a:latin typeface="Cambria Math" panose="02040503050406030204" pitchFamily="18" charset="0"/>
                            <a:cs typeface="Times New Roman" panose="02020603050405020304" pitchFamily="18" charset="0"/>
                          </a:rPr>
                          <m:t>𝛾</m:t>
                        </m:r>
                      </m:e>
                    </m:d>
                    <m:r>
                      <a:rPr lang="en-US" altLang="zh-TW" b="0" i="1" smtClean="0">
                        <a:latin typeface="Cambria Math" panose="02040503050406030204" pitchFamily="18" charset="0"/>
                        <a:cs typeface="Times New Roman" panose="02020603050405020304" pitchFamily="18" charset="0"/>
                      </a:rPr>
                      <m:t>=</m:t>
                    </m:r>
                    <m:d>
                      <m:dPr>
                        <m:begChr m:val="{"/>
                        <m:endChr m:val=""/>
                        <m:ctrlPr>
                          <a:rPr lang="en-US" altLang="zh-TW" b="0" i="1" smtClean="0">
                            <a:latin typeface="Cambria Math" panose="02040503050406030204" pitchFamily="18" charset="0"/>
                            <a:cs typeface="Times New Roman" panose="02020603050405020304" pitchFamily="18" charset="0"/>
                          </a:rPr>
                        </m:ctrlPr>
                      </m:dPr>
                      <m:e>
                        <m:eqArr>
                          <m:eqArrPr>
                            <m:ctrlPr>
                              <a:rPr lang="en-US" altLang="zh-TW" b="0" i="1" smtClean="0">
                                <a:latin typeface="Cambria Math" panose="02040503050406030204" pitchFamily="18" charset="0"/>
                                <a:cs typeface="Times New Roman" panose="02020603050405020304" pitchFamily="18" charset="0"/>
                              </a:rPr>
                            </m:ctrlPr>
                          </m:eqArrPr>
                          <m:e>
                            <m:r>
                              <a:rPr lang="en-US" altLang="zh-TW" b="0" i="1" smtClean="0">
                                <a:latin typeface="Cambria Math" panose="02040503050406030204" pitchFamily="18" charset="0"/>
                                <a:cs typeface="Times New Roman" panose="02020603050405020304" pitchFamily="18" charset="0"/>
                              </a:rPr>
                              <m:t>&amp;+1  </m:t>
                            </m:r>
                            <m:r>
                              <a:rPr lang="en-US" altLang="zh-TW" b="0" i="1" smtClean="0">
                                <a:latin typeface="Cambria Math" panose="02040503050406030204" pitchFamily="18" charset="0"/>
                                <a:cs typeface="Times New Roman" panose="02020603050405020304" pitchFamily="18" charset="0"/>
                              </a:rPr>
                              <m:t>𝑖𝑓</m:t>
                            </m:r>
                            <m:r>
                              <a:rPr lang="en-US" altLang="zh-TW" b="0" i="1" smtClean="0">
                                <a:latin typeface="Cambria Math" panose="02040503050406030204" pitchFamily="18" charset="0"/>
                                <a:cs typeface="Times New Roman" panose="02020603050405020304" pitchFamily="18" charset="0"/>
                              </a:rPr>
                              <m:t> </m:t>
                            </m:r>
                            <m:nary>
                              <m:naryPr>
                                <m:chr m:val="∑"/>
                                <m:limLoc m:val="subSup"/>
                                <m:supHide m:val="on"/>
                                <m:ctrlPr>
                                  <a:rPr lang="en-US" altLang="zh-TW" b="0" i="1" smtClean="0">
                                    <a:latin typeface="Cambria Math" panose="02040503050406030204" pitchFamily="18" charset="0"/>
                                    <a:cs typeface="Times New Roman" panose="02020603050405020304" pitchFamily="18" charset="0"/>
                                  </a:rPr>
                                </m:ctrlPr>
                              </m:naryPr>
                              <m:sub>
                                <m:r>
                                  <m:rPr>
                                    <m:brk m:alnAt="9"/>
                                  </m:rPr>
                                  <a:rPr lang="en-US" altLang="zh-TW" b="0" i="1" smtClean="0">
                                    <a:latin typeface="Cambria Math" panose="02040503050406030204" pitchFamily="18" charset="0"/>
                                    <a:cs typeface="Times New Roman" panose="02020603050405020304" pitchFamily="18" charset="0"/>
                                  </a:rPr>
                                  <m:t>𝑟</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𝑅</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ub>
                                </m:sSub>
                              </m:sub>
                              <m:sup/>
                              <m:e>
                                <m:sSup>
                                  <m:sSup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𝑒</m:t>
                                    </m:r>
                                  </m:e>
                                  <m:sup>
                                    <m:r>
                                      <a:rPr lang="en-US" altLang="zh-TW" i="1">
                                        <a:latin typeface="Cambria Math" panose="02040503050406030204" pitchFamily="18" charset="0"/>
                                        <a:cs typeface="Times New Roman" panose="02020603050405020304" pitchFamily="18" charset="0"/>
                                      </a:rPr>
                                      <m:t>−</m:t>
                                    </m:r>
                                    <m:r>
                                      <a:rPr lang="zh-TW" altLang="en-US" b="0" i="1" smtClean="0">
                                        <a:latin typeface="Cambria Math" panose="02040503050406030204" pitchFamily="18" charset="0"/>
                                        <a:cs typeface="Times New Roman" panose="02020603050405020304" pitchFamily="18" charset="0"/>
                                      </a:rPr>
                                      <m:t>𝛾</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𝑑</m:t>
                                        </m:r>
                                      </m:e>
                                      <m:sup>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𝑇</m:t>
                                            </m:r>
                                          </m:e>
                                        </m:d>
                                      </m:sup>
                                    </m:sSup>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𝑟</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𝑠</m:t>
                                        </m:r>
                                      </m:e>
                                    </m:d>
                                  </m:sup>
                                </m:sSup>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e>
                            </m:nary>
                            <m:nary>
                              <m:naryPr>
                                <m:chr m:val="∑"/>
                                <m:limLoc m:val="subSup"/>
                                <m:supHide m:val="on"/>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naryPr>
                              <m:sub>
                                <m:r>
                                  <m:rPr>
                                    <m:brk m:alnAt="9"/>
                                  </m:rPr>
                                  <a:rPr lang="en-US" altLang="zh-TW" i="1">
                                    <a:latin typeface="Cambria Math" panose="02040503050406030204" pitchFamily="18" charset="0"/>
                                    <a:cs typeface="Times New Roman" panose="02020603050405020304" pitchFamily="18" charset="0"/>
                                  </a:rPr>
                                  <m:t>𝑟</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𝑅</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ub>
                                </m:sSub>
                              </m:sub>
                              <m:sup/>
                              <m:e>
                                <m:sSup>
                                  <m:sSup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𝑒</m:t>
                                    </m:r>
                                  </m:e>
                                  <m:sup>
                                    <m:r>
                                      <a:rPr lang="en-US" altLang="zh-TW" b="0" i="1" smtClean="0">
                                        <a:latin typeface="Cambria Math" panose="02040503050406030204" pitchFamily="18" charset="0"/>
                                        <a:cs typeface="Times New Roman" panose="02020603050405020304" pitchFamily="18" charset="0"/>
                                      </a:rPr>
                                      <m:t>−</m:t>
                                    </m:r>
                                    <m:r>
                                      <a:rPr lang="zh-TW" altLang="en-US" i="1">
                                        <a:latin typeface="Cambria Math" panose="02040503050406030204" pitchFamily="18" charset="0"/>
                                        <a:cs typeface="Times New Roman" panose="02020603050405020304" pitchFamily="18" charset="0"/>
                                      </a:rPr>
                                      <m:t>𝛾</m:t>
                                    </m:r>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𝑑</m:t>
                                        </m:r>
                                      </m:e>
                                      <m:sup>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𝑇</m:t>
                                            </m:r>
                                          </m:e>
                                        </m:d>
                                      </m:sup>
                                    </m:sSup>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𝑟</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𝑠</m:t>
                                        </m:r>
                                      </m:e>
                                    </m:d>
                                  </m:sup>
                                </m:sSup>
                              </m:e>
                            </m:nary>
                          </m:e>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&amp;</m:t>
                            </m:r>
                            <m:r>
                              <a:rPr lang="en-US" altLang="zh-TW" b="0" i="1" smtClean="0">
                                <a:latin typeface="Cambria Math" panose="02040503050406030204" pitchFamily="18" charset="0"/>
                                <a:cs typeface="Times New Roman" panose="02020603050405020304" pitchFamily="18" charset="0"/>
                              </a:rPr>
                              <m:t>−1 </m:t>
                            </m:r>
                            <m:r>
                              <a:rPr lang="zh-TW" altLang="en-US" i="1">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𝑜𝑡h𝑒𝑟𝑤𝑖𝑠𝑒</m:t>
                            </m:r>
                          </m:e>
                        </m:eqArr>
                      </m:e>
                    </m:d>
                  </m:oMath>
                </a14:m>
                <a:r>
                  <a:rPr lang="en-US" altLang="zh-TW" baseline="30000" dirty="0" smtClean="0">
                    <a:latin typeface="Times New Roman" panose="02020603050405020304" pitchFamily="18" charset="0"/>
                    <a:cs typeface="Times New Roman" panose="02020603050405020304" pitchFamily="18" charset="0"/>
                  </a:rPr>
                  <a:t> </a:t>
                </a:r>
                <a:endParaRPr lang="en-US" altLang="zh-TW" baseline="30000" dirty="0">
                  <a:latin typeface="Times New Roman" panose="02020603050405020304" pitchFamily="18" charset="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838200" y="1383033"/>
                <a:ext cx="10515600" cy="5212319"/>
              </a:xfrm>
              <a:blipFill rotWithShape="0">
                <a:blip r:embed="rId2"/>
                <a:stretch>
                  <a:fillRect l="-1391" t="-3275"/>
                </a:stretch>
              </a:blipFill>
            </p:spPr>
            <p:txBody>
              <a:bodyPr/>
              <a:lstStyle/>
              <a:p>
                <a:r>
                  <a:rPr lang="zh-TW" altLang="en-US">
                    <a:noFill/>
                  </a:rPr>
                  <a:t> </a:t>
                </a:r>
              </a:p>
            </p:txBody>
          </p:sp>
        </mc:Fallback>
      </mc:AlternateContent>
      <p:sp>
        <p:nvSpPr>
          <p:cNvPr id="5" name="投影片編號版面配置區 4"/>
          <p:cNvSpPr>
            <a:spLocks noGrp="1"/>
          </p:cNvSpPr>
          <p:nvPr>
            <p:ph type="sldNum" sz="quarter" idx="12"/>
          </p:nvPr>
        </p:nvSpPr>
        <p:spPr/>
        <p:txBody>
          <a:bodyPr/>
          <a:lstStyle/>
          <a:p>
            <a:fld id="{C8A97ABC-EF3A-4183-AE2C-72E330AF586D}" type="slidenum">
              <a:rPr lang="zh-TW" altLang="en-US" smtClean="0"/>
              <a:t>12</a:t>
            </a:fld>
            <a:endParaRPr lang="zh-TW" altLang="en-US" dirty="0"/>
          </a:p>
        </p:txBody>
      </p:sp>
      <p:sp>
        <p:nvSpPr>
          <p:cNvPr id="4" name="文字方塊 3"/>
          <p:cNvSpPr txBox="1"/>
          <p:nvPr/>
        </p:nvSpPr>
        <p:spPr>
          <a:xfrm>
            <a:off x="9166574" y="1086334"/>
            <a:ext cx="389850" cy="323165"/>
          </a:xfrm>
          <a:prstGeom prst="rect">
            <a:avLst/>
          </a:prstGeom>
          <a:noFill/>
        </p:spPr>
        <p:txBody>
          <a:bodyPr wrap="none" rtlCol="0">
            <a:spAutoFit/>
          </a:bodyPr>
          <a:lstStyle/>
          <a:p>
            <a:r>
              <a:rPr lang="en-US" altLang="zh-TW" sz="1500" dirty="0" smtClean="0">
                <a:solidFill>
                  <a:srgbClr val="0070C0"/>
                </a:solidFill>
                <a:latin typeface="Times New Roman" panose="02020603050405020304" pitchFamily="18" charset="0"/>
                <a:cs typeface="Times New Roman" panose="02020603050405020304" pitchFamily="18" charset="0"/>
              </a:rPr>
              <a:t>+1</a:t>
            </a:r>
            <a:endParaRPr lang="zh-TW" altLang="en-US" sz="1500" dirty="0">
              <a:solidFill>
                <a:srgbClr val="0070C0"/>
              </a:solidFill>
              <a:latin typeface="Times New Roman" panose="02020603050405020304" pitchFamily="18" charset="0"/>
              <a:cs typeface="Times New Roman" panose="02020603050405020304" pitchFamily="18" charset="0"/>
            </a:endParaRPr>
          </a:p>
        </p:txBody>
      </p:sp>
      <p:sp>
        <p:nvSpPr>
          <p:cNvPr id="21" name="文字方塊 20"/>
          <p:cNvSpPr txBox="1"/>
          <p:nvPr/>
        </p:nvSpPr>
        <p:spPr>
          <a:xfrm>
            <a:off x="10864154" y="1405062"/>
            <a:ext cx="344966" cy="323165"/>
          </a:xfrm>
          <a:prstGeom prst="rect">
            <a:avLst/>
          </a:prstGeom>
          <a:noFill/>
        </p:spPr>
        <p:txBody>
          <a:bodyPr wrap="none" rtlCol="0">
            <a:spAutoFit/>
          </a:bodyPr>
          <a:lstStyle/>
          <a:p>
            <a:r>
              <a:rPr lang="en-US" altLang="zh-TW" sz="1500" dirty="0">
                <a:solidFill>
                  <a:srgbClr val="FF0000"/>
                </a:solidFill>
                <a:latin typeface="Times New Roman" panose="02020603050405020304" pitchFamily="18" charset="0"/>
                <a:cs typeface="Times New Roman" panose="02020603050405020304" pitchFamily="18" charset="0"/>
              </a:rPr>
              <a:t>-</a:t>
            </a:r>
            <a:r>
              <a:rPr lang="en-US" altLang="zh-TW" sz="1500" dirty="0" smtClean="0">
                <a:solidFill>
                  <a:srgbClr val="FF0000"/>
                </a:solidFill>
                <a:latin typeface="Times New Roman" panose="02020603050405020304" pitchFamily="18" charset="0"/>
                <a:cs typeface="Times New Roman" panose="02020603050405020304" pitchFamily="18" charset="0"/>
              </a:rPr>
              <a:t>1</a:t>
            </a:r>
            <a:endParaRPr lang="zh-TW" altLang="en-US" sz="1500" dirty="0">
              <a:solidFill>
                <a:srgbClr val="FF0000"/>
              </a:solidFill>
              <a:latin typeface="Times New Roman" panose="02020603050405020304" pitchFamily="18" charset="0"/>
              <a:cs typeface="Times New Roman" panose="02020603050405020304" pitchFamily="18" charset="0"/>
            </a:endParaRPr>
          </a:p>
        </p:txBody>
      </p:sp>
      <p:grpSp>
        <p:nvGrpSpPr>
          <p:cNvPr id="22" name="群組 21"/>
          <p:cNvGrpSpPr/>
          <p:nvPr/>
        </p:nvGrpSpPr>
        <p:grpSpPr>
          <a:xfrm>
            <a:off x="9166574" y="1383033"/>
            <a:ext cx="2016507" cy="2217786"/>
            <a:chOff x="9709818" y="2424692"/>
            <a:chExt cx="2016507" cy="2217786"/>
          </a:xfrm>
        </p:grpSpPr>
        <p:sp>
          <p:nvSpPr>
            <p:cNvPr id="23" name="橢圓 22"/>
            <p:cNvSpPr/>
            <p:nvPr/>
          </p:nvSpPr>
          <p:spPr>
            <a:xfrm>
              <a:off x="10091351" y="3105665"/>
              <a:ext cx="1021492" cy="102149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橢圓 23"/>
            <p:cNvSpPr/>
            <p:nvPr/>
          </p:nvSpPr>
          <p:spPr>
            <a:xfrm>
              <a:off x="9709818" y="2724131"/>
              <a:ext cx="1784553" cy="1784553"/>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等腰三角形 24"/>
            <p:cNvSpPr/>
            <p:nvPr/>
          </p:nvSpPr>
          <p:spPr>
            <a:xfrm>
              <a:off x="10233453" y="2894606"/>
              <a:ext cx="164757" cy="142032"/>
            </a:xfrm>
            <a:prstGeom prst="triangl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矩形 25"/>
            <p:cNvSpPr/>
            <p:nvPr/>
          </p:nvSpPr>
          <p:spPr>
            <a:xfrm>
              <a:off x="10822458" y="3410510"/>
              <a:ext cx="111211" cy="111211"/>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等腰三角形 26"/>
            <p:cNvSpPr/>
            <p:nvPr/>
          </p:nvSpPr>
          <p:spPr>
            <a:xfrm>
              <a:off x="10359079" y="3616407"/>
              <a:ext cx="164757" cy="142032"/>
            </a:xfrm>
            <a:prstGeom prst="triangl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矩形 27"/>
            <p:cNvSpPr/>
            <p:nvPr/>
          </p:nvSpPr>
          <p:spPr>
            <a:xfrm>
              <a:off x="10766853" y="3802898"/>
              <a:ext cx="111211" cy="111211"/>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橢圓 28"/>
            <p:cNvSpPr/>
            <p:nvPr/>
          </p:nvSpPr>
          <p:spPr>
            <a:xfrm>
              <a:off x="10523836" y="3538149"/>
              <a:ext cx="156519" cy="156519"/>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a:t>
              </a:r>
              <a:endParaRPr lang="zh-TW" altLang="en-US" dirty="0"/>
            </a:p>
          </p:txBody>
        </p:sp>
        <p:sp>
          <p:nvSpPr>
            <p:cNvPr id="30" name="矩形 29"/>
            <p:cNvSpPr/>
            <p:nvPr/>
          </p:nvSpPr>
          <p:spPr>
            <a:xfrm>
              <a:off x="11166386" y="3105665"/>
              <a:ext cx="111211" cy="111211"/>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等腰三角形 30"/>
            <p:cNvSpPr/>
            <p:nvPr/>
          </p:nvSpPr>
          <p:spPr>
            <a:xfrm>
              <a:off x="9830561" y="3731882"/>
              <a:ext cx="164757" cy="142032"/>
            </a:xfrm>
            <a:prstGeom prst="triangl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等腰三角形 31"/>
            <p:cNvSpPr/>
            <p:nvPr/>
          </p:nvSpPr>
          <p:spPr>
            <a:xfrm>
              <a:off x="10602096" y="4224321"/>
              <a:ext cx="164757" cy="142032"/>
            </a:xfrm>
            <a:prstGeom prst="triangl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p:cNvSpPr/>
            <p:nvPr/>
          </p:nvSpPr>
          <p:spPr>
            <a:xfrm>
              <a:off x="11438765" y="2734428"/>
              <a:ext cx="111211" cy="111211"/>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p:cNvSpPr/>
            <p:nvPr/>
          </p:nvSpPr>
          <p:spPr>
            <a:xfrm>
              <a:off x="11615114" y="3829825"/>
              <a:ext cx="111211" cy="111211"/>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等腰三角形 34"/>
            <p:cNvSpPr/>
            <p:nvPr/>
          </p:nvSpPr>
          <p:spPr>
            <a:xfrm>
              <a:off x="9926594" y="2424692"/>
              <a:ext cx="176414" cy="152081"/>
            </a:xfrm>
            <a:prstGeom prst="triangl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00" dirty="0"/>
            </a:p>
          </p:txBody>
        </p:sp>
        <p:sp>
          <p:nvSpPr>
            <p:cNvPr id="36" name="等腰三角形 35"/>
            <p:cNvSpPr/>
            <p:nvPr/>
          </p:nvSpPr>
          <p:spPr>
            <a:xfrm>
              <a:off x="11259328" y="4500446"/>
              <a:ext cx="164757" cy="142032"/>
            </a:xfrm>
            <a:prstGeom prst="triangl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21269049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normAutofit/>
          </a:bodyPr>
          <a:lstStyle/>
          <a:p>
            <a:pPr algn="ctr"/>
            <a:r>
              <a:rPr lang="en-US" altLang="zh-TW" dirty="0" smtClean="0">
                <a:latin typeface="Times New Roman" panose="02020603050405020304" pitchFamily="18" charset="0"/>
                <a:cs typeface="Times New Roman" panose="02020603050405020304" pitchFamily="18" charset="0"/>
              </a:rPr>
              <a:t>Maximum </a:t>
            </a:r>
            <a:r>
              <a:rPr lang="en-US" altLang="zh-TW" dirty="0">
                <a:latin typeface="Times New Roman" panose="02020603050405020304" pitchFamily="18" charset="0"/>
                <a:cs typeface="Times New Roman" panose="02020603050405020304" pitchFamily="18" charset="0"/>
              </a:rPr>
              <a:t>a posteriori (MAP</a:t>
            </a:r>
            <a:r>
              <a:rPr lang="en-US" altLang="zh-TW" dirty="0" smtClean="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383034"/>
                <a:ext cx="10515600" cy="4825958"/>
              </a:xfrm>
            </p:spPr>
            <p:txBody>
              <a:bodyPr>
                <a:normAutofit/>
              </a:bodyPr>
              <a:lstStyle/>
              <a:p>
                <a:pPr marL="0" indent="0">
                  <a:buNone/>
                </a:pPr>
                <a:r>
                  <a:rPr lang="en-US" altLang="zh-TW" sz="3000" dirty="0" smtClean="0">
                    <a:latin typeface="Times New Roman" panose="02020603050405020304" pitchFamily="18" charset="0"/>
                    <a:cs typeface="Times New Roman" panose="02020603050405020304" pitchFamily="18" charset="0"/>
                  </a:rPr>
                  <a:t>If we knew the latent sources</a:t>
                </a:r>
              </a:p>
              <a:p>
                <a:pPr marL="0" indent="0" algn="ctr">
                  <a:buNone/>
                </a:pPr>
                <a14:m>
                  <m:oMath xmlns:m="http://schemas.openxmlformats.org/officeDocument/2006/math">
                    <m:sSubSup>
                      <m:sSubSupPr>
                        <m:ctrlPr>
                          <a:rPr lang="en-US" altLang="zh-TW" i="1">
                            <a:latin typeface="Cambria Math" panose="02040503050406030204" pitchFamily="18" charset="0"/>
                            <a:cs typeface="Times New Roman" panose="02020603050405020304" pitchFamily="18" charset="0"/>
                          </a:rPr>
                        </m:ctrlPr>
                      </m:sSubSupPr>
                      <m:e>
                        <m:acc>
                          <m:accPr>
                            <m:chr m:val="̂"/>
                            <m:ctrlPr>
                              <a:rPr lang="en-US" altLang="zh-TW" i="1">
                                <a:latin typeface="Cambria Math" panose="02040503050406030204" pitchFamily="18" charset="0"/>
                                <a:cs typeface="Times New Roman" panose="02020603050405020304" pitchFamily="18" charset="0"/>
                              </a:rPr>
                            </m:ctrlPr>
                          </m:accPr>
                          <m:e>
                            <m:r>
                              <a:rPr lang="en-US" altLang="zh-TW" i="1">
                                <a:latin typeface="Cambria Math" panose="02040503050406030204" pitchFamily="18" charset="0"/>
                                <a:cs typeface="Times New Roman" panose="02020603050405020304" pitchFamily="18" charset="0"/>
                              </a:rPr>
                              <m:t>𝐿</m:t>
                            </m:r>
                          </m:e>
                        </m:acc>
                      </m:e>
                      <m:sub>
                        <m:r>
                          <a:rPr lang="en-US" altLang="zh-TW" b="0" i="1" smtClean="0">
                            <a:latin typeface="Cambria Math" panose="02040503050406030204" pitchFamily="18" charset="0"/>
                            <a:cs typeface="Times New Roman" panose="02020603050405020304" pitchFamily="18" charset="0"/>
                          </a:rPr>
                          <m:t>𝑀𝐴𝑃</m:t>
                        </m:r>
                      </m:sub>
                      <m:sup>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𝑇</m:t>
                        </m:r>
                        <m:r>
                          <a:rPr lang="en-US" altLang="zh-TW" i="1">
                            <a:latin typeface="Cambria Math" panose="02040503050406030204" pitchFamily="18" charset="0"/>
                            <a:cs typeface="Times New Roman" panose="02020603050405020304" pitchFamily="18" charset="0"/>
                          </a:rPr>
                          <m:t>)</m:t>
                        </m:r>
                      </m:sup>
                    </m:sSubSup>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r>
                          <a:rPr lang="zh-TW" altLang="en-US" b="0" i="1" smtClean="0">
                            <a:latin typeface="Cambria Math" panose="02040503050406030204" pitchFamily="18" charset="0"/>
                            <a:cs typeface="Times New Roman" panose="02020603050405020304" pitchFamily="18" charset="0"/>
                          </a:rPr>
                          <m:t>𝛾</m:t>
                        </m:r>
                      </m:e>
                    </m:d>
                    <m:r>
                      <a:rPr lang="en-US" altLang="zh-TW" b="0" i="1" smtClean="0">
                        <a:latin typeface="Cambria Math" panose="02040503050406030204" pitchFamily="18" charset="0"/>
                        <a:cs typeface="Times New Roman" panose="02020603050405020304" pitchFamily="18" charset="0"/>
                      </a:rPr>
                      <m:t>=</m:t>
                    </m:r>
                    <m:d>
                      <m:dPr>
                        <m:begChr m:val="{"/>
                        <m:endChr m:val=""/>
                        <m:ctrlPr>
                          <a:rPr lang="en-US" altLang="zh-TW" b="0" i="1" smtClean="0">
                            <a:latin typeface="Cambria Math" panose="02040503050406030204" pitchFamily="18" charset="0"/>
                            <a:cs typeface="Times New Roman" panose="02020603050405020304" pitchFamily="18" charset="0"/>
                          </a:rPr>
                        </m:ctrlPr>
                      </m:dPr>
                      <m:e>
                        <m:eqArr>
                          <m:eqArrPr>
                            <m:ctrlPr>
                              <a:rPr lang="en-US" altLang="zh-TW" b="0" i="1" smtClean="0">
                                <a:latin typeface="Cambria Math" panose="02040503050406030204" pitchFamily="18" charset="0"/>
                                <a:cs typeface="Times New Roman" panose="02020603050405020304" pitchFamily="18" charset="0"/>
                              </a:rPr>
                            </m:ctrlPr>
                          </m:eqArrPr>
                          <m:e>
                            <m:r>
                              <a:rPr lang="en-US" altLang="zh-TW" b="0" i="1" smtClean="0">
                                <a:latin typeface="Cambria Math" panose="02040503050406030204" pitchFamily="18" charset="0"/>
                                <a:cs typeface="Times New Roman" panose="02020603050405020304" pitchFamily="18" charset="0"/>
                              </a:rPr>
                              <m:t>&amp;+1  </m:t>
                            </m:r>
                            <m:r>
                              <a:rPr lang="en-US" altLang="zh-TW" b="0" i="1" smtClean="0">
                                <a:latin typeface="Cambria Math" panose="02040503050406030204" pitchFamily="18" charset="0"/>
                                <a:cs typeface="Times New Roman" panose="02020603050405020304" pitchFamily="18" charset="0"/>
                              </a:rPr>
                              <m:t>𝑖𝑓</m:t>
                            </m:r>
                            <m:r>
                              <a:rPr lang="en-US" altLang="zh-TW" b="0" i="1" smtClean="0">
                                <a:latin typeface="Cambria Math" panose="02040503050406030204" pitchFamily="18" charset="0"/>
                                <a:cs typeface="Times New Roman" panose="02020603050405020304" pitchFamily="18" charset="0"/>
                              </a:rPr>
                              <m:t> </m:t>
                            </m:r>
                            <m:sSubSup>
                              <m:sSubSupPr>
                                <m:ctrlPr>
                                  <a:rPr lang="el-GR" altLang="zh-TW" b="0" i="1" smtClean="0">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l-GR" altLang="zh-TW" i="1">
                                    <a:latin typeface="Cambria Math" panose="02040503050406030204" pitchFamily="18" charset="0"/>
                                    <a:ea typeface="Cambria Math" panose="02040503050406030204" pitchFamily="18" charset="0"/>
                                    <a:cs typeface="Times New Roman" panose="02020603050405020304" pitchFamily="18" charset="0"/>
                                  </a:rPr>
                                  <m:t>Λ</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𝑀𝐴𝑃</m:t>
                                </m:r>
                              </m:sub>
                              <m:sup>
                                <m:d>
                                  <m:d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𝑇</m:t>
                                    </m:r>
                                  </m:e>
                                </m:d>
                              </m:sup>
                            </m:sSubSup>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zh-TW" altLang="en-US" i="1">
                                <a:latin typeface="Cambria Math" panose="02040503050406030204" pitchFamily="18" charset="0"/>
                                <a:cs typeface="Times New Roman" panose="02020603050405020304" pitchFamily="18" charset="0"/>
                              </a:rPr>
                              <m:t>𝛾</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e>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&amp;</m:t>
                            </m:r>
                            <m:r>
                              <a:rPr lang="en-US" altLang="zh-TW" b="0" i="1" smtClean="0">
                                <a:latin typeface="Cambria Math" panose="02040503050406030204" pitchFamily="18" charset="0"/>
                                <a:cs typeface="Times New Roman" panose="02020603050405020304" pitchFamily="18" charset="0"/>
                              </a:rPr>
                              <m:t>−1  </m:t>
                            </m:r>
                            <m:r>
                              <a:rPr lang="en-US" altLang="zh-TW" b="0" i="1" smtClean="0">
                                <a:latin typeface="Cambria Math" panose="02040503050406030204" pitchFamily="18" charset="0"/>
                                <a:cs typeface="Times New Roman" panose="02020603050405020304" pitchFamily="18" charset="0"/>
                              </a:rPr>
                              <m:t>𝑜𝑡h𝑒𝑟𝑤𝑖𝑠𝑒</m:t>
                            </m:r>
                            <m:r>
                              <a:rPr lang="en-US" altLang="zh-TW" b="0" i="1" smtClean="0">
                                <a:latin typeface="Cambria Math" panose="02040503050406030204" pitchFamily="18" charset="0"/>
                                <a:cs typeface="Times New Roman" panose="02020603050405020304" pitchFamily="18" charset="0"/>
                              </a:rPr>
                              <m:t>,</m:t>
                            </m:r>
                          </m:e>
                        </m:eqArr>
                      </m:e>
                    </m:d>
                  </m:oMath>
                </a14:m>
                <a:r>
                  <a:rPr lang="en-US" altLang="zh-TW" baseline="30000" dirty="0" smtClean="0">
                    <a:latin typeface="Times New Roman" panose="02020603050405020304" pitchFamily="18" charset="0"/>
                    <a:cs typeface="Times New Roman" panose="02020603050405020304" pitchFamily="18" charset="0"/>
                  </a:rPr>
                  <a:t> </a:t>
                </a:r>
                <a:endParaRPr lang="en-US" altLang="zh-TW" baseline="30000" dirty="0">
                  <a:latin typeface="Times New Roman" panose="02020603050405020304" pitchFamily="18" charset="0"/>
                  <a:cs typeface="Times New Roman" panose="02020603050405020304" pitchFamily="18" charset="0"/>
                </a:endParaRPr>
              </a:p>
              <a:p>
                <a:pPr marL="0" indent="0">
                  <a:buNone/>
                </a:pPr>
                <a:r>
                  <a:rPr lang="en-US" altLang="zh-TW" sz="3000" dirty="0">
                    <a:latin typeface="Times New Roman" panose="02020603050405020304" pitchFamily="18" charset="0"/>
                    <a:cs typeface="Times New Roman" panose="02020603050405020304" pitchFamily="18" charset="0"/>
                  </a:rPr>
                  <a:t>where</a:t>
                </a:r>
              </a:p>
              <a:p>
                <a:pPr marL="0" indent="0" algn="ctr">
                  <a:buNone/>
                </a:pPr>
                <a14:m>
                  <m:oMathPara xmlns:m="http://schemas.openxmlformats.org/officeDocument/2006/math">
                    <m:oMathParaPr>
                      <m:jc m:val="centerGroup"/>
                    </m:oMathParaPr>
                    <m:oMath xmlns:m="http://schemas.openxmlformats.org/officeDocument/2006/math">
                      <m:sSubSup>
                        <m:sSubSupPr>
                          <m:ctrlPr>
                            <a:rPr lang="el-GR" altLang="zh-TW" i="1" smtClean="0">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l-GR" altLang="zh-TW" i="1">
                              <a:latin typeface="Cambria Math" panose="02040503050406030204" pitchFamily="18" charset="0"/>
                              <a:ea typeface="Cambria Math" panose="02040503050406030204" pitchFamily="18" charset="0"/>
                              <a:cs typeface="Times New Roman" panose="02020603050405020304" pitchFamily="18" charset="0"/>
                            </a:rPr>
                            <m:t>Λ</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𝑀𝐴𝑃</m:t>
                          </m:r>
                        </m:sub>
                        <m:sup>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𝑇</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up>
                      </m:sSubSup>
                      <m:r>
                        <a:rPr lang="el-GR"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 </m:t>
                      </m:r>
                      <m:f>
                        <m:f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fPr>
                        <m:num>
                          <m:nary>
                            <m:naryPr>
                              <m:chr m:val="∑"/>
                              <m:limLoc m:val="subSup"/>
                              <m:supHide m:val="on"/>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naryPr>
                            <m:sub>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𝑣</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ub>
                              </m:sSub>
                              <m:r>
                                <m:rPr>
                                  <m:brk m:alnAt="9"/>
                                </m:rP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 </m:t>
                              </m:r>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𝑉</m:t>
                                  </m:r>
                                </m:e>
                                <m:sub>
                                  <m:r>
                                    <m:rPr>
                                      <m:brk m:alnAt="9"/>
                                    </m:r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ub>
                              </m:sSub>
                            </m:sub>
                            <m:sup/>
                            <m:e>
                              <m:nary>
                                <m:naryPr>
                                  <m:chr m:val="∑"/>
                                  <m:limLoc m:val="subSup"/>
                                  <m:supHide m:val="on"/>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naryPr>
                                <m:sub>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m:rPr>
                                          <m:brk m:alnAt="9"/>
                                        </m:rPr>
                                        <a:rPr lang="en-US" altLang="zh-TW" i="1">
                                          <a:latin typeface="Cambria Math" panose="02040503050406030204" pitchFamily="18" charset="0"/>
                                          <a:ea typeface="Cambria Math" panose="02040503050406030204" pitchFamily="18" charset="0"/>
                                          <a:cs typeface="Times New Roman" panose="02020603050405020304" pitchFamily="18" charset="0"/>
                                        </a:rPr>
                                        <m:t>∆</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ub>
                                  </m:sSub>
                                  <m:r>
                                    <m:rPr>
                                      <m:brk m:alnAt="9"/>
                                    </m:rPr>
                                    <a:rPr lang="en-US" altLang="zh-TW"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𝐷</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ub>
                                  </m:sSub>
                                </m:sub>
                                <m:sup/>
                                <m:e>
                                  <m:r>
                                    <m:rPr>
                                      <m:sty m:val="p"/>
                                    </m:rPr>
                                    <a:rPr lang="en-US" altLang="zh-TW" b="0" i="0" smtClean="0">
                                      <a:latin typeface="Cambria Math" panose="02040503050406030204" pitchFamily="18" charset="0"/>
                                      <a:ea typeface="Cambria Math" panose="02040503050406030204" pitchFamily="18" charset="0"/>
                                      <a:cs typeface="Times New Roman" panose="02020603050405020304" pitchFamily="18" charset="0"/>
                                    </a:rPr>
                                    <m:t>exp</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zh-TW" altLang="en-US" i="1">
                                      <a:latin typeface="Cambria Math" panose="02040503050406030204" pitchFamily="18" charset="0"/>
                                      <a:cs typeface="Times New Roman" panose="02020603050405020304" pitchFamily="18" charset="0"/>
                                    </a:rPr>
                                    <m:t>𝛾</m:t>
                                  </m:r>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𝑣</m:t>
                                      </m:r>
                                    </m:e>
                                    <m:sub>
                                      <m:r>
                                        <a:rPr lang="en-US" altLang="zh-TW" b="0" i="1" smtClean="0">
                                          <a:latin typeface="Cambria Math" panose="02040503050406030204" pitchFamily="18" charset="0"/>
                                          <a:cs typeface="Times New Roman" panose="02020603050405020304" pitchFamily="18" charset="0"/>
                                        </a:rPr>
                                        <m:t>+</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ub>
                                  </m:s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𝑠</m:t>
                                  </m:r>
                                  <m:sSubSup>
                                    <m:sSubSup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𝑇</m:t>
                                      </m:r>
                                    </m:sub>
                                    <m:sup>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2</m:t>
                                      </m:r>
                                    </m:sup>
                                  </m:sSubSup>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e>
                              </m:nary>
                            </m:e>
                          </m:nary>
                        </m:num>
                        <m:den>
                          <m:nary>
                            <m:naryPr>
                              <m:chr m:val="∑"/>
                              <m:limLoc m:val="subSup"/>
                              <m:supHide m:val="on"/>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naryPr>
                            <m:sub>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𝑣</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ub>
                              </m:sSub>
                              <m:r>
                                <m:rPr>
                                  <m:brk m:alnAt="9"/>
                                </m:rP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i="1">
                                  <a:latin typeface="Cambria Math" panose="02040503050406030204" pitchFamily="18" charset="0"/>
                                  <a:ea typeface="Cambria Math" panose="02040503050406030204" pitchFamily="18" charset="0"/>
                                  <a:cs typeface="Times New Roman" panose="02020603050405020304" pitchFamily="18" charset="0"/>
                                </a:rPr>
                                <m:t> </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𝑉</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ub>
                              </m:sSub>
                            </m:sub>
                            <m:sup/>
                            <m:e>
                              <m:nary>
                                <m:naryPr>
                                  <m:chr m:val="∑"/>
                                  <m:limLoc m:val="subSup"/>
                                  <m:supHide m:val="on"/>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naryPr>
                                <m:sub>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m:rPr>
                                          <m:brk m:alnAt="9"/>
                                        </m:rPr>
                                        <a:rPr lang="en-US" altLang="zh-TW" i="1">
                                          <a:latin typeface="Cambria Math" panose="02040503050406030204" pitchFamily="18" charset="0"/>
                                          <a:ea typeface="Cambria Math" panose="02040503050406030204" pitchFamily="18" charset="0"/>
                                          <a:cs typeface="Times New Roman" panose="02020603050405020304" pitchFamily="18" charset="0"/>
                                        </a:rPr>
                                        <m:t>∆</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ub>
                                  </m:sSub>
                                  <m:r>
                                    <m:rPr>
                                      <m:brk m:alnAt="9"/>
                                    </m:rPr>
                                    <a:rPr lang="en-US" altLang="zh-TW"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𝐷</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m:t>
                                      </m:r>
                                    </m:sub>
                                  </m:sSub>
                                </m:sub>
                                <m:sup/>
                                <m:e>
                                  <m:r>
                                    <m:rPr>
                                      <m:sty m:val="p"/>
                                    </m:rPr>
                                    <a:rPr lang="en-US" altLang="zh-TW">
                                      <a:latin typeface="Cambria Math" panose="02040503050406030204" pitchFamily="18" charset="0"/>
                                      <a:ea typeface="Cambria Math" panose="02040503050406030204" pitchFamily="18" charset="0"/>
                                      <a:cs typeface="Times New Roman" panose="02020603050405020304" pitchFamily="18" charset="0"/>
                                    </a:rPr>
                                    <m:t>exp</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zh-TW" altLang="en-US" i="1">
                                      <a:latin typeface="Cambria Math" panose="02040503050406030204" pitchFamily="18" charset="0"/>
                                      <a:cs typeface="Times New Roman" panose="02020603050405020304" pitchFamily="18" charset="0"/>
                                    </a:rPr>
                                    <m:t>𝛾</m:t>
                                  </m:r>
                                  <m:r>
                                    <a:rPr lang="en-US" altLang="zh-TW" i="1">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𝑣</m:t>
                                      </m:r>
                                    </m:e>
                                    <m:sub>
                                      <m:r>
                                        <a:rPr lang="en-US" altLang="zh-TW" b="0" i="1" smtClean="0">
                                          <a:latin typeface="Cambria Math" panose="02040503050406030204" pitchFamily="18" charset="0"/>
                                          <a:cs typeface="Times New Roman" panose="02020603050405020304" pitchFamily="18" charset="0"/>
                                        </a:rPr>
                                        <m:t>−</m:t>
                                      </m:r>
                                    </m:sub>
                                  </m:sSub>
                                  <m:r>
                                    <a:rPr lang="en-US" altLang="zh-TW" i="1">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ub>
                                  </m:sSub>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i="1">
                                      <a:latin typeface="Cambria Math" panose="02040503050406030204" pitchFamily="18" charset="0"/>
                                      <a:ea typeface="Cambria Math" panose="02040503050406030204" pitchFamily="18" charset="0"/>
                                      <a:cs typeface="Times New Roman" panose="02020603050405020304" pitchFamily="18" charset="0"/>
                                    </a:rPr>
                                    <m:t>𝑠</m:t>
                                  </m:r>
                                  <m:sSubSup>
                                    <m:sSubSup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ea typeface="Cambria Math" panose="02040503050406030204" pitchFamily="18" charset="0"/>
                                          <a:cs typeface="Times New Roman" panose="02020603050405020304" pitchFamily="18" charset="0"/>
                                        </a:rPr>
                                        <m:t>||</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𝑇</m:t>
                                      </m:r>
                                    </m:sub>
                                    <m:sup>
                                      <m:r>
                                        <a:rPr lang="en-US" altLang="zh-TW" i="1">
                                          <a:latin typeface="Cambria Math" panose="02040503050406030204" pitchFamily="18" charset="0"/>
                                          <a:ea typeface="Cambria Math" panose="02040503050406030204" pitchFamily="18" charset="0"/>
                                          <a:cs typeface="Times New Roman" panose="02020603050405020304" pitchFamily="18" charset="0"/>
                                        </a:rPr>
                                        <m:t>2</m:t>
                                      </m:r>
                                    </m:sup>
                                  </m:sSubSup>
                                </m:e>
                              </m:nary>
                            </m:e>
                          </m:nary>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den>
                      </m:f>
                    </m:oMath>
                  </m:oMathPara>
                </a14:m>
                <a:endParaRPr lang="en-US" altLang="zh-TW" dirty="0" smtClean="0">
                  <a:latin typeface="Times New Roman" panose="02020603050405020304" pitchFamily="18" charset="0"/>
                  <a:cs typeface="Times New Roman" panose="02020603050405020304" pitchFamily="18" charset="0"/>
                </a:endParaRPr>
              </a:p>
              <a:p>
                <a:pPr marL="0" indent="0">
                  <a:buNone/>
                </a:pP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and </a:t>
                </a:r>
                <a14:m>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𝐷</m:t>
                        </m:r>
                      </m:e>
                      <m:sub>
                        <m:r>
                          <a:rPr lang="en-US" altLang="zh-TW" b="0" i="1" smtClean="0">
                            <a:latin typeface="Cambria Math" panose="02040503050406030204" pitchFamily="18" charset="0"/>
                            <a:cs typeface="Times New Roman" panose="02020603050405020304" pitchFamily="18" charset="0"/>
                          </a:rPr>
                          <m:t>+</m:t>
                        </m:r>
                      </m:sub>
                    </m:sSub>
                    <m:r>
                      <a:rPr lang="el-GR" altLang="zh-TW" i="1">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TW" dirty="0" smtClean="0">
                    <a:latin typeface="Times New Roman" panose="02020603050405020304" pitchFamily="18" charset="0"/>
                    <a:cs typeface="Times New Roman" panose="02020603050405020304" pitchFamily="18" charset="0"/>
                  </a:rPr>
                  <a:t>{0, …, </a:t>
                </a:r>
                <a14:m>
                  <m:oMath xmlns:m="http://schemas.openxmlformats.org/officeDocument/2006/math">
                    <m:sSub>
                      <m:sSubPr>
                        <m:ctrlPr>
                          <a:rPr lang="en-US" altLang="zh-TW"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𝑚𝑎𝑥</m:t>
                        </m:r>
                      </m:sub>
                    </m:sSub>
                  </m:oMath>
                </a14:m>
                <a:r>
                  <a:rPr lang="en-US" altLang="zh-TW" dirty="0" smtClean="0">
                    <a:latin typeface="Times New Roman" panose="02020603050405020304" pitchFamily="18" charset="0"/>
                    <a:cs typeface="Times New Roman" panose="02020603050405020304" pitchFamily="18" charset="0"/>
                  </a:rPr>
                  <a:t>}	</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383034"/>
                <a:ext cx="10515600" cy="4825958"/>
              </a:xfrm>
              <a:blipFill rotWithShape="0">
                <a:blip r:embed="rId2"/>
                <a:stretch>
                  <a:fillRect l="-1391" t="-2525"/>
                </a:stretch>
              </a:blipFill>
            </p:spPr>
            <p:txBody>
              <a:bodyPr/>
              <a:lstStyle/>
              <a:p>
                <a:r>
                  <a:rPr lang="zh-TW" altLang="en-US">
                    <a:noFill/>
                  </a:rPr>
                  <a:t> </a:t>
                </a:r>
              </a:p>
            </p:txBody>
          </p:sp>
        </mc:Fallback>
      </mc:AlternateContent>
      <p:sp>
        <p:nvSpPr>
          <p:cNvPr id="5" name="投影片編號版面配置區 4"/>
          <p:cNvSpPr>
            <a:spLocks noGrp="1"/>
          </p:cNvSpPr>
          <p:nvPr>
            <p:ph type="sldNum" sz="quarter" idx="12"/>
          </p:nvPr>
        </p:nvSpPr>
        <p:spPr/>
        <p:txBody>
          <a:bodyPr/>
          <a:lstStyle/>
          <a:p>
            <a:fld id="{C8A97ABC-EF3A-4183-AE2C-72E330AF586D}" type="slidenum">
              <a:rPr lang="zh-TW" altLang="en-US" smtClean="0"/>
              <a:t>13</a:t>
            </a:fld>
            <a:endParaRPr lang="zh-TW" altLang="en-US" dirty="0"/>
          </a:p>
        </p:txBody>
      </p:sp>
    </p:spTree>
    <p:extLst>
      <p:ext uri="{BB962C8B-B14F-4D97-AF65-F5344CB8AC3E}">
        <p14:creationId xmlns:p14="http://schemas.microsoft.com/office/powerpoint/2010/main" val="57235189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normAutofit/>
          </a:bodyPr>
          <a:lstStyle/>
          <a:p>
            <a:pPr algn="ctr"/>
            <a:r>
              <a:rPr lang="en-US" altLang="zh-TW" dirty="0" smtClean="0">
                <a:latin typeface="Times New Roman" panose="02020603050405020304" pitchFamily="18" charset="0"/>
                <a:cs typeface="Times New Roman" panose="02020603050405020304" pitchFamily="18" charset="0"/>
              </a:rPr>
              <a:t>Maximum </a:t>
            </a:r>
            <a:r>
              <a:rPr lang="en-US" altLang="zh-TW" dirty="0">
                <a:latin typeface="Times New Roman" panose="02020603050405020304" pitchFamily="18" charset="0"/>
                <a:cs typeface="Times New Roman" panose="02020603050405020304" pitchFamily="18" charset="0"/>
              </a:rPr>
              <a:t>a posteriori (MAP</a:t>
            </a:r>
            <a:r>
              <a:rPr lang="en-US" altLang="zh-TW" dirty="0" smtClean="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383034"/>
                <a:ext cx="10515600" cy="4825958"/>
              </a:xfrm>
            </p:spPr>
            <p:txBody>
              <a:bodyPr>
                <a:normAutofit/>
              </a:bodyPr>
              <a:lstStyle/>
              <a:p>
                <a:pPr marL="0" indent="0">
                  <a:buNone/>
                </a:pPr>
                <a:r>
                  <a:rPr lang="en-US" altLang="zh-TW" sz="3000" dirty="0" smtClean="0">
                    <a:latin typeface="Times New Roman" panose="02020603050405020304" pitchFamily="18" charset="0"/>
                    <a:cs typeface="Times New Roman" panose="02020603050405020304" pitchFamily="18" charset="0"/>
                  </a:rPr>
                  <a:t>However, we do not know the latent sources, so we approximate the MAP classifier by using training data as a proxy for the latent sources. </a:t>
                </a:r>
              </a:p>
              <a:p>
                <a:pPr marL="0" indent="0" algn="ctr">
                  <a:buNone/>
                </a:pPr>
                <a:endParaRPr lang="en-US" altLang="zh-TW" sz="3000" dirty="0">
                  <a:latin typeface="Times New Roman" panose="02020603050405020304" pitchFamily="18" charset="0"/>
                  <a:cs typeface="Times New Roman" panose="02020603050405020304" pitchFamily="18" charset="0"/>
                </a:endParaRPr>
              </a:p>
              <a:p>
                <a:pPr marL="0" indent="0" algn="ctr">
                  <a:buNone/>
                </a:pPr>
                <a14:m>
                  <m:oMathPara xmlns:m="http://schemas.openxmlformats.org/officeDocument/2006/math">
                    <m:oMathParaPr>
                      <m:jc m:val="centerGroup"/>
                    </m:oMathParaPr>
                    <m:oMath xmlns:m="http://schemas.openxmlformats.org/officeDocument/2006/math">
                      <m:sSubSup>
                        <m:sSubSupPr>
                          <m:ctrlPr>
                            <a:rPr lang="el-GR" altLang="zh-TW" i="1" smtClean="0">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l-GR" altLang="zh-TW" i="1">
                              <a:latin typeface="Cambria Math" panose="02040503050406030204" pitchFamily="18" charset="0"/>
                              <a:ea typeface="Cambria Math" panose="02040503050406030204" pitchFamily="18" charset="0"/>
                              <a:cs typeface="Times New Roman" panose="02020603050405020304" pitchFamily="18" charset="0"/>
                            </a:rPr>
                            <m:t>Λ</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𝑀𝐴𝑃</m:t>
                          </m:r>
                        </m:sub>
                        <m:sup>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𝑇</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up>
                      </m:sSubSup>
                      <m:r>
                        <a:rPr lang="el-GR"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 </m:t>
                      </m:r>
                      <m:f>
                        <m:f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fPr>
                        <m:num>
                          <m:nary>
                            <m:naryPr>
                              <m:chr m:val="∑"/>
                              <m:limLoc m:val="subSup"/>
                              <m:supHide m:val="on"/>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naryPr>
                            <m:sub>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𝑟</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ub>
                              </m:sSub>
                              <m:r>
                                <m:rPr>
                                  <m:brk m:alnAt="9"/>
                                </m:rP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 </m:t>
                              </m:r>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𝑅</m:t>
                                  </m:r>
                                </m:e>
                                <m:sub>
                                  <m:r>
                                    <m:rPr>
                                      <m:brk m:alnAt="9"/>
                                    </m:r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ub>
                              </m:sSub>
                            </m:sub>
                            <m:sup/>
                            <m:e>
                              <m:r>
                                <m:rPr>
                                  <m:sty m:val="p"/>
                                </m:rPr>
                                <a:rPr lang="en-US" altLang="zh-TW">
                                  <a:latin typeface="Cambria Math" panose="02040503050406030204" pitchFamily="18" charset="0"/>
                                  <a:ea typeface="Cambria Math" panose="02040503050406030204" pitchFamily="18" charset="0"/>
                                  <a:cs typeface="Times New Roman" panose="02020603050405020304" pitchFamily="18" charset="0"/>
                                </a:rPr>
                                <m:t>exp</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zh-TW" altLang="en-US" i="1">
                                  <a:latin typeface="Cambria Math" panose="02040503050406030204" pitchFamily="18" charset="0"/>
                                  <a:cs typeface="Times New Roman" panose="02020603050405020304" pitchFamily="18" charset="0"/>
                                </a:rPr>
                                <m:t>𝛾</m:t>
                              </m:r>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𝑚𝑖𝑛</m:t>
                                  </m:r>
                                </m:e>
                                <m:sub>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m:t>
                                      </m:r>
                                    </m:sub>
                                  </m:sSub>
                                  <m:r>
                                    <m:rPr>
                                      <m:brk m:alnAt="9"/>
                                    </m:rP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𝐷</m:t>
                                  </m:r>
                                </m:sub>
                              </m:sSub>
                              <m:r>
                                <a:rPr lang="en-US" altLang="zh-TW" i="1">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en-US" altLang="zh-TW" i="1" smtClean="0">
                                      <a:solidFill>
                                        <a:srgbClr val="FF0000"/>
                                      </a:solidFill>
                                      <a:latin typeface="Cambria Math" panose="02040503050406030204" pitchFamily="18" charset="0"/>
                                      <a:cs typeface="Times New Roman" panose="02020603050405020304" pitchFamily="18" charset="0"/>
                                    </a:rPr>
                                    <m:t>𝑟</m:t>
                                  </m:r>
                                </m:e>
                                <m:sub>
                                  <m:r>
                                    <a:rPr lang="en-US" altLang="zh-TW" b="0" i="1" smtClean="0">
                                      <a:latin typeface="Cambria Math" panose="02040503050406030204" pitchFamily="18" charset="0"/>
                                      <a:cs typeface="Times New Roman" panose="02020603050405020304" pitchFamily="18" charset="0"/>
                                    </a:rPr>
                                    <m:t>+</m:t>
                                  </m:r>
                                </m:sub>
                              </m:sSub>
                              <m:r>
                                <a:rPr lang="en-US" altLang="zh-TW" i="1">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ub>
                              </m:sSub>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i="1">
                                  <a:latin typeface="Cambria Math" panose="02040503050406030204" pitchFamily="18" charset="0"/>
                                  <a:ea typeface="Cambria Math" panose="02040503050406030204" pitchFamily="18" charset="0"/>
                                  <a:cs typeface="Times New Roman" panose="02020603050405020304" pitchFamily="18" charset="0"/>
                                </a:rPr>
                                <m:t>𝑠</m:t>
                              </m:r>
                              <m:r>
                                <a:rPr lang="en-US" altLang="zh-TW" i="1">
                                  <a:latin typeface="Cambria Math" panose="02040503050406030204" pitchFamily="18" charset="0"/>
                                  <a:ea typeface="Cambria Math" panose="02040503050406030204" pitchFamily="18" charset="0"/>
                                  <a:cs typeface="Times New Roman" panose="02020603050405020304" pitchFamily="18" charset="0"/>
                                </a:rPr>
                                <m:t> </m:t>
                              </m:r>
                              <m:sSubSup>
                                <m:sSubSup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ea typeface="Cambria Math" panose="02040503050406030204" pitchFamily="18" charset="0"/>
                                      <a:cs typeface="Times New Roman" panose="02020603050405020304" pitchFamily="18" charset="0"/>
                                    </a:rPr>
                                    <m:t>||</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𝑇</m:t>
                                  </m:r>
                                </m:sub>
                                <m:sup>
                                  <m:r>
                                    <a:rPr lang="en-US" altLang="zh-TW" i="1">
                                      <a:latin typeface="Cambria Math" panose="02040503050406030204" pitchFamily="18" charset="0"/>
                                      <a:ea typeface="Cambria Math" panose="02040503050406030204" pitchFamily="18" charset="0"/>
                                      <a:cs typeface="Times New Roman" panose="02020603050405020304" pitchFamily="18" charset="0"/>
                                    </a:rPr>
                                    <m:t>2</m:t>
                                  </m:r>
                                </m:sup>
                              </m:sSubSup>
                              <m:r>
                                <a:rPr lang="en-US" altLang="zh-TW" i="1">
                                  <a:latin typeface="Cambria Math" panose="02040503050406030204" pitchFamily="18" charset="0"/>
                                  <a:ea typeface="Cambria Math" panose="02040503050406030204" pitchFamily="18" charset="0"/>
                                  <a:cs typeface="Times New Roman" panose="02020603050405020304" pitchFamily="18" charset="0"/>
                                </a:rPr>
                                <m:t>))</m:t>
                              </m:r>
                            </m:e>
                          </m:nary>
                        </m:num>
                        <m:den>
                          <m:nary>
                            <m:naryPr>
                              <m:chr m:val="∑"/>
                              <m:limLoc m:val="subSup"/>
                              <m:supHide m:val="on"/>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naryPr>
                            <m:sub>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𝑟</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ub>
                              </m:sSub>
                              <m:r>
                                <m:rPr>
                                  <m:brk m:alnAt="9"/>
                                </m:rP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i="1">
                                  <a:latin typeface="Cambria Math" panose="02040503050406030204" pitchFamily="18" charset="0"/>
                                  <a:ea typeface="Cambria Math" panose="02040503050406030204" pitchFamily="18" charset="0"/>
                                  <a:cs typeface="Times New Roman" panose="02020603050405020304" pitchFamily="18" charset="0"/>
                                </a:rPr>
                                <m:t> </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𝑅</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ub>
                              </m:sSub>
                            </m:sub>
                            <m:sup/>
                            <m:e>
                              <m:r>
                                <m:rPr>
                                  <m:sty m:val="p"/>
                                </m:rPr>
                                <a:rPr lang="en-US" altLang="zh-TW">
                                  <a:latin typeface="Cambria Math" panose="02040503050406030204" pitchFamily="18" charset="0"/>
                                  <a:ea typeface="Cambria Math" panose="02040503050406030204" pitchFamily="18" charset="0"/>
                                  <a:cs typeface="Times New Roman" panose="02020603050405020304" pitchFamily="18" charset="0"/>
                                </a:rPr>
                                <m:t>exp</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zh-TW" altLang="en-US" i="1">
                                  <a:latin typeface="Cambria Math" panose="02040503050406030204" pitchFamily="18" charset="0"/>
                                  <a:cs typeface="Times New Roman" panose="02020603050405020304" pitchFamily="18" charset="0"/>
                                </a:rPr>
                                <m:t>𝛾</m:t>
                              </m:r>
                              <m:r>
                                <a:rPr lang="en-US" altLang="zh-TW" i="1">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𝑚𝑖𝑛</m:t>
                                  </m:r>
                                </m:e>
                                <m:sub>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m:t>
                                      </m:r>
                                    </m:sub>
                                  </m:sSub>
                                  <m:r>
                                    <m:rPr>
                                      <m:brk m:alnAt="9"/>
                                    </m:rP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i="1">
                                      <a:latin typeface="Cambria Math" panose="02040503050406030204" pitchFamily="18" charset="0"/>
                                      <a:ea typeface="Cambria Math" panose="02040503050406030204" pitchFamily="18" charset="0"/>
                                      <a:cs typeface="Times New Roman" panose="02020603050405020304" pitchFamily="18" charset="0"/>
                                    </a:rPr>
                                    <m:t>𝐷</m:t>
                                  </m:r>
                                </m:sub>
                              </m:sSub>
                              <m:r>
                                <a:rPr lang="en-US" altLang="zh-TW" i="1">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en-US" altLang="zh-TW" i="1" smtClean="0">
                                      <a:solidFill>
                                        <a:srgbClr val="FF0000"/>
                                      </a:solidFill>
                                      <a:latin typeface="Cambria Math" panose="02040503050406030204" pitchFamily="18" charset="0"/>
                                      <a:cs typeface="Times New Roman" panose="02020603050405020304" pitchFamily="18" charset="0"/>
                                    </a:rPr>
                                    <m:t>𝑟</m:t>
                                  </m:r>
                                </m:e>
                                <m:sub>
                                  <m:r>
                                    <a:rPr lang="en-US" altLang="zh-TW" i="1">
                                      <a:latin typeface="Cambria Math" panose="02040503050406030204" pitchFamily="18" charset="0"/>
                                      <a:cs typeface="Times New Roman" panose="02020603050405020304" pitchFamily="18" charset="0"/>
                                    </a:rPr>
                                    <m:t>−</m:t>
                                  </m:r>
                                </m:sub>
                              </m:sSub>
                              <m:r>
                                <a:rPr lang="en-US" altLang="zh-TW" i="1">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m:t>
                                  </m:r>
                                </m:sub>
                              </m:sSub>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i="1">
                                  <a:latin typeface="Cambria Math" panose="02040503050406030204" pitchFamily="18" charset="0"/>
                                  <a:ea typeface="Cambria Math" panose="02040503050406030204" pitchFamily="18" charset="0"/>
                                  <a:cs typeface="Times New Roman" panose="02020603050405020304" pitchFamily="18" charset="0"/>
                                </a:rPr>
                                <m:t>𝑠</m:t>
                              </m:r>
                              <m:r>
                                <a:rPr lang="en-US" altLang="zh-TW" i="1">
                                  <a:latin typeface="Cambria Math" panose="02040503050406030204" pitchFamily="18" charset="0"/>
                                  <a:ea typeface="Cambria Math" panose="02040503050406030204" pitchFamily="18" charset="0"/>
                                  <a:cs typeface="Times New Roman" panose="02020603050405020304" pitchFamily="18" charset="0"/>
                                </a:rPr>
                                <m:t> </m:t>
                              </m:r>
                              <m:sSubSup>
                                <m:sSubSup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ea typeface="Cambria Math" panose="02040503050406030204" pitchFamily="18" charset="0"/>
                                      <a:cs typeface="Times New Roman" panose="02020603050405020304" pitchFamily="18" charset="0"/>
                                    </a:rPr>
                                    <m:t>||</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𝑇</m:t>
                                  </m:r>
                                </m:sub>
                                <m:sup>
                                  <m:r>
                                    <a:rPr lang="en-US" altLang="zh-TW" i="1">
                                      <a:latin typeface="Cambria Math" panose="02040503050406030204" pitchFamily="18" charset="0"/>
                                      <a:ea typeface="Cambria Math" panose="02040503050406030204" pitchFamily="18" charset="0"/>
                                      <a:cs typeface="Times New Roman" panose="02020603050405020304" pitchFamily="18" charset="0"/>
                                    </a:rPr>
                                    <m:t>2</m:t>
                                  </m:r>
                                </m:sup>
                              </m:sSubSup>
                              <m:r>
                                <a:rPr lang="en-US" altLang="zh-TW" i="1">
                                  <a:latin typeface="Cambria Math" panose="02040503050406030204" pitchFamily="18" charset="0"/>
                                  <a:ea typeface="Cambria Math" panose="02040503050406030204" pitchFamily="18" charset="0"/>
                                  <a:cs typeface="Times New Roman" panose="02020603050405020304" pitchFamily="18" charset="0"/>
                                </a:rPr>
                                <m:t>))</m:t>
                              </m:r>
                            </m:e>
                          </m:nary>
                        </m:den>
                      </m:f>
                    </m:oMath>
                  </m:oMathPara>
                </a14:m>
                <a:endParaRPr lang="en-US" altLang="zh-TW" dirty="0" smtClean="0">
                  <a:latin typeface="Times New Roman" panose="02020603050405020304" pitchFamily="18" charset="0"/>
                  <a:cs typeface="Times New Roman" panose="02020603050405020304" pitchFamily="18" charset="0"/>
                </a:endParaRPr>
              </a:p>
              <a:p>
                <a:pPr marL="0" indent="0">
                  <a:buNone/>
                </a:pPr>
                <a:endParaRPr lang="en-US" altLang="zh-TW" dirty="0" smtClean="0">
                  <a:latin typeface="Times New Roman" panose="02020603050405020304" pitchFamily="18" charset="0"/>
                  <a:cs typeface="Times New Roman" panose="02020603050405020304" pitchFamily="18" charset="0"/>
                </a:endParaRPr>
              </a:p>
              <a:p>
                <a:pPr marL="0" indent="0">
                  <a:buNone/>
                </a:pPr>
                <a14:m>
                  <m:oMath xmlns:m="http://schemas.openxmlformats.org/officeDocument/2006/math">
                    <m:sSubSup>
                      <m:sSubSupPr>
                        <m:ctrlPr>
                          <a:rPr lang="en-US" altLang="zh-TW" i="1">
                            <a:latin typeface="Cambria Math" panose="02040503050406030204" pitchFamily="18" charset="0"/>
                            <a:cs typeface="Times New Roman" panose="02020603050405020304" pitchFamily="18" charset="0"/>
                          </a:rPr>
                        </m:ctrlPr>
                      </m:sSubSupPr>
                      <m:e>
                        <m:acc>
                          <m:accPr>
                            <m:chr m:val="̂"/>
                            <m:ctrlPr>
                              <a:rPr lang="en-US" altLang="zh-TW" i="1">
                                <a:latin typeface="Cambria Math" panose="02040503050406030204" pitchFamily="18" charset="0"/>
                                <a:cs typeface="Times New Roman" panose="02020603050405020304" pitchFamily="18" charset="0"/>
                              </a:rPr>
                            </m:ctrlPr>
                          </m:accPr>
                          <m:e>
                            <m:r>
                              <a:rPr lang="en-US" altLang="zh-TW" i="1">
                                <a:latin typeface="Cambria Math" panose="02040503050406030204" pitchFamily="18" charset="0"/>
                                <a:cs typeface="Times New Roman" panose="02020603050405020304" pitchFamily="18" charset="0"/>
                              </a:rPr>
                              <m:t>𝐿</m:t>
                            </m:r>
                          </m:e>
                        </m:acc>
                      </m:e>
                      <m:sub>
                        <m:r>
                          <a:rPr lang="zh-TW" altLang="en-US" i="1">
                            <a:latin typeface="Cambria Math" panose="02040503050406030204" pitchFamily="18" charset="0"/>
                            <a:cs typeface="Times New Roman" panose="02020603050405020304" pitchFamily="18" charset="0"/>
                          </a:rPr>
                          <m:t>𝜃</m:t>
                        </m:r>
                      </m:sub>
                      <m:sup>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𝑇</m:t>
                        </m:r>
                        <m:r>
                          <a:rPr lang="en-US" altLang="zh-TW" i="1">
                            <a:latin typeface="Cambria Math" panose="02040503050406030204" pitchFamily="18" charset="0"/>
                            <a:cs typeface="Times New Roman" panose="02020603050405020304" pitchFamily="18" charset="0"/>
                          </a:rPr>
                          <m:t>)</m:t>
                        </m:r>
                      </m:sup>
                    </m:sSubSup>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𝑠</m:t>
                        </m:r>
                        <m:r>
                          <a:rPr lang="en-US" altLang="zh-TW" i="1">
                            <a:latin typeface="Cambria Math" panose="02040503050406030204" pitchFamily="18" charset="0"/>
                            <a:cs typeface="Times New Roman" panose="02020603050405020304" pitchFamily="18" charset="0"/>
                          </a:rPr>
                          <m:t>;</m:t>
                        </m:r>
                        <m:r>
                          <a:rPr lang="zh-TW" altLang="en-US" i="1">
                            <a:latin typeface="Cambria Math" panose="02040503050406030204" pitchFamily="18" charset="0"/>
                            <a:cs typeface="Times New Roman" panose="02020603050405020304" pitchFamily="18" charset="0"/>
                          </a:rPr>
                          <m:t>𝛾</m:t>
                        </m:r>
                      </m:e>
                    </m:d>
                    <m:r>
                      <a:rPr lang="en-US" altLang="zh-TW" i="1">
                        <a:latin typeface="Cambria Math" panose="02040503050406030204" pitchFamily="18" charset="0"/>
                        <a:cs typeface="Times New Roman" panose="02020603050405020304" pitchFamily="18" charset="0"/>
                      </a:rPr>
                      <m:t>=</m:t>
                    </m:r>
                    <m:d>
                      <m:dPr>
                        <m:begChr m:val="{"/>
                        <m:endChr m:val=""/>
                        <m:ctrlPr>
                          <a:rPr lang="en-US" altLang="zh-TW" i="1">
                            <a:latin typeface="Cambria Math" panose="02040503050406030204" pitchFamily="18" charset="0"/>
                            <a:cs typeface="Times New Roman" panose="02020603050405020304" pitchFamily="18" charset="0"/>
                          </a:rPr>
                        </m:ctrlPr>
                      </m:dPr>
                      <m:e>
                        <m:eqArr>
                          <m:eqArrPr>
                            <m:ctrlPr>
                              <a:rPr lang="en-US" altLang="zh-TW" i="1">
                                <a:latin typeface="Cambria Math" panose="02040503050406030204" pitchFamily="18" charset="0"/>
                                <a:cs typeface="Times New Roman" panose="02020603050405020304" pitchFamily="18" charset="0"/>
                              </a:rPr>
                            </m:ctrlPr>
                          </m:eqArrPr>
                          <m:e>
                            <m:r>
                              <a:rPr lang="en-US" altLang="zh-TW" i="1">
                                <a:latin typeface="Cambria Math" panose="02040503050406030204" pitchFamily="18" charset="0"/>
                                <a:cs typeface="Times New Roman" panose="02020603050405020304" pitchFamily="18" charset="0"/>
                              </a:rPr>
                              <m:t>&amp;+1  </m:t>
                            </m:r>
                            <m:r>
                              <a:rPr lang="en-US" altLang="zh-TW" i="1">
                                <a:latin typeface="Cambria Math" panose="02040503050406030204" pitchFamily="18" charset="0"/>
                                <a:cs typeface="Times New Roman" panose="02020603050405020304" pitchFamily="18" charset="0"/>
                              </a:rPr>
                              <m:t>𝑖𝑓</m:t>
                            </m:r>
                            <m:r>
                              <a:rPr lang="en-US" altLang="zh-TW" i="1">
                                <a:latin typeface="Cambria Math" panose="02040503050406030204" pitchFamily="18" charset="0"/>
                                <a:cs typeface="Times New Roman" panose="02020603050405020304" pitchFamily="18" charset="0"/>
                              </a:rPr>
                              <m:t> </m:t>
                            </m:r>
                            <m:sSup>
                              <m:sSup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l-GR" altLang="zh-TW" i="1">
                                    <a:latin typeface="Cambria Math" panose="02040503050406030204" pitchFamily="18" charset="0"/>
                                    <a:ea typeface="Cambria Math" panose="02040503050406030204" pitchFamily="18" charset="0"/>
                                    <a:cs typeface="Times New Roman" panose="02020603050405020304" pitchFamily="18" charset="0"/>
                                  </a:rPr>
                                  <m:t>Λ</m:t>
                                </m:r>
                              </m:e>
                              <m:sup>
                                <m:d>
                                  <m:d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ea typeface="Cambria Math" panose="02040503050406030204" pitchFamily="18" charset="0"/>
                                        <a:cs typeface="Times New Roman" panose="02020603050405020304" pitchFamily="18" charset="0"/>
                                      </a:rPr>
                                      <m:t>𝑇</m:t>
                                    </m:r>
                                  </m:e>
                                </m:d>
                              </m:sup>
                            </m:sSup>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i="1">
                                <a:latin typeface="Cambria Math" panose="02040503050406030204" pitchFamily="18" charset="0"/>
                                <a:ea typeface="Cambria Math" panose="02040503050406030204" pitchFamily="18" charset="0"/>
                                <a:cs typeface="Times New Roman" panose="02020603050405020304" pitchFamily="18" charset="0"/>
                              </a:rPr>
                              <m:t>𝑠</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zh-TW" altLang="en-US" i="1">
                                <a:latin typeface="Cambria Math" panose="02040503050406030204" pitchFamily="18" charset="0"/>
                                <a:cs typeface="Times New Roman" panose="02020603050405020304" pitchFamily="18" charset="0"/>
                              </a:rPr>
                              <m:t>𝛾</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zh-TW" altLang="en-US" i="1" smtClean="0">
                                <a:latin typeface="Cambria Math" panose="02040503050406030204" pitchFamily="18" charset="0"/>
                                <a:ea typeface="Cambria Math" panose="02040503050406030204" pitchFamily="18" charset="0"/>
                                <a:cs typeface="Times New Roman" panose="02020603050405020304" pitchFamily="18" charset="0"/>
                              </a:rPr>
                              <m:t>𝜃</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e>
                          <m:e>
                            <m:r>
                              <a:rPr lang="en-US" altLang="zh-TW" i="1">
                                <a:latin typeface="Cambria Math" panose="02040503050406030204" pitchFamily="18" charset="0"/>
                                <a:ea typeface="Cambria Math" panose="02040503050406030204" pitchFamily="18" charset="0"/>
                                <a:cs typeface="Times New Roman" panose="02020603050405020304" pitchFamily="18" charset="0"/>
                              </a:rPr>
                              <m:t>&amp;</m:t>
                            </m:r>
                            <m:r>
                              <a:rPr lang="en-US" altLang="zh-TW" i="1">
                                <a:latin typeface="Cambria Math" panose="02040503050406030204" pitchFamily="18" charset="0"/>
                                <a:cs typeface="Times New Roman" panose="02020603050405020304" pitchFamily="18" charset="0"/>
                              </a:rPr>
                              <m:t>−1 </m:t>
                            </m:r>
                            <m:r>
                              <a:rPr lang="zh-TW" altLang="en-US" i="1">
                                <a:latin typeface="Cambria Math" panose="02040503050406030204" pitchFamily="18" charset="0"/>
                                <a:cs typeface="Times New Roman" panose="02020603050405020304" pitchFamily="18" charset="0"/>
                              </a:rPr>
                              <m:t> </m:t>
                            </m:r>
                            <m:r>
                              <a:rPr lang="en-US" altLang="zh-TW" i="1">
                                <a:latin typeface="Cambria Math" panose="02040503050406030204" pitchFamily="18" charset="0"/>
                                <a:cs typeface="Times New Roman" panose="02020603050405020304" pitchFamily="18" charset="0"/>
                              </a:rPr>
                              <m:t>𝑜𝑡h𝑒𝑟𝑤𝑖𝑠𝑒</m:t>
                            </m:r>
                            <m:r>
                              <a:rPr lang="en-US" altLang="zh-TW" i="1">
                                <a:latin typeface="Cambria Math" panose="02040503050406030204" pitchFamily="18" charset="0"/>
                                <a:cs typeface="Times New Roman" panose="02020603050405020304" pitchFamily="18" charset="0"/>
                              </a:rPr>
                              <m:t>,</m:t>
                            </m:r>
                          </m:e>
                        </m:eqArr>
                      </m:e>
                    </m:d>
                  </m:oMath>
                </a14:m>
                <a:r>
                  <a:rPr lang="en-US" altLang="zh-TW" dirty="0" smtClean="0">
                    <a:latin typeface="Times New Roman" panose="02020603050405020304" pitchFamily="18" charset="0"/>
                    <a:cs typeface="Times New Roman" panose="02020603050405020304" pitchFamily="18" charset="0"/>
                  </a:rPr>
                  <a:t>	</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383034"/>
                <a:ext cx="10515600" cy="4825958"/>
              </a:xfrm>
              <a:blipFill rotWithShape="0">
                <a:blip r:embed="rId2"/>
                <a:stretch>
                  <a:fillRect l="-1391" t="-2525"/>
                </a:stretch>
              </a:blipFill>
            </p:spPr>
            <p:txBody>
              <a:bodyPr/>
              <a:lstStyle/>
              <a:p>
                <a:r>
                  <a:rPr lang="zh-TW" altLang="en-US">
                    <a:noFill/>
                  </a:rPr>
                  <a:t> </a:t>
                </a:r>
              </a:p>
            </p:txBody>
          </p:sp>
        </mc:Fallback>
      </mc:AlternateContent>
      <p:sp>
        <p:nvSpPr>
          <p:cNvPr id="5" name="投影片編號版面配置區 4"/>
          <p:cNvSpPr>
            <a:spLocks noGrp="1"/>
          </p:cNvSpPr>
          <p:nvPr>
            <p:ph type="sldNum" sz="quarter" idx="12"/>
          </p:nvPr>
        </p:nvSpPr>
        <p:spPr/>
        <p:txBody>
          <a:bodyPr/>
          <a:lstStyle/>
          <a:p>
            <a:fld id="{C8A97ABC-EF3A-4183-AE2C-72E330AF586D}" type="slidenum">
              <a:rPr lang="zh-TW" altLang="en-US" smtClean="0"/>
              <a:t>14</a:t>
            </a:fld>
            <a:endParaRPr lang="zh-TW" altLang="en-US" dirty="0"/>
          </a:p>
        </p:txBody>
      </p:sp>
    </p:spTree>
    <p:extLst>
      <p:ext uri="{BB962C8B-B14F-4D97-AF65-F5344CB8AC3E}">
        <p14:creationId xmlns:p14="http://schemas.microsoft.com/office/powerpoint/2010/main" val="37254677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lstStyle/>
          <a:p>
            <a:pPr algn="ctr"/>
            <a:r>
              <a:rPr lang="en-US" altLang="zh-TW" dirty="0" smtClean="0">
                <a:latin typeface="Times New Roman" panose="02020603050405020304" pitchFamily="18" charset="0"/>
                <a:cs typeface="Times New Roman" panose="02020603050405020304" pitchFamily="18" charset="0"/>
              </a:rPr>
              <a:t>Results on Synthetic Data</a:t>
            </a:r>
            <a:endParaRPr lang="zh-TW" altLang="en-US" dirty="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15</a:t>
            </a:fld>
            <a:endParaRPr lang="zh-TW" altLang="en-US" dirty="0"/>
          </a:p>
        </p:txBody>
      </p:sp>
      <p:grpSp>
        <p:nvGrpSpPr>
          <p:cNvPr id="3" name="群組 2"/>
          <p:cNvGrpSpPr/>
          <p:nvPr/>
        </p:nvGrpSpPr>
        <p:grpSpPr>
          <a:xfrm>
            <a:off x="1066800" y="2143927"/>
            <a:ext cx="10058400" cy="3304171"/>
            <a:chOff x="838200" y="1235676"/>
            <a:chExt cx="10058400" cy="3304171"/>
          </a:xfrm>
        </p:grpSpPr>
        <p:pic>
          <p:nvPicPr>
            <p:cNvPr id="7" name="圖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235676"/>
              <a:ext cx="10058400" cy="2934268"/>
            </a:xfrm>
            <a:prstGeom prst="rect">
              <a:avLst/>
            </a:prstGeom>
          </p:spPr>
        </p:pic>
        <mc:AlternateContent xmlns:mc="http://schemas.openxmlformats.org/markup-compatibility/2006" xmlns:a14="http://schemas.microsoft.com/office/drawing/2010/main">
          <mc:Choice Requires="a14">
            <p:sp>
              <p:nvSpPr>
                <p:cNvPr id="14" name="矩形 13"/>
                <p:cNvSpPr/>
                <p:nvPr/>
              </p:nvSpPr>
              <p:spPr>
                <a:xfrm>
                  <a:off x="6633808" y="4170515"/>
                  <a:ext cx="3953583" cy="369332"/>
                </a:xfrm>
                <a:prstGeom prst="rect">
                  <a:avLst/>
                </a:prstGeom>
              </p:spPr>
              <p:txBody>
                <a:bodyPr wrap="none">
                  <a:spAutoFit/>
                </a:bodyPr>
                <a:lstStyle/>
                <a:p>
                  <a:r>
                    <a:rPr lang="en-US" altLang="zh-TW" dirty="0" smtClean="0">
                      <a:latin typeface="Times New Roman" panose="02020603050405020304" pitchFamily="18" charset="0"/>
                      <a:cs typeface="Times New Roman" panose="02020603050405020304" pitchFamily="18" charset="0"/>
                    </a:rPr>
                    <a:t>Classification error rate at </a:t>
                  </a:r>
                  <a:r>
                    <a:rPr lang="en-US" altLang="zh-TW" i="1" dirty="0" smtClean="0">
                      <a:latin typeface="Times New Roman" panose="02020603050405020304" pitchFamily="18" charset="0"/>
                      <a:cs typeface="Times New Roman" panose="02020603050405020304" pitchFamily="18" charset="0"/>
                    </a:rPr>
                    <a:t>T</a:t>
                  </a:r>
                  <a:r>
                    <a:rPr lang="en-US" altLang="zh-TW" dirty="0" smtClean="0">
                      <a:latin typeface="Times New Roman" panose="02020603050405020304" pitchFamily="18" charset="0"/>
                      <a:cs typeface="Times New Roman" panose="02020603050405020304" pitchFamily="18" charset="0"/>
                    </a:rPr>
                    <a:t> = 100 vs. </a:t>
                  </a:r>
                  <a14:m>
                    <m:oMath xmlns:m="http://schemas.openxmlformats.org/officeDocument/2006/math">
                      <m:r>
                        <a:rPr lang="zh-TW" altLang="en-US" i="1" smtClean="0">
                          <a:latin typeface="Cambria Math" panose="02040503050406030204" pitchFamily="18" charset="0"/>
                          <a:cs typeface="Times New Roman" panose="02020603050405020304" pitchFamily="18" charset="0"/>
                        </a:rPr>
                        <m:t>𝛽</m:t>
                      </m:r>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14" name="矩形 13"/>
                <p:cNvSpPr>
                  <a:spLocks noRot="1" noChangeAspect="1" noMove="1" noResize="1" noEditPoints="1" noAdjustHandles="1" noChangeArrowheads="1" noChangeShapeType="1" noTextEdit="1"/>
                </p:cNvSpPr>
                <p:nvPr/>
              </p:nvSpPr>
              <p:spPr>
                <a:xfrm>
                  <a:off x="6633808" y="4170515"/>
                  <a:ext cx="3953583" cy="369332"/>
                </a:xfrm>
                <a:prstGeom prst="rect">
                  <a:avLst/>
                </a:prstGeom>
                <a:blipFill rotWithShape="0">
                  <a:blip r:embed="rId3"/>
                  <a:stretch>
                    <a:fillRect l="-1233" t="-819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矩形 33"/>
                <p:cNvSpPr/>
                <p:nvPr/>
              </p:nvSpPr>
              <p:spPr>
                <a:xfrm>
                  <a:off x="2115102" y="4170515"/>
                  <a:ext cx="2385140" cy="369332"/>
                </a:xfrm>
                <a:prstGeom prst="rect">
                  <a:avLst/>
                </a:prstGeom>
              </p:spPr>
              <p:txBody>
                <a:bodyPr wrap="none">
                  <a:spAutoFit/>
                </a:bodyPr>
                <a:lstStyle/>
                <a:p>
                  <a:r>
                    <a:rPr lang="en-US" altLang="zh-TW" dirty="0" smtClean="0">
                      <a:latin typeface="Times New Roman" panose="02020603050405020304" pitchFamily="18" charset="0"/>
                      <a:cs typeface="Times New Roman" panose="02020603050405020304" pitchFamily="18" charset="0"/>
                    </a:rPr>
                    <a:t>n =</a:t>
                  </a:r>
                  <a14:m>
                    <m:oMath xmlns:m="http://schemas.openxmlformats.org/officeDocument/2006/math">
                      <m:r>
                        <a:rPr lang="zh-TW" altLang="en-US" i="1">
                          <a:latin typeface="Cambria Math" panose="02040503050406030204" pitchFamily="18" charset="0"/>
                        </a:rPr>
                        <m:t>𝛽</m:t>
                      </m:r>
                    </m:oMath>
                  </a14:m>
                  <a:r>
                    <a:rPr lang="en-US" altLang="zh-TW" i="1" dirty="0" smtClean="0">
                      <a:latin typeface="Times New Roman" panose="02020603050405020304" pitchFamily="18" charset="0"/>
                      <a:cs typeface="Times New Roman" panose="02020603050405020304" pitchFamily="18" charset="0"/>
                    </a:rPr>
                    <a:t>mlogm</a:t>
                  </a:r>
                  <a:r>
                    <a:rPr lang="en-US" altLang="zh-TW" dirty="0" smtClean="0">
                      <a:latin typeface="Times New Roman" panose="02020603050405020304" pitchFamily="18" charset="0"/>
                      <a:cs typeface="Times New Roman" panose="02020603050405020304" pitchFamily="18" charset="0"/>
                    </a:rPr>
                    <a:t> where</a:t>
                  </a:r>
                  <a14:m>
                    <m:oMath xmlns:m="http://schemas.openxmlformats.org/officeDocument/2006/math">
                      <m:r>
                        <a:rPr lang="en-US" altLang="zh-TW" b="0" i="0" smtClean="0">
                          <a:latin typeface="Cambria Math" panose="02040503050406030204" pitchFamily="18" charset="0"/>
                        </a:rPr>
                        <m:t> </m:t>
                      </m:r>
                      <m:r>
                        <a:rPr lang="zh-TW" altLang="en-US" i="1">
                          <a:latin typeface="Cambria Math" panose="02040503050406030204" pitchFamily="18" charset="0"/>
                        </a:rPr>
                        <m:t>𝛽</m:t>
                      </m:r>
                    </m:oMath>
                  </a14:m>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=8</a:t>
                  </a:r>
                  <a:endParaRPr lang="zh-TW" altLang="en-US" dirty="0">
                    <a:latin typeface="Times New Roman" panose="02020603050405020304" pitchFamily="18" charset="0"/>
                    <a:cs typeface="Times New Roman" panose="02020603050405020304" pitchFamily="18" charset="0"/>
                  </a:endParaRPr>
                </a:p>
              </p:txBody>
            </p:sp>
          </mc:Choice>
          <mc:Fallback xmlns="">
            <p:sp>
              <p:nvSpPr>
                <p:cNvPr id="34" name="矩形 33"/>
                <p:cNvSpPr>
                  <a:spLocks noRot="1" noChangeAspect="1" noMove="1" noResize="1" noEditPoints="1" noAdjustHandles="1" noChangeArrowheads="1" noChangeShapeType="1" noTextEdit="1"/>
                </p:cNvSpPr>
                <p:nvPr/>
              </p:nvSpPr>
              <p:spPr>
                <a:xfrm>
                  <a:off x="2115102" y="4170515"/>
                  <a:ext cx="2385140" cy="369332"/>
                </a:xfrm>
                <a:prstGeom prst="rect">
                  <a:avLst/>
                </a:prstGeom>
                <a:blipFill rotWithShape="0">
                  <a:blip r:embed="rId4"/>
                  <a:stretch>
                    <a:fillRect l="-2041" t="-8197" r="-1276" b="-24590"/>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53709985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lstStyle/>
          <a:p>
            <a:pPr algn="ctr"/>
            <a:r>
              <a:rPr lang="en-US" altLang="zh-TW" dirty="0">
                <a:latin typeface="Times New Roman" panose="02020603050405020304" pitchFamily="18" charset="0"/>
                <a:cs typeface="Times New Roman" panose="02020603050405020304" pitchFamily="18" charset="0"/>
              </a:rPr>
              <a:t>Results on Twitter data</a:t>
            </a:r>
            <a:endParaRPr lang="zh-TW" altLang="en-US" dirty="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16</a:t>
            </a:fld>
            <a:endParaRPr lang="zh-TW" altLang="en-US" dirty="0"/>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213" y="1042678"/>
            <a:ext cx="6610350" cy="1943100"/>
          </a:xfrm>
          <a:prstGeom prst="rect">
            <a:avLst/>
          </a:prstGeom>
        </p:spPr>
      </p:pic>
      <p:pic>
        <p:nvPicPr>
          <p:cNvPr id="6" name="圖片 5"/>
          <p:cNvPicPr>
            <a:picLocks noChangeAspect="1"/>
          </p:cNvPicPr>
          <p:nvPr/>
        </p:nvPicPr>
        <p:blipFill rotWithShape="1">
          <a:blip r:embed="rId4">
            <a:extLst>
              <a:ext uri="{28A0092B-C50C-407E-A947-70E740481C1C}">
                <a14:useLocalDpi xmlns:a14="http://schemas.microsoft.com/office/drawing/2010/main" val="0"/>
              </a:ext>
            </a:extLst>
          </a:blip>
          <a:srcRect t="1729" r="1400" b="1899"/>
          <a:stretch/>
        </p:blipFill>
        <p:spPr>
          <a:xfrm>
            <a:off x="4357817" y="2985778"/>
            <a:ext cx="6779740" cy="3731740"/>
          </a:xfrm>
          <a:prstGeom prst="rect">
            <a:avLst/>
          </a:prstGeom>
        </p:spPr>
      </p:pic>
      <p:sp>
        <p:nvSpPr>
          <p:cNvPr id="8" name="文字方塊 7"/>
          <p:cNvSpPr txBox="1"/>
          <p:nvPr/>
        </p:nvSpPr>
        <p:spPr>
          <a:xfrm>
            <a:off x="7616757" y="1478604"/>
            <a:ext cx="2618858" cy="923330"/>
          </a:xfrm>
          <a:prstGeom prst="rect">
            <a:avLst/>
          </a:prstGeom>
          <a:noFill/>
        </p:spPr>
        <p:txBody>
          <a:bodyPr wrap="none" rtlCol="0">
            <a:spAutoFit/>
          </a:bodyPr>
          <a:lstStyle/>
          <a:p>
            <a:r>
              <a:rPr lang="en-US" altLang="zh-TW" dirty="0" smtClean="0">
                <a:latin typeface="Times New Roman" panose="02020603050405020304" pitchFamily="18" charset="0"/>
                <a:cs typeface="Times New Roman" panose="02020603050405020304" pitchFamily="18" charset="0"/>
              </a:rPr>
              <a:t>Weighted majority voting </a:t>
            </a:r>
          </a:p>
          <a:p>
            <a:r>
              <a:rPr lang="en-US" altLang="zh-TW" dirty="0" smtClean="0">
                <a:latin typeface="Times New Roman" panose="02020603050405020304" pitchFamily="18" charset="0"/>
                <a:cs typeface="Times New Roman" panose="02020603050405020304" pitchFamily="18" charset="0"/>
              </a:rPr>
              <a:t>95% TPR</a:t>
            </a:r>
          </a:p>
          <a:p>
            <a:r>
              <a:rPr lang="en-US" altLang="zh-TW" dirty="0" smtClean="0">
                <a:latin typeface="Times New Roman" panose="02020603050405020304" pitchFamily="18" charset="0"/>
                <a:cs typeface="Times New Roman" panose="02020603050405020304" pitchFamily="18" charset="0"/>
              </a:rPr>
              <a:t>4%   FPR</a:t>
            </a:r>
            <a:endParaRPr lang="zh-TW" altLang="en-US" dirty="0">
              <a:latin typeface="Times New Roman" panose="02020603050405020304" pitchFamily="18" charset="0"/>
              <a:cs typeface="Times New Roman" panose="02020603050405020304" pitchFamily="18" charset="0"/>
            </a:endParaRPr>
          </a:p>
        </p:txBody>
      </p:sp>
      <p:sp>
        <p:nvSpPr>
          <p:cNvPr id="9" name="向右箭號 8"/>
          <p:cNvSpPr/>
          <p:nvPr/>
        </p:nvSpPr>
        <p:spPr>
          <a:xfrm rot="10800000">
            <a:off x="7157019" y="1805083"/>
            <a:ext cx="350196" cy="418289"/>
          </a:xfrm>
          <a:prstGeom prst="rightArrow">
            <a:avLst/>
          </a:prstGeom>
          <a:solidFill>
            <a:schemeClr val="accent1">
              <a:lumMod val="60000"/>
              <a:lumOff val="4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82996491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endParaRPr lang="zh-TW" altLang="en-US" dirty="0"/>
          </a:p>
        </p:txBody>
      </p:sp>
    </p:spTree>
    <p:extLst>
      <p:ext uri="{BB962C8B-B14F-4D97-AF65-F5344CB8AC3E}">
        <p14:creationId xmlns:p14="http://schemas.microsoft.com/office/powerpoint/2010/main" val="93458485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endParaRPr lang="zh-TW" altLang="en-US" dirty="0"/>
          </a:p>
        </p:txBody>
      </p:sp>
    </p:spTree>
    <p:extLst>
      <p:ext uri="{BB962C8B-B14F-4D97-AF65-F5344CB8AC3E}">
        <p14:creationId xmlns:p14="http://schemas.microsoft.com/office/powerpoint/2010/main" val="12024484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lstStyle/>
          <a:p>
            <a:pPr algn="ctr"/>
            <a:r>
              <a:rPr lang="en-US" altLang="zh-TW" dirty="0" smtClean="0">
                <a:latin typeface="Times New Roman" panose="02020603050405020304" pitchFamily="18" charset="0"/>
                <a:cs typeface="Times New Roman" panose="02020603050405020304" pitchFamily="18" charset="0"/>
              </a:rPr>
              <a:t>Latent Source Model</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383034"/>
            <a:ext cx="10515600" cy="4825958"/>
          </a:xfrm>
        </p:spPr>
        <p:txBody>
          <a:bodyPr>
            <a:normAutofit/>
          </a:bodyPr>
          <a:lstStyle/>
          <a:p>
            <a:pPr marL="0" indent="0">
              <a:buNone/>
            </a:pPr>
            <a:r>
              <a:rPr lang="en-US" altLang="zh-TW" sz="3500" i="1" dirty="0" smtClean="0">
                <a:latin typeface="Times New Roman" panose="02020603050405020304" pitchFamily="18" charset="0"/>
                <a:cs typeface="Times New Roman" panose="02020603050405020304" pitchFamily="18" charset="0"/>
              </a:rPr>
              <a:t>V </a:t>
            </a:r>
            <a:r>
              <a:rPr lang="en-US" altLang="zh-TW" dirty="0" smtClean="0">
                <a:latin typeface="Times New Roman" panose="02020603050405020304" pitchFamily="18" charset="0"/>
                <a:cs typeface="Times New Roman" panose="02020603050405020304" pitchFamily="18" charset="0"/>
              </a:rPr>
              <a:t>denotes all latent sources with label, i.e. </a:t>
            </a:r>
          </a:p>
          <a:p>
            <a:pPr marL="0" indent="0">
              <a:buNone/>
            </a:pPr>
            <a:r>
              <a:rPr lang="en-US" altLang="zh-TW" i="1" dirty="0" smtClean="0">
                <a:latin typeface="Times New Roman" panose="02020603050405020304" pitchFamily="18" charset="0"/>
                <a:cs typeface="Times New Roman" panose="02020603050405020304" pitchFamily="18" charset="0"/>
              </a:rPr>
              <a:t>	V</a:t>
            </a:r>
            <a:r>
              <a:rPr lang="en-US" altLang="zh-TW" i="1" baseline="-25000" dirty="0" smtClean="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 </a:t>
            </a:r>
            <a:r>
              <a:rPr lang="en-US" altLang="zh-TW" i="1" dirty="0" smtClean="0">
                <a:latin typeface="Times New Roman" panose="02020603050405020304" pitchFamily="18" charset="0"/>
                <a:cs typeface="Times New Roman" panose="02020603050405020304" pitchFamily="18" charset="0"/>
              </a:rPr>
              <a:t>V </a:t>
            </a:r>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 +1</a:t>
            </a:r>
          </a:p>
          <a:p>
            <a:pPr marL="0" indent="0">
              <a:buNone/>
            </a:pPr>
            <a:r>
              <a:rPr lang="en-US" altLang="zh-TW" i="1" dirty="0" smtClean="0">
                <a:latin typeface="Times New Roman" panose="02020603050405020304" pitchFamily="18" charset="0"/>
                <a:cs typeface="Times New Roman" panose="02020603050405020304" pitchFamily="18" charset="0"/>
              </a:rPr>
              <a:t>	V</a:t>
            </a:r>
            <a:r>
              <a:rPr lang="en-US" altLang="zh-TW" i="1" baseline="-25000" dirty="0" smtClean="0">
                <a:latin typeface="Times New Roman" panose="02020603050405020304" pitchFamily="18" charset="0"/>
                <a:cs typeface="Times New Roman" panose="02020603050405020304" pitchFamily="18" charset="0"/>
              </a:rPr>
              <a:t>-</a:t>
            </a:r>
            <a:r>
              <a:rPr lang="en-US" altLang="zh-TW" i="1" dirty="0" smtClean="0">
                <a:latin typeface="Times New Roman" panose="02020603050405020304" pitchFamily="18" charset="0"/>
                <a:cs typeface="Times New Roman" panose="02020603050405020304" pitchFamily="18" charset="0"/>
              </a:rPr>
              <a:t> </a:t>
            </a:r>
            <a:r>
              <a:rPr lang="zh-TW" altLang="en-US" i="1"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V </a:t>
            </a:r>
            <a:r>
              <a:rPr lang="en-US" altLang="zh-TW" dirty="0">
                <a:latin typeface="Times New Roman" panose="02020603050405020304" pitchFamily="18" charset="0"/>
                <a:cs typeface="Times New Roman" panose="02020603050405020304" pitchFamily="18" charset="0"/>
              </a:rPr>
              <a:t> : +1</a:t>
            </a:r>
          </a:p>
          <a:p>
            <a:pPr marL="0" indent="0">
              <a:buNone/>
            </a:pPr>
            <a:endParaRPr lang="en-US" altLang="zh-TW" dirty="0" smtClean="0">
              <a:latin typeface="Times New Roman" panose="02020603050405020304" pitchFamily="18" charset="0"/>
              <a:cs typeface="Times New Roman" panose="02020603050405020304" pitchFamily="18" charset="0"/>
            </a:endParaRPr>
          </a:p>
          <a:p>
            <a:pPr marL="0" indent="0">
              <a:buNone/>
            </a:pPr>
            <a:endParaRPr lang="en-US" altLang="zh-TW" i="1" baseline="-25000" dirty="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19</a:t>
            </a:fld>
            <a:endParaRPr lang="zh-TW" altLang="en-US" dirty="0"/>
          </a:p>
        </p:txBody>
      </p:sp>
      <p:pic>
        <p:nvPicPr>
          <p:cNvPr id="4" name="圖片 3"/>
          <p:cNvPicPr>
            <a:picLocks noChangeAspect="1"/>
          </p:cNvPicPr>
          <p:nvPr/>
        </p:nvPicPr>
        <p:blipFill rotWithShape="1">
          <a:blip r:embed="rId3">
            <a:extLst>
              <a:ext uri="{28A0092B-C50C-407E-A947-70E740481C1C}">
                <a14:useLocalDpi xmlns:a14="http://schemas.microsoft.com/office/drawing/2010/main" val="0"/>
              </a:ext>
            </a:extLst>
          </a:blip>
          <a:srcRect l="31765" r="33332"/>
          <a:stretch/>
        </p:blipFill>
        <p:spPr>
          <a:xfrm>
            <a:off x="8183418" y="1383034"/>
            <a:ext cx="3316213" cy="2142837"/>
          </a:xfrm>
          <a:prstGeom prst="rect">
            <a:avLst/>
          </a:prstGeom>
        </p:spPr>
      </p:pic>
    </p:spTree>
    <p:extLst>
      <p:ext uri="{BB962C8B-B14F-4D97-AF65-F5344CB8AC3E}">
        <p14:creationId xmlns:p14="http://schemas.microsoft.com/office/powerpoint/2010/main" val="333460453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5754</TotalTime>
  <Words>690</Words>
  <Application>Microsoft Office PowerPoint</Application>
  <PresentationFormat>寬螢幕</PresentationFormat>
  <Paragraphs>114</Paragraphs>
  <Slides>19</Slides>
  <Notes>4</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19</vt:i4>
      </vt:variant>
    </vt:vector>
  </HeadingPairs>
  <TitlesOfParts>
    <vt:vector size="26" baseType="lpstr">
      <vt:lpstr>新細明體</vt:lpstr>
      <vt:lpstr>Arial</vt:lpstr>
      <vt:lpstr>Calibri</vt:lpstr>
      <vt:lpstr>Calibri Light</vt:lpstr>
      <vt:lpstr>Cambria Math</vt:lpstr>
      <vt:lpstr>Times New Roman</vt:lpstr>
      <vt:lpstr>Office 佈景主題</vt:lpstr>
      <vt:lpstr>A Latent Source Model for Nonparametric Time Series Classification</vt:lpstr>
      <vt:lpstr>Abstract(1/2)</vt:lpstr>
      <vt:lpstr>Abstract(2/2)</vt:lpstr>
      <vt:lpstr>Procedure</vt:lpstr>
      <vt:lpstr>A Latent Source Model</vt:lpstr>
      <vt:lpstr>A Latent Source Model</vt:lpstr>
      <vt:lpstr>A Latent Source Model</vt:lpstr>
      <vt:lpstr>A Latent Source Model</vt:lpstr>
      <vt:lpstr>A Latent Source Model</vt:lpstr>
      <vt:lpstr>A Latent Source Model</vt:lpstr>
      <vt:lpstr>Nearest-neighbor classifier</vt:lpstr>
      <vt:lpstr>Weighted Majority Voting</vt:lpstr>
      <vt:lpstr>Maximum a posteriori (MAP)</vt:lpstr>
      <vt:lpstr>Maximum a posteriori (MAP)</vt:lpstr>
      <vt:lpstr>Results on Synthetic Data</vt:lpstr>
      <vt:lpstr>Results on Twitter data</vt:lpstr>
      <vt:lpstr>PowerPoint 簡報</vt:lpstr>
      <vt:lpstr>PowerPoint 簡報</vt:lpstr>
      <vt:lpstr>Latent Source Model</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Linear Space Algorithm  for Computing  Maximal Common Subsequences</dc:title>
  <dc:creator>BX CHEN</dc:creator>
  <cp:lastModifiedBy>BX Chen</cp:lastModifiedBy>
  <cp:revision>227</cp:revision>
  <dcterms:created xsi:type="dcterms:W3CDTF">2016-10-10T16:56:48Z</dcterms:created>
  <dcterms:modified xsi:type="dcterms:W3CDTF">2017-04-11T09:36:23Z</dcterms:modified>
</cp:coreProperties>
</file>